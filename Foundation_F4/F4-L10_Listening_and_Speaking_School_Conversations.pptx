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10 (F4-L10). Website sections used: the eight-question F4 retrieval bridge and the five-move conversation, the role-play and conversation toolkit (16) and the 14-question check, transactional questions (8 model exchanges, 14), repairing communication (8 phrases, 12), two school conversations (listening, 10), three scenario cards (A new student · B library · C school office), the Role-Play Mission (14), two school exchanges (reading, 12), the two-minute role-play simulator, the /12 self-assessment (response · clarity · pronunciation &amp; fluency · interaction &amp; repair), the dialogue or report and the 16-question checkpoint.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Website principle: short, accurate and relevant language is stronger than a long confused answer. A clarification phrase is evidence of ACTIVE listening, not weak speaking.
• Core: the five prompts of one scenario with the phrase bank. Develop: two question words + one repair + polite close. Stretch: respond to unpredictable replies (the teacher plays the role flexibly).
• Two gender systems at once: the SPEAKER (آسِفٌ / آسِفَةٌ) and the LISTENER (مِنْ فَضْلِكَ / مِنْ فَضْلِكِ, تُعِيدَ / تُعِيدِي).
• Scenario C (absence): students give an invented reason — nobody should share real medical or family details.
• Online: role plays in breakout pairs or teacher ↔ student; the website simulator runs a two-minute timer.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phrases prepared at home at the end of F4-L09. Questions 3–5 are the website “F4 retrieval bridge” (day, place question, polite closing).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Five moves: open · ask · listen · repair · close. Short, accurate and relevant beats long and confused.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(left) and the lesson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محادثہ، وضاحت، توضیح، معاملہ are shared words; Urdu تلفظ (pronunciation) is also Arabic تَلَفُّظ — Arabic more often says نُطْقٌ.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REPAIR PHRASES (website section 4). Also: هَلْ تَعْنِي …؟ / هَلْ تَعْنِينَ …؟ (do you mean …?). Website: “Weak breakdown: لَا أَعْرِفُ — the exchange stops. Strong repair: آسِفَةٌ، لَمْ أَفْهَمْ. هَلْ يُمْكِنُكَ أَنْ تُعِيدَ السُّؤَالَ؟ — the speaker identifies the problem and requests a solution.” Toolkit (website): مُحَادَثَةٌ، تَمْثِيلُ دَوْرٍ، سِينارْيُو، بِطَاقَةُ الدَّوْرِ، تَبَادُلٌ، مُعَامَلَةٌ، اِسْتِجَابَةٌ، تَوْضِيحٌ، نُطْقٌ، طَلَاقَةٌ، وُضُوحٌ.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3 “Ask for the exact information you need” (8 model exchanges). Also: availability — هَلْ عِنْدَكُمْ كِتَابٌ فِي القَوَاعِدِ؟ → نَعَمْ، عِنْدَنَا نُسْخَتَانِ. Reason — لِمَاذَا سَتَغِيبُ / سَتَغِيبِينَ؟ → لِأَنَّ عِنْدِي مَوْعِدًا طِبِّيًّا.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“The five-move conversation”: Open (greet and establish the situation) · Ask (the correct question word) · Listen (catch the information that answers your question) · Repair (request repetition or clarification) · Close (thank and end politely).
Speaker vs listener gender: آسِفٌ / آسِفَةٌ follows the SPEAKER; مِنْ فَضْلِكَ / مِنْ فَضْلِكِ, تُعِيدَ / تُعِيدِي follow the LISTENER.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transactional-question laboratory questions 2 and 6, and repair check questions 1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Scenario A card and phrase bank. Model the role play live with a confident student (you play the teacher and answer unpredictably). Then show Scenarios B and C (website):
B · library: هَلْ عِنْدَكُمْ كِتَابٌ فِي قَوَاعِدِ اللُّغَةِ العَرَبِيَّةِ؟ · أَيْنَ الكِتَابُ، مِنْ فَضْلِكَ؟ · أَحْتَاجُ إِلَيْهِ لِيَوْمِ الثُّلَاثَاءِ. · هَلْ يُمْكِنُنِي أَنْ أَسْتَعِيرَهُ؟ · شُكْرًا جَزِيلًا عَلَى مُسَاعَدَتِكَ.
C · school office: سَأَغِيبُ عَنِ المَدْرَسَةِ يَوْمَ الخَمِيسِ. · (reason: لِأَنَّ عِنْدِي مَوْعِدًا …) · مَا الوَاجِبُ الَّذِي سَيَفُوتُنِي؟ · هَلْ يُمْكِنُكَ أَنْ تُخْبِرَ مُعَلِّمِي؟ · شُكْرًا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Role-Play Mission rounds (finish time, where is the book, permission, missed work, repair). The other 9 are homework. Say each correct answer aloud in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say the correct line and the partner improvises a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أَحْمَدُ: مَتَى عِنْدَنَا الرِّيَاضِيَّاتُ؟ لَيْلَى: عِنْدَنَا الرِّيَاضِيَّاتُ يَوْمَ الاِثْنَيْنِ فِي السَّاعَةِ التَّاسِعَةِ صَبَاحًا. أَحْمَدُ: وَمَتَى تَبْدَأُ الاِسْتِرَاحَةُ؟ لَيْلَى: تَبْدَأُ الاِسْتِرَاحَةُ فِي السَّاعَةِ الحَادِيَةَ عَشْرَةَ، ثُمَّ عِنْدَنَا العُلُومُ فِي المُخْتَبَرِ. — الطَّالِبَةُ: آسِفَةٌ يَا أُسْتَاذَةُ، مَا الوَاجِبُ؟ الأُسْتَاذَةُ: اُكْتُبِي خَمْسَ جُمَلٍ عَنْ مَدْرَسَتِكِ. الطَّالِبَةُ: هَلْ يُمْكِنُكِ أَنْ تُعِيدِي ذَلِكَ، مِنْ فَضْلِكِ؟ الأُسْتَاذَةُ: نَعَمْ. خَمْسُ جُمَلٍ عَنِ المَدْرَسَةِ، وَأَضِيفِي رَأْيًا وَسَبَبًا. الوَاجِبُ لِيَوْمِ الثُّلَاثَاءِ. الطَّالِبَةُ: شُكْرًا، فَهِمْتُ الآنَ.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DIALOGUE B (website, complete) — a transaction: Yusuf obtains a service and agrees to a condition. Dialogue A (Maryam, new student) is the writing model on the model slide and in the website reading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dialogue evidence questions 1, 3, 8, 10 and 11 (1 and 3 are about Dialogue A — see the model slide).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line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TWO-MINUTE ROLE-PLAY SIMULATOR — choose a scenario, prepare short cue points (not a script) and respond as each prompt appears.
Website targets: answered all five prompts · two question words · a clarification phrase when needed · closed politely · understandable speech.
Website self-assessment /12 (three points each): Response · Clarity · Pronunciation &amp; fluency · Interaction &amp; repair — score only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Five prompts, one short sentence each, using the phrase bank. · Develop — Two question words, a repair phrase and a polite close. · Stretch — Respond to an unpredictable reply and keep the exchange going.
Website writing task (Stretch): Website writing task — Route A: reconstruct an 8–12-line dialogue (greeting and context, at least three questions and three answers, one clarification phrase, one polite closing). Route B: report what happened using the past-tense chunks provided on the website.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The website Dialogue A (Maryam, new student) — a full five-move model for Route A.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(F4-L11 · Speaking and Writing About School) will spend class time USING this language, so students prepare it tonight — short, simple, easy to access (school guidance: “Simple, Short, Interesting, Relevant, Easy to access”). Teacher-chosen planning words for the F4-L11 speaking-and-writing lesson.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and Speaking: School Conversations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وَالتَّحَدُّثُ — مُحَادَثَاتٌ مَدْرَسِيَّةٌ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Listen for purpose and detail, ask precise school questions, repair misunderstandings politely and complete three realistic five-prompt role plays.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F4-L10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five-move conversation, precise questions, then repair phrases.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Two conversations, scenario cards, the role-play mission, two dialogues.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مُحَادَثَةٌ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announcement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conversation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تَمْثِيلُ دَوْرٍ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role play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homework task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rule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عِنْدَنَا العَرَبِيَّةُ ____ الاِثْنَيْنِ.</a:t>
            </a:r>
            <a:endParaRPr lang="ar-SA" sz="11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مَكَانَ</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where the canteen is?</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المَقْصَفُ؟</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المَقْصَفُ؟</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المَقْصَفُ؟</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closes a conversation politely?</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 جَزِيلًا. إِلَى اللِّقَاءِ.</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أَفْهَمْ.</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تَبْدَأُ؟</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مُحَادَثَةٌ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announcement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conversation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تَمْثِيلُ دَوْرٍ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role play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homework task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rule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عِنْدَنَا العَرَبِيَّةُ ____ الاِثْنَيْنِ.</a:t>
            </a:r>
            <a:endParaRPr lang="ar-SA" sz="11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مَكَانَ</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يَوْمَ</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يَوْمَ</a:t>
            </a:r>
            <a:pPr algn="l" indent="0" marL="0">
              <a:buNone/>
            </a:pPr>
            <a:r>
              <a:rPr lang="en-US" sz="1050" i="1" dirty="0">
                <a:solidFill>
                  <a:srgbClr val="8A6D1E"/>
                </a:solidFill>
                <a:latin typeface="Calibri" pitchFamily="34" charset="0"/>
                <a:cs typeface="Amiri" pitchFamily="2" charset="-78"/>
              </a:rPr>
              <a:t> before the named day in this timetable sentence.</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where the canteen is?</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المَقْصَفُ؟</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لِمَاذَا المَقْصَفُ؟</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أَيْنَ المَقْصَفُ؟</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أَيْنَ</a:t>
            </a:r>
            <a:pPr algn="l" indent="0" marL="0">
              <a:buNone/>
            </a:pPr>
            <a:r>
              <a:rPr lang="en-US" sz="1050" i="1" dirty="0">
                <a:solidFill>
                  <a:srgbClr val="8A6D1E"/>
                </a:solidFill>
                <a:latin typeface="Calibri" pitchFamily="34" charset="0"/>
                <a:cs typeface="Amiri" pitchFamily="2" charset="-78"/>
              </a:rPr>
              <a:t> asks for place.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closes a conversation politely?</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شُكْرًا جَزِيلًا. إِلَى اللِّقَاءِ.</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أَفْهَمْ.</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تَبْدَأُ؟</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Thanks followed by goodbye closes the exchange politely.</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Five moves: open · ask · listen · repair · close. Short, accurate and relevant beats long and confused.</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آسِفَةٌ، لَمْ أَفْهَمْ. هَلْ يُمْكِنُكَ أَنْ تُعِيدَ السُّؤَالَ؟</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two short school conversations after focused listening.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question words to obtain days, times, places and school information.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for repetition or slower speech without abandoning the exchange.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Complete three five-prompt school role plays.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greet, ask one question and thank.</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“sorry, I didn’t understand”.</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when, where and how many.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repair a misunderstanding politely.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an unexpected reply.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keep a two-minute role play going.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Conversation toolkit, transactional questions and repair phrases. Core: please, sorry, repeat, slowly, thank you.</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Role-play toolkit · 16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School questions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Repair phrases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مُحَادَثَةٌ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‎محادثہ‎ </a:t>
            </a:r>
            <a:pPr indent="0" marL="0">
              <a:buNone/>
            </a:pPr>
            <a:r>
              <a:rPr lang="en-US" sz="950" b="1" dirty="0">
                <a:solidFill>
                  <a:srgbClr val="2E8B57"/>
                </a:solidFill>
                <a:latin typeface="Calibri" pitchFamily="34" charset="0"/>
                <a:cs typeface="Amiri" pitchFamily="2" charset="-78"/>
              </a:rPr>
              <a:t> muḥādatha · conversation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وُضُوحٌ</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‎وضاحت‎ </a:t>
            </a:r>
            <a:pPr indent="0" marL="0">
              <a:buNone/>
            </a:pPr>
            <a:r>
              <a:rPr lang="en-US" sz="950" b="1" dirty="0">
                <a:solidFill>
                  <a:srgbClr val="2E8B57"/>
                </a:solidFill>
                <a:latin typeface="Calibri" pitchFamily="34" charset="0"/>
                <a:cs typeface="Amiri" pitchFamily="2" charset="-78"/>
              </a:rPr>
              <a:t> wuḍūḥ · clarity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تَوْضِيحٌ</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‎توضیح‎ </a:t>
            </a:r>
            <a:pPr indent="0" marL="0">
              <a:buNone/>
            </a:pPr>
            <a:r>
              <a:rPr lang="en-US" sz="950" b="1" dirty="0">
                <a:solidFill>
                  <a:srgbClr val="2E8B57"/>
                </a:solidFill>
                <a:latin typeface="Calibri" pitchFamily="34" charset="0"/>
                <a:cs typeface="Amiri" pitchFamily="2" charset="-78"/>
              </a:rPr>
              <a:t> tawḍīḥ · clarification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مُعَامَلَةٌ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‎معاملہ‎ </a:t>
            </a:r>
            <a:pPr indent="0" marL="0">
              <a:buNone/>
            </a:pPr>
            <a:r>
              <a:rPr lang="en-US" sz="950" b="1" dirty="0">
                <a:solidFill>
                  <a:srgbClr val="2E8B57"/>
                </a:solidFill>
                <a:latin typeface="Calibri" pitchFamily="34" charset="0"/>
                <a:cs typeface="Amiri" pitchFamily="2" charset="-78"/>
              </a:rPr>
              <a:t> mu‘āmala · transaction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تَلَفُّظ / نُطْقٌ</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‎تلفظ‎ </a:t>
            </a:r>
            <a:pPr indent="0" marL="0">
              <a:buNone/>
            </a:pPr>
            <a:r>
              <a:rPr lang="en-US" sz="950" b="1" dirty="0">
                <a:solidFill>
                  <a:srgbClr val="2E8B57"/>
                </a:solidFill>
                <a:latin typeface="Calibri" pitchFamily="34" charset="0"/>
                <a:cs typeface="Amiri" pitchFamily="2" charset="-78"/>
              </a:rPr>
              <a:t> nuṭq · pronunciation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REPAIR AND POLITENESS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Sorry, repeat, slowly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إِصْلَاحُ التَّوَاصُلِ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speaker</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آسِفٌ / آسِفَةٌ، لَمْ أَفْهَمْ.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Sorry, I didn’t understand. (m. / f. speaker)</a:t>
            </a:r>
            <a:endParaRPr lang="en-US" sz="1350" dirty="0"/>
          </a:p>
          <a:p>
            <a:pPr indent="0" marL="0">
              <a:buNone/>
            </a:pPr>
            <a:r>
              <a:rPr lang="en-US" sz="1100" i="1" dirty="0">
                <a:solidFill>
                  <a:srgbClr val="5A6472"/>
                </a:solidFill>
                <a:latin typeface="Calibri" pitchFamily="34" charset="0"/>
                <a:cs typeface="Amiri" pitchFamily="2" charset="-78"/>
              </a:rPr>
              <a:t>ā-sif / ā-si-fa, lam af-ham</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listener m.</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يُمْكِنُكَ أَنْ تُعِيدَ ذَلِكَ؟</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Could you repeat that? (to a male)</a:t>
            </a:r>
            <a:endParaRPr lang="en-US" sz="1350" dirty="0"/>
          </a:p>
          <a:p>
            <a:pPr indent="0" marL="0">
              <a:buNone/>
            </a:pPr>
            <a:r>
              <a:rPr lang="en-US" sz="1100" i="1" dirty="0">
                <a:solidFill>
                  <a:srgbClr val="5A6472"/>
                </a:solidFill>
                <a:latin typeface="Calibri" pitchFamily="34" charset="0"/>
                <a:cs typeface="Amiri" pitchFamily="2" charset="-78"/>
              </a:rPr>
              <a:t>hal yum-ki-nu-ka an tu-‘ī-da dhā-lik</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listener f.</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يُمْكِنُكِ أَنْ تُعِيدِي ذَلِكَ؟</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Could you repeat that? (to a female)</a:t>
            </a:r>
            <a:endParaRPr lang="en-US" sz="1350" dirty="0"/>
          </a:p>
          <a:p>
            <a:pPr indent="0" marL="0">
              <a:buNone/>
            </a:pPr>
            <a:r>
              <a:rPr lang="en-US" sz="1100" i="1" dirty="0">
                <a:solidFill>
                  <a:srgbClr val="5A6472"/>
                </a:solidFill>
                <a:latin typeface="Calibri" pitchFamily="34" charset="0"/>
                <a:cs typeface="Amiri" pitchFamily="2" charset="-78"/>
              </a:rPr>
              <a:t>hal yum-ki-nu-ki an tu-‘ī-dī dhā-lik</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3" name="Shape 40"/>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listener</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تَكَلَّمْ / تَكَلَّمِي بِبُطْءٍ</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 slowly (m. / f.)</a:t>
            </a:r>
            <a:endParaRPr lang="en-US" sz="1350" dirty="0"/>
          </a:p>
          <a:p>
            <a:pPr indent="0" marL="0">
              <a:buNone/>
            </a:pPr>
            <a:r>
              <a:rPr lang="en-US" sz="1100" i="1" dirty="0">
                <a:solidFill>
                  <a:srgbClr val="5A6472"/>
                </a:solidFill>
                <a:latin typeface="Calibri" pitchFamily="34" charset="0"/>
                <a:cs typeface="Amiri" pitchFamily="2" charset="-78"/>
              </a:rPr>
              <a:t>ta-kal-lam / ta-kal-la-mī bi-buṭ’</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listener</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 / مِنْ فَضْلِكِ</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(to a male / female)</a:t>
            </a:r>
            <a:endParaRPr lang="en-US" sz="1350" dirty="0"/>
          </a:p>
          <a:p>
            <a:pPr indent="0" marL="0">
              <a:buNone/>
            </a:pPr>
            <a:r>
              <a:rPr lang="en-US" sz="1100" i="1" dirty="0">
                <a:solidFill>
                  <a:srgbClr val="5A6472"/>
                </a:solidFill>
                <a:latin typeface="Calibri" pitchFamily="34" charset="0"/>
                <a:cs typeface="Amiri" pitchFamily="2" charset="-78"/>
              </a:rPr>
              <a:t>min faḍ-li-ka / faḍ-li-ki</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close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 فَهِمْتُ الآنَ.</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 I understand now.</a:t>
            </a:r>
            <a:endParaRPr lang="en-US" sz="1350" dirty="0"/>
          </a:p>
          <a:p>
            <a:pPr indent="0" marL="0">
              <a:buNone/>
            </a:pPr>
            <a:r>
              <a:rPr lang="en-US" sz="1100" i="1" dirty="0">
                <a:solidFill>
                  <a:srgbClr val="5A6472"/>
                </a:solidFill>
                <a:latin typeface="Calibri" pitchFamily="34" charset="0"/>
                <a:cs typeface="Amiri" pitchFamily="2" charset="-78"/>
              </a:rPr>
              <a:t>shuk-ran, fa-him-tu l-ān</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ASK FOR THE EXACT INFORMATION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اِسْأَلْ عَنِ المَعْلُومَةِ الدَّقِيقَةِ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7" name="Text 14"/>
          <p:cNvSpPr txBox="1"/>
          <p:nvPr/>
        </p:nvSpPr>
        <p:spPr>
          <a:xfrm>
            <a:off x="217627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Need</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949440" y="2267712"/>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تَبْدَأُ فِي السَّاعَةِ التَّاسِعَةِ.</a:t>
            </a:r>
            <a:endParaRPr lang="ar-SA" sz="2200" dirty="0"/>
          </a:p>
        </p:txBody>
      </p:sp>
      <p:sp>
        <p:nvSpPr>
          <p:cNvPr id="21" name="Text 18"/>
          <p:cNvSpPr txBox="1"/>
          <p:nvPr/>
        </p:nvSpPr>
        <p:spPr>
          <a:xfrm>
            <a:off x="2194560" y="2267712"/>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مَتَى تَبْدَأُ الحِصَّةُ؟</a:t>
            </a:r>
            <a:endParaRPr lang="ar-SA" sz="2200" dirty="0"/>
          </a:p>
        </p:txBody>
      </p:sp>
      <p:sp>
        <p:nvSpPr>
          <p:cNvPr id="22" name="Text 19"/>
          <p:cNvSpPr txBox="1"/>
          <p:nvPr/>
        </p:nvSpPr>
        <p:spPr>
          <a:xfrm>
            <a:off x="566928" y="2267712"/>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949440" y="2881884"/>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عِنْدَنَا العَرَبِيَّةُ يَوْمَ الاِثْنَيْنِ.</a:t>
            </a:r>
            <a:endParaRPr lang="ar-SA" sz="2200" dirty="0"/>
          </a:p>
        </p:txBody>
      </p:sp>
      <p:sp>
        <p:nvSpPr>
          <p:cNvPr id="27" name="Text 24"/>
          <p:cNvSpPr txBox="1"/>
          <p:nvPr/>
        </p:nvSpPr>
        <p:spPr>
          <a:xfrm>
            <a:off x="2194560" y="2881884"/>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أَيِّ يَوْمٍ عِنْدَنَا العَرَبِيَّةُ؟</a:t>
            </a:r>
            <a:endParaRPr lang="ar-SA" sz="2200" dirty="0"/>
          </a:p>
        </p:txBody>
      </p:sp>
      <p:sp>
        <p:nvSpPr>
          <p:cNvPr id="28" name="Text 25"/>
          <p:cNvSpPr txBox="1"/>
          <p:nvPr/>
        </p:nvSpPr>
        <p:spPr>
          <a:xfrm>
            <a:off x="566928" y="2881884"/>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6949440" y="3496056"/>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بِجَانِبِ المَكْتَبَةِ.</a:t>
            </a:r>
            <a:endParaRPr lang="ar-SA" sz="2200" dirty="0"/>
          </a:p>
        </p:txBody>
      </p:sp>
      <p:sp>
        <p:nvSpPr>
          <p:cNvPr id="33" name="Text 30"/>
          <p:cNvSpPr txBox="1"/>
          <p:nvPr/>
        </p:nvSpPr>
        <p:spPr>
          <a:xfrm>
            <a:off x="2194560" y="3496056"/>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أَيْنَ المَقْصَفُ؟</a:t>
            </a:r>
            <a:endParaRPr lang="ar-SA" sz="2200" dirty="0"/>
          </a:p>
        </p:txBody>
      </p:sp>
      <p:sp>
        <p:nvSpPr>
          <p:cNvPr id="34" name="Text 31"/>
          <p:cNvSpPr txBox="1"/>
          <p:nvPr/>
        </p:nvSpPr>
        <p:spPr>
          <a:xfrm>
            <a:off x="566928" y="3496056"/>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6949440" y="4110228"/>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عِنْدَنَا سِتُّ حِصَصٍ.</a:t>
            </a:r>
            <a:endParaRPr lang="ar-SA" sz="2200" dirty="0"/>
          </a:p>
        </p:txBody>
      </p:sp>
      <p:sp>
        <p:nvSpPr>
          <p:cNvPr id="39" name="Text 36"/>
          <p:cNvSpPr txBox="1"/>
          <p:nvPr/>
        </p:nvSpPr>
        <p:spPr>
          <a:xfrm>
            <a:off x="2194560" y="4110228"/>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كَمْ حِصَّةً عِنْدَنَا اليَوْمَ؟</a:t>
            </a:r>
            <a:endParaRPr lang="ar-SA" sz="2200" dirty="0"/>
          </a:p>
        </p:txBody>
      </p:sp>
      <p:sp>
        <p:nvSpPr>
          <p:cNvPr id="40" name="Text 37"/>
          <p:cNvSpPr txBox="1"/>
          <p:nvPr/>
        </p:nvSpPr>
        <p:spPr>
          <a:xfrm>
            <a:off x="566928" y="4110228"/>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6949440" y="4724400"/>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نَعَمْ، يُمْكِنُكَ ذَلِكَ.</a:t>
            </a:r>
            <a:endParaRPr lang="ar-SA" sz="2200" dirty="0"/>
          </a:p>
        </p:txBody>
      </p:sp>
      <p:sp>
        <p:nvSpPr>
          <p:cNvPr id="43" name="Text 40"/>
          <p:cNvSpPr txBox="1"/>
          <p:nvPr/>
        </p:nvSpPr>
        <p:spPr>
          <a:xfrm>
            <a:off x="2194560" y="4724400"/>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هَلْ يُمْكِنُنِي أَنْ أَسْتَعِيرَهُ؟</a:t>
            </a:r>
            <a:endParaRPr lang="ar-SA" sz="2200" dirty="0"/>
          </a:p>
        </p:txBody>
      </p:sp>
      <p:sp>
        <p:nvSpPr>
          <p:cNvPr id="44" name="Text 41"/>
          <p:cNvSpPr txBox="1"/>
          <p:nvPr/>
        </p:nvSpPr>
        <p:spPr>
          <a:xfrm>
            <a:off x="566928" y="4724400"/>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Permission</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6949440" y="5338572"/>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اُكْتُبْ خَمْسَ جُمَلٍ عَنْ مَدْرَسَتِكَ.</a:t>
            </a:r>
            <a:endParaRPr lang="ar-SA" sz="2200" dirty="0"/>
          </a:p>
        </p:txBody>
      </p:sp>
      <p:sp>
        <p:nvSpPr>
          <p:cNvPr id="47" name="Text 44"/>
          <p:cNvSpPr txBox="1"/>
          <p:nvPr/>
        </p:nvSpPr>
        <p:spPr>
          <a:xfrm>
            <a:off x="2194560" y="5338572"/>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مَا الوَاجِبُ؟</a:t>
            </a:r>
            <a:endParaRPr lang="ar-SA" sz="2200" dirty="0"/>
          </a:p>
        </p:txBody>
      </p:sp>
      <p:sp>
        <p:nvSpPr>
          <p:cNvPr id="48" name="Text 45"/>
          <p:cNvSpPr txBox="1"/>
          <p:nvPr/>
        </p:nvSpPr>
        <p:spPr>
          <a:xfrm>
            <a:off x="566928" y="5338572"/>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Homework</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Choose the question word from the information you need. Keep the question short enough to say clearly.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THE FIVE-MOVE CONVERSATION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Open, ask, listen, repair, close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خَمْسُ خُطُوَاتٍ لِلْمُحَادَثَةِ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5486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5486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OPEN</a:t>
            </a:r>
            <a:endParaRPr lang="en-US" sz="850" dirty="0"/>
          </a:p>
        </p:txBody>
      </p:sp>
      <p:sp>
        <p:nvSpPr>
          <p:cNvPr id="18" name="Text 15"/>
          <p:cNvSpPr txBox="1"/>
          <p:nvPr/>
        </p:nvSpPr>
        <p:spPr>
          <a:xfrm>
            <a:off x="8827008" y="1874520"/>
            <a:ext cx="27675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صَبَاحُ الخَيْرِ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صَبَاحُ الخَيْرِ يَا أُسْتَاذَةُ. اِسْمِي سَلْمَى.</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Good morning, teacher. My name is Salma.</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Greet + the situation.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1450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ASK + LISTEN · REPAIR</a:t>
            </a:r>
            <a:endParaRPr lang="en-US" sz="850" dirty="0"/>
          </a:p>
        </p:txBody>
      </p:sp>
      <p:sp>
        <p:nvSpPr>
          <p:cNvPr id="26" name="Text 23"/>
          <p:cNvSpPr txBox="1"/>
          <p:nvPr/>
        </p:nvSpPr>
        <p:spPr>
          <a:xfrm>
            <a:off x="6173724"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آسِفَةٌ، لَمْ أَفْهَمْ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آسِفَةٌ، هَلْ يُمْكِنُكِ أَنْ تُعِيدِي ذَلِكَ؟</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Sorry, could you repeat that?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Name the problem, ask for a fix.</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1722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CLOSE</a:t>
            </a:r>
            <a:endParaRPr lang="en-US" sz="850" dirty="0"/>
          </a:p>
        </p:txBody>
      </p:sp>
      <p:sp>
        <p:nvSpPr>
          <p:cNvPr id="34" name="Text 31"/>
          <p:cNvSpPr txBox="1"/>
          <p:nvPr/>
        </p:nvSpPr>
        <p:spPr>
          <a:xfrm>
            <a:off x="1257300"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شُكْرًا جَزِيلًا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شُكْرًا جَزِيلًا عَلَى مُسَاعَدَتِكِ. إِلَى اللِّقَاءِ.</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Thank you very much for your help. Goodbye.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Thank + end politely.</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a clarification phrase keeps the exchange alive.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آسِفٌ، لَمْ أَفْهَمْ. مَرَّةً أُخْرَى، مِنْ فَضْلِكَ.</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لَا أَعْرِفُ.</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need the day of Arabic. Which question fits?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العَرَبِيَّةُ؟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عَرَبِيَّةً؟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أَيِّ يَوْمٍ عِنْدَنَا العَرَبِيَّةُ؟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want permission to borrow the book.</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يُمْكِنُنِي أَنْ أَسْتَعِيرَهُ؟</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أَسْتَعِيرَهُ؟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أَسْتَعِيرَهُ؟</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speaker says ‘Sorry, I did not understand.’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آسِفٌ، لَمْ أَفْهَمْ.</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آسِفَةٌ، لَمْ أَفْهَمْ.</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 فَهِمْتُ.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to speak slowly.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تَكَلَّمِي بِبُطْءٍ، مِنْ فَضْلِكِ.</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تَكَلَّمْ بِبُطْءٍ، مِنْ فَضْلِكَ.</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تَكَلَّمُوا بِبُطْءٍ.</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need the day of Arabic. Which question fits?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العَرَبِيَّةُ؟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عَرَبِيَّةً؟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أَيِّ يَوْمٍ عِنْدَنَا العَرَبِيَّةُ؟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أَيِّ يَوْمٍ</a:t>
            </a:r>
            <a:pPr algn="l" indent="0" marL="0">
              <a:buNone/>
            </a:pPr>
            <a:r>
              <a:rPr lang="en-US" sz="1050" i="1" dirty="0">
                <a:solidFill>
                  <a:srgbClr val="8A6D1E"/>
                </a:solidFill>
                <a:latin typeface="Calibri" pitchFamily="34" charset="0"/>
                <a:cs typeface="Amiri" pitchFamily="2" charset="-78"/>
              </a:rPr>
              <a:t> asks on which day.</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want permission to borrow the book.</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يُمْكِنُنِي أَنْ أَسْتَعِيرَهُ؟</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أَسْتَعِيرَهُ؟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لِمَاذَا أَسْتَعِيرَهُ؟</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هَلْ يُمْكِنُنِي</a:t>
            </a:r>
            <a:pPr algn="l" indent="0" marL="0">
              <a:buNone/>
            </a:pPr>
            <a:r>
              <a:rPr lang="en-US" sz="1050" i="1" dirty="0">
                <a:solidFill>
                  <a:srgbClr val="8A6D1E"/>
                </a:solidFill>
                <a:latin typeface="Calibri" pitchFamily="34" charset="0"/>
                <a:cs typeface="Amiri" pitchFamily="2" charset="-78"/>
              </a:rPr>
              <a:t> asks ‘may I…?’</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speaker says ‘Sorry, I did not understand.’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آسِفٌ، لَمْ أَفْهَمْ.</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آسِفَةٌ، لَمْ أَفْهَمْ.</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شُكْرًا، فَهِمْتُ.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آسِفَةٌ</a:t>
            </a:r>
            <a:pPr algn="l" indent="0" marL="0">
              <a:buNone/>
            </a:pPr>
            <a:r>
              <a:rPr lang="en-US" sz="1050" i="1" dirty="0">
                <a:solidFill>
                  <a:srgbClr val="8A6D1E"/>
                </a:solidFill>
                <a:latin typeface="Calibri" pitchFamily="34" charset="0"/>
                <a:cs typeface="Amiri" pitchFamily="2" charset="-78"/>
              </a:rPr>
              <a:t> is the feminine speaker form.</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to speak slowly.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تَكَلَّمِي بِبُطْءٍ، مِنْ فَضْلِكِ.</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تَكَلَّمْ بِبُطْءٍ، مِنْ فَضْلِكَ.</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تَكَلَّمُوا بِبُطْءٍ.</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تَكَلَّمِي</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مِنْ فَضْلِكِ</a:t>
            </a:r>
            <a:pPr algn="l" indent="0" marL="0">
              <a:buNone/>
            </a:pPr>
            <a:r>
              <a:rPr lang="en-US" sz="1050" i="1" dirty="0">
                <a:solidFill>
                  <a:srgbClr val="8A6D1E"/>
                </a:solidFill>
                <a:latin typeface="Calibri" pitchFamily="34" charset="0"/>
                <a:cs typeface="Amiri" pitchFamily="2" charset="-78"/>
              </a:rPr>
              <a:t> address one female.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SCENARIO A WITH ME (WEBSITE ROLE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Scenario A · New student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سِينارْيُو أ · طَالِبَةٌ 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السَّلَامُ عَلَيْكُمْ. اِسْمِي …</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 · Greet the teacher and say your name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 المَوَادُّ الَّتِي نَدْرُسُهَا يَوْمَ الاِثْنَيْنِ؟</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 · Ask which subjects are studied on Monday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مَتَى يَنْتَهِي اليَوْمُ الدِّرَاسِيُّ؟</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 · Ask what time school finishes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أَيْنَ المَقْصَفُ، مِنْ فَضْلِكِ؟</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 · Ask where the canteen is (female teacher)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شُكْرًا جَزِيلًا. إِلَى اللِّقَاءِ.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 · Thank the teacher and close politely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“ROLE-PLAY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role-play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تَمْثِيلِ الدَّوْرِ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still speaking to the teacher.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يَنْتَهِي المَقْصَفُ؟</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يَنْتَهِي اليَوْمُ الدِّرَاسِيُّ؟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العُلُومُ؟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one male librarian politely.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الكِتَابُ، مِنْ فَضْلِكِ؟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كِتَابًا أَنْتَ؟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الكِتَابُ، مِنْ فَضْلِكَ؟</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want to borrow the book.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يُمْكِنُنِي أَنْ أَسْتَعِيرَهُ؟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يُمْكِنُكَ أَنْ تُعِيدَ ذَلِكَ؟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الوَاجِبُ؟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need the homework information.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المَقْصَفُ؟</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الوَاجِبُ الَّذِي سَيَفُوتُنِي؟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مَادَّتُكَ المُفَضَّلَةُ؟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speaking to one female secretary.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آسِفَةٌ، هَلْ يُمْكِنُكِ أَنْ تُعِيدِي ذَلِكَ؟</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آسِفٌ، هَلْ يُمْكِنُكَ أَنْ تُعِيدَ ذَلِكَ؟</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اِنْتَهَتِ المُحَادَثَةُ.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fits the prompt?</a:t>
            </a:r>
            <a:endParaRPr lang="en-US" sz="1250" dirty="0"/>
          </a:p>
          <a:p>
            <a:pPr algn="l" indent="0" marL="0">
              <a:buNone/>
            </a:pPr>
            <a:r>
              <a:rPr lang="en-US" sz="1250" dirty="0">
                <a:solidFill>
                  <a:srgbClr val="1E6B52"/>
                </a:solidFill>
                <a:latin typeface="Calibri" pitchFamily="34" charset="0"/>
                <a:cs typeface="Amiri" pitchFamily="2" charset="-78"/>
              </a:rPr>
              <a:t>suits the situation?</a:t>
            </a:r>
            <a:endParaRPr lang="en-US" sz="1250" dirty="0"/>
          </a:p>
          <a:p>
            <a:pPr algn="l" indent="0" marL="0">
              <a:buNone/>
            </a:pPr>
            <a:r>
              <a:rPr lang="en-US" sz="1250" dirty="0">
                <a:solidFill>
                  <a:srgbClr val="1E6B52"/>
                </a:solidFill>
                <a:latin typeface="Calibri" pitchFamily="34" charset="0"/>
                <a:cs typeface="Amiri" pitchFamily="2" charset="-78"/>
              </a:rPr>
              <a:t>keeps the exchange moving?</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still speaking to the teacher.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يَنْتَهِي المَقْصَفُ؟</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مَتَى يَنْتَهِي اليَوْمُ الدِّرَاسِيُّ؟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لِمَاذَا العُلُومُ؟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مَتَى</a:t>
            </a:r>
            <a:pPr algn="l" indent="0" marL="0">
              <a:buNone/>
            </a:pPr>
            <a:r>
              <a:rPr lang="en-US" sz="1050" i="1" dirty="0">
                <a:solidFill>
                  <a:srgbClr val="8A6D1E"/>
                </a:solidFill>
                <a:latin typeface="Calibri" pitchFamily="34" charset="0"/>
                <a:cs typeface="Amiri" pitchFamily="2" charset="-78"/>
              </a:rPr>
              <a:t> asks for the exact time.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Address one male librarian politely.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الكِتَابُ، مِنْ فَضْلِكِ؟</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كِتَابًا أَنْتَ؟</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أَيْنَ الكِتَابُ، مِنْ فَضْلِكَ؟</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فَضْلِكَ</a:t>
            </a:r>
            <a:pPr algn="l" indent="0" marL="0">
              <a:buNone/>
            </a:pPr>
            <a:r>
              <a:rPr lang="en-US" sz="1050" i="1" dirty="0">
                <a:solidFill>
                  <a:srgbClr val="8A6D1E"/>
                </a:solidFill>
                <a:latin typeface="Calibri" pitchFamily="34" charset="0"/>
                <a:cs typeface="Amiri" pitchFamily="2" charset="-78"/>
              </a:rPr>
              <a:t> addresses one male politely.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want to borrow the book.</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يُمْكِنُنِي أَنْ أَسْتَعِيرَهُ؟</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يُمْكِنُكَ أَنْ تُعِيدَ ذَلِكَ؟</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الوَاجِبُ؟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هَلْ يُمْكِنُنِي</a:t>
            </a:r>
            <a:pPr algn="l" indent="0" marL="0">
              <a:buNone/>
            </a:pPr>
            <a:r>
              <a:rPr lang="en-US" sz="1050" i="1" dirty="0">
                <a:solidFill>
                  <a:srgbClr val="8A6D1E"/>
                </a:solidFill>
                <a:latin typeface="Calibri" pitchFamily="34" charset="0"/>
                <a:cs typeface="Amiri" pitchFamily="2" charset="-78"/>
              </a:rPr>
              <a:t> asks permission for the speaker.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need the homework information.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المَقْصَفُ؟</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 الوَاجِبُ الَّذِي سَيَفُوتُنِي؟</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مَادَّتُكَ المُفَضَّلَةُ؟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question asks about the work that will be missed.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speaking to one female secretary.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آسِفَةٌ، هَلْ يُمْكِنُكِ أَنْ تُعِيدِي ذَلِكَ؟</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آسِفٌ، هَلْ يُمْكِنُكَ أَنْ تُعِيدَ ذَلِكَ؟</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اِنْتَهَتِ المُحَادَثَةُ.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speaker and addressee forms are feminine.</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fits the prompt?</a:t>
            </a:r>
            <a:endParaRPr lang="en-US" sz="1250" dirty="0"/>
          </a:p>
          <a:p>
            <a:pPr algn="l" indent="0" marL="0">
              <a:buNone/>
            </a:pPr>
            <a:r>
              <a:rPr lang="en-US" sz="1250" dirty="0">
                <a:solidFill>
                  <a:srgbClr val="1E6B52"/>
                </a:solidFill>
                <a:latin typeface="Calibri" pitchFamily="34" charset="0"/>
                <a:cs typeface="Amiri" pitchFamily="2" charset="-78"/>
              </a:rPr>
              <a:t>suits the situation?</a:t>
            </a:r>
            <a:endParaRPr lang="en-US" sz="1250" dirty="0"/>
          </a:p>
          <a:p>
            <a:pPr algn="l" indent="0" marL="0">
              <a:buNone/>
            </a:pPr>
            <a:r>
              <a:rPr lang="en-US" sz="1250" dirty="0">
                <a:solidFill>
                  <a:srgbClr val="1E6B52"/>
                </a:solidFill>
                <a:latin typeface="Calibri" pitchFamily="34" charset="0"/>
                <a:cs typeface="Amiri" pitchFamily="2" charset="-78"/>
              </a:rPr>
              <a:t>keeps the exchange moving?</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قَالَتْ مَرْيَمُ: آسِفٌ، لَمْ أَفْهَمْ.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speaking: which form?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يَا أُسْتَاذَةُ، هَلْ يُمْكِنُكَ أَنْ تُعِيدَ ذَلِكَ؟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teacher is a woman: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مَتَى المَقْصَفُ؟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place: which question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قَالَتْ مَرْيَمُ: آسِفٌ، لَمْ أَفْهَمْ.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قَالَتْ مَرْيَمُ: آسِفَةٌ، لَمْ أَفْهَمْ.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female SPEAKER: āsifa.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يَا أُسْتَاذَةُ، هَلْ يُمْكِنُكَ أَنْ تُعِيدَ ذَلِكَ؟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يَا أُسْتَاذَةُ، هَلْ يُمْكِنُكِ أَنْ تُعِيدِي ذَلِكَ؟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female LISTENER: yumkinuki … tu‘īdī.</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مَتَى المَقْصَفُ؟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أَيْنَ المَقْصَفُ؟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place needs ayna, not matā.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school conversations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 is maths?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begins at 11:00?</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 day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Arabic lesson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break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sentences must the student write?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extra feature must be added?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opinion and a reason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map and a picture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past events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homework due?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Wednesday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1st: the situation. 2nd: day, time, subject, instruction, deadline.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أَحْمَدُ: مَتَى عِنْدَنَا الرِّيَاضِيَّاتُ؟ لَيْلَى: عِنْدَنَا الرِّيَاضِيَّاتُ يَوْمَ الاِثْنَيْنِ فِي السَّاعَةِ التَّاسِعَةِ صَبَاحًا.</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C1 · Ahmad: When do we have maths? Layla: On Monday at 9 am.</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أَحْمَدُ: وَمَتَى تَبْدَأُ الاِسْتِرَاحَةُ؟ لَيْلَى: تَبْدَأُ الاِسْتِرَاحَةُ فِي السَّاعَةِ الحَادِيَةَ عَشْرَةَ، ثُمَّ عِنْدَنَا العُلُومُ فِي المُخْتَبَرِ.</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Ahmad: When does break begin? Layla: At eleven, then we have science in the lab.</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الطَّالِبَةُ: آسِفَةٌ يَا أُسْتَاذَةُ، مَا الوَاجِبُ؟ الأُسْتَاذَةُ: اُكْتُبِي خَمْسَ جُمَلٍ عَنْ مَدْرَسَتِكِ.</a:t>
            </a:r>
            <a:endParaRPr lang="ar-SA" sz="18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C2 · Student: Sorry, miss, what is the homework? Teacher: Write five sentences about your school.</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الطَّالِبَةُ: هَلْ يُمْكِنُكِ أَنْ تُعِيدِي ذَلِكَ، مِنْ فَضْلِكِ؟ الأُسْتَاذَةُ: نَعَمْ. خَمْسُ جُمَلٍ عَنِ المَدْرَسَةِ، وَأَضِيفِي رَأْيًا وَسَبَبًا.</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 Could you repeat that, please? Teacher: Yes — five sentences about school; add an opinion and a reason.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الأُسْتَاذَةُ: الوَاجِبُ لِيَوْمِ الثُّلَاثَاءِ. الطَّالِبَةُ: شُكْرًا، فَهِمْتُ الآنَ.</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The homework is for Tuesday. Student: Thank you, I understand now.</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 is maths?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Monday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Thursday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Layla says </a:t>
            </a:r>
            <a:pPr algn="l" indent="0" marL="0">
              <a:buNone/>
            </a:pPr>
            <a:r>
              <a:rPr lang="ar-SA" altLang="en-US" sz="1350" dirty="0">
                <a:solidFill>
                  <a:srgbClr val="8A6D1E"/>
                </a:solidFill>
                <a:latin typeface="Amiri" pitchFamily="2" charset="-78"/>
                <a:ea typeface="Amiri" pitchFamily="2" charset="-78"/>
                <a:cs typeface="Amiri" pitchFamily="2" charset="-78"/>
              </a:rPr>
              <a:t>يَوْمَ الاِثْنَيْنِ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begins at 11:00?</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school day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Arabic lesson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break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Layla states </a:t>
            </a:r>
            <a:pPr algn="l" indent="0" marL="0">
              <a:buNone/>
            </a:pPr>
            <a:r>
              <a:rPr lang="ar-SA" altLang="en-US" sz="1350" dirty="0">
                <a:solidFill>
                  <a:srgbClr val="8A6D1E"/>
                </a:solidFill>
                <a:latin typeface="Amiri" pitchFamily="2" charset="-78"/>
                <a:ea typeface="Amiri" pitchFamily="2" charset="-78"/>
                <a:cs typeface="Amiri" pitchFamily="2" charset="-78"/>
              </a:rPr>
              <a:t>تَبْدَأُ الاِسْتِرَاحَةُ فِي السَّاعَةِ الحَادِيَةَ عَشْرَةَ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sentences must the student write?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five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teacher says </a:t>
            </a:r>
            <a:pPr algn="l" indent="0" marL="0">
              <a:buNone/>
            </a:pPr>
            <a:r>
              <a:rPr lang="ar-SA" altLang="en-US" sz="1350" dirty="0">
                <a:solidFill>
                  <a:srgbClr val="8A6D1E"/>
                </a:solidFill>
                <a:latin typeface="Amiri" pitchFamily="2" charset="-78"/>
                <a:ea typeface="Amiri" pitchFamily="2" charset="-78"/>
                <a:cs typeface="Amiri" pitchFamily="2" charset="-78"/>
              </a:rPr>
              <a:t>خَمْسَ جُمَلٍ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extra feature must be added?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opinion and a reason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map and a picture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past events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teacher says </a:t>
            </a:r>
            <a:pPr algn="l" indent="0" marL="0">
              <a:buNone/>
            </a:pPr>
            <a:r>
              <a:rPr lang="ar-SA" altLang="en-US" sz="1350" dirty="0">
                <a:solidFill>
                  <a:srgbClr val="8A6D1E"/>
                </a:solidFill>
                <a:latin typeface="Amiri" pitchFamily="2" charset="-78"/>
                <a:ea typeface="Amiri" pitchFamily="2" charset="-78"/>
                <a:cs typeface="Amiri" pitchFamily="2" charset="-78"/>
              </a:rPr>
              <a:t>وَأَضِيفِي رَأْيًا وَسَبَبًا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homework due?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Monday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Tuesday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Wednesday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transcript states </a:t>
            </a:r>
            <a:pPr algn="l" indent="0" marL="0">
              <a:buNone/>
            </a:pPr>
            <a:r>
              <a:rPr lang="ar-SA" altLang="en-US" sz="1350" dirty="0">
                <a:solidFill>
                  <a:srgbClr val="8A6D1E"/>
                </a:solidFill>
                <a:latin typeface="Amiri" pitchFamily="2" charset="-78"/>
                <a:ea typeface="Amiri" pitchFamily="2" charset="-78"/>
                <a:cs typeface="Amiri" pitchFamily="2" charset="-78"/>
              </a:rPr>
              <a:t>الوَاجِبُ لِيَوْمِ الثُّلَاثَاءِ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1st: the situation. 2nd: day, time, subject, instruction, deadline.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 DIALOGUE B · LIBRARY TRANSACTION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Yusuf in the library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المُحَادَثَةُ (ب)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يُوسُفُ: السَّلَامُ عَلَيْكُمْ. هَلْ عِنْدَكُمْ كِتَابٌ فِي قَوَاعِدِ اللُّغَةِ العَرَبِيَّةِ؟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 + ASK · availability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أَمِينُ المَكْتَبَةِ: نَعَمْ، عِنْدَنَا كِتَابَانِ عَلَى الرَّفِّ الثَّالِثِ.</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books · third shelf</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يُوسُفُ: أَحْتَاجُ إِلَى أَحَدِهِمَا لِيَوْمِ الثُّلَاثَاءِ. هَلْ يُمْكِنُنِي أَنْ أَسْتَعِيرَهُ؟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one for Tuesday · asks PERMISSION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أَمِينُ المَكْتَبَةِ: نَعَمْ، وَلَكِنْ يَجِبُ أَنْ تُعِيدَهُ يَوْمَ الأَرْبِعَاءِ.</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 but return it on Wednesday (a condition)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يُوسُفُ: شُكْرًا جَزِيلًا عَلَى مُسَاعَدَتِكَ.</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DIALOGUE EVIDENCE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Maryam or Yusuf?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Maryam speaking to the teacher?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wants to buy a book.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a new student and needs school information.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reporting an absence.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does Maryam ask the teacher to repeat?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final subject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finish time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canteen location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books?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beside the canteen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laboratory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third shelf</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permission does Yusuf request?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leave school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borrow the book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use the canteen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must the book be returned?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Wednesday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Friday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question,</a:t>
            </a:r>
            <a:endParaRPr lang="en-US" sz="1250" dirty="0"/>
          </a:p>
          <a:p>
            <a:pPr algn="l" indent="0" marL="0">
              <a:buNone/>
            </a:pPr>
            <a:r>
              <a:rPr lang="en-US" sz="1250" dirty="0">
                <a:solidFill>
                  <a:srgbClr val="1F2A37"/>
                </a:solidFill>
                <a:latin typeface="Calibri" pitchFamily="34" charset="0"/>
                <a:cs typeface="Amiri" pitchFamily="2" charset="-78"/>
              </a:rPr>
              <a:t>then the answer line after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Maryam speaking to the teacher?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wants to buy a book.</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is a new student and needs school information.</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reporting an absence.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introduces herself as </a:t>
            </a:r>
            <a:pPr algn="l" indent="0" marL="0">
              <a:buNone/>
            </a:pPr>
            <a:r>
              <a:rPr lang="ar-SA" altLang="en-US" sz="1350" dirty="0">
                <a:solidFill>
                  <a:srgbClr val="8A6D1E"/>
                </a:solidFill>
                <a:latin typeface="Amiri" pitchFamily="2" charset="-78"/>
                <a:ea typeface="Amiri" pitchFamily="2" charset="-78"/>
                <a:cs typeface="Amiri" pitchFamily="2" charset="-78"/>
              </a:rPr>
              <a:t>طَالِبَةٌ جَدِيدَةٌ</a:t>
            </a:r>
            <a:pPr algn="l" indent="0" marL="0">
              <a:buNone/>
            </a:pPr>
            <a:r>
              <a:rPr lang="en-US" sz="1050" i="1" dirty="0">
                <a:solidFill>
                  <a:srgbClr val="8A6D1E"/>
                </a:solidFill>
                <a:latin typeface="Calibri" pitchFamily="34" charset="0"/>
                <a:cs typeface="Amiri" pitchFamily="2" charset="-78"/>
              </a:rPr>
              <a:t> and asks about Monday.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does Maryam ask the teacher to repeat?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final subject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finish time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canteen location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asks </a:t>
            </a:r>
            <a:pPr algn="l" indent="0" marL="0">
              <a:buNone/>
            </a:pPr>
            <a:r>
              <a:rPr lang="ar-SA" altLang="en-US" sz="1350" dirty="0">
                <a:solidFill>
                  <a:srgbClr val="8A6D1E"/>
                </a:solidFill>
                <a:latin typeface="Amiri" pitchFamily="2" charset="-78"/>
                <a:ea typeface="Amiri" pitchFamily="2" charset="-78"/>
                <a:cs typeface="Amiri" pitchFamily="2" charset="-78"/>
              </a:rPr>
              <a:t>تُعِيدِي المَادَّةَ الأَخِيرَةَ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books?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beside the canteen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laboratory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third shelf</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librarian says </a:t>
            </a:r>
            <a:pPr algn="l" indent="0" marL="0">
              <a:buNone/>
            </a:pPr>
            <a:r>
              <a:rPr lang="ar-SA" altLang="en-US" sz="1350" dirty="0">
                <a:solidFill>
                  <a:srgbClr val="8A6D1E"/>
                </a:solidFill>
                <a:latin typeface="Amiri" pitchFamily="2" charset="-78"/>
                <a:ea typeface="Amiri" pitchFamily="2" charset="-78"/>
                <a:cs typeface="Amiri" pitchFamily="2" charset="-78"/>
              </a:rPr>
              <a:t>عَلَى الرَّفِّ الثَّالِثِ</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permission does Yusuf request?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leave school</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borrow the book</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use the canteen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هَلْ يُمْكِنُنِي أَنْ أَسْتَعِيرَهُ؟</a:t>
            </a:r>
            <a:pPr algn="l" indent="0" marL="0">
              <a:buNone/>
            </a:pPr>
            <a:r>
              <a:rPr lang="en-US" sz="1050" i="1" dirty="0">
                <a:solidFill>
                  <a:srgbClr val="8A6D1E"/>
                </a:solidFill>
                <a:latin typeface="Calibri" pitchFamily="34" charset="0"/>
                <a:cs typeface="Amiri" pitchFamily="2" charset="-78"/>
              </a:rPr>
              <a:t> asks permission to borrow it.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must the book be returned?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Wednesday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Friday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librarian says </a:t>
            </a:r>
            <a:pPr algn="l" indent="0" marL="0">
              <a:buNone/>
            </a:pPr>
            <a:r>
              <a:rPr lang="ar-SA" altLang="en-US" sz="1350" dirty="0">
                <a:solidFill>
                  <a:srgbClr val="8A6D1E"/>
                </a:solidFill>
                <a:latin typeface="Amiri" pitchFamily="2" charset="-78"/>
                <a:ea typeface="Amiri" pitchFamily="2" charset="-78"/>
                <a:cs typeface="Amiri" pitchFamily="2" charset="-78"/>
              </a:rPr>
              <a:t>يَوْمَ الأَرْبِعَاءِ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question,</a:t>
            </a:r>
            <a:endParaRPr lang="en-US" sz="1250" dirty="0"/>
          </a:p>
          <a:p>
            <a:pPr algn="l" indent="0" marL="0">
              <a:buNone/>
            </a:pPr>
            <a:r>
              <a:rPr lang="en-US" sz="1250" dirty="0">
                <a:solidFill>
                  <a:srgbClr val="1F2A37"/>
                </a:solidFill>
                <a:latin typeface="Calibri" pitchFamily="34" charset="0"/>
                <a:cs typeface="Amiri" pitchFamily="2" charset="-78"/>
              </a:rPr>
              <a:t>then the answer line after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Two-minute school role-play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سِينارْيُو أ: طَالِبٌ جَدِيدٌ / طَالِبَةٌ جَدِيدَةٌ — مَعَ المُعَلِّمِ.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سِينارْيُو ب: فِي المَكْتَبَةِ — تَحْتَاجُ إِلَى كِتَابٍ.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سِينارْيُو ج: فِي مَكْتَبِ المَدْرَسَةِ — سَتَغِيبُ يَوْمَ الخَمِيسِ.</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اِسْتَعْمِلْ عِبَارَةَ تَوْضِيحٍ وَاحِدَةً فِي كُلِّ مُحَادَثَةٍ.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D5FBF"/>
                </a:solidFill>
                <a:latin typeface="Amiri" pitchFamily="2" charset="-78"/>
                <a:ea typeface="Amiri" pitchFamily="2" charset="-78"/>
                <a:cs typeface="Amiri" pitchFamily="2" charset="-78"/>
              </a:rPr>
              <a:t>صَبَاحُ الخَيْرِ. اِسْمِي … · مَتَى …؟ · أَيْنَ …؟ · شُكْرًا.</a:t>
            </a:r>
            <a:endParaRPr lang="ar-SA" sz="12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هَلْ عِنْدَكُمْ …؟ · هَلْ يُمْكِنُنِي أَنْ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ea typeface="Amiri" pitchFamily="2" charset="-78"/>
                <a:cs typeface="Amiri" pitchFamily="2" charset="-78"/>
              </a:rPr>
              <a:t>سَأَغِيبُ يَوْمَ … لِأَنَّ … · مَا الوَاجِبُ الَّذِي سَيَفُوتُنِي؟</a:t>
            </a:r>
            <a:endParaRPr lang="ar-SA" sz="12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آسِفٌ / آسِفَةٌ، لَمْ أَفْهَمْ. هَلْ تَعْنِي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السَّلَامُ عَلَيْكُمْ. هَلْ عِنْدَكُمْ كِتَابٌ فِي قَوَاعِدِ اللُّغَةِ العَرَبِيَّةِ؟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Hello. Do you have a book on Arabic grammar?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عِنْدَنَا كِتَابَانِ عَلَى الرَّفِّ الثَّالِثِ.</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 we have two books on the third shelf.</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8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Five prompts, one short sentence each, using the phrase bank.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Route A dialogue: greeting, two questions and answers, thanks.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Two question words, a repair phrase and a polite close.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questions and answers, one repair phrase, polite close.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Respond to an unpredictable reply and keep the exchange going.</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an unexpected reply and handle it (condition, clarification).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عِنْدَكُمْ كِتَابٌ فِي القَوَاعِدِ؟</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have a grammar book?</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يُمْكِنُنِي أَنْ أَسْتَعِيرَهُ؟</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May I borrow it?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أَحْتَاجُ إِلَيْهِ لِيَوْمِ الثُّلَاثَاءِ.</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need it for Tuesday.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يُمْكِنُكِ أَنْ تُعِيدِي ذَلِكَ، مِنْ فَضْلِكِ؟</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Could you (f.) repeat that, please?</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سَأَغِيبُ عَنِ المَدْرَسَةِ يَوْمَ الخَمِيسِ.</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be absent on Thursday.</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صَبَاحُ الخَيْرِ يَا أُسْتَاذَةُ. اِسْمِي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Good morning, teacher (f.). My name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يَنْتَهِي اليَوْمُ الدِّرَاسِيُّ؟</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does the school day end?</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المَقْصَفُ، مِنْ فَضْلِكِ؟</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 is the canteen, please?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آسِفٌ / آسِفَةٌ، لَمْ أَفْهَمْ.</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Sorry, I didn’t understand.</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جَزِيلًا. إِلَى اللِّقَاءِ.</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 Goodbye.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مَتَى  ·  أَيْنَ  ·  كَمْ  ·  مَا  ·  هَلْ  ·  لِمَاذَا  ·  مِنْ فَضْلِكَ  ·  مِنْ فَضْلِكِ  ·  آسِفٌ  ·  آسِفَةٌ  ·  شُكْرًا جَزِيلًا  ·  إِلَى اللِّقَاءِ</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مَرْيَمُ: صَبَاحُ الخَيْرِ يَا أُسْتَاذَةُ. أَنَا طَالِبَةٌ جَدِيدَةٌ، وَاسْمِي مَرْيَمُ. المُعَلِّمَةُ: أَهْلًا وَسَهْلًا يَا مَرْيَمُ. مَرْيَمُ: مَا المَوَادُّ الَّتِي نَدْرُسُهَا يَوْمَ الاِثْنَيْنِ؟ المُعَلِّمَةُ: نَدْرُسُ العَرَبِيَّةَ وَالرِّيَاضِيَّاتِ وَالعُلُومَ. مَرْيَمُ: آسِفَةٌ، هَلْ يُمْكِنُكِ أَنْ تُعِيدِي المَادَّةَ الأَخِيرَةَ؟ المُعَلِّمَةُ: العُلُومَ. وَتَنْتَهِي المَدْرَسَةُ فِي السَّاعَةِ الثَّالِثَةِ. مَرْيَمُ: شُكْرًا جَزِيلًا.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Maryam: Good morning, teacher. I am a new student and my name is Maryam. Teacher: Welcome, Maryam. Maryam: Which subjects do we study on Monday? Teacher: We study Arabic, maths and science. Maryam: Sorry, could you repeat the last subject? Teacher: Science. And school finishes at three. Maryam: Thank you very much.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open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ask</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repair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close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Response: I answered every prompt.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Clarity: short, organised sentences.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two question words.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Repair: I used a clarification phrase.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handled an unexpected reply.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where the canteen is.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المَقْصَفُ؟</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المَقْصَفُ؟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مَقْصَفًا؟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permission to borrow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يُمْكِنُكَ أَنْ تُعِيدَهُ؟</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يُمْكِنُنِي أَنْ أَسْتَعِيرَهُ؟</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عِنْدَكُمْ يَوْمٌ؟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to repeat.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يُمْكِنُكِ أَنْ تُعِيدِي ذَلِكَ؟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يُمْكِنُكَ أَنْ تُعِيدَ ذَلِكَ؟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يُمْكِنُنِي أَنْ أُعِيدَ ذَلِكَ؟</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where the canteen is.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أَيْنَ المَقْصَفُ؟</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مَتَى المَقْصَفُ؟</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كَمْ مَقْصَفًا؟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أَيْنَ</a:t>
            </a:r>
            <a:pPr algn="l" indent="0" marL="0">
              <a:buNone/>
            </a:pPr>
            <a:r>
              <a:rPr lang="en-US" sz="1050" i="1" dirty="0">
                <a:solidFill>
                  <a:srgbClr val="8A6D1E"/>
                </a:solidFill>
                <a:latin typeface="Calibri" pitchFamily="34" charset="0"/>
                <a:cs typeface="Amiri" pitchFamily="2" charset="-78"/>
              </a:rPr>
              <a:t> asks for location.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permission to borrow it.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هَلْ يُمْكِنُكَ أَنْ تُعِيدَهُ؟</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هَلْ يُمْكِنُنِي أَنْ أَسْتَعِيرَهُ؟</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هَلْ عِنْدَكُمْ يَوْمٌ؟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هَلْ يُمْكِنُنِي</a:t>
            </a:r>
            <a:pPr algn="l" indent="0" marL="0">
              <a:buNone/>
            </a:pPr>
            <a:r>
              <a:rPr lang="en-US" sz="1050" i="1" dirty="0">
                <a:solidFill>
                  <a:srgbClr val="8A6D1E"/>
                </a:solidFill>
                <a:latin typeface="Calibri" pitchFamily="34" charset="0"/>
                <a:cs typeface="Amiri" pitchFamily="2" charset="-78"/>
              </a:rPr>
              <a:t> means ‘may I…?’</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to repeat.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هَلْ يُمْكِنُكِ أَنْ تُعِيدِي ذَلِكَ؟</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هَلْ يُمْكِنُكَ أَنْ تُعِيدَ ذَلِكَ؟</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هَلْ يُمْكِنُنِي أَنْ أُعِيدَ ذَلِكَ؟</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addressee forms are </a:t>
            </a:r>
            <a:pPr algn="l" indent="0" marL="0">
              <a:buNone/>
            </a:pPr>
            <a:r>
              <a:rPr lang="ar-SA" altLang="en-US" sz="1350" dirty="0">
                <a:solidFill>
                  <a:srgbClr val="8A6D1E"/>
                </a:solidFill>
                <a:latin typeface="Amiri" pitchFamily="2" charset="-78"/>
                <a:ea typeface="Amiri" pitchFamily="2" charset="-78"/>
                <a:cs typeface="Amiri" pitchFamily="2" charset="-78"/>
              </a:rPr>
              <a:t>ـكِ</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تُعِيدِي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F4-L10 · School Conversations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F4-L11 · Speaking and Writing About School</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خُطَّةٌ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plan</a:t>
            </a:r>
            <a:pPr indent="0" marL="0">
              <a:buNone/>
            </a:pPr>
            <a:r>
              <a:rPr lang="ar-SA" sz="1000" i="1" dirty="0">
                <a:solidFill>
                  <a:srgbClr val="5A6472"/>
                </a:solidFill>
                <a:latin typeface="Calibri" pitchFamily="34" charset="0"/>
                <a:ea typeface="Amiri" pitchFamily="2" charset="-78"/>
                <a:cs typeface="Amiri" pitchFamily="2" charset="-78"/>
              </a:rPr>
              <a:t>  pl. خُطَطٌ</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تَقْدِيمٌ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presentation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هَدَفٌ</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purpose / aim</a:t>
            </a:r>
            <a:pPr indent="0" marL="0">
              <a:buNone/>
            </a:pPr>
            <a:r>
              <a:rPr lang="ar-SA" sz="1000" i="1" dirty="0">
                <a:solidFill>
                  <a:srgbClr val="5A6472"/>
                </a:solidFill>
                <a:latin typeface="Calibri" pitchFamily="34" charset="0"/>
                <a:ea typeface="Amiri" pitchFamily="2" charset="-78"/>
                <a:cs typeface="Amiri" pitchFamily="2" charset="-78"/>
              </a:rPr>
              <a:t>  pl. أَهْدَافٌ</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خَاتِمَةٌ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conclusion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تَعْلِيقٌ</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feedback / comment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Plan a 1-minute talk about your school: write five keywords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خَمْسُ كَلِمَاتٍ</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F4-L10: the Role-Play Mission (14) and the repair check.</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five-prompt planner for one scenario + one repair + one closing.</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a two-minute role play privately, self-assess /12 and write one target.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F4-L11 · Speaking and Writing About School</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التَّحَدُّثُ وَالكِتَابَةُ عَنِ المَدْرَسَةِ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open · ask · listen · repair · close — short and accurate wins.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F4-L10 · Listening and Speaking: School Conversations</dc:title>
  <dc:subject>PptxGenJS Presentation</dc:subject>
  <dc:creator>Al Madina Online School · Arabic Department</dc:creator>
  <cp:lastModifiedBy>Al Madina Online School · Arabic Department</cp:lastModifiedBy>
  <cp:revision>1</cp:revision>
  <dcterms:created xsi:type="dcterms:W3CDTF">2026-10-11T06:41:42Z</dcterms:created>
  <dcterms:modified xsi:type="dcterms:W3CDTF">2026-10-11T06:41:42Z</dcterms:modified>
</cp:coreProperties>
</file>