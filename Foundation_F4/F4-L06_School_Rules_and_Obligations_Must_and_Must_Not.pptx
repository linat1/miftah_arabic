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6 (F4-L06). Website sections used: the eight-question F4 retrieval bridge and “one vital distinction” (لَا يَجِبُ أَنْ ≠ لَا يَجُوزُ أَنْ), the school-rules vocabulary bank (16) and check, “must” and “must not” with 12 action chunks and the 14-question laboratory, audience forms (one male / one female / a group; 12), signs and notices (10), the rule builder, the School Rules Mission (14), the school announcement (listening, 10), the Al-Nour rule poster and Salma’s view (reading, 12), the school-rules conversation (4 prompts), the rulebook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يَجِبُ أَنْ / لَا يَجُوزُ أَنْ + one male listener (تَـ …ـَ). Develop: one female (…ـِي) and a group (…ـُوا) + reasons. Stretch: judge a rule fairly (عَادِلَةٌ / غَيْرُ عَادِلَةٍ / ضَرُورِيَّةٌ) with وَلَكِنْ.
• Website “one vital distinction”: لَا يَجِبُ أَنْ = it is not necessary to; لَا يَجُوزُ أَنْ = must not / not permitted. Check this every lesson.
• Website Foundation pattern: after أَنْ learn the verb forms as CHUNKS (ـَ one male · ـِي one female · ـُوا a group) — full grammatical analysis belongs later.
• Respectful debate: students may disagree with a rule (Salma questions the uniform rule) — model polite, reasoned disagreement.
• Urdu bridge: قاعدہ، التزام، احترام، اجازت (≈ الإِذْنُ), ممنوع, لازمی (≈ إِلْزَامِيٌّ), اختیاری = اِخْتِيَارِيٌّ, غیر حاضری (absence).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F4-L05. Questions 3–5 are the website “F4 retrieval bridge” (asking a girl, the feminine reason, because I like experiments).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Must = yajibu an. Must not = lā yajūzu an. BUT lā yajibu an = “you don’t have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rulebook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قاعدہ، احترام، ممنوع، اختیاری، التزام are shared words; Urdu غائب (absent) shares the root of الْغِيَابُ; Urdu حاضری (attendance) = الْحُضُورُ.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SCHOOL-RULES BANK (website, 16). Also: اِلْتِزَامٌ / اِلْتِزَامَاتٌ (obligation), الاِنْضِبَاطُ (discipline), الْغِشُّ (cheating), التَّنَمُّرُ (bullying), رَفْعُ الْيَدِ (raising the hand), الاِسْتِمَاعُ (listening), الإِذْنُ (permission), السُّلُوكُ (behaviour), الْحُضُورُ (attendance — opposite of الْغِيَابُ).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“Control ‘must’ and ‘must not’”. The 12 website action chunks: تَلْبَسَ اللِّبَاسَ الْمَدْرَسِيَّ · تُحْضِرَ الْهَاتِفَ الْمَحْمُولَ إِلَى الْفَصْلِ · تَحْتَرِمَ الْمُعَلِّمِينَ وَالطُّلَّابَ · تُكْمِلَ الْوَاجِبَ الْمَنْزِلِيَّ · تَرْفَعَ يَدَكَ قَبْلَ الْكَلَامِ · تَسْتَمِعَ إِلَى الْمُعَلِّمِ · تَسْتَأْذِنَ قَبْلَ الْخُرُوجِ · تَتَأَخَّرَ عَنِ الدَّرْسِ · تَغُشَّ فِي الاِمْتِحَانِ · تَتَنَمَّرَ عَلَى الْآخَرِينَ · تَرْكُضَ فِي الْمَمَرَّاتِ · تَصْرُخَ فِي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sections 4 “Choose who the rule addresses” and 5 “Read signs and school notices”.
Expand a notice (website): اِسْتِعْمَالُ الْهَاتِفِ مَمْنُوعٌ → لَا يَجُوزُ أَنْ تَسْتَخْدِمَ الْهَاتِفَ.
Short opinion language (website): هَذِهِ الْقَاعِدَةُ عَادِلَةٌ / غَيْرُ عَادِلَةٍ / مُهِمَّةٌ / ضَرُورِيَّةٌ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modal laboratory questions 3 and 12, audience check question 2 and notice translator question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announcement as a model (addressing a group). Then change one rule for one boy and one girl on the board: تَلْبَسَ / تَلْبَسِي / تَلْبَسُوا.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Rules”)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 form نَصِلَ and the noun form after لَا يَجُوزُ (اسْتِخْدَامُ الهَاتِفِ، الجَرْيُ) — both accepted patterns. Other cards: نُحْضِرَ الكُتُبَ، نَحْتَرِمَ الآخَرِينَ، نُكْمِلَ الوَاجِبَ.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Rules”)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“we” form نَصِلَ and the noun form after لَا يَجُوزُ (اسْتِخْدَامُ الهَاتِفِ، الجَرْيُ) — both accepted patterns. Other cards: نُحْضِرَ الكُتُبَ، نَحْتَرِمَ الآخَرِينَ، نُكْمِلَ الوَاجِبَ.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School Rules Mission rounds (female lateness, class exam rule, sign, raising the hand, not necessary).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must or must not? Who is addressed?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إِعْلَانٌ إِلَى جَمِيعِ الطُّلَّابِ. فِي مَدْرَسَتِنَا، يَجِبُ أَنْ تَلْبَسُوا اللِّبَاسَ الْمَدْرَسِيَّ، وَأَنْ تَحْضُرُوا فِي الْوَقْتِ الْمُحَدَّدِ. لَا يَجُوزُ أَنْ تُحْضِرُوا الْهَوَاتِفَ الْمَحْمُولَةَ إِلَى الْفُصُولِ، وَلَا يَجُوزُ أَنْ تَرْكُضُوا فِي الْمَمَرَّاتِ. يَجِبُ أَنْ تَحْتَرِمُوا الْمُعَلِّمِينَ وَزُمَلَاءَكُمْ لِأَنَّ الاِحْتِرَامَ مُهِمٌّ. فِي الاِمْتِحَانَاتِ، لَا يَجُوزُ أَنْ تَغُشُّوا. وَقَبْلَ الْكَلَامِ فِي الْفَصْلِ، يَجِبُ أَنْ تَرْفَعُوا أَيْدِيَكُمْ. شُكْرًا لِتَعَاوُنِكُمْ.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Purpose: to instruct. Notice the “they” forms (يَحْضُرَ، يَلْبَسُوا، يَسْتَخْدِمُوا) — the notice talks ABOUT students rather than TO them.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 an EVALUATION, not an instruction. Stretch model for the balanced opinion (… وَلَكِنِّي لَا أَرَى أَنَّ …). Discuss respectfully: which rules do you think are fair,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2, 8, 10 and 12.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“Lead a school-rules conversation” — speak as a headteacher, a new student or a student representative. Prompts (website):
• Headteacher announcement: Address the whole school. Give two obligations, two prohibitions and one reason.
• Welcome a new male student: Explain three important rules directly to him.
• Welcome a new female student: Use accurate female action forms.
• Student council debate: Choose one fair rule and one rule you would change. Explain both views respectfully.
Website checklist (1–6): يَجِبُ أَنْ · لَا يَجُوزُ أَنْ · the verb matches the listener or group · one reason with لِأَنَّ · a fair, respectful judgement · one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rules: two yajibu an and two lā yajūzu an. · Develop — All eight rules and three reasons. · Stretch — Vary the audience forms and evaluate one rule with wa-lākin.
Website writing task (Stretch): Website writing task: a titled school rulebook — four obligations (يَجِبُ أَنْ) and four prohibitions (لَا يَجُوزُ أَنْ), at least three reasons and one balanced opinion. Check every audience form.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announcement (addressed to a group) with a reason and an opinion added. Stretch: add Salma’s balanced view.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(F4-L07 · A Typical School Day — Narrating a Sequence) will spend class time USING this language, so students prepare it tonight — short, simple, easy to access (school guidance: “Simple, Short, Interesting, Relevant, Easy to access”). The five words come from the website F4-L07 school-day routine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School Rules and Obligations — Must and Must Not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القَوَاعِدُ المَدْرَسِيَّةُ — يَجِبُ وَلَا يَجُوزُ</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school rules, tell obligation (must) from prohibition (must not), address one boy, one girl or a group accurately, read signs and write a school rulebook.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F4-L06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Rules vocabulary, must and must not, then who the rule addresses.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Signs, rules mission, the announcement, a rule poster.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قَاعِدَةٌ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subject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مَمْنُوعٌ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forbidden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allowed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optional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like science?”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العُلُومَ؟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العُلُومَ؟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feminine reason pattern.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مُفِيدَةٌ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“because I like experiments”.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أُحِبُّ التَّجَارِبَ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أُحِبُّ التَّجَارِبَ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يُحِبُّ التَّجَارِبَ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قَاعِدَةٌ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subject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مَمْنُوعٌ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forbidden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allowed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optional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like science?”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العُلُومَ؟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العُلُومَ؟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تُحِبِّينَ</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feminine reason pattern.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 مُفِيدَةٌ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مُفِيدَةٌ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pronoun and adjective are both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“because I like experiments”.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لِأَنَّنِي أُحِبُّ التَّجَارِبَ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أُحِبُّ التَّجَارِبَ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يُحِبُّ التَّجَارِبَ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لِأَنَّنِي</a:t>
            </a:r>
            <a:pPr algn="l" indent="0" marL="0">
              <a:buNone/>
            </a:pPr>
            <a:r>
              <a:rPr lang="en-US" sz="1050" i="1" dirty="0">
                <a:solidFill>
                  <a:srgbClr val="8A6D1E"/>
                </a:solidFill>
                <a:latin typeface="Calibri" pitchFamily="34" charset="0"/>
                <a:ea typeface="Calibri" pitchFamily="34" charset="-122"/>
                <a:cs typeface="Calibri" pitchFamily="34" charset="-120"/>
              </a:rPr>
              <a:t> means because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Must = yajibu an. Must not = lā yajūzu an. BUT lā yajibu an = “you don’t have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يَجِبُ أَنْ</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تَحْتَرِمَ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لَا يَجُوزُ أَنْ</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تَغُشَّ</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use a broad school-rules vocabulary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rules with yajibu an and lā yajūzu 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Address one male, one female or a group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signs and write at least eight school rules.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two must and two must-not rules.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must not from not necessary.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address a girl or a group.</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reason for a rule.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judge a rule as fair or unfair.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rulebook.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Rules vocabulary, the two modal chunks and notice words. Core: rule, uniform, respect, homework, must, must not.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School-rules vocabulary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Must · must not · 12 actions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Signs · forbidden · allowed</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قَاعِدَةٌ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‎قاعدہ‎ </a:t>
            </a:r>
            <a:pPr indent="0" marL="0">
              <a:buNone/>
            </a:pPr>
            <a:r>
              <a:rPr lang="en-US" sz="950" b="1" dirty="0">
                <a:solidFill>
                  <a:srgbClr val="2E8B57"/>
                </a:solidFill>
                <a:latin typeface="Calibri" pitchFamily="34" charset="0"/>
                <a:ea typeface="Calibri" pitchFamily="34" charset="-122"/>
                <a:cs typeface="Calibri" pitchFamily="34" charset="-120"/>
              </a:rPr>
              <a:t> qā‘ida · rule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الاِحْتِرَامُ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al-iḥtirām · respect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مَمْنُوعٌ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‎ممنوع‎ </a:t>
            </a:r>
            <a:pPr indent="0" marL="0">
              <a:buNone/>
            </a:pPr>
            <a:r>
              <a:rPr lang="en-US" sz="950" b="1" dirty="0">
                <a:solidFill>
                  <a:srgbClr val="2E8B57"/>
                </a:solidFill>
                <a:latin typeface="Calibri" pitchFamily="34" charset="0"/>
                <a:ea typeface="Calibri" pitchFamily="34" charset="-122"/>
                <a:cs typeface="Calibri" pitchFamily="34" charset="-120"/>
              </a:rPr>
              <a:t> mamnū‘ · forbidden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اِخْتِيَارِيٌّ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‎اختیاری‎ </a:t>
            </a:r>
            <a:pPr indent="0" marL="0">
              <a:buNone/>
            </a:pPr>
            <a:r>
              <a:rPr lang="en-US" sz="950" b="1" dirty="0">
                <a:solidFill>
                  <a:srgbClr val="2E8B57"/>
                </a:solidFill>
                <a:latin typeface="Calibri" pitchFamily="34" charset="0"/>
                <a:ea typeface="Calibri" pitchFamily="34" charset="-122"/>
                <a:cs typeface="Calibri" pitchFamily="34" charset="-120"/>
              </a:rPr>
              <a:t> ikhtiyāriyy · optional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الْغِيَابُ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‎غیر حاضری‎ </a:t>
            </a:r>
            <a:pPr indent="0" marL="0">
              <a:buNone/>
            </a:pPr>
            <a:r>
              <a:rPr lang="en-US" sz="950" b="1" dirty="0">
                <a:solidFill>
                  <a:srgbClr val="2E8B57"/>
                </a:solidFill>
                <a:latin typeface="Calibri" pitchFamily="34" charset="0"/>
                <a:ea typeface="Calibri" pitchFamily="34" charset="-122"/>
                <a:cs typeface="Calibri" pitchFamily="34" charset="-120"/>
              </a:rPr>
              <a:t> al-ghiyāb · absence (root: absent)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SCHOOL-RULES VOCABULARY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 uniform, respect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قَاعِدَةٌ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qā-‘i-da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قَوَاعِدُ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اللِّبَاسُ الْمَدْرَسِيُّ</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uniform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al-li-bās al-mad-ra-siyy</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al-iḥ-ti-rām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الْوَاجِبُ الْمَنْزِلِيُّ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al-wā-jib al-man-zi-liyy</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الْهَاتِفُ الْمَحْمُولُ</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mobile phone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al-hā-tif al-maḥ-mūl</a:t>
            </a:r>
            <a:endParaRPr lang="en-US" sz="1350" dirty="0"/>
          </a:p>
        </p:txBody>
      </p:sp>
      <p:sp>
        <p:nvSpPr>
          <p:cNvPr id="63" name="Shape 6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الْهَوَاتِفُ</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9" name="Shape 6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التَّأَخُّرُ · الْغِيَابُ</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lateness · absence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at-ta-’akh-khur · al-ghi-yāb</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MUST AND MUST NOT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Obligation or prohibition?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يَجِبُ · لَا يَجُوزُ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3575304"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171432"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يَجِبُ أَنْ</a:t>
            </a:r>
            <a:endParaRPr lang="ar-SA" sz="2200" dirty="0"/>
          </a:p>
        </p:txBody>
      </p:sp>
      <p:sp>
        <p:nvSpPr>
          <p:cNvPr id="21" name="Text 18"/>
          <p:cNvSpPr txBox="1"/>
          <p:nvPr/>
        </p:nvSpPr>
        <p:spPr>
          <a:xfrm>
            <a:off x="3593592" y="2267712"/>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تَحْتَرِمَ الْمُعَلِّمِينَ.</a:t>
            </a:r>
            <a:endParaRPr lang="ar-SA" sz="2200" dirty="0"/>
          </a:p>
        </p:txBody>
      </p:sp>
      <p:sp>
        <p:nvSpPr>
          <p:cNvPr id="22" name="Text 19"/>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must (obligation)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171432"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لَا يَجُوزُ أَنْ</a:t>
            </a:r>
            <a:endParaRPr lang="ar-SA" sz="2200" dirty="0"/>
          </a:p>
        </p:txBody>
      </p:sp>
      <p:sp>
        <p:nvSpPr>
          <p:cNvPr id="27" name="Text 24"/>
          <p:cNvSpPr txBox="1"/>
          <p:nvPr/>
        </p:nvSpPr>
        <p:spPr>
          <a:xfrm>
            <a:off x="3593592" y="3004718"/>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يَجُوزُ أَنْ تَغُشَّ فِي الاِمْتِحَانِ.</a:t>
            </a:r>
            <a:endParaRPr lang="ar-SA" sz="2200" dirty="0"/>
          </a:p>
        </p:txBody>
      </p:sp>
      <p:sp>
        <p:nvSpPr>
          <p:cNvPr id="28" name="Text 25"/>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must not (prohibition)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171432"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يَجِبُ أَنْ</a:t>
            </a:r>
            <a:endParaRPr lang="ar-SA" sz="2200" dirty="0"/>
          </a:p>
        </p:txBody>
      </p:sp>
      <p:sp>
        <p:nvSpPr>
          <p:cNvPr id="33" name="Text 30"/>
          <p:cNvSpPr txBox="1"/>
          <p:nvPr/>
        </p:nvSpPr>
        <p:spPr>
          <a:xfrm>
            <a:off x="3593592" y="3741725"/>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يَجِبُ أَنْ تَكْتُبَ.</a:t>
            </a:r>
            <a:endParaRPr lang="ar-SA" sz="2200" dirty="0"/>
          </a:p>
        </p:txBody>
      </p:sp>
      <p:sp>
        <p:nvSpPr>
          <p:cNvPr id="34" name="Text 31"/>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necessary — not “must not”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171432"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a:t>
            </a:r>
            <a:endParaRPr lang="ar-SA" sz="2200" dirty="0"/>
          </a:p>
        </p:txBody>
      </p:sp>
      <p:sp>
        <p:nvSpPr>
          <p:cNvPr id="37" name="Text 34"/>
          <p:cNvSpPr txBox="1"/>
          <p:nvPr/>
        </p:nvSpPr>
        <p:spPr>
          <a:xfrm>
            <a:off x="3593592" y="4478731"/>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تَلْبَسَ اللِّبَاسَ · تُكْمِلَ الْوَاجِبَ · تَرْفَعَ يَدَكَ</a:t>
            </a:r>
            <a:endParaRPr lang="ar-SA" sz="2200" dirty="0"/>
          </a:p>
        </p:txBody>
      </p:sp>
      <p:sp>
        <p:nvSpPr>
          <p:cNvPr id="38" name="Text 35"/>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wear uniform · finish homework · raise hand</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171432"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يَجُوزُ أَنْ …</a:t>
            </a:r>
            <a:endParaRPr lang="ar-SA" sz="2200" dirty="0"/>
          </a:p>
        </p:txBody>
      </p:sp>
      <p:sp>
        <p:nvSpPr>
          <p:cNvPr id="43" name="Text 40"/>
          <p:cNvSpPr txBox="1"/>
          <p:nvPr/>
        </p:nvSpPr>
        <p:spPr>
          <a:xfrm>
            <a:off x="3593592" y="5215738"/>
            <a:ext cx="5394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تَتَأَخَّرَ · تَرْكُضَ فِي الْمَمَرَّاتِ · تَصْرُخَ</a:t>
            </a:r>
            <a:endParaRPr lang="ar-SA" sz="2200" dirty="0"/>
          </a:p>
        </p:txBody>
      </p:sp>
      <p:sp>
        <p:nvSpPr>
          <p:cNvPr id="44" name="Text 41"/>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 late · run in corridors · shout</a:t>
            </a:r>
            <a:endParaRPr lang="en-US" sz="1100" dirty="0"/>
          </a:p>
        </p:txBody>
      </p:sp>
      <p:sp>
        <p:nvSpPr>
          <p:cNvPr id="45" name="Shape 4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structures are followed by an + a present-tense verb: learn the whole phrase as one communication pattern.</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WHO DOES THE RULE ADDRESS?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boy, one girl,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تُخَاطِبُ الْقَاعِدَةُ؟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Must not be late</a:t>
            </a:r>
            <a:endParaRPr lang="en-US" sz="1100" dirty="0"/>
          </a:p>
        </p:txBody>
      </p:sp>
      <p:sp>
        <p:nvSpPr>
          <p:cNvPr id="17" name="Text 14"/>
          <p:cNvSpPr txBox="1"/>
          <p:nvPr/>
        </p:nvSpPr>
        <p:spPr>
          <a:xfrm>
            <a:off x="290779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Must write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Audience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223760" y="2267712"/>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يَجُوزُ أَنْ تَتَأَخَّرَ</a:t>
            </a:r>
            <a:endParaRPr lang="ar-SA" sz="2400" dirty="0"/>
          </a:p>
        </p:txBody>
      </p:sp>
      <p:sp>
        <p:nvSpPr>
          <p:cNvPr id="21" name="Text 18"/>
          <p:cNvSpPr txBox="1"/>
          <p:nvPr/>
        </p:nvSpPr>
        <p:spPr>
          <a:xfrm>
            <a:off x="2926080" y="2267712"/>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يَجِبُ أَنْ تَكْتُبَ</a:t>
            </a:r>
            <a:endParaRPr lang="ar-SA" sz="2400" dirty="0"/>
          </a:p>
        </p:txBody>
      </p:sp>
      <p:sp>
        <p:nvSpPr>
          <p:cNvPr id="22" name="Text 19"/>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male (-a)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223760" y="3054096"/>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يَجُوزُ أَنْ تَتَأَخَّرِ</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27" name="Text 24"/>
          <p:cNvSpPr txBox="1"/>
          <p:nvPr/>
        </p:nvSpPr>
        <p:spPr>
          <a:xfrm>
            <a:off x="2926080" y="3054096"/>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يَجِبُ أَنْ تَكْتُبِ</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28" name="Text 25"/>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female (-ī)</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223760" y="3840480"/>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يَجُوزُ أَنْ تَتَأَخَّرُ</a:t>
            </a:r>
            <a:pPr rtl="1" algn="ctr" indent="0" marL="0">
              <a:buNone/>
            </a:pPr>
            <a:r>
              <a:rPr lang="ar-SA" altLang="en-US" sz="2400" b="1" dirty="0">
                <a:solidFill>
                  <a:srgbClr val="1D5FBF"/>
                </a:solidFill>
                <a:latin typeface="Amiri" pitchFamily="34" charset="0"/>
                <a:ea typeface="Amiri" pitchFamily="34" charset="-122"/>
                <a:cs typeface="Amiri" pitchFamily="34" charset="-120"/>
              </a:rPr>
              <a:t>وا</a:t>
            </a:r>
            <a:endParaRPr lang="ar-SA" sz="2400" dirty="0"/>
          </a:p>
        </p:txBody>
      </p:sp>
      <p:sp>
        <p:nvSpPr>
          <p:cNvPr id="31" name="Text 28"/>
          <p:cNvSpPr txBox="1"/>
          <p:nvPr/>
        </p:nvSpPr>
        <p:spPr>
          <a:xfrm>
            <a:off x="2926080" y="3840480"/>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يَجِبُ أَنْ تَكْتُبُ</a:t>
            </a:r>
            <a:pPr rtl="1" algn="ctr" indent="0" marL="0">
              <a:buNone/>
            </a:pPr>
            <a:r>
              <a:rPr lang="ar-SA" altLang="en-US" sz="2400" b="1" dirty="0">
                <a:solidFill>
                  <a:srgbClr val="1D5FBF"/>
                </a:solidFill>
                <a:latin typeface="Amiri" pitchFamily="34" charset="0"/>
                <a:ea typeface="Amiri" pitchFamily="34" charset="-122"/>
                <a:cs typeface="Amiri" pitchFamily="34" charset="-120"/>
              </a:rPr>
              <a:t>وا</a:t>
            </a:r>
            <a:endParaRPr lang="ar-SA" sz="2400" dirty="0"/>
          </a:p>
        </p:txBody>
      </p:sp>
      <p:sp>
        <p:nvSpPr>
          <p:cNvPr id="32" name="Text 29"/>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group (-ū)</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223760" y="4626864"/>
            <a:ext cx="44165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اِسْتِعْمَالُ الْهَاتِفِ مَمْنُوعٌ</a:t>
            </a:r>
            <a:endParaRPr lang="ar-SA" sz="2400" dirty="0"/>
          </a:p>
        </p:txBody>
      </p:sp>
      <p:sp>
        <p:nvSpPr>
          <p:cNvPr id="35" name="Text 32"/>
          <p:cNvSpPr txBox="1"/>
          <p:nvPr/>
        </p:nvSpPr>
        <p:spPr>
          <a:xfrm>
            <a:off x="2926080" y="4626864"/>
            <a:ext cx="4114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اللِّبَاسُ الْمَدْرَسِيُّ إِلْزَامِيٌّ</a:t>
            </a:r>
            <a:endParaRPr lang="ar-SA" sz="2400" dirty="0"/>
          </a:p>
        </p:txBody>
      </p:sp>
      <p:sp>
        <p:nvSpPr>
          <p:cNvPr id="36" name="Text 33"/>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Sign (noun phrase)</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modal stays the same — only the action verb changes. Signs: mamnū‘ forbidden · masmūḥ allowed · ilzāmiyy compulsory · ikhtiyāriyy optional.</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يَجِبُ أَنْ تَكْتُبَ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must not write.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must write.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do not have to write.</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يَجِبُ أَنْ تَغُشَّ فِي الاِمْتِحَانِ.</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تَغُشَّ فِي الاِمْتِحَانِ.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 تَغُشَّ فِي الاِمْتِحَانِ.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يَجُوزُ أَنْ تَغُشَّ فِي الاِمْتِحَانِ.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“You must write.”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تَكْتُبَ.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تَكْتُبِي.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تَكْتُبُوا.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Expand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اِسْتِعْمَالُ الْهَاتِفِ مَمْنُوعٌ.</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تَسْتَخْدِمَ الْهَاتِفَ.</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تَسْتَخْدِمَ الْهَاتِفَ.</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يَجِبُ أَنْ تَسْتَخْدِمَ الْهَاتِفَ.</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يَجِبُ أَنْ تَكْتُبَ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must not write.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must write.</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do not have to write.</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يَجِبُ</a:t>
            </a:r>
            <a:pPr algn="l" indent="0" marL="0">
              <a:buNone/>
            </a:pPr>
            <a:r>
              <a:rPr lang="en-US" sz="1050" i="1" dirty="0">
                <a:solidFill>
                  <a:srgbClr val="8A6D1E"/>
                </a:solidFill>
                <a:latin typeface="Calibri" pitchFamily="34" charset="0"/>
                <a:ea typeface="Calibri" pitchFamily="34" charset="-122"/>
                <a:cs typeface="Calibri" pitchFamily="34" charset="-120"/>
              </a:rPr>
              <a:t> means not necessary, not prohibited.</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يَجِبُ أَنْ تَغُشَّ فِي الاِمْتِحَانِ.</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تَغُشَّ فِي الاِمْتِحَانِ.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يَجِبُ أَنْ تَغُشَّ فِي الاِمْتِحَانِ.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يَجُوزُ أَنْ تَغُشَّ فِي الاِمْتِحَانِ.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Cheating must be expressed as prohibited.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“You must write.”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تَكْتُبَ.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تَكْتُبِي.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تَكْتُبُوا.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uses </a:t>
            </a:r>
            <a:pPr algn="l" indent="0" marL="0">
              <a:buNone/>
            </a:pPr>
            <a:r>
              <a:rPr lang="ar-SA" altLang="en-US" sz="1350" dirty="0">
                <a:solidFill>
                  <a:srgbClr val="8A6D1E"/>
                </a:solidFill>
                <a:latin typeface="Amiri" pitchFamily="34" charset="0"/>
                <a:ea typeface="Amiri" pitchFamily="34" charset="-122"/>
                <a:cs typeface="Amiri" pitchFamily="34" charset="-120"/>
              </a:rPr>
              <a:t>تَكْتُبِي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Expand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اِسْتِعْمَالُ الْهَاتِفِ مَمْنُوعٌ.</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تَسْتَخْدِمَ الْهَاتِفَ.</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تَسْتَخْدِمَ الْهَاتِفَ.</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يَجِبُ أَنْ تَسْتَخْدِمَ الْهَاتِفَ.</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forbidden notice expands with </a:t>
            </a:r>
            <a:pPr algn="l" indent="0" marL="0">
              <a:buNone/>
            </a:pPr>
            <a:r>
              <a:rPr lang="ar-SA" altLang="en-US" sz="1350" dirty="0">
                <a:solidFill>
                  <a:srgbClr val="8A6D1E"/>
                </a:solidFill>
                <a:latin typeface="Amiri" pitchFamily="34" charset="0"/>
                <a:ea typeface="Amiri" pitchFamily="34" charset="-122"/>
                <a:cs typeface="Amiri" pitchFamily="34" charset="-120"/>
              </a:rPr>
              <a:t>لَا يَجُوزُ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write rules for the class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Obligation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تَلْبَسُوا اللِّبَاسَ الْمَدْرَسِيَّ.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Group → -ū.</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Prohibition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لَا يَجُوزُ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تَرْكُضُوا فِي الْمَمَرَّاتِ.</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Must NOT.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يَجِبُ أَنْ تَحْتَرِمُوا الْجَمِيعَ لِأَنَّ الاِحْتِرَامَ مُهِمٌّ.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Rule + li’anna.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هَذِهِ الْقَاعِدَةُ عَادِلَةٌ لِأَنَّهَا تَحْمِي الطُّلَّابَ.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Judge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MUST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MUST NOT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تَلْبَسُوا اللِّبَاسَ الْمَدْرَسِيَّ.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لَا يَجُوزُ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تَرْكُضُوا فِي الْمَمَرَّاتِ.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تَحْتَرِمُوا الْجَمِيعَ لِأَنَّ الاِحْتِرَامَ مُهِمٌّ.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لَا يَجُوزُ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تَتَنَمَّرُوا عَلَى الْآخَرِينَ لِأَنَّ كُلَّ طَالِبٍ يَحْتَاجُ إِلَى الأَمَانِ.</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You must wear the school uniform. You must not run in the corridors. You must respect everyone because respect is important. You must not bully others because every student needs safety.</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“VISUAL GAME —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Must or must not?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حَكَمُ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 no</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clock + tick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running + no</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يَجُوزُ الجَرْيُ فِي المَمَرَّاتِ.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يَجُوزُ اسْتِخْدَامُ الهَاتِفِ فِي الدَّرْسِ.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نَصِلَ فِي الوَقْتِ.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حَكَمُ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phone + no</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لَا يَجُوزُ اسْتِخْدَامُ الهَاتِفِ فِي الدَّرْسِ.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Phone use in the lesson is not allowed.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clock + tick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نَصِلَ فِي الوَقْتِ.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arrive on time.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running + no</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يَجُوزُ الجَرْيُ فِي المَمَرَّاتِ.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Running in the corridors is not allowed.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“SCHOOL RULES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rules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قَوَاعِدِ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Lateness: Address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تَتَأَخَّرَ.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تَتَأَخَّرِي.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تَتَأَخَّرُوا.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Examination: Address the whole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تَغُشُّوا.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تَغُشِّي.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تَغُشَّ.</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Notice: Translate the sign.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phone is compulsory.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phone is optional.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phone is forbidden.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Speaking: Complete the rule.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تَرْفَعَ يَدَكَ.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تَرْفَعَ يَدَكَ قَبْلَ الْكَلَامِ.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يَدَكَ أَنْ الْكَلَامِ.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يَجِبُ أَنْ</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forbidden to.</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necessary to.</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compulsory to.</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must = yajibu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must not = lā yajūzu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-a · girl -ī · group -ū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Lateness: Address one female.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يَجُوزُ أَنْ تَتَأَخَّرَ.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تَتَأَخَّرِي.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يَجُوزُ أَنْ تَتَأَخَّرُوا.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Examination: Address the whole class.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تَغُشُّوا.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يَجُوزُ أَنْ تَغُشِّي.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يَجُوزُ أَنْ تَغُشَّ.</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group form is </a:t>
            </a:r>
            <a:pPr algn="l" indent="0" marL="0">
              <a:buNone/>
            </a:pPr>
            <a:r>
              <a:rPr lang="ar-SA" altLang="en-US" sz="1350" dirty="0">
                <a:solidFill>
                  <a:srgbClr val="8A6D1E"/>
                </a:solidFill>
                <a:latin typeface="Amiri" pitchFamily="34" charset="0"/>
                <a:ea typeface="Amiri" pitchFamily="34" charset="-122"/>
                <a:cs typeface="Amiri" pitchFamily="34" charset="-120"/>
              </a:rPr>
              <a:t>تَغُشُّوا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Notice: Translate the sign.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the phone is compulsory.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the phone is optional.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the phone is forbidden.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مَمْنُوعٌ</a:t>
            </a:r>
            <a:pPr algn="l" indent="0" marL="0">
              <a:buNone/>
            </a:pPr>
            <a:r>
              <a:rPr lang="en-US" sz="1050" i="1" dirty="0">
                <a:solidFill>
                  <a:srgbClr val="8A6D1E"/>
                </a:solidFill>
                <a:latin typeface="Calibri" pitchFamily="34" charset="0"/>
                <a:ea typeface="Calibri" pitchFamily="34" charset="-122"/>
                <a:cs typeface="Calibri" pitchFamily="34" charset="-120"/>
              </a:rPr>
              <a:t> means forbidden.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Speaking: Complete the rule.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يَجُوزُ أَنْ تَرْفَعَ يَدَكَ.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تَرْفَعَ يَدَكَ قَبْلَ الْكَلَامِ.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يَدَكَ أَنْ الْكَلَامِ.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is complete and accurately ordered.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يَجِبُ أَنْ</a:t>
            </a:r>
            <a:endParaRPr lang="ar-SA" sz="220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forbidden to.</a:t>
            </a:r>
            <a:endParaRPr lang="en-US" sz="125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not necessary to.</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compulsory to.</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يَجِبُ</a:t>
            </a:r>
            <a:pPr algn="l" indent="0" marL="0">
              <a:buNone/>
            </a:pPr>
            <a:r>
              <a:rPr lang="en-US" sz="1050" i="1" dirty="0">
                <a:solidFill>
                  <a:srgbClr val="8A6D1E"/>
                </a:solidFill>
                <a:latin typeface="Calibri" pitchFamily="34" charset="0"/>
                <a:ea typeface="Calibri" pitchFamily="34" charset="-122"/>
                <a:cs typeface="Calibri" pitchFamily="34" charset="-120"/>
              </a:rPr>
              <a:t> removes necessity.</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must = yajibu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must not = lā yajūzu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-a · girl -ī · group -ū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يَجِبُ أَنْ تَغُشَّ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Not necessary or must not?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مَرْيَمُ، يَجِبُ أَنْ تَكْتُبَ.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تَحْتَرِمُوا الْمُعَلِّمِينَ.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yajibu?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يَجِبُ أَنْ تَغُشَّ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يَجُوزُ أَنْ تَغُشَّ فِي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Lā yajibu = not necessary; must not = lā yajūzu.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مَرْيَمُ، يَجِبُ أَنْ تَكْتُبَ.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مَرْيَمُ، يَجِبُ أَنْ تَكْتُبِي.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female: the verb ends in -ī.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تَحْتَرِمُوا الْمُعَلِّمِينَ.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تَحْتَرِمُوا الْمُعَلِّمِينَ.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structures need an before the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school announcement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wear?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uniform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sports clothes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not bring to classrooms?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mobile phones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must students not run?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playground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sports hall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corridors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respect required?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respect is important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lesson is short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uniform is new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 before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their books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raise their hands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the 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columns: MUST · MUST NOT.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إِعْلَانٌ إِلَى جَمِيعِ الطُّلَّابِ. فِي مَدْرَسَتِنَا، يَجِبُ أَنْ تَلْبَسُوا اللِّبَاسَ الْمَدْرَسِيَّ، وَأَنْ تَحْضُرُوا فِي الْوَقْتِ الْمُحَدَّدِ.</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announcement to all students. In our school you must wear the school uniform and arrive at the set time.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لَا يَجُوزُ أَنْ تُحْضِرُوا الْهَوَاتِفَ الْمَحْمُولَةَ إِلَى الْفُصُولِ، وَلَا يَجُوزُ أَنْ تَرْكُضُوا فِي الْمَمَرَّاتِ.</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must not bring mobile phones to the classrooms, and you must not run in the corridors.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تَحْتَرِمُوا الْمُعَلِّمِينَ وَزُمَلَاءَكُمْ لِأَنَّ الاِحْتِرَامَ مُهِمٌّ.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must respect the teachers and your classmates because respect is important.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الاِمْتِحَانَاتِ، لَا يَجُوزُ أَنْ تَغُشُّوا. وَقَبْلَ الْكَلَامِ فِي الْفَصْلِ، يَجِبُ أَنْ تَرْفَعُوا أَيْدِيَكُمْ.</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exams you must not cheat. And before speaking in class, you must raise your hands.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شُكْرًا لِتَعَاوُنِكُمْ.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 for your cooperation.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wear?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 uniform</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sports clothes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announcement requires </a:t>
            </a:r>
            <a:pPr algn="l" indent="0" marL="0">
              <a:buNone/>
            </a:pPr>
            <a:r>
              <a:rPr lang="ar-SA" altLang="en-US" sz="1350" dirty="0">
                <a:solidFill>
                  <a:srgbClr val="8A6D1E"/>
                </a:solidFill>
                <a:latin typeface="Amiri" pitchFamily="34" charset="0"/>
                <a:ea typeface="Amiri" pitchFamily="34" charset="-122"/>
                <a:cs typeface="Amiri" pitchFamily="34" charset="-120"/>
              </a:rPr>
              <a:t>اللِّبَاسَ الْمَدْرَسِيَّ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not bring to classrooms?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rulers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mobile phones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prohibited item is </a:t>
            </a:r>
            <a:pPr algn="l" indent="0" marL="0">
              <a:buNone/>
            </a:pPr>
            <a:r>
              <a:rPr lang="ar-SA" altLang="en-US" sz="1350" dirty="0">
                <a:solidFill>
                  <a:srgbClr val="8A6D1E"/>
                </a:solidFill>
                <a:latin typeface="Amiri" pitchFamily="34" charset="0"/>
                <a:ea typeface="Amiri" pitchFamily="34" charset="-122"/>
                <a:cs typeface="Amiri" pitchFamily="34" charset="-120"/>
              </a:rPr>
              <a:t>الْهَوَاتِفَ الْمَحْمُولَةَ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must students not run?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playground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sports hall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corridors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announcement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الْمَمَرَّاتِ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respect required?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because respect is important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the lesson is short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the uniform is new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reason is </a:t>
            </a:r>
            <a:pPr algn="l" indent="0" marL="0">
              <a:buNone/>
            </a:pPr>
            <a:r>
              <a:rPr lang="ar-SA" altLang="en-US" sz="1350" dirty="0">
                <a:solidFill>
                  <a:srgbClr val="8A6D1E"/>
                </a:solidFill>
                <a:latin typeface="Amiri" pitchFamily="34" charset="0"/>
                <a:ea typeface="Amiri" pitchFamily="34" charset="-122"/>
                <a:cs typeface="Amiri" pitchFamily="34" charset="-120"/>
              </a:rPr>
              <a:t>لِأَنَّ الاِحْتِرَامَ مُهِمٌّ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students do before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open their books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raise their hands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the 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must raise their hands before speaking.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columns: MUST · MUST NOT.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 SCHOOL NOTICE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Al-Nour School rules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مَدْرَسَةِ النُّورِ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يَحْضُرَ الطُّلَّابُ قَبْلَ السَّاعَةِ الثَّامِنَةِ.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must arrive before 8:00</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يَلْبَسُوا اللِّبَاسَ الْمَدْرَسِيَّ.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must wear the uniform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يَجُوزُ أَنْ يَسْتَخْدِمُوا الْهَوَاتِفَ فِي الْفُصُولِ.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phones in classrooms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يَجُوزُ أَنْ يَرْكُضُوا فِي الْمَمَرَّاتِ.</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running in corridors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يَحْتَرِمُوا الْجَمِيعَ.</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must respect everyone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 TEXT B · SALMA’S VIEW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Are the rules fair?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سَلْمَى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مُعْظَمُ قَوَاعِدِ مَدْرَسَتِي عَادِلَةٌ.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Most rules are fair</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مَنْعُ التَّنَمُّرِ ضَرُورِيٌّ لِأَنَّ كُلَّ طَالِبٍ يَحْتَاجُ إِلَى الأَمَانِ.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bullying: necessary — everyone needs safety</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وَأُوَافِقُ عَلَى قَاعِدَةِ الْهَاتِفِ لِأَنَّ الدَّرْسَ يَحْتَاجُ إِلَى التَّرْكِيزِ.</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Agrees with the phone rule — lessons need focus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وَلَكِنِّي لَا أَرَى أَنَّ اللِّبَاسَ الْمَدْرَسِيَّ ضَرُورِيٌّ دَائِمًا.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uniform is not always necessary</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أَنْ يَكُونَ اللِّبَاسُ مُرِيحًا وَمُنَاسِبًا.</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comfortable, suitable clothing</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Notice or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Text 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instruct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describe a holiday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advertise a shop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what time must students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nine o’clock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eight o’clock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eight o’clock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anti-bullying rule necessary?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student needs safety.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need more homework.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timetable is difficult.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rule does Salma question?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anti-bullying rule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phone rule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uniform rule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text contains a personal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B</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only instructions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PURPOSE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Text A instructs.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Text B evaluates.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Find the exact evidence.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Text 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instruct students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describe a holiday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advertise a shop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A is a school-rules notice.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what time must students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nine o’clock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eight o’clock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eight o’clock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قَبْلَ السَّاعَةِ الثَّامِنَةِ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anti-bullying rule necessary?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student needs safety.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Students need more homework.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timetable is difficult.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Salma links the rule to safety.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rule does Salma question?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anti-bullying rule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phone rule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uniform rule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see uniform as always necessary.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text contains a personal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A</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B</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only instructions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B uses </a:t>
            </a:r>
            <a:pPr algn="l" indent="0" marL="0">
              <a:buNone/>
            </a:pPr>
            <a:r>
              <a:rPr lang="ar-SA" altLang="en-US" sz="1350" dirty="0">
                <a:solidFill>
                  <a:srgbClr val="8A6D1E"/>
                </a:solidFill>
                <a:latin typeface="Amiri" pitchFamily="34" charset="0"/>
                <a:ea typeface="Amiri" pitchFamily="34" charset="-122"/>
                <a:cs typeface="Amiri" pitchFamily="34" charset="-120"/>
              </a:rPr>
              <a:t>فِي رَأْيِي</a:t>
            </a:r>
            <a:pPr algn="l" indent="0" marL="0">
              <a:buNone/>
            </a:pPr>
            <a:r>
              <a:rPr lang="en-US" sz="1050" i="1" dirty="0">
                <a:solidFill>
                  <a:srgbClr val="8A6D1E"/>
                </a:solidFill>
                <a:latin typeface="Calibri" pitchFamily="34" charset="0"/>
                <a:ea typeface="Calibri" pitchFamily="34" charset="-122"/>
                <a:cs typeface="Calibri" pitchFamily="34" charset="-120"/>
              </a:rPr>
              <a:t> and evaluates rules.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PURPOSE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Text A instructs.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Text B evaluates.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Find the exact evidence.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Lead a school-rules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 قَاعِدَتَيْنِ لِطَالِبٍ جَدِيدٍ.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قُولِي ثَلَاثَ قَوَاعِدَ لِطَالِبَةٍ جَدِيدَةٍ.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 الْمُدِيرُ: قُلْ قَاعِدَتَيْنِ لِكُلِّ الطُّلَّابِ.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قَاعِدَةٌ عَادِلَةٌ؟ وَمَا قَاعِدَةٌ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يَجِبُ أَنْ ___ . لَا يَجُوزُ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يَجِبُ أَنْ تَسْتَمِعِي … · لَا يَجُوزُ أَنْ تَتَأَخَّرِي …</a:t>
            </a:r>
            <a:endParaRPr lang="ar-SA" sz="14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___ ـُوا …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هَذِهِ الْقَاعِدَةُ عَادِلَةٌ لِأَنَّ … ، وَلَكِنَّ ___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أَهَمُّ قَاعِدَةٍ فِي مَدْرَسَتِكَ؟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most important rule in your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يَجُوزُ أَنْ نَتَنَمَّرَ عَلَى الْآخَرِينَ لِأَنَّ كُلَّ طَالِبٍ يَحْتَاجُ إِلَى الأَمَانِ.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We must not bully others because every student needs safety.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rules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rules: two yajibu an and two lā yajūzu an.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yajibu an and two lā yajūzu an rules for one male listener.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rules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All eight rules and three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All eight rules and three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rules + opinion</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Vary the audience forms and evaluate one rule with wa-lākin.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Vary the audience forms and evaluate one rule with wa-lākin.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تَسْتَمِعِي إِلَى الْمُعَلِّمِ.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(f.) must listen to the teacher.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يَجُوزُ أَنْ تَغُشُّوا.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(all) must not cheat.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لِأَنَّ الاِحْتِرَامَ مُهِمٌّ.</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respect is important.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الْقَاعِدَةُ عَادِلَةٌ لِأَنَّهَا تَحْمِي الطُّلَّابَ.</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rule is fair because it protects students.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يَجِبُ أَنْ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not necessary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تَلْبَسَ اللِّبَاسَ الْمَدْرَسِيَّ.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must wear the school uniform.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تُكْمِلَ الْوَاجِبَ الْمَنْزِلِيَّ.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must complete the homework.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يَجُوزُ أَنْ تَتَأَخَّرَ عَنِ الدَّرْسِ.</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must not be late for the lesson.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يَجُوزُ أَنْ تَرْكُضَ فِي الْمَمَرَّاتِ.</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must not run in the corridors.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اِسْتِعْمَالُ الْهَاتِفِ مَمْنُوعٌ.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Using the phone is forbidden.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 أَنْ  ·  لَا يَجُوزُ أَنْ  ·  قَاعِدَةٌ  ·  الاِحْتِرَامُ  ·  الْوَاجِبُ  ·  اللِّبَاسُ الْمَدْرَسِيُّ  ·  مَمْنُوعٌ  ·  مَسْمُوحٌ  ·  عَادِلَةٌ  ·  ضَرُورِيَّةٌ  ·  لِأَنَّ  ·  وَلَكِنْ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قَوَاعِدُ مَدْرَسَتِنَا: يَجِبُ أَنْ تَلْبَسُوا اللِّبَاسَ الْمَدْرَسِيَّ، وَيَجِبُ أَنْ تَحْضُرُوا فِي الْوَقْتِ الْمُحَدَّدِ. لَا يَجُوزُ أَنْ تُحْضِرُوا الْهَوَاتِفَ الْمَحْمُولَةَ إِلَى الْفُصُولِ، وَلَا يَجُوزُ أَنْ تَرْكُضُوا فِي الْمَمَرَّاتِ. يَجِبُ أَنْ تَحْتَرِمُوا الْمُعَلِّمِينَ لِأَنَّ الاِحْتِرَامَ مُهِمٌّ. لَا يَجُوزُ أَنْ تَغُشُّوا فِي الاِمْتِحَانِ لِأَنَّ الْغِشَّ غَيْرُ عَادِلٍ. فِي رَأْيِي، هَذِهِ الْقَوَاعِدُ عَادِلَةٌ.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school rules: you must wear the school uniform and arrive at the set time. You must not bring mobile phones to classrooms, and you must not run in the corridors. You must respect the teachers because respect is important. You must not cheat in the exam because cheating is unfair. In my opinion these rules are fair.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must (group)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must not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must and must-not rules.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confuse lā yajibu with lā yajūzu.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match the audience (-a / -ī / -ū).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three reasons.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judged one rule respectfully.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يَجِبُ أَنْ.</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not necessary to</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forbidden to</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compulsory to</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“You must listen.”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تَسْتَمِعَ.</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تَسْتَمِعِي.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تَسْتَمِعُوا.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a group: “You must not cheat.”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تَغُشُّوا.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تَغُشِّي.</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تَغُشَّ.</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meaning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لَا يَجِبُ أَنْ.</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not necessary to</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forbidden to</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compulsory to</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removes necessity; it does not prohibit.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“You must listen.”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يَجِبُ أَنْ تَسْتَمِعَ.</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يَجِبُ أَنْ تَسْتَمِعِي.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يَجِبُ أَنْ تَسْتَمِعُوا.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a group: “You must not cheat.”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 يَجُوزُ أَنْ تَغُشُّوا.</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يَجُوزُ أَنْ تَغُشِّي.</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يَجُوزُ أَنْ تَغُشَّ.</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group form is </a:t>
            </a:r>
            <a:pPr algn="l" indent="0" marL="0">
              <a:buNone/>
            </a:pPr>
            <a:r>
              <a:rPr lang="ar-SA" altLang="en-US" sz="1350" dirty="0">
                <a:solidFill>
                  <a:srgbClr val="8A6D1E"/>
                </a:solidFill>
                <a:latin typeface="Amiri" pitchFamily="34" charset="0"/>
                <a:ea typeface="Amiri" pitchFamily="34" charset="-122"/>
                <a:cs typeface="Amiri" pitchFamily="34" charset="-120"/>
              </a:rPr>
              <a:t>تَغُشُّوا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F4-L06 · School Rules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F4-L07 · A Typical School Day — Narrating a Sequence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wake up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go to school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أَصِلُ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arrive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أَعُودُ إِلَى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return home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 ثُمَّ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 · then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time do you wake up on a school 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تَسْتَيْقِظُ؟</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F4-L06: the School Rules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rule builder: four rules, one changed audience form,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titled eight-rule rulebook with three reasons and one balanced opinion.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F4-L07 · A Typical School Day — Narrating a Sequence</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يَوْمٌ مَدْرَسِيٌّ عَادِيٌّ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must = yajibu an · must not = lā yajūzu an · not necessary = lā yajibu 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F4-L06 · School Rules and Obligations — Must and Must Not</dc:title>
  <dc:subject>PptxGenJS Presentation</dc:subject>
  <dc:creator>Al Madina Online School · Arabic Department</dc:creator>
  <cp:lastModifiedBy>Al Madina Online School · Arabic Department</cp:lastModifiedBy>
  <cp:revision>1</cp:revision>
  <dcterms:created xsi:type="dcterms:W3CDTF">2026-09-27T19:33:46Z</dcterms:created>
  <dcterms:modified xsi:type="dcterms:W3CDTF">2026-09-27T19:33:46Z</dcterms:modified>
</cp:coreProperties>
</file>