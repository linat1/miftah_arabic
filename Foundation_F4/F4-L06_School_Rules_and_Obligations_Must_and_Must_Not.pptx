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F4 My School › Lesson 6 (F4-L06). Website sections used: the eight-question F4 retrieval bridge and “one vital distinction” (لَا يَجِبُ أَنْ ≠ لَا يَجُوزُ أَنْ), the school-rules vocabulary bank (16) and check, “must” and “must not” with 12 action chunks and the 14-question laboratory, audience forms (one male / one female / a group; 12), signs and notices (10), the rule builder, the School Rules Mission (14), the school announcement (listening, 10), the Al-Nour rule poster and Salma’s view (reading, 12), the school-rules conversation (4 prompts), the rulebook and the 16-question checkpoint. Picture match: website visual game.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يَجِبُ أَنْ / لَا يَجُوزُ أَنْ + one male listener (تَـ …ـَ). Develop: one female (…ـِي) and a group (…ـُوا) + reasons. Stretch: judge a rule fairly (عَادِلَةٌ / غَيْرُ عَادِلَةٍ / ضَرُورِيَّةٌ) with وَلَكِنْ.
• Website “one vital distinction”: لَا يَجِبُ أَنْ = it is not necessary to; لَا يَجُوزُ أَنْ = must not / not permitted. Check this every lesson.
• Website Foundation pattern: after أَنْ learn the verb forms as CHUNKS (ـَ one male · ـِي one female · ـُوا a group) — full grammatical analysis belongs later.
• Respectful debate: students may disagree with a rule (Salma questions the uniform rule) — model polite, reasoned disagreement.
• Urdu bridge: قاعدہ، التزام، احترام، اجازت (≈ الإِذْنُ), ممنوع, لازمی (≈ إِلْزَامِيٌّ), اختیاری = اِخْتِيَارِيٌّ, غیر حاضری (absence).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F4-L05. Questions 3–5 are the website “F4 retrieval bridge” (asking a girl, the feminine reason, because I like experiments).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Must = yajibu an. Must not = lā yajūzu an. BUT lā yajibu an = “you don’t have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I can…” (left) and the website rulebook Core / Develop / Stretch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قاعدہ، احترام، ممنوع، اختیاری، التزام are shared words; Urdu غائب (absent) shares the root of الْغِيَابُ; Urdu حاضری (attendance) = الْحُضُورُ.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SCHOOL-RULES BANK (website, 16). Also: اِلْتِزَامٌ / اِلْتِزَامَاتٌ (obligation), الاِنْضِبَاطُ (discipline), الْغِشُّ (cheating), التَّنَمُّرُ (bullying), رَفْعُ الْيَدِ (raising the hand), الاِسْتِمَاعُ (listening), الإِذْنُ (permission), السُّلُوكُ (behaviour), الْحُضُورُ (attendance — opposite of الْغِيَابُ).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section 3 “Control ‘must’ and ‘must not’”. The 12 website action chunks: تَلْبَسَ اللِّبَاسَ الْمَدْرَسِيَّ · تُحْضِرَ الْهَاتِفَ الْمَحْمُولَ إِلَى الْفَصْلِ · تَحْتَرِمَ الْمُعَلِّمِينَ وَالطُّلَّابَ · تُكْمِلَ الْوَاجِبَ الْمَنْزِلِيَّ · تَرْفَعَ يَدَكَ قَبْلَ الْكَلَامِ · تَسْتَمِعَ إِلَى الْمُعَلِّمِ · تَسْتَأْذِنَ قَبْلَ الْخُرُوجِ · تَتَأَخَّرَ عَنِ الدَّرْسِ · تَغُشَّ فِي الاِمْتِحَانِ · تَتَنَمَّرَ عَلَى الْآخَرِينَ · تَرْكُضَ فِي الْمَمَرَّاتِ · تَصْرُخَ فِي الْفَصْلِ.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sections 4 “Choose who the rule addresses” and 5 “Read signs and school notices”.
Expand a notice (website): اِسْتِعْمَالُ الْهَاتِفِ مَمْنُوعٌ → لَا يَجُوزُ أَنْ تَسْتَخْدِمَ الْهَاتِفَ.
Short opinion language (website): هَذِهِ الْقَاعِدَةُ عَادِلَةٌ / غَيْرُ عَادِلَةٍ / مُهِمَّةٌ / ضَرُورِيَّةٌ + لِأَنَّ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modal laboratory questions 3 and 12, audience check question 2 and notice translator question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website listening announcement as a model (addressing a group). Then change one rule for one boy and one girl on the board: تَلْبَسَ / تَلْبَسِي / تَلْبَسُوا.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Rules”)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Note the “we” form نَصِلَ and the noun form after لَا يَجُوزُ (اسْتِخْدَامُ الهَاتِفِ، الجَرْيُ) — both accepted patterns. Other cards: نُحْضِرَ الكُتُبَ، نَحْتَرِمَ الآخَرِينَ، نُكْمِلَ الوَاجِبَ.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Rules”)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Note the “we” form نَصِلَ and the noun form after لَا يَجُوزُ (اسْتِخْدَامُ الهَاتِفِ، الجَرْيُ) — both accepted patterns. Other cards: نُحْضِرَ الكُتُبَ، نَحْتَرِمَ الآخَرِينَ، نُكْمِلَ الوَاجِبَ.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School Rules Mission rounds (female lateness, class exam rule, sign, raising the hand, not necessary).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must or must not? Who is addressed?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Listen 1: just listen. Listen 2: note answers. Then chat the letters.
Support: after the second listening, show the read-along slide (Arabic + English, line by line) for Core students.
SCRIPT (read aloud):
إِعْلَانٌ إِلَى جَمِيعِ الطُّلَّابِ. فِي مَدْرَسَتِنَا، يَجِبُ أَنْ تَلْبَسُوا اللِّبَاسَ الْمَدْرَسِيَّ، وَأَنْ تَحْضُرُوا فِي الْوَقْتِ الْمُحَدَّدِ. لَا يَجُوزُ أَنْ تُحْضِرُوا الْهَوَاتِفَ الْمَحْمُولَةَ إِلَى الْفُصُولِ، وَلَا يَجُوزُ أَنْ تَرْكُضُوا فِي الْمَمَرَّاتِ. يَجِبُ أَنْ تَحْتَرِمُوا الْمُعَلِّمِينَ وَزُمَلَاءَكُمْ لِأَنَّ الاِحْتِرَامَ مُهِمٌّ. فِي الاِمْتِحَانَاتِ، لَا يَجُوزُ أَنْ تَغُشُّوا. وَقَبْلَ الْكَلَامِ فِي الْفَصْلِ، يَجِبُ أَنْ تَرْفَعُوا أَيْدِيَكُمْ. شُكْرًا لِتَعَاوُنِكُمْ.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TEXT A (website, complete). Purpose: to instruct. Notice the “they” forms (يَحْضُرَ، يَلْبَسُوا، يَسْتَخْدِمُوا) — the notice talks ABOUT students rather than TO them. Recognition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TEXT B (website, complete) — an EVALUATION, not an instruction. Stretch model for the balanced opinion (… وَلَكِنِّي لَا أَرَى أَنَّ …). Discuss respectfully: which rules do you think are fair,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1, 2, 8, 10 and 12.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STUDIO “Lead a school-rules conversation” — speak as a headteacher, a new student or a student representative. Prompts (website):
• Headteacher announcement: Address the whole school. Give two obligations, two prohibitions and one reason.
• Welcome a new male student: Explain three important rules directly to him.
• Welcome a new female student: Use accurate female action forms.
• Student council debate: Choose one fair rule and one rule you would change. Explain both views respectfully.
Website checklist (1–6): يَجِبُ أَنْ · لَا يَجُوزُ أَنْ · the verb matches the listener or group · one reason with لِأَنَّ · a fair, respectful judgement · one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Four rules: two yajibu an and two lā yajūzu an. · Develop — All eight rules and three reasons. · Stretch — Vary the audience forms and evaluate one rule with wa-lākin.
Website writing task (Stretch): Website writing task: a titled school rulebook — four obligations (يَجِبُ أَنْ) and four prohibitions (لَا يَجُوزُ أَنْ), at least three reasons and one balanced opinion. Check every audience form.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Built from the website announcement (addressed to a group) with a reason and an opinion added. Stretch: add Salma’s balanced view.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(F4-L07 · A Typical School Day — Narrating a Sequence) will spend class time USING this language, so students prepare it tonight — short, simple, easy to access (school guidance: “Simple, Short, Interesting, Relevant, Easy to access”). The five words come from the website F4-L07 school-day routine bank.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School Rules and Obligations — Must and Must Not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القَوَاعِدُ المَدْرَسِيَّةُ — يَجِبُ وَلَا يَجُوزُ</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Understand school rules, tell obligation (must) from prohibition (must not), address one boy, one girl or a group accurately, read signs and write a school rulebook.</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F4-L06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Rules vocabulary, must and must not, then who the rule addresses.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Signs, rules mission, the announcement, a rule poster.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F4-L07.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قَاعِدَةٌ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lesson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rule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subject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مَمْنُوعٌ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forbidden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allowed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optional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“Do you like science?”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تُحِبُّ العُلُومَ؟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أُحِبُّ العُلُومَ؟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تُحِبِّينَ العُلُومَ؟</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feminine reason pattern.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مُفِيدٌ</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لِأَنَّنِي مُفِيدَةٌ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مُفِيدَةٌ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“because I like experiments”.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لِأَنَّنِي أُحِبُّ التَّجَارِبَ</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أُحِبُّ التَّجَارِبَ</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يُحِبُّ التَّجَارِبَ</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قَاعِدَةٌ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lesson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rule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subject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(F4-L05).</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مَمْنُوعٌ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forbidden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allowed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optional</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(F4-L05).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“Do you like science?”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تُحِبُّ العُلُومَ؟</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أُحِبُّ العُلُومَ؟</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تُحِبِّينَ العُلُومَ؟</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تُحِبِّينَ</a:t>
            </a:r>
            <a:pPr algn="l" indent="0" marL="0">
              <a:buNone/>
            </a:pPr>
            <a:r>
              <a:rPr lang="en-US" sz="1050" i="1" dirty="0">
                <a:solidFill>
                  <a:srgbClr val="8A6D1E"/>
                </a:solidFill>
                <a:latin typeface="Calibri" pitchFamily="34" charset="0"/>
                <a:cs typeface="Amiri" pitchFamily="2" charset="-78"/>
              </a:rPr>
              <a:t> addresses one female.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feminine reason pattern.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 مُفِيدٌ</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لِأَنَّنِي مُفِيدَةٌ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لِأَنَّهَا مُفِيدَةٌ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pronoun and adjective are both feminine.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“because I like experiments”.</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لِأَنَّنِي أُحِبُّ التَّجَارِبَ</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 أُحِبُّ التَّجَارِبَ</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لِأَنَّهَا يُحِبُّ التَّجَارِبَ</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لِأَنَّنِي</a:t>
            </a:r>
            <a:pPr algn="l" indent="0" marL="0">
              <a:buNone/>
            </a:pPr>
            <a:r>
              <a:rPr lang="en-US" sz="1050" i="1" dirty="0">
                <a:solidFill>
                  <a:srgbClr val="8A6D1E"/>
                </a:solidFill>
                <a:latin typeface="Calibri" pitchFamily="34" charset="0"/>
                <a:cs typeface="Amiri" pitchFamily="2" charset="-78"/>
              </a:rPr>
              <a:t> means because I.</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Must = yajibu an. Must not = lā yajūzu an. BUT lā yajibu an = “you don’t have to”.</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0E7C86"/>
                </a:solidFill>
                <a:latin typeface="Amiri" pitchFamily="2" charset="-78"/>
                <a:ea typeface="Amiri" pitchFamily="2" charset="-78"/>
                <a:cs typeface="Amiri" pitchFamily="2" charset="-78"/>
              </a:rPr>
              <a:t>يَجِبُ أَنْ</a:t>
            </a:r>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 تَحْتَرِمَ · </a:t>
            </a:r>
            <a:pPr rtl="1" algn="ctr" indent="0" marL="0">
              <a:lnSpc>
                <a:spcPct val="120000"/>
              </a:lnSpc>
              <a:buNone/>
            </a:pPr>
            <a:r>
              <a:rPr lang="ar-SA" altLang="en-US" sz="2200" b="1" dirty="0">
                <a:solidFill>
                  <a:srgbClr val="D6336C"/>
                </a:solidFill>
                <a:latin typeface="Amiri" pitchFamily="2" charset="-78"/>
                <a:ea typeface="Amiri" pitchFamily="2" charset="-78"/>
                <a:cs typeface="Amiri" pitchFamily="2" charset="-78"/>
              </a:rPr>
              <a:t>لَا يَجُوزُ أَنْ</a:t>
            </a:r>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 تَغُشَّ</a:t>
            </a:r>
            <a:endParaRPr lang="ar-SA" sz="22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and use a broad school-rules vocabulary bank.</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Build rules with yajibu an and lā yajūzu an.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Address one male, one female or a group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signs and write at least eight school rules.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two must and two must-not rules.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tell must not from not necessary.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address a girl or a group.</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 reason for a rule.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judge a rule as fair or unfair.</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full rulebook.</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Rules vocabulary, the two modal chunks and notice words. Core: rule, uniform, respect, homework, must, must not.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School-rules vocabulary · 16</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Must · must not · 12 actions</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Signs · forbidden · allowed</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قَاعِدَةٌ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‎قاعدہ‎ </a:t>
            </a:r>
            <a:pPr indent="0" marL="0">
              <a:buNone/>
            </a:pPr>
            <a:r>
              <a:rPr lang="en-US" sz="950" b="1" dirty="0">
                <a:solidFill>
                  <a:srgbClr val="2E8B57"/>
                </a:solidFill>
                <a:latin typeface="Calibri" pitchFamily="34" charset="0"/>
                <a:cs typeface="Amiri" pitchFamily="2" charset="-78"/>
              </a:rPr>
              <a:t> qā‘ida · rule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الاِحْتِرَامُ</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‎احترام‎ </a:t>
            </a:r>
            <a:pPr indent="0" marL="0">
              <a:buNone/>
            </a:pPr>
            <a:r>
              <a:rPr lang="en-US" sz="950" b="1" dirty="0">
                <a:solidFill>
                  <a:srgbClr val="2E8B57"/>
                </a:solidFill>
                <a:latin typeface="Calibri" pitchFamily="34" charset="0"/>
                <a:cs typeface="Amiri" pitchFamily="2" charset="-78"/>
              </a:rPr>
              <a:t> al-iḥtirām · respect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مَمْنُوعٌ</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‎ممنوع‎ </a:t>
            </a:r>
            <a:pPr indent="0" marL="0">
              <a:buNone/>
            </a:pPr>
            <a:r>
              <a:rPr lang="en-US" sz="950" b="1" dirty="0">
                <a:solidFill>
                  <a:srgbClr val="2E8B57"/>
                </a:solidFill>
                <a:latin typeface="Calibri" pitchFamily="34" charset="0"/>
                <a:cs typeface="Amiri" pitchFamily="2" charset="-78"/>
              </a:rPr>
              <a:t> mamnū‘ · forbidden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اِخْتِيَارِيٌّ</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‎اختیاری‎ </a:t>
            </a:r>
            <a:pPr indent="0" marL="0">
              <a:buNone/>
            </a:pPr>
            <a:r>
              <a:rPr lang="en-US" sz="950" b="1" dirty="0">
                <a:solidFill>
                  <a:srgbClr val="2E8B57"/>
                </a:solidFill>
                <a:latin typeface="Calibri" pitchFamily="34" charset="0"/>
                <a:cs typeface="Amiri" pitchFamily="2" charset="-78"/>
              </a:rPr>
              <a:t> ikhtiyāriyy · optional</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الْغِيَابُ</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‎غیر حاضری‎ </a:t>
            </a:r>
            <a:pPr indent="0" marL="0">
              <a:buNone/>
            </a:pPr>
            <a:r>
              <a:rPr lang="en-US" sz="950" b="1" dirty="0">
                <a:solidFill>
                  <a:srgbClr val="2E8B57"/>
                </a:solidFill>
                <a:latin typeface="Calibri" pitchFamily="34" charset="0"/>
                <a:cs typeface="Amiri" pitchFamily="2" charset="-78"/>
              </a:rPr>
              <a:t> al-ghiyāb · absence (root: absent)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SCHOOL-RULES VOCABULARY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Rule, uniform, respect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مُفْرَدَاتُ قَوَاعِدِ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قَاعِدَةٌ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rule</a:t>
            </a:r>
            <a:endParaRPr lang="en-US" sz="1350" dirty="0"/>
          </a:p>
          <a:p>
            <a:pPr indent="0" marL="0">
              <a:buNone/>
            </a:pPr>
            <a:r>
              <a:rPr lang="en-US" sz="1100" i="1" dirty="0">
                <a:solidFill>
                  <a:srgbClr val="5A6472"/>
                </a:solidFill>
                <a:latin typeface="Calibri" pitchFamily="34" charset="0"/>
                <a:cs typeface="Amiri" pitchFamily="2" charset="-78"/>
              </a:rPr>
              <a:t>qā-‘i-da</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قَوَاعِدُ</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اللِّبَاسُ الْمَدْرَسِيُّ</a:t>
            </a:r>
            <a:endParaRPr lang="ar-SA" sz="3000" dirty="0"/>
          </a:p>
        </p:txBody>
      </p:sp>
      <p:sp>
        <p:nvSpPr>
          <p:cNvPr id="35" name="Text 32"/>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 uniform</a:t>
            </a:r>
            <a:endParaRPr lang="en-US" sz="1350" dirty="0"/>
          </a:p>
          <a:p>
            <a:pPr indent="0" marL="0">
              <a:buNone/>
            </a:pPr>
            <a:r>
              <a:rPr lang="en-US" sz="1100" i="1" dirty="0">
                <a:solidFill>
                  <a:srgbClr val="5A6472"/>
                </a:solidFill>
                <a:latin typeface="Calibri" pitchFamily="34" charset="0"/>
                <a:cs typeface="Amiri" pitchFamily="2" charset="-78"/>
              </a:rPr>
              <a:t>al-li-bās al-mad-ra-siyy</a:t>
            </a:r>
            <a:endParaRPr lang="en-US" sz="1350" dirty="0"/>
          </a:p>
        </p:txBody>
      </p:sp>
      <p:sp>
        <p:nvSpPr>
          <p:cNvPr id="36" name="Shape 3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566928" y="1920240"/>
            <a:ext cx="310896" cy="310896"/>
          </a:xfrm>
          <a:prstGeom prst="ellipse">
            <a:avLst/>
          </a:prstGeom>
          <a:solidFill>
            <a:srgbClr val="F4F1EA"/>
          </a:solidFill>
          <a:ln w="12700">
            <a:solidFill>
              <a:srgbClr val="F4F1EA"/>
            </a:solidFill>
            <a:prstDash val="solid"/>
          </a:ln>
        </p:spPr>
      </p:sp>
      <p:sp>
        <p:nvSpPr>
          <p:cNvPr id="38" name="Text 3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9" name="Shape 36"/>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41" name="Shape 38"/>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الاِحْتِرَامُ</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respect</a:t>
            </a:r>
            <a:endParaRPr lang="en-US" sz="1350" dirty="0"/>
          </a:p>
          <a:p>
            <a:pPr indent="0" marL="0">
              <a:buNone/>
            </a:pPr>
            <a:r>
              <a:rPr lang="en-US" sz="1100" i="1" dirty="0">
                <a:solidFill>
                  <a:srgbClr val="5A6472"/>
                </a:solidFill>
                <a:latin typeface="Calibri" pitchFamily="34" charset="0"/>
                <a:cs typeface="Amiri" pitchFamily="2" charset="-78"/>
              </a:rPr>
              <a:t>al-iḥ-ti-rām</a:t>
            </a:r>
            <a:endParaRPr lang="en-US" sz="135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8" name="Shape 45"/>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الْوَاجِبُ الْمَنْزِلِيُّ</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homework</a:t>
            </a:r>
            <a:endParaRPr lang="en-US" sz="1350" dirty="0"/>
          </a:p>
          <a:p>
            <a:pPr indent="0" marL="0">
              <a:buNone/>
            </a:pPr>
            <a:r>
              <a:rPr lang="en-US" sz="1100" i="1" dirty="0">
                <a:solidFill>
                  <a:srgbClr val="5A6472"/>
                </a:solidFill>
                <a:latin typeface="Calibri" pitchFamily="34" charset="0"/>
                <a:cs typeface="Amiri" pitchFamily="2" charset="-78"/>
              </a:rPr>
              <a:t>al-wā-jib al-man-zi-liyy</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7" name="Shape 54"/>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9" name="Shape 5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الْهَاتِفُ الْمَحْمُولُ</a:t>
            </a:r>
            <a:endParaRPr lang="ar-SA" sz="3000" dirty="0"/>
          </a:p>
        </p:txBody>
      </p:sp>
      <p:sp>
        <p:nvSpPr>
          <p:cNvPr id="62" name="Text 5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mobile phone</a:t>
            </a:r>
            <a:endParaRPr lang="en-US" sz="1350" dirty="0"/>
          </a:p>
          <a:p>
            <a:pPr indent="0" marL="0">
              <a:buNone/>
            </a:pPr>
            <a:r>
              <a:rPr lang="en-US" sz="1100" i="1" dirty="0">
                <a:solidFill>
                  <a:srgbClr val="5A6472"/>
                </a:solidFill>
                <a:latin typeface="Calibri" pitchFamily="34" charset="0"/>
                <a:cs typeface="Amiri" pitchFamily="2" charset="-78"/>
              </a:rPr>
              <a:t>al-hā-tif al-maḥ-mūl</a:t>
            </a:r>
            <a:endParaRPr lang="en-US" sz="1350" dirty="0"/>
          </a:p>
        </p:txBody>
      </p:sp>
      <p:sp>
        <p:nvSpPr>
          <p:cNvPr id="63" name="Shape 60"/>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5" name="Text 62"/>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الْهَوَاتِفُ</a:t>
            </a:r>
            <a:endParaRPr lang="ar-SA" sz="150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9" name="Shape 66"/>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71" name="Text 6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التَّأَخُّرُ · الْغِيَابُ</a:t>
            </a:r>
            <a:endParaRPr lang="ar-SA" sz="3000" dirty="0"/>
          </a:p>
        </p:txBody>
      </p:sp>
      <p:sp>
        <p:nvSpPr>
          <p:cNvPr id="72" name="Text 6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lateness · absence</a:t>
            </a:r>
            <a:endParaRPr lang="en-US" sz="1350" dirty="0"/>
          </a:p>
          <a:p>
            <a:pPr indent="0" marL="0">
              <a:buNone/>
            </a:pPr>
            <a:r>
              <a:rPr lang="en-US" sz="1100" i="1" dirty="0">
                <a:solidFill>
                  <a:srgbClr val="5A6472"/>
                </a:solidFill>
                <a:latin typeface="Calibri" pitchFamily="34" charset="0"/>
                <a:cs typeface="Amiri" pitchFamily="2" charset="-78"/>
              </a:rPr>
              <a:t>at-ta-’akh-khur · al-ghi-yāb</a:t>
            </a:r>
            <a:endParaRPr lang="en-US" sz="13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MUST AND MUST NOT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Obligation or prohibition?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يَجِبُ · لَا يَجُوزُ</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53144"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7" name="Text 14"/>
          <p:cNvSpPr txBox="1"/>
          <p:nvPr/>
        </p:nvSpPr>
        <p:spPr>
          <a:xfrm>
            <a:off x="3575304" y="1810512"/>
            <a:ext cx="5431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171432" y="2267712"/>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يَجِبُ أَنْ</a:t>
            </a:r>
            <a:endParaRPr lang="ar-SA" sz="2200" dirty="0"/>
          </a:p>
        </p:txBody>
      </p:sp>
      <p:sp>
        <p:nvSpPr>
          <p:cNvPr id="21" name="Text 18"/>
          <p:cNvSpPr txBox="1"/>
          <p:nvPr/>
        </p:nvSpPr>
        <p:spPr>
          <a:xfrm>
            <a:off x="3593592" y="2267712"/>
            <a:ext cx="5394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يَجِبُ أَنْ تَحْتَرِمَ الْمُعَلِّمِينَ.</a:t>
            </a:r>
            <a:endParaRPr lang="ar-SA" sz="2200" dirty="0"/>
          </a:p>
        </p:txBody>
      </p:sp>
      <p:sp>
        <p:nvSpPr>
          <p:cNvPr id="22" name="Text 19"/>
          <p:cNvSpPr txBox="1"/>
          <p:nvPr/>
        </p:nvSpPr>
        <p:spPr>
          <a:xfrm>
            <a:off x="566928" y="2267712"/>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must (obligation)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171432" y="3004718"/>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لَا يَجُوزُ أَنْ</a:t>
            </a:r>
            <a:endParaRPr lang="ar-SA" sz="2200" dirty="0"/>
          </a:p>
        </p:txBody>
      </p:sp>
      <p:sp>
        <p:nvSpPr>
          <p:cNvPr id="27" name="Text 24"/>
          <p:cNvSpPr txBox="1"/>
          <p:nvPr/>
        </p:nvSpPr>
        <p:spPr>
          <a:xfrm>
            <a:off x="3593592" y="3004718"/>
            <a:ext cx="5394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لَا يَجُوزُ أَنْ تَغُشَّ فِي الاِمْتِحَانِ.</a:t>
            </a:r>
            <a:endParaRPr lang="ar-SA" sz="2200" dirty="0"/>
          </a:p>
        </p:txBody>
      </p:sp>
      <p:sp>
        <p:nvSpPr>
          <p:cNvPr id="28" name="Text 25"/>
          <p:cNvSpPr txBox="1"/>
          <p:nvPr/>
        </p:nvSpPr>
        <p:spPr>
          <a:xfrm>
            <a:off x="566928" y="300471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must not (prohibition)</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171432" y="3741725"/>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لَا يَجِبُ أَنْ</a:t>
            </a:r>
            <a:endParaRPr lang="ar-SA" sz="2200" dirty="0"/>
          </a:p>
        </p:txBody>
      </p:sp>
      <p:sp>
        <p:nvSpPr>
          <p:cNvPr id="33" name="Text 30"/>
          <p:cNvSpPr txBox="1"/>
          <p:nvPr/>
        </p:nvSpPr>
        <p:spPr>
          <a:xfrm>
            <a:off x="3593592" y="3741725"/>
            <a:ext cx="5394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لَا يَجِبُ أَنْ تَكْتُبَ.</a:t>
            </a:r>
            <a:endParaRPr lang="ar-SA" sz="2200" dirty="0"/>
          </a:p>
        </p:txBody>
      </p:sp>
      <p:sp>
        <p:nvSpPr>
          <p:cNvPr id="34" name="Text 31"/>
          <p:cNvSpPr txBox="1"/>
          <p:nvPr/>
        </p:nvSpPr>
        <p:spPr>
          <a:xfrm>
            <a:off x="566928" y="3741725"/>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NOT necessary — not “must not”</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171432" y="4478731"/>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يَجِبُ أَنْ …</a:t>
            </a:r>
            <a:endParaRPr lang="ar-SA" sz="2200" dirty="0"/>
          </a:p>
        </p:txBody>
      </p:sp>
      <p:sp>
        <p:nvSpPr>
          <p:cNvPr id="37" name="Text 34"/>
          <p:cNvSpPr txBox="1"/>
          <p:nvPr/>
        </p:nvSpPr>
        <p:spPr>
          <a:xfrm>
            <a:off x="3593592" y="4478731"/>
            <a:ext cx="5394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تَلْبَسَ اللِّبَاسَ · تُكْمِلَ الْوَاجِبَ · تَرْفَعَ يَدَكَ</a:t>
            </a:r>
            <a:endParaRPr lang="ar-SA" sz="2200" dirty="0"/>
          </a:p>
        </p:txBody>
      </p:sp>
      <p:sp>
        <p:nvSpPr>
          <p:cNvPr id="38" name="Text 35"/>
          <p:cNvSpPr txBox="1"/>
          <p:nvPr/>
        </p:nvSpPr>
        <p:spPr>
          <a:xfrm>
            <a:off x="566928" y="4478731"/>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wear uniform · finish homework · raise hand</a:t>
            </a:r>
            <a:endParaRPr lang="en-US" sz="1100" dirty="0"/>
          </a:p>
        </p:txBody>
      </p:sp>
      <p:sp>
        <p:nvSpPr>
          <p:cNvPr id="39" name="Shape 36"/>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9171432" y="5215738"/>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لَا يَجُوزُ أَنْ …</a:t>
            </a:r>
            <a:endParaRPr lang="ar-SA" sz="2200" dirty="0"/>
          </a:p>
        </p:txBody>
      </p:sp>
      <p:sp>
        <p:nvSpPr>
          <p:cNvPr id="43" name="Text 40"/>
          <p:cNvSpPr txBox="1"/>
          <p:nvPr/>
        </p:nvSpPr>
        <p:spPr>
          <a:xfrm>
            <a:off x="3593592" y="5215738"/>
            <a:ext cx="5394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تَتَأَخَّرَ · تَرْكُضَ فِي الْمَمَرَّاتِ · تَصْرُخَ</a:t>
            </a:r>
            <a:endParaRPr lang="ar-SA" sz="2200" dirty="0"/>
          </a:p>
        </p:txBody>
      </p:sp>
      <p:sp>
        <p:nvSpPr>
          <p:cNvPr id="44" name="Text 41"/>
          <p:cNvSpPr txBox="1"/>
          <p:nvPr/>
        </p:nvSpPr>
        <p:spPr>
          <a:xfrm>
            <a:off x="566928" y="521573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 late · run in corridors · shout</a:t>
            </a:r>
            <a:endParaRPr lang="en-US" sz="1100" dirty="0"/>
          </a:p>
        </p:txBody>
      </p:sp>
      <p:sp>
        <p:nvSpPr>
          <p:cNvPr id="45" name="Shape 42"/>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Both structures are followed by an + a present-tense verb: learn the whole phrase as one communication pattern.</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WHO DOES THE RULE ADDRESS?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boy, one girl, a group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تُخَاطِبُ الْقَاعِدَةُ؟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205472" y="1810512"/>
            <a:ext cx="4453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Must not be late</a:t>
            </a:r>
            <a:endParaRPr lang="en-US" sz="1100" dirty="0"/>
          </a:p>
        </p:txBody>
      </p:sp>
      <p:sp>
        <p:nvSpPr>
          <p:cNvPr id="17" name="Text 14"/>
          <p:cNvSpPr txBox="1"/>
          <p:nvPr/>
        </p:nvSpPr>
        <p:spPr>
          <a:xfrm>
            <a:off x="290779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Must write</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Audience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223760" y="2267712"/>
            <a:ext cx="441655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لَا يَجُوزُ أَنْ تَتَأَخَّرَ</a:t>
            </a:r>
            <a:endParaRPr lang="ar-SA" sz="2400" dirty="0"/>
          </a:p>
        </p:txBody>
      </p:sp>
      <p:sp>
        <p:nvSpPr>
          <p:cNvPr id="21" name="Text 18"/>
          <p:cNvSpPr txBox="1"/>
          <p:nvPr/>
        </p:nvSpPr>
        <p:spPr>
          <a:xfrm>
            <a:off x="2926080" y="2267712"/>
            <a:ext cx="411480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يَجِبُ أَنْ تَكْتُبَ</a:t>
            </a:r>
            <a:endParaRPr lang="ar-SA" sz="2400" dirty="0"/>
          </a:p>
        </p:txBody>
      </p:sp>
      <p:sp>
        <p:nvSpPr>
          <p:cNvPr id="22" name="Text 19"/>
          <p:cNvSpPr txBox="1"/>
          <p:nvPr/>
        </p:nvSpPr>
        <p:spPr>
          <a:xfrm>
            <a:off x="566928"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male (-a)</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223760" y="3054096"/>
            <a:ext cx="441655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لَا يَجُوزُ أَنْ تَتَأَخَّرِ</a:t>
            </a:r>
            <a:pPr rtl="1" algn="ctr" indent="0" marL="0">
              <a:buNone/>
            </a:pPr>
            <a:r>
              <a:rPr lang="ar-SA" altLang="en-US" sz="2400" b="1" dirty="0">
                <a:solidFill>
                  <a:srgbClr val="D6336C"/>
                </a:solidFill>
                <a:latin typeface="Amiri" pitchFamily="2" charset="-78"/>
                <a:ea typeface="Amiri" pitchFamily="2" charset="-78"/>
                <a:cs typeface="Amiri" pitchFamily="2" charset="-78"/>
              </a:rPr>
              <a:t>ي</a:t>
            </a:r>
            <a:endParaRPr lang="ar-SA" sz="2400" dirty="0"/>
          </a:p>
        </p:txBody>
      </p:sp>
      <p:sp>
        <p:nvSpPr>
          <p:cNvPr id="27" name="Text 24"/>
          <p:cNvSpPr txBox="1"/>
          <p:nvPr/>
        </p:nvSpPr>
        <p:spPr>
          <a:xfrm>
            <a:off x="2926080" y="3054096"/>
            <a:ext cx="411480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يَجِبُ أَنْ تَكْتُبِ</a:t>
            </a:r>
            <a:pPr rtl="1" algn="ctr" indent="0" marL="0">
              <a:buNone/>
            </a:pPr>
            <a:r>
              <a:rPr lang="ar-SA" altLang="en-US" sz="2400" b="1" dirty="0">
                <a:solidFill>
                  <a:srgbClr val="D6336C"/>
                </a:solidFill>
                <a:latin typeface="Amiri" pitchFamily="2" charset="-78"/>
                <a:ea typeface="Amiri" pitchFamily="2" charset="-78"/>
                <a:cs typeface="Amiri" pitchFamily="2" charset="-78"/>
              </a:rPr>
              <a:t>ي</a:t>
            </a:r>
            <a:endParaRPr lang="ar-SA" sz="2400" dirty="0"/>
          </a:p>
        </p:txBody>
      </p:sp>
      <p:sp>
        <p:nvSpPr>
          <p:cNvPr id="28" name="Text 25"/>
          <p:cNvSpPr txBox="1"/>
          <p:nvPr/>
        </p:nvSpPr>
        <p:spPr>
          <a:xfrm>
            <a:off x="566928"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female (-ī)</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7223760" y="3840480"/>
            <a:ext cx="441655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لَا يَجُوزُ أَنْ تَتَأَخَّرُ</a:t>
            </a:r>
            <a:pPr rtl="1" algn="ctr" indent="0" marL="0">
              <a:buNone/>
            </a:pPr>
            <a:r>
              <a:rPr lang="ar-SA" altLang="en-US" sz="2400" b="1" dirty="0">
                <a:solidFill>
                  <a:srgbClr val="1D5FBF"/>
                </a:solidFill>
                <a:latin typeface="Amiri" pitchFamily="2" charset="-78"/>
                <a:ea typeface="Amiri" pitchFamily="2" charset="-78"/>
                <a:cs typeface="Amiri" pitchFamily="2" charset="-78"/>
              </a:rPr>
              <a:t>وا</a:t>
            </a:r>
            <a:endParaRPr lang="ar-SA" sz="2400" dirty="0"/>
          </a:p>
        </p:txBody>
      </p:sp>
      <p:sp>
        <p:nvSpPr>
          <p:cNvPr id="31" name="Text 28"/>
          <p:cNvSpPr txBox="1"/>
          <p:nvPr/>
        </p:nvSpPr>
        <p:spPr>
          <a:xfrm>
            <a:off x="2926080" y="3840480"/>
            <a:ext cx="411480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يَجِبُ أَنْ تَكْتُبُ</a:t>
            </a:r>
            <a:pPr rtl="1" algn="ctr" indent="0" marL="0">
              <a:buNone/>
            </a:pPr>
            <a:r>
              <a:rPr lang="ar-SA" altLang="en-US" sz="2400" b="1" dirty="0">
                <a:solidFill>
                  <a:srgbClr val="1D5FBF"/>
                </a:solidFill>
                <a:latin typeface="Amiri" pitchFamily="2" charset="-78"/>
                <a:ea typeface="Amiri" pitchFamily="2" charset="-78"/>
                <a:cs typeface="Amiri" pitchFamily="2" charset="-78"/>
              </a:rPr>
              <a:t>وا</a:t>
            </a:r>
            <a:endParaRPr lang="ar-SA" sz="2400" dirty="0"/>
          </a:p>
        </p:txBody>
      </p:sp>
      <p:sp>
        <p:nvSpPr>
          <p:cNvPr id="32" name="Text 29"/>
          <p:cNvSpPr txBox="1"/>
          <p:nvPr/>
        </p:nvSpPr>
        <p:spPr>
          <a:xfrm>
            <a:off x="566928"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group (-ū)</a:t>
            </a:r>
            <a:endParaRPr lang="en-US" sz="110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7223760" y="4626864"/>
            <a:ext cx="441655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اِسْتِعْمَالُ الْهَاتِفِ مَمْنُوعٌ</a:t>
            </a:r>
            <a:endParaRPr lang="ar-SA" sz="2400" dirty="0"/>
          </a:p>
        </p:txBody>
      </p:sp>
      <p:sp>
        <p:nvSpPr>
          <p:cNvPr id="35" name="Text 32"/>
          <p:cNvSpPr txBox="1"/>
          <p:nvPr/>
        </p:nvSpPr>
        <p:spPr>
          <a:xfrm>
            <a:off x="2926080" y="4626864"/>
            <a:ext cx="411480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اللِّبَاسُ الْمَدْرَسِيُّ إِلْزَامِيٌّ</a:t>
            </a:r>
            <a:endParaRPr lang="ar-SA" sz="2400" dirty="0"/>
          </a:p>
        </p:txBody>
      </p:sp>
      <p:sp>
        <p:nvSpPr>
          <p:cNvPr id="36" name="Text 33"/>
          <p:cNvSpPr txBox="1"/>
          <p:nvPr/>
        </p:nvSpPr>
        <p:spPr>
          <a:xfrm>
            <a:off x="566928"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Sign (noun phrase)</a:t>
            </a:r>
            <a:endParaRPr lang="en-US" sz="1100" dirty="0"/>
          </a:p>
        </p:txBody>
      </p:sp>
      <p:sp>
        <p:nvSpPr>
          <p:cNvPr id="37" name="Text 3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modal stays the same — only the action verb changes. Signs: mamnū‘ forbidden · masmūḥ allowed · ilzāmiyy compulsory · ikhtiyāriyy optional.</a:t>
            </a:r>
            <a:endParaRPr lang="en-US" sz="11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mean?</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لَا يَجِبُ أَنْ تَكْتُبَ</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 must not write.</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 must write.</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 do not have to write.</a:t>
            </a:r>
            <a:endParaRPr lang="en-US" sz="12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يَجِبُ أَنْ تَغُشَّ فِي الاِمْتِحَانِ.</a:t>
            </a:r>
            <a:endParaRPr lang="ar-SA" sz="22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يَجُوزُ أَنْ تَغُشَّ فِي الاِمْتِحَانِ.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يَجِبُ أَنْ تَغُشَّ فِي الاِمْتِحَانِ.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يَجُوزُ أَنْ تَغُشَّ فِي الاِمْتِحَانِ.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Address one female: “You must write.”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تَكْتُبَ.</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تَكْتُبِي.</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تَكْتُبُوا.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Expand this</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اِسْتِعْمَالُ الْهَاتِفِ مَمْنُوعٌ.</a:t>
            </a:r>
            <a:endParaRPr lang="ar-SA" sz="22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يَجُوزُ أَنْ تَسْتَخْدِمَ الْهَاتِفَ.</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تَسْتَخْدِمَ الْهَاتِفَ.</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يَجِبُ أَنْ تَسْتَخْدِمَ الْهَاتِفَ.</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mean?</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لَا يَجِبُ أَنْ تَكْتُبَ</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You must not write.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You must write.</a:t>
            </a:r>
            <a:endParaRPr lang="en-US" sz="125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You do not have to write.</a:t>
            </a:r>
            <a:endParaRPr lang="en-US" sz="125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لَا يَجِبُ</a:t>
            </a:r>
            <a:pPr algn="l" indent="0" marL="0">
              <a:buNone/>
            </a:pPr>
            <a:r>
              <a:rPr lang="en-US" sz="1050" i="1" dirty="0">
                <a:solidFill>
                  <a:srgbClr val="8A6D1E"/>
                </a:solidFill>
                <a:latin typeface="Calibri" pitchFamily="34" charset="0"/>
                <a:cs typeface="Amiri" pitchFamily="2" charset="-78"/>
              </a:rPr>
              <a:t> means not necessary, not prohibited.</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يَجِبُ أَنْ تَغُشَّ فِي الاِمْتِحَانِ.</a:t>
            </a:r>
            <a:endParaRPr lang="ar-SA" sz="22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يَجُوزُ أَنْ تَغُشَّ فِي الاِمْتِحَانِ.</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يَجِبُ أَنْ تَغُشَّ فِي الاِمْتِحَانِ.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يَجُوزُ أَنْ تَغُشَّ فِي الاِمْتِحَانِ.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Cheating must be expressed as prohibited.</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Address one female: “You must write.”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أَنْ تَكْتُبَ.</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يَجِبُ أَنْ تَكْتُبِي.</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أَنْ تَكْتُبُوا.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female uses </a:t>
            </a:r>
            <a:pPr algn="l" indent="0" marL="0">
              <a:buNone/>
            </a:pPr>
            <a:r>
              <a:rPr lang="ar-SA" altLang="en-US" sz="1350" dirty="0">
                <a:solidFill>
                  <a:srgbClr val="8A6D1E"/>
                </a:solidFill>
                <a:latin typeface="Amiri" pitchFamily="2" charset="-78"/>
                <a:ea typeface="Amiri" pitchFamily="2" charset="-78"/>
                <a:cs typeface="Amiri" pitchFamily="2" charset="-78"/>
              </a:rPr>
              <a:t>تَكْتُبِي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Expand this</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اِسْتِعْمَالُ الْهَاتِفِ مَمْنُوعٌ.</a:t>
            </a:r>
            <a:endParaRPr lang="ar-SA" sz="220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يَجُوزُ أَنْ تَسْتَخْدِمَ الْهَاتِفَ.</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أَنْ تَسْتَخْدِمَ الْهَاتِفَ.</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يَجِبُ أَنْ تَسْتَخْدِمَ الْهَاتِفَ.</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forbidden notice expands with </a:t>
            </a:r>
            <a:pPr algn="l" indent="0" marL="0">
              <a:buNone/>
            </a:pPr>
            <a:r>
              <a:rPr lang="ar-SA" altLang="en-US" sz="1350" dirty="0">
                <a:solidFill>
                  <a:srgbClr val="8A6D1E"/>
                </a:solidFill>
                <a:latin typeface="Amiri" pitchFamily="2" charset="-78"/>
                <a:ea typeface="Amiri" pitchFamily="2" charset="-78"/>
                <a:cs typeface="Amiri" pitchFamily="2" charset="-78"/>
              </a:rPr>
              <a:t>لَا يَجُوزُ 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Watch me write rules for the class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Obligation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يَجِبُ أَنْ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تَلْبَسُوا اللِّبَاسَ الْمَدْرَسِيَّ.</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Group → -ū.</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Prohibition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لَا يَجُوزُ أَنْ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تَرْكُضُوا فِي الْمَمَرَّاتِ.</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Must NOT.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Reason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يَجِبُ أَنْ تَحْتَرِمُوا الْجَمِيعَ لِأَنَّ الاِحْتِرَامَ مُهِمٌّ.</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Rule + li’anna.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Opinion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هَذِهِ الْقَاعِدَةُ عَادِلَةٌ لِأَنَّهَا تَحْمِي الطُّلَّابَ.</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Judge it.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MUST</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MUST NOT</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يَجِبُ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تَلْبَسُوا اللِّبَاسَ الْمَدْرَسِيَّ.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لَا يَجُوزُ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تَرْكُضُوا فِي الْمَمَرَّاتِ.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يَجِبُ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تَحْتَرِمُوا الْجَمِيعَ لِأَنَّ الاِحْتِرَامَ مُهِمٌّ.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لَا يَجُوزُ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تَتَنَمَّرُوا عَلَى الْآخَرِينَ لِأَنَّ كُلَّ طَالِبٍ يَحْتَاجُ إِلَى الأَمَانِ.</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You must wear the school uniform. You must not run in the corridors. You must respect everyone because respect is important. You must not bully others because every student needs safety.</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 WEBSITE GAME “VISUAL GAME —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Must or must not? Match the picture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حَكَمُ قَوَاعِدِ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phone + no</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clock + tick</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running + no</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يَجُوزُ الجَرْيُ فِي المَمَرَّاتِ.</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يَجُوزُ اسْتِخْدَامُ الهَاتِفِ فِي الدَّرْسِ.</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يَجِبُ أَنْ نَصِلَ فِي الوَقْتِ.</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حَكَمُ قَوَاعِدِ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phone + no</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لَا يَجُوزُ اسْتِخْدَامُ الهَاتِفِ فِي الدَّرْسِ.</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Phone use in the lesson is not allowed.</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clock + tick</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يَجِبُ أَنْ نَصِلَ فِي الوَقْتِ.</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must arrive on time.</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running + no</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لَا يَجُوزُ الجَرْيُ فِي المَمَرَّاتِ.</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Running in the corridors is not allowed.</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“SCHOOL RULES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rules mission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قَوَاعِدِ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Lateness: Address one female.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يَجُوزُ أَنْ تَتَأَخَّرَ.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يَجُوزُ أَنْ تَتَأَخَّرِي.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يَجُوزُ أَنْ تَتَأَخَّرُوا.</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Examination: Address the whole class.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يَجُوزُ أَنْ تَغُشُّوا.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يَجُوزُ أَنْ تَغُشِّي.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يَجُوزُ أَنْ تَغُشَّ.</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Notice: Translate the sign.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the phone is compulsory.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the phone is optional.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the phone is forbidden.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Speaking: Complete the rule.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يَجُوزُ أَنْ تَرْفَعَ يَدَكَ.</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تَرْفَعَ يَدَكَ قَبْلَ الْكَلَامِ.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يَدَكَ أَنْ الْكَلَامِ.</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mean?</a:t>
            </a:r>
            <a:endParaRPr lang="en-US" sz="1200" dirty="0"/>
          </a:p>
        </p:txBody>
      </p:sp>
      <p:sp>
        <p:nvSpPr>
          <p:cNvPr id="71" name="Text 6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لَا يَجِبُ أَنْ</a:t>
            </a:r>
            <a:endParaRPr lang="ar-SA" sz="220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forbidden to.</a:t>
            </a:r>
            <a:endParaRPr lang="en-US" sz="12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not necessary to.</a:t>
            </a:r>
            <a:endParaRPr lang="en-US" sz="12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compulsory to.</a:t>
            </a:r>
            <a:endParaRPr lang="en-US" sz="1250" dirty="0"/>
          </a:p>
        </p:txBody>
      </p:sp>
      <p:sp>
        <p:nvSpPr>
          <p:cNvPr id="81" name="Shape 7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3" name="Text 8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4" name="Text 81"/>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must = yajibu an</a:t>
            </a:r>
            <a:endParaRPr lang="en-US" sz="1250" dirty="0"/>
          </a:p>
          <a:p>
            <a:pPr algn="l" indent="0" marL="0">
              <a:buNone/>
            </a:pPr>
            <a:r>
              <a:rPr lang="en-US" sz="1250" dirty="0">
                <a:solidFill>
                  <a:srgbClr val="1E6B52"/>
                </a:solidFill>
                <a:latin typeface="Calibri" pitchFamily="34" charset="0"/>
                <a:cs typeface="Amiri" pitchFamily="2" charset="-78"/>
              </a:rPr>
              <a:t>must not = lā yajūzu an</a:t>
            </a:r>
            <a:endParaRPr lang="en-US" sz="1250" dirty="0"/>
          </a:p>
          <a:p>
            <a:pPr algn="l" indent="0" marL="0">
              <a:buNone/>
            </a:pPr>
            <a:r>
              <a:rPr lang="en-US" sz="1250" dirty="0">
                <a:solidFill>
                  <a:srgbClr val="1E6B52"/>
                </a:solidFill>
                <a:latin typeface="Calibri" pitchFamily="34" charset="0"/>
                <a:cs typeface="Amiri" pitchFamily="2" charset="-78"/>
              </a:rPr>
              <a:t>boy -a · girl -ī · group -ū</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Lateness: Address one female.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يَجُوزُ أَنْ تَتَأَخَّرَ.</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يَجُوزُ أَنْ تَتَأَخَّرِي.</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يَجُوزُ أَنْ تَتَأَخَّرُوا.</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female form ends in </a:t>
            </a:r>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Examination: Address the whole class.</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يَجُوزُ أَنْ تَغُشُّوا.</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يَجُوزُ أَنْ تَغُشِّي.</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يَجُوزُ أَنْ تَغُشَّ.</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group form is </a:t>
            </a:r>
            <a:pPr algn="l" indent="0" marL="0">
              <a:buNone/>
            </a:pPr>
            <a:r>
              <a:rPr lang="ar-SA" altLang="en-US" sz="1350" dirty="0">
                <a:solidFill>
                  <a:srgbClr val="8A6D1E"/>
                </a:solidFill>
                <a:latin typeface="Amiri" pitchFamily="2" charset="-78"/>
                <a:ea typeface="Amiri" pitchFamily="2" charset="-78"/>
                <a:cs typeface="Amiri" pitchFamily="2" charset="-78"/>
              </a:rPr>
              <a:t>تَغُشُّوا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Notice: Translate the sign.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Using the phone is compulsory.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Using the phone is optional.</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Using the phone is forbidden.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مَمْنُوعٌ</a:t>
            </a:r>
            <a:pPr algn="l" indent="0" marL="0">
              <a:buNone/>
            </a:pPr>
            <a:r>
              <a:rPr lang="en-US" sz="1050" i="1" dirty="0">
                <a:solidFill>
                  <a:srgbClr val="8A6D1E"/>
                </a:solidFill>
                <a:latin typeface="Calibri" pitchFamily="34" charset="0"/>
                <a:cs typeface="Amiri" pitchFamily="2" charset="-78"/>
              </a:rPr>
              <a:t> means forbidden.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Speaking: Complete the rule.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يَجُوزُ أَنْ تَرْفَعَ يَدَكَ.</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يَجِبُ أَنْ تَرْفَعَ يَدَكَ قَبْلَ الْكَلَامِ.</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يَدَكَ أَنْ الْكَلَامِ.</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correct sentence is complete and accurately ordered.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mean?</a:t>
            </a:r>
            <a:endParaRPr lang="en-US" sz="1200" dirty="0"/>
          </a:p>
        </p:txBody>
      </p:sp>
      <p:sp>
        <p:nvSpPr>
          <p:cNvPr id="79" name="Text 76"/>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لَا يَجِبُ أَنْ</a:t>
            </a:r>
            <a:endParaRPr lang="ar-SA" sz="2200" dirty="0"/>
          </a:p>
        </p:txBody>
      </p:sp>
      <p:sp>
        <p:nvSpPr>
          <p:cNvPr id="80" name="Shape 77"/>
          <p:cNvSpPr/>
          <p:nvPr/>
        </p:nvSpPr>
        <p:spPr>
          <a:xfrm>
            <a:off x="4459224" y="4831080"/>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forbidden to.</a:t>
            </a:r>
            <a:endParaRPr lang="en-US" sz="1250" dirty="0"/>
          </a:p>
        </p:txBody>
      </p:sp>
      <p:sp>
        <p:nvSpPr>
          <p:cNvPr id="83" name="Shape 80"/>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4" name="Shape 81"/>
          <p:cNvSpPr/>
          <p:nvPr/>
        </p:nvSpPr>
        <p:spPr>
          <a:xfrm>
            <a:off x="4459224" y="5202936"/>
            <a:ext cx="256032" cy="256032"/>
          </a:xfrm>
          <a:prstGeom prst="ellipse">
            <a:avLst/>
          </a:prstGeom>
          <a:solidFill>
            <a:srgbClr val="2E8B57"/>
          </a:solidFill>
          <a:ln w="12700">
            <a:solidFill>
              <a:srgbClr val="2E8B57"/>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not necessary to.</a:t>
            </a:r>
            <a:endParaRPr lang="en-US" sz="125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compulsory to.</a:t>
            </a:r>
            <a:endParaRPr lang="en-US" sz="125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لَا يَجِبُ</a:t>
            </a:r>
            <a:pPr algn="l" indent="0" marL="0">
              <a:buNone/>
            </a:pPr>
            <a:r>
              <a:rPr lang="en-US" sz="1050" i="1" dirty="0">
                <a:solidFill>
                  <a:srgbClr val="8A6D1E"/>
                </a:solidFill>
                <a:latin typeface="Calibri" pitchFamily="34" charset="0"/>
                <a:cs typeface="Amiri" pitchFamily="2" charset="-78"/>
              </a:rPr>
              <a:t> removes necessity.</a:t>
            </a:r>
            <a:endParaRPr lang="en-US" sz="1050" dirty="0"/>
          </a:p>
        </p:txBody>
      </p:sp>
      <p:sp>
        <p:nvSpPr>
          <p:cNvPr id="91" name="Shape 8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2" name="Shape 8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4" name="Text 91"/>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must = yajibu an</a:t>
            </a:r>
            <a:endParaRPr lang="en-US" sz="1250" dirty="0"/>
          </a:p>
          <a:p>
            <a:pPr algn="l" indent="0" marL="0">
              <a:buNone/>
            </a:pPr>
            <a:r>
              <a:rPr lang="en-US" sz="1250" dirty="0">
                <a:solidFill>
                  <a:srgbClr val="1E6B52"/>
                </a:solidFill>
                <a:latin typeface="Calibri" pitchFamily="34" charset="0"/>
                <a:cs typeface="Amiri" pitchFamily="2" charset="-78"/>
              </a:rPr>
              <a:t>must not = lā yajūzu an</a:t>
            </a:r>
            <a:endParaRPr lang="en-US" sz="1250" dirty="0"/>
          </a:p>
          <a:p>
            <a:pPr algn="l" indent="0" marL="0">
              <a:buNone/>
            </a:pPr>
            <a:r>
              <a:rPr lang="en-US" sz="1250" dirty="0">
                <a:solidFill>
                  <a:srgbClr val="1E6B52"/>
                </a:solidFill>
                <a:latin typeface="Calibri" pitchFamily="34" charset="0"/>
                <a:cs typeface="Amiri" pitchFamily="2" charset="-78"/>
              </a:rPr>
              <a:t>boy -a · girl -ī · group -ū</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لَا يَجِبُ أَنْ تَغُشَّ فِي الاِمْتِحَانِ.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Not necessary or must not?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يَا مَرْيَمُ، يَجِبُ أَنْ تَكْتُبَ.</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To a girl: which ending?</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تَحْتَرِمُوا الْمُعَلِّمِينَ.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missing after yajibu?</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لَا يَجِبُ أَنْ تَغُشَّ فِي الاِمْتِحَانِ.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لَا يَجُوزُ أَنْ تَغُشَّ فِي الاِمْتِحَانِ.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Lā yajibu = not necessary; must not = lā yajūzu.</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يَا مَرْيَمُ، يَجِبُ أَنْ تَكْتُبَ.</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يَا مَرْيَمُ، يَجِبُ أَنْ تَكْتُبِي.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female: the verb ends in -ī.</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تَحْتَرِمُوا الْمُعَلِّمِينَ.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أَنْ تَحْتَرِمُوا الْمُعَلِّمِينَ.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Both structures need an before the verb.</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school announcement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students wear?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 uniform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sports clothes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coat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students not bring to classrooms?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rulers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mobile phones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must students not run?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playground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sports hall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corridors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respect required?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respect is important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the lesson is short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the uniform is new</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students do before speaking?</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open their books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raise their hands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leave the room</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Two columns: MUST · MUST NOT.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إِعْلَانٌ إِلَى جَمِيعِ الطُّلَّابِ. فِي مَدْرَسَتِنَا، يَجِبُ أَنْ تَلْبَسُوا اللِّبَاسَ الْمَدْرَسِيَّ، وَأَنْ تَحْضُرُوا فِي الْوَقْتِ الْمُحَدَّدِ.</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announcement to all students. In our school you must wear the school uniform and arrive at the set time.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لَا يَجُوزُ أَنْ تُحْضِرُوا الْهَوَاتِفَ الْمَحْمُولَةَ إِلَى الْفُصُولِ، وَلَا يَجُوزُ أَنْ تَرْكُضُوا فِي الْمَمَرَّاتِ.</a:t>
            </a:r>
            <a:endParaRPr lang="ar-SA" sz="17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 must not bring mobile phones to the classrooms, and you must not run in the corridors.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يَجِبُ أَنْ تَحْتَرِمُوا الْمُعَلِّمِينَ وَزُمَلَاءَكُمْ لِأَنَّ الاِحْتِرَامَ مُهِمٌّ.</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 must respect the teachers and your classmates because respect is important.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فِي الاِمْتِحَانَاتِ، لَا يَجُوزُ أَنْ تَغُشُّوا. وَقَبْلَ الْكَلَامِ فِي الْفَصْلِ، يَجِبُ أَنْ تَرْفَعُوا أَيْدِيَكُمْ.</a:t>
            </a:r>
            <a:endParaRPr lang="ar-SA" sz="17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exams you must not cheat. And before speaking in class, you must raise your hands.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شُكْرًا لِتَعَاوُنِكُمْ.</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Thank you for your cooperation.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students wear?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school uniform</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sports clothes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coat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announcement requires </a:t>
            </a:r>
            <a:pPr algn="l" indent="0" marL="0">
              <a:buNone/>
            </a:pPr>
            <a:r>
              <a:rPr lang="ar-SA" altLang="en-US" sz="1350" dirty="0">
                <a:solidFill>
                  <a:srgbClr val="8A6D1E"/>
                </a:solidFill>
                <a:latin typeface="Amiri" pitchFamily="2" charset="-78"/>
                <a:ea typeface="Amiri" pitchFamily="2" charset="-78"/>
                <a:cs typeface="Amiri" pitchFamily="2" charset="-78"/>
              </a:rPr>
              <a:t>اللِّبَاسَ الْمَدْرَسِيَّ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students not bring to classrooms?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books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rulers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mobile phones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prohibited item is </a:t>
            </a:r>
            <a:pPr algn="l" indent="0" marL="0">
              <a:buNone/>
            </a:pPr>
            <a:r>
              <a:rPr lang="ar-SA" altLang="en-US" sz="1350" dirty="0">
                <a:solidFill>
                  <a:srgbClr val="8A6D1E"/>
                </a:solidFill>
                <a:latin typeface="Amiri" pitchFamily="2" charset="-78"/>
                <a:ea typeface="Amiri" pitchFamily="2" charset="-78"/>
                <a:cs typeface="Amiri" pitchFamily="2" charset="-78"/>
              </a:rPr>
              <a:t>الْهَوَاتِفَ الْمَحْمُولَةَ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must students not run?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playground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sports hall</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corridors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announcement says </a:t>
            </a:r>
            <a:pPr algn="l" indent="0" marL="0">
              <a:buNone/>
            </a:pPr>
            <a:r>
              <a:rPr lang="ar-SA" altLang="en-US" sz="1350" dirty="0">
                <a:solidFill>
                  <a:srgbClr val="8A6D1E"/>
                </a:solidFill>
                <a:latin typeface="Amiri" pitchFamily="2" charset="-78"/>
                <a:ea typeface="Amiri" pitchFamily="2" charset="-78"/>
                <a:cs typeface="Amiri" pitchFamily="2" charset="-78"/>
              </a:rPr>
              <a:t>فِي الْمَمَرَّاتِ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respect required?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because respect is important</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because the lesson is short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because the uniform is new</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exact reason is </a:t>
            </a:r>
            <a:pPr algn="l" indent="0" marL="0">
              <a:buNone/>
            </a:pPr>
            <a:r>
              <a:rPr lang="ar-SA" altLang="en-US" sz="1350" dirty="0">
                <a:solidFill>
                  <a:srgbClr val="8A6D1E"/>
                </a:solidFill>
                <a:latin typeface="Amiri" pitchFamily="2" charset="-78"/>
                <a:ea typeface="Amiri" pitchFamily="2" charset="-78"/>
                <a:cs typeface="Amiri" pitchFamily="2" charset="-78"/>
              </a:rPr>
              <a:t>لِأَنَّ الاِحْتِرَامَ مُهِمٌّ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students do before speaking?</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open their books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raise their hands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leave the room</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They must raise their hands before speaking.</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Two columns: MUST · MUST NOT.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TEXT A · SCHOOL NOTICE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Al-Nour School rules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قَوَاعِدُ مَدْرَسَةِ النُّورِ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يَجِبُ أَنْ يَحْضُرَ الطُّلَّابُ قَبْلَ السَّاعَةِ الثَّامِنَةِ.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Students must arrive before 8:00</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يَجِبُ أَنْ يَلْبَسُوا اللِّبَاسَ الْمَدْرَسِيَّ.</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must wear the uniform</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يَجُوزُ أَنْ يَسْتَخْدِمُوا الْهَوَاتِفَ فِي الْفُصُولِ.</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phones in classrooms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يَجُوزُ أَنْ يَرْكُضُوا فِي الْمَمَرَّاتِ.</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running in corridors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يَجِبُ أَنْ يَحْتَرِمُوا الْجَمِيعَ.</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must respect everyone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READING · TEXT B · SALMA’S VIEW (WEBSITE)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Are the rules fair?</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رَأْيُ سَلْمَى</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رَأْيِي، مُعْظَمُ قَوَاعِدِ مَدْرَسَتِي عَادِلَةٌ.</a:t>
            </a:r>
            <a:endParaRPr lang="ar-SA" sz="20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Most rules are fair</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مَنْعُ التَّنَمُّرِ ضَرُورِيٌّ لِأَنَّ كُلَّ طَالِبٍ يَحْتَاجُ إِلَى الأَمَانِ.</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bullying: necessary — everyone needs safety</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وَأُوَافِقُ عَلَى قَاعِدَةِ الْهَاتِفِ لِأَنَّ الدَّرْسَ يَحْتَاجُ إِلَى التَّرْكِيزِ.</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Agrees with the phone rule — lessons need focus</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وَلَكِنِّي لَا أَرَى أَنَّ اللِّبَاسَ الْمَدْرَسِيَّ ضَرُورِيٌّ دَائِمًا.</a:t>
            </a:r>
            <a:endParaRPr lang="ar-SA" sz="200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uniform is not always necessary</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أُفَضِّلُ أَنْ يَكُونَ اللِّبَاسُ مُرِيحًا وَمُنَاسِبًا.</a:t>
            </a:r>
            <a:endParaRPr lang="ar-SA" sz="20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Prefers comfortable, suitable clothing</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Notice or opinion?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purpose of Text 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instruct students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describe a holiday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advertise a shop</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By what time must students arrive?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nine o’clock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eight o’clock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eight o’clock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anti-bullying rule necessary?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student needs safety.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Students need more homework.</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timetable is difficult.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rule does Salma question?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anti-bullying rule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phone rule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uniform rule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text contains a personal opinion?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A</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B</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are only instructions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PURPOSE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Text A instructs.</a:t>
            </a:r>
            <a:endParaRPr lang="en-US" sz="1250" dirty="0"/>
          </a:p>
          <a:p>
            <a:pPr algn="l" indent="0" marL="0">
              <a:buNone/>
            </a:pPr>
            <a:r>
              <a:rPr lang="en-US" sz="1250" dirty="0">
                <a:solidFill>
                  <a:srgbClr val="1F2A37"/>
                </a:solidFill>
                <a:latin typeface="Calibri" pitchFamily="34" charset="0"/>
                <a:cs typeface="Amiri" pitchFamily="2" charset="-78"/>
              </a:rPr>
              <a:t>Text B evaluates.</a:t>
            </a:r>
            <a:endParaRPr lang="en-US" sz="1250" dirty="0"/>
          </a:p>
          <a:p>
            <a:pPr algn="l" indent="0" marL="0">
              <a:buNone/>
            </a:pPr>
            <a:r>
              <a:rPr lang="en-US" sz="1250" dirty="0">
                <a:solidFill>
                  <a:srgbClr val="1F2A37"/>
                </a:solidFill>
                <a:latin typeface="Calibri" pitchFamily="34" charset="0"/>
                <a:cs typeface="Amiri" pitchFamily="2" charset="-78"/>
              </a:rPr>
              <a:t>Find the exact evidence.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purpose of Text A?</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instruct students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describe a holiday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advertise a shop</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Text A is a school-rules notice.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By what time must students arrive?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before nine o’clock</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before eight o’clock</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eight o’clock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a:t>
            </a:r>
            <a:pPr algn="l" indent="0" marL="0">
              <a:buNone/>
            </a:pPr>
            <a:r>
              <a:rPr lang="ar-SA" altLang="en-US" sz="1350" dirty="0">
                <a:solidFill>
                  <a:srgbClr val="8A6D1E"/>
                </a:solidFill>
                <a:latin typeface="Amiri" pitchFamily="2" charset="-78"/>
                <a:ea typeface="Amiri" pitchFamily="2" charset="-78"/>
                <a:cs typeface="Amiri" pitchFamily="2" charset="-78"/>
              </a:rPr>
              <a:t>قَبْلَ السَّاعَةِ الثَّامِنَةِ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anti-bullying rule necessary?</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Every student needs safety.</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Students need more homework.</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timetable is difficult.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Salma links the rule to safety.</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rule does Salma question?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anti-bullying rule</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phone rule</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uniform rule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does not see uniform as always necessary.</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text contains a personal opinion?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Text A</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Text B</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are only instructions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Text B uses </a:t>
            </a:r>
            <a:pPr algn="l" indent="0" marL="0">
              <a:buNone/>
            </a:pPr>
            <a:r>
              <a:rPr lang="ar-SA" altLang="en-US" sz="1350" dirty="0">
                <a:solidFill>
                  <a:srgbClr val="8A6D1E"/>
                </a:solidFill>
                <a:latin typeface="Amiri" pitchFamily="2" charset="-78"/>
                <a:ea typeface="Amiri" pitchFamily="2" charset="-78"/>
                <a:cs typeface="Amiri" pitchFamily="2" charset="-78"/>
              </a:rPr>
              <a:t>فِي رَأْيِي</a:t>
            </a:r>
            <a:pPr algn="l" indent="0" marL="0">
              <a:buNone/>
            </a:pPr>
            <a:r>
              <a:rPr lang="en-US" sz="1050" i="1" dirty="0">
                <a:solidFill>
                  <a:srgbClr val="8A6D1E"/>
                </a:solidFill>
                <a:latin typeface="Calibri" pitchFamily="34" charset="0"/>
                <a:cs typeface="Amiri" pitchFamily="2" charset="-78"/>
              </a:rPr>
              <a:t> and evaluates rules.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PURPOSE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Text A instructs.</a:t>
            </a:r>
            <a:endParaRPr lang="en-US" sz="1250" dirty="0"/>
          </a:p>
          <a:p>
            <a:pPr algn="l" indent="0" marL="0">
              <a:buNone/>
            </a:pPr>
            <a:r>
              <a:rPr lang="en-US" sz="1250" dirty="0">
                <a:solidFill>
                  <a:srgbClr val="1F2A37"/>
                </a:solidFill>
                <a:latin typeface="Calibri" pitchFamily="34" charset="0"/>
                <a:cs typeface="Amiri" pitchFamily="2" charset="-78"/>
              </a:rPr>
              <a:t>Text B evaluates.</a:t>
            </a:r>
            <a:endParaRPr lang="en-US" sz="1250" dirty="0"/>
          </a:p>
          <a:p>
            <a:pPr algn="l" indent="0" marL="0">
              <a:buNone/>
            </a:pPr>
            <a:r>
              <a:rPr lang="en-US" sz="1250" dirty="0">
                <a:solidFill>
                  <a:srgbClr val="1F2A37"/>
                </a:solidFill>
                <a:latin typeface="Calibri" pitchFamily="34" charset="0"/>
                <a:cs typeface="Amiri" pitchFamily="2" charset="-78"/>
              </a:rPr>
              <a:t>Find the exact evidence.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Lead a school-rules conversation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قُلْ قَاعِدَتَيْنِ لِطَالِبٍ جَدِيدٍ.</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قُولِي ثَلَاثَ قَوَاعِدَ لِطَالِبَةٍ جَدِيدَةٍ.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أَنْتَ الْمُدِيرُ: قُلْ قَاعِدَتَيْنِ لِكُلِّ الطُّلَّابِ.</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قَاعِدَةٌ عَادِلَةٌ؟ وَمَا قَاعِدَةٌ تُرِيدُ أَنْ تُغَيِّرَهَا؟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يَجِبُ أَنْ ___ . لَا يَجُوزُ أَنْ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يَجِبُ أَنْ تَسْتَمِعِي … · لَا يَجُوزُ أَنْ تَتَأَخَّرِي …</a:t>
            </a:r>
            <a:endParaRPr lang="ar-SA" sz="14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يَجِبُ أَنْ ___ ـُوا … لِأَنَّ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هَذِهِ الْقَاعِدَةُ عَادِلَةٌ لِأَنَّ … ، وَلَكِنَّ ___ .</a:t>
            </a:r>
            <a:endParaRPr lang="ar-SA" sz="145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أَهَمُّ قَاعِدَةٍ فِي مَدْرَسَتِكَ؟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the most important rule in your school?</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لَا يَجُوزُ أَنْ نَتَنَمَّرَ عَلَى الْآخَرِينَ لِأَنَّ كُلَّ طَالِبٍ يَحْتَاجُ إِلَى الأَمَانِ.</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We must not bully others because every student needs safety.</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rules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Four rules: two yajibu an and two lā yajūzu an.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yajibu an and two lā yajūzu an rules for one male listener.</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rules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All eight rules and three reasons.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All eight rules and three reasons.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rules + opinion</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Vary the audience forms and evaluate one rule with wa-lākin.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Vary the audience forms and evaluate one rule with wa-lākin.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تَسْتَمِعِي إِلَى الْمُعَلِّمِ.</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(f.) must listen to the teacher.</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يَجُوزُ أَنْ تَغُشُّوا.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(all) must not cheat.</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لِأَنَّ الاِحْتِرَامَ مُهِمٌّ.</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because respect is important.</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الْقَاعِدَةُ عَادِلَةٌ لِأَنَّهَا تَحْمِي الطُّلَّابَ.</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rule is fair because it protects students.</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يَجِبُ أَنْ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not necessary to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تَلْبَسَ اللِّبَاسَ الْمَدْرَسِيَّ.</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must wear the school uniform.</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تُكْمِلَ الْوَاجِبَ الْمَنْزِلِيَّ.</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must complete the homework.</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يَجُوزُ أَنْ تَتَأَخَّرَ عَنِ الدَّرْسِ.</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must not be late for the lesson.</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يَجُوزُ أَنْ تَرْكُضَ فِي الْمَمَرَّاتِ.</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must not run in the corridors.</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اِسْتِعْمَالُ الْهَاتِفِ مَمْنُوعٌ.</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Using the phone is forbidden.</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يَجِبُ أَنْ  ·  لَا يَجُوزُ أَنْ  ·  قَاعِدَةٌ  ·  الاِحْتِرَامُ  ·  الْوَاجِبُ  ·  اللِّبَاسُ الْمَدْرَسِيُّ  ·  مَمْنُوعٌ  ·  مَسْمُوحٌ  ·  عَادِلَةٌ  ·  ضَرُورِيَّةٌ  ·  لِأَنَّ  ·  وَلَكِنْ</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قَوَاعِدُ مَدْرَسَتِنَا: يَجِبُ أَنْ تَلْبَسُوا اللِّبَاسَ الْمَدْرَسِيَّ، وَيَجِبُ أَنْ تَحْضُرُوا فِي الْوَقْتِ الْمُحَدَّدِ. لَا يَجُوزُ أَنْ تُحْضِرُوا الْهَوَاتِفَ الْمَحْمُولَةَ إِلَى الْفُصُولِ، وَلَا يَجُوزُ أَنْ تَرْكُضُوا فِي الْمَمَرَّاتِ. يَجِبُ أَنْ تَحْتَرِمُوا الْمُعَلِّمِينَ لِأَنَّ الاِحْتِرَامَ مُهِمٌّ. لَا يَجُوزُ أَنْ تَغُشُّوا فِي الاِمْتِحَانِ لِأَنَّ الْغِشَّ غَيْرُ عَادِلٍ. فِي رَأْيِي، هَذِهِ الْقَوَاعِدُ عَادِلَةٌ.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Our school rules: you must wear the school uniform and arrive at the set time. You must not bring mobile phones to classrooms, and you must not run in the corridors. You must respect the teachers because respect is important. You must not cheat in the exam because cheating is unfair. In my opinion these rules are fair.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must (group)</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must not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reasons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opinion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must and must-not rules.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did not confuse lā yajibu with lā yajūzu.</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verbs match the audience (-a / -ī / -ū).</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three reasons.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judged one rule respectfully.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meaning of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لَا يَجِبُ أَنْ.</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not necessary to</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forbidden to</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compulsory to</a:t>
            </a:r>
            <a:endParaRPr lang="en-US" sz="1250" dirty="0"/>
          </a:p>
        </p:txBody>
      </p:sp>
      <p:sp>
        <p:nvSpPr>
          <p:cNvPr id="29" name="Shape 26"/>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Address one female: “You must listen.”</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تَسْتَمِعَ.</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تَسْتَمِعِي.</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تَسْتَمِعُوا.</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Address a group: “You must not cheat.”</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يَجُوزُ أَنْ تَغُشُّوا.</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يَجُوزُ أَنْ تَغُشِّي.</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يَجُوزُ أَنْ تَغُشَّ.</a:t>
            </a:r>
            <a:endParaRPr lang="ar-SA" sz="20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meaning of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لَا يَجِبُ أَنْ.</a:t>
            </a:r>
            <a:endParaRPr lang="ar-SA" sz="2200" dirty="0"/>
          </a:p>
        </p:txBody>
      </p:sp>
      <p:sp>
        <p:nvSpPr>
          <p:cNvPr id="20" name="Shape 17"/>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not necessary to</a:t>
            </a:r>
            <a:endParaRPr lang="en-US" sz="12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forbidden to</a:t>
            </a:r>
            <a:endParaRPr lang="en-US" sz="1250" dirty="0"/>
          </a:p>
        </p:txBody>
      </p:sp>
      <p:sp>
        <p:nvSpPr>
          <p:cNvPr id="27" name="Shape 24"/>
          <p:cNvSpPr/>
          <p:nvPr/>
        </p:nvSpPr>
        <p:spPr>
          <a:xfrm>
            <a:off x="640080" y="344728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compulsory to</a:t>
            </a:r>
            <a:endParaRPr lang="en-US" sz="1250" dirty="0"/>
          </a:p>
        </p:txBody>
      </p:sp>
      <p:sp>
        <p:nvSpPr>
          <p:cNvPr id="30" name="Text 27"/>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removes necessity; it does not prohibit.</a:t>
            </a:r>
            <a:endParaRPr lang="en-US" sz="1050" dirty="0"/>
          </a:p>
        </p:txBody>
      </p:sp>
      <p:sp>
        <p:nvSpPr>
          <p:cNvPr id="31" name="Shape 28"/>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Address one female: “You must listen.”</a:t>
            </a:r>
            <a:endParaRPr lang="en-US" sz="125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يَجِبُ أَنْ تَسْتَمِعَ.</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يَجِبُ أَنْ تَسْتَمِعِي.</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يَجِبُ أَنْ تَسْتَمِعُوا.</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female form ends in </a:t>
            </a:r>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Address a group: “You must not cheat.”</a:t>
            </a:r>
            <a:endParaRPr lang="en-US" sz="125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لَا يَجُوزُ أَنْ تَغُشُّوا.</a:t>
            </a:r>
            <a:endParaRPr lang="ar-SA" sz="20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لَا يَجُوزُ أَنْ تَغُشِّي.</a:t>
            </a:r>
            <a:endParaRPr lang="ar-SA" sz="20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لَا يَجُوزُ أَنْ تَغُشَّ.</a:t>
            </a:r>
            <a:endParaRPr lang="ar-SA" sz="20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group form is </a:t>
            </a:r>
            <a:pPr algn="l" indent="0" marL="0">
              <a:buNone/>
            </a:pPr>
            <a:r>
              <a:rPr lang="ar-SA" altLang="en-US" sz="1350" dirty="0">
                <a:solidFill>
                  <a:srgbClr val="8A6D1E"/>
                </a:solidFill>
                <a:latin typeface="Amiri" pitchFamily="2" charset="-78"/>
                <a:ea typeface="Amiri" pitchFamily="2" charset="-78"/>
                <a:cs typeface="Amiri" pitchFamily="2" charset="-78"/>
              </a:rPr>
              <a:t>تَغُشُّوا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School Rules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F4-L07: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F4-L07 · A Typical School Day — Narrating a Sequence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أَسْتَيْقِظُ</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wake up</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أَذْهَبُ إِلَى الْمَدْرَسَةِ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go to school</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أَصِلُ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arrive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أَعُودُ إِلَى الْبَيْتِ</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return home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أَوَّلًا · ثُمَّ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first · then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time do you wake up on a school day?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مَتَى تَسْتَيْقِظُ؟</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F4-L06: the School Rules Mission (14)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rule builder: four rules, one changed audience form, two reasons.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titled eight-rule rulebook with three reasons and one balanced opinion.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F4-L07 · A Typical School Day — Narrating a Sequence</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يَوْمٌ مَدْرَسِيٌّ عَادِيٌّ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must = yajibu an · must not = lā yajūzu an · not necessary = lā yajibu an.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F4-L06 · School Rules and Obligations — Must and Must Not</dc:title>
  <dc:subject>PptxGenJS Presentation</dc:subject>
  <dc:creator>Al Madina Online School · Arabic Department</dc:creator>
  <cp:lastModifiedBy>Al Madina Online School · Arabic Department</cp:lastModifiedBy>
  <cp:revision>1</cp:revision>
  <dcterms:created xsi:type="dcterms:W3CDTF">2026-10-11T06:41:39Z</dcterms:created>
  <dcterms:modified xsi:type="dcterms:W3CDTF">2026-10-11T06:41:39Z</dcterms:modified>
</cp:coreProperties>
</file>