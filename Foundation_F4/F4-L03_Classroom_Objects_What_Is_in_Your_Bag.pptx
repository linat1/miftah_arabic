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3 (F4-L03). Website sections used: the eight-question F4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Questions 3–5 are the website “F4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(F4-L04 · Likes, Dislikes and Preferences) will spend class time USING this language, so students prepare it tonight — short, simple, easy to access (school guidance: “Simple, Short, Interesting, Relevant, Easy to access”). The five words and phrases come from the website F4-L04 preference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Classroom Objects — What Is in Your Bag?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أَدَوَاتُ الفَصْلِ — مَاذَا فِي حَقِيبَتِكَ؟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everyday classroom objects, choose hādhā or hādhihi by gender, say what you have and do not have, and locate objects precisely in a bag or on a desk.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F4-L03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قَلَمٌ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‎قلم‎ </a:t>
            </a:r>
            <a:pPr indent="0" marL="0">
              <a:buNone/>
            </a:pPr>
            <a:r>
              <a:rPr lang="en-US" sz="950" b="1" dirty="0">
                <a:solidFill>
                  <a:srgbClr val="2E8B57"/>
                </a:solidFill>
                <a:latin typeface="Calibri" pitchFamily="34" charset="0"/>
                <a:ea typeface="Calibri" pitchFamily="34" charset="-122"/>
                <a:cs typeface="Calibri" pitchFamily="34" charset="-120"/>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‎دفتر‎ </a:t>
            </a:r>
            <a:pPr indent="0" marL="0">
              <a:buNone/>
            </a:pPr>
            <a:r>
              <a:rPr lang="en-US" sz="950" b="1" dirty="0">
                <a:solidFill>
                  <a:srgbClr val="2E8B57"/>
                </a:solidFill>
                <a:latin typeface="Calibri" pitchFamily="34" charset="0"/>
                <a:ea typeface="Calibri" pitchFamily="34" charset="-122"/>
                <a:cs typeface="Calibri" pitchFamily="34" charset="-120"/>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‎قاموس‎ </a:t>
            </a:r>
            <a:pPr indent="0" marL="0">
              <a:buNone/>
            </a:pPr>
            <a:r>
              <a:rPr lang="en-US" sz="950" b="1" dirty="0">
                <a:solidFill>
                  <a:srgbClr val="2E8B57"/>
                </a:solidFill>
                <a:latin typeface="Calibri" pitchFamily="34" charset="0"/>
                <a:ea typeface="Calibri" pitchFamily="34" charset="-122"/>
                <a:cs typeface="Calibri" pitchFamily="34" charset="-120"/>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notebook / exercise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dictionary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desk (also: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ruler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pencil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eraser / rubber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board / interactive board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 / backpack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calculator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 </a:t>
            </a:r>
            <a:pPr algn="l" indent="0" marL="0">
              <a:buNone/>
            </a:pPr>
            <a:r>
              <a:rPr lang="ar-SA" altLang="en-US" sz="1450" dirty="0">
                <a:solidFill>
                  <a:srgbClr val="1F2A37"/>
                </a:solidFill>
                <a:latin typeface="Amiri" pitchFamily="34" charset="0"/>
                <a:ea typeface="Amiri" pitchFamily="34" charset="-122"/>
                <a:cs typeface="Amiri" pitchFamily="34" charset="-120"/>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مِسْطَرَةٌ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قَامُوسٌ</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34" charset="0"/>
                <a:ea typeface="Amiri" pitchFamily="34" charset="-122"/>
                <a:cs typeface="Amiri" pitchFamily="34" charset="-120"/>
              </a:rPr>
              <a:t>هَذِهِ</a:t>
            </a:r>
            <a:pPr rtl="1" algn="r" indent="0" marL="0">
              <a:buNone/>
            </a:pPr>
            <a:r>
              <a:rPr lang="ar-SA" altLang="en-US" sz="1700" b="1" dirty="0">
                <a:solidFill>
                  <a:srgbClr val="1B3B6F"/>
                </a:solidFill>
                <a:latin typeface="Amiri" pitchFamily="34" charset="0"/>
                <a:ea typeface="Amiri" pitchFamily="34" charset="-122"/>
                <a:cs typeface="Amiri" pitchFamily="34" charset="-120"/>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34" charset="0"/>
                <a:ea typeface="Amiri" pitchFamily="34" charset="-122"/>
                <a:cs typeface="Amiri" pitchFamily="34" charset="-120"/>
              </a:rPr>
              <a:t>هَذَا</a:t>
            </a:r>
            <a:pPr rtl="1" algn="r" indent="0" marL="0">
              <a:buNone/>
            </a:pPr>
            <a:r>
              <a:rPr lang="ar-SA" altLang="en-US" sz="1700" b="1" dirty="0">
                <a:solidFill>
                  <a:srgbClr val="1B3B6F"/>
                </a:solidFill>
                <a:latin typeface="Amiri" pitchFamily="34" charset="0"/>
                <a:ea typeface="Amiri" pitchFamily="34" charset="-122"/>
                <a:cs typeface="Amiri" pitchFamily="34" charset="-120"/>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مِمْحَاةٌ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ending is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دَاخِلَ</a:t>
            </a:r>
            <a:pPr algn="l" indent="0" marL="0">
              <a:buNone/>
            </a:pPr>
            <a:r>
              <a:rPr lang="en-US" sz="1050" i="1" dirty="0">
                <a:solidFill>
                  <a:srgbClr val="8A6D1E"/>
                </a:solidFill>
                <a:latin typeface="Calibri" pitchFamily="34" charset="0"/>
                <a:ea typeface="Calibri" pitchFamily="34" charset="-122"/>
                <a:cs typeface="Calibri" pitchFamily="34" charset="-120"/>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Ruler is feminine (</a:t>
            </a:r>
            <a:pPr algn="l" indent="0" marL="0">
              <a:buNone/>
            </a:pPr>
            <a:r>
              <a:rPr lang="ar-SA" altLang="en-US" sz="1500" b="1" dirty="0">
                <a:solidFill>
                  <a:srgbClr val="1B3B6F"/>
                </a:solidFill>
                <a:latin typeface="Amiri" pitchFamily="34" charset="0"/>
                <a:ea typeface="Amiri" pitchFamily="34" charset="-122"/>
                <a:cs typeface="Amiri" pitchFamily="34" charset="-120"/>
              </a:rPr>
              <a:t>ـة</a:t>
            </a:r>
            <a:pPr algn="l" indent="0" marL="0">
              <a:buNone/>
            </a:pPr>
            <a:r>
              <a:rPr lang="en-US" sz="1150" b="1" dirty="0">
                <a:solidFill>
                  <a:srgbClr val="1B3B6F"/>
                </a:solidFill>
                <a:latin typeface="Calibri" pitchFamily="34" charset="0"/>
                <a:ea typeface="Calibri" pitchFamily="34" charset="-122"/>
                <a:cs typeface="Calibri" pitchFamily="34" charset="-120"/>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دَفْتَرَانِ</a:t>
            </a:r>
            <a:pPr algn="l" indent="0" marL="0">
              <a:buNone/>
            </a:pPr>
            <a:r>
              <a:rPr lang="en-US" sz="1050" i="1" dirty="0">
                <a:solidFill>
                  <a:srgbClr val="8A6D1E"/>
                </a:solidFill>
                <a:latin typeface="Calibri" pitchFamily="34" charset="0"/>
                <a:ea typeface="Calibri" pitchFamily="34" charset="-122"/>
                <a:cs typeface="Calibri" pitchFamily="34" charset="-120"/>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describes it as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has </a:t>
            </a:r>
            <a:pPr algn="l" indent="0" marL="0">
              <a:buNone/>
            </a:pPr>
            <a:r>
              <a:rPr lang="ar-SA" altLang="en-US" sz="1350" dirty="0">
                <a:solidFill>
                  <a:srgbClr val="8A6D1E"/>
                </a:solidFill>
                <a:latin typeface="Amiri" pitchFamily="34" charset="0"/>
                <a:ea typeface="Amiri" pitchFamily="34" charset="-122"/>
                <a:cs typeface="Amiri" pitchFamily="34" charset="-120"/>
              </a:rPr>
              <a:t>آلَةٌ حَاسِبَةٌ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لَيْسَ عِنْدِي غِرَاءٌ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about classroom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حَقِيبَتِكَ؟ / 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قَامُوسٌ؟ / هَلْ عِنْدَكِ قَامُوسٌ؟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عَلَى مَكْتَبِكَ؟ وَمَاذَا تَحْتَ الكُرْسِيِّ؟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أَدَاةٍ فِي حَقِيبَتِكَ؟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حَقِيبَتِي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عِنْدِي ___ . / لَا، لَيْسَ عِنْدِي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مَكْتَبِي ___ ، وَتَحْتَ الكُرْسِيِّ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أَهَمُّ أَدَاةٍ ___ لِأَنَّهُ / لِأَنَّهَا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عِنْدَكِ مِسْطَرَةٌ؟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have a ruler?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عِنْدِي مِسْطَرَةٌ. هَلْ عِنْدَكِ غِرَاءٌ؟ — لَا، لَيْسَ عِنْدِي غِرَاءٌ.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have a ruler. Do you have glue? — No, I don’t have glue.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طَابِعَةٌ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F4-L04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كَثِيرًا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little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my opinion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 عَلَى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prefer … to …</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تُحِبُّ؟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 you like?</a:t>
            </a:r>
            <a:pPr indent="0" marL="0">
              <a:buNone/>
            </a:pPr>
            <a:r>
              <a:rPr lang="en-US" sz="1000" i="1" dirty="0">
                <a:solidFill>
                  <a:srgbClr val="5A6472"/>
                </a:solidFill>
                <a:latin typeface="Calibri" pitchFamily="34" charset="0"/>
                <a:ea typeface="Calibri" pitchFamily="34" charset="-122"/>
                <a:cs typeface="Calibri" pitchFamily="34" charset="-120"/>
              </a:rPr>
              <a:t>  f. تُحِبِّينَ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school subject do you like a lot?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أُحِبُّ … كَثِيرًا.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F4-L03: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ea typeface="Cambria" pitchFamily="34" charset="-122"/>
                <a:cs typeface="Cambria" pitchFamily="34" charset="-120"/>
              </a:rPr>
              <a:t>F4-L04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 أُحِبُّ وَمَا لَا أُحِبُّ وَمَا أُفَضِّلُ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 → hādhā · f. → hādhihi · I have ‘indī · I don’t have laysa ‘indī.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F4-L03 · Classroom Objects — What Is in Your Bag?</dc:title>
  <dc:subject>PptxGenJS Presentation</dc:subject>
  <dc:creator>Al Madina Online School · Arabic Department</dc:creator>
  <cp:lastModifiedBy>Al Madina Online School · Arabic Department</cp:lastModifiedBy>
  <cp:revision>1</cp:revision>
  <dcterms:created xsi:type="dcterms:W3CDTF">2026-09-27T19:33:27Z</dcterms:created>
  <dcterms:modified xsi:type="dcterms:W3CDTF">2026-09-27T19:33:27Z</dcterms:modified>
</cp:coreProperties>
</file>