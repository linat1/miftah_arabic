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F4 My School › Lesson 3 (F4-L03). Website sections used: the eight-question F4 retrieval bridge, the classroom-object vault (12 official items with gender and plurals + wider practical bank; مَكْتَبٌ = desk or office) and the 16-question check, هَذَا / هَذِهِ (14), possession عِنْدِي / عِنْدَكَ / عِنْدَكِ / عِنْدَهُ / عِنْدَهَا and لَيْسَ عِنْدِي (12), location and counting (12), the school-bag inventory, Pack the Bag Mission (14), Layla’s bag (listening, 10), Omar and Huda (reading, 12), speaking (4 prompts), the 7–9-sentence description and the 16-question checkpoint. Picture match: website visual game.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10 objects + هَذَا / هَذِهِ + عِنْدِي / لَيْسَ عِنْدِي + فِي حَقِيبَتِي. Develop: asking a boy or a girl (عِنْدَكَ / عِنْدَكِ), plurals and two locations. Stretch: counting (dual and 3–10, website optional extension) and comparing two bags.
• Website route: recognise → choose → locate → communicate. Learn every noun WITH its model sentence (the ـة ending is a strong clue, not a rule).
• Real or invented bags are equally acceptable (website) — some students may not have every item.
• Urdu bridge: کتاب، قلم، دفتر، کرسی، قاموس are shared words; مکتب (Urdu school) = Arabic desk / office.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objects prepared at home at the end of F4-L02. Questions 3–5 are the website “F4 retrieval bridge” (feminine demonstrative, I have, on).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This / this (f.) follows the Arabic gender of the OBJECT, not the speaker: hādhā qalamun · hādhihi misṭaratun.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I can…” (left) and the website writing Core / Develop / Stretch routes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کتاب، قلم، قاموس and کرسی are the same words. FALSE FRIENDS: Urdu دفتر = office (Arabic دَفْتَرٌ = exercise book); Urdu مکتب = school (Arabic مَكْتَبٌ = desk or office).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OFFICIAL CLASSROOM BANK (website, masculine items). Also: غِرَاءٌ (glue, m.), وَرَقٌ / أَوْرَاقٌ (paper / sheets; وَرَقَةٌ = one sheet). Website distinction: مَكْتَبٌ can mean a desk or an office — عَلَى مَكْتَبِي كِتَابٌ = there is a book on my desk.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FEMININE ITEMS (website). Wider practical bank (website): قَلَمُ رَصَاصٍ (pencil), قَلَمُ حِبْرٍ (ink pen), مِبْرَاةٌ (sharpener), مَقَصٌّ (scissors), حَاسُوبٌ مَحْمُولٌ (laptop), جِهَازٌ لَوْحِيٌّ (tablet), شَاشَةٌ (screen), لَوْحَةُ مَفَاتِيحَ (keyboard), فَأْرَةُ الحَاسُوبِ (mouse), طَابِعَةٌ (printer), مَلَفٌّ (folder), كُرْسِيٌّ (chair), طَاوِلَةٌ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sections 3 “Choose هَذَا or هَذِهِ” and 4 “Say what you have”.
Website: “Do not guess from English — Arabic noun gender controls the choice. The ending ـة is a strong feminine clue, but always learn the word with its model sentence.”
Adjectives agree too (website): هَذِهِ مِقْلَمَةٌ زَرْقَاءُ · هَذَا كِتَابٌ جَدِيدٌ.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section 5 “Say where each object is”. Website location bank: فِي حَقِيبَتِي · عَلَى مَكْتَبِي · تَحْتَ الكُرْسِيِّ · بِجَانِبِ الحَاسُوبِ · أَمَامَ السَّبُّورَةِ · خَلْفَ الكِتَابِ · بَيْنَ الدَّفْتَرِ وَالقَامُوسِ · دَاخِلَ المِقْلَمَةِ.
Counting is an OPTIONAL extension (website): قَلَمٌ وَاحِدٌ · قَلَمَانِ · ثَلَاثَةُ أَقْلَامٍ / مِسْطَرَةٌ وَاحِدَةٌ · مِسْطَرَتَانِ · ثَلَاثُ مَسَاطِرَ (3–10 take the opposite gender).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gender laboratory questions 2–3 and possession check questions 3 and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listening (Layla) and Omar’s profile as the model. Hold up real objects on camera if you can: “hādhā or hādhihi?”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Classroom objects”)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why هٰذَا for the pencil but هٰذِهِ for the bag and the ruler? Other cards for homework: كِتَابٌ، كُرْسِيٌّ، قَلَمٌ.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Classroom objects”)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why هٰذَا for the pencil but هٰذِهِ for the bag and the ruler? Other cards for homework: كِتَابٌ، كُرْسِيٌّ، قَلَمٌ.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5 of the website’s 14 Pack the Bag rounds (plural, demonstrative, ask a girl, negative, inside). The other 9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each answer ask: masculine or feminine? Who is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Listen 1: just listen. Listen 2: note answers. Then chat the letters.
Support: after the second listening, show the read-along slide (Arabic + English, line by line) for Core students.
SCRIPT (read aloud):
اِسْمِي لَيْلَى. فِي حَقِيبَتِي كِتَابُ العُلُومِ، وَدَفْتَرَانِ، وَثَلَاثَةُ أَقْلَامٍ، وَمِسْطَرَةٌ، وَمِمْحَاةٌ. لَيْسَ عِنْدِي قَامُوسٌ اليَوْمَ. عَلَى مَكْتَبِي حَاسُوبٌ مَحْمُولٌ، وَبِجَانِبِ الحَاسُوبِ مِقْلَمَةٌ زَرْقَاءُ. تَحْتَ الكُرْسِيِّ حَقِيبَةُ صَدِيقَتِي. أَسْتَخْدِمُ القَلَمَ وَالدَّفْتَرَ فِي حِصَّةِ اللُّغَةِ العَرَبِيَّةِ.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PROFILE A (website, complete). Find: one demonstrative, one negative sentence and one location.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PROFILE B (website, complete). Stretch: counting (ثَلَاثَةُ أَقْلَامٍ، كِتَابَانِ) and colour agreement (حَقِيبَتِي بَنَفْسَجِيَّةٌ · قَلَمُ حِبْرٍ أَسْوَدُ).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reading questions 3, 4, 7, 8 and 11. The other 7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phrase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SPEAKING STUDIO “Speak about classroom objects” — answer with a complete sentence, then add one colour, quantity, location or reason. Prompts (website):
• My school bag: Describe five objects and one missing object.
• My desk: Describe what is on, under and beside your desk.
• Object interview: Ask and answer three هَلْ عِنْدَكَ / عِنْدَكِ questions.
• Digital classroom: Describe four digital classroom objects.
Website checklist (1–6): five objects · هَذَا / هَذِهِ · عِنْدِي or answering هَلْ عِنْدَكَ؟ · one location · one extra detail · clear delivery.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Seven accurate modelled sentences. · Develop — Add plurals, colours and two location phrases. · Stretch — Compare two bags or explain which objects are most useful.
Website writing task (Stretch): Website writing task: 7–9 connected sentences about a real or invented school bag or desk — at least eight objects, two demonstratives, one negative sentence, two locations and two extra details (colour, quantity or reason).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Built from the website listening (Layla) and Omar’s profile. Stretch: compare with Huda’s bag (Profile B).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(F4-L04 · Likes, Dislikes and Preferences) will spend class time USING this language, so students prepare it tonight — short, simple, easy to access (school guidance: “Simple, Short, Interesting, Relevant, Easy to access”). The five words and phrases come from the website F4-L04 preference language.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F4  ·  F4-L03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F4-L03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Classroom Objects — What Is in Your Bag?</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أَدَوَاتُ الفَصْلِ — مَاذَا فِي حَقِيبَتِكَ؟</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Name everyday classroom objects, choose hādhā or hādhihi by gender, say what you have and do not have, and locate objects precisely in a bag or on a desk.</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F4-L03 · Foundation F4 · My School</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F4 › F4-L03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F4-L03 · Classroom Objects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F4-L03 · Classroom Objects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Classroom objects, this / this (f.), then I have and where it is.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Pack the Bag mission, listen to Layla, read Omar and Huda.</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F4-L04.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F4-L03 · Classroom Objects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دَفْتَرٌ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dictionary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exercise book</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ruler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حَقِيبَةٌ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bag</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pen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book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demonstrative.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هُوَ</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هَذِهِ</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“I have”?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عِنْدَكَ</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عِنْدَهَا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عِنْدِي</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preposition means “on”?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تَحْتَ</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F4-L03 · Classroom Objects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دَفْتَرٌ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dictionary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exercise book</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ruler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(F4-L02).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حَقِيبَةٌ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bag</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pen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book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(F4-L02).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demonstrative.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هَذَا</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هُوَ</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هَذِهِ</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هَذِهِ</a:t>
            </a:r>
            <a:pPr algn="l" indent="0" marL="0">
              <a:buNone/>
            </a:pPr>
            <a:r>
              <a:rPr lang="en-US" sz="1050" i="1" dirty="0">
                <a:solidFill>
                  <a:srgbClr val="8A6D1E"/>
                </a:solidFill>
                <a:latin typeface="Calibri" pitchFamily="34" charset="0"/>
                <a:cs typeface="Amiri" pitchFamily="2" charset="-78"/>
              </a:rPr>
              <a:t> introduces a feminine singular noun.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“I have”?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عِنْدَكَ</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عِنْدَهَا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عِنْدِي</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عِنْدِي</a:t>
            </a:r>
            <a:pPr algn="l" indent="0" marL="0">
              <a:buNone/>
            </a:pPr>
            <a:r>
              <a:rPr lang="en-US" sz="1050" i="1" dirty="0">
                <a:solidFill>
                  <a:srgbClr val="8A6D1E"/>
                </a:solidFill>
                <a:latin typeface="Calibri" pitchFamily="34" charset="0"/>
                <a:cs typeface="Amiri" pitchFamily="2" charset="-78"/>
              </a:rPr>
              <a:t> means I have.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preposition means “on”?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عَلَى</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تَحْتَ</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 means on.</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This / this (f.) follows the Arabic gender of the OBJECT, not the speaker: hādhā qalamun · hādhihi misṭaratun.</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cs typeface="Amiri" pitchFamily="2" charset="-78"/>
              </a:rPr>
              <a:t>هَذَا</a:t>
            </a:r>
            <a:pPr rtl="1" algn="ctr" indent="0" marL="0">
              <a:buNone/>
            </a:pPr>
            <a:r>
              <a:rPr lang="ar-SA" altLang="en-US" sz="2400" b="1" dirty="0">
                <a:solidFill>
                  <a:srgbClr val="1B3B6F"/>
                </a:solidFill>
                <a:latin typeface="Amiri" pitchFamily="2" charset="-78"/>
                <a:cs typeface="Amiri" pitchFamily="2" charset="-78"/>
              </a:rPr>
              <a:t> قَلَمٌ · </a:t>
            </a:r>
            <a:pPr rtl="1" algn="ctr" indent="0" marL="0">
              <a:buNone/>
            </a:pPr>
            <a:r>
              <a:rPr lang="ar-SA" altLang="en-US" sz="2400" b="1" dirty="0">
                <a:solidFill>
                  <a:srgbClr val="D6336C"/>
                </a:solidFill>
                <a:latin typeface="Amiri" pitchFamily="2" charset="-78"/>
                <a:cs typeface="Amiri" pitchFamily="2" charset="-78"/>
              </a:rPr>
              <a:t>هَذِهِ</a:t>
            </a:r>
            <a:pPr rtl="1" algn="ctr" indent="0" marL="0">
              <a:buNone/>
            </a:pPr>
            <a:r>
              <a:rPr lang="ar-SA" altLang="en-US" sz="2400" b="1" dirty="0">
                <a:solidFill>
                  <a:srgbClr val="1B3B6F"/>
                </a:solidFill>
                <a:latin typeface="Amiri" pitchFamily="2" charset="-78"/>
                <a:cs typeface="Amiri" pitchFamily="2" charset="-78"/>
              </a:rPr>
              <a:t> مِسْطَرَةٌ</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F4-L03 · Classroom Objects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the complete core classroom-object bank.</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hādhā / hādhihi according to noun gender.</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Ask and answer what someone has.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where objects are in a bag or on a desk.</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ten classroom objects.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what I have and don’t have.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ask a boy or a girl what they have.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say where two objects are.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count objects (two, three …).</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compare two bags.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Classroom objects with gender and plurals, possession and location. Core: ten objects, this / this (f.), I have.</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Classroom objects · 12 + 16</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This · I have · you have</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Location and counting</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كِتَابٌ</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‎کتاب‎ </a:t>
            </a:r>
            <a:pPr indent="0" marL="0">
              <a:buNone/>
            </a:pPr>
            <a:r>
              <a:rPr lang="en-US" sz="950" b="1" dirty="0">
                <a:solidFill>
                  <a:srgbClr val="2E8B57"/>
                </a:solidFill>
                <a:latin typeface="Calibri" pitchFamily="34" charset="0"/>
                <a:cs typeface="Amiri" pitchFamily="2" charset="-78"/>
              </a:rPr>
              <a:t> kitāb · book</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قَلَمٌ</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‎قلم‎ </a:t>
            </a:r>
            <a:pPr indent="0" marL="0">
              <a:buNone/>
            </a:pPr>
            <a:r>
              <a:rPr lang="en-US" sz="950" b="1" dirty="0">
                <a:solidFill>
                  <a:srgbClr val="2E8B57"/>
                </a:solidFill>
                <a:latin typeface="Calibri" pitchFamily="34" charset="0"/>
                <a:cs typeface="Amiri" pitchFamily="2" charset="-78"/>
              </a:rPr>
              <a:t> qalam · pen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دَفْتَرٌ</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‎دفتر‎ </a:t>
            </a:r>
            <a:pPr indent="0" marL="0">
              <a:buNone/>
            </a:pPr>
            <a:r>
              <a:rPr lang="en-US" sz="950" b="1" dirty="0">
                <a:solidFill>
                  <a:srgbClr val="2E8B57"/>
                </a:solidFill>
                <a:latin typeface="Calibri" pitchFamily="34" charset="0"/>
                <a:cs typeface="Amiri" pitchFamily="2" charset="-78"/>
              </a:rPr>
              <a:t> daftar · exercise book (Urdu: office)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قَامُوسٌ</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‎قاموس‎ </a:t>
            </a:r>
            <a:pPr indent="0" marL="0">
              <a:buNone/>
            </a:pPr>
            <a:r>
              <a:rPr lang="en-US" sz="950" b="1" dirty="0">
                <a:solidFill>
                  <a:srgbClr val="2E8B57"/>
                </a:solidFill>
                <a:latin typeface="Calibri" pitchFamily="34" charset="0"/>
                <a:cs typeface="Amiri" pitchFamily="2" charset="-78"/>
              </a:rPr>
              <a:t> qāmūs · dictionary</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كُرْسِيٌّ</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‎کرسی‎ </a:t>
            </a:r>
            <a:pPr indent="0" marL="0">
              <a:buNone/>
            </a:pPr>
            <a:r>
              <a:rPr lang="en-US" sz="950" b="1" dirty="0">
                <a:solidFill>
                  <a:srgbClr val="2E8B57"/>
                </a:solidFill>
                <a:latin typeface="Calibri" pitchFamily="34" charset="0"/>
                <a:cs typeface="Amiri" pitchFamily="2" charset="-78"/>
              </a:rPr>
              <a:t> kursiyy · chair</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F4-L03 · Classroom Objects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KEY WORDS · GROUP 1 · OFFICIAL CLASSROOM BANK (WEBSITE) · 1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Book, exercise book, pen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أَدَوَاتُ الفَصْلِ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كِتَابٌ</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book</a:t>
            </a:r>
            <a:endParaRPr lang="en-US" sz="1350" dirty="0"/>
          </a:p>
          <a:p>
            <a:pPr indent="0" marL="0">
              <a:buNone/>
            </a:pPr>
            <a:r>
              <a:rPr lang="en-US" sz="1100" i="1" dirty="0">
                <a:solidFill>
                  <a:srgbClr val="5A6472"/>
                </a:solidFill>
                <a:latin typeface="Calibri" pitchFamily="34" charset="0"/>
                <a:cs typeface="Amiri" pitchFamily="2" charset="-78"/>
              </a:rPr>
              <a:t>ki-tāb</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كُتُبٌ</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29" name="Text 26"/>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هَذَا</a:t>
            </a:r>
            <a:endParaRPr lang="ar-SA" sz="135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دَفْتَرٌ</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notebook / exercise book</a:t>
            </a:r>
            <a:endParaRPr lang="en-US" sz="1350" dirty="0"/>
          </a:p>
          <a:p>
            <a:pPr indent="0" marL="0">
              <a:buNone/>
            </a:pPr>
            <a:r>
              <a:rPr lang="en-US" sz="1100" i="1" dirty="0">
                <a:solidFill>
                  <a:srgbClr val="5A6472"/>
                </a:solidFill>
                <a:latin typeface="Calibri" pitchFamily="34" charset="0"/>
                <a:cs typeface="Amiri" pitchFamily="2" charset="-78"/>
              </a:rPr>
              <a:t>daf-tar</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دَفَاتِرُ</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44" name="Text 41"/>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هَذَا</a:t>
            </a:r>
            <a:endParaRPr lang="ar-SA" sz="135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8" name="Shape 4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قَلَمٌ</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pen</a:t>
            </a:r>
            <a:endParaRPr lang="en-US" sz="1350" dirty="0"/>
          </a:p>
          <a:p>
            <a:pPr indent="0" marL="0">
              <a:buNone/>
            </a:pPr>
            <a:r>
              <a:rPr lang="en-US" sz="1100" i="1" dirty="0">
                <a:solidFill>
                  <a:srgbClr val="5A6472"/>
                </a:solidFill>
                <a:latin typeface="Calibri" pitchFamily="34" charset="0"/>
                <a:cs typeface="Amiri" pitchFamily="2" charset="-78"/>
              </a:rPr>
              <a:t>qa-lam</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أَقْلَامٌ</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59" name="Text 56"/>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هَذَا</a:t>
            </a:r>
            <a:endParaRPr lang="ar-SA" sz="135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3" name="Shape 60"/>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قَامُوسٌ</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dictionary</a:t>
            </a:r>
            <a:endParaRPr lang="en-US" sz="1350" dirty="0"/>
          </a:p>
          <a:p>
            <a:pPr indent="0" marL="0">
              <a:buNone/>
            </a:pPr>
            <a:r>
              <a:rPr lang="en-US" sz="1100" i="1" dirty="0">
                <a:solidFill>
                  <a:srgbClr val="5A6472"/>
                </a:solidFill>
                <a:latin typeface="Calibri" pitchFamily="34" charset="0"/>
                <a:cs typeface="Amiri" pitchFamily="2" charset="-78"/>
              </a:rPr>
              <a:t>qā-mūs</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قَوَامِيسُ</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74" name="Text 71"/>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هَذَا</a:t>
            </a:r>
            <a:endParaRPr lang="ar-SA" sz="135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78" name="Shape 75"/>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80" name="Shape 7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2" name="Text 7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مَكْتَبٌ</a:t>
            </a:r>
            <a:endParaRPr lang="ar-SA" sz="3000" dirty="0"/>
          </a:p>
        </p:txBody>
      </p:sp>
      <p:sp>
        <p:nvSpPr>
          <p:cNvPr id="83" name="Text 8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desk (also: office)</a:t>
            </a:r>
            <a:endParaRPr lang="en-US" sz="1350" dirty="0"/>
          </a:p>
          <a:p>
            <a:pPr indent="0" marL="0">
              <a:buNone/>
            </a:pPr>
            <a:r>
              <a:rPr lang="en-US" sz="1100" i="1" dirty="0">
                <a:solidFill>
                  <a:srgbClr val="5A6472"/>
                </a:solidFill>
                <a:latin typeface="Calibri" pitchFamily="34" charset="0"/>
                <a:cs typeface="Amiri" pitchFamily="2" charset="-78"/>
              </a:rPr>
              <a:t>mak-tab</a:t>
            </a:r>
            <a:endParaRPr lang="en-US" sz="1350" dirty="0"/>
          </a:p>
        </p:txBody>
      </p:sp>
      <p:sp>
        <p:nvSpPr>
          <p:cNvPr id="84" name="Shape 8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6" name="Text 83"/>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مَكَاتِبُ</a:t>
            </a:r>
            <a:endParaRPr lang="ar-SA" sz="1500" dirty="0"/>
          </a:p>
        </p:txBody>
      </p:sp>
      <p:sp>
        <p:nvSpPr>
          <p:cNvPr id="87" name="Shape 8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89" name="Text 86"/>
          <p:cNvSpPr txBox="1"/>
          <p:nvPr/>
        </p:nvSpPr>
        <p:spPr>
          <a:xfrm>
            <a:off x="4462272"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هَذَا</a:t>
            </a:r>
            <a:endParaRPr lang="ar-SA" sz="1350" dirty="0"/>
          </a:p>
        </p:txBody>
      </p:sp>
      <p:sp>
        <p:nvSpPr>
          <p:cNvPr id="90" name="Shape 8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566928" y="4261104"/>
            <a:ext cx="310896" cy="310896"/>
          </a:xfrm>
          <a:prstGeom prst="ellipse">
            <a:avLst/>
          </a:prstGeom>
          <a:solidFill>
            <a:srgbClr val="F4F1EA"/>
          </a:solidFill>
          <a:ln w="12700">
            <a:solidFill>
              <a:srgbClr val="F4F1EA"/>
            </a:solidFill>
            <a:prstDash val="solid"/>
          </a:ln>
        </p:spPr>
      </p:sp>
      <p:sp>
        <p:nvSpPr>
          <p:cNvPr id="92" name="Text 8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93" name="Shape 90"/>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94" name="Text 91"/>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95" name="Text 92"/>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جَرَسٌ</a:t>
            </a:r>
            <a:endParaRPr lang="ar-SA" sz="3000" dirty="0"/>
          </a:p>
        </p:txBody>
      </p:sp>
      <p:sp>
        <p:nvSpPr>
          <p:cNvPr id="96" name="Text 93"/>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bell</a:t>
            </a:r>
            <a:endParaRPr lang="en-US" sz="1350" dirty="0"/>
          </a:p>
          <a:p>
            <a:pPr indent="0" marL="0">
              <a:buNone/>
            </a:pPr>
            <a:r>
              <a:rPr lang="en-US" sz="1100" i="1" dirty="0">
                <a:solidFill>
                  <a:srgbClr val="5A6472"/>
                </a:solidFill>
                <a:latin typeface="Calibri" pitchFamily="34" charset="0"/>
                <a:cs typeface="Amiri" pitchFamily="2" charset="-78"/>
              </a:rPr>
              <a:t>ja-ras</a:t>
            </a:r>
            <a:endParaRPr lang="en-US" sz="1350" dirty="0"/>
          </a:p>
        </p:txBody>
      </p:sp>
      <p:sp>
        <p:nvSpPr>
          <p:cNvPr id="97" name="Shape 94"/>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8" name="Text 95"/>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9" name="Text 96"/>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أَجْرَاسٌ</a:t>
            </a:r>
            <a:endParaRPr lang="ar-SA" sz="1500" dirty="0"/>
          </a:p>
        </p:txBody>
      </p:sp>
      <p:sp>
        <p:nvSpPr>
          <p:cNvPr id="100" name="Shape 97"/>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101" name="Text 98"/>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102" name="Text 99"/>
          <p:cNvSpPr txBox="1"/>
          <p:nvPr/>
        </p:nvSpPr>
        <p:spPr>
          <a:xfrm>
            <a:off x="6400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هَذَا</a:t>
            </a:r>
            <a:endParaRPr lang="ar-SA" sz="1350" dirty="0"/>
          </a:p>
        </p:txBody>
      </p:sp>
      <p:sp>
        <p:nvSpPr>
          <p:cNvPr id="103" name="Text 10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F4-L03 · Classroom Objects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KEY WORDS · GROUP 1 · OFFICIAL CLASSROOM BANK (WEBSITE) · 2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Ruler, pencil case, board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أَدَوَاتُ الفَصْلِ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مِسْطَرَةٌ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ruler</a:t>
            </a:r>
            <a:endParaRPr lang="en-US" sz="1350" dirty="0"/>
          </a:p>
          <a:p>
            <a:pPr indent="0" marL="0">
              <a:buNone/>
            </a:pPr>
            <a:r>
              <a:rPr lang="en-US" sz="1100" i="1" dirty="0">
                <a:solidFill>
                  <a:srgbClr val="5A6472"/>
                </a:solidFill>
                <a:latin typeface="Calibri" pitchFamily="34" charset="0"/>
                <a:cs typeface="Amiri" pitchFamily="2" charset="-78"/>
              </a:rPr>
              <a:t>mis-ṭa-ra</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مَسَاطِرُ</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29" name="Text 26"/>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هَذِهِ</a:t>
            </a:r>
            <a:endParaRPr lang="ar-SA" sz="135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مِقْلَمَةٌ</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pencil case</a:t>
            </a:r>
            <a:endParaRPr lang="en-US" sz="1350" dirty="0"/>
          </a:p>
          <a:p>
            <a:pPr indent="0" marL="0">
              <a:buNone/>
            </a:pPr>
            <a:r>
              <a:rPr lang="en-US" sz="1100" i="1" dirty="0">
                <a:solidFill>
                  <a:srgbClr val="5A6472"/>
                </a:solidFill>
                <a:latin typeface="Calibri" pitchFamily="34" charset="0"/>
                <a:cs typeface="Amiri" pitchFamily="2" charset="-78"/>
              </a:rPr>
              <a:t>miq-la-ma</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مَقَالِمُ</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44" name="Text 41"/>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هَذِهِ</a:t>
            </a:r>
            <a:endParaRPr lang="ar-SA" sz="135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8" name="Shape 4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مِمْحَاةٌ</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eraser / rubber</a:t>
            </a:r>
            <a:endParaRPr lang="en-US" sz="1350" dirty="0"/>
          </a:p>
          <a:p>
            <a:pPr indent="0" marL="0">
              <a:buNone/>
            </a:pPr>
            <a:r>
              <a:rPr lang="en-US" sz="1100" i="1" dirty="0">
                <a:solidFill>
                  <a:srgbClr val="5A6472"/>
                </a:solidFill>
                <a:latin typeface="Calibri" pitchFamily="34" charset="0"/>
                <a:cs typeface="Amiri" pitchFamily="2" charset="-78"/>
              </a:rPr>
              <a:t>mim-ḥā</a:t>
            </a:r>
            <a:endParaRPr lang="en-US" sz="1350" dirty="0"/>
          </a:p>
        </p:txBody>
      </p:sp>
      <p:sp>
        <p:nvSpPr>
          <p:cNvPr id="54" name="Shape 51"/>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56" name="Text 53"/>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هَذِهِ</a:t>
            </a:r>
            <a:endParaRPr lang="ar-SA" sz="1350" dirty="0"/>
          </a:p>
        </p:txBody>
      </p:sp>
      <p:sp>
        <p:nvSpPr>
          <p:cNvPr id="57" name="Shape 5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8211312" y="4261104"/>
            <a:ext cx="310896" cy="310896"/>
          </a:xfrm>
          <a:prstGeom prst="ellipse">
            <a:avLst/>
          </a:prstGeom>
          <a:solidFill>
            <a:srgbClr val="F4F1EA"/>
          </a:solidFill>
          <a:ln w="12700">
            <a:solidFill>
              <a:srgbClr val="F4F1EA"/>
            </a:solidFill>
            <a:prstDash val="solid"/>
          </a:ln>
        </p:spPr>
      </p:sp>
      <p:sp>
        <p:nvSpPr>
          <p:cNvPr id="59" name="Text 5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60" name="Shape 57"/>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1" name="Text 58"/>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62" name="Text 5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سَبُّورَةٌ</a:t>
            </a:r>
            <a:endParaRPr lang="ar-SA" sz="3000" dirty="0"/>
          </a:p>
        </p:txBody>
      </p:sp>
      <p:sp>
        <p:nvSpPr>
          <p:cNvPr id="63" name="Text 6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board / interactive board</a:t>
            </a:r>
            <a:endParaRPr lang="en-US" sz="1350" dirty="0"/>
          </a:p>
          <a:p>
            <a:pPr indent="0" marL="0">
              <a:buNone/>
            </a:pPr>
            <a:r>
              <a:rPr lang="en-US" sz="1100" i="1" dirty="0">
                <a:solidFill>
                  <a:srgbClr val="5A6472"/>
                </a:solidFill>
                <a:latin typeface="Calibri" pitchFamily="34" charset="0"/>
                <a:cs typeface="Amiri" pitchFamily="2" charset="-78"/>
              </a:rPr>
              <a:t>sab-bū-ra</a:t>
            </a:r>
            <a:endParaRPr lang="en-US" sz="1350" dirty="0"/>
          </a:p>
        </p:txBody>
      </p:sp>
      <p:sp>
        <p:nvSpPr>
          <p:cNvPr id="64" name="Shape 61"/>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6" name="Text 63"/>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سَبُّورَاتٌ</a:t>
            </a:r>
            <a:endParaRPr lang="ar-SA" sz="1500" dirty="0"/>
          </a:p>
        </p:txBody>
      </p:sp>
      <p:sp>
        <p:nvSpPr>
          <p:cNvPr id="67" name="Shape 64"/>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8" name="Text 65"/>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69" name="Text 66"/>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هَذِهِ</a:t>
            </a:r>
            <a:endParaRPr lang="ar-SA" sz="1350" dirty="0"/>
          </a:p>
        </p:txBody>
      </p:sp>
      <p:sp>
        <p:nvSpPr>
          <p:cNvPr id="70" name="Shape 67"/>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389120" y="4261104"/>
            <a:ext cx="310896" cy="310896"/>
          </a:xfrm>
          <a:prstGeom prst="ellipse">
            <a:avLst/>
          </a:prstGeom>
          <a:solidFill>
            <a:srgbClr val="F4F1EA"/>
          </a:solidFill>
          <a:ln w="12700">
            <a:solidFill>
              <a:srgbClr val="F4F1EA"/>
            </a:solidFill>
            <a:prstDash val="solid"/>
          </a:ln>
        </p:spPr>
      </p:sp>
      <p:sp>
        <p:nvSpPr>
          <p:cNvPr id="72" name="Text 69"/>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73" name="Shape 70"/>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4" name="Text 71"/>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75" name="Shape 72"/>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6" name="Text 73"/>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7" name="Text 74"/>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حَقِيبَةٌ</a:t>
            </a:r>
            <a:endParaRPr lang="ar-SA" sz="3000" dirty="0"/>
          </a:p>
        </p:txBody>
      </p:sp>
      <p:sp>
        <p:nvSpPr>
          <p:cNvPr id="78" name="Text 75"/>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bag / backpack</a:t>
            </a:r>
            <a:endParaRPr lang="en-US" sz="1350" dirty="0"/>
          </a:p>
          <a:p>
            <a:pPr indent="0" marL="0">
              <a:buNone/>
            </a:pPr>
            <a:r>
              <a:rPr lang="en-US" sz="1100" i="1" dirty="0">
                <a:solidFill>
                  <a:srgbClr val="5A6472"/>
                </a:solidFill>
                <a:latin typeface="Calibri" pitchFamily="34" charset="0"/>
                <a:cs typeface="Amiri" pitchFamily="2" charset="-78"/>
              </a:rPr>
              <a:t>ḥa-qī-ba</a:t>
            </a:r>
            <a:endParaRPr lang="en-US" sz="1350" dirty="0"/>
          </a:p>
        </p:txBody>
      </p:sp>
      <p:sp>
        <p:nvSpPr>
          <p:cNvPr id="79" name="Shape 76"/>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0" name="Text 77"/>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1" name="Text 78"/>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حَقَائِبُ</a:t>
            </a:r>
            <a:endParaRPr lang="ar-SA" sz="1500" dirty="0"/>
          </a:p>
        </p:txBody>
      </p:sp>
      <p:sp>
        <p:nvSpPr>
          <p:cNvPr id="82" name="Shape 79"/>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84" name="Text 81"/>
          <p:cNvSpPr txBox="1"/>
          <p:nvPr/>
        </p:nvSpPr>
        <p:spPr>
          <a:xfrm>
            <a:off x="4462272"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هَذِهِ</a:t>
            </a:r>
            <a:endParaRPr lang="ar-SA" sz="1350" dirty="0"/>
          </a:p>
        </p:txBody>
      </p:sp>
      <p:sp>
        <p:nvSpPr>
          <p:cNvPr id="85" name="Shape 8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566928" y="4261104"/>
            <a:ext cx="310896" cy="310896"/>
          </a:xfrm>
          <a:prstGeom prst="ellipse">
            <a:avLst/>
          </a:prstGeom>
          <a:solidFill>
            <a:srgbClr val="F4F1EA"/>
          </a:solidFill>
          <a:ln w="12700">
            <a:solidFill>
              <a:srgbClr val="F4F1EA"/>
            </a:solidFill>
            <a:prstDash val="solid"/>
          </a:ln>
        </p:spPr>
      </p:sp>
      <p:sp>
        <p:nvSpPr>
          <p:cNvPr id="87" name="Text 8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88" name="Shape 85"/>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89" name="Text 86"/>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90" name="Text 87"/>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آلَةٌ حَاسِبَةٌ</a:t>
            </a:r>
            <a:endParaRPr lang="ar-SA" sz="3000" dirty="0"/>
          </a:p>
        </p:txBody>
      </p:sp>
      <p:sp>
        <p:nvSpPr>
          <p:cNvPr id="91" name="Text 88"/>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calculator</a:t>
            </a:r>
            <a:endParaRPr lang="en-US" sz="1350" dirty="0"/>
          </a:p>
          <a:p>
            <a:pPr indent="0" marL="0">
              <a:buNone/>
            </a:pPr>
            <a:r>
              <a:rPr lang="en-US" sz="1100" i="1" dirty="0">
                <a:solidFill>
                  <a:srgbClr val="5A6472"/>
                </a:solidFill>
                <a:latin typeface="Calibri" pitchFamily="34" charset="0"/>
                <a:cs typeface="Amiri" pitchFamily="2" charset="-78"/>
              </a:rPr>
              <a:t>ā-la ḥā-si-ba</a:t>
            </a:r>
            <a:endParaRPr lang="en-US" sz="1350" dirty="0"/>
          </a:p>
        </p:txBody>
      </p:sp>
      <p:sp>
        <p:nvSpPr>
          <p:cNvPr id="92" name="Shape 89"/>
          <p:cNvSpPr/>
          <p:nvPr/>
        </p:nvSpPr>
        <p:spPr>
          <a:xfrm>
            <a:off x="594360" y="5779008"/>
            <a:ext cx="3364992" cy="438912"/>
          </a:xfrm>
          <a:prstGeom prst="roundRect">
            <a:avLst>
              <a:gd name="adj" fmla="val 10417"/>
            </a:avLst>
          </a:prstGeom>
          <a:solidFill>
            <a:srgbClr val="F4F1EA"/>
          </a:solidFill>
          <a:ln w="9525">
            <a:solidFill>
              <a:srgbClr val="F4F1EA"/>
            </a:solidFill>
            <a:prstDash val="solid"/>
          </a:ln>
        </p:spPr>
      </p:sp>
      <p:sp>
        <p:nvSpPr>
          <p:cNvPr id="93" name="Text 90"/>
          <p:cNvSpPr txBox="1"/>
          <p:nvPr/>
        </p:nvSpPr>
        <p:spPr>
          <a:xfrm>
            <a:off x="649224"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94" name="Text 91"/>
          <p:cNvSpPr txBox="1"/>
          <p:nvPr/>
        </p:nvSpPr>
        <p:spPr>
          <a:xfrm>
            <a:off x="640080"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هَذِهِ</a:t>
            </a:r>
            <a:endParaRPr lang="ar-SA" sz="13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F4-L03 · Classroom Objects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1 · THIS AND I HAVE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This (m. / f.) · I have · you have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هَذَا · هَذِهِ · عِنْدِي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10344"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Pattern</a:t>
            </a:r>
            <a:endParaRPr lang="en-US" sz="1100" dirty="0"/>
          </a:p>
        </p:txBody>
      </p:sp>
      <p:sp>
        <p:nvSpPr>
          <p:cNvPr id="17" name="Text 14"/>
          <p:cNvSpPr txBox="1"/>
          <p:nvPr/>
        </p:nvSpPr>
        <p:spPr>
          <a:xfrm>
            <a:off x="3941064" y="1810512"/>
            <a:ext cx="5522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8" name="Text 15"/>
          <p:cNvSpPr txBox="1"/>
          <p:nvPr/>
        </p:nvSpPr>
        <p:spPr>
          <a:xfrm>
            <a:off x="53035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9628632" y="226771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cs typeface="Amiri" pitchFamily="2" charset="-78"/>
              </a:rPr>
              <a:t>هَذَا</a:t>
            </a:r>
            <a:endParaRPr lang="ar-SA" sz="2400" dirty="0"/>
          </a:p>
        </p:txBody>
      </p:sp>
      <p:sp>
        <p:nvSpPr>
          <p:cNvPr id="21" name="Text 18"/>
          <p:cNvSpPr txBox="1"/>
          <p:nvPr/>
        </p:nvSpPr>
        <p:spPr>
          <a:xfrm>
            <a:off x="3959352" y="2267712"/>
            <a:ext cx="54864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هَذَا قَلَمٌ. · هَذَا كِتَابٌ.</a:t>
            </a:r>
            <a:endParaRPr lang="ar-SA" sz="2200" dirty="0"/>
          </a:p>
        </p:txBody>
      </p:sp>
      <p:sp>
        <p:nvSpPr>
          <p:cNvPr id="22" name="Text 19"/>
          <p:cNvSpPr txBox="1"/>
          <p:nvPr/>
        </p:nvSpPr>
        <p:spPr>
          <a:xfrm>
            <a:off x="566928" y="226771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this is (masculine object)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9628632" y="2881884"/>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cs typeface="Amiri" pitchFamily="2" charset="-78"/>
              </a:rPr>
              <a:t>هَذِهِ</a:t>
            </a:r>
            <a:endParaRPr lang="ar-SA" sz="2400" dirty="0"/>
          </a:p>
        </p:txBody>
      </p:sp>
      <p:sp>
        <p:nvSpPr>
          <p:cNvPr id="27" name="Text 24"/>
          <p:cNvSpPr txBox="1"/>
          <p:nvPr/>
        </p:nvSpPr>
        <p:spPr>
          <a:xfrm>
            <a:off x="3959352" y="2881884"/>
            <a:ext cx="54864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هَذِهِ مِسْطَرَةٌ. · هَذِهِ حَقِيبَةٌ.</a:t>
            </a:r>
            <a:endParaRPr lang="ar-SA" sz="2200" dirty="0"/>
          </a:p>
        </p:txBody>
      </p:sp>
      <p:sp>
        <p:nvSpPr>
          <p:cNvPr id="28" name="Text 25"/>
          <p:cNvSpPr txBox="1"/>
          <p:nvPr/>
        </p:nvSpPr>
        <p:spPr>
          <a:xfrm>
            <a:off x="566928" y="2881884"/>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this is (feminine object)</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9628632" y="3496056"/>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عِنْدِي</a:t>
            </a:r>
            <a:endParaRPr lang="ar-SA" sz="2400" dirty="0"/>
          </a:p>
        </p:txBody>
      </p:sp>
      <p:sp>
        <p:nvSpPr>
          <p:cNvPr id="33" name="Text 30"/>
          <p:cNvSpPr txBox="1"/>
          <p:nvPr/>
        </p:nvSpPr>
        <p:spPr>
          <a:xfrm>
            <a:off x="3959352" y="3496056"/>
            <a:ext cx="54864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عِنْدِي قَلَمٌ وَكِتَابٌ.</a:t>
            </a:r>
            <a:endParaRPr lang="ar-SA" sz="2200" dirty="0"/>
          </a:p>
        </p:txBody>
      </p:sp>
      <p:sp>
        <p:nvSpPr>
          <p:cNvPr id="34" name="Text 31"/>
          <p:cNvSpPr txBox="1"/>
          <p:nvPr/>
        </p:nvSpPr>
        <p:spPr>
          <a:xfrm>
            <a:off x="566928" y="3496056"/>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have</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9628632" y="4110228"/>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لَيْسَ عِنْدِي</a:t>
            </a:r>
            <a:endParaRPr lang="ar-SA" sz="2400" dirty="0"/>
          </a:p>
        </p:txBody>
      </p:sp>
      <p:sp>
        <p:nvSpPr>
          <p:cNvPr id="39" name="Text 36"/>
          <p:cNvSpPr txBox="1"/>
          <p:nvPr/>
        </p:nvSpPr>
        <p:spPr>
          <a:xfrm>
            <a:off x="3959352" y="4110228"/>
            <a:ext cx="54864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لَا، لَيْسَ عِنْدِي غِرَاءٌ.</a:t>
            </a:r>
            <a:endParaRPr lang="ar-SA" sz="2200" dirty="0"/>
          </a:p>
        </p:txBody>
      </p:sp>
      <p:sp>
        <p:nvSpPr>
          <p:cNvPr id="40" name="Text 37"/>
          <p:cNvSpPr txBox="1"/>
          <p:nvPr/>
        </p:nvSpPr>
        <p:spPr>
          <a:xfrm>
            <a:off x="566928" y="4110228"/>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do not have</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9628632" y="4724400"/>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عِنْدَكَ / عِنْدَكِ</a:t>
            </a:r>
            <a:endParaRPr lang="ar-SA" sz="2400" dirty="0"/>
          </a:p>
        </p:txBody>
      </p:sp>
      <p:sp>
        <p:nvSpPr>
          <p:cNvPr id="45" name="Text 42"/>
          <p:cNvSpPr txBox="1"/>
          <p:nvPr/>
        </p:nvSpPr>
        <p:spPr>
          <a:xfrm>
            <a:off x="3959352" y="4724400"/>
            <a:ext cx="54864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هَلْ عِنْدَكَ قَامُوسٌ؟ · هَلْ عِنْدَكِ مِسْطَرَةٌ؟</a:t>
            </a:r>
            <a:endParaRPr lang="ar-SA" sz="2200" dirty="0"/>
          </a:p>
        </p:txBody>
      </p:sp>
      <p:sp>
        <p:nvSpPr>
          <p:cNvPr id="46" name="Text 43"/>
          <p:cNvSpPr txBox="1"/>
          <p:nvPr/>
        </p:nvSpPr>
        <p:spPr>
          <a:xfrm>
            <a:off x="566928" y="4724400"/>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 you (m. / f.) have …?</a:t>
            </a:r>
            <a:endParaRPr lang="en-US" sz="1100" dirty="0"/>
          </a:p>
        </p:txBody>
      </p:sp>
      <p:sp>
        <p:nvSpPr>
          <p:cNvPr id="47" name="Shape 44"/>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8" name="Text 45"/>
          <p:cNvSpPr txBox="1"/>
          <p:nvPr/>
        </p:nvSpPr>
        <p:spPr>
          <a:xfrm>
            <a:off x="9628632" y="533857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عِنْدَهُ / عِنْدَهَا</a:t>
            </a:r>
            <a:endParaRPr lang="ar-SA" sz="2400" dirty="0"/>
          </a:p>
        </p:txBody>
      </p:sp>
      <p:sp>
        <p:nvSpPr>
          <p:cNvPr id="49" name="Text 46"/>
          <p:cNvSpPr txBox="1"/>
          <p:nvPr/>
        </p:nvSpPr>
        <p:spPr>
          <a:xfrm>
            <a:off x="3959352" y="5338572"/>
            <a:ext cx="54864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عِنْدَهُ حَاسُوبٌ. · عِنْدَهَا حَقِيبَةٌ.</a:t>
            </a:r>
            <a:endParaRPr lang="ar-SA" sz="2200" dirty="0"/>
          </a:p>
        </p:txBody>
      </p:sp>
      <p:sp>
        <p:nvSpPr>
          <p:cNvPr id="50" name="Text 47"/>
          <p:cNvSpPr txBox="1"/>
          <p:nvPr/>
        </p:nvSpPr>
        <p:spPr>
          <a:xfrm>
            <a:off x="566928" y="533857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 has / she has</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demonstrative matches the gender of the singular noun — not the gender of the speaker.</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F4-L03 · Classroom Objects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2 · WHERE IS IT? HOW MANY?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Place first, then the object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أَيْنَ؟ كَمْ؟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F4-L03</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7543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7543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IN · ON</a:t>
            </a:r>
            <a:endParaRPr lang="en-US" sz="850" dirty="0"/>
          </a:p>
        </p:txBody>
      </p:sp>
      <p:sp>
        <p:nvSpPr>
          <p:cNvPr id="18" name="Text 15"/>
          <p:cNvSpPr txBox="1"/>
          <p:nvPr/>
        </p:nvSpPr>
        <p:spPr>
          <a:xfrm>
            <a:off x="9032748" y="1874520"/>
            <a:ext cx="25618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فِي · عَلَى</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فِي حَقِيبَتِي كِتَابٌ، وَعَلَى مَكْتَبِي حَاسُوبٌ.</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In my bag there is a book, and on my desk a computer.</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Place phrase comes first.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85166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4413504" y="1920240"/>
            <a:ext cx="18516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UNDER · BESIDE · INSIDE</a:t>
            </a:r>
            <a:endParaRPr lang="en-US" sz="850" dirty="0"/>
          </a:p>
        </p:txBody>
      </p:sp>
      <p:sp>
        <p:nvSpPr>
          <p:cNvPr id="26" name="Text 23"/>
          <p:cNvSpPr txBox="1"/>
          <p:nvPr/>
        </p:nvSpPr>
        <p:spPr>
          <a:xfrm>
            <a:off x="6310884" y="1874520"/>
            <a:ext cx="14645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تَحْتَ · بِجَانِبِ · دَاخِلَ</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تَحْتَ الكُرْسِيِّ حَقِيبَةٌ.</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Under the chair there is a bag.</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Also: amāma, khalfa, bayna.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0302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COUNT · STRETCH</a:t>
            </a:r>
            <a:endParaRPr lang="en-US" sz="850" dirty="0"/>
          </a:p>
        </p:txBody>
      </p:sp>
      <p:sp>
        <p:nvSpPr>
          <p:cNvPr id="34" name="Text 31"/>
          <p:cNvSpPr txBox="1"/>
          <p:nvPr/>
        </p:nvSpPr>
        <p:spPr>
          <a:xfrm>
            <a:off x="1943100"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وَاحِدٌ · ـَانِ · ثَلَاثَةُ</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قَلَمٌ وَاحِدٌ · قَلَمَانِ · ثَلَاثَةُ أَقْلَامٍ</a:t>
            </a:r>
            <a:endParaRPr lang="ar-SA" sz="2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one pen · two pens · three pens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f.: </a:t>
            </a:r>
            <a:pPr algn="l" indent="0" marL="0">
              <a:buNone/>
            </a:pPr>
            <a:r>
              <a:rPr lang="ar-SA" altLang="en-US" sz="1450" dirty="0">
                <a:solidFill>
                  <a:srgbClr val="1F2A37"/>
                </a:solidFill>
                <a:latin typeface="Amiri" pitchFamily="2" charset="-78"/>
                <a:cs typeface="Amiri" pitchFamily="2" charset="-78"/>
              </a:rPr>
              <a:t>ثَلَاثُ مَسَاطِرَ</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location model: the place phrase comes first and the object follows.</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عَلَى مَكْتَبِي حَاسُوبٌ.</a:t>
            </a:r>
            <a:endParaRPr lang="ar-SA" sz="20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000" b="1" dirty="0">
                <a:solidFill>
                  <a:srgbClr val="B83227"/>
                </a:solidFill>
                <a:latin typeface="Amiri" pitchFamily="2" charset="-78"/>
                <a:cs typeface="Amiri" pitchFamily="2" charset="-78"/>
              </a:rPr>
              <a:t>حَاسُوبٌ مَكْتَبِي عَلَى.</a:t>
            </a:r>
            <a:endParaRPr lang="ar-SA" sz="20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F4-L03 · Classroom Objects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for a ruler.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هَذَا مِسْطَرَةٌ.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هَذِهِ مِسْطَرٌ.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هَذِهِ مِسْطَرَةٌ.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for a dictionary.</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هَذَا قَامُوسٌ.</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هَذِهِ قَامُوسٌ.</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هَذَا قَامُوسَةٌ.</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one female: “Do you have a ruler?”</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هَلْ عِنْدَكَ مِسْطَرَةٌ؟</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هَلْ عِنْدَكِ مِسْطَرَةٌ؟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هَلْ عِنْدَهَا مِسْطَرَةٌ؟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negative answer.</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 لَيْسَ عِنْدِي غِرَاءٌ.</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 عِنْدِي غِرَاءٌ.</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نَعَمْ، لَيْسَ عِنْدِي غِرَاءٌ.</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F4-L03 · Classroom Objects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for a ruler.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هَذَا مِسْطَرَةٌ.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هَذِهِ مِسْطَرٌ.</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هَذِهِ مِسْطَرَةٌ.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مِسْطَرَةٌ</a:t>
            </a:r>
            <a:pPr algn="l" indent="0" marL="0">
              <a:buNone/>
            </a:pPr>
            <a:r>
              <a:rPr lang="en-US" sz="1050" i="1" dirty="0">
                <a:solidFill>
                  <a:srgbClr val="8A6D1E"/>
                </a:solidFill>
                <a:latin typeface="Calibri" pitchFamily="34" charset="0"/>
                <a:cs typeface="Amiri" pitchFamily="2" charset="-78"/>
              </a:rPr>
              <a:t> is feminine, so use </a:t>
            </a:r>
            <a:pPr algn="l" indent="0" marL="0">
              <a:buNone/>
            </a:pPr>
            <a:r>
              <a:rPr lang="ar-SA" altLang="en-US" sz="1350" dirty="0">
                <a:solidFill>
                  <a:srgbClr val="8A6D1E"/>
                </a:solidFill>
                <a:latin typeface="Amiri" pitchFamily="2" charset="-78"/>
                <a:cs typeface="Amiri" pitchFamily="2" charset="-78"/>
              </a:rPr>
              <a:t>هَذِهِ</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for a dictionary.</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هَذَا قَامُوسٌ.</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هَذِهِ قَامُوسٌ.</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هَذَا قَامُوسَةٌ.</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قَامُوسٌ</a:t>
            </a:r>
            <a:pPr algn="l" indent="0" marL="0">
              <a:buNone/>
            </a:pPr>
            <a:r>
              <a:rPr lang="en-US" sz="1050" i="1" dirty="0">
                <a:solidFill>
                  <a:srgbClr val="8A6D1E"/>
                </a:solidFill>
                <a:latin typeface="Calibri" pitchFamily="34" charset="0"/>
                <a:cs typeface="Amiri" pitchFamily="2" charset="-78"/>
              </a:rPr>
              <a:t> is masculine.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one female: “Do you have a ruler?”</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هَلْ عِنْدَكَ مِسْطَرَةٌ؟</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هَلْ عِنْدَكِ مِسْطَرَةٌ؟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هَلْ عِنْدَهَا مِسْطَرَةٌ؟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عِنْدَكِ</a:t>
            </a:r>
            <a:pPr algn="l" indent="0" marL="0">
              <a:buNone/>
            </a:pPr>
            <a:r>
              <a:rPr lang="en-US" sz="1050" i="1" dirty="0">
                <a:solidFill>
                  <a:srgbClr val="8A6D1E"/>
                </a:solidFill>
                <a:latin typeface="Calibri" pitchFamily="34" charset="0"/>
                <a:cs typeface="Amiri" pitchFamily="2" charset="-78"/>
              </a:rPr>
              <a:t> addresses one female.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negative answer.</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لَا، لَيْسَ عِنْدِي غِرَاءٌ.</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لَا، عِنْدِي غِرَاءٌ.</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نَعَمْ، لَيْسَ عِنْدِي غِرَاءٌ.</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لَيْسَ عِنْدِي</a:t>
            </a:r>
            <a:pPr algn="l" indent="0" marL="0">
              <a:buNone/>
            </a:pPr>
            <a:r>
              <a:rPr lang="en-US" sz="1050" i="1" dirty="0">
                <a:solidFill>
                  <a:srgbClr val="8A6D1E"/>
                </a:solidFill>
                <a:latin typeface="Calibri" pitchFamily="34" charset="0"/>
                <a:cs typeface="Amiri" pitchFamily="2" charset="-78"/>
              </a:rPr>
              <a:t> expresses not having something.</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F4-L03 · Classroom Objects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unpack my bag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This is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cs typeface="Amiri" pitchFamily="2" charset="-78"/>
              </a:rPr>
              <a:t>هَذِهِ</a:t>
            </a:r>
            <a:pPr rtl="1" algn="ctr" indent="0" marL="0">
              <a:buNone/>
            </a:pPr>
            <a:r>
              <a:rPr lang="ar-SA" altLang="en-US" sz="2400" b="1" dirty="0">
                <a:solidFill>
                  <a:srgbClr val="1B3B6F"/>
                </a:solidFill>
                <a:latin typeface="Amiri" pitchFamily="2" charset="-78"/>
                <a:cs typeface="Amiri" pitchFamily="2" charset="-78"/>
              </a:rPr>
              <a:t> حَقِيبَتِي المَدْرَسِيَّةُ.</a:t>
            </a:r>
            <a:endParaRPr lang="ar-SA" sz="24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Bag (f.) → hādhihi.</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In my bag</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فِي حَقِيبَتِي كِتَابٌ وَدَفْتَرٌ وَمِسْطَرَةٌ.</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Place first.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I don’t have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2" charset="-78"/>
                <a:cs typeface="Amiri" pitchFamily="2" charset="-78"/>
              </a:rPr>
              <a:t>لَيْسَ عِنْدِي قَامُوسٌ اليَوْمَ.</a:t>
            </a:r>
            <a:endParaRPr lang="ar-SA" sz="23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Negative: laysa.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On my desk</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عَلَى مَكْتَبِي حَاسُوبٌ، وَبِجَانِبِهِ مِقْلَمَةٌ زَرْقَاءُ.</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Colour agrees (f.).</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MASCULINE</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FEMININE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700" b="1" dirty="0">
                <a:solidFill>
                  <a:srgbClr val="D6336C"/>
                </a:solidFill>
                <a:latin typeface="Amiri" pitchFamily="2" charset="-78"/>
                <a:cs typeface="Amiri" pitchFamily="2" charset="-78"/>
              </a:rPr>
              <a:t>هَذِهِ</a:t>
            </a:r>
            <a:pPr rtl="1" algn="r" indent="0" marL="0">
              <a:buNone/>
            </a:pPr>
            <a:r>
              <a:rPr lang="ar-SA" altLang="en-US" sz="1700" b="1" dirty="0">
                <a:solidFill>
                  <a:srgbClr val="1B3B6F"/>
                </a:solidFill>
                <a:latin typeface="Amiri" pitchFamily="2" charset="-78"/>
                <a:cs typeface="Amiri" pitchFamily="2" charset="-78"/>
              </a:rPr>
              <a:t> حَقِيبَتِي المَدْرَسِيَّةُ. فِي حَقِيبَتِي كِتَابٌ وَدَفْتَرٌ وَمِسْطَرَةٌ، وَلَكِنْ لَيْسَ عِنْدِي قَامُوسٌ اليَوْمَ. عَلَى مَكْتَبِي حَاسُوبٌ، وَبِجَانِبِهِ مِقْلَمَةٌ زَرْقَاءُ. </a:t>
            </a:r>
            <a:pPr rtl="1" algn="r" indent="0" marL="0">
              <a:buNone/>
            </a:pPr>
            <a:r>
              <a:rPr lang="ar-SA" altLang="en-US" sz="1700" b="1" dirty="0">
                <a:solidFill>
                  <a:srgbClr val="1D5FBF"/>
                </a:solidFill>
                <a:latin typeface="Amiri" pitchFamily="2" charset="-78"/>
                <a:cs typeface="Amiri" pitchFamily="2" charset="-78"/>
              </a:rPr>
              <a:t>هَذَا</a:t>
            </a:r>
            <a:pPr rtl="1" algn="r" indent="0" marL="0">
              <a:buNone/>
            </a:pPr>
            <a:r>
              <a:rPr lang="ar-SA" altLang="en-US" sz="1700" b="1" dirty="0">
                <a:solidFill>
                  <a:srgbClr val="1B3B6F"/>
                </a:solidFill>
                <a:latin typeface="Amiri" pitchFamily="2" charset="-78"/>
                <a:cs typeface="Amiri" pitchFamily="2" charset="-78"/>
              </a:rPr>
              <a:t> قَلَمِي.</a:t>
            </a:r>
            <a:endParaRPr lang="ar-SA" sz="17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This is my school bag. In my bag there is a book, an exercise book and a ruler, but I don’t have a dictionary today. On my desk there is a computer, and beside it a blue pencil case. This is my pen.</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F4-L03 · Classroom Objects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PICTURE MATCH · WEBSITE GAME “VISUAL GAME — CLASSROOM OBJECTS”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is it?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صُورَةُ الفَصْلِ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pencil</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4" name="Shape 20"/>
          <p:cNvSpPr/>
          <p:nvPr/>
        </p:nvSpPr>
        <p:spPr>
          <a:xfrm>
            <a:off x="558698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26" name="Text 21"/>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school bag</a:t>
            </a:r>
            <a:endParaRPr lang="en-US" sz="1100" dirty="0"/>
          </a:p>
        </p:txBody>
      </p:sp>
      <p:sp>
        <p:nvSpPr>
          <p:cNvPr id="27" name="Shape 2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3"/>
          <p:cNvSpPr/>
          <p:nvPr/>
        </p:nvSpPr>
        <p:spPr>
          <a:xfrm>
            <a:off x="585216" y="1938528"/>
            <a:ext cx="365760" cy="365760"/>
          </a:xfrm>
          <a:prstGeom prst="ellipse">
            <a:avLst/>
          </a:prstGeom>
          <a:solidFill>
            <a:srgbClr val="1B3B6F"/>
          </a:solidFill>
          <a:ln w="12700">
            <a:solidFill>
              <a:srgbClr val="1B3B6F"/>
            </a:solidFill>
            <a:prstDash val="solid"/>
          </a:ln>
        </p:spPr>
      </p:sp>
      <p:sp>
        <p:nvSpPr>
          <p:cNvPr id="29" name="Text 2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0" name="Shape 25"/>
          <p:cNvSpPr/>
          <p:nvPr/>
        </p:nvSpPr>
        <p:spPr>
          <a:xfrm>
            <a:off x="1767840" y="2066544"/>
            <a:ext cx="1014984" cy="1014984"/>
          </a:xfrm>
          <a:prstGeom prst="ellipse">
            <a:avLst/>
          </a:prstGeom>
          <a:solidFill>
            <a:srgbClr val="F4F1EA"/>
          </a:solidFill>
          <a:ln w="12700">
            <a:solidFill>
              <a:srgbClr val="F4F1EA"/>
            </a:solidFill>
            <a:prstDash val="solid"/>
          </a:ln>
        </p:spPr>
      </p:sp>
      <p:pic>
        <p:nvPicPr>
          <p:cNvPr id="3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32" name="Text 2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ruler</a:t>
            </a:r>
            <a:endParaRPr lang="en-US" sz="1100" dirty="0"/>
          </a:p>
        </p:txBody>
      </p:sp>
      <p:sp>
        <p:nvSpPr>
          <p:cNvPr id="33" name="Shape 27"/>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4" name="Shape 28"/>
          <p:cNvSpPr/>
          <p:nvPr/>
        </p:nvSpPr>
        <p:spPr>
          <a:xfrm>
            <a:off x="11247120" y="3831336"/>
            <a:ext cx="292608" cy="292608"/>
          </a:xfrm>
          <a:prstGeom prst="ellipse">
            <a:avLst/>
          </a:prstGeom>
          <a:solidFill>
            <a:srgbClr val="2F6FB0"/>
          </a:solidFill>
          <a:ln w="12700">
            <a:solidFill>
              <a:srgbClr val="2F6FB0"/>
            </a:solidFill>
            <a:prstDash val="solid"/>
          </a:ln>
        </p:spPr>
      </p:sp>
      <p:sp>
        <p:nvSpPr>
          <p:cNvPr id="35" name="Text 29"/>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36" name="Text 30"/>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هٰذِهِ مِسْطَرَةٌ.</a:t>
            </a:r>
            <a:endParaRPr lang="ar-SA" sz="2000" dirty="0"/>
          </a:p>
        </p:txBody>
      </p:sp>
      <p:sp>
        <p:nvSpPr>
          <p:cNvPr id="37" name="Shape 31"/>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38" name="Shape 32"/>
          <p:cNvSpPr/>
          <p:nvPr/>
        </p:nvSpPr>
        <p:spPr>
          <a:xfrm>
            <a:off x="11247120" y="4398264"/>
            <a:ext cx="292608" cy="292608"/>
          </a:xfrm>
          <a:prstGeom prst="ellipse">
            <a:avLst/>
          </a:prstGeom>
          <a:solidFill>
            <a:srgbClr val="2F6FB0"/>
          </a:solidFill>
          <a:ln w="12700">
            <a:solidFill>
              <a:srgbClr val="2F6FB0"/>
            </a:solidFill>
            <a:prstDash val="solid"/>
          </a:ln>
        </p:spPr>
      </p:sp>
      <p:sp>
        <p:nvSpPr>
          <p:cNvPr id="39" name="Text 33"/>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0" name="Text 34"/>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هٰذَا قَلَمُ رَصَاصٍ.</a:t>
            </a:r>
            <a:endParaRPr lang="ar-SA" sz="2000" dirty="0"/>
          </a:p>
        </p:txBody>
      </p:sp>
      <p:sp>
        <p:nvSpPr>
          <p:cNvPr id="41" name="Shape 35"/>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2" name="Shape 36"/>
          <p:cNvSpPr/>
          <p:nvPr/>
        </p:nvSpPr>
        <p:spPr>
          <a:xfrm>
            <a:off x="11247120" y="4965192"/>
            <a:ext cx="292608" cy="292608"/>
          </a:xfrm>
          <a:prstGeom prst="ellipse">
            <a:avLst/>
          </a:prstGeom>
          <a:solidFill>
            <a:srgbClr val="2F6FB0"/>
          </a:solidFill>
          <a:ln w="12700">
            <a:solidFill>
              <a:srgbClr val="2F6FB0"/>
            </a:solidFill>
            <a:prstDash val="solid"/>
          </a:ln>
        </p:spPr>
      </p:sp>
      <p:sp>
        <p:nvSpPr>
          <p:cNvPr id="43" name="Text 37"/>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44" name="Text 38"/>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هٰذِهِ حَقِيبَةٌ.</a:t>
            </a:r>
            <a:endParaRPr lang="ar-SA" sz="2000" dirty="0"/>
          </a:p>
        </p:txBody>
      </p:sp>
      <p:sp>
        <p:nvSpPr>
          <p:cNvPr id="45" name="Text 39"/>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46" name="Text 40"/>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47"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F4-L03 · Classroom Objects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صُورَةُ الفَصْلِ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pencil</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هٰذَا قَلَمُ رَصَاصٍ.</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a pencil.</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9" name="Shape 25"/>
          <p:cNvSpPr/>
          <p:nvPr/>
        </p:nvSpPr>
        <p:spPr>
          <a:xfrm>
            <a:off x="558698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31" name="Text 26"/>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school bag</a:t>
            </a:r>
            <a:endParaRPr lang="en-US" sz="1100" dirty="0"/>
          </a:p>
        </p:txBody>
      </p:sp>
      <p:sp>
        <p:nvSpPr>
          <p:cNvPr id="32" name="Shape 27"/>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3" name="Shape 28"/>
          <p:cNvSpPr/>
          <p:nvPr/>
        </p:nvSpPr>
        <p:spPr>
          <a:xfrm>
            <a:off x="7437120" y="3785616"/>
            <a:ext cx="329184" cy="329184"/>
          </a:xfrm>
          <a:prstGeom prst="ellipse">
            <a:avLst/>
          </a:prstGeom>
          <a:solidFill>
            <a:srgbClr val="2E8B57"/>
          </a:solidFill>
          <a:ln w="12700">
            <a:solidFill>
              <a:srgbClr val="2E8B57"/>
            </a:solidFill>
            <a:prstDash val="solid"/>
          </a:ln>
        </p:spPr>
      </p:sp>
      <p:sp>
        <p:nvSpPr>
          <p:cNvPr id="34" name="Text 29"/>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5" name="Text 30"/>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هٰذِهِ حَقِيبَةٌ.</a:t>
            </a:r>
            <a:endParaRPr lang="ar-SA" sz="2200" dirty="0"/>
          </a:p>
        </p:txBody>
      </p:sp>
      <p:sp>
        <p:nvSpPr>
          <p:cNvPr id="36" name="Text 31"/>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a bag.</a:t>
            </a:r>
            <a:endParaRPr lang="en-US" sz="1200" dirty="0"/>
          </a:p>
        </p:txBody>
      </p:sp>
      <p:sp>
        <p:nvSpPr>
          <p:cNvPr id="37" name="Shape 3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3"/>
          <p:cNvSpPr/>
          <p:nvPr/>
        </p:nvSpPr>
        <p:spPr>
          <a:xfrm>
            <a:off x="585216" y="1938528"/>
            <a:ext cx="365760" cy="365760"/>
          </a:xfrm>
          <a:prstGeom prst="ellipse">
            <a:avLst/>
          </a:prstGeom>
          <a:solidFill>
            <a:srgbClr val="1B3B6F"/>
          </a:solidFill>
          <a:ln w="12700">
            <a:solidFill>
              <a:srgbClr val="1B3B6F"/>
            </a:solidFill>
            <a:prstDash val="solid"/>
          </a:ln>
        </p:spPr>
      </p:sp>
      <p:sp>
        <p:nvSpPr>
          <p:cNvPr id="39" name="Text 3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0" name="Shape 35"/>
          <p:cNvSpPr/>
          <p:nvPr/>
        </p:nvSpPr>
        <p:spPr>
          <a:xfrm>
            <a:off x="1767840" y="2066544"/>
            <a:ext cx="1014984" cy="1014984"/>
          </a:xfrm>
          <a:prstGeom prst="ellipse">
            <a:avLst/>
          </a:prstGeom>
          <a:solidFill>
            <a:srgbClr val="F4F1EA"/>
          </a:solidFill>
          <a:ln w="12700">
            <a:solidFill>
              <a:srgbClr val="F4F1EA"/>
            </a:solidFill>
            <a:prstDash val="solid"/>
          </a:ln>
        </p:spPr>
      </p:sp>
      <p:pic>
        <p:nvPicPr>
          <p:cNvPr id="4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42" name="Text 3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ruler</a:t>
            </a:r>
            <a:endParaRPr lang="en-US" sz="1100" dirty="0"/>
          </a:p>
        </p:txBody>
      </p:sp>
      <p:sp>
        <p:nvSpPr>
          <p:cNvPr id="43" name="Shape 37"/>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4" name="Shape 38"/>
          <p:cNvSpPr/>
          <p:nvPr/>
        </p:nvSpPr>
        <p:spPr>
          <a:xfrm>
            <a:off x="3617976" y="3785616"/>
            <a:ext cx="329184" cy="329184"/>
          </a:xfrm>
          <a:prstGeom prst="ellipse">
            <a:avLst/>
          </a:prstGeom>
          <a:solidFill>
            <a:srgbClr val="2E8B57"/>
          </a:solidFill>
          <a:ln w="12700">
            <a:solidFill>
              <a:srgbClr val="2E8B57"/>
            </a:solidFill>
            <a:prstDash val="solid"/>
          </a:ln>
        </p:spPr>
      </p:sp>
      <p:sp>
        <p:nvSpPr>
          <p:cNvPr id="45" name="Text 39"/>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46" name="Text 40"/>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هٰذِهِ مِسْطَرَةٌ.</a:t>
            </a:r>
            <a:endParaRPr lang="ar-SA" sz="2200" dirty="0"/>
          </a:p>
        </p:txBody>
      </p:sp>
      <p:sp>
        <p:nvSpPr>
          <p:cNvPr id="47" name="Text 41"/>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a ruler.</a:t>
            </a:r>
            <a:endParaRPr lang="en-US" sz="1200" dirty="0"/>
          </a:p>
        </p:txBody>
      </p:sp>
      <p:sp>
        <p:nvSpPr>
          <p:cNvPr id="48"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F4-L03 · Classroom Objects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“PACK THE BAG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Pack the bag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تَجْهِيزِ الحَقِيبَةِ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plural of this</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كِتَابٌ.</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كِتَابَاتٌ</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كَاتِبُونَ</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كُتُبٌ</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Eraser: Choose the accurate demonstrative sentence.</a:t>
            </a:r>
            <a:endParaRPr lang="en-US" sz="125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هَذَا مِمْحَاةٌ.</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هَذِهِ مِمْحَايٌ.</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هَذِهِ مِمْحَاةٌ.</a:t>
            </a:r>
            <a:endParaRPr lang="ar-SA" sz="20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School bag: Ask one female what is in her bag.</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مَاذَا فِي حَقِيبَتِكِ؟</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مَاذَا فِي حَقِيبَتِكَ؟</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هَلْ عِنْدَهَا حَقِيبَةٌ؟</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Scissors: Choose “I do not have scissors”.</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عِنْدِي مَقَصٌّ.</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لَيْسَ عِنْدِي مَقَصٌّ.</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لَيْسَ عِنْدَكَ مَقَصٌّ.</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Pencil case: Choose “inside the pencil case”.</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دَاخِلَ المِقْلَمَةِ</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بَيْنَ المِقْلَمَةِ</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فَوْقَ المِقْلَمَةِ</a:t>
            </a:r>
            <a:endParaRPr lang="ar-SA" sz="2050" dirty="0"/>
          </a:p>
        </p:txBody>
      </p:sp>
      <p:sp>
        <p:nvSpPr>
          <p:cNvPr id="81" name="Shape 78"/>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3" name="Text 80"/>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4" name="Text 81"/>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m. → hādhā · f. → hādhihi</a:t>
            </a:r>
            <a:endParaRPr lang="en-US" sz="1250" dirty="0"/>
          </a:p>
          <a:p>
            <a:pPr algn="l" indent="0" marL="0">
              <a:buNone/>
            </a:pPr>
            <a:r>
              <a:rPr lang="en-US" sz="1250" dirty="0">
                <a:solidFill>
                  <a:srgbClr val="1E6B52"/>
                </a:solidFill>
                <a:latin typeface="Calibri" pitchFamily="34" charset="0"/>
                <a:cs typeface="Amiri" pitchFamily="2" charset="-78"/>
              </a:rPr>
              <a:t>boy: ‘indaka · girl: ‘indaki</a:t>
            </a:r>
            <a:endParaRPr lang="en-US" sz="1250" dirty="0"/>
          </a:p>
          <a:p>
            <a:pPr algn="l" indent="0" marL="0">
              <a:buNone/>
            </a:pPr>
            <a:r>
              <a:rPr lang="en-US" sz="1250" dirty="0">
                <a:solidFill>
                  <a:srgbClr val="1E6B52"/>
                </a:solidFill>
                <a:latin typeface="Calibri" pitchFamily="34" charset="0"/>
                <a:cs typeface="Amiri" pitchFamily="2" charset="-78"/>
              </a:rPr>
              <a:t>I don’t have: laysa ‘indī</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F4-L03 · Classroom Objects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MISSION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plural of this</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كِتَابٌ.</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كِتَابَاتٌ</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كَاتِبُونَ</a:t>
            </a:r>
            <a:endParaRPr lang="ar-SA" sz="1700" dirty="0"/>
          </a:p>
        </p:txBody>
      </p:sp>
      <p:sp>
        <p:nvSpPr>
          <p:cNvPr id="26" name="Shape 23"/>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كُتُبٌ</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كُتُبٌ</a:t>
            </a:r>
            <a:pPr algn="l" indent="0" marL="0">
              <a:buNone/>
            </a:pPr>
            <a:r>
              <a:rPr lang="en-US" sz="1050" i="1" dirty="0">
                <a:solidFill>
                  <a:srgbClr val="8A6D1E"/>
                </a:solidFill>
                <a:latin typeface="Calibri" pitchFamily="34" charset="0"/>
                <a:cs typeface="Amiri" pitchFamily="2" charset="-78"/>
              </a:rPr>
              <a:t> is the plural.</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Eraser: Choose the accurate demonstrative sentence.</a:t>
            </a:r>
            <a:endParaRPr lang="en-US" sz="1250" dirty="0"/>
          </a:p>
        </p:txBody>
      </p:sp>
      <p:sp>
        <p:nvSpPr>
          <p:cNvPr id="35" name="Shape 32"/>
          <p:cNvSpPr/>
          <p:nvPr/>
        </p:nvSpPr>
        <p:spPr>
          <a:xfrm>
            <a:off x="4459224" y="2490216"/>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هَذَا مِمْحَاةٌ.</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هَذِهِ مِمْحَايٌ.</a:t>
            </a:r>
            <a:endParaRPr lang="ar-SA" sz="1700" dirty="0"/>
          </a:p>
        </p:txBody>
      </p:sp>
      <p:sp>
        <p:nvSpPr>
          <p:cNvPr id="41" name="Shape 38"/>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2" name="Shape 39"/>
          <p:cNvSpPr/>
          <p:nvPr/>
        </p:nvSpPr>
        <p:spPr>
          <a:xfrm>
            <a:off x="4459224" y="3233928"/>
            <a:ext cx="256032" cy="256032"/>
          </a:xfrm>
          <a:prstGeom prst="ellipse">
            <a:avLst/>
          </a:prstGeom>
          <a:solidFill>
            <a:srgbClr val="2E8B57"/>
          </a:solidFill>
          <a:ln w="12700">
            <a:solidFill>
              <a:srgbClr val="2E8B57"/>
            </a:solidFill>
            <a:prstDash val="solid"/>
          </a:ln>
        </p:spPr>
      </p:sp>
      <p:sp>
        <p:nvSpPr>
          <p:cNvPr id="43" name="Text 40"/>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4" name="Text 41"/>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هَذِهِ مِمْحَاةٌ.</a:t>
            </a:r>
            <a:endParaRPr lang="ar-SA" sz="1700" dirty="0"/>
          </a:p>
        </p:txBody>
      </p:sp>
      <p:sp>
        <p:nvSpPr>
          <p:cNvPr id="45" name="Text 42"/>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مِمْحَاةٌ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46" name="Shape 43"/>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School bag: Ask one female what is in her bag.</a:t>
            </a:r>
            <a:endParaRPr lang="en-US" sz="1250" dirty="0"/>
          </a:p>
        </p:txBody>
      </p:sp>
      <p:sp>
        <p:nvSpPr>
          <p:cNvPr id="50" name="Shape 47"/>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1" name="Shape 48"/>
          <p:cNvSpPr/>
          <p:nvPr/>
        </p:nvSpPr>
        <p:spPr>
          <a:xfrm>
            <a:off x="8278368" y="2490216"/>
            <a:ext cx="256032" cy="256032"/>
          </a:xfrm>
          <a:prstGeom prst="ellipse">
            <a:avLst/>
          </a:prstGeom>
          <a:solidFill>
            <a:srgbClr val="2E8B57"/>
          </a:solidFill>
          <a:ln w="12700">
            <a:solidFill>
              <a:srgbClr val="2E8B57"/>
            </a:solidFill>
            <a:prstDash val="solid"/>
          </a:ln>
        </p:spPr>
      </p:sp>
      <p:sp>
        <p:nvSpPr>
          <p:cNvPr id="52"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3"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مَاذَا فِي حَقِيبَتِكِ؟</a:t>
            </a:r>
            <a:endParaRPr lang="ar-SA" sz="1700" dirty="0"/>
          </a:p>
        </p:txBody>
      </p:sp>
      <p:sp>
        <p:nvSpPr>
          <p:cNvPr id="54"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6"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مَاذَا فِي حَقِيبَتِكَ؟</a:t>
            </a:r>
            <a:endParaRPr lang="ar-SA" sz="1700" dirty="0"/>
          </a:p>
        </p:txBody>
      </p:sp>
      <p:sp>
        <p:nvSpPr>
          <p:cNvPr id="57" name="Shape 54"/>
          <p:cNvSpPr/>
          <p:nvPr/>
        </p:nvSpPr>
        <p:spPr>
          <a:xfrm>
            <a:off x="8278368" y="3233928"/>
            <a:ext cx="256032" cy="256032"/>
          </a:xfrm>
          <a:prstGeom prst="ellipse">
            <a:avLst/>
          </a:prstGeom>
          <a:solidFill>
            <a:srgbClr val="C9CED6"/>
          </a:solidFill>
          <a:ln w="12700">
            <a:solidFill>
              <a:srgbClr val="C9CED6"/>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هَلْ عِنْدَهَا حَقِيبَةٌ؟</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female listener ending is </a:t>
            </a:r>
            <a:pPr algn="l" indent="0" marL="0">
              <a:buNone/>
            </a:pPr>
            <a:r>
              <a:rPr lang="ar-SA" altLang="en-US" sz="1350" dirty="0">
                <a:solidFill>
                  <a:srgbClr val="8A6D1E"/>
                </a:solidFill>
                <a:latin typeface="Amiri" pitchFamily="2" charset="-78"/>
                <a:cs typeface="Amiri" pitchFamily="2" charset="-78"/>
              </a:rPr>
              <a:t>ـكِ</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Scissors: Choose “I do not have scissors”.</a:t>
            </a:r>
            <a:endParaRPr lang="en-US" sz="12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عِنْدِي مَقَصٌّ.</a:t>
            </a:r>
            <a:endParaRPr lang="ar-SA" sz="1700" dirty="0"/>
          </a:p>
        </p:txBody>
      </p:sp>
      <p:sp>
        <p:nvSpPr>
          <p:cNvPr id="68" name="Shape 65"/>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9" name="Shape 66"/>
          <p:cNvSpPr/>
          <p:nvPr/>
        </p:nvSpPr>
        <p:spPr>
          <a:xfrm>
            <a:off x="640080" y="5202936"/>
            <a:ext cx="256032" cy="256032"/>
          </a:xfrm>
          <a:prstGeom prst="ellipse">
            <a:avLst/>
          </a:prstGeom>
          <a:solidFill>
            <a:srgbClr val="2E8B57"/>
          </a:solidFill>
          <a:ln w="12700">
            <a:solidFill>
              <a:srgbClr val="2E8B57"/>
            </a:solidFill>
            <a:prstDash val="solid"/>
          </a:ln>
        </p:spPr>
      </p:sp>
      <p:sp>
        <p:nvSpPr>
          <p:cNvPr id="70"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1"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لَيْسَ عِنْدِي مَقَصٌّ.</a:t>
            </a:r>
            <a:endParaRPr lang="ar-SA" sz="1700" dirty="0"/>
          </a:p>
        </p:txBody>
      </p:sp>
      <p:sp>
        <p:nvSpPr>
          <p:cNvPr id="72" name="Shape 69"/>
          <p:cNvSpPr/>
          <p:nvPr/>
        </p:nvSpPr>
        <p:spPr>
          <a:xfrm>
            <a:off x="640080"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لَيْسَ عِنْدَكَ مَقَصٌّ.</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لَيْسَ عِنْدِي</a:t>
            </a:r>
            <a:pPr algn="l" indent="0" marL="0">
              <a:buNone/>
            </a:pPr>
            <a:r>
              <a:rPr lang="en-US" sz="1050" i="1" dirty="0">
                <a:solidFill>
                  <a:srgbClr val="8A6D1E"/>
                </a:solidFill>
                <a:latin typeface="Calibri" pitchFamily="34" charset="0"/>
                <a:cs typeface="Amiri" pitchFamily="2" charset="-78"/>
              </a:rPr>
              <a:t> gives the negative first-person answer.</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Pencil case: Choose “inside the pencil case”.</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دَاخِلَ المِقْلَمَةِ</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بَيْنَ المِقْلَمَةِ</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فَوْقَ المِقْلَمَةِ</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دَاخِلَ</a:t>
            </a:r>
            <a:pPr algn="l" indent="0" marL="0">
              <a:buNone/>
            </a:pPr>
            <a:r>
              <a:rPr lang="en-US" sz="1050" i="1" dirty="0">
                <a:solidFill>
                  <a:srgbClr val="8A6D1E"/>
                </a:solidFill>
                <a:latin typeface="Calibri" pitchFamily="34" charset="0"/>
                <a:cs typeface="Amiri" pitchFamily="2" charset="-78"/>
              </a:rPr>
              <a:t> means inside.</a:t>
            </a:r>
            <a:endParaRPr lang="en-US" sz="1050" dirty="0"/>
          </a:p>
        </p:txBody>
      </p:sp>
      <p:sp>
        <p:nvSpPr>
          <p:cNvPr id="91" name="Shape 88"/>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2" name="Shape 89"/>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3" name="Text 90"/>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4" name="Text 91"/>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m. → hādhā · f. → hādhihi</a:t>
            </a:r>
            <a:endParaRPr lang="en-US" sz="1250" dirty="0"/>
          </a:p>
          <a:p>
            <a:pPr algn="l" indent="0" marL="0">
              <a:buNone/>
            </a:pPr>
            <a:r>
              <a:rPr lang="en-US" sz="1250" dirty="0">
                <a:solidFill>
                  <a:srgbClr val="1E6B52"/>
                </a:solidFill>
                <a:latin typeface="Calibri" pitchFamily="34" charset="0"/>
                <a:cs typeface="Amiri" pitchFamily="2" charset="-78"/>
              </a:rPr>
              <a:t>boy: ‘indaka · girl: ‘indaki</a:t>
            </a:r>
            <a:endParaRPr lang="en-US" sz="1250" dirty="0"/>
          </a:p>
          <a:p>
            <a:pPr algn="l" indent="0" marL="0">
              <a:buNone/>
            </a:pPr>
            <a:r>
              <a:rPr lang="en-US" sz="1250" dirty="0">
                <a:solidFill>
                  <a:srgbClr val="1E6B52"/>
                </a:solidFill>
                <a:latin typeface="Calibri" pitchFamily="34" charset="0"/>
                <a:cs typeface="Amiri" pitchFamily="2" charset="-78"/>
              </a:rPr>
              <a:t>I don’t have: laysa ‘indī</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F4-L03 · Classroom Objects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هَذَا مِسْطَرَةٌ.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Ruler: hādhā or hādhihi?</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يَا مَرْيَمُ، هَلْ عِنْدَكَ قَلَمٌ؟</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Talking to a girl: which ending?</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لَا عِنْدِي غِرَاءٌ.</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 don’t have: which word?</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F4-L03 · Classroom Objects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هَذَا مِسْطَرَةٌ.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هَذِهِ مِسْطَرَةٌ.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Ruler is feminine (</a:t>
            </a:r>
            <a:pPr algn="l" indent="0" marL="0">
              <a:buNone/>
            </a:pPr>
            <a:r>
              <a:rPr lang="ar-SA" altLang="en-US" sz="1500" b="1" dirty="0">
                <a:solidFill>
                  <a:srgbClr val="1B3B6F"/>
                </a:solidFill>
                <a:latin typeface="Amiri" pitchFamily="2" charset="-78"/>
                <a:cs typeface="Amiri" pitchFamily="2" charset="-78"/>
              </a:rPr>
              <a:t>ـة</a:t>
            </a:r>
            <a:pPr algn="l" indent="0" marL="0">
              <a:buNone/>
            </a:pPr>
            <a:r>
              <a:rPr lang="en-US" sz="1150" b="1" dirty="0">
                <a:solidFill>
                  <a:srgbClr val="1B3B6F"/>
                </a:solidFill>
                <a:latin typeface="Calibri" pitchFamily="34" charset="0"/>
                <a:cs typeface="Amiri" pitchFamily="2" charset="-78"/>
              </a:rPr>
              <a:t>): hādhihi.</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يَا مَرْيَمُ، هَلْ عِنْدَكَ قَلَمٌ؟</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يَا مَرْيَمُ، هَلْ عِنْدَكِ قَلَمٌ؟</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female listener: ‘indaki.</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لَا عِنْدِي غِرَاءٌ.</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لَيْسَ عِنْدِي غِرَاءٌ.</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 don’t have = laysa ‘indī.</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F4-L03 · Classroom Objects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Layla’s school bag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notebooks does she have?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not have today?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ruler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notebook</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dictionary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on her desk?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tablet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printer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laptop</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the pencil case?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blue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red</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purple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under the chair?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own bag</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friend’s bag</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dictionary</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Five headings: bag · missing · desk · colour · under the chair.</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F4-L03 · Classroom Objects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F4-L03</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1B3B6F"/>
                </a:solidFill>
                <a:latin typeface="Amiri" pitchFamily="2" charset="-78"/>
                <a:cs typeface="Amiri" pitchFamily="2" charset="-78"/>
              </a:rPr>
              <a:t>اِسْمِي لَيْلَى. فِي حَقِيبَتِي كِتَابُ العُلُومِ، وَدَفْتَرَانِ، وَثَلَاثَةُ أَقْلَامٍ، وَمِسْطَرَةٌ، وَمِمْحَاةٌ.</a:t>
            </a:r>
            <a:endParaRPr lang="ar-SA" sz="18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name is Layla. In my bag there is the science book, two exercise books, three pens, a ruler and an eraser.</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لَيْسَ عِنْدِي قَامُوسٌ اليَوْمَ.</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don’t have a dictionary today.</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عَلَى مَكْتَبِي حَاسُوبٌ مَحْمُولٌ، وَبِجَانِبِ الحَاسُوبِ مِقْلَمَةٌ زَرْقَاءُ.</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my desk there is a laptop, and beside the computer a blue pencil case.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تَحْتَ الكُرْسِيِّ حَقِيبَةُ صَدِيقَتِي.</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Under the chair is my friend’s bag.</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أَسْتَخْدِمُ القَلَمَ وَالدَّفْتَرَ فِي حِصَّةِ اللُّغَةِ العَرَبِيَّةِ.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use the pen and the exercise book in the Arabic lesson.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F4-L03 · Classroom Objects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notebooks does she have?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two</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three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دَفْتَرَانِ</a:t>
            </a:r>
            <a:pPr algn="l" indent="0" marL="0">
              <a:buNone/>
            </a:pPr>
            <a:r>
              <a:rPr lang="en-US" sz="1050" i="1" dirty="0">
                <a:solidFill>
                  <a:srgbClr val="8A6D1E"/>
                </a:solidFill>
                <a:latin typeface="Calibri" pitchFamily="34" charset="0"/>
                <a:cs typeface="Amiri" pitchFamily="2" charset="-78"/>
              </a:rPr>
              <a:t> means two notebooks.</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not have today?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ruler</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notebook</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dictionary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لَيْسَ عِنْدِي قَامُوسٌ اليَوْمَ.</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on her desk?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tablet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printer</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laptop</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عَلَى مَكْتَبِي حَاسُوبٌ مَحْمُولٌ.</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the pencil case?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blue</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red</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purple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describes it as </a:t>
            </a:r>
            <a:pPr algn="l" indent="0" marL="0">
              <a:buNone/>
            </a:pPr>
            <a:r>
              <a:rPr lang="ar-SA" altLang="en-US" sz="1350" dirty="0">
                <a:solidFill>
                  <a:srgbClr val="8A6D1E"/>
                </a:solidFill>
                <a:latin typeface="Amiri" pitchFamily="2" charset="-78"/>
                <a:cs typeface="Amiri" pitchFamily="2" charset="-78"/>
              </a:rPr>
              <a:t>زَرْقَاءُ</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under the chair?</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 own bag</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her friend’s bag</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dictionary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تَحْتَ الكُرْسِيِّ حَقِيبَةُ صَدِيقَتِي.</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Five headings: bag · missing · desk · colour · under the chair.</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F4-L03 · Classroom Objects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 PROFILE A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Omar’s bag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المَلَفُّ (أ)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F4-L03</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أَنَا عُمَرُ. هَذِهِ حَقِيبَتِي المَدْرَسِيَّةُ.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Omar · this is my school bag (f.)</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فِيهَا كِتَابٌ، وَدَفْتَرٌ، وَقَلَمُ رَصَاصٍ، وَمِسْطَرَةٌ.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it: book, exercise book, pencil, ruler</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عِنْدِي أَيْضًا آلَةٌ حَاسِبَةٌ صَغِيرَةٌ.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Also: a small calculator</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لَيْسَ عِنْدِي غِرَاءٌ.</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Missing: glue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عَلَى مَكْتَبِي قَامُوسٌ وَحَاسُوبٌ.</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the desk: dictionary + computer</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F4-L03 · Classroom Objects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 PROFILE B (WEBSITE) · FLEX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Huda’s pencil case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المَلَفُّ (ب)</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F4-L03</a:t>
            </a:r>
            <a:endParaRPr lang="en-US" sz="850" dirty="0"/>
          </a:p>
        </p:txBody>
      </p:sp>
      <p:sp>
        <p:nvSpPr>
          <p:cNvPr id="17" name="Shape 14"/>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8" name="Text 15"/>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اِسْمِي هُدَى.</a:t>
            </a:r>
            <a:endParaRPr lang="ar-SA" sz="2000" dirty="0"/>
          </a:p>
        </p:txBody>
      </p:sp>
      <p:sp>
        <p:nvSpPr>
          <p:cNvPr id="19" name="Text 16"/>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Huda</a:t>
            </a:r>
            <a:endParaRPr lang="en-US" sz="1250" dirty="0"/>
          </a:p>
        </p:txBody>
      </p:sp>
      <p:sp>
        <p:nvSpPr>
          <p:cNvPr id="20" name="Shape 17"/>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21" name="Text 18"/>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فِي مِقْلَمَتِي ثَلَاثَةُ أَقْلَامٍ وَمِمْحَاةٌ وَمِبْرَاةٌ.</a:t>
            </a:r>
            <a:endParaRPr lang="ar-SA" sz="2000" dirty="0"/>
          </a:p>
        </p:txBody>
      </p:sp>
      <p:sp>
        <p:nvSpPr>
          <p:cNvPr id="22" name="Text 19"/>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Pencil case: 3 pens, eraser, sharpener</a:t>
            </a:r>
            <a:endParaRPr lang="en-US" sz="1250" dirty="0"/>
          </a:p>
        </p:txBody>
      </p:sp>
      <p:sp>
        <p:nvSpPr>
          <p:cNvPr id="23" name="Shape 20"/>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4" name="Text 21"/>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حَقِيبَتِي بَنَفْسَجِيَّةٌ، وَفِيهَا كِتَابَانِ وَأَوْرَاقٌ.</a:t>
            </a:r>
            <a:endParaRPr lang="ar-SA" sz="2000" dirty="0"/>
          </a:p>
        </p:txBody>
      </p:sp>
      <p:sp>
        <p:nvSpPr>
          <p:cNvPr id="25" name="Text 22"/>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Bag: purple · two books + papers</a:t>
            </a:r>
            <a:endParaRPr lang="en-US" sz="1250" dirty="0"/>
          </a:p>
        </p:txBody>
      </p:sp>
      <p:sp>
        <p:nvSpPr>
          <p:cNvPr id="26" name="Shape 23"/>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7" name="Text 24"/>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عَلَى الطَّاوِلَةِ جِهَازٌ لَوْحِيٌّ،</a:t>
            </a:r>
            <a:endParaRPr lang="ar-SA" sz="2000" dirty="0"/>
          </a:p>
        </p:txBody>
      </p:sp>
      <p:sp>
        <p:nvSpPr>
          <p:cNvPr id="28" name="Text 25"/>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the table: a tablet</a:t>
            </a:r>
            <a:endParaRPr lang="en-US" sz="1250" dirty="0"/>
          </a:p>
        </p:txBody>
      </p:sp>
      <p:sp>
        <p:nvSpPr>
          <p:cNvPr id="29" name="Shape 26"/>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30" name="Text 27"/>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وَبِجَانِبِهِ قَلَمُ حِبْرٍ أَسْوَدُ.</a:t>
            </a:r>
            <a:endParaRPr lang="ar-SA" sz="2000" dirty="0"/>
          </a:p>
        </p:txBody>
      </p:sp>
      <p:sp>
        <p:nvSpPr>
          <p:cNvPr id="31" name="Text 28"/>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Beside it: a black ink pen</a:t>
            </a:r>
            <a:endParaRPr lang="en-US" sz="12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F4-L03 · Classroom Objects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QUESTIONS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Omar or Huda?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extra device does Omar have?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tablet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small calculator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printer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Omar not have?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ruler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notebook</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glue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small tools are in Huda’s pencil case?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eraser and a sharpener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glue and scissors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ruler and a calculator</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Huda’s bag?</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blue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purple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black</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beside the device?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black ink pen</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blue pencil</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ruler</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Find the place phrase,</a:t>
            </a:r>
            <a:endParaRPr lang="en-US" sz="1250" dirty="0"/>
          </a:p>
          <a:p>
            <a:pPr algn="l" indent="0" marL="0">
              <a:buNone/>
            </a:pPr>
            <a:r>
              <a:rPr lang="en-US" sz="1250" dirty="0">
                <a:solidFill>
                  <a:srgbClr val="1F2A37"/>
                </a:solidFill>
                <a:latin typeface="Calibri" pitchFamily="34" charset="0"/>
                <a:cs typeface="Amiri" pitchFamily="2" charset="-78"/>
              </a:rPr>
              <a:t>then the object after it.</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F4-L03 · Classroom Objects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extra device does Omar have?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tablet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small calculator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printer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has </a:t>
            </a:r>
            <a:pPr algn="l" indent="0" marL="0">
              <a:buNone/>
            </a:pPr>
            <a:r>
              <a:rPr lang="ar-SA" altLang="en-US" sz="1350" dirty="0">
                <a:solidFill>
                  <a:srgbClr val="8A6D1E"/>
                </a:solidFill>
                <a:latin typeface="Amiri" pitchFamily="2" charset="-78"/>
                <a:cs typeface="Amiri" pitchFamily="2" charset="-78"/>
              </a:rPr>
              <a:t>آلَةٌ حَاسِبَةٌ صَغِيرَةٌ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Omar not have?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ruler</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notebook</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glue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says </a:t>
            </a:r>
            <a:pPr algn="l" indent="0" marL="0">
              <a:buNone/>
            </a:pPr>
            <a:r>
              <a:rPr lang="ar-SA" altLang="en-US" sz="1350" dirty="0">
                <a:solidFill>
                  <a:srgbClr val="8A6D1E"/>
                </a:solidFill>
                <a:latin typeface="Amiri" pitchFamily="2" charset="-78"/>
                <a:cs typeface="Amiri" pitchFamily="2" charset="-78"/>
              </a:rPr>
              <a:t>لَيْسَ عِنْدِي غِرَاءٌ</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small tools are in Huda’s pencil case?</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eraser and a sharpener</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glue and scissors</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ruler and a calculator</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مِمْحَاةٌ وَمِبْرَاةٌ.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Huda’s bag?</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blue</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purple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black</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حَقِيبَتِي بَنَفْسَجِيَّةٌ.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beside the device?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black ink pen</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blue pencil</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ruler</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بِجَانِبِهِ قَلَمُ حِبْرٍ أَسْوَدُ.</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Find the place phrase,</a:t>
            </a:r>
            <a:endParaRPr lang="en-US" sz="1250" dirty="0"/>
          </a:p>
          <a:p>
            <a:pPr algn="l" indent="0" marL="0">
              <a:buNone/>
            </a:pPr>
            <a:r>
              <a:rPr lang="en-US" sz="1250" dirty="0">
                <a:solidFill>
                  <a:srgbClr val="1F2A37"/>
                </a:solidFill>
                <a:latin typeface="Calibri" pitchFamily="34" charset="0"/>
                <a:cs typeface="Amiri" pitchFamily="2" charset="-78"/>
              </a:rPr>
              <a:t>then the object after it.</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F4-L03 · Classroom Objects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 about classroom objects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فِي حَقِيبَتِكَ؟ / مَاذَا فِي حَقِيبَتِكِ؟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هَلْ عِنْدَكَ قَامُوسٌ؟ / هَلْ عِنْدَكِ قَامُوسٌ؟</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عَلَى مَكْتَبِكَ؟ وَمَاذَا تَحْتَ الكُرْسِيِّ؟</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أَهَمُّ أَدَاةٍ فِي حَقِيبَتِكَ؟ وَلِمَاذَا؟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فِي حَقِيبَتِي ___ وَ ___ وَ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cs typeface="Amiri" pitchFamily="2" charset="-78"/>
              </a:rPr>
              <a:t>نَعَمْ، عِنْدِي ___ . / لَا، لَيْسَ عِنْدِي ___ .</a:t>
            </a:r>
            <a:endParaRPr lang="ar-SA" sz="145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عَلَى مَكْتَبِي ___ ، وَتَحْتَ الكُرْسِيِّ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أَهَمُّ أَدَاةٍ ___ لِأَنَّهُ / لِأَنَّهَا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هَلْ عِنْدَكِ مِسْطَرَةٌ؟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Do you (f.) have a ruler?</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نَعَمْ، عِنْدِي مِسْطَرَةٌ. هَلْ عِنْدَكِ غِرَاءٌ؟ — لَا، لَيْسَ عِنْدِي غِرَاءٌ.</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Yes, I have a ruler. Do you have glue? — No, I don’t have glue.</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F4-L03 · Classroom Objects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7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Seven accurate modelled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This is … · In my bag … · I don’t have … using the models.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7–9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plurals, colours and two location phrases.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Add plurals, colours and two location phrases.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9+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Compare two bags or explain which objects are most useful.</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Compare two bags or explain the most useful objects.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F4-L03 · Classroom Objects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عَلَى مَكْتَبِي حَاسُوبٌ.</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 my desk there is a computer.</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تَحْتَ الكُرْسِيِّ حَقِيبَةٌ.</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Under the chair there is a bag.</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بِجَانِبِ الحَاسُوبِ مِقْلَمَةٌ زَرْقَاءُ.</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Beside the computer there is a blue pencil case.</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هَلْ عِنْدَكِ آلَةٌ حَاسِبَةٌ؟</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Do you (f.) have a calculator?</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عِنْدِي كِتَابَانِ وَثَلَاثَةُ أَقْلَامٍ.</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have two books and three pens.</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هَذِهِ حَقِيبَتِي المَدْرَسِيَّةُ.</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is my school bag.</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حَقِيبَتِي كِتَابٌ وَقَلَمٌ.</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bag there is a book and a pen.</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عِنْدِي مِسْطَرَةٌ.</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have a ruler.</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لَيْسَ عِنْدِي قَامُوسٌ.</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don’t have a dictionary.</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هَذَا قَلَمٌ.</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is a pen.</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كِتَابٌ  ·  دَفْتَرٌ  ·  قَلَمٌ  ·  مِسْطَرَةٌ  ·  مِقْلَمَةٌ  ·  حَقِيبَةٌ  ·  هَذَا  ·  هَذِهِ  ·  عِنْدِي  ·  لَيْسَ عِنْدِي  ·  فِي  ·  عَلَى</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F4-L03 · Classroom Objects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هَذِهِ حَقِيبَتِي المَدْرَسِيَّةُ. فِي حَقِيبَتِي كِتَابٌ وَدَفْتَرَانِ وَثَلَاثَةُ أَقْلَامٍ وَمِسْطَرَةٌ وَمِمْحَاةٌ. عِنْدِي أَيْضًا آلَةٌ حَاسِبَةٌ صَغِيرَةٌ، وَلَكِنْ لَيْسَ عِنْدِي قَامُوسٌ اليَوْمَ. عَلَى مَكْتَبِي حَاسُوبٌ مَحْمُولٌ، وَبِجَانِبِ الحَاسُوبِ مِقْلَمَةٌ زَرْقَاءُ. تَحْتَ الكُرْسِيِّ حَقِيبَةُ صَدِيقَتِي.</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This is my school bag. In my bag there is a book, two exercise books, three pens, a ruler and an eraser. I also have a small calculator, but I don’t have a dictionary today. On my desk there is a laptop, and beside the computer a blue pencil case. Under the chair is my friend’s bag.</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demonstrative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objects + numbers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negative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locations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F4-L03 · Classroom Objects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named at least eight objects.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hādhā for masculine, hādhihi for feminine objects.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‘indī and laysa ‘indī.</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gave two locations.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counted objects or compared two bags.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F4-L03 · Classroom Objects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demonstrative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هَذِهِ طَابِعَةٌ.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هَذَا طَابِعَةٌ.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هَذِهِ طَابِعٌ.</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one female if she has a calculator.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هَلْ عِنْدَكَ آلَةٌ حَاسِبَةٌ؟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هَلْ عِنْدَكِ آلَةٌ حَاسِبَةٌ؟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هَلْ عِنْدَهَا آلَةٌ حَاسِبَةٌ؟</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location sentence.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تَحْتَ الكُرْسِيِّ حَقِيبَةٌ.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تَحْتَ الكُرْسِيُّ حَقِيبَةٌ.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حَقِيبَةٌ تَحْتَ الكُرْسِيُّ فِي.</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F4-L03 · Classroom Objects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demonstrative sentence.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هَذِهِ طَابِعَةٌ.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هَذَا طَابِعَةٌ.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هَذِهِ طَابِعٌ.</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طَابِعَةٌ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one female if she has a calculator.</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هَلْ عِنْدَكَ آلَةٌ حَاسِبَةٌ؟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هَلْ عِنْدَكِ آلَةٌ حَاسِبَةٌ؟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هَلْ عِنْدَهَا آلَةٌ حَاسِبَةٌ؟</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عِنْدَكِ</a:t>
            </a:r>
            <a:pPr algn="l" indent="0" marL="0">
              <a:buNone/>
            </a:pPr>
            <a:r>
              <a:rPr lang="en-US" sz="1050" i="1" dirty="0">
                <a:solidFill>
                  <a:srgbClr val="8A6D1E"/>
                </a:solidFill>
                <a:latin typeface="Calibri" pitchFamily="34" charset="0"/>
                <a:cs typeface="Amiri" pitchFamily="2" charset="-78"/>
              </a:rPr>
              <a:t> addresses one female.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location sentence.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تَحْتَ الكُرْسِيِّ حَقِيبَةٌ.</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تَحْتَ الكُرْسِيُّ حَقِيبَةٌ.</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حَقِيبَةٌ تَحْتَ الكُرْسِيُّ فِي.</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model uses the location phrase accurately.</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F4-L03 · Classroom Objects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F4-L04: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F4-L04 · Likes, Dislikes and Preferences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كَثِيرًا</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lot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قَلِيلًا</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little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فِي رَأْيِي</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in my opinion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أُفَضِّلُ … عَلَى …</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prefer … to …</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هَلْ تُحِبُّ؟</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do you like?</a:t>
            </a:r>
            <a:pPr indent="0" marL="0">
              <a:buNone/>
            </a:pPr>
            <a:r>
              <a:rPr lang="en-US" sz="1000" i="1" dirty="0">
                <a:solidFill>
                  <a:srgbClr val="5A6472"/>
                </a:solidFill>
                <a:latin typeface="Calibri" pitchFamily="34" charset="0"/>
                <a:cs typeface="Amiri" pitchFamily="2" charset="-78"/>
              </a:rPr>
              <a:t>  f. تُحِبِّينَ</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Which school subject do you like a lot?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أُحِبُّ … كَثِيرًا.</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F4-L03: Pack the Bag Mission (14) and the picture game.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school-bag inventory: 5–8 sentences with one negative sentence.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7–9 sentences describing your bag and desk with numbers and colours.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36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F4-L03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450" b="1" dirty="0">
                <a:solidFill>
                  <a:srgbClr val="FFFFFF"/>
                </a:solidFill>
                <a:latin typeface="Cambria" pitchFamily="34" charset="0"/>
                <a:cs typeface="Amiri" pitchFamily="2" charset="-78"/>
              </a:rPr>
              <a:t>F4-L04 · Likes, Dislikes and Preferences</a:t>
            </a:r>
            <a:endParaRPr lang="en-US" sz="24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مَا أُحِبُّ وَمَا لَا أُحِبُّ وَمَا أُفَضِّلُ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m. → hādhā · f. → hādhihi · I have ‘indī · I don’t have laysa ‘indī.</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F4-L03 · Classroom Objects — What Is in Your Bag?</dc:title>
  <dc:subject>PptxGenJS Presentation</dc:subject>
  <dc:creator>Al Madina Online School · Arabic Department</dc:creator>
  <cp:lastModifiedBy>Al Madina Online School · Arabic Department</cp:lastModifiedBy>
  <cp:revision>1</cp:revision>
  <dcterms:created xsi:type="dcterms:W3CDTF">2026-10-11T06:41:37Z</dcterms:created>
  <dcterms:modified xsi:type="dcterms:W3CDTF">2026-10-11T06:41:37Z</dcterms:modified>
</cp:coreProperties>
</file>