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F4 My School › Lesson 3 (F4-L03). Website sections used: the eight-question F4 retrieval bridge, the classroom-object vault (12 official items with gender and plurals + wider practical bank; مَكْتَبٌ = desk or office) and the 16-question check, هَذَا / هَذِهِ (14), possession عِنْدِي / عِنْدَكَ / عِنْدَكِ / عِنْدَهُ / عِنْدَهَا and لَيْسَ عِنْدِي (12), location and counting (12), the school-bag inventory, Pack the Bag Mission (14), Layla’s bag (listening, 10), Omar and Huda (reading, 12), speaking (4 prompts), the 7–9-sentence description and the 16-question checkpoint. Picture match: website visual game.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10 objects + هَذَا / هَذِهِ + عِنْدِي / لَيْسَ عِنْدِي + فِي حَقِيبَتِي. Develop: asking a boy or a girl (عِنْدَكَ / عِنْدَكِ), plurals and two locations. Stretch: counting (dual and 3–10, website optional extension) and comparing two bags.
• Website route: recognise → choose → locate → communicate. Learn every noun WITH its model sentence (the ـة ending is a strong clue, not a rule).
• Real or invented bags are equally acceptable (website) — some students may not have every item.
• Urdu bridge: کتاب، قلم، دفتر، کرسی، قاموس are shared words; مکتب (Urdu school) = Arabic desk / office.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objects prepared at home at the end of F4-L02. Questions 3–5 are the website “F4 retrieval bridge” (feminine demonstrative, I have, 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 this (f.) follows the Arabic gender of the OBJECT, not the speaker: hādhā qalamun · hādhihi misṭaratun.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کتاب، قلم، قاموس and کرسی are the same words. FALSE FRIENDS: Urdu دفتر = office (Arabic دَفْتَرٌ = exercise book); Urdu مکتب = school (Arabic مَكْتَبٌ = desk or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OFFICIAL CLASSROOM BANK (website, masculine items). Also: غِرَاءٌ (glue, m.), وَرَقٌ / أَوْرَاقٌ (paper / sheets; وَرَقَةٌ = one sheet). Website distinction: مَكْتَبٌ can mean a desk or an office — عَلَى مَكْتَبِي كِتَابٌ = there is a book on my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FEMININE ITEMS (website). Wider practical bank (website): قَلَمُ رَصَاصٍ (pencil), قَلَمُ حِبْرٍ (ink pen), مِبْرَاةٌ (sharpener), مَقَصٌّ (scissors), حَاسُوبٌ مَحْمُولٌ (laptop), جِهَازٌ لَوْحِيٌّ (tablet), شَاشَةٌ (screen), لَوْحَةُ مَفَاتِيحَ (keyboard), فَأْرَةُ الحَاسُوبِ (mouse), طَابِعَةٌ (printer), مَلَفٌّ (folder), كُرْسِيٌّ (chair), طَاوِلَةٌ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sections 3 “Choose هَذَا or هَذِهِ” and 4 “Say what you have”.
Website: “Do not guess from English — Arabic noun gender controls the choice. The ending ـة is a strong feminine clue, but always learn the word with its model sentence.”
Adjectives agree too (website): هَذِهِ مِقْلَمَةٌ زَرْقَاءُ · هَذَا كِتَابٌ جَدِيدٌ.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section 5 “Say where each object is”. Website location bank: فِي حَقِيبَتِي · عَلَى مَكْتَبِي · تَحْتَ الكُرْسِيِّ · بِجَانِبِ الحَاسُوبِ · أَمَامَ السَّبُّورَةِ · خَلْفَ الكِتَابِ · بَيْنَ الدَّفْتَرِ وَالقَامُوسِ · دَاخِلَ المِقْلَمَةِ.
Counting is an OPTIONAL extension (website): قَلَمٌ وَاحِدٌ · قَلَمَانِ · ثَلَاثَةُ أَقْلَامٍ / مِسْطَرَةٌ وَاحِدَةٌ · مِسْطَرَتَانِ · ثَلَاثُ مَسَاطِرَ (3–10 take the opposite gender).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gender laboratory questions 2–3 and possession check questions 3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(Layla) and Omar’s profile as the model. Hold up real objects on camera if you can: “hādhā or hādhihi?”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Classroom objects”)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هٰذَا for the pencil but هٰذِهِ for the bag and the ruler? Other cards for homework: كِتَابٌ، كُرْسِيٌّ، قَلَمٌ.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Classroom objects”)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هٰذَا for the pencil but هٰذِهِ for the bag and the ruler? Other cards for homework: كِتَابٌ، كُرْسِيٌّ، قَلَمٌ.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Pack the Bag rounds (plural, demonstrative, ask a girl, negative, inside).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masculine or feminine? Who is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اِسْمِي لَيْلَى. فِي حَقِيبَتِي كِتَابُ العُلُومِ، وَدَفْتَرَانِ، وَثَلَاثَةُ أَقْلَامٍ، وَمِسْطَرَةٌ، وَمِمْحَاةٌ. لَيْسَ عِنْدِي قَامُوسٌ اليَوْمَ. عَلَى مَكْتَبِي حَاسُوبٌ مَحْمُولٌ، وَبِجَانِبِ الحَاسُوبِ مِقْلَمَةٌ زَرْقَاءُ. تَحْتَ الكُرْسِيِّ حَقِيبَةُ صَدِيقَتِي. أَسْتَخْدِمُ القَلَمَ وَالدَّفْتَرَ فِي حِصَّةِ اللُّغَةِ العَرَبِيَّةِ.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A (website, complete). Find: one demonstrative, one negative sentence and one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PROFILE B (website, complete). Stretch: counting (ثَلَاثَةُ أَقْلَامٍ، كِتَابَانِ) and colour agreement (حَقِيبَتِي بَنَفْسَجِيَّةٌ · قَلَمُ حِبْرٍ أَسْوَدُ).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3, 4, 7, 8 and 11.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“Speak about classroom objects” — answer with a complete sentence, then add one colour, quantity, location or reason. Prompts (website):
• My school bag: Describe five objects and one missing object.
• My desk: Describe what is on, under and beside your desk.
• Object interview: Ask and answer three هَلْ عِنْدَكَ / عِنْدَكِ questions.
• Digital classroom: Describe four digital classroom objects.
Website checklist (1–6): five objects · هَذَا / هَذِهِ · عِنْدِي or answering هَلْ عِنْدَكَ؟ · one location · one extra detail · clear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Seven accurate modelled sentences. · Develop — Add plurals, colours and two location phrases. · Stretch — Compare two bags or explain which objects are most useful.
Website writing task (Stretch): Website writing task: 7–9 connected sentences about a real or invented school bag or desk — at least eight objects, two demonstratives, one negative sentence, two locations and two extra details (colour, quantity or reason).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Built from the website listening (Layla) and Omar’s profile. Stretch: compare with Huda’s bag (Profile B).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(F4-L04 · Likes, Dislikes and Preferences) will spend class time USING this language, so students prepare it tonight — short, simple, easy to access (school guidance: “Simple, Short, Interesting, Relevant, Easy to access”). The five words and phrases come from the website F4-L04 preference language.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Classroom Objects — What Is in Your Bag?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أَدَوَاتُ الفَصْلِ — مَاذَا فِي حَقِيبَتِكَ؟</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everyday classroom objects, choose hādhā or hādhihi by gender, say what you have and do not have, and locate objects precisely in a bag or on a desk.</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F4-L03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Classroom objects, this / this (f.), then I have and where it is.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Pack the Bag mission, listen to Layla, read Omar and Huda.</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F4-L04.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دَفْتَرٌ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dictionary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exercise book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ruler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حَقِيبَةٌ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book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demonstrative.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“I have”?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عِنْدَهَا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preposition means “on”?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دَفْتَرٌ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dictionary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exercise book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ruler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حَقِيبَةٌ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bag</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book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demonstrative.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هَذِهِ</a:t>
            </a:r>
            <a:pPr algn="l" indent="0" marL="0">
              <a:buNone/>
            </a:pPr>
            <a:r>
              <a:rPr lang="en-US" sz="1050" i="1" dirty="0">
                <a:solidFill>
                  <a:srgbClr val="8A6D1E"/>
                </a:solidFill>
                <a:latin typeface="Calibri" pitchFamily="34" charset="0"/>
                <a:cs typeface="Amiri" pitchFamily="2" charset="-78"/>
              </a:rPr>
              <a:t> introduces a feminine singular noun.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“I have”?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عِنْدَكَ</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عِنْدَهَا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عِنْدِي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عِنْدِي</a:t>
            </a:r>
            <a:pPr algn="l" indent="0" marL="0">
              <a:buNone/>
            </a:pPr>
            <a:r>
              <a:rPr lang="en-US" sz="1050" i="1" dirty="0">
                <a:solidFill>
                  <a:srgbClr val="8A6D1E"/>
                </a:solidFill>
                <a:latin typeface="Calibri" pitchFamily="34" charset="0"/>
                <a:cs typeface="Amiri" pitchFamily="2" charset="-78"/>
              </a:rPr>
              <a:t> means I have.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preposition means “on”?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تَحْتَ</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means on.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 this (f.) follows the Arabic gender of the OBJECT, not the speaker: hādhā qalamun · hādhihi misṭaratun.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هَذَا</a:t>
            </a:r>
            <a:pPr rtl="1" algn="ctr" indent="0" marL="0">
              <a:buNone/>
            </a:pPr>
            <a:r>
              <a:rPr lang="ar-SA" altLang="en-US" sz="2400" b="1" dirty="0">
                <a:solidFill>
                  <a:srgbClr val="1B3B6F"/>
                </a:solidFill>
                <a:latin typeface="Amiri" pitchFamily="2" charset="-78"/>
                <a:ea typeface="Amiri" pitchFamily="2" charset="-78"/>
                <a:cs typeface="Amiri" pitchFamily="2" charset="-78"/>
              </a:rPr>
              <a:t> قَلَمٌ · </a:t>
            </a:r>
            <a:pPr rtl="1" algn="ctr" indent="0" marL="0">
              <a:buNone/>
            </a:pPr>
            <a:r>
              <a:rPr lang="ar-SA" altLang="en-US" sz="2400" b="1" dirty="0">
                <a:solidFill>
                  <a:srgbClr val="D6336C"/>
                </a:solidFill>
                <a:latin typeface="Amiri" pitchFamily="2" charset="-78"/>
                <a:ea typeface="Amiri" pitchFamily="2" charset="-78"/>
                <a:cs typeface="Amiri" pitchFamily="2" charset="-78"/>
              </a:rPr>
              <a:t>هَذِهِ</a:t>
            </a:r>
            <a:pPr rtl="1" algn="ctr" indent="0" marL="0">
              <a:buNone/>
            </a:pPr>
            <a:r>
              <a:rPr lang="ar-SA" altLang="en-US" sz="2400" b="1" dirty="0">
                <a:solidFill>
                  <a:srgbClr val="1B3B6F"/>
                </a:solidFill>
                <a:latin typeface="Amiri" pitchFamily="2" charset="-78"/>
                <a:ea typeface="Amiri" pitchFamily="2" charset="-78"/>
                <a:cs typeface="Amiri" pitchFamily="2" charset="-78"/>
              </a:rPr>
              <a:t> مِسْطَرَةٌ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complete core classroom-object bank.</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hādhā / hādhihi according to noun gender.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and answer what someone has.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where objects are in a bag or on a desk.</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ten classroom objects.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 have and don’t have.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a boy or a girl what they have.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where two objects are.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count objects (two, three …).</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bags.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Classroom objects with gender and plurals, possession and location. Core: ten objects, this / this (f.), I have.</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Classroom objects · 12 + 16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This · I have · you have</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Location and counting</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كِتَابٌ</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‎کتاب‎ </a:t>
            </a:r>
            <a:pPr indent="0" marL="0">
              <a:buNone/>
            </a:pPr>
            <a:r>
              <a:rPr lang="en-US" sz="950" b="1" dirty="0">
                <a:solidFill>
                  <a:srgbClr val="2E8B57"/>
                </a:solidFill>
                <a:latin typeface="Calibri" pitchFamily="34" charset="0"/>
                <a:cs typeface="Amiri" pitchFamily="2" charset="-78"/>
              </a:rPr>
              <a:t> kitāb · book</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قَلَمٌ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‎قلم‎ </a:t>
            </a:r>
            <a:pPr indent="0" marL="0">
              <a:buNone/>
            </a:pPr>
            <a:r>
              <a:rPr lang="en-US" sz="950" b="1" dirty="0">
                <a:solidFill>
                  <a:srgbClr val="2E8B57"/>
                </a:solidFill>
                <a:latin typeface="Calibri" pitchFamily="34" charset="0"/>
                <a:cs typeface="Amiri" pitchFamily="2" charset="-78"/>
              </a:rPr>
              <a:t> qalam · pen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دَفْتَرٌ</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‎دفتر‎ </a:t>
            </a:r>
            <a:pPr indent="0" marL="0">
              <a:buNone/>
            </a:pPr>
            <a:r>
              <a:rPr lang="en-US" sz="950" b="1" dirty="0">
                <a:solidFill>
                  <a:srgbClr val="2E8B57"/>
                </a:solidFill>
                <a:latin typeface="Calibri" pitchFamily="34" charset="0"/>
                <a:cs typeface="Amiri" pitchFamily="2" charset="-78"/>
              </a:rPr>
              <a:t> daftar · exercise book (Urdu: office)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قَامُوسٌ</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‎قاموس‎ </a:t>
            </a:r>
            <a:pPr indent="0" marL="0">
              <a:buNone/>
            </a:pPr>
            <a:r>
              <a:rPr lang="en-US" sz="950" b="1" dirty="0">
                <a:solidFill>
                  <a:srgbClr val="2E8B57"/>
                </a:solidFill>
                <a:latin typeface="Calibri" pitchFamily="34" charset="0"/>
                <a:cs typeface="Amiri" pitchFamily="2" charset="-78"/>
              </a:rPr>
              <a:t> qāmūs · dictionary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كُرْسِيٌّ</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‎کرسی‎ </a:t>
            </a:r>
            <a:pPr indent="0" marL="0">
              <a:buNone/>
            </a:pPr>
            <a:r>
              <a:rPr lang="en-US" sz="950" b="1" dirty="0">
                <a:solidFill>
                  <a:srgbClr val="2E8B57"/>
                </a:solidFill>
                <a:latin typeface="Calibri" pitchFamily="34" charset="0"/>
                <a:cs typeface="Amiri" pitchFamily="2" charset="-78"/>
              </a:rPr>
              <a:t> kursiyy · chair</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OFFICIAL CLASSROOM BANK (WEBSITE)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Book, exercise book, pen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أَدَوَاتُ الفَصْلِ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كِتَابٌ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a:t>
            </a:r>
            <a:endParaRPr lang="en-US" sz="1350" dirty="0"/>
          </a:p>
          <a:p>
            <a:pPr indent="0" marL="0">
              <a:buNone/>
            </a:pPr>
            <a:r>
              <a:rPr lang="en-US" sz="1100" i="1" dirty="0">
                <a:solidFill>
                  <a:srgbClr val="5A6472"/>
                </a:solidFill>
                <a:latin typeface="Calibri" pitchFamily="34" charset="0"/>
                <a:cs typeface="Amiri" pitchFamily="2" charset="-78"/>
              </a:rPr>
              <a:t>ki-tāb</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كُتُبٌ</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دَفْتَرٌ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notebook / exercise book</a:t>
            </a:r>
            <a:endParaRPr lang="en-US" sz="1350" dirty="0"/>
          </a:p>
          <a:p>
            <a:pPr indent="0" marL="0">
              <a:buNone/>
            </a:pPr>
            <a:r>
              <a:rPr lang="en-US" sz="1100" i="1" dirty="0">
                <a:solidFill>
                  <a:srgbClr val="5A6472"/>
                </a:solidFill>
                <a:latin typeface="Calibri" pitchFamily="34" charset="0"/>
                <a:cs typeface="Amiri" pitchFamily="2" charset="-78"/>
              </a:rPr>
              <a:t>daf-tar</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دَفَاتِرُ</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قَلَمٌ</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pen</a:t>
            </a:r>
            <a:endParaRPr lang="en-US" sz="1350" dirty="0"/>
          </a:p>
          <a:p>
            <a:pPr indent="0" marL="0">
              <a:buNone/>
            </a:pPr>
            <a:r>
              <a:rPr lang="en-US" sz="1100" i="1" dirty="0">
                <a:solidFill>
                  <a:srgbClr val="5A6472"/>
                </a:solidFill>
                <a:latin typeface="Calibri" pitchFamily="34" charset="0"/>
                <a:cs typeface="Amiri" pitchFamily="2" charset="-78"/>
              </a:rPr>
              <a:t>qa-lam</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أَقْلَامٌ</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قَامُوسٌ</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dictionary</a:t>
            </a:r>
            <a:endParaRPr lang="en-US" sz="1350" dirty="0"/>
          </a:p>
          <a:p>
            <a:pPr indent="0" marL="0">
              <a:buNone/>
            </a:pPr>
            <a:r>
              <a:rPr lang="en-US" sz="1100" i="1" dirty="0">
                <a:solidFill>
                  <a:srgbClr val="5A6472"/>
                </a:solidFill>
                <a:latin typeface="Calibri" pitchFamily="34" charset="0"/>
                <a:cs typeface="Amiri" pitchFamily="2" charset="-78"/>
              </a:rPr>
              <a:t>qā-mūs</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قَوَامِيسُ</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desk (also: office)</a:t>
            </a:r>
            <a:endParaRPr lang="en-US" sz="1350" dirty="0"/>
          </a:p>
          <a:p>
            <a:pPr indent="0" marL="0">
              <a:buNone/>
            </a:pPr>
            <a:r>
              <a:rPr lang="en-US" sz="1100" i="1" dirty="0">
                <a:solidFill>
                  <a:srgbClr val="5A6472"/>
                </a:solidFill>
                <a:latin typeface="Calibri" pitchFamily="34" charset="0"/>
                <a:cs typeface="Amiri" pitchFamily="2" charset="-78"/>
              </a:rPr>
              <a:t>mak-tab</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مَكَاتِبُ</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95" name="Text 9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جَرَسٌ</a:t>
            </a:r>
            <a:endParaRPr lang="ar-SA" sz="3000" dirty="0"/>
          </a:p>
        </p:txBody>
      </p:sp>
      <p:sp>
        <p:nvSpPr>
          <p:cNvPr id="96" name="Text 9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bell</a:t>
            </a:r>
            <a:endParaRPr lang="en-US" sz="1350" dirty="0"/>
          </a:p>
          <a:p>
            <a:pPr indent="0" marL="0">
              <a:buNone/>
            </a:pPr>
            <a:r>
              <a:rPr lang="en-US" sz="1100" i="1" dirty="0">
                <a:solidFill>
                  <a:srgbClr val="5A6472"/>
                </a:solidFill>
                <a:latin typeface="Calibri" pitchFamily="34" charset="0"/>
                <a:cs typeface="Amiri" pitchFamily="2" charset="-78"/>
              </a:rPr>
              <a:t>ja-ras</a:t>
            </a:r>
            <a:endParaRPr lang="en-US" sz="1350" dirty="0"/>
          </a:p>
        </p:txBody>
      </p:sp>
      <p:sp>
        <p:nvSpPr>
          <p:cNvPr id="97" name="Shape 9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9" name="Text 9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أَجْرَاسٌ</a:t>
            </a:r>
            <a:endParaRPr lang="ar-SA" sz="1500" dirty="0"/>
          </a:p>
        </p:txBody>
      </p:sp>
      <p:sp>
        <p:nvSpPr>
          <p:cNvPr id="100" name="Shape 9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102" name="Text 99"/>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OFFICIAL CLASSROOM BANK (WEBSITE) ·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Ruler, pencil case, board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أَدَوَاتُ الفَصْلِ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مِسْطَرَةٌ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ruler</a:t>
            </a:r>
            <a:endParaRPr lang="en-US" sz="1350" dirty="0"/>
          </a:p>
          <a:p>
            <a:pPr indent="0" marL="0">
              <a:buNone/>
            </a:pPr>
            <a:r>
              <a:rPr lang="en-US" sz="1100" i="1" dirty="0">
                <a:solidFill>
                  <a:srgbClr val="5A6472"/>
                </a:solidFill>
                <a:latin typeface="Calibri" pitchFamily="34" charset="0"/>
                <a:cs typeface="Amiri" pitchFamily="2" charset="-78"/>
              </a:rPr>
              <a:t>mis-ṭa-ra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مَسَاطِرُ</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مِقْلَمَةٌ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pencil case</a:t>
            </a:r>
            <a:endParaRPr lang="en-US" sz="1350" dirty="0"/>
          </a:p>
          <a:p>
            <a:pPr indent="0" marL="0">
              <a:buNone/>
            </a:pPr>
            <a:r>
              <a:rPr lang="en-US" sz="1100" i="1" dirty="0">
                <a:solidFill>
                  <a:srgbClr val="5A6472"/>
                </a:solidFill>
                <a:latin typeface="Calibri" pitchFamily="34" charset="0"/>
                <a:cs typeface="Amiri" pitchFamily="2" charset="-78"/>
              </a:rPr>
              <a:t>miq-la-ma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مَقَالِمُ</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مِمْحَاةٌ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eraser / rubber</a:t>
            </a:r>
            <a:endParaRPr lang="en-US" sz="1350" dirty="0"/>
          </a:p>
          <a:p>
            <a:pPr indent="0" marL="0">
              <a:buNone/>
            </a:pPr>
            <a:r>
              <a:rPr lang="en-US" sz="1100" i="1" dirty="0">
                <a:solidFill>
                  <a:srgbClr val="5A6472"/>
                </a:solidFill>
                <a:latin typeface="Calibri" pitchFamily="34" charset="0"/>
                <a:cs typeface="Amiri" pitchFamily="2" charset="-78"/>
              </a:rPr>
              <a:t>mim-ḥā</a:t>
            </a:r>
            <a:endParaRPr lang="en-US" sz="1350" dirty="0"/>
          </a:p>
        </p:txBody>
      </p:sp>
      <p:sp>
        <p:nvSpPr>
          <p:cNvPr id="54" name="Shape 5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56" name="Text 53"/>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57" name="Shape 5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8211312"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0" name="Shape 57"/>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2" name="Text 5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سَبُّورَةٌ</a:t>
            </a:r>
            <a:endParaRPr lang="ar-SA" sz="3000" dirty="0"/>
          </a:p>
        </p:txBody>
      </p:sp>
      <p:sp>
        <p:nvSpPr>
          <p:cNvPr id="63" name="Text 6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board / interactive board</a:t>
            </a:r>
            <a:endParaRPr lang="en-US" sz="1350" dirty="0"/>
          </a:p>
          <a:p>
            <a:pPr indent="0" marL="0">
              <a:buNone/>
            </a:pPr>
            <a:r>
              <a:rPr lang="en-US" sz="1100" i="1" dirty="0">
                <a:solidFill>
                  <a:srgbClr val="5A6472"/>
                </a:solidFill>
                <a:latin typeface="Calibri" pitchFamily="34" charset="0"/>
                <a:cs typeface="Amiri" pitchFamily="2" charset="-78"/>
              </a:rPr>
              <a:t>sab-bū-ra</a:t>
            </a:r>
            <a:endParaRPr lang="en-US" sz="1350" dirty="0"/>
          </a:p>
        </p:txBody>
      </p:sp>
      <p:sp>
        <p:nvSpPr>
          <p:cNvPr id="64" name="Shape 61"/>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6" name="Text 63"/>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سَبُّورَاتٌ</a:t>
            </a:r>
            <a:endParaRPr lang="ar-SA" sz="1500" dirty="0"/>
          </a:p>
        </p:txBody>
      </p:sp>
      <p:sp>
        <p:nvSpPr>
          <p:cNvPr id="67" name="Shape 64"/>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69" name="Text 66"/>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3" name="Shape 70"/>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75" name="Shape 7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حَقِيبَةٌ</a:t>
            </a:r>
            <a:endParaRPr lang="ar-SA" sz="3000" dirty="0"/>
          </a:p>
        </p:txBody>
      </p:sp>
      <p:sp>
        <p:nvSpPr>
          <p:cNvPr id="78" name="Text 7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bag / backpack</a:t>
            </a:r>
            <a:endParaRPr lang="en-US" sz="1350" dirty="0"/>
          </a:p>
          <a:p>
            <a:pPr indent="0" marL="0">
              <a:buNone/>
            </a:pPr>
            <a:r>
              <a:rPr lang="en-US" sz="1100" i="1" dirty="0">
                <a:solidFill>
                  <a:srgbClr val="5A6472"/>
                </a:solidFill>
                <a:latin typeface="Calibri" pitchFamily="34" charset="0"/>
                <a:cs typeface="Amiri" pitchFamily="2" charset="-78"/>
              </a:rPr>
              <a:t>ḥa-qī-ba</a:t>
            </a:r>
            <a:endParaRPr lang="en-US" sz="1350" dirty="0"/>
          </a:p>
        </p:txBody>
      </p:sp>
      <p:sp>
        <p:nvSpPr>
          <p:cNvPr id="79" name="Shape 76"/>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1" name="Text 78"/>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حَقَائِبُ</a:t>
            </a:r>
            <a:endParaRPr lang="ar-SA" sz="1500" dirty="0"/>
          </a:p>
        </p:txBody>
      </p:sp>
      <p:sp>
        <p:nvSpPr>
          <p:cNvPr id="82" name="Shape 79"/>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84" name="Text 81"/>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85" name="Shape 8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566928"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8" name="Shape 8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90" name="Text 8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آلَةٌ حَاسِبَةٌ</a:t>
            </a:r>
            <a:endParaRPr lang="ar-SA" sz="3000" dirty="0"/>
          </a:p>
        </p:txBody>
      </p:sp>
      <p:sp>
        <p:nvSpPr>
          <p:cNvPr id="91" name="Text 8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calculator</a:t>
            </a:r>
            <a:endParaRPr lang="en-US" sz="1350" dirty="0"/>
          </a:p>
          <a:p>
            <a:pPr indent="0" marL="0">
              <a:buNone/>
            </a:pPr>
            <a:r>
              <a:rPr lang="en-US" sz="1100" i="1" dirty="0">
                <a:solidFill>
                  <a:srgbClr val="5A6472"/>
                </a:solidFill>
                <a:latin typeface="Calibri" pitchFamily="34" charset="0"/>
                <a:cs typeface="Amiri" pitchFamily="2" charset="-78"/>
              </a:rPr>
              <a:t>ā-la ḥā-si-ba</a:t>
            </a:r>
            <a:endParaRPr lang="en-US" sz="1350" dirty="0"/>
          </a:p>
        </p:txBody>
      </p:sp>
      <p:sp>
        <p:nvSpPr>
          <p:cNvPr id="92" name="Shape 89"/>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94" name="Text 91"/>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THIS AND I HAVE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This (m. / f.) · I have · you have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هَذَا · هَذِهِ · عِنْدِي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7" name="Text 14"/>
          <p:cNvSpPr txBox="1"/>
          <p:nvPr/>
        </p:nvSpPr>
        <p:spPr>
          <a:xfrm>
            <a:off x="3941064" y="1810512"/>
            <a:ext cx="5522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9628632"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هَذَا</a:t>
            </a:r>
            <a:endParaRPr lang="ar-SA" sz="2400" dirty="0"/>
          </a:p>
        </p:txBody>
      </p:sp>
      <p:sp>
        <p:nvSpPr>
          <p:cNvPr id="21" name="Text 18"/>
          <p:cNvSpPr txBox="1"/>
          <p:nvPr/>
        </p:nvSpPr>
        <p:spPr>
          <a:xfrm>
            <a:off x="3959352" y="2267712"/>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قَلَمٌ. · هَذَا كِتَابٌ.</a:t>
            </a:r>
            <a:endParaRPr lang="ar-SA" sz="2200" dirty="0"/>
          </a:p>
        </p:txBody>
      </p:sp>
      <p:sp>
        <p:nvSpPr>
          <p:cNvPr id="22" name="Text 19"/>
          <p:cNvSpPr txBox="1"/>
          <p:nvPr/>
        </p:nvSpPr>
        <p:spPr>
          <a:xfrm>
            <a:off x="56692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(masculine object)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9628632"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هَذِهِ</a:t>
            </a:r>
            <a:endParaRPr lang="ar-SA" sz="2400" dirty="0"/>
          </a:p>
        </p:txBody>
      </p:sp>
      <p:sp>
        <p:nvSpPr>
          <p:cNvPr id="27" name="Text 24"/>
          <p:cNvSpPr txBox="1"/>
          <p:nvPr/>
        </p:nvSpPr>
        <p:spPr>
          <a:xfrm>
            <a:off x="3959352" y="2881884"/>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مِسْطَرَةٌ. · هَذِهِ حَقِيبَةٌ.</a:t>
            </a:r>
            <a:endParaRPr lang="ar-SA" sz="2200" dirty="0"/>
          </a:p>
        </p:txBody>
      </p:sp>
      <p:sp>
        <p:nvSpPr>
          <p:cNvPr id="28" name="Text 25"/>
          <p:cNvSpPr txBox="1"/>
          <p:nvPr/>
        </p:nvSpPr>
        <p:spPr>
          <a:xfrm>
            <a:off x="56692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(feminine object)</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9628632"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عِنْدِي</a:t>
            </a:r>
            <a:endParaRPr lang="ar-SA" sz="2400" dirty="0"/>
          </a:p>
        </p:txBody>
      </p:sp>
      <p:sp>
        <p:nvSpPr>
          <p:cNvPr id="33" name="Text 30"/>
          <p:cNvSpPr txBox="1"/>
          <p:nvPr/>
        </p:nvSpPr>
        <p:spPr>
          <a:xfrm>
            <a:off x="3959352" y="3496056"/>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عِنْدِي قَلَمٌ وَكِتَابٌ.</a:t>
            </a:r>
            <a:endParaRPr lang="ar-SA" sz="2200" dirty="0"/>
          </a:p>
        </p:txBody>
      </p:sp>
      <p:sp>
        <p:nvSpPr>
          <p:cNvPr id="34" name="Text 31"/>
          <p:cNvSpPr txBox="1"/>
          <p:nvPr/>
        </p:nvSpPr>
        <p:spPr>
          <a:xfrm>
            <a:off x="56692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9628632"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لَيْسَ عِنْدِي</a:t>
            </a:r>
            <a:endParaRPr lang="ar-SA" sz="2400" dirty="0"/>
          </a:p>
        </p:txBody>
      </p:sp>
      <p:sp>
        <p:nvSpPr>
          <p:cNvPr id="39" name="Text 36"/>
          <p:cNvSpPr txBox="1"/>
          <p:nvPr/>
        </p:nvSpPr>
        <p:spPr>
          <a:xfrm>
            <a:off x="3959352" y="4110228"/>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لَيْسَ عِنْدِي غِرَاءٌ.</a:t>
            </a:r>
            <a:endParaRPr lang="ar-SA" sz="2200" dirty="0"/>
          </a:p>
        </p:txBody>
      </p:sp>
      <p:sp>
        <p:nvSpPr>
          <p:cNvPr id="40" name="Text 37"/>
          <p:cNvSpPr txBox="1"/>
          <p:nvPr/>
        </p:nvSpPr>
        <p:spPr>
          <a:xfrm>
            <a:off x="56692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do not have</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9628632"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عِنْدَكَ / عِنْدَكِ</a:t>
            </a:r>
            <a:endParaRPr lang="ar-SA" sz="2400" dirty="0"/>
          </a:p>
        </p:txBody>
      </p:sp>
      <p:sp>
        <p:nvSpPr>
          <p:cNvPr id="45" name="Text 42"/>
          <p:cNvSpPr txBox="1"/>
          <p:nvPr/>
        </p:nvSpPr>
        <p:spPr>
          <a:xfrm>
            <a:off x="3959352" y="4724400"/>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هَلْ عِنْدَكَ قَامُوسٌ؟ · هَلْ عِنْدَكِ مِسْطَرَةٌ؟</a:t>
            </a:r>
            <a:endParaRPr lang="ar-SA" sz="2200" dirty="0"/>
          </a:p>
        </p:txBody>
      </p:sp>
      <p:sp>
        <p:nvSpPr>
          <p:cNvPr id="46" name="Text 43"/>
          <p:cNvSpPr txBox="1"/>
          <p:nvPr/>
        </p:nvSpPr>
        <p:spPr>
          <a:xfrm>
            <a:off x="56692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(m. / f.) have …?</a:t>
            </a:r>
            <a:endParaRPr lang="en-US" sz="1100" dirty="0"/>
          </a:p>
        </p:txBody>
      </p:sp>
      <p:sp>
        <p:nvSpPr>
          <p:cNvPr id="47" name="Shape 44"/>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8" name="Text 45"/>
          <p:cNvSpPr txBox="1"/>
          <p:nvPr/>
        </p:nvSpPr>
        <p:spPr>
          <a:xfrm>
            <a:off x="9628632"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عِنْدَهُ / عِنْدَهَا</a:t>
            </a:r>
            <a:endParaRPr lang="ar-SA" sz="2400" dirty="0"/>
          </a:p>
        </p:txBody>
      </p:sp>
      <p:sp>
        <p:nvSpPr>
          <p:cNvPr id="49" name="Text 46"/>
          <p:cNvSpPr txBox="1"/>
          <p:nvPr/>
        </p:nvSpPr>
        <p:spPr>
          <a:xfrm>
            <a:off x="3959352" y="5338572"/>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عِنْدَهُ حَاسُوبٌ. · عِنْدَهَا حَقِيبَةٌ.</a:t>
            </a:r>
            <a:endParaRPr lang="ar-SA" sz="2200" dirty="0"/>
          </a:p>
        </p:txBody>
      </p:sp>
      <p:sp>
        <p:nvSpPr>
          <p:cNvPr id="50" name="Text 47"/>
          <p:cNvSpPr txBox="1"/>
          <p:nvPr/>
        </p:nvSpPr>
        <p:spPr>
          <a:xfrm>
            <a:off x="56692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has / she has</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demonstrative matches the gender of the singular noun — not the gender of the speaker.</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WHERE IS IT? HOW MANY?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Place first, then the object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أَيْنَ؟ كَمْ؟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7543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 · ON</a:t>
            </a:r>
            <a:endParaRPr lang="en-US" sz="850" dirty="0"/>
          </a:p>
        </p:txBody>
      </p:sp>
      <p:sp>
        <p:nvSpPr>
          <p:cNvPr id="18" name="Text 15"/>
          <p:cNvSpPr txBox="1"/>
          <p:nvPr/>
        </p:nvSpPr>
        <p:spPr>
          <a:xfrm>
            <a:off x="9032748"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 · عَلَى</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فِي حَقِيبَتِي كِتَابٌ، وَعَلَى مَكْتَبِي حَاسُوبٌ.</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my bag there is a book, and on my desk a computer.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Place phrase comes first.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85166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UNDER · BESIDE · INSIDE</a:t>
            </a:r>
            <a:endParaRPr lang="en-US" sz="850" dirty="0"/>
          </a:p>
        </p:txBody>
      </p:sp>
      <p:sp>
        <p:nvSpPr>
          <p:cNvPr id="26" name="Text 23"/>
          <p:cNvSpPr txBox="1"/>
          <p:nvPr/>
        </p:nvSpPr>
        <p:spPr>
          <a:xfrm>
            <a:off x="6310884"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تَحْتَ · بِجَانِبِ · دَاخِلَ</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تَحْتَ الكُرْسِيِّ حَقِيبَةٌ.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Under the chair there is a bag.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Also: amāma, khalfa, bayna.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COUNT · STRETCH</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وَاحِدٌ · ـَانِ · ثَلَاثَةُ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قَلَمٌ وَاحِدٌ · قَلَمَانِ · ثَلَاثَةُ أَقْلَامٍ</a:t>
            </a:r>
            <a:endParaRPr lang="ar-SA" sz="2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pen · two pens · three pens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 </a:t>
            </a:r>
            <a:pPr algn="l" indent="0" marL="0">
              <a:buNone/>
            </a:pPr>
            <a:r>
              <a:rPr lang="ar-SA" altLang="en-US" sz="1450" dirty="0">
                <a:solidFill>
                  <a:srgbClr val="1F2A37"/>
                </a:solidFill>
                <a:latin typeface="Amiri" pitchFamily="2" charset="-78"/>
                <a:ea typeface="Amiri" pitchFamily="2" charset="-78"/>
                <a:cs typeface="Amiri" pitchFamily="2" charset="-78"/>
              </a:rPr>
              <a:t>ثَلَاثُ مَسَاطِرَ</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location model: the place phrase comes first and the object follows.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عَلَى مَكْتَبِي حَاسُوبٌ.</a:t>
            </a:r>
            <a:endParaRPr lang="ar-SA" sz="20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B83227"/>
                </a:solidFill>
                <a:latin typeface="Amiri" pitchFamily="2" charset="-78"/>
                <a:ea typeface="Amiri" pitchFamily="2" charset="-78"/>
                <a:cs typeface="Amiri" pitchFamily="2" charset="-78"/>
              </a:rPr>
              <a:t>حَاسُوبٌ مَكْتَبِي عَلَى.</a:t>
            </a:r>
            <a:endParaRPr lang="ar-SA" sz="20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a ruler.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مِسْطَرَةٌ.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مِسْطَرٌ.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مِسْطَرَةٌ.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a dictionary.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قَامُوسٌ.</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قَامُوسٌ.</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قَامُوسَةٌ.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“Do you have a ruler?”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عِنْدَكَ مِسْطَرَةٌ؟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عِنْدَكِ مِسْطَرَةٌ؟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عِنْدَهَا مِسْطَرَةٌ؟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negative answer.</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لَيْسَ عِنْدِي غِرَاءٌ.</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عِنْدِي غِرَاءٌ.</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 لَيْسَ عِنْدِي غِرَاءٌ.</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a ruler.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مِسْطَرَةٌ.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مِسْطَرٌ.</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مِسْطَرَةٌ.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مِسْطَرَةٌ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هَذِهِ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a dictionary.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قَامُوسٌ.</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قَامُوسٌ.</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قَامُوسَةٌ.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قَامُوسٌ</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“Do you have a ruler?”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عِنْدَكَ مِسْطَرَةٌ؟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عِنْدَكِ مِسْطَرَةٌ؟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عِنْدَهَا مِسْطَرَةٌ؟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عِنْدَكِ</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negative answer.</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لَيْسَ عِنْدِي غِرَاءٌ.</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عِنْدِي غِرَاءٌ.</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نَعَمْ، لَيْسَ عِنْدِي غِرَاءٌ.</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لَيْسَ عِنْدِي</a:t>
            </a:r>
            <a:pPr algn="l" indent="0" marL="0">
              <a:buNone/>
            </a:pPr>
            <a:r>
              <a:rPr lang="en-US" sz="1050" i="1" dirty="0">
                <a:solidFill>
                  <a:srgbClr val="8A6D1E"/>
                </a:solidFill>
                <a:latin typeface="Calibri" pitchFamily="34" charset="0"/>
                <a:cs typeface="Amiri" pitchFamily="2" charset="-78"/>
              </a:rPr>
              <a:t> expresses not having something.</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unpack my bag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This is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هَذِهِ</a:t>
            </a:r>
            <a:pPr rtl="1" algn="ctr" indent="0" marL="0">
              <a:buNone/>
            </a:pPr>
            <a:r>
              <a:rPr lang="ar-SA" altLang="en-US" sz="2400" b="1" dirty="0">
                <a:solidFill>
                  <a:srgbClr val="1B3B6F"/>
                </a:solidFill>
                <a:latin typeface="Amiri" pitchFamily="2" charset="-78"/>
                <a:ea typeface="Amiri" pitchFamily="2" charset="-78"/>
                <a:cs typeface="Amiri" pitchFamily="2" charset="-78"/>
              </a:rPr>
              <a:t> حَقِيبَتِي المَدْرَسِيَّةُ.</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Bag (f.) → hādhihi.</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In my bag</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فِي حَقِيبَتِي كِتَابٌ وَدَفْتَرٌ وَمِسْطَرَةٌ.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Place first.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 don’t have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لَيْسَ عِنْدِي قَامُوسٌ اليَوْمَ.</a:t>
            </a:r>
            <a:endParaRPr lang="ar-SA" sz="23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Negative: laysa.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On my desk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عَلَى مَكْتَبِي حَاسُوبٌ، وَبِجَانِبِهِ مِقْلَمَةٌ زَرْقَاءُ.</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Colour agrees (f.).</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00" b="1" dirty="0">
                <a:solidFill>
                  <a:srgbClr val="D6336C"/>
                </a:solidFill>
                <a:latin typeface="Amiri" pitchFamily="2" charset="-78"/>
                <a:ea typeface="Amiri" pitchFamily="2" charset="-78"/>
                <a:cs typeface="Amiri" pitchFamily="2" charset="-78"/>
              </a:rPr>
              <a:t>هَذِهِ</a:t>
            </a:r>
            <a:pPr rtl="1" algn="r" indent="0" marL="0">
              <a:buNone/>
            </a:pPr>
            <a:r>
              <a:rPr lang="ar-SA" altLang="en-US" sz="1700" b="1" dirty="0">
                <a:solidFill>
                  <a:srgbClr val="1B3B6F"/>
                </a:solidFill>
                <a:latin typeface="Amiri" pitchFamily="2" charset="-78"/>
                <a:ea typeface="Amiri" pitchFamily="2" charset="-78"/>
                <a:cs typeface="Amiri" pitchFamily="2" charset="-78"/>
              </a:rPr>
              <a:t> حَقِيبَتِي المَدْرَسِيَّةُ. فِي حَقِيبَتِي كِتَابٌ وَدَفْتَرٌ وَمِسْطَرَةٌ، وَلَكِنْ لَيْسَ عِنْدِي قَامُوسٌ اليَوْمَ. عَلَى مَكْتَبِي حَاسُوبٌ، وَبِجَانِبِهِ مِقْلَمَةٌ زَرْقَاءُ. </a:t>
            </a:r>
            <a:pPr rtl="1" algn="r" indent="0" marL="0">
              <a:buNone/>
            </a:pPr>
            <a:r>
              <a:rPr lang="ar-SA" altLang="en-US" sz="1700" b="1" dirty="0">
                <a:solidFill>
                  <a:srgbClr val="1D5FBF"/>
                </a:solidFill>
                <a:latin typeface="Amiri" pitchFamily="2" charset="-78"/>
                <a:ea typeface="Amiri" pitchFamily="2" charset="-78"/>
                <a:cs typeface="Amiri" pitchFamily="2" charset="-78"/>
              </a:rPr>
              <a:t>هَذَا</a:t>
            </a:r>
            <a:pPr rtl="1" algn="r" indent="0" marL="0">
              <a:buNone/>
            </a:pPr>
            <a:r>
              <a:rPr lang="ar-SA" altLang="en-US" sz="1700" b="1" dirty="0">
                <a:solidFill>
                  <a:srgbClr val="1B3B6F"/>
                </a:solidFill>
                <a:latin typeface="Amiri" pitchFamily="2" charset="-78"/>
                <a:ea typeface="Amiri" pitchFamily="2" charset="-78"/>
                <a:cs typeface="Amiri" pitchFamily="2" charset="-78"/>
              </a:rPr>
              <a:t> قَلَمِي.</a:t>
            </a:r>
            <a:endParaRPr lang="ar-SA" sz="17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This is my school bag. In my bag there is a book, an exercise book and a ruler, but I don’t have a dictionary today. On my desk there is a computer, and beside it a blue pencil case. This is my pen.</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“VISUAL GAME — CLASSROOM OBJECTS”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صُورَةُ الفَصْلِ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pencil</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school bag</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ruler</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مِسْطَرَةٌ.</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قَلَمُ رَصَاصٍ.</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حَقِيبَةٌ.</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صُورَةُ الفَصْلِ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pencil</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قَلَمُ رَصَاصٍ.</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pencil.</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school bag</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حَقِيبَةٌ.</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bag.</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ruler</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مِسْطَرَةٌ.</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ruler.</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“PACK THE BAG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Pack the bag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تَجْهِيزِ الحَقِيبَةِ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plural of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كِتَابٌ.</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كِتَابَاتٌ</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كَاتِبُونَ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Eraser: Choose the accurate demonstrative sentence.</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مِمْحَاةٌ.</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مِمْحَايٌ.</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مِمْحَاةٌ.</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School bag: Ask one female what is in her bag.</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فِي حَقِيبَتِكِ؟</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فِي حَقِيبَتِكَ؟</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عِنْدَهَا حَقِيبَةٌ؟</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Scissors: Choose “I do not have scissors”.</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عِنْدِي مَقَصٌّ.</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عِنْدِي مَقَصٌّ.</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عِنْدَكَ مَقَصٌّ.</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Pencil case: Choose “inside the pencil case”.</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دَاخِلَ المِقْلَمَةِ</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 المِقْلَمَةِ</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فَوْقَ المِقْلَمَةِ</a:t>
            </a:r>
            <a:endParaRPr lang="ar-SA" sz="2050" dirty="0"/>
          </a:p>
        </p:txBody>
      </p:sp>
      <p:sp>
        <p:nvSpPr>
          <p:cNvPr id="81" name="Shape 7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4" name="Text 8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 → hādhā · f. → hādhihi</a:t>
            </a:r>
            <a:endParaRPr lang="en-US" sz="1250" dirty="0"/>
          </a:p>
          <a:p>
            <a:pPr algn="l" indent="0" marL="0">
              <a:buNone/>
            </a:pPr>
            <a:r>
              <a:rPr lang="en-US" sz="1250" dirty="0">
                <a:solidFill>
                  <a:srgbClr val="1E6B52"/>
                </a:solidFill>
                <a:latin typeface="Calibri" pitchFamily="34" charset="0"/>
                <a:cs typeface="Amiri" pitchFamily="2" charset="-78"/>
              </a:rPr>
              <a:t>boy: ‘indaka · girl: ‘indaki</a:t>
            </a:r>
            <a:endParaRPr lang="en-US" sz="1250" dirty="0"/>
          </a:p>
          <a:p>
            <a:pPr algn="l" indent="0" marL="0">
              <a:buNone/>
            </a:pPr>
            <a:r>
              <a:rPr lang="en-US" sz="1250" dirty="0">
                <a:solidFill>
                  <a:srgbClr val="1E6B52"/>
                </a:solidFill>
                <a:latin typeface="Calibri" pitchFamily="34" charset="0"/>
                <a:cs typeface="Amiri" pitchFamily="2" charset="-78"/>
              </a:rPr>
              <a:t>I don’t have: laysa ‘indī</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plural of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كِتَابٌ.</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كِتَابَاتٌ</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كَاتِبُونَ</a:t>
            </a:r>
            <a:endParaRPr lang="ar-SA" sz="170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كُتُبٌ</a:t>
            </a:r>
            <a:pPr algn="l" indent="0" marL="0">
              <a:buNone/>
            </a:pPr>
            <a:r>
              <a:rPr lang="en-US" sz="1050" i="1" dirty="0">
                <a:solidFill>
                  <a:srgbClr val="8A6D1E"/>
                </a:solidFill>
                <a:latin typeface="Calibri" pitchFamily="34" charset="0"/>
                <a:cs typeface="Amiri" pitchFamily="2" charset="-78"/>
              </a:rPr>
              <a:t> is the plural.</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Eraser: Choose the accurate demonstrative sentence.</a:t>
            </a:r>
            <a:endParaRPr lang="en-US" sz="1250" dirty="0"/>
          </a:p>
        </p:txBody>
      </p:sp>
      <p:sp>
        <p:nvSpPr>
          <p:cNvPr id="35" name="Shape 32"/>
          <p:cNvSpPr/>
          <p:nvPr/>
        </p:nvSpPr>
        <p:spPr>
          <a:xfrm>
            <a:off x="4459224" y="2490216"/>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مِمْحَاةٌ.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مِمْحَايٌ.</a:t>
            </a:r>
            <a:endParaRPr lang="ar-SA" sz="1700" dirty="0"/>
          </a:p>
        </p:txBody>
      </p:sp>
      <p:sp>
        <p:nvSpPr>
          <p:cNvPr id="41" name="Shape 38"/>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4459224" y="3233928"/>
            <a:ext cx="256032" cy="256032"/>
          </a:xfrm>
          <a:prstGeom prst="ellipse">
            <a:avLst/>
          </a:prstGeom>
          <a:solidFill>
            <a:srgbClr val="2E8B57"/>
          </a:solidFill>
          <a:ln w="12700">
            <a:solidFill>
              <a:srgbClr val="2E8B57"/>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مِمْحَاةٌ.</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مِمْحَاةٌ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School bag: Ask one female what is in her bag.</a:t>
            </a:r>
            <a:endParaRPr lang="en-US" sz="1250" dirty="0"/>
          </a:p>
        </p:txBody>
      </p:sp>
      <p:sp>
        <p:nvSpPr>
          <p:cNvPr id="50" name="Shape 47"/>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490216"/>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مَاذَا فِي حَقِيبَتِكِ؟</a:t>
            </a:r>
            <a:endParaRPr lang="ar-SA" sz="170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فِي حَقِيبَتِكَ؟</a:t>
            </a:r>
            <a:endParaRPr lang="ar-SA" sz="1700" dirty="0"/>
          </a:p>
        </p:txBody>
      </p:sp>
      <p:sp>
        <p:nvSpPr>
          <p:cNvPr id="57" name="Shape 54"/>
          <p:cNvSpPr/>
          <p:nvPr/>
        </p:nvSpPr>
        <p:spPr>
          <a:xfrm>
            <a:off x="8278368" y="323392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عِنْدَهَا حَقِيبَةٌ؟</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female listener ending is </a:t>
            </a:r>
            <a:pPr algn="l" indent="0" marL="0">
              <a:buNone/>
            </a:pPr>
            <a:r>
              <a:rPr lang="ar-SA" altLang="en-US" sz="1350" dirty="0">
                <a:solidFill>
                  <a:srgbClr val="8A6D1E"/>
                </a:solidFill>
                <a:latin typeface="Amiri" pitchFamily="2" charset="-78"/>
                <a:ea typeface="Amiri" pitchFamily="2" charset="-78"/>
                <a:cs typeface="Amiri" pitchFamily="2" charset="-78"/>
              </a:rPr>
              <a:t>ـكِ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Scissors: Choose “I do not have scissors”.</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عِنْدِي مَقَصٌّ.</a:t>
            </a:r>
            <a:endParaRPr lang="ar-SA" sz="1700" dirty="0"/>
          </a:p>
        </p:txBody>
      </p:sp>
      <p:sp>
        <p:nvSpPr>
          <p:cNvPr id="68" name="Shape 65"/>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5202936"/>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لَيْسَ عِنْدِي مَقَصٌّ.</a:t>
            </a:r>
            <a:endParaRPr lang="ar-SA" sz="1700" dirty="0"/>
          </a:p>
        </p:txBody>
      </p:sp>
      <p:sp>
        <p:nvSpPr>
          <p:cNvPr id="72" name="Shape 69"/>
          <p:cNvSpPr/>
          <p:nvPr/>
        </p:nvSpPr>
        <p:spPr>
          <a:xfrm>
            <a:off x="640080"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 عِنْدَكَ مَقَصٌّ.</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لَيْسَ عِنْدِي</a:t>
            </a:r>
            <a:pPr algn="l" indent="0" marL="0">
              <a:buNone/>
            </a:pPr>
            <a:r>
              <a:rPr lang="en-US" sz="1050" i="1" dirty="0">
                <a:solidFill>
                  <a:srgbClr val="8A6D1E"/>
                </a:solidFill>
                <a:latin typeface="Calibri" pitchFamily="34" charset="0"/>
                <a:cs typeface="Amiri" pitchFamily="2" charset="-78"/>
              </a:rPr>
              <a:t> gives the negative first-person answer.</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Pencil case: Choose “inside the pencil case”.</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دَاخِلَ المِقْلَمَةِ</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 المِقْلَمَةِ</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فَوْقَ المِقْلَمَةِ</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دَاخِلَ</a:t>
            </a:r>
            <a:pPr algn="l" indent="0" marL="0">
              <a:buNone/>
            </a:pPr>
            <a:r>
              <a:rPr lang="en-US" sz="1050" i="1" dirty="0">
                <a:solidFill>
                  <a:srgbClr val="8A6D1E"/>
                </a:solidFill>
                <a:latin typeface="Calibri" pitchFamily="34" charset="0"/>
                <a:cs typeface="Amiri" pitchFamily="2" charset="-78"/>
              </a:rPr>
              <a:t> means inside.</a:t>
            </a:r>
            <a:endParaRPr lang="en-US" sz="1050" dirty="0"/>
          </a:p>
        </p:txBody>
      </p:sp>
      <p:sp>
        <p:nvSpPr>
          <p:cNvPr id="91" name="Shape 8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2" name="Shape 8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4" name="Text 9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 → hādhā · f. → hādhihi</a:t>
            </a:r>
            <a:endParaRPr lang="en-US" sz="1250" dirty="0"/>
          </a:p>
          <a:p>
            <a:pPr algn="l" indent="0" marL="0">
              <a:buNone/>
            </a:pPr>
            <a:r>
              <a:rPr lang="en-US" sz="1250" dirty="0">
                <a:solidFill>
                  <a:srgbClr val="1E6B52"/>
                </a:solidFill>
                <a:latin typeface="Calibri" pitchFamily="34" charset="0"/>
                <a:cs typeface="Amiri" pitchFamily="2" charset="-78"/>
              </a:rPr>
              <a:t>boy: ‘indaka · girl: ‘indaki</a:t>
            </a:r>
            <a:endParaRPr lang="en-US" sz="1250" dirty="0"/>
          </a:p>
          <a:p>
            <a:pPr algn="l" indent="0" marL="0">
              <a:buNone/>
            </a:pPr>
            <a:r>
              <a:rPr lang="en-US" sz="1250" dirty="0">
                <a:solidFill>
                  <a:srgbClr val="1E6B52"/>
                </a:solidFill>
                <a:latin typeface="Calibri" pitchFamily="34" charset="0"/>
                <a:cs typeface="Amiri" pitchFamily="2" charset="-78"/>
              </a:rPr>
              <a:t>I don’t have: laysa ‘indī</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مِسْطَرَةٌ.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Ruler: hādhā or hādhihi?</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يَا مَرْيَمُ، هَلْ عِنْدَكَ قَلَمٌ؟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Talking to a girl: which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لَا عِنْدِي غِرَاءٌ.</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 don’t have: which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مِسْطَرَةٌ.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مِسْطَرَةٌ.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Ruler is feminine (</a:t>
            </a:r>
            <a:pPr algn="l" indent="0" marL="0">
              <a:buNone/>
            </a:pPr>
            <a:r>
              <a:rPr lang="ar-SA" altLang="en-US" sz="1500" b="1" dirty="0">
                <a:solidFill>
                  <a:srgbClr val="1B3B6F"/>
                </a:solidFill>
                <a:latin typeface="Amiri" pitchFamily="2" charset="-78"/>
                <a:ea typeface="Amiri" pitchFamily="2" charset="-78"/>
                <a:cs typeface="Amiri" pitchFamily="2" charset="-78"/>
              </a:rPr>
              <a:t>ـة</a:t>
            </a:r>
            <a:pPr algn="l" indent="0" marL="0">
              <a:buNone/>
            </a:pPr>
            <a:r>
              <a:rPr lang="en-US" sz="1150" b="1" dirty="0">
                <a:solidFill>
                  <a:srgbClr val="1B3B6F"/>
                </a:solidFill>
                <a:latin typeface="Calibri" pitchFamily="34" charset="0"/>
                <a:cs typeface="Amiri" pitchFamily="2" charset="-78"/>
              </a:rPr>
              <a:t>): hādhihi.</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يَا مَرْيَمُ، هَلْ عِنْدَكَ قَلَمٌ؟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يَا مَرْيَمُ، هَلْ عِنْدَكِ قَلَمٌ؟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female listener: ‘indaki.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لَا عِنْدِي غِرَاءٌ.</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لَيْسَ عِنْدِي غِرَاءٌ.</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 don’t have = laysa ‘indī.</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Layla’s school bag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notebooks does she have?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not have today?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ruler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notebook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dictionary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on her desk?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tablet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printer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laptop</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pencil case?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purple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under the chair?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own bag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friend’s bag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dictionary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Five headings: bag · missing · desk · colour · under the chair.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اِسْمِي لَيْلَى. فِي حَقِيبَتِي كِتَابُ العُلُومِ، وَدَفْتَرَانِ، وَثَلَاثَةُ أَقْلَامٍ، وَمِسْطَرَةٌ، وَمِمْحَاةٌ.</a:t>
            </a:r>
            <a:endParaRPr lang="ar-SA" sz="18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Layla. In my bag there is the science book, two exercise books, three pens, a ruler and an eraser.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لَيْسَ عِنْدِي قَامُوسٌ اليَوْمَ.</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don’t have a dictionary today.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عَلَى مَكْتَبِي حَاسُوبٌ مَحْمُولٌ، وَبِجَانِبِ الحَاسُوبِ مِقْلَمَةٌ زَرْقَاءُ.</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my desk there is a laptop, and beside the computer a blue pencil case.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تَحْتَ الكُرْسِيِّ حَقِيبَةُ صَدِيقَتِي.</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Under the chair is my friend’s bag.</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أَسْتَخْدِمُ القَلَمَ وَالدَّفْتَرَ فِي حِصَّةِ اللُّغَةِ العَرَبِيَّةِ.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use the pen and the exercise book in the Arabic lesson.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notebooks does she have?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دَفْتَرَانِ</a:t>
            </a:r>
            <a:pPr algn="l" indent="0" marL="0">
              <a:buNone/>
            </a:pPr>
            <a:r>
              <a:rPr lang="en-US" sz="1050" i="1" dirty="0">
                <a:solidFill>
                  <a:srgbClr val="8A6D1E"/>
                </a:solidFill>
                <a:latin typeface="Calibri" pitchFamily="34" charset="0"/>
                <a:cs typeface="Amiri" pitchFamily="2" charset="-78"/>
              </a:rPr>
              <a:t> means two notebooks.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not have today?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ruler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notebook</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dictionary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لَيْسَ عِنْدِي قَامُوسٌ اليَوْمَ.</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on her desk?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tablet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printer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laptop</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عَلَى مَكْتَبِي حَاسُوبٌ مَحْمُولٌ.</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pencil case?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blue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purple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describes it as </a:t>
            </a:r>
            <a:pPr algn="l" indent="0" marL="0">
              <a:buNone/>
            </a:pPr>
            <a:r>
              <a:rPr lang="ar-SA" altLang="en-US" sz="1350" dirty="0">
                <a:solidFill>
                  <a:srgbClr val="8A6D1E"/>
                </a:solidFill>
                <a:latin typeface="Amiri" pitchFamily="2" charset="-78"/>
                <a:ea typeface="Amiri" pitchFamily="2" charset="-78"/>
                <a:cs typeface="Amiri" pitchFamily="2" charset="-78"/>
              </a:rPr>
              <a:t>زَرْقَاءُ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under the chair?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own bag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friend’s bag</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dictionary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تَحْتَ الكُرْسِيِّ حَقِيبَةُ صَدِيقَتِي.</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Five headings: bag · missing · desk · colour · under the chair.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PROFILE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Omar’s bag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المَلَفُّ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عُمَرُ. هَذِهِ حَقِيبَتِي المَدْرَسِيَّةُ.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Omar · this is my school bag (f.)</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فِيهَا كِتَابٌ، وَدَفْتَرٌ، وَقَلَمُ رَصَاصٍ، وَمِسْطَرَةٌ.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it: book, exercise book, pencil, ruler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عِنْدِي أَيْضًا آلَةٌ حَاسِبَةٌ صَغِيرَةٌ.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Also: a small calculator</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لَيْسَ عِنْدِي غِرَاءٌ.</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Missing: glue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عَلَى مَكْتَبِي قَامُوسٌ وَحَاسُوبٌ.</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desk: dictionary + computer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PROFILE B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Huda’s pencil case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المَلَفُّ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اِسْمِي هُدَى.</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مِقْلَمَتِي ثَلَاثَةُ أَقْلَامٍ وَمِمْحَاةٌ وَمِبْرَاةٌ.</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Pencil case: 3 pens, eraser, sharpener</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حَقِيبَتِي بَنَفْسَجِيَّةٌ، وَفِيهَا كِتَابَانِ وَأَوْرَاقٌ.</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Bag: purple · two books + papers</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عَلَى الطَّاوِلَةِ جِهَازٌ لَوْحِيٌّ،</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table: a tablet</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وَبِجَانِبِهِ قَلَمُ حِبْرٍ أَسْوَدُ.</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Beside it: a black ink pen</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Omar or Huda?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extra device does Omar have?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tablet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 calculator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printer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Omar not have?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ruler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notebook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glue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small tools are in Huda’s pencil case?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eraser and a sharpener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glue and scissors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ruler and a calculator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Huda’s bag?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purple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black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beside the device?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black ink pen</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blue pencil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ruler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place phrase,</a:t>
            </a:r>
            <a:endParaRPr lang="en-US" sz="1250" dirty="0"/>
          </a:p>
          <a:p>
            <a:pPr algn="l" indent="0" marL="0">
              <a:buNone/>
            </a:pPr>
            <a:r>
              <a:rPr lang="en-US" sz="1250" dirty="0">
                <a:solidFill>
                  <a:srgbClr val="1F2A37"/>
                </a:solidFill>
                <a:latin typeface="Calibri" pitchFamily="34" charset="0"/>
                <a:cs typeface="Amiri" pitchFamily="2" charset="-78"/>
              </a:rPr>
              <a:t>then the object after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extra device does Omar have?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tablet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small calculator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printer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has </a:t>
            </a:r>
            <a:pPr algn="l" indent="0" marL="0">
              <a:buNone/>
            </a:pPr>
            <a:r>
              <a:rPr lang="ar-SA" altLang="en-US" sz="1350" dirty="0">
                <a:solidFill>
                  <a:srgbClr val="8A6D1E"/>
                </a:solidFill>
                <a:latin typeface="Amiri" pitchFamily="2" charset="-78"/>
                <a:ea typeface="Amiri" pitchFamily="2" charset="-78"/>
                <a:cs typeface="Amiri" pitchFamily="2" charset="-78"/>
              </a:rPr>
              <a:t>آلَةٌ حَاسِبَةٌ صَغِيرَةٌ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Omar not have?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ruler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notebook</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glue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ea typeface="Amiri" pitchFamily="2" charset="-78"/>
                <a:cs typeface="Amiri" pitchFamily="2" charset="-78"/>
              </a:rPr>
              <a:t>لَيْسَ عِنْدِي غِرَاءٌ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small tools are in Huda’s pencil case?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eraser and a sharpener</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glue and scissors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ruler and a calculator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مِمْحَاةٌ وَمِبْرَاةٌ.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Huda’s bag?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purple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black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حَقِيبَتِي بَنَفْسَجِيَّةٌ.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beside the device?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black ink pen</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blue pencil</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ruler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بِجَانِبِهِ قَلَمُ حِبْرٍ أَسْوَدُ.</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place phrase,</a:t>
            </a:r>
            <a:endParaRPr lang="en-US" sz="1250" dirty="0"/>
          </a:p>
          <a:p>
            <a:pPr algn="l" indent="0" marL="0">
              <a:buNone/>
            </a:pPr>
            <a:r>
              <a:rPr lang="en-US" sz="1250" dirty="0">
                <a:solidFill>
                  <a:srgbClr val="1F2A37"/>
                </a:solidFill>
                <a:latin typeface="Calibri" pitchFamily="34" charset="0"/>
                <a:cs typeface="Amiri" pitchFamily="2" charset="-78"/>
              </a:rPr>
              <a:t>then the object after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 about classroom objects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فِي حَقِيبَتِكَ؟ / مَاذَا فِي حَقِيبَتِكِ؟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عِنْدَكَ قَامُوسٌ؟ / هَلْ عِنْدَكِ قَامُوسٌ؟</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عَلَى مَكْتَبِكَ؟ وَمَاذَا تَحْتَ الكُرْسِيِّ؟</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أَهَمُّ أَدَاةٍ فِي حَقِيبَتِكَ؟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حَقِيبَتِي ___ وَ ___ 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نَعَمْ، عِنْدِي ___ . / لَا، لَيْسَ عِنْدِي ___ .</a:t>
            </a:r>
            <a:endParaRPr lang="ar-SA" sz="145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عَلَى مَكْتَبِي ___ ، وَتَحْتَ الكُرْسِيِّ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أَهَمُّ أَدَاةٍ ___ لِأَنَّهُ / لِأَنَّهَا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عِنْدَكِ مِسْطَرَةٌ؟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 you (f.) have a ruler?</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نَعَمْ، عِنْدِي مِسْطَرَةٌ. هَلْ عِنْدَكِ غِرَاءٌ؟ — لَا، لَيْسَ عِنْدِي غِرَاءٌ.</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Yes, I have a ruler. Do you have glue? — No, I don’t have glue.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7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Seven accurate modelled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This is … · In my bag … · I don’t have … using the models.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7–9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plurals, colours and two location phrases.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plurals, colours and two location phrases.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two bags or explain which objects are most useful.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two bags or explain the most useful objects.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مَكْتَبِي حَاسُوبٌ.</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my desk there is a computer.</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تَحْتَ الكُرْسِيِّ حَقِيبَةٌ.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Under the chair there is a bag.</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بِجَانِبِ الحَاسُوبِ مِقْلَمَةٌ زَرْقَاءُ.</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Beside the computer there is a blue pencil case.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عِنْدَكِ آلَةٌ حَاسِبَةٌ؟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(f.) have a calculator?</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كِتَابَانِ وَثَلَاثَةُ أَقْلَامٍ.</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two books and three pens.</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حَقِيبَتِي المَدْرَسِيَّةُ.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school bag.</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حَقِيبَتِي كِتَابٌ وَقَلَمٌ.</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bag there is a book and a pen.</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مِسْطَرَةٌ.</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 ruler.</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عِنْدِي قَامُوسٌ.</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have a dictionary.</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قَلَمٌ.</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a pen.</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كِتَابٌ  ·  دَفْتَرٌ  ·  قَلَمٌ  ·  مِسْطَرَةٌ  ·  مِقْلَمَةٌ  ·  حَقِيبَةٌ  ·  هَذَا  ·  هَذِهِ  ·  عِنْدِي  ·  لَيْسَ عِنْدِي  ·  فِي  ·  عَلَى</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هَذِهِ حَقِيبَتِي المَدْرَسِيَّةُ. فِي حَقِيبَتِي كِتَابٌ وَدَفْتَرَانِ وَثَلَاثَةُ أَقْلَامٍ وَمِسْطَرَةٌ وَمِمْحَاةٌ. عِنْدِي أَيْضًا آلَةٌ حَاسِبَةٌ صَغِيرَةٌ، وَلَكِنْ لَيْسَ عِنْدِي قَامُوسٌ اليَوْمَ. عَلَى مَكْتَبِي حَاسُوبٌ مَحْمُولٌ، وَبِجَانِبِ الحَاسُوبِ مِقْلَمَةٌ زَرْقَاءُ. تَحْتَ الكُرْسِيِّ حَقِيبَةُ صَدِيقَتِي.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This is my school bag. In my bag there is a book, two exercise books, three pens, a ruler and an eraser. I also have a small calculator, but I don’t have a dictionary today. On my desk there is a laptop, and beside the computer a blue pencil case. Under the chair is my friend’s bag.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demonstrative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objects + numbers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negative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locations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at least eight objects.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hādhā for masculine, hādhihi for feminine objects.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‘indī and laysa ‘indī.</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two locations.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counted objects or compared two bags.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demonstrative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طَابِعَةٌ.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طَابِعَةٌ.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طَابِعٌ.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if she has a calculator.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عِنْدَكَ آلَةٌ حَاسِبَةٌ؟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عِنْدَكِ آلَةٌ حَاسِبَةٌ؟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عِنْدَهَا آلَةٌ حَاسِبَةٌ؟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location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 الكُرْسِيِّ حَقِيبَةٌ.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 الكُرْسِيُّ حَقِيبَةٌ.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حَقِيبَةٌ تَحْتَ الكُرْسِيُّ فِي.</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demonstrative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هَذِهِ طَابِعَةٌ.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هَذَا طَابِعَةٌ.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هَذِهِ طَابِعٌ.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طَابِعَةٌ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if she has a calculator.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هَلْ عِنْدَكَ آلَةٌ حَاسِبَةٌ؟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هَلْ عِنْدَكِ آلَةٌ حَاسِبَةٌ؟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هَلْ عِنْدَهَا آلَةٌ حَاسِبَةٌ؟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عِنْدَكِ</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location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تَحْتَ الكُرْسِيِّ حَقِيبَةٌ.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تَحْتَ الكُرْسِيُّ حَقِيبَةٌ.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حَقِيبَةٌ تَحْتَ الكُرْسِيُّ فِي.</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model uses the location phrase accurately.</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F4-L03 · Classroom Objects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F4-L04: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F4-L04 · Likes, Dislikes and Preferences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كَثِيرًا</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lot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قَلِيلًا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little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رَأْيِي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my opinion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أُفَضِّلُ … عَلَى …</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prefer … to …</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هَلْ تُحِبُّ؟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do you like?</a:t>
            </a:r>
            <a:pPr indent="0" marL="0">
              <a:buNone/>
            </a:pPr>
            <a:r>
              <a:rPr lang="ar-SA" sz="1000" i="1" dirty="0">
                <a:solidFill>
                  <a:srgbClr val="5A6472"/>
                </a:solidFill>
                <a:latin typeface="Calibri" pitchFamily="34" charset="0"/>
                <a:ea typeface="Amiri" pitchFamily="2" charset="-78"/>
                <a:cs typeface="Amiri" pitchFamily="2" charset="-78"/>
              </a:rPr>
              <a:t>  f. تُحِبِّينَ</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school subject do you like a lot?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أُحِبُّ … كَثِيرًا.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F4-L03: Pack the Bag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school-bag inventory: 5–8 sentences with one negative sentence.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7–9 sentences describing your bag and desk with numbers and colours.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50" b="1" dirty="0">
                <a:solidFill>
                  <a:srgbClr val="FFFFFF"/>
                </a:solidFill>
                <a:latin typeface="Cambria" pitchFamily="34" charset="0"/>
                <a:cs typeface="Amiri" pitchFamily="2" charset="-78"/>
              </a:rPr>
              <a:t>F4-L04 · Likes, Dislikes and Preferences</a:t>
            </a:r>
            <a:endParaRPr lang="en-US" sz="24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مَا أُحِبُّ وَمَا لَا أُحِبُّ وَمَا أُفَضِّلُ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m. → hādhā · f. → hādhihi · I have ‘indī · I don’t have laysa ‘indī.</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F4-L03 · Classroom Objects — What Is in Your Bag?</dc:title>
  <dc:subject>PptxGenJS Presentation</dc:subject>
  <dc:creator>Al Madina Online School · Arabic Department</dc:creator>
  <cp:lastModifiedBy>Al Madina Online School · Arabic Department</cp:lastModifiedBy>
  <cp:revision>1</cp:revision>
  <dcterms:created xsi:type="dcterms:W3CDTF">2026-10-11T06:41:37Z</dcterms:created>
  <dcterms:modified xsi:type="dcterms:W3CDTF">2026-10-11T06:41:37Z</dcterms:modified>
</cp:coreProperties>
</file>