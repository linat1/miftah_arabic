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F4 My School › Lesson 9 (F4-L09). Website sections used: the eight-question F4 retrieval bridge and the three quality questions, email vs article/blog formats (16 terms, 12 questions), three purposeful paragraphs + task-coverage checklist (14), the F4 language vault (14), the 83-word model email (12), the error-repair workshop (12), plan before you draft, the School Writer Mission (14), Huda plans her article (listening, 10), email vs article openings (reading, 12), oral paragraph rehearsal (5 prompts), the 80–100-word first version, the /10 review (task completion 3 · range 3 · accuracy 4) and the 16-question checkpoint.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This lesson introduces NO new topic: it teaches students to select and connect the whole F4 unit (school, subjects, timetable, reasons, rules, school day) in one text.
• Core: the three-paragraph frame + at least 70 words. Develop: 80–100 words, varied openings and reasons. Stretch: a contrast and a strong concluding opinion.
• Format decision (website): an email speaks to a named reader (greeting, closing, signature); an article/blog addresses a wider audience (title, introduction, concluding opinion — no greeting or signature). Never mix them.
• Real or invented schools are accepted; no names of real staff or pupils are needed.
• Multi-session: plan + draft today; the /10 review and final version can be the start of the next lesson.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at the end of F4-L08. Questions 3–5 are the website “F4 retrieval bridge” (feminine agreement, timetable sentence, prohibition).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Three quality questions: Did I answer every point? Did I show a range? Is the Arabic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“By the end” (left) and the lesson routes (right).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مقالہ، عنوان، مقدمہ، خاتمہ are shared words — Urdu speakers already know the language of essay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FORMAT VOCABULARY (website, 16). Also: فِقْرَةٌ (paragraph), تَطْوِيرُ الفِكْرَةِ (development), خَاتِمَةُ رَأْيٍ (concluding opinion), مُسَوَّدَةٌ (draft), مُرَاجَعَةٌ (review), تَصْحِيحٌ (correction), تَحْسِينٌ (improvement), عَدَدُ الكَلِمَاتِ (word count). Email frames: عَزِيزِي … / عَزِيزَتِي … · أَكْتُبُ إِلَيْكَ / إِلَيْكِ عَنْ … · مَعَ تَحِيَّاتِي. Article frames: فِي هٰذَا المَقَالِ … · فِي الخِتَامِ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sections 2 “Choose the right writing format” and 3 “Build three purposeful paragraphs”.
Task-coverage checklist (website): describe your school and one facility · name subjects and give a favourite with a reason · one day or timetable detail · one rule and one prohibition · a personal opinion and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section 6 “Repair common writing errors”: accuracy improves when you identify the decision behind an error — gender, pronoun, verb form, rule structure or format.
Language vault (website): rooms and facilities (فَصْلٌ، مَكْتَبَةٌ، مَخْتَبَرُ العُلُومِ، مَعْمَلُ الحَاسُوبِ، مَلْعَبٌ، صَالَةٌ رِيَاضِيَّةٌ، مَقْصَفٌ، مَكْتَبُ المُدِيرِ، سَاحَةٌ، مَسْرَحٌ), subjects, timetable, opinions, rules, school-day sequence, email and article frames, connectors (أَمَّا … فَـ، لِذَلِكَ، مَعَ ذَلِكَ).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format check questions 4 and 11, paragraph-architecture question 5 and repair question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(4 min) — the website model email. Website annotation categories: FORMAT · REASON · CONNECTOR · RULE · OPINION. Read once for meaning, then again to find each category (students call them out). Point out agreement: مَدْرَسَةٍ ثَانَوِيَّةٍ كَبِيرَةٍ وَمُنَظَّمَةٍ · مَكْتَبَةٌ هَادِئَةٌ · مَخْتَبَرُ عُلُومٍ حَدِيثٌ.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5 of the website’s 14 School Writer rounds (article feature, paragraph 2, reason, prohibition, agreement repair). The other 9 are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quality question does this round test — task, range or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3. Develop / Stretch: all 5.
Listen 1: just listen. Listen 2: note answers. Then chat the letters.
Support: after the second listening, show the read-along slide (Arabic + English, line by line) for Core students.
SCRIPT (read aloud):
سَأَكْتُبُ مَقَالًا قَصِيرًا عَنْ مَدْرَسَتِي لِمَجَلَّةِ الشَّبَابِ. سَأَضَعُ عُنْوَانًا وَاضِحًا: «يَوْمِي فِي المَدْرَسَةِ». فِي الفِقْرَةِ الأُولَى سَأَصِفُ المَدْرَسَةَ؛ هِيَ كَبِيرَةٌ وَحَدِيثَةٌ وَفِيهَا مَكْتَبَةٌ وَمَخْتَبَرٌ. فِي الفِقْرَةِ الثَّانِيَةِ سَأَذْكُرُ مَوَادِّي، وَمَادَّتِي المُفَضَّلَةُ هِيَ الرِّيَاضِيَّاتُ لِأَنَّهَا مُفِيدَةٌ. وَفِي الفِقْرَةِ الثَّالِثَةِ سَأَكْتُبُ قَاعِدَتَيْنِ: يَجِبُ أَنْ نَحْضُرَ فِي المَوْعِدِ، وَلَا يَجُوزُ أَنْ نَتَكَلَّمَ أَثْنَاءَ الشَّرْحِ. أَخِيرًا، سَأَقُولُ إِنَّنِي أُحِبُّ مَدْرَسَتِي لِأَنَّ المُعَلِّمِينَ مُشَجِّعُونَ.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TEXTS A and B (website openings, complete). Both describe school life but with a different relationship to the reader: A speaks directly to Omar; B addresses the public (suitable for a school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reading comparison questions 3, 4, 5, 8 and 11. The other 7 are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reads aloud the evidence phrase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WEBSITE ORAL REHEARSAL (60-second timer per paragraph) — rehearsal helps you hear missing details, repeated openings and unclear order before drafting. Prompts (website):
• Paragraph 1 · Describe the school: Give the type, size, location and two facilities.
• Paragraph 2 · Subjects and timetable: Name subjects, favourite subject, reason, day and time.
• Paragraph 3 · Rules and opinion: Give one obligation, one prohibition and a final opinion.
• Email opening and closing: Address the reader, explain the purpose and close appropriately.
• Article opening and conclusion: State a title, introduce the topic and finish with a concluding judgement.
Website targets: answered the paragraph purpose · a connector · a precise detail · accurate agreement or verb 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Three paragraphs with the frames; at least 70 words. · Develop — 80–100 words with varied openings, reasons and connectors. · Stretch — Add a contrast (wa-lākin / ammā … fa-) and a concluding opinion.
Website writing task (Stretch): Website task “My school and school life”: an email or an article/blog for a young Arabic-speaking reader — three organised paragraphs (school and a facility · subjects and timetable · rules, school day and opinion), 80–100 Arabic words.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The website 83-word model email. Stretch: rewrite paragraph 1 as the opening of an ARTICLE (title + فِي هٰذَا المَقَالِ …).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(F4-L10 · Listening and Speaking: School Conversations) will spend class time USING this language, so students prepare it tonight — short, simple, easy to access (school guidance: “Simple, Short, Interesting, Relevant, Easy to access”). The five phrases come from the website F4-L10 conversation toolkit.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F4  ·  F4-L09</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F4-L09</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850" b="1" dirty="0">
                <a:solidFill>
                  <a:srgbClr val="FFFFFF"/>
                </a:solidFill>
                <a:latin typeface="Cambria" pitchFamily="34" charset="0"/>
                <a:cs typeface="Amiri" pitchFamily="2" charset="-78"/>
              </a:rPr>
              <a:t>Extended Writing: My School</a:t>
            </a:r>
            <a:endParaRPr lang="en-US" sz="38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الكِتَابَةُ المُطَوَّلَةُ — مَدْرَسَتِي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Choose an email or an article format, plan three purposeful paragraphs, write 80–100 connected words about your school using the whole F4 unit, then review and improve.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F4-L09 · Foundation F4 · My School</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F4 › F4-L09</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F4-L09 · Extended Writing</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F4-L09</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F4-L09</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Email or article, three purposeful paragraphs, the 83-word model.</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Writer mission, listen to Huda’s plan, compare two openings.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F4-L10.</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F4-L09 · Extended Writing</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مَقَالٌ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email</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article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paragraph</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مَرَافِقُ</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facilities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subjects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rules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“My school is large and organised.”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مَدْرَسَتِي كَبِيرٌ وَمُنَظَّمٌ.</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مَدْرَسَتِي كَبِيرَةً وَمُنَظَّمَةً.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مَدْرَسَتِي كَبِيرَةٌ وَمُنَظَّمَةٌ.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timetable sentence for “On Monday, science begins at nine.”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1250" dirty="0">
                <a:solidFill>
                  <a:srgbClr val="1F2A37"/>
                </a:solidFill>
                <a:latin typeface="Amiri" pitchFamily="2" charset="-78"/>
                <a:cs typeface="Amiri" pitchFamily="2" charset="-78"/>
              </a:rPr>
              <a:t>فِي الاِثْنَيْنُ العُلُومُ السَّاعَةُ التَّاسِعَةُ.</a:t>
            </a:r>
            <a:endParaRPr lang="ar-SA"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1250" dirty="0">
                <a:solidFill>
                  <a:srgbClr val="1F2A37"/>
                </a:solidFill>
                <a:latin typeface="Amiri" pitchFamily="2" charset="-78"/>
                <a:cs typeface="Amiri" pitchFamily="2" charset="-78"/>
              </a:rPr>
              <a:t>يَوْمُ الاِثْنَيْنِ يَبْدَأُ العُلُومُ فِي تِسْعَةٍ.</a:t>
            </a:r>
            <a:endParaRPr lang="ar-SA"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1250" dirty="0">
                <a:solidFill>
                  <a:srgbClr val="1F2A37"/>
                </a:solidFill>
                <a:latin typeface="Amiri" pitchFamily="2" charset="-78"/>
                <a:cs typeface="Amiri" pitchFamily="2" charset="-78"/>
              </a:rPr>
              <a:t>يَوْمَ الاِثْنَيْنِ تَبْدَأُ حِصَّةُ العُلُومِ عِنْدَ السَّاعَةِ التَّاسِعَةِ.</a:t>
            </a:r>
            <a:endParaRPr lang="ar-SA"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prohibition.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1650" dirty="0">
                <a:solidFill>
                  <a:srgbClr val="1F2A37"/>
                </a:solidFill>
                <a:latin typeface="Amiri" pitchFamily="2" charset="-78"/>
                <a:cs typeface="Amiri" pitchFamily="2" charset="-78"/>
              </a:rPr>
              <a:t>لَا يَجُوزُ أَنْ نَسْتَعْمِلَ الهَوَاتِفَ فِي الفَصْلِ.</a:t>
            </a:r>
            <a:endParaRPr lang="ar-SA" sz="16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1650" dirty="0">
                <a:solidFill>
                  <a:srgbClr val="1F2A37"/>
                </a:solidFill>
                <a:latin typeface="Amiri" pitchFamily="2" charset="-78"/>
                <a:cs typeface="Amiri" pitchFamily="2" charset="-78"/>
              </a:rPr>
              <a:t>لَا يَجِبُ أَنْ نَسْتَعْمِلَ الهَوَاتِفَ فِي الفَصْلِ.</a:t>
            </a:r>
            <a:endParaRPr lang="ar-SA" sz="16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1650" dirty="0">
                <a:solidFill>
                  <a:srgbClr val="1F2A37"/>
                </a:solidFill>
                <a:latin typeface="Amiri" pitchFamily="2" charset="-78"/>
                <a:cs typeface="Amiri" pitchFamily="2" charset="-78"/>
              </a:rPr>
              <a:t>يَجِبُ أَنْ نَسْتَعْمِلَ الهَوَاتِفَ فِي الفَصْلِ.</a:t>
            </a:r>
            <a:endParaRPr lang="ar-SA" sz="16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F4-L09 · Extended Writing</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مَقَالٌ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email</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article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paragraph</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(F4-L08).</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مَرَافِقُ</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facilities</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subjects</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rules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(F4-L08).</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“My school is large and organised.”</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مَدْرَسَتِي كَبِيرٌ وَمُنَظَّمٌ.</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مَدْرَسَتِي كَبِيرَةً وَمُنَظَّمَةً.</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مَدْرَسَتِي كَبِيرَةٌ وَمُنَظَّمَةٌ.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مَدْرَسَةٌ</a:t>
            </a:r>
            <a:pPr algn="l" indent="0" marL="0">
              <a:buNone/>
            </a:pPr>
            <a:r>
              <a:rPr lang="en-US" sz="1050" i="1" dirty="0">
                <a:solidFill>
                  <a:srgbClr val="8A6D1E"/>
                </a:solidFill>
                <a:latin typeface="Calibri" pitchFamily="34" charset="0"/>
                <a:cs typeface="Amiri" pitchFamily="2" charset="-78"/>
              </a:rPr>
              <a:t> is feminine, so both adjectives are feminine.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timetable sentence for “On Monday, science begins at nine.”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250" dirty="0">
                <a:solidFill>
                  <a:srgbClr val="9AA1AB"/>
                </a:solidFill>
                <a:latin typeface="Amiri" pitchFamily="2" charset="-78"/>
                <a:cs typeface="Amiri" pitchFamily="2" charset="-78"/>
              </a:rPr>
              <a:t>فِي الاِثْنَيْنُ العُلُومُ السَّاعَةُ التَّاسِعَةُ.</a:t>
            </a:r>
            <a:endParaRPr lang="ar-SA"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250" dirty="0">
                <a:solidFill>
                  <a:srgbClr val="9AA1AB"/>
                </a:solidFill>
                <a:latin typeface="Amiri" pitchFamily="2" charset="-78"/>
                <a:cs typeface="Amiri" pitchFamily="2" charset="-78"/>
              </a:rPr>
              <a:t>يَوْمُ الاِثْنَيْنِ يَبْدَأُ العُلُومُ فِي تِسْعَةٍ.</a:t>
            </a:r>
            <a:endParaRPr lang="ar-SA"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250" b="1" dirty="0">
                <a:solidFill>
                  <a:srgbClr val="1F2A37"/>
                </a:solidFill>
                <a:latin typeface="Amiri" pitchFamily="2" charset="-78"/>
                <a:cs typeface="Amiri" pitchFamily="2" charset="-78"/>
              </a:rPr>
              <a:t>يَوْمَ الاِثْنَيْنِ تَبْدَأُ حِصَّةُ العُلُومِ عِنْدَ السَّاعَةِ التَّاسِعَةِ.</a:t>
            </a:r>
            <a:endParaRPr lang="ar-SA"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complete pattern includes the day, the lesson, </a:t>
            </a:r>
            <a:pPr algn="l" indent="0" marL="0">
              <a:buNone/>
            </a:pPr>
            <a:r>
              <a:rPr lang="ar-SA" altLang="en-US" sz="1350" dirty="0">
                <a:solidFill>
                  <a:srgbClr val="8A6D1E"/>
                </a:solidFill>
                <a:latin typeface="Amiri" pitchFamily="2" charset="-78"/>
                <a:cs typeface="Amiri" pitchFamily="2" charset="-78"/>
              </a:rPr>
              <a:t>تَبْدَأُ</a:t>
            </a:r>
            <a:pPr algn="l" indent="0" marL="0">
              <a:buNone/>
            </a:pPr>
            <a:r>
              <a:rPr lang="en-US" sz="1050" i="1" dirty="0">
                <a:solidFill>
                  <a:srgbClr val="8A6D1E"/>
                </a:solidFill>
                <a:latin typeface="Calibri" pitchFamily="34" charset="0"/>
                <a:cs typeface="Amiri" pitchFamily="2" charset="-78"/>
              </a:rPr>
              <a:t> and the clock phrase.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prohibition.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650" b="1" dirty="0">
                <a:solidFill>
                  <a:srgbClr val="1F2A37"/>
                </a:solidFill>
                <a:latin typeface="Amiri" pitchFamily="2" charset="-78"/>
                <a:cs typeface="Amiri" pitchFamily="2" charset="-78"/>
              </a:rPr>
              <a:t>لَا يَجُوزُ أَنْ نَسْتَعْمِلَ الهَوَاتِفَ فِي الفَصْلِ.</a:t>
            </a:r>
            <a:endParaRPr lang="ar-SA" sz="16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650" dirty="0">
                <a:solidFill>
                  <a:srgbClr val="9AA1AB"/>
                </a:solidFill>
                <a:latin typeface="Amiri" pitchFamily="2" charset="-78"/>
                <a:cs typeface="Amiri" pitchFamily="2" charset="-78"/>
              </a:rPr>
              <a:t>لَا يَجِبُ أَنْ نَسْتَعْمِلَ الهَوَاتِفَ فِي الفَصْلِ.</a:t>
            </a:r>
            <a:endParaRPr lang="ar-SA" sz="16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650" dirty="0">
                <a:solidFill>
                  <a:srgbClr val="9AA1AB"/>
                </a:solidFill>
                <a:latin typeface="Amiri" pitchFamily="2" charset="-78"/>
                <a:cs typeface="Amiri" pitchFamily="2" charset="-78"/>
              </a:rPr>
              <a:t>يَجِبُ أَنْ نَسْتَعْمِلَ الهَوَاتِفَ فِي الفَصْلِ.</a:t>
            </a:r>
            <a:endParaRPr lang="ar-SA" sz="16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لَا يَجُوزُ أَنْ</a:t>
            </a:r>
            <a:pPr algn="l" indent="0" marL="0">
              <a:buNone/>
            </a:pPr>
            <a:r>
              <a:rPr lang="en-US" sz="1050" i="1" dirty="0">
                <a:solidFill>
                  <a:srgbClr val="8A6D1E"/>
                </a:solidFill>
                <a:latin typeface="Calibri" pitchFamily="34" charset="0"/>
                <a:cs typeface="Amiri" pitchFamily="2" charset="-78"/>
              </a:rPr>
              <a:t> means must not or is not permitted.</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Three quality questions: Did I answer every point? Did I show a range? Is the Arabic accurate?</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cs typeface="Amiri" pitchFamily="2" charset="-78"/>
              </a:rPr>
              <a:t>إِتْمَامُ المَهَمَّةِ · التَّنَوُّعُ · الدِّقَّةُ</a:t>
            </a:r>
            <a:endParaRPr lang="ar-SA" sz="22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F4-L09 · Extended Writing</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F4-L09</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the features of an email and an article/blog.</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Plan a three-paragraph school response.</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subjects, timetable, rules, opinions and school-day language.</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Write 80–100 connected words, then review and improve.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plan three paragraphs.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write at least 70 words.</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keep one format consistent.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vary openings and reasons.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add a contrast.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improve my draft with evidence.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Format words, paragraph words and the writing process. Core: email, article, paragraph, greeting, conclusion.</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Email vs article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Paragraph language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The whole F4 vault</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مَقَالٌ</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‎مقالہ‎ </a:t>
            </a:r>
            <a:pPr indent="0" marL="0">
              <a:buNone/>
            </a:pPr>
            <a:r>
              <a:rPr lang="en-US" sz="950" b="1" dirty="0">
                <a:solidFill>
                  <a:srgbClr val="2E8B57"/>
                </a:solidFill>
                <a:latin typeface="Calibri" pitchFamily="34" charset="0"/>
                <a:cs typeface="Amiri" pitchFamily="2" charset="-78"/>
              </a:rPr>
              <a:t> maqāl · article</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عُنْوَانٌ</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‎عنوان‎ </a:t>
            </a:r>
            <a:pPr indent="0" marL="0">
              <a:buNone/>
            </a:pPr>
            <a:r>
              <a:rPr lang="en-US" sz="950" b="1" dirty="0">
                <a:solidFill>
                  <a:srgbClr val="2E8B57"/>
                </a:solidFill>
                <a:latin typeface="Calibri" pitchFamily="34" charset="0"/>
                <a:cs typeface="Amiri" pitchFamily="2" charset="-78"/>
              </a:rPr>
              <a:t> ‘unwān · title</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مُقَدِّمَةٌ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‎مقدمہ‎ </a:t>
            </a:r>
            <a:pPr indent="0" marL="0">
              <a:buNone/>
            </a:pPr>
            <a:r>
              <a:rPr lang="en-US" sz="950" b="1" dirty="0">
                <a:solidFill>
                  <a:srgbClr val="2E8B57"/>
                </a:solidFill>
                <a:latin typeface="Calibri" pitchFamily="34" charset="0"/>
                <a:cs typeface="Amiri" pitchFamily="2" charset="-78"/>
              </a:rPr>
              <a:t> muqaddima · introduction</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خَاتِمَةٌ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‎خاتمہ‎ </a:t>
            </a:r>
            <a:pPr indent="0" marL="0">
              <a:buNone/>
            </a:pPr>
            <a:r>
              <a:rPr lang="en-US" sz="950" b="1" dirty="0">
                <a:solidFill>
                  <a:srgbClr val="2E8B57"/>
                </a:solidFill>
                <a:latin typeface="Calibri" pitchFamily="34" charset="0"/>
                <a:cs typeface="Amiri" pitchFamily="2" charset="-78"/>
              </a:rPr>
              <a:t> khātima · conclusion</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تَحِيَّةٌ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‎تحیہ‎ </a:t>
            </a:r>
            <a:pPr indent="0" marL="0">
              <a:buNone/>
            </a:pPr>
            <a:r>
              <a:rPr lang="en-US" sz="950" b="1" dirty="0">
                <a:solidFill>
                  <a:srgbClr val="2E8B57"/>
                </a:solidFill>
                <a:latin typeface="Calibri" pitchFamily="34" charset="0"/>
                <a:cs typeface="Amiri" pitchFamily="2" charset="-78"/>
              </a:rPr>
              <a:t> taḥiyya · greeting</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F4-L09 · Extended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1–2 · FORMATS AND PARAGRAPHS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Email, article, paragraph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صِيَغُ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named reader</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رِسَالَةٌ إِلِكْتُرُونِيَّةٌ</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email</a:t>
            </a:r>
            <a:endParaRPr lang="en-US" sz="1350" dirty="0"/>
          </a:p>
          <a:p>
            <a:pPr indent="0" marL="0">
              <a:buNone/>
            </a:pPr>
            <a:r>
              <a:rPr lang="en-US" sz="1100" i="1" dirty="0">
                <a:solidFill>
                  <a:srgbClr val="5A6472"/>
                </a:solidFill>
                <a:latin typeface="Calibri" pitchFamily="34" charset="0"/>
                <a:cs typeface="Amiri" pitchFamily="2" charset="-78"/>
              </a:rPr>
              <a:t>ri-sā-la i-lik-trū-niy-ya</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7" name="Shape 24"/>
          <p:cNvSpPr/>
          <p:nvPr/>
        </p:nvSpPr>
        <p:spPr>
          <a:xfrm>
            <a:off x="4782312" y="1938528"/>
            <a:ext cx="1144829"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wider audience</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مَقَالٌ / مُدَوَّنَةٌ</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article / blog</a:t>
            </a:r>
            <a:endParaRPr lang="en-US" sz="1350" dirty="0"/>
          </a:p>
          <a:p>
            <a:pPr indent="0" marL="0">
              <a:buNone/>
            </a:pPr>
            <a:r>
              <a:rPr lang="en-US" sz="1100" i="1" dirty="0">
                <a:solidFill>
                  <a:srgbClr val="5A6472"/>
                </a:solidFill>
                <a:latin typeface="Calibri" pitchFamily="34" charset="0"/>
                <a:cs typeface="Amiri" pitchFamily="2" charset="-78"/>
              </a:rPr>
              <a:t>ma-qāl / mu-daw-wa-na</a:t>
            </a:r>
            <a:endParaRPr lang="en-US" sz="135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6" name="Shape 33"/>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article</a:t>
            </a:r>
            <a:endParaRPr lang="en-US" sz="800" dirty="0"/>
          </a:p>
        </p:txBody>
      </p:sp>
      <p:sp>
        <p:nvSpPr>
          <p:cNvPr id="38" name="Shape 3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عُنْوَانٌ</a:t>
            </a:r>
            <a:endParaRPr lang="ar-SA" sz="3000" dirty="0"/>
          </a:p>
        </p:txBody>
      </p:sp>
      <p:sp>
        <p:nvSpPr>
          <p:cNvPr id="41" name="Text 3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title</a:t>
            </a:r>
            <a:endParaRPr lang="en-US" sz="1350" dirty="0"/>
          </a:p>
          <a:p>
            <a:pPr indent="0" marL="0">
              <a:buNone/>
            </a:pPr>
            <a:r>
              <a:rPr lang="en-US" sz="1100" i="1" dirty="0">
                <a:solidFill>
                  <a:srgbClr val="5A6472"/>
                </a:solidFill>
                <a:latin typeface="Calibri" pitchFamily="34" charset="0"/>
                <a:cs typeface="Amiri" pitchFamily="2" charset="-78"/>
              </a:rPr>
              <a:t>‘un-wān</a:t>
            </a:r>
            <a:endParaRPr lang="en-US" sz="135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5" name="Shape 42"/>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email</a:t>
            </a:r>
            <a:endParaRPr lang="en-US" sz="800" dirty="0"/>
          </a:p>
        </p:txBody>
      </p:sp>
      <p:sp>
        <p:nvSpPr>
          <p:cNvPr id="47" name="Shape 4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9" name="Text 4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تَحِيَّةٌ · تَوْقِيعٌ</a:t>
            </a:r>
            <a:endParaRPr lang="ar-SA" sz="3000" dirty="0"/>
          </a:p>
        </p:txBody>
      </p:sp>
      <p:sp>
        <p:nvSpPr>
          <p:cNvPr id="50" name="Text 4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greeting · signature</a:t>
            </a:r>
            <a:endParaRPr lang="en-US" sz="1350" dirty="0"/>
          </a:p>
          <a:p>
            <a:pPr indent="0" marL="0">
              <a:buNone/>
            </a:pPr>
            <a:r>
              <a:rPr lang="en-US" sz="1100" i="1" dirty="0">
                <a:solidFill>
                  <a:srgbClr val="5A6472"/>
                </a:solidFill>
                <a:latin typeface="Calibri" pitchFamily="34" charset="0"/>
                <a:cs typeface="Amiri" pitchFamily="2" charset="-78"/>
              </a:rPr>
              <a:t>ta-ḥiy-ya · taw-qī‘</a:t>
            </a:r>
            <a:endParaRPr lang="en-US" sz="1350" dirty="0"/>
          </a:p>
        </p:txBody>
      </p:sp>
      <p:sp>
        <p:nvSpPr>
          <p:cNvPr id="51" name="Shape 4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4389120"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4" name="Shape 51"/>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both</a:t>
            </a:r>
            <a:endParaRPr lang="en-US" sz="800" dirty="0"/>
          </a:p>
        </p:txBody>
      </p:sp>
      <p:sp>
        <p:nvSpPr>
          <p:cNvPr id="56" name="Text 5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مُقَدِّمَةٌ · خَاتِمَةٌ</a:t>
            </a:r>
            <a:endParaRPr lang="ar-SA" sz="3000" dirty="0"/>
          </a:p>
        </p:txBody>
      </p:sp>
      <p:sp>
        <p:nvSpPr>
          <p:cNvPr id="57" name="Text 5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introduction · conclusion</a:t>
            </a:r>
            <a:endParaRPr lang="en-US" sz="1350" dirty="0"/>
          </a:p>
          <a:p>
            <a:pPr indent="0" marL="0">
              <a:buNone/>
            </a:pPr>
            <a:r>
              <a:rPr lang="en-US" sz="1100" i="1" dirty="0">
                <a:solidFill>
                  <a:srgbClr val="5A6472"/>
                </a:solidFill>
                <a:latin typeface="Calibri" pitchFamily="34" charset="0"/>
                <a:cs typeface="Amiri" pitchFamily="2" charset="-78"/>
              </a:rPr>
              <a:t>mu-qad-di-ma · khā-ti-ma</a:t>
            </a:r>
            <a:endParaRPr lang="en-US" sz="1350" dirty="0"/>
          </a:p>
        </p:txBody>
      </p:sp>
      <p:sp>
        <p:nvSpPr>
          <p:cNvPr id="58" name="Shape 5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566928"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1" name="Shape 58"/>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62" name="Text 59"/>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paragraph</a:t>
            </a:r>
            <a:endParaRPr lang="en-US" sz="800" dirty="0"/>
          </a:p>
        </p:txBody>
      </p:sp>
      <p:sp>
        <p:nvSpPr>
          <p:cNvPr id="63" name="Text 60"/>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جُمْلَةٌ مِحْوَرِيَّةٌ</a:t>
            </a:r>
            <a:endParaRPr lang="ar-SA" sz="3000" dirty="0"/>
          </a:p>
        </p:txBody>
      </p:sp>
      <p:sp>
        <p:nvSpPr>
          <p:cNvPr id="64" name="Text 61"/>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topic sentence</a:t>
            </a:r>
            <a:endParaRPr lang="en-US" sz="1350" dirty="0"/>
          </a:p>
          <a:p>
            <a:pPr indent="0" marL="0">
              <a:buNone/>
            </a:pPr>
            <a:r>
              <a:rPr lang="en-US" sz="1100" i="1" dirty="0">
                <a:solidFill>
                  <a:srgbClr val="5A6472"/>
                </a:solidFill>
                <a:latin typeface="Calibri" pitchFamily="34" charset="0"/>
                <a:cs typeface="Amiri" pitchFamily="2" charset="-78"/>
              </a:rPr>
              <a:t>jum-la miḥ-wa-riy-ya</a:t>
            </a:r>
            <a:endParaRPr lang="en-US" sz="135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F4-L09 · Extended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THREE PURPOSEFUL PARAGRAPHS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paragraph, one job</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ثَلَاثُ فِقَرٍ هَادِفَةٍ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382512" y="1810512"/>
            <a:ext cx="52760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Starter</a:t>
            </a:r>
            <a:endParaRPr lang="en-US" sz="1100" dirty="0"/>
          </a:p>
        </p:txBody>
      </p:sp>
      <p:sp>
        <p:nvSpPr>
          <p:cNvPr id="17" name="Text 14"/>
          <p:cNvSpPr txBox="1"/>
          <p:nvPr/>
        </p:nvSpPr>
        <p:spPr>
          <a:xfrm>
            <a:off x="2907792" y="1810512"/>
            <a:ext cx="3328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Its job</a:t>
            </a:r>
            <a:endParaRPr lang="en-US" sz="1100" dirty="0"/>
          </a:p>
        </p:txBody>
      </p:sp>
      <p:sp>
        <p:nvSpPr>
          <p:cNvPr id="18" name="Text 15"/>
          <p:cNvSpPr txBox="1"/>
          <p:nvPr/>
        </p:nvSpPr>
        <p:spPr>
          <a:xfrm>
            <a:off x="530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Paragraph</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6400800" y="2267712"/>
            <a:ext cx="523951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أَدْرُسُ فِي مَدْرَسَةٍ … وَفِيهَا …</a:t>
            </a:r>
            <a:endParaRPr lang="ar-SA" sz="2200" dirty="0"/>
          </a:p>
        </p:txBody>
      </p:sp>
      <p:sp>
        <p:nvSpPr>
          <p:cNvPr id="21" name="Text 18"/>
          <p:cNvSpPr txBox="1"/>
          <p:nvPr/>
        </p:nvSpPr>
        <p:spPr>
          <a:xfrm>
            <a:off x="2944368" y="2267712"/>
            <a:ext cx="32918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size, location, rooms, facilities</a:t>
            </a:r>
            <a:endParaRPr lang="en-US" sz="1100" dirty="0"/>
          </a:p>
        </p:txBody>
      </p:sp>
      <p:sp>
        <p:nvSpPr>
          <p:cNvPr id="22" name="Text 19"/>
          <p:cNvSpPr txBox="1"/>
          <p:nvPr/>
        </p:nvSpPr>
        <p:spPr>
          <a:xfrm>
            <a:off x="56692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School</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6400800" y="3004718"/>
            <a:ext cx="523951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مَادَّتِي المُفَضَّلَةُ … لِأَنَّهَا …</a:t>
            </a:r>
            <a:endParaRPr lang="ar-SA" sz="2200" dirty="0"/>
          </a:p>
        </p:txBody>
      </p:sp>
      <p:sp>
        <p:nvSpPr>
          <p:cNvPr id="27" name="Text 24"/>
          <p:cNvSpPr txBox="1"/>
          <p:nvPr/>
        </p:nvSpPr>
        <p:spPr>
          <a:xfrm>
            <a:off x="2944368" y="3004718"/>
            <a:ext cx="32918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subjects, favourite + reason, day and time</a:t>
            </a:r>
            <a:endParaRPr lang="en-US" sz="1100" dirty="0"/>
          </a:p>
        </p:txBody>
      </p:sp>
      <p:sp>
        <p:nvSpPr>
          <p:cNvPr id="28" name="Text 25"/>
          <p:cNvSpPr txBox="1"/>
          <p:nvPr/>
        </p:nvSpPr>
        <p:spPr>
          <a:xfrm>
            <a:off x="56692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Subjects</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6400800" y="3741725"/>
            <a:ext cx="523951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يَجِبُ أَنْ … وَلَا يَجُوزُ أَنْ … فِي رَأْيِي …</a:t>
            </a:r>
            <a:endParaRPr lang="ar-SA" sz="2200" dirty="0"/>
          </a:p>
        </p:txBody>
      </p:sp>
      <p:sp>
        <p:nvSpPr>
          <p:cNvPr id="33" name="Text 30"/>
          <p:cNvSpPr txBox="1"/>
          <p:nvPr/>
        </p:nvSpPr>
        <p:spPr>
          <a:xfrm>
            <a:off x="2944368" y="3741725"/>
            <a:ext cx="32918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obligation, a prohibition, routine, conclusion</a:t>
            </a:r>
            <a:endParaRPr lang="en-US" sz="1100" dirty="0"/>
          </a:p>
        </p:txBody>
      </p:sp>
      <p:sp>
        <p:nvSpPr>
          <p:cNvPr id="34" name="Text 31"/>
          <p:cNvSpPr txBox="1"/>
          <p:nvPr/>
        </p:nvSpPr>
        <p:spPr>
          <a:xfrm>
            <a:off x="56692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Rules + opinion</a:t>
            </a:r>
            <a:endParaRPr lang="en-US" sz="11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6400800" y="4478731"/>
            <a:ext cx="523951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عَزِيزِي عُمَرُ، … مَعَ تَحِيَّاتِي، …</a:t>
            </a:r>
            <a:endParaRPr lang="ar-SA" sz="2200" dirty="0"/>
          </a:p>
        </p:txBody>
      </p:sp>
      <p:sp>
        <p:nvSpPr>
          <p:cNvPr id="39" name="Text 36"/>
          <p:cNvSpPr txBox="1"/>
          <p:nvPr/>
        </p:nvSpPr>
        <p:spPr>
          <a:xfrm>
            <a:off x="2944368" y="4478731"/>
            <a:ext cx="32918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named greeting · closing · signature</a:t>
            </a:r>
            <a:endParaRPr lang="en-US" sz="1100" dirty="0"/>
          </a:p>
        </p:txBody>
      </p:sp>
      <p:sp>
        <p:nvSpPr>
          <p:cNvPr id="40" name="Text 37"/>
          <p:cNvSpPr txBox="1"/>
          <p:nvPr/>
        </p:nvSpPr>
        <p:spPr>
          <a:xfrm>
            <a:off x="56692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Email frame</a:t>
            </a:r>
            <a:endParaRPr lang="en-US" sz="1100" dirty="0"/>
          </a:p>
        </p:txBody>
      </p:sp>
      <p:sp>
        <p:nvSpPr>
          <p:cNvPr id="41" name="Shape 3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2" name="Text 39"/>
          <p:cNvSpPr txBox="1"/>
          <p:nvPr/>
        </p:nvSpPr>
        <p:spPr>
          <a:xfrm>
            <a:off x="6400800" y="5215738"/>
            <a:ext cx="523951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فِي هٰذَا المَقَالِ سَأَصِفُ مَدْرَسَتِي …</a:t>
            </a:r>
            <a:endParaRPr lang="ar-SA" sz="2200" dirty="0"/>
          </a:p>
        </p:txBody>
      </p:sp>
      <p:sp>
        <p:nvSpPr>
          <p:cNvPr id="43" name="Text 40"/>
          <p:cNvSpPr txBox="1"/>
          <p:nvPr/>
        </p:nvSpPr>
        <p:spPr>
          <a:xfrm>
            <a:off x="2944368" y="5215738"/>
            <a:ext cx="32918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title · introduction · concluding opinion</a:t>
            </a:r>
            <a:endParaRPr lang="en-US" sz="1100" dirty="0"/>
          </a:p>
        </p:txBody>
      </p:sp>
      <p:sp>
        <p:nvSpPr>
          <p:cNvPr id="44" name="Text 41"/>
          <p:cNvSpPr txBox="1"/>
          <p:nvPr/>
        </p:nvSpPr>
        <p:spPr>
          <a:xfrm>
            <a:off x="56692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Article frame</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one clear job per paragraph reduces repetition and makes task completion visible.</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F4-L09 · Extended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2 · REPAIR COMMON WRITING ERRORS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decision behind the error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أَخْطَاءَ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F4-L09</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891540" cy="274320"/>
          </a:xfrm>
          <a:prstGeom prst="roundRect">
            <a:avLst>
              <a:gd name="adj" fmla="val 50000"/>
            </a:avLst>
          </a:prstGeom>
          <a:solidFill>
            <a:srgbClr val="B83280"/>
          </a:solidFill>
          <a:ln w="12700">
            <a:solidFill>
              <a:srgbClr val="B83280"/>
            </a:solidFill>
            <a:prstDash val="solid"/>
          </a:ln>
        </p:spPr>
      </p:sp>
      <p:sp>
        <p:nvSpPr>
          <p:cNvPr id="17" name="Text 14"/>
          <p:cNvSpPr txBox="1"/>
          <p:nvPr/>
        </p:nvSpPr>
        <p:spPr>
          <a:xfrm>
            <a:off x="8232648" y="1920240"/>
            <a:ext cx="8915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AGREEMENT</a:t>
            </a:r>
            <a:endParaRPr lang="en-US" sz="850" dirty="0"/>
          </a:p>
        </p:txBody>
      </p:sp>
      <p:sp>
        <p:nvSpPr>
          <p:cNvPr id="18" name="Text 15"/>
          <p:cNvSpPr txBox="1"/>
          <p:nvPr/>
        </p:nvSpPr>
        <p:spPr>
          <a:xfrm>
            <a:off x="9169908" y="1874520"/>
            <a:ext cx="24246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مَدْرَسَتِي كَبِيرَةٌ</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مَدْرَسَةٌ حَدِيثَةٌ وَمُنَظَّمَةٌ</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a modern, organised school</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School (f.) → every adjective -a.</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234440" cy="274320"/>
          </a:xfrm>
          <a:prstGeom prst="roundRect">
            <a:avLst>
              <a:gd name="adj" fmla="val 50000"/>
            </a:avLst>
          </a:prstGeom>
          <a:solidFill>
            <a:srgbClr val="1D5FBF"/>
          </a:solidFill>
          <a:ln w="12700">
            <a:solidFill>
              <a:srgbClr val="1D5FBF"/>
            </a:solidFill>
            <a:prstDash val="solid"/>
          </a:ln>
        </p:spPr>
      </p:sp>
      <p:sp>
        <p:nvSpPr>
          <p:cNvPr id="25" name="Text 22"/>
          <p:cNvSpPr txBox="1"/>
          <p:nvPr/>
        </p:nvSpPr>
        <p:spPr>
          <a:xfrm>
            <a:off x="4413504" y="1920240"/>
            <a:ext cx="12344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REASON PRONOUN</a:t>
            </a:r>
            <a:endParaRPr lang="en-US" sz="850" dirty="0"/>
          </a:p>
        </p:txBody>
      </p:sp>
      <p:sp>
        <p:nvSpPr>
          <p:cNvPr id="26" name="Text 23"/>
          <p:cNvSpPr txBox="1"/>
          <p:nvPr/>
        </p:nvSpPr>
        <p:spPr>
          <a:xfrm>
            <a:off x="5693664" y="1874520"/>
            <a:ext cx="20817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لِأَنَّهَا</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2850" b="1" dirty="0">
                <a:solidFill>
                  <a:srgbClr val="1B3B6F"/>
                </a:solidFill>
                <a:latin typeface="Amiri" pitchFamily="2" charset="-78"/>
                <a:cs typeface="Amiri" pitchFamily="2" charset="-78"/>
              </a:rPr>
              <a:t>أُحِبُّ العُلُومَ لِأَنَّهَا مُمْتِعَةٌ.</a:t>
            </a:r>
            <a:endParaRPr lang="ar-SA" sz="28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like science because it is enjoyable.</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Science → -hā.</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548640" cy="274320"/>
          </a:xfrm>
          <a:prstGeom prst="roundRect">
            <a:avLst>
              <a:gd name="adj" fmla="val 50000"/>
            </a:avLst>
          </a:prstGeom>
          <a:solidFill>
            <a:srgbClr val="1E6B52"/>
          </a:solidFill>
          <a:ln w="12700">
            <a:solidFill>
              <a:srgbClr val="1E6B52"/>
            </a:solidFill>
            <a:prstDash val="solid"/>
          </a:ln>
        </p:spPr>
      </p:sp>
      <p:sp>
        <p:nvSpPr>
          <p:cNvPr id="33" name="Text 30"/>
          <p:cNvSpPr txBox="1"/>
          <p:nvPr/>
        </p:nvSpPr>
        <p:spPr>
          <a:xfrm>
            <a:off x="594360" y="1920240"/>
            <a:ext cx="5486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RULE</a:t>
            </a:r>
            <a:endParaRPr lang="en-US" sz="850" dirty="0"/>
          </a:p>
        </p:txBody>
      </p:sp>
      <p:sp>
        <p:nvSpPr>
          <p:cNvPr id="34" name="Text 31"/>
          <p:cNvSpPr txBox="1"/>
          <p:nvPr/>
        </p:nvSpPr>
        <p:spPr>
          <a:xfrm>
            <a:off x="1188720" y="1874520"/>
            <a:ext cx="27675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يَجِبُ أَنْ</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يَجِبُ أَنْ نَحْضُرَ مُبَكِّرًا.</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We must arrive early.</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Never drop an.</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use one format consistently — never an article title + a personal signature.</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cs typeface="Amiri" pitchFamily="2" charset="-78"/>
              </a:rPr>
              <a:t>عَزِيزَتِي سَلْمَى، … مَعَ تَحِيَّاتِي، مَرْيَمُ</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cs typeface="Amiri" pitchFamily="2" charset="-78"/>
              </a:rPr>
              <a:t>فِي هٰذَا المَقَالِ … مَعَ تَحِيَّاتِي، مَرْيَمُ</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F4-L09 · Extended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F4-L09</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best opening for an email to a female friend.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مَدْرَسَتِي فِي يَوْمٍ عَادِيٍّ</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الخِتَامِ،</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عَزِيزَتِي سَلْمَى،</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task says “Write to your Arabic-speaking pen friend.” Which format fits best?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email</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public notice</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timetable</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task point is missing? “My school is large. I study Arabic and science. Science is useful.”</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subject</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rule or prohibition</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school description</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You mean “must NOT”. Repair this sentence:</a:t>
            </a:r>
            <a:endParaRPr lang="en-US" sz="1200" dirty="0"/>
          </a:p>
        </p:txBody>
      </p:sp>
      <p:sp>
        <p:nvSpPr>
          <p:cNvPr id="58" name="Text 55"/>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لَا يَجِبُ أَنْ نَسْتَعْمِلَ الهَوَاتِفَ.</a:t>
            </a:r>
            <a:endParaRPr lang="ar-SA" sz="200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لَا يَجُوزُ أَنْ نَسْتَعْمِلَ الهَوَاتِفَ.</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يَجِبُ أَنْ نَسْتَعْمِلَ الهَوَاتِفَ.</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لَا نَسْتَعْمِلُ الهَوَاتِفَ أَنْ.</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F4-L09 · Extended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F4-L09</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best opening for an email to a female friend.</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مَدْرَسَتِي فِي يَوْمٍ عَادِيٍّ</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 الخِتَامِ،</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عَزِيزَتِي سَلْمَى،</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عَزِيزَتِي</a:t>
            </a:r>
            <a:pPr algn="l" indent="0" marL="0">
              <a:buNone/>
            </a:pPr>
            <a:r>
              <a:rPr lang="en-US" sz="1050" i="1" dirty="0">
                <a:solidFill>
                  <a:srgbClr val="8A6D1E"/>
                </a:solidFill>
                <a:latin typeface="Calibri" pitchFamily="34" charset="0"/>
                <a:cs typeface="Amiri" pitchFamily="2" charset="-78"/>
              </a:rPr>
              <a:t> addresses a female reader.</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task says “Write to your Arabic-speaking pen friend.” Which format fits best?</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email</a:t>
            </a:r>
            <a:endParaRPr lang="en-US" sz="125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public notice</a:t>
            </a:r>
            <a:endParaRPr lang="en-US" sz="125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timetable</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named or personal reader points to an email.</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task point is missing? “My school is large. I study Arabic and science. Science is useful.”</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subject</a:t>
            </a:r>
            <a:endParaRPr lang="en-US" sz="125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rule or prohibition</a:t>
            </a:r>
            <a:endParaRPr lang="en-US" sz="125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school description</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response has school description and subjects but no rule.</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You mean “must NOT”. Repair this sentence:</a:t>
            </a:r>
            <a:endParaRPr lang="en-US" sz="1200" dirty="0"/>
          </a:p>
        </p:txBody>
      </p:sp>
      <p:sp>
        <p:nvSpPr>
          <p:cNvPr id="64" name="Text 61"/>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لَا يَجِبُ أَنْ نَسْتَعْمِلَ الهَوَاتِفَ.</a:t>
            </a:r>
            <a:endParaRPr lang="ar-SA" sz="200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لَا يَجُوزُ أَنْ نَسْتَعْمِلَ الهَوَاتِفَ.</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يَجِبُ أَنْ نَسْتَعْمِلَ الهَوَاتِفَ.</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لَا نَسْتَعْمِلُ الهَوَاتِفَ أَنْ.</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Lā yajibu = not necessary; must not = lā yajūzu.</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ANALYSE THE WEBSITE MODEL EMAIL (83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To: Salma · Subject: My school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رِسَالَةٌ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F4-L09</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عَزِيزَتِي سَلْمَى،</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FORMAT · named greeting (female reader)</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أَهْلًا وَسَهْلًا! أَدْرُسُ فِي مَدْرَسَةٍ ثَانَوِيَّةٍ كَبِيرَةٍ وَمُنَظَّمَةٍ قَرِيبَةٍ مِنْ بَيْتِي. فِي مَدْرَسَتِي فُصُولٌ وَاسِعَةٌ، وَمَكْتَبَةٌ هَادِئَةٌ، وَمَخْتَبَرُ عُلُومٍ حَدِيثٌ.</a:t>
            </a:r>
            <a:endParaRPr lang="ar-SA" sz="15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 · school type, size, location + three facilities</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أَدْرُسُ العَرَبِيَّةَ وَالإِنْجِلِيزِيَّةَ وَالرِّيَاضِيَّاتِ وَالعُلُومَ. مَادَّتِي المُفَضَّلَةُ هِيَ العُلُومُ لِأَنَّهَا مُفِيدَةٌ وَمُثِيرَةٌ لِلاهْتِمَامِ. يَوْمَ الاِثْنَيْنِ تَبْدَأُ حِصَّةُ العُلُومِ عِنْدَ السَّاعَةِ التَّاسِعَةِ.</a:t>
            </a:r>
            <a:endParaRPr lang="ar-SA" sz="155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 · subjects · favourite + REASON · timetable</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250" b="1" dirty="0">
                <a:solidFill>
                  <a:srgbClr val="1B3B6F"/>
                </a:solidFill>
                <a:latin typeface="Amiri" pitchFamily="2" charset="-78"/>
                <a:cs typeface="Amiri" pitchFamily="2" charset="-78"/>
              </a:rPr>
              <a:t>أَصِلُ إِلَى المَدْرَسَةِ صَبَاحًا، ثُمَّ أَدْخُلُ الفَصْلَ، وَبَعْدَ الاِسْتِرَاحَةِ أَذْهَبُ إِلَى المَكْتَبَةِ. يَجِبُ أَنْ نَحْضُرَ فِي المَوْعِدِ، وَلَا يَجُوزُ أَنْ نَسْتَعْمِلَ الهَوَاتِفَ فِي الفَصْلِ. فِي رَأْيِي، الحَيَاةُ المَدْرَسِيَّةُ مُمْتِعَةٌ لِأَنَّنِي أَتَعَلَّمُ أَشْيَاءَ جَدِيدَةً وَأَقْضِي وَقْتًا مَعَ صَدِيقَاتِي.</a:t>
            </a:r>
            <a:endParaRPr lang="ar-SA" sz="125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 · sequence · RULE + prohibition · OPINION + reason</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مَعَ تَحِيَّاتِي، مَرْيَمُ</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FORMAT · closing + signature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F4-L09 · Extended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“SCHOOL WRITER MISSION”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Complete the writer mission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كَاتِبِ المَدْرَسَةِ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Format: Which feature must appear in an article/blog?</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personal signature only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clear title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200" dirty="0">
                <a:solidFill>
                  <a:srgbClr val="1F2A37"/>
                </a:solidFill>
                <a:latin typeface="Amiri" pitchFamily="2" charset="-78"/>
                <a:cs typeface="Amiri" pitchFamily="2" charset="-78"/>
              </a:rPr>
              <a:t>عَزِيزَتِي</a:t>
            </a:r>
            <a:endParaRPr lang="ar-SA" sz="220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Paragraph 2: Choose the best content.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family members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subjects, favourite, reason and timetable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weather forecast</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5" name="Text 42"/>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العُلُومُ مُفِيدَةٌ ...</a:t>
            </a:r>
            <a:endParaRPr lang="ar-SA" sz="190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لِأَنَّهُ تُسَاعِدُنِي.</a:t>
            </a:r>
            <a:endParaRPr lang="ar-SA" sz="20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لِأَنَّنِي عُلُومٌ.</a:t>
            </a:r>
            <a:endParaRPr lang="ar-SA" sz="20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لِأَنَّهَا تُسَاعِدُنِي عَلَى التَّفْكِيرِ.</a:t>
            </a:r>
            <a:endParaRPr lang="ar-SA" sz="2050" dirty="0"/>
          </a:p>
        </p:txBody>
      </p:sp>
      <p:sp>
        <p:nvSpPr>
          <p:cNvPr id="55" name="Shape 5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85216"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Rule: Choose the accurate prohibition.</a:t>
            </a:r>
            <a:endParaRPr lang="en-US" sz="1250" dirty="0"/>
          </a:p>
        </p:txBody>
      </p:sp>
      <p:sp>
        <p:nvSpPr>
          <p:cNvPr id="59" name="Shape 56"/>
          <p:cNvSpPr/>
          <p:nvPr/>
        </p:nvSpPr>
        <p:spPr>
          <a:xfrm>
            <a:off x="640080"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لَا يَجُوزُ أَنْ نَسْتَعْمِلَ الهَوَاتِفَ.</a:t>
            </a:r>
            <a:endParaRPr lang="ar-SA" sz="2050" dirty="0"/>
          </a:p>
        </p:txBody>
      </p:sp>
      <p:sp>
        <p:nvSpPr>
          <p:cNvPr id="62" name="Shape 59"/>
          <p:cNvSpPr/>
          <p:nvPr/>
        </p:nvSpPr>
        <p:spPr>
          <a:xfrm>
            <a:off x="640080"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لَا يَجِبُ أَنْ نَسْتَعْمِلَ الهَوَاتِفَ.</a:t>
            </a:r>
            <a:endParaRPr lang="ar-SA" sz="2050" dirty="0"/>
          </a:p>
        </p:txBody>
      </p:sp>
      <p:sp>
        <p:nvSpPr>
          <p:cNvPr id="65" name="Shape 62"/>
          <p:cNvSpPr/>
          <p:nvPr/>
        </p:nvSpPr>
        <p:spPr>
          <a:xfrm>
            <a:off x="640080"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يَجِبُ أَنْ نَسْتَعْمِلَ الهَوَاتِفَ.</a:t>
            </a:r>
            <a:endParaRPr lang="ar-SA" sz="2050" dirty="0"/>
          </a:p>
        </p:txBody>
      </p:sp>
      <p:sp>
        <p:nvSpPr>
          <p:cNvPr id="68" name="Shape 6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404360" y="4288536"/>
            <a:ext cx="310896" cy="310896"/>
          </a:xfrm>
          <a:prstGeom prst="ellipse">
            <a:avLst/>
          </a:prstGeom>
          <a:solidFill>
            <a:srgbClr val="1B3B6F"/>
          </a:solidFill>
          <a:ln w="12700">
            <a:solidFill>
              <a:srgbClr val="1B3B6F"/>
            </a:solidFill>
            <a:prstDash val="solid"/>
          </a:ln>
        </p:spPr>
      </p:sp>
      <p:sp>
        <p:nvSpPr>
          <p:cNvPr id="70" name="Text 6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1" name="Text 68"/>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 this</a:t>
            </a:r>
            <a:endParaRPr lang="en-US" sz="1200" dirty="0"/>
          </a:p>
        </p:txBody>
      </p:sp>
      <p:sp>
        <p:nvSpPr>
          <p:cNvPr id="72" name="Text 69"/>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مَدْرَسَتِي كَبِيرٌ.</a:t>
            </a:r>
            <a:endParaRPr lang="ar-SA" sz="220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مَدْرَسَتِي كَبِيرًا.</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مَدْرَسَتِي كَبِيرَةٌ.</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مَدْرَسَتِي كَبِيرُونَ.</a:t>
            </a:r>
            <a:endParaRPr lang="ar-SA" sz="20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4" name="Text 81"/>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5" name="Text 82"/>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email → greeting + signature</a:t>
            </a:r>
            <a:endParaRPr lang="en-US" sz="1250" dirty="0"/>
          </a:p>
          <a:p>
            <a:pPr algn="l" indent="0" marL="0">
              <a:buNone/>
            </a:pPr>
            <a:r>
              <a:rPr lang="en-US" sz="1250" dirty="0">
                <a:solidFill>
                  <a:srgbClr val="1E6B52"/>
                </a:solidFill>
                <a:latin typeface="Calibri" pitchFamily="34" charset="0"/>
                <a:cs typeface="Amiri" pitchFamily="2" charset="-78"/>
              </a:rPr>
              <a:t>article → title + introduction</a:t>
            </a:r>
            <a:endParaRPr lang="en-US" sz="1250" dirty="0"/>
          </a:p>
          <a:p>
            <a:pPr algn="l" indent="0" marL="0">
              <a:buNone/>
            </a:pPr>
            <a:r>
              <a:rPr lang="en-US" sz="1250" dirty="0">
                <a:solidFill>
                  <a:srgbClr val="1E6B52"/>
                </a:solidFill>
                <a:latin typeface="Calibri" pitchFamily="34" charset="0"/>
                <a:cs typeface="Amiri" pitchFamily="2" charset="-78"/>
              </a:rPr>
              <a:t>¶1 school · ¶2 subjects · ¶3 rules</a:t>
            </a:r>
            <a:endParaRPr lang="en-US" sz="125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MISSION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Format: Which feature must appear in an article/blog?</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personal signature only</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clear title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2200" dirty="0">
                <a:solidFill>
                  <a:srgbClr val="9AA1AB"/>
                </a:solidFill>
                <a:latin typeface="Amiri" pitchFamily="2" charset="-78"/>
                <a:cs typeface="Amiri" pitchFamily="2" charset="-78"/>
              </a:rPr>
              <a:t>عَزِيزَتِي</a:t>
            </a:r>
            <a:endParaRPr lang="ar-SA" sz="22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title identifies the topic for a wider audience.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Paragraph 2: Choose the best content.</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family members</a:t>
            </a:r>
            <a:endParaRPr lang="en-US" sz="125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subjects, favourite, reason and timetable</a:t>
            </a:r>
            <a:endParaRPr lang="en-US" sz="11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weather forecast</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Paragraph 2 develops learning and schedule.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9" name="Text 46"/>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العُلُومُ مُفِيدَةٌ ...</a:t>
            </a:r>
            <a:endParaRPr lang="ar-SA" sz="1900" dirty="0"/>
          </a:p>
        </p:txBody>
      </p:sp>
      <p:sp>
        <p:nvSpPr>
          <p:cNvPr id="50" name="Shape 47"/>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لِأَنَّهُ تُسَاعِدُنِي.</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لِأَنَّنِي عُلُومٌ.</a:t>
            </a:r>
            <a:endParaRPr lang="ar-SA" sz="1700" dirty="0"/>
          </a:p>
        </p:txBody>
      </p:sp>
      <p:sp>
        <p:nvSpPr>
          <p:cNvPr id="56" name="Shape 53"/>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5"/>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6"/>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لِأَنَّهَا تُسَاعِدُنِي عَلَى التَّفْكِيرِ.</a:t>
            </a:r>
            <a:endParaRPr lang="ar-SA" sz="1700" dirty="0"/>
          </a:p>
        </p:txBody>
      </p:sp>
      <p:sp>
        <p:nvSpPr>
          <p:cNvPr id="60" name="Text 57"/>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pronoun refers to </a:t>
            </a:r>
            <a:pPr algn="l" indent="0" marL="0">
              <a:buNone/>
            </a:pPr>
            <a:r>
              <a:rPr lang="ar-SA" altLang="en-US" sz="1350" dirty="0">
                <a:solidFill>
                  <a:srgbClr val="8A6D1E"/>
                </a:solidFill>
                <a:latin typeface="Amiri" pitchFamily="2" charset="-78"/>
                <a:cs typeface="Amiri" pitchFamily="2" charset="-78"/>
              </a:rPr>
              <a:t>العُلُومُ</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Rule: Choose the accurate prohibition.</a:t>
            </a:r>
            <a:endParaRPr lang="en-US" sz="1250" dirty="0"/>
          </a:p>
        </p:txBody>
      </p:sp>
      <p:sp>
        <p:nvSpPr>
          <p:cNvPr id="65" name="Shape 62"/>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40080"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لَا يَجُوزُ أَنْ نَسْتَعْمِلَ الهَوَاتِفَ.</a:t>
            </a:r>
            <a:endParaRPr lang="ar-SA" sz="1700" dirty="0"/>
          </a:p>
        </p:txBody>
      </p:sp>
      <p:sp>
        <p:nvSpPr>
          <p:cNvPr id="69"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لَا يَجِبُ أَنْ نَسْتَعْمِلَ الهَوَاتِفَ.</a:t>
            </a:r>
            <a:endParaRPr lang="ar-SA" sz="1700" dirty="0"/>
          </a:p>
        </p:txBody>
      </p:sp>
      <p:sp>
        <p:nvSpPr>
          <p:cNvPr id="72" name="Shape 69"/>
          <p:cNvSpPr/>
          <p:nvPr/>
        </p:nvSpPr>
        <p:spPr>
          <a:xfrm>
            <a:off x="640080"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يَجِبُ أَنْ نَسْتَعْمِلَ الهَوَاتِفَ.</a:t>
            </a:r>
            <a:endParaRPr lang="ar-SA" sz="1700" dirty="0"/>
          </a:p>
        </p:txBody>
      </p:sp>
      <p:sp>
        <p:nvSpPr>
          <p:cNvPr id="75" name="Text 7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لَا يَجُوزُ أَنْ</a:t>
            </a:r>
            <a:pPr algn="l" indent="0" marL="0">
              <a:buNone/>
            </a:pPr>
            <a:r>
              <a:rPr lang="en-US" sz="1050" i="1" dirty="0">
                <a:solidFill>
                  <a:srgbClr val="8A6D1E"/>
                </a:solidFill>
                <a:latin typeface="Calibri" pitchFamily="34" charset="0"/>
                <a:cs typeface="Amiri" pitchFamily="2" charset="-78"/>
              </a:rPr>
              <a:t> means must not.</a:t>
            </a:r>
            <a:endParaRPr lang="en-US" sz="1050" dirty="0"/>
          </a:p>
        </p:txBody>
      </p:sp>
      <p:sp>
        <p:nvSpPr>
          <p:cNvPr id="76" name="Shape 73"/>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5"/>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6"/>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 this</a:t>
            </a:r>
            <a:endParaRPr lang="en-US" sz="1200" dirty="0"/>
          </a:p>
        </p:txBody>
      </p:sp>
      <p:sp>
        <p:nvSpPr>
          <p:cNvPr id="80" name="Text 77"/>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مَدْرَسَتِي كَبِيرٌ.</a:t>
            </a:r>
            <a:endParaRPr lang="ar-SA" sz="2200" dirty="0"/>
          </a:p>
        </p:txBody>
      </p:sp>
      <p:sp>
        <p:nvSpPr>
          <p:cNvPr id="81" name="Shape 78"/>
          <p:cNvSpPr/>
          <p:nvPr/>
        </p:nvSpPr>
        <p:spPr>
          <a:xfrm>
            <a:off x="4459224" y="4831080"/>
            <a:ext cx="256032" cy="256032"/>
          </a:xfrm>
          <a:prstGeom prst="ellipse">
            <a:avLst/>
          </a:prstGeom>
          <a:solidFill>
            <a:srgbClr val="C9CED6"/>
          </a:solidFill>
          <a:ln w="12700">
            <a:solidFill>
              <a:srgbClr val="C9CED6"/>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مَدْرَسَتِي كَبِيرًا.</a:t>
            </a:r>
            <a:endParaRPr lang="ar-SA" sz="1700" dirty="0"/>
          </a:p>
        </p:txBody>
      </p:sp>
      <p:sp>
        <p:nvSpPr>
          <p:cNvPr id="84" name="Shape 81"/>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5" name="Shape 82"/>
          <p:cNvSpPr/>
          <p:nvPr/>
        </p:nvSpPr>
        <p:spPr>
          <a:xfrm>
            <a:off x="4459224" y="5202936"/>
            <a:ext cx="256032" cy="256032"/>
          </a:xfrm>
          <a:prstGeom prst="ellipse">
            <a:avLst/>
          </a:prstGeom>
          <a:solidFill>
            <a:srgbClr val="2E8B57"/>
          </a:solidFill>
          <a:ln w="12700">
            <a:solidFill>
              <a:srgbClr val="2E8B57"/>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مَدْرَسَتِي كَبِيرَةٌ.</a:t>
            </a:r>
            <a:endParaRPr lang="ar-SA" sz="170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مَدْرَسَتِي كَبِيرُونَ.</a:t>
            </a:r>
            <a:endParaRPr lang="ar-SA" sz="170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مَدْرَسَةٌ</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4" name="Text 91"/>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5" name="Text 92"/>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email → greeting + signature</a:t>
            </a:r>
            <a:endParaRPr lang="en-US" sz="1250" dirty="0"/>
          </a:p>
          <a:p>
            <a:pPr algn="l" indent="0" marL="0">
              <a:buNone/>
            </a:pPr>
            <a:r>
              <a:rPr lang="en-US" sz="1250" dirty="0">
                <a:solidFill>
                  <a:srgbClr val="1E6B52"/>
                </a:solidFill>
                <a:latin typeface="Calibri" pitchFamily="34" charset="0"/>
                <a:cs typeface="Amiri" pitchFamily="2" charset="-78"/>
              </a:rPr>
              <a:t>article → title + introduction</a:t>
            </a:r>
            <a:endParaRPr lang="en-US" sz="1250" dirty="0"/>
          </a:p>
          <a:p>
            <a:pPr algn="l" indent="0" marL="0">
              <a:buNone/>
            </a:pPr>
            <a:r>
              <a:rPr lang="en-US" sz="1250" dirty="0">
                <a:solidFill>
                  <a:srgbClr val="1E6B52"/>
                </a:solidFill>
                <a:latin typeface="Calibri" pitchFamily="34" charset="0"/>
                <a:cs typeface="Amiri" pitchFamily="2" charset="-78"/>
              </a:rPr>
              <a:t>¶1 school · ¶2 subjects · ¶3 rules</a:t>
            </a:r>
            <a:endParaRPr lang="en-US" sz="125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F4-L09 · Extended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F4-L09</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العُلُومُ مُفِيدٌ.</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Science: which ending?</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يَجِبُ نَحْضُرُ مُبَكِّرًا.</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is missing after yajibu?</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عَزِيزِي سَلْمَى،</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 female reader: which greeting?</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F4-L09</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العُلُومُ مُفِيدٌ.</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العُلُومُ مُفِيدَةٌ.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Science takes the feminine pattern.</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يَجِبُ نَحْضُرُ مُبَكِّرًا.</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يَجِبُ أَنْ نَحْضُرَ مُبَكِّرًا.</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yajibu needs an + the verb.</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عَزِيزِي سَلْمَى،</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عَزِيزَتِي سَلْمَى،</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female reader: ‘azīzatī.</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F4-L09 · Extended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Huda plans her school article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format will Huda write?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article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email</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timetable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two facilities will paragraph 1 mention?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canteen and theatre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playground and headteacher’s office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library and laboratory</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her favourite subject?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science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Arabic</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mathematics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prohibition will she include?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Students must not talk during explanation.</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Students must not use the library.</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Students must not study mathematics.</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her conclusion say?</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dislikes school because it is small.</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likes school because the teachers are encouraging.</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wants to change every subject.</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Three boxes: paragraph 1 · paragraph 2 · paragraph 3.</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F4-L09</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650" b="1" dirty="0">
                <a:solidFill>
                  <a:srgbClr val="1B3B6F"/>
                </a:solidFill>
                <a:latin typeface="Amiri" pitchFamily="2" charset="-78"/>
                <a:cs typeface="Amiri" pitchFamily="2" charset="-78"/>
              </a:rPr>
              <a:t>سَأَكْتُبُ مَقَالًا قَصِيرًا عَنْ مَدْرَسَتِي لِمَجَلَّةِ الشَّبَابِ. سَأَضَعُ عُنْوَانًا وَاضِحًا: «يَوْمِي فِي المَدْرَسَةِ».</a:t>
            </a:r>
            <a:endParaRPr lang="ar-SA" sz="16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will write a short article about my school for the youth magazine, with a clear title: “My day at school”.</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1950" b="1" dirty="0">
                <a:solidFill>
                  <a:srgbClr val="1B3B6F"/>
                </a:solidFill>
                <a:latin typeface="Amiri" pitchFamily="2" charset="-78"/>
                <a:cs typeface="Amiri" pitchFamily="2" charset="-78"/>
              </a:rPr>
              <a:t>فِي الفِقْرَةِ الأُولَى سَأَصِفُ المَدْرَسَةَ؛ هِيَ كَبِيرَةٌ وَحَدِيثَةٌ وَفِيهَا مَكْتَبَةٌ وَمَخْتَبَرٌ.</a:t>
            </a:r>
            <a:endParaRPr lang="ar-SA" sz="19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paragraph 1 I will describe the school: big and modern, with a library and a lab.</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1850" b="1" dirty="0">
                <a:solidFill>
                  <a:srgbClr val="1B3B6F"/>
                </a:solidFill>
                <a:latin typeface="Amiri" pitchFamily="2" charset="-78"/>
                <a:cs typeface="Amiri" pitchFamily="2" charset="-78"/>
              </a:rPr>
              <a:t>فِي الفِقْرَةِ الثَّانِيَةِ سَأَذْكُرُ مَوَادِّي، وَمَادَّتِي المُفَضَّلَةُ هِيَ الرِّيَاضِيَّاتُ لِأَنَّهَا مُفِيدَةٌ.</a:t>
            </a:r>
            <a:endParaRPr lang="ar-SA" sz="185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paragraph 2 I will mention my subjects; my favourite is maths because it is useful.</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وَفِي الفِقْرَةِ الثَّالِثَةِ سَأَكْتُبُ قَاعِدَتَيْنِ: يَجِبُ أَنْ نَحْضُرَ فِي المَوْعِدِ، وَلَا يَجُوزُ أَنْ نَتَكَلَّمَ أَثْنَاءَ الشَّرْحِ.</a:t>
            </a:r>
            <a:endParaRPr lang="ar-SA" sz="155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paragraph 3 I will write two rules: we must arrive on time, and we must not talk during the explanation.</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أَخِيرًا، سَأَقُولُ إِنَّنِي أُحِبُّ مَدْرَسَتِي لِأَنَّ المُعَلِّمِينَ مُشَجِّعُونَ.</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Finally, I will say that I love my school because the teachers are encouraging.</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format will Huda write?</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article</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email</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timetable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cs typeface="Amiri" pitchFamily="2" charset="-78"/>
              </a:rPr>
              <a:t>سَأَكْتُبُ مَقَالًا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two facilities will paragraph 1 mention?</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canteen and theatre</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playground and headteacher’s office</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library and laboratory</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cs typeface="Amiri" pitchFamily="2" charset="-78"/>
              </a:rPr>
              <a:t>وَفِيهَا مَكْتَبَةٌ وَمَخْتَبَرٌ</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her favourite subject?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science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Arabic</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mathematics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مَادَّتِي المُفَضَّلَةُ هِيَ الرِّيَاضِيَّاتُ.</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prohibition will she include?</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Students must not talk during explanation.</a:t>
            </a:r>
            <a:endParaRPr lang="en-US" sz="11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Students must not use the library.</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00" dirty="0">
                <a:solidFill>
                  <a:srgbClr val="9AA1AB"/>
                </a:solidFill>
                <a:latin typeface="Calibri" pitchFamily="34" charset="0"/>
                <a:cs typeface="Amiri" pitchFamily="2" charset="-78"/>
              </a:rPr>
              <a:t>Students must not study mathematics.</a:t>
            </a:r>
            <a:endParaRPr lang="en-US" sz="12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لَا يَجُوزُ أَنْ نَتَكَلَّمَ أَثْنَاءَ الشَّرْحِ.</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her conclusion say?</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dislikes school because it is small.</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She likes school because the teachers are encouraging.</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wants to change every subject.</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Her conclusion links her positive opinion to encouraging teachers.</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Three boxes: paragraph 1 · paragraph 2 · paragraph 3.</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F4-L09 · Extended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 EMAIL VS ARTICLE OPENINGS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one is the email?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بِدَايَةُ رِسَالَةٍ وَبِدَايَةُ مَقَالٍ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F4-L09</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عَزِيزِي عُمَرُ،</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Text A · greeting to one named reader</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أَهْلًا وَسَهْلًا! أَكْتُبُ إِلَيْكَ عَنْ مَدْرَسَتِي الجَدِيدَةِ.</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 I am writing to you about my new school</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هِيَ مَدْرَسَةٌ صَغِيرَةٌ وَلَكِنَّهَا مُنَظَّمَةٌ، وَفِيهَا مَكْتَبَةٌ جَمِيلَةٌ وَمَلْعَبٌ كَبِيرٌ…</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 small but organised · library + playground</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مَدْرَسَتِي فِي يَوْمٍ عَادِيٍّ</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Text B · a TITLE</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تَلْعَبُ المَدْرَسَةُ دَوْرًا مُهِمًّا فِي حَيَاةِ الطَّالِبِ. فِي هٰذَا المَقَالِ سَأَصِفُ مَدْرَسَتِي وَمَوَادِّي وَبَعْضَ القَوَاعِدِ الَّتِي نَتَّبِعُهَا كُلَّ يَوْمٍ…</a:t>
            </a:r>
            <a:endParaRPr lang="ar-SA" sz="155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 · general introduction for a wide audience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F4-L09 · Extended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COMPARISON QUESTIONS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Email or article?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evidence proves Text A is personal?</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عَزِيزِي عُمَرُ</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هٰذَا المَقَالِ</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تَلْعَبُ المَدْرَسَةُ دَوْرًا</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evidence proves Text B is an article?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عَزِيزِي عُمَرُ</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أَكْتُبُ إِلَيْكَ</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هٰذَا المَقَالِ</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school in Text A described?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large and crowded</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small but organised</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old and distant</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continuation fits Text A best?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cs typeface="Amiri" pitchFamily="2" charset="-78"/>
              </a:rPr>
              <a:t>مَعَ تَحِيَّاتِي</a:t>
            </a:r>
            <a:pPr algn="l" indent="0" marL="0">
              <a:buNone/>
            </a:pPr>
            <a:r>
              <a:rPr lang="en-US" sz="1250" dirty="0">
                <a:solidFill>
                  <a:srgbClr val="1F2A37"/>
                </a:solidFill>
                <a:latin typeface="Calibri" pitchFamily="34" charset="0"/>
                <a:cs typeface="Amiri" pitchFamily="2" charset="-78"/>
              </a:rPr>
              <a:t> before any content</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200" dirty="0">
                <a:solidFill>
                  <a:srgbClr val="1F2A37"/>
                </a:solidFill>
                <a:latin typeface="Amiri" pitchFamily="2" charset="-78"/>
                <a:cs typeface="Amiri" pitchFamily="2" charset="-78"/>
              </a:rPr>
              <a:t>أَمَّا مَادَّتِي المُفَضَّلَةُ فَهِيَ العُلُومُ...</a:t>
            </a:r>
            <a:endParaRPr lang="ar-SA" sz="220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200" dirty="0">
                <a:solidFill>
                  <a:srgbClr val="1F2A37"/>
                </a:solidFill>
                <a:latin typeface="Amiri" pitchFamily="2" charset="-78"/>
                <a:cs typeface="Amiri" pitchFamily="2" charset="-78"/>
              </a:rPr>
              <a:t>العُنْوَانُ الثَّانِي:</a:t>
            </a:r>
            <a:endParaRPr lang="ar-SA" sz="220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text is more suitable for a school website?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Text A only</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timetable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Text B</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EVIDENCE</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Greeting → email.</a:t>
            </a:r>
            <a:endParaRPr lang="en-US" sz="1250" dirty="0"/>
          </a:p>
          <a:p>
            <a:pPr algn="l" indent="0" marL="0">
              <a:buNone/>
            </a:pPr>
            <a:r>
              <a:rPr lang="en-US" sz="1250" dirty="0">
                <a:solidFill>
                  <a:srgbClr val="1F2A37"/>
                </a:solidFill>
                <a:latin typeface="Calibri" pitchFamily="34" charset="0"/>
                <a:cs typeface="Amiri" pitchFamily="2" charset="-78"/>
              </a:rPr>
              <a:t>Title + “in this article” → article.</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32</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evidence proves Text A is personal?</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عَزِيزِي عُمَرُ</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 هٰذَا المَقَالِ</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تَلْعَبُ المَدْرَسَةُ دَوْرًا</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named greeting directly addresses Omar.</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evidence proves Text B is an article?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عَزِيزِي عُمَرُ</a:t>
            </a:r>
            <a:endParaRPr lang="ar-SA" sz="170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أَكْتُبُ إِلَيْكَ</a:t>
            </a:r>
            <a:endParaRPr lang="ar-SA" sz="170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فِي هٰذَا المَقَالِ</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writer explicitly introduces an article.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school in Text A described?</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large and crowded</a:t>
            </a:r>
            <a:endParaRPr lang="en-US" sz="125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small but organised</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old and distant</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text says </a:t>
            </a:r>
            <a:pPr algn="l" indent="0" marL="0">
              <a:buNone/>
            </a:pPr>
            <a:r>
              <a:rPr lang="ar-SA" altLang="en-US" sz="1350" dirty="0">
                <a:solidFill>
                  <a:srgbClr val="8A6D1E"/>
                </a:solidFill>
                <a:latin typeface="Amiri" pitchFamily="2" charset="-78"/>
                <a:cs typeface="Amiri" pitchFamily="2" charset="-78"/>
              </a:rPr>
              <a:t>صَغِيرَةٌ وَلَكِنَّهَا مُنَظَّمَةٌ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continuation fits Text A best?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cs typeface="Amiri" pitchFamily="2" charset="-78"/>
              </a:rPr>
              <a:t>مَعَ تَحِيَّاتِي</a:t>
            </a:r>
            <a:pPr algn="l" indent="0" marL="0">
              <a:buNone/>
            </a:pPr>
            <a:r>
              <a:rPr lang="en-US" sz="1250" dirty="0">
                <a:solidFill>
                  <a:srgbClr val="9AA1AB"/>
                </a:solidFill>
                <a:latin typeface="Calibri" pitchFamily="34" charset="0"/>
                <a:cs typeface="Amiri" pitchFamily="2" charset="-78"/>
              </a:rPr>
              <a:t> before any content</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2200" b="1" dirty="0">
                <a:solidFill>
                  <a:srgbClr val="1F2A37"/>
                </a:solidFill>
                <a:latin typeface="Amiri" pitchFamily="2" charset="-78"/>
                <a:cs typeface="Amiri" pitchFamily="2" charset="-78"/>
              </a:rPr>
              <a:t>أَمَّا مَادَّتِي المُفَضَّلَةُ فَهِيَ العُلُومُ...</a:t>
            </a:r>
            <a:endParaRPr lang="ar-SA" sz="22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2200" dirty="0">
                <a:solidFill>
                  <a:srgbClr val="9AA1AB"/>
                </a:solidFill>
                <a:latin typeface="Amiri" pitchFamily="2" charset="-78"/>
                <a:cs typeface="Amiri" pitchFamily="2" charset="-78"/>
              </a:rPr>
              <a:t>العُنْوَانُ الثَّانِي:</a:t>
            </a:r>
            <a:endParaRPr lang="ar-SA" sz="22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continues the email body with the next paragraph topic.</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text is more suitable for a school website?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Text A only</a:t>
            </a:r>
            <a:endParaRPr lang="en-US" sz="125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timetable</a:t>
            </a:r>
            <a:endParaRPr lang="en-US" sz="125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Text B</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An article addresses a wider public audience.</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EVIDENCE</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Greeting → email.</a:t>
            </a:r>
            <a:endParaRPr lang="en-US" sz="1250" dirty="0"/>
          </a:p>
          <a:p>
            <a:pPr algn="l" indent="0" marL="0">
              <a:buNone/>
            </a:pPr>
            <a:r>
              <a:rPr lang="en-US" sz="1250" dirty="0">
                <a:solidFill>
                  <a:srgbClr val="1F2A37"/>
                </a:solidFill>
                <a:latin typeface="Calibri" pitchFamily="34" charset="0"/>
                <a:cs typeface="Amiri" pitchFamily="2" charset="-78"/>
              </a:rPr>
              <a:t>Title + “in this article” → article.</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32</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F4-L09 · Extended Writing</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Rehearse each paragraph aloud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F4-L09</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صِفْ مَدْرَسَتَكَ: النَّوْعُ، الحَجْمُ، مِرْفَقَانِ.</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مَوَادُّكَ؟ مَا مَادَّتُكَ المُفَضَّلَةُ؟ وَلِمَاذَا؟</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قُلْ قَاعِدَةً وَمَمْنُوعًا فِي مَدْرَسَتِكَ.</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رَأْيُكَ فِي حَيَاتِكَ المَدْرَسِيَّةِ؟ وَلِمَاذَا؟</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أَدْرُسُ فِي مَدْرَسَةٍ ___ ، وَفِيهَا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مَادَّتِي المُفَضَّلَةُ هِيَ ___ لِأَنَّهَا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يَجِبُ أَنْ ___ ، وَلَا يَجُوزُ أَنْ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فِي رَأْيِي، ___ لِأَنَّنِي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صِفْ مَدْرَسَتَكَ.</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Describe your school.</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أَدْرُسُ فِي مَدْرَسَةٍ ثَانَوِيَّةٍ كَبِيرَةٍ قَرِيبَةٍ مِنْ بَيْتِي، وَفِيهَا مَكْتَبَةٌ هَادِئَةٌ.</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850" i="1" dirty="0">
                <a:solidFill>
                  <a:srgbClr val="5A6472"/>
                </a:solidFill>
                <a:latin typeface="Calibri" pitchFamily="34" charset="0"/>
                <a:cs typeface="Amiri" pitchFamily="2" charset="-78"/>
              </a:rPr>
              <a:t>I study at a large secondary school near my house, and it has a quiet library.</a:t>
            </a:r>
            <a:endParaRPr lang="en-US" sz="8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32</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F4-L09 · Extended Writing</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F4-L09</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70 words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Three paragraphs with the frames; at least 70 words.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Three paragraphs with the starters; one format.</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80–100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80–100 words with varied openings, reasons and connectors.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Varied openings, two reasons, a rule and a prohibition.</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contrast (wa-lākin / ammā … fa-) and a concluding opinion.</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Add a contrast and a strong concluding opinion.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32</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F4-L09</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هٰذَا المَقَالِ سَأَصِفُ مَدْرَسَتِي.</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this article I will describe my school.</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400" b="1" dirty="0">
                <a:solidFill>
                  <a:srgbClr val="1B3B6F"/>
                </a:solidFill>
                <a:latin typeface="Amiri" pitchFamily="2" charset="-78"/>
                <a:cs typeface="Amiri" pitchFamily="2" charset="-78"/>
              </a:rPr>
              <a:t>يَوْمَ الاِثْنَيْنِ تَبْدَأُ حِصَّةُ العُلُومِ عِنْدَ السَّاعَةِ التَّاسِعَةِ.</a:t>
            </a:r>
            <a:endParaRPr lang="ar-SA" sz="14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Monday science begins at nine.</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يَجِبُ أَنْ نَحْضُرَ فِي المَوْعِدِ.</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must arrive on time.</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لَا يَجُوزُ أَنْ نَسْتَعْمِلَ الهَوَاتِفَ فِي الفَصْلِ.</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must not use phones in class.</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الخِتَامِ،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conclusion,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عَزِيزِي عُمَرُ، / عَزِيزَتِي سَلْمَى،</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Dear Omar, / Dear Salma,</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أَدْرُسُ فِي مَدْرَسَةٍ كَبِيرَةٍ قَرِيبَةٍ مِنْ بَيْتِي.</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study at a large school near my house.</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فِيهَا مَكْتَبَةٌ هَادِئَةٌ.</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has a quiet library.</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مَادَّتِي المُفَضَّلَةُ هِيَ العُلُومُ لِأَنَّهَا مُفِيدَةٌ.</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favourite subject is science because it is useful.</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مَعَ تَحِيَّاتِي، ______</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Best wishes, (name)</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عَزِيزِي  ·  عَزِيزَتِي  ·  فِي هٰذَا المَقَالِ  ·  وَفِيهَا  ·  لِأَنَّهَا  ·  لِأَنَّنِي  ·  يَجِبُ أَنْ  ·  لَا يَجُوزُ أَنْ  ·  ثُمَّ  ·  وَلَكِنْ  ·  فِي رَأْيِي  ·  مَعَ تَحِيَّاتِي</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32</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F4-L09 · Extended Writing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F4-L09</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cs typeface="Amiri" pitchFamily="2" charset="-78"/>
              </a:rPr>
              <a:t>عَزِيزَتِي سَلْمَى، أَهْلًا وَسَهْلًا! أَدْرُسُ فِي مَدْرَسَةٍ ثَانَوِيَّةٍ كَبِيرَةٍ وَمُنَظَّمَةٍ قَرِيبَةٍ مِنْ بَيْتِي. فِي مَدْرَسَتِي فُصُولٌ وَاسِعَةٌ، وَمَكْتَبَةٌ هَادِئَةٌ، وَمَخْتَبَرُ عُلُومٍ حَدِيثٌ. أَدْرُسُ العَرَبِيَّةَ وَالإِنْجِلِيزِيَّةَ وَالرِّيَاضِيَّاتِ وَالعُلُومَ. مَادَّتِي المُفَضَّلَةُ هِيَ العُلُومُ لِأَنَّهَا مُفِيدَةٌ وَمُثِيرَةٌ لِلاهْتِمَامِ. يَوْمَ الاِثْنَيْنِ تَبْدَأُ حِصَّةُ العُلُومِ عِنْدَ السَّاعَةِ التَّاسِعَةِ. أَصِلُ إِلَى المَدْرَسَةِ صَبَاحًا، ثُمَّ أَدْخُلُ الفَصْلَ، وَبَعْدَ الاِسْتِرَاحَةِ أَذْهَبُ إِلَى المَكْتَبَةِ. يَجِبُ أَنْ نَحْضُرَ فِي المَوْعِدِ، وَلَا يَجُوزُ أَنْ نَسْتَعْمِلَ الهَوَاتِفَ فِي الفَصْلِ. فِي رَأْيِي، الحَيَاةُ المَدْرَسِيَّةُ مُمْتِعَةٌ لِأَنَّنِي أَتَعَلَّمُ أَشْيَاءَ جَدِيدَةً وَأَقْضِي وَقْتًا مَعَ صَدِيقَاتِي. مَعَ تَحِيَّاتِي، مَرْيَمُ</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Salma, Welcome! I study at a large, organised secondary school near my house. My school has spacious classrooms, a quiet library and a modern science lab. I study Arabic, English, maths and science. My favourite subject is science because it is useful and interesting. On Monday the science lesson begins at nine. I arrive at school in the morning, then I enter the classroom, and after break I go to the library. We must arrive on time, and we must not use phones in class. In my opinion school life is enjoyable because I learn new things and spend time with my friends. Best wishes, Maryam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format</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reasons</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rules</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opinion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32</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F4-L09 · Extended Writing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F4-L09</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Task: school, subjects, rules and opinion all included.</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Three paragraphs, one job each.</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Range: varied openings, reasons and connectors.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Accuracy: agreement, li’annahā, yajibu an.</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One format used consistently from start to end.</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32</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F4-L09 · Extended Writing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F4-L09</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feature that identifies an email.</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named greeting and closing</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title only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rows and columns</a:t>
            </a:r>
            <a:endParaRPr lang="en-US" sz="12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paragraph 3 mainly cover?</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greeting only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rules, routine and concluding opinion</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isolated noun</a:t>
            </a:r>
            <a:endParaRPr lang="en-US" sz="12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prohibition.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لَا يَجُوزُ أَنْ نَسْتَعْمِلَ الهَوَاتِفَ.</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لَا يَجِبُ أَنْ نَسْتَعْمِلَ الهَوَاتِفَ.</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يَجِبُ أَنْ نَسْتَعْمِلَ الهَوَاتِفَ.</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32</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F4-L09 · Extended Writing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F4-L09</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feature that identifies an email.</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named greeting and closing</a:t>
            </a:r>
            <a:endParaRPr lang="en-US" sz="12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title only</a:t>
            </a:r>
            <a:endParaRPr lang="en-US" sz="12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rows and columns</a:t>
            </a:r>
            <a:endParaRPr lang="en-US" sz="12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An email has a direct relationship with a named reader.</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paragraph 3 mainly cover?</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greeting only</a:t>
            </a:r>
            <a:endParaRPr lang="en-US" sz="12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rules, routine and concluding opinion</a:t>
            </a:r>
            <a:endParaRPr lang="en-US" sz="12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 isolated noun</a:t>
            </a:r>
            <a:endParaRPr lang="en-US" sz="12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Paragraph 3 completes school-life coverage and closes the response.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prohibition.</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لَا يَجُوزُ أَنْ نَسْتَعْمِلَ الهَوَاتِفَ.</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لَا يَجِبُ أَنْ نَسْتَعْمِلَ الهَوَاتِفَ.</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يَجِبُ أَنْ نَسْتَعْمِلَ الهَوَاتِفَ.</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لَا يَجُوزُ أَنْ</a:t>
            </a:r>
            <a:pPr algn="l" indent="0" marL="0">
              <a:buNone/>
            </a:pPr>
            <a:r>
              <a:rPr lang="en-US" sz="1050" i="1" dirty="0">
                <a:solidFill>
                  <a:srgbClr val="8A6D1E"/>
                </a:solidFill>
                <a:latin typeface="Calibri" pitchFamily="34" charset="0"/>
                <a:cs typeface="Amiri" pitchFamily="2" charset="-78"/>
              </a:rPr>
              <a:t> expresses must not.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32</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F4-L09 · Extended Writing</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F4-L10: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F4-L09</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F4-L10 · Listening and Speaking: School Conversations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مُحَادَثَةٌ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conversation</a:t>
            </a:r>
            <a:pPr indent="0" marL="0">
              <a:buNone/>
            </a:pPr>
            <a:r>
              <a:rPr lang="en-US" sz="1000" i="1" dirty="0">
                <a:solidFill>
                  <a:srgbClr val="5A6472"/>
                </a:solidFill>
                <a:latin typeface="Calibri" pitchFamily="34" charset="0"/>
                <a:cs typeface="Amiri" pitchFamily="2" charset="-78"/>
              </a:rPr>
              <a:t>  pl. مُحَادَثَاتٌ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طَالِبٌ جَدِيدٌ</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new student</a:t>
            </a:r>
            <a:pPr indent="0" marL="0">
              <a:buNone/>
            </a:pPr>
            <a:r>
              <a:rPr lang="en-US" sz="1000" i="1" dirty="0">
                <a:solidFill>
                  <a:srgbClr val="5A6472"/>
                </a:solidFill>
                <a:latin typeface="Calibri" pitchFamily="34" charset="0"/>
                <a:cs typeface="Amiri" pitchFamily="2" charset="-78"/>
              </a:rPr>
              <a:t>  f. طَالِبَةٌ جَدِيدَةٌ</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آسِفٌ، لَمْ أَفْهَمْ.</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Sorry, I didn’t understand.</a:t>
            </a:r>
            <a:pPr indent="0" marL="0">
              <a:buNone/>
            </a:pPr>
            <a:r>
              <a:rPr lang="en-US" sz="1000" i="1" dirty="0">
                <a:solidFill>
                  <a:srgbClr val="5A6472"/>
                </a:solidFill>
                <a:latin typeface="Calibri" pitchFamily="34" charset="0"/>
                <a:cs typeface="Amiri" pitchFamily="2" charset="-78"/>
              </a:rPr>
              <a:t>  f. آسِفَةٌ</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هَلْ يُمْكِنُ أَنْ تُعِيدَ؟</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Could you repeat?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تَمْثِيلُ دَوْرٍ</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role play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Imagine you are new at a school. Write one question to ask the teacher.</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سُؤَالٌ لِلْمُعَلِّمِ</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F4-L09: the School Writer Mission (14) and the paragraph-architecture check.</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Finish your 80–100-word first version; count your connectors.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Complete the website /10 review and write the improved final version.</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32</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F4-L09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00" b="1" dirty="0">
                <a:solidFill>
                  <a:srgbClr val="FFFFFF"/>
                </a:solidFill>
                <a:latin typeface="Cambria" pitchFamily="34" charset="0"/>
                <a:cs typeface="Amiri" pitchFamily="2" charset="-78"/>
              </a:rPr>
              <a:t>F4-L10 · Listening and Speaking: School Conversations</a:t>
            </a:r>
            <a:endParaRPr lang="en-US" sz="1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الاِسْتِمَاعُ وَالتَّحَدُّثُ — مُحَادَثَاتٌ مَدْرَسِيَّةٌ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choose one format · one job per paragraph · task, range, accuracy.</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F4-L09 · Extended Writing: My School</dc:title>
  <dc:subject>PptxGenJS Presentation</dc:subject>
  <dc:creator>Al Madina Online School · Arabic Department</dc:creator>
  <cp:lastModifiedBy>Al Madina Online School · Arabic Department</cp:lastModifiedBy>
  <cp:revision>1</cp:revision>
  <dcterms:created xsi:type="dcterms:W3CDTF">2026-10-11T06:41:41Z</dcterms:created>
  <dcterms:modified xsi:type="dcterms:W3CDTF">2026-10-11T06:41:41Z</dcterms:modified>
</cp:coreProperties>
</file>