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9 (F4-L09). Website sections used: the eight-question F4 retrieval bridge and the three quality questions, email vs article/blog formats (16 terms, 12 questions), three purposeful paragraphs + task-coverage checklist (14), the F4 language vault (14), the 83-word model email (12), the error-repair workshop (12), plan before you draft, the School Writer Mission (14), Huda plans her article (listening, 10), email vs article openings (reading, 12), oral paragraph rehearsal (5 prompts), the 80–100-word first version, the /10 review (task completion 3 · range 3 · accuracy 4)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lesson introduces NO new topic: it teaches students to select and connect the whole F4 unit (school, subjects, timetable, reasons, rules, school day) in one text.
• Core: the three-paragraph frame + at least 70 words. Develop: 80–100 words, varied openings and reasons. Stretch: a contrast and a strong concluding opinion.
• Format decision (website): an email speaks to a named reader (greeting, closing, signature); an article/blog addresses a wider audience (title, introduction, concluding opinion — no greeting or signature). Never mix them.
• Real or invented schools are accepted; no names of real staff or pupils are needed.
• Multi-session: plan + draft today; the /10 review and final version can be the start of the next lesson.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F4-L08. Questions 3–5 are the website “F4 retrieval bridge” (feminine agreement, timetable sentence, prohibition).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quality questions: Did I answer every point? Did I show a range? Is the Arabic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(left) and the lesson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عنوان، مقدمہ، خاتمہ are shared words — Urdu speakers already know the language of essay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FORMAT VOCABULARY (website, 16). Also: فِقْرَةٌ (paragraph), تَطْوِيرُ الفِكْرَةِ (development), خَاتِمَةُ رَأْيٍ (concluding opinion), مُسَوَّدَةٌ (draft), مُرَاجَعَةٌ (review), تَصْحِيحٌ (correction), تَحْسِينٌ (improvement), عَدَدُ الكَلِمَاتِ (word count). Email frames: عَزِيزِي … / عَزِيزَتِي … · أَكْتُبُ إِلَيْكَ / إِلَيْكِ عَنْ … · مَعَ تَحِيَّاتِي. Article frames: فِي هٰذَا المَقَالِ … · فِي الخِتَامِ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sections 2 “Choose the right writing format” and 3 “Build three purposeful paragraphs”.
Task-coverage checklist (website): describe your school and one facility · name subjects and give a favourite with a reason · one day or timetable detail · one rule and one prohibition · a personal opinion and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6 “Repair common writing errors”: accuracy improves when you identify the decision behind an error — gender, pronoun, verb form, rule structure or format.
Language vault (website): rooms and facilities (فَصْلٌ، مَكْتَبَةٌ، مَخْتَبَرُ العُلُومِ، مَعْمَلُ الحَاسُوبِ، مَلْعَبٌ، صَالَةٌ رِيَاضِيَّةٌ، مَقْصَفٌ، مَكْتَبُ المُدِيرِ، سَاحَةٌ، مَسْرَحٌ), subjects, timetable, opinions, rules, school-day sequence, email and article frames, connectors (أَمَّا … فَـ، لِذَلِكَ، مَعَ 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format check questions 4 and 11, paragraph-architecture question 5 and repair question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(4 min) — the website model email. Website annotation categories: FORMAT · REASON · CONNECTOR · RULE · OPINION. Read once for meaning, then again to find each category (students call them out). Point out agreement: مَدْرَسَةٍ ثَانَوِيَّةٍ كَبِيرَةٍ وَمُنَظَّمَةٍ · مَكْتَبَةٌ هَادِئَةٌ · مَخْتَبَرُ عُلُومٍ حَدِيثٌ.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School Writer rounds (article feature, paragraph 2, reason, prohibition, agreement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quality question does this round test — task, range or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سَأَكْتُبُ مَقَالًا قَصِيرًا عَنْ مَدْرَسَتِي لِمَجَلَّةِ الشَّبَابِ. سَأَضَعُ عُنْوَانًا وَاضِحًا: «يَوْمِي فِي المَدْرَسَةِ». فِي الفِقْرَةِ الأُولَى سَأَصِفُ المَدْرَسَةَ؛ هِيَ كَبِيرَةٌ وَحَدِيثَةٌ وَفِيهَا مَكْتَبَةٌ وَمَخْتَبَرٌ. فِي الفِقْرَةِ الثَّانِيَةِ سَأَذْكُرُ مَوَادِّي، وَمَادَّتِي المُفَضَّلَةُ هِيَ الرِّيَاضِيَّاتُ لِأَنَّهَا مُفِيدَةٌ. وَفِي الفِقْرَةِ الثَّالِثَةِ سَأَكْتُبُ قَاعِدَتَيْنِ: يَجِبُ أَنْ نَحْضُرَ فِي المَوْعِدِ، وَلَا يَجُوزُ أَنْ نَتَكَلَّمَ أَثْنَاءَ الشَّرْحِ. أَخِيرًا، سَأَقُولُ إِنَّنِي أُحِبُّ مَدْرَسَتِي لِأَنَّ المُعَلِّمِينَ مُشَجِّعُونَ.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TEXTS A and B (website openings, complete). Both describe school life but with a different relationship to the reader: A speaks directly to Omar; B addresses the public (suitable for a school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comparison questions 3, 4, 5,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ORAL REHEARSAL (60-second timer per paragraph) — rehearsal helps you hear missing details, repeated openings and unclear order before drafting. Prompts (website):
• Paragraph 1 · Describe the school: Give the type, size, location and two facilities.
• Paragraph 2 · Subjects and timetable: Name subjects, favourite subject, reason, day and time.
• Paragraph 3 · Rules and opinion: Give one obligation, one prohibition and a final opinion.
• Email opening and closing: Address the reader, explain the purpose and close appropriately.
• Article opening and conclusion: State a title, introduce the topic and finish with a concluding judgement.
Website targets: answered the paragraph purpose · a connector · a precise detail · accurate agreement or verb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Three paragraphs with the frames; at least 70 words. · Develop — 80–100 words with varied openings, reasons and connectors. · Stretch — Add a contrast (wa-lākin / ammā … fa-) and a concluding opinion.
Website writing task (Stretch): Website task “My school and school life”: an email or an article/blog for a young Arabic-speaking reader — three organised paragraphs (school and a facility · subjects and timetable · rules, school day and opinion), 80–100 Arabic words.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The website 83-word model email. Stretch: rewrite paragraph 1 as the opening of an ARTICLE (title + فِي هٰذَا المَقَالِ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(F4-L10 · Listening and Speaking: School Conversations) will spend class time USING this language, so students prepare it tonight — short, simple, easy to access (school guidance: “Simple, Short, Interesting, Relevant, Easy to access”). The five phrases come from the website F4-L10 conversation toolkit.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50" b="1" dirty="0">
                <a:solidFill>
                  <a:srgbClr val="FFFFFF"/>
                </a:solidFill>
                <a:latin typeface="Cambria" pitchFamily="34" charset="0"/>
                <a:cs typeface="Amiri" pitchFamily="2" charset="-78"/>
              </a:rPr>
              <a:t>Extended Writing: My School</a:t>
            </a:r>
            <a:endParaRPr lang="en-US" sz="3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المُطَوَّلَةُ — مَدْرَسَتِي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Choose an email or an article format, plan three purposeful paragraphs, write 80–100 connected words about your school using the whole F4 unit, then review and improve.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F4-L09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Email or article, three purposeful paragraphs, the 83-word model.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Writer mission, listen to Huda’s plan, compare two openings.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email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article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paragraph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مَرَافِقُ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facilities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subjects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“My school is large and organised.”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 كَبِيرٌ وَمُنَظَّمٌ.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 كَبِيرَةً وَمُنَظَّمَةً.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 كَبِيرَةٌ وَمُنَظَّمَةٌ.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timetable sentence for “On Monday, science begins at nine.”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فِي الاِثْنَيْنُ العُلُومُ السَّاعَةُ التَّاسِعَةُ.</a:t>
            </a:r>
            <a:endParaRPr lang="ar-SA"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يَوْمُ الاِثْنَيْنِ يَبْدَأُ العُلُومُ فِي تِسْعَةٍ.</a:t>
            </a:r>
            <a:endParaRPr lang="ar-SA"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يَوْمَ الاِثْنَيْنِ تَبْدَأُ حِصَّةُ العُلُومِ عِنْدَ السَّاعَةِ التَّاسِعَةِ.</a:t>
            </a:r>
            <a:endParaRPr lang="ar-SA"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prohibition.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لَا يَجُوزُ أَنْ نَسْتَعْمِلَ الهَوَاتِفَ فِي الفَصْلِ.</a:t>
            </a:r>
            <a:endParaRPr lang="ar-SA" sz="16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لَا يَجِبُ أَنْ نَسْتَعْمِلَ الهَوَاتِفَ فِي الفَصْلِ.</a:t>
            </a:r>
            <a:endParaRPr lang="ar-SA" sz="16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يَجِبُ أَنْ نَسْتَعْمِلَ الهَوَاتِفَ فِي الفَصْلِ.</a:t>
            </a:r>
            <a:endParaRPr lang="ar-SA" sz="16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email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article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paragraph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مَرَافِقُ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facilities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subjects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rules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“My school is large and organised.”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مَدْرَسَتِي كَبِيرٌ وَمُنَظَّمٌ.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مَدْرَسَتِي كَبِيرَةً وَمُنَظَّمَةً.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مَدْرَسَتِي كَبِيرَةٌ وَمُنَظَّمَةٌ.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مَدْرَسَةٌ</a:t>
            </a:r>
            <a:pPr algn="l" indent="0" marL="0">
              <a:buNone/>
            </a:pPr>
            <a:r>
              <a:rPr lang="en-US" sz="1050" i="1" dirty="0">
                <a:solidFill>
                  <a:srgbClr val="8A6D1E"/>
                </a:solidFill>
                <a:latin typeface="Calibri" pitchFamily="34" charset="0"/>
                <a:cs typeface="Amiri" pitchFamily="2" charset="-78"/>
              </a:rPr>
              <a:t> is feminine, so both adjectives are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timetable sentence for “On Monday, science begins at nine.”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فِي الاِثْنَيْنُ العُلُومُ السَّاعَةُ التَّاسِعَةُ.</a:t>
            </a:r>
            <a:endParaRPr lang="ar-SA"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يَوْمُ الاِثْنَيْنِ يَبْدَأُ العُلُومُ فِي تِسْعَةٍ.</a:t>
            </a:r>
            <a:endParaRPr lang="ar-SA"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يَوْمَ الاِثْنَيْنِ تَبْدَأُ حِصَّةُ العُلُومِ عِنْدَ السَّاعَةِ التَّاسِعَةِ.</a:t>
            </a:r>
            <a:endParaRPr lang="ar-SA"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complete pattern includes the day, the lesson, </a:t>
            </a:r>
            <a:pPr algn="l" indent="0" marL="0">
              <a:buNone/>
            </a:pPr>
            <a:r>
              <a:rPr lang="ar-SA" altLang="en-US" sz="1350" dirty="0">
                <a:solidFill>
                  <a:srgbClr val="8A6D1E"/>
                </a:solidFill>
                <a:latin typeface="Amiri" pitchFamily="2" charset="-78"/>
                <a:ea typeface="Amiri" pitchFamily="2" charset="-78"/>
                <a:cs typeface="Amiri" pitchFamily="2" charset="-78"/>
              </a:rPr>
              <a:t>تَبْدَأُ</a:t>
            </a:r>
            <a:pPr algn="l" indent="0" marL="0">
              <a:buNone/>
            </a:pPr>
            <a:r>
              <a:rPr lang="en-US" sz="1050" i="1" dirty="0">
                <a:solidFill>
                  <a:srgbClr val="8A6D1E"/>
                </a:solidFill>
                <a:latin typeface="Calibri" pitchFamily="34" charset="0"/>
                <a:cs typeface="Amiri" pitchFamily="2" charset="-78"/>
              </a:rPr>
              <a:t> and the clock phrase.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prohibition.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2" charset="-78"/>
                <a:ea typeface="Amiri" pitchFamily="2" charset="-78"/>
                <a:cs typeface="Amiri" pitchFamily="2" charset="-78"/>
              </a:rPr>
              <a:t>لَا يَجُوزُ أَنْ نَسْتَعْمِلَ الهَوَاتِفَ فِي الفَصْلِ.</a:t>
            </a:r>
            <a:endParaRPr lang="ar-SA" sz="16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لَا يَجِبُ أَنْ نَسْتَعْمِلَ الهَوَاتِفَ فِي الفَصْلِ.</a:t>
            </a:r>
            <a:endParaRPr lang="ar-SA" sz="16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يَجِبُ أَنْ نَسْتَعْمِلَ الهَوَاتِفَ فِي الفَصْلِ.</a:t>
            </a:r>
            <a:endParaRPr lang="ar-SA" sz="16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يَجُوزُ أَنْ</a:t>
            </a:r>
            <a:pPr algn="l" indent="0" marL="0">
              <a:buNone/>
            </a:pPr>
            <a:r>
              <a:rPr lang="en-US" sz="1050" i="1" dirty="0">
                <a:solidFill>
                  <a:srgbClr val="8A6D1E"/>
                </a:solidFill>
                <a:latin typeface="Calibri" pitchFamily="34" charset="0"/>
                <a:cs typeface="Amiri" pitchFamily="2" charset="-78"/>
              </a:rPr>
              <a:t> means must not or is not permitted.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Three quality questions: Did I answer every point? Did I show a range? Is the Arabic accurate?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إِتْمَامُ المَهَمَّةِ · التَّنَوُّعُ · الدِّقَّةُ</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features of an email and an article/blog.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three-paragraph school response.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subjects, timetable, rules, opinions and school-day language.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80–100 connected words, then review and improve.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three paragraphs.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at least 70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one format consistent.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vary openings and reasons.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contrast.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improve my draft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Format words, paragraph words and the writing process. Core: email, article, paragraph, greeting, conclusion.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Email vs article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Paragraph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whole F4 vault</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 · article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عُنْوَانٌ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‎عنوان‎ </a:t>
            </a:r>
            <a:pPr indent="0" marL="0">
              <a:buNone/>
            </a:pPr>
            <a:r>
              <a:rPr lang="en-US" sz="950" b="1" dirty="0">
                <a:solidFill>
                  <a:srgbClr val="2E8B57"/>
                </a:solidFill>
                <a:latin typeface="Calibri" pitchFamily="34" charset="0"/>
                <a:cs typeface="Amiri" pitchFamily="2" charset="-78"/>
              </a:rPr>
              <a:t> ‘unwān · title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مُقَدِّمَةٌ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‎مقدمہ‎ </a:t>
            </a:r>
            <a:pPr indent="0" marL="0">
              <a:buNone/>
            </a:pPr>
            <a:r>
              <a:rPr lang="en-US" sz="950" b="1" dirty="0">
                <a:solidFill>
                  <a:srgbClr val="2E8B57"/>
                </a:solidFill>
                <a:latin typeface="Calibri" pitchFamily="34" charset="0"/>
                <a:cs typeface="Amiri" pitchFamily="2" charset="-78"/>
              </a:rPr>
              <a:t> muqaddima · introduction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خَاتِمَةٌ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conclusion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‎تحیہ‎ </a:t>
            </a:r>
            <a:pPr indent="0" marL="0">
              <a:buNone/>
            </a:pPr>
            <a:r>
              <a:rPr lang="en-US" sz="950" b="1" dirty="0">
                <a:solidFill>
                  <a:srgbClr val="2E8B57"/>
                </a:solidFill>
                <a:latin typeface="Calibri" pitchFamily="34" charset="0"/>
                <a:cs typeface="Amiri" pitchFamily="2" charset="-78"/>
              </a:rPr>
              <a:t> taḥiyya · greeting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1–2 · FORMATS AND PARAGRAPHS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Email, article, paragraph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صِيَغُ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named reader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إِلِكْتُرُونِيَّةٌ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email</a:t>
            </a:r>
            <a:endParaRPr lang="en-US" sz="1350" dirty="0"/>
          </a:p>
          <a:p>
            <a:pPr indent="0" marL="0">
              <a:buNone/>
            </a:pPr>
            <a:r>
              <a:rPr lang="en-US" sz="1100" i="1" dirty="0">
                <a:solidFill>
                  <a:srgbClr val="5A6472"/>
                </a:solidFill>
                <a:latin typeface="Calibri" pitchFamily="34" charset="0"/>
                <a:cs typeface="Amiri" pitchFamily="2" charset="-78"/>
              </a:rPr>
              <a:t>ri-sā-la i-lik-trū-niy-ya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wider audience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مَقَالٌ / مُدَوَّنَةٌ</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article / blog</a:t>
            </a:r>
            <a:endParaRPr lang="en-US" sz="1350" dirty="0"/>
          </a:p>
          <a:p>
            <a:pPr indent="0" marL="0">
              <a:buNone/>
            </a:pPr>
            <a:r>
              <a:rPr lang="en-US" sz="1100" i="1" dirty="0">
                <a:solidFill>
                  <a:srgbClr val="5A6472"/>
                </a:solidFill>
                <a:latin typeface="Calibri" pitchFamily="34" charset="0"/>
                <a:cs typeface="Amiri" pitchFamily="2" charset="-78"/>
              </a:rPr>
              <a:t>ma-qāl / mu-daw-wa-na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article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عُنْوَانٌ</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title</a:t>
            </a:r>
            <a:endParaRPr lang="en-US" sz="1350" dirty="0"/>
          </a:p>
          <a:p>
            <a:pPr indent="0" marL="0">
              <a:buNone/>
            </a:pPr>
            <a:r>
              <a:rPr lang="en-US" sz="1100" i="1" dirty="0">
                <a:solidFill>
                  <a:srgbClr val="5A6472"/>
                </a:solidFill>
                <a:latin typeface="Calibri" pitchFamily="34" charset="0"/>
                <a:cs typeface="Amiri" pitchFamily="2" charset="-78"/>
              </a:rPr>
              <a:t>‘un-wān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email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تَحِيَّةٌ · تَوْقِيعٌ</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greeting · signature</a:t>
            </a:r>
            <a:endParaRPr lang="en-US" sz="1350" dirty="0"/>
          </a:p>
          <a:p>
            <a:pPr indent="0" marL="0">
              <a:buNone/>
            </a:pPr>
            <a:r>
              <a:rPr lang="en-US" sz="1100" i="1" dirty="0">
                <a:solidFill>
                  <a:srgbClr val="5A6472"/>
                </a:solidFill>
                <a:latin typeface="Calibri" pitchFamily="34" charset="0"/>
                <a:cs typeface="Amiri" pitchFamily="2" charset="-78"/>
              </a:rPr>
              <a:t>ta-ḥiy-ya · taw-qī‘</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Shape 5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both</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مُقَدِّمَةٌ · خَاتِمَةٌ</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introduction · conclusion</a:t>
            </a:r>
            <a:endParaRPr lang="en-US" sz="1350" dirty="0"/>
          </a:p>
          <a:p>
            <a:pPr indent="0" marL="0">
              <a:buNone/>
            </a:pPr>
            <a:r>
              <a:rPr lang="en-US" sz="1100" i="1" dirty="0">
                <a:solidFill>
                  <a:srgbClr val="5A6472"/>
                </a:solidFill>
                <a:latin typeface="Calibri" pitchFamily="34" charset="0"/>
                <a:cs typeface="Amiri" pitchFamily="2" charset="-78"/>
              </a:rPr>
              <a:t>mu-qad-di-ma · khā-ti-ma</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1" name="Shape 5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paragraph</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جُمْلَةٌ مِحْوَرِيَّةٌ</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topic sentence</a:t>
            </a:r>
            <a:endParaRPr lang="en-US" sz="1350" dirty="0"/>
          </a:p>
          <a:p>
            <a:pPr indent="0" marL="0">
              <a:buNone/>
            </a:pPr>
            <a:r>
              <a:rPr lang="en-US" sz="1100" i="1" dirty="0">
                <a:solidFill>
                  <a:srgbClr val="5A6472"/>
                </a:solidFill>
                <a:latin typeface="Calibri" pitchFamily="34" charset="0"/>
                <a:cs typeface="Amiri" pitchFamily="2" charset="-78"/>
              </a:rPr>
              <a:t>jum-la miḥ-wa-riy-ya</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PURPOSEFUL PARAGRAPHS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paragraph, one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 فِقَرٍ هَادِفَةٍ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Starter</a:t>
            </a:r>
            <a:endParaRPr lang="en-US" sz="1100" dirty="0"/>
          </a:p>
        </p:txBody>
      </p:sp>
      <p:sp>
        <p:nvSpPr>
          <p:cNvPr id="17" name="Text 14"/>
          <p:cNvSpPr txBox="1"/>
          <p:nvPr/>
        </p:nvSpPr>
        <p:spPr>
          <a:xfrm>
            <a:off x="290779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Its job</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400800" y="2267712"/>
            <a:ext cx="52395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فِي مَدْرَسَةٍ … وَفِيهَا …</a:t>
            </a:r>
            <a:endParaRPr lang="ar-SA" sz="2200" dirty="0"/>
          </a:p>
        </p:txBody>
      </p:sp>
      <p:sp>
        <p:nvSpPr>
          <p:cNvPr id="21" name="Text 18"/>
          <p:cNvSpPr txBox="1"/>
          <p:nvPr/>
        </p:nvSpPr>
        <p:spPr>
          <a:xfrm>
            <a:off x="2944368" y="2267712"/>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size, location, rooms, facilities</a:t>
            </a:r>
            <a:endParaRPr lang="en-US" sz="11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School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400800" y="3004718"/>
            <a:ext cx="52395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مَادَّتِي المُفَضَّلَةُ … لِأَنَّهَا …</a:t>
            </a:r>
            <a:endParaRPr lang="ar-SA" sz="2200" dirty="0"/>
          </a:p>
        </p:txBody>
      </p:sp>
      <p:sp>
        <p:nvSpPr>
          <p:cNvPr id="27" name="Text 24"/>
          <p:cNvSpPr txBox="1"/>
          <p:nvPr/>
        </p:nvSpPr>
        <p:spPr>
          <a:xfrm>
            <a:off x="2944368" y="300471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subjects, favourite + reason, day and time</a:t>
            </a:r>
            <a:endParaRPr lang="en-US" sz="11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Subjects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400800" y="3741725"/>
            <a:ext cx="52395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 وَلَا يَجُوزُ أَنْ … فِي رَأْيِي …</a:t>
            </a:r>
            <a:endParaRPr lang="ar-SA" sz="2200" dirty="0"/>
          </a:p>
        </p:txBody>
      </p:sp>
      <p:sp>
        <p:nvSpPr>
          <p:cNvPr id="33" name="Text 30"/>
          <p:cNvSpPr txBox="1"/>
          <p:nvPr/>
        </p:nvSpPr>
        <p:spPr>
          <a:xfrm>
            <a:off x="2944368" y="3741725"/>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obligation, a prohibition, routine, conclusion</a:t>
            </a:r>
            <a:endParaRPr lang="en-US" sz="11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Rules + opinion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400800" y="4478731"/>
            <a:ext cx="52395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عَزِيزِي عُمَرُ، … مَعَ تَحِيَّاتِي، …</a:t>
            </a:r>
            <a:endParaRPr lang="ar-SA" sz="2200" dirty="0"/>
          </a:p>
        </p:txBody>
      </p:sp>
      <p:sp>
        <p:nvSpPr>
          <p:cNvPr id="39" name="Text 36"/>
          <p:cNvSpPr txBox="1"/>
          <p:nvPr/>
        </p:nvSpPr>
        <p:spPr>
          <a:xfrm>
            <a:off x="2944368" y="4478731"/>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named greeting · closing · signature</a:t>
            </a:r>
            <a:endParaRPr lang="en-US" sz="1100" dirty="0"/>
          </a:p>
        </p:txBody>
      </p:sp>
      <p:sp>
        <p:nvSpPr>
          <p:cNvPr id="40" name="Text 37"/>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Email frame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400800" y="5215738"/>
            <a:ext cx="52395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هٰذَا المَقَالِ سَأَصِفُ مَدْرَسَتِي …</a:t>
            </a:r>
            <a:endParaRPr lang="ar-SA" sz="2200" dirty="0"/>
          </a:p>
        </p:txBody>
      </p:sp>
      <p:sp>
        <p:nvSpPr>
          <p:cNvPr id="43" name="Text 40"/>
          <p:cNvSpPr txBox="1"/>
          <p:nvPr/>
        </p:nvSpPr>
        <p:spPr>
          <a:xfrm>
            <a:off x="2944368" y="521573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title · introduction · concluding opinion</a:t>
            </a:r>
            <a:endParaRPr lang="en-US" sz="1100" dirty="0"/>
          </a:p>
        </p:txBody>
      </p:sp>
      <p:sp>
        <p:nvSpPr>
          <p:cNvPr id="44" name="Text 41"/>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Article frame</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one clear job per paragraph reduces repetition and makes task completion visible.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REPAIR COMMON WRITING ERRORS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decision behind the error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أَخْطَاءَ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B83280"/>
          </a:solidFill>
          <a:ln w="12700">
            <a:solidFill>
              <a:srgbClr val="B83280"/>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AGREEMENT</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مَدْرَسَتِي كَبِيرَةٌ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مَدْرَسَةٌ حَدِيثَةٌ وَمُنَظَّمَةٌ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modern, organised school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School (f.) → every adjective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REASON PRONOUN</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أُحِبُّ العُلُومَ لِأَنَّهَا مُمْتِعَةٌ.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science because it is enjoyable.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Science → -hā.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54864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RULE</a:t>
            </a:r>
            <a:endParaRPr lang="en-US" sz="850" dirty="0"/>
          </a:p>
        </p:txBody>
      </p:sp>
      <p:sp>
        <p:nvSpPr>
          <p:cNvPr id="34" name="Text 31"/>
          <p:cNvSpPr txBox="1"/>
          <p:nvPr/>
        </p:nvSpPr>
        <p:spPr>
          <a:xfrm>
            <a:off x="1188720"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يَجِبُ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يَجِبُ أَنْ نَحْضُرَ مُبَكِّرًا.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must arrive early.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drop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use one format consistently — never an article title + a personal signature.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عَزِيزَتِي سَلْمَى، … مَعَ تَحِيَّاتِي، مَرْيَمُ</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فِي هٰذَا المَقَالِ … مَعَ تَحِيَّاتِي، مَرْيَمُ</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opening for an email to a female friend.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 فِي يَوْمٍ عَادِيٍّ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الخِتَامِ،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عَزِيزَتِي سَلْمَى،</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task says “Write to your Arabic-speaking pen friend.” Which format fits best?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email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notice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timetable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task point is missing? “My school is large. I study Arabic and science. Science is useful.”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subject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 or prohibition</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description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mean “must NOT”. Repair this sentence: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يَجِبُ أَنْ نَسْتَعْمِلَ الهَوَاتِفَ.</a:t>
            </a:r>
            <a:endParaRPr lang="ar-SA" sz="20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نَسْتَعْمِلَ الهَوَاتِفَ.</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نَسْتَعْمِلَ الهَوَاتِفَ.</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نَسْتَعْمِلُ الهَوَاتِفَ أَنْ.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opening for an email to a female friend.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مَدْرَسَتِي فِي يَوْمٍ عَادِيٍّ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الخِتَامِ،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عَزِيزَتِي سَلْمَى،</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عَزِيزَتِي</a:t>
            </a:r>
            <a:pPr algn="l" indent="0" marL="0">
              <a:buNone/>
            </a:pPr>
            <a:r>
              <a:rPr lang="en-US" sz="1050" i="1" dirty="0">
                <a:solidFill>
                  <a:srgbClr val="8A6D1E"/>
                </a:solidFill>
                <a:latin typeface="Calibri" pitchFamily="34" charset="0"/>
                <a:cs typeface="Amiri" pitchFamily="2" charset="-78"/>
              </a:rPr>
              <a:t> addresses a female reader.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task says “Write to your Arabic-speaking pen friend.” Which format fits best?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email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public notice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timetable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named or personal reader points to an email.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task point is missing? “My school is large. I study Arabic and science. Science is useful.”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subject</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rule or prohibition</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description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response has school description and subjects but no rule.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mean “must NOT”. Repair this sentence: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يَجِبُ أَنْ نَسْتَعْمِلَ الهَوَاتِفَ.</a:t>
            </a:r>
            <a:endParaRPr lang="ar-SA" sz="20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يَجُوزُ أَنْ نَسْتَعْمِلَ الهَوَاتِفَ.</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نَسْتَعْمِلَ الهَوَاتِفَ.</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نَسْتَعْمِلُ الهَوَاتِفَ أَنْ.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yajibu = not necessary; must not = lā yajūzu.</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ANALYSE THE WEBSITE MODEL EMAIL (83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 Salma · Subject: My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عَزِيزَتِي سَلْمَى،</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FORMAT · named greeting (female reader)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أَهْلًا وَسَهْلًا! أَدْرُسُ فِي مَدْرَسَةٍ ثَانَوِيَّةٍ كَبِيرَةٍ وَمُنَظَّمَةٍ قَرِيبَةٍ مِنْ بَيْتِي. فِي مَدْرَسَتِي فُصُولٌ وَاسِعَةٌ، وَمَكْتَبَةٌ هَادِئَةٌ، وَمَخْتَبَرُ عُلُومٍ حَدِيثٌ.</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 school type, size, location + three facilities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أَدْرُسُ العَرَبِيَّةَ وَالإِنْجِلِيزِيَّةَ وَالرِّيَاضِيَّاتِ وَالعُلُومَ. مَادَّتِي المُفَضَّلَةُ هِيَ العُلُومُ لِأَنَّهَا مُفِيدَةٌ وَمُثِيرَةٌ لِلاهْتِمَامِ. يَوْمَ الاِثْنَيْنِ تَبْدَأُ حِصَّةُ العُلُومِ عِنْدَ السَّاعَةِ التَّاسِعَةِ.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 subjects · favourite + REASON · timetable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B3B6F"/>
                </a:solidFill>
                <a:latin typeface="Amiri" pitchFamily="2" charset="-78"/>
                <a:ea typeface="Amiri" pitchFamily="2" charset="-78"/>
                <a:cs typeface="Amiri" pitchFamily="2" charset="-78"/>
              </a:rPr>
              <a:t>أَصِلُ إِلَى المَدْرَسَةِ صَبَاحًا، ثُمَّ أَدْخُلُ الفَصْلَ، وَبَعْدَ الاِسْتِرَاحَةِ أَذْهَبُ إِلَى المَكْتَبَةِ. يَجِبُ أَنْ نَحْضُرَ فِي المَوْعِدِ، وَلَا يَجُوزُ أَنْ نَسْتَعْمِلَ الهَوَاتِفَ فِي الفَصْلِ. فِي رَأْيِي، الحَيَاةُ المَدْرَسِيَّةُ مُمْتِعَةٌ لِأَنَّنِي أَتَعَلَّمُ أَشْيَاءَ جَدِيدَةً وَأَقْضِي وَقْتًا مَعَ صَدِيقَاتِي.</a:t>
            </a:r>
            <a:endParaRPr lang="ar-SA" sz="12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 sequence · RULE + prohibition · OPINION + reason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 تَحِيَّاتِي، مَرْيَمُ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FORMAT · closing + signature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“SCHOOL WRITER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writer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كَاتِبِ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Format: Which feature must appear in an article/blog?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signature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clear title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عَزِيزَتِي</a:t>
            </a:r>
            <a:endParaRPr lang="ar-SA" sz="220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Paragraph 2: Choose the best content.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members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subjects, favourite, reason and timetable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weather forecast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العُلُومُ مُفِيدَةٌ ...</a:t>
            </a:r>
            <a:endParaRPr lang="ar-SA" sz="19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تُسَاعِدُنِي.</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عُلُومٌ.</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تُسَاعِدُنِي عَلَى التَّفْكِيرِ.</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Rule: Choose the accurate prohibition.</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نَسْتَعْمِلَ الهَوَاتِفَ.</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يَجِبُ أَنْ نَسْتَعْمِلَ الهَوَاتِفَ.</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نَسْتَعْمِلَ الهَوَاتِفَ.</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this</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مَدْرَسَتِي كَبِيرٌ.</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 كَبِيرًا.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 كَبِيرَةٌ.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 كَبِيرُونَ.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email → greeting + signature</a:t>
            </a:r>
            <a:endParaRPr lang="en-US" sz="1250" dirty="0"/>
          </a:p>
          <a:p>
            <a:pPr algn="l" indent="0" marL="0">
              <a:buNone/>
            </a:pPr>
            <a:r>
              <a:rPr lang="en-US" sz="1250" dirty="0">
                <a:solidFill>
                  <a:srgbClr val="1E6B52"/>
                </a:solidFill>
                <a:latin typeface="Calibri" pitchFamily="34" charset="0"/>
                <a:cs typeface="Amiri" pitchFamily="2" charset="-78"/>
              </a:rPr>
              <a:t>article → title + introduction</a:t>
            </a:r>
            <a:endParaRPr lang="en-US" sz="1250" dirty="0"/>
          </a:p>
          <a:p>
            <a:pPr algn="l" indent="0" marL="0">
              <a:buNone/>
            </a:pPr>
            <a:r>
              <a:rPr lang="en-US" sz="1250" dirty="0">
                <a:solidFill>
                  <a:srgbClr val="1E6B52"/>
                </a:solidFill>
                <a:latin typeface="Calibri" pitchFamily="34" charset="0"/>
                <a:cs typeface="Amiri" pitchFamily="2" charset="-78"/>
              </a:rPr>
              <a:t>¶1 school · ¶2 subjects · ¶3 rules</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Format: Which feature must appear in an article/blog?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signature only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clear title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عَزِيزَتِي</a:t>
            </a:r>
            <a:endParaRPr lang="ar-SA" sz="22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title identifies the topic for a wider audience.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Paragraph 2: Choose the best content.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members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subjects, favourite, reason and timetable</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weather forecast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Paragraph 2 develops learning and schedule.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العُلُومُ مُفِيدَةٌ ...</a:t>
            </a:r>
            <a:endParaRPr lang="ar-SA" sz="19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تُسَاعِدُنِي.</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 عُلُومٌ.</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تُسَاعِدُنِي عَلَى التَّفْكِيرِ.</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refers to </a:t>
            </a:r>
            <a:pPr algn="l" indent="0" marL="0">
              <a:buNone/>
            </a:pPr>
            <a:r>
              <a:rPr lang="ar-SA" altLang="en-US" sz="1350" dirty="0">
                <a:solidFill>
                  <a:srgbClr val="8A6D1E"/>
                </a:solidFill>
                <a:latin typeface="Amiri" pitchFamily="2" charset="-78"/>
                <a:ea typeface="Amiri" pitchFamily="2" charset="-78"/>
                <a:cs typeface="Amiri" pitchFamily="2" charset="-78"/>
              </a:rPr>
              <a:t>العُلُومُ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Rule: Choose the accurate prohibition.</a:t>
            </a:r>
            <a:endParaRPr lang="en-US" sz="1250" dirty="0"/>
          </a:p>
        </p:txBody>
      </p:sp>
      <p:sp>
        <p:nvSpPr>
          <p:cNvPr id="65" name="Shape 62"/>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40080"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يَجُوزُ أَنْ نَسْتَعْمِلَ الهَوَاتِفَ.</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يَجِبُ أَنْ نَسْتَعْمِلَ الهَوَاتِفَ.</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نَسْتَعْمِلَ الهَوَاتِفَ.</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يَجُوزُ أَنْ</a:t>
            </a:r>
            <a:pPr algn="l" indent="0" marL="0">
              <a:buNone/>
            </a:pPr>
            <a:r>
              <a:rPr lang="en-US" sz="1050" i="1" dirty="0">
                <a:solidFill>
                  <a:srgbClr val="8A6D1E"/>
                </a:solidFill>
                <a:latin typeface="Calibri" pitchFamily="34" charset="0"/>
                <a:cs typeface="Amiri" pitchFamily="2" charset="-78"/>
              </a:rPr>
              <a:t> means must not.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this</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مَدْرَسَتِي كَبِيرٌ.</a:t>
            </a:r>
            <a:endParaRPr lang="ar-SA" sz="220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مَدْرَسَتِي كَبِيرًا.</a:t>
            </a:r>
            <a:endParaRPr lang="ar-SA" sz="170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مَدْرَسَتِي كَبِيرَةٌ.</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مَدْرَسَتِي كَبِيرُونَ.</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مَدْرَسَةٌ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email → greeting + signature</a:t>
            </a:r>
            <a:endParaRPr lang="en-US" sz="1250" dirty="0"/>
          </a:p>
          <a:p>
            <a:pPr algn="l" indent="0" marL="0">
              <a:buNone/>
            </a:pPr>
            <a:r>
              <a:rPr lang="en-US" sz="1250" dirty="0">
                <a:solidFill>
                  <a:srgbClr val="1E6B52"/>
                </a:solidFill>
                <a:latin typeface="Calibri" pitchFamily="34" charset="0"/>
                <a:cs typeface="Amiri" pitchFamily="2" charset="-78"/>
              </a:rPr>
              <a:t>article → title + introduction</a:t>
            </a:r>
            <a:endParaRPr lang="en-US" sz="1250" dirty="0"/>
          </a:p>
          <a:p>
            <a:pPr algn="l" indent="0" marL="0">
              <a:buNone/>
            </a:pPr>
            <a:r>
              <a:rPr lang="en-US" sz="1250" dirty="0">
                <a:solidFill>
                  <a:srgbClr val="1E6B52"/>
                </a:solidFill>
                <a:latin typeface="Calibri" pitchFamily="34" charset="0"/>
                <a:cs typeface="Amiri" pitchFamily="2" charset="-78"/>
              </a:rPr>
              <a:t>¶1 school · ¶2 subjects · ¶3 rules</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العُلُومُ مُفِيدٌ.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Science: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نَحْضُرُ مُبَكِّرًا.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after yajibu?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عَزِيزِي سَلْمَى،</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female reader: which greeting?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العُلُومُ مُفِيدٌ.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العُلُومُ مُفِيدَةٌ.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Science takes the feminine pattern.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نَحْضُرُ مُبَكِّرًا.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نَحْضُرَ مُبَكِّرًا.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yajibu needs an + the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عَزِيزِي سَلْمَى،</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عَزِيزَتِي سَلْمَى،</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reader: ‘azīzatī.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 plans her school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format will Huda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article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email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facilities will paragraph 1 mention?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canteen and theatre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playground and headteacher’s office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library and laboratory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prohibition will she include?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must not talk during explanation.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must not use the library.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must not study mathematics.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her conclusion say?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dislikes school because it is small.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school because the teachers are encouraging.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wants to change every subject.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boxes: paragraph 1 · paragraph 2 · paragraph 3.</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سَأَكْتُبُ مَقَالًا قَصِيرًا عَنْ مَدْرَسَتِي لِمَجَلَّةِ الشَّبَابِ. سَأَضَعُ عُنْوَانًا وَاضِحًا: «يَوْمِي فِي المَدْرَسَةِ».</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write a short article about my school for the youth magazine, with a clear title: “My day at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فِي الفِقْرَةِ الأُولَى سَأَصِفُ المَدْرَسَةَ؛ هِيَ كَبِيرَةٌ وَحَدِيثَةٌ وَفِيهَا مَكْتَبَةٌ وَمَخْتَبَرٌ.</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paragraph 1 I will describe the school: big and modern, with a library and a lab.</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فِي الفِقْرَةِ الثَّانِيَةِ سَأَذْكُرُ مَوَادِّي، وَمَادَّتِي المُفَضَّلَةُ هِيَ الرِّيَاضِيَّاتُ لِأَنَّهَا مُفِيدَةٌ.</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paragraph 2 I will mention my subjects; my favourite is maths because it is useful.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الفِقْرَةِ الثَّالِثَةِ سَأَكْتُبُ قَاعِدَتَيْنِ: يَجِبُ أَنْ نَحْضُرَ فِي المَوْعِدِ، وَلَا يَجُوزُ أَنْ نَتَكَلَّمَ أَثْنَاءَ الشَّرْحِ.</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paragraph 3 I will write two rules: we must arrive on time, and we must not talk during the explanation.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أَخِيرًا، سَأَقُولُ إِنَّنِي أُحِبُّ مَدْرَسَتِي لِأَنَّ المُعَلِّمِينَ مُشَجِّعُونَ.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I will say that I love my school because the teachers are encouraging.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format will Huda write?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article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email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سَأَكْتُبُ مَقَالًا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facilities will paragraph 1 mention?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canteen and theatre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playground and headteacher’s office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library and laboratory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وَفِيهَا مَكْتَبَةٌ وَمَخْتَبَرٌ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mathematics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مَادَّتِي المُفَضَّلَةُ هِيَ الرِّيَاضِيَّاتُ.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prohibition will she include?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Students must not talk during explanation.</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Students must not use the library.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Students must not study mathematics.</a:t>
            </a:r>
            <a:endParaRPr lang="en-US" sz="12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يَجُوزُ أَنْ نَتَكَلَّمَ أَثْنَاءَ الشَّرْحِ.</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her conclusion say?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dislikes school because it is small.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likes school because the teachers are encouraging.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wants to change every subject.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conclusion links her positive opinion to encouraging teachers.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boxes: paragraph 1 · paragraph 2 · paragraph 3.</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EMAIL VS ARTICLE OPENINGS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one is the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بِدَايَةُ رِسَالَةٍ وَبِدَايَةُ 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عَزِيزِي عُمَرُ،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A · greeting to one named reader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أَهْلًا وَسَهْلًا! أَكْتُبُ إِلَيْكَ عَنْ مَدْرَسَتِي الجَدِيدَةِ.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 I am writing to you about my new school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مَدْرَسَةٌ صَغِيرَةٌ وَلَكِنَّهَا مُنَظَّمَةٌ، وَفِيهَا مَكْتَبَةٌ جَمِيلَةٌ وَمَلْعَبٌ كَبِيرٌ…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 small but organised · library + playground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مَدْرَسَتِي فِي يَوْمٍ عَادِيٍّ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B · a TITLE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تَلْعَبُ المَدْرَسَةُ دَوْرًا مُهِمًّا فِي حَيَاةِ الطَّالِبِ. فِي هٰذَا المَقَالِ سَأَصِفُ مَدْرَسَتِي وَمَوَادِّي وَبَعْضَ القَوَاعِدِ الَّتِي نَتَّبِعُهَا كُلَّ يَوْمٍ…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 · general introduction for a wide audience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COMPARISON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Email or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proves Text A is personal?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عَزِيزِي عُمَرُ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هٰذَا المَقَالِ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تَلْعَبُ المَدْرَسَةُ دَوْرًا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proves Text B is an article?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عَزِيزِي عُمَرُ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 إِلَيْكَ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هٰذَا المَقَالِ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school in Text A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and crowded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but organised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and distant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continuation fits Text A best?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مَعَ تَحِيَّاتِي</a:t>
            </a:r>
            <a:pPr algn="l" indent="0" marL="0">
              <a:buNone/>
            </a:pPr>
            <a:r>
              <a:rPr lang="en-US" sz="1250" dirty="0">
                <a:solidFill>
                  <a:srgbClr val="1F2A37"/>
                </a:solidFill>
                <a:latin typeface="Calibri" pitchFamily="34" charset="0"/>
                <a:cs typeface="Amiri" pitchFamily="2" charset="-78"/>
              </a:rPr>
              <a:t> before any content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أَمَّا مَادَّتِي المُفَضَّلَةُ فَهِيَ العُلُومُ...</a:t>
            </a:r>
            <a:endParaRPr lang="ar-SA" sz="22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العُنْوَانُ الثَّانِي:</a:t>
            </a:r>
            <a:endParaRPr lang="ar-SA" sz="22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text is more suitable for a school website?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A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B</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Greeting → email.</a:t>
            </a:r>
            <a:endParaRPr lang="en-US" sz="1250" dirty="0"/>
          </a:p>
          <a:p>
            <a:pPr algn="l" indent="0" marL="0">
              <a:buNone/>
            </a:pPr>
            <a:r>
              <a:rPr lang="en-US" sz="1250" dirty="0">
                <a:solidFill>
                  <a:srgbClr val="1F2A37"/>
                </a:solidFill>
                <a:latin typeface="Calibri" pitchFamily="34" charset="0"/>
                <a:cs typeface="Amiri" pitchFamily="2" charset="-78"/>
              </a:rPr>
              <a:t>Title + “in this article” → article.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proves Text A is personal?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عَزِيزِي عُمَرُ</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هٰذَا المَقَالِ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تَلْعَبُ المَدْرَسَةُ دَوْرًا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named greeting directly addresses Omar.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proves Text B is an article?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عَزِيزِي عُمَرُ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أَكْتُبُ إِلَيْكَ</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هٰذَا المَقَالِ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explicitly introduces an article.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school in Text A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and crowded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but organised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and distant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صَغِيرَةٌ وَلَكِنَّهَا مُنَظَّمَةٌ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continuation fits Text A best?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مَعَ تَحِيَّاتِي</a:t>
            </a:r>
            <a:pPr algn="l" indent="0" marL="0">
              <a:buNone/>
            </a:pPr>
            <a:r>
              <a:rPr lang="en-US" sz="1250" dirty="0">
                <a:solidFill>
                  <a:srgbClr val="9AA1AB"/>
                </a:solidFill>
                <a:latin typeface="Calibri" pitchFamily="34" charset="0"/>
                <a:cs typeface="Amiri" pitchFamily="2" charset="-78"/>
              </a:rPr>
              <a:t> before any content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أَمَّا مَادَّتِي المُفَضَّلَةُ فَهِيَ العُلُومُ...</a:t>
            </a:r>
            <a:endParaRPr lang="ar-SA" sz="22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العُنْوَانُ الثَّانِي:</a:t>
            </a:r>
            <a:endParaRPr lang="ar-SA" sz="22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continues the email body with the next paragraph topic.</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text is more suitable for a school website?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A only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B</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article addresses a wider public audience.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Greeting → email.</a:t>
            </a:r>
            <a:endParaRPr lang="en-US" sz="1250" dirty="0"/>
          </a:p>
          <a:p>
            <a:pPr algn="l" indent="0" marL="0">
              <a:buNone/>
            </a:pPr>
            <a:r>
              <a:rPr lang="en-US" sz="1250" dirty="0">
                <a:solidFill>
                  <a:srgbClr val="1F2A37"/>
                </a:solidFill>
                <a:latin typeface="Calibri" pitchFamily="34" charset="0"/>
                <a:cs typeface="Amiri" pitchFamily="2" charset="-78"/>
              </a:rPr>
              <a:t>Title + “in this article” → article.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Rehearse each paragraph aloud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مَدْرَسَتَكَ: النَّوْعُ، الحَجْمُ، مِرْفَقَانِ.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مَوَادُّكَ؟ مَا مَادَّتُكَ المُفَضَّلَةُ؟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قُلْ قَاعِدَةً وَمَمْنُوعًا فِي مَدْرَسَتِكَ.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رَأْيُكَ فِي حَيَاتِكَ المَدْرَسِيَّةِ؟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أَدْرُسُ فِي مَدْرَسَةٍ ___ ، وَفِيهَا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مَادَّتِي المُفَضَّلَةُ هِيَ ___ لِأَنَّهَا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أَنْ ___ ، وَلَا يَجُوزُ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رَأْيِي، ___ لِأَنَّنِي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مَدْرَسَتَكَ.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أَدْرُسُ فِي مَدْرَسَةٍ ثَانَوِيَّةٍ كَبِيرَةٍ قَرِيبَةٍ مِنْ بَيْتِي، وَفِيهَا مَكْتَبَةٌ هَادِئَةٌ.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study at a large secondary school near my house, and it has a quiet library.</a:t>
            </a:r>
            <a:endParaRPr lang="en-US" sz="8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paragraphs with the frames; at least 70 words.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paragraphs with the starters; one format.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80–100 words with varied openings, reasons and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Varied openings, two reasons, a rule and a prohibition.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contrast (wa-lākin / ammā … fa-) and a concluding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contrast and a strong concluding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هٰذَا المَقَالِ سَأَصِفُ مَدْرَسَتِي.</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this article I will describe my school.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يَوْمَ الاِثْنَيْنِ تَبْدَأُ حِصَّةُ العُلُومِ عِنْدَ السَّاعَةِ التَّاسِعَةِ.</a:t>
            </a:r>
            <a:endParaRPr lang="ar-SA" sz="14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Monday science begins at nine.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نَحْضُرَ فِي المَوْعِدِ.</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arrive on time.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أَنْ نَسْتَعْمِلَ الهَوَاتِفَ فِي الفَصْلِ.</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not use phones in class.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الخِتَامِ،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عَزِيزِي عُمَرُ، / عَزِيزَتِي سَلْمَى،</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Dear Omar, / Dear Salma,</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فِي مَدْرَسَةٍ كَبِيرَةٍ قَرِيبَةٍ مِنْ بَيْتِي.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at a large school near my house.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فِيهَا مَكْتَبَةٌ هَادِئَةٌ.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has a quiet library.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مَادَّتِي المُفَضَّلَةُ هِيَ العُلُومُ لِأَنَّهَا مُفِيدَةٌ.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subject is science because it is useful.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تَحِيَّاتِي، ______</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Best wishes, (name)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عَزِيزِي  ·  عَزِيزَتِي  ·  فِي هٰذَا المَقَالِ  ·  وَفِيهَا  ·  لِأَنَّهَا  ·  لِأَنَّنِي  ·  يَجِبُ أَنْ  ·  لَا يَجُوزُ أَنْ  ·  ثُمَّ  ·  وَلَكِنْ  ·  فِي رَأْيِي  ·  مَعَ تَحِيَّاتِي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عَزِيزَتِي سَلْمَى، أَهْلًا وَسَهْلًا! أَدْرُسُ فِي مَدْرَسَةٍ ثَانَوِيَّةٍ كَبِيرَةٍ وَمُنَظَّمَةٍ قَرِيبَةٍ مِنْ بَيْتِي. فِي مَدْرَسَتِي فُصُولٌ وَاسِعَةٌ، وَمَكْتَبَةٌ هَادِئَةٌ، وَمَخْتَبَرُ عُلُومٍ حَدِيثٌ. أَدْرُسُ العَرَبِيَّةَ وَالإِنْجِلِيزِيَّةَ وَالرِّيَاضِيَّاتِ وَالعُلُومَ. مَادَّتِي المُفَضَّلَةُ هِيَ العُلُومُ لِأَنَّهَا مُفِيدَةٌ وَمُثِيرَةٌ لِلاهْتِمَامِ. يَوْمَ الاِثْنَيْنِ تَبْدَأُ حِصَّةُ العُلُومِ عِنْدَ السَّاعَةِ التَّاسِعَةِ. أَصِلُ إِلَى المَدْرَسَةِ صَبَاحًا، ثُمَّ أَدْخُلُ الفَصْلَ، وَبَعْدَ الاِسْتِرَاحَةِ أَذْهَبُ إِلَى المَكْتَبَةِ. يَجِبُ أَنْ نَحْضُرَ فِي المَوْعِدِ، وَلَا يَجُوزُ أَنْ نَسْتَعْمِلَ الهَوَاتِفَ فِي الفَصْلِ. فِي رَأْيِي، الحَيَاةُ المَدْرَسِيَّةُ مُمْتِعَةٌ لِأَنَّنِي أَتَعَلَّمُ أَشْيَاءَ جَدِيدَةً وَأَقْضِي وَقْتًا مَعَ صَدِيقَاتِي. مَعَ تَحِيَّاتِي، مَرْيَمُ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Salma, Welcome! I study at a large, organised secondary school near my house. My school has spacious classrooms, a quiet library and a modern science lab. I study Arabic, English, maths and science. My favourite subject is science because it is useful and interesting. On Monday the science lesson begins at nine. I arrive at school in the morning, then I enter the classroom, and after break I go to the library. We must arrive on time, and we must not use phones in class. In my opinion school life is enjoyable because I learn new things and spend time with my friends. Best wishes,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format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rules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Task: school, subjects, rules and opinion all included.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Three paragraphs, one job each.</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Range: varied openings, reasons and connectors.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Accuracy: agreement, li’annahā, yajibu 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format used consistently from start to end.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feature that identifies an email.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named greeting and closing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title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rows and columns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paragraph 3 mainly cover?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rules, routine and concluding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isolated noun</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prohibition.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نَسْتَعْمِلَ الهَوَاتِفَ.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يَجِبُ أَنْ نَسْتَعْمِلَ الهَوَاتِفَ.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نَسْتَعْمِلَ الهَوَاتِفَ.</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feature that identifies an email.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named greeting and closing</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title only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rows and columns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email has a direct relationship with a named reader.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paragraph 3 mainly cover?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greeting only</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rules, routine and concluding opinion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isolated noun</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Paragraph 3 completes school-life coverage and closes the response.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prohibition.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لَا يَجُوزُ أَنْ نَسْتَعْمِلَ الهَوَاتِفَ.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يَجِبُ أَنْ نَسْتَعْمِلَ الهَوَاتِفَ.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يَجِبُ أَنْ نَسْتَعْمِلَ الهَوَاتِفَ.</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يَجُوزُ أَنْ</a:t>
            </a:r>
            <a:pPr algn="l" indent="0" marL="0">
              <a:buNone/>
            </a:pPr>
            <a:r>
              <a:rPr lang="en-US" sz="1050" i="1" dirty="0">
                <a:solidFill>
                  <a:srgbClr val="8A6D1E"/>
                </a:solidFill>
                <a:latin typeface="Calibri" pitchFamily="34" charset="0"/>
                <a:cs typeface="Amiri" pitchFamily="2" charset="-78"/>
              </a:rPr>
              <a:t> expresses must not.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F4-L10 · Listening and Speaking: School Conversations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مُحَادَثَةٌ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conversation</a:t>
            </a:r>
            <a:pPr indent="0" marL="0">
              <a:buNone/>
            </a:pPr>
            <a:r>
              <a:rPr lang="ar-SA" sz="1000" i="1" dirty="0">
                <a:solidFill>
                  <a:srgbClr val="5A6472"/>
                </a:solidFill>
                <a:latin typeface="Calibri" pitchFamily="34" charset="0"/>
                <a:ea typeface="Amiri" pitchFamily="2" charset="-78"/>
                <a:cs typeface="Amiri" pitchFamily="2" charset="-78"/>
              </a:rPr>
              <a:t>  pl. مُحَادَثَاتٌ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طَالِبٌ جَدِيدٌ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new student</a:t>
            </a:r>
            <a:pPr indent="0" marL="0">
              <a:buNone/>
            </a:pPr>
            <a:r>
              <a:rPr lang="ar-SA" sz="1000" i="1" dirty="0">
                <a:solidFill>
                  <a:srgbClr val="5A6472"/>
                </a:solidFill>
                <a:latin typeface="Calibri" pitchFamily="34" charset="0"/>
                <a:ea typeface="Amiri" pitchFamily="2" charset="-78"/>
                <a:cs typeface="Amiri" pitchFamily="2" charset="-78"/>
              </a:rPr>
              <a:t>  f. طَالِبَةٌ جَدِيدَةٌ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آسِفٌ، لَمْ أَفْهَمْ.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Sorry, I didn’t understand.</a:t>
            </a:r>
            <a:pPr indent="0" marL="0">
              <a:buNone/>
            </a:pPr>
            <a:r>
              <a:rPr lang="ar-SA" sz="1000" i="1" dirty="0">
                <a:solidFill>
                  <a:srgbClr val="5A6472"/>
                </a:solidFill>
                <a:latin typeface="Calibri" pitchFamily="34" charset="0"/>
                <a:ea typeface="Amiri" pitchFamily="2" charset="-78"/>
                <a:cs typeface="Amiri" pitchFamily="2" charset="-78"/>
              </a:rPr>
              <a:t>  f. آسِفَةٌ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هَلْ يُمْكِنُ أَنْ تُعِيدَ؟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Could you repeat?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تَمْثِيلُ دَوْرٍ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Imagine you are new at a school. Write one question to ask the teacher.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سُؤَالٌ لِلْمُعَلِّمِ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F4-L09: the School Writer Mission (14) and the paragraph-architecture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80–100-word first version; count your connectors.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the website /10 review and write the improved final version.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F4-L10 · Listening and Speaking: School Conversations</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وَالتَّحَدُّثُ — مُحَادَثَاتٌ مَدْرَسِيَّةٌ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choose one format · one job per paragraph · task, range, accuracy.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F4-L09 · Extended Writing: My School</dc:title>
  <dc:subject>PptxGenJS Presentation</dc:subject>
  <dc:creator>Al Madina Online School · Arabic Department</dc:creator>
  <cp:lastModifiedBy>Al Madina Online School · Arabic Department</cp:lastModifiedBy>
  <cp:revision>1</cp:revision>
  <dcterms:created xsi:type="dcterms:W3CDTF">2026-10-11T06:41:41Z</dcterms:created>
  <dcterms:modified xsi:type="dcterms:W3CDTF">2026-10-11T06:41:41Z</dcterms:modified>
</cp:coreProperties>
</file>