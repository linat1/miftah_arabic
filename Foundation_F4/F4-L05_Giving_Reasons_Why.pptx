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5 (F4-L05). Website sections used: the eight-question F4 retrieval bridge and “the complete answer” (opinion + subject + reason), the reason sentence system (two decisions: who are you asking? which subject?) and the 14-question check, the reason-word bank (14 m. / f. pairs) and the 14-question check, the agreement laboratory (14), the justified-opinion builder with the richer-reason bank, the Why Mission (14), Layla (listening, 10), Amir and Hana (reading, 12), the “Why?” conversation (4 prompts), the 8–10-sentence set of justified opinions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accurate opinions with لِأَنَّهُ / لِأَنَّهَا + an agreeing adjective. Develop: varied adjectives + one richer لِأَنَّنِي reason. Stretch: balanced opinions with وَلَكِنْ and two reasons.
• Website “two decisions”: (1) who are you asking? → تُحِبُّ / تُحِبِّينَ; (2) which subject? → لِأَنَّهُ / لِأَنَّهَا + matching adjective. The speaker’s gender never controls the reason pronoun.
• Honest opinions are welcome (website) — a reasoned dislike is a strong answer, especially when balanced (… وَلَكِنَّهَا مُهِمَّةٌ).
• Urdu bridge: کیونکہ ≈ لِأَنَّ (different word); سبب = سَبَبٌ; واضح، منظم، مفید، اہم (≈ مُهِمٌّ) are shared or related.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F4-L04. Questions 3–5 are the website “F4 retrieval bridge” (masculine reason, masculine subject, maths takes the feminine pattern).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Two decisions: the LISTENER chooses tuḥibbu / tuḥibbīna; the SUBJECT chooses li’annahu / li’annahā and the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(left) and the website success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سبب، واضح، منظم، تجربہ are shared words; اہم (important) shares the root of مُهِمٌّ.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REASON-WORD BANK (website, 14 pairs). Website memory route: say the pair aloud (مُفِيدٌ / مُفِيدَةٌ), then place each form after the correct reason pronoun. New today: وَاضِحٌ (clear), مُنَظَّمٌ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remaining website pairs (recycled from F4-L01 and F4-L04). Also: مُثِيرٌ / مُثِيرَةٌ لِلاهْتِمَامِ (interesting), مُفَضَّلٌ / مُفَضَّلَةٌ (favourite).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 2 “Master the reason sentence system”. Masculine subjects (website): التَّارِيخُ، الفَنُّ، المَسْرَحُ، عِلْمُ الحَاسُوبِ. Feminine-pattern subjects: العَرَبِيَّةُ، العُلُومُ، الرِّيَاضِيَّاتُ، الجُغْرَافِيَا.
Website: “Mathematics uses the feminine singular reason pattern taught in F4” (أُحِبُّ الرِّيَاضِيَّاتِ لِأَنَّهَا عَمَلِيَّةٌ).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“Develop your reasons” bank: لِأَنَّنِي أَتَعَلَّمُ أَشْيَاءَ جَدِيدَةً · لِأَنَّنِي أُحِبُّ القِرَاءَةَ · لِأَنَّنِي أُحِبُّ الرَّسْمَ · لِأَنَّنِي أُحِبُّ التَّجَارِبَ · لِأَنَّنِي أُحِبُّ حَلَّ المَسَائِلِ · لِأَنَّنِي أَسْتَخْدِمُ الحَاسُوبَ · لِأَنَّهُ يُسَاعِدُنِي عَلَى التَّفْكِيرِ · لِأَنَّهَا تُسَاعِدُنِي عَلَى فَهْمِ العَالَمِ.
Website best next step after an error: identify the subject gender, then rebuild pronoun and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reason-system questions 2, 6 and 11, and agreement laboratory question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(Layla) as the model. Think aloud the two decisions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Why?”)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Check the pronouns: القِرَاءَةُ (f.) → لِأَنَّهَا · المَطَرُ (m.) → لِأَنَّهُ مُزْعِجٌ (annoying) · العُلُومُ → لِأَنَّهَا.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Why?”)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Check the pronouns: القِرَاءَةُ (f.) → لِأَنَّهَا · المَطَرُ (m.) → لِأَنَّهُ مُزْعِجٌ (annoying) · العُلُومُ → لِأَنَّهَا.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Why Mission rounds (female listener, maths, because I like reading, balance, agreement repair).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two decisions aloud before revealing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مَرْحَبًا. اِسْمِي لَيْلَى. أُحِبُّ اللُّغَةَ العَرَبِيَّةَ لِأَنَّهَا جَمِيلَةٌ وَمُهِمَّةٌ. أُفَضِّلُ العُلُومَ عَلَى التَّارِيخِ لِأَنَّهَا مُفِيدَةٌ وَمُمْتِعَةٌ، وَلِأَنَّنِي أُحِبُّ التَّجَارِبَ. لَا أُحِبُّ الفِيزِيَاءَ كَثِيرًا لِأَنَّهَا صَعْبَةٌ فِي رَأْيِي، وَلَكِنِّي أَدْرُسُهَا. أُحِبُّ الفَنَّ أَيْضًا لِأَنَّهُ إِبْدَاعِيٌّ وَشَيِّقٌ.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complete). Sort Amir’s reasons into masculine (لِأَنَّهُ) and feminine (لِأَنَّهَا) patterns, and find his richer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B (website, complete) — the Stretch model: a balanced opinion with وَلَكِنَّهَا.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6, 10 and 12.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“Hold a ‘Why?’ subject conversation” — at least two connected sentences per prompt and one follow-up question. Prompts (website):
• Why do you like art?: Give one adjective reason and one personal reason.
• Why do you prefer science?: Compare it with another subject and give two reasons.
• Why do you like or dislike mathematics?: Give a balanced answer.
• Interview a partner: Ask a male or female listener three why-questions.
Website checklist (1–6): asked لِمَاذَا؟ · clear opinion · لِأَنَّهُ / لِأَنَّهَا · agreeing adjective · one richer reason · one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Five accurate li’annahu / li’annahā reasons. · Develop — Add two richer li’annanī reasons. · Stretch — Use wa-lākin to balance an opinion and explain both sides.
Website writing task (Stretch): Website writing task: 8–10 sentences about school subjects with at least five reasons — two masculine patterns, two feminine patterns, one richer لِأَنَّنِي reason and one balanced opinion (وَلَكِنْ).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Built from the website listening (Layla) with Hana’s balanced opinion as the ending.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(F4-L06 · School Rules and Obligations — Must and Must Not) will spend class time USING this language, so students prepare it tonight — short, simple, easy to access (school guidance: “Simple, Short, Interesting, Relevant, Easy to access”). The five words come from the website F4-L06 rules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Giving Reasons — Why?</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إِعْطَاءُ الأَسْبَابِ — لِمَاذَا؟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why, then answer with a complete reason: the subject’s gender chooses the pronoun and the adjective — and richer reasons begin with li’annanī (because I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F4-L05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Ask why, then two decisions: who is listening? which subject?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Why mission, listen to Layla, read Amir and Hana.</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لِمَاذَا؟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عَمَلِيٌّ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complicated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masculine reason pattern.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مُفِيدَةٌ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لِأَنَّنِي مُفِيدٌ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masculine?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العُلُومُ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الجُغْرَافِيَا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uses the feminine reason pattern?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الرِّيَاضِيَّاتُ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التَّارِيخُ</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المَسْرَحُ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لِمَاذَا؟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عَمَلِيٌّ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practical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creative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complicated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masculine reason pattern.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مُفِيدَةٌ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لِأَنَّنِي مُفِيدٌ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 مُفِيدٌ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لِأَنَّهُ</a:t>
            </a:r>
            <a:pPr algn="l" indent="0" marL="0">
              <a:buNone/>
            </a:pPr>
            <a:r>
              <a:rPr lang="en-US" sz="1050" i="1" dirty="0">
                <a:solidFill>
                  <a:srgbClr val="8A6D1E"/>
                </a:solidFill>
                <a:latin typeface="Calibri" pitchFamily="34" charset="0"/>
                <a:cs typeface="Amiri" pitchFamily="2" charset="-78"/>
              </a:rPr>
              <a:t> + masculine adjective describes a masculine subject.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masculine?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العُلُومُ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الجُغْرَافِيَا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الفَنُّ</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uses the feminine reason pattern?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الرِّيَاضِيَّاتُ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التَّارِيخُ</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المَسْرَحُ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الرِّيَاضِيَّاتُ</a:t>
            </a:r>
            <a:pPr algn="l" indent="0" marL="0">
              <a:buNone/>
            </a:pPr>
            <a:r>
              <a:rPr lang="en-US" sz="1050" i="1" dirty="0">
                <a:solidFill>
                  <a:srgbClr val="8A6D1E"/>
                </a:solidFill>
                <a:latin typeface="Calibri" pitchFamily="34" charset="0"/>
                <a:cs typeface="Amiri" pitchFamily="2" charset="-78"/>
              </a:rPr>
              <a:t> uses the feminine singular reason pattern taught in F4.</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Two decisions: the LISTENER chooses tuḥibbu / tuḥibbīna; the SUBJECT chooses li’annahu / li’annahā and the adjective.</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لِمَاذَا تُحِبُّ الفَنَّ؟ — </a:t>
            </a:r>
            <a:pPr rtl="1" algn="ctr" indent="0" marL="0">
              <a:lnSpc>
                <a:spcPct val="120000"/>
              </a:lnSpc>
              <a:buNone/>
            </a:pPr>
            <a:r>
              <a:rPr lang="ar-SA" altLang="en-US" sz="2200" b="1" dirty="0">
                <a:solidFill>
                  <a:srgbClr val="1D5FBF"/>
                </a:solidFill>
                <a:latin typeface="Amiri" pitchFamily="2" charset="-78"/>
                <a:cs typeface="Amiri" pitchFamily="2" charset="-78"/>
              </a:rPr>
              <a:t>لِأَنَّهُ</a:t>
            </a:r>
            <a:pPr rtl="1" algn="ctr" indent="0" marL="0">
              <a:lnSpc>
                <a:spcPct val="120000"/>
              </a:lnSpc>
              <a:buNone/>
            </a:pPr>
            <a:r>
              <a:rPr lang="ar-SA" altLang="en-US" sz="2200" b="1" dirty="0">
                <a:solidFill>
                  <a:srgbClr val="1B3B6F"/>
                </a:solidFill>
                <a:latin typeface="Amiri" pitchFamily="2" charset="-78"/>
                <a:cs typeface="Amiri" pitchFamily="2" charset="-78"/>
              </a:rPr>
              <a:t> إِبْدَاعِيٌّ</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li-mādhā? and answer with a complete reason.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li’annahu for masculine and li’annahā for feminine subjects.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complete reason-adjective bank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and speak several connected justified opinions.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three opinions with reasons.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choose li’annahu or li’annahā.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vary my reason adjectives.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reason with li’annanī.</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an opinion with wa-lākin.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two reasons in one answer.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Why?, the two reason pronouns, fourteen adjective pairs and richer reasons. Core: li’annahu / li’annahā + six adjectives.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Why? · because it (m. / f.)</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Reason adjectives · 14 pairs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Richer reasons · because I …</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سَبَبٌ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‎سبب‎ </a:t>
            </a:r>
            <a:pPr indent="0" marL="0">
              <a:buNone/>
            </a:pPr>
            <a:r>
              <a:rPr lang="en-US" sz="950" b="1" dirty="0">
                <a:solidFill>
                  <a:srgbClr val="2E8B57"/>
                </a:solidFill>
                <a:latin typeface="Calibri" pitchFamily="34" charset="0"/>
                <a:cs typeface="Amiri" pitchFamily="2" charset="-78"/>
              </a:rPr>
              <a:t> sabab · reason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وَاضِحٌ</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‎واضح‎ </a:t>
            </a:r>
            <a:pPr indent="0" marL="0">
              <a:buNone/>
            </a:pPr>
            <a:r>
              <a:rPr lang="en-US" sz="950" b="1" dirty="0">
                <a:solidFill>
                  <a:srgbClr val="2E8B57"/>
                </a:solidFill>
                <a:latin typeface="Calibri" pitchFamily="34" charset="0"/>
                <a:cs typeface="Amiri" pitchFamily="2" charset="-78"/>
              </a:rPr>
              <a:t> wāḍiḥ · clear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مُنَظَّمٌ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‎منظم‎ </a:t>
            </a:r>
            <a:pPr indent="0" marL="0">
              <a:buNone/>
            </a:pPr>
            <a:r>
              <a:rPr lang="en-US" sz="950" b="1" dirty="0">
                <a:solidFill>
                  <a:srgbClr val="2E8B57"/>
                </a:solidFill>
                <a:latin typeface="Calibri" pitchFamily="34" charset="0"/>
                <a:cs typeface="Amiri" pitchFamily="2" charset="-78"/>
              </a:rPr>
              <a:t> munaẓẓam · organised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مُهِمٌّ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‎اہم‎ </a:t>
            </a:r>
            <a:pPr indent="0" marL="0">
              <a:buNone/>
            </a:pPr>
            <a:r>
              <a:rPr lang="en-US" sz="950" b="1" dirty="0">
                <a:solidFill>
                  <a:srgbClr val="2E8B57"/>
                </a:solidFill>
                <a:latin typeface="Calibri" pitchFamily="34" charset="0"/>
                <a:cs typeface="Amiri" pitchFamily="2" charset="-78"/>
              </a:rPr>
              <a:t> muhimm · important (same root)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تَجْرِبَةٌ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tajriba · experiment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REASON ADJECTIVES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Easy, difficult, important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الأَسْبَابِ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سَهْلٌ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easy</a:t>
            </a:r>
            <a:endParaRPr lang="en-US" sz="1350" dirty="0"/>
          </a:p>
          <a:p>
            <a:pPr indent="0" marL="0">
              <a:buNone/>
            </a:pPr>
            <a:r>
              <a:rPr lang="en-US" sz="1100" i="1" dirty="0">
                <a:solidFill>
                  <a:srgbClr val="5A6472"/>
                </a:solidFill>
                <a:latin typeface="Calibri" pitchFamily="34" charset="0"/>
                <a:cs typeface="Amiri" pitchFamily="2" charset="-78"/>
              </a:rPr>
              <a:t>sahl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سَهْلَةٌ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سَهْلٌ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صَعْبٌ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difficult</a:t>
            </a:r>
            <a:endParaRPr lang="en-US" sz="1350" dirty="0"/>
          </a:p>
          <a:p>
            <a:pPr indent="0" marL="0">
              <a:buNone/>
            </a:pPr>
            <a:r>
              <a:rPr lang="en-US" sz="1100" i="1" dirty="0">
                <a:solidFill>
                  <a:srgbClr val="5A6472"/>
                </a:solidFill>
                <a:latin typeface="Calibri" pitchFamily="34" charset="0"/>
                <a:cs typeface="Amiri" pitchFamily="2" charset="-78"/>
              </a:rPr>
              <a:t>ṣa‘b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صَعْبَةٌ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صَعْبٌ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مُهِمٌّ</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important</a:t>
            </a:r>
            <a:endParaRPr lang="en-US" sz="1350" dirty="0"/>
          </a:p>
          <a:p>
            <a:pPr indent="0" marL="0">
              <a:buNone/>
            </a:pPr>
            <a:r>
              <a:rPr lang="en-US" sz="1100" i="1" dirty="0">
                <a:solidFill>
                  <a:srgbClr val="5A6472"/>
                </a:solidFill>
                <a:latin typeface="Calibri" pitchFamily="34" charset="0"/>
                <a:cs typeface="Amiri" pitchFamily="2" charset="-78"/>
              </a:rPr>
              <a:t>mu-himm</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مُهِمَّةٌ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مُهِمٌّ</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مُفِيدٌ</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a:t>
            </a:r>
            <a:endParaRPr lang="en-US" sz="1350" dirty="0"/>
          </a:p>
          <a:p>
            <a:pPr indent="0" marL="0">
              <a:buNone/>
            </a:pPr>
            <a:r>
              <a:rPr lang="en-US" sz="1100" i="1" dirty="0">
                <a:solidFill>
                  <a:srgbClr val="5A6472"/>
                </a:solidFill>
                <a:latin typeface="Calibri" pitchFamily="34" charset="0"/>
                <a:cs typeface="Amiri" pitchFamily="2" charset="-78"/>
              </a:rPr>
              <a:t>mu-fīd</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مُفِيدَةٌ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مُفِيدٌ</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وَاضِحٌ</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clear</a:t>
            </a:r>
            <a:endParaRPr lang="en-US" sz="1350" dirty="0"/>
          </a:p>
          <a:p>
            <a:pPr indent="0" marL="0">
              <a:buNone/>
            </a:pPr>
            <a:r>
              <a:rPr lang="en-US" sz="1100" i="1" dirty="0">
                <a:solidFill>
                  <a:srgbClr val="5A6472"/>
                </a:solidFill>
                <a:latin typeface="Calibri" pitchFamily="34" charset="0"/>
                <a:cs typeface="Amiri" pitchFamily="2" charset="-78"/>
              </a:rPr>
              <a:t>wā-ḍiḥ</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وَاضِحَةٌ</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وَاضِحٌ</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مُنَظَّمٌ</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organised</a:t>
            </a:r>
            <a:endParaRPr lang="en-US" sz="1350" dirty="0"/>
          </a:p>
          <a:p>
            <a:pPr indent="0" marL="0">
              <a:buNone/>
            </a:pPr>
            <a:r>
              <a:rPr lang="en-US" sz="1100" i="1" dirty="0">
                <a:solidFill>
                  <a:srgbClr val="5A6472"/>
                </a:solidFill>
                <a:latin typeface="Calibri" pitchFamily="34" charset="0"/>
                <a:cs typeface="Amiri" pitchFamily="2" charset="-78"/>
              </a:rPr>
              <a:t>mu-naẓ-ẓam</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مُنَظَّمَةٌ</a:t>
            </a:r>
            <a:endParaRPr lang="ar-SA" sz="150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مُنَظَّمٌ</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REASON ADJECTIVES (WEBSITE) · 2 OF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Enjoyable, boring, engaging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الأَسْبَابِ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مُمْتِعٌ</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enjoyable</a:t>
            </a:r>
            <a:endParaRPr lang="en-US" sz="1350" dirty="0"/>
          </a:p>
          <a:p>
            <a:pPr indent="0" marL="0">
              <a:buNone/>
            </a:pPr>
            <a:r>
              <a:rPr lang="en-US" sz="1100" i="1" dirty="0">
                <a:solidFill>
                  <a:srgbClr val="5A6472"/>
                </a:solidFill>
                <a:latin typeface="Calibri" pitchFamily="34" charset="0"/>
                <a:cs typeface="Amiri" pitchFamily="2" charset="-78"/>
              </a:rPr>
              <a:t>mum-ti‘</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مُمْتِعَةٌ</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مُمْتِعٌ</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مُمِلٌّ</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مُمِلَّةٌ</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مُمِلٌّ</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شَيِّقٌ</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engaging</a:t>
            </a:r>
            <a:endParaRPr lang="en-US" sz="1350" dirty="0"/>
          </a:p>
          <a:p>
            <a:pPr indent="0" marL="0">
              <a:buNone/>
            </a:pPr>
            <a:r>
              <a:rPr lang="en-US" sz="1100" i="1" dirty="0">
                <a:solidFill>
                  <a:srgbClr val="5A6472"/>
                </a:solidFill>
                <a:latin typeface="Calibri" pitchFamily="34" charset="0"/>
                <a:cs typeface="Amiri" pitchFamily="2" charset="-78"/>
              </a:rPr>
              <a:t>shay-yiq</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شَيِّقَةٌ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شَيِّقٌ</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إِبْدَاعِيٌّ</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creative</a:t>
            </a:r>
            <a:endParaRPr lang="en-US" sz="1350" dirty="0"/>
          </a:p>
          <a:p>
            <a:pPr indent="0" marL="0">
              <a:buNone/>
            </a:pPr>
            <a:r>
              <a:rPr lang="en-US" sz="1100" i="1" dirty="0">
                <a:solidFill>
                  <a:srgbClr val="5A6472"/>
                </a:solidFill>
                <a:latin typeface="Calibri" pitchFamily="34" charset="0"/>
                <a:cs typeface="Amiri" pitchFamily="2" charset="-78"/>
              </a:rPr>
              <a:t>ib-dā-‘iyy</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إِبْدَاعِيَّةٌ</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2" name="Text 69"/>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إِبْدَاعِيٌّ</a:t>
            </a:r>
            <a:endParaRPr lang="ar-SA" sz="150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Shape 7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عَمَلِيٌّ</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practical</a:t>
            </a:r>
            <a:endParaRPr lang="en-US" sz="1350" dirty="0"/>
          </a:p>
          <a:p>
            <a:pPr indent="0" marL="0">
              <a:buNone/>
            </a:pPr>
            <a:r>
              <a:rPr lang="en-US" sz="1100" i="1" dirty="0">
                <a:solidFill>
                  <a:srgbClr val="5A6472"/>
                </a:solidFill>
                <a:latin typeface="Calibri" pitchFamily="34" charset="0"/>
                <a:cs typeface="Amiri" pitchFamily="2" charset="-78"/>
              </a:rPr>
              <a:t>‘a-ma-liyy</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عَمَلِيَّةٌ</a:t>
            </a:r>
            <a:endParaRPr lang="ar-SA" sz="150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5" name="Text 82"/>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عَمَلِيٌّ</a:t>
            </a:r>
            <a:endParaRPr lang="ar-SA" sz="150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9" name="Shape 8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مُعَقَّدٌ</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complicated</a:t>
            </a:r>
            <a:endParaRPr lang="en-US" sz="1350" dirty="0"/>
          </a:p>
          <a:p>
            <a:pPr indent="0" marL="0">
              <a:buNone/>
            </a:pPr>
            <a:r>
              <a:rPr lang="en-US" sz="1100" i="1" dirty="0">
                <a:solidFill>
                  <a:srgbClr val="5A6472"/>
                </a:solidFill>
                <a:latin typeface="Calibri" pitchFamily="34" charset="0"/>
                <a:cs typeface="Amiri" pitchFamily="2" charset="-78"/>
              </a:rPr>
              <a:t>mu-‘aq-qad</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مُعَقَّدَةٌ</a:t>
            </a:r>
            <a:endParaRPr lang="ar-SA" sz="150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مُعَقَّدٌ</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REASON SENTENCE SYSTEM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decisions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نِظَامُ جُمْلَةِ 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3456432"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Decision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tuḥibbu</a:t>
            </a:r>
            <a:endParaRPr lang="en-US" sz="1100" dirty="0"/>
          </a:p>
        </p:txBody>
      </p:sp>
      <p:sp>
        <p:nvSpPr>
          <p:cNvPr id="21" name="Text 18"/>
          <p:cNvSpPr txBox="1"/>
          <p:nvPr/>
        </p:nvSpPr>
        <p:spPr>
          <a:xfrm>
            <a:off x="3474720" y="2267712"/>
            <a:ext cx="51206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 تُحِبُّ العُلُومَ؟</a:t>
            </a:r>
            <a:endParaRPr lang="ar-SA" sz="22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Asking one male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tuḥibbīna</a:t>
            </a:r>
            <a:endParaRPr lang="en-US" sz="1100" dirty="0"/>
          </a:p>
        </p:txBody>
      </p:sp>
      <p:sp>
        <p:nvSpPr>
          <p:cNvPr id="27" name="Text 24"/>
          <p:cNvSpPr txBox="1"/>
          <p:nvPr/>
        </p:nvSpPr>
        <p:spPr>
          <a:xfrm>
            <a:off x="3474720" y="3004718"/>
            <a:ext cx="51206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لِمَاذَا تُحِبِّ</a:t>
            </a:r>
            <a:pPr rtl="1" algn="ctr" indent="0" marL="0">
              <a:buNone/>
            </a:pPr>
            <a:r>
              <a:rPr lang="ar-SA" altLang="en-US" sz="2200" b="1" dirty="0">
                <a:solidFill>
                  <a:srgbClr val="D6336C"/>
                </a:solidFill>
                <a:latin typeface="Amiri" pitchFamily="2" charset="-78"/>
                <a:cs typeface="Amiri" pitchFamily="2" charset="-78"/>
              </a:rPr>
              <a:t>ينَ</a:t>
            </a:r>
            <a:pPr rtl="1" algn="ctr" indent="0" marL="0">
              <a:buNone/>
            </a:pPr>
            <a:r>
              <a:rPr lang="ar-SA" altLang="en-US" sz="2200" b="1" dirty="0">
                <a:solidFill>
                  <a:srgbClr val="1B3B6F"/>
                </a:solidFill>
                <a:latin typeface="Amiri" pitchFamily="2" charset="-78"/>
                <a:cs typeface="Amiri" pitchFamily="2" charset="-78"/>
              </a:rPr>
              <a:t> العُلُومَ؟</a:t>
            </a:r>
            <a:endParaRPr lang="ar-SA" sz="22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Asking one female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li’annahu + m. adjective</a:t>
            </a:r>
            <a:endParaRPr lang="en-US" sz="1100" dirty="0"/>
          </a:p>
        </p:txBody>
      </p:sp>
      <p:sp>
        <p:nvSpPr>
          <p:cNvPr id="33" name="Text 30"/>
          <p:cNvSpPr txBox="1"/>
          <p:nvPr/>
        </p:nvSpPr>
        <p:spPr>
          <a:xfrm>
            <a:off x="3474720" y="3741725"/>
            <a:ext cx="51206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الفَنَّ </a:t>
            </a:r>
            <a:pPr rtl="1" algn="ctr" indent="0" marL="0">
              <a:buNone/>
            </a:pPr>
            <a:r>
              <a:rPr lang="ar-SA" altLang="en-US" sz="2200" b="1" dirty="0">
                <a:solidFill>
                  <a:srgbClr val="1D5FBF"/>
                </a:solidFill>
                <a:latin typeface="Amiri" pitchFamily="2" charset="-78"/>
                <a:cs typeface="Amiri" pitchFamily="2" charset="-78"/>
              </a:rPr>
              <a:t>لِأَنَّهُ</a:t>
            </a:r>
            <a:pPr rtl="1" algn="ctr" indent="0" marL="0">
              <a:buNone/>
            </a:pPr>
            <a:r>
              <a:rPr lang="ar-SA" altLang="en-US" sz="2200" b="1" dirty="0">
                <a:solidFill>
                  <a:srgbClr val="1B3B6F"/>
                </a:solidFill>
                <a:latin typeface="Amiri" pitchFamily="2" charset="-78"/>
                <a:cs typeface="Amiri" pitchFamily="2" charset="-78"/>
              </a:rPr>
              <a:t> إِبْدَاعِيٌّ.</a:t>
            </a:r>
            <a:endParaRPr lang="ar-SA" sz="22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Masculine subject</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li’annahā + f. adjective</a:t>
            </a:r>
            <a:endParaRPr lang="en-US" sz="1100" dirty="0"/>
          </a:p>
        </p:txBody>
      </p:sp>
      <p:sp>
        <p:nvSpPr>
          <p:cNvPr id="39" name="Text 36"/>
          <p:cNvSpPr txBox="1"/>
          <p:nvPr/>
        </p:nvSpPr>
        <p:spPr>
          <a:xfrm>
            <a:off x="3474720" y="4478731"/>
            <a:ext cx="51206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العُلُومَ </a:t>
            </a:r>
            <a:pPr rtl="1" algn="ctr" indent="0" marL="0">
              <a:buNone/>
            </a:pPr>
            <a:r>
              <a:rPr lang="ar-SA" altLang="en-US" sz="2200" b="1" dirty="0">
                <a:solidFill>
                  <a:srgbClr val="D6336C"/>
                </a:solidFill>
                <a:latin typeface="Amiri" pitchFamily="2" charset="-78"/>
                <a:cs typeface="Amiri" pitchFamily="2" charset="-78"/>
              </a:rPr>
              <a:t>لِأَنَّهَا</a:t>
            </a:r>
            <a:pPr rtl="1" algn="ctr" indent="0" marL="0">
              <a:buNone/>
            </a:pPr>
            <a:r>
              <a:rPr lang="ar-SA" altLang="en-US" sz="2200" b="1" dirty="0">
                <a:solidFill>
                  <a:srgbClr val="1B3B6F"/>
                </a:solidFill>
                <a:latin typeface="Amiri" pitchFamily="2" charset="-78"/>
                <a:cs typeface="Amiri" pitchFamily="2" charset="-78"/>
              </a:rPr>
              <a:t> مُفِيدَةٌ.</a:t>
            </a:r>
            <a:endParaRPr lang="ar-SA" sz="2200" dirty="0"/>
          </a:p>
        </p:txBody>
      </p:sp>
      <p:sp>
        <p:nvSpPr>
          <p:cNvPr id="40" name="Text 37"/>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Feminine subject</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li’annanī + I-verb</a:t>
            </a:r>
            <a:endParaRPr lang="en-US" sz="1100" dirty="0"/>
          </a:p>
        </p:txBody>
      </p:sp>
      <p:sp>
        <p:nvSpPr>
          <p:cNvPr id="45" name="Text 42"/>
          <p:cNvSpPr txBox="1"/>
          <p:nvPr/>
        </p:nvSpPr>
        <p:spPr>
          <a:xfrm>
            <a:off x="3474720" y="5215738"/>
            <a:ext cx="51206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 </a:t>
            </a:r>
            <a:pPr rtl="1" algn="ctr" indent="0" marL="0">
              <a:buNone/>
            </a:pPr>
            <a:r>
              <a:rPr lang="ar-SA" altLang="en-US" sz="2200" b="1" dirty="0">
                <a:solidFill>
                  <a:srgbClr val="0E7C86"/>
                </a:solidFill>
                <a:latin typeface="Amiri" pitchFamily="2" charset="-78"/>
                <a:cs typeface="Amiri" pitchFamily="2" charset="-78"/>
              </a:rPr>
              <a:t>لِأَنَّنِي</a:t>
            </a:r>
            <a:pPr rtl="1" algn="ctr" indent="0" marL="0">
              <a:buNone/>
            </a:pPr>
            <a:r>
              <a:rPr lang="ar-SA" altLang="en-US" sz="2200" b="1" dirty="0">
                <a:solidFill>
                  <a:srgbClr val="1B3B6F"/>
                </a:solidFill>
                <a:latin typeface="Amiri" pitchFamily="2" charset="-78"/>
                <a:cs typeface="Amiri" pitchFamily="2" charset="-78"/>
              </a:rPr>
              <a:t> أَتَعَلَّمُ أَشْيَاءَ جَدِيدَةً.</a:t>
            </a:r>
            <a:endParaRPr lang="ar-SA" sz="2200" dirty="0"/>
          </a:p>
        </p:txBody>
      </p:sp>
      <p:sp>
        <p:nvSpPr>
          <p:cNvPr id="46" name="Text 43"/>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Richer reason (Develop)</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mistake: the speaker’s gender does not control li’annahu / li’annahā — the subject noun does.</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RICHER AND BALANCED REASONS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Because I … · but it is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أَسْبَابٌ أَغْنَى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BECAUSE I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لِأَنَّنِي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أُحِبُّ العُلُومَ لِأَنَّنِي أُحِبُّ التَّجَارِبَ.</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science because I like experiments.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 an I-verb (a-/u-)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IT HELPS ME</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لِأَنَّهُ يُسَاعِدُنِي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لِأَنَّهُ يُسَاعِدُنِي عَلَى التَّفْكِيرِ.</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it helps me think (m. subject)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 </a:t>
            </a:r>
            <a:pPr algn="l" indent="0" marL="0">
              <a:buNone/>
            </a:pPr>
            <a:r>
              <a:rPr lang="ar-SA" altLang="en-US" sz="1450" dirty="0">
                <a:solidFill>
                  <a:srgbClr val="1F2A37"/>
                </a:solidFill>
                <a:latin typeface="Amiri" pitchFamily="2" charset="-78"/>
                <a:cs typeface="Amiri" pitchFamily="2" charset="-78"/>
              </a:rPr>
              <a:t>لِأَنَّهَا تُسَاعِدُنِي</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وَلَكِنَّهَا / وَلَكِنَّهُ</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لَا أُحِبُّ الجُغْرَافِيَا لِأَنَّهَا صَعْبَةٌ، وَلَكِنَّهَا مُهِمَّةٌ.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don’t like geography because it’s hard, but it’s important.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sides of one subject.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agreement laboratory: rebuild pronoun AND adjective.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الفِيزِيَاءُ لِأَنَّهَا مُعَقَّدَةٌ.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cs typeface="Amiri" pitchFamily="2" charset="-78"/>
              </a:rPr>
              <a:t>الفِيزِيَاءُ لِأَنَّهُ مُعَقَّدٌ.</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“Why do you like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 اللُّغَةَ العَرَبِيَّةَ؟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أُحِبُّ العَرَبِيَّةَ؟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تُحِبِّينَ اللُّغَةَ العَرَبِيَّةَ؟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لَا أُحِبُّ الفِيزِيَاءَ ___.</a:t>
            </a:r>
            <a:endParaRPr lang="ar-SA" sz="22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صَعْبَةٌ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صَعْبٌ</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صَعْبٌ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100" b="1" dirty="0">
                <a:solidFill>
                  <a:srgbClr val="1B3B6F"/>
                </a:solidFill>
                <a:latin typeface="Amiri" pitchFamily="2" charset="-78"/>
                <a:cs typeface="Amiri" pitchFamily="2" charset="-78"/>
              </a:rPr>
              <a:t>أُحِبُّ الرِّيَاضِيَّاتِ لِأَنَّهُ عَمَلِيٌّ.</a:t>
            </a:r>
            <a:endParaRPr lang="ar-SA" sz="21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لِأَنَّهَا عَمَلِيٌّ.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لِأَنَّهَا عَمَلِيَّةٌ.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 عَمَلِيَّةٌ.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 like reading”.</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لِأَنَّنِي أُحِبُّ القِرَاءَةَ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أُحِبُّ القِرَاءَةَ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تُحِبُّ القِرَاءَةَ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“Why do you like Arabic?”</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 تُحِبُّ اللُّغَةَ العَرَبِيَّةَ؟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 أُحِبُّ العَرَبِيَّةَ؟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لِمَاذَا تُحِبِّينَ اللُّغَةَ العَرَبِيَّةَ؟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لَا أُحِبُّ الفِيزِيَاءَ ___.</a:t>
            </a:r>
            <a:endParaRPr lang="ar-SA" sz="22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لِأَنَّهَا صَعْبَةٌ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صَعْبٌ</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صَعْبٌ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الفِيزِيَاءُ</a:t>
            </a:r>
            <a:pPr algn="l" indent="0" marL="0">
              <a:buNone/>
            </a:pPr>
            <a:r>
              <a:rPr lang="en-US" sz="1050" i="1" dirty="0">
                <a:solidFill>
                  <a:srgbClr val="8A6D1E"/>
                </a:solidFill>
                <a:latin typeface="Calibri" pitchFamily="34" charset="0"/>
                <a:cs typeface="Amiri" pitchFamily="2" charset="-78"/>
              </a:rPr>
              <a:t> is treated as feminine.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100" b="1" dirty="0">
                <a:solidFill>
                  <a:srgbClr val="1B3B6F"/>
                </a:solidFill>
                <a:latin typeface="Amiri" pitchFamily="2" charset="-78"/>
                <a:cs typeface="Amiri" pitchFamily="2" charset="-78"/>
              </a:rPr>
              <a:t>أُحِبُّ الرِّيَاضِيَّاتِ لِأَنَّهُ عَمَلِيٌّ.</a:t>
            </a:r>
            <a:endParaRPr lang="ar-SA" sz="21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الرِّيَاضِيَّاتِ لِأَنَّهَا عَمَلِيٌّ.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الرِّيَاضِيَّاتِ لِأَنَّهَا عَمَلِيَّةٌ.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الرِّيَاضِيَّاتِ لِأَنَّهُ عَمَلِيَّةٌ.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taught reason pattern for mathematics is feminine singular.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“because I like reading”.</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لِأَنَّنِي أُحِبُّ القِرَاءَةَ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أُحِبُّ القِرَاءَةَ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تُحِبُّ القِرَاءَةَ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لِأَنَّنِي</a:t>
            </a:r>
            <a:pPr algn="l" indent="0" marL="0">
              <a:buNone/>
            </a:pPr>
            <a:r>
              <a:rPr lang="en-US" sz="1050" i="1" dirty="0">
                <a:solidFill>
                  <a:srgbClr val="8A6D1E"/>
                </a:solidFill>
                <a:latin typeface="Calibri" pitchFamily="34" charset="0"/>
                <a:cs typeface="Amiri" pitchFamily="2" charset="-78"/>
              </a:rPr>
              <a:t> means because I.</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answer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لِمَاذَا تُفَضِّلُ العُلُومَ؟</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Male listener.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Subject gender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العُلُومُ / لِأَنَّهَا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Science → feminine pattern.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أُفَضِّلُ العُلُومَ </a:t>
            </a:r>
            <a:pPr rtl="1" algn="ctr" indent="0" marL="0">
              <a:lnSpc>
                <a:spcPct val="120000"/>
              </a:lnSpc>
              <a:buNone/>
            </a:pPr>
            <a:r>
              <a:rPr lang="ar-SA" altLang="en-US" sz="2000" b="1" dirty="0">
                <a:solidFill>
                  <a:srgbClr val="D6336C"/>
                </a:solidFill>
                <a:latin typeface="Amiri" pitchFamily="2" charset="-78"/>
                <a:cs typeface="Amiri" pitchFamily="2" charset="-78"/>
              </a:rPr>
              <a:t>لِأَنَّهَا</a:t>
            </a:r>
            <a:pPr rtl="1" algn="ctr" indent="0" marL="0">
              <a:lnSpc>
                <a:spcPct val="120000"/>
              </a:lnSpc>
              <a:buNone/>
            </a:pPr>
            <a:r>
              <a:rPr lang="ar-SA" altLang="en-US" sz="2000" b="1" dirty="0">
                <a:solidFill>
                  <a:srgbClr val="1B3B6F"/>
                </a:solidFill>
                <a:latin typeface="Amiri" pitchFamily="2" charset="-78"/>
                <a:cs typeface="Amiri" pitchFamily="2" charset="-78"/>
              </a:rPr>
              <a:t> مُفِيدَ</a:t>
            </a:r>
            <a:pPr rtl="1" algn="ctr" indent="0" marL="0">
              <a:lnSpc>
                <a:spcPct val="120000"/>
              </a:lnSpc>
              <a:buNone/>
            </a:pPr>
            <a:r>
              <a:rPr lang="ar-SA" altLang="en-US" sz="2000" b="1" dirty="0">
                <a:solidFill>
                  <a:srgbClr val="D6336C"/>
                </a:solidFill>
                <a:latin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Adjective -a too.</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Richer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وَ</a:t>
            </a:r>
            <a:pPr rtl="1" algn="ctr" indent="0" marL="0">
              <a:buNone/>
            </a:pPr>
            <a:r>
              <a:rPr lang="ar-SA" altLang="en-US" sz="2550" b="1" dirty="0">
                <a:solidFill>
                  <a:srgbClr val="0E7C86"/>
                </a:solidFill>
                <a:latin typeface="Amiri" pitchFamily="2" charset="-78"/>
                <a:cs typeface="Amiri" pitchFamily="2" charset="-78"/>
              </a:rPr>
              <a:t>لِأَنَّنِي</a:t>
            </a:r>
            <a:pPr rtl="1" algn="ctr" indent="0" marL="0">
              <a:buNone/>
            </a:pPr>
            <a:r>
              <a:rPr lang="ar-SA" altLang="en-US" sz="2550" b="1" dirty="0">
                <a:solidFill>
                  <a:srgbClr val="1B3B6F"/>
                </a:solidFill>
                <a:latin typeface="Amiri" pitchFamily="2" charset="-78"/>
                <a:cs typeface="Amiri" pitchFamily="2" charset="-78"/>
              </a:rPr>
              <a:t> أُحِبُّ التَّجَارِبَ.</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Because I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SUBJECT</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BECAUSE I</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50" b="1" dirty="0">
                <a:solidFill>
                  <a:srgbClr val="1B3B6F"/>
                </a:solidFill>
                <a:latin typeface="Amiri" pitchFamily="2" charset="-78"/>
                <a:cs typeface="Amiri" pitchFamily="2" charset="-78"/>
              </a:rPr>
              <a:t>أُفَضِّلُ العُلُومَ عَلَى التَّارِيخِ </a:t>
            </a:r>
            <a:pPr rtl="1" algn="r" indent="0" marL="0">
              <a:buNone/>
            </a:pPr>
            <a:r>
              <a:rPr lang="ar-SA" altLang="en-US" sz="2350" b="1" dirty="0">
                <a:solidFill>
                  <a:srgbClr val="D6336C"/>
                </a:solidFill>
                <a:latin typeface="Amiri" pitchFamily="2" charset="-78"/>
                <a:cs typeface="Amiri" pitchFamily="2" charset="-78"/>
              </a:rPr>
              <a:t>لِأَنَّهَا</a:t>
            </a:r>
            <a:pPr rtl="1" algn="r" indent="0" marL="0">
              <a:buNone/>
            </a:pPr>
            <a:r>
              <a:rPr lang="ar-SA" altLang="en-US" sz="2350" b="1" dirty="0">
                <a:solidFill>
                  <a:srgbClr val="1B3B6F"/>
                </a:solidFill>
                <a:latin typeface="Amiri" pitchFamily="2" charset="-78"/>
                <a:cs typeface="Amiri" pitchFamily="2" charset="-78"/>
              </a:rPr>
              <a:t> مُفِيدَ</a:t>
            </a:r>
            <a:pPr rtl="1" algn="r" indent="0" marL="0">
              <a:buNone/>
            </a:pPr>
            <a:r>
              <a:rPr lang="ar-SA" altLang="en-US" sz="2350" b="1" dirty="0">
                <a:solidFill>
                  <a:srgbClr val="D6336C"/>
                </a:solidFill>
                <a:latin typeface="Amiri" pitchFamily="2" charset="-78"/>
                <a:cs typeface="Amiri" pitchFamily="2" charset="-78"/>
              </a:rPr>
              <a:t>ةٌ</a:t>
            </a:r>
            <a:pPr rtl="1" algn="r" indent="0" marL="0">
              <a:buNone/>
            </a:pPr>
            <a:r>
              <a:rPr lang="ar-SA" altLang="en-US" sz="2350" b="1" dirty="0">
                <a:solidFill>
                  <a:srgbClr val="1B3B6F"/>
                </a:solidFill>
                <a:latin typeface="Amiri" pitchFamily="2" charset="-78"/>
                <a:cs typeface="Amiri" pitchFamily="2" charset="-78"/>
              </a:rPr>
              <a:t> وَمُمْتِعَ</a:t>
            </a:r>
            <a:pPr rtl="1" algn="r" indent="0" marL="0">
              <a:buNone/>
            </a:pPr>
            <a:r>
              <a:rPr lang="ar-SA" altLang="en-US" sz="2350" b="1" dirty="0">
                <a:solidFill>
                  <a:srgbClr val="D6336C"/>
                </a:solidFill>
                <a:latin typeface="Amiri" pitchFamily="2" charset="-78"/>
                <a:cs typeface="Amiri" pitchFamily="2" charset="-78"/>
              </a:rPr>
              <a:t>ةٌ</a:t>
            </a:r>
            <a:pPr rtl="1" algn="r" indent="0" marL="0">
              <a:buNone/>
            </a:pPr>
            <a:r>
              <a:rPr lang="ar-SA" altLang="en-US" sz="2350" b="1" dirty="0">
                <a:solidFill>
                  <a:srgbClr val="1B3B6F"/>
                </a:solidFill>
                <a:latin typeface="Amiri" pitchFamily="2" charset="-78"/>
                <a:cs typeface="Amiri" pitchFamily="2" charset="-78"/>
              </a:rPr>
              <a:t>، وَ</a:t>
            </a:r>
            <a:pPr rtl="1" algn="r" indent="0" marL="0">
              <a:buNone/>
            </a:pPr>
            <a:r>
              <a:rPr lang="ar-SA" altLang="en-US" sz="2350" b="1" dirty="0">
                <a:solidFill>
                  <a:srgbClr val="0E7C86"/>
                </a:solidFill>
                <a:latin typeface="Amiri" pitchFamily="2" charset="-78"/>
                <a:cs typeface="Amiri" pitchFamily="2" charset="-78"/>
              </a:rPr>
              <a:t>لِأَنَّنِي</a:t>
            </a:r>
            <a:pPr rtl="1" algn="r" indent="0" marL="0">
              <a:buNone/>
            </a:pPr>
            <a:r>
              <a:rPr lang="ar-SA" altLang="en-US" sz="2350" b="1" dirty="0">
                <a:solidFill>
                  <a:srgbClr val="1B3B6F"/>
                </a:solidFill>
                <a:latin typeface="Amiri" pitchFamily="2" charset="-78"/>
                <a:cs typeface="Amiri" pitchFamily="2" charset="-78"/>
              </a:rPr>
              <a:t> أُحِبُّ التَّجَارِبَ. أُحِبُّ الفَنَّ أَيْضًا </a:t>
            </a:r>
            <a:pPr rtl="1" algn="r" indent="0" marL="0">
              <a:buNone/>
            </a:pPr>
            <a:r>
              <a:rPr lang="ar-SA" altLang="en-US" sz="2350" b="1" dirty="0">
                <a:solidFill>
                  <a:srgbClr val="1D5FBF"/>
                </a:solidFill>
                <a:latin typeface="Amiri" pitchFamily="2" charset="-78"/>
                <a:cs typeface="Amiri" pitchFamily="2" charset="-78"/>
              </a:rPr>
              <a:t>لِأَنَّهُ</a:t>
            </a:r>
            <a:pPr rtl="1" algn="r" indent="0" marL="0">
              <a:buNone/>
            </a:pPr>
            <a:r>
              <a:rPr lang="ar-SA" altLang="en-US" sz="2350" b="1" dirty="0">
                <a:solidFill>
                  <a:srgbClr val="1B3B6F"/>
                </a:solidFill>
                <a:latin typeface="Amiri" pitchFamily="2" charset="-78"/>
                <a:cs typeface="Amiri" pitchFamily="2" charset="-78"/>
              </a:rPr>
              <a:t> إِبْدَاعِيٌّ.</a:t>
            </a:r>
            <a:endParaRPr lang="ar-SA" sz="23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prefer science to history because it is useful and enjoyable, and because I like experiments. I also like art because it is creative.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“VISUAL GAME — WHY?”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 + tick</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frown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flask + star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العُلُومَ لِأَنَّهَا مُثِيرَةٌ.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القِرَاءَةَ لِأَنَّهَا مُفِيدَةٌ.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أُحِبُّ المَطَرَ لِأَنَّهُ مُزْعِجٌ.</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book + tick</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 لِأَنَّهَا مُفِيدَةٌ.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like reading because it is useful.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rain + frown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لَا أُحِبُّ المَطَرَ لِأَنَّهُ مُزْعِجٌ.</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don’t like rain because it is annoying.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flask + star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أُفَضِّلُ العُلُومَ لِأَنَّهَا مُثِيرَةٌ.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prefer science because it is exciting.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“WHY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Why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«لِمَاذَا؟»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listener: Ask one female why she likes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تُحِبِّينَ العَرَبِيَّةَ؟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 العَرَبِيَّةَ؟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أُحِبُّ العَرَبِيَّةَ؟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Mathematics: Complete the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 عَمَلِيٌّ.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لِأَنَّهَا عَمَلِيَّةٌ.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الرِّيَاضِيَّاتُ لِأَنَّهَا عَمَلِيٌّ.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Reading: Choose “because I like reading”.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لِأَنَّنِي أُحِبُّ القِرَاءَةَ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أُحِبُّ القِرَاءَةَ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يَقْرَأُ</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Balance: Choose the balanced opinion.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لَا أُحِبُّ الجُغْرَافِيَا لِأَنَّهُ صَعْبٌ.</a:t>
            </a:r>
            <a:endParaRPr lang="ar-SA" sz="14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الجُغْرَافِيَا وَلَكِنْ لِأَنَّهَا.</a:t>
            </a:r>
            <a:endParaRPr lang="ar-SA" sz="14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لَا أُحِبُّ الجُغْرَافِيَا لِأَنَّهَا صَعْبَةٌ، وَلَكِنَّهَا مُهِمَّةٌ.</a:t>
            </a:r>
            <a:endParaRPr lang="ar-SA" sz="14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الفِيزِيَاءُ لِأَنَّهُ مُعَقَّدٌ.</a:t>
            </a:r>
            <a:endParaRPr lang="ar-SA" sz="16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الفِيزِيَاءُ لِأَنَّهَا مُعَقَّدٌ.</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الفِيزِيَاءُ لِأَنَّهَا مُعَقَّدَةٌ.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الفِيزِيَاءُ لِأَنَّهُ مُعَقَّدَةٌ.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listener → tuḥibbu / tuḥibbīna</a:t>
            </a:r>
            <a:endParaRPr lang="en-US" sz="1250" dirty="0"/>
          </a:p>
          <a:p>
            <a:pPr algn="l" indent="0" marL="0">
              <a:buNone/>
            </a:pPr>
            <a:r>
              <a:rPr lang="en-US" sz="1250" dirty="0">
                <a:solidFill>
                  <a:srgbClr val="1E6B52"/>
                </a:solidFill>
                <a:latin typeface="Calibri" pitchFamily="34" charset="0"/>
                <a:cs typeface="Amiri" pitchFamily="2" charset="-78"/>
              </a:rPr>
              <a:t>subject → li’annahu / li’annahā</a:t>
            </a:r>
            <a:endParaRPr lang="en-US" sz="1250" dirty="0"/>
          </a:p>
          <a:p>
            <a:pPr algn="l" indent="0" marL="0">
              <a:buNone/>
            </a:pPr>
            <a:r>
              <a:rPr lang="en-US" sz="1250" dirty="0">
                <a:solidFill>
                  <a:srgbClr val="1E6B52"/>
                </a:solidFill>
                <a:latin typeface="Calibri" pitchFamily="34" charset="0"/>
                <a:cs typeface="Amiri" pitchFamily="2" charset="-78"/>
              </a:rPr>
              <a:t>because I → li’annanī</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Female listener: Ask one female why she likes Arabic.</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لِمَاذَا تُحِبِّينَ العَرَبِيَّةَ؟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 تُحِبُّ العَرَبِيَّةَ؟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 أُحِبُّ العَرَبِيَّةَ؟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Mathematics: Complete the 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الرِّيَاضِيَّاتِ لِأَنَّهُ عَمَلِيٌّ.</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الرِّيَاضِيَّاتِ لِأَنَّهَا عَمَلِيَّةٌ.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الرِّيَاضِيَّاتُ لِأَنَّهَا عَمَلِيٌّ.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feminine singular agreement.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Reading: Choose “because I like reading”.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لِأَنَّنِي أُحِبُّ القِرَاءَةَ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 أُحِبُّ القِرَاءَةَ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يَقْرَأُ</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لِأَنَّنِي</a:t>
            </a:r>
            <a:pPr algn="l" indent="0" marL="0">
              <a:buNone/>
            </a:pPr>
            <a:r>
              <a:rPr lang="en-US" sz="1050" i="1" dirty="0">
                <a:solidFill>
                  <a:srgbClr val="8A6D1E"/>
                </a:solidFill>
                <a:latin typeface="Calibri" pitchFamily="34" charset="0"/>
                <a:cs typeface="Amiri" pitchFamily="2" charset="-78"/>
              </a:rPr>
              <a:t> for because 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Balance: Choose the balanced opinion.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لَا أُحِبُّ الجُغْرَافِيَا لِأَنَّهُ صَعْبٌ.</a:t>
            </a:r>
            <a:endParaRPr lang="ar-SA" sz="14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الجُغْرَافِيَا وَلَكِنْ لِأَنَّهَا.</a:t>
            </a:r>
            <a:endParaRPr lang="ar-SA" sz="14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لَا أُحِبُّ الجُغْرَافِيَا لِأَنَّهَا صَعْبَةٌ، وَلَكِنَّهَا مُهِمَّةٌ.</a:t>
            </a:r>
            <a:endParaRPr lang="ar-SA" sz="14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answer contrasts two accurate feminine descriptions.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الفِيزِيَاءُ لِأَنَّهُ مُعَقَّدٌ.</a:t>
            </a:r>
            <a:endParaRPr lang="ar-SA" sz="1600" dirty="0"/>
          </a:p>
        </p:txBody>
      </p:sp>
      <p:sp>
        <p:nvSpPr>
          <p:cNvPr id="80" name="Shape 77"/>
          <p:cNvSpPr/>
          <p:nvPr/>
        </p:nvSpPr>
        <p:spPr>
          <a:xfrm>
            <a:off x="4459224" y="4831080"/>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الفِيزِيَاءُ لِأَنَّهَا مُعَقَّدٌ.</a:t>
            </a:r>
            <a:endParaRPr lang="ar-SA" sz="1700" dirty="0"/>
          </a:p>
        </p:txBody>
      </p:sp>
      <p:sp>
        <p:nvSpPr>
          <p:cNvPr id="83" name="Shape 80"/>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5202936"/>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الفِيزِيَاءُ لِأَنَّهَا مُعَقَّدَةٌ.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الفِيزِيَاءُ لِأَنَّهُ مُعَقَّدَةٌ.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Pronoun and adjective must both be feminine.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listener → tuḥibbu / tuḥibbīna</a:t>
            </a:r>
            <a:endParaRPr lang="en-US" sz="1250" dirty="0"/>
          </a:p>
          <a:p>
            <a:pPr algn="l" indent="0" marL="0">
              <a:buNone/>
            </a:pPr>
            <a:r>
              <a:rPr lang="en-US" sz="1250" dirty="0">
                <a:solidFill>
                  <a:srgbClr val="1E6B52"/>
                </a:solidFill>
                <a:latin typeface="Calibri" pitchFamily="34" charset="0"/>
                <a:cs typeface="Amiri" pitchFamily="2" charset="-78"/>
              </a:rPr>
              <a:t>subject → li’annahu / li’annahā</a:t>
            </a:r>
            <a:endParaRPr lang="en-US" sz="1250" dirty="0"/>
          </a:p>
          <a:p>
            <a:pPr algn="l" indent="0" marL="0">
              <a:buNone/>
            </a:pPr>
            <a:r>
              <a:rPr lang="en-US" sz="1250" dirty="0">
                <a:solidFill>
                  <a:srgbClr val="1E6B52"/>
                </a:solidFill>
                <a:latin typeface="Calibri" pitchFamily="34" charset="0"/>
                <a:cs typeface="Amiri" pitchFamily="2" charset="-78"/>
              </a:rPr>
              <a:t>because I → li’annanī</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أُحِبُّ الفَنَّ لِأَنَّهَا إِبْدَاعِيَّةٌ.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Art: which pronoun?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أُحِبُّ الرِّيَاضِيَّاتِ لِأَنَّهُ عَمَلِيٌّ.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Maths: which pattern?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لِأَنَّ أُحِبُّ القِرَاءَةَ.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I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أُحِبُّ الفَنَّ لِأَنَّهَا إِبْدَاعِيَّةٌ.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أُحِبُّ الفَنَّ لِأَنَّهُ إِبْدَاعِيٌّ.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SUBJECT (art, m.) controls the pronoun — not the speaker.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أُحِبُّ الرِّيَاضِيَّاتِ لِأَنَّهُ عَمَلِيٌّ.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أُحِبُّ الرِّيَاضِيَّاتِ لِأَنَّهَا عَمَلِيَّةٌ.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Maths takes the feminine reason pattern.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لِأَنَّ أُحِبُّ القِرَاءَةَ.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لِأَنَّنِي أُحِبُّ القِرَاءَةَ.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Because I … = li’annanī.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Layla explains her subject choices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Arabic?</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beautiful and important.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easy and short.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practical and organised.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prefer to history?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richer reason does she give for science?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reading.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uses a computer.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experiments.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not like physics very much?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difficult.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boring.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unimportant.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art?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useful and easy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creative and engaging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difficult and organised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columns: subject · opinion · li’annahu / li’annahā · adjective.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اِسْمِي لَيْلَى. أُحِبُّ اللُّغَةَ العَرَبِيَّةَ لِأَنَّهَا جَمِيلَةٌ وَمُهِمَّةٌ.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my name is Layla. I like Arabic because it is beautiful and important.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العُلُومَ عَلَى التَّارِيخِ لِأَنَّهَا مُفِيدَةٌ وَمُمْتِعَةٌ،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prefer science to history because it is useful and enjoyable,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وَلِأَنَّنِي أُحِبُّ التَّجَارِبَ.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because I like experiments.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أُحِبُّ الفِيزِيَاءَ كَثِيرًا لِأَنَّهَا صَعْبَةٌ فِي رَأْيِي، وَلَكِنِّي أَدْرُسُهَا.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like physics much because it is difficult in my opinion, but I study it.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الفَنَّ أَيْضًا لِأَنَّهُ إِبْدَاعِيٌّ وَشَيِّقٌ.</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also like art because it is creative and engaging.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Arabic?</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beautiful and important.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easy and short.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practical and organised.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جَمِيلَةٌ وَمُهِمَّةٌ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does she prefer to history?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prefers </a:t>
            </a:r>
            <a:pPr algn="l" indent="0" marL="0">
              <a:buNone/>
            </a:pPr>
            <a:r>
              <a:rPr lang="ar-SA" altLang="en-US" sz="1350" dirty="0">
                <a:solidFill>
                  <a:srgbClr val="8A6D1E"/>
                </a:solidFill>
                <a:latin typeface="Amiri" pitchFamily="2" charset="-78"/>
                <a:cs typeface="Amiri" pitchFamily="2" charset="-78"/>
              </a:rPr>
              <a:t>العُلُومَ</a:t>
            </a:r>
            <a:pPr algn="l" indent="0" marL="0">
              <a:buNone/>
            </a:pPr>
            <a:r>
              <a:rPr lang="en-US" sz="1050" i="1" dirty="0">
                <a:solidFill>
                  <a:srgbClr val="8A6D1E"/>
                </a:solidFill>
                <a:latin typeface="Calibri" pitchFamily="34" charset="0"/>
                <a:cs typeface="Amiri" pitchFamily="2" charset="-78"/>
              </a:rPr>
              <a:t> to history.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richer reason does she give for science?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likes reading.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uses a computer.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likes experiments.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لِأَنَّنِي أُحِبُّ التَّجَارِبَ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not like physics very much?</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difficult.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boring.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unimportant.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صَعْبَةٌ فِي رَأْيِي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describe art?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useful and easy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creative and engaging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difficult and organised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إِبْدَاعِيٌّ وَشَيِّقٌ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Four columns: subject · opinion · li’annahu / li’annahā · adjective.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Amir’s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أَمِيرٌ. أُحِبُّ التَّارِيخَ لِأَنَّهُ مُثِيرٌ لِلاهْتِمَامِ،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Amir · history — interesting (m.)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وَلِأَنَّنِي أُحِبُّ القِرَاءَةَ.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because he likes reading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عِلْمَ الحَاسُوبِ عَلَى الفَنِّ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Prefers computing to art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 عَمَلِيٌّ وَمُفِيدٌ.</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practical and useful (m.)</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أُحِبُّ المُوسِيقَى لِأَنَّهَا مُعَقَّدَةٌ فِي رَأْيِي.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Dislikes music — complicated (f.)</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Hana’s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اِسْمِي هَنَاءُ. مَادَّتِي المُفَضَّلَةُ هِيَ الفَنُّ</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Hana · favourite: art</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 إِبْدَاعِيٌّ وَمُمْتِعٌ.</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creative and enjoyable (m.)</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الرِّيَاضِيَّاتِ أَيْضًا لِأَنَّنِي أُحِبُّ حَلَّ المَسَائِلِ.</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 too — she likes solving problems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أُفَضِّلُ الجُغْرَافِيَا لِأَنَّهَا صَعْبَةٌ،</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geography — difficult</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وَلَكِنَّهَا مُهِمَّةٌ.</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important (balanced opinion)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Amir or Hana?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activity supports Amir’s history reason?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drawing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experiments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Amir describe computer science?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easy and boring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beautiful and important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practical and useful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Amir dislike music?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difficult.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complicated.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unimportant.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Hana like mathematics?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solving problems.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experiments.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balanced point does Hana add about geography?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enjoyable.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creative.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important.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subject,</a:t>
            </a:r>
            <a:endParaRPr lang="en-US" sz="1250" dirty="0"/>
          </a:p>
          <a:p>
            <a:pPr algn="l" indent="0" marL="0">
              <a:buNone/>
            </a:pPr>
            <a:r>
              <a:rPr lang="en-US" sz="1250" dirty="0">
                <a:solidFill>
                  <a:srgbClr val="1F2A37"/>
                </a:solidFill>
                <a:latin typeface="Calibri" pitchFamily="34" charset="0"/>
                <a:cs typeface="Amiri" pitchFamily="2" charset="-78"/>
              </a:rPr>
              <a:t>then read what comes</a:t>
            </a:r>
            <a:endParaRPr lang="en-US" sz="1250" dirty="0"/>
          </a:p>
          <a:p>
            <a:pPr algn="l" indent="0" marL="0">
              <a:buNone/>
            </a:pPr>
            <a:r>
              <a:rPr lang="en-US" sz="1250" dirty="0">
                <a:solidFill>
                  <a:srgbClr val="1F2A37"/>
                </a:solidFill>
                <a:latin typeface="Calibri" pitchFamily="34" charset="0"/>
                <a:cs typeface="Amiri" pitchFamily="2" charset="-78"/>
              </a:rPr>
              <a:t>after li’anna.</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activity supports Amir’s history reason?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drawing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experiments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لِأَنَّنِي أُحِبُّ القِرَاءَةَ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Amir describe computer science?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easy and boring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beautiful and important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practical and useful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عَمَلِيٌّ وَمُفِيدٌ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Amir dislike music?</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difficult.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complicated.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unimportant.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مُعَقَّدَةٌ فِي رَأْيِي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Hana like mathematics?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likes reading.</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likes solving problems.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likes experiments.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لِأَنَّنِي أُحِبُّ حَلَّ المَسَائِلِ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balanced point does Hana add about geography?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enjoyable.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creative.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important.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adds </a:t>
            </a:r>
            <a:pPr algn="l" indent="0" marL="0">
              <a:buNone/>
            </a:pPr>
            <a:r>
              <a:rPr lang="ar-SA" altLang="en-US" sz="1350" dirty="0">
                <a:solidFill>
                  <a:srgbClr val="8A6D1E"/>
                </a:solidFill>
                <a:latin typeface="Amiri" pitchFamily="2" charset="-78"/>
                <a:cs typeface="Amiri" pitchFamily="2" charset="-78"/>
              </a:rPr>
              <a:t>وَلَكِنَّهَا مُهِمَّةٌ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subject,</a:t>
            </a:r>
            <a:endParaRPr lang="en-US" sz="1250" dirty="0"/>
          </a:p>
          <a:p>
            <a:pPr algn="l" indent="0" marL="0">
              <a:buNone/>
            </a:pPr>
            <a:r>
              <a:rPr lang="en-US" sz="1250" dirty="0">
                <a:solidFill>
                  <a:srgbClr val="1F2A37"/>
                </a:solidFill>
                <a:latin typeface="Calibri" pitchFamily="34" charset="0"/>
                <a:cs typeface="Amiri" pitchFamily="2" charset="-78"/>
              </a:rPr>
              <a:t>then read what comes</a:t>
            </a:r>
            <a:endParaRPr lang="en-US" sz="1250" dirty="0"/>
          </a:p>
          <a:p>
            <a:pPr algn="l" indent="0" marL="0">
              <a:buNone/>
            </a:pPr>
            <a:r>
              <a:rPr lang="en-US" sz="1250" dirty="0">
                <a:solidFill>
                  <a:srgbClr val="1F2A37"/>
                </a:solidFill>
                <a:latin typeface="Calibri" pitchFamily="34" charset="0"/>
                <a:cs typeface="Amiri" pitchFamily="2" charset="-78"/>
              </a:rPr>
              <a:t>after li’anna.</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Hold a “Why?” subject conversation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تُحِبُّ الفَنَّ؟ / لِمَاذَا تُحِبِّينَ الفَنَّ؟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تُفَضِّلُ العُلُومَ؟ قَارِنْهَا بِمَادَّةٍ أُخْرَى.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المَادَّةُ الَّتِي لَا تُحِبُّهَا؟ وَلِمَاذَا؟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أَعْطِ رَأْيًا مُتَوَازِنًا عَنِ الرِّيَاضِيَّاتِ.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أُحِبُّ ___ لِأَنَّهُ / لِأَنَّهَا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أُفَضِّلُ ___ عَلَى ___ لِأَنَّهَا ___ ، وَلِأَنَّنِي ___ .</a:t>
            </a:r>
            <a:endParaRPr lang="ar-SA" sz="13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 أُحِبُّ ___ لِأَنَّهُ / لِأَنَّهَا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 لِأَنَّهَا ___ ، وَلَكِنَّهَا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لِمَاذَا تُحِبِّينَ العَرَبِيَّةَ؟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do you (f.) like Arabic?</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أُحِبُّهَا لِأَنَّهَا جَمِيلَةٌ وَمُهِمَّةٌ، وَلِأَنَّنِي أُحِبُّ القِرَاءَةَ. وَأَنْتِ؟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like it because it is beautiful and important, and because I like reading. And you?</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8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Five accurate li’annahu / li’annahā reasons.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accurate li’annahu / li’annahā reasons.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8–10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richer li’annanī reasons.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two richer li’annanī reasons and vary the adjectives.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wa-lākin to balance an opinion and explain both sides.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Balance an opinion with wa-lākin and explain both sides.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لِأَنَّنِي أُحِبُّ القِرَاءَةَ.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 like reading.</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لِأَنَّنِي أَتَعَلَّمُ أَشْيَاءَ جَدِيدَةً.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 learn new things.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لِأَنَّهُ يُسَاعِدُنِي عَلَى التَّفْكِيرِ.</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helps me think.</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وَلَكِنَّهَا مُهِمَّةٌ.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it is important.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العُلُومَ عَلَى التَّارِيخِ لِأَنَّهَا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science to history because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الفَنَّ لِأَنَّهُ إِبْدَاعِيٌّ.</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art because it is creative.</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العُلُومَ لِأَنَّهَا مُفِيدَةٌ.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science because it is useful.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أُحِبُّ التَّارِيخَ لِأَنَّهُ مُمِلٌّ.</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history because it is boring.</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الرِّيَاضِيَّاتِ لِأَنَّهَا عَمَلِيَّةٌ.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maths because it is practical.</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تُحِبِّينَ العَرَبِيَّةَ؟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Why do you (f.) like Arabic?</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لِمَاذَا؟  ·  لِأَنَّهُ  ·  لِأَنَّهَا  ·  لِأَنَّنِي  ·  وَلَكِنَّهَا  ·  سَهْلٌ / سَهْلَةٌ  ·  صَعْبٌ / صَعْبَةٌ  ·  مُفِيدٌ / مُفِيدَةٌ  ·  مُمْتِعٌ / مُمْتِعَةٌ  ·  مُهِمٌّ / مُهِمَّةٌ  ·  إِبْدَاعِيٌّ  ·  عَمَلِيَّةٌ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أُحِبُّ اللُّغَةَ العَرَبِيَّةَ لِأَنَّهَا جَمِيلَةٌ وَمُهِمَّةٌ. أُفَضِّلُ العُلُومَ عَلَى التَّارِيخِ لِأَنَّهَا مُفِيدَةٌ وَمُمْتِعَةٌ، وَلِأَنَّنِي أُحِبُّ التَّجَارِبَ. أُحِبُّ الفَنَّ أَيْضًا لِأَنَّهُ إِبْدَاعِيٌّ وَشَيِّقٌ. لَا أُحِبُّ الفِيزِيَاءَ كَثِيرًا لِأَنَّهَا صَعْبَةٌ فِي رَأْيِي، وَلَكِنَّهَا مُهِمَّةٌ.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Arabic because it is beautiful and important. I prefer science to history because it is useful and enjoyable, and because I like experiments. I also like art because it is creative and engaging. I don’t like physics much because it is difficult in my opinion, but it is important.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masculine reasons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reasons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because I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balanced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opinion has a reason.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subject chose li’annahu or li’annahā.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agrees with its subject.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a richer reason with li’annanī.</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one opinion with wa-lākin.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why she likes science.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تُحِبِّينَ العُلُومَ؟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تُحِبُّ العُلُومَ؟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 أُحِبُّ العُلُومَ؟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reason for mathematics.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عَمَلِيٌّ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عَمَلِيَّةٌ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عَمَلِيٌّ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Repair the agreement error.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الجُغْرَافِيَا لِأَنَّهَا مُهِمَّةٌ.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الجُغْرَافِيَا لِأَنَّهُ مُهِمٌّ.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الجُغْرَافِيَا لِأَنَّهَا مُهِمٌّ.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why she likes science.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لِمَاذَا تُحِبِّينَ العُلُومَ؟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لِمَاذَا تُحِبُّ العُلُومَ؟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لِمَاذَا أُحِبُّ العُلُومَ؟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تُحِبِّينَ</a:t>
            </a:r>
            <a:pPr algn="l" indent="0" marL="0">
              <a:buNone/>
            </a:pPr>
            <a:r>
              <a:rPr lang="en-US" sz="1050" i="1" dirty="0">
                <a:solidFill>
                  <a:srgbClr val="8A6D1E"/>
                </a:solidFill>
                <a:latin typeface="Calibri" pitchFamily="34" charset="0"/>
                <a:cs typeface="Amiri" pitchFamily="2" charset="-78"/>
              </a:rPr>
              <a:t> for one female listener.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reason for mathematics.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لِأَنَّهُ عَمَلِيٌّ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لِأَنَّهَا عَمَلِيَّةٌ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لِأَنَّهَا عَمَلِيٌّ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Mathematics uses the feminine singular pattern.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Repair the agreement error.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أُحِبُّ الجُغْرَافِيَا لِأَنَّهَا مُهِمَّةٌ.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أُحِبُّ الجُغْرَافِيَا لِأَنَّهُ مُهِمٌّ.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أُحِبُّ الجُغْرَافِيَا لِأَنَّهَا مُهِمٌّ.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the pronoun and adjective are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F4-L05 · Giving Reasons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F4-L06 · School Rules and Obligations — Must and Must Not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قَاعِدَةٌ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rule</a:t>
            </a:r>
            <a:pPr indent="0" marL="0">
              <a:buNone/>
            </a:pPr>
            <a:r>
              <a:rPr lang="en-US" sz="1000" i="1" dirty="0">
                <a:solidFill>
                  <a:srgbClr val="5A6472"/>
                </a:solidFill>
                <a:latin typeface="Calibri" pitchFamily="34" charset="0"/>
                <a:cs typeface="Amiri" pitchFamily="2" charset="-78"/>
              </a:rPr>
              <a:t>  pl. قَوَاعِدُ</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must …</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 يَجُوزُ</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not allowed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مَمْنُوعٌ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forbidden</a:t>
            </a:r>
            <a:pPr indent="0" marL="0">
              <a:buNone/>
            </a:pPr>
            <a:r>
              <a:rPr lang="en-US" sz="1000" i="1" dirty="0">
                <a:solidFill>
                  <a:srgbClr val="5A6472"/>
                </a:solidFill>
                <a:latin typeface="Calibri" pitchFamily="34" charset="0"/>
                <a:cs typeface="Amiri" pitchFamily="2" charset="-78"/>
              </a:rPr>
              <a:t>  f. مَمْنُوعَةٌ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اللِّبَاسُ المَدْرَسِيُّ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school uniform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rule from your school in English. Can you say it in Arabic next lesson?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قَاعِدَةٌ مِنْ مَدْرَسَتِي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F4-L05: the Why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justified-opinion builder: six opinions with four different adjectives.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8–10 justified opinions including one balanced opinion.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F4-L06 · School Rules and Obligations — Must and Must Not</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القَوَاعِدُ المَدْرَسِيَّةُ — يَجِبُ وَلَا يَجُوزُ</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listener → tuḥibbu / tuḥibbīna · the subject → li’annahu / li’annahā.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F4-L05 · Giving Reasons — Why?</dc:title>
  <dc:subject>PptxGenJS Presentation</dc:subject>
  <dc:creator>Al Madina Online School · Arabic Department</dc:creator>
  <cp:lastModifiedBy>Al Madina Online School · Arabic Department</cp:lastModifiedBy>
  <cp:revision>1</cp:revision>
  <dcterms:created xsi:type="dcterms:W3CDTF">2026-10-11T06:41:38Z</dcterms:created>
  <dcterms:modified xsi:type="dcterms:W3CDTF">2026-10-11T06:41:38Z</dcterms:modified>
</cp:coreProperties>
</file>