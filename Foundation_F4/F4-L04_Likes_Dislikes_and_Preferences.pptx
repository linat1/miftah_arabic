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4 (F4-L04). Website sections used: the eight-question F4 retrieval bridge and “a complete answer”, the preference-language bank (verbs, openers, intensity and comparison words, word-order rules) and the 14-question check, asking a boy or a girl (12), comparing two subjects with reason agreement (14), the opinion profile builder, the Preference Mission (14), Noor, Omar and Salma (listening, 10), Yusuf, Hanan and the class survey (reading, 12), the preference conversation (4 prompts), the 7–9-sentence report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أُحِبُّ / لَا أُحِبُّ + كَثِيرًا / قَلِيلًا + مَادَّتِي المُفَضَّلَةُ. Develop: asking a boy or a girl, أُفَضِّلُ … عَلَى … and two reasons. Stretch: أَكْثَرَ / أَقَلَّ مِنْ and reporting others (يُحِبُّ / تُحِبُّ / يُفَضِّلُ / تُفَضِّلُ).
• Website “a complete answer”: subject + degree or comparison + a reason when appropriate.
• Opinions are personal: accept honest dislikes of subjects respectfully — the task is accuracy, not agreement. Students may also invent a fictional learner (website).
• Urdu bridge: پسند (like) — Arabic uses أُحِبُّ; فضیلت / افضل (excellence, better) share the root of أُفَضِّلُ; زیادہ ≈ أَكْثَرُ (different word); خصوصاً = خُصُوصًا.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phrases prepared at home at the end of F4-L03. Questions 3–5 are the website “F4 retrieval bridge” (asking a girl, the feminine reason, but).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complete opinion = subject + how much (or a comparison) + a reason. The degree word goes AFTER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افضل / فضیلت (best, excellence) share the root of أُفَضِّلُ (I prefer); خصوصاً، رائے، عملی and مفید are shared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PREFERENCE BANK (website). Also: مَادَّتِي المُفَضَّلَةُ (my favourite subject), بِالنِّسْبَةِ إِلَيَّ (as for me — Stretch opener). Website rules: place the degree AFTER the subject (أُحِبُّ الفَنَّ جِدًّا · أُحِبُّ المُوسِيقَى كَثِيرًا · أُحِبُّ الفَلْسَفَةَ قَلِيلًا); negation stays BEFORE the verb (لَا أُحِبُّ التَّارِيخَ) — do not split لَا أُحِبُّ.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REASON ADJECTIVES (website, 14): سَهْلٌ، صَعْبٌ، مُفِيدٌ، مُمْتِعٌ، مُمِلٌّ، مُهِمٌّ، مُثِيرٌ لِلاهْتِمَامِ، شَيِّقٌ، عَمَلِيٌّ، إِبْدَاعِيٌّ، مُفَضَّلٌ، مُعَقَّدٌ — each with a feminine form (+ـةٌ). New today: إِبْدَاعِيٌّ، عَمَلِيٌّ، مُعَقَّدٌ.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3 “Ask another learner about preferences”. The answer returns to the first person (أُحِبُّ، مَادَّتِي).
Reporting (Stretch, website): هُوَ يُحِبُّ … · هِيَ تُفَضِّلُ … · عُمَرُ يُحِبُّ التَّارِيخَ جِدًّا · سَلْمَى تُفَضِّلُ اللُّغَةَ العَرَبِيَّةَ.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4 “Compare two subjects accurately”: Pattern A أُفَضِّلُ … عَلَى … and Pattern B أُحِبُّ … أَكْثَرَ مِنْ … ; reason adjectives choose the matching gender (أُحِبُّ الفَنَّ لِأَنَّهُ إِبْدَاعِيٌّ · أُحِبُّ الجُغْرَافِيَا لِأَنَّهَا مُفِيدَةٌ).
Website complete answer: أُحِبُّ العُلُومَ كَثِيرًا، وَأُفَضِّلُ الكِيمِيَاءَ عَلَى الفِيزِيَاءِ؛ لِأَنَّهَا مُثِيرَةٌ لِلاهْتِمَامِ.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preference check question 6, ask-and-answer questions 2 and 8, and comparison check question 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(Noor) as the model. Think aloud at every step: “Where does the degree go? Which subject do I prefer — so which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Likes and dislikes”)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general likes, not school subjects). Follow-up: make each one about a school subject — أُحِبُّ الفَنَّ · لَا أُحِبُّ الفِيزِيَاءَ · أُفَضِّلُ العُلُومَ عَلَى التَّارِيخِ.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Likes and dislikes”)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general likes, not school subjects). Follow-up: make each one about a school subject — أُحِبُّ الفَنَّ · لَا أُحِبُّ الفِيزِيَاءَ · أُفَضِّلُ العُلُومَ عَلَى التَّارِيخِ.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Preference Mission rounds (female listener, prefer, more than, reason for art, report her).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student says the complete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نُورٌ: أَدْرُسُ مَوَادَّ كَثِيرَةً فِي المَدْرَسَةِ. أُحِبُّ العُلُومَ كَثِيرًا لِأَنَّهَا مُثِيرَةٌ لِلاهْتِمَامِ، وَأُفَضِّلُ الكِيمِيَاءَ عَلَى الفِيزِيَاءِ. أُحِبُّ الفَنَّ قَلِيلًا، وَلَكِنِّي لَا أُحِبُّ التَّارِيخَ لِأَنَّهُ مُمِلٌّ فِي رَأْيِي. صَدِيقِي عُمَرُ يُحِبُّ التَّارِيخَ جِدًّا، وَهُوَ يُفَضِّلُهُ عَلَى الجُغْرَافِيَا. أَمَّا صَدِيقَتِي سَلْمَى فَتُفَضِّلُ اللُّغَةَ العَرَبِيَّةَ لِأَنَّهَا مُهِمَّةٌ وَجَمِيلَةٌ.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Find: two degree words, one comparison and two reasons with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B (website, complete) — Pattern B (أَكْثَرَ مِنْ). The website also shows a six-student class survey (science most liked, history most disliked, maths split evenly) — use it on the website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4, 6 and 7. The survey questions (9–12) are on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“Hold a subject-preference conversation” — answer in complete sentences, ask a follow-up question and compare two subjects. Prompts (website):
• My subject preferences: Give a strong like, a dislike and one reason.
• Compare two subjects: Use both comparison patterns.
• Interview a classmate: Ask a male or female listener three preference questions.
• Report two learners: Use he and she forms to report preferences.
Website checklist (1–6): أُحِبُّ · لَا أُحِبُّ · a degree word · أُفَضِّلُ … عَلَى · accurate reason agreement · one follow-up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sentences using the models. · Develop — Three preference verbs, two degrees and two reasons. · Stretch — Report another learner: yuḥibbu / tuḥibbu / yufaḍḍilu / tufaḍḍilu.
Website writing task (Stretch): Website writing task: a 7–9-sentence report on your own (or a fictional learner’s) subject preferences — a strong like with a degree, a dislike, a comparison and two reasons.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The website listening (Noor) as a model report. Stretch: add Pattern B (أَكْثَرَ مِنْ) from Hanan’s profile.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(F4-L05 · Giving Reasons — Why?) will spend class time USING this language, so students prepare it tonight — short, simple, easy to access (school guidance: “Simple, Short, Interesting, Relevant, Easy to access”). The five words come from the website F4-L05 reason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00" b="1" dirty="0">
                <a:solidFill>
                  <a:srgbClr val="FFFFFF"/>
                </a:solidFill>
                <a:latin typeface="Cambria" pitchFamily="34" charset="0"/>
                <a:cs typeface="Amiri" pitchFamily="2" charset="-78"/>
              </a:rPr>
              <a:t>Likes, Dislikes and Preferences</a:t>
            </a:r>
            <a:endParaRPr lang="en-US" sz="35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مَا أُحِبُّ وَمَا لَا أُحِبُّ وَمَا أُفَضِّلُ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how strongly you like a subject, ask a boy or a girl about their preferences, compare two subjects and report another person’s opinion.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F4-L04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Like, dislike, prefer and how much, then compare two subjects.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Preference mission, listen to Noor, read Yusuf and Hanan.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كَثِيرًا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little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فِي رَأْيِي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opinion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bag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my desk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“What do you study?”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reason pattern.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لِأَنِّي مُفِيدٌ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مُفِيدَةٌ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connector “but”.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كَثِيرًا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little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lot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فِي رَأْيِي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my opinion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my bag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my desk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“What do you study?”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تَدْرُسَانِ؟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تَدْرُسِينَ؟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female-listener form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reason pattern.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مُفِيدٌ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لِأَنِّي مُفِيدٌ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مُفِيدَةٌ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subject takes </a:t>
            </a:r>
            <a:pPr algn="l" indent="0" marL="0">
              <a:buNone/>
            </a:pPr>
            <a:r>
              <a:rPr lang="ar-SA" altLang="en-US" sz="1350" dirty="0">
                <a:solidFill>
                  <a:srgbClr val="8A6D1E"/>
                </a:solidFill>
                <a:latin typeface="Amiri" pitchFamily="2" charset="-78"/>
                <a:ea typeface="Amiri" pitchFamily="2" charset="-78"/>
                <a:cs typeface="Amiri" pitchFamily="2" charset="-78"/>
              </a:rPr>
              <a:t>لِأَنَّهَا</a:t>
            </a:r>
            <a:pPr algn="l" indent="0" marL="0">
              <a:buNone/>
            </a:pPr>
            <a:r>
              <a:rPr lang="en-US" sz="1050" i="1" dirty="0">
                <a:solidFill>
                  <a:srgbClr val="8A6D1E"/>
                </a:solidFill>
                <a:latin typeface="Calibri" pitchFamily="34" charset="0"/>
                <a:cs typeface="Amiri" pitchFamily="2" charset="-78"/>
              </a:rPr>
              <a:t> and a feminine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connector “but”.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introduces a contrast.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complete opinion = subject + how much (or a comparison) + a reason. The degree word goes AFTER the subject.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أُحِبُّ العُلُومَ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كَثِيرًا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وَأُفَضِّلُ الكِيمِيَاءَ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عَلَى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الفِيزِيَاءِ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uḥibbu, lā uḥibbu and ufaḍḍilu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Show degree with jiddan, kathīran and qalīlan.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one male or female listener about preferences.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subjects and report another person’s opinion.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like and don’t like.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 lot / a little.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like.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I prefer X to Y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say I like X more than 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report what a friend likes.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Preference verbs, degree words and comparisons. Core: like, don’t like, prefer, a lot, a little.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Preference verbs + openers</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Degree · comparison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Reason adjectives · 14</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أُفَضِّلُ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‎افضل‎ </a:t>
            </a:r>
            <a:pPr indent="0" marL="0">
              <a:buNone/>
            </a:pPr>
            <a:r>
              <a:rPr lang="en-US" sz="950" b="1" dirty="0">
                <a:solidFill>
                  <a:srgbClr val="2E8B57"/>
                </a:solidFill>
                <a:latin typeface="Calibri" pitchFamily="34" charset="0"/>
                <a:cs typeface="Amiri" pitchFamily="2" charset="-78"/>
              </a:rPr>
              <a:t> ufaḍḍilu · I prefer (Urdu: best)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خُصُوصًا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‎خصوصاً‎ </a:t>
            </a:r>
            <a:pPr indent="0" marL="0">
              <a:buNone/>
            </a:pPr>
            <a:r>
              <a:rPr lang="en-US" sz="950" b="1" dirty="0">
                <a:solidFill>
                  <a:srgbClr val="2E8B57"/>
                </a:solidFill>
                <a:latin typeface="Calibri" pitchFamily="34" charset="0"/>
                <a:cs typeface="Amiri" pitchFamily="2" charset="-78"/>
              </a:rPr>
              <a:t> khuṣūṣan · especially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رَأْيٌ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ra’y · opinion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عَمَلِيٌّ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‎عملی‎ </a:t>
            </a:r>
            <a:pPr indent="0" marL="0">
              <a:buNone/>
            </a:pPr>
            <a:r>
              <a:rPr lang="en-US" sz="950" b="1" dirty="0">
                <a:solidFill>
                  <a:srgbClr val="2E8B57"/>
                </a:solidFill>
                <a:latin typeface="Calibri" pitchFamily="34" charset="0"/>
                <a:cs typeface="Amiri" pitchFamily="2" charset="-78"/>
              </a:rPr>
              <a:t> ‘amaliyy · practical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مُفِيدٌ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‎مفید‎ </a:t>
            </a:r>
            <a:pPr indent="0" marL="0">
              <a:buNone/>
            </a:pPr>
            <a:r>
              <a:rPr lang="en-US" sz="950" b="1" dirty="0">
                <a:solidFill>
                  <a:srgbClr val="2E8B57"/>
                </a:solidFill>
                <a:latin typeface="Calibri" pitchFamily="34" charset="0"/>
                <a:cs typeface="Amiri" pitchFamily="2" charset="-78"/>
              </a:rPr>
              <a:t> mufīd · useful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1–2 · PREFERENCE AND DEGREE (WEBSITE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Like, prefer, a lot, a little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أُحِبُّ · لَا أُحِبُّ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like · I do not like</a:t>
            </a:r>
            <a:endParaRPr lang="en-US" sz="1350" dirty="0"/>
          </a:p>
          <a:p>
            <a:pPr indent="0" marL="0">
              <a:buNone/>
            </a:pPr>
            <a:r>
              <a:rPr lang="en-US" sz="1100" i="1" dirty="0">
                <a:solidFill>
                  <a:srgbClr val="5A6472"/>
                </a:solidFill>
                <a:latin typeface="Calibri" pitchFamily="34" charset="0"/>
                <a:cs typeface="Amiri" pitchFamily="2" charset="-78"/>
              </a:rPr>
              <a:t>u-ḥib-bu · lā u-ḥib-bu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prefer</a:t>
            </a:r>
            <a:endParaRPr lang="en-US" sz="1350" dirty="0"/>
          </a:p>
          <a:p>
            <a:pPr indent="0" marL="0">
              <a:buNone/>
            </a:pPr>
            <a:r>
              <a:rPr lang="en-US" sz="1100" i="1" dirty="0">
                <a:solidFill>
                  <a:srgbClr val="5A6472"/>
                </a:solidFill>
                <a:latin typeface="Calibri" pitchFamily="34" charset="0"/>
                <a:cs typeface="Amiri" pitchFamily="2" charset="-78"/>
              </a:rPr>
              <a:t>u-faḍ-ḍi-lu</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أُفَضِّلُ … عَلَى …</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9" name="Shape 36"/>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degree</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جِدًّا · كَثِيرًا</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very much · a lot</a:t>
            </a:r>
            <a:endParaRPr lang="en-US" sz="1350" dirty="0"/>
          </a:p>
          <a:p>
            <a:pPr indent="0" marL="0">
              <a:buNone/>
            </a:pPr>
            <a:r>
              <a:rPr lang="en-US" sz="1100" i="1" dirty="0">
                <a:solidFill>
                  <a:srgbClr val="5A6472"/>
                </a:solidFill>
                <a:latin typeface="Calibri" pitchFamily="34" charset="0"/>
                <a:cs typeface="Amiri" pitchFamily="2" charset="-78"/>
              </a:rPr>
              <a:t>jid-dan · ka-thī-ran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degree</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قَلِيلًا</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little</a:t>
            </a:r>
            <a:endParaRPr lang="en-US" sz="1350" dirty="0"/>
          </a:p>
          <a:p>
            <a:pPr indent="0" marL="0">
              <a:buNone/>
            </a:pPr>
            <a:r>
              <a:rPr lang="en-US" sz="1100" i="1" dirty="0">
                <a:solidFill>
                  <a:srgbClr val="5A6472"/>
                </a:solidFill>
                <a:latin typeface="Calibri" pitchFamily="34" charset="0"/>
                <a:cs typeface="Amiri" pitchFamily="2" charset="-78"/>
              </a:rPr>
              <a:t>qa-lī-lan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compare</a:t>
            </a:r>
            <a:endParaRPr lang="en-US" sz="800" dirty="0"/>
          </a:p>
        </p:txBody>
      </p:sp>
      <p:sp>
        <p:nvSpPr>
          <p:cNvPr id="59" name="Text 56"/>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أَقَلَّ</a:t>
            </a:r>
            <a:endParaRPr lang="ar-SA" sz="3000" dirty="0"/>
          </a:p>
        </p:txBody>
      </p:sp>
      <p:sp>
        <p:nvSpPr>
          <p:cNvPr id="60" name="Text 57"/>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less</a:t>
            </a:r>
            <a:endParaRPr lang="en-US" sz="1350" dirty="0"/>
          </a:p>
          <a:p>
            <a:pPr indent="0" marL="0">
              <a:buNone/>
            </a:pPr>
            <a:r>
              <a:rPr lang="en-US" sz="1100" i="1" dirty="0">
                <a:solidFill>
                  <a:srgbClr val="5A6472"/>
                </a:solidFill>
                <a:latin typeface="Calibri" pitchFamily="34" charset="0"/>
                <a:cs typeface="Amiri" pitchFamily="2" charset="-78"/>
              </a:rPr>
              <a:t>ak-tha-ra · a-qal-la</a:t>
            </a:r>
            <a:endParaRPr lang="en-US" sz="1350" dirty="0"/>
          </a:p>
        </p:txBody>
      </p:sp>
      <p:sp>
        <p:nvSpPr>
          <p:cNvPr id="61" name="Shape 58"/>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than</a:t>
            </a:r>
            <a:endParaRPr lang="en-US" sz="700" dirty="0"/>
          </a:p>
        </p:txBody>
      </p:sp>
      <p:sp>
        <p:nvSpPr>
          <p:cNvPr id="63" name="Text 60"/>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أَكْثَرَ مِنْ …</a:t>
            </a:r>
            <a:endParaRPr lang="ar-SA" sz="1350" dirty="0"/>
          </a:p>
        </p:txBody>
      </p:sp>
      <p:sp>
        <p:nvSpPr>
          <p:cNvPr id="64" name="Shape 6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566928"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7" name="Shape 64"/>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openers</a:t>
            </a:r>
            <a:endParaRPr lang="en-US" sz="800" dirty="0"/>
          </a:p>
        </p:txBody>
      </p:sp>
      <p:sp>
        <p:nvSpPr>
          <p:cNvPr id="69" name="Text 6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 · خُصُوصًا</a:t>
            </a:r>
            <a:endParaRPr lang="ar-SA" sz="3000" dirty="0"/>
          </a:p>
        </p:txBody>
      </p:sp>
      <p:sp>
        <p:nvSpPr>
          <p:cNvPr id="70" name="Text 6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 · especially</a:t>
            </a:r>
            <a:endParaRPr lang="en-US" sz="1350" dirty="0"/>
          </a:p>
          <a:p>
            <a:pPr indent="0" marL="0">
              <a:buNone/>
            </a:pPr>
            <a:r>
              <a:rPr lang="en-US" sz="1100" i="1" dirty="0">
                <a:solidFill>
                  <a:srgbClr val="5A6472"/>
                </a:solidFill>
                <a:latin typeface="Calibri" pitchFamily="34" charset="0"/>
                <a:cs typeface="Amiri" pitchFamily="2" charset="-78"/>
              </a:rPr>
              <a:t>fī ra’-yī · khu-ṣū-ṣan</a:t>
            </a:r>
            <a:endParaRPr lang="en-US"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REASON ADJECTIVES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Creative, practical, complicated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صِفَاتُ 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إِبْدَاعِيٌّ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creative</a:t>
            </a:r>
            <a:endParaRPr lang="en-US" sz="1350" dirty="0"/>
          </a:p>
          <a:p>
            <a:pPr indent="0" marL="0">
              <a:buNone/>
            </a:pPr>
            <a:r>
              <a:rPr lang="en-US" sz="1100" i="1" dirty="0">
                <a:solidFill>
                  <a:srgbClr val="5A6472"/>
                </a:solidFill>
                <a:latin typeface="Calibri" pitchFamily="34" charset="0"/>
                <a:cs typeface="Amiri" pitchFamily="2" charset="-78"/>
              </a:rPr>
              <a:t>ib-dā-‘iyy</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إِبْدَاعِيَّةٌ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إِبْدَاعِيٌّ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عَمَلِيٌّ</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‘a-ma-liyy</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عَمَلِيَّةٌ</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عَمَلِيٌّ</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مُعَقَّدٌ</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complicated</a:t>
            </a:r>
            <a:endParaRPr lang="en-US" sz="1350" dirty="0"/>
          </a:p>
          <a:p>
            <a:pPr indent="0" marL="0">
              <a:buNone/>
            </a:pPr>
            <a:r>
              <a:rPr lang="en-US" sz="1100" i="1" dirty="0">
                <a:solidFill>
                  <a:srgbClr val="5A6472"/>
                </a:solidFill>
                <a:latin typeface="Calibri" pitchFamily="34" charset="0"/>
                <a:cs typeface="Amiri" pitchFamily="2" charset="-78"/>
              </a:rPr>
              <a:t>mu-‘aq-qad</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مُعَقَّدَةٌ</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مُعَقَّدٌ</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مُثِيرٌ لِلاهْتِمَامِ</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interesting</a:t>
            </a:r>
            <a:endParaRPr lang="en-US" sz="1350" dirty="0"/>
          </a:p>
          <a:p>
            <a:pPr indent="0" marL="0">
              <a:buNone/>
            </a:pPr>
            <a:r>
              <a:rPr lang="en-US" sz="1100" i="1" dirty="0">
                <a:solidFill>
                  <a:srgbClr val="5A6472"/>
                </a:solidFill>
                <a:latin typeface="Calibri" pitchFamily="34" charset="0"/>
                <a:cs typeface="Amiri" pitchFamily="2" charset="-78"/>
              </a:rPr>
              <a:t>mu-thīr lil-ih-ti-mām</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مُثِيرَةٌ</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مُثِيرٌ</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4" name="Shape 7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6" name="Shape 7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مُمْتِعٌ</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مُمْتِعَةٌ</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1" name="Shape 8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مُمِلٌّ</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boring</a:t>
            </a:r>
            <a:endParaRPr lang="en-US" sz="1350" dirty="0"/>
          </a:p>
          <a:p>
            <a:pPr indent="0" marL="0">
              <a:buNone/>
            </a:pPr>
            <a:r>
              <a:rPr lang="en-US" sz="1100" i="1" dirty="0">
                <a:solidFill>
                  <a:srgbClr val="5A6472"/>
                </a:solidFill>
                <a:latin typeface="Calibri" pitchFamily="34" charset="0"/>
                <a:cs typeface="Amiri" pitchFamily="2" charset="-78"/>
              </a:rPr>
              <a:t>mu-mill</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مُمِلَّةٌ</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مُمِلٌّ</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ASK A BOY, ASK A GIRL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listener controls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اِسْأَلْ زَمِيلًا أَوْ زَمِيلَةً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one male</a:t>
            </a:r>
            <a:endParaRPr lang="en-US" sz="1100" dirty="0"/>
          </a:p>
        </p:txBody>
      </p:sp>
      <p:sp>
        <p:nvSpPr>
          <p:cNvPr id="17" name="Text 14"/>
          <p:cNvSpPr txBox="1"/>
          <p:nvPr/>
        </p:nvSpPr>
        <p:spPr>
          <a:xfrm>
            <a:off x="36667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one female</a:t>
            </a:r>
            <a:endParaRPr lang="en-US" sz="1100" dirty="0"/>
          </a:p>
        </p:txBody>
      </p:sp>
      <p:sp>
        <p:nvSpPr>
          <p:cNvPr id="18" name="Text 15"/>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تُحِبُّ العُلُومَ؟</a:t>
            </a:r>
            <a:endParaRPr lang="ar-SA" sz="2200" dirty="0"/>
          </a:p>
        </p:txBody>
      </p:sp>
      <p:sp>
        <p:nvSpPr>
          <p:cNvPr id="21" name="Text 18"/>
          <p:cNvSpPr txBox="1"/>
          <p:nvPr/>
        </p:nvSpPr>
        <p:spPr>
          <a:xfrm>
            <a:off x="3685032"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تُحِبِّ</a:t>
            </a:r>
            <a:pPr rtl="1" algn="ctr" indent="0" marL="0">
              <a:buNone/>
            </a:pPr>
            <a:r>
              <a:rPr lang="ar-SA" altLang="en-US" sz="2200" b="1" dirty="0">
                <a:solidFill>
                  <a:srgbClr val="D6336C"/>
                </a:solidFill>
                <a:latin typeface="Amiri" pitchFamily="2" charset="-78"/>
                <a:ea typeface="Amiri" pitchFamily="2" charset="-78"/>
                <a:cs typeface="Amiri" pitchFamily="2" charset="-78"/>
              </a:rPr>
              <a:t>ينَ</a:t>
            </a:r>
            <a:pPr rtl="1" algn="ctr" indent="0" marL="0">
              <a:buNone/>
            </a:pPr>
            <a:r>
              <a:rPr lang="ar-SA" altLang="en-US" sz="2200" b="1" dirty="0">
                <a:solidFill>
                  <a:srgbClr val="1B3B6F"/>
                </a:solidFill>
                <a:latin typeface="Amiri" pitchFamily="2" charset="-78"/>
                <a:ea typeface="Amiri" pitchFamily="2" charset="-78"/>
                <a:cs typeface="Amiri" pitchFamily="2" charset="-78"/>
              </a:rPr>
              <a:t> العُلُومَ؟</a:t>
            </a:r>
            <a:endParaRPr lang="ar-SA" sz="2200" dirty="0"/>
          </a:p>
        </p:txBody>
      </p:sp>
      <p:sp>
        <p:nvSpPr>
          <p:cNvPr id="22" name="Text 19"/>
          <p:cNvSpPr txBox="1"/>
          <p:nvPr/>
        </p:nvSpPr>
        <p:spPr>
          <a:xfrm>
            <a:off x="566928" y="2267712"/>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like science?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مَادَّتُكَ المُفَضَّلَةُ؟</a:t>
            </a:r>
            <a:endParaRPr lang="ar-SA" sz="2200" dirty="0"/>
          </a:p>
        </p:txBody>
      </p:sp>
      <p:sp>
        <p:nvSpPr>
          <p:cNvPr id="27" name="Text 24"/>
          <p:cNvSpPr txBox="1"/>
          <p:nvPr/>
        </p:nvSpPr>
        <p:spPr>
          <a:xfrm>
            <a:off x="3685032"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مَادَّتُ</a:t>
            </a:r>
            <a:pPr rtl="1" algn="ctr" indent="0" marL="0">
              <a:buNone/>
            </a:pPr>
            <a:r>
              <a:rPr lang="ar-SA" altLang="en-US" sz="2200" b="1" dirty="0">
                <a:solidFill>
                  <a:srgbClr val="D6336C"/>
                </a:solidFill>
                <a:latin typeface="Amiri" pitchFamily="2" charset="-78"/>
                <a:ea typeface="Amiri" pitchFamily="2" charset="-78"/>
                <a:cs typeface="Amiri" pitchFamily="2" charset="-78"/>
              </a:rPr>
              <a:t>كِ</a:t>
            </a:r>
            <a:pPr rtl="1" algn="ctr" indent="0" marL="0">
              <a:buNone/>
            </a:pPr>
            <a:r>
              <a:rPr lang="ar-SA" altLang="en-US" sz="2200" b="1" dirty="0">
                <a:solidFill>
                  <a:srgbClr val="1B3B6F"/>
                </a:solidFill>
                <a:latin typeface="Amiri" pitchFamily="2" charset="-78"/>
                <a:ea typeface="Amiri" pitchFamily="2" charset="-78"/>
                <a:cs typeface="Amiri" pitchFamily="2" charset="-78"/>
              </a:rPr>
              <a:t> المُفَضَّلَةُ؟</a:t>
            </a:r>
            <a:endParaRPr lang="ar-SA" sz="2200" dirty="0"/>
          </a:p>
        </p:txBody>
      </p:sp>
      <p:sp>
        <p:nvSpPr>
          <p:cNvPr id="28" name="Text 25"/>
          <p:cNvSpPr txBox="1"/>
          <p:nvPr/>
        </p:nvSpPr>
        <p:spPr>
          <a:xfrm>
            <a:off x="566928" y="300471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favourite subject?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 مَادَّةٍ تُفَضِّلُ؟</a:t>
            </a:r>
            <a:endParaRPr lang="ar-SA" sz="2200" dirty="0"/>
          </a:p>
        </p:txBody>
      </p:sp>
      <p:sp>
        <p:nvSpPr>
          <p:cNvPr id="33" name="Text 30"/>
          <p:cNvSpPr txBox="1"/>
          <p:nvPr/>
        </p:nvSpPr>
        <p:spPr>
          <a:xfrm>
            <a:off x="3685032"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 مَادَّةٍ تُفَضِّلِ</a:t>
            </a:r>
            <a:pPr rtl="1" algn="ctr" indent="0" marL="0">
              <a:buNone/>
            </a:pPr>
            <a:r>
              <a:rPr lang="ar-SA" altLang="en-US" sz="2200" b="1" dirty="0">
                <a:solidFill>
                  <a:srgbClr val="D6336C"/>
                </a:solidFill>
                <a:latin typeface="Amiri" pitchFamily="2" charset="-78"/>
                <a:ea typeface="Amiri" pitchFamily="2" charset="-78"/>
                <a:cs typeface="Amiri" pitchFamily="2" charset="-78"/>
              </a:rPr>
              <a:t>ينَ</a:t>
            </a:r>
            <a:pPr rtl="1" algn="ctr" indent="0" marL="0">
              <a:buNone/>
            </a:pPr>
            <a:r>
              <a:rPr lang="ar-SA" altLang="en-US" sz="2200" b="1" dirty="0">
                <a:solidFill>
                  <a:srgbClr val="1B3B6F"/>
                </a:solidFill>
                <a:latin typeface="Amiri" pitchFamily="2" charset="-78"/>
                <a:ea typeface="Amiri" pitchFamily="2" charset="-78"/>
                <a:cs typeface="Amiri" pitchFamily="2" charset="-78"/>
              </a:rPr>
              <a:t>؟</a:t>
            </a:r>
            <a:endParaRPr lang="ar-SA" sz="2200" dirty="0"/>
          </a:p>
        </p:txBody>
      </p:sp>
      <p:sp>
        <p:nvSpPr>
          <p:cNvPr id="34" name="Text 31"/>
          <p:cNvSpPr txBox="1"/>
          <p:nvPr/>
        </p:nvSpPr>
        <p:spPr>
          <a:xfrm>
            <a:off x="566928" y="3741725"/>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subject do you prefer?</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نَعَمْ، أُحِبُّ العُلُومَ كَثِيرًا.</a:t>
            </a:r>
            <a:endParaRPr lang="ar-SA" sz="2200" dirty="0"/>
          </a:p>
        </p:txBody>
      </p:sp>
      <p:sp>
        <p:nvSpPr>
          <p:cNvPr id="37" name="Text 34"/>
          <p:cNvSpPr txBox="1"/>
          <p:nvPr/>
        </p:nvSpPr>
        <p:spPr>
          <a:xfrm>
            <a:off x="3685032"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لَا أُحِبُّ الفِيزِيَاءَ.</a:t>
            </a:r>
            <a:endParaRPr lang="ar-SA" sz="2200" dirty="0"/>
          </a:p>
        </p:txBody>
      </p:sp>
      <p:sp>
        <p:nvSpPr>
          <p:cNvPr id="38" name="Text 35"/>
          <p:cNvSpPr txBox="1"/>
          <p:nvPr/>
        </p:nvSpPr>
        <p:spPr>
          <a:xfrm>
            <a:off x="566928" y="4478731"/>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in the first person</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يُحِبُّ التَّارِيخَ.</a:t>
            </a:r>
            <a:endParaRPr lang="ar-SA" sz="2200" dirty="0"/>
          </a:p>
        </p:txBody>
      </p:sp>
      <p:sp>
        <p:nvSpPr>
          <p:cNvPr id="43" name="Text 40"/>
          <p:cNvSpPr txBox="1"/>
          <p:nvPr/>
        </p:nvSpPr>
        <p:spPr>
          <a:xfrm>
            <a:off x="3685032"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تُفَضِّلُ العَرَبِيَّةَ.</a:t>
            </a:r>
            <a:endParaRPr lang="ar-SA" sz="2200" dirty="0"/>
          </a:p>
        </p:txBody>
      </p:sp>
      <p:sp>
        <p:nvSpPr>
          <p:cNvPr id="44" name="Text 41"/>
          <p:cNvSpPr txBox="1"/>
          <p:nvPr/>
        </p:nvSpPr>
        <p:spPr>
          <a:xfrm>
            <a:off x="566928" y="5215738"/>
            <a:ext cx="29535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he likes · she prefers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mistake: the SPEAKER’s gender does not choose tuḥibbu / tuḥibbīna — the LISTENER’s gender does.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COMPARE TWO SUBJECTS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Prefer … to · more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بَيْنَ مَادَّتَيْنِ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 A</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أُفَضِّلُ … عَلَى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أُفَضِّلُ الكِيمِيَاءَ عَلَى الفِيزِيَاءِ.</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chemistry to physics.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prefer X ‘alā 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 B · STRETCH</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أَكْثَرَ مِنْ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أُحِبُّ الفَنَّ أَكْثَرَ مِنَ المُوسِيقَى.</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art more than music.</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less = aqalla min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JUSTIFY</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 / لِأَنَّهَا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أُفَضِّلُ الفَنَّ عَلَى التَّارِيخِ؛ لِأَنَّهُ إِبْدَاعِيٌّ.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art to history because it is creative.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Match the preferred subject.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name BOTH choices and explain why one wins.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أُفَضِّلُ الفَنَّ عَلَى التَّارِيخِ.</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أُفَضِّلُ الفَنَّ مِنَ التَّارِيخِ.</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word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كَثِيرًا العُلُومَ أُحِبُّ.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كَثِيرًا لَا العُلُومَ.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العُلُومَ كَثِيرًا.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like art?”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تُحِبِّينَ الفَنَّ؟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 الفَنَّ؟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يُحِبُّ الفَنَّ؟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“Which subject do you prefer?”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مَادَّةٍ تُفَضِّلُ؟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مَادَّةٍ تُفَضِّلِينَ؟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 مَادَّةٍ تَدْرُسُ؟</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أُحِبُّ الفَنَّ أَكْثَرَ ___ المُوسِيقَى.</a:t>
            </a:r>
            <a:endParaRPr lang="ar-SA" sz="18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word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كَثِيرًا العُلُومَ أُحِبُّ.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كَثِيرًا لَا العُلُومَ.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العُلُومَ كَثِيرًا.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verb + subject + degree in the model.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like art?”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تُحِبِّينَ الفَنَّ؟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تُحِبُّ الفَنَّ؟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يُحِبُّ الفَنَّ؟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تُحِبِّينَ</a:t>
            </a:r>
            <a:pPr algn="l" indent="0" marL="0">
              <a:buNone/>
            </a:pPr>
            <a:r>
              <a:rPr lang="en-US" sz="1050" i="1" dirty="0">
                <a:solidFill>
                  <a:srgbClr val="8A6D1E"/>
                </a:solidFill>
                <a:latin typeface="Calibri" pitchFamily="34" charset="0"/>
                <a:cs typeface="Amiri" pitchFamily="2" charset="-78"/>
              </a:rPr>
              <a:t> addresses one female listener.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“Which subject do you prefer?”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مَادَّةٍ تُفَضِّلُ؟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 مَادَّةٍ تُفَضِّلِينَ؟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 مَادَّةٍ تَدْرُسُ؟</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تُفَضِّلِينَ</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أُحِبُّ الفَنَّ أَكْثَرَ ___ المُوسِيقَى.</a:t>
            </a:r>
            <a:endParaRPr lang="ar-SA" sz="18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أَكْثَرَ مِنْ</a:t>
            </a:r>
            <a:pPr algn="l" indent="0" marL="0">
              <a:buNone/>
            </a:pPr>
            <a:r>
              <a:rPr lang="en-US" sz="1050" i="1" dirty="0">
                <a:solidFill>
                  <a:srgbClr val="8A6D1E"/>
                </a:solidFill>
                <a:latin typeface="Calibri" pitchFamily="34" charset="0"/>
                <a:cs typeface="Amiri" pitchFamily="2" charset="-78"/>
              </a:rPr>
              <a:t> for “more than”.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complete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Like + degree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أُحِبُّ العُلُومَ </a:t>
            </a:r>
            <a:pPr rtl="1" algn="ctr" indent="0" marL="0">
              <a:buNone/>
            </a:pPr>
            <a:r>
              <a:rPr lang="ar-SA" altLang="en-US" sz="2800" b="1" dirty="0">
                <a:solidFill>
                  <a:srgbClr val="0E7C86"/>
                </a:solidFill>
                <a:latin typeface="Amiri" pitchFamily="2" charset="-78"/>
                <a:ea typeface="Amiri" pitchFamily="2" charset="-78"/>
                <a:cs typeface="Amiri" pitchFamily="2" charset="-78"/>
              </a:rPr>
              <a:t>كَثِيرًا</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Degree after the subject.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أُفَضِّلُ الكِيمِيَاءَ </a:t>
            </a:r>
            <a:pPr rtl="1" algn="ctr" indent="0" marL="0">
              <a:lnSpc>
                <a:spcPct val="120000"/>
              </a:lnSpc>
              <a:buNone/>
            </a:pPr>
            <a:r>
              <a:rPr lang="ar-SA" altLang="en-US" sz="1800" b="1" dirty="0">
                <a:solidFill>
                  <a:srgbClr val="1D5FBF"/>
                </a:solidFill>
                <a:latin typeface="Amiri" pitchFamily="2" charset="-78"/>
                <a:ea typeface="Amiri" pitchFamily="2" charset="-78"/>
                <a:cs typeface="Amiri" pitchFamily="2" charset="-78"/>
              </a:rPr>
              <a:t>عَلَى</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الفِيزِيَاءِ.</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prefer X ‘alā 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لِأَنَّهَا مُثِيرَةٌ لِلاهْتِمَامِ.</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Chemistry (f.) → -hā.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Dislike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وَلَكِنِّي لَا أُحِبُّ التَّارِيخَ لِأَنَّهُ مُمِلٌّ.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lā before the 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DEGREE</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COMPARISON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أُحِبُّ العُلُومَ </a:t>
            </a:r>
            <a:pPr rtl="1" algn="r" indent="0" marL="0">
              <a:buNone/>
            </a:pPr>
            <a:r>
              <a:rPr lang="ar-SA" altLang="en-US" sz="1750" b="1" dirty="0">
                <a:solidFill>
                  <a:srgbClr val="0E7C86"/>
                </a:solidFill>
                <a:latin typeface="Amiri" pitchFamily="2" charset="-78"/>
                <a:ea typeface="Amiri" pitchFamily="2" charset="-78"/>
                <a:cs typeface="Amiri" pitchFamily="2" charset="-78"/>
              </a:rPr>
              <a:t>كَثِيرًا</a:t>
            </a:r>
            <a:pPr rtl="1" algn="r" indent="0" marL="0">
              <a:buNone/>
            </a:pPr>
            <a:r>
              <a:rPr lang="ar-SA" altLang="en-US" sz="1750" b="1" dirty="0">
                <a:solidFill>
                  <a:srgbClr val="1B3B6F"/>
                </a:solidFill>
                <a:latin typeface="Amiri" pitchFamily="2" charset="-78"/>
                <a:ea typeface="Amiri" pitchFamily="2" charset="-78"/>
                <a:cs typeface="Amiri" pitchFamily="2" charset="-78"/>
              </a:rPr>
              <a:t>، وَأُفَضِّلُ الكِيمِيَاءَ </a:t>
            </a:r>
            <a:pPr rtl="1" algn="r" indent="0" marL="0">
              <a:buNone/>
            </a:pPr>
            <a:r>
              <a:rPr lang="ar-SA" altLang="en-US" sz="1750" b="1" dirty="0">
                <a:solidFill>
                  <a:srgbClr val="1D5FBF"/>
                </a:solidFill>
                <a:latin typeface="Amiri" pitchFamily="2" charset="-78"/>
                <a:ea typeface="Amiri" pitchFamily="2" charset="-78"/>
                <a:cs typeface="Amiri" pitchFamily="2" charset="-78"/>
              </a:rPr>
              <a:t>عَلَى</a:t>
            </a:r>
            <a:pPr rtl="1" algn="r" indent="0" marL="0">
              <a:buNone/>
            </a:pPr>
            <a:r>
              <a:rPr lang="ar-SA" altLang="en-US" sz="1750" b="1" dirty="0">
                <a:solidFill>
                  <a:srgbClr val="1B3B6F"/>
                </a:solidFill>
                <a:latin typeface="Amiri" pitchFamily="2" charset="-78"/>
                <a:ea typeface="Amiri" pitchFamily="2" charset="-78"/>
                <a:cs typeface="Amiri" pitchFamily="2" charset="-78"/>
              </a:rPr>
              <a:t> الفِيزِيَاءِ لِأَنَّهَا مُثِيرَةٌ لِلاهْتِمَامِ. أُحِبُّ الفَنَّ </a:t>
            </a:r>
            <a:pPr rtl="1" algn="r" indent="0" marL="0">
              <a:buNone/>
            </a:pPr>
            <a:r>
              <a:rPr lang="ar-SA" altLang="en-US" sz="1750" b="1" dirty="0">
                <a:solidFill>
                  <a:srgbClr val="0E7C86"/>
                </a:solidFill>
                <a:latin typeface="Amiri" pitchFamily="2" charset="-78"/>
                <a:ea typeface="Amiri" pitchFamily="2" charset="-78"/>
                <a:cs typeface="Amiri" pitchFamily="2" charset="-78"/>
              </a:rPr>
              <a:t>قَلِيلًا</a:t>
            </a:r>
            <a:pPr rtl="1" algn="r" indent="0" marL="0">
              <a:buNone/>
            </a:pPr>
            <a:r>
              <a:rPr lang="ar-SA" altLang="en-US" sz="1750" b="1" dirty="0">
                <a:solidFill>
                  <a:srgbClr val="1B3B6F"/>
                </a:solidFill>
                <a:latin typeface="Amiri" pitchFamily="2" charset="-78"/>
                <a:ea typeface="Amiri" pitchFamily="2" charset="-78"/>
                <a:cs typeface="Amiri" pitchFamily="2" charset="-78"/>
              </a:rPr>
              <a:t>، وَلَكِنِّي لَا أُحِبُّ التَّارِيخَ لِأَنَّهُ مُمِلٌّ فِي رَأْيِي.</a:t>
            </a:r>
            <a:endParaRPr lang="ar-SA" sz="17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I like science a lot, and I prefer chemistry to physics because it is interesting. I like art a little, but I do not like history because it is boring in my opinion.</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LIKES AND DISLIKES”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Like or don’t like?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heart + book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 football</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bicycle &gt; car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أُحِبُّ كُرَةَ القَدَمِ.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الدَّرَّاجَةَ عَلَى السَّيَّارَةِ.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القِرَاءَةَ.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heart + book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القِرَاءَةَ.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reading.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 football</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أُحِبُّ كُرَةَ القَدَمِ.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do not like football.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bicycle &gt; car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أُفَضِّلُ الدَّرَّاجَةَ عَلَى السَّيَّارَةِ.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prefer the bicycle to the car.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“PREFERENCE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preference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Female listener: Ask one female if she likes 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 الفَنَّ؟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أُحِبُّ الفَنَّ؟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تُحِبِّينَ الفَنَّ؟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B3B6F"/>
                </a:solidFill>
                <a:latin typeface="Amiri" pitchFamily="2" charset="-78"/>
                <a:ea typeface="Amiri" pitchFamily="2" charset="-78"/>
                <a:cs typeface="Amiri" pitchFamily="2" charset="-78"/>
              </a:rPr>
              <a:t>أُفَضِّلُ العَرَبِيَّةَ ___ الإِنْجِلِيزِيَّةِ.</a:t>
            </a:r>
            <a:endParaRPr lang="ar-SA" sz="11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أُحِبُّ الفَنَّ أَكْثَرَ ___ المُوسِيقَى.</a:t>
            </a:r>
            <a:endParaRPr lang="ar-SA" sz="11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Art: Choose the correct reason for art.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إِبْدَاعِيٌّ</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إِبْدَاعِيَّةٌ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لِأَنِّي إِبْدَاعِيٌّ</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her: Choose “Salma prefers Arabic”.</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يُفَضِّلُ اللُّغَةَ العَرَبِيَّةَ.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أُفَضِّلُ اللُّغَةَ العَرَبِيَّةَ.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تُفَضِّلُ اللُّغَةَ العَرَبِيَّةَ.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girl → tuḥibbīna</a:t>
            </a:r>
            <a:endParaRPr lang="en-US" sz="1250" dirty="0"/>
          </a:p>
          <a:p>
            <a:pPr algn="l" indent="0" marL="0">
              <a:buNone/>
            </a:pPr>
            <a:r>
              <a:rPr lang="en-US" sz="1250" dirty="0">
                <a:solidFill>
                  <a:srgbClr val="1E6B52"/>
                </a:solidFill>
                <a:latin typeface="Calibri" pitchFamily="34" charset="0"/>
                <a:cs typeface="Amiri" pitchFamily="2" charset="-78"/>
              </a:rPr>
              <a:t>prefer X ‘alā Y</a:t>
            </a:r>
            <a:endParaRPr lang="en-US" sz="1250" dirty="0"/>
          </a:p>
          <a:p>
            <a:pPr algn="l" indent="0" marL="0">
              <a:buNone/>
            </a:pPr>
            <a:r>
              <a:rPr lang="en-US" sz="1250" dirty="0">
                <a:solidFill>
                  <a:srgbClr val="1E6B52"/>
                </a:solidFill>
                <a:latin typeface="Calibri" pitchFamily="34" charset="0"/>
                <a:cs typeface="Amiri" pitchFamily="2" charset="-78"/>
              </a:rPr>
              <a:t>more than = akthara min</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Female listener: Ask one female if she likes art.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تُحِبُّ الفَنَّ؟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أُحِبُّ الفَنَّ؟</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تُحِبِّينَ الفَنَّ؟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تُحِبِّينَ</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B3B6F"/>
                </a:solidFill>
                <a:latin typeface="Amiri" pitchFamily="2" charset="-78"/>
                <a:ea typeface="Amiri" pitchFamily="2" charset="-78"/>
                <a:cs typeface="Amiri" pitchFamily="2" charset="-78"/>
              </a:rPr>
              <a:t>أُفَضِّلُ العَرَبِيَّةَ ___ الإِنْجِلِيزِيَّةِ.</a:t>
            </a:r>
            <a:endParaRPr lang="ar-SA" sz="11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X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Y.</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أُحِبُّ الفَنَّ أَكْثَرَ ___ المُوسِيقَى.</a:t>
            </a:r>
            <a:endParaRPr lang="ar-SA" sz="115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4" name="Shape 51"/>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862072"/>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أَكْثَرَ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Art: Choose the correct reason for art.</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 إِبْدَاعِيٌّ</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إِبْدَاعِيَّةٌ</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لِأَنِّي إِبْدَاعِيٌّ</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الفَنُّ</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her: Choose “Salma prefers Arabic”.</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سَلْمَى يُفَضِّلُ اللُّغَةَ العَرَبِيَّةَ.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سَلْمَى أُفَضِّلُ اللُّغَةَ العَرَبِيَّةَ.</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سَلْمَى تُفَضِّلُ اللُّغَةَ العَرَبِيَّةَ.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تُفَضِّلُ</a:t>
            </a:r>
            <a:pPr algn="l" indent="0" marL="0">
              <a:buNone/>
            </a:pPr>
            <a:r>
              <a:rPr lang="en-US" sz="1050" i="1" dirty="0">
                <a:solidFill>
                  <a:srgbClr val="8A6D1E"/>
                </a:solidFill>
                <a:latin typeface="Calibri" pitchFamily="34" charset="0"/>
                <a:cs typeface="Amiri" pitchFamily="2" charset="-78"/>
              </a:rPr>
              <a:t> for she.</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girl → tuḥibbīna</a:t>
            </a:r>
            <a:endParaRPr lang="en-US" sz="1250" dirty="0"/>
          </a:p>
          <a:p>
            <a:pPr algn="l" indent="0" marL="0">
              <a:buNone/>
            </a:pPr>
            <a:r>
              <a:rPr lang="en-US" sz="1250" dirty="0">
                <a:solidFill>
                  <a:srgbClr val="1E6B52"/>
                </a:solidFill>
                <a:latin typeface="Calibri" pitchFamily="34" charset="0"/>
                <a:cs typeface="Amiri" pitchFamily="2" charset="-78"/>
              </a:rPr>
              <a:t>prefer X ‘alā Y</a:t>
            </a:r>
            <a:endParaRPr lang="en-US" sz="1250" dirty="0"/>
          </a:p>
          <a:p>
            <a:pPr algn="l" indent="0" marL="0">
              <a:buNone/>
            </a:pPr>
            <a:r>
              <a:rPr lang="en-US" sz="1250" dirty="0">
                <a:solidFill>
                  <a:srgbClr val="1E6B52"/>
                </a:solidFill>
                <a:latin typeface="Calibri" pitchFamily="34" charset="0"/>
                <a:cs typeface="Amiri" pitchFamily="2" charset="-78"/>
              </a:rPr>
              <a:t>more than = akthara min</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كَثِيرًا العُلُومَ.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the degree word go?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يَا مَرْيَمُ، هَلْ تُحِبُّ الفَنَّ؟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Asking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أُفَضِّلُ الفَنَّ مِنَ التَّارِيخِ.</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Prefer X … Y: ‘alā or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كَثِيرًا العُلُومَ.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العُلُومَ كَثِيرًا.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degree word comes AFTER the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يَا مَرْيَمُ، هَلْ تُحِبُّ الفَنَّ؟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يَا مَرْيَمُ، هَلْ تُحِبِّينَ الفَنَّ؟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LISTENER’s gender controls the question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أُفَضِّلُ الفَنَّ مِنَ التَّارِيخِ.</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أُفَضِّلُ الفَنَّ عَلَى التَّارِيخِ.</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Prefer X to Y = ‘alā; like more than = akthara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Noor compares school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Noor like a lot?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التَّارِيخُ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Noor prefer to physics?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التَّارِيخُ</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الكِيمِيَاءُ</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Noor like only a little?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 العَرَبِيَّةُ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dislike history?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finds it boring.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finds it difficult.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finds it unimportant.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Salma prefer?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 الإِنْجِلِيزِيَّةُ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 العَرَبِيَّةُ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المُوسِيقَى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Three columns: Noor · Omar · Salma — subject, degree, reason.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نُورٌ: أَدْرُسُ مَوَادَّ كَثِيرَةً فِي المَدْرَسَةِ.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 I study many subjects at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أُحِبُّ العُلُومَ كَثِيرًا لِأَنَّهَا مُثِيرَةٌ لِلاهْتِمَامِ، وَأُفَضِّلُ الكِيمِيَاءَ عَلَى الفِيزِيَاءِ.</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science a lot because it is interesting, and I prefer chemistry to physics.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الفَنَّ قَلِيلًا، وَلَكِنِّي لَا أُحِبُّ التَّارِيخَ لِأَنَّهُ مُمِلٌّ فِي رَأْيِي.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art a little, but I don’t like history because it is boring in my opinion.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صَدِيقِي عُمَرُ يُحِبُّ التَّارِيخَ جِدًّا، وَهُوَ يُفَضِّلُهُ عَلَى الجُغْرَافِيَا.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Omar likes history very much, and he prefers it to geography.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صَدِيقَتِي سَلْمَى فَتُفَضِّلُ اللُّغَةَ العَرَبِيَّةَ لِأَنَّهَا مُهِمَّةٌ وَجَمِيلَةٌ.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my friend Salma, she prefers Arabic because it is important and beautiful.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Noor like a lot?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العُلُومُ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التَّارِيخُ</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Noor says </a:t>
            </a:r>
            <a:pPr algn="l" indent="0" marL="0">
              <a:buNone/>
            </a:pPr>
            <a:r>
              <a:rPr lang="ar-SA" altLang="en-US" sz="1350" dirty="0">
                <a:solidFill>
                  <a:srgbClr val="8A6D1E"/>
                </a:solidFill>
                <a:latin typeface="Amiri" pitchFamily="2" charset="-78"/>
                <a:ea typeface="Amiri" pitchFamily="2" charset="-78"/>
                <a:cs typeface="Amiri" pitchFamily="2" charset="-78"/>
              </a:rPr>
              <a:t>أُحِبُّ العُلُومَ كَثِيرًا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Noor prefer to physics?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التَّارِيخُ</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الفَنُّ</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الكِيمِيَاءُ</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prefers chemistry to physics.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Noor like only a little?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العُلُومُ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 العَرَبِيَّةُ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أُحِبُّ الفَنَّ قَلِيلًا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dislike history?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finds it boring.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finds it difficult.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finds it unimportant.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لِأَنَّهُ مُمِلٌّ فِي رَأْيِي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Salma prefer?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 الإِنْجِلِيزِيَّةُ</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اللُّغَةُ العَرَبِيَّةُ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المُوسِيقَى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Salma prefers Arabic.</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Three columns: Noor · Omar · Salma — subject, degree, reason.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Yusuf’s preferences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يُوسُفُ. أُحِبُّ الرِّيَاضِيَّاتِ كَثِيرًا؛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 · likes maths a lot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لِأَنَّهَا عَمَلِيَّةٌ وَمُفِيدَةٌ.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is practical and useful (f.)</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عِلْمَ الحَاسُوبِ عَلَى الفَنِّ؛ لِأَنَّهُ شَيِّقٌ.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Prefers computing to art — engaging (m.)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أُحِبُّ المُوسِيقَى كَثِيرًا،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Does not like music much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وَلَكِنِّي أُحِبُّ اللُّغَةَ العَرَبِيَّةَ جِدًّا.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likes Arabic very much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Hanan’s preferences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حَنَانُ. مَادَّتِي المُفَضَّلَةُ هِيَ الفَنُّ؛</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Hanan · favourite: art</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 إِبْدَاعِيٌّ وَمُمْتِعٌ.</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creative and enjoyable (m.)</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الجُغْرَافِيَا أَكْثَرَ مِنَ التَّارِيخِ.</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 more than history</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العُلُومَ قَلِيلًا، وَلَا أُفَضِّلُ الفِيزِيَاءَ؛</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 a little · not physics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لِأَنَّهَا مُعَقَّدَةٌ فِي رَأْيِي.</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complicated, in her opinion (f.)</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 or Hanan?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Yusuf like mathematics?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creative and easy.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practical and useful.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boring but important.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Yusuf prefer to art?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اللُّغَةُ العَرَبِيَّةُ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 الحَاسُوبِ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التَّارِيخُ</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Yusuf not like very much?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المُوسِيقَى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Hanan like art?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creative and enjoyable.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practical and useful.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easy and short.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Hanan like more than history?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الجُغْرَافِيَا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المُوسِيقَى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preference verb,</a:t>
            </a:r>
            <a:endParaRPr lang="en-US" sz="1250" dirty="0"/>
          </a:p>
          <a:p>
            <a:pPr algn="l" indent="0" marL="0">
              <a:buNone/>
            </a:pPr>
            <a:r>
              <a:rPr lang="en-US" sz="1250" dirty="0">
                <a:solidFill>
                  <a:srgbClr val="1F2A37"/>
                </a:solidFill>
                <a:latin typeface="Calibri" pitchFamily="34" charset="0"/>
                <a:cs typeface="Amiri" pitchFamily="2" charset="-78"/>
              </a:rPr>
              <a:t>then the degree or the reason.</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Yusuf like mathematics?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creative and easy.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practical and useful.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boring but important.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عَمَلِيَّةٌ وَمُفِيدَةٌ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Yusuf prefer to art?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اللُّغَةُ العَرَبِيَّةُ</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عِلْمُ الحَاسُوبِ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التَّارِيخُ</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prefers computer science to art.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Yusuf not like very much?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العُلُومُ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المُوسِيقَى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he does not like music very much.</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Hanan like art?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creative and enjoyable.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practical and useful.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easy and short.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describes art as creative and enjoyable.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Hanan like more than history?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العُلُومُ</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الجُغْرَافِيَا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المُوسِيقَى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likes geography more than history.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preference verb,</a:t>
            </a:r>
            <a:endParaRPr lang="en-US" sz="1250" dirty="0"/>
          </a:p>
          <a:p>
            <a:pPr algn="l" indent="0" marL="0">
              <a:buNone/>
            </a:pPr>
            <a:r>
              <a:rPr lang="en-US" sz="1250" dirty="0">
                <a:solidFill>
                  <a:srgbClr val="1F2A37"/>
                </a:solidFill>
                <a:latin typeface="Calibri" pitchFamily="34" charset="0"/>
                <a:cs typeface="Amiri" pitchFamily="2" charset="-78"/>
              </a:rPr>
              <a:t>then the degree or the reason.</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Hold a subject-preference conversation</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تُحِبُّ الرِّيَاضِيَّاتِ؟ / هَلْ تُحِبِّينَ الرِّيَاضِيَّاتِ؟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مَادَّتُكَ المُفَضَّلَةُ؟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مَادَّةٍ تُفَضِّلُ: الفَنَّ أَمِ المُوسِيقَى؟</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يُحِبُّ صَدِيقُكَ؟ وَمَاذَا تُفَضِّلُ صَدِيقَتُكَ؟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ea typeface="Amiri" pitchFamily="2" charset="-78"/>
                <a:cs typeface="Amiri" pitchFamily="2" charset="-78"/>
              </a:rPr>
              <a:t>نَعَمْ، أُحِبُّ … كَثِيرًا. / لَا، لَا أُحِبُّ … .</a:t>
            </a:r>
            <a:endParaRPr lang="ar-SA" sz="15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مَادَّتِي المُفَضَّلَةُ هِيَ ___ لِأَنَّهُ / لِأَنَّهَا ___ .</a:t>
            </a:r>
            <a:endParaRPr lang="ar-SA" sz="13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___ عَلَى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صَدِيقِي يُحِبُّ ___ ، وَصَدِيقَتِي تُفَضِّلُ ___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تُحِبِّينَ الرِّيَاضِيَّاتِ؟ مَا مَادَّتُكِ المُفَضَّلَةُ؟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like maths? What is your favourite subject?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أُحِبُّهَا قَلِيلًا. مَادَّتِي المُفَضَّلَةُ هِيَ الفَنُّ، وَأُفَضِّلُهُ عَلَى المُوسِيقَى.</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like it a little. My favourite is art, and I prefer it to music.</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accurate sentences using the models.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Like, dislike, favourite and a degree,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preference verbs, two degrees and two reasons.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preference verbs, two degrees, two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Report another learner: yuḥibbu / tuḥibbu / yufaḍḍilu / tufaḍḍilu.</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Report another learner and use akthara / aqalla min.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الكِيمِيَاءَ عَلَى الفِيزِيَاءِ.</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chemistry to physics.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الفَنَّ أَكْثَرَ مِنَ المُوسِيقَى.</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art more than music.</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لِأَنَّهُ إِبْدَاعِيٌّ.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it is creative (m.).</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 يُحِبُّ التَّارِيخَ جِدًّا.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Omar likes history very much.</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سَلْمَى تُفَضِّلُ اللُّغَةَ العَرَبِيَّةَ.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Salma prefers Arabic.</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العُلُومَ كَثِيرًا.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science a lot.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الفَنَّ قَلِيلًا.</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art a little.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التَّارِيخَ.</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not like history.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مَادَّتِي المُفَضَّلَةُ هِيَ اللُّغَةُ العَرَبِيَّةُ.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subject is Arabic.</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تُحِبِّينَ الرِّيَاضِيَّاتِ؟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(f.) like maths?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أُحِبُّ  ·  لَا أُحِبُّ  ·  أُفَضِّلُ  ·  عَلَى  ·  أَكْثَرَ مِنْ  ·  جِدًّا  ·  كَثِيرًا  ·  قَلِيلًا  ·  فِي رَأْيِي  ·  لِأَنَّهُ  ·  لِأَنَّهَا  ·  وَلَكِنِّي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أُحِبُّ العُلُومَ كَثِيرًا لِأَنَّهَا مُثِيرَةٌ لِلاهْتِمَامِ، وَأُفَضِّلُ الكِيمِيَاءَ عَلَى الفِيزِيَاءِ. أُحِبُّ الفَنَّ قَلِيلًا، وَلَكِنِّي لَا أُحِبُّ التَّارِيخَ لِأَنَّهُ مُمِلٌّ فِي رَأْيِي. صَدِيقِي عُمَرُ يُحِبُّ التَّارِيخَ جِدًّا، أَمَّا صَدِيقَتِي سَلْمَى فَتُفَضِّلُ اللُّغَةَ العَرَبِيَّةَ لِأَنَّهَا مُهِمَّةٌ وَجَمِيلَةٌ.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like science a lot because it is interesting, and I prefer chemistry to physics. I like art a little, but I do not like history because it is boring in my opinion. My friend Omar likes history very much; as for my friend Salma, she prefers Arabic because it is important and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degree words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comparison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reporting others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uḥibbu and lā uḥibbu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degree word comes after the subject.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with ufaḍḍilu … ‘alā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reasons agree with the subject.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reported another person’s opinion.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if she likes mathematics.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تُحِبِّينَ الرِّيَاضِيَّاتِ؟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 الرِّيَاضِيَّاتِ؟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أُحِبُّ الرِّيَاضِيَّاتِ؟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أُفَضِّلُ الفَنَّ ___ التَّارِيخِ.</a:t>
            </a:r>
            <a:endParaRPr lang="ar-SA" sz="14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“He likes history”.</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يُحِبُّ التَّارِيخَ.</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تُحِبُّ التَّارِيخَ.</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أُحِبُّ التَّارِيخَ.</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if she likes mathematics.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هَلْ تُحِبِّينَ الرِّيَاضِيَّاتِ؟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تُحِبُّ الرِّيَاضِيَّاتِ؟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أُحِبُّ الرِّيَاضِيَّاتِ؟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تُحِبِّينَ</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أُفَضِّلُ الفَنَّ ___ التَّارِيخِ.</a:t>
            </a:r>
            <a:endParaRPr lang="ar-SA" sz="14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“He likes history”.</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هُوَ يُحِبُّ التَّارِيخَ.</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هُوَ تُحِبُّ التَّارِيخَ.</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هُوَ أُحِبُّ التَّارِيخَ.</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يُحِبُّ</a:t>
            </a:r>
            <a:pPr algn="l" indent="0" marL="0">
              <a:buNone/>
            </a:pPr>
            <a:r>
              <a:rPr lang="en-US" sz="1050" i="1" dirty="0">
                <a:solidFill>
                  <a:srgbClr val="8A6D1E"/>
                </a:solidFill>
                <a:latin typeface="Calibri" pitchFamily="34" charset="0"/>
                <a:cs typeface="Amiri" pitchFamily="2" charset="-78"/>
              </a:rPr>
              <a:t> for he.</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F4-L04 · Likes &amp; Preferences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F4-L05 · Giving Reasons — Why?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لِمَاذَا؟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because I …</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عَمَلِيٌّ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practical</a:t>
            </a:r>
            <a:pPr indent="0" marL="0">
              <a:buNone/>
            </a:pPr>
            <a:r>
              <a:rPr lang="ar-SA" sz="1000" i="1" dirty="0">
                <a:solidFill>
                  <a:srgbClr val="5A6472"/>
                </a:solidFill>
                <a:latin typeface="Calibri" pitchFamily="34" charset="0"/>
                <a:ea typeface="Amiri" pitchFamily="2" charset="-78"/>
                <a:cs typeface="Amiri" pitchFamily="2" charset="-78"/>
              </a:rPr>
              <a:t>  f. عَمَلِيَّةٌ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إِبْدَاعِيٌّ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creative</a:t>
            </a:r>
            <a:pPr indent="0" marL="0">
              <a:buNone/>
            </a:pPr>
            <a:r>
              <a:rPr lang="ar-SA" sz="1000" i="1" dirty="0">
                <a:solidFill>
                  <a:srgbClr val="5A6472"/>
                </a:solidFill>
                <a:latin typeface="Calibri" pitchFamily="34" charset="0"/>
                <a:ea typeface="Amiri" pitchFamily="2" charset="-78"/>
                <a:cs typeface="Amiri" pitchFamily="2" charset="-78"/>
              </a:rPr>
              <a:t>  f. إِبْدَاعِيَّةٌ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مُعَقَّدٌ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complicated</a:t>
            </a:r>
            <a:pPr indent="0" marL="0">
              <a:buNone/>
            </a:pPr>
            <a:r>
              <a:rPr lang="ar-SA" sz="1000" i="1" dirty="0">
                <a:solidFill>
                  <a:srgbClr val="5A6472"/>
                </a:solidFill>
                <a:latin typeface="Calibri" pitchFamily="34" charset="0"/>
                <a:ea typeface="Amiri" pitchFamily="2" charset="-78"/>
                <a:cs typeface="Amiri" pitchFamily="2" charset="-78"/>
              </a:rPr>
              <a:t>  f. مُعَقَّدَةٌ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Why do you like your favourite subject? Give one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لِمَاذَا؟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F4-L04: the Preference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opinion profile: one like, one dislike, one comparison and one reason.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7–9-sentence preference report about yourself and one friend.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F4-L05 · Giving Reasons — Why?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إِعْطَاءُ الأَسْبَابِ — لِمَاذَا؟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subject + degree + reason · prefer X ‘alā Y · the listener controls tuḥibbu / tuḥibbīna.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F4-L04 · Likes, Dislikes and Preferences</dc:title>
  <dc:subject>PptxGenJS Presentation</dc:subject>
  <dc:creator>Al Madina Online School · Arabic Department</dc:creator>
  <cp:lastModifiedBy>Al Madina Online School · Arabic Department</cp:lastModifiedBy>
  <cp:revision>1</cp:revision>
  <dcterms:created xsi:type="dcterms:W3CDTF">2026-10-11T06:41:38Z</dcterms:created>
  <dcterms:modified xsi:type="dcterms:W3CDTF">2026-10-11T06:41:38Z</dcterms:modified>
</cp:coreProperties>
</file>