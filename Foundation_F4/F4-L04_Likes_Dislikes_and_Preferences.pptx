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4 (F4-L04). Website sections used: the eight-question F4 retrieval bridge and “a complete answer”, the preference-language bank (verbs, openers, intensity and comparison words, word-order rules) and the 14-question check, asking a boy or a girl (12), comparing two subjects with reason agreement (14), the opinion profile builder, the Preference Mission (14), Noor, Omar and Salma (listening, 10), Yusuf, Hanan and the class survey (reading, 12), the preference conversation (4 prompts), the 7–9-sentence report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أُحِبُّ / لَا أُحِبُّ + كَثِيرًا / قَلِيلًا + مَادَّتِي المُفَضَّلَةُ. Develop: asking a boy or a girl, أُفَضِّلُ … عَلَى … and two reasons. Stretch: أَكْثَرَ / أَقَلَّ مِنْ and reporting others (يُحِبُّ / تُحِبُّ / يُفَضِّلُ / تُفَضِّلُ).
• Website “a complete answer”: subject + degree or comparison + a reason when appropriate.
• Opinions are personal: accept honest dislikes of subjects respectfully — the task is accuracy, not agreement. Students may also invent a fictional learner (website).
• Urdu bridge: پسند (like) — Arabic uses أُحِبُّ; فضیلت / افضل (excellence, better) share the root of أُفَضِّلُ; زیادہ ≈ أَكْثَرُ (different word); خصوصاً = خُصُوصًا.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at the end of F4-L03. Questions 3–5 are the website “F4 retrieval bridge” (asking a girl, the feminine reason, but).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complete opinion = subject + how much (or a comparison) + a reason. The degree word goes AFTER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 فضیلت (best, excellence) share the root of أُفَضِّلُ (I prefer); خصوصاً، رائے، عملی and مفید are shared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BANK (website). Also: مَادَّتِي المُفَضَّلَةُ (my favourite subject), بِالنِّسْبَةِ إِلَيَّ (as for me — Stretch opener). Website rules: place the degree AFTER the subject (أُحِبُّ الفَنَّ جِدًّا · أُحِبُّ المُوسِيقَى كَثِيرًا · أُحِبُّ الفَلْسَفَةَ قَلِيلًا); negation stays BEFORE the verb (لَا أُحِبُّ التَّارِيخَ) — do not split لَا أُحِبُّ.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ADJECTIVES (website, 14): سَهْلٌ، صَعْبٌ، مُفِيدٌ، مُمْتِعٌ، مُمِلٌّ، مُهِمٌّ، مُثِيرٌ لِلاهْتِمَامِ، شَيِّقٌ، عَمَلِيٌّ، إِبْدَاعِيٌّ، مُفَضَّلٌ، مُعَقَّدٌ — each with a feminine form (+ـةٌ). New today: إِبْدَاعِيٌّ، عَمَلِيٌّ، مُعَقَّدٌ.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“Ask another learner about preferences”. The answer returns to the first person (أُحِبُّ، مَادَّتِي).
Reporting (Stretch, website): هُوَ يُحِبُّ … · هِيَ تُفَضِّلُ … · عُمَرُ يُحِبُّ التَّارِيخَ جِدًّا · سَلْمَى تُفَضِّلُ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“Compare two subjects accurately”: Pattern A أُفَضِّلُ … عَلَى … and Pattern B أُحِبُّ … أَكْثَرَ مِنْ … ; reason adjectives choose the matching gender (أُحِبُّ الفَنَّ لِأَنَّهُ إِبْدَاعِيٌّ · أُحِبُّ الجُغْرَافِيَا لِأَنَّهَا مُفِيدَةٌ).
Website complete answer: أُحِبُّ العُلُومَ كَثِيرًا، وَأُفَضِّلُ الكِيمِيَاءَ عَلَى الفِيزِيَاءِ؛ لِأَنَّهَا مُثِيرَةٌ لِلاهْتِمَامِ.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preference check question 6, ask-and-answer questions 2 and 8, and comparison check question 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(Noor) as the model. Think aloud at every step: “Where does the degree go? Which subject do I prefer — so which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and dislikes”)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general likes, not school subjects). Follow-up: make each one about a school subject — أُحِبُّ الفَنَّ · لَا أُحِبُّ الفِيزِيَاءَ · أُفَضِّلُ العُلُومَ عَلَى التَّارِيخِ.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Likes and dislikes”)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general likes, not school subjects). Follow-up: make each one about a school subject — أُحِبُّ الفَنَّ · لَا أُحِبُّ الفِيزِيَاءَ · أُفَضِّلُ العُلُومَ عَلَى التَّارِيخِ.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Preference Mission rounds (female listener, prefer, more than, reason for art, report her).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says the complete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نُورٌ: أَدْرُسُ مَوَادَّ كَثِيرَةً فِي المَدْرَسَةِ. أُحِبُّ العُلُومَ كَثِيرًا لِأَنَّهَا مُثِيرَةٌ لِلاهْتِمَامِ، وَأُفَضِّلُ الكِيمِيَاءَ عَلَى الفِيزِيَاءِ. أُحِبُّ الفَنَّ قَلِيلًا، وَلَكِنِّي لَا أُحِبُّ التَّارِيخَ لِأَنَّهُ مُمِلٌّ فِي رَأْيِي. صَدِيقِي عُمَرُ يُحِبُّ التَّارِيخَ جِدًّا، وَهُوَ يُفَضِّلُهُ عَلَى الجُغْرَافِيَا. أَمَّا صَدِيقَتِي سَلْمَى فَتُفَضِّلُ اللُّغَةَ العَرَبِيَّةَ لِأَنَّهَا مُهِمَّةٌ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two degree words, one comparison and two reasons with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 Pattern B (أَكْثَرَ مِنْ). The website also shows a six-student class survey (science most liked, history most disliked, maths split evenly) — use it on the website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4, 6 and 7. The survey questions (9–12) are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“Hold a subject-preference conversation” — answer in complete sentences, ask a follow-up question and compare two subjects. Prompts (website):
• My subject preferences: Give a strong like, a dislike and one reason.
• Compare two subjects: Use both comparison patterns.
• Interview a classmate: Ask a male or female listener three preference questions.
• Report two learners: Use he and she forms to report preferences.
Website checklist (1–6): أُحِبُّ · لَا أُحِبُّ · a degree word · أُفَضِّلُ … عَلَى · accurate reason agreement · one follow-up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sentences using the models. · Develop — Three preference verbs, two degrees and two reasons. · Stretch — Report another learner: yuḥibbu / tuḥibbu / yufaḍḍilu / tufaḍḍilu.
Website writing task (Stretch): Website writing task: a 7–9-sentence report on your own (or a fictional learner’s) subject preferences — a strong like with a degree, a dislike, a comparison and two reasons.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listening (Noor) as a model report. Stretch: add Pattern B (أَكْثَرَ مِنْ) from Hanan’s profile.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(F4-L05 · Giving Reasons — Why?) will spend class time USING this language, so students prepare it tonight — short, simple, easy to access (school guidance: “Simple, Short, Interesting, Relevant, Easy to access”). The five words come from the website F4-L05 reason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ea typeface="Cambria" pitchFamily="34" charset="-122"/>
                <a:cs typeface="Cambria" pitchFamily="34" charset="-120"/>
              </a:rPr>
              <a:t>Likes, Dislikes and Preferences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مَا أُحِبُّ وَمَا لَا أُحِبُّ وَمَا أُفَضِّلُ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strongly you like a subject, ask a boy or a girl about their preferences, compare two subjects and report another person’s opinion.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F4-L04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Like, dislike, prefer and how much, then compare two subjects.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Preference mission, listen to Noor, read Yusuf and Hanan.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كَثِيرًا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little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 رَأْيِي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bag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my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“What do you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reason pattern.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لِأَنِّي مُفِيدٌ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connector “but”.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كَثِيرًا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little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lot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 رَأْيِي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my opinion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my bag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my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“What do you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reason pattern.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لِأَنِّي مُفِيدٌ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مُفِيدَةٌ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لِأَنَّهَا</a:t>
            </a:r>
            <a:pPr algn="l" indent="0" marL="0">
              <a:buNone/>
            </a:pPr>
            <a:r>
              <a:rPr lang="en-US" sz="1050" i="1" dirty="0">
                <a:solidFill>
                  <a:srgbClr val="8A6D1E"/>
                </a:solidFill>
                <a:latin typeface="Calibri" pitchFamily="34" charset="0"/>
                <a:ea typeface="Calibri" pitchFamily="34" charset="-122"/>
                <a:cs typeface="Calibri" pitchFamily="34" charset="-120"/>
              </a:rPr>
              <a:t> and a feminine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connector “but”.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introduces a contrast.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complete opinion = subject + how much (or a comparison) + a reason. The degree word goes AFTER the subject.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أُحِبُّ العُلُومَ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كَثِيرًا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وَأُفَضِّلُ الكِيمِيَاءَ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الفِيزِيَاءِ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uḥibbu, lā uḥibbu and ufaḍḍilu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Show degree with jiddan, kathīran and qalīlan.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one male or female listener about preferences.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subjects and report another person’s opinion.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like and don’t like.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lot / a little.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I prefer X to Y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I like X more than 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what a friend likes.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Preference verbs, degree words and comparisons. Core: like, don’t like, prefer, a lot, a little.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Preference verbs + openers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Degree · comparison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 adjectives · 14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‎افضل‎ </a:t>
            </a:r>
            <a:pPr indent="0" marL="0">
              <a:buNone/>
            </a:pPr>
            <a:r>
              <a:rPr lang="en-US" sz="950" b="1" dirty="0">
                <a:solidFill>
                  <a:srgbClr val="2E8B57"/>
                </a:solidFill>
                <a:latin typeface="Calibri" pitchFamily="34" charset="0"/>
                <a:ea typeface="Calibri" pitchFamily="34" charset="-122"/>
                <a:cs typeface="Calibri" pitchFamily="34" charset="-120"/>
              </a:rPr>
              <a:t> ufaḍḍilu · I prefer (Urdu: best)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خُصُوصًا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‎خصوصاً‎ </a:t>
            </a:r>
            <a:pPr indent="0" marL="0">
              <a:buNone/>
            </a:pPr>
            <a:r>
              <a:rPr lang="en-US" sz="950" b="1" dirty="0">
                <a:solidFill>
                  <a:srgbClr val="2E8B57"/>
                </a:solidFill>
                <a:latin typeface="Calibri" pitchFamily="34" charset="0"/>
                <a:ea typeface="Calibri" pitchFamily="34" charset="-122"/>
                <a:cs typeface="Calibri" pitchFamily="34" charset="-120"/>
              </a:rPr>
              <a:t> khuṣūṣan · especially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ra’y · opinion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عَمَلِيٌّ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‎عملی‎ </a:t>
            </a:r>
            <a:pPr indent="0" marL="0">
              <a:buNone/>
            </a:pPr>
            <a:r>
              <a:rPr lang="en-US" sz="950" b="1" dirty="0">
                <a:solidFill>
                  <a:srgbClr val="2E8B57"/>
                </a:solidFill>
                <a:latin typeface="Calibri" pitchFamily="34" charset="0"/>
                <a:ea typeface="Calibri" pitchFamily="34" charset="-122"/>
                <a:cs typeface="Calibri" pitchFamily="34" charset="-120"/>
              </a:rPr>
              <a:t> ‘amaliyy · practical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1–2 · PREFERENCE AND DEGREE (WEBSITE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Like, prefer, a lot, a little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أُحِبُّ · لَا أُحِبُّ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like · I do not like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u-ḥib-bu · lā u-ḥib-bu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prefer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u-faḍ-ḍi-lu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أُفَضِّلُ … عَلَى …</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degree</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جِدًّا · كَثِيرًا</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very much · a 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jid-dan · ka-thī-ran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degree</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little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7" name="Shape 54"/>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compare</a:t>
            </a:r>
            <a:endParaRPr lang="en-US" sz="800" dirty="0"/>
          </a:p>
        </p:txBody>
      </p:sp>
      <p:sp>
        <p:nvSpPr>
          <p:cNvPr id="59" name="Text 5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أَقَلَّ</a:t>
            </a:r>
            <a:endParaRPr lang="ar-SA" sz="3000" dirty="0"/>
          </a:p>
        </p:txBody>
      </p:sp>
      <p:sp>
        <p:nvSpPr>
          <p:cNvPr id="60" name="Text 5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ak-tha-ra · a-qal-la</a:t>
            </a:r>
            <a:endParaRPr lang="en-US" sz="1350" dirty="0"/>
          </a:p>
        </p:txBody>
      </p:sp>
      <p:sp>
        <p:nvSpPr>
          <p:cNvPr id="61" name="Shape 58"/>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than</a:t>
            </a:r>
            <a:endParaRPr lang="en-US" sz="700" dirty="0"/>
          </a:p>
        </p:txBody>
      </p:sp>
      <p:sp>
        <p:nvSpPr>
          <p:cNvPr id="63" name="Text 60"/>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أَكْثَرَ مِنْ …</a:t>
            </a:r>
            <a:endParaRPr lang="ar-SA" sz="1350" dirty="0"/>
          </a:p>
        </p:txBody>
      </p:sp>
      <p:sp>
        <p:nvSpPr>
          <p:cNvPr id="64" name="Shape 6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566928"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7" name="Shape 6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openers</a:t>
            </a:r>
            <a:endParaRPr lang="en-US" sz="8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 · خُصُوصًا</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 · especially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ra’-yī · khu-ṣū-ṣan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REASON ADJECTIVES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Creative, practical, complicated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إِبْدَاعِيٌّ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ib-dā-‘iyy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إِبْدَاعِيَّةٌ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إِبْدَاعِيٌّ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‘a-ma-liyy</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مُعَقَّدٌ</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complicated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mu-‘aq-qad</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مُعَقَّدَةٌ</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مُعَقَّدٌ</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مُثِيرٌ لِلاهْتِمَامِ</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interesting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mu-thīr lil-ih-ti-mām</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مُثِيرَةٌ</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مُثِيرٌ</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مُمْتِعٌ</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mum-ti‘</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مُمْتِعَةٌ</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1" name="Shape 8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مُمِلٌّ</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mu-mill</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ASK A BOY, ASK A GIRL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listener controls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زَمِيلًا أَوْ زَمِيلَةً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one male</a:t>
            </a:r>
            <a:endParaRPr lang="en-US" sz="1100" dirty="0"/>
          </a:p>
        </p:txBody>
      </p:sp>
      <p:sp>
        <p:nvSpPr>
          <p:cNvPr id="17" name="Text 14"/>
          <p:cNvSpPr txBox="1"/>
          <p:nvPr/>
        </p:nvSpPr>
        <p:spPr>
          <a:xfrm>
            <a:off x="36667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 one female</a:t>
            </a:r>
            <a:endParaRPr lang="en-US" sz="1100" dirty="0"/>
          </a:p>
        </p:txBody>
      </p:sp>
      <p:sp>
        <p:nvSpPr>
          <p:cNvPr id="18" name="Text 15"/>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تُحِبُّ العُلُومَ؟</a:t>
            </a:r>
            <a:endParaRPr lang="ar-SA" sz="2200" dirty="0"/>
          </a:p>
        </p:txBody>
      </p:sp>
      <p:sp>
        <p:nvSpPr>
          <p:cNvPr id="21" name="Text 18"/>
          <p:cNvSpPr txBox="1"/>
          <p:nvPr/>
        </p:nvSpPr>
        <p:spPr>
          <a:xfrm>
            <a:off x="3685032"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تُحِبِّ</a:t>
            </a:r>
            <a:pPr rtl="1" algn="ctr" indent="0" marL="0">
              <a:buNone/>
            </a:pPr>
            <a:r>
              <a:rPr lang="ar-SA" altLang="en-US" sz="2200" b="1" dirty="0">
                <a:solidFill>
                  <a:srgbClr val="D6336C"/>
                </a:solidFill>
                <a:latin typeface="Amiri" pitchFamily="34" charset="0"/>
                <a:ea typeface="Amiri" pitchFamily="34" charset="-122"/>
                <a:cs typeface="Amiri" pitchFamily="34" charset="-120"/>
              </a:rPr>
              <a:t>ينَ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العُلُومَ؟</a:t>
            </a:r>
            <a:endParaRPr lang="ar-SA" sz="2200" dirty="0"/>
          </a:p>
        </p:txBody>
      </p:sp>
      <p:sp>
        <p:nvSpPr>
          <p:cNvPr id="22" name="Text 19"/>
          <p:cNvSpPr txBox="1"/>
          <p:nvPr/>
        </p:nvSpPr>
        <p:spPr>
          <a:xfrm>
            <a:off x="56692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like science?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مَادَّتُكَ المُفَضَّلَةُ؟</a:t>
            </a:r>
            <a:endParaRPr lang="ar-SA" sz="2200" dirty="0"/>
          </a:p>
        </p:txBody>
      </p:sp>
      <p:sp>
        <p:nvSpPr>
          <p:cNvPr id="27" name="Text 24"/>
          <p:cNvSpPr txBox="1"/>
          <p:nvPr/>
        </p:nvSpPr>
        <p:spPr>
          <a:xfrm>
            <a:off x="3685032"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 مَادَّتُ</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المُفَضَّلَةُ؟</a:t>
            </a:r>
            <a:endParaRPr lang="ar-SA" sz="2200" dirty="0"/>
          </a:p>
        </p:txBody>
      </p:sp>
      <p:sp>
        <p:nvSpPr>
          <p:cNvPr id="28" name="Text 25"/>
          <p:cNvSpPr txBox="1"/>
          <p:nvPr/>
        </p:nvSpPr>
        <p:spPr>
          <a:xfrm>
            <a:off x="56692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your favourite subject?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مَادَّةٍ تُفَضِّلُ؟</a:t>
            </a:r>
            <a:endParaRPr lang="ar-SA" sz="2200" dirty="0"/>
          </a:p>
        </p:txBody>
      </p:sp>
      <p:sp>
        <p:nvSpPr>
          <p:cNvPr id="33" name="Text 30"/>
          <p:cNvSpPr txBox="1"/>
          <p:nvPr/>
        </p:nvSpPr>
        <p:spPr>
          <a:xfrm>
            <a:off x="3685032"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أَيَّ مَادَّةٍ تُفَضِّلِ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ينَ</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4" name="Text 31"/>
          <p:cNvSpPr txBox="1"/>
          <p:nvPr/>
        </p:nvSpPr>
        <p:spPr>
          <a:xfrm>
            <a:off x="56692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subject do you prefer?</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نَعَمْ، أُحِبُّ العُلُومَ كَثِيرًا.</a:t>
            </a:r>
            <a:endParaRPr lang="ar-SA" sz="2200" dirty="0"/>
          </a:p>
        </p:txBody>
      </p:sp>
      <p:sp>
        <p:nvSpPr>
          <p:cNvPr id="37" name="Text 34"/>
          <p:cNvSpPr txBox="1"/>
          <p:nvPr/>
        </p:nvSpPr>
        <p:spPr>
          <a:xfrm>
            <a:off x="3685032"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لَا أُحِبُّ الفِيزِيَاءَ.</a:t>
            </a:r>
            <a:endParaRPr lang="ar-SA" sz="2200" dirty="0"/>
          </a:p>
        </p:txBody>
      </p:sp>
      <p:sp>
        <p:nvSpPr>
          <p:cNvPr id="38" name="Text 35"/>
          <p:cNvSpPr txBox="1"/>
          <p:nvPr/>
        </p:nvSpPr>
        <p:spPr>
          <a:xfrm>
            <a:off x="56692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in the first person</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يُحِبُّ التَّارِيخَ.</a:t>
            </a:r>
            <a:endParaRPr lang="ar-SA" sz="2200" dirty="0"/>
          </a:p>
        </p:txBody>
      </p:sp>
      <p:sp>
        <p:nvSpPr>
          <p:cNvPr id="43" name="Text 40"/>
          <p:cNvSpPr txBox="1"/>
          <p:nvPr/>
        </p:nvSpPr>
        <p:spPr>
          <a:xfrm>
            <a:off x="3685032"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تُفَضِّلُ العَرَبِيَّةَ.</a:t>
            </a:r>
            <a:endParaRPr lang="ar-SA" sz="2200" dirty="0"/>
          </a:p>
        </p:txBody>
      </p:sp>
      <p:sp>
        <p:nvSpPr>
          <p:cNvPr id="44" name="Text 41"/>
          <p:cNvSpPr txBox="1"/>
          <p:nvPr/>
        </p:nvSpPr>
        <p:spPr>
          <a:xfrm>
            <a:off x="56692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 he likes · she prefers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mistake: the SPEAKER’s gender does not choose tuḥibbu / tuḥibbīna — the LISTENER’s gender does.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COMPARE TWO SUBJECTS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Prefer … to · more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بَيْنَ مَادَّتَيْنِ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 A</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 عَلَى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أُفَضِّلُ الكِيمِيَاءَ عَلَى الفِيزِيَاءِ.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chemistry to physics.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prefer X ‘alā 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 B · STRETCH</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مِنْ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أُحِبُّ الفَنَّ أَكْثَرَ مِنَ المُوسِيقَى.</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art more than music.</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less = aqalla min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JUSTIFY</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أُفَضِّلُ الفَنَّ عَلَى التَّارِيخِ؛ لِأَنَّهُ إِبْدَاعِيٌّ.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art to history because it is creative.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Match the preferred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name BOTH choices and explain why one wins.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أُفَضِّلُ الفَنَّ عَلَى التَّارِيخِ.</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أُفَضِّلُ الفَنَّ مِنَ التَّارِيخِ.</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word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 العُلُومَ أُحِبُّ.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كَثِيرًا لَا العُلُومَ.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العُلُومَ كَثِيرًا.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like art?”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الفَنَّ؟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الفَنَّ؟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يُحِبُّ الفَنَّ؟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“Which subject do you prefer?”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مَادَّةٍ تُفَضِّلُ؟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مَادَّةٍ تُفَضِّلِينَ؟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 مَادَّةٍ تَدْرُسُ؟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أُحِبُّ الفَنَّ أَكْثَرَ ___ المُوسِيقَى.</a:t>
            </a:r>
            <a:endParaRPr lang="ar-SA" sz="18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word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كَثِيرًا العُلُومَ أُحِبُّ.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كَثِيرًا لَا العُلُومَ.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العُلُومَ كَثِيرًا.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verb + subject + degree in the model.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like art?”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تُحِبِّينَ الفَنَّ؟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الفَنَّ؟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يُحِبُّ الفَنَّ؟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 listener.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“Which subject do you prefer?”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مَادَّةٍ تُفَضِّلُ؟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أَيَّ مَادَّةٍ تُفَضِّلِينَ؟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 مَادَّةٍ تَدْرُسُ؟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تُفَضِّلِينَ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أُحِبُّ الفَنَّ أَكْثَرَ ___ المُوسِيقَى.</a:t>
            </a:r>
            <a:endParaRPr lang="ar-SA" sz="18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مِنْ</a:t>
            </a:r>
            <a:pPr algn="l" indent="0" marL="0">
              <a:buNone/>
            </a:pPr>
            <a:r>
              <a:rPr lang="en-US" sz="1050" i="1" dirty="0">
                <a:solidFill>
                  <a:srgbClr val="8A6D1E"/>
                </a:solidFill>
                <a:latin typeface="Calibri" pitchFamily="34" charset="0"/>
                <a:ea typeface="Calibri" pitchFamily="34" charset="-122"/>
                <a:cs typeface="Calibri" pitchFamily="34" charset="-120"/>
              </a:rPr>
              <a:t> for “more than”.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complete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Like + degree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أُحِبُّ العُلُومَ </a:t>
            </a:r>
            <a:pPr rtl="1" algn="ctr" indent="0" marL="0">
              <a:buNone/>
            </a:pPr>
            <a:r>
              <a:rPr lang="ar-SA" altLang="en-US" sz="2800" b="1" dirty="0">
                <a:solidFill>
                  <a:srgbClr val="0E7C86"/>
                </a:solidFill>
                <a:latin typeface="Amiri" pitchFamily="34" charset="0"/>
                <a:ea typeface="Amiri" pitchFamily="34" charset="-122"/>
                <a:cs typeface="Amiri" pitchFamily="34" charset="-120"/>
              </a:rPr>
              <a:t>كَثِيرًا</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Degree after the subject.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أُفَضِّلُ الكِيمِيَاءَ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عَلَى</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الفِيزِيَاءِ.</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 X ‘alā 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لِأَنَّهَا مُثِيرَةٌ لِلاهْتِمَامِ.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Chemistry (f.) → -hā.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وَلَكِنِّي لَا أُحِبُّ التَّارِيخَ لِأَنَّهُ مُمِلٌّ.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lā before the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DEGREE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COMPARISON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أُحِبُّ العُلُومَ </a:t>
            </a:r>
            <a:pPr rtl="1" algn="r" indent="0" marL="0">
              <a:buNone/>
            </a:pPr>
            <a:r>
              <a:rPr lang="ar-SA" altLang="en-US" sz="1750" b="1" dirty="0">
                <a:solidFill>
                  <a:srgbClr val="0E7C86"/>
                </a:solidFill>
                <a:latin typeface="Amiri" pitchFamily="34" charset="0"/>
                <a:ea typeface="Amiri" pitchFamily="34" charset="-122"/>
                <a:cs typeface="Amiri" pitchFamily="34" charset="-120"/>
              </a:rPr>
              <a:t>كَثِيرًا</a:t>
            </a:r>
            <a:pPr rtl="1" algn="r" indent="0" marL="0">
              <a:buNone/>
            </a:pPr>
            <a:r>
              <a:rPr lang="ar-SA" altLang="en-US" sz="1750" b="1" dirty="0">
                <a:solidFill>
                  <a:srgbClr val="1B3B6F"/>
                </a:solidFill>
                <a:latin typeface="Amiri" pitchFamily="34" charset="0"/>
                <a:ea typeface="Amiri" pitchFamily="34" charset="-122"/>
                <a:cs typeface="Amiri" pitchFamily="34" charset="-120"/>
              </a:rPr>
              <a:t>، وَأُفَضِّلُ الكِيمِيَاءَ </a:t>
            </a:r>
            <a:pPr rtl="1" algn="r" indent="0" marL="0">
              <a:buNone/>
            </a:pPr>
            <a:r>
              <a:rPr lang="ar-SA" altLang="en-US" sz="1750" b="1" dirty="0">
                <a:solidFill>
                  <a:srgbClr val="1D5FBF"/>
                </a:solidFill>
                <a:latin typeface="Amiri" pitchFamily="34" charset="0"/>
                <a:ea typeface="Amiri" pitchFamily="34" charset="-122"/>
                <a:cs typeface="Amiri" pitchFamily="34" charset="-120"/>
              </a:rPr>
              <a:t>عَلَى</a:t>
            </a:r>
            <a:pPr rtl="1" algn="r" indent="0" marL="0">
              <a:buNone/>
            </a:pPr>
            <a:r>
              <a:rPr lang="ar-SA" altLang="en-US" sz="1750" b="1" dirty="0">
                <a:solidFill>
                  <a:srgbClr val="1B3B6F"/>
                </a:solidFill>
                <a:latin typeface="Amiri" pitchFamily="34" charset="0"/>
                <a:ea typeface="Amiri" pitchFamily="34" charset="-122"/>
                <a:cs typeface="Amiri" pitchFamily="34" charset="-120"/>
              </a:rPr>
              <a:t> الفِيزِيَاءِ لِأَنَّهَا مُثِيرَةٌ لِلاهْتِمَامِ. أُحِبُّ الفَنَّ </a:t>
            </a:r>
            <a:pPr rtl="1" algn="r" indent="0" marL="0">
              <a:buNone/>
            </a:pPr>
            <a:r>
              <a:rPr lang="ar-SA" altLang="en-US" sz="1750" b="1" dirty="0">
                <a:solidFill>
                  <a:srgbClr val="0E7C86"/>
                </a:solidFill>
                <a:latin typeface="Amiri" pitchFamily="34" charset="0"/>
                <a:ea typeface="Amiri" pitchFamily="34" charset="-122"/>
                <a:cs typeface="Amiri" pitchFamily="34" charset="-120"/>
              </a:rPr>
              <a:t>قَلِيلًا</a:t>
            </a:r>
            <a:pPr rtl="1" algn="r" indent="0" marL="0">
              <a:buNone/>
            </a:pPr>
            <a:r>
              <a:rPr lang="ar-SA" altLang="en-US" sz="1750" b="1" dirty="0">
                <a:solidFill>
                  <a:srgbClr val="1B3B6F"/>
                </a:solidFill>
                <a:latin typeface="Amiri" pitchFamily="34" charset="0"/>
                <a:ea typeface="Amiri" pitchFamily="34" charset="-122"/>
                <a:cs typeface="Amiri" pitchFamily="34" charset="-120"/>
              </a:rPr>
              <a:t>، وَلَكِنِّي لَا أُحِبُّ التَّارِيخَ لِأَنَّهُ مُمِلٌّ فِي رَأْيِي.</a:t>
            </a:r>
            <a:endParaRPr lang="ar-SA" sz="17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like science a lot, and I prefer chemistry to physics because it is interesting. I like art a little, but I do not like history because it is boring in my opinion.</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LIKES AND DISLIKES”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Like or don’t like?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heart + book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 football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&gt; car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كُرَةَ القَدَمِ.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الدَّرَّاجَةَ عَلَى السَّيَّارَةِ.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القِرَاءَةَ.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heart + book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reading.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 football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أُحِبُّ كُرَةَ القَدَمِ.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do not like football.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bicycle &gt; car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الدَّرَّاجَةَ عَلَى السَّيَّارَةِ.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the bicycle to the car.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“PREFERENCE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preference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Female listener: Ask one female if she likes 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الفَنَّ؟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الفَنَّ؟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الفَنَّ؟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B3B6F"/>
                </a:solidFill>
                <a:latin typeface="Amiri" pitchFamily="34" charset="0"/>
                <a:ea typeface="Amiri" pitchFamily="34" charset="-122"/>
                <a:cs typeface="Amiri" pitchFamily="34" charset="-120"/>
              </a:rPr>
              <a:t>أُفَضِّلُ العَرَبِيَّةَ ___ الإِنْجِلِيزِيَّةِ.</a:t>
            </a:r>
            <a:endParaRPr lang="ar-SA" sz="11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أُحِبُّ الفَنَّ أَكْثَرَ ___ المُوسِيقَى.</a:t>
            </a:r>
            <a:endParaRPr lang="ar-SA" sz="11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Art: Choose the correct reason for art.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إِبْدَاعِيٌّ</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إِبْدَاعِيَّةٌ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لِأَنِّي إِبْدَاعِيٌّ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her: Choose “Salma prefers Arabic”.</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يُفَضِّلُ اللُّغَةَ العَرَبِيَّةَ.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أُفَضِّلُ اللُّغَةَ العَرَبِيَّةَ.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تُفَضِّلُ اللُّغَةَ العَرَبِيَّةَ.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girl → tuḥibbīna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prefer X ‘alā 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more than = akthara min</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Female listener: Ask one female if she likes art.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الفَنَّ؟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أُحِبُّ الفَنَّ؟</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تُحِبِّينَ الفَنَّ؟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B3B6F"/>
                </a:solidFill>
                <a:latin typeface="Amiri" pitchFamily="34" charset="0"/>
                <a:ea typeface="Amiri" pitchFamily="34" charset="-122"/>
                <a:cs typeface="Amiri" pitchFamily="34" charset="-120"/>
              </a:rPr>
              <a:t>أُفَضِّلُ العَرَبِيَّةَ ___ الإِنْجِلِيزِيَّةِ.</a:t>
            </a:r>
            <a:endParaRPr lang="ar-SA" sz="11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X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Y.</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أُحِبُّ الفَنَّ أَكْثَرَ ___ المُوسِيقَى.</a:t>
            </a:r>
            <a:endParaRPr lang="ar-SA" sz="11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أَكْثَرَ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Art: Choose the correct reason for art.</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إِبْدَاعِيٌّ</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إِبْدَاعِيَّةٌ</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لِأَنِّي إِبْدَاعِيٌّ</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الفَنُّ</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her: Choose “Salma prefers Arabic”.</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يُفَضِّلُ اللُّغَةَ العَرَبِيَّةَ.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أُفَضِّلُ اللُّغَةَ العَرَبِيَّةَ.</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سَلْمَى تُفَضِّلُ اللُّغَةَ العَرَبِيَّةَ.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تُفَضِّلُ</a:t>
            </a:r>
            <a:pPr algn="l" indent="0" marL="0">
              <a:buNone/>
            </a:pPr>
            <a:r>
              <a:rPr lang="en-US" sz="1050" i="1" dirty="0">
                <a:solidFill>
                  <a:srgbClr val="8A6D1E"/>
                </a:solidFill>
                <a:latin typeface="Calibri" pitchFamily="34" charset="0"/>
                <a:ea typeface="Calibri" pitchFamily="34" charset="-122"/>
                <a:cs typeface="Calibri" pitchFamily="34" charset="-120"/>
              </a:rPr>
              <a:t> for she.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girl → tuḥibbīna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prefer X ‘alā 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more than = akthara min</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كَثِيرًا العُلُومَ.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the degree word go?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يَا مَرْيَمُ، هَلْ تُحِبُّ الفَنَّ؟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Asking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أُفَضِّلُ الفَنَّ مِنَ التَّارِيخِ.</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Prefer X … Y: ‘alā or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كَثِيرًا العُلُومَ.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العُلُومَ كَثِيرًا.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degree word comes AFTER the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يَا مَرْيَمُ، هَلْ تُحِبُّ الفَنَّ؟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يَا مَرْيَمُ، هَلْ تُحِبِّينَ الفَنَّ؟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LISTENER’s gender controls the question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أُفَضِّلُ الفَنَّ مِنَ التَّارِيخِ.</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أُفَضِّلُ الفَنَّ عَلَى التَّارِيخِ.</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Prefer X to Y = ‘alā; like more than = akthara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Noor compares school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Noor like a lot?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التَّارِيخُ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Noor prefer to physics?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التَّارِيخُ</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الكِيمِيَاءُ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Noor like only a little?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 العَرَبِيَّةُ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dislike history?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finds it boring.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finds it difficult.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finds it unimportant.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Salma prefer?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 الإِنْجِلِيزِيَّةُ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 العَرَبِيَّةُ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المُوسِيقَى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columns: Noor · Omar · Salma — subject, degree, reason.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نُورٌ: أَدْرُسُ مَوَادَّ كَثِيرَةً فِي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I study many subjects at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أُحِبُّ العُلُومَ كَثِيرًا لِأَنَّهَا مُثِيرَةٌ لِلاهْتِمَامِ، وَأُفَضِّلُ الكِيمِيَاءَ عَلَى الفِيزِيَاءِ.</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science a lot because it is interesting, and I prefer chemistry to physics.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الفَنَّ قَلِيلًا، وَلَكِنِّي لَا أُحِبُّ التَّارِيخَ لِأَنَّهُ مُمِلٌّ فِي رَأْيِي.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art a little, but I don’t like history because it is boring in my opinion.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صَدِيقِي عُمَرُ يُحِبُّ التَّارِيخَ جِدًّا، وَهُوَ يُفَضِّلُهُ عَلَى الجُغْرَافِيَا.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Omar likes history very much, and he prefers it to geography.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صَدِيقَتِي سَلْمَى فَتُفَضِّلُ اللُّغَةَ العَرَبِيَّةَ لِأَنَّهَا مُهِمَّةٌ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my friend Salma, she prefers Arabic because it is important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Noor like a lot?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العُلُومُ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التَّارِيخُ</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Noor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العُلُومَ كَثِيرًا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Noor prefer to physics?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التَّارِيخُ</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الكِيمِيَاءُ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prefers chemistry to physics.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Noor like only a little?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 العَرَبِيَّةُ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الفَنَّ قَلِيلًا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dislike history?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finds it boring.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finds it difficult.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finds it unimportant.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لِأَنَّهُ مُمِلٌّ فِي رَأْيِي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Salma prefer?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 الإِنْجِلِيزِيَّةُ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 العَرَبِيَّةُ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المُوسِيقَى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Salma prefers Arabic.</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columns: Noor · Omar · Salma — subject, degree, reason.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Yusuf’s preferences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يُوسُفُ. أُحِبُّ الرِّيَاضِيَّاتِ كَثِيرًا؛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 likes maths a lot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لِأَنَّهَا عَمَلِيَّةٌ وَمُفِيدَةٌ.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practical and useful (f.)</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عِلْمَ الحَاسُوبِ عَلَى الفَنِّ؛ لِأَنَّهُ شَيِّقٌ.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computing to art — engaging (m.)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المُوسِيقَى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Does not like music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وَلَكِنِّي أُحِبُّ اللُّغَةَ العَرَبِيَّةَ جِدًّا.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likes Arabic very much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Hanan’s preferences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حَنَانُ. مَادَّتِي المُفَضَّلَةُ هِيَ الفَنُّ؛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Hanan · favourite: art</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إِبْدَاعِيٌّ وَمُمْتِعٌ.</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 and enjoyable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الجُغْرَافِيَا أَكْثَرَ مِنَ التَّارِيخِ.</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 more than history</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العُلُومَ قَلِيلًا، وَلَا أُفَضِّلُ الفِيزِيَاءَ؛</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a little · not physics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لِأَنَّهَا مُعَقَّدَةٌ فِي رَأْيِي.</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complicated, in her opinion (f.)</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 or Hanan?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Yusuf like mathematics?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creative and easy.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practical and useful.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boring but important.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prefer to art?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 العَرَبِيَّةُ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عِلْمُ الحَاسُوبِ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التَّارِيخُ</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Yusuf not like very much?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المُوسِيقَى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Hanan like art?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creative and enjoyable.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practical and useful.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easy and short.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Hanan like more than history?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الجُغْرَافِيَا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المُوسِيقَى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preference verb,</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degree or the reason.</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Yusuf like mathematics?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creative and easy.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practical and useful.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boring but important.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عَمَلِيَّةٌ وَمُفِيدَةٌ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prefer to art?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 العَرَبِيَّةُ</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عِلْمُ الحَاسُوبِ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التَّارِيخُ</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prefers computer science to art.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Yusuf not like very much?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المُوسِيقَى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he does not like music very much.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Hanan like art?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creative and enjoyable.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practical and useful.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easy and short.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describes art as creative and enjoyable.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Hanan like more than history?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الجُغْرَافِيَا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المُوسِيقَى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likes geography more than history.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preference verb,</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degree or the reason.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Hold a subject-preference conversation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الرِّيَاضِيَّاتِ؟ / هَلْ تُحِبِّينَ الرِّيَاضِيَّاتِ؟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مَادَّتُكَ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مَادَّةٍ تُفَضِّلُ: الفَنَّ أَمِ المُوسِيقَى؟</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يُحِبُّ صَدِيقُكَ؟ وَمَاذَا تُفَضِّلُ صَدِيقَتُكَ؟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نَعَمْ، أُحِبُّ … كَثِيرًا. / لَا، لَا أُحِبُّ … .</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مَادَّتِي المُفَضَّلَةُ هِيَ ___ لِأَنَّهُ / لِأَنَّهَا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عَلَى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صَدِيقِي يُحِبُّ ___ ، وَصَدِيقَتِي تُفَضِّلُ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تُحِبِّينَ الرِّيَاضِيَّاتِ؟ مَا مَادَّتُكِ المُفَضَّلَةُ؟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like maths? What is your favourite subject?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أُحِبُّهَا قَلِيلًا. مَادَّتِي المُفَضَّلَةُ هِيَ الفَنُّ، وَأُفَضِّلُهُ عَلَى المُوسِيقَى.</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like it a little. My favourite is art, and I prefer it to music.</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Like, dislike, favourite and a degree,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preference verbs, two degrees and two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preference verbs, two degrees, two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Report another learner: yuḥibbu / tuḥibbu / yufaḍḍilu / tufaḍḍilu.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Report another learner and use akthara / aqalla min.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الكِيمِيَاءَ عَلَى الفِيزِيَاءِ.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chemistry to physics.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الفَنَّ أَكْثَرَ مِنَ المُوسِيقَى.</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art more than music.</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لِأَنَّهُ إِبْدَاعِيٌّ.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creative (m.).</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 يُحِبُّ التَّارِيخَ جِدًّا.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Omar likes history very much.</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سَلْمَى تُفَضِّلُ اللُّغَةَ العَرَبِيَّةَ.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Salma prefers Arabic.</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العُلُومَ كَثِيرًا.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science a lot.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الفَنَّ قَلِيلًا.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art a little.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التَّارِيخَ.</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like history.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مَادَّتِي المُفَضَّلَةُ هِيَ اللُّغَةُ العَرَبِيَّةُ.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subject is Arabic.</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تُحِبِّينَ الرِّيَاضِيَّاتِ؟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(f.) like maths?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أُحِبُّ  ·  لَا أُحِبُّ  ·  أُفَضِّلُ  ·  عَلَى  ·  أَكْثَرَ مِنْ  ·  جِدًّا  ·  كَثِيرًا  ·  قَلِيلًا  ·  فِي رَأْيِي  ·  لِأَنَّهُ  ·  لِأَنَّهَا  ·  وَلَكِنِّي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العُلُومَ كَثِيرًا لِأَنَّهَا مُثِيرَةٌ لِلاهْتِمَامِ، وَأُفَضِّلُ الكِيمِيَاءَ عَلَى الفِيزِيَاءِ. أُحِبُّ الفَنَّ قَلِيلًا، وَلَكِنِّي لَا أُحِبُّ التَّارِيخَ لِأَنَّهُ مُمِلٌّ فِي رَأْيِي. صَدِيقِي عُمَرُ يُحِبُّ التَّارِيخَ جِدًّا، أَمَّا صَدِيقَتِي سَلْمَى فَتُفَضِّلُ اللُّغَةَ العَرَبِيَّةَ لِأَنَّهَا مُهِمَّةٌ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science a lot because it is interesting, and I prefer chemistry to physics. I like art a little, but I do not like history because it is boring in my opinion. My friend Omar likes history very much; as for my friend Salma, she prefers Arabic because it is important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degree words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reporting others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uḥibbu and lā uḥibbu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degree word comes after the subject.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with ufaḍḍilu … ‘alā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reasons agree with the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another person’s opinion.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likes mathematics.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الرِّيَاضِيَّاتِ؟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الرِّيَاضِيَّاتِ؟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أُفَضِّلُ الفَنَّ ___ التَّارِيخِ.</a:t>
            </a:r>
            <a:endParaRPr lang="ar-SA" sz="14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“He likes history”.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يُحِبُّ التَّارِيخَ.</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تُحِبُّ التَّارِيخَ.</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أُحِبُّ التَّارِيخَ.</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likes mathematics.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تُحِبِّينَ الرِّيَاضِيَّاتِ؟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تُحِبُّ الرِّيَاضِيَّاتِ؟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أُحِبُّ الرِّيَاضِيَّاتِ؟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أُفَضِّلُ الفَنَّ ___ التَّارِيخِ.</a:t>
            </a:r>
            <a:endParaRPr lang="ar-SA" sz="14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“He likes history”.</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هُوَ يُحِبُّ التَّارِيخَ.</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تُحِبُّ التَّارِيخَ.</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أُحِبُّ التَّارِيخَ.</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يُحِبُّ</a:t>
            </a:r>
            <a:pPr algn="l" indent="0" marL="0">
              <a:buNone/>
            </a:pPr>
            <a:r>
              <a:rPr lang="en-US" sz="1050" i="1" dirty="0">
                <a:solidFill>
                  <a:srgbClr val="8A6D1E"/>
                </a:solidFill>
                <a:latin typeface="Calibri" pitchFamily="34" charset="0"/>
                <a:ea typeface="Calibri" pitchFamily="34" charset="-122"/>
                <a:cs typeface="Calibri" pitchFamily="34" charset="-120"/>
              </a:rPr>
              <a:t> for he.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F4-L04 · Likes &amp;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F4-L05 · Giving Reasons — Why?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لِمَاذَا؟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because I …</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practical</a:t>
            </a:r>
            <a:pPr indent="0" marL="0">
              <a:buNone/>
            </a:pPr>
            <a:r>
              <a:rPr lang="en-US" sz="1000" i="1" dirty="0">
                <a:solidFill>
                  <a:srgbClr val="5A6472"/>
                </a:solidFill>
                <a:latin typeface="Calibri" pitchFamily="34" charset="0"/>
                <a:ea typeface="Calibri" pitchFamily="34" charset="-122"/>
                <a:cs typeface="Calibri" pitchFamily="34" charset="-120"/>
              </a:rPr>
              <a:t>  f. عَمَلِيَّةٌ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إِبْدَاعِيٌّ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creative</a:t>
            </a:r>
            <a:pPr indent="0" marL="0">
              <a:buNone/>
            </a:pPr>
            <a:r>
              <a:rPr lang="en-US" sz="1000" i="1" dirty="0">
                <a:solidFill>
                  <a:srgbClr val="5A6472"/>
                </a:solidFill>
                <a:latin typeface="Calibri" pitchFamily="34" charset="0"/>
                <a:ea typeface="Calibri" pitchFamily="34" charset="-122"/>
                <a:cs typeface="Calibri" pitchFamily="34" charset="-120"/>
              </a:rPr>
              <a:t>  f. إِبْدَاعِيَّةٌ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مُعَقَّدٌ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complicated</a:t>
            </a:r>
            <a:pPr indent="0" marL="0">
              <a:buNone/>
            </a:pPr>
            <a:r>
              <a:rPr lang="en-US" sz="1000" i="1" dirty="0">
                <a:solidFill>
                  <a:srgbClr val="5A6472"/>
                </a:solidFill>
                <a:latin typeface="Calibri" pitchFamily="34" charset="0"/>
                <a:ea typeface="Calibri" pitchFamily="34" charset="-122"/>
                <a:cs typeface="Calibri" pitchFamily="34" charset="-120"/>
              </a:rPr>
              <a:t>  f. مُعَقَّدَةٌ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Why do you like your favourite subject? Give one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F4-L04: the Preference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opinion profile: one like, one dislike, one comparison and one reason.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7–9-sentence preference report about yourself and one friend.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F4-L05 · Giving Reasons — Why?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إِعْطَاءُ الأَسْبَابِ — لِمَاذَا؟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subject + degree + reason · prefer X ‘alā Y · the listener controls tuḥibbu / tuḥibbīna.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F4-L04 · Likes, Dislikes and Preferences</dc:title>
  <dc:subject>PptxGenJS Presentation</dc:subject>
  <dc:creator>Al Madina Online School · Arabic Department</dc:creator>
  <cp:lastModifiedBy>Al Madina Online School · Arabic Department</cp:lastModifiedBy>
  <cp:revision>1</cp:revision>
  <dcterms:created xsi:type="dcterms:W3CDTF">2026-09-27T19:33:37Z</dcterms:created>
  <dcterms:modified xsi:type="dcterms:W3CDTF">2026-09-27T19:33:37Z</dcterms:modified>
</cp:coreProperties>
</file>