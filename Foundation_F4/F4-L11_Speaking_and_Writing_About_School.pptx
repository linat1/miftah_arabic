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F4 My School › Lesson 11 (F4-L11). Website sections used: the outcome cards (speak 45–60 seconds · write 6–8 sentences), the ten-question synthesis retrieval, the productive toolkit (open · sequence · opinion · justify · rule · contrast and conclude) with the accuracy checkpoint, the eight-sentence model text with purpose labels and the meaning / range / accuracy questions, the six-box plan, the eight-question purpose match, the two-sentence dictation, the 60-second talk with five evidence points, the connected paragraph, the ten-point review with a before/after rewrite and the 16-question checkpoint.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Website principle: “This lesson does not add a new grammar system. It helps you select, organise and control language already learned across F4.”
• Core: six sentences, one per plan box, using the toolkit frames. Develop: seven sentences, three connectives and a contrast. Stretch: eight sentences with varied openings and a developed conclusion.
• Plans are NOTES, not scripts — insist on this before the talk, or students read aloud instead of speaking.
• Keep today’s paragraph and self-assessment: they are the evidence students bring to F4-L12.
• Online: the talk in breakout pairs (60 s each, partner ticks the five evidence points); the paragraph on screen or lined paper.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at the end of F4-L10. Questions 3–5 are from the website ten-question synthesis retrieval (reason agreement, sequence connective, prohibition).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One message, two modes: speak for a minute, then write 6–8 connected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learning objectives (left) and success criteria (right).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رائے، ضروری، مفید، حیات are shared words. Urdu نہایت means “extremely” (literally “to the end”) — Arabic نِهَايَةٌ is “the end”: فِي النِّهَايَةِ = finally.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TOOLKIT (website “Build a productive language toolkit”): Open and locate — أَدْرُسُ فِي… · تَقَعُ مَدْرَسَتِي فِي… · فِي مَدْرَسَتِي… Name and sequence — أَدْرُسُ… · فِي الحِصَّةِ الأُولَى… · ثُمَّ / بَعْدَ ذَلِكَ… Opinion — أُحِبُّ… · أُفَضِّلُ… · فِي رَأْيِي… Justify — لِأَنَّهُ مُفِيدٌ · لِأَنَّهَا مُمْتِعَةٌ · لِأَنَّنِي أَتَعَلَّمُ… Rule — يَجِبُ أَنْ… · لَا يَجُوزُ أَنْ… · مِنَ الضَّرُورِيِّ أَنْ… Website: “Do not try to use every phrase. Select the language that helps the listener or reader follow your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the website “Build your speaking and writing plan” (six boxes with frames). Students fill the six boxes with NOTES (2–4 words each) before the talk. The examples in column 3 are teacher models; students choose their own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accuracy checkpoint: “Choose لِأَنَّهُ for a masculine subject such as التَّارِيخُ, and لِأَنَّهَا for a feminine subject such as الرِّيَاضِيَّاتُ or اللُّغَةُ العَرَبِيَّةُ. The reason adjective must agree too.”
Website review list (accuracy): subject names and days spelled accurately · reason pronouns and adjectives agree · rule structures include أَنْ · verbs match the intended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final-checkpoint questions 3, 4, 6 and 7.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(4 min) — read the website model aloud, labelling the job of each sentence. Website: “A strong paragraph is not a list: every sentence develops the message.”
Meaning: does every sentence add information? Range: which structures are varied (present verbs, opinions, reasons, times, sequence, rule, description, conclusion)? Accuracy: where could errors occur (subject spelling, adjective agreement, reason pronouns, verb forms, days and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students give the label before you reveal it (chat: one word). Ask: which three connectives does the whole model use? (وَلَكِنَّ، ثُمَّ، بَعْدَ ذَلِكَ). Why دُودُونَ with -ūna? (زُمَلَائِي is a group of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5 of the website’s 8 purpose-match questions. The other 3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key word gave the purpose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3. Develop / Stretch: all 5, then write the two dictation sentences.
Listen 1: just listen. Listen 2: note answers. Then chat the letters.
Support: after the second listening, show the read-along slide (Arabic + English, line by line) for Core students.
SCRIPT (read aloud):
أَدْرُسُ فِي مَدْرَسَةٍ مُتَوَسِّطَةِ الحَجْمِ فِي لَنْدَنَ، وَفِيهَا مَكْتَبَةٌ جَمِيلَةٌ وَمَلْعَبٌ كَبِيرٌ. فِي يَوْمِ الاِثْنَيْنِ أَدْرُسُ العُلُومَ فِي الحِصَّةِ الأُولَى، ثُمَّ أَدْرُسُ التَّارِيخَ بَعْدَ الفُسْحَةِ. أَبْدَأُ الدِّرَاسَةَ فِي السَّاعَةِ التَّاسِعَةِ وَأَنْتَهِي فِي السَّاعَةِ الثَّالِثَةِ، وَبَعْدَ ذَلِكَ أَرْجِعُ إِلَى البَيْتِ. فِي مَدْرَسَتِي يَجِبُ أَنْ نَحْتَرِمَ المُعَلِّمِينَ، وَلَا يَجُوزُ أَنْ نَسْتَعْمِلَ الهَاتِفَ فِي الدَّرْسِ. — إِمْلَاءٌ: أُفَضِّلُ اللُّغَةَ العَرَبِيَّةَ لِأَنَّهَا مُفِيدَةٌ وَمُمْتِعَةٌ. فِي يَوْمِ الخَمِيسِ أَدْرُسُ العُلُومَ، ثُمَّ أَذْهَبُ إِلَى المَكْتَبَةِ.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Teacher-written evidence questions on the website model text (the website offers the model for reading and labelling rather than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reads aloud the evidence phrase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60-SECOND TALK — “Use your plan as a prompt, not a script. Aim for clear, connected meaning rather than speed.”
Partner ticks the five website evidence points: answered every part · at least three connectives · an accurate reason · a time, day or sequence · understandable message.
Core aim 45 seconds, Develop / Stretch 60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Six sentences, one per plan box, using the toolkit frames. · Develop — Seven sentences with three connectives and one contrast. · Stretch — Eight sentences, varied openings and a developed conclusion with a reason.
Website writing task (Stretch): Website writing task: write 6–8 connected Arabic sentences about your school and school life — school description, subjects, a justified opinion, timetable or routine detail, a rule and a concluding view.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The website model text “My school and school life” (8 sentences).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(F4-L12 · Review and Unit Assessment) will spend class time USING this language, so students prepare it tonight — short, simple, easy to access (school guidance: “Simple, Short, Interesting, Relevant, Easy to access”). Teacher-chosen assessment words for the F4-L12 review and unit assessment.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F4  ·  F4-L11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F4-L11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cs typeface="Amiri" pitchFamily="2" charset="-78"/>
              </a:rPr>
              <a:t>Speaking and Writing About School</a:t>
            </a:r>
            <a:endParaRPr lang="en-US" sz="32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التَّحَدُّثُ وَالكِتَابَةُ عَنِ المَدْرَسَةِ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Bring the complete F4 language system together: plan, deliver a one-minute school talk, then write and improve a connected 6–8 sentence paragraph.</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F4-L11 · Foundation F4 · My School</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F4 › F4-L11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F4-L11 · Speak and Write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F4-L11 · Speak and Write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productive toolkit, then the purpose of each sentence in a model.</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Purpose match, dictation, model talk and evidence questions.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F4-L12.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F4-L11 · Speak and Write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خُطَّةٌ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conclusion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plan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presentation</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خَاتِمَةٌ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conclusion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purpose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feedback</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Choose the accurate reason for this</a:t>
            </a:r>
            <a:endParaRPr lang="en-US" sz="1100" dirty="0"/>
          </a:p>
        </p:txBody>
      </p:sp>
      <p:sp>
        <p:nvSpPr>
          <p:cNvPr id="45" name="Text 42"/>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الرِّيَاضِيَّاتُ.</a:t>
            </a:r>
            <a:endParaRPr lang="ar-SA" sz="220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 مُفِيدٌ</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لِأَنَّهَا مُفِيدٌ</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لِأَنَّهَا مُفِيدَةٌ</a:t>
            </a:r>
            <a:endParaRPr lang="ar-SA" sz="2050" dirty="0"/>
          </a:p>
        </p:txBody>
      </p:sp>
      <p:sp>
        <p:nvSpPr>
          <p:cNvPr id="55" name="Shape 5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best connective for a next event.</a:t>
            </a:r>
            <a:endParaRPr lang="en-US" sz="125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a:t>
            </a:r>
            <a:endParaRPr lang="ar-SA" sz="20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وَلَكِنَّ</a:t>
            </a:r>
            <a:endParaRPr lang="ar-SA" sz="2050" dirty="0"/>
          </a:p>
        </p:txBody>
      </p:sp>
      <p:sp>
        <p:nvSpPr>
          <p:cNvPr id="65" name="Shape 62"/>
          <p:cNvSpPr/>
          <p:nvPr/>
        </p:nvSpPr>
        <p:spPr>
          <a:xfrm>
            <a:off x="640080"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ثُمَّ</a:t>
            </a:r>
            <a:endParaRPr lang="ar-SA" sz="205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1" name="Text 6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states a prohibition?</a:t>
            </a:r>
            <a:endParaRPr lang="en-US" sz="125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يَجُوزُ أَنْ نَسْتَعْمِلَ الهَاتِفَ.</a:t>
            </a:r>
            <a:endParaRPr lang="ar-SA" sz="20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يَجِبُ أَنْ نَسْتَعْمِلَ الهَاتِفَ.</a:t>
            </a:r>
            <a:endParaRPr lang="ar-SA" sz="20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أَدْرُسُ الهَاتِفَ.</a:t>
            </a:r>
            <a:endParaRPr lang="ar-SA" sz="2050" dirty="0"/>
          </a:p>
        </p:txBody>
      </p:sp>
      <p:sp>
        <p:nvSpPr>
          <p:cNvPr id="81" name="Shape 78"/>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2" name="Text 79"/>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3" name="Text 80"/>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4" name="Text 81"/>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5" name="Text 82"/>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F4-L11 · Speak and Write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خُطَّةٌ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conclusion</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plan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presentation</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(F4-L10).</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خَاتِمَةٌ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conclusion</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purpose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feedback</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(F4-L10).</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Choose the accurate reason for this</a:t>
            </a:r>
            <a:endParaRPr lang="en-US" sz="1100" dirty="0"/>
          </a:p>
        </p:txBody>
      </p:sp>
      <p:sp>
        <p:nvSpPr>
          <p:cNvPr id="49" name="Text 46"/>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الرِّيَاضِيَّاتُ.</a:t>
            </a:r>
            <a:endParaRPr lang="ar-SA" sz="2200" dirty="0"/>
          </a:p>
        </p:txBody>
      </p:sp>
      <p:sp>
        <p:nvSpPr>
          <p:cNvPr id="50" name="Shape 47"/>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لِأَنَّهُ مُفِيدٌ</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لِأَنَّهَا مُفِيدٌ</a:t>
            </a:r>
            <a:endParaRPr lang="ar-SA" sz="1700" dirty="0"/>
          </a:p>
        </p:txBody>
      </p:sp>
      <p:sp>
        <p:nvSpPr>
          <p:cNvPr id="56" name="Shape 53"/>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5"/>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6"/>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لِأَنَّهَا مُفِيدَةٌ</a:t>
            </a:r>
            <a:endParaRPr lang="ar-SA" sz="1700" dirty="0"/>
          </a:p>
        </p:txBody>
      </p:sp>
      <p:sp>
        <p:nvSpPr>
          <p:cNvPr id="60" name="Text 5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الرِّيَاضِيَّاتُ</a:t>
            </a:r>
            <a:pPr algn="l" indent="0" marL="0">
              <a:buNone/>
            </a:pPr>
            <a:r>
              <a:rPr lang="en-US" sz="1050" i="1" dirty="0">
                <a:solidFill>
                  <a:srgbClr val="8A6D1E"/>
                </a:solidFill>
                <a:latin typeface="Calibri" pitchFamily="34" charset="0"/>
                <a:cs typeface="Amiri" pitchFamily="2" charset="-78"/>
              </a:rPr>
              <a:t> is treated as feminine, so both the pronoun and adjective agree.</a:t>
            </a:r>
            <a:endParaRPr lang="en-US" sz="1050" dirty="0"/>
          </a:p>
        </p:txBody>
      </p:sp>
      <p:sp>
        <p:nvSpPr>
          <p:cNvPr id="61" name="Shape 5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best connective for a next event.</a:t>
            </a:r>
            <a:endParaRPr lang="en-US" sz="1250" dirty="0"/>
          </a:p>
        </p:txBody>
      </p:sp>
      <p:sp>
        <p:nvSpPr>
          <p:cNvPr id="65" name="Shape 62"/>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وَلَكِنَّ</a:t>
            </a:r>
            <a:endParaRPr lang="ar-SA" sz="1700" dirty="0"/>
          </a:p>
        </p:txBody>
      </p:sp>
      <p:sp>
        <p:nvSpPr>
          <p:cNvPr id="71" name="Shape 68"/>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1"/>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ثُمَّ</a:t>
            </a:r>
            <a:endParaRPr lang="ar-SA" sz="170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ثُمَّ</a:t>
            </a:r>
            <a:pPr algn="l" indent="0" marL="0">
              <a:buNone/>
            </a:pPr>
            <a:r>
              <a:rPr lang="en-US" sz="1050" i="1" dirty="0">
                <a:solidFill>
                  <a:srgbClr val="8A6D1E"/>
                </a:solidFill>
                <a:latin typeface="Calibri" pitchFamily="34" charset="0"/>
                <a:cs typeface="Amiri" pitchFamily="2" charset="-78"/>
              </a:rPr>
              <a:t> sequences the next event.</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6"/>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states a prohibition?</a:t>
            </a:r>
            <a:endParaRPr lang="en-US" sz="1250" dirty="0"/>
          </a:p>
        </p:txBody>
      </p:sp>
      <p:sp>
        <p:nvSpPr>
          <p:cNvPr id="80" name="Shape 77"/>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8"/>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لَا يَجُوزُ أَنْ نَسْتَعْمِلَ الهَاتِفَ.</a:t>
            </a:r>
            <a:endParaRPr lang="ar-SA" sz="170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يَجِبُ أَنْ نَسْتَعْمِلَ الهَاتِفَ.</a:t>
            </a:r>
            <a:endParaRPr lang="ar-SA" sz="170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 أَدْرُسُ الهَاتِفَ.</a:t>
            </a:r>
            <a:endParaRPr lang="ar-SA" sz="170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لَا يَجُوزُ أَنْ</a:t>
            </a:r>
            <a:pPr algn="l" indent="0" marL="0">
              <a:buNone/>
            </a:pPr>
            <a:r>
              <a:rPr lang="en-US" sz="1050" i="1" dirty="0">
                <a:solidFill>
                  <a:srgbClr val="8A6D1E"/>
                </a:solidFill>
                <a:latin typeface="Calibri" pitchFamily="34" charset="0"/>
                <a:cs typeface="Amiri" pitchFamily="2" charset="-78"/>
              </a:rPr>
              <a:t> means “it is not permitted to”.</a:t>
            </a:r>
            <a:endParaRPr lang="en-US" sz="1050" dirty="0"/>
          </a:p>
        </p:txBody>
      </p:sp>
      <p:sp>
        <p:nvSpPr>
          <p:cNvPr id="91" name="Shape 88"/>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2" name="Text 89"/>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3" name="Text 90"/>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One message, two modes: speak for a minute, then write 6–8 connected sentences.</a:t>
            </a:r>
            <a:endParaRPr lang="en-US" sz="1300" dirty="0"/>
          </a:p>
        </p:txBody>
      </p:sp>
      <p:sp>
        <p:nvSpPr>
          <p:cNvPr id="94" name="Text 91"/>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أَتَحَدَّثُ عَنْ مَدْرَسَتِي، ثُمَّ أَكْتُبُ فِقْرَةً مُتَرَابِطَةً.</a:t>
            </a:r>
            <a:endParaRPr lang="ar-SA" sz="19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F4-L11 · Speak and Write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Speak for up to one minute about school life.</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Plan and write a connected 6–8 sentence paragraph.</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Combine subjects, opinions, reasons, days, routines and rules.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Check meaning, agreement, spelling and connective choice.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subjects and give a preference.</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describe my timetable or my day.</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at least three connectives.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give an accurate reason.</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improve one sentence after checking it.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vary my sentence openings.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No new grammar today: select, organise and control the whole F4 system. Core: the six plan boxes.</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FUNCTION 1–2</a:t>
            </a:r>
            <a:endParaRPr lang="en-US" sz="900" dirty="0"/>
          </a:p>
          <a:p>
            <a:pPr indent="0" marL="0">
              <a:buNone/>
            </a:pPr>
            <a:r>
              <a:rPr lang="en-US" sz="1200" b="1" dirty="0">
                <a:solidFill>
                  <a:srgbClr val="FFFFFF"/>
                </a:solidFill>
                <a:latin typeface="Calibri" pitchFamily="34" charset="0"/>
                <a:cs typeface="Amiri" pitchFamily="2" charset="-78"/>
              </a:rPr>
              <a:t>Open · name and sequence</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FUNCTION 3–4</a:t>
            </a:r>
            <a:endParaRPr lang="en-US" sz="900" dirty="0"/>
          </a:p>
          <a:p>
            <a:pPr indent="0" marL="0">
              <a:buNone/>
            </a:pPr>
            <a:r>
              <a:rPr lang="en-US" sz="1200" b="1" dirty="0">
                <a:solidFill>
                  <a:srgbClr val="FFFFFF"/>
                </a:solidFill>
                <a:latin typeface="Calibri" pitchFamily="34" charset="0"/>
                <a:cs typeface="Amiri" pitchFamily="2" charset="-78"/>
              </a:rPr>
              <a:t>Opinion · justify</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FUNCTION 5–6</a:t>
            </a:r>
            <a:endParaRPr lang="en-US" sz="900" dirty="0"/>
          </a:p>
          <a:p>
            <a:pPr indent="0" marL="0">
              <a:buNone/>
            </a:pPr>
            <a:r>
              <a:rPr lang="en-US" sz="1200" b="1" dirty="0">
                <a:solidFill>
                  <a:srgbClr val="FFFFFF"/>
                </a:solidFill>
                <a:latin typeface="Calibri" pitchFamily="34" charset="0"/>
                <a:cs typeface="Amiri" pitchFamily="2" charset="-78"/>
              </a:rPr>
              <a:t>Rule · contrast and conclude</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رَأْيٌ</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‎رائے‎ </a:t>
            </a:r>
            <a:pPr indent="0" marL="0">
              <a:buNone/>
            </a:pPr>
            <a:r>
              <a:rPr lang="en-US" sz="950" b="1" dirty="0">
                <a:solidFill>
                  <a:srgbClr val="2E8B57"/>
                </a:solidFill>
                <a:latin typeface="Calibri" pitchFamily="34" charset="0"/>
                <a:cs typeface="Amiri" pitchFamily="2" charset="-78"/>
              </a:rPr>
              <a:t> ra’y · opinion</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ضَرُورِيٌّ</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‎ضروری‎ </a:t>
            </a:r>
            <a:pPr indent="0" marL="0">
              <a:buNone/>
            </a:pPr>
            <a:r>
              <a:rPr lang="en-US" sz="950" b="1" dirty="0">
                <a:solidFill>
                  <a:srgbClr val="2E8B57"/>
                </a:solidFill>
                <a:latin typeface="Calibri" pitchFamily="34" charset="0"/>
                <a:cs typeface="Amiri" pitchFamily="2" charset="-78"/>
              </a:rPr>
              <a:t> ḍarūrī · necessary</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مُفِيدٌ</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‎مفید‎ </a:t>
            </a:r>
            <a:pPr indent="0" marL="0">
              <a:buNone/>
            </a:pPr>
            <a:r>
              <a:rPr lang="en-US" sz="950" b="1" dirty="0">
                <a:solidFill>
                  <a:srgbClr val="2E8B57"/>
                </a:solidFill>
                <a:latin typeface="Calibri" pitchFamily="34" charset="0"/>
                <a:cs typeface="Amiri" pitchFamily="2" charset="-78"/>
              </a:rPr>
              <a:t> mufīd · useful</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حَيَاةٌ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‎حیات‎ </a:t>
            </a:r>
            <a:pPr indent="0" marL="0">
              <a:buNone/>
            </a:pPr>
            <a:r>
              <a:rPr lang="en-US" sz="950" b="1" dirty="0">
                <a:solidFill>
                  <a:srgbClr val="2E8B57"/>
                </a:solidFill>
                <a:latin typeface="Calibri" pitchFamily="34" charset="0"/>
                <a:cs typeface="Amiri" pitchFamily="2" charset="-78"/>
              </a:rPr>
              <a:t> ḥayāh · life</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نِهَايَةٌ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‎نہایت‎ </a:t>
            </a:r>
            <a:pPr indent="0" marL="0">
              <a:buNone/>
            </a:pPr>
            <a:r>
              <a:rPr lang="en-US" sz="950" b="1" dirty="0">
                <a:solidFill>
                  <a:srgbClr val="2E8B57"/>
                </a:solidFill>
                <a:latin typeface="Calibri" pitchFamily="34" charset="0"/>
                <a:cs typeface="Amiri" pitchFamily="2" charset="-78"/>
              </a:rPr>
              <a:t> nihāya · end</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F4-L11 · Speak and Write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PRODUCTIVE TOOLKIT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Connect and conclude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أَدَوَاتُ الرَّبْطِ</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7175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sequence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ثُمَّ / بَعْدَ ذَلِكَ</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then / after that</a:t>
            </a:r>
            <a:endParaRPr lang="en-US" sz="1350" dirty="0"/>
          </a:p>
          <a:p>
            <a:pPr indent="0" marL="0">
              <a:buNone/>
            </a:pPr>
            <a:r>
              <a:rPr lang="en-US" sz="1100" i="1" dirty="0">
                <a:solidFill>
                  <a:srgbClr val="5A6472"/>
                </a:solidFill>
                <a:latin typeface="Calibri" pitchFamily="34" charset="0"/>
                <a:cs typeface="Amiri" pitchFamily="2" charset="-78"/>
              </a:rPr>
              <a:t>thum-ma / ba‘-da dhā-lik</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7" name="Shape 24"/>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add</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أَيْضًا</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also</a:t>
            </a:r>
            <a:endParaRPr lang="en-US" sz="1350" dirty="0"/>
          </a:p>
          <a:p>
            <a:pPr indent="0" marL="0">
              <a:buNone/>
            </a:pPr>
            <a:r>
              <a:rPr lang="en-US" sz="1100" i="1" dirty="0">
                <a:solidFill>
                  <a:srgbClr val="5A6472"/>
                </a:solidFill>
                <a:latin typeface="Calibri" pitchFamily="34" charset="0"/>
                <a:cs typeface="Amiri" pitchFamily="2" charset="-78"/>
              </a:rPr>
              <a:t>ay-ḍan</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6" name="Shape 33"/>
          <p:cNvSpPr/>
          <p:nvPr/>
        </p:nvSpPr>
        <p:spPr>
          <a:xfrm>
            <a:off x="960120" y="1938528"/>
            <a:ext cx="771754"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contrast</a:t>
            </a:r>
            <a:endParaRPr lang="en-US" sz="800" dirty="0"/>
          </a:p>
        </p:txBody>
      </p:sp>
      <p:sp>
        <p:nvSpPr>
          <p:cNvPr id="38" name="Shape 3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وَلَكِنَّ</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but (+ noun)</a:t>
            </a:r>
            <a:endParaRPr lang="en-US" sz="1350" dirty="0"/>
          </a:p>
          <a:p>
            <a:pPr indent="0" marL="0">
              <a:buNone/>
            </a:pPr>
            <a:r>
              <a:rPr lang="en-US" sz="1100" i="1" dirty="0">
                <a:solidFill>
                  <a:srgbClr val="5A6472"/>
                </a:solidFill>
                <a:latin typeface="Calibri" pitchFamily="34" charset="0"/>
                <a:cs typeface="Amiri" pitchFamily="2" charset="-78"/>
              </a:rPr>
              <a:t>wa-lā-kin-na</a:t>
            </a:r>
            <a:endParaRPr lang="en-US" sz="135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5" name="Shape 42"/>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reason</a:t>
            </a:r>
            <a:endParaRPr lang="en-US" sz="800" dirty="0"/>
          </a:p>
        </p:txBody>
      </p:sp>
      <p:sp>
        <p:nvSpPr>
          <p:cNvPr id="47" name="Shape 4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9" name="Text 4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لِأَنَّهُ / لِأَنَّهَا</a:t>
            </a:r>
            <a:endParaRPr lang="ar-SA" sz="3000" dirty="0"/>
          </a:p>
        </p:txBody>
      </p:sp>
      <p:sp>
        <p:nvSpPr>
          <p:cNvPr id="50" name="Text 4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 it (m. / f.)</a:t>
            </a:r>
            <a:endParaRPr lang="en-US" sz="1350" dirty="0"/>
          </a:p>
          <a:p>
            <a:pPr indent="0" marL="0">
              <a:buNone/>
            </a:pPr>
            <a:r>
              <a:rPr lang="en-US" sz="1100" i="1" dirty="0">
                <a:solidFill>
                  <a:srgbClr val="5A6472"/>
                </a:solidFill>
                <a:latin typeface="Calibri" pitchFamily="34" charset="0"/>
                <a:cs typeface="Amiri" pitchFamily="2" charset="-78"/>
              </a:rPr>
              <a:t>li-an-na-hu / li-an-na-hā</a:t>
            </a:r>
            <a:endParaRPr lang="en-US" sz="1350" dirty="0"/>
          </a:p>
        </p:txBody>
      </p:sp>
      <p:sp>
        <p:nvSpPr>
          <p:cNvPr id="51" name="Shape 4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4389120"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4" name="Shape 51"/>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rule</a:t>
            </a:r>
            <a:endParaRPr lang="en-US" sz="800" dirty="0"/>
          </a:p>
        </p:txBody>
      </p:sp>
      <p:sp>
        <p:nvSpPr>
          <p:cNvPr id="56" name="Text 5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الضَّرُورِيِّ أَنْ</a:t>
            </a:r>
            <a:endParaRPr lang="ar-SA" sz="3000" dirty="0"/>
          </a:p>
        </p:txBody>
      </p:sp>
      <p:sp>
        <p:nvSpPr>
          <p:cNvPr id="57" name="Text 5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important that …</a:t>
            </a:r>
            <a:endParaRPr lang="en-US" sz="1350" dirty="0"/>
          </a:p>
          <a:p>
            <a:pPr indent="0" marL="0">
              <a:buNone/>
            </a:pPr>
            <a:r>
              <a:rPr lang="en-US" sz="1100" i="1" dirty="0">
                <a:solidFill>
                  <a:srgbClr val="5A6472"/>
                </a:solidFill>
                <a:latin typeface="Calibri" pitchFamily="34" charset="0"/>
                <a:cs typeface="Amiri" pitchFamily="2" charset="-78"/>
              </a:rPr>
              <a:t>mi-na ḍ-ḍa-rū-riy-yi an</a:t>
            </a:r>
            <a:endParaRPr lang="en-US" sz="1350" dirty="0"/>
          </a:p>
        </p:txBody>
      </p:sp>
      <p:sp>
        <p:nvSpPr>
          <p:cNvPr id="58" name="Shape 5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566928"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1" name="Shape 58"/>
          <p:cNvSpPr/>
          <p:nvPr/>
        </p:nvSpPr>
        <p:spPr>
          <a:xfrm>
            <a:off x="960120" y="4279392"/>
            <a:ext cx="771754" cy="256032"/>
          </a:xfrm>
          <a:prstGeom prst="roundRect">
            <a:avLst>
              <a:gd name="adj" fmla="val 50000"/>
            </a:avLst>
          </a:prstGeom>
          <a:solidFill>
            <a:srgbClr val="EFE7D2"/>
          </a:solidFill>
          <a:ln w="12700">
            <a:solidFill>
              <a:srgbClr val="EFE7D2"/>
            </a:solidFill>
            <a:prstDash val="solid"/>
          </a:ln>
        </p:spPr>
      </p:sp>
      <p:sp>
        <p:nvSpPr>
          <p:cNvPr id="62" name="Text 59"/>
          <p:cNvSpPr txBox="1"/>
          <p:nvPr/>
        </p:nvSpPr>
        <p:spPr>
          <a:xfrm>
            <a:off x="960120"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conclude</a:t>
            </a:r>
            <a:endParaRPr lang="en-US" sz="800" dirty="0"/>
          </a:p>
        </p:txBody>
      </p:sp>
      <p:sp>
        <p:nvSpPr>
          <p:cNvPr id="63" name="Text 6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النِّهَايَةِ</a:t>
            </a:r>
            <a:endParaRPr lang="ar-SA" sz="3000" dirty="0"/>
          </a:p>
        </p:txBody>
      </p:sp>
      <p:sp>
        <p:nvSpPr>
          <p:cNvPr id="64" name="Text 6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finally / in the end</a:t>
            </a:r>
            <a:endParaRPr lang="en-US" sz="1350" dirty="0"/>
          </a:p>
          <a:p>
            <a:pPr indent="0" marL="0">
              <a:buNone/>
            </a:pPr>
            <a:r>
              <a:rPr lang="en-US" sz="1100" i="1" dirty="0">
                <a:solidFill>
                  <a:srgbClr val="5A6472"/>
                </a:solidFill>
                <a:latin typeface="Calibri" pitchFamily="34" charset="0"/>
                <a:cs typeface="Amiri" pitchFamily="2" charset="-78"/>
              </a:rPr>
              <a:t>fi n-ni-hā-ya</a:t>
            </a:r>
            <a:endParaRPr lang="en-US" sz="135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F4-L11 · Speak and Write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SIX PLAN BOXES, SIX FRAMES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six-box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التَّحَدُّثِ وَالكِتَابَةِ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662672" y="1810512"/>
            <a:ext cx="3995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7" name="Text 14"/>
          <p:cNvSpPr txBox="1"/>
          <p:nvPr/>
        </p:nvSpPr>
        <p:spPr>
          <a:xfrm>
            <a:off x="345643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box</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680960" y="2267712"/>
            <a:ext cx="39593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مَدْرَسَتِي كَبِيرَةٌ، وَفِيهَا مَكْتَبَةٌ.</a:t>
            </a:r>
            <a:endParaRPr lang="ar-SA" sz="2000" dirty="0"/>
          </a:p>
        </p:txBody>
      </p:sp>
      <p:sp>
        <p:nvSpPr>
          <p:cNvPr id="21" name="Text 18"/>
          <p:cNvSpPr txBox="1"/>
          <p:nvPr/>
        </p:nvSpPr>
        <p:spPr>
          <a:xfrm>
            <a:off x="3474720" y="2267712"/>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مَدْرَسَتِي … وَفِيهَا …</a:t>
            </a:r>
            <a:endParaRPr lang="ar-SA" sz="2200" dirty="0"/>
          </a:p>
        </p:txBody>
      </p:sp>
      <p:sp>
        <p:nvSpPr>
          <p:cNvPr id="22" name="Text 19"/>
          <p:cNvSpPr txBox="1"/>
          <p:nvPr/>
        </p:nvSpPr>
        <p:spPr>
          <a:xfrm>
            <a:off x="566928" y="226771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School and facilities</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7680960" y="2881884"/>
            <a:ext cx="39593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أَدْرُسُ العُلُومَ فِي يَوْمِ الاِثْنَيْنِ.</a:t>
            </a:r>
            <a:endParaRPr lang="ar-SA" sz="2000" dirty="0"/>
          </a:p>
        </p:txBody>
      </p:sp>
      <p:sp>
        <p:nvSpPr>
          <p:cNvPr id="27" name="Text 24"/>
          <p:cNvSpPr txBox="1"/>
          <p:nvPr/>
        </p:nvSpPr>
        <p:spPr>
          <a:xfrm>
            <a:off x="3474720" y="2881884"/>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أَدْرُسُ … فِي يَوْمِ …</a:t>
            </a:r>
            <a:endParaRPr lang="ar-SA" sz="2200" dirty="0"/>
          </a:p>
        </p:txBody>
      </p:sp>
      <p:sp>
        <p:nvSpPr>
          <p:cNvPr id="28" name="Text 25"/>
          <p:cNvSpPr txBox="1"/>
          <p:nvPr/>
        </p:nvSpPr>
        <p:spPr>
          <a:xfrm>
            <a:off x="566928" y="2881884"/>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Subjects and timetable</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7680960" y="3496056"/>
            <a:ext cx="39593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أُفَضِّلُ الفَنَّ لِأَنَّهُ مُمْتِعٌ.</a:t>
            </a:r>
            <a:endParaRPr lang="ar-SA" sz="2000" dirty="0"/>
          </a:p>
        </p:txBody>
      </p:sp>
      <p:sp>
        <p:nvSpPr>
          <p:cNvPr id="33" name="Text 30"/>
          <p:cNvSpPr txBox="1"/>
          <p:nvPr/>
        </p:nvSpPr>
        <p:spPr>
          <a:xfrm>
            <a:off x="3474720" y="3496056"/>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أُفَضِّلُ … لِأَنَّ …</a:t>
            </a:r>
            <a:endParaRPr lang="ar-SA" sz="2200" dirty="0"/>
          </a:p>
        </p:txBody>
      </p:sp>
      <p:sp>
        <p:nvSpPr>
          <p:cNvPr id="34" name="Text 31"/>
          <p:cNvSpPr txBox="1"/>
          <p:nvPr/>
        </p:nvSpPr>
        <p:spPr>
          <a:xfrm>
            <a:off x="566928" y="3496056"/>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Opinion and reason</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7680960" y="4110228"/>
            <a:ext cx="39593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أَبْدَأُ فِي السَّاعَةِ التَّاسِعَةِ، ثُمَّ …</a:t>
            </a:r>
            <a:endParaRPr lang="ar-SA" sz="2000" dirty="0"/>
          </a:p>
        </p:txBody>
      </p:sp>
      <p:sp>
        <p:nvSpPr>
          <p:cNvPr id="39" name="Text 36"/>
          <p:cNvSpPr txBox="1"/>
          <p:nvPr/>
        </p:nvSpPr>
        <p:spPr>
          <a:xfrm>
            <a:off x="3474720" y="4110228"/>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أَبْدَأُ … ثُمَّ …</a:t>
            </a:r>
            <a:endParaRPr lang="ar-SA" sz="2200" dirty="0"/>
          </a:p>
        </p:txBody>
      </p:sp>
      <p:sp>
        <p:nvSpPr>
          <p:cNvPr id="40" name="Text 37"/>
          <p:cNvSpPr txBox="1"/>
          <p:nvPr/>
        </p:nvSpPr>
        <p:spPr>
          <a:xfrm>
            <a:off x="566928" y="4110228"/>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Routine and times</a:t>
            </a:r>
            <a:endParaRPr lang="en-US" sz="11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7680960" y="4724400"/>
            <a:ext cx="39593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يَجِبُ أَنْ نَصِلَ مُبَكِّرًا.</a:t>
            </a:r>
            <a:endParaRPr lang="ar-SA" sz="2000" dirty="0"/>
          </a:p>
        </p:txBody>
      </p:sp>
      <p:sp>
        <p:nvSpPr>
          <p:cNvPr id="43" name="Text 40"/>
          <p:cNvSpPr txBox="1"/>
          <p:nvPr/>
        </p:nvSpPr>
        <p:spPr>
          <a:xfrm>
            <a:off x="3474720" y="4724400"/>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يَجِبُ أَنْ … وَمُعَلِّمِي …</a:t>
            </a:r>
            <a:endParaRPr lang="ar-SA" sz="2200" dirty="0"/>
          </a:p>
        </p:txBody>
      </p:sp>
      <p:sp>
        <p:nvSpPr>
          <p:cNvPr id="44" name="Text 41"/>
          <p:cNvSpPr txBox="1"/>
          <p:nvPr/>
        </p:nvSpPr>
        <p:spPr>
          <a:xfrm>
            <a:off x="566928" y="4724400"/>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 Rule and people</a:t>
            </a:r>
            <a:endParaRPr lang="en-US" sz="11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7680960" y="5338572"/>
            <a:ext cx="39593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فِي رَأْيِي، مَدْرَسَتِي مُفِيدَةٌ.</a:t>
            </a:r>
            <a:endParaRPr lang="ar-SA" sz="2000" dirty="0"/>
          </a:p>
        </p:txBody>
      </p:sp>
      <p:sp>
        <p:nvSpPr>
          <p:cNvPr id="47" name="Text 44"/>
          <p:cNvSpPr txBox="1"/>
          <p:nvPr/>
        </p:nvSpPr>
        <p:spPr>
          <a:xfrm>
            <a:off x="3474720" y="5338572"/>
            <a:ext cx="402336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فِي رَأْيِي، …</a:t>
            </a:r>
            <a:endParaRPr lang="ar-SA" sz="2200" dirty="0"/>
          </a:p>
        </p:txBody>
      </p:sp>
      <p:sp>
        <p:nvSpPr>
          <p:cNvPr id="48" name="Text 45"/>
          <p:cNvSpPr txBox="1"/>
          <p:nvPr/>
        </p:nvSpPr>
        <p:spPr>
          <a:xfrm>
            <a:off x="566928" y="533857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 · Overall conclusion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write notes, not complete sentences. The plan helps you speak naturally and write independently.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F4-L11 · Speak and Write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2 · THE ACCURACY CHECKPOINT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Three high-risk structures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نِقَاطُ الدِّقَّةِ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F4-L11</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37160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3716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MASCULINE REASON</a:t>
            </a:r>
            <a:endParaRPr lang="en-US" sz="850" dirty="0"/>
          </a:p>
        </p:txBody>
      </p:sp>
      <p:sp>
        <p:nvSpPr>
          <p:cNvPr id="18" name="Text 15"/>
          <p:cNvSpPr txBox="1"/>
          <p:nvPr/>
        </p:nvSpPr>
        <p:spPr>
          <a:xfrm>
            <a:off x="9649968" y="1874520"/>
            <a:ext cx="19446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لِأَنَّهُ مُفِيدٌ</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ea typeface="Amiri" pitchFamily="2" charset="-78"/>
                <a:cs typeface="Amiri" pitchFamily="2" charset="-78"/>
              </a:rPr>
              <a:t>أُحِبُّ التَّارِيخَ لِأَنَّهُ مُفِيدٌ.</a:t>
            </a:r>
            <a:endParaRPr lang="ar-SA" sz="30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like history because it is useful.</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Masculine subject: li-annahu + mufīd.</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303020"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FEMININE REASON</a:t>
            </a:r>
            <a:endParaRPr lang="en-US" sz="850" dirty="0"/>
          </a:p>
        </p:txBody>
      </p:sp>
      <p:sp>
        <p:nvSpPr>
          <p:cNvPr id="26" name="Text 23"/>
          <p:cNvSpPr txBox="1"/>
          <p:nvPr/>
        </p:nvSpPr>
        <p:spPr>
          <a:xfrm>
            <a:off x="5762244"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لِأَنَّهَا مُمْتِعَةٌ</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ea typeface="Amiri" pitchFamily="2" charset="-78"/>
                <a:cs typeface="Amiri" pitchFamily="2" charset="-78"/>
              </a:rPr>
              <a:t>أُحِبُّ الرِّيَاضِيَّاتِ لِأَنَّهَا مُمْتِعَةٌ.</a:t>
            </a:r>
            <a:endParaRPr lang="ar-SA" sz="25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like maths because it is enjoyable.</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Feminine subject: li-annahā + </a:t>
            </a:r>
            <a:pPr algn="l" indent="0" marL="0">
              <a:buNone/>
            </a:pPr>
            <a:r>
              <a:rPr lang="ar-SA" altLang="en-US" sz="1450" dirty="0">
                <a:solidFill>
                  <a:srgbClr val="1F2A37"/>
                </a:solidFill>
                <a:latin typeface="Amiri" pitchFamily="2" charset="-78"/>
                <a:ea typeface="Amiri" pitchFamily="2" charset="-78"/>
                <a:cs typeface="Amiri" pitchFamily="2" charset="-78"/>
              </a:rPr>
              <a:t>ة</a:t>
            </a:r>
            <a:pPr algn="l" indent="0" marL="0">
              <a:buNone/>
            </a:pPr>
            <a:r>
              <a:rPr lang="en-US" sz="1100" dirty="0">
                <a:solidFill>
                  <a:srgbClr val="1F2A37"/>
                </a:solidFill>
                <a:latin typeface="Calibri" pitchFamily="34" charset="0"/>
                <a:cs typeface="Amiri" pitchFamily="2" charset="-78"/>
              </a:rPr>
              <a:t>.</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028700" cy="274320"/>
          </a:xfrm>
          <a:prstGeom prst="roundRect">
            <a:avLst>
              <a:gd name="adj" fmla="val 50000"/>
            </a:avLst>
          </a:prstGeom>
          <a:solidFill>
            <a:srgbClr val="1E6B52"/>
          </a:solidFill>
          <a:ln w="12700">
            <a:solidFill>
              <a:srgbClr val="1E6B52"/>
            </a:solidFill>
            <a:prstDash val="solid"/>
          </a:ln>
        </p:spPr>
      </p:sp>
      <p:sp>
        <p:nvSpPr>
          <p:cNvPr id="33" name="Text 30"/>
          <p:cNvSpPr txBox="1"/>
          <p:nvPr/>
        </p:nvSpPr>
        <p:spPr>
          <a:xfrm>
            <a:off x="594360" y="1920240"/>
            <a:ext cx="1028700" cy="274320"/>
          </a:xfrm>
          <a:prstGeom prst="rect">
            <a:avLst/>
          </a:prstGeom>
          <a:noFill/>
          <a:ln/>
        </p:spPr>
        <p:txBody>
          <a:bodyPr wrap="square" lIns="0" tIns="0" rIns="0" bIns="0" rtlCol="0" anchor="ctr"/>
          <a:lstStyle/>
          <a:p>
            <a:pPr algn="ctr" indent="0" marL="0">
              <a:buNone/>
            </a:pPr>
            <a:r>
              <a:rPr lang="ar-SA" sz="850" b="1" spc="100" kern="0" dirty="0">
                <a:solidFill>
                  <a:srgbClr val="FFFFFF"/>
                </a:solidFill>
                <a:latin typeface="Calibri" pitchFamily="34" charset="0"/>
                <a:ea typeface="Amiri" pitchFamily="2" charset="-78"/>
                <a:cs typeface="Amiri" pitchFamily="2" charset="-78"/>
              </a:rPr>
              <a:t>RULE + أَنْ</a:t>
            </a:r>
            <a:endParaRPr lang="en-US" sz="850" dirty="0"/>
          </a:p>
        </p:txBody>
      </p:sp>
      <p:sp>
        <p:nvSpPr>
          <p:cNvPr id="34" name="Text 31"/>
          <p:cNvSpPr txBox="1"/>
          <p:nvPr/>
        </p:nvSpPr>
        <p:spPr>
          <a:xfrm>
            <a:off x="1668780" y="1874520"/>
            <a:ext cx="22875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يَجِبُ أَنْ / لَا يَجُوزُ أَنْ</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لَا يَجُوزُ أَنْ نَسْتَعْمِلَ الهَاتِفَ.</a:t>
            </a:r>
            <a:endParaRPr lang="ar-SA" sz="26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We must not use the phone.</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An before the verb, every time.</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a rule structure always includes an.</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يَجِبُ أَنْ نَحْتَرِمَ المُعَلِّمِينَ.</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700" b="1" dirty="0">
                <a:solidFill>
                  <a:srgbClr val="B83227"/>
                </a:solidFill>
                <a:latin typeface="Amiri" pitchFamily="2" charset="-78"/>
                <a:ea typeface="Amiri" pitchFamily="2" charset="-78"/>
                <a:cs typeface="Amiri" pitchFamily="2" charset="-78"/>
              </a:rPr>
              <a:t>يَجِبُ نَحْتَرِمَ المُعَلِّمِينَ.</a:t>
            </a:r>
            <a:endParaRPr lang="ar-SA" sz="17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F4-L11 · Speak and Write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phrase accurately justifies this?</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التَّارِيخُ</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لِأَنَّهَا مُفِيدَةٌ</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 مُفِيدَةٌ</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 مُفِيدٌ</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phrase accurately justifies this?</a:t>
            </a:r>
            <a:endParaRPr lang="en-US" sz="1200" dirty="0"/>
          </a:p>
        </p:txBody>
      </p:sp>
      <p:sp>
        <p:nvSpPr>
          <p:cNvPr id="33" name="Text 30"/>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اللُّغَةُ العَرَبِيَّةُ</a:t>
            </a:r>
            <a:endParaRPr lang="ar-SA" sz="220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لِأَنَّهَا مُهِمَّةٌ</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 مُهِمٌّ</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لِأَنَّهَا مُهِمٌّ</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connective introduces contrast?</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ثُمَّ</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وَلَكِنَّ</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rule:</a:t>
            </a:r>
            <a:endParaRPr lang="en-US" sz="1200" dirty="0"/>
          </a:p>
        </p:txBody>
      </p:sp>
      <p:sp>
        <p:nvSpPr>
          <p:cNvPr id="60" name="Text 57"/>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يَجِبُ ___ نَحْتَرِمَ المُعَلِّمِينَ.</a:t>
            </a:r>
            <a:endParaRPr lang="ar-SA" sz="220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F4-L11 · Speak and Write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phrase accurately justifies this?</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التَّارِيخُ</a:t>
            </a:r>
            <a:endParaRPr lang="ar-SA" sz="22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لِأَنَّهَا مُفِيدَةٌ</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لِأَنَّهُ مُفِيدَةٌ</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لِأَنَّهُ مُفِيدٌ</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التَّارِيخُ</a:t>
            </a:r>
            <a:pPr algn="l" indent="0" marL="0">
              <a:buNone/>
            </a:pPr>
            <a:r>
              <a:rPr lang="en-US" sz="1050" i="1" dirty="0">
                <a:solidFill>
                  <a:srgbClr val="8A6D1E"/>
                </a:solidFill>
                <a:latin typeface="Calibri" pitchFamily="34" charset="0"/>
                <a:cs typeface="Amiri" pitchFamily="2" charset="-78"/>
              </a:rPr>
              <a:t> is masculine.</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phrase accurately justifies this?</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اللُّغَةُ العَرَبِيَّةُ</a:t>
            </a:r>
            <a:endParaRPr lang="ar-SA" sz="2200" dirty="0"/>
          </a:p>
        </p:txBody>
      </p:sp>
      <p:sp>
        <p:nvSpPr>
          <p:cNvPr id="36" name="Shape 33"/>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6368796"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لِأَنَّهَا مُهِمَّةٌ</a:t>
            </a:r>
            <a:endParaRPr lang="ar-SA" sz="1700" dirty="0"/>
          </a:p>
        </p:txBody>
      </p:sp>
      <p:sp>
        <p:nvSpPr>
          <p:cNvPr id="40" name="Shape 37"/>
          <p:cNvSpPr/>
          <p:nvPr/>
        </p:nvSpPr>
        <p:spPr>
          <a:xfrm>
            <a:off x="6368796"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لِأَنَّهُ مُهِمٌّ</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لِأَنَّهَا مُهِمٌّ</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subject and adjective are feminine.</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connective introduces contrast?</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ثُمَّ</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وَلَكِنَّ</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وَلَكِنَّ</a:t>
            </a:r>
            <a:pPr algn="l" indent="0" marL="0">
              <a:buNone/>
            </a:pPr>
            <a:r>
              <a:rPr lang="en-US" sz="1050" i="1" dirty="0">
                <a:solidFill>
                  <a:srgbClr val="8A6D1E"/>
                </a:solidFill>
                <a:latin typeface="Calibri" pitchFamily="34" charset="0"/>
                <a:cs typeface="Amiri" pitchFamily="2" charset="-78"/>
              </a:rPr>
              <a:t> introduces a contrasting idea.</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rule:</a:t>
            </a:r>
            <a:endParaRPr lang="en-US" sz="1200" dirty="0"/>
          </a:p>
        </p:txBody>
      </p:sp>
      <p:sp>
        <p:nvSpPr>
          <p:cNvPr id="66" name="Text 63"/>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يَجِبُ ___ نَحْتَرِمَ المُعَلِّمِينَ.</a:t>
            </a:r>
            <a:endParaRPr lang="ar-SA" sz="2200" dirty="0"/>
          </a:p>
        </p:txBody>
      </p:sp>
      <p:sp>
        <p:nvSpPr>
          <p:cNvPr id="67" name="Shape 64"/>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368796" y="4831080"/>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70" name="Text 67"/>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أَنْ</a:t>
            </a:r>
            <a:endParaRPr lang="ar-SA" sz="1700" dirty="0"/>
          </a:p>
        </p:txBody>
      </p:sp>
      <p:sp>
        <p:nvSpPr>
          <p:cNvPr id="71" name="Shape 68"/>
          <p:cNvSpPr/>
          <p:nvPr/>
        </p:nvSpPr>
        <p:spPr>
          <a:xfrm>
            <a:off x="6368796"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74" name="Shape 71"/>
          <p:cNvSpPr/>
          <p:nvPr/>
        </p:nvSpPr>
        <p:spPr>
          <a:xfrm>
            <a:off x="6368796" y="5574792"/>
            <a:ext cx="256032" cy="256032"/>
          </a:xfrm>
          <a:prstGeom prst="ellipse">
            <a:avLst/>
          </a:prstGeom>
          <a:solidFill>
            <a:srgbClr val="C9CED6"/>
          </a:solidFill>
          <a:ln w="12700">
            <a:solidFill>
              <a:srgbClr val="C9CED6"/>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modal structure requires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before the verb.</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F4-L11 · Speak and Write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READ AND LABEL THE WEBSITE MODEL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school and school life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مَدْرَسَتِي وَحَيَاتِي المَدْرَسِيَّةُ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F4-L11</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أَدْرُسُ فِي مَدْرَسَةٍ مُتَوَسِّطَةِ الحَجْمِ فِي لَنْدَنَ، وَفِيهَا مَكْتَبَةٌ جَمِيلَةٌ وَمَلْعَبٌ كَبِيرٌ.</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SCHOOL · size, place + two facilities</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أَدْرُسُ العَرَبِيَّةَ وَالإِنْجِلِيزِيَّةَ وَالرِّيَاضِيَّاتِ وَالعُلُومَ وَالتَّارِيخَ.</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SUBJECTS · a list of five</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أُفَضِّلُ اللُّغَةَ العَرَبِيَّةَ لِأَنَّهَا مُهِمَّةٌ وَمُمْتِعَةٌ، وَلَكِنَّ الرِّيَاضِيَّاتِ صَعْبَةٌ أَحْيَانًا.</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OPINION + REASON · with a contrast (wa-lākinna)</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فِي يَوْمِ الاِثْنَيْنِ أَدْرُسُ العُلُومَ فِي الحِصَّةِ الأُولَى، ثُمَّ أَدْرُسُ التَّارِيخَ بَعْدَ الفُسْحَةِ.</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TIMETABLE · day, lesson, sequence (thumma)</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F4-L11 · Speak and Write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FINISH LABELLING THE MODEL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Routine, rule, people, conclusion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تَتِمَّةُ النَّمُوذَجِ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F4-L11</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أَبْدَأُ الدِّرَاسَةَ فِي السَّاعَةِ التَّاسِعَةِ وَأَنْتَهِي فِي السَّاعَةِ الثَّالِثَةِ، وَبَعْدَ ذَلِكَ أَرْجِعُ إِلَى البَيْتِ.</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ROUTINE · start, finish, after that</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فِي مَدْرَسَتِي يَجِبُ أَنْ نَحْتَرِمَ المُعَلِّمِينَ، وَلَا يَجُوزُ أَنْ نَسْتَعْمِلَ الهَاتِفَ فِي الدَّرْسِ.</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RULE · one obligation + one prohibition</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مُعَلِّمَتِي مُسَاعِدَةٌ وَزُمَلَائِي وَدُودُونَ.</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PEOPLE · feminine and plural agreement</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رَأْيِي، الحَيَاةُ المَدْرَسِيَّةُ مُفِيدَةٌ لِأَنَّنِي أَتَعَلَّمُ أَشْيَاءَ جَدِيدَةً كُلَّ يَوْمٍ.</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CONCLUSION · overall view + reason</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F4-L11 · Speak and Write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EIGHT-QUESTION PURPOSE MATCH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job does each sentence do?</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صِلْ كُلَّ جُمْلَةٍ بِهَدَفِهَا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أُفَضِّلُ العُلُومَ لِأَنَّهَا مُمْتِعَةٌ.</a:t>
            </a:r>
            <a:endParaRPr lang="ar-SA"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Sequence a routine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Give a justified preference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State a prohibition</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فِي يَوْمِ الثُّلَاثَاءِ أَدْرُسُ الرِّيَاضِيَّاتِ فِي الحِصَّةِ الأُولَى.</a:t>
            </a:r>
            <a:endParaRPr lang="ar-SA"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Give timetable detail</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Describe a facility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Conclude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ثُمَّ أَذْهَبُ إِلَى المَكْتَبَةِ.</a:t>
            </a:r>
            <a:endParaRPr lang="ar-SA"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Give a reason</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Describe a person</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Move the routine forward</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لَا يَجُوزُ أَنْ نَتَأَخَّرَ عَنِ الدَّرْسِ.</a:t>
            </a:r>
            <a:endParaRPr lang="ar-SA"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State a preference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State a prohibition</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Name a subject</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فِي رَأْيِي، مَدْرَسَتِي مُنَظَّمَةٌ وَمُفِيدَةٌ.</a:t>
            </a:r>
            <a:endParaRPr lang="ar-SA"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List classroom objects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Conclude with an overall view</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Ask a question</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Find the key word first:</a:t>
            </a:r>
            <a:endParaRPr lang="en-US" sz="1250" dirty="0"/>
          </a:p>
          <a:p>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أُفَضِّلُ</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فِي يَوْمِ</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ثُمَّ</a:t>
            </a:r>
            <a:endParaRPr lang="en-US" sz="1250" dirty="0"/>
          </a:p>
          <a:p>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لَا يَجُوزُ</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فِي رَأْيِي</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F4-L11 · Speak and Write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PURPOSE-MATCH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Purpose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أُفَضِّلُ العُلُومَ لِأَنَّهَا مُمْتِعَةٌ.</a:t>
            </a:r>
            <a:endParaRPr lang="ar-SA"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Sequence a routine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Give a justified preference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State a prohibition</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combines preference and reason.</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فِي يَوْمِ الثُّلَاثَاءِ أَدْرُسُ الرِّيَاضِيَّاتِ فِي الحِصَّةِ الأُولَى.</a:t>
            </a:r>
            <a:endParaRPr lang="ar-SA"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Give timetable detail</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Describe a facility</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Conclude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day, subject and lesson position provide timetable evidence.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ثُمَّ أَذْهَبُ إِلَى المَكْتَبَةِ.</a:t>
            </a:r>
            <a:endParaRPr lang="ar-SA"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Give a reason</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Describe a person</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Move the routine forward</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ثُمَّ</a:t>
            </a:r>
            <a:pPr algn="l" indent="0" marL="0">
              <a:buNone/>
            </a:pPr>
            <a:r>
              <a:rPr lang="en-US" sz="1050" i="1" dirty="0">
                <a:solidFill>
                  <a:srgbClr val="8A6D1E"/>
                </a:solidFill>
                <a:latin typeface="Calibri" pitchFamily="34" charset="0"/>
                <a:cs typeface="Amiri" pitchFamily="2" charset="-78"/>
              </a:rPr>
              <a:t> sequences the next action.</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لَا يَجُوزُ أَنْ نَتَأَخَّرَ عَنِ الدَّرْسِ.</a:t>
            </a:r>
            <a:endParaRPr lang="ar-SA"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State a preference</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State a prohibition</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Name a subject</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لَا يَجُوزُ أَنْ</a:t>
            </a:r>
            <a:pPr algn="l" indent="0" marL="0">
              <a:buNone/>
            </a:pPr>
            <a:r>
              <a:rPr lang="en-US" sz="1050" i="1" dirty="0">
                <a:solidFill>
                  <a:srgbClr val="8A6D1E"/>
                </a:solidFill>
                <a:latin typeface="Calibri" pitchFamily="34" charset="0"/>
                <a:cs typeface="Amiri" pitchFamily="2" charset="-78"/>
              </a:rPr>
              <a:t> introduces a rule against an action.</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فِي رَأْيِي، مَدْرَسَتِي مُنَظَّمَةٌ وَمُفِيدَةٌ.</a:t>
            </a:r>
            <a:endParaRPr lang="ar-SA"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List classroom objects</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Conclude with an overall view</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Ask a question</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فِي رَأْيِي</a:t>
            </a:r>
            <a:pPr algn="l" indent="0" marL="0">
              <a:buNone/>
            </a:pPr>
            <a:r>
              <a:rPr lang="en-US" sz="1050" i="1" dirty="0">
                <a:solidFill>
                  <a:srgbClr val="8A6D1E"/>
                </a:solidFill>
                <a:latin typeface="Calibri" pitchFamily="34" charset="0"/>
                <a:cs typeface="Amiri" pitchFamily="2" charset="-78"/>
              </a:rPr>
              <a:t> signals a concluding judgement.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Find the key word first:</a:t>
            </a:r>
            <a:endParaRPr lang="en-US" sz="1250" dirty="0"/>
          </a:p>
          <a:p>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أُفَضِّلُ</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فِي يَوْمِ</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ثُمَّ</a:t>
            </a:r>
            <a:endParaRPr lang="en-US" sz="1250" dirty="0"/>
          </a:p>
          <a:p>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لَا يَجُوزُ</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فِي رَأْيِي</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F4-L11 · Speak and Write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أُحِبُّ التَّارِيخَ لِأَنَّهَا مُفِيدَةٌ.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a:t>
            </a:r>
            <a:pPr algn="l" indent="0" marL="0">
              <a:buNone/>
            </a:pPr>
            <a:r>
              <a:rPr lang="ar-SA" altLang="en-US" sz="1700" dirty="0">
                <a:solidFill>
                  <a:srgbClr val="5A6472"/>
                </a:solidFill>
                <a:latin typeface="Amiri" pitchFamily="2" charset="-78"/>
                <a:ea typeface="Amiri" pitchFamily="2" charset="-78"/>
                <a:cs typeface="Amiri" pitchFamily="2" charset="-78"/>
              </a:rPr>
              <a:t>التَّارِيخُ</a:t>
            </a:r>
            <a:pPr algn="l" indent="0" marL="0">
              <a:buNone/>
            </a:pPr>
            <a:r>
              <a:rPr lang="en-US" sz="1300" i="1" dirty="0">
                <a:solidFill>
                  <a:srgbClr val="5A6472"/>
                </a:solidFill>
                <a:latin typeface="Calibri" pitchFamily="34" charset="0"/>
                <a:cs typeface="Amiri" pitchFamily="2" charset="-78"/>
              </a:rPr>
              <a:t> masculine or feminine?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يَجِبُ نَحْتَرِمَ المُعَلِّمِينَ.</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is missing after </a:t>
            </a:r>
            <a:pPr algn="l" indent="0" marL="0">
              <a:buNone/>
            </a:pPr>
            <a:r>
              <a:rPr lang="ar-SA" altLang="en-US" sz="1700" dirty="0">
                <a:solidFill>
                  <a:srgbClr val="5A6472"/>
                </a:solidFill>
                <a:latin typeface="Amiri" pitchFamily="2" charset="-78"/>
                <a:ea typeface="Amiri" pitchFamily="2" charset="-78"/>
                <a:cs typeface="Amiri" pitchFamily="2" charset="-78"/>
              </a:rPr>
              <a:t>يَجِبُ</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مُعَلِّمَتِي مُسَاعِدٌ.</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The teacher is a woman: which ending?</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F4-L11 · Speak and Write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أُحِبُّ التَّارِيخَ لِأَنَّهَا مُفِيدَةٌ.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أُحِبُّ التَّارِيخَ لِأَنَّهُ مُفِيدٌ.</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التَّارِيخُ</a:t>
            </a:r>
            <a:pPr algn="l" indent="0" marL="0">
              <a:buNone/>
            </a:pPr>
            <a:r>
              <a:rPr lang="en-US" sz="1150" b="1" dirty="0">
                <a:solidFill>
                  <a:srgbClr val="1B3B6F"/>
                </a:solidFill>
                <a:latin typeface="Calibri" pitchFamily="34" charset="0"/>
                <a:cs typeface="Amiri" pitchFamily="2" charset="-78"/>
              </a:rPr>
              <a:t> is masculine: li-annahu + mufīd.</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يَجِبُ نَحْتَرِمَ المُعَلِّمِينَ.</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يَجِبُ أَنْ نَحْتَرِمَ المُعَلِّمِينَ.</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rule needs an before the verb.</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مُعَلِّمَتِي مُسَاعِدٌ.</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مُعَلِّمَتِي مُسَاعِدَةٌ.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female teacher: the adjective takes </a:t>
            </a:r>
            <a:pPr algn="l" indent="0" marL="0">
              <a:buNone/>
            </a:pPr>
            <a:r>
              <a:rPr lang="ar-SA" altLang="en-US" sz="1500" b="1" dirty="0">
                <a:solidFill>
                  <a:srgbClr val="1B3B6F"/>
                </a:solidFill>
                <a:latin typeface="Amiri" pitchFamily="2" charset="-78"/>
                <a:ea typeface="Amiri" pitchFamily="2" charset="-78"/>
                <a:cs typeface="Amiri" pitchFamily="2" charset="-78"/>
              </a:rPr>
              <a:t>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F4-L11 · Speak and Write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Dictation and a model talk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school?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London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Cairo</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Birmingham</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studied in the first lesson on Monday?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history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Arabic</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science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the school day end?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nine o’clock</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eleven o’clock</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three o’clock</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NOT allowed in the lesson?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using the phone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asking questions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reading</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Dictation 2: where does the student go after science?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home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the library</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the canteen</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1st: listen only. 2nd: place, lesson, time, rule, next place.</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F4-L11 · Speak and Write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F4-L11</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أَدْرُسُ فِي مَدْرَسَةٍ مُتَوَسِّطَةِ الحَجْمِ فِي لَنْدَنَ، وَفِيهَا مَكْتَبَةٌ جَمِيلَةٌ وَمَلْعَبٌ كَبِيرٌ.</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study in a medium-sized school in London; it has a beautiful library and a big playground.</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1850" b="1" dirty="0">
                <a:solidFill>
                  <a:srgbClr val="1B3B6F"/>
                </a:solidFill>
                <a:latin typeface="Amiri" pitchFamily="2" charset="-78"/>
                <a:ea typeface="Amiri" pitchFamily="2" charset="-78"/>
                <a:cs typeface="Amiri" pitchFamily="2" charset="-78"/>
              </a:rPr>
              <a:t>فِي يَوْمِ الاِثْنَيْنِ أَدْرُسُ العُلُومَ فِي الحِصَّةِ الأُولَى، ثُمَّ أَدْرُسُ التَّارِيخَ بَعْدَ الفُسْحَةِ.</a:t>
            </a:r>
            <a:endParaRPr lang="ar-SA" sz="18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Monday I study science in the first lesson, then I study history after break.</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600" b="1" dirty="0">
                <a:solidFill>
                  <a:srgbClr val="1B3B6F"/>
                </a:solidFill>
                <a:latin typeface="Amiri" pitchFamily="2" charset="-78"/>
                <a:ea typeface="Amiri" pitchFamily="2" charset="-78"/>
                <a:cs typeface="Amiri" pitchFamily="2" charset="-78"/>
              </a:rPr>
              <a:t>أَبْدَأُ الدِّرَاسَةَ فِي السَّاعَةِ التَّاسِعَةِ وَأَنْتَهِي فِي السَّاعَةِ الثَّالِثَةِ، وَبَعْدَ ذَلِكَ أَرْجِعُ إِلَى البَيْتِ.</a:t>
            </a:r>
            <a:endParaRPr lang="ar-SA" sz="16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start at nine and finish at three, and after that I go back home.</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فِي مَدْرَسَتِي يَجِبُ أَنْ نَحْتَرِمَ المُعَلِّمِينَ، وَلَا يَجُوزُ أَنْ نَسْتَعْمِلَ الهَاتِفَ فِي الدَّرْسِ.</a:t>
            </a:r>
            <a:endParaRPr lang="ar-SA" sz="19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my school we must respect the teachers, and we must not use the phone in the lesson.</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أُفَضِّلُ اللُّغَةَ العَرَبِيَّةَ لِأَنَّهَا مُفِيدَةٌ وَمُمْتِعَةٌ. فِي يَوْمِ الخَمِيسِ أَدْرُسُ العُلُومَ، ثُمَّ أَذْهَبُ إِلَى المَكْتَبَةِ.</a:t>
            </a:r>
            <a:endParaRPr lang="ar-SA" sz="15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DICTATION · I prefer Arabic because it is useful and enjoyable. On Thursday I study science, then I go to the library.</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F4-L11 · Speak and Write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school?</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London</a:t>
            </a:r>
            <a:endParaRPr lang="en-US" sz="12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Cairo</a:t>
            </a:r>
            <a:endParaRPr lang="en-US" sz="12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Birmingham</a:t>
            </a:r>
            <a:endParaRPr lang="en-US" sz="12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studied in the first lesson on Monday?</a:t>
            </a:r>
            <a:endParaRPr lang="en-US" sz="1250" dirty="0"/>
          </a:p>
        </p:txBody>
      </p:sp>
      <p:sp>
        <p:nvSpPr>
          <p:cNvPr id="33" name="Shape 30"/>
          <p:cNvSpPr/>
          <p:nvPr/>
        </p:nvSpPr>
        <p:spPr>
          <a:xfrm>
            <a:off x="4459224" y="2532888"/>
            <a:ext cx="256032" cy="256032"/>
          </a:xfrm>
          <a:prstGeom prst="ellipse">
            <a:avLst/>
          </a:prstGeom>
          <a:solidFill>
            <a:srgbClr val="C9CED6"/>
          </a:solidFill>
          <a:ln w="12700">
            <a:solidFill>
              <a:srgbClr val="C9CED6"/>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history</a:t>
            </a:r>
            <a:endParaRPr lang="en-US" sz="1250" dirty="0"/>
          </a:p>
        </p:txBody>
      </p:sp>
      <p:sp>
        <p:nvSpPr>
          <p:cNvPr id="36" name="Shape 33"/>
          <p:cNvSpPr/>
          <p:nvPr/>
        </p:nvSpPr>
        <p:spPr>
          <a:xfrm>
            <a:off x="4459224" y="2990088"/>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Arabic</a:t>
            </a:r>
            <a:endParaRPr lang="en-US" sz="1250" dirty="0"/>
          </a:p>
        </p:txBody>
      </p:sp>
      <p:sp>
        <p:nvSpPr>
          <p:cNvPr id="39" name="Shape 36"/>
          <p:cNvSpPr/>
          <p:nvPr/>
        </p:nvSpPr>
        <p:spPr>
          <a:xfrm>
            <a:off x="4367784" y="3410712"/>
            <a:ext cx="3453384"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4459224" y="3447288"/>
            <a:ext cx="256032" cy="256032"/>
          </a:xfrm>
          <a:prstGeom prst="ellipse">
            <a:avLst/>
          </a:prstGeom>
          <a:solidFill>
            <a:srgbClr val="2E8B57"/>
          </a:solidFill>
          <a:ln w="12700">
            <a:solidFill>
              <a:srgbClr val="2E8B57"/>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science</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does the school day end?</a:t>
            </a:r>
            <a:endParaRPr lang="en-US" sz="1250" dirty="0"/>
          </a:p>
        </p:txBody>
      </p:sp>
      <p:sp>
        <p:nvSpPr>
          <p:cNvPr id="47" name="Shape 44"/>
          <p:cNvSpPr/>
          <p:nvPr/>
        </p:nvSpPr>
        <p:spPr>
          <a:xfrm>
            <a:off x="8278368" y="2532888"/>
            <a:ext cx="256032" cy="256032"/>
          </a:xfrm>
          <a:prstGeom prst="ellipse">
            <a:avLst/>
          </a:prstGeom>
          <a:solidFill>
            <a:srgbClr val="C9CED6"/>
          </a:solidFill>
          <a:ln w="12700">
            <a:solidFill>
              <a:srgbClr val="C9CED6"/>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nine o’clock</a:t>
            </a:r>
            <a:endParaRPr lang="en-US" sz="1250" dirty="0"/>
          </a:p>
        </p:txBody>
      </p:sp>
      <p:sp>
        <p:nvSpPr>
          <p:cNvPr id="50" name="Shape 47"/>
          <p:cNvSpPr/>
          <p:nvPr/>
        </p:nvSpPr>
        <p:spPr>
          <a:xfrm>
            <a:off x="8278368" y="2990088"/>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eleven o’clock</a:t>
            </a:r>
            <a:endParaRPr lang="en-US" sz="1250" dirty="0"/>
          </a:p>
        </p:txBody>
      </p:sp>
      <p:sp>
        <p:nvSpPr>
          <p:cNvPr id="53" name="Shape 50"/>
          <p:cNvSpPr/>
          <p:nvPr/>
        </p:nvSpPr>
        <p:spPr>
          <a:xfrm>
            <a:off x="8186928" y="3410712"/>
            <a:ext cx="3453384"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8278368" y="3447288"/>
            <a:ext cx="256032" cy="256032"/>
          </a:xfrm>
          <a:prstGeom prst="ellipse">
            <a:avLst/>
          </a:prstGeom>
          <a:solidFill>
            <a:srgbClr val="2E8B57"/>
          </a:solidFill>
          <a:ln w="12700">
            <a:solidFill>
              <a:srgbClr val="2E8B57"/>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at three o’clock</a:t>
            </a:r>
            <a:endParaRPr lang="en-US" sz="12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NOT allowed in the lesson?</a:t>
            </a:r>
            <a:endParaRPr lang="en-US" sz="1250" dirty="0"/>
          </a:p>
        </p:txBody>
      </p:sp>
      <p:sp>
        <p:nvSpPr>
          <p:cNvPr id="61" name="Shape 58"/>
          <p:cNvSpPr/>
          <p:nvPr/>
        </p:nvSpPr>
        <p:spPr>
          <a:xfrm>
            <a:off x="548640" y="4837176"/>
            <a:ext cx="3453384" cy="347472"/>
          </a:xfrm>
          <a:prstGeom prst="roundRect">
            <a:avLst>
              <a:gd name="adj" fmla="val 15789"/>
            </a:avLst>
          </a:prstGeom>
          <a:solidFill>
            <a:srgbClr val="E6F4EC"/>
          </a:solidFill>
          <a:ln w="9525">
            <a:solidFill>
              <a:srgbClr val="2E8B57"/>
            </a:solidFill>
            <a:prstDash val="solid"/>
          </a:ln>
        </p:spPr>
      </p:sp>
      <p:sp>
        <p:nvSpPr>
          <p:cNvPr id="62" name="Shape 59"/>
          <p:cNvSpPr/>
          <p:nvPr/>
        </p:nvSpPr>
        <p:spPr>
          <a:xfrm>
            <a:off x="640080" y="4873752"/>
            <a:ext cx="256032" cy="256032"/>
          </a:xfrm>
          <a:prstGeom prst="ellipse">
            <a:avLst/>
          </a:prstGeom>
          <a:solidFill>
            <a:srgbClr val="2E8B57"/>
          </a:solidFill>
          <a:ln w="12700">
            <a:solidFill>
              <a:srgbClr val="2E8B57"/>
            </a:solidFill>
            <a:prstDash val="solid"/>
          </a:ln>
        </p:spPr>
      </p:sp>
      <p:sp>
        <p:nvSpPr>
          <p:cNvPr id="63" name="Text 6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4" name="Text 61"/>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using the phone</a:t>
            </a:r>
            <a:endParaRPr lang="en-US" sz="1250" dirty="0"/>
          </a:p>
        </p:txBody>
      </p:sp>
      <p:sp>
        <p:nvSpPr>
          <p:cNvPr id="65" name="Shape 62"/>
          <p:cNvSpPr/>
          <p:nvPr/>
        </p:nvSpPr>
        <p:spPr>
          <a:xfrm>
            <a:off x="640080" y="5330952"/>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asking questions</a:t>
            </a:r>
            <a:endParaRPr lang="en-US" sz="1250" dirty="0"/>
          </a:p>
        </p:txBody>
      </p:sp>
      <p:sp>
        <p:nvSpPr>
          <p:cNvPr id="68" name="Shape 65"/>
          <p:cNvSpPr/>
          <p:nvPr/>
        </p:nvSpPr>
        <p:spPr>
          <a:xfrm>
            <a:off x="640080" y="578815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reading</a:t>
            </a:r>
            <a:endParaRPr lang="en-US" sz="1250" dirty="0"/>
          </a:p>
        </p:txBody>
      </p:sp>
      <p:sp>
        <p:nvSpPr>
          <p:cNvPr id="71" name="Shape 6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404360" y="4288536"/>
            <a:ext cx="310896" cy="310896"/>
          </a:xfrm>
          <a:prstGeom prst="ellipse">
            <a:avLst/>
          </a:prstGeom>
          <a:solidFill>
            <a:srgbClr val="1B3B6F"/>
          </a:solidFill>
          <a:ln w="12700">
            <a:solidFill>
              <a:srgbClr val="1B3B6F"/>
            </a:solidFill>
            <a:prstDash val="solid"/>
          </a:ln>
        </p:spPr>
      </p:sp>
      <p:sp>
        <p:nvSpPr>
          <p:cNvPr id="73" name="Text 7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4" name="Text 71"/>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Dictation 2: where does the student go after science?</a:t>
            </a:r>
            <a:endParaRPr lang="en-US" sz="1250" dirty="0"/>
          </a:p>
        </p:txBody>
      </p:sp>
      <p:sp>
        <p:nvSpPr>
          <p:cNvPr id="75" name="Shape 72"/>
          <p:cNvSpPr/>
          <p:nvPr/>
        </p:nvSpPr>
        <p:spPr>
          <a:xfrm>
            <a:off x="4459224" y="4873752"/>
            <a:ext cx="256032" cy="256032"/>
          </a:xfrm>
          <a:prstGeom prst="ellipse">
            <a:avLst/>
          </a:prstGeom>
          <a:solidFill>
            <a:srgbClr val="C9CED6"/>
          </a:solidFill>
          <a:ln w="12700">
            <a:solidFill>
              <a:srgbClr val="C9CED6"/>
            </a:solidFill>
            <a:prstDash val="solid"/>
          </a:ln>
        </p:spPr>
      </p:sp>
      <p:sp>
        <p:nvSpPr>
          <p:cNvPr id="76" name="Text 73"/>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7" name="Text 74"/>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home</a:t>
            </a:r>
            <a:endParaRPr lang="en-US" sz="1250" dirty="0"/>
          </a:p>
        </p:txBody>
      </p:sp>
      <p:sp>
        <p:nvSpPr>
          <p:cNvPr id="78" name="Shape 75"/>
          <p:cNvSpPr/>
          <p:nvPr/>
        </p:nvSpPr>
        <p:spPr>
          <a:xfrm>
            <a:off x="4367784" y="5294376"/>
            <a:ext cx="3453384" cy="347472"/>
          </a:xfrm>
          <a:prstGeom prst="roundRect">
            <a:avLst>
              <a:gd name="adj" fmla="val 15789"/>
            </a:avLst>
          </a:prstGeom>
          <a:solidFill>
            <a:srgbClr val="E6F4EC"/>
          </a:solidFill>
          <a:ln w="9525">
            <a:solidFill>
              <a:srgbClr val="2E8B57"/>
            </a:solidFill>
            <a:prstDash val="solid"/>
          </a:ln>
        </p:spPr>
      </p:sp>
      <p:sp>
        <p:nvSpPr>
          <p:cNvPr id="79" name="Shape 76"/>
          <p:cNvSpPr/>
          <p:nvPr/>
        </p:nvSpPr>
        <p:spPr>
          <a:xfrm>
            <a:off x="4459224" y="5330952"/>
            <a:ext cx="256032" cy="256032"/>
          </a:xfrm>
          <a:prstGeom prst="ellipse">
            <a:avLst/>
          </a:prstGeom>
          <a:solidFill>
            <a:srgbClr val="2E8B57"/>
          </a:solidFill>
          <a:ln w="12700">
            <a:solidFill>
              <a:srgbClr val="2E8B57"/>
            </a:solidFill>
            <a:prstDash val="solid"/>
          </a:ln>
        </p:spPr>
      </p:sp>
      <p:sp>
        <p:nvSpPr>
          <p:cNvPr id="80" name="Text 77"/>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1" name="Text 78"/>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the library</a:t>
            </a:r>
            <a:endParaRPr lang="en-US" sz="1250" dirty="0"/>
          </a:p>
        </p:txBody>
      </p:sp>
      <p:sp>
        <p:nvSpPr>
          <p:cNvPr id="82" name="Shape 79"/>
          <p:cNvSpPr/>
          <p:nvPr/>
        </p:nvSpPr>
        <p:spPr>
          <a:xfrm>
            <a:off x="4459224" y="5788152"/>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4" name="Text 81"/>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the canteen</a:t>
            </a:r>
            <a:endParaRPr lang="en-US" sz="1250" dirty="0"/>
          </a:p>
        </p:txBody>
      </p:sp>
      <p:sp>
        <p:nvSpPr>
          <p:cNvPr id="85" name="Shape 82"/>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6" name="Shape 83"/>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7" name="Text 84"/>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8" name="Text 85"/>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1st: listen only. 2nd: place, lesson, time, rule, next place.</a:t>
            </a:r>
            <a:endParaRPr lang="en-US" sz="1250" dirty="0"/>
          </a:p>
        </p:txBody>
      </p:sp>
      <p:sp>
        <p:nvSpPr>
          <p:cNvPr id="89" name="Text 8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F4-L11 · Speak and Write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MODEL EVIDENCE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evidence in the model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subject is sometimes difficult?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Arabic</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maths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history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facilities does the school have?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lab and a canteen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hall and a pool</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library and a playground</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is history studied on Monday?</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break</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first lesson</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three o’clock</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are the classmates described?</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helpful</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friendly</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strict</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school life useful, in the writer’s opinion?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learn new things every day</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lessons are short</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have many friends</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EVIDENCE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Find the sentence by its label</a:t>
            </a:r>
            <a:endParaRPr lang="en-US" sz="1250" dirty="0"/>
          </a:p>
          <a:p>
            <a:pPr algn="l" indent="0" marL="0">
              <a:buNone/>
            </a:pPr>
            <a:r>
              <a:rPr lang="en-US" sz="1250" dirty="0">
                <a:solidFill>
                  <a:srgbClr val="1F2A37"/>
                </a:solidFill>
                <a:latin typeface="Calibri" pitchFamily="34" charset="0"/>
                <a:cs typeface="Amiri" pitchFamily="2" charset="-78"/>
              </a:rPr>
              <a:t>(subjects, timetable, people …).</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32</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F4-L11 · Speak and Write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EVIDENCE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Evidence: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subject is sometimes difficult?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Arabic</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maths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history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وَلَكِنَّ الرِّيَاضِيَّاتِ صَعْبَةٌ أَحْيَانًا</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facilities does the school have?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lab and a canteen</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hall and a pool</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library and a playground</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مَكْتَبَةٌ جَمِيلَةٌ وَمَلْعَبٌ كَبِيرٌ</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is history studied on Monday?</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after break</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the first lesson</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three o’clock</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ثُمَّ أَدْرُسُ التَّارِيخَ بَعْدَ الفُسْحَةِ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are the classmates described?</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helpful</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friendly</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strict</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زُمَلَائِي وَدُودُونَ</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school life useful, in the writer’s opinion?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they learn new things every day</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lessons are short</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have many friends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لِأَنَّنِي أَتَعَلَّمُ أَشْيَاءَ جَدِيدَةً كُلَّ يَوْمٍ</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EVIDENCE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Find the sentence by its label</a:t>
            </a:r>
            <a:endParaRPr lang="en-US" sz="1250" dirty="0"/>
          </a:p>
          <a:p>
            <a:pPr algn="l" indent="0" marL="0">
              <a:buNone/>
            </a:pPr>
            <a:r>
              <a:rPr lang="en-US" sz="1250" dirty="0">
                <a:solidFill>
                  <a:srgbClr val="1F2A37"/>
                </a:solidFill>
                <a:latin typeface="Calibri" pitchFamily="34" charset="0"/>
                <a:cs typeface="Amiri" pitchFamily="2" charset="-78"/>
              </a:rPr>
              <a:t>(subjects, timetable, people …).</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32</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F4-L11 · Speak and Write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60-second school talk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مَدْرَسَتُكَ؟ مَا المَوَادُّ الَّتِي تَدْرُسُهَا؟</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أَيُّ مَادَّةٍ تُفَضِّلُ؟ وَلِمَاذَا؟</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يَوْمًا وَاحِدًا أَوْ جُزْءًا مِنْ رُوتِينِكَ.</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اُذْكُرْ قَاعِدَةً وَاحِدَةً وَرَأْيَكَ فِي الحَيَاةِ المَدْرَسِيَّةِ.</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أَدْرُسُ فِي مَدْرَسَةٍ … وَفِيهَا …</a:t>
            </a:r>
            <a:endParaRPr lang="ar-SA" sz="1600" dirty="0"/>
          </a:p>
        </p:txBody>
      </p:sp>
      <p:sp>
        <p:nvSpPr>
          <p:cNvPr id="51" name="Shape 48"/>
          <p:cNvSpPr/>
          <p:nvPr/>
        </p:nvSpPr>
        <p:spPr>
          <a:xfrm>
            <a:off x="640080" y="3566160"/>
            <a:ext cx="1051560" cy="256032"/>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أُفَضِّلُ … لِأَنَّهُ / لِأَنَّهَا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أَبْدَأُ فِي السَّاعَةِ … ثُمَّ … وَبَعْدَ ذَلِكَ …</a:t>
            </a:r>
            <a:endParaRPr lang="ar-SA" sz="16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يَجِبُ أَنْ … · فِي رَأْيِي،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أَدْرُسُ فِي مَدْرَسَةٍ مُتَوَسِّطَةِ الحَجْمِ فِي لَنْدَنَ، وَفِيهَا مَكْتَبَةٌ جَمِيلَةٌ وَمَلْعَبٌ كَبِيرٌ.</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850" i="1" dirty="0">
                <a:solidFill>
                  <a:srgbClr val="5A6472"/>
                </a:solidFill>
                <a:latin typeface="Calibri" pitchFamily="34" charset="0"/>
                <a:cs typeface="Amiri" pitchFamily="2" charset="-78"/>
              </a:rPr>
              <a:t>I study in a medium-sized school in London; it has a library and a playground.</a:t>
            </a:r>
            <a:endParaRPr lang="en-US" sz="8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أُفَضِّلُ اللُّغَةَ العَرَبِيَّةَ لِأَنَّهَا مُهِمَّةٌ وَمُمْتِعَةٌ، وَلَكِنَّ الرِّيَاضِيَّاتِ صَعْبَةٌ أَحْيَانًا.</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I prefer Arabic because it is important and enjoyable, but maths is sometimes difficult.</a:t>
            </a:r>
            <a:endParaRPr lang="en-US" sz="7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32</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F4-L11 · Speak and Write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Six sentences, one per plan box, using the toolkit frames.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One sentence per plan box, using the frames.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7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Seven sentences with three connectives and one contrast.</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Three connectives, one contrast with وَلَكِنَّ.</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Eight sentences, varied openings and a developed conclusion with a reason.</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Varied openings, a developed conclusion, then a before/after rewrite.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32</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F4-L11 · Speak and Write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وَفِيهَا مَكْتَبَةٌ وَمَلْعَبٌ كَبِيرٌ.</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has a library and a big playground.</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يَوْمِ الاِثْنَيْنِ، فِي الحِصَّةِ الأُولَى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Monday, in the first lesson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وَلَكِنَّ الرِّيَاضِيَّاتِ صَعْبَةٌ أَحْيَانًا.</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but maths is sometimes difficult.</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يَجُوزُ أَنْ نَسْتَعْمِلَ الهَاتِفَ.</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must not use the phone.</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وَبَعْدَ ذَلِكَ أَرْجِعُ إِلَى البَيْتِ.</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After that I go back home.</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أَدْرُسُ فِي مَدْرَسَةٍ كَبِيرَةٍ فِي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study in a big school in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أَدْرُسُ العَرَبِيَّةَ وَالعُلُومَ وَالتَّارِيخَ.</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study Arabic, science and history.</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أُفَضِّلُ الفَنَّ لِأَنَّهُ مُمْتِعٌ.</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prefer art because it is fun.</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أَنْ نَحْتَرِمَ المُعَلِّمِينَ.</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must respect the teachers.</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رَأْيِي، مَدْرَسَتِي مُفِيدَةٌ.</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opinion, my school is useful.</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ثُمَّ  ·  بَعْدَ ذَلِكَ  ·  أَيْضًا  ·  وَلَكِنَّ  ·  لِأَنَّهُ  ·  لِأَنَّهَا  ·  لِأَنَّنِي  ·  فِي رَأْيِي  ·  يَجِبُ أَنْ  ·  لَا يَجُوزُ أَنْ  ·  فِي النِّهَايَةِ  ·  أُفَضِّلُ</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32</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F4-L11 · Speak and Write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250" dirty="0">
                <a:solidFill>
                  <a:srgbClr val="1F2A37"/>
                </a:solidFill>
                <a:latin typeface="Amiri" pitchFamily="2" charset="-78"/>
                <a:ea typeface="Amiri" pitchFamily="2" charset="-78"/>
                <a:cs typeface="Amiri" pitchFamily="2" charset="-78"/>
              </a:rPr>
              <a:t>أَدْرُسُ فِي مَدْرَسَةٍ مُتَوَسِّطَةِ الحَجْمِ فِي لَنْدَنَ، وَفِيهَا مَكْتَبَةٌ جَمِيلَةٌ وَمَلْعَبٌ كَبِيرٌ. أَدْرُسُ العَرَبِيَّةَ وَالإِنْجِلِيزِيَّةَ وَالرِّيَاضِيَّاتِ وَالعُلُومَ وَالتَّارِيخَ. أُفَضِّلُ اللُّغَةَ العَرَبِيَّةَ لِأَنَّهَا مُهِمَّةٌ وَمُمْتِعَةٌ، وَلَكِنَّ الرِّيَاضِيَّاتِ صَعْبَةٌ أَحْيَانًا. فِي يَوْمِ الاِثْنَيْنِ أَدْرُسُ العُلُومَ فِي الحِصَّةِ الأُولَى، ثُمَّ أَدْرُسُ التَّارِيخَ بَعْدَ الفُسْحَةِ. أَبْدَأُ الدِّرَاسَةَ فِي السَّاعَةِ التَّاسِعَةِ وَأَنْتَهِي فِي السَّاعَةِ الثَّالِثَةِ، وَبَعْدَ ذَلِكَ أَرْجِعُ إِلَى البَيْتِ. فِي مَدْرَسَتِي يَجِبُ أَنْ نَحْتَرِمَ المُعَلِّمِينَ، وَلَا يَجُوزُ أَنْ نَسْتَعْمِلَ الهَاتِفَ فِي الدَّرْسِ. مُعَلِّمَتِي مُسَاعِدَةٌ وَزُمَلَائِي وَدُودُونَ. فِي رَأْيِي، الحَيَاةُ المَدْرَسِيَّةُ مُفِيدَةٌ لِأَنَّنِي أَتَعَلَّمُ أَشْيَاءَ جَدِيدَةً كُلَّ يَوْمٍ.</a:t>
            </a:r>
            <a:endParaRPr lang="ar-SA" sz="22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study in a medium-sized school in London, and it has a beautiful library and a big playground. I study Arabic, English, maths, science and history. I prefer Arabic because it is important and enjoyable, but maths is sometimes difficult. On Monday I study science in the first lesson, then history after break. I start at nine and finish at three, and after that I go home. In my school we must respect the teachers, and we must not use the phone in the lesson. My teacher is helpful and my classmates are friendly. In my opinion, school life is useful because I learn new things every day.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school</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subjects</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reason</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rule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32</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F4-L11 · Speak and Write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All six content areas are included.</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Subject names and days are spelled accurately.</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At least three connectives are used.</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Reason pronouns and adjectives agree.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Sentence openings are not all identical.</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32</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F4-L11 · Speak and Write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connective adds another point?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أَيْضًا</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مَتَى</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moves a routine forward?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لِأَنَّهَا</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بَعْدَ ذٰلِكَ</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رَأْيِي</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a developed conclusion?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2" charset="-78"/>
                <a:ea typeface="Amiri" pitchFamily="2" charset="-78"/>
                <a:cs typeface="Amiri" pitchFamily="2" charset="-78"/>
              </a:rPr>
              <a:t>فِي رَأْيِي، أُحِبُّ مَدْرَسَتِي لِأَنَّنِي أَتَعَلَّمُ أَشْيَاءَ جَدِيدَةً.</a:t>
            </a:r>
            <a:endParaRPr lang="ar-SA" sz="130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2" charset="-78"/>
                <a:ea typeface="Amiri" pitchFamily="2" charset="-78"/>
                <a:cs typeface="Amiri" pitchFamily="2" charset="-78"/>
              </a:rPr>
              <a:t>مَدْرَسَتِي.</a:t>
            </a:r>
            <a:endParaRPr lang="ar-SA" sz="130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2" charset="-78"/>
                <a:ea typeface="Amiri" pitchFamily="2" charset="-78"/>
                <a:cs typeface="Amiri" pitchFamily="2" charset="-78"/>
              </a:rPr>
              <a:t>أَدْرُسُ التَّارِيخَ.</a:t>
            </a:r>
            <a:endParaRPr lang="ar-SA" sz="130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32</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F4-L11 · Speak and Write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connective adds another point?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أَيْضًا</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لِأَنَّ</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مَتَى</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أَيْضًا</a:t>
            </a:r>
            <a:pPr algn="l" indent="0" marL="0">
              <a:buNone/>
            </a:pPr>
            <a:r>
              <a:rPr lang="en-US" sz="1050" i="1" dirty="0">
                <a:solidFill>
                  <a:srgbClr val="8A6D1E"/>
                </a:solidFill>
                <a:latin typeface="Calibri" pitchFamily="34" charset="0"/>
                <a:cs typeface="Amiri" pitchFamily="2" charset="-78"/>
              </a:rPr>
              <a:t> means “also”.</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moves a routine forward?</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لِأَنَّهَا</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بَعْدَ ذٰلِكَ</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فِي رَأْيِي</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بَعْدَ ذٰلِكَ</a:t>
            </a:r>
            <a:pPr algn="l" indent="0" marL="0">
              <a:buNone/>
            </a:pPr>
            <a:r>
              <a:rPr lang="en-US" sz="1050" i="1" dirty="0">
                <a:solidFill>
                  <a:srgbClr val="8A6D1E"/>
                </a:solidFill>
                <a:latin typeface="Calibri" pitchFamily="34" charset="0"/>
                <a:cs typeface="Amiri" pitchFamily="2" charset="-78"/>
              </a:rPr>
              <a:t> means “after that”.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a developed conclusion?</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2" charset="-78"/>
                <a:ea typeface="Amiri" pitchFamily="2" charset="-78"/>
                <a:cs typeface="Amiri" pitchFamily="2" charset="-78"/>
              </a:rPr>
              <a:t>فِي رَأْيِي، أُحِبُّ مَدْرَسَتِي لِأَنَّنِي أَتَعَلَّمُ أَشْيَاءَ جَدِيدَةً.</a:t>
            </a:r>
            <a:endParaRPr lang="ar-SA" sz="130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300" dirty="0">
                <a:solidFill>
                  <a:srgbClr val="9AA1AB"/>
                </a:solidFill>
                <a:latin typeface="Amiri" pitchFamily="2" charset="-78"/>
                <a:ea typeface="Amiri" pitchFamily="2" charset="-78"/>
                <a:cs typeface="Amiri" pitchFamily="2" charset="-78"/>
              </a:rPr>
              <a:t>مَدْرَسَتِي.</a:t>
            </a:r>
            <a:endParaRPr lang="ar-SA" sz="130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300" dirty="0">
                <a:solidFill>
                  <a:srgbClr val="9AA1AB"/>
                </a:solidFill>
                <a:latin typeface="Amiri" pitchFamily="2" charset="-78"/>
                <a:ea typeface="Amiri" pitchFamily="2" charset="-78"/>
                <a:cs typeface="Amiri" pitchFamily="2" charset="-78"/>
              </a:rPr>
              <a:t>أَدْرُسُ التَّارِيخَ.</a:t>
            </a:r>
            <a:endParaRPr lang="ar-SA" sz="130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gives an overall judgement and reason.</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32</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F4-L11 · Speak and Write</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F4-L12: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F4-L11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F4-L12 · Review and Unit Assessment</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مُرَاجَعَةٌ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review / revision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اِخْتِبَارٌ</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test</a:t>
            </a:r>
            <a:pPr indent="0" marL="0">
              <a:buNone/>
            </a:pPr>
            <a:r>
              <a:rPr lang="ar-SA" sz="1000" i="1" dirty="0">
                <a:solidFill>
                  <a:srgbClr val="5A6472"/>
                </a:solidFill>
                <a:latin typeface="Calibri" pitchFamily="34" charset="0"/>
                <a:ea typeface="Amiri" pitchFamily="2" charset="-78"/>
                <a:cs typeface="Amiri" pitchFamily="2" charset="-78"/>
              </a:rPr>
              <a:t>  pl. اِخْتِبَارَاتٌ</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سُؤَالٌ</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question</a:t>
            </a:r>
            <a:pPr indent="0" marL="0">
              <a:buNone/>
            </a:pPr>
            <a:r>
              <a:rPr lang="ar-SA" sz="1000" i="1" dirty="0">
                <a:solidFill>
                  <a:srgbClr val="5A6472"/>
                </a:solidFill>
                <a:latin typeface="Calibri" pitchFamily="34" charset="0"/>
                <a:ea typeface="Amiri" pitchFamily="2" charset="-78"/>
                <a:cs typeface="Amiri" pitchFamily="2" charset="-78"/>
              </a:rPr>
              <a:t>  pl. أَسْئِلَةٌ</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إِجَابَةٌ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answer</a:t>
            </a:r>
            <a:pPr indent="0" marL="0">
              <a:buNone/>
            </a:pPr>
            <a:r>
              <a:rPr lang="ar-SA" sz="1000" i="1" dirty="0">
                <a:solidFill>
                  <a:srgbClr val="5A6472"/>
                </a:solidFill>
                <a:latin typeface="Calibri" pitchFamily="34" charset="0"/>
                <a:ea typeface="Amiri" pitchFamily="2" charset="-78"/>
                <a:cs typeface="Amiri" pitchFamily="2" charset="-78"/>
              </a:rPr>
              <a:t>  pl. إِجَابَاتٌ</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تَعْلِيمَاتٌ</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instructions</a:t>
            </a:r>
            <a:pPr indent="0" marL="0">
              <a:buNone/>
            </a:pPr>
            <a:r>
              <a:rPr lang="ar-SA" sz="1000" i="1" dirty="0">
                <a:solidFill>
                  <a:srgbClr val="5A6472"/>
                </a:solidFill>
                <a:latin typeface="Calibri" pitchFamily="34" charset="0"/>
                <a:ea typeface="Amiri" pitchFamily="2" charset="-78"/>
                <a:cs typeface="Amiri" pitchFamily="2" charset="-78"/>
              </a:rPr>
              <a:t>  sing. تَعْلِيمَةٌ</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Which part of F4 is hardest for you? Write it in Arabic.</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أَصْعَبُ جُزْءٍ</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F4-L11: the purpose match (8) and the final checkpoint (16).</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Finish your 7-sentence paragraph and underline three connectives.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a before/after rewrite of one sentence and explain the improvement.</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32</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F4-L11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cs typeface="Amiri" pitchFamily="2" charset="-78"/>
              </a:rPr>
              <a:t>F4-L12 · Review and Unit Assessment</a:t>
            </a:r>
            <a:endParaRPr lang="en-US" sz="26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المُرَاجَعَةُ وَتَقْيِيمُ الوَحْدَةِ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plan in notes · connect your ideas · check </a:t>
            </a:r>
            <a:pPr algn="l" indent="0" marL="0">
              <a:buNone/>
            </a:pPr>
            <a:r>
              <a:rPr lang="ar-SA" altLang="en-US" sz="1700" b="1" dirty="0">
                <a:solidFill>
                  <a:srgbClr val="FFFFFF"/>
                </a:solidFill>
                <a:latin typeface="Amiri" pitchFamily="2" charset="-78"/>
                <a:ea typeface="Amiri" pitchFamily="2" charset="-78"/>
                <a:cs typeface="Amiri" pitchFamily="2" charset="-78"/>
              </a:rPr>
              <a:t>لِأَنَّهُ / لِأَنَّهَا</a:t>
            </a:r>
            <a:pPr algn="l" indent="0" marL="0">
              <a:buNone/>
            </a:pPr>
            <a:r>
              <a:rPr lang="en-US" sz="1300" b="1" dirty="0">
                <a:solidFill>
                  <a:srgbClr val="FFFFFF"/>
                </a:solidFill>
                <a:latin typeface="Calibri" pitchFamily="34" charset="0"/>
                <a:cs typeface="Amiri" pitchFamily="2" charset="-78"/>
              </a:rPr>
              <a:t> and </a:t>
            </a:r>
            <a:pPr algn="l" indent="0" marL="0">
              <a:buNone/>
            </a:pPr>
            <a:r>
              <a:rPr lang="ar-SA" altLang="en-US" sz="1700" b="1" dirty="0">
                <a:solidFill>
                  <a:srgbClr val="FFFFFF"/>
                </a:solidFill>
                <a:latin typeface="Amiri" pitchFamily="2" charset="-78"/>
                <a:ea typeface="Amiri" pitchFamily="2" charset="-78"/>
                <a:cs typeface="Amiri" pitchFamily="2" charset="-78"/>
              </a:rPr>
              <a:t>أَنْ</a:t>
            </a:r>
            <a:pPr algn="l" indent="0" marL="0">
              <a:buNone/>
            </a:pPr>
            <a:r>
              <a:rPr lang="en-US" sz="1300" b="1" dirty="0">
                <a:solidFill>
                  <a:srgbClr val="FFFFFF"/>
                </a:solidFill>
                <a:latin typeface="Calibri" pitchFamily="34" charset="0"/>
                <a:cs typeface="Amiri" pitchFamily="2" charset="-78"/>
              </a:rPr>
              <a: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F4-L11 · Speaking and Writing About School</dc:title>
  <dc:subject>PptxGenJS Presentation</dc:subject>
  <dc:creator>Al Madina Online School · Arabic Department</dc:creator>
  <cp:lastModifiedBy>Al Madina Online School · Arabic Department</cp:lastModifiedBy>
  <cp:revision>1</cp:revision>
  <dcterms:created xsi:type="dcterms:W3CDTF">2026-10-11T06:41:42Z</dcterms:created>
  <dcterms:modified xsi:type="dcterms:W3CDTF">2026-10-11T06:41:42Z</dcterms:modified>
</cp:coreProperties>
</file>