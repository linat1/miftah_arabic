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 (F4-L01). Website sections used: the eight-question F3-to-F4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F4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Questions 3–5 are the website “F3-to-F4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(F4-L02 · The School Timetable — Days and Times) will spend class time USING this language, so students prepare it tonight — short, simple, easy to access (school guidance: “Simple, Short, Interesting, Relevant, Easy to access”). The five words come from the website F4-L02 timetable language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School Subjects — What Do You Study?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المَوَادُّ الدِّرَاسِيَّةُ — مَاذَا تَدْرُسُ؟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school subjects, say what you and others study, and give likes, dislikes and preferences — each with an accurate reason (li’annahu / li’annahā).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مَدْرَسَتِي</a:t>
            </a:r>
            <a:pPr algn="l" indent="0" marL="0">
              <a:buNone/>
            </a:pPr>
            <a:r>
              <a:rPr lang="en-US" sz="1050" i="1" dirty="0">
                <a:solidFill>
                  <a:srgbClr val="8A6D1E"/>
                </a:solidFill>
                <a:latin typeface="Calibri" pitchFamily="34" charset="0"/>
                <a:cs typeface="Amiri" pitchFamily="2" charset="-78"/>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أُحِبُّ الفَنَّ </a:t>
            </a:r>
            <a:pPr rtl="1" algn="ctr" indent="0" marL="0">
              <a:lnSpc>
                <a:spcPct val="120000"/>
              </a:lnSpc>
              <a:buNone/>
            </a:pPr>
            <a:r>
              <a:rPr lang="ar-SA" altLang="en-US" sz="1950" b="1" dirty="0">
                <a:solidFill>
                  <a:srgbClr val="1D5FBF"/>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مُمْتِعٌ · أُحِبُّ العُلُومَ </a:t>
            </a:r>
            <a:pPr rtl="1" algn="ctr" indent="0" marL="0">
              <a:lnSpc>
                <a:spcPct val="120000"/>
              </a:lnSpc>
              <a:buNone/>
            </a:pPr>
            <a:r>
              <a:rPr lang="ar-SA" altLang="en-US" sz="1950" b="1" dirty="0">
                <a:solidFill>
                  <a:srgbClr val="D6336C"/>
                </a:solidFill>
                <a:latin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cs typeface="Amiri" pitchFamily="2" charset="-78"/>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‎ریاضی‎ </a:t>
            </a:r>
            <a:pPr indent="0" marL="0">
              <a:buNone/>
            </a:pPr>
            <a:r>
              <a:rPr lang="en-US" sz="950" b="1" dirty="0">
                <a:solidFill>
                  <a:srgbClr val="2E8B57"/>
                </a:solidFill>
                <a:latin typeface="Calibri" pitchFamily="34" charset="0"/>
                <a:cs typeface="Amiri" pitchFamily="2" charset="-78"/>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‎علوم‎ </a:t>
            </a:r>
            <a:pPr indent="0" marL="0">
              <a:buNone/>
            </a:pPr>
            <a:r>
              <a:rPr lang="en-US" sz="950" b="1" dirty="0">
                <a:solidFill>
                  <a:srgbClr val="2E8B57"/>
                </a:solidFill>
                <a:latin typeface="Calibri" pitchFamily="34" charset="0"/>
                <a:cs typeface="Amiri" pitchFamily="2" charset="-78"/>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‎جغرافیہ‎ </a:t>
            </a:r>
            <a:pPr indent="0" marL="0">
              <a:buNone/>
            </a:pPr>
            <a:r>
              <a:rPr lang="en-US" sz="950" b="1" dirty="0">
                <a:solidFill>
                  <a:srgbClr val="2E8B57"/>
                </a:solidFill>
                <a:latin typeface="Calibri" pitchFamily="34" charset="0"/>
                <a:cs typeface="Amiri" pitchFamily="2" charset="-78"/>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a:t>
            </a:r>
            <a:endParaRPr lang="en-US" sz="1350" dirty="0"/>
          </a:p>
          <a:p>
            <a:pPr indent="0" marL="0">
              <a:buNone/>
            </a:pPr>
            <a:r>
              <a:rPr lang="en-US" sz="1100" i="1" dirty="0">
                <a:solidFill>
                  <a:srgbClr val="5A6472"/>
                </a:solidFill>
                <a:latin typeface="Calibri" pitchFamily="34" charset="0"/>
                <a:cs typeface="Amiri" pitchFamily="2" charset="-78"/>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English</a:t>
            </a:r>
            <a:endParaRPr lang="en-US" sz="1350" dirty="0"/>
          </a:p>
          <a:p>
            <a:pPr indent="0" marL="0">
              <a:buNone/>
            </a:pPr>
            <a:r>
              <a:rPr lang="en-US" sz="1100" i="1" dirty="0">
                <a:solidFill>
                  <a:srgbClr val="5A6472"/>
                </a:solidFill>
                <a:latin typeface="Calibri" pitchFamily="34" charset="0"/>
                <a:cs typeface="Amiri" pitchFamily="2" charset="-78"/>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mathematics</a:t>
            </a:r>
            <a:endParaRPr lang="en-US" sz="1350" dirty="0"/>
          </a:p>
          <a:p>
            <a:pPr indent="0" marL="0">
              <a:buNone/>
            </a:pPr>
            <a:r>
              <a:rPr lang="en-US" sz="1100" i="1" dirty="0">
                <a:solidFill>
                  <a:srgbClr val="5A6472"/>
                </a:solidFill>
                <a:latin typeface="Calibri" pitchFamily="34" charset="0"/>
                <a:cs typeface="Amiri" pitchFamily="2" charset="-78"/>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science</a:t>
            </a:r>
            <a:endParaRPr lang="en-US" sz="1350" dirty="0"/>
          </a:p>
          <a:p>
            <a:pPr indent="0" marL="0">
              <a:buNone/>
            </a:pPr>
            <a:r>
              <a:rPr lang="en-US" sz="1100" i="1" dirty="0">
                <a:solidFill>
                  <a:srgbClr val="5A6472"/>
                </a:solidFill>
                <a:latin typeface="Calibri" pitchFamily="34" charset="0"/>
                <a:cs typeface="Amiri" pitchFamily="2" charset="-78"/>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history</a:t>
            </a:r>
            <a:endParaRPr lang="en-US" sz="1350" dirty="0"/>
          </a:p>
          <a:p>
            <a:pPr indent="0" marL="0">
              <a:buNone/>
            </a:pPr>
            <a:r>
              <a:rPr lang="en-US" sz="1100" i="1" dirty="0">
                <a:solidFill>
                  <a:srgbClr val="5A6472"/>
                </a:solidFill>
                <a:latin typeface="Calibri" pitchFamily="34" charset="0"/>
                <a:cs typeface="Amiri" pitchFamily="2" charset="-78"/>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geography</a:t>
            </a:r>
            <a:endParaRPr lang="en-US" sz="1350" dirty="0"/>
          </a:p>
          <a:p>
            <a:pPr indent="0" marL="0">
              <a:buNone/>
            </a:pPr>
            <a:r>
              <a:rPr lang="en-US" sz="1100" i="1" dirty="0">
                <a:solidFill>
                  <a:srgbClr val="5A6472"/>
                </a:solidFill>
                <a:latin typeface="Calibri" pitchFamily="34" charset="0"/>
                <a:cs typeface="Amiri" pitchFamily="2" charset="-78"/>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a:t>
            </a:r>
            <a:endParaRPr lang="en-US" sz="1350" dirty="0"/>
          </a:p>
          <a:p>
            <a:pPr indent="0" marL="0">
              <a:buNone/>
            </a:pPr>
            <a:r>
              <a:rPr lang="en-US" sz="1100" i="1" dirty="0">
                <a:solidFill>
                  <a:srgbClr val="5A6472"/>
                </a:solidFill>
                <a:latin typeface="Calibri" pitchFamily="34" charset="0"/>
                <a:cs typeface="Amiri" pitchFamily="2" charset="-78"/>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t>
            </a:r>
            <a:endParaRPr lang="en-US" sz="1350" dirty="0"/>
          </a:p>
          <a:p>
            <a:pPr indent="0" marL="0">
              <a:buNone/>
            </a:pPr>
            <a:r>
              <a:rPr lang="en-US" sz="1100" i="1" dirty="0">
                <a:solidFill>
                  <a:srgbClr val="5A6472"/>
                </a:solidFill>
                <a:latin typeface="Calibri" pitchFamily="34" charset="0"/>
                <a:cs typeface="Amiri" pitchFamily="2" charset="-78"/>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t>
            </a:r>
            <a:endParaRPr lang="en-US" sz="1350" dirty="0"/>
          </a:p>
          <a:p>
            <a:pPr indent="0" marL="0">
              <a:buNone/>
            </a:pPr>
            <a:r>
              <a:rPr lang="en-US" sz="1100" i="1" dirty="0">
                <a:solidFill>
                  <a:srgbClr val="5A6472"/>
                </a:solidFill>
                <a:latin typeface="Calibri" pitchFamily="34" charset="0"/>
                <a:cs typeface="Amiri" pitchFamily="2" charset="-78"/>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science</a:t>
            </a:r>
            <a:endParaRPr lang="en-US" sz="1350" dirty="0"/>
          </a:p>
          <a:p>
            <a:pPr indent="0" marL="0">
              <a:buNone/>
            </a:pPr>
            <a:r>
              <a:rPr lang="en-US" sz="1100" i="1" dirty="0">
                <a:solidFill>
                  <a:srgbClr val="5A6472"/>
                </a:solidFill>
                <a:latin typeface="Calibri" pitchFamily="34" charset="0"/>
                <a:cs typeface="Amiri" pitchFamily="2" charset="-78"/>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physics · chemistry</a:t>
            </a:r>
            <a:endParaRPr lang="en-US" sz="1350" dirty="0"/>
          </a:p>
          <a:p>
            <a:pPr indent="0" marL="0">
              <a:buNone/>
            </a:pPr>
            <a:r>
              <a:rPr lang="en-US" sz="1100" i="1" dirty="0">
                <a:solidFill>
                  <a:srgbClr val="5A6472"/>
                </a:solidFill>
                <a:latin typeface="Calibri" pitchFamily="34" charset="0"/>
                <a:cs typeface="Amiri" pitchFamily="2" charset="-78"/>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subject</a:t>
            </a:r>
            <a:endParaRPr lang="en-US" sz="1350" dirty="0"/>
          </a:p>
          <a:p>
            <a:pPr indent="0" marL="0">
              <a:buNone/>
            </a:pPr>
            <a:r>
              <a:rPr lang="en-US" sz="1100" i="1" dirty="0">
                <a:solidFill>
                  <a:srgbClr val="5A6472"/>
                </a:solidFill>
                <a:latin typeface="Calibri" pitchFamily="34" charset="0"/>
                <a:cs typeface="Amiri" pitchFamily="2" charset="-78"/>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أَ</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نَ</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يَ</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تَ</a:t>
            </a:r>
            <a:pPr rtl="1" algn="ctr" indent="0" marL="0">
              <a:buNone/>
            </a:pPr>
            <a:r>
              <a:rPr lang="ar-SA" altLang="en-US" sz="2600" b="1" dirty="0">
                <a:solidFill>
                  <a:srgbClr val="1B3B6F"/>
                </a:solidFill>
                <a:latin typeface="Amiri" pitchFamily="2" charset="-78"/>
                <a:cs typeface="Amiri" pitchFamily="2" charset="-78"/>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Dislike: </a:t>
            </a:r>
            <a:pPr algn="l" indent="0" marL="0">
              <a:buNone/>
            </a:pPr>
            <a:r>
              <a:rPr lang="ar-SA" altLang="en-US" sz="1450" dirty="0">
                <a:solidFill>
                  <a:srgbClr val="1F2A37"/>
                </a:solidFill>
                <a:latin typeface="Amiri" pitchFamily="2" charset="-78"/>
                <a:cs typeface="Amiri" pitchFamily="2" charset="-78"/>
              </a:rPr>
              <a:t>لَا أُحِبُّ</a:t>
            </a:r>
            <a:pPr algn="l" indent="0" marL="0">
              <a:buNone/>
            </a:pPr>
            <a:r>
              <a:rPr lang="en-US" sz="1100" dirty="0">
                <a:solidFill>
                  <a:srgbClr val="1F2A37"/>
                </a:solidFill>
                <a:latin typeface="Calibri" pitchFamily="34" charset="0"/>
                <a:cs typeface="Amiri" pitchFamily="2" charset="-78"/>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begins with </a:t>
            </a:r>
            <a:pPr algn="l" indent="0" marL="0">
              <a:buNone/>
            </a:pPr>
            <a:r>
              <a:rPr lang="ar-SA" altLang="en-US" sz="1350" dirty="0">
                <a:solidFill>
                  <a:srgbClr val="8A6D1E"/>
                </a:solidFill>
                <a:latin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الكِيمِيَاءُ</a:t>
            </a:r>
            <a:pPr algn="l" indent="0" marL="0">
              <a:buNone/>
            </a:pPr>
            <a:r>
              <a:rPr lang="en-US" sz="1050" i="1" dirty="0">
                <a:solidFill>
                  <a:srgbClr val="8A6D1E"/>
                </a:solidFill>
                <a:latin typeface="Calibri" pitchFamily="34" charset="0"/>
                <a:cs typeface="Amiri" pitchFamily="2" charset="-78"/>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مَادَّتِي المُفَضَّلَةُ هِيَ العُلُومُ </a:t>
            </a:r>
            <a:pPr rtl="1" algn="ctr" indent="0" marL="0">
              <a:lnSpc>
                <a:spcPct val="120000"/>
              </a:lnSpc>
              <a:buNone/>
            </a:pPr>
            <a:r>
              <a:rPr lang="ar-SA" altLang="en-US" sz="1750" b="1" dirty="0">
                <a:solidFill>
                  <a:srgbClr val="D6336C"/>
                </a:solidFill>
                <a:latin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cs typeface="Amiri" pitchFamily="2" charset="-78"/>
              </a:rPr>
              <a:t> مُفِيدَ</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أُحِبُّ الفَنَّ أَيْضًا </a:t>
            </a:r>
            <a:pPr rtl="1" algn="ctr" indent="0" marL="0">
              <a:lnSpc>
                <a:spcPct val="120000"/>
              </a:lnSpc>
              <a:buNone/>
            </a:pPr>
            <a:r>
              <a:rPr lang="ar-SA" altLang="en-US" sz="2000" b="1" dirty="0">
                <a:solidFill>
                  <a:srgbClr val="1D5FBF"/>
                </a:solidFill>
                <a:latin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cs typeface="Amiri" pitchFamily="2" charset="-78"/>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لَا أُحِبُّ التَّارِيخَ </a:t>
            </a:r>
            <a:pPr rtl="1" algn="ctr" indent="0" marL="0">
              <a:lnSpc>
                <a:spcPct val="120000"/>
              </a:lnSpc>
              <a:buNone/>
            </a:pPr>
            <a:r>
              <a:rPr lang="ar-SA" altLang="en-US" sz="2000" b="1" dirty="0">
                <a:solidFill>
                  <a:srgbClr val="1D5FBF"/>
                </a:solidFill>
                <a:latin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cs typeface="Amiri" pitchFamily="2" charset="-78"/>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أَدْرُسُ الرِّيَاضِيَّاتِ، وَالعُلُومَ، وَالفَنَّ. مَادَّتِي المُفَضَّلَةُ هِيَ العُلُومُ </a:t>
            </a:r>
            <a:pPr rtl="1" algn="r" indent="0" marL="0">
              <a:buNone/>
            </a:pPr>
            <a:r>
              <a:rPr lang="ar-SA" altLang="en-US" sz="1700" b="1" dirty="0">
                <a:solidFill>
                  <a:srgbClr val="D6336C"/>
                </a:solidFill>
                <a:latin typeface="Amiri" pitchFamily="2" charset="-78"/>
                <a:cs typeface="Amiri" pitchFamily="2" charset="-78"/>
              </a:rPr>
              <a:t>لِأَنَّهَا</a:t>
            </a:r>
            <a:pPr rtl="1" algn="r" indent="0" marL="0">
              <a:buNone/>
            </a:pPr>
            <a:r>
              <a:rPr lang="ar-SA" altLang="en-US" sz="1700" b="1" dirty="0">
                <a:solidFill>
                  <a:srgbClr val="1B3B6F"/>
                </a:solidFill>
                <a:latin typeface="Amiri" pitchFamily="2" charset="-78"/>
                <a:cs typeface="Amiri" pitchFamily="2" charset="-78"/>
              </a:rPr>
              <a:t> مُفِيدَ</a:t>
            </a:r>
            <a:pPr rtl="1" algn="r" indent="0" marL="0">
              <a:buNone/>
            </a:pPr>
            <a:r>
              <a:rPr lang="ar-SA" altLang="en-US" sz="1700" b="1" dirty="0">
                <a:solidFill>
                  <a:srgbClr val="D6336C"/>
                </a:solidFill>
                <a:latin typeface="Amiri" pitchFamily="2" charset="-78"/>
                <a:cs typeface="Amiri" pitchFamily="2" charset="-78"/>
              </a:rPr>
              <a:t>ةٌ</a:t>
            </a:r>
            <a:pPr rtl="1" algn="r" indent="0" marL="0">
              <a:buNone/>
            </a:pPr>
            <a:r>
              <a:rPr lang="ar-SA" altLang="en-US" sz="1700" b="1" dirty="0">
                <a:solidFill>
                  <a:srgbClr val="1B3B6F"/>
                </a:solidFill>
                <a:latin typeface="Amiri" pitchFamily="2" charset="-78"/>
                <a:cs typeface="Amiri" pitchFamily="2" charset="-78"/>
              </a:rPr>
              <a:t>. أُحِبُّ الفَنَّ أَيْضًا </a:t>
            </a:r>
            <a:pPr rtl="1" algn="r" indent="0" marL="0">
              <a:buNone/>
            </a:pPr>
            <a:r>
              <a:rPr lang="ar-SA" altLang="en-US" sz="1700" b="1" dirty="0">
                <a:solidFill>
                  <a:srgbClr val="1D5FBF"/>
                </a:solidFill>
                <a:latin typeface="Amiri" pitchFamily="2" charset="-78"/>
                <a:cs typeface="Amiri" pitchFamily="2" charset="-78"/>
              </a:rPr>
              <a:t>لِأَنَّهُ</a:t>
            </a:r>
            <a:pPr rtl="1" algn="r" indent="0" marL="0">
              <a:buNone/>
            </a:pPr>
            <a:r>
              <a:rPr lang="ar-SA" altLang="en-US" sz="1700" b="1" dirty="0">
                <a:solidFill>
                  <a:srgbClr val="1B3B6F"/>
                </a:solidFill>
                <a:latin typeface="Amiri" pitchFamily="2" charset="-78"/>
                <a:cs typeface="Amiri" pitchFamily="2" charset="-78"/>
              </a:rPr>
              <a:t> مُمْتِعٌ، وَلَكِنِّي لَا أُحِبُّ التَّارِيخَ </a:t>
            </a:r>
            <a:pPr rtl="1" algn="r" indent="0" marL="0">
              <a:buNone/>
            </a:pPr>
            <a:r>
              <a:rPr lang="ar-SA" altLang="en-US" sz="1700" b="1" dirty="0">
                <a:solidFill>
                  <a:srgbClr val="1D5FBF"/>
                </a:solidFill>
                <a:latin typeface="Amiri" pitchFamily="2" charset="-78"/>
                <a:cs typeface="Amiri" pitchFamily="2" charset="-78"/>
              </a:rPr>
              <a:t>لِأَنَّهُ</a:t>
            </a:r>
            <a:pPr rtl="1" algn="r" indent="0" marL="0">
              <a:buNone/>
            </a:pPr>
            <a:r>
              <a:rPr lang="ar-SA" altLang="en-US" sz="1700" b="1" dirty="0">
                <a:solidFill>
                  <a:srgbClr val="1B3B6F"/>
                </a:solidFill>
                <a:latin typeface="Amiri" pitchFamily="2" charset="-78"/>
                <a:cs typeface="Amiri" pitchFamily="2" charset="-78"/>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التَّرْبِيَةُ البَدَنِيَّةُ</a:t>
            </a:r>
            <a:pPr algn="l" indent="0" marL="0">
              <a:buNone/>
            </a:pPr>
            <a:r>
              <a:rPr lang="en-US" sz="1050" i="1" dirty="0">
                <a:solidFill>
                  <a:srgbClr val="8A6D1E"/>
                </a:solidFill>
                <a:latin typeface="Calibri" pitchFamily="34" charset="0"/>
                <a:cs typeface="Amiri" pitchFamily="2" charset="-78"/>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مَادَّتِي المُفَضَّلَةُ هِيَ 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أُحِبُّ الفَنَّ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لَا أُحِبُّ التَّارِيخَ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 favourite is </a:t>
            </a:r>
            <a:pPr algn="l" indent="0" marL="0">
              <a:buNone/>
            </a:pPr>
            <a:r>
              <a:rPr lang="ar-SA" altLang="en-US" sz="1350" dirty="0">
                <a:solidFill>
                  <a:srgbClr val="8A6D1E"/>
                </a:solidFill>
                <a:latin typeface="Amiri" pitchFamily="2" charset="-78"/>
                <a:cs typeface="Amiri" pitchFamily="2" charset="-78"/>
              </a:rPr>
              <a:t>عِلْمُ الحَاسُوبِ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 about your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تَدْرُسُ فِي المَدْرَسَةِ؟ / مَاذَا تَدْرُسِينَ؟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المَادَّةُ الَّتِي لَا تُحِبُّهَا؟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يَدْرُسُ صَدِيقُكَ؟ وَمَاذَا تَدْرُسُ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أَدْرُسُ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مَادَّتِي المُفَضَّلَةُ هِيَ ___ لِأَنَّهَا / لِأَنَّهُ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أُحِبُّ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يَدْرُسُ صَدِيقِي ___ ، وَتَدْرُسُ صَدِيقَتِي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تَدْرُسُ فِي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study at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أَدْرُسُ الرِّيَاضِيَّاتِ وَالعُلُومَ وَالفَنَّ. أُحِبُّ الفَنَّ لِأَنَّهُ مُمْتِعٌ.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study maths, science and art. I like art because it is enjoyable.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الأَحْيَاءُ</a:t>
            </a:r>
            <a:pPr algn="l" indent="0" marL="0">
              <a:buNone/>
            </a:pPr>
            <a:r>
              <a:rPr lang="en-US" sz="1050" i="1" dirty="0">
                <a:solidFill>
                  <a:srgbClr val="8A6D1E"/>
                </a:solidFill>
                <a:latin typeface="Calibri" pitchFamily="34" charset="0"/>
                <a:cs typeface="Amiri" pitchFamily="2" charset="-78"/>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F4-L02 · The School Timetable — Days and Times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جَدْوَلٌ مَدْرَسِيٌّ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school timetable</a:t>
            </a:r>
            <a:pPr indent="0" marL="0">
              <a:buNone/>
            </a:pPr>
            <a:r>
              <a:rPr lang="en-US" sz="1000" i="1" dirty="0">
                <a:solidFill>
                  <a:srgbClr val="5A6472"/>
                </a:solidFill>
                <a:latin typeface="Calibri" pitchFamily="34" charset="0"/>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lesson / period</a:t>
            </a:r>
            <a:pPr indent="0" marL="0">
              <a:buNone/>
            </a:pPr>
            <a:r>
              <a:rPr lang="en-US" sz="1000" i="1" dirty="0">
                <a:solidFill>
                  <a:srgbClr val="5A6472"/>
                </a:solidFill>
                <a:latin typeface="Calibri" pitchFamily="34" charset="0"/>
                <a:cs typeface="Amiri" pitchFamily="2" charset="-78"/>
              </a:rPr>
              <a:t>  pl. حِصَصٌ</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week</a:t>
            </a:r>
            <a:pPr indent="0" marL="0">
              <a:buNone/>
            </a:pPr>
            <a:r>
              <a:rPr lang="en-US" sz="1000" i="1" dirty="0">
                <a:solidFill>
                  <a:srgbClr val="5A6472"/>
                </a:solidFill>
                <a:latin typeface="Calibri" pitchFamily="34" charset="0"/>
                <a:cs typeface="Amiri" pitchFamily="2" charset="-78"/>
              </a:rPr>
              <a:t>  pl. أَسَابِيعُ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الاِسْتِرَاحَةُ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break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lesson do you have first on Monday?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الحِصَّةُ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F4-L01: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F4-L02 · The School Timetable — Days and Times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الجَدْوَلُ المَدْرَسِيُّ — الأَيَّامُ وَالأَوْقَاتُ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subject + opinion + reason · art (m.) → li’annahu · science (f.) → li’annahā.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F4-L01 · School Subjects — What Do You Study?</dc:title>
  <dc:subject>PptxGenJS Presentation</dc:subject>
  <dc:creator>Al Madina Online School · Arabic Department</dc:creator>
  <cp:lastModifiedBy>Al Madina Online School · Arabic Department</cp:lastModifiedBy>
  <cp:revision>1</cp:revision>
  <dcterms:created xsi:type="dcterms:W3CDTF">2026-10-11T06:41:36Z</dcterms:created>
  <dcterms:modified xsi:type="dcterms:W3CDTF">2026-10-11T06:41:36Z</dcterms:modified>
</cp:coreProperties>
</file>