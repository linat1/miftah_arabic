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1 (F4-L01). Website sections used: the eight-question F3-to-F4 bridge, the school-subject vault (18 subjects, مَادَّةٌ / مَوَادُّ / مَادَّتِي المُفَضَّلَةُ, the mathematics vs sport contrast) and the 18-question check, the study verb (أَنَا أَدْرُسُ · نَحْنُ نَدْرُسُ · هُوَ يَدْرُسُ · هِيَ تَدْرُسُ; asking a boy or a girl; أَدْرُسُ vs أُدَرِّسُ) and the 12-question laboratory, opinions and reasons (8 adjectives) and the 14-question check, the subject profile, the Subject Mission (14), Maryam’s subjects (listening, 10), Samir and Huda (reading, 12), speaking (4 prompts), the 6–8-sentence paragraph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F4 opens the school-life pathway. Core: 8 subjects + أَدْرُسُ + أُحِبُّ / لَا أُحِبُّ. Develop: all four study-verb forms, أُفَضِّلُ and two reasons with agreement. Stretch: what another person studies (يَدْرُسُ / تَدْرُسُ) and comparing two subjects.
• Website “Foundation-to-development bridge”: the present-tense pattern is introduced for communication now; later lessons broaden the full verb system.
• Real or invented details are equally acceptable (website). Religious education appears in the website vault as التَّرْبِيَةُ الدِّينِيَّةُ.
• Urdu bridge: ریاضی (maths), علوم (sciences), تاریخ (history), جغرافیہ, فلسفہ, مفید, مشکل ≈ صَعْبٌ (different word), آسان ≈ سَهْلٌ.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subjects prepared at home at the end of F3-L12. Questions 3–5 are the website “F3-to-F4 bridge”.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school answer = subject + opinion + reason. The reason word agrees with the subject: masculine → li’annahu, feminine → li’annahā.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ریاضی، علوم، تاریخ، جغرافیہ، فلسفہ and مفید are shared words. CAREFUL: Urdu مشکل (difficult) is also Arabic مُشْكِلَةٌ (a problem) — for “difficult” Arabic uses صَعْبٌ.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SUBJECTS (website vault, 6 of 18). The website marks each subject with its reason form: most subjects take لِأَنَّهَا (feminine or non-human plural — العُلُومُ، الرِّيَاضِيَّاتُ); التَّارِيخُ takes لِأَنَّهُ. Website contrast: الرِّيَاضِيَّاتُ = mathematics; الرِّيَاضَةُ / التَّرْبِيَةُ البَدَنِيَّةُ = sport / 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SUBJECTS (website vault). Also: الأَحْيَاءُ (biology), التِّقْنِيَّةُ (technology / DT), التَّرْبِيَةُ الدِّينِيَّةُ (religious education), الفَلْسَفَةُ (philosophy), المَسْرَحُ / التَّمْثِيلُ (drama, m.), اللُّغَاتُ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3 “Control the study verb”: أَنَا أَدْرُسُ · نَحْنُ نَدْرُسُ · هُوَ يَدْرُسُ · هِيَ تَدْرُسُ; ask one male مَاذَا تَدْرُسُ فِي المَدْرَسَةِ؟ and one female مَاذَا تَدْرُسِينَ فِي المَدْرَسَةِ؟
Website “do not confuse”: أَدْرُسُ (I study) vs أُدَرِّسُ (I teach) — the shadda changes the verb.
After the verb the subject takes -a: أَدْرُسُ الفَنَّ، أَدْرُسُ العُلُومَ (model it; no case teaching needed at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section 4 “Build accurate opinions and reasons”: أُحِبُّ · لَا أُحِبُّ · أُفَضِّلُ · مَادَّتِي المُفَضَّلَةُ هِيَ…
Reason adjectives (website, m. / f.): سَهْلٌ / سَهْلَةٌ (easy) · صَعْبٌ / صَعْبَةٌ (difficult) · مُفِيدٌ / مُفِيدَةٌ (useful) · مُمْتِعٌ / مُمْتِعَةٌ (enjoyable) · مُمِلٌّ / مُمِلَّةٌ (boring) · مُهِمٌّ / مُهِمَّةٌ (important) · مُثِيرٌ / مُثِيرَةٌ لِلاهْتِمَامِ (interesting) · شَيِّقٌ / شَيِّقَةٌ (engaging).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website reason adjectives (6 of 8). Also مُثِيرٌ لِلاهْتِمَامِ (interesting) and شَيِّقٌ (engaging). Use if the class needs the adjectives before the mission; otherwise they are on the frames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study-verb laboratory questions 2 and 4, a teacher item on the masculine reason, and opinion check question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(Maryam) as a model. Think aloud at every reason: “Which subject? Masculine or feminine? So -hu or -hā, and does the adjective need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subjects”)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(Develop): add an opinion + reason — أَدْرُسُ الفَنَّ، وَأُحِبُّهُ لِأَنَّهُ مُمْتِعٌ. Other cards for homework: العُلُومُ، التَّارِيخُ، عِلْمُ الحَاسُوبِ.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subjects”)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Follow-up (Develop): add an opinion + reason — أَدْرُسُ الفَنَّ، وَأُحِبُّهُ لِأَنَّهُ مُمْتِعٌ. Other cards for homework: العُلُومُ، التَّارِيخُ، عِلْمُ الحَاسُوبِ.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Subject Mission rounds (PE, ask a boy, ask a girl, masculine reason, feminine reason).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who is speaking or listening? Is the subject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مَرْيَمُ. أَدْرُسُ اللُّغَةَ العَرَبِيَّةَ، وَاللُّغَةَ الإِنْجِلِيزِيَّةَ، وَالرِّيَاضِيَّاتِ، وَالعُلُومَ، وَالتَّارِيخَ، وَالفَنَّ. مَادَّتِي المُفَضَّلَةُ هِيَ العُلُومُ لِأَنَّهَا مُفِيدَةٌ وَمُثِيرَةٌ لِلاهْتِمَامِ. أُحِبُّ الفَنَّ أَيْضًا لِأَنَّهُ مُمْتِعٌ. لَا أُحِبُّ التَّارِيخَ لِأَنَّهُ صَعْبٌ. أَنَا وَصَدِيقَتِي نَدْرُسُ المُوسِيقَى 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A (website, complete). Notice the “he” forms: يَدْرُسُ، مَادَّتُهُ، لَا يُحِبُّ، رَأْيِهِ.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PROFILE B (website, complete). Notice the “she” forms: تَدْرُسُ، تُفَضِّلُ، تُحِبُّ، وَلَكِنَّهَا. Stretch: compare Samir and Huda (يَدْرُسُ … بَيْنَمَا تَدْرُسُ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3, 6, 8 and 11.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“Talk about your subjects” — real or invented school profile. Prompts (website):
• My subject profile: Name six subjects, a favourite and one reason.
• Likes and dislikes: Give one like and one dislike with reasons.
• Our class: Use I, we, he and she forms.
• Compare two subjects: Compare usefulness, interest or difficulty.
Website checklist (1–6): four subjects · أَدْرُسُ / نَدْرُسُ · أُحِبُّ / لَا أُحِبُّ / أُفَضِّلُ · لِأَنَّهُ / لِأَنَّهَا · agreement · clear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accurate sentences using the models. · Develop — Eight subject terms and three different opinion structures. · Stretch — Add what another person studies with yadrusu / tadrusu.
Website writing task (Stretch): Website writing task: 6–8 connected sentences — name your subjects, state a favourite, include one like and one dislike, and justify at least two opinions (real or invented details).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speaking models (subject profile + likes and dislikes), joined. Stretch: add the website “Our class” model — يَدْرُسُ صَدِيقِي … وَتَدْرُسُ صَدِيقَتِي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(F4-L02 · The School Timetable — Days and Times) will spend class time USING this language, so students prepare it tonight — short, simple, easy to access (school guidance: “Simple, Short, Interesting, Relevant, Easy to access”). The five words come from the website F4-L02 timetable language vault.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School Subjects — What Do You Study?</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المَوَادُّ الدِّرَاسِيَّةُ — مَاذَا تَدْرُسُ؟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the school subjects, say what you and others study, and give likes, dislikes and preferences — each with an accurate reason (li’annahu / li’annahā).</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F4-L01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School subjects, the study verb, then opinions with reasons.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Subject mission, listen to Maryam, read two profiles.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الرِّيَاضِيَّاتُ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التَّارِيخُ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“we”?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a reason?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الرِّيَاضِيَّاتُ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mathematics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التَّارِيخُ</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geography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غُرْفَتِي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مَدْرَسَتِي</a:t>
            </a:r>
            <a:pPr algn="l" indent="0" marL="0">
              <a:buNone/>
            </a:pPr>
            <a:r>
              <a:rPr lang="en-US" sz="1050" i="1" dirty="0">
                <a:solidFill>
                  <a:srgbClr val="8A6D1E"/>
                </a:solidFill>
                <a:latin typeface="Calibri" pitchFamily="34" charset="0"/>
                <a:cs typeface="Amiri" pitchFamily="2" charset="-78"/>
              </a:rPr>
              <a:t> means my school.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“we”?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means we.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introduces a reason?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أَيْضًا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a:t>
            </a:r>
            <a:pPr algn="l" indent="0" marL="0">
              <a:buNone/>
            </a:pPr>
            <a:r>
              <a:rPr lang="en-US" sz="1050" i="1" dirty="0">
                <a:solidFill>
                  <a:srgbClr val="8A6D1E"/>
                </a:solidFill>
                <a:latin typeface="Calibri" pitchFamily="34" charset="0"/>
                <a:cs typeface="Amiri" pitchFamily="2" charset="-78"/>
              </a:rPr>
              <a:t> introduces because.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050" b="1" dirty="0">
                <a:solidFill>
                  <a:srgbClr val="1F2A37"/>
                </a:solidFill>
                <a:latin typeface="Calibri" pitchFamily="34" charset="0"/>
                <a:cs typeface="Amiri" pitchFamily="2" charset="-78"/>
              </a:rPr>
              <a:t>A strong school answer = subject + opinion + reason. The reason word agrees with the subject: masculine → li’annahu, feminine → li’annahā.</a:t>
            </a:r>
            <a:endParaRPr lang="en-US" sz="10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أُحِبُّ الفَنَّ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مُمْتِعٌ · أُحِبُّ العُلُومَ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لِأَنَّهَا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مُفِيدَةٌ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and recognise at least eighteen subject terms.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adrusu, nadrusu, yadrusu, tadrusu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what someone studies.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likes, dislikes and preferences with a matching reason.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subjects.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study and what I like.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what they study.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two reasons with agreement.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say what another person studies.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subjects.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Eighteen subjects, the study verb and eight reason adjectives. Core: eight subjects and four adjectives.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Subjects · 18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Study verb · 4 forms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Opinions and reasons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الرِّيَاضِيَّاتُ</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‎ریاضی‎ </a:t>
            </a:r>
            <a:pPr indent="0" marL="0">
              <a:buNone/>
            </a:pPr>
            <a:r>
              <a:rPr lang="en-US" sz="950" b="1" dirty="0">
                <a:solidFill>
                  <a:srgbClr val="2E8B57"/>
                </a:solidFill>
                <a:latin typeface="Calibri" pitchFamily="34" charset="0"/>
                <a:cs typeface="Amiri" pitchFamily="2" charset="-78"/>
              </a:rPr>
              <a:t> ar-riyāḍiyyāt · mathematics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العُلُومُ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‎علوم‎ </a:t>
            </a:r>
            <a:pPr indent="0" marL="0">
              <a:buNone/>
            </a:pPr>
            <a:r>
              <a:rPr lang="en-US" sz="950" b="1" dirty="0">
                <a:solidFill>
                  <a:srgbClr val="2E8B57"/>
                </a:solidFill>
                <a:latin typeface="Calibri" pitchFamily="34" charset="0"/>
                <a:cs typeface="Amiri" pitchFamily="2" charset="-78"/>
              </a:rPr>
              <a:t> al-‘ulūm · science(s)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التَّارِيخُ</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‎تاریخ‎ </a:t>
            </a:r>
            <a:pPr indent="0" marL="0">
              <a:buNone/>
            </a:pPr>
            <a:r>
              <a:rPr lang="en-US" sz="950" b="1" dirty="0">
                <a:solidFill>
                  <a:srgbClr val="2E8B57"/>
                </a:solidFill>
                <a:latin typeface="Calibri" pitchFamily="34" charset="0"/>
                <a:cs typeface="Amiri" pitchFamily="2" charset="-78"/>
              </a:rPr>
              <a:t> at-tārīkh · history (Urdu: also date)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الجُغْرَافِيَا</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‎جغرافیہ‎ </a:t>
            </a:r>
            <a:pPr indent="0" marL="0">
              <a:buNone/>
            </a:pPr>
            <a:r>
              <a:rPr lang="en-US" sz="950" b="1" dirty="0">
                <a:solidFill>
                  <a:srgbClr val="2E8B57"/>
                </a:solidFill>
                <a:latin typeface="Calibri" pitchFamily="34" charset="0"/>
                <a:cs typeface="Amiri" pitchFamily="2" charset="-78"/>
              </a:rPr>
              <a:t> al-jughrāfiyā · geography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مُفِيدٌ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‎مفید‎ </a:t>
            </a:r>
            <a:pPr indent="0" marL="0">
              <a:buNone/>
            </a:pPr>
            <a:r>
              <a:rPr lang="en-US" sz="950" b="1" dirty="0">
                <a:solidFill>
                  <a:srgbClr val="2E8B57"/>
                </a:solidFill>
                <a:latin typeface="Calibri" pitchFamily="34" charset="0"/>
                <a:cs typeface="Amiri" pitchFamily="2" charset="-78"/>
              </a:rPr>
              <a:t> mufīd · useful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SCHOOL SUBJECTS (WEBSITE VAULT)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maths, science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 العَرَبِيَّةُ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a:t>
            </a:r>
            <a:endParaRPr lang="en-US" sz="1350" dirty="0"/>
          </a:p>
          <a:p>
            <a:pPr indent="0" marL="0">
              <a:buNone/>
            </a:pPr>
            <a:r>
              <a:rPr lang="en-US" sz="1100" i="1" dirty="0">
                <a:solidFill>
                  <a:srgbClr val="5A6472"/>
                </a:solidFill>
                <a:latin typeface="Calibri" pitchFamily="34" charset="0"/>
                <a:cs typeface="Amiri" pitchFamily="2" charset="-78"/>
              </a:rPr>
              <a:t>al-lugha al-‘arabiyya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 الإِنْجِلِيزِيَّةُ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English</a:t>
            </a:r>
            <a:endParaRPr lang="en-US" sz="1350" dirty="0"/>
          </a:p>
          <a:p>
            <a:pPr indent="0" marL="0">
              <a:buNone/>
            </a:pPr>
            <a:r>
              <a:rPr lang="en-US" sz="1100" i="1" dirty="0">
                <a:solidFill>
                  <a:srgbClr val="5A6472"/>
                </a:solidFill>
                <a:latin typeface="Calibri" pitchFamily="34" charset="0"/>
                <a:cs typeface="Amiri" pitchFamily="2" charset="-78"/>
              </a:rPr>
              <a:t>al-lugha al-injilīziyya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الرِّيَاضِيَّاتُ</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mathematics</a:t>
            </a:r>
            <a:endParaRPr lang="en-US" sz="1350" dirty="0"/>
          </a:p>
          <a:p>
            <a:pPr indent="0" marL="0">
              <a:buNone/>
            </a:pPr>
            <a:r>
              <a:rPr lang="en-US" sz="1100" i="1" dirty="0">
                <a:solidFill>
                  <a:srgbClr val="5A6472"/>
                </a:solidFill>
                <a:latin typeface="Calibri" pitchFamily="34" charset="0"/>
                <a:cs typeface="Amiri" pitchFamily="2" charset="-78"/>
              </a:rPr>
              <a:t>ar-ri-yā-ḍiy-yāt</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العُلُومُ</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science</a:t>
            </a:r>
            <a:endParaRPr lang="en-US" sz="1350" dirty="0"/>
          </a:p>
          <a:p>
            <a:pPr indent="0" marL="0">
              <a:buNone/>
            </a:pPr>
            <a:r>
              <a:rPr lang="en-US" sz="1100" i="1" dirty="0">
                <a:solidFill>
                  <a:srgbClr val="5A6472"/>
                </a:solidFill>
                <a:latin typeface="Calibri" pitchFamily="34" charset="0"/>
                <a:cs typeface="Amiri" pitchFamily="2" charset="-78"/>
              </a:rPr>
              <a:t>al-‘u-lūm</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التَّارِيخُ</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history</a:t>
            </a:r>
            <a:endParaRPr lang="en-US" sz="1350" dirty="0"/>
          </a:p>
          <a:p>
            <a:pPr indent="0" marL="0">
              <a:buNone/>
            </a:pPr>
            <a:r>
              <a:rPr lang="en-US" sz="1100" i="1" dirty="0">
                <a:solidFill>
                  <a:srgbClr val="5A6472"/>
                </a:solidFill>
                <a:latin typeface="Calibri" pitchFamily="34" charset="0"/>
                <a:cs typeface="Amiri" pitchFamily="2" charset="-78"/>
              </a:rPr>
              <a:t>at-tā-rīkh</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الجُغْرَافِيَا</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geography</a:t>
            </a:r>
            <a:endParaRPr lang="en-US" sz="1350" dirty="0"/>
          </a:p>
          <a:p>
            <a:pPr indent="0" marL="0">
              <a:buNone/>
            </a:pPr>
            <a:r>
              <a:rPr lang="en-US" sz="1100" i="1" dirty="0">
                <a:solidFill>
                  <a:srgbClr val="5A6472"/>
                </a:solidFill>
                <a:latin typeface="Calibri" pitchFamily="34" charset="0"/>
                <a:cs typeface="Amiri" pitchFamily="2" charset="-78"/>
              </a:rPr>
              <a:t>al-jugh-rā-fi-yā</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SCHOOL SUBJECTS (WEBSITE VAULT)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Art, music, PE, computing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a:t>
            </a:r>
            <a:endParaRPr lang="en-US" sz="1350" dirty="0"/>
          </a:p>
          <a:p>
            <a:pPr indent="0" marL="0">
              <a:buNone/>
            </a:pPr>
            <a:r>
              <a:rPr lang="en-US" sz="1100" i="1" dirty="0">
                <a:solidFill>
                  <a:srgbClr val="5A6472"/>
                </a:solidFill>
                <a:latin typeface="Calibri" pitchFamily="34" charset="0"/>
                <a:cs typeface="Amiri" pitchFamily="2" charset="-78"/>
              </a:rPr>
              <a:t>al-fann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المُوسِيقَى</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music</a:t>
            </a:r>
            <a:endParaRPr lang="en-US" sz="1350" dirty="0"/>
          </a:p>
          <a:p>
            <a:pPr indent="0" marL="0">
              <a:buNone/>
            </a:pPr>
            <a:r>
              <a:rPr lang="en-US" sz="1100" i="1" dirty="0">
                <a:solidFill>
                  <a:srgbClr val="5A6472"/>
                </a:solidFill>
                <a:latin typeface="Calibri" pitchFamily="34" charset="0"/>
                <a:cs typeface="Amiri" pitchFamily="2" charset="-78"/>
              </a:rPr>
              <a:t>al-mū-sī-qā</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التَّرْبِيَةُ البَدَنِيَّةُ</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t>
            </a:r>
            <a:endParaRPr lang="en-US" sz="1350" dirty="0"/>
          </a:p>
          <a:p>
            <a:pPr indent="0" marL="0">
              <a:buNone/>
            </a:pPr>
            <a:r>
              <a:rPr lang="en-US" sz="1100" i="1" dirty="0">
                <a:solidFill>
                  <a:srgbClr val="5A6472"/>
                </a:solidFill>
                <a:latin typeface="Calibri" pitchFamily="34" charset="0"/>
                <a:cs typeface="Amiri" pitchFamily="2" charset="-78"/>
              </a:rPr>
              <a:t>at-tar-bi-ya al-ba-da-niy-ya</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2" name="Shape 49"/>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عِلْمُ الحَاسُوبِ</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science</a:t>
            </a:r>
            <a:endParaRPr lang="en-US" sz="1350" dirty="0"/>
          </a:p>
          <a:p>
            <a:pPr indent="0" marL="0">
              <a:buNone/>
            </a:pPr>
            <a:r>
              <a:rPr lang="en-US" sz="1100" i="1" dirty="0">
                <a:solidFill>
                  <a:srgbClr val="5A6472"/>
                </a:solidFill>
                <a:latin typeface="Calibri" pitchFamily="34" charset="0"/>
                <a:cs typeface="Amiri" pitchFamily="2" charset="-78"/>
              </a:rPr>
              <a:t>‘ilm al-ḥā-sūb</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58" name="Text 5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 …</a:t>
            </a:r>
            <a:endParaRPr lang="ar-SA"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4" name="Text 6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الفِيزِيَاءُ · الكِيمِيَاءُ</a:t>
            </a:r>
            <a:endParaRPr lang="ar-SA" sz="3000" dirty="0"/>
          </a:p>
        </p:txBody>
      </p:sp>
      <p:sp>
        <p:nvSpPr>
          <p:cNvPr id="65" name="Text 6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physics · chemistry</a:t>
            </a:r>
            <a:endParaRPr lang="en-US" sz="1350" dirty="0"/>
          </a:p>
          <a:p>
            <a:pPr indent="0" marL="0">
              <a:buNone/>
            </a:pPr>
            <a:r>
              <a:rPr lang="en-US" sz="1100" i="1" dirty="0">
                <a:solidFill>
                  <a:srgbClr val="5A6472"/>
                </a:solidFill>
                <a:latin typeface="Calibri" pitchFamily="34" charset="0"/>
                <a:cs typeface="Amiri" pitchFamily="2" charset="-78"/>
              </a:rPr>
              <a:t>al-fī-zi-yā’ · al-kī-mi-yā’</a:t>
            </a:r>
            <a:endParaRPr lang="en-US" sz="1350" dirty="0"/>
          </a:p>
        </p:txBody>
      </p:sp>
      <p:sp>
        <p:nvSpPr>
          <p:cNvPr id="66" name="Shape 63"/>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because</a:t>
            </a:r>
            <a:endParaRPr lang="en-US" sz="700" dirty="0"/>
          </a:p>
        </p:txBody>
      </p:sp>
      <p:sp>
        <p:nvSpPr>
          <p:cNvPr id="68" name="Text 65"/>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لِأَنَّهَا …</a:t>
            </a:r>
            <a:endParaRPr lang="ar-SA" sz="135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2" name="Shape 6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4" name="Shape 7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مَادَّةٌ</a:t>
            </a:r>
            <a:endParaRPr lang="ar-SA" sz="3000" dirty="0"/>
          </a:p>
        </p:txBody>
      </p:sp>
      <p:sp>
        <p:nvSpPr>
          <p:cNvPr id="77" name="Text 7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school subject</a:t>
            </a:r>
            <a:endParaRPr lang="en-US" sz="1350" dirty="0"/>
          </a:p>
          <a:p>
            <a:pPr indent="0" marL="0">
              <a:buNone/>
            </a:pPr>
            <a:r>
              <a:rPr lang="en-US" sz="1100" i="1" dirty="0">
                <a:solidFill>
                  <a:srgbClr val="5A6472"/>
                </a:solidFill>
                <a:latin typeface="Calibri" pitchFamily="34" charset="0"/>
                <a:cs typeface="Amiri" pitchFamily="2" charset="-78"/>
              </a:rPr>
              <a:t>mād-da</a:t>
            </a:r>
            <a:endParaRPr lang="en-US" sz="1350" dirty="0"/>
          </a:p>
        </p:txBody>
      </p:sp>
      <p:sp>
        <p:nvSpPr>
          <p:cNvPr id="78" name="Shape 75"/>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مَوَادُّ</a:t>
            </a:r>
            <a:endParaRPr lang="ar-SA" sz="1500" dirty="0"/>
          </a:p>
        </p:txBody>
      </p:sp>
      <p:sp>
        <p:nvSpPr>
          <p:cNvPr id="81" name="Shape 78"/>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my fav.</a:t>
            </a:r>
            <a:endParaRPr lang="en-US" sz="700" dirty="0"/>
          </a:p>
        </p:txBody>
      </p:sp>
      <p:sp>
        <p:nvSpPr>
          <p:cNvPr id="83" name="Text 80"/>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مَادَّتِي المُفَضَّلَةُ</a:t>
            </a:r>
            <a:endParaRPr lang="ar-SA" sz="13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STUDY VERB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studies?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الدِّرَاسَةِ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7" name="Text 14"/>
          <p:cNvSpPr txBox="1"/>
          <p:nvPr/>
        </p:nvSpPr>
        <p:spPr>
          <a:xfrm>
            <a:off x="741578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8" name="Text 15"/>
          <p:cNvSpPr txBox="1"/>
          <p:nvPr/>
        </p:nvSpPr>
        <p:spPr>
          <a:xfrm>
            <a:off x="266090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628632"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2" name="Text 19"/>
          <p:cNvSpPr txBox="1"/>
          <p:nvPr/>
        </p:nvSpPr>
        <p:spPr>
          <a:xfrm>
            <a:off x="7434072" y="2267712"/>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أَ</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23" name="Text 20"/>
          <p:cNvSpPr txBox="1"/>
          <p:nvPr/>
        </p:nvSpPr>
        <p:spPr>
          <a:xfrm>
            <a:off x="2679192" y="2267712"/>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العُلُومَ.</a:t>
            </a:r>
            <a:endParaRPr lang="ar-SA" sz="2200" dirty="0"/>
          </a:p>
        </p:txBody>
      </p:sp>
      <p:sp>
        <p:nvSpPr>
          <p:cNvPr id="24" name="Text 21"/>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628632"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29" name="Text 26"/>
          <p:cNvSpPr txBox="1"/>
          <p:nvPr/>
        </p:nvSpPr>
        <p:spPr>
          <a:xfrm>
            <a:off x="7434072" y="300471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نَ</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30" name="Text 27"/>
          <p:cNvSpPr txBox="1"/>
          <p:nvPr/>
        </p:nvSpPr>
        <p:spPr>
          <a:xfrm>
            <a:off x="2679192" y="300471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نَدْرُسُ اللُّغَاتِ.</a:t>
            </a:r>
            <a:endParaRPr lang="ar-SA" sz="2200" dirty="0"/>
          </a:p>
        </p:txBody>
      </p:sp>
      <p:sp>
        <p:nvSpPr>
          <p:cNvPr id="31" name="Text 28"/>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study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628632"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6" name="Text 33"/>
          <p:cNvSpPr txBox="1"/>
          <p:nvPr/>
        </p:nvSpPr>
        <p:spPr>
          <a:xfrm>
            <a:off x="7434072" y="3741725"/>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يَ</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37" name="Text 34"/>
          <p:cNvSpPr txBox="1"/>
          <p:nvPr/>
        </p:nvSpPr>
        <p:spPr>
          <a:xfrm>
            <a:off x="2679192" y="3741725"/>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يَدْرُسُ عِلْمَ الحَاسُوبِ.</a:t>
            </a:r>
            <a:endParaRPr lang="ar-SA" sz="2200" dirty="0"/>
          </a:p>
        </p:txBody>
      </p:sp>
      <p:sp>
        <p:nvSpPr>
          <p:cNvPr id="38" name="Text 35"/>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studies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628632"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41" name="Text 38"/>
          <p:cNvSpPr txBox="1"/>
          <p:nvPr/>
        </p:nvSpPr>
        <p:spPr>
          <a:xfrm>
            <a:off x="7434072" y="4478731"/>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تَ</a:t>
            </a:r>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42" name="Text 39"/>
          <p:cNvSpPr txBox="1"/>
          <p:nvPr/>
        </p:nvSpPr>
        <p:spPr>
          <a:xfrm>
            <a:off x="2679192" y="4478731"/>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تَدْرُسُ المُوسِيقَى.</a:t>
            </a:r>
            <a:endParaRPr lang="ar-SA" sz="2200" dirty="0"/>
          </a:p>
        </p:txBody>
      </p:sp>
      <p:sp>
        <p:nvSpPr>
          <p:cNvPr id="43" name="Text 40"/>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studies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628632"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 / أَنْتِ</a:t>
            </a:r>
            <a:endParaRPr lang="ar-SA" sz="2400" dirty="0"/>
          </a:p>
        </p:txBody>
      </p:sp>
      <p:sp>
        <p:nvSpPr>
          <p:cNvPr id="46" name="Text 43"/>
          <p:cNvSpPr txBox="1"/>
          <p:nvPr/>
        </p:nvSpPr>
        <p:spPr>
          <a:xfrm>
            <a:off x="7434072" y="521573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تَدْرُسُ / تَدْرُسِينَ</a:t>
            </a:r>
            <a:endParaRPr lang="ar-SA" sz="2600" dirty="0"/>
          </a:p>
        </p:txBody>
      </p:sp>
      <p:sp>
        <p:nvSpPr>
          <p:cNvPr id="47" name="Text 44"/>
          <p:cNvSpPr txBox="1"/>
          <p:nvPr/>
        </p:nvSpPr>
        <p:spPr>
          <a:xfrm>
            <a:off x="2679192" y="521573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مَاذَا تَدْرُسُ؟ · مَاذَا تَدْرُسِينَ؟</a:t>
            </a:r>
            <a:endParaRPr lang="ar-SA" sz="2200" dirty="0"/>
          </a:p>
        </p:txBody>
      </p:sp>
      <p:sp>
        <p:nvSpPr>
          <p:cNvPr id="48" name="Text 45"/>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study (m. / f.)</a:t>
            </a:r>
            <a:endParaRPr lang="en-US" sz="11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beginning of the verb shows WHO studies. Do not confuse: adrusu = I study · udarrisu (shadda) = I teach.</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OPINIONS AND REASONS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Subject + opinion + reason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الرَّأْيُ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SUBJECT</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أُحِبُّ الفَنَّ لِأَنَّهُ مُمْتِعٌ.</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art because it is enjoyable.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Art, history, computing.</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B83280"/>
          </a:solidFill>
          <a:ln w="12700">
            <a:solidFill>
              <a:srgbClr val="B83280"/>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SUBJECT</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أُحِبُّ العُلُومَ لِأَنَّهَا مُفِيدَةٌ.</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science because it is useful.</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non-human plurals.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PREFERENCE</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أُفَضِّلُ · مَادَّتِي المُفَضَّلَةُ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مَادَّتِي المُفَضَّلَةُ هِيَ المُوسِيقَى.</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favourite subject is music.</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Dislike: </a:t>
            </a:r>
            <a:pPr algn="l" indent="0" marL="0">
              <a:buNone/>
            </a:pPr>
            <a:r>
              <a:rPr lang="ar-SA" altLang="en-US" sz="1450" dirty="0">
                <a:solidFill>
                  <a:srgbClr val="1F2A37"/>
                </a:solidFill>
                <a:latin typeface="Amiri" pitchFamily="2" charset="-78"/>
                <a:ea typeface="Amiri" pitchFamily="2" charset="-78"/>
                <a:cs typeface="Amiri" pitchFamily="2" charset="-78"/>
              </a:rPr>
              <a:t>لَا أُحِبُّ</a:t>
            </a:r>
            <a:pPr algn="l" indent="0" marL="0">
              <a:buNone/>
            </a:pPr>
            <a:r>
              <a:rPr lang="en-US" sz="1100" dirty="0">
                <a:solidFill>
                  <a:srgbClr val="1F2A37"/>
                </a:solidFill>
                <a:latin typeface="Calibri" pitchFamily="34" charset="0"/>
                <a:cs typeface="Amiri" pitchFamily="2" charset="-78"/>
              </a:rPr>
              <a:t> …</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agreement rule: the adjective matches the subject.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أُحِبُّ التَّارِيخَ لِأَنَّهُ مُهِمٌّ.</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أُحِبُّ التَّارِيخَ لِأَنَّهَا مُهِمَّةٌ.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REASON ADJECTIVES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Easy, difficult, useful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صِفَاتُ السَّبَبِ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سَهْلٌ</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easy</a:t>
            </a:r>
            <a:endParaRPr lang="en-US" sz="1350" dirty="0"/>
          </a:p>
          <a:p>
            <a:pPr indent="0" marL="0">
              <a:buNone/>
            </a:pPr>
            <a:r>
              <a:rPr lang="en-US" sz="1100" i="1" dirty="0">
                <a:solidFill>
                  <a:srgbClr val="5A6472"/>
                </a:solidFill>
                <a:latin typeface="Calibri" pitchFamily="34" charset="0"/>
                <a:cs typeface="Amiri" pitchFamily="2" charset="-78"/>
              </a:rPr>
              <a:t>sahl</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سَهْلَةٌ</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سَهْلٌ</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Shape 3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صَعْبٌ</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difficult</a:t>
            </a:r>
            <a:endParaRPr lang="en-US" sz="1350" dirty="0"/>
          </a:p>
          <a:p>
            <a:pPr indent="0" marL="0">
              <a:buNone/>
            </a:pPr>
            <a:r>
              <a:rPr lang="en-US" sz="1100" i="1" dirty="0">
                <a:solidFill>
                  <a:srgbClr val="5A6472"/>
                </a:solidFill>
                <a:latin typeface="Calibri" pitchFamily="34" charset="0"/>
                <a:cs typeface="Amiri" pitchFamily="2" charset="-78"/>
              </a:rPr>
              <a:t>ṣa‘b</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صَعْبَةٌ</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صَعْبٌ</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0" name="Shape 4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useful</a:t>
            </a:r>
            <a:endParaRPr lang="en-US" sz="1350" dirty="0"/>
          </a:p>
          <a:p>
            <a:pPr indent="0" marL="0">
              <a:buNone/>
            </a:pPr>
            <a:r>
              <a:rPr lang="en-US" sz="1100" i="1" dirty="0">
                <a:solidFill>
                  <a:srgbClr val="5A6472"/>
                </a:solidFill>
                <a:latin typeface="Calibri" pitchFamily="34" charset="0"/>
                <a:cs typeface="Amiri" pitchFamily="2" charset="-78"/>
              </a:rPr>
              <a:t>mu-fīd</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مُفِيدَةٌ</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مُفِيدٌ</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5" name="Shape 6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7" name="Shape 6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9" name="Text 6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a:t>
            </a:r>
            <a:endParaRPr lang="ar-SA" sz="3000" dirty="0"/>
          </a:p>
        </p:txBody>
      </p:sp>
      <p:sp>
        <p:nvSpPr>
          <p:cNvPr id="70" name="Text 6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71" name="Shape 6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مُمْتِعَةٌ</a:t>
            </a:r>
            <a:endParaRPr lang="ar-SA" sz="1500" dirty="0"/>
          </a:p>
        </p:txBody>
      </p:sp>
      <p:sp>
        <p:nvSpPr>
          <p:cNvPr id="74" name="Shape 7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6" name="Text 7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a:t>
            </a:r>
            <a:endParaRPr lang="ar-SA" sz="15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0" name="Shape 7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مُمِلٌّ</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boring</a:t>
            </a:r>
            <a:endParaRPr lang="en-US" sz="1350" dirty="0"/>
          </a:p>
          <a:p>
            <a:pPr indent="0" marL="0">
              <a:buNone/>
            </a:pPr>
            <a:r>
              <a:rPr lang="en-US" sz="1100" i="1" dirty="0">
                <a:solidFill>
                  <a:srgbClr val="5A6472"/>
                </a:solidFill>
                <a:latin typeface="Calibri" pitchFamily="34" charset="0"/>
                <a:cs typeface="Amiri" pitchFamily="2" charset="-78"/>
              </a:rPr>
              <a:t>mu-mill</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مُهِمٌّ</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important</a:t>
            </a:r>
            <a:endParaRPr lang="en-US" sz="1350" dirty="0"/>
          </a:p>
          <a:p>
            <a:pPr indent="0" marL="0">
              <a:buNone/>
            </a:pPr>
            <a:r>
              <a:rPr lang="en-US" sz="1100" i="1" dirty="0">
                <a:solidFill>
                  <a:srgbClr val="5A6472"/>
                </a:solidFill>
                <a:latin typeface="Calibri" pitchFamily="34" charset="0"/>
                <a:cs typeface="Amiri" pitchFamily="2" charset="-78"/>
              </a:rPr>
              <a:t>mu-himm</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مُهِمَّةٌ</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مُهِمٌّ</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study”.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نَدْرُسُ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studies”.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نَدْرُسُ</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الفَنَّ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مُمْتِعٌ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الكِيمِيَاءَ لِأَنَّهَا ___.</a:t>
            </a:r>
            <a:endParaRPr lang="ar-SA" sz="22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مُثِيرَةٌ لِلاهْتِمَامِ</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مُثِيرٌ لِلاهْتِمَامِ</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مُثِيرُونَ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study”.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نَدْرُسُ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نَدْرُسُ</a:t>
            </a:r>
            <a:pPr algn="l" indent="0" marL="0">
              <a:buNone/>
            </a:pPr>
            <a:r>
              <a:rPr lang="en-US" sz="1050" i="1" dirty="0">
                <a:solidFill>
                  <a:srgbClr val="8A6D1E"/>
                </a:solidFill>
                <a:latin typeface="Calibri" pitchFamily="34" charset="0"/>
                <a:cs typeface="Amiri" pitchFamily="2" charset="-78"/>
              </a:rPr>
              <a:t> begins with </a:t>
            </a:r>
            <a:pPr algn="l" indent="0" marL="0">
              <a:buNone/>
            </a:pPr>
            <a:r>
              <a:rPr lang="ar-SA" altLang="en-US" sz="1350" dirty="0">
                <a:solidFill>
                  <a:srgbClr val="8A6D1E"/>
                </a:solidFill>
                <a:latin typeface="Amiri" pitchFamily="2" charset="-78"/>
                <a:ea typeface="Amiri" pitchFamily="2" charset="-78"/>
                <a:cs typeface="Amiri" pitchFamily="2" charset="-78"/>
              </a:rPr>
              <a:t>نـ</a:t>
            </a:r>
            <a:pPr algn="l" indent="0" marL="0">
              <a:buNone/>
            </a:pPr>
            <a:r>
              <a:rPr lang="en-US" sz="1050" i="1" dirty="0">
                <a:solidFill>
                  <a:srgbClr val="8A6D1E"/>
                </a:solidFill>
                <a:latin typeface="Calibri" pitchFamily="34" charset="0"/>
                <a:cs typeface="Amiri" pitchFamily="2" charset="-78"/>
              </a:rPr>
              <a:t> for we.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studies”.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نَدْرُسُ</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is the she-form.</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الفَنَّ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مُمْتِعٌ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Art is masculine: li’annahu.</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الكِيمِيَاءَ لِأَنَّهَا ___.</a:t>
            </a:r>
            <a:endParaRPr lang="ar-SA" sz="22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مُثِيرَةٌ لِلاهْتِمَامِ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مُثِيرٌ لِلاهْتِمَامِ</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مُثِيرُونَ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الكِيمِيَاءُ</a:t>
            </a:r>
            <a:pPr algn="l" indent="0" marL="0">
              <a:buNone/>
            </a:pPr>
            <a:r>
              <a:rPr lang="en-US" sz="1050" i="1" dirty="0">
                <a:solidFill>
                  <a:srgbClr val="8A6D1E"/>
                </a:solidFill>
                <a:latin typeface="Calibri" pitchFamily="34" charset="0"/>
                <a:cs typeface="Amiri" pitchFamily="2" charset="-78"/>
              </a:rPr>
              <a:t> uses a feminine reason adjective.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subject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أَدْرُسُ الرِّيَاضِيَّاتِ، وَالعُلُومَ، وَالفَنَّ.</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study + list.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Favourite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مَادَّتِي المُفَضَّلَةُ هِيَ العُلُومُ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لِأَنَّهَا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مُفِيدَ</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Science (f.) → -hā.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Like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أُحِبُّ الفَنَّ أَيْضًا </a:t>
            </a:r>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مُمْتِعٌ.</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Art (m.) → -hu.</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Dislike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لَا أُحِبُّ التَّارِيخَ </a:t>
            </a:r>
            <a:pPr rtl="1" algn="ctr" indent="0" marL="0">
              <a:lnSpc>
                <a:spcPct val="120000"/>
              </a:lnSpc>
              <a:buNone/>
            </a:pPr>
            <a:r>
              <a:rPr lang="ar-SA" altLang="en-US" sz="2000" b="1" dirty="0">
                <a:solidFill>
                  <a:srgbClr val="1D5FBF"/>
                </a:solidFill>
                <a:latin typeface="Amiri" pitchFamily="2" charset="-78"/>
                <a:ea typeface="Amiri" pitchFamily="2" charset="-78"/>
                <a:cs typeface="Amiri" pitchFamily="2" charset="-78"/>
              </a:rPr>
              <a:t>لِأَنَّهُ</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صَعْبٌ.</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History (m.).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 SUBJECT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SUBJECT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أَدْرُسُ الرِّيَاضِيَّاتِ، وَالعُلُومَ، وَالفَنَّ. مَادَّتِي المُفَضَّلَةُ هِيَ العُلُومُ </a:t>
            </a:r>
            <a:pPr rtl="1" algn="r" indent="0" marL="0">
              <a:buNone/>
            </a:pPr>
            <a:r>
              <a:rPr lang="ar-SA" altLang="en-US" sz="1700" b="1" dirty="0">
                <a:solidFill>
                  <a:srgbClr val="D6336C"/>
                </a:solidFill>
                <a:latin typeface="Amiri" pitchFamily="2" charset="-78"/>
                <a:ea typeface="Amiri" pitchFamily="2" charset="-78"/>
                <a:cs typeface="Amiri" pitchFamily="2" charset="-78"/>
              </a:rPr>
              <a:t>لِأَنَّهَا</a:t>
            </a:r>
            <a:pPr rtl="1" algn="r" indent="0" marL="0">
              <a:buNone/>
            </a:pPr>
            <a:r>
              <a:rPr lang="ar-SA" altLang="en-US" sz="1700" b="1" dirty="0">
                <a:solidFill>
                  <a:srgbClr val="1B3B6F"/>
                </a:solidFill>
                <a:latin typeface="Amiri" pitchFamily="2" charset="-78"/>
                <a:ea typeface="Amiri" pitchFamily="2" charset="-78"/>
                <a:cs typeface="Amiri" pitchFamily="2" charset="-78"/>
              </a:rPr>
              <a:t> مُفِيدَ</a:t>
            </a:r>
            <a:pPr rtl="1" algn="r" indent="0" marL="0">
              <a:buNone/>
            </a:pPr>
            <a:r>
              <a:rPr lang="ar-SA" altLang="en-US" sz="1700" b="1" dirty="0">
                <a:solidFill>
                  <a:srgbClr val="D6336C"/>
                </a:solidFill>
                <a:latin typeface="Amiri" pitchFamily="2" charset="-78"/>
                <a:ea typeface="Amiri" pitchFamily="2" charset="-78"/>
                <a:cs typeface="Amiri" pitchFamily="2" charset="-78"/>
              </a:rPr>
              <a:t>ةٌ</a:t>
            </a:r>
            <a:pPr rtl="1" algn="r" indent="0" marL="0">
              <a:buNone/>
            </a:pPr>
            <a:r>
              <a:rPr lang="ar-SA" altLang="en-US" sz="1700" b="1" dirty="0">
                <a:solidFill>
                  <a:srgbClr val="1B3B6F"/>
                </a:solidFill>
                <a:latin typeface="Amiri" pitchFamily="2" charset="-78"/>
                <a:ea typeface="Amiri" pitchFamily="2" charset="-78"/>
                <a:cs typeface="Amiri" pitchFamily="2" charset="-78"/>
              </a:rPr>
              <a:t>. أُحِبُّ الفَنَّ أَيْضًا </a:t>
            </a:r>
            <a:pPr rtl="1" algn="r" indent="0" marL="0">
              <a:buNone/>
            </a:pPr>
            <a:r>
              <a:rPr lang="ar-SA" altLang="en-US" sz="1700" b="1" dirty="0">
                <a:solidFill>
                  <a:srgbClr val="1D5FBF"/>
                </a:solidFill>
                <a:latin typeface="Amiri" pitchFamily="2" charset="-78"/>
                <a:ea typeface="Amiri" pitchFamily="2" charset="-78"/>
                <a:cs typeface="Amiri" pitchFamily="2" charset="-78"/>
              </a:rPr>
              <a:t>لِأَنَّهُ</a:t>
            </a:r>
            <a:pPr rtl="1" algn="r" indent="0" marL="0">
              <a:buNone/>
            </a:pPr>
            <a:r>
              <a:rPr lang="ar-SA" altLang="en-US" sz="1700" b="1" dirty="0">
                <a:solidFill>
                  <a:srgbClr val="1B3B6F"/>
                </a:solidFill>
                <a:latin typeface="Amiri" pitchFamily="2" charset="-78"/>
                <a:ea typeface="Amiri" pitchFamily="2" charset="-78"/>
                <a:cs typeface="Amiri" pitchFamily="2" charset="-78"/>
              </a:rPr>
              <a:t> مُمْتِعٌ، وَلَكِنِّي لَا أُحِبُّ التَّارِيخَ </a:t>
            </a:r>
            <a:pPr rtl="1" algn="r" indent="0" marL="0">
              <a:buNone/>
            </a:pPr>
            <a:r>
              <a:rPr lang="ar-SA" altLang="en-US" sz="1700" b="1" dirty="0">
                <a:solidFill>
                  <a:srgbClr val="1D5FBF"/>
                </a:solidFill>
                <a:latin typeface="Amiri" pitchFamily="2" charset="-78"/>
                <a:ea typeface="Amiri" pitchFamily="2" charset="-78"/>
                <a:cs typeface="Amiri" pitchFamily="2" charset="-78"/>
              </a:rPr>
              <a:t>لِأَنَّهُ</a:t>
            </a:r>
            <a:pPr rtl="1" algn="r" indent="0" marL="0">
              <a:buNone/>
            </a:pPr>
            <a:r>
              <a:rPr lang="ar-SA" altLang="en-US" sz="1700" b="1" dirty="0">
                <a:solidFill>
                  <a:srgbClr val="1B3B6F"/>
                </a:solidFill>
                <a:latin typeface="Amiri" pitchFamily="2" charset="-78"/>
                <a:ea typeface="Amiri" pitchFamily="2" charset="-78"/>
                <a:cs typeface="Amiri" pitchFamily="2" charset="-78"/>
              </a:rPr>
              <a:t> صَعْبٌ.</a:t>
            </a:r>
            <a:endParaRPr lang="ar-SA" sz="17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study maths, science and art. My favourite subject is science because it is useful. I like art too because it is enjoyable, but I do not like history because it is difficult.</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SCHOOL SUBJECTS”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Which subject? Match the picture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calculator</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globe</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palette</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الفَنَّ.</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الرِّيَاضِيَّاتِ.</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الجُغْرَافِيَا.</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المَوَادُّ الدِّرَاسِيَّةُ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calculator</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الرِّيَاضِيَّاتِ.</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mathematics.</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globe</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الجُغْرَافِيَا.</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geography.</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palette</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الفَنَّ.</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art.</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“SUBJECT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subject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 Choose physical education.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التَّرْبِيَةُ البَدَنِيَّةُ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الرِّيَاضِيَّاتُ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التَّرْبِيَةُ الدِّينِيَّةُ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Ask one male listener what he studies.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يَدْرُسُ؟</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Ask one female listener what she studies.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تَدْرُسُ؟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نَدْرُسُ؟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الفَنَّ...</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مُمْتِعَةٌ.</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مُمْتِعَةٌ.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مُمْتِعٌ.</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العُلُومَ...</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مُفِيدٌ.</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maths ≠ sport</a:t>
            </a:r>
            <a:endParaRPr lang="en-US" sz="1250" dirty="0"/>
          </a:p>
          <a:p>
            <a:pPr algn="l" indent="0" marL="0">
              <a:buNone/>
            </a:pPr>
            <a:r>
              <a:rPr lang="en-US" sz="1250" dirty="0">
                <a:solidFill>
                  <a:srgbClr val="1E6B52"/>
                </a:solidFill>
                <a:latin typeface="Calibri" pitchFamily="34" charset="0"/>
                <a:cs typeface="Amiri" pitchFamily="2" charset="-78"/>
              </a:rPr>
              <a:t>boy: tadrusu · girl: tadrusīna</a:t>
            </a:r>
            <a:endParaRPr lang="en-US" sz="1250" dirty="0"/>
          </a:p>
          <a:p>
            <a:pPr algn="l" indent="0" marL="0">
              <a:buNone/>
            </a:pPr>
            <a:r>
              <a:rPr lang="en-US" sz="1250" dirty="0">
                <a:solidFill>
                  <a:srgbClr val="1E6B52"/>
                </a:solidFill>
                <a:latin typeface="Calibri" pitchFamily="34" charset="0"/>
                <a:cs typeface="Amiri" pitchFamily="2" charset="-78"/>
              </a:rPr>
              <a:t>m. subject → -hu · f. → -hā</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 Choose physical education.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التَّرْبِيَةُ البَدَنِيَّةُ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الرِّيَاضِيَّاتُ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التَّرْبِيَةُ الدِّينِيَّةُ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التَّرْبِيَةُ البَدَنِيَّةُ</a:t>
            </a:r>
            <a:pPr algn="l" indent="0" marL="0">
              <a:buNone/>
            </a:pPr>
            <a:r>
              <a:rPr lang="en-US" sz="1050" i="1" dirty="0">
                <a:solidFill>
                  <a:srgbClr val="8A6D1E"/>
                </a:solidFill>
                <a:latin typeface="Calibri" pitchFamily="34" charset="0"/>
                <a:cs typeface="Amiri" pitchFamily="2" charset="-78"/>
              </a:rPr>
              <a:t> is PE.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Ask one male listener what he studies.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تَدْرُسِينَ؟</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تَدْرُسُ؟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يَدْرُسُ؟</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for one male listener.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Ask one female listener what she studies.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تَدْرُسِينَ؟</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تَدْرُسُ؟</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نَدْرُسُ؟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الفَنَّ...</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مُمْتِعَةٌ.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مُمْتِعَةٌ.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 مُمْتِعٌ.</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الفَنُّ</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العُلُومَ...</a:t>
            </a:r>
            <a:endParaRPr lang="ar-SA" sz="220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مُفِيدٌ.</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مُفِيدٌ.</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مُفِيدَةٌ.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العُلُومُ</a:t>
            </a:r>
            <a:pPr algn="l" indent="0" marL="0">
              <a:buNone/>
            </a:pPr>
            <a:r>
              <a:rPr lang="en-US" sz="1050" i="1" dirty="0">
                <a:solidFill>
                  <a:srgbClr val="8A6D1E"/>
                </a:solidFill>
                <a:latin typeface="Calibri" pitchFamily="34" charset="0"/>
                <a:cs typeface="Amiri" pitchFamily="2" charset="-78"/>
              </a:rPr>
              <a:t> takes feminine singular agreement.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maths ≠ sport</a:t>
            </a:r>
            <a:endParaRPr lang="en-US" sz="1250" dirty="0"/>
          </a:p>
          <a:p>
            <a:pPr algn="l" indent="0" marL="0">
              <a:buNone/>
            </a:pPr>
            <a:r>
              <a:rPr lang="en-US" sz="1250" dirty="0">
                <a:solidFill>
                  <a:srgbClr val="1E6B52"/>
                </a:solidFill>
                <a:latin typeface="Calibri" pitchFamily="34" charset="0"/>
                <a:cs typeface="Amiri" pitchFamily="2" charset="-78"/>
              </a:rPr>
              <a:t>boy: tadrusu · girl: tadrusīna</a:t>
            </a:r>
            <a:endParaRPr lang="en-US" sz="1250" dirty="0"/>
          </a:p>
          <a:p>
            <a:pPr algn="l" indent="0" marL="0">
              <a:buNone/>
            </a:pPr>
            <a:r>
              <a:rPr lang="en-US" sz="1250" dirty="0">
                <a:solidFill>
                  <a:srgbClr val="1E6B52"/>
                </a:solidFill>
                <a:latin typeface="Calibri" pitchFamily="34" charset="0"/>
                <a:cs typeface="Amiri" pitchFamily="2" charset="-78"/>
              </a:rPr>
              <a:t>m. subject → -hu · f. → -hā</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الفَنَّ لِأَنَّهَا مُمْتِعَةٌ.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Art: -hu or -hā?</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أُدَرِّسُ العُلُومَ فِي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Study or teach?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الرِّيَاضَةَ: هِيَ مَادَّةُ الأَرْقَامِ.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Maths or sport?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الفَنَّ لِأَنَّهَا مُمْتِعَةٌ.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الفَنَّ لِأَنَّهُ مُمْتِعٌ.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Art is masculine: li’annahu + masculine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أُدَرِّسُ العُلُومَ فِي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أَدْرُسُ العُلُومَ فِي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the shadda it means I TEACH; I study = adrusu.</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الرِّيَاضَةَ: هِيَ مَادَّةُ الأَرْقَامِ.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الرِّيَاضِيَّاتِ: هِيَ مَادَّةُ الأَرْقَامِ.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Riyāḍiyyāt = maths; riyāḍa = sport / PE.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Maryam describes her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subjects does Maryam list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she like?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dislike?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study” in the script?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نَدْرُسُ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studies · favourite · likes · dislikes · reasons.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اِسْمِي مَرْيَمُ. أَدْرُسُ اللُّغَةَ العَرَبِيَّةَ، وَاللُّغَةَ الإِنْجِلِيزِيَّةَ، وَالرِّيَاضِيَّاتِ، وَالعُلُومَ، وَالتَّارِيخَ، وَالفَنَّ.</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Maryam. I study Arabic, English, maths, science, history and art.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مَادَّتِي المُفَضَّلَةُ هِيَ العُلُومُ لِأَنَّهَا مُفِيدَةٌ وَمُثِيرَةٌ لِلاهْتِمَامِ.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favourite subject is science because it is useful and interesting.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الفَنَّ أَيْضًا لِأَنَّهُ مُمْتِعٌ.</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also like art because it is enjoyable.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أُحِبُّ التَّارِيخَ لِأَنَّهُ صَعْبٌ.</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like history because it is difficult.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وَصَدِيقَتِي نَدْرُسُ المُوسِيقَى أَيْضًا.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and I study music too.</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subjects does Maryam list first?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lists Arabic, English, mathematics, science, history and art.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مَادَّتِي المُفَضَّلَةُ هِيَ العُلُومُ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she like?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geography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أُحِبُّ الفَنَّ أَيْضًا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dislike?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mathematics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لَا أُحِبُّ التَّارِيخَ</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study” in the script?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نَدْرُسُ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نَدْرُسُ</a:t>
            </a:r>
            <a:pPr algn="l" indent="0" marL="0">
              <a:buNone/>
            </a:pPr>
            <a:r>
              <a:rPr lang="en-US" sz="1050" i="1" dirty="0">
                <a:solidFill>
                  <a:srgbClr val="8A6D1E"/>
                </a:solidFill>
                <a:latin typeface="Calibri" pitchFamily="34" charset="0"/>
                <a:cs typeface="Amiri" pitchFamily="2" charset="-78"/>
              </a:rPr>
              <a:t> is the we-form.</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Five headings: studies · favourite · likes · dislikes · reasons.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Samir’s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يَدْرُسُ سَامِرٌ الرِّيَاضِيَّاتِ، وَالفِيزِيَاءَ، وَالكِيمِيَاءَ،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 studies maths, physics, chemistry,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وَالتَّارِيخَ، وَعِلْمَ الحَاسُوبِ.</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 and computer science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مَادَّتُهُ المُفَضَّلَةُ هِيَ عِلْمُ الحَاسُوبِ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favourite: computer science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لِأَنَّهُ مُفِيدٌ وَمُمْتِعٌ.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is useful and enjoyable (m.)</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يُحِبُّ التَّارِيخَ لِأَنَّهُ مُمِلٌّ فِي رَأْيِهِ.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Dislike: history — boring, in his opinion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Huda’s subjects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تَدْرُسُ هُدَى اللُّغَةَ العَرَبِيَّةَ، وَاللُّغَةَ الإِنْجِلِيزِيَّةَ، وَالأَحْيَاءَ،</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studies Arabic, English, biology,</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وَالجُغْرَافِيَا، وَالمُوسِيقَى، وَالفَنَّ.</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 music and art</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تُفَضِّلُ اللُّغَةَ العَرَبِيَّةَ لِأَنَّهَا جَمِيلَةٌ وَمُهِمَّةٌ.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Prefers Arabic: beautiful and important (f.)</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تُحِبُّ المُوسِيقَى أَيْضًا،</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also likes music</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وَلَكِنَّهَا لَا تُحِبُّ الجُغْرَافِيَا لِأَنَّهَا صَعْبَةٌ.</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not geography — difficult</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Samir’s favourite?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science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chemistry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Samir dislike?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Huda’s favourite?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geography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Huda like?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introduces Huda’s subject list?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name,</a:t>
            </a:r>
            <a:endParaRPr lang="en-US" sz="1250" dirty="0"/>
          </a:p>
          <a:p>
            <a:pPr algn="l" indent="0" marL="0">
              <a:buNone/>
            </a:pPr>
            <a:r>
              <a:rPr lang="en-US" sz="1250" dirty="0">
                <a:solidFill>
                  <a:srgbClr val="1F2A37"/>
                </a:solidFill>
                <a:latin typeface="Calibri" pitchFamily="34" charset="0"/>
                <a:cs typeface="Amiri" pitchFamily="2" charset="-78"/>
              </a:rPr>
              <a:t>then the verb and the subject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Samir’s favourite?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computer science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chemistry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His favourite is </a:t>
            </a:r>
            <a:pPr algn="l" indent="0" marL="0">
              <a:buNone/>
            </a:pPr>
            <a:r>
              <a:rPr lang="ar-SA" altLang="en-US" sz="1350" dirty="0">
                <a:solidFill>
                  <a:srgbClr val="8A6D1E"/>
                </a:solidFill>
                <a:latin typeface="Amiri" pitchFamily="2" charset="-78"/>
                <a:ea typeface="Amiri" pitchFamily="2" charset="-78"/>
                <a:cs typeface="Amiri" pitchFamily="2" charset="-78"/>
              </a:rPr>
              <a:t>عِلْمُ الحَاسُوبِ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Samir dislike?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history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does not like history.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Huda’s favourite?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music</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geography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prefers Arabic.</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other subject does Huda like?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music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likes music too.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introduces Huda’s subject list?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تَدْرُسُ</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is used for she studies.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name,</a:t>
            </a:r>
            <a:endParaRPr lang="en-US" sz="1250" dirty="0"/>
          </a:p>
          <a:p>
            <a:pPr algn="l" indent="0" marL="0">
              <a:buNone/>
            </a:pPr>
            <a:r>
              <a:rPr lang="en-US" sz="1250" dirty="0">
                <a:solidFill>
                  <a:srgbClr val="1F2A37"/>
                </a:solidFill>
                <a:latin typeface="Calibri" pitchFamily="34" charset="0"/>
                <a:cs typeface="Amiri" pitchFamily="2" charset="-78"/>
              </a:rPr>
              <a:t>then the verb and the subject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 about your subjects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تَدْرُسُ فِي المَدْرَسَةِ؟ / مَاذَا تَدْرُسِينَ؟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مَادَّتُكَ المُفَضَّلَةُ؟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المَادَّةُ الَّتِي لَا تُحِبُّهَا؟ وَلِمَاذَا؟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يَدْرُسُ صَدِيقُكَ؟ وَمَاذَا تَدْرُسُ صَدِيقَتُكَ؟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أَدْرُسُ ___ وَ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مَادَّتِي المُفَضَّلَةُ هِيَ ___ لِأَنَّهَا / لِأَنَّهُ ___ .</a:t>
            </a:r>
            <a:endParaRPr lang="ar-SA" sz="135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أُحِبُّ ___ لِأَنَّهُ / لِأَنَّهَا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يَدْرُسُ صَدِيقِي ___ ، وَتَدْرُسُ صَدِيقَتِي ___ .</a:t>
            </a:r>
            <a:endParaRPr lang="ar-SA" sz="15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تَدْرُسُ فِي المَدْرَسَةِ؟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study at school?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أَدْرُسُ الرِّيَاضِيَّاتِ وَالعُلُومَ وَالفَنَّ. أُحِبُّ الفَنَّ لِأَنَّهُ مُمْتِعٌ.</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study maths, science and art. I like art because it is enjoyable.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accurate sentences using the models.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Subjects, a favourite, one like and one dislike, using the models.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Eight subject terms and three different opinion structures.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Eight subjects, three opinion structures, two agreeing reasons.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what another person studies with yadrusu / tadrusu.</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another person: yadrusu / tadrusu, and compare two subjects.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الكِيمِيَاءَ لِأَنَّهَا مُثِيرَةٌ لِلاهْتِمَامِ.</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chemistry because it is interesting.</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نَحْنُ نَدْرُسُ اللُّغَاتِ.</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study languages.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يَدْرُسُ صَدِيقِي عِلْمَ الحَاسُوبِ.</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(m.) studies computing.</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تَدْرُسُ صَدِيقَتِي المُوسِيقَى.</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(f.) studies music.</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وَلَكِنَّ الفِيزِيَاءَ صَعْبَةٌ فِي رَأْيِي.</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physics is difficult in my opinion.</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الرِّيَاضِيَّاتِ وَالعُلُومَ.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maths and science.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مَادَّتِي المُفَضَّلَةُ هِيَ الفَنُّ.</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subject is art.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الفَنَّ لِأَنَّهُ مُمْتِعٌ.</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art because it is enjoyable.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العُلُومَ لِأَنَّهَا مُفِيدَةٌ.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science because it is useful.</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التَّارِيخَ لِأَنَّهُ صَعْبٌ.</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not like history because it is difficult.</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الرِّيَاضِيَّاتُ  ·  العُلُومُ  ·  التَّارِيخُ  ·  الفَنُّ  ·  المُوسِيقَى  ·  أَدْرُسُ  ·  أُحِبُّ  ·  لَا أُحِبُّ  ·  أُفَضِّلُ  ·  لِأَنَّهُ  ·  لِأَنَّهَا  ·  مُفِيدٌ / مُفِيدَةٌ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أَدْرُسُ اللُّغَةَ العَرَبِيَّةَ، وَاللُّغَةَ الإِنْجِلِيزِيَّةَ، وَالرِّيَاضِيَّاتِ، وَالعُلُومَ، وَالتَّارِيخَ، وَالفَنَّ. مَادَّتِي المُفَضَّلَةُ هِيَ العُلُومُ لِأَنَّهَا مُفِيدَةٌ. أُحِبُّ الفَنَّ أَيْضًا لِأَنَّهُ مُمْتِعٌ، وَلَكِنِّي لَا أُحِبُّ التَّارِيخَ لِأَنَّهُ صَعْبٌ.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study Arabic, English, maths, science, history and art. My favourite subject is science because it is useful. I also like art because it is enjoyable, but I do not like history because it is difficult.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subjects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favourite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reasons (m. · f.)</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contrast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six subjects.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adrusu and uḥibbu / lā uḥibbu.</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Masculine subject → li’annahu; feminine → li’annahā.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reason adjective agrees.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what another person studies.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“biology”.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الأَحْيَاءُ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الكِيمِيَاءُ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العُلُومُ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favourite subject”.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مَادَّتُهُ المُفَضَّلَةُ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مَادَّتِي المُفَضَّلَةُ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المَوَادُّ المُفَضَّلَةُ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studies music”?</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تَدْرُسُ المُوسِيقَى.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 المُوسِيقَى.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المُوسِيقَى.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“biology”.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الأَحْيَاءُ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الكِيمِيَاءُ</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العُلُومُ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الأَحْيَاءُ</a:t>
            </a:r>
            <a:pPr algn="l" indent="0" marL="0">
              <a:buNone/>
            </a:pPr>
            <a:r>
              <a:rPr lang="en-US" sz="1050" i="1" dirty="0">
                <a:solidFill>
                  <a:srgbClr val="8A6D1E"/>
                </a:solidFill>
                <a:latin typeface="Calibri" pitchFamily="34" charset="0"/>
                <a:cs typeface="Amiri" pitchFamily="2" charset="-78"/>
              </a:rPr>
              <a:t> means biology.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favourite subject”.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مَادَّتُهُ المُفَضَّلَةُ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مَادَّتِي المُفَضَّلَةُ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المَوَادُّ المُفَضَّلَةُ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gives my.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studies music”?</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تَدْرُسُ المُوسِيقَى.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يَدْرُسُ المُوسِيقَى.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أَدْرُسُ المُوسِيقَى.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تَدْرُسُ</a:t>
            </a:r>
            <a:pPr algn="l" indent="0" marL="0">
              <a:buNone/>
            </a:pPr>
            <a:r>
              <a:rPr lang="en-US" sz="1050" i="1" dirty="0">
                <a:solidFill>
                  <a:srgbClr val="8A6D1E"/>
                </a:solidFill>
                <a:latin typeface="Calibri" pitchFamily="34" charset="0"/>
                <a:cs typeface="Amiri" pitchFamily="2" charset="-78"/>
              </a:rPr>
              <a:t> is the she-form.</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F4-L01 · School Subjects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F4-L02 · The School Timetable — Days and Times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جَدْوَلٌ مَدْرَسِيٌّ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school timetable</a:t>
            </a:r>
            <a:pPr indent="0" marL="0">
              <a:buNone/>
            </a:pPr>
            <a:r>
              <a:rPr lang="ar-SA" sz="1000" i="1" dirty="0">
                <a:solidFill>
                  <a:srgbClr val="5A6472"/>
                </a:solidFill>
                <a:latin typeface="Calibri" pitchFamily="34" charset="0"/>
                <a:ea typeface="Amiri" pitchFamily="2" charset="-78"/>
                <a:cs typeface="Amiri" pitchFamily="2" charset="-78"/>
              </a:rPr>
              <a:t>  pl. جَدَاوِلُ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حِصَّةٌ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lesson / period</a:t>
            </a:r>
            <a:pPr indent="0" marL="0">
              <a:buNone/>
            </a:pPr>
            <a:r>
              <a:rPr lang="ar-SA" sz="1000" i="1" dirty="0">
                <a:solidFill>
                  <a:srgbClr val="5A6472"/>
                </a:solidFill>
                <a:latin typeface="Calibri" pitchFamily="34" charset="0"/>
                <a:ea typeface="Amiri" pitchFamily="2" charset="-78"/>
                <a:cs typeface="Amiri" pitchFamily="2" charset="-78"/>
              </a:rPr>
              <a:t>  pl. حِصَصٌ</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أُسْبُوعٌ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week</a:t>
            </a:r>
            <a:pPr indent="0" marL="0">
              <a:buNone/>
            </a:pPr>
            <a:r>
              <a:rPr lang="ar-SA" sz="1000" i="1" dirty="0">
                <a:solidFill>
                  <a:srgbClr val="5A6472"/>
                </a:solidFill>
                <a:latin typeface="Calibri" pitchFamily="34" charset="0"/>
                <a:ea typeface="Amiri" pitchFamily="2" charset="-78"/>
                <a:cs typeface="Amiri" pitchFamily="2" charset="-78"/>
              </a:rPr>
              <a:t>  pl. أَسَابِيعُ</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الاِسْتِرَاحَةُ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break time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مَتَى؟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lesson do you have first on Monday?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الحِصَّةُ الأُولَى؟</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F4-L01: the Subject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subject profile: list eight subjects, one like, one dislike and two reasons.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6–8 sentences about your subjects and one friend’s subjects.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F4-L02 · The School Timetable — Days and Times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الجَدْوَلُ المَدْرَسِيُّ — الأَيَّامُ وَالأَوْقَاتُ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subject + opinion + reason · art (m.) → li’annahu · science (f.) → li’annahā.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F4-L01 · School Subjects — What Do You Study?</dc:title>
  <dc:subject>PptxGenJS Presentation</dc:subject>
  <dc:creator>Al Madina Online School · Arabic Department</dc:creator>
  <cp:lastModifiedBy>Al Madina Online School · Arabic Department</cp:lastModifiedBy>
  <cp:revision>1</cp:revision>
  <dcterms:created xsi:type="dcterms:W3CDTF">2026-10-11T06:41:36Z</dcterms:created>
  <dcterms:modified xsi:type="dcterms:W3CDTF">2026-10-11T06:41:36Z</dcterms:modified>
</cp:coreProperties>
</file>