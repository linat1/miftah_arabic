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F4 My School › Lesson 1 (F4-L01). Website sections used: the eight-question F3-to-F4 bridge, the school-subject vault (18 subjects, مَادَّةٌ / مَوَادُّ / مَادَّتِي المُفَضَّلَةُ, the mathematics vs sport contrast) and the 18-question check, the study verb (أَنَا أَدْرُسُ · نَحْنُ نَدْرُسُ · هُوَ يَدْرُسُ · هِيَ تَدْرُسُ; asking a boy or a girl; أَدْرُسُ vs أُدَرِّسُ) and the 12-question laboratory, opinions and reasons (8 adjectives) and the 14-question check, the subject profile, the Subject Mission (14), Maryam’s subjects (listening, 10), Samir and Huda (reading, 12), speaking (4 prompts), the 6–8-sentence paragraph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F4 opens the school-life pathway. Core: 8 subjects + أَدْرُسُ + أُحِبُّ / لَا أُحِبُّ. Develop: all four study-verb forms, أُفَضِّلُ and two reasons with agreement. Stretch: what another person studies (يَدْرُسُ / تَدْرُسُ) and comparing two subjects.
• Website “Foundation-to-development bridge”: the present-tense pattern is introduced for communication now; later lessons broaden the full verb system.
• Real or invented details are equally acceptable (website). Religious education appears in the website vault as التَّرْبِيَةُ الدِّينِيَّةُ.
• Urdu bridge: ریاضی (maths), علوم (sciences), تاریخ (history), جغرافیہ, فلسفہ, مفید, مشکل ≈ صَعْبٌ (different word), آسان ≈ سَهْلٌ.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subjects prepared at home at the end of F3-L12. Questions 3–5 are the website “F3-to-F4 bridge”.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 strong school answer = subject + opinion + reason. The reason word agrees with the subject: masculine → li’annahu, feminine → li’annahā.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ریاضی، علوم، تاریخ، جغرافیہ، فلسفہ and مفید are shared words. CAREFUL: Urdu مشکل (difficult) is also Arabic مُشْكِلَةٌ (a problem) — for “difficult” Arabic uses صَعْبٌ.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6 of 18). The website marks each subject with its reason form: most subjects take لِأَنَّهَا (feminine or non-human plural — العُلُومُ، الرِّيَاضِيَّاتُ); التَّارِيخُ takes لِأَنَّهُ. Website contrast: الرِّيَاضِيَّاتُ = mathematics; الرِّيَاضَةُ / التَّرْبِيَةُ البَدَنِيَّةُ = sport / 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SUBJECTS (website vault). Also: الأَحْيَاءُ (biology), التِّقْنِيَّةُ (technology / DT), التَّرْبِيَةُ الدِّينِيَّةُ (religious education), الفَلْسَفَةُ (philosophy), المَسْرَحُ / التَّمْثِيلُ (drama, m.), اللُّغَاتُ (languages).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3 “Control the study verb”: أَنَا أَدْرُسُ · نَحْنُ نَدْرُسُ · هُوَ يَدْرُسُ · هِيَ تَدْرُسُ; ask one male مَاذَا تَدْرُسُ فِي المَدْرَسَةِ؟ and one female مَاذَا تَدْرُسِينَ فِي المَدْرَسَةِ؟
Website “do not confuse”: أَدْرُسُ (I study) vs أُدَرِّسُ (I teach) — the shadda changes the verb.
After the verb the subject takes -a: أَدْرُسُ الفَنَّ، أَدْرُسُ العُلُومَ (model it; no case teaching needed at Foundation).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4 “Build accurate opinions and reasons”: أُحِبُّ · لَا أُحِبُّ · أُفَضِّلُ · مَادَّتِي المُفَضَّلَةُ هِيَ…
Reason adjectives (website, m. / f.): سَهْلٌ / سَهْلَةٌ (easy) · صَعْبٌ / صَعْبَةٌ (difficult) · مُفِيدٌ / مُفِيدَةٌ (useful) · مُمْتِعٌ / مُمْتِعَةٌ (enjoyable) · مُمِلٌّ / مُمِلَّةٌ (boring) · مُهِمٌّ / مُهِمَّةٌ (important) · مُثِيرٌ / مُثِيرَةٌ لِلاهْتِمَامِ (interesting) · شَيِّقٌ / شَيِّقَةٌ (engaging).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website reason adjectives (6 of 8). Also مُثِيرٌ لِلاهْتِمَامِ (interesting) and شَيِّقٌ (engaging). Use if the class needs the adjectives before the mission; otherwise they are on the frames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study-verb laboratory questions 2 and 4, a teacher item on the masculine reason, and opinion check question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(Maryam) as a model. Think aloud at every reason: “Which subject? Masculine or feminine? So -hu or -hā, and does the adjective need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subjects”)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Follow-up (Develop): add an opinion + reason — أَدْرُسُ الفَنَّ، وَأُحِبُّهُ لِأَنَّهُ مُمْتِعٌ. Other cards for homework: العُلُومُ، التَّارِيخُ، عِلْمُ الحَاسُوبِ.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Subject Mission rounds (PE, ask a boy, ask a girl, masculine reason, feminine reason).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who is speaking or listening? Is the subject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مَرْيَمُ. أَدْرُسُ اللُّغَةَ العَرَبِيَّةَ، وَاللُّغَةَ الإِنْجِلِيزِيَّةَ، وَالرِّيَاضِيَّاتِ، وَالعُلُومَ، وَالتَّارِيخَ، وَالفَنَّ. مَادَّتِي المُفَضَّلَةُ هِيَ العُلُومُ لِأَنَّهَا مُفِيدَةٌ وَمُثِيرَةٌ لِلاهْتِمَامِ. أُحِبُّ الفَنَّ أَيْضًا لِأَنَّهُ مُمْتِعٌ. لَا أُحِبُّ التَّارِيخَ لِأَنَّهُ صَعْبٌ. أَنَا وَصَدِيقَتِي نَدْرُسُ المُوسِيقَى أَيْضًا.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Notice the “he” forms: يَدْرُسُ، مَادَّتُهُ، لَا يُحِبُّ، رَأْيِهِ.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Notice the “she” forms: تَدْرُسُ، تُفَضِّلُ، تُحِبُّ، وَلَكِنَّهَا. Stretch: compare Samir and Huda (يَدْرُسُ … بَيْنَمَا تَدْرُسُ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1, 3, 6,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“Talk about your subjects” — real or invented school profile. Prompts (website):
• My subject profile: Name six subjects, a favourite and one reason.
• Likes and dislikes: Give one like and one dislike with reasons.
• Our class: Use I, we, he and she forms.
• Compare two subjects: Compare usefulness, interest or difficulty.
Website checklist (1–6): four subjects · أَدْرُسُ / نَدْرُسُ · أُحِبُّ / لَا أُحِبُّ / أُفَضِّلُ · لِأَنَّهُ / لِأَنَّهَا · agreement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models. · Develop — Eight subject terms and three different opinion structures. · Stretch — Add what another person studies with yadrusu / tadrusu.
Website writing task (Stretch): Website writing task: 6–8 connected sentences — name your subjects, state a favourite, include one like and one dislike, and justify at least two opinions (real or invented details).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speaking models (subject profile + likes and dislikes), joined. Stretch: add the website “Our class” model — يَدْرُسُ صَدِيقِي … وَتَدْرُسُ صَدِيقَتِي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(F4-L02 · The School Timetable — Days and Times) will spend class time USING this language, so students prepare it tonight — short, simple, easy to access (school guidance: “Simple, Short, Interesting, Relevant, Easy to access”). The five words come from the website F4-L02 timetable language vault.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F4  ·  F4-L01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F4-L01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50" b="1" dirty="0">
                <a:solidFill>
                  <a:srgbClr val="FFFFFF"/>
                </a:solidFill>
                <a:latin typeface="Cambria" pitchFamily="34" charset="0"/>
                <a:ea typeface="Cambria" pitchFamily="34" charset="-122"/>
                <a:cs typeface="Cambria" pitchFamily="34" charset="-120"/>
              </a:rPr>
              <a:t>School Subjects — What Do You Study?</a:t>
            </a:r>
            <a:endParaRPr lang="en-US" sz="28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المَوَادُّ الدِّرَاسِيَّةُ — مَاذَا تَدْرُسُ؟</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Name the school subjects, say what you and others study, and give likes, dislikes and preferences — each with an accurate reason (li’annahu / li’annahā).</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F4-L01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F4 › F4-L01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School subjects, the study verb, then opinions with reasons.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Subject mission, listen to Maryam, read two profiles.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F4-L02.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مَدْرَسَتِي</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نَحْنُ</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أَيْضًا</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وَلَكِنْ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الرِّيَاضِيَّاتُ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science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التَّارِيخُ</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(F3-L12).</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school”.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بَيْتِي</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مَدْرَسَتِي</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مَدْرَسَتِي</a:t>
            </a:r>
            <a:pPr algn="l" indent="0" marL="0">
              <a:buNone/>
            </a:pPr>
            <a:r>
              <a:rPr lang="en-US" sz="1050" i="1" dirty="0">
                <a:solidFill>
                  <a:srgbClr val="8A6D1E"/>
                </a:solidFill>
                <a:latin typeface="Calibri" pitchFamily="34" charset="0"/>
                <a:ea typeface="Calibri" pitchFamily="34" charset="-122"/>
                <a:cs typeface="Calibri" pitchFamily="34" charset="-120"/>
              </a:rPr>
              <a:t> means my school.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pronoun means “we”?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نَحْنُ</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means we.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introduces a reason?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أَيْضًا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وَلَكِنْ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لِأَنَّ</a:t>
            </a:r>
            <a:pPr algn="l" indent="0" marL="0">
              <a:buNone/>
            </a:pPr>
            <a:r>
              <a:rPr lang="en-US" sz="1050" i="1" dirty="0">
                <a:solidFill>
                  <a:srgbClr val="8A6D1E"/>
                </a:solidFill>
                <a:latin typeface="Calibri" pitchFamily="34" charset="0"/>
                <a:ea typeface="Calibri" pitchFamily="34" charset="-122"/>
                <a:cs typeface="Calibri" pitchFamily="34" charset="-120"/>
              </a:rPr>
              <a:t> introduces because.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050" b="1" dirty="0">
                <a:solidFill>
                  <a:srgbClr val="1F2A37"/>
                </a:solidFill>
                <a:latin typeface="Calibri" pitchFamily="34" charset="0"/>
                <a:ea typeface="Calibri" pitchFamily="34" charset="-122"/>
                <a:cs typeface="Calibri" pitchFamily="34" charset="-120"/>
              </a:rPr>
              <a:t>A strong school answer = subject + opinion + reason. The reason word agrees with the subject: masculine → li’annahu, feminine → li’annahā.</a:t>
            </a:r>
            <a:endParaRPr lang="en-US" sz="105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أُحِبُّ الفَنَّ </a:t>
            </a:r>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مُمْتِعٌ · أُحِبُّ العُلُومَ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مُفِيدَةٌ</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and recognise at least eighteen subject terms.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adrusu, nadrusu, yadrusu, tadrusu accurately.</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studies.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likes, dislikes and preferences with a matching reason.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subjects.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study and what I like.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study.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give two reasons with agreement.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say what another person studies.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subjects.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Eighteen subjects, the study verb and eight reason adjectives. Core: eight subjects and four adjectives.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Subjects · 18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Study verb · 4 forms</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Opinions and reasons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الرِّيَاضِيَّاتُ</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‎ریاضی‎ </a:t>
            </a:r>
            <a:pPr indent="0" marL="0">
              <a:buNone/>
            </a:pPr>
            <a:r>
              <a:rPr lang="en-US" sz="950" b="1" dirty="0">
                <a:solidFill>
                  <a:srgbClr val="2E8B57"/>
                </a:solidFill>
                <a:latin typeface="Calibri" pitchFamily="34" charset="0"/>
                <a:ea typeface="Calibri" pitchFamily="34" charset="-122"/>
                <a:cs typeface="Calibri" pitchFamily="34" charset="-120"/>
              </a:rPr>
              <a:t> ar-riyāḍiyyāt · mathematics</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العُلُومُ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‎علوم‎ </a:t>
            </a:r>
            <a:pPr indent="0" marL="0">
              <a:buNone/>
            </a:pPr>
            <a:r>
              <a:rPr lang="en-US" sz="950" b="1" dirty="0">
                <a:solidFill>
                  <a:srgbClr val="2E8B57"/>
                </a:solidFill>
                <a:latin typeface="Calibri" pitchFamily="34" charset="0"/>
                <a:ea typeface="Calibri" pitchFamily="34" charset="-122"/>
                <a:cs typeface="Calibri" pitchFamily="34" charset="-120"/>
              </a:rPr>
              <a:t> al-‘ulūm · science(s)</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التَّارِيخُ</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‎تاریخ‎ </a:t>
            </a:r>
            <a:pPr indent="0" marL="0">
              <a:buNone/>
            </a:pPr>
            <a:r>
              <a:rPr lang="en-US" sz="950" b="1" dirty="0">
                <a:solidFill>
                  <a:srgbClr val="2E8B57"/>
                </a:solidFill>
                <a:latin typeface="Calibri" pitchFamily="34" charset="0"/>
                <a:ea typeface="Calibri" pitchFamily="34" charset="-122"/>
                <a:cs typeface="Calibri" pitchFamily="34" charset="-120"/>
              </a:rPr>
              <a:t> at-tārīkh · history (Urdu: also date)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الجُغْرَافِيَا</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‎جغرافیہ‎ </a:t>
            </a:r>
            <a:pPr indent="0" marL="0">
              <a:buNone/>
            </a:pPr>
            <a:r>
              <a:rPr lang="en-US" sz="950" b="1" dirty="0">
                <a:solidFill>
                  <a:srgbClr val="2E8B57"/>
                </a:solidFill>
                <a:latin typeface="Calibri" pitchFamily="34" charset="0"/>
                <a:ea typeface="Calibri" pitchFamily="34" charset="-122"/>
                <a:cs typeface="Calibri" pitchFamily="34" charset="-120"/>
              </a:rPr>
              <a:t> al-jughrāfiyā · geography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مُفِيدٌ</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‎مفید‎ </a:t>
            </a:r>
            <a:pPr indent="0" marL="0">
              <a:buNone/>
            </a:pPr>
            <a:r>
              <a:rPr lang="en-US" sz="950" b="1" dirty="0">
                <a:solidFill>
                  <a:srgbClr val="2E8B57"/>
                </a:solidFill>
                <a:latin typeface="Calibri" pitchFamily="34" charset="0"/>
                <a:ea typeface="Calibri" pitchFamily="34" charset="-122"/>
                <a:cs typeface="Calibri" pitchFamily="34" charset="-120"/>
              </a:rPr>
              <a:t> mufīd · useful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Arabic, maths, science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العَرَبِيَّةُ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Arabic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al-‘arabiyya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اللُّغَةُ الإِنْجِلِيزِيَّةُ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English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al-lugha al-injilīziyya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الرِّيَاضِيَّاتُ</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mathematics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ar-ri-yā-ḍiy-yāt</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0" name="Text 47"/>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العُلُومُ</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al-‘u-lūm</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2" name="Text 59"/>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التَّارِيخُ</a:t>
            </a:r>
            <a:endParaRPr lang="ar-SA" sz="3000" dirty="0"/>
          </a:p>
        </p:txBody>
      </p:sp>
      <p:sp>
        <p:nvSpPr>
          <p:cNvPr id="71" name="Text 6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history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at-tā-rīkh</a:t>
            </a:r>
            <a:endParaRPr lang="en-US" sz="1350" dirty="0"/>
          </a:p>
        </p:txBody>
      </p:sp>
      <p:sp>
        <p:nvSpPr>
          <p:cNvPr id="72" name="Shape 69"/>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74" name="Text 71"/>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8" name="Shape 7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الجُغْرَافِيَا</a:t>
            </a:r>
            <a:endParaRPr lang="ar-SA" sz="3000" dirty="0"/>
          </a:p>
        </p:txBody>
      </p:sp>
      <p:sp>
        <p:nvSpPr>
          <p:cNvPr id="83" name="Text 80"/>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geography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al-jugh-rā-fi-yā</a:t>
            </a:r>
            <a:endParaRPr lang="en-US" sz="1350" dirty="0"/>
          </a:p>
        </p:txBody>
      </p:sp>
      <p:sp>
        <p:nvSpPr>
          <p:cNvPr id="84" name="Shape 81"/>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86" name="Text 83"/>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SCHOOL SUBJECTS (WEBSITE VAULT)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Art, music, PE, computing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al-fann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26" name="Text 23"/>
          <p:cNvSpPr txBox="1"/>
          <p:nvPr/>
        </p:nvSpPr>
        <p:spPr>
          <a:xfrm>
            <a:off x="8284464"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المُوسِيقَى</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music</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al-mū-sī-qā</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38" name="Text 35"/>
          <p:cNvSpPr txBox="1"/>
          <p:nvPr/>
        </p:nvSpPr>
        <p:spPr>
          <a:xfrm>
            <a:off x="4462272"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التَّرْبِيَةُ البَدَنِيَّةُ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at-tar-bi-ya al-ba-da-niy-ya</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48" name="Text 45"/>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2" name="Shape 49"/>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عِلْمُ الحَاسُوبِ</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computer science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‘ilm al-ḥā-sūb</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58" name="Text 55"/>
          <p:cNvSpPr txBox="1"/>
          <p:nvPr/>
        </p:nvSpPr>
        <p:spPr>
          <a:xfrm>
            <a:off x="8284464"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 …</a:t>
            </a:r>
            <a:endParaRPr lang="ar-SA" sz="1350" dirty="0"/>
          </a:p>
        </p:txBody>
      </p:sp>
      <p:sp>
        <p:nvSpPr>
          <p:cNvPr id="59" name="Shape 5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389120" y="4261104"/>
            <a:ext cx="310896" cy="310896"/>
          </a:xfrm>
          <a:prstGeom prst="ellipse">
            <a:avLst/>
          </a:prstGeom>
          <a:solidFill>
            <a:srgbClr val="F4F1EA"/>
          </a:solidFill>
          <a:ln w="12700">
            <a:solidFill>
              <a:srgbClr val="F4F1EA"/>
            </a:solidFill>
            <a:prstDash val="solid"/>
          </a:ln>
        </p:spPr>
      </p:sp>
      <p:sp>
        <p:nvSpPr>
          <p:cNvPr id="61" name="Text 5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2" name="Shape 5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3" name="Text 6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4" name="Text 6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الفِيزِيَاءُ · الكِيمِيَاءُ</a:t>
            </a:r>
            <a:endParaRPr lang="ar-SA" sz="3000" dirty="0"/>
          </a:p>
        </p:txBody>
      </p:sp>
      <p:sp>
        <p:nvSpPr>
          <p:cNvPr id="65" name="Text 6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physics · chemistry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al-fī-zi-yā’ · al-kī-mi-yā’</a:t>
            </a:r>
            <a:endParaRPr lang="en-US" sz="1350" dirty="0"/>
          </a:p>
        </p:txBody>
      </p:sp>
      <p:sp>
        <p:nvSpPr>
          <p:cNvPr id="66" name="Shape 63"/>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because</a:t>
            </a:r>
            <a:endParaRPr lang="en-US" sz="700" dirty="0"/>
          </a:p>
        </p:txBody>
      </p:sp>
      <p:sp>
        <p:nvSpPr>
          <p:cNvPr id="68" name="Text 65"/>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لِأَنَّهَا …</a:t>
            </a:r>
            <a:endParaRPr lang="ar-SA" sz="1350" dirty="0"/>
          </a:p>
        </p:txBody>
      </p:sp>
      <p:sp>
        <p:nvSpPr>
          <p:cNvPr id="69" name="Shape 66"/>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66928"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2" name="Shape 69"/>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4" name="Shape 71"/>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5" name="Text 72"/>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6" name="Text 7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a:t>
            </a:r>
            <a:endParaRPr lang="ar-SA" sz="3000" dirty="0"/>
          </a:p>
        </p:txBody>
      </p:sp>
      <p:sp>
        <p:nvSpPr>
          <p:cNvPr id="77" name="Text 7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a:t>
            </a:r>
            <a:endParaRPr lang="en-US" sz="1350" dirty="0"/>
          </a:p>
        </p:txBody>
      </p:sp>
      <p:sp>
        <p:nvSpPr>
          <p:cNvPr id="78" name="Shape 75"/>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79" name="Text 76"/>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0" name="Text 77"/>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a:t>
            </a:r>
            <a:endParaRPr lang="ar-SA" sz="1500" dirty="0"/>
          </a:p>
        </p:txBody>
      </p:sp>
      <p:sp>
        <p:nvSpPr>
          <p:cNvPr id="81" name="Shape 78"/>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2" name="Text 79"/>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my fav.</a:t>
            </a:r>
            <a:endParaRPr lang="en-US" sz="700" dirty="0"/>
          </a:p>
        </p:txBody>
      </p:sp>
      <p:sp>
        <p:nvSpPr>
          <p:cNvPr id="83" name="Text 80"/>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مَادَّتِي المُفَضَّلَةُ</a:t>
            </a:r>
            <a:endParaRPr lang="ar-SA" sz="13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THE STUDY VERB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 studies?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فِعْلُ الدِّرَاسَةِ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7" name="Text 14"/>
          <p:cNvSpPr txBox="1"/>
          <p:nvPr/>
        </p:nvSpPr>
        <p:spPr>
          <a:xfrm>
            <a:off x="741578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8" name="Text 15"/>
          <p:cNvSpPr txBox="1"/>
          <p:nvPr/>
        </p:nvSpPr>
        <p:spPr>
          <a:xfrm>
            <a:off x="2660904" y="1810512"/>
            <a:ext cx="4608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628632" y="2267712"/>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أَنَا</a:t>
            </a:r>
            <a:endParaRPr lang="ar-SA" sz="2400" dirty="0"/>
          </a:p>
        </p:txBody>
      </p:sp>
      <p:sp>
        <p:nvSpPr>
          <p:cNvPr id="22" name="Text 19"/>
          <p:cNvSpPr txBox="1"/>
          <p:nvPr/>
        </p:nvSpPr>
        <p:spPr>
          <a:xfrm>
            <a:off x="7434072" y="2267712"/>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أَ</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23" name="Text 20"/>
          <p:cNvSpPr txBox="1"/>
          <p:nvPr/>
        </p:nvSpPr>
        <p:spPr>
          <a:xfrm>
            <a:off x="2679192" y="2267712"/>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العُلُومَ.</a:t>
            </a:r>
            <a:endParaRPr lang="ar-SA" sz="2200" dirty="0"/>
          </a:p>
        </p:txBody>
      </p:sp>
      <p:sp>
        <p:nvSpPr>
          <p:cNvPr id="24" name="Text 21"/>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study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9628632" y="300471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نَحْنُ</a:t>
            </a:r>
            <a:endParaRPr lang="ar-SA" sz="2400" dirty="0"/>
          </a:p>
        </p:txBody>
      </p:sp>
      <p:sp>
        <p:nvSpPr>
          <p:cNvPr id="29" name="Text 26"/>
          <p:cNvSpPr txBox="1"/>
          <p:nvPr/>
        </p:nvSpPr>
        <p:spPr>
          <a:xfrm>
            <a:off x="7434072" y="300471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0E7C86"/>
                </a:solidFill>
                <a:latin typeface="Amiri" pitchFamily="34" charset="0"/>
                <a:ea typeface="Amiri" pitchFamily="34" charset="-122"/>
                <a:cs typeface="Amiri" pitchFamily="34" charset="-120"/>
              </a:rPr>
              <a:t>نَ</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0" name="Text 27"/>
          <p:cNvSpPr txBox="1"/>
          <p:nvPr/>
        </p:nvSpPr>
        <p:spPr>
          <a:xfrm>
            <a:off x="2679192" y="300471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نَدْرُسُ اللُّغَاتِ.</a:t>
            </a:r>
            <a:endParaRPr lang="ar-SA" sz="2200" dirty="0"/>
          </a:p>
        </p:txBody>
      </p:sp>
      <p:sp>
        <p:nvSpPr>
          <p:cNvPr id="31" name="Text 28"/>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study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9628632" y="3741725"/>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هُوَ</a:t>
            </a:r>
            <a:endParaRPr lang="ar-SA" sz="2400" dirty="0"/>
          </a:p>
        </p:txBody>
      </p:sp>
      <p:sp>
        <p:nvSpPr>
          <p:cNvPr id="36" name="Text 33"/>
          <p:cNvSpPr txBox="1"/>
          <p:nvPr/>
        </p:nvSpPr>
        <p:spPr>
          <a:xfrm>
            <a:off x="7434072" y="3741725"/>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D5FBF"/>
                </a:solidFill>
                <a:latin typeface="Amiri" pitchFamily="34" charset="0"/>
                <a:ea typeface="Amiri" pitchFamily="34" charset="-122"/>
                <a:cs typeface="Amiri" pitchFamily="34" charset="-120"/>
              </a:rPr>
              <a:t>يَ</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37" name="Text 34"/>
          <p:cNvSpPr txBox="1"/>
          <p:nvPr/>
        </p:nvSpPr>
        <p:spPr>
          <a:xfrm>
            <a:off x="2679192" y="3741725"/>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يَدْرُسُ عِلْمَ الحَاسُوبِ.</a:t>
            </a:r>
            <a:endParaRPr lang="ar-SA" sz="2200" dirty="0"/>
          </a:p>
        </p:txBody>
      </p:sp>
      <p:sp>
        <p:nvSpPr>
          <p:cNvPr id="38" name="Text 35"/>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studies</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9628632" y="4478731"/>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هِيَ</a:t>
            </a:r>
            <a:endParaRPr lang="ar-SA" sz="2400" dirty="0"/>
          </a:p>
        </p:txBody>
      </p:sp>
      <p:sp>
        <p:nvSpPr>
          <p:cNvPr id="41" name="Text 38"/>
          <p:cNvSpPr txBox="1"/>
          <p:nvPr/>
        </p:nvSpPr>
        <p:spPr>
          <a:xfrm>
            <a:off x="7434072" y="4478731"/>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D6336C"/>
                </a:solidFill>
                <a:latin typeface="Amiri" pitchFamily="34" charset="0"/>
                <a:ea typeface="Amiri" pitchFamily="34" charset="-122"/>
                <a:cs typeface="Amiri" pitchFamily="34" charset="-120"/>
              </a:rPr>
              <a:t>تَ</a:t>
            </a:r>
            <a:pPr rtl="1" algn="ctr" indent="0" marL="0">
              <a:buNone/>
            </a:pPr>
            <a:r>
              <a:rPr lang="ar-SA" altLang="en-US" sz="2600" b="1" dirty="0">
                <a:solidFill>
                  <a:srgbClr val="1B3B6F"/>
                </a:solidFill>
                <a:latin typeface="Amiri" pitchFamily="34" charset="0"/>
                <a:ea typeface="Amiri" pitchFamily="34" charset="-122"/>
                <a:cs typeface="Amiri" pitchFamily="34" charset="-120"/>
              </a:rPr>
              <a:t>دْرُسُ</a:t>
            </a:r>
            <a:endParaRPr lang="ar-SA" sz="2600" dirty="0"/>
          </a:p>
        </p:txBody>
      </p:sp>
      <p:sp>
        <p:nvSpPr>
          <p:cNvPr id="42" name="Text 39"/>
          <p:cNvSpPr txBox="1"/>
          <p:nvPr/>
        </p:nvSpPr>
        <p:spPr>
          <a:xfrm>
            <a:off x="2679192" y="4478731"/>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تَدْرُسُ المُوسِيقَى.</a:t>
            </a:r>
            <a:endParaRPr lang="ar-SA" sz="2200" dirty="0"/>
          </a:p>
        </p:txBody>
      </p:sp>
      <p:sp>
        <p:nvSpPr>
          <p:cNvPr id="43" name="Text 4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studies</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9628632" y="5215738"/>
            <a:ext cx="20116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أَنْتَ / أَنْتِ</a:t>
            </a:r>
            <a:endParaRPr lang="ar-SA" sz="2400" dirty="0"/>
          </a:p>
        </p:txBody>
      </p:sp>
      <p:sp>
        <p:nvSpPr>
          <p:cNvPr id="46" name="Text 43"/>
          <p:cNvSpPr txBox="1"/>
          <p:nvPr/>
        </p:nvSpPr>
        <p:spPr>
          <a:xfrm>
            <a:off x="7434072" y="5215738"/>
            <a:ext cx="201168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تَدْرُسُ / تَدْرُسِينَ</a:t>
            </a:r>
            <a:endParaRPr lang="ar-SA" sz="2600" dirty="0"/>
          </a:p>
        </p:txBody>
      </p:sp>
      <p:sp>
        <p:nvSpPr>
          <p:cNvPr id="47" name="Text 44"/>
          <p:cNvSpPr txBox="1"/>
          <p:nvPr/>
        </p:nvSpPr>
        <p:spPr>
          <a:xfrm>
            <a:off x="2679192" y="5215738"/>
            <a:ext cx="4572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تَدْرُسُ؟ · مَاذَا تَدْرُسِينَ؟</a:t>
            </a:r>
            <a:endParaRPr lang="ar-SA" sz="2200" dirty="0"/>
          </a:p>
        </p:txBody>
      </p:sp>
      <p:sp>
        <p:nvSpPr>
          <p:cNvPr id="48" name="Text 45"/>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study (m. / f.)</a:t>
            </a:r>
            <a:endParaRPr lang="en-US" sz="1100" dirty="0"/>
          </a:p>
        </p:txBody>
      </p:sp>
      <p:sp>
        <p:nvSpPr>
          <p:cNvPr id="49" name="Shape 46"/>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beginning of the verb shows WHO studies. Do not confuse: adrusu = I study · udarrisu (shadda) = I teach.</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OPINIONS AND REASONS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Subject + opinion + reason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الرَّأْيُ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4401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MASCULINE SUBJECT</a:t>
            </a:r>
            <a:endParaRPr lang="en-US" sz="850" dirty="0"/>
          </a:p>
        </p:txBody>
      </p:sp>
      <p:sp>
        <p:nvSpPr>
          <p:cNvPr id="18" name="Text 15"/>
          <p:cNvSpPr txBox="1"/>
          <p:nvPr/>
        </p:nvSpPr>
        <p:spPr>
          <a:xfrm>
            <a:off x="9718548" y="1874520"/>
            <a:ext cx="18760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أُحِبُّ الفَنَّ لِأَنَّهُ مُمْتِعٌ.</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art because it is enjoyable.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Art, history, computing.</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71600" cy="274320"/>
          </a:xfrm>
          <a:prstGeom prst="roundRect">
            <a:avLst>
              <a:gd name="adj" fmla="val 50000"/>
            </a:avLst>
          </a:prstGeom>
          <a:solidFill>
            <a:srgbClr val="B83280"/>
          </a:solidFill>
          <a:ln w="12700">
            <a:solidFill>
              <a:srgbClr val="B83280"/>
            </a:solidFill>
            <a:prstDash val="solid"/>
          </a:ln>
        </p:spPr>
      </p:sp>
      <p:sp>
        <p:nvSpPr>
          <p:cNvPr id="25" name="Text 22"/>
          <p:cNvSpPr txBox="1"/>
          <p:nvPr/>
        </p:nvSpPr>
        <p:spPr>
          <a:xfrm>
            <a:off x="4413504"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FEMININE SUBJECT</a:t>
            </a:r>
            <a:endParaRPr lang="en-US" sz="850" dirty="0"/>
          </a:p>
        </p:txBody>
      </p:sp>
      <p:sp>
        <p:nvSpPr>
          <p:cNvPr id="26" name="Text 23"/>
          <p:cNvSpPr txBox="1"/>
          <p:nvPr/>
        </p:nvSpPr>
        <p:spPr>
          <a:xfrm>
            <a:off x="5830824"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لِأَنَّهَا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أُحِبُّ العُلُومَ لِأَنَّهَا مُفِيدَةٌ.</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like science because it is useful.</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non-human plurals.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96012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9601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PREFERENCE</a:t>
            </a:r>
            <a:endParaRPr lang="en-US" sz="850" dirty="0"/>
          </a:p>
        </p:txBody>
      </p:sp>
      <p:sp>
        <p:nvSpPr>
          <p:cNvPr id="34" name="Text 31"/>
          <p:cNvSpPr txBox="1"/>
          <p:nvPr/>
        </p:nvSpPr>
        <p:spPr>
          <a:xfrm>
            <a:off x="1600200" y="1874520"/>
            <a:ext cx="23561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أُفَضِّلُ · مَادَّتِي المُفَضَّلَةُ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34" charset="0"/>
                <a:ea typeface="Amiri" pitchFamily="34" charset="-122"/>
                <a:cs typeface="Amiri" pitchFamily="34" charset="-120"/>
              </a:rPr>
              <a:t>مَادَّتِي المُفَضَّلَةُ هِيَ المُوسِيقَى.</a:t>
            </a:r>
            <a:endParaRPr lang="ar-SA" sz="255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favourite subject is music.</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Dislike: </a:t>
            </a:r>
            <a:pPr algn="l" indent="0" marL="0">
              <a:buNone/>
            </a:pPr>
            <a:r>
              <a:rPr lang="ar-SA" altLang="en-US" sz="1450" dirty="0">
                <a:solidFill>
                  <a:srgbClr val="1F2A37"/>
                </a:solidFill>
                <a:latin typeface="Amiri" pitchFamily="34" charset="0"/>
                <a:ea typeface="Amiri" pitchFamily="34" charset="-122"/>
                <a:cs typeface="Amiri" pitchFamily="34" charset="-120"/>
              </a:rPr>
              <a:t>لَا أُحِبُّ</a:t>
            </a:r>
            <a:pPr algn="l" indent="0" marL="0">
              <a:buNone/>
            </a:pPr>
            <a:r>
              <a:rPr lang="en-US" sz="1100" dirty="0">
                <a:solidFill>
                  <a:srgbClr val="1F2A37"/>
                </a:solidFill>
                <a:latin typeface="Calibri" pitchFamily="34" charset="0"/>
                <a:ea typeface="Calibri" pitchFamily="34" charset="-122"/>
                <a:cs typeface="Calibri" pitchFamily="34" charset="-120"/>
              </a:rPr>
              <a:t> …</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agreement rule: the adjective matches the subject.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أُحِبُّ التَّارِيخَ لِأَنَّهُ مُهِمٌّ.</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أُحِبُّ التَّارِيخَ لِأَنَّهَا مُهِمَّةٌ.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REASON ADJECTIVES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Easy, difficult, useful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صِفَاتُ السَّبَبِ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سَهْلٌ</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easy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sahl</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سَهْلَةٌ</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سَهْلٌ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5" name="Shape 32"/>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صَعْبٌ</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difficult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ṣa‘b</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صَعْبَةٌ</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صَعْبٌ</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0" name="Shape 47"/>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مُفِيدٌ</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useful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mu-fīd</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مُفِيدَةٌ</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مُفِيدٌ</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65" name="Shape 6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مُمْتِعٌ</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mum-ti‘</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مُمْتِعَةٌ</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مُمْتِعٌ</a:t>
            </a:r>
            <a:endParaRPr lang="ar-SA" sz="1500" dirty="0"/>
          </a:p>
        </p:txBody>
      </p:sp>
      <p:sp>
        <p:nvSpPr>
          <p:cNvPr id="77" name="Shape 7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389120" y="4261104"/>
            <a:ext cx="310896" cy="310896"/>
          </a:xfrm>
          <a:prstGeom prst="ellipse">
            <a:avLst/>
          </a:prstGeom>
          <a:solidFill>
            <a:srgbClr val="F4F1EA"/>
          </a:solidFill>
          <a:ln w="12700">
            <a:solidFill>
              <a:srgbClr val="F4F1EA"/>
            </a:solidFill>
            <a:prstDash val="solid"/>
          </a:ln>
        </p:spPr>
      </p:sp>
      <p:sp>
        <p:nvSpPr>
          <p:cNvPr id="79" name="Text 7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80" name="Shape 77"/>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81" name="Text 78"/>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مُمِلٌّ</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boring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mu-mill</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مُمِلَّةٌ</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89" name="Text 86"/>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مُمِلٌّ</a:t>
            </a:r>
            <a:endParaRPr lang="ar-SA" sz="150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مُهِمٌّ</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important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mu-himm</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مُهِمَّةٌ</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102" name="Text 99"/>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مُهِمٌّ</a:t>
            </a:r>
            <a:endParaRPr lang="ar-SA" sz="150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مُثِيرَةٌ لِلاهْتِمَامِ</a:t>
            </a:r>
            <a:endParaRPr lang="ar-SA" sz="20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 لِلاهْتِمَامِ</a:t>
            </a:r>
            <a:endParaRPr lang="ar-SA" sz="20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مُثِيرُونَ</a:t>
            </a:r>
            <a:endParaRPr lang="ar-SA" sz="20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study”.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begins with </a:t>
            </a:r>
            <a:pPr algn="l" indent="0" marL="0">
              <a:buNone/>
            </a:pPr>
            <a:r>
              <a:rPr lang="ar-SA" altLang="en-US" sz="1350" dirty="0">
                <a:solidFill>
                  <a:srgbClr val="8A6D1E"/>
                </a:solidFill>
                <a:latin typeface="Amiri" pitchFamily="34" charset="0"/>
                <a:ea typeface="Amiri" pitchFamily="34" charset="-122"/>
                <a:cs typeface="Amiri" pitchFamily="34" charset="-120"/>
              </a:rPr>
              <a:t>نـ</a:t>
            </a:r>
            <a:pPr algn="l" indent="0" marL="0">
              <a:buNone/>
            </a:pPr>
            <a:r>
              <a:rPr lang="en-US" sz="1050" i="1" dirty="0">
                <a:solidFill>
                  <a:srgbClr val="8A6D1E"/>
                </a:solidFill>
                <a:latin typeface="Calibri" pitchFamily="34" charset="0"/>
                <a:ea typeface="Calibri" pitchFamily="34" charset="-122"/>
                <a:cs typeface="Calibri" pitchFamily="34" charset="-120"/>
              </a:rPr>
              <a:t> for we.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studies”.</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نَدْرُسُ</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أُحِبُّ الفَنَّ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مُمْتِعٌ</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لِأَنَّنِي</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Art is masculine: li’annahu.</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الكِيمِيَاءَ لِأَنَّهَا ___.</a:t>
            </a:r>
            <a:endParaRPr lang="ar-SA" sz="220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مُثِيرَةٌ لِلاهْتِمَامِ</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 لِلاهْتِمَامِ</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مُثِيرُونَ</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الكِيمِيَاءُ</a:t>
            </a:r>
            <a:pPr algn="l" indent="0" marL="0">
              <a:buNone/>
            </a:pPr>
            <a:r>
              <a:rPr lang="en-US" sz="1050" i="1" dirty="0">
                <a:solidFill>
                  <a:srgbClr val="8A6D1E"/>
                </a:solidFill>
                <a:latin typeface="Calibri" pitchFamily="34" charset="0"/>
                <a:ea typeface="Calibri" pitchFamily="34" charset="-122"/>
                <a:cs typeface="Calibri" pitchFamily="34" charset="-120"/>
              </a:rPr>
              <a:t> uses a feminine reason adjective.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build a subject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Subjects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أَدْرُسُ الرِّيَاضِيَّاتِ، وَالعُلُومَ، وَالفَنَّ.</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study + list.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Favourite</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مَادَّتِي المُفَضَّلَةُ هِيَ العُلُومُ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لِأَنَّهَا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مُفِيدَ</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ةٌ</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Science (f.) → -hā.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Like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أُحِبُّ الفَنَّ أَيْضًا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مُمْتِعٌ.</a:t>
            </a:r>
            <a:endParaRPr lang="ar-SA" sz="20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Art (m.) → -hu.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Dislike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لَا أُحِبُّ التَّارِيخَ </a:t>
            </a:r>
            <a:pPr rtl="1" algn="ctr" indent="0" marL="0">
              <a:lnSpc>
                <a:spcPct val="120000"/>
              </a:lnSpc>
              <a:buNone/>
            </a:pPr>
            <a:r>
              <a:rPr lang="ar-SA" altLang="en-US" sz="2000" b="1" dirty="0">
                <a:solidFill>
                  <a:srgbClr val="1D5FBF"/>
                </a:solidFill>
                <a:latin typeface="Amiri" pitchFamily="34" charset="0"/>
                <a:ea typeface="Amiri" pitchFamily="34" charset="-122"/>
                <a:cs typeface="Amiri" pitchFamily="34" charset="-120"/>
              </a:rPr>
              <a:t>لِأَنَّهُ</a:t>
            </a:r>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 صَعْبٌ.</a:t>
            </a:r>
            <a:endParaRPr lang="ar-SA" sz="20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History (m.).</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SUBJECT</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SUBJECT</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أَدْرُسُ الرِّيَاضِيَّاتِ، وَالعُلُومَ، وَالفَنَّ. مَادَّتِي المُفَضَّلَةُ هِيَ العُلُومُ </a:t>
            </a:r>
            <a:pPr rtl="1" algn="r" indent="0" marL="0">
              <a:buNone/>
            </a:pPr>
            <a:r>
              <a:rPr lang="ar-SA" altLang="en-US" sz="1700" b="1" dirty="0">
                <a:solidFill>
                  <a:srgbClr val="D6336C"/>
                </a:solidFill>
                <a:latin typeface="Amiri" pitchFamily="34" charset="0"/>
                <a:ea typeface="Amiri" pitchFamily="34" charset="-122"/>
                <a:cs typeface="Amiri" pitchFamily="34" charset="-120"/>
              </a:rPr>
              <a:t>لِأَنَّهَا</a:t>
            </a:r>
            <a:pPr rtl="1" algn="r" indent="0" marL="0">
              <a:buNone/>
            </a:pPr>
            <a:r>
              <a:rPr lang="ar-SA" altLang="en-US" sz="1700" b="1" dirty="0">
                <a:solidFill>
                  <a:srgbClr val="1B3B6F"/>
                </a:solidFill>
                <a:latin typeface="Amiri" pitchFamily="34" charset="0"/>
                <a:ea typeface="Amiri" pitchFamily="34" charset="-122"/>
                <a:cs typeface="Amiri" pitchFamily="34" charset="-120"/>
              </a:rPr>
              <a:t> مُفِيدَ</a:t>
            </a:r>
            <a:pPr rtl="1" algn="r" indent="0" marL="0">
              <a:buNone/>
            </a:pPr>
            <a:r>
              <a:rPr lang="ar-SA" altLang="en-US" sz="1700" b="1" dirty="0">
                <a:solidFill>
                  <a:srgbClr val="D6336C"/>
                </a:solidFill>
                <a:latin typeface="Amiri" pitchFamily="34" charset="0"/>
                <a:ea typeface="Amiri" pitchFamily="34" charset="-122"/>
                <a:cs typeface="Amiri" pitchFamily="34" charset="-120"/>
              </a:rPr>
              <a:t>ةٌ</a:t>
            </a:r>
            <a:pPr rtl="1" algn="r" indent="0" marL="0">
              <a:buNone/>
            </a:pPr>
            <a:r>
              <a:rPr lang="ar-SA" altLang="en-US" sz="1700" b="1" dirty="0">
                <a:solidFill>
                  <a:srgbClr val="1B3B6F"/>
                </a:solidFill>
                <a:latin typeface="Amiri" pitchFamily="34" charset="0"/>
                <a:ea typeface="Amiri" pitchFamily="34" charset="-122"/>
                <a:cs typeface="Amiri" pitchFamily="34" charset="-120"/>
              </a:rPr>
              <a:t>. أُحِبُّ الفَنَّ أَيْضًا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مُمْتِعٌ، وَلَكِنِّي لَا أُحِبُّ التَّارِيخَ </a:t>
            </a:r>
            <a:pPr rtl="1" algn="r" indent="0" marL="0">
              <a:buNone/>
            </a:pPr>
            <a:r>
              <a:rPr lang="ar-SA" altLang="en-US" sz="1700" b="1" dirty="0">
                <a:solidFill>
                  <a:srgbClr val="1D5FBF"/>
                </a:solidFill>
                <a:latin typeface="Amiri" pitchFamily="34" charset="0"/>
                <a:ea typeface="Amiri" pitchFamily="34" charset="-122"/>
                <a:cs typeface="Amiri" pitchFamily="34" charset="-120"/>
              </a:rPr>
              <a:t>لِأَنَّهُ</a:t>
            </a:r>
            <a:pPr rtl="1" algn="r" indent="0" marL="0">
              <a:buNone/>
            </a:pPr>
            <a:r>
              <a:rPr lang="ar-SA" altLang="en-US" sz="1700" b="1" dirty="0">
                <a:solidFill>
                  <a:srgbClr val="1B3B6F"/>
                </a:solidFill>
                <a:latin typeface="Amiri" pitchFamily="34" charset="0"/>
                <a:ea typeface="Amiri" pitchFamily="34" charset="-122"/>
                <a:cs typeface="Amiri" pitchFamily="34" charset="-120"/>
              </a:rPr>
              <a:t> صَعْبٌ.</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I study maths, science and art. My favourite subject is science because it is useful. I like art too because it is enjoyable, but I do not like history because it is difficult.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SCHOOL SUBJECTS”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Which subject?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الفَنَّ.</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الرِّيَاضِيَّاتِ.</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الجُغْرَافِيَا.</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المَوَادُّ الدِّرَاسِيَّةُ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calculator</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الرِّيَاضِيَّاتِ.</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mathematics.</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globe</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الجُغْرَافِيَا.</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geography.</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palette</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الفَنَّ.</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art.</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“SUBJECT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Complete the subject mission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المَوَادِّ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البَدَنِيَّةُ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الرِّيَاضِيَّاتُ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التَّرْبِيَةُ الدِّينِيَّةُ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يَدْرُسُ؟</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تَدْرُسِينَ؟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تَدْرُسُ؟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نَدْرُسُ؟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مُمْتِعَةٌ.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مُمْتِعٌ.</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 مُفِيدٌ.</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لِأَنَّهَا مُفِيدَةٌ.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 Choose physical education.</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التَّرْبِيَةُ البَدَنِيَّةُ</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الرِّيَاضِيَّاتُ</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التَّرْبِيَةُ الدِّينِيَّةُ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التَّرْبِيَةُ البَدَنِيَّةُ</a:t>
            </a:r>
            <a:pPr algn="l" indent="0" marL="0">
              <a:buNone/>
            </a:pPr>
            <a:r>
              <a:rPr lang="en-US" sz="1050" i="1" dirty="0">
                <a:solidFill>
                  <a:srgbClr val="8A6D1E"/>
                </a:solidFill>
                <a:latin typeface="Calibri" pitchFamily="34" charset="0"/>
                <a:ea typeface="Calibri" pitchFamily="34" charset="-122"/>
                <a:cs typeface="Calibri" pitchFamily="34" charset="-120"/>
              </a:rPr>
              <a:t> is PE.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Ask one male listener what he studies.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تَدْرُسِينَ؟</a:t>
            </a:r>
            <a:endParaRPr lang="ar-SA" sz="170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يَدْرُسُ؟</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for one male listener.</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Ask one female listener what she studies.</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تَدْرُسِينَ؟</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تَدْرُسُ؟</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نَدْرُسُ؟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the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ending.</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الفَنَّ...</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مُمْتِعَةٌ.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مُمْتِعَةٌ.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 مُمْتِعٌ.</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الفَنُّ</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أُحِبُّ العُلُومَ...</a:t>
            </a:r>
            <a:endParaRPr lang="ar-SA" sz="2200" dirty="0"/>
          </a:p>
        </p:txBody>
      </p:sp>
      <p:sp>
        <p:nvSpPr>
          <p:cNvPr id="81" name="Shape 78"/>
          <p:cNvSpPr/>
          <p:nvPr/>
        </p:nvSpPr>
        <p:spPr>
          <a:xfrm>
            <a:off x="4459224" y="4831080"/>
            <a:ext cx="256032" cy="256032"/>
          </a:xfrm>
          <a:prstGeom prst="ellipse">
            <a:avLst/>
          </a:prstGeom>
          <a:solidFill>
            <a:srgbClr val="C9CED6"/>
          </a:solidFill>
          <a:ln w="12700">
            <a:solidFill>
              <a:srgbClr val="C9CED6"/>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 مُفِيدٌ.</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لِأَنَّهَا مُفِيدٌ.</a:t>
            </a:r>
            <a:endParaRPr lang="ar-SA" sz="1700" dirty="0"/>
          </a:p>
        </p:txBody>
      </p:sp>
      <p:sp>
        <p:nvSpPr>
          <p:cNvPr id="87" name="Shape 84"/>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8" name="Shape 85"/>
          <p:cNvSpPr/>
          <p:nvPr/>
        </p:nvSpPr>
        <p:spPr>
          <a:xfrm>
            <a:off x="4459224" y="5574792"/>
            <a:ext cx="256032" cy="256032"/>
          </a:xfrm>
          <a:prstGeom prst="ellipse">
            <a:avLst/>
          </a:prstGeom>
          <a:solidFill>
            <a:srgbClr val="2E8B57"/>
          </a:solidFill>
          <a:ln w="12700">
            <a:solidFill>
              <a:srgbClr val="2E8B57"/>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لِأَنَّهَا مُفِيدَةٌ.</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العُلُومُ</a:t>
            </a:r>
            <a:pPr algn="l" indent="0" marL="0">
              <a:buNone/>
            </a:pPr>
            <a:r>
              <a:rPr lang="en-US" sz="1050" i="1" dirty="0">
                <a:solidFill>
                  <a:srgbClr val="8A6D1E"/>
                </a:solidFill>
                <a:latin typeface="Calibri" pitchFamily="34" charset="0"/>
                <a:ea typeface="Calibri" pitchFamily="34" charset="-122"/>
                <a:cs typeface="Calibri" pitchFamily="34" charset="-120"/>
              </a:rPr>
              <a:t> takes feminine singular agreement.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maths ≠ sport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tadrusu · girl: tadrusīna</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m. subject → -hu · f. → -hā</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الفَنَّ لِأَنَّهَا مُمْتِعَةٌ.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Art: -hu or -hā?</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أُدَرِّسُ العُلُومَ فِي المَدْرَسَةِ.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Study or teach?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أُحِبُّ الرِّيَاضَةَ: هِيَ مَادَّةُ الأَرْقَامِ.</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Maths or sport?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الفَنَّ لِأَنَّهَا مُمْتِعَةٌ.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الفَنَّ لِأَنَّهُ مُمْتِعٌ.</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Art is masculine: li’annahu + masculine adjective.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أُدَرِّسُ العُلُومَ فِي المَدْرَسَةِ.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أَدْرُسُ العُلُومَ فِي المَدْرَسَةِ.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With the shadda it means I TEACH; I study = adrusu.</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أُحِبُّ الرِّيَاضَةَ: هِيَ مَادَّةُ الأَرْقَامِ.</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أُحِبُّ الرِّيَاضِيَّاتِ: هِيَ مَادَّةُ الأَرْقَامِ.</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Riyāḍiyyāt = maths; riyāḍa = sport / PE.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Maryam describes her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mathematics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اِسْمِي مَرْيَمُ. أَدْرُسُ اللُّغَةَ العَرَبِيَّةَ، وَاللُّغَةَ الإِنْجِلِيزِيَّةَ، وَالرِّيَاضِيَّاتِ، وَالعُلُومَ، وَالتَّارِيخَ، وَالفَنَّ.</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Maryam. I study Arabic, English, maths, science, history and art.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مَادَّتِي المُفَضَّلَةُ هِيَ العُلُومُ لِأَنَّهَا مُفِيدَةٌ وَمُثِيرَةٌ لِلاهْتِمَامِ.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favourite subject is science because it is useful and interesting.</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أُحِبُّ الفَنَّ أَيْضًا لِأَنَّهُ مُمْتِعٌ.</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also like art because it is enjoyable.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أُحِبُّ التَّارِيخَ لِأَنَّهُ صَعْبٌ.</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 not like history because it is difficult.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وَصَدِيقَتِي نَدْرُسُ المُوسِيقَى أَيْضًا.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friend and I study music too.</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subjects does Maryam list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lists Arabic, English, mathematics, science, history and art.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her favourite subject?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مَادَّتِي المُفَضَّلَةُ هِيَ العُلُومُ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she like?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الفَنَّ أَيْضًا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she dislike?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mathematics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لَا أُحِبُّ التَّارِيخَ</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means “we study” in the script?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نَدْرُسُ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نَدْرُسُ</a:t>
            </a:r>
            <a:pPr algn="l" indent="0" marL="0">
              <a:buNone/>
            </a:pPr>
            <a:r>
              <a:rPr lang="en-US" sz="1050" i="1" dirty="0">
                <a:solidFill>
                  <a:srgbClr val="8A6D1E"/>
                </a:solidFill>
                <a:latin typeface="Calibri" pitchFamily="34" charset="0"/>
                <a:ea typeface="Calibri" pitchFamily="34" charset="-122"/>
                <a:cs typeface="Calibri" pitchFamily="34" charset="-120"/>
              </a:rPr>
              <a:t> is the we-form.</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studies · favourite · likes · dislikes · reasons.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يَدْرُسُ سَامِرٌ الرِّيَاضِيَّاتِ، وَالفِيزِيَاءَ، وَالكِيمِيَاءَ،</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Samir studies maths, physics, chemistry,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وَالتَّارِيخَ، وَعِلْمَ الحَاسُوبِ.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 and computer science</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مَادَّتُهُ المُفَضَّلَةُ هِيَ عِلْمُ الحَاسُوبِ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favourite: computer science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لِأَنَّهُ مُفِيدٌ وَمُمْتِعٌ.</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because it is useful and enjoyable (m.)</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يُحِبُّ التَّارِيخَ لِأَنَّهُ مُمِلٌّ فِي رَأْيِهِ.</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Dislike: history — boring, in his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subjects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تَدْرُسُ هُدَى اللُّغَةَ العَرَبِيَّةَ، وَاللُّغَةَ الإِنْجِلِيزِيَّةَ، وَالأَحْيَاءَ،</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Arabic, English, biology,</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وَالجُغْرَافِيَا، وَالمُوسِيقَى، وَالفَنَّ.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 music and art</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تُفَضِّلُ اللُّغَةَ العَرَبِيَّةَ لِأَنَّهَا جَمِيلَةٌ وَمُهِمَّةٌ.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Prefers Arabic: beautiful and important (f.)</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المُوسِيقَى أَيْضًا،</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also likes music</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وَلَكِنَّهَا لَا تُحِبُّ الجُغْرَافِيَا لِأَنَّهَا صَعْبَةٌ.</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but not geography — difficult</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chemistry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Arabic</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geography</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history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music</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physics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a:t>
            </a:r>
            <a:endParaRPr lang="ar-SA" sz="20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Samir’s favourite?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computer science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chemistry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His favourite is </a:t>
            </a:r>
            <a:pPr algn="l" indent="0" marL="0">
              <a:buNone/>
            </a:pPr>
            <a:r>
              <a:rPr lang="ar-SA" altLang="en-US" sz="1350" dirty="0">
                <a:solidFill>
                  <a:srgbClr val="8A6D1E"/>
                </a:solidFill>
                <a:latin typeface="Amiri" pitchFamily="34" charset="0"/>
                <a:ea typeface="Amiri" pitchFamily="34" charset="-122"/>
                <a:cs typeface="Amiri" pitchFamily="34" charset="-120"/>
              </a:rPr>
              <a:t>عِلْمُ الحَاسُوبِ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does Samir dislike?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art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history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does not like history.</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subject is Huda’s favourite?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Arabic</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music</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geography</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prefers Arabic.</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other subject does Huda like?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history</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music</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physics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likes music too.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verb introduces Huda’s subject list?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تَدْرُسُ</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يَدْرُسُ</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أَدْرُسُ</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used for she studies.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name,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verb and the subject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Talk about your subjects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تَدْرُسُ فِي المَدْرَسَةِ؟ / مَاذَا تَدْرُسِينَ؟</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مَادَّتُكَ المُفَضَّلَةُ؟ وَلِمَاذَا؟</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المَادَّةُ الَّتِي لَا تُحِبُّهَا؟ وَلِمَاذَا؟</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يَدْرُسُ صَدِيقُكَ؟ وَمَاذَا تَدْرُسُ صَدِيقَتُكَ؟</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أَدْرُسُ ___ وَ ___ وَ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مَادَّتِي المُفَضَّلَةُ هِيَ ___ لِأَنَّهَا / لِأَنَّهُ ___ .</a:t>
            </a:r>
            <a:endParaRPr lang="ar-SA" sz="135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لَا أُحِبُّ ___ لِأَنَّهُ / لِأَنَّهَا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يَدْرُسُ صَدِيقِي ___ ، وَتَدْرُسُ صَدِيقَتِي ___ .</a:t>
            </a:r>
            <a:endParaRPr lang="ar-SA" sz="15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تَدْرُسُ فِي المَدْرَسَةِ؟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do you study at school?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أَدْرُسُ الرِّيَاضِيَّاتِ وَالعُلُومَ وَالفَنَّ. أُحِبُّ الفَنَّ لِأَنَّهُ مُمْتِعٌ.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study maths, science and art. I like art because it is enjoyable.</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accurate sentences using the models.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Subjects, a favourite, one like and one dislike,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Eight subject terms and three different opinion structures.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Eight subjects, three opinion structures, two agreeing reasons.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what another person studies with yadrusu / tadrusu.</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another person: yadrusu / tadrusu, and compare two subjects.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أُفَضِّلُ الكِيمِيَاءَ لِأَنَّهَا مُثِيرَةٌ لِلاهْتِمَامِ.</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prefer chemistry because it is interesting.</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نَحْنُ نَدْرُسُ اللُّغَاتِ.</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study languages.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يَدْرُسُ صَدِيقِي عِلْمَ الحَاسُوبِ.</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(m.) studies computing.</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تَدْرُسُ صَدِيقَتِي المُوسِيقَى.</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 (f.) studies music.</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 وَلَكِنَّ الفِيزِيَاءَ صَعْبَةٌ فِي رَأْيِي.</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 but physics is difficult in my opinion.</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أَدْرُسُ الرِّيَاضِيَّاتِ وَالعُلُومَ.</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study maths and science.</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مَادَّتِي المُفَضَّلَةُ هِيَ الفَنُّ.</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favourite subject is art.</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الفَنَّ لِأَنَّهُ مُمْتِعٌ.</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art because it is enjoyable.</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العُلُومَ لِأَنَّهَا مُفِيدَةٌ.</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like science because it is useful.</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أُحِبُّ التَّارِيخَ لِأَنَّهُ صَعْبٌ.</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 not like history because it is difficult.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الرِّيَاضِيَّاتُ  ·  العُلُومُ  ·  التَّارِيخُ  ·  الفَنُّ  ·  المُوسِيقَى  ·  أَدْرُسُ  ·  أُحِبُّ  ·  لَا أُحِبُّ  ·  أُفَضِّلُ  ·  لِأَنَّهُ  ·  لِأَنَّهَا  ·  مُفِيدٌ / مُفِيدَةٌ</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أَدْرُسُ اللُّغَةَ العَرَبِيَّةَ، وَاللُّغَةَ الإِنْجِلِيزِيَّةَ، وَالرِّيَاضِيَّاتِ، وَالعُلُومَ، وَالتَّارِيخَ، وَالفَنَّ. مَادَّتِي المُفَضَّلَةُ هِيَ العُلُومُ لِأَنَّهَا مُفِيدَةٌ. أُحِبُّ الفَنَّ أَيْضًا لِأَنَّهُ مُمْتِعٌ، وَلَكِنِّي لَا أُحِبُّ التَّارِيخَ لِأَنَّهُ صَعْبٌ.</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study Arabic, English, maths, science, history and art. My favourite subject is science because it is useful. I also like art because it is enjoyable, but I do not like history because it is difficult.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subjects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favourite</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reasons (m. · f.)</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contrast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six subjects.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adrusu and uḥibbu / lā uḥibbu.</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subject → li’annahu; feminine → li’annahā.</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Every reason adjective agrees.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said what another person studies.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الأَحْيَاءُ</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الكِيمِيَاءُ</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العُلُومُ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مَادَّتُهُ المُفَضَّلَةُ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المَوَادُّ المُفَضَّلَةُ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يَدْرُسُ المُوسِيقَى.</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أَدْرُسُ المُوسِيقَى.</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“biology”.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الأَحْيَاءُ</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الكِيمِيَاءُ</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العُلُومُ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الأَحْيَاءُ</a:t>
            </a:r>
            <a:pPr algn="l" indent="0" marL="0">
              <a:buNone/>
            </a:pPr>
            <a:r>
              <a:rPr lang="en-US" sz="1050" i="1" dirty="0">
                <a:solidFill>
                  <a:srgbClr val="8A6D1E"/>
                </a:solidFill>
                <a:latin typeface="Calibri" pitchFamily="34" charset="0"/>
                <a:ea typeface="Calibri" pitchFamily="34" charset="-122"/>
                <a:cs typeface="Calibri" pitchFamily="34" charset="-120"/>
              </a:rPr>
              <a:t> means biology.</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“my favourite subject”.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مَادَّتُهُ المُفَضَّلَةُ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مَادَّتِي المُفَضَّلَةُ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المَوَادُّ المُفَضَّلَةُ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gives my.</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studies music”?</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تَدْرُسُ المُوسِيقَى.</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يَدْرُسُ المُوسِيقَى.</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أَدْرُسُ المُوسِيقَى.</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تَدْرُسُ</a:t>
            </a:r>
            <a:pPr algn="l" indent="0" marL="0">
              <a:buNone/>
            </a:pPr>
            <a:r>
              <a:rPr lang="en-US" sz="1050" i="1" dirty="0">
                <a:solidFill>
                  <a:srgbClr val="8A6D1E"/>
                </a:solidFill>
                <a:latin typeface="Calibri" pitchFamily="34" charset="0"/>
                <a:ea typeface="Calibri" pitchFamily="34" charset="-122"/>
                <a:cs typeface="Calibri" pitchFamily="34" charset="-120"/>
              </a:rPr>
              <a:t> is the she-form.</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F4-L01 · School Subjects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F4-L02: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F4 · My School · F4-L01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F4-L02 · The School Timetable — Days and Times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جَدْوَلٌ مَدْرَسِيٌّ</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school timetable</a:t>
            </a:r>
            <a:pPr indent="0" marL="0">
              <a:buNone/>
            </a:pPr>
            <a:r>
              <a:rPr lang="en-US" sz="1000" i="1" dirty="0">
                <a:solidFill>
                  <a:srgbClr val="5A6472"/>
                </a:solidFill>
                <a:latin typeface="Calibri" pitchFamily="34" charset="0"/>
                <a:ea typeface="Calibri" pitchFamily="34" charset="-122"/>
                <a:cs typeface="Calibri" pitchFamily="34" charset="-120"/>
              </a:rPr>
              <a:t>  pl. جَدَاوِلُ</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حِصَّةٌ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lesson / period</a:t>
            </a:r>
            <a:pPr indent="0" marL="0">
              <a:buNone/>
            </a:pPr>
            <a:r>
              <a:rPr lang="en-US" sz="1000" i="1" dirty="0">
                <a:solidFill>
                  <a:srgbClr val="5A6472"/>
                </a:solidFill>
                <a:latin typeface="Calibri" pitchFamily="34" charset="0"/>
                <a:ea typeface="Calibri" pitchFamily="34" charset="-122"/>
                <a:cs typeface="Calibri" pitchFamily="34" charset="-120"/>
              </a:rPr>
              <a:t>  pl. حِصَصٌ</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أُسْبُوعٌ</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week</a:t>
            </a:r>
            <a:pPr indent="0" marL="0">
              <a:buNone/>
            </a:pPr>
            <a:r>
              <a:rPr lang="en-US" sz="1000" i="1" dirty="0">
                <a:solidFill>
                  <a:srgbClr val="5A6472"/>
                </a:solidFill>
                <a:latin typeface="Calibri" pitchFamily="34" charset="0"/>
                <a:ea typeface="Calibri" pitchFamily="34" charset="-122"/>
                <a:cs typeface="Calibri" pitchFamily="34" charset="-120"/>
              </a:rPr>
              <a:t>  pl. أَسَابِيعُ</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الاِسْتِرَاحَةُ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break time</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مَتَى؟</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when?</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Which lesson do you have first on Monday?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الحِصَّةُ الأُولَى؟</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F4-L01: the Subject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subject profile: list eight subjects, one like, one dislike and two reasons.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6–8 sentences about your subjects and one friend’s subjects.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F4-L01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F4-L02 · The School Timetable — Days and Times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الجَدْوَلُ المَدْرَسِيُّ — الأَيَّامُ وَالأَوْقَاتُ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subject + opinion + reason · art (m.) → li’annahu · science (f.) → li’annahā.</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F4-L01 · School Subjects — What Do You Study?</dc:title>
  <dc:subject>PptxGenJS Presentation</dc:subject>
  <dc:creator>Al Madina Online School · Arabic Department</dc:creator>
  <cp:lastModifiedBy>Al Madina Online School · Arabic Department</cp:lastModifiedBy>
  <cp:revision>1</cp:revision>
  <dcterms:created xsi:type="dcterms:W3CDTF">2026-09-27T19:20:16Z</dcterms:created>
  <dcterms:modified xsi:type="dcterms:W3CDTF">2026-09-27T19:20:16Z</dcterms:modified>
</cp:coreProperties>
</file>