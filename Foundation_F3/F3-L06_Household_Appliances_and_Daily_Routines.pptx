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6 (F3-L06). Website sections used: the eight-question home-language bridge, the appliance vault (10 active appliances + wider recognition bank) and the 16-question appliance check, “say what each appliance is used for” and the 12-question function check, power verbs and appliance agreement (14-question laboratory), routine language (time, frequency, sequence) and the 12-question check, the timeline studio, the Appliance Routine Mission (14), Omar’s routine (listening, 10), Amira’s evening and the kitchen problem (reading, 12), the routine-tour studio (4 prompts), the connected routine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appliances + “I use / I switch on / I switch off” + first, then, finally. Develop: the purpose pattern (أَسْتَخْدِمُ … لِـ / فِي / بِـ) and يَعْمَلُ / تَعْمَلُ. Stretch: object endings (أُشَغِّلُهُ / أُشَغِّلُهَا) and an appliance problem.
• Website “Foundation focus”: learn the useful “I” sentence patterns first — the full present-tense system returns later.
• Routines vary between homes: students may describe a real or an invented routine; nobody has to say which appliances their family owns.
• Urdu bridge: کمپیوٹر = حَاسُوبٌ (Arabic also uses كُمْبِيُوتَر), ٹی وی = تِلْفَازٌ, اِسْتِعْمَال / أَسْتَخْدِمُ (use), صُبْح / صَبَاحٌ, شام / مَسَاءٌ.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appliance words prepared at home at the end of F3-L05. Questions 3–5 are the website “home-language bridge” (where is a fridge, the feminine appliance, every 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appliance decides the verb: a masculine appliance → ya‘malu; a feminine appliance → ta‘malu.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(morning), آخر (end / finally) and کہربا are shared roots. استعمال (Urdu “use”) is from the same family of Arabic verbs as اِسْتِعْمَالٌ — Arabic today prefers أَسْتَخْدِمُ.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KITCHEN AND COMFORT (website appliance vault). Say each with its “use” sentence. Gender check: fridge, dishwasher, kettle = feminine (ـةٌ); oven, microwave, air conditioner = masculine. Alternative term (website): غَسَّالَةُ الأَطْبَاقِ.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THE HOME (website). Wider recognition bank (website, for texts): فِيشَةُ كَهْرَبَاءٍ (plug), مِرْوَحَةٌ (fan), مُجَمِّدٌ (freezer), شَوَّايَةٌ (grill), هَاتِفٌ (telephone), مُضَخِّمٌ / مُكَبِّرُ صَوْتٍ (loudspeaker).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“Power verbs and appliance agreement”: three high-value “I” verbs, then the appliance noun decides whether “it works” begins with يـ (masculine) or تـ (feminine).
Object endings (Develop): أَسْتَخْدِمُهُ / أَسْتَخْدِمُهَا · أُشَغِّلُهُ / أُشَغِّلُهَا · أُطْفِئُهُ / أُطْفِئُهَا — “use the ending to avoid repeating the appliance name”.
Practical action bank (website): أَفْتَحُ / أُغْلِقُ (open / close), أُصْلِحُ (repair), أَدْفَعُ / أَجْذِبُ (push /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“Build a clear routine at home”: a routine becomes connected when the listener knows the time, frequency and order of each action.
Recycled routine actions (website): أَسْتَيْقِظُ، أَتَنَاوَلُ الفُطُورَ، أَغْسِلُ المَلَابِسَ، أُنَظِّفُ الغُرْفَةَ، أُسَاعِدُ أُسْرَتِي، أَدْرُسُ، أُشَاهِدُ التِّلْفَازَ، أَنَامُ.
Website connected model: فِي الصَّبَاحِ أَسْتَخْدِمُ الغَلَّايَةَ الكَهْرَبَائِيَّةَ. بَعْدَ ذَلِكَ أَسْتَخْدِمُ الحَاسُوبَ لِلدِّرَاسَةِ. فِي المَسَاءِ أُشَغِّلُ غَسَّالَةَ الصُّحُونِ، ثُمَّ أُشَاهِدُ التِّلْفَازَ. أَخِيرًا أُطْفِئُ التِّلْفَازَ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power-verb laboratory questions 2, 5 and 10, and function check question 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“Evening routine” speaking model plus the listening ending. Think aloud: “Which appliance? masculine or feminine? so -hu or -hā, ya- or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mission rounds (function, agreement, reference, sequence, transfer).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appliance?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فِي أَيَّامِ الدِّرَاسَةِ أَسْتَيْقِظُ فِي السَّاعَةِ السَّادِسَةِ وَالنِّصْفِ. أَوَّلًا، أُشَغِّلُ الغَلَّايَةَ الكَهْرَبَائِيَّةَ وَأَتَنَاوَلُ الفُطُورَ. ثُمَّ أَسْتَخْدِمُ الحَاسُوبَ لِلدِّرَاسَةِ عِشْرِينَ دَقِيقَةً. بَعْدَ المَدْرَسَةِ أُسَاعِدُ أُمِّي. أَحْيَانًا أَضَعُ المَلَابِسَ فِي الغَسَّالَةِ، وَلَكِنَّنِي لَا أَسْتَخْدِمُ المُجَفِّفَةَ كُلَّ يَوْمٍ. فِي المَسَاءِ أُشَغِّلُ غَسَّالَةَ الصُّحُونِ بَعْدَ العَشَاءِ. فِي السَّاعَةِ الثَّامِنَةِ أُشَاهِدُ بَرْنَامَجًا عَلَى التِّلْفَازِ، ثُمَّ أُطْفِئُهُ. قَبْلَ النَّوْمِ أُطْفِئُ الحَاسُوبَ وَالتِّلْفَازَ، وَلَكِنَّ الثَّلَّاجَةَ تَعْمَلُ طَوَالَ اللَّيْلِ.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Notice the “she” forms: تَسْتَخْدِمُ، تُشَغِّلُ، تُطْفِئُ — the same verbs as today with تـ instead of أَ / أُ. Recognition only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find the object ending يُشَغِّلُهَا (it = the dishwasher, feminine) and the ammā … fa- structure. Model for the Stretch writing (a problem and a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7 and 8 (7–8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home-routine tour” (45–60 s): what, when, how often, sequence and one appliance problem or opinion. Random prompts (website):
• Morning before school: kettle · fridge · microwave · computer
• After-school jobs: washing machine · dryer · vacuum · computer
• Evening routine: oven · dishwasher · television · computer
• An appliance problem: dishwasher · plug · door · repair
Website checklist (1–6): four appliances · أَسْتَخْدِمُ / أُشَغِّلُ / أُطْفِئُ · two time or frequency phrases · clear sequence · يَعْمَلُ / تَعْمَلُ or an object ending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 and the word banks. · Develop — Seven or eight connected sentences, including ya‘malu / ta‘malu. · Stretch — Add a problem, a repair action and object endings (ushaghghiluhā).
Website writing task (Stretch): Website writing task: 6–8 connected sentences about a real or invented home routine — at least five appliances, three power or purpose verbs, three sequence words and two time or frequency phrases.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“connected model” and the speaking models, joined. Stretch: add the Text B problem (غَسَّالَةُ الصُّحُونِ لَا تَعْمَلُ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(F3-L07 · My Neighbourhood — Places Near My Home) will spend class time USING this language, so students prepare it tonight — short, simple, easy to access (school guidance: “Simple, Short, Interesting, Relevant, Easy to access”). The five words come from the website F3-L07 neighbourhood place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Household Appliances and Daily Routines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الأَجْهِزَةُ المَنْزِلِيَّةُ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appliances in a home, say what each is used for, switch them on and off accurately and build a clear routine with time, frequency and sequence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F3-L06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Appliances and what they do, then switch on, switch off and it works.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Routine mission, listen to Omar, read two home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oven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kettle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غَلَّايَةٌ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kettle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iron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 conditioner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would you normally find a fridge?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النَّوْمِ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الحَمَّامُ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المَطْبَخُ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appliance.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تِلْفَازٌ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حَاسُوبٌ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غَسَّالَةٌ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يَوْمٍ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fridge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oven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kettle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غَلَّايَةٌ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kettle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iron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 conditioner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would you normally find a fridge?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النَّوْمِ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الحَمَّامُ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المَطْبَخُ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fridge is normally in the kitchen.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appliance.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تِلْفَازٌ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حَاسُوبٌ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غَسَّالَةٌ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“every day”?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كُلَّ يَوْمٍ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ذَلِكَ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كُلَّ يَوْمٍ</a:t>
            </a:r>
            <a:pPr algn="l" indent="0" marL="0">
              <a:buNone/>
            </a:pPr>
            <a:r>
              <a:rPr lang="en-US" sz="1050" i="1" dirty="0">
                <a:solidFill>
                  <a:srgbClr val="8A6D1E"/>
                </a:solidFill>
                <a:latin typeface="Calibri" pitchFamily="34" charset="0"/>
                <a:ea typeface="Calibri" pitchFamily="34" charset="-122"/>
                <a:cs typeface="Calibri" pitchFamily="34" charset="-120"/>
              </a:rPr>
              <a:t> means every 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appliance decides the verb: a masculine appliance → ya‘malu; a feminine appliance → ta‘malu.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التِّلْفَازُ </a:t>
            </a:r>
            <a:pPr rtl="1" algn="ctr" indent="0" marL="0">
              <a:buNone/>
            </a:pPr>
            <a:r>
              <a:rPr lang="ar-SA" altLang="en-US" sz="2350" b="1" dirty="0">
                <a:solidFill>
                  <a:srgbClr val="1D5FBF"/>
                </a:solidFill>
                <a:latin typeface="Amiri" pitchFamily="34" charset="0"/>
                <a:ea typeface="Amiri" pitchFamily="34" charset="-122"/>
                <a:cs typeface="Amiri" pitchFamily="34" charset="-120"/>
              </a:rPr>
              <a:t>يَـ</a:t>
            </a:r>
            <a:pPr rtl="1" algn="ctr" indent="0" marL="0">
              <a:buNone/>
            </a:pPr>
            <a:r>
              <a:rPr lang="ar-SA" altLang="en-US" sz="2350" b="1" dirty="0">
                <a:solidFill>
                  <a:srgbClr val="1B3B6F"/>
                </a:solidFill>
                <a:latin typeface="Amiri" pitchFamily="34" charset="0"/>
                <a:ea typeface="Amiri" pitchFamily="34" charset="-122"/>
                <a:cs typeface="Amiri" pitchFamily="34" charset="-120"/>
              </a:rPr>
              <a:t>عْمَلُ · الثَّلَّاجَةُ </a:t>
            </a:r>
            <a:pPr rtl="1" algn="ctr" indent="0" marL="0">
              <a:buNone/>
            </a:pPr>
            <a:r>
              <a:rPr lang="ar-SA" altLang="en-US" sz="2350" b="1" dirty="0">
                <a:solidFill>
                  <a:srgbClr val="D6336C"/>
                </a:solidFill>
                <a:latin typeface="Amiri" pitchFamily="34" charset="0"/>
                <a:ea typeface="Amiri" pitchFamily="34" charset="-122"/>
                <a:cs typeface="Amiri" pitchFamily="34" charset="-120"/>
              </a:rPr>
              <a:t>تَـ</a:t>
            </a:r>
            <a:pPr rtl="1" algn="ctr" indent="0" marL="0">
              <a:buNone/>
            </a:pPr>
            <a:r>
              <a:rPr lang="ar-SA" altLang="en-US" sz="2350" b="1" dirty="0">
                <a:solidFill>
                  <a:srgbClr val="1B3B6F"/>
                </a:solidFill>
                <a:latin typeface="Amiri" pitchFamily="34" charset="0"/>
                <a:ea typeface="Amiri" pitchFamily="34" charset="-122"/>
                <a:cs typeface="Amiri" pitchFamily="34" charset="-120"/>
              </a:rPr>
              <a:t>عْمَلُ</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recognise the full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what common appliances are used for.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 use / I switch on / I switch off”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connected home routine with time and sequence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six appliances.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switch on / I switch off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an appliance is for.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“it works” with the right letter.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object endings (-hu / -hā).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an appliance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Appliances, three power verbs and routine words. Core: six appliances, three verbs and four sequence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Appliances · 10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Power and purpose verbs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 frequency · sequence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‎صبح‎ </a:t>
            </a:r>
            <a:pPr indent="0" marL="0">
              <a:buNone/>
            </a:pPr>
            <a:r>
              <a:rPr lang="en-US" sz="950" b="1" dirty="0">
                <a:solidFill>
                  <a:srgbClr val="2E8B57"/>
                </a:solidFill>
                <a:latin typeface="Calibri" pitchFamily="34" charset="0"/>
                <a:ea typeface="Calibri" pitchFamily="34" charset="-122"/>
                <a:cs typeface="Calibri" pitchFamily="34" charset="-120"/>
              </a:rPr>
              <a:t> ṣabāḥ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‎شام (مساء)‎ </a:t>
            </a:r>
            <a:pPr indent="0" marL="0">
              <a:buNone/>
            </a:pPr>
            <a:r>
              <a:rPr lang="en-US" sz="950" b="1" dirty="0">
                <a:solidFill>
                  <a:srgbClr val="2E8B57"/>
                </a:solidFill>
                <a:latin typeface="Calibri" pitchFamily="34" charset="0"/>
                <a:ea typeface="Calibri" pitchFamily="34" charset="-122"/>
                <a:cs typeface="Calibri" pitchFamily="34" charset="-120"/>
              </a:rPr>
              <a:t> masā’ · evening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أَسْتَخْدِمُ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‎استعمال‎ </a:t>
            </a:r>
            <a:pPr indent="0" marL="0">
              <a:buNone/>
            </a:pPr>
            <a:r>
              <a:rPr lang="en-US" sz="950" b="1" dirty="0">
                <a:solidFill>
                  <a:srgbClr val="2E8B57"/>
                </a:solidFill>
                <a:latin typeface="Calibri" pitchFamily="34" charset="0"/>
                <a:ea typeface="Calibri" pitchFamily="34" charset="-122"/>
                <a:cs typeface="Calibri" pitchFamily="34" charset="-120"/>
              </a:rPr>
              <a:t> astakhdimu · I use (same idea)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كَهْرَبَاءٌ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‎کہربا / بجلی‎ </a:t>
            </a:r>
            <a:pPr indent="0" marL="0">
              <a:buNone/>
            </a:pPr>
            <a:r>
              <a:rPr lang="en-US" sz="950" b="1" dirty="0">
                <a:solidFill>
                  <a:srgbClr val="2E8B57"/>
                </a:solidFill>
                <a:latin typeface="Calibri" pitchFamily="34" charset="0"/>
                <a:ea typeface="Calibri" pitchFamily="34" charset="-122"/>
                <a:cs typeface="Calibri" pitchFamily="34" charset="-120"/>
              </a:rPr>
              <a:t> kahrabā’ · electricity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akhīran · finally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KITCHEN APPLIANCES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Fridge, oven, microwave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أَجْهِزَةُ المَطْبَخِ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أَفْرَانٌ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أَطْبُخُ الطَّعَامَ فِيهِ.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مِيكْرُوويفٌ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microwave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mīk-rū-wayf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مِيكْرُوويفَاتٌ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أُسَخِّنُ الطَّعَامَ بِهِ.</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 الصُّحُونِ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dishwasher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ghas-sā-lat aṣ-ṣu-ḥūn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 الصُّحُونِ</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أَغْسِلُ الصُّحُونَ بِهَا.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غَلَّايَةٌ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kettle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ghal-lā-ya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غَلَّايَاتٌ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أُشَغِّلُهَا فِي الصَّبَاحِ.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مُكَيِّفُ هَوَاءٍ</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 conditioner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mu-kay-yif ha-wā’</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مُكَيِّفَاتٌ</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أُبَرِّدُ الغُرْفَةَ بِهِ.</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AROUND THE HOME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Washing machine, vacuum, TV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أَجْهِزَةُ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 المَلَابِسِ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washing machine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ghas-sā-lat al-ma-lā-bis</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أَغْسِلُ المَلَابِسَ بِهَا.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مُجَفِّفَةُ المَلَابِسِ</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tumble dryer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mu-jaf-fi-fat al-ma-lā-bis</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مُجَفِّفَاتٌ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أُجَفِّفُ المَلَابِسَ بِهَا.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مِكْنَسَةٌ كَهْرَبَائِيَّةٌ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vacuum cleaner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mik-na-sa kah-ra-bā-’iy-ya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مَكَانِسُ</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أُنَظِّفُ الأَرْضِيَّةَ بِهَا.</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تِلْفَازٌ</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television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til-fāz</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تِلْفَازَاتٌ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أُشَاهِدُ البَرَامِجَ عَلَيْهِ.</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حَاسُوبٌ</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ḥā-sūb</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حَوَاسِيبُ</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أَسْتَخْدِمُهُ لِلدِّرَاسَةِ.</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مِكْوَاةٌ</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iron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mik-wā</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مَكَاوٍ</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use</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أَكْوِي المَلَابِسَ بِهَا.</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POWER VERBS AND “IT WORKS”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Switch it on, switch it off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التَّشْغِيلِ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61356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appliance</a:t>
            </a:r>
            <a:endParaRPr lang="en-US" sz="1100" dirty="0"/>
          </a:p>
        </p:txBody>
      </p:sp>
      <p:sp>
        <p:nvSpPr>
          <p:cNvPr id="18" name="Text 15"/>
          <p:cNvSpPr txBox="1"/>
          <p:nvPr/>
        </p:nvSpPr>
        <p:spPr>
          <a:xfrm>
            <a:off x="28437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appliance</a:t>
            </a:r>
            <a:endParaRPr lang="en-US" sz="1100" dirty="0"/>
          </a:p>
        </p:txBody>
      </p:sp>
      <p:sp>
        <p:nvSpPr>
          <p:cNvPr id="19" name="Text 16"/>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أَسْتَخْدِمُ</a:t>
            </a:r>
            <a:endParaRPr lang="ar-SA" sz="2400" dirty="0"/>
          </a:p>
        </p:txBody>
      </p:sp>
      <p:sp>
        <p:nvSpPr>
          <p:cNvPr id="22" name="Text 19"/>
          <p:cNvSpPr txBox="1"/>
          <p:nvPr/>
        </p:nvSpPr>
        <p:spPr>
          <a:xfrm>
            <a:off x="615391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أَسْتَخْدِمُ الحَاسُوبَ</a:t>
            </a:r>
            <a:endParaRPr lang="ar-SA" sz="2200" dirty="0"/>
          </a:p>
        </p:txBody>
      </p:sp>
      <p:sp>
        <p:nvSpPr>
          <p:cNvPr id="23" name="Text 20"/>
          <p:cNvSpPr txBox="1"/>
          <p:nvPr/>
        </p:nvSpPr>
        <p:spPr>
          <a:xfrm>
            <a:off x="286207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أَسْتَخْدِمُ الغَسَّالَةَ</a:t>
            </a:r>
            <a:endParaRPr lang="ar-SA" sz="2200" dirty="0"/>
          </a:p>
        </p:txBody>
      </p:sp>
      <p:sp>
        <p:nvSpPr>
          <p:cNvPr id="24" name="Text 21"/>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أُشَغِّلُ</a:t>
            </a:r>
            <a:endParaRPr lang="ar-SA" sz="2400" dirty="0"/>
          </a:p>
        </p:txBody>
      </p:sp>
      <p:sp>
        <p:nvSpPr>
          <p:cNvPr id="29" name="Text 26"/>
          <p:cNvSpPr txBox="1"/>
          <p:nvPr/>
        </p:nvSpPr>
        <p:spPr>
          <a:xfrm>
            <a:off x="615391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أُشَغِّلُ التِّلْفَازَ</a:t>
            </a:r>
            <a:endParaRPr lang="ar-SA" sz="2200" dirty="0"/>
          </a:p>
        </p:txBody>
      </p:sp>
      <p:sp>
        <p:nvSpPr>
          <p:cNvPr id="30" name="Text 27"/>
          <p:cNvSpPr txBox="1"/>
          <p:nvPr/>
        </p:nvSpPr>
        <p:spPr>
          <a:xfrm>
            <a:off x="286207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أُشَغِّلُ الغَلَّايَةَ</a:t>
            </a:r>
            <a:endParaRPr lang="ar-SA" sz="2200" dirty="0"/>
          </a:p>
        </p:txBody>
      </p:sp>
      <p:sp>
        <p:nvSpPr>
          <p:cNvPr id="31" name="Text 28"/>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switch 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أُطْفِئُ</a:t>
            </a:r>
            <a:endParaRPr lang="ar-SA" sz="2400" dirty="0"/>
          </a:p>
        </p:txBody>
      </p:sp>
      <p:sp>
        <p:nvSpPr>
          <p:cNvPr id="36" name="Text 33"/>
          <p:cNvSpPr txBox="1"/>
          <p:nvPr/>
        </p:nvSpPr>
        <p:spPr>
          <a:xfrm>
            <a:off x="615391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أُطْفِئُ الحَاسُوبَ</a:t>
            </a:r>
            <a:endParaRPr lang="ar-SA" sz="2200" dirty="0"/>
          </a:p>
        </p:txBody>
      </p:sp>
      <p:sp>
        <p:nvSpPr>
          <p:cNvPr id="37" name="Text 34"/>
          <p:cNvSpPr txBox="1"/>
          <p:nvPr/>
        </p:nvSpPr>
        <p:spPr>
          <a:xfrm>
            <a:off x="286207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أُطْفِئُ المِكْوَاةَ</a:t>
            </a:r>
            <a:endParaRPr lang="ar-SA" sz="2200" dirty="0"/>
          </a:p>
        </p:txBody>
      </p:sp>
      <p:sp>
        <p:nvSpPr>
          <p:cNvPr id="38" name="Text 35"/>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switch off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 / تَعْمَلُ</a:t>
            </a:r>
            <a:endParaRPr lang="ar-SA" sz="2400" dirty="0"/>
          </a:p>
        </p:txBody>
      </p:sp>
      <p:sp>
        <p:nvSpPr>
          <p:cNvPr id="43" name="Text 40"/>
          <p:cNvSpPr txBox="1"/>
          <p:nvPr/>
        </p:nvSpPr>
        <p:spPr>
          <a:xfrm>
            <a:off x="615391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التِّلْفَازُ </a:t>
            </a:r>
            <a:pPr rtl="1" algn="ctr" indent="0" marL="0">
              <a:buNone/>
            </a:pPr>
            <a:r>
              <a:rPr lang="ar-SA" altLang="en-US" sz="2200" b="1" dirty="0">
                <a:solidFill>
                  <a:srgbClr val="1D5FBF"/>
                </a:solidFill>
                <a:latin typeface="Amiri" pitchFamily="34" charset="0"/>
                <a:ea typeface="Amiri" pitchFamily="34" charset="-122"/>
                <a:cs typeface="Amiri" pitchFamily="34" charset="-120"/>
              </a:rPr>
              <a:t>يَـ</a:t>
            </a:r>
            <a:pPr rtl="1" algn="ctr" indent="0" marL="0">
              <a:buNone/>
            </a:pPr>
            <a:r>
              <a:rPr lang="ar-SA" altLang="en-US" sz="2200" b="1" dirty="0">
                <a:solidFill>
                  <a:srgbClr val="1B3B6F"/>
                </a:solidFill>
                <a:latin typeface="Amiri" pitchFamily="34" charset="0"/>
                <a:ea typeface="Amiri" pitchFamily="34" charset="-122"/>
                <a:cs typeface="Amiri" pitchFamily="34" charset="-120"/>
              </a:rPr>
              <a:t>عْمَلُ</a:t>
            </a:r>
            <a:endParaRPr lang="ar-SA" sz="2200" dirty="0"/>
          </a:p>
        </p:txBody>
      </p:sp>
      <p:sp>
        <p:nvSpPr>
          <p:cNvPr id="44" name="Text 41"/>
          <p:cNvSpPr txBox="1"/>
          <p:nvPr/>
        </p:nvSpPr>
        <p:spPr>
          <a:xfrm>
            <a:off x="286207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الثَّلَّاجَةُ </a:t>
            </a:r>
            <a:pPr rtl="1" algn="ctr" indent="0" marL="0">
              <a:buNone/>
            </a:pPr>
            <a:r>
              <a:rPr lang="ar-SA" altLang="en-US" sz="2200" b="1" dirty="0">
                <a:solidFill>
                  <a:srgbClr val="D6336C"/>
                </a:solidFill>
                <a:latin typeface="Amiri" pitchFamily="34" charset="0"/>
                <a:ea typeface="Amiri" pitchFamily="34" charset="-122"/>
                <a:cs typeface="Amiri" pitchFamily="34" charset="-120"/>
              </a:rPr>
              <a:t>تَـ</a:t>
            </a:r>
            <a:pPr rtl="1" algn="ctr" indent="0" marL="0">
              <a:buNone/>
            </a:pPr>
            <a:r>
              <a:rPr lang="ar-SA" altLang="en-US" sz="2200" b="1" dirty="0">
                <a:solidFill>
                  <a:srgbClr val="1B3B6F"/>
                </a:solidFill>
                <a:latin typeface="Amiri" pitchFamily="34" charset="0"/>
                <a:ea typeface="Amiri" pitchFamily="34" charset="-122"/>
                <a:cs typeface="Amiri" pitchFamily="34" charset="-120"/>
              </a:rPr>
              <a:t>عْمَلُ</a:t>
            </a:r>
            <a:endParaRPr lang="ar-SA" sz="2200" dirty="0"/>
          </a:p>
        </p:txBody>
      </p:sp>
      <p:sp>
        <p:nvSpPr>
          <p:cNvPr id="45" name="Text 42"/>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works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 يَعْمَلُ / لَا تَعْمَلُ</a:t>
            </a:r>
            <a:endParaRPr lang="ar-SA" sz="2400" dirty="0"/>
          </a:p>
        </p:txBody>
      </p:sp>
      <p:sp>
        <p:nvSpPr>
          <p:cNvPr id="48" name="Text 45"/>
          <p:cNvSpPr txBox="1"/>
          <p:nvPr/>
        </p:nvSpPr>
        <p:spPr>
          <a:xfrm>
            <a:off x="615391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الحَاسُوبُ لَا </a:t>
            </a:r>
            <a:pPr rtl="1" algn="ctr" indent="0" marL="0">
              <a:buNone/>
            </a:pPr>
            <a:r>
              <a:rPr lang="ar-SA" altLang="en-US" sz="2200" b="1" dirty="0">
                <a:solidFill>
                  <a:srgbClr val="1D5FBF"/>
                </a:solidFill>
                <a:latin typeface="Amiri" pitchFamily="34" charset="0"/>
                <a:ea typeface="Amiri" pitchFamily="34" charset="-122"/>
                <a:cs typeface="Amiri" pitchFamily="34" charset="-120"/>
              </a:rPr>
              <a:t>يَـ</a:t>
            </a:r>
            <a:pPr rtl="1" algn="ctr" indent="0" marL="0">
              <a:buNone/>
            </a:pPr>
            <a:r>
              <a:rPr lang="ar-SA" altLang="en-US" sz="2200" b="1" dirty="0">
                <a:solidFill>
                  <a:srgbClr val="1B3B6F"/>
                </a:solidFill>
                <a:latin typeface="Amiri" pitchFamily="34" charset="0"/>
                <a:ea typeface="Amiri" pitchFamily="34" charset="-122"/>
                <a:cs typeface="Amiri" pitchFamily="34" charset="-120"/>
              </a:rPr>
              <a:t>عْمَلُ</a:t>
            </a:r>
            <a:endParaRPr lang="ar-SA" sz="2200" dirty="0"/>
          </a:p>
        </p:txBody>
      </p:sp>
      <p:sp>
        <p:nvSpPr>
          <p:cNvPr id="49" name="Text 46"/>
          <p:cNvSpPr txBox="1"/>
          <p:nvPr/>
        </p:nvSpPr>
        <p:spPr>
          <a:xfrm>
            <a:off x="286207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الغَسَّالَةُ لَا </a:t>
            </a:r>
            <a:pPr rtl="1" algn="ctr" indent="0" marL="0">
              <a:buNone/>
            </a:pPr>
            <a:r>
              <a:rPr lang="ar-SA" altLang="en-US" sz="2200" b="1" dirty="0">
                <a:solidFill>
                  <a:srgbClr val="D6336C"/>
                </a:solidFill>
                <a:latin typeface="Amiri" pitchFamily="34" charset="0"/>
                <a:ea typeface="Amiri" pitchFamily="34" charset="-122"/>
                <a:cs typeface="Amiri" pitchFamily="34" charset="-120"/>
              </a:rPr>
              <a:t>تَـ</a:t>
            </a:r>
            <a:pPr rtl="1" algn="ctr" indent="0" marL="0">
              <a:buNone/>
            </a:pPr>
            <a:r>
              <a:rPr lang="ar-SA" altLang="en-US" sz="2200" b="1" dirty="0">
                <a:solidFill>
                  <a:srgbClr val="1B3B6F"/>
                </a:solidFill>
                <a:latin typeface="Amiri" pitchFamily="34" charset="0"/>
                <a:ea typeface="Amiri" pitchFamily="34" charset="-122"/>
                <a:cs typeface="Amiri" pitchFamily="34" charset="-120"/>
              </a:rPr>
              <a:t>عْمَلُ</a:t>
            </a:r>
            <a:endParaRPr lang="ar-SA" sz="2200" dirty="0"/>
          </a:p>
        </p:txBody>
      </p:sp>
      <p:sp>
        <p:nvSpPr>
          <p:cNvPr id="50" name="Text 47"/>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does not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Develop: the appliance becomes -hu or -hā — ushaghghiluhu (the TV) · uṭfi’uhā (the iron).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ROUTINE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how often, in what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الوَقْتُ وَالتَّكْرَارُ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الصَّبَاحِ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الصَّبَاحِ · فِي المَسَاءِ · قَبْلَ النَّوْمِ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the morning · in the evening · before sleep</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after noon, at night.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كُلَّ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كُلَّ يَوْمٍ · عَادَةً · أَحْيَانًا · نَادِرًا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every day · usually · sometimes · rarely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often (ghāliban).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ORDER</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أَوَّلًا … أَخِيرًا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أَوَّلًا · ثُمَّ · بَعْدَ ذَلِكَ · أَخِيرًا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first · then · after that · finally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Begin with first, end with finally.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model: time + verb + appliance, then a sequence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المَسَاءِ أُشَغِّلُ غَسَّالَةَ الصُّحُونِ، ثُمَّ أُشَاهِدُ التِّلْفَازَ.</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فِي المَسَاءِ غَسَّالَةُ الصُّحُونِ ثُمَّ أَوَّلًا.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أُطْفِئُ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أُغْلِقُ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الغَسَّالَةُ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التِّلْفَازَ</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التِّلْفَازَ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يُشَغِّلُنِي.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أُسَخِّنُ الطَّعَامَ بِـ...</a:t>
            </a:r>
            <a:endParaRPr lang="ar-SA"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المِيكْرُوويفِ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المُكَيِّفِ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الحَاسُوبِ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أُطْفِئُ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أُغْلِقُ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أُشَغِّلُ</a:t>
            </a:r>
            <a:pPr algn="l" indent="0" marL="0">
              <a:buNone/>
            </a:pPr>
            <a:r>
              <a:rPr lang="en-US" sz="1050" i="1" dirty="0">
                <a:solidFill>
                  <a:srgbClr val="8A6D1E"/>
                </a:solidFill>
                <a:latin typeface="Calibri" pitchFamily="34" charset="0"/>
                <a:ea typeface="Calibri" pitchFamily="34" charset="-122"/>
                <a:cs typeface="Calibri" pitchFamily="34" charset="-120"/>
              </a:rPr>
              <a:t> means I switch 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الغَسَّالَةُ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تَعْمَلُ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التِّلْفَازَ</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التِّلْفَازَ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أُشَغِّلُهَا.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يُشَغِّلُنِي.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Television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أُسَخِّنُ الطَّعَامَ بِـ...</a:t>
            </a:r>
            <a:endParaRPr lang="ar-SA"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المِيكْرُوويفِ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المُكَيِّفِ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الحَاسُوبِ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microwave heats food.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an evening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المَسَاءِ أَطْبُخُ الطَّعَامَ فِي الفُرْنِ.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Time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Switch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بَعْدَ العَشَاءِ أُشَغِّلُ غَسَّالَةَ الصُّحُونِ.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 appliance.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ثُمَّ أُشَاهِدُ التِّلْفَازَ، وَأُطْفِئُ</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قَبْلَ النَّوْمِ.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TV is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Finally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أَخِيرًا أُطْفِئُ الحَاسُوبَ. الثَّلَّاجَةُ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عْمَلُ طَوَالَ اللَّيْلِ.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Fridge is f. → ta‘malu.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المَسَاءِ أَطْبُخُ الطَّعَامَ فِي الفُرْنِ. بَعْدَ العَشَاءِ أُشَغِّلُ غَسَّالَةَ الصُّحُونِ. ثُمَّ أُشَاهِدُ التِّلْفَازَ قَلِيلًا، وَأُطْفِئُ</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قَبْلَ النَّوْمِ. أَخِيرًا أُطْفِئُ الحَاسُوبَ، وَلَكِنَّ الثَّلَّاجَةَ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عْمَلُ طَوَالَ اللَّيْلِ.</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evening I cook food in the oven. After dinner I switch on the dishwasher. Then I watch a little television and switch it off before sleep. Finally I switch off the computer, but the fridge works all night.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Which room? Then name an appliance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 and TV</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غُرْفَةُ الجُلُوسِ.</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الحَمَّامُ.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kitchen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المَطْبَخُ.</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kitchen.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 and TV</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shower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الحَمَّامُ.</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the bathroom.</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“APPLIANCE ROUTINE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Run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الأَجْهِزَةِ وَالرُّوتِينِ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أُنَظِّفُ الأَرْضِيَّةَ بِـ...</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المِكْنَسَةِ الكَهْرَبَائِيَّةِ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المِكْوَاةِ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الغَلَّايَةِ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الثَّلَّاجَةُ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الغَسَّالَةَ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الغَسَّالَةَ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أُشَغِّلُهُ.</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تُشَغِّلُنِي.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word begins the routine?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Transfer: Choose the accurate connected sentence.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فِي المَسَاءِ التِّلْفَازُ أُطْفِئُ ثُمَّ أَوَّلًا.</a:t>
            </a:r>
            <a:endParaRPr lang="ar-SA" sz="13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فِي المَسَاءِ أُشَغِّلُ التِّلْفَازَ، ثُمَّ أُطْفِئُهُ قَبْلَ النَّوْمِ.</a:t>
            </a:r>
            <a:endParaRPr lang="ar-SA" sz="13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أُشَغِّلُ فِي التِّلْفَازَ المَسَاءِ أَخِيرًا.</a:t>
            </a:r>
            <a:endParaRPr lang="ar-SA" sz="13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appliance → ya‘malu · -hu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 appliance → ta‘malu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 then … finally</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أُنَظِّفُ الأَرْضِيَّةَ بِـ...</a:t>
            </a:r>
            <a:endParaRPr lang="ar-SA" sz="18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المِكْنَسَةِ الكَهْرَبَائِيَّةِ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المِكْوَاةِ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الغَلَّايَةِ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vacuum cleaner cleans the floor.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الثَّلَّاجَةُ ___.</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يَعْمَلُ</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تَعْمَلُ</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Fridge is feminine.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Replace </a:t>
            </a:r>
            <a:pPr algn="l" indent="0" marL="0">
              <a:buNone/>
            </a:pPr>
            <a:r>
              <a:rPr lang="ar-SA" altLang="en-US" sz="1650" b="1" dirty="0">
                <a:solidFill>
                  <a:srgbClr val="1B3B6F"/>
                </a:solidFill>
                <a:latin typeface="Amiri" pitchFamily="34" charset="0"/>
                <a:ea typeface="Amiri" pitchFamily="34" charset="-122"/>
                <a:cs typeface="Amiri" pitchFamily="34" charset="-120"/>
              </a:rPr>
              <a:t>الغَسَّالَةَ</a:t>
            </a:r>
            <a:pPr algn="l" indent="0" marL="0">
              <a:buNone/>
            </a:pPr>
            <a:r>
              <a:rPr lang="en-US" sz="1250" b="1" dirty="0">
                <a:solidFill>
                  <a:srgbClr val="1B3B6F"/>
                </a:solidFill>
                <a:latin typeface="Calibri" pitchFamily="34" charset="0"/>
                <a:ea typeface="Calibri" pitchFamily="34" charset="-122"/>
                <a:cs typeface="Calibri" pitchFamily="34" charset="-120"/>
              </a:rPr>
              <a:t>: </a:t>
            </a:r>
            <a:pPr algn="l" indent="0" marL="0">
              <a:buNone/>
            </a:pPr>
            <a:r>
              <a:rPr lang="ar-SA" altLang="en-US" sz="1650" b="1" dirty="0">
                <a:solidFill>
                  <a:srgbClr val="1B3B6F"/>
                </a:solidFill>
                <a:latin typeface="Amiri" pitchFamily="34" charset="0"/>
                <a:ea typeface="Amiri" pitchFamily="34" charset="-122"/>
                <a:cs typeface="Amiri" pitchFamily="34" charset="-120"/>
              </a:rPr>
              <a:t>أُشَغِّلُ الغَسَّالَةَ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أُشَغِّلُهَا.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أُشَغِّلُهُ.</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تُشَغِّلُنِي.</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appliance takes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Sequence: Which word begins the routine?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أَوَّلًا</a:t>
            </a:r>
            <a:pPr algn="l" indent="0" marL="0">
              <a:buNone/>
            </a:pPr>
            <a:r>
              <a:rPr lang="en-US" sz="1050" i="1" dirty="0">
                <a:solidFill>
                  <a:srgbClr val="8A6D1E"/>
                </a:solidFill>
                <a:latin typeface="Calibri" pitchFamily="34" charset="0"/>
                <a:ea typeface="Calibri" pitchFamily="34" charset="-122"/>
                <a:cs typeface="Calibri" pitchFamily="34" charset="-120"/>
              </a:rPr>
              <a:t> means first.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Transfer: Choose the accurate connected sentence.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فِي المَسَاءِ التِّلْفَازُ أُطْفِئُ ثُمَّ أَوَّلًا.</a:t>
            </a:r>
            <a:endParaRPr lang="ar-SA" sz="13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فِي المَسَاءِ أُشَغِّلُ التِّلْفَازَ، ثُمَّ أُطْفِئُهُ قَبْلَ النَّوْمِ.</a:t>
            </a:r>
            <a:endParaRPr lang="ar-SA" sz="13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أُشَغِّلُ فِي التِّلْفَازَ المَسَاءِ أَخِيرًا.</a:t>
            </a:r>
            <a:endParaRPr lang="ar-SA" sz="13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has clear time, sequence and object reference.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appliance → ya‘malu · -hu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 appliance → ta‘malu · -hā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 then … finally</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الثَّلَّاجَةُ يَعْمَلُ.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Fridge: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أُشَغِّلُ التِّلْفَازَ، ثُمَّ أُطْفِئُهَا.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Television →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أُسَخِّنُ الطَّعَامَ بِالثَّلَّاجَةِ.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appliance heats food?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الثَّلَّاجَةُ يَعْمَلُ.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الثَّلَّاجَةُ تَعْمَلُ.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fridge is feminine: it works = ta‘malu.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أُشَغِّلُ التِّلْفَازَ، ثُمَّ أُطْفِئُهَا.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أُشَغِّلُ التِّلْفَازَ، ثُمَّ أُطْفِئُهُ.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television is masculine: “it” = -hu.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أُسَخِّنُ الطَّعَامَ بِالثَّلَّاجَةِ.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أُسَخِّنُ الطَّعَامَ بِالمِيكْرُوويفِ.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Match the action to the right appliance.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appliance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Omar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switch on first?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television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 kettle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sometimes load?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switch on the dishwasher?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dinner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works throughout the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microwave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wake-up, morning, study, after school, evening, TV, before sleep, left 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أَيَّامِ الدِّرَاسَةِ أَسْتَيْقِظُ فِي السَّاعَةِ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school days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أَوَّلًا، أُشَغِّلُ الغَلَّايَةَ الكَهْرَبَائِيَّةَ وَأَتَنَاوَلُ الفُطُورَ. ثُمَّ أَسْتَخْدِمُ الحَاسُوبَ لِلدِّرَاسَةِ عِشْرِينَ دَقِيقَةً.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I switch on the kettle and have breakfast. Then I use the computer to study for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بَعْدَ المَدْرَسَةِ أُسَاعِدُ أُمِّي. أَحْيَانًا أَضَعُ المَلَابِسَ فِي الغَسَّالَةِ، وَلَكِنَّنِي لَا أَسْتَخْدِمُ المُجَفِّفَةَ كُلَّ 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help my mother. Sometimes I put the clothes in the washing machine, but I do not use the dryer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المَسَاءِ أُشَغِّلُ غَسَّالَةَ الصُّحُونِ بَعْدَ العَشَاءِ. فِي السَّاعَةِ الثَّامِنَةِ أُشَاهِدُ بَرْنَامَجًا عَلَى التِّلْفَازِ، ثُمَّ أُطْفِئُهُ.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I switch on the dishwasher after dinner. At eight I watch a programme on TV, then switch it off.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النَّوْمِ أُطْفِئُ الحَاسُوبَ وَالتِّلْفَازَ، وَلَكِنَّ الثَّلَّاجَةَ تَعْمَلُ طَوَالَ اللَّيْلِ.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sleep I switch off the computer and TV, but the fridge works all night.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Omar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السَّاعَةِ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switch on first?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television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electric kettle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switches on the electric kettle first.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he sometimes load?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sometimes puts the clothes in the washing machine.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switch on the dishwasher?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dinner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switches it on after dinner.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works throughout the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dishwasher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fridge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microwave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fridge works throughout the night.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Eight boxes: wake-up, morning, study, after school, evening, TV, before sleep, left 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Amira’s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أَمِيرَةُ إِلَى البَيْتِ فِي السَّاعَةِ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at four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أَوَّلًا تَفْتَحُ الثَّلَّاجَةَ وَتُحَضِّرُ وَجْبَةً خَفِيفَةً. ثُمَّ تَسْتَخْدِمُ المِيكْرُوويفَ لِتَسْخِينِ الطَّعَامِ.</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fridge + a snack · then: microwave to heat food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تَضَعُ المَلَابِسَ فِي الغَسَّالَةِ، وَتَسْتَخْدِمُ المِكْنَسَةَ الكَهْرَبَائِيَّةَ لِتَنْظِيفِ غُرْفَتِهَا.</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washing machine · vacuum for her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المَسَاءِ تَدْرُسُ عَلَى الحَاسُوبِ، وَلَكِنَّهَا لَا تُشَغِّلُ التِّلْفَازَ فِي أَيَّامِ الدِّرَاسَةِ.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studies on the computer · no TV on school days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أَخِيرًا تُطْفِئُ الحَاسُوبَ فِي السَّاعَةِ العَاشِرَةِ.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computer off at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problem in the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صَبَاحِ السَّبْتِ لَا تَعْمَلُ غَسَّالَةُ الصُّحُونِ.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morning: the dishwasher does not work</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يَفْتَحُ أَبِي بَابَهَا، وَلَكِنَّهَا لَا تَبْدَأُ.</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Dad opens its door — it does not start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أَوَّلًا يُطْفِئُ الجِهَازَ، ثُمَّ يَفْحَصُ فِيشَةَ الكَهْرَبَاءِ.</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First: switches it off · then: checks the plug</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 يُغْلِقُ البَابَ جَيِّدًا وَيُشَغِّلُهَا مَرَّةً أُخْرَى. الآنَ تَعْمَلُ الغَسَّالَةُ.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closes the door well, switches it on again — it works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الثَّلَّاجَةُ فَتَعْمَلُ جَيِّدًا، وَلَا نَحْتَاجُ إِلَى إِصْلَاحِهَا.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fridge works well — no repair needed</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Amira or the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Amira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switches on the television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uses the vacuum cleaner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opens the fridge and prepares 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use the microwave?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wash dishes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heat food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dry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switch on during school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not work on Saturday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dishwasher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father check?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 plug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 door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microwave clock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sequence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appliance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Amira do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switches on the television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uses the vacuum cleaner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opens the fridge and prepares 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first stage is opening the fridge and preparing a snack.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use the microwave?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wash dishes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heat food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dry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uses it </a:t>
            </a:r>
            <a:pPr algn="l" indent="0" marL="0">
              <a:buNone/>
            </a:pPr>
            <a:r>
              <a:rPr lang="ar-SA" altLang="en-US" sz="1350" dirty="0">
                <a:solidFill>
                  <a:srgbClr val="8A6D1E"/>
                </a:solidFill>
                <a:latin typeface="Amiri" pitchFamily="34" charset="0"/>
                <a:ea typeface="Amiri" pitchFamily="34" charset="-122"/>
                <a:cs typeface="Amiri" pitchFamily="34" charset="-120"/>
              </a:rPr>
              <a:t>لِتَسْخِينِ الطَّعَامِ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switch on during school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computer</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television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switch on the television.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appliance does not work on Saturday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oven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dishwasher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غَسَّالَةُ الصُّحُونِ</a:t>
            </a:r>
            <a:pPr algn="l" indent="0" marL="0">
              <a:buNone/>
            </a:pPr>
            <a:r>
              <a:rPr lang="en-US" sz="1050" i="1" dirty="0">
                <a:solidFill>
                  <a:srgbClr val="8A6D1E"/>
                </a:solidFill>
                <a:latin typeface="Calibri" pitchFamily="34" charset="0"/>
                <a:ea typeface="Calibri" pitchFamily="34" charset="-122"/>
                <a:cs typeface="Calibri" pitchFamily="34" charset="-120"/>
              </a:rPr>
              <a:t> does not work.</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father check?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electric plug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 door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microwave clock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checks </a:t>
            </a:r>
            <a:pPr algn="l" indent="0" marL="0">
              <a:buNone/>
            </a:pPr>
            <a:r>
              <a:rPr lang="ar-SA" altLang="en-US" sz="1350" dirty="0">
                <a:solidFill>
                  <a:srgbClr val="8A6D1E"/>
                </a:solidFill>
                <a:latin typeface="Amiri" pitchFamily="34" charset="0"/>
                <a:ea typeface="Amiri" pitchFamily="34" charset="-122"/>
                <a:cs typeface="Amiri" pitchFamily="34" charset="-120"/>
              </a:rPr>
              <a:t>فِيشَةَ الكَهْرَبَاءِ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sequence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appliance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home-routine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تُشَغِّلُ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تَسْتَخْدِمُ الحَاسُوبَ؟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المَسَاءِ؟ وَكَمْ مَرَّةً؟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جِهَازٌ لَا يَعْمَلُ: مَاذَا تَفْعَلُ أَوَّلًا؟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الصَّبَاحِ أُشَغِّلُ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أَسْتَخْدِمُ الحَاسُوبَ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المَسَاءِ ___ ، ثُمَّ ___ . أَحْيَانًا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___ لَا تَعْمَلُ. أَوَّلًا أُطْفِئُهَا، ثُمَّ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فِي الصَّبَاحِ؟</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in the morning?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أَوَّلًا أُشَغِّلُ الغَلَّايَةَ، ثُمَّ أَسْتَخْدِمُ الحَاسُوبَ لِلدِّرَاسَةِ.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First I switch on the kettle, then I use the computer to study.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model and the word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model and the word banks: time + verb + appliance.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or eight connected sentences, including ya‘malu / ta‘malu.</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appliances, three sequence words and ya‘malu / ta‘malu.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problem, a repair action and object endings (ushaghghiluhā).</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problem and a repair, with -hu / -hā endings.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الثَّلَّاجَةُ تَعْمَلُ طَوَالَ اللَّيْلِ.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fridge works all night.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الحَاسُوبُ لَا يَعْمَلُ.</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computer does not work.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أُشَغِّلُهَا.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switch it on (the washing machine).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أُطْفِئُهُ.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switch it off (the TV).</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أَفْحَصُ فِيشَةَ الكَهْرَبَاءِ.</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I check the plug.</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 أُشَغِّلُ الغَلَّايَةَ.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morning I switch on the kettle.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أَسْتَخْدِمُ الحَاسُوبَ لِلدِّرَاسَةِ.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 the computer to study.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 ثُمَّ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أَخِيرًا أُطْفِئُ التِّلْفَازَ.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Finally I switch off the TV.</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أَحْيَانًا أُسَخِّنُ الطَّعَامَ بِالمِيكْرُوويفِ.</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heat food in the microwave.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ثَلَّاجَةٌ  ·  فُرْنٌ  ·  مِيكْرُوويفٌ  ·  غَسَّالَةٌ  ·  تِلْفَازٌ  ·  حَاسُوبٌ  ·  أَسْتَخْدِمُ  ·  أُشَغِّلُ  ·  أُطْفِئُ  ·  أَوَّلًا  ·  ثُمَّ  ·  أَخِيرًا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الصَّبَاحِ أُشَغِّلُ الغَلَّايَةَ الكَهْرَبَائِيَّةَ. بَعْدَ ذَلِكَ أَسْتَخْدِمُ الحَاسُوبَ لِلدِّرَاسَةِ. بَعْدَ المَدْرَسَةِ أَضَعُ المَلَابِسَ فِي الغَسَّالَةِ، ثُمَّ أُشَغِّلُهَا. أَحْيَانًا أُسَخِّنُ الطَّعَامَ بِالمِيكْرُوويفِ. فِي المَسَاءِ أُشَغِّلُ غَسَّالَةَ الصُّحُونِ، ثُمَّ أُشَاهِدُ التِّلْفَازَ. أَخِيرًا أُطْفِئُ التِّلْفَازَ قَبْلَ النَّوْمِ.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morning I switch on the electric kettle. After that I use the computer to study. After school I put the clothes in the washing machine, then switch it on. Sometimes I heat food in the microwave. In the evening I switch on the dishwasher, then watch television. Finally I switch off the television before sleep.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power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sequence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 ending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five appliances.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first, then and finally.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an appliance is used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ya‘malu with a masculine appliance, ta‘malu with a feminine one.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-hu / -hā and described a problem.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أُشَغِّلُ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أُطْفِئُ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أُصْلِحُ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المُجَفِّفَةُ ___.</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تَعْمَلُ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نَعْمَلُ</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sequence word.</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switch 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أُشَغِّلُ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أُطْفِئُ</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أُصْلِحُ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أُشَغِّلُ</a:t>
            </a:r>
            <a:pPr algn="l" indent="0" marL="0">
              <a:buNone/>
            </a:pPr>
            <a:r>
              <a:rPr lang="en-US" sz="1050" i="1" dirty="0">
                <a:solidFill>
                  <a:srgbClr val="8A6D1E"/>
                </a:solidFill>
                <a:latin typeface="Calibri" pitchFamily="34" charset="0"/>
                <a:ea typeface="Calibri" pitchFamily="34" charset="-122"/>
                <a:cs typeface="Calibri" pitchFamily="34" charset="-120"/>
              </a:rPr>
              <a:t> means I switch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المُجَفِّفَةُ ___.</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تَعْمَلُ</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نَعْمَلُ</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مُجَفِّفَةٌ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first sequence word.</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أَوَّلًا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أَخِيرًا</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بَعْدَ ذَلِكَ</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أَوَّلًا</a:t>
            </a:r>
            <a:pPr algn="l" indent="0" marL="0">
              <a:buNone/>
            </a:pPr>
            <a:r>
              <a:rPr lang="en-US" sz="1050" i="1" dirty="0">
                <a:solidFill>
                  <a:srgbClr val="8A6D1E"/>
                </a:solidFill>
                <a:latin typeface="Calibri" pitchFamily="34" charset="0"/>
                <a:ea typeface="Calibri" pitchFamily="34" charset="-122"/>
                <a:cs typeface="Calibri" pitchFamily="34" charset="-120"/>
              </a:rPr>
              <a:t> begins a sequence.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F3-L06 · Appliances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F3-L07 · My Neighbourhood — Places Near My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neighbourhood</a:t>
            </a:r>
            <a:pPr indent="0" marL="0">
              <a:buNone/>
            </a:pPr>
            <a:r>
              <a:rPr lang="en-US" sz="1000" i="1" dirty="0">
                <a:solidFill>
                  <a:srgbClr val="5A6472"/>
                </a:solidFill>
                <a:latin typeface="Calibri" pitchFamily="34" charset="0"/>
                <a:ea typeface="Calibri" pitchFamily="34" charset="-122"/>
                <a:cs typeface="Calibri" pitchFamily="34" charset="-120"/>
              </a:rPr>
              <a:t>  pl. أَحْيَاءٌ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street</a:t>
            </a:r>
            <a:pPr indent="0" marL="0">
              <a:buNone/>
            </a:pPr>
            <a:r>
              <a:rPr lang="en-US" sz="1000" i="1" dirty="0">
                <a:solidFill>
                  <a:srgbClr val="5A6472"/>
                </a:solidFill>
                <a:latin typeface="Calibri" pitchFamily="34" charset="0"/>
                <a:ea typeface="Calibri" pitchFamily="34" charset="-122"/>
                <a:cs typeface="Calibri" pitchFamily="34" charset="-120"/>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مَسْجِدٌ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mosque</a:t>
            </a:r>
            <a:pPr indent="0" marL="0">
              <a:buNone/>
            </a:pPr>
            <a:r>
              <a:rPr lang="en-US" sz="1000" i="1" dirty="0">
                <a:solidFill>
                  <a:srgbClr val="5A6472"/>
                </a:solidFill>
                <a:latin typeface="Calibri" pitchFamily="34" charset="0"/>
                <a:ea typeface="Calibri" pitchFamily="34" charset="-122"/>
                <a:cs typeface="Calibri" pitchFamily="34" charset="-120"/>
              </a:rPr>
              <a:t>  pl. مَسَاجِدُ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hospital</a:t>
            </a:r>
            <a:pPr indent="0" marL="0">
              <a:buNone/>
            </a:pPr>
            <a:r>
              <a:rPr lang="en-US" sz="1000" i="1" dirty="0">
                <a:solidFill>
                  <a:srgbClr val="5A6472"/>
                </a:solidFill>
                <a:latin typeface="Calibri" pitchFamily="34" charset="0"/>
                <a:ea typeface="Calibri" pitchFamily="34" charset="-122"/>
                <a:cs typeface="Calibri" pitchFamily="34" charset="-120"/>
              </a:rPr>
              <a:t>  pl. مُسْتَشْفَيَاتٌ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library / bookshop</a:t>
            </a:r>
            <a:pPr indent="0" marL="0">
              <a:buNone/>
            </a:pPr>
            <a:r>
              <a:rPr lang="en-US" sz="1000" i="1" dirty="0">
                <a:solidFill>
                  <a:srgbClr val="5A6472"/>
                </a:solidFill>
                <a:latin typeface="Calibri" pitchFamily="34" charset="0"/>
                <a:ea typeface="Calibri" pitchFamily="34" charset="-122"/>
                <a:cs typeface="Calibri" pitchFamily="34" charset="-120"/>
              </a:rPr>
              <a:t>  pl. مَكْتَبَاتٌ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near your home? (A real or an invented neighbourhood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يُوجَدُ قُرْبَ بَيْتِكَ؟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F3-L06: the Appliance Routine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connected appliance routine in 7–8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routine with a problem and a repair (Text B as a model), using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 appliance → ya‘malu, -hu · f. appliance → ta‘malu, -hā.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F3-L06 · Household Appliances and Daily Routines</dc:title>
  <dc:subject>PptxGenJS Presentation</dc:subject>
  <dc:creator>Al Madina Online School · Arabic Department</dc:creator>
  <cp:lastModifiedBy>Al Madina Online School · Arabic Department</cp:lastModifiedBy>
  <cp:revision>1</cp:revision>
  <dcterms:created xsi:type="dcterms:W3CDTF">2026-09-27T16:40:52Z</dcterms:created>
  <dcterms:modified xsi:type="dcterms:W3CDTF">2026-09-27T16:40:52Z</dcterms:modified>
</cp:coreProperties>
</file>