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F3 My Family &amp; Home › Lesson 8 (F3-L08). Website sections used: the eight-question F3 bridge and the description formula, the bedroom and bedding vault and the 16-question check, the room description system (12 room adjectives, object agreement, opinion) and the 12-question laboratory, the position laboratory (10 expressions) and the 14-question check, bedroom actions and the 10-question check, the Bedroom Layout Studio, the Bedroom Designer Mission (14), Maryam’s bedroom (listening, 10), Yūsuf’s and Salmā’s bedrooms (reading, 12), the bedroom tour (4 prompts), the 6–8-sentence description and the 16-question checkpoint. Picture match: website visual game (rooms).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8 objects + غُرْفَتِي + 2 feminine adjectives + on / under / next to. Develop: colours that agree, four positions and one action. Stretch: compare a real and an ideal room.
• Website description formula: room first (غُرْفَتِي) → feminine description → objects and their exact positions.
• SENSITIVITY: students may describe a real, ideal or invented bedroom — some share rooms or have very little space. Never ask to see a student’s room on camera.
• Urdu bridge: کرسی = كُرْسِيٌّ, مکتب (school) / مَكْتَبٌ (desk, office), آئینہ ≈ مِرْآةٌ (same idea), صاف ≈ نَظِيفٌ, آرام = أَرْتَاحُ (same root).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bedroom words prepared at home at the end of F3-L07. Questions 3–5 are the website “eight-question F3 bridge” (colour agreement, next to the window, clean and tidy).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غُرْفَةٌ is feminine: EVERY adjective that describes the room ends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aims (left) and the website writing Core / Develop / Stretch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کرسی and مکتب are the same words (careful: Urdu مکتب = a school; Arabic مَكْتَبٌ = a desk or office). نظافت (cleanliness) shares the root of نَظِيفٌ.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BEDROOM AND BEDDING (website vault). Revision from F3-L04: مَكْتَبٌ، كُرْسِيٌّ، مِصْبَاحٌ، نَافِذَةٌ، بَابٌ، سَجَّادَةٌ، سِتَارَةٌ / سَتَائِرُ، رَفٌّ / رُفُوفٌ، حَاسُوبٌ، سَاعَةٌ (clock). Website “useful distinctions”: بِطَّانِيَّةٌ (blanket) · لِحَافٌ (duvet or quilt) · غِطَاءُ سَرِيرٍ (bedspread).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ROOM ADJECTIVES (website, 6 of 12 — shown feminine first because غُرْفَةٌ is feminine). Also: هَادِئَةٌ (quiet), مُظْلِمَةٌ (dark), جَمِيلَةٌ (beautiful), غَيْرُ مُرَتَّبَةٍ / فَوْضَوِيَّةٌ (untidy / messy), حَدِيثَةٌ (modern), قَدِيمَةٌ (old).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section 4 “Position laboratory”: ten expressions (عَلَى، تَحْتَ، فَوْقَ، أَمَامَ، خَلْفَ، بِجَانِبِ، بَيْنَ، مُقَابِلَ، عَلَى يَمِينِ، عَلَى يَسَارِ).
Website model layout: السَّرِيرُ بِجَانِبِ النَّافِذَةِ. المَكْتَبُ مُقَابِلَ السَّرِيرِ، وَالحَاسُوبُ عَلَى المَكْتَبِ. الخِزَانَةُ عَلَى يَمِينِ البَابِ، وَالسَّجَّادَةُ بَيْنَ السَّرِيرِ وَالمَكْتَبِ.
Links to F3-L07: the same positions now work inside a room. Stretch: مُقَابِلَهُ (opposite it), عَلَيْهِ (on it), بِجَانِبِهِ (next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section 3 “Build the room description system”: غُرْفَةٌ is feminine, so every adjective describing the room must use its feminine form; objects keep their own gender (bed m., curtain f.).
Bedroom actions (website section 5, wider bank): أَنَامُ فِي السَّرِيرِ، أَسْتَيْقِظُ، أَنْهَضُ مِنَ السَّرِيرِ، أَسْتَلْقِي عَلَى السَّرِيرِ، أَرْتَاحُ فِي غُرْفَتِي، أَشْعُرُ بِالنُّعَاسِ، أَنَا مُتْعَبٌ / مُتْعَبَةٌ، أَدْرُسُ عَلَى المَكْتَبِ.
Website link sentence: فِي المَسَاءِ أَدْرُسُ عَلَى المَكْتَبِ، ثُمَّ أَرْتَاحُ وَأَنَامُ فِي السَّرِيرِ.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description laboratory questions 4–5 and position check questions 2 and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website model description + Text A. Think aloud at every adjective: “the room (f.) or an object? — which gender is the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Rooms”)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rooms — retrieval from F3-L03). Follow-up (Develop): describe the bedroom card — هٰذِهِ غُرْفَةُ النَّوْمِ. هِيَ وَاسِعَةٌ وَمُرَتَّبَةٌ.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Rooms”)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rooms — retrieval from F3-L03). Follow-up (Develop): describe the bedroom card — هٰذِهِ غُرْفَةُ النَّوْمِ. هِيَ وَاسِعَةٌ وَمُرَتَّبَةٌ.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design rounds (room quality, colour agreement, opposite, study zone, repair).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which word does the adjective describe — the room or an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Listen 1: just listen. Listen 2: note answers. Then chat the letters.
Support: after the second listening, show the read-along slide (Arabic + English, line by line) for Core students.
SCRIPT (read aloud):
اِسْمِي مَرْيَمُ، وَسَأَصِفُ غُرْفَةَ نَوْمِي. غُرْفَتِي صَغِيرَةٌ، وَلَكِنَّهَا مُرَتَّبَةٌ وَمُضِيئَةٌ. فِي وَسَطِ الغُرْفَةِ سَرِيرٌ أَبْيَضُ، وَبِجَانِبِهِ طَاوِلَةٌ صَغِيرَةٌ عَلَيْهَا مِصْبَاحٌ أَزْرَقُ. المَكْتَبُ تَحْتَ النَّافِذَةِ، وَعَلَيْهِ حَاسُوبٌ وَثَلَاثَةُ كُتُبٍ. الخِزَانَةُ مُقَابِلَ السَّرِيرِ، وَالمِرْآةُ عَلَى يَسَارِهَا. أُحِبُّ غُرْفَتِي لِأَنَّهَا هَادِئَةٌ وَمُرِيحَةٌ. فِي المَسَاءِ أَدْرُسُ عَلَى المَكْتَبِ، ثُمَّ أَرْتَاحُ وَأَنَامُ فِي السَّرِيرِ.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A (website, complete). Colour hunt: بُنِّيٌّ (bed, m.), بَيْضَاءُ (wardrobe, f.), أَسْوَدُ (chair, m.), زَرْقَاءُ فَاتِحَةٌ (rug, f. — light blue). Stretch: رَفَّانِ = two shelves (dual).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B (website, complete). Contrast with Text A: spacious vs narrow; Salmā is honest that her room is sometimes untidy — a good model for real, not perfect, descriptions. Stretch: مِخَدَّتَانِ بَيْضَاوَانِ (two white pillows — dual).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2, 4, 5, 8 and 10 (8 and 10 are Text B — Core may skip them).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STUDIO “Give a bedroom tour” — a real, ideal or fictional room. Prompts (website):
• A tidy study bedroom: bed · desk · computer · shelves · quiet
• An ideal colourful bedroom: blue curtains · green rug · large window · bright
• A small room used for study: narrow · desk under window · books · lamp
• Compare real and ideal rooms: size · organisation · furniture · reason
Website checklist (1–6): two feminine room adjectives · six objects · colours and size for two objects · four positions · an opinion with لِأَنَّ · clear delivery.
The prompts are teacher-made from the website studio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Six accurate sentences using the planner and the banks. · Develop — Add colours, four positions and a bedroom action. · Stretch — Compare a real and an ideal room: wa-lākinna, ayḍan, fī l-muqābil.
Website writing task (Stretch): Website writing task: 6–8 connected sentences about a real, ideal or invented bedroom — two room adjectives, six objects, two colours, four positions, one action and one reason.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Layout Studio model description + the action link sentence. Stretch: add the “real and ideal” comparison (website speaking prompt 4).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(F3-L09 · Extended Writing: My Home and Family) will spend class time USING this language, so students prepare it tonight — short, simple, easy to access (school guidance: “Simple, Short, Interesting, Relevant, Easy to access”). The five words come from the website F3-L09 writing-process toolkit.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F3  ·  F3-L08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F3-L08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Describing My Bedroom</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وَصْفُ غُرْفَتِي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Combine the whole unit in one room: bedroom objects, feminine room adjectives, colour and size agreement, precise positions and simple bedroom actions in a clear connected description.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F3-L08 · Foundation F3 · My Family &amp; Home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F3 › F3-L08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Bedroom objects, then the room description formula and ten positions.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Designer mission, listen to Maryam, read two bedrooms.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F3-L09.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وِسَادَةٌ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blanket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pillow</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curtain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plural of </a:t>
            </a:r>
            <a:pPr algn="l" indent="0" marL="0">
              <a:buNone/>
            </a:pPr>
            <a:r>
              <a:rPr lang="ar-SA" altLang="en-US" sz="1650" b="1" dirty="0">
                <a:solidFill>
                  <a:srgbClr val="1B3B6F"/>
                </a:solidFill>
                <a:latin typeface="Amiri" pitchFamily="2" charset="-78"/>
                <a:cs typeface="Amiri" pitchFamily="2" charset="-78"/>
              </a:rPr>
              <a:t>رَفٌّ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رُفُوفٌ</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رَفَّاتٌ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أَرْفَافٌ</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السِّتَارَةُ ___.</a:t>
            </a:r>
            <a:endParaRPr lang="ar-SA" sz="220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أَزْرَقُ</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أَزْرَقَةٌ</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زَرْقَاءُ</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“next to the window”.</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خَلْفَ النَّافِذَةِ</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تَحْتَ النَّافِذَةِ</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بِجَانِبِ النَّافِذَةِ</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72" name="Text 69"/>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غُرْفَتِي ___ وَمُرَتَّبَةٌ.</a:t>
            </a:r>
            <a:endParaRPr lang="ar-SA" sz="180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نَظِيفَةٌ</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نَظِيفٌ</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نَظِيفُونَ</a:t>
            </a:r>
            <a:endParaRPr lang="ar-SA" sz="2050" dirty="0"/>
          </a:p>
        </p:txBody>
      </p:sp>
      <p:sp>
        <p:nvSpPr>
          <p:cNvPr id="82" name="Shape 79"/>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4" name="Text 81"/>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5" name="Text 82"/>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6" name="Text 83"/>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وِسَادَةٌ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blanket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pillow</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curtain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(F3-L07). Also </a:t>
            </a:r>
            <a:pPr algn="l" indent="0" marL="0">
              <a:buNone/>
            </a:pPr>
            <a:r>
              <a:rPr lang="ar-SA" altLang="en-US" sz="1350" dirty="0">
                <a:solidFill>
                  <a:srgbClr val="8A6D1E"/>
                </a:solidFill>
                <a:latin typeface="Amiri" pitchFamily="2" charset="-78"/>
                <a:cs typeface="Amiri" pitchFamily="2" charset="-78"/>
              </a:rPr>
              <a:t>مِخَدَّةٌ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plural of </a:t>
            </a:r>
            <a:pPr algn="l" indent="0" marL="0">
              <a:buNone/>
            </a:pPr>
            <a:r>
              <a:rPr lang="ar-SA" altLang="en-US" sz="1650" b="1" dirty="0">
                <a:solidFill>
                  <a:srgbClr val="1B3B6F"/>
                </a:solidFill>
                <a:latin typeface="Amiri" pitchFamily="2" charset="-78"/>
                <a:cs typeface="Amiri" pitchFamily="2" charset="-78"/>
              </a:rPr>
              <a:t>رَفٌّ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رُفُوفٌ</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رَفَّاتٌ</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أَرْفَافٌ</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(F3-L07).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السِّتَارَةُ ___.</a:t>
            </a:r>
            <a:endParaRPr lang="ar-SA" sz="220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أَزْرَقُ</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أَزْرَقَةٌ</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زَرْقَاءُ</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سِتَارَةٌ</a:t>
            </a:r>
            <a:pPr algn="l" indent="0" marL="0">
              <a:buNone/>
            </a:pPr>
            <a:r>
              <a:rPr lang="en-US" sz="1050" i="1" dirty="0">
                <a:solidFill>
                  <a:srgbClr val="8A6D1E"/>
                </a:solidFill>
                <a:latin typeface="Calibri" pitchFamily="34" charset="0"/>
                <a:cs typeface="Amiri" pitchFamily="2" charset="-78"/>
              </a:rPr>
              <a:t> is feminine, so use </a:t>
            </a:r>
            <a:pPr algn="l" indent="0" marL="0">
              <a:buNone/>
            </a:pPr>
            <a:r>
              <a:rPr lang="ar-SA" altLang="en-US" sz="1350" dirty="0">
                <a:solidFill>
                  <a:srgbClr val="8A6D1E"/>
                </a:solidFill>
                <a:latin typeface="Amiri" pitchFamily="2" charset="-78"/>
                <a:cs typeface="Amiri" pitchFamily="2" charset="-78"/>
              </a:rPr>
              <a:t>زَرْقَاءُ</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“next to the window”.</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خَلْفَ النَّافِذَةِ</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تَحْتَ النَّافِذَةِ</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بِجَانِبِ النَّافِذَةِ</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بِجَانِبِ</a:t>
            </a:r>
            <a:pPr algn="l" indent="0" marL="0">
              <a:buNone/>
            </a:pPr>
            <a:r>
              <a:rPr lang="en-US" sz="1050" i="1" dirty="0">
                <a:solidFill>
                  <a:srgbClr val="8A6D1E"/>
                </a:solidFill>
                <a:latin typeface="Calibri" pitchFamily="34" charset="0"/>
                <a:cs typeface="Amiri" pitchFamily="2" charset="-78"/>
              </a:rPr>
              <a:t> means next to.</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80" name="Text 77"/>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غُرْفَتِي ___ وَمُرَتَّبَةٌ.</a:t>
            </a:r>
            <a:endParaRPr lang="ar-SA" sz="180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نَظِيفَةٌ</a:t>
            </a:r>
            <a:endParaRPr lang="ar-SA" sz="17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نَظِيفٌ</a:t>
            </a:r>
            <a:endParaRPr lang="ar-SA" sz="170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نَظِيفُونَ</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غُرْفَةٌ</a:t>
            </a:r>
            <a:pPr algn="l" indent="0" marL="0">
              <a:buNone/>
            </a:pPr>
            <a:r>
              <a:rPr lang="en-US" sz="1050" i="1" dirty="0">
                <a:solidFill>
                  <a:srgbClr val="8A6D1E"/>
                </a:solidFill>
                <a:latin typeface="Calibri" pitchFamily="34" charset="0"/>
                <a:cs typeface="Amiri" pitchFamily="2" charset="-78"/>
              </a:rPr>
              <a:t> is feminine, so use </a:t>
            </a:r>
            <a:pPr algn="l" indent="0" marL="0">
              <a:buNone/>
            </a:pPr>
            <a:r>
              <a:rPr lang="ar-SA" altLang="en-US" sz="1350" dirty="0">
                <a:solidFill>
                  <a:srgbClr val="8A6D1E"/>
                </a:solidFill>
                <a:latin typeface="Amiri" pitchFamily="2" charset="-78"/>
                <a:cs typeface="Amiri" pitchFamily="2" charset="-78"/>
              </a:rPr>
              <a:t>نَظِيفَةٌ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2" name="Shape 89"/>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4" name="Text 91"/>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ar-SA" altLang="en-US" sz="1700" b="1" dirty="0">
                <a:solidFill>
                  <a:srgbClr val="1F2A37"/>
                </a:solidFill>
                <a:latin typeface="Amiri" pitchFamily="2" charset="-78"/>
                <a:cs typeface="Amiri" pitchFamily="2" charset="-78"/>
              </a:rPr>
              <a:t>غُرْفَةٌ</a:t>
            </a:r>
            <a:pPr algn="l" indent="0" marL="0">
              <a:buNone/>
            </a:pPr>
            <a:r>
              <a:rPr lang="en-US" sz="1300" b="1" dirty="0">
                <a:solidFill>
                  <a:srgbClr val="1F2A37"/>
                </a:solidFill>
                <a:latin typeface="Calibri" pitchFamily="34" charset="0"/>
                <a:cs typeface="Amiri" pitchFamily="2" charset="-78"/>
              </a:rPr>
              <a:t> is feminine: EVERY adjective that describes the room ends in -a.</a:t>
            </a:r>
            <a:endParaRPr lang="en-US" sz="1300" dirty="0"/>
          </a:p>
        </p:txBody>
      </p:sp>
      <p:sp>
        <p:nvSpPr>
          <p:cNvPr id="95" name="Text 92"/>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غُرْفَتِي نَظِيفَ</a:t>
            </a:r>
            <a:pPr rtl="1" algn="ctr" indent="0" marL="0">
              <a:buNone/>
            </a:pPr>
            <a:r>
              <a:rPr lang="ar-SA" altLang="en-US" sz="2400" b="1" dirty="0">
                <a:solidFill>
                  <a:srgbClr val="D6336C"/>
                </a:solidFill>
                <a:latin typeface="Amiri" pitchFamily="2" charset="-78"/>
                <a:cs typeface="Amiri" pitchFamily="2" charset="-78"/>
              </a:rPr>
              <a:t>ةٌ</a:t>
            </a:r>
            <a:pPr rtl="1" algn="ctr" indent="0" marL="0">
              <a:buNone/>
            </a:pPr>
            <a:r>
              <a:rPr lang="ar-SA" altLang="en-US" sz="2400" b="1" dirty="0">
                <a:solidFill>
                  <a:srgbClr val="1B3B6F"/>
                </a:solidFill>
                <a:latin typeface="Amiri" pitchFamily="2" charset="-78"/>
                <a:cs typeface="Amiri" pitchFamily="2" charset="-78"/>
              </a:rPr>
              <a:t> وَمُرَتَّبَ</a:t>
            </a:r>
            <a:pPr rtl="1" algn="ctr" indent="0" marL="0">
              <a:buNone/>
            </a:pPr>
            <a:r>
              <a:rPr lang="ar-SA" altLang="en-US" sz="2400" b="1" dirty="0">
                <a:solidFill>
                  <a:srgbClr val="D6336C"/>
                </a:solidFill>
                <a:latin typeface="Amiri" pitchFamily="2" charset="-78"/>
                <a:cs typeface="Amiri" pitchFamily="2" charset="-78"/>
              </a:rPr>
              <a:t>ةٌ</a:t>
            </a:r>
            <a:endParaRPr lang="ar-SA" sz="24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the complete core bedroom and bedding bank.</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a room accurately with feminine adjectives.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Place furniture with ten useful position expressions.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and produce a connected bedroom description.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eight bedroom objects.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two things about my room.</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four positions.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make colours agree with objects.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add a bedroom action.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compare a real and an ideal room.</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Objects and bedding, room adjectives and positions. Core: eight objects, four adjectives, four positions.</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Objects and bedding · 16</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Room adjectives · 12 (f.)</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Positions · 10 + actions</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كُرْسِيٌّ</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‎کرسی‎ </a:t>
            </a:r>
            <a:pPr indent="0" marL="0">
              <a:buNone/>
            </a:pPr>
            <a:r>
              <a:rPr lang="en-US" sz="950" b="1" dirty="0">
                <a:solidFill>
                  <a:srgbClr val="2E8B57"/>
                </a:solidFill>
                <a:latin typeface="Calibri" pitchFamily="34" charset="0"/>
                <a:cs typeface="Amiri" pitchFamily="2" charset="-78"/>
              </a:rPr>
              <a:t> kursiyy · chair</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مَكْتَبٌ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‎مکتب‎ </a:t>
            </a:r>
            <a:pPr indent="0" marL="0">
              <a:buNone/>
            </a:pPr>
            <a:r>
              <a:rPr lang="en-US" sz="950" b="1" dirty="0">
                <a:solidFill>
                  <a:srgbClr val="2E8B57"/>
                </a:solidFill>
                <a:latin typeface="Calibri" pitchFamily="34" charset="0"/>
                <a:cs typeface="Amiri" pitchFamily="2" charset="-78"/>
              </a:rPr>
              <a:t> maktab · desk (Urdu: school)</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أَرْتَاحُ</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‎آرام‎ </a:t>
            </a:r>
            <a:pPr indent="0" marL="0">
              <a:buNone/>
            </a:pPr>
            <a:r>
              <a:rPr lang="en-US" sz="950" b="1" dirty="0">
                <a:solidFill>
                  <a:srgbClr val="2E8B57"/>
                </a:solidFill>
                <a:latin typeface="Calibri" pitchFamily="34" charset="0"/>
                <a:cs typeface="Amiri" pitchFamily="2" charset="-78"/>
              </a:rPr>
              <a:t> artāḥu · I rest (root r-w-ḥ)</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نَظِيفٌ</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‎نظافت‎ </a:t>
            </a:r>
            <a:pPr indent="0" marL="0">
              <a:buNone/>
            </a:pPr>
            <a:r>
              <a:rPr lang="en-US" sz="950" b="1" dirty="0">
                <a:solidFill>
                  <a:srgbClr val="2E8B57"/>
                </a:solidFill>
                <a:latin typeface="Calibri" pitchFamily="34" charset="0"/>
                <a:cs typeface="Amiri" pitchFamily="2" charset="-78"/>
              </a:rPr>
              <a:t> naẓīf · clean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جَمِيلٌ</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‎جمیل‎ </a:t>
            </a:r>
            <a:pPr indent="0" marL="0">
              <a:buNone/>
            </a:pPr>
            <a:r>
              <a:rPr lang="en-US" sz="950" b="1" dirty="0">
                <a:solidFill>
                  <a:srgbClr val="2E8B57"/>
                </a:solidFill>
                <a:latin typeface="Calibri" pitchFamily="34" charset="0"/>
                <a:cs typeface="Amiri" pitchFamily="2" charset="-78"/>
              </a:rPr>
              <a:t> jamīl · beautiful</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BEDROOM AND BEDDING (WEBSITE VAULT)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Bed, pillow, mirror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غُرْفَةُ النَّوْمِ وَالفِرَاشُ</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سَرِيرٌ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bed</a:t>
            </a:r>
            <a:endParaRPr lang="en-US" sz="1350" dirty="0"/>
          </a:p>
          <a:p>
            <a:pPr indent="0" marL="0">
              <a:buNone/>
            </a:pPr>
            <a:r>
              <a:rPr lang="en-US" sz="1100" i="1" dirty="0">
                <a:solidFill>
                  <a:srgbClr val="5A6472"/>
                </a:solidFill>
                <a:latin typeface="Calibri" pitchFamily="34" charset="0"/>
                <a:cs typeface="Amiri" pitchFamily="2" charset="-78"/>
              </a:rPr>
              <a:t>sa-rīr</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أَسِرَّةٌ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خِزَانَةٌ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wardrobe</a:t>
            </a:r>
            <a:endParaRPr lang="en-US" sz="1350" dirty="0"/>
          </a:p>
          <a:p>
            <a:pPr indent="0" marL="0">
              <a:buNone/>
            </a:pPr>
            <a:r>
              <a:rPr lang="en-US" sz="1100" i="1" dirty="0">
                <a:solidFill>
                  <a:srgbClr val="5A6472"/>
                </a:solidFill>
                <a:latin typeface="Calibri" pitchFamily="34" charset="0"/>
                <a:cs typeface="Amiri" pitchFamily="2" charset="-78"/>
              </a:rPr>
              <a:t>khi-zā-na</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خَزَائِنُ</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2" name="Shape 39"/>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مِرْآةٌ</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mirror</a:t>
            </a:r>
            <a:endParaRPr lang="en-US" sz="1350" dirty="0"/>
          </a:p>
          <a:p>
            <a:pPr indent="0" marL="0">
              <a:buNone/>
            </a:pPr>
            <a:r>
              <a:rPr lang="en-US" sz="1100" i="1" dirty="0">
                <a:solidFill>
                  <a:srgbClr val="5A6472"/>
                </a:solidFill>
                <a:latin typeface="Calibri" pitchFamily="34" charset="0"/>
                <a:cs typeface="Amiri" pitchFamily="2" charset="-78"/>
              </a:rPr>
              <a:t>mir-’ā</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مَرَايَا</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4" name="Shape 51"/>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مِخَدَّةٌ / وِسَادَةٌ</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pillow</a:t>
            </a:r>
            <a:endParaRPr lang="en-US" sz="1350" dirty="0"/>
          </a:p>
          <a:p>
            <a:pPr indent="0" marL="0">
              <a:buNone/>
            </a:pPr>
            <a:r>
              <a:rPr lang="en-US" sz="1100" i="1" dirty="0">
                <a:solidFill>
                  <a:srgbClr val="5A6472"/>
                </a:solidFill>
                <a:latin typeface="Calibri" pitchFamily="34" charset="0"/>
                <a:cs typeface="Amiri" pitchFamily="2" charset="-78"/>
              </a:rPr>
              <a:t>mi-khad-da / wi-sā-da</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2" name="Text 59"/>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مِخَدَّاتٌ / وَسَائِدُ</a:t>
            </a:r>
            <a:endParaRPr lang="ar-SA" sz="150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6" name="Shape 63"/>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68" name="Text 6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بِطَّانِيَّةٌ</a:t>
            </a:r>
            <a:endParaRPr lang="ar-SA" sz="3000" dirty="0"/>
          </a:p>
        </p:txBody>
      </p:sp>
      <p:sp>
        <p:nvSpPr>
          <p:cNvPr id="69" name="Text 6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blanket</a:t>
            </a:r>
            <a:endParaRPr lang="en-US" sz="1350" dirty="0"/>
          </a:p>
          <a:p>
            <a:pPr indent="0" marL="0">
              <a:buNone/>
            </a:pPr>
            <a:r>
              <a:rPr lang="en-US" sz="1100" i="1" dirty="0">
                <a:solidFill>
                  <a:srgbClr val="5A6472"/>
                </a:solidFill>
                <a:latin typeface="Calibri" pitchFamily="34" charset="0"/>
                <a:cs typeface="Amiri" pitchFamily="2" charset="-78"/>
              </a:rPr>
              <a:t>biṭ-ṭā-niy-ya</a:t>
            </a:r>
            <a:endParaRPr lang="en-US" sz="1350" dirty="0"/>
          </a:p>
        </p:txBody>
      </p:sp>
      <p:sp>
        <p:nvSpPr>
          <p:cNvPr id="70" name="Shape 67"/>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2" name="Text 69"/>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بِطَّانِيَّاتٌ</a:t>
            </a:r>
            <a:endParaRPr lang="ar-SA" sz="1500" dirty="0"/>
          </a:p>
        </p:txBody>
      </p:sp>
      <p:sp>
        <p:nvSpPr>
          <p:cNvPr id="73" name="Shape 7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566928" y="4261104"/>
            <a:ext cx="310896" cy="310896"/>
          </a:xfrm>
          <a:prstGeom prst="ellipse">
            <a:avLst/>
          </a:prstGeom>
          <a:solidFill>
            <a:srgbClr val="F4F1EA"/>
          </a:solidFill>
          <a:ln w="12700">
            <a:solidFill>
              <a:srgbClr val="F4F1EA"/>
            </a:solidFill>
            <a:prstDash val="solid"/>
          </a:ln>
        </p:spPr>
      </p:sp>
      <p:sp>
        <p:nvSpPr>
          <p:cNvPr id="75" name="Text 7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6" name="Shape 73"/>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7" name="Text 74"/>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78" name="Text 75"/>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لِحَافٌ</a:t>
            </a:r>
            <a:endParaRPr lang="ar-SA" sz="3000" dirty="0"/>
          </a:p>
        </p:txBody>
      </p:sp>
      <p:sp>
        <p:nvSpPr>
          <p:cNvPr id="79" name="Text 76"/>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duvet / quilt</a:t>
            </a:r>
            <a:endParaRPr lang="en-US" sz="1350" dirty="0"/>
          </a:p>
          <a:p>
            <a:pPr indent="0" marL="0">
              <a:buNone/>
            </a:pPr>
            <a:r>
              <a:rPr lang="en-US" sz="1100" i="1" dirty="0">
                <a:solidFill>
                  <a:srgbClr val="5A6472"/>
                </a:solidFill>
                <a:latin typeface="Calibri" pitchFamily="34" charset="0"/>
                <a:cs typeface="Amiri" pitchFamily="2" charset="-78"/>
              </a:rPr>
              <a:t>li-ḥāf</a:t>
            </a:r>
            <a:endParaRPr lang="en-US" sz="1350" dirty="0"/>
          </a:p>
        </p:txBody>
      </p:sp>
      <p:sp>
        <p:nvSpPr>
          <p:cNvPr id="80" name="Shape 77"/>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2" name="Text 79"/>
          <p:cNvSpPr txBox="1"/>
          <p:nvPr/>
        </p:nvSpPr>
        <p:spPr>
          <a:xfrm>
            <a:off x="640080"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أَلْحِفَةٌ</a:t>
            </a:r>
            <a:endParaRPr lang="ar-SA" sz="150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ROOM ADJECTIVES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Tidy, clean, spacious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صِفَاتُ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مُرَتَّبَةٌ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tidy</a:t>
            </a:r>
            <a:endParaRPr lang="en-US" sz="1350" dirty="0"/>
          </a:p>
          <a:p>
            <a:pPr indent="0" marL="0">
              <a:buNone/>
            </a:pPr>
            <a:r>
              <a:rPr lang="en-US" sz="1100" i="1" dirty="0">
                <a:solidFill>
                  <a:srgbClr val="5A6472"/>
                </a:solidFill>
                <a:latin typeface="Calibri" pitchFamily="34" charset="0"/>
                <a:cs typeface="Amiri" pitchFamily="2" charset="-78"/>
              </a:rPr>
              <a:t>mu-rat-ta-ba</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مُرَتَّبَةٌ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مُرَتَّبٌ</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نَظِيفَةٌ</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clean</a:t>
            </a:r>
            <a:endParaRPr lang="en-US" sz="1350" dirty="0"/>
          </a:p>
          <a:p>
            <a:pPr indent="0" marL="0">
              <a:buNone/>
            </a:pPr>
            <a:r>
              <a:rPr lang="en-US" sz="1100" i="1" dirty="0">
                <a:solidFill>
                  <a:srgbClr val="5A6472"/>
                </a:solidFill>
                <a:latin typeface="Calibri" pitchFamily="34" charset="0"/>
                <a:cs typeface="Amiri" pitchFamily="2" charset="-78"/>
              </a:rPr>
              <a:t>na-ẓī-fa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نَظِيفَةٌ</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نَظِيفٌ</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وَاسِعَةٌ</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spacious</a:t>
            </a:r>
            <a:endParaRPr lang="en-US" sz="1350" dirty="0"/>
          </a:p>
          <a:p>
            <a:pPr indent="0" marL="0">
              <a:buNone/>
            </a:pPr>
            <a:r>
              <a:rPr lang="en-US" sz="1100" i="1" dirty="0">
                <a:solidFill>
                  <a:srgbClr val="5A6472"/>
                </a:solidFill>
                <a:latin typeface="Calibri" pitchFamily="34" charset="0"/>
                <a:cs typeface="Amiri" pitchFamily="2" charset="-78"/>
              </a:rPr>
              <a:t>wā-si-‘a</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وَاسِعَةٌ</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وَاسِعٌ</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3" name="Shape 60"/>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65" name="Text 6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ضَيِّقَةٌ</a:t>
            </a:r>
            <a:endParaRPr lang="ar-SA" sz="3000" dirty="0"/>
          </a:p>
        </p:txBody>
      </p:sp>
      <p:sp>
        <p:nvSpPr>
          <p:cNvPr id="66" name="Text 6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narrow / cramped</a:t>
            </a:r>
            <a:endParaRPr lang="en-US" sz="1350" dirty="0"/>
          </a:p>
          <a:p>
            <a:pPr indent="0" marL="0">
              <a:buNone/>
            </a:pPr>
            <a:r>
              <a:rPr lang="en-US" sz="1100" i="1" dirty="0">
                <a:solidFill>
                  <a:srgbClr val="5A6472"/>
                </a:solidFill>
                <a:latin typeface="Calibri" pitchFamily="34" charset="0"/>
                <a:cs typeface="Amiri" pitchFamily="2" charset="-78"/>
              </a:rPr>
              <a:t>ḍay-yi-qa</a:t>
            </a:r>
            <a:endParaRPr lang="en-US" sz="1350" dirty="0"/>
          </a:p>
        </p:txBody>
      </p:sp>
      <p:sp>
        <p:nvSpPr>
          <p:cNvPr id="67" name="Shape 64"/>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9" name="Text 66"/>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ضَيِّقَةٌ</a:t>
            </a:r>
            <a:endParaRPr lang="ar-SA" sz="1500" dirty="0"/>
          </a:p>
        </p:txBody>
      </p:sp>
      <p:sp>
        <p:nvSpPr>
          <p:cNvPr id="70" name="Shape 67"/>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2" name="Text 69"/>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ضَيِّقٌ</a:t>
            </a:r>
            <a:endParaRPr lang="ar-SA" sz="1500" dirty="0"/>
          </a:p>
        </p:txBody>
      </p:sp>
      <p:sp>
        <p:nvSpPr>
          <p:cNvPr id="73" name="Shape 7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4389120" y="4261104"/>
            <a:ext cx="310896" cy="310896"/>
          </a:xfrm>
          <a:prstGeom prst="ellipse">
            <a:avLst/>
          </a:prstGeom>
          <a:solidFill>
            <a:srgbClr val="F4F1EA"/>
          </a:solidFill>
          <a:ln w="12700">
            <a:solidFill>
              <a:srgbClr val="F4F1EA"/>
            </a:solidFill>
            <a:prstDash val="solid"/>
          </a:ln>
        </p:spPr>
      </p:sp>
      <p:sp>
        <p:nvSpPr>
          <p:cNvPr id="75" name="Text 7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76" name="Shape 73"/>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7" name="Text 74"/>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78" name="Shape 7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9" name="Text 7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0" name="Text 7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مُرِيحَةٌ</a:t>
            </a:r>
            <a:endParaRPr lang="ar-SA" sz="3000" dirty="0"/>
          </a:p>
        </p:txBody>
      </p:sp>
      <p:sp>
        <p:nvSpPr>
          <p:cNvPr id="81" name="Text 7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comfortable</a:t>
            </a:r>
            <a:endParaRPr lang="en-US" sz="1350" dirty="0"/>
          </a:p>
          <a:p>
            <a:pPr indent="0" marL="0">
              <a:buNone/>
            </a:pPr>
            <a:r>
              <a:rPr lang="en-US" sz="1100" i="1" dirty="0">
                <a:solidFill>
                  <a:srgbClr val="5A6472"/>
                </a:solidFill>
                <a:latin typeface="Calibri" pitchFamily="34" charset="0"/>
                <a:cs typeface="Amiri" pitchFamily="2" charset="-78"/>
              </a:rPr>
              <a:t>mu-rī-ḥa</a:t>
            </a:r>
            <a:endParaRPr lang="en-US" sz="1350" dirty="0"/>
          </a:p>
        </p:txBody>
      </p:sp>
      <p:sp>
        <p:nvSpPr>
          <p:cNvPr id="82" name="Shape 7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4" name="Text 81"/>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مُرِيحَةٌ</a:t>
            </a:r>
            <a:endParaRPr lang="ar-SA" sz="1500" dirty="0"/>
          </a:p>
        </p:txBody>
      </p:sp>
      <p:sp>
        <p:nvSpPr>
          <p:cNvPr id="85" name="Shape 8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7" name="Text 8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مُرِيحٌ</a:t>
            </a:r>
            <a:endParaRPr lang="ar-SA" sz="1500" dirty="0"/>
          </a:p>
        </p:txBody>
      </p:sp>
      <p:sp>
        <p:nvSpPr>
          <p:cNvPr id="88" name="Shape 8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9" name="Shape 86"/>
          <p:cNvSpPr/>
          <p:nvPr/>
        </p:nvSpPr>
        <p:spPr>
          <a:xfrm>
            <a:off x="566928" y="4261104"/>
            <a:ext cx="310896" cy="310896"/>
          </a:xfrm>
          <a:prstGeom prst="ellipse">
            <a:avLst/>
          </a:prstGeom>
          <a:solidFill>
            <a:srgbClr val="F4F1EA"/>
          </a:solidFill>
          <a:ln w="12700">
            <a:solidFill>
              <a:srgbClr val="F4F1EA"/>
            </a:solidFill>
            <a:prstDash val="solid"/>
          </a:ln>
        </p:spPr>
      </p:sp>
      <p:sp>
        <p:nvSpPr>
          <p:cNvPr id="90" name="Text 8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91" name="Shape 88"/>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2" name="Text 89"/>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93" name="Text 90"/>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مُضِيئَةٌ</a:t>
            </a:r>
            <a:endParaRPr lang="ar-SA" sz="3000" dirty="0"/>
          </a:p>
        </p:txBody>
      </p:sp>
      <p:sp>
        <p:nvSpPr>
          <p:cNvPr id="94" name="Text 91"/>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bright / well-lit</a:t>
            </a:r>
            <a:endParaRPr lang="en-US" sz="1350" dirty="0"/>
          </a:p>
          <a:p>
            <a:pPr indent="0" marL="0">
              <a:buNone/>
            </a:pPr>
            <a:r>
              <a:rPr lang="en-US" sz="1100" i="1" dirty="0">
                <a:solidFill>
                  <a:srgbClr val="5A6472"/>
                </a:solidFill>
                <a:latin typeface="Calibri" pitchFamily="34" charset="0"/>
                <a:cs typeface="Amiri" pitchFamily="2" charset="-78"/>
              </a:rPr>
              <a:t>mu-ḍī-’a</a:t>
            </a:r>
            <a:endParaRPr lang="en-US" sz="1350" dirty="0"/>
          </a:p>
        </p:txBody>
      </p:sp>
      <p:sp>
        <p:nvSpPr>
          <p:cNvPr id="95" name="Shape 92"/>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7" name="Text 94"/>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مُضِيئَةٌ</a:t>
            </a:r>
            <a:endParaRPr lang="ar-SA" sz="1500" dirty="0"/>
          </a:p>
        </p:txBody>
      </p:sp>
      <p:sp>
        <p:nvSpPr>
          <p:cNvPr id="98" name="Shape 95"/>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00" name="Text 97"/>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مُضِيءٌ</a:t>
            </a:r>
            <a:endParaRPr lang="ar-SA" sz="150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THE POSITION LABORATORY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Where is it in the 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مُخْتَبَرُ المَوْقِعِ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Position</a:t>
            </a:r>
            <a:endParaRPr lang="en-US" sz="1100" dirty="0"/>
          </a:p>
        </p:txBody>
      </p:sp>
      <p:sp>
        <p:nvSpPr>
          <p:cNvPr id="17" name="Text 14"/>
          <p:cNvSpPr txBox="1"/>
          <p:nvPr/>
        </p:nvSpPr>
        <p:spPr>
          <a:xfrm>
            <a:off x="4032504" y="1810512"/>
            <a:ext cx="5248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530352" y="1810512"/>
            <a:ext cx="3355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9445752" y="226771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عَلَى · تَحْتَ</a:t>
            </a:r>
            <a:endParaRPr lang="ar-SA" sz="2400" dirty="0"/>
          </a:p>
        </p:txBody>
      </p:sp>
      <p:sp>
        <p:nvSpPr>
          <p:cNvPr id="21" name="Text 18"/>
          <p:cNvSpPr txBox="1"/>
          <p:nvPr/>
        </p:nvSpPr>
        <p:spPr>
          <a:xfrm>
            <a:off x="4050792" y="2267712"/>
            <a:ext cx="5212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الحَاسُوبُ عَلَى المَكْتَبِ · الحَقِيبَةُ تَحْتَ السَّرِيرِ</a:t>
            </a:r>
            <a:endParaRPr lang="ar-SA" sz="2200" dirty="0"/>
          </a:p>
        </p:txBody>
      </p:sp>
      <p:sp>
        <p:nvSpPr>
          <p:cNvPr id="22" name="Text 19"/>
          <p:cNvSpPr txBox="1"/>
          <p:nvPr/>
        </p:nvSpPr>
        <p:spPr>
          <a:xfrm>
            <a:off x="566928" y="2267712"/>
            <a:ext cx="33192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 · under</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9445752" y="2881884"/>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بِجَانِبِ · مُقَابِلَ</a:t>
            </a:r>
            <a:endParaRPr lang="ar-SA" sz="2400" dirty="0"/>
          </a:p>
        </p:txBody>
      </p:sp>
      <p:sp>
        <p:nvSpPr>
          <p:cNvPr id="27" name="Text 24"/>
          <p:cNvSpPr txBox="1"/>
          <p:nvPr/>
        </p:nvSpPr>
        <p:spPr>
          <a:xfrm>
            <a:off x="4050792" y="2881884"/>
            <a:ext cx="5212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المِصْبَاحُ بِجَانِبِ السَّرِيرِ · الخِزَانَةُ مُقَابِلَ البَابِ</a:t>
            </a:r>
            <a:endParaRPr lang="ar-SA" sz="2200" dirty="0"/>
          </a:p>
        </p:txBody>
      </p:sp>
      <p:sp>
        <p:nvSpPr>
          <p:cNvPr id="28" name="Text 25"/>
          <p:cNvSpPr txBox="1"/>
          <p:nvPr/>
        </p:nvSpPr>
        <p:spPr>
          <a:xfrm>
            <a:off x="566928" y="2881884"/>
            <a:ext cx="33192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next to · opposite</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9445752" y="3496056"/>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فَوْقَ</a:t>
            </a:r>
            <a:endParaRPr lang="ar-SA" sz="2400" dirty="0"/>
          </a:p>
        </p:txBody>
      </p:sp>
      <p:sp>
        <p:nvSpPr>
          <p:cNvPr id="33" name="Text 30"/>
          <p:cNvSpPr txBox="1"/>
          <p:nvPr/>
        </p:nvSpPr>
        <p:spPr>
          <a:xfrm>
            <a:off x="4050792" y="3496056"/>
            <a:ext cx="5212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الرَّفُّ فَوْقَ المَكْتَبِ</a:t>
            </a:r>
            <a:endParaRPr lang="ar-SA" sz="2200" dirty="0"/>
          </a:p>
        </p:txBody>
      </p:sp>
      <p:sp>
        <p:nvSpPr>
          <p:cNvPr id="34" name="Text 31"/>
          <p:cNvSpPr txBox="1"/>
          <p:nvPr/>
        </p:nvSpPr>
        <p:spPr>
          <a:xfrm>
            <a:off x="566928" y="3496056"/>
            <a:ext cx="33192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above</a:t>
            </a:r>
            <a:endParaRPr lang="en-US" sz="11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9445752" y="4110228"/>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أَمَامَ · خَلْفَ</a:t>
            </a:r>
            <a:endParaRPr lang="ar-SA" sz="2400" dirty="0"/>
          </a:p>
        </p:txBody>
      </p:sp>
      <p:sp>
        <p:nvSpPr>
          <p:cNvPr id="37" name="Text 34"/>
          <p:cNvSpPr txBox="1"/>
          <p:nvPr/>
        </p:nvSpPr>
        <p:spPr>
          <a:xfrm>
            <a:off x="4050792" y="4110228"/>
            <a:ext cx="5212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الكُرْسِيُّ أَمَامَ النَّافِذَةِ · السَّلَّةُ خَلْفَ البَابِ</a:t>
            </a:r>
            <a:endParaRPr lang="ar-SA" sz="2200" dirty="0"/>
          </a:p>
        </p:txBody>
      </p:sp>
      <p:sp>
        <p:nvSpPr>
          <p:cNvPr id="38" name="Text 35"/>
          <p:cNvSpPr txBox="1"/>
          <p:nvPr/>
        </p:nvSpPr>
        <p:spPr>
          <a:xfrm>
            <a:off x="566928" y="4110228"/>
            <a:ext cx="33192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front of · behind</a:t>
            </a:r>
            <a:endParaRPr lang="en-US" sz="11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9445752" y="4724400"/>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بَيْنَ … وَ …</a:t>
            </a:r>
            <a:endParaRPr lang="ar-SA" sz="2400" dirty="0"/>
          </a:p>
        </p:txBody>
      </p:sp>
      <p:sp>
        <p:nvSpPr>
          <p:cNvPr id="41" name="Text 38"/>
          <p:cNvSpPr txBox="1"/>
          <p:nvPr/>
        </p:nvSpPr>
        <p:spPr>
          <a:xfrm>
            <a:off x="4050792" y="4724400"/>
            <a:ext cx="5212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السَّجَّادَةُ بَيْنَ السَّرِيرِ وَالخِزَانَةِ</a:t>
            </a:r>
            <a:endParaRPr lang="ar-SA" sz="2200" dirty="0"/>
          </a:p>
        </p:txBody>
      </p:sp>
      <p:sp>
        <p:nvSpPr>
          <p:cNvPr id="42" name="Text 39"/>
          <p:cNvSpPr txBox="1"/>
          <p:nvPr/>
        </p:nvSpPr>
        <p:spPr>
          <a:xfrm>
            <a:off x="566928" y="4724400"/>
            <a:ext cx="33192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between … and …</a:t>
            </a:r>
            <a:endParaRPr lang="en-US" sz="11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9445752" y="5338572"/>
            <a:ext cx="2194560" cy="559308"/>
          </a:xfrm>
          <a:prstGeom prst="rect">
            <a:avLst/>
          </a:prstGeom>
          <a:noFill/>
          <a:ln/>
        </p:spPr>
        <p:txBody>
          <a:bodyPr wrap="square" lIns="0" tIns="0" rIns="0" bIns="0" rtlCol="0" anchor="ctr"/>
          <a:lstStyle/>
          <a:p>
            <a:pPr rtl="1" algn="ctr" indent="0" marL="0">
              <a:buNone/>
            </a:pPr>
            <a:r>
              <a:rPr lang="ar-SA" altLang="en-US" sz="2250" b="1" dirty="0">
                <a:solidFill>
                  <a:srgbClr val="1B3B6F"/>
                </a:solidFill>
                <a:latin typeface="Amiri" pitchFamily="2" charset="-78"/>
                <a:cs typeface="Amiri" pitchFamily="2" charset="-78"/>
              </a:rPr>
              <a:t>عَلَى يَمِينِ · عَلَى يَسَارِ</a:t>
            </a:r>
            <a:endParaRPr lang="ar-SA" sz="2250" dirty="0"/>
          </a:p>
        </p:txBody>
      </p:sp>
      <p:sp>
        <p:nvSpPr>
          <p:cNvPr id="45" name="Text 42"/>
          <p:cNvSpPr txBox="1"/>
          <p:nvPr/>
        </p:nvSpPr>
        <p:spPr>
          <a:xfrm>
            <a:off x="4050792" y="5338572"/>
            <a:ext cx="5212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الخِزَانَةُ عَلَى يَمِينِ البَابِ</a:t>
            </a:r>
            <a:endParaRPr lang="ar-SA" sz="2200" dirty="0"/>
          </a:p>
        </p:txBody>
      </p:sp>
      <p:sp>
        <p:nvSpPr>
          <p:cNvPr id="46" name="Text 43"/>
          <p:cNvSpPr txBox="1"/>
          <p:nvPr/>
        </p:nvSpPr>
        <p:spPr>
          <a:xfrm>
            <a:off x="566928" y="5338572"/>
            <a:ext cx="33192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the right / left of</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use each expression as a reliable chunk, then add the definite noun that follows it. In the middle = fī wasaṭi l-ghurfa.</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THE DESCRIPTION FORMULA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Room → description → objects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نِظَامُ وَصْفِ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548640" cy="274320"/>
          </a:xfrm>
          <a:prstGeom prst="roundRect">
            <a:avLst>
              <a:gd name="adj" fmla="val 50000"/>
            </a:avLst>
          </a:prstGeom>
          <a:solidFill>
            <a:srgbClr val="B83280"/>
          </a:solidFill>
          <a:ln w="12700">
            <a:solidFill>
              <a:srgbClr val="B83280"/>
            </a:solidFill>
            <a:prstDash val="solid"/>
          </a:ln>
        </p:spPr>
      </p:sp>
      <p:sp>
        <p:nvSpPr>
          <p:cNvPr id="17" name="Text 14"/>
          <p:cNvSpPr txBox="1"/>
          <p:nvPr/>
        </p:nvSpPr>
        <p:spPr>
          <a:xfrm>
            <a:off x="8232648" y="1920240"/>
            <a:ext cx="5486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ROOM</a:t>
            </a:r>
            <a:endParaRPr lang="en-US" sz="850" dirty="0"/>
          </a:p>
        </p:txBody>
      </p:sp>
      <p:sp>
        <p:nvSpPr>
          <p:cNvPr id="18" name="Text 15"/>
          <p:cNvSpPr txBox="1"/>
          <p:nvPr/>
        </p:nvSpPr>
        <p:spPr>
          <a:xfrm>
            <a:off x="8827008" y="1874520"/>
            <a:ext cx="27675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غُرْفَتِي …</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غُرْفَتِي نَظِيفَةٌ وَمُرَتَّبَةٌ.</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My room is clean and tidy.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Room = f. → -a.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75438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OBJECTS</a:t>
            </a:r>
            <a:endParaRPr lang="en-US" sz="850" dirty="0"/>
          </a:p>
        </p:txBody>
      </p:sp>
      <p:sp>
        <p:nvSpPr>
          <p:cNvPr id="26" name="Text 23"/>
          <p:cNvSpPr txBox="1"/>
          <p:nvPr/>
        </p:nvSpPr>
        <p:spPr>
          <a:xfrm>
            <a:off x="5213604" y="1874520"/>
            <a:ext cx="25618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السَّرِيرُ … السِّتَارَةُ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2" charset="-78"/>
                <a:cs typeface="Amiri" pitchFamily="2" charset="-78"/>
              </a:rPr>
              <a:t>السَّرِيرُ أَبْيَضُ، وَالسِّتَارَةُ زَرْقَاءُ.</a:t>
            </a:r>
            <a:endParaRPr lang="ar-SA" sz="23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bed is white and the curtain is blue.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Each object sets its colour.</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75438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OPINION</a:t>
            </a:r>
            <a:endParaRPr lang="en-US" sz="850" dirty="0"/>
          </a:p>
        </p:txBody>
      </p:sp>
      <p:sp>
        <p:nvSpPr>
          <p:cNvPr id="34" name="Text 31"/>
          <p:cNvSpPr txBox="1"/>
          <p:nvPr/>
        </p:nvSpPr>
        <p:spPr>
          <a:xfrm>
            <a:off x="1394460" y="1874520"/>
            <a:ext cx="25618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لِأَنَّهَا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cs typeface="Amiri" pitchFamily="2" charset="-78"/>
              </a:rPr>
              <a:t>أُحِبُّ غُرْفَتِي لِأَنَّهَا هَادِئَةٌ.</a:t>
            </a:r>
            <a:endParaRPr lang="ar-SA" sz="30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like my room because it is quiet.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cs typeface="Amiri" pitchFamily="2" charset="-78"/>
              </a:rPr>
              <a:t>لِأَنَّهَا</a:t>
            </a:r>
            <a:pPr algn="l" indent="0" marL="0">
              <a:buNone/>
            </a:pPr>
            <a:r>
              <a:rPr lang="en-US" sz="1100" dirty="0">
                <a:solidFill>
                  <a:srgbClr val="1F2A37"/>
                </a:solidFill>
                <a:latin typeface="Calibri" pitchFamily="34" charset="0"/>
                <a:cs typeface="Amiri" pitchFamily="2" charset="-78"/>
              </a:rPr>
              <a:t> — she = the room.</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mistake: the noun is feminine.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غُرْفَتِي وَاسِعَةٌ.</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cs typeface="Amiri" pitchFamily="2" charset="-78"/>
              </a:rPr>
              <a:t>غُرْفَتِي وَاسِعٌ.</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السَّرِيرُ ___.</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بَيْضَاءُ</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أَبْيَضَةٌ</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أَبْيَضُ</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الخِزَانَةُ ___.</a:t>
            </a:r>
            <a:endParaRPr lang="ar-SA" sz="22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بُنِّيَّةٌ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بُنِّيٌّ</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بُنِّيُونَ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“under the bed”.</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فَوْقَ السَّرِيرِ</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تَحْتَ السَّرِيرِ</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بِجَانِبِ السَّرِيرِ</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“opposite the door”.</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مُقَابِلَ البَابِ</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خَلْفَ البَابِ</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 البَابِ</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السَّرِيرُ ___.</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بَيْضَاءُ</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أَبْيَضَةٌ</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أَبْيَضُ</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سَرِيرٌ</a:t>
            </a:r>
            <a:pPr algn="l" indent="0" marL="0">
              <a:buNone/>
            </a:pPr>
            <a:r>
              <a:rPr lang="en-US" sz="1050" i="1" dirty="0">
                <a:solidFill>
                  <a:srgbClr val="8A6D1E"/>
                </a:solidFill>
                <a:latin typeface="Calibri" pitchFamily="34" charset="0"/>
                <a:cs typeface="Amiri" pitchFamily="2" charset="-78"/>
              </a:rPr>
              <a:t> is masculine, so use </a:t>
            </a:r>
            <a:pPr algn="l" indent="0" marL="0">
              <a:buNone/>
            </a:pPr>
            <a:r>
              <a:rPr lang="ar-SA" altLang="en-US" sz="1350" dirty="0">
                <a:solidFill>
                  <a:srgbClr val="8A6D1E"/>
                </a:solidFill>
                <a:latin typeface="Amiri" pitchFamily="2" charset="-78"/>
                <a:cs typeface="Amiri" pitchFamily="2" charset="-78"/>
              </a:rPr>
              <a:t>أَبْيَضُ</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الخِزَانَةُ ___.</a:t>
            </a:r>
            <a:endParaRPr lang="ar-SA" sz="22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بُنِّيَّةٌ</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بُنِّيٌّ</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بُنِّيُونَ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خِزَانَةٌ</a:t>
            </a:r>
            <a:pPr algn="l" indent="0" marL="0">
              <a:buNone/>
            </a:pPr>
            <a:r>
              <a:rPr lang="en-US" sz="1050" i="1" dirty="0">
                <a:solidFill>
                  <a:srgbClr val="8A6D1E"/>
                </a:solidFill>
                <a:latin typeface="Calibri" pitchFamily="34" charset="0"/>
                <a:cs typeface="Amiri" pitchFamily="2" charset="-78"/>
              </a:rPr>
              <a:t> is feminine, so use </a:t>
            </a:r>
            <a:pPr algn="l" indent="0" marL="0">
              <a:buNone/>
            </a:pPr>
            <a:r>
              <a:rPr lang="ar-SA" altLang="en-US" sz="1350" dirty="0">
                <a:solidFill>
                  <a:srgbClr val="8A6D1E"/>
                </a:solidFill>
                <a:latin typeface="Amiri" pitchFamily="2" charset="-78"/>
                <a:cs typeface="Amiri" pitchFamily="2" charset="-78"/>
              </a:rPr>
              <a:t>بُنِّيَّةٌ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“under the bed”.</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فَوْقَ السَّرِيرِ</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تَحْتَ السَّرِيرِ</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بِجَانِبِ السَّرِيرِ</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تَحْتَ</a:t>
            </a:r>
            <a:pPr algn="l" indent="0" marL="0">
              <a:buNone/>
            </a:pPr>
            <a:r>
              <a:rPr lang="en-US" sz="1050" i="1" dirty="0">
                <a:solidFill>
                  <a:srgbClr val="8A6D1E"/>
                </a:solidFill>
                <a:latin typeface="Calibri" pitchFamily="34" charset="0"/>
                <a:cs typeface="Amiri" pitchFamily="2" charset="-78"/>
              </a:rPr>
              <a:t> means under.</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“opposite the door”.</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مُقَابِلَ البَابِ</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خَلْفَ البَابِ</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 البَابِ</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مُقَابِلَ</a:t>
            </a:r>
            <a:pPr algn="l" indent="0" marL="0">
              <a:buNone/>
            </a:pPr>
            <a:r>
              <a:rPr lang="en-US" sz="1050" i="1" dirty="0">
                <a:solidFill>
                  <a:srgbClr val="8A6D1E"/>
                </a:solidFill>
                <a:latin typeface="Calibri" pitchFamily="34" charset="0"/>
                <a:cs typeface="Amiri" pitchFamily="2" charset="-78"/>
              </a:rPr>
              <a:t> means opposite.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describe a bedroom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Room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cs typeface="Amiri" pitchFamily="2" charset="-78"/>
              </a:rPr>
              <a:t>غُرْفَتِي وَاسِعَ</a:t>
            </a:r>
            <a:pPr rtl="1" algn="ctr" indent="0" marL="0">
              <a:buNone/>
            </a:pPr>
            <a:r>
              <a:rPr lang="ar-SA" altLang="en-US" sz="2550" b="1" dirty="0">
                <a:solidFill>
                  <a:srgbClr val="D6336C"/>
                </a:solidFill>
                <a:latin typeface="Amiri" pitchFamily="2" charset="-78"/>
                <a:cs typeface="Amiri" pitchFamily="2" charset="-78"/>
              </a:rPr>
              <a:t>ةٌ</a:t>
            </a:r>
            <a:pPr rtl="1" algn="ctr" indent="0" marL="0">
              <a:buNone/>
            </a:pPr>
            <a:r>
              <a:rPr lang="ar-SA" altLang="en-US" sz="2550" b="1" dirty="0">
                <a:solidFill>
                  <a:srgbClr val="1B3B6F"/>
                </a:solidFill>
                <a:latin typeface="Amiri" pitchFamily="2" charset="-78"/>
                <a:cs typeface="Amiri" pitchFamily="2" charset="-78"/>
              </a:rPr>
              <a:t> وَمُرَتَّبَ</a:t>
            </a:r>
            <a:pPr rtl="1" algn="ctr" indent="0" marL="0">
              <a:buNone/>
            </a:pPr>
            <a:r>
              <a:rPr lang="ar-SA" altLang="en-US" sz="2550" b="1" dirty="0">
                <a:solidFill>
                  <a:srgbClr val="D6336C"/>
                </a:solidFill>
                <a:latin typeface="Amiri" pitchFamily="2" charset="-78"/>
                <a:cs typeface="Amiri" pitchFamily="2" charset="-78"/>
              </a:rPr>
              <a:t>ةٌ</a:t>
            </a:r>
            <a:pPr rtl="1" algn="ctr" indent="0" marL="0">
              <a:buNone/>
            </a:pPr>
            <a:r>
              <a:rPr lang="ar-SA" altLang="en-US" sz="2550" b="1" dirty="0">
                <a:solidFill>
                  <a:srgbClr val="1B3B6F"/>
                </a:solidFill>
                <a:latin typeface="Amiri" pitchFamily="2" charset="-78"/>
                <a:cs typeface="Amiri" pitchFamily="2" charset="-78"/>
              </a:rPr>
              <a:t>.</a:t>
            </a:r>
            <a:endParaRPr lang="ar-SA" sz="25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Room f. → -a.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Objects + colour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cs typeface="Amiri" pitchFamily="2" charset="-78"/>
              </a:rPr>
              <a:t>فِيهَا سَرِيرٌ </a:t>
            </a:r>
            <a:pPr rtl="1" algn="ctr" indent="0" marL="0">
              <a:lnSpc>
                <a:spcPct val="120000"/>
              </a:lnSpc>
              <a:buNone/>
            </a:pPr>
            <a:r>
              <a:rPr lang="ar-SA" altLang="en-US" sz="1800" b="1" dirty="0">
                <a:solidFill>
                  <a:srgbClr val="1D5FBF"/>
                </a:solidFill>
                <a:latin typeface="Amiri" pitchFamily="2" charset="-78"/>
                <a:cs typeface="Amiri" pitchFamily="2" charset="-78"/>
              </a:rPr>
              <a:t>بُنِّيٌّ</a:t>
            </a:r>
            <a:pPr rtl="1" algn="ctr" indent="0" marL="0">
              <a:lnSpc>
                <a:spcPct val="120000"/>
              </a:lnSpc>
              <a:buNone/>
            </a:pPr>
            <a:r>
              <a:rPr lang="ar-SA" altLang="en-US" sz="1800" b="1" dirty="0">
                <a:solidFill>
                  <a:srgbClr val="1B3B6F"/>
                </a:solidFill>
                <a:latin typeface="Amiri" pitchFamily="2" charset="-78"/>
                <a:cs typeface="Amiri" pitchFamily="2" charset="-78"/>
              </a:rPr>
              <a:t> وَخِزَانَةٌ </a:t>
            </a:r>
            <a:pPr rtl="1" algn="ctr" indent="0" marL="0">
              <a:lnSpc>
                <a:spcPct val="120000"/>
              </a:lnSpc>
              <a:buNone/>
            </a:pPr>
            <a:r>
              <a:rPr lang="ar-SA" altLang="en-US" sz="1800" b="1" dirty="0">
                <a:solidFill>
                  <a:srgbClr val="D6336C"/>
                </a:solidFill>
                <a:latin typeface="Amiri" pitchFamily="2" charset="-78"/>
                <a:cs typeface="Amiri" pitchFamily="2" charset="-78"/>
              </a:rPr>
              <a:t>بَيْضَاءُ</a:t>
            </a:r>
            <a:pPr rtl="1" algn="ctr" indent="0" marL="0">
              <a:lnSpc>
                <a:spcPct val="120000"/>
              </a:lnSpc>
              <a:buNone/>
            </a:pPr>
            <a:r>
              <a:rPr lang="ar-SA" altLang="en-US" sz="1800" b="1" dirty="0">
                <a:solidFill>
                  <a:srgbClr val="1B3B6F"/>
                </a:solidFill>
                <a:latin typeface="Amiri" pitchFamily="2" charset="-78"/>
                <a:cs typeface="Amiri" pitchFamily="2" charset="-78"/>
              </a:rPr>
              <a:t>.</a:t>
            </a:r>
            <a:endParaRPr lang="ar-SA" sz="1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Each object sets its colour.</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Positions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السَّرِيرُ بِجَانِبِ النَّافِذَةِ، وَالمَكْتَبُ مُقَابِلَهُ.</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Chunk + the noun.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Action + opinion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فِي المَسَاءِ أَدْرُسُ هُنَا. أُحِبُّهَا لِأَنَّهَا مُرِيحَ</a:t>
            </a:r>
            <a:pPr rtl="1" algn="ctr" indent="0" marL="0">
              <a:lnSpc>
                <a:spcPct val="120000"/>
              </a:lnSpc>
              <a:buNone/>
            </a:pPr>
            <a:r>
              <a:rPr lang="ar-SA" altLang="en-US" sz="1750" b="1" dirty="0">
                <a:solidFill>
                  <a:srgbClr val="D6336C"/>
                </a:solidFill>
                <a:latin typeface="Amiri" pitchFamily="2" charset="-78"/>
                <a:cs typeface="Amiri" pitchFamily="2" charset="-78"/>
              </a:rPr>
              <a:t>ةٌ</a:t>
            </a:r>
            <a:pPr rtl="1" algn="ctr" indent="0" marL="0">
              <a:lnSpc>
                <a:spcPct val="120000"/>
              </a:lnSpc>
              <a:buNone/>
            </a:pPr>
            <a:r>
              <a:rPr lang="ar-SA" altLang="en-US" sz="1750" b="1" dirty="0">
                <a:solidFill>
                  <a:srgbClr val="1B3B6F"/>
                </a:solidFill>
                <a:latin typeface="Amiri" pitchFamily="2" charset="-78"/>
                <a:cs typeface="Amiri" pitchFamily="2" charset="-78"/>
              </a:rPr>
              <a:t>.</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Reason with li’annahā.</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MASCULINE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FEMININE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غُرْفَتِي وَاسِعَ</a:t>
            </a:r>
            <a:pPr rtl="1" algn="r" indent="0" marL="0">
              <a:lnSpc>
                <a:spcPct val="120000"/>
              </a:lnSpc>
              <a:buNone/>
            </a:pPr>
            <a:r>
              <a:rPr lang="ar-SA" altLang="en-US" sz="1400" b="1" dirty="0">
                <a:solidFill>
                  <a:srgbClr val="D6336C"/>
                </a:solidFill>
                <a:latin typeface="Amiri" pitchFamily="2" charset="-78"/>
                <a:cs typeface="Amiri" pitchFamily="2" charset="-78"/>
              </a:rPr>
              <a:t>ةٌ</a:t>
            </a:r>
            <a:pPr rtl="1" algn="r" indent="0" marL="0">
              <a:lnSpc>
                <a:spcPct val="120000"/>
              </a:lnSpc>
              <a:buNone/>
            </a:pPr>
            <a:r>
              <a:rPr lang="ar-SA" altLang="en-US" sz="1400" b="1" dirty="0">
                <a:solidFill>
                  <a:srgbClr val="1B3B6F"/>
                </a:solidFill>
                <a:latin typeface="Amiri" pitchFamily="2" charset="-78"/>
                <a:cs typeface="Amiri" pitchFamily="2" charset="-78"/>
              </a:rPr>
              <a:t> وَمُرَتَّبَ</a:t>
            </a:r>
            <a:pPr rtl="1" algn="r" indent="0" marL="0">
              <a:lnSpc>
                <a:spcPct val="120000"/>
              </a:lnSpc>
              <a:buNone/>
            </a:pPr>
            <a:r>
              <a:rPr lang="ar-SA" altLang="en-US" sz="1400" b="1" dirty="0">
                <a:solidFill>
                  <a:srgbClr val="D6336C"/>
                </a:solidFill>
                <a:latin typeface="Amiri" pitchFamily="2" charset="-78"/>
                <a:cs typeface="Amiri" pitchFamily="2" charset="-78"/>
              </a:rPr>
              <a:t>ةٌ</a:t>
            </a:r>
            <a:pPr rtl="1" algn="r" indent="0" marL="0">
              <a:lnSpc>
                <a:spcPct val="120000"/>
              </a:lnSpc>
              <a:buNone/>
            </a:pPr>
            <a:r>
              <a:rPr lang="ar-SA" altLang="en-US" sz="1400" b="1" dirty="0">
                <a:solidFill>
                  <a:srgbClr val="1B3B6F"/>
                </a:solidFill>
                <a:latin typeface="Amiri" pitchFamily="2" charset="-78"/>
                <a:cs typeface="Amiri" pitchFamily="2" charset="-78"/>
              </a:rPr>
              <a:t>. فِيهَا سَرِيرٌ </a:t>
            </a:r>
            <a:pPr rtl="1" algn="r" indent="0" marL="0">
              <a:lnSpc>
                <a:spcPct val="120000"/>
              </a:lnSpc>
              <a:buNone/>
            </a:pPr>
            <a:r>
              <a:rPr lang="ar-SA" altLang="en-US" sz="1400" b="1" dirty="0">
                <a:solidFill>
                  <a:srgbClr val="1D5FBF"/>
                </a:solidFill>
                <a:latin typeface="Amiri" pitchFamily="2" charset="-78"/>
                <a:cs typeface="Amiri" pitchFamily="2" charset="-78"/>
              </a:rPr>
              <a:t>بُنِّيٌّ</a:t>
            </a:r>
            <a:pPr rtl="1" algn="r" indent="0" marL="0">
              <a:lnSpc>
                <a:spcPct val="120000"/>
              </a:lnSpc>
              <a:buNone/>
            </a:pPr>
            <a:r>
              <a:rPr lang="ar-SA" altLang="en-US" sz="1400" b="1" dirty="0">
                <a:solidFill>
                  <a:srgbClr val="1B3B6F"/>
                </a:solidFill>
                <a:latin typeface="Amiri" pitchFamily="2" charset="-78"/>
                <a:cs typeface="Amiri" pitchFamily="2" charset="-78"/>
              </a:rPr>
              <a:t> وَخِزَانَةٌ </a:t>
            </a:r>
            <a:pPr rtl="1" algn="r" indent="0" marL="0">
              <a:lnSpc>
                <a:spcPct val="120000"/>
              </a:lnSpc>
              <a:buNone/>
            </a:pPr>
            <a:r>
              <a:rPr lang="ar-SA" altLang="en-US" sz="1400" b="1" dirty="0">
                <a:solidFill>
                  <a:srgbClr val="D6336C"/>
                </a:solidFill>
                <a:latin typeface="Amiri" pitchFamily="2" charset="-78"/>
                <a:cs typeface="Amiri" pitchFamily="2" charset="-78"/>
              </a:rPr>
              <a:t>بَيْضَاءُ</a:t>
            </a:r>
            <a:pPr rtl="1" algn="r" indent="0" marL="0">
              <a:lnSpc>
                <a:spcPct val="120000"/>
              </a:lnSpc>
              <a:buNone/>
            </a:pPr>
            <a:r>
              <a:rPr lang="ar-SA" altLang="en-US" sz="1400" b="1" dirty="0">
                <a:solidFill>
                  <a:srgbClr val="1B3B6F"/>
                </a:solidFill>
                <a:latin typeface="Amiri" pitchFamily="2" charset="-78"/>
                <a:cs typeface="Amiri" pitchFamily="2" charset="-78"/>
              </a:rPr>
              <a:t>. السَّرِيرُ بِجَانِبِ النَّافِذَةِ، وَالمَكْتَبُ مُقَابِلَهُ. عَلَى المَكْتَبِ حَاسُوبٌ وَمِصْبَاحٌ. فِي المَسَاءِ أَدْرُسُ عَلَى المَكْتَبِ. أُحِبُّ غُرْفَتِي لِأَنَّهَا مُرِيحَ</a:t>
            </a:r>
            <a:pPr rtl="1" algn="r" indent="0" marL="0">
              <a:lnSpc>
                <a:spcPct val="120000"/>
              </a:lnSpc>
              <a:buNone/>
            </a:pPr>
            <a:r>
              <a:rPr lang="ar-SA" altLang="en-US" sz="1400" b="1" dirty="0">
                <a:solidFill>
                  <a:srgbClr val="D6336C"/>
                </a:solidFill>
                <a:latin typeface="Amiri" pitchFamily="2" charset="-78"/>
                <a:cs typeface="Amiri" pitchFamily="2" charset="-78"/>
              </a:rPr>
              <a:t>ةٌ</a:t>
            </a:r>
            <a:pPr rtl="1" algn="r" indent="0" marL="0">
              <a:lnSpc>
                <a:spcPct val="120000"/>
              </a:lnSpc>
              <a:buNone/>
            </a:pPr>
            <a:r>
              <a:rPr lang="ar-SA" altLang="en-US" sz="1400" b="1" dirty="0">
                <a:solidFill>
                  <a:srgbClr val="1B3B6F"/>
                </a:solidFill>
                <a:latin typeface="Amiri" pitchFamily="2" charset="-78"/>
                <a:cs typeface="Amiri" pitchFamily="2" charset="-78"/>
              </a:rPr>
              <a:t>.</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My room is spacious and tidy. In it there is a brown bed and a white wardrobe. The bed is next to the window and the desk is opposite it. On the desk there is a computer and a lamp. In the evening I study at the desk. I like my room because it is comfortable.</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 WEBSITE GAME “VISUAL GAME — ROOMS”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Where do I live? Match the picture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البَيْتُ وَالغُرَفُ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bed</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4" name="Shape 20"/>
          <p:cNvSpPr/>
          <p:nvPr/>
        </p:nvSpPr>
        <p:spPr>
          <a:xfrm>
            <a:off x="499262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26" name="Shape 21"/>
          <p:cNvSpPr/>
          <p:nvPr/>
        </p:nvSpPr>
        <p:spPr>
          <a:xfrm>
            <a:off x="618134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28" name="Text 22"/>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tree and a house</a:t>
            </a:r>
            <a:endParaRPr lang="en-US" sz="1100" dirty="0"/>
          </a:p>
        </p:txBody>
      </p:sp>
      <p:sp>
        <p:nvSpPr>
          <p:cNvPr id="29" name="Shape 2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4"/>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Shape 26"/>
          <p:cNvSpPr/>
          <p:nvPr/>
        </p:nvSpPr>
        <p:spPr>
          <a:xfrm>
            <a:off x="176784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1950720" y="2249424"/>
            <a:ext cx="649224" cy="649224"/>
          </a:xfrm>
          <a:prstGeom prst="rect">
            <a:avLst/>
          </a:prstGeom>
        </p:spPr>
      </p:pic>
      <p:sp>
        <p:nvSpPr>
          <p:cNvPr id="34" name="Text 2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block of flats</a:t>
            </a:r>
            <a:endParaRPr lang="en-US" sz="1100" dirty="0"/>
          </a:p>
        </p:txBody>
      </p:sp>
      <p:sp>
        <p:nvSpPr>
          <p:cNvPr id="35" name="Shape 28"/>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6" name="Shape 29"/>
          <p:cNvSpPr/>
          <p:nvPr/>
        </p:nvSpPr>
        <p:spPr>
          <a:xfrm>
            <a:off x="11247120" y="3831336"/>
            <a:ext cx="292608" cy="292608"/>
          </a:xfrm>
          <a:prstGeom prst="ellipse">
            <a:avLst/>
          </a:prstGeom>
          <a:solidFill>
            <a:srgbClr val="2F6FB0"/>
          </a:solidFill>
          <a:ln w="12700">
            <a:solidFill>
              <a:srgbClr val="2F6FB0"/>
            </a:solidFill>
            <a:prstDash val="solid"/>
          </a:ln>
        </p:spPr>
      </p:sp>
      <p:sp>
        <p:nvSpPr>
          <p:cNvPr id="37" name="Text 30"/>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8" name="Text 31"/>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لِلْبَيْتِ حَدِيقَةٌ.</a:t>
            </a:r>
            <a:endParaRPr lang="ar-SA" sz="2000" dirty="0"/>
          </a:p>
        </p:txBody>
      </p:sp>
      <p:sp>
        <p:nvSpPr>
          <p:cNvPr id="39" name="Shape 32"/>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0" name="Shape 33"/>
          <p:cNvSpPr/>
          <p:nvPr/>
        </p:nvSpPr>
        <p:spPr>
          <a:xfrm>
            <a:off x="11247120" y="4398264"/>
            <a:ext cx="292608" cy="292608"/>
          </a:xfrm>
          <a:prstGeom prst="ellipse">
            <a:avLst/>
          </a:prstGeom>
          <a:solidFill>
            <a:srgbClr val="2F6FB0"/>
          </a:solidFill>
          <a:ln w="12700">
            <a:solidFill>
              <a:srgbClr val="2F6FB0"/>
            </a:solidFill>
            <a:prstDash val="solid"/>
          </a:ln>
        </p:spPr>
      </p:sp>
      <p:sp>
        <p:nvSpPr>
          <p:cNvPr id="41" name="Text 34"/>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2" name="Text 35"/>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أَسْكُنُ فِي شَقَّةٍ.</a:t>
            </a:r>
            <a:endParaRPr lang="ar-SA" sz="2000" dirty="0"/>
          </a:p>
        </p:txBody>
      </p:sp>
      <p:sp>
        <p:nvSpPr>
          <p:cNvPr id="43" name="Shape 36"/>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4" name="Shape 37"/>
          <p:cNvSpPr/>
          <p:nvPr/>
        </p:nvSpPr>
        <p:spPr>
          <a:xfrm>
            <a:off x="11247120" y="4965192"/>
            <a:ext cx="292608" cy="292608"/>
          </a:xfrm>
          <a:prstGeom prst="ellipse">
            <a:avLst/>
          </a:prstGeom>
          <a:solidFill>
            <a:srgbClr val="2F6FB0"/>
          </a:solidFill>
          <a:ln w="12700">
            <a:solidFill>
              <a:srgbClr val="2F6FB0"/>
            </a:solidFill>
            <a:prstDash val="solid"/>
          </a:ln>
        </p:spPr>
      </p:sp>
      <p:sp>
        <p:nvSpPr>
          <p:cNvPr id="45" name="Text 38"/>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6" name="Text 39"/>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هٰذِهِ غُرْفَةُ النَّوْمِ.</a:t>
            </a:r>
            <a:endParaRPr lang="ar-SA" sz="2000" dirty="0"/>
          </a:p>
        </p:txBody>
      </p:sp>
      <p:sp>
        <p:nvSpPr>
          <p:cNvPr id="47" name="Text 40"/>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8" name="Text 41"/>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49"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البَيْتُ وَالغُرَفُ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bed</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هٰذِهِ غُرْفَةُ النَّوْمِ.</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the bedroom.</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9" name="Shape 25"/>
          <p:cNvSpPr/>
          <p:nvPr/>
        </p:nvSpPr>
        <p:spPr>
          <a:xfrm>
            <a:off x="499262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31" name="Shape 26"/>
          <p:cNvSpPr/>
          <p:nvPr/>
        </p:nvSpPr>
        <p:spPr>
          <a:xfrm>
            <a:off x="618134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33" name="Text 27"/>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tree and a house</a:t>
            </a:r>
            <a:endParaRPr lang="en-US" sz="1100" dirty="0"/>
          </a:p>
        </p:txBody>
      </p:sp>
      <p:sp>
        <p:nvSpPr>
          <p:cNvPr id="34" name="Shape 28"/>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29"/>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30"/>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7" name="Text 31"/>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لِلْبَيْتِ حَدِيقَةٌ.</a:t>
            </a:r>
            <a:endParaRPr lang="ar-SA" sz="2200" dirty="0"/>
          </a:p>
        </p:txBody>
      </p:sp>
      <p:sp>
        <p:nvSpPr>
          <p:cNvPr id="38" name="Text 32"/>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house has a garden.</a:t>
            </a:r>
            <a:endParaRPr lang="en-US" sz="1200" dirty="0"/>
          </a:p>
        </p:txBody>
      </p:sp>
      <p:sp>
        <p:nvSpPr>
          <p:cNvPr id="39" name="Shape 3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4"/>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2" name="Shape 36"/>
          <p:cNvSpPr/>
          <p:nvPr/>
        </p:nvSpPr>
        <p:spPr>
          <a:xfrm>
            <a:off x="176784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1950720" y="2249424"/>
            <a:ext cx="649224" cy="649224"/>
          </a:xfrm>
          <a:prstGeom prst="rect">
            <a:avLst/>
          </a:prstGeom>
        </p:spPr>
      </p:pic>
      <p:sp>
        <p:nvSpPr>
          <p:cNvPr id="44" name="Text 3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block of flats</a:t>
            </a:r>
            <a:endParaRPr lang="en-US" sz="1100" dirty="0"/>
          </a:p>
        </p:txBody>
      </p:sp>
      <p:sp>
        <p:nvSpPr>
          <p:cNvPr id="45" name="Shape 38"/>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6" name="Shape 39"/>
          <p:cNvSpPr/>
          <p:nvPr/>
        </p:nvSpPr>
        <p:spPr>
          <a:xfrm>
            <a:off x="3617976" y="3785616"/>
            <a:ext cx="329184" cy="329184"/>
          </a:xfrm>
          <a:prstGeom prst="ellipse">
            <a:avLst/>
          </a:prstGeom>
          <a:solidFill>
            <a:srgbClr val="2E8B57"/>
          </a:solidFill>
          <a:ln w="12700">
            <a:solidFill>
              <a:srgbClr val="2E8B57"/>
            </a:solidFill>
            <a:prstDash val="solid"/>
          </a:ln>
        </p:spPr>
      </p:sp>
      <p:sp>
        <p:nvSpPr>
          <p:cNvPr id="47" name="Text 40"/>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48" name="Text 41"/>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أَسْكُنُ فِي شَقَّةٍ.</a:t>
            </a:r>
            <a:endParaRPr lang="ar-SA" sz="2200" dirty="0"/>
          </a:p>
        </p:txBody>
      </p:sp>
      <p:sp>
        <p:nvSpPr>
          <p:cNvPr id="49" name="Text 42"/>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live in a flat.</a:t>
            </a:r>
            <a:endParaRPr lang="en-US" sz="1200" dirty="0"/>
          </a:p>
        </p:txBody>
      </p:sp>
      <p:sp>
        <p:nvSpPr>
          <p:cNvPr id="50"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“BEDROOM DESIGNER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Design the bedroom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مُصَمِّمِ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غُرْفَتِي ___ .</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مُرَتَّبٌ</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مُرَتَّبُونَ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مُرَتَّبَةٌ</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Colour agreement: Choose the accurate phrase.</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سِتَارَةٌ أَزْرَقُ</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سِتَارَةٌ أَزْرَقَةٌ</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سِتَارَةٌ زَرْقَاءُ</a:t>
            </a:r>
            <a:endParaRPr lang="ar-SA" sz="2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Opposite: Choose the accurate sentence.</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الخِزَانَةُ مُقَابِلَ السَّرِيرِ.</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الخِزَانَةُ عَلَى السَّرِيرِ.</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الخِزَانَةُ تَحْتَ السَّرِيرِ.</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Study zone: Choose the best layout sentence.</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المَكْتَبُ فِي النَّافِذَةِ.</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المَكْتَبُ تَحْتَ النَّافِذَةِ.</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المَكْتَبُ مِنَ النَّافِذَةِ.</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72" name="Text 69"/>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غُرْفَتِي نَظِيفٌ.</a:t>
            </a:r>
            <a:endParaRPr lang="ar-SA" sz="220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غُرْفَتِي نَظِيفَةٌ.</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غُرْفَتِي نَظِيفُونَ.</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غُرْفَتِي نَظِيفٌ.</a:t>
            </a:r>
            <a:endParaRPr lang="ar-SA" sz="20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4" name="Text 8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5" name="Text 8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room (f.) → -a</a:t>
            </a:r>
            <a:endParaRPr lang="en-US" sz="1250" dirty="0"/>
          </a:p>
          <a:p>
            <a:pPr algn="l" indent="0" marL="0">
              <a:buNone/>
            </a:pPr>
            <a:r>
              <a:rPr lang="en-US" sz="1250" dirty="0">
                <a:solidFill>
                  <a:srgbClr val="1E6B52"/>
                </a:solidFill>
                <a:latin typeface="Calibri" pitchFamily="34" charset="0"/>
                <a:cs typeface="Amiri" pitchFamily="2" charset="-78"/>
              </a:rPr>
              <a:t>object sets its colour</a:t>
            </a:r>
            <a:endParaRPr lang="en-US" sz="1250" dirty="0"/>
          </a:p>
          <a:p>
            <a:pPr algn="l" indent="0" marL="0">
              <a:buNone/>
            </a:pPr>
            <a:r>
              <a:rPr lang="en-US" sz="1250" dirty="0">
                <a:solidFill>
                  <a:srgbClr val="1E6B52"/>
                </a:solidFill>
                <a:latin typeface="Calibri" pitchFamily="34" charset="0"/>
                <a:cs typeface="Amiri" pitchFamily="2" charset="-78"/>
              </a:rPr>
              <a:t>on ‘alā · under taḥta</a:t>
            </a:r>
            <a:endParaRPr lang="en-US" sz="125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غُرْفَتِي ___ .</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مُرَتَّبٌ</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مُرَتَّبُونَ</a:t>
            </a:r>
            <a:endParaRPr lang="ar-SA" sz="1700" dirty="0"/>
          </a:p>
        </p:txBody>
      </p:sp>
      <p:sp>
        <p:nvSpPr>
          <p:cNvPr id="26" name="Shape 23"/>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مُرَتَّبَةٌ</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noun takes </a:t>
            </a:r>
            <a:pPr algn="l" indent="0" marL="0">
              <a:buNone/>
            </a:pPr>
            <a:r>
              <a:rPr lang="ar-SA" altLang="en-US" sz="1350" dirty="0">
                <a:solidFill>
                  <a:srgbClr val="8A6D1E"/>
                </a:solidFill>
                <a:latin typeface="Amiri" pitchFamily="2" charset="-78"/>
                <a:cs typeface="Amiri" pitchFamily="2" charset="-78"/>
              </a:rPr>
              <a:t>مُرَتَّبَةٌ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Colour agreement: Choose the accurate phrase.</a:t>
            </a:r>
            <a:endParaRPr lang="en-US" sz="1250" dirty="0"/>
          </a:p>
        </p:txBody>
      </p:sp>
      <p:sp>
        <p:nvSpPr>
          <p:cNvPr id="35" name="Shape 32"/>
          <p:cNvSpPr/>
          <p:nvPr/>
        </p:nvSpPr>
        <p:spPr>
          <a:xfrm>
            <a:off x="4459224" y="2490216"/>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سِتَارَةٌ أَزْرَقُ</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سِتَارَةٌ أَزْرَقَةٌ</a:t>
            </a:r>
            <a:endParaRPr lang="ar-SA" sz="1700" dirty="0"/>
          </a:p>
        </p:txBody>
      </p:sp>
      <p:sp>
        <p:nvSpPr>
          <p:cNvPr id="41" name="Shape 38"/>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4459224" y="3233928"/>
            <a:ext cx="256032" cy="256032"/>
          </a:xfrm>
          <a:prstGeom prst="ellipse">
            <a:avLst/>
          </a:prstGeom>
          <a:solidFill>
            <a:srgbClr val="2E8B57"/>
          </a:solidFill>
          <a:ln w="12700">
            <a:solidFill>
              <a:srgbClr val="2E8B57"/>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سِتَارَةٌ زَرْقَاءُ</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colour is </a:t>
            </a:r>
            <a:pPr algn="l" indent="0" marL="0">
              <a:buNone/>
            </a:pPr>
            <a:r>
              <a:rPr lang="ar-SA" altLang="en-US" sz="1350" dirty="0">
                <a:solidFill>
                  <a:srgbClr val="8A6D1E"/>
                </a:solidFill>
                <a:latin typeface="Amiri" pitchFamily="2" charset="-78"/>
                <a:cs typeface="Amiri" pitchFamily="2" charset="-78"/>
              </a:rPr>
              <a:t>زَرْقَاءُ</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Opposite: Choose the accurate sentence.</a:t>
            </a:r>
            <a:endParaRPr lang="en-US" sz="1250" dirty="0"/>
          </a:p>
        </p:txBody>
      </p:sp>
      <p:sp>
        <p:nvSpPr>
          <p:cNvPr id="50" name="Shape 47"/>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490216"/>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الخِزَانَةُ مُقَابِلَ السَّرِيرِ.</a:t>
            </a:r>
            <a:endParaRPr lang="ar-SA" sz="1700" dirty="0"/>
          </a:p>
        </p:txBody>
      </p:sp>
      <p:sp>
        <p:nvSpPr>
          <p:cNvPr id="54"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الخِزَانَةُ عَلَى السَّرِيرِ.</a:t>
            </a:r>
            <a:endParaRPr lang="ar-SA" sz="1700" dirty="0"/>
          </a:p>
        </p:txBody>
      </p:sp>
      <p:sp>
        <p:nvSpPr>
          <p:cNvPr id="57" name="Shape 54"/>
          <p:cNvSpPr/>
          <p:nvPr/>
        </p:nvSpPr>
        <p:spPr>
          <a:xfrm>
            <a:off x="8278368" y="323392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الخِزَانَةُ تَحْتَ السَّرِيرِ.</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مُقَابِلَ</a:t>
            </a:r>
            <a:pPr algn="l" indent="0" marL="0">
              <a:buNone/>
            </a:pPr>
            <a:r>
              <a:rPr lang="en-US" sz="1050" i="1" dirty="0">
                <a:solidFill>
                  <a:srgbClr val="8A6D1E"/>
                </a:solidFill>
                <a:latin typeface="Calibri" pitchFamily="34" charset="0"/>
                <a:cs typeface="Amiri" pitchFamily="2" charset="-78"/>
              </a:rPr>
              <a:t> means opposite.</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Study zone: Choose the best layout sentence.</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المَكْتَبُ فِي النَّافِذَةِ.</a:t>
            </a:r>
            <a:endParaRPr lang="ar-SA" sz="1700" dirty="0"/>
          </a:p>
        </p:txBody>
      </p:sp>
      <p:sp>
        <p:nvSpPr>
          <p:cNvPr id="68" name="Shape 65"/>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40080" y="5202936"/>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1"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المَكْتَبُ تَحْتَ النَّافِذَةِ.</a:t>
            </a:r>
            <a:endParaRPr lang="ar-SA" sz="1700" dirty="0"/>
          </a:p>
        </p:txBody>
      </p:sp>
      <p:sp>
        <p:nvSpPr>
          <p:cNvPr id="72" name="Shape 69"/>
          <p:cNvSpPr/>
          <p:nvPr/>
        </p:nvSpPr>
        <p:spPr>
          <a:xfrm>
            <a:off x="640080"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المَكْتَبُ مِنَ النَّافِذَةِ.</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تَحْتَ النَّافِذَةِ</a:t>
            </a:r>
            <a:pPr algn="l" indent="0" marL="0">
              <a:buNone/>
            </a:pPr>
            <a:r>
              <a:rPr lang="en-US" sz="1050" i="1" dirty="0">
                <a:solidFill>
                  <a:srgbClr val="8A6D1E"/>
                </a:solidFill>
                <a:latin typeface="Calibri" pitchFamily="34" charset="0"/>
                <a:cs typeface="Amiri" pitchFamily="2" charset="-78"/>
              </a:rPr>
              <a:t> means under the window.</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80" name="Text 77"/>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غُرْفَتِي نَظِيفٌ.</a:t>
            </a:r>
            <a:endParaRPr lang="ar-SA" sz="220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غُرْفَتِي نَظِيفَةٌ.</a:t>
            </a:r>
            <a:endParaRPr lang="ar-SA" sz="17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غُرْفَتِي نَظِيفُونَ.</a:t>
            </a:r>
            <a:endParaRPr lang="ar-SA" sz="170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غُرْفَتِي نَظِيفٌ.</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feminine </a:t>
            </a:r>
            <a:pPr algn="l" indent="0" marL="0">
              <a:buNone/>
            </a:pPr>
            <a:r>
              <a:rPr lang="ar-SA" altLang="en-US" sz="1350" dirty="0">
                <a:solidFill>
                  <a:srgbClr val="8A6D1E"/>
                </a:solidFill>
                <a:latin typeface="Amiri" pitchFamily="2" charset="-78"/>
                <a:cs typeface="Amiri" pitchFamily="2" charset="-78"/>
              </a:rPr>
              <a:t>نَظِيفَةٌ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4" name="Text 9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5" name="Text 9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room (f.) → -a</a:t>
            </a:r>
            <a:endParaRPr lang="en-US" sz="1250" dirty="0"/>
          </a:p>
          <a:p>
            <a:pPr algn="l" indent="0" marL="0">
              <a:buNone/>
            </a:pPr>
            <a:r>
              <a:rPr lang="en-US" sz="1250" dirty="0">
                <a:solidFill>
                  <a:srgbClr val="1E6B52"/>
                </a:solidFill>
                <a:latin typeface="Calibri" pitchFamily="34" charset="0"/>
                <a:cs typeface="Amiri" pitchFamily="2" charset="-78"/>
              </a:rPr>
              <a:t>object sets its colour</a:t>
            </a:r>
            <a:endParaRPr lang="en-US" sz="1250" dirty="0"/>
          </a:p>
          <a:p>
            <a:pPr algn="l" indent="0" marL="0">
              <a:buNone/>
            </a:pPr>
            <a:r>
              <a:rPr lang="en-US" sz="1250" dirty="0">
                <a:solidFill>
                  <a:srgbClr val="1E6B52"/>
                </a:solidFill>
                <a:latin typeface="Calibri" pitchFamily="34" charset="0"/>
                <a:cs typeface="Amiri" pitchFamily="2" charset="-78"/>
              </a:rPr>
              <a:t>on ‘alā · under taḥta</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غُرْفَتِي وَاسِعٌ.</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Room: which ending?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السِّتَارَةُ أَزْرَقُ.</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Curtain: masculine or feminine colour?</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الحَاسُوبُ تَحْتَ المَكْتَبِ.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On or under?</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غُرْفَتِي وَاسِعٌ.</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غُرْفَتِي وَاسِعَةٌ.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Room is feminine: every room adjective takes -a.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السِّتَارَةُ أَزْرَقُ.</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السِّتَارَةُ زَرْقَاءُ.</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Curtain is feminine: use the feminine colour.</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الحَاسُوبُ تَحْتَ المَكْتَبِ.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الحَاسُوبُ عَلَى المَكْتَبِ.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Check the picture: on = ‘alā, under = taḥta.</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Maryam’s bedroom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Maryam describe the size of her room?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small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large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spacious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bed?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blue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brown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white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desk?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opposite the door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behind the wardrobe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under the window</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wardrobe?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opposite the bed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next to the window</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under the desk</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Maryam like the room?</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new and large.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quiet and comfortable.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dark and cold.</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Note: room size · 3 objects with colours · 2 positions · 1 action.</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اِسْمِي مَرْيَمُ، وَسَأَصِفُ غُرْفَةَ نَوْمِي. غُرْفَتِي صَغِيرَةٌ، وَلَكِنَّهَا مُرَتَّبَةٌ وَمُضِيئَةٌ.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name is Maryam and I will describe my bedroom. My room is small, but tidy and bright.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وَسَطِ الغُرْفَةِ سَرِيرٌ أَبْيَضُ، وَبِجَانِبِهِ طَاوِلَةٌ صَغِيرَةٌ عَلَيْهَا مِصْبَاحٌ أَزْرَقُ.</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middle of the room is a white bed, and next to it a small table with a blue lamp on it.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المَكْتَبُ تَحْتَ النَّافِذَةِ، وَعَلَيْهِ حَاسُوبٌ وَثَلَاثَةُ كُتُبٍ. الخِزَانَةُ مُقَابِلَ السَّرِيرِ، وَالمِرْآةُ عَلَى يَسَارِهَا.</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desk is under the window, with a computer and three books on it. The wardrobe is opposite the bed and the mirror is to its left.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أُحِبُّ غُرْفَتِي لِأَنَّهَا هَادِئَةٌ وَمُرِيحَةٌ.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love my room because it is quiet and comfortable.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المَسَاءِ أَدْرُسُ عَلَى المَكْتَبِ، ثُمَّ أَرْتَاحُ وَأَنَامُ فِي السَّرِيرِ.</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evening I study at the desk, then I rest and sleep in the bed.</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Maryam describe the size of her room?</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small</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large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spacious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cs typeface="Amiri" pitchFamily="2" charset="-78"/>
              </a:rPr>
              <a:t>غُرْفَتِي صَغِيرَةٌ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bed?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blue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brown</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white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bed is </a:t>
            </a:r>
            <a:pPr algn="l" indent="0" marL="0">
              <a:buNone/>
            </a:pPr>
            <a:r>
              <a:rPr lang="ar-SA" altLang="en-US" sz="1350" dirty="0">
                <a:solidFill>
                  <a:srgbClr val="8A6D1E"/>
                </a:solidFill>
                <a:latin typeface="Amiri" pitchFamily="2" charset="-78"/>
                <a:cs typeface="Amiri" pitchFamily="2" charset="-78"/>
              </a:rPr>
              <a:t>سَرِيرٌ أَبْيَضُ</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desk?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opposite the door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behind the wardrobe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under the window</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المَكْتَبُ تَحْتَ النَّافِذَةِ.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wardrobe?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opposite the bed</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next to the window</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under the desk</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الخِزَانَةُ مُقَابِلَ السَّرِيرِ.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Maryam like the room?</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new and large.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quiet and comfortable.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dark and cold.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cs typeface="Amiri" pitchFamily="2" charset="-78"/>
              </a:rPr>
              <a:t>هَادِئَةٌ وَمُرِيحَةٌ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Note: room size · 3 objects with colours · 2 positions · 1 action.</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TEXT 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Yūsuf’s bedroom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النَّصُّ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غُرْفَةُ نَوْمِي وَاسِعَةٌ وَنَظِيفَةٌ.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Spacious and clean</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فِيهَا سَرِيرٌ بُنِّيٌّ كَبِيرٌ بِجَانِبِ النَّافِذَةِ، وَخِزَانَةٌ بَيْضَاءُ مُقَابِلَ البَابِ.</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Big brown bed next to the window · white wardrobe opposite the door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المَكْتَبُ عَلَى يَمِينِ السَّرِيرِ، وَفَوْقَهُ رَفَّانِ لِلكُتُبِ.</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Desk right of the bed · two book shelves above it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تَحْتَ المَكْتَبِ كُرْسِيٌّ أَسْوَدُ، وَعَلَى الأَرْضِيَّةِ سَجَّادَةٌ زَرْقَاءُ فَاتِحَةٌ.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Black chair under the desk · light-blue rug on the floor</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أُحِبُّ غُرْفَتِي لِأَنَّهَا مُرِيحَةٌ وَهَادِئَةٌ.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Opinion: comfortable and quiet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TEXT B (WEBSITE)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Salmā’s bedroom</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النَّصُّ (ب)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غُرْفَتِي ضَيِّقَةٌ، وَلَكِنَّهَا جَمِيلَةٌ وَمُضِيئَةٌ.</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Narrow — but beautiful and bright</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السَّرِيرُ عَلَى يَسَارِ النَّافِذَةِ، وَعَلَيْهِ لِحَافٌ وَرْدِيٌّ وَمِخَدَّتَانِ بَيْضَاوَانِ.</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Bed left of the window · pink duvet and two white pillows</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بِجَانِبِ السَّرِيرِ مِصْبَاحٌ صَغِيرٌ. خَلْفَ البَابِ سَلَّةٌ، وَالمِرْآةُ فَوْقَ خِزَانَةٍ قَصِيرَةٍ.</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Small lamp by the bed · basket behind the door · mirror above a short wardrobe</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غُرْفَتِي أَحْيَانًا غَيْرُ مُرَتَّبَةٍ، لِأَنَّ فِيهَا كُتُبًا وَمَلَابِسَ كَثِيرَةً.</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Sometimes untidy: lots of books and clothes</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اللَّيْلِ أَقْرَأُ، ثُمَّ أَنَامُ.</a:t>
            </a:r>
            <a:endParaRPr lang="ar-SA" sz="20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night: reads, then sleeps</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Yūsuf or Salmā?</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A: Where is the bed?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under the desk</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next to the window</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behind the door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A: How many shelves are above the desk?</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A: What is under the desk?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blue rug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computer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black chair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B: What is on the bed?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pink duvet and two white pillows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blue blanket and one pillow</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 books and a lamp</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B: What is behind the door?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mirror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basket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desk</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object,</a:t>
            </a:r>
            <a:endParaRPr lang="en-US" sz="1250" dirty="0"/>
          </a:p>
          <a:p>
            <a:pPr algn="l" indent="0" marL="0">
              <a:buNone/>
            </a:pPr>
            <a:r>
              <a:rPr lang="en-US" sz="1250" dirty="0">
                <a:solidFill>
                  <a:srgbClr val="1F2A37"/>
                </a:solidFill>
                <a:latin typeface="Calibri" pitchFamily="34" charset="0"/>
                <a:cs typeface="Amiri" pitchFamily="2" charset="-78"/>
              </a:rPr>
              <a:t>then the position or colour next to it.</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A: Where is the bed?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under the desk</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next to the window</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behind the door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is </a:t>
            </a:r>
            <a:pPr algn="l" indent="0" marL="0">
              <a:buNone/>
            </a:pPr>
            <a:r>
              <a:rPr lang="ar-SA" altLang="en-US" sz="1350" dirty="0">
                <a:solidFill>
                  <a:srgbClr val="8A6D1E"/>
                </a:solidFill>
                <a:latin typeface="Amiri" pitchFamily="2" charset="-78"/>
                <a:cs typeface="Amiri" pitchFamily="2" charset="-78"/>
              </a:rPr>
              <a:t>بِجَانِبِ النَّافِذَةِ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A: How many shelves are above the desk?</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رَفَّانِ</a:t>
            </a:r>
            <a:pPr algn="l" indent="0" marL="0">
              <a:buNone/>
            </a:pPr>
            <a:r>
              <a:rPr lang="en-US" sz="1050" i="1" dirty="0">
                <a:solidFill>
                  <a:srgbClr val="8A6D1E"/>
                </a:solidFill>
                <a:latin typeface="Calibri" pitchFamily="34" charset="0"/>
                <a:cs typeface="Amiri" pitchFamily="2" charset="-78"/>
              </a:rPr>
              <a:t> means two shelves.</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A: What is under the desk?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blue rug</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computer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black chair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There is a </a:t>
            </a:r>
            <a:pPr algn="l" indent="0" marL="0">
              <a:buNone/>
            </a:pPr>
            <a:r>
              <a:rPr lang="ar-SA" altLang="en-US" sz="1350" dirty="0">
                <a:solidFill>
                  <a:srgbClr val="8A6D1E"/>
                </a:solidFill>
                <a:latin typeface="Amiri" pitchFamily="2" charset="-78"/>
                <a:cs typeface="Amiri" pitchFamily="2" charset="-78"/>
              </a:rPr>
              <a:t>كُرْسِيٌّ أَسْوَدُ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B: What is on the bed?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pink duvet and two white pillows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blue blanket and one pillow</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 books and a lamp</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bed has a pink duvet and two white pillows.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B: What is behind the door?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mirror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basket</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desk</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says </a:t>
            </a:r>
            <a:pPr algn="l" indent="0" marL="0">
              <a:buNone/>
            </a:pPr>
            <a:r>
              <a:rPr lang="ar-SA" altLang="en-US" sz="1350" dirty="0">
                <a:solidFill>
                  <a:srgbClr val="8A6D1E"/>
                </a:solidFill>
                <a:latin typeface="Amiri" pitchFamily="2" charset="-78"/>
                <a:cs typeface="Amiri" pitchFamily="2" charset="-78"/>
              </a:rPr>
              <a:t>خَلْفَ البَابِ سَلَّةٌ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object,</a:t>
            </a:r>
            <a:endParaRPr lang="en-US" sz="1250" dirty="0"/>
          </a:p>
          <a:p>
            <a:pPr algn="l" indent="0" marL="0">
              <a:buNone/>
            </a:pPr>
            <a:r>
              <a:rPr lang="en-US" sz="1250" dirty="0">
                <a:solidFill>
                  <a:srgbClr val="1F2A37"/>
                </a:solidFill>
                <a:latin typeface="Calibri" pitchFamily="34" charset="0"/>
                <a:cs typeface="Amiri" pitchFamily="2" charset="-78"/>
              </a:rPr>
              <a:t>then the position or colour next to it.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Give a bedroom tour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غُرْفَتُكَ؟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يُوجَدُ فِي غُرْفَتِكَ؟ مَا لَوْنُهُ؟</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أَيْنَ السَّرِيرُ؟ وَأَيْنَ المَكْتَبُ؟</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غُرْفَتَكَ الحَالِيَّةَ وَغُرْفَتَكَ المِثَالِيَّةَ.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غُرْفَتِي ___ ـةٌ وَ ___ ـةٌ.</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فِيهَا سَرِيرٌ ___ وَخِزَانَةٌ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cs typeface="Amiri" pitchFamily="2" charset="-78"/>
              </a:rPr>
              <a:t>السَّرِيرُ ___ النَّافِذَةِ، وَالمَكْتَبُ ___ البَابِ.</a:t>
            </a:r>
            <a:endParaRPr lang="ar-SA" sz="14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غُرْفَتِي … ، أَمَّا غُرْفَتِي المِثَالِيَّةُ فَهِيَ … .</a:t>
            </a:r>
            <a:endParaRPr lang="ar-SA" sz="145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صِفْ غُرْفَتَكَ، مِنْ فَضْلِكَ.</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Describe your room, please.</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غُرْفَتِي مُرَتَّبَةٌ وَهَادِئَةٌ. الحَاسُوبُ عَلَى المَكْتَبِ، وَفَوْقَهُ رَفَّانِ لِلكُتُبِ.</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My room is tidy and quiet. The computer is on the desk, and above it are two shelves for books.</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Six accurate sentences using the planner and the banks.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Room + two adjectives, objects with positions, an opinion.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colours, four positions and a bedroom action.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colours, four positions and a bedroom action.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Compare a real and an ideal room: wa-lākinna, ayḍan, fī l-muqābil.</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Compare a real and an ideal room: wa-lākinna, ammā … fa-.</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السَّرِيرُ أَبْيَضُ، وَالسِّتَارَةُ زَرْقَاءُ.</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bed is white and the curtain is blue.</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الخِزَانَةُ مُقَابِلَ البَابِ.</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wardrobe is opposite the door.</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فَوْقَ المَكْتَبِ رُفُوفٌ.</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Above the desk there are shelves.</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السَّجَّادَةُ فِي وَسَطِ الغُرْفَةِ.</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rug is in the middle of the room.</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المَسَاءِ أَدْرُسُ عَلَى المَكْتَبِ.</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evening I study at the desk.</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غُرْفَتِي نَظِيفَةٌ وَمُرَتَّبَةٌ.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room is clean and tidy.</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فِيهَا سَرِيرٌ وَمَكْتَبٌ.</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it there is a bed and a desk.</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الحَاسُوبُ عَلَى المَكْتَبِ.</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computer is on the desk.</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المِصْبَاحُ بِجَانِبِ السَّرِيرِ.</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lamp is next to the bed.</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أُحِبُّ غُرْفَتِي لِأَنَّهَا هَادِئَةٌ.</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my room because it is quiet.</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سَرِيرٌ  ·  خِزَانَةٌ  ·  مَكْتَبٌ  ·  مِرْآةٌ  ·  مِخَدَّةٌ  ·  مُرَتَّبَةٌ  ·  نَظِيفَةٌ  ·  وَاسِعَةٌ  ·  عَلَى  ·  تَحْتَ  ·  بِجَانِبِ  ·  مُقَابِلَ</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غُرْفَتِي وَاسِعَةٌ وَمُرَتَّبَةٌ. السَّرِيرُ بِجَانِبِ النَّافِذَةِ، وَالمَكْتَبُ مُقَابِلَهُ. عَلَى المَكْتَبِ حَاسُوبٌ وَمِصْبَاحٌ. الخِزَانَةُ عَلَى يَمِينِ البَابِ، وَالسَّجَّادَةُ فِي وَسَطِ الغُرْفَةِ. فِي المَسَاءِ أَدْرُسُ عَلَى المَكْتَبِ، ثُمَّ أَرْتَاحُ. أُحِبُّ غُرْفَتِي لِأَنَّهَا هَادِئَةٌ وَمُرِيحَةٌ.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room is spacious and tidy. The bed is next to the window and the desk is opposite it. On the desk there is a computer and a lamp. The wardrobe is to the right of the door and the rug is in the middle of the room. In the evening I study at the desk, then I rest. I like my room because it is quiet and comfortable.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room adjectives (f.)</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positions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bedroom action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opinion + reason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room adjectives end in -a.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six objects with positions.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colour agrees with its object.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four different positions and one action.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compared a real and an ideal room.</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غُرْفَتِي ___.</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نَظِيفَةٌ</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نَظِيفٌ</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نَظِيفُونَ</a:t>
            </a:r>
            <a:endParaRPr lang="ar-SA" sz="2050" dirty="0"/>
          </a:p>
        </p:txBody>
      </p:sp>
      <p:sp>
        <p:nvSpPr>
          <p:cNvPr id="29" name="Shape 26"/>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السِّتَارَةُ ___.</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أَبْيَضُ</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بَيْضَاءُ</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أَبْيَضَةٌ</a:t>
            </a:r>
            <a:endParaRPr lang="ar-SA" sz="2050" dirty="0"/>
          </a:p>
        </p:txBody>
      </p:sp>
      <p:sp>
        <p:nvSpPr>
          <p:cNvPr id="43" name="Shape 40"/>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“under the bed”.</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تَحْتَ السَّرِيرِ</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 السَّرِيرِ</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فَوْقَ السَّرِيرِ</a:t>
            </a:r>
            <a:endParaRPr lang="ar-SA" sz="2050" dirty="0"/>
          </a:p>
        </p:txBody>
      </p:sp>
      <p:sp>
        <p:nvSpPr>
          <p:cNvPr id="56" name="Shape 53"/>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7" name="Text 54"/>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8" name="Text 55"/>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غُرْفَتِي ___.</a:t>
            </a:r>
            <a:endParaRPr lang="ar-SA" sz="2200" dirty="0"/>
          </a:p>
        </p:txBody>
      </p:sp>
      <p:sp>
        <p:nvSpPr>
          <p:cNvPr id="20" name="Shape 17"/>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532888"/>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نَظِيفَةٌ</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نَظِيفٌ</a:t>
            </a:r>
            <a:endParaRPr lang="ar-SA" sz="2050" dirty="0"/>
          </a:p>
        </p:txBody>
      </p:sp>
      <p:sp>
        <p:nvSpPr>
          <p:cNvPr id="27" name="Shape 24"/>
          <p:cNvSpPr/>
          <p:nvPr/>
        </p:nvSpPr>
        <p:spPr>
          <a:xfrm>
            <a:off x="640080" y="344728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نَظِيفُونَ</a:t>
            </a:r>
            <a:endParaRPr lang="ar-SA" sz="2050" dirty="0"/>
          </a:p>
        </p:txBody>
      </p:sp>
      <p:sp>
        <p:nvSpPr>
          <p:cNvPr id="30" name="Text 27"/>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the feminine adjective </a:t>
            </a:r>
            <a:pPr algn="l" indent="0" marL="0">
              <a:buNone/>
            </a:pPr>
            <a:r>
              <a:rPr lang="ar-SA" altLang="en-US" sz="1350" dirty="0">
                <a:solidFill>
                  <a:srgbClr val="8A6D1E"/>
                </a:solidFill>
                <a:latin typeface="Amiri" pitchFamily="2" charset="-78"/>
                <a:cs typeface="Amiri" pitchFamily="2" charset="-78"/>
              </a:rPr>
              <a:t>نَظِيفَةٌ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السِّتَارَةُ ___.</a:t>
            </a:r>
            <a:endParaRPr lang="ar-SA" sz="220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أَبْيَضُ</a:t>
            </a:r>
            <a:endParaRPr lang="ar-SA" sz="20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بَيْضَاءُ</a:t>
            </a:r>
            <a:endParaRPr lang="ar-SA" sz="20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أَبْيَضَةٌ</a:t>
            </a:r>
            <a:endParaRPr lang="ar-SA" sz="2050" dirty="0"/>
          </a:p>
        </p:txBody>
      </p:sp>
      <p:sp>
        <p:nvSpPr>
          <p:cNvPr id="46" name="Text 43"/>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سِتَارَةٌ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47" name="Shape 44"/>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“under the bed”.</a:t>
            </a:r>
            <a:endParaRPr lang="en-US" sz="1250" dirty="0"/>
          </a:p>
        </p:txBody>
      </p:sp>
      <p:sp>
        <p:nvSpPr>
          <p:cNvPr id="51" name="Shape 48"/>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532888"/>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تَحْتَ السَّرِيرِ</a:t>
            </a:r>
            <a:endParaRPr lang="ar-SA" sz="2050" dirty="0"/>
          </a:p>
        </p:txBody>
      </p:sp>
      <p:sp>
        <p:nvSpPr>
          <p:cNvPr id="55" name="Shape 52"/>
          <p:cNvSpPr/>
          <p:nvPr/>
        </p:nvSpPr>
        <p:spPr>
          <a:xfrm>
            <a:off x="8278368" y="2990088"/>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عَلَى السَّرِيرِ</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فَوْقَ السَّرِيرِ</a:t>
            </a:r>
            <a:endParaRPr lang="ar-SA" sz="2050" dirty="0"/>
          </a:p>
        </p:txBody>
      </p:sp>
      <p:sp>
        <p:nvSpPr>
          <p:cNvPr id="61" name="Text 58"/>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تَحْتَ</a:t>
            </a:r>
            <a:pPr algn="l" indent="0" marL="0">
              <a:buNone/>
            </a:pPr>
            <a:r>
              <a:rPr lang="en-US" sz="1050" i="1" dirty="0">
                <a:solidFill>
                  <a:srgbClr val="8A6D1E"/>
                </a:solidFill>
                <a:latin typeface="Calibri" pitchFamily="34" charset="0"/>
                <a:cs typeface="Amiri" pitchFamily="2" charset="-78"/>
              </a:rPr>
              <a:t> means under.</a:t>
            </a:r>
            <a:endParaRPr lang="en-US" sz="1050" dirty="0"/>
          </a:p>
        </p:txBody>
      </p:sp>
      <p:sp>
        <p:nvSpPr>
          <p:cNvPr id="62" name="Shape 59"/>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4" name="Text 61"/>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F3-L09: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F3-L09 · Extended Writing: My Home and Family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فِكْرَةٌ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idea</a:t>
            </a:r>
            <a:pPr indent="0" marL="0">
              <a:buNone/>
            </a:pPr>
            <a:r>
              <a:rPr lang="en-US" sz="1000" i="1" dirty="0">
                <a:solidFill>
                  <a:srgbClr val="5A6472"/>
                </a:solidFill>
                <a:latin typeface="Calibri" pitchFamily="34" charset="0"/>
                <a:cs typeface="Amiri" pitchFamily="2" charset="-78"/>
              </a:rPr>
              <a:t>  pl. أَفْكَارٌ</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خُطَّةٌ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plan</a:t>
            </a:r>
            <a:pPr indent="0" marL="0">
              <a:buNone/>
            </a:pPr>
            <a:r>
              <a:rPr lang="en-US" sz="1000" i="1" dirty="0">
                <a:solidFill>
                  <a:srgbClr val="5A6472"/>
                </a:solidFill>
                <a:latin typeface="Calibri" pitchFamily="34" charset="0"/>
                <a:cs typeface="Amiri" pitchFamily="2" charset="-78"/>
              </a:rPr>
              <a:t>  pl. خُطَطٌ</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مُسَوَّدَةٌ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draft</a:t>
            </a:r>
            <a:pPr indent="0" marL="0">
              <a:buNone/>
            </a:pPr>
            <a:r>
              <a:rPr lang="en-US" sz="1000" i="1" dirty="0">
                <a:solidFill>
                  <a:srgbClr val="5A6472"/>
                </a:solidFill>
                <a:latin typeface="Calibri" pitchFamily="34" charset="0"/>
                <a:cs typeface="Amiri" pitchFamily="2" charset="-78"/>
              </a:rPr>
              <a:t>  pl. مُسَوَّدَاتٌ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فِقْرَةٌ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paragraph</a:t>
            </a:r>
            <a:pPr indent="0" marL="0">
              <a:buNone/>
            </a:pPr>
            <a:r>
              <a:rPr lang="en-US" sz="1000" i="1" dirty="0">
                <a:solidFill>
                  <a:srgbClr val="5A6472"/>
                </a:solidFill>
                <a:latin typeface="Calibri" pitchFamily="34" charset="0"/>
                <a:cs typeface="Amiri" pitchFamily="2" charset="-78"/>
              </a:rPr>
              <a:t>  pl. فِقْرَاتٌ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رَابِطٌ</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connector (link word)</a:t>
            </a:r>
            <a:pPr indent="0" marL="0">
              <a:buNone/>
            </a:pPr>
            <a:r>
              <a:rPr lang="en-US" sz="1000" i="1" dirty="0">
                <a:solidFill>
                  <a:srgbClr val="5A6472"/>
                </a:solidFill>
                <a:latin typeface="Calibri" pitchFamily="34" charset="0"/>
                <a:cs typeface="Amiri" pitchFamily="2" charset="-78"/>
              </a:rPr>
              <a:t>  pl. رَوَابِطُ</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three ideas for a text about your home and family (in English or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مَا أَفْكَارُكَ؟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F3-L08: the Bedroom Designer Mission (14)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Layout Studio: draw and label a bedroom and write six location sentences.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6–8 sentences comparing your real and your ideal bedroom.</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F3-L08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cs typeface="Amiri" pitchFamily="2" charset="-78"/>
              </a:rPr>
              <a:t>F3-L09 · Extended Writing: My Home and Family</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الكِتَابَةُ المُطَوَّلَةُ — بَيْتِي وَعَائِلَتِي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room (f.) → -a · each object sets its colour · on ‘alā, under taḥta.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F3-L08 · Describing My Bedroom</dc:title>
  <dc:subject>PptxGenJS Presentation</dc:subject>
  <dc:creator>Al Madina Online School · Arabic Department</dc:creator>
  <cp:lastModifiedBy>Al Madina Online School · Arabic Department</cp:lastModifiedBy>
  <cp:revision>1</cp:revision>
  <dcterms:created xsi:type="dcterms:W3CDTF">2026-10-11T06:41:33Z</dcterms:created>
  <dcterms:modified xsi:type="dcterms:W3CDTF">2026-10-11T06:41:33Z</dcterms:modified>
</cp:coreProperties>
</file>