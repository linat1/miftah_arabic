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1 (F3-L01). Website sections used: the six-question F2 bridge, the complete family and relationship vocabulary (immediate family, grandparents and extended family, cousins and wider relations, family structure and sibling order) with its 12-question check, the Al-Rashid family tree, possessive endings with the special family forms and the 10-question laboratory, clear family sentences with هَذَا / هَذِهِ, the Family Relationship Mission (12), Layla’s family (listening, 8), the Al-Rashid family reading (10), the family speaking studio (4 prompts), the family-tree writing workshop and the 12-question checkpoint. Picture match: website visual game “My Family — Members and Relationships”.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(F3 · My Family &amp; Home). Core: 10 family words + “this is my …” (هَذَا أَبِي / هَذِهِ أُمِّي). Develop: his / her endings (أُخْتُهُ، عَمُّهَا) and extended family. Stretch: paternal / maternal distinctions, sibling order and cousins.
• PRIVACY (website): no one needs to share real family information — every task may use the fictional عَائِلَةُ الرَّشِيدِ or an invented family. Be mindful of students in different family situations (single-parent, carers, bereavement, step-families — the website includes زَوْجَةُ الأَبِ / زَوْجُ الأُمِّ and “caregiver”).
• The website’s key rule: the ending shows the OWNER, not the family member (أُخْتُهُ = HIS sister).
• Urdu bridge: most family words are different in Urdu (ابو، امی، بھائی) but students know many Arabic ones from names and Islamic texts: وَالِد / وَالِدَة (والدین), عَمّ / خَال (in some dialects), أَقَارِب (اقارب), اِبْن (ابن سینا).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family words prepared at home at the end of F2-L12. Questions 3–5 are the website “F2 bridge” (this m., she is kind, his name).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(m.) is my father · this (f.) is my mother. The ending -ī means “my”.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والد / والدہ / والدین, اقارب, زوجہ and طفل are Arabic words used in formal Urdu. ابن is known from names (ابنِ سینا، ابنِ بطوطہ). Everyday Urdu ابو / امی / بھائی / بہن are NOT the Arabic words — give أَبٌ / أُمٌّ / أَخٌ / أُخْتٌ extra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IMMEDIATE FAMILY (website). Also in the group: زَوْجٌ (husband), زَوْجَةٌ (wife). Every card shows “my” and a plural or his / her — the special forms of father and brother (أَبِي، أَبُوهُ، أَخُوهَا) are today’s grammar.
Hear → say → see → use: “hādhā abī · hādhihi ummī”.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EXTENDED FAMILY (website). Meaning clue (website): English says “uncle” and “aunt” for both sides; Arabic shows which side — father’s side عَمٌّ / عَمَّةٌ, mother’s side خَالٌ / خَالَةٌ. Also: أَقَارِبُ (relatives), أَجْدَادٌ (grandparents /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WIDER BANK (FLEX / recognition). Also on the website: اِبْنُ أَخٍ / اِبْنُ أُخْتٍ (nephew), اِبْنَةُ أَخٍ (niece), طِفْلٌ / أَطْفَالٌ (child / children), جَارٌ / جَارَةٌ (neighbour), قَرِيبٌ / قَرِيبَةٌ (relative), زَوْجَةُ الأَبِ (stepmother), زَوْجُ الأُمِّ (stepfather).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“Show whose family member it is” (the ending table with عَمٌّ and خَالَةٌ) and the special forms: أَبِي · أَبُوكَ / أَبُوكِ · أَبُوهُ / أَبُوهَا — the same for أَخٌ (أَخِي، أَخُوهُ) — and أُمِّي، أُمُّهُ (keep the shadda).
Website “important meaning”: choose the suffix from the owner, not from the family member. أُخْتُهُ = his sister (the sister is female, the owner is male).
Remember ة → ت before an ending: خَالَةٌ → خَالَتِي (F2).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“Build clear family sentences”: هَذَا with a masculine family member, هَذِهِ with a feminine one, then a name, age or description. Website models: هَذَا أَبِي. اِسْمُهُ خَالِدٌ. هُوَ لَطِيفٌ وَمُجْتَهِدٌ. / هَذِهِ أُمِّي. اِسْمُهَا مَرْيَمُ. هِيَ لَطِيفَةٌ وَمُجْتَهِدَةٌ.
Connectors (website): وَ، أَيْضًا، وَلَكِنْ، لِأَنَّ. Age (F2-L03): عُمْرُهُ سِتَّ عَشْرَةَ سَنَةً · عُمْرُهَا اِثْنَتَا عَشْرَةَ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possessive suffix laboratory” questions 1, 3, 5 and 10.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speaking-studio model for the Al-Rashid family, with a think-aloud at every هَذَا / هَذِهِ and ending. Then ask: “Layla is Khalid’s daughter — what is Samir to Layla?” → عَمُّهَا (her paternal uncle).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Family — Members and Relationships”)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feminine? (هٰذِهِ). Other cards for homework: هٰذَا أَبِي، هٰذِهِ أُخْتِي، هٰذَا جَدِّي.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Family — Members and Relationships”)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tells you it is feminine? (هٰذِهِ). Other cards for homework: هٰذَا أَبِي، هٰذِهِ أُخْتِي، هٰذَا جَدِّي.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relationship clues (paternal uncle, maternal aunt, his sister, her father, this is my aunt).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side of the family? who is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4. Develop / Stretch: all 5.
Listen 1: just listen. Listen 2: note answers. Then chat the letters.
Support: after the second listening, show the read-along slide (Arabic + English, line by line) for Core students.
SCRIPT (read aloud):
اِسْمِي لَيْلَى. عَائِلَتِي كَبِيرَةٌ وَلَطِيفَةٌ. هَذَا أَبِي، وَاسْمُهُ خَالِدٌ. هُوَ مُجْتَهِدٌ. وَهَذِهِ أُمِّي، وَاسْمُهَا مَرْيَمُ. هِيَ لَطِيفَةٌ جِدًّا. عِنْدِي أَخٌ أَكْبَرُ، وَاسْمُهُ يُوسُفُ، وَعُمْرُهُ سِتَّ عَشْرَةَ سَنَةً. جَدَّتِي سَلْمَى تَعِيشُ مَعَنَا. عَمِّي سَامِرٌ يَعِيشُ فِي لَنْدَنَ، وَبِنْتُ عَمِّي زَيْنَبُ تُحِبُّ القِرَاءَةَ. أَنَا أُحِبُّ عَائِلَتِي لِأَنَّهَا مُتَعَاوِنَةٌ.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AL-RASHID FAMILY (website, one sentence abridged: “the relatives like to eat and talk together”). Draw the tree live as the class reads (website section 3). Every relationship is from LAYLA’s point of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7, 8 and 9. The other 5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“Introduce a family” — real or invented; speak from a tree or short notes. Prompt cards (website):
• Al-Rashid family: Grandparents · parents · two children · uncle · cousin
• Small invented family: One parent · two siblings · grandmother · maternal aunt
• Extended international family: Grandparents abroad · cousins in two cities · twins
• Sibling-focused family: Older sister · younger brother · cousins · neighbours
Website checklist (listener ticks 1–6): six relationships · possessive forms (أَبِي، أُمِّي، أَخُوهَا) · هَذَا / هَذِهِ and matching adjectives · names, ages or places · connectors · clear delivery.
The Core prompt and the “who is Samir?” prompt are teacher-made from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naming at least six people with hādhā / hādhihi. · Develop — 70–90 words with immediate and extended family, possessive endings and three connectors. · Stretch — Add sibling order, cousins, a comparison and a reason with li’anna.
Website writing task (Stretch): Website writing workshop: describe a real or invented family tree — grandparents, parents or caregivers, children or siblings, extended family and one family quality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“Al-Rashid family”). Develop: add Layla, Yusuf and aunt Noor with an age and a reason to reach 70–90 words.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(F3-L02 · Describing Family Members) will spend class time USING this language, so students prepare it tonight — short, simple, easy to access (school guidance: “Simple, Short, Interesting, Relevant, Easy to access”). The five words come from the website F3-L02 appearance and personality banks (m. / f.).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My Family — Members and Relationships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عَائِلَتِي — الأَفْرَادُ وَالعَلَاقَاتُ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a complete family vocabulary bank, show who belongs to whom with possessive endings, and describe a real or invented family clearly.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F3-L01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Family words, then “my, your, his, her”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Relationship Mission, listen to Layla, read about the Al-Rashid family.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mother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introduces a masculine family member?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kind.”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لَطِيفٌ.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لَطِيفٌ.</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لَطِيفَةٌ.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“his name”?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sister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sister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brother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mother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demonstrative introduces a masculine family member?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introduces one masculine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kind.”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لَطِيفٌ.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لَطِيفٌ.</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لَطِيفَةٌ.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the feminine adjective </a:t>
            </a:r>
            <a:pPr algn="l" indent="0" marL="0">
              <a:buNone/>
            </a:pPr>
            <a:r>
              <a:rPr lang="ar-SA" altLang="en-US" sz="1350" dirty="0">
                <a:solidFill>
                  <a:srgbClr val="8A6D1E"/>
                </a:solidFill>
                <a:latin typeface="Amiri" pitchFamily="2" charset="-78"/>
                <a:ea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“his name”?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اِسْمُهُ</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 </a:t>
            </a:r>
            <a:pPr algn="l" indent="0" marL="0">
              <a:buNone/>
            </a:pPr>
            <a:r>
              <a:rPr lang="ar-SA" altLang="en-US" sz="1350" dirty="0">
                <a:solidFill>
                  <a:srgbClr val="8A6D1E"/>
                </a:solidFill>
                <a:latin typeface="Amiri" pitchFamily="2" charset="-78"/>
                <a:ea typeface="Amiri" pitchFamily="2" charset="-78"/>
                <a:cs typeface="Amiri" pitchFamily="2" charset="-78"/>
              </a:rPr>
              <a:t>اِسْمُهُ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(m.) is my father · this (f.) is my mother. The ending -ī means “my”.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أَبِ</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أُمِّ</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14 core family members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wider family and relationships bank.</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ـي، ـكَ، ـكِ، ـهُ، ـهَا</a:t>
            </a:r>
            <a:pPr algn="l" indent="0" marL="0">
              <a:buNone/>
            </a:pPr>
            <a:r>
              <a:rPr lang="en-US" sz="1300" dirty="0">
                <a:solidFill>
                  <a:srgbClr val="1F2A37"/>
                </a:solidFill>
                <a:latin typeface="Calibri" pitchFamily="34" charset="0"/>
                <a:cs typeface="Amiri" pitchFamily="2" charset="-78"/>
              </a:rPr>
              <a:t> to show possession.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and describe a real or invented family tree.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family members.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“this is my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his / her … (-hu / -hā).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uncles, aunts and cousins.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paternal from maternal relatives.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sibling order and cousins.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complete website family bank. Core: immediate family and grandparents. Uncles, aunts and cousins are Develop /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Immediate family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Grandparents and extended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Cousins, structure, siblings · 17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وَالِدٌ · وَالِدَةٌ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‎والد · والدہ‎ </a:t>
            </a:r>
            <a:pPr indent="0" marL="0">
              <a:buNone/>
            </a:pPr>
            <a:r>
              <a:rPr lang="en-US" sz="950" b="1" dirty="0">
                <a:solidFill>
                  <a:srgbClr val="2E8B57"/>
                </a:solidFill>
                <a:latin typeface="Calibri" pitchFamily="34" charset="0"/>
                <a:cs typeface="Amiri" pitchFamily="2" charset="-78"/>
              </a:rPr>
              <a:t> wālid · wālida · father · mother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‎اقارب‎ </a:t>
            </a:r>
            <a:pPr indent="0" marL="0">
              <a:buNone/>
            </a:pPr>
            <a:r>
              <a:rPr lang="en-US" sz="950" b="1" dirty="0">
                <a:solidFill>
                  <a:srgbClr val="2E8B57"/>
                </a:solidFill>
                <a:latin typeface="Calibri" pitchFamily="34" charset="0"/>
                <a:cs typeface="Amiri" pitchFamily="2" charset="-78"/>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اِبْنٌ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‎ابن (ابنِ سینا)‎ </a:t>
            </a:r>
            <a:pPr indent="0" marL="0">
              <a:buNone/>
            </a:pPr>
            <a:r>
              <a:rPr lang="en-US" sz="950" b="1" dirty="0">
                <a:solidFill>
                  <a:srgbClr val="2E8B57"/>
                </a:solidFill>
                <a:latin typeface="Calibri" pitchFamily="34" charset="0"/>
                <a:cs typeface="Amiri" pitchFamily="2" charset="-78"/>
              </a:rPr>
              <a:t> ibn · son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زَوْجٌ · زَوْجَةٌ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‎زوج · زوجہ‎ </a:t>
            </a:r>
            <a:pPr indent="0" marL="0">
              <a:buNone/>
            </a:pPr>
            <a:r>
              <a:rPr lang="en-US" sz="950" b="1" dirty="0">
                <a:solidFill>
                  <a:srgbClr val="2E8B57"/>
                </a:solidFill>
                <a:latin typeface="Calibri" pitchFamily="34" charset="0"/>
                <a:cs typeface="Amiri" pitchFamily="2" charset="-78"/>
              </a:rPr>
              <a:t> zawj · zawja · husband · wife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طِفْلٌ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‎طفل‎ </a:t>
            </a:r>
            <a:pPr indent="0" marL="0">
              <a:buNone/>
            </a:pPr>
            <a:r>
              <a:rPr lang="en-US" sz="950" b="1" dirty="0">
                <a:solidFill>
                  <a:srgbClr val="2E8B57"/>
                </a:solidFill>
                <a:latin typeface="Calibri" pitchFamily="34" charset="0"/>
                <a:cs typeface="Amiri" pitchFamily="2" charset="-78"/>
              </a:rPr>
              <a:t> ṭifl · child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IMMEDIATE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Father, mother, brother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الأُسْرَةُ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this: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 / وَالِدٌ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father</a:t>
            </a:r>
            <a:endParaRPr lang="en-US" sz="1350" dirty="0"/>
          </a:p>
          <a:p>
            <a:pPr indent="0" marL="0">
              <a:buNone/>
            </a:pPr>
            <a:r>
              <a:rPr lang="en-US" sz="1100" i="1" dirty="0">
                <a:solidFill>
                  <a:srgbClr val="5A6472"/>
                </a:solidFill>
                <a:latin typeface="Calibri" pitchFamily="34" charset="0"/>
                <a:cs typeface="Amiri" pitchFamily="2" charset="-78"/>
              </a:rPr>
              <a:t>ab / wā-lid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this: hādhihi</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 / وَالِدَةٌ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mother</a:t>
            </a:r>
            <a:endParaRPr lang="en-US" sz="1350" dirty="0"/>
          </a:p>
          <a:p>
            <a:pPr indent="0" marL="0">
              <a:buNone/>
            </a:pPr>
            <a:r>
              <a:rPr lang="en-US" sz="1100" i="1" dirty="0">
                <a:solidFill>
                  <a:srgbClr val="5A6472"/>
                </a:solidFill>
                <a:latin typeface="Calibri" pitchFamily="34" charset="0"/>
                <a:cs typeface="Amiri" pitchFamily="2" charset="-78"/>
              </a:rPr>
              <a:t>umm / wā-li-da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أُمُّهُ</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brother</a:t>
            </a:r>
            <a:endParaRPr lang="en-US" sz="1350" dirty="0"/>
          </a:p>
          <a:p>
            <a:pPr indent="0" marL="0">
              <a:buNone/>
            </a:pPr>
            <a:r>
              <a:rPr lang="en-US" sz="1100" i="1" dirty="0">
                <a:solidFill>
                  <a:srgbClr val="5A6472"/>
                </a:solidFill>
                <a:latin typeface="Calibri" pitchFamily="34" charset="0"/>
                <a:cs typeface="Amiri" pitchFamily="2" charset="-78"/>
              </a:rPr>
              <a:t>akh</a:t>
            </a:r>
            <a:endParaRPr lang="en-US" sz="1350" dirty="0"/>
          </a:p>
        </p:txBody>
      </p:sp>
      <p:sp>
        <p:nvSpPr>
          <p:cNvPr id="54" name="Shape 5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إِخْوَةٌ</a:t>
            </a:r>
            <a:endParaRPr lang="ar-SA" sz="1500" dirty="0"/>
          </a:p>
        </p:txBody>
      </p:sp>
      <p:sp>
        <p:nvSpPr>
          <p:cNvPr id="57" name="Shape 5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9" name="Text 5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أَخُوهَا</a:t>
            </a:r>
            <a:endParaRPr lang="ar-SA" sz="1500" dirty="0"/>
          </a:p>
        </p:txBody>
      </p:sp>
      <p:sp>
        <p:nvSpPr>
          <p:cNvPr id="60" name="Shape 5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62" name="Text 5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6" name="Shape 6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8" name="Shape 6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sister</a:t>
            </a:r>
            <a:endParaRPr lang="en-US" sz="1350" dirty="0"/>
          </a:p>
          <a:p>
            <a:pPr indent="0" marL="0">
              <a:buNone/>
            </a:pPr>
            <a:r>
              <a:rPr lang="en-US" sz="1100" i="1" dirty="0">
                <a:solidFill>
                  <a:srgbClr val="5A6472"/>
                </a:solidFill>
                <a:latin typeface="Calibri" pitchFamily="34" charset="0"/>
                <a:cs typeface="Amiri" pitchFamily="2" charset="-78"/>
              </a:rPr>
              <a:t>ukht</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أَخَوَاتٌ</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أُخْتُهُ</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son</a:t>
            </a:r>
            <a:endParaRPr lang="en-US" sz="1350" dirty="0"/>
          </a:p>
          <a:p>
            <a:pPr indent="0" marL="0">
              <a:buNone/>
            </a:pPr>
            <a:r>
              <a:rPr lang="en-US" sz="1100" i="1" dirty="0">
                <a:solidFill>
                  <a:srgbClr val="5A6472"/>
                </a:solidFill>
                <a:latin typeface="Calibri" pitchFamily="34" charset="0"/>
                <a:cs typeface="Amiri" pitchFamily="2" charset="-78"/>
              </a:rPr>
              <a:t>ibn</a:t>
            </a:r>
            <a:endParaRPr lang="en-US" sz="1350" dirty="0"/>
          </a:p>
        </p:txBody>
      </p:sp>
      <p:sp>
        <p:nvSpPr>
          <p:cNvPr id="90" name="Shape 8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أَبْنَاءٌ</a:t>
            </a:r>
            <a:endParaRPr lang="ar-SA" sz="1500" dirty="0"/>
          </a:p>
        </p:txBody>
      </p:sp>
      <p:sp>
        <p:nvSpPr>
          <p:cNvPr id="93" name="Shape 9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95" name="Text 9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اِبْنِي</a:t>
            </a:r>
            <a:endParaRPr lang="ar-SA" sz="1500" dirty="0"/>
          </a:p>
        </p:txBody>
      </p:sp>
      <p:sp>
        <p:nvSpPr>
          <p:cNvPr id="96" name="Shape 9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4"/>
          <p:cNvSpPr/>
          <p:nvPr/>
        </p:nvSpPr>
        <p:spPr>
          <a:xfrm>
            <a:off x="566928" y="4261104"/>
            <a:ext cx="310896" cy="310896"/>
          </a:xfrm>
          <a:prstGeom prst="ellipse">
            <a:avLst/>
          </a:prstGeom>
          <a:solidFill>
            <a:srgbClr val="F4F1EA"/>
          </a:solidFill>
          <a:ln w="12700">
            <a:solidFill>
              <a:srgbClr val="F4F1EA"/>
            </a:solidFill>
            <a:prstDash val="solid"/>
          </a:ln>
        </p:spPr>
      </p:sp>
      <p:sp>
        <p:nvSpPr>
          <p:cNvPr id="98" name="Text 9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9" name="Shape 96"/>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100" name="Text 97"/>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101" name="Shape 9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2" name="Text 9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03" name="Text 10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بِنْتٌ / اِبْنَةٌ</a:t>
            </a:r>
            <a:endParaRPr lang="ar-SA" sz="3000" dirty="0"/>
          </a:p>
        </p:txBody>
      </p:sp>
      <p:sp>
        <p:nvSpPr>
          <p:cNvPr id="104" name="Text 10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daughter</a:t>
            </a:r>
            <a:endParaRPr lang="en-US" sz="1350" dirty="0"/>
          </a:p>
          <a:p>
            <a:pPr indent="0" marL="0">
              <a:buNone/>
            </a:pPr>
            <a:r>
              <a:rPr lang="en-US" sz="1100" i="1" dirty="0">
                <a:solidFill>
                  <a:srgbClr val="5A6472"/>
                </a:solidFill>
                <a:latin typeface="Calibri" pitchFamily="34" charset="0"/>
                <a:cs typeface="Amiri" pitchFamily="2" charset="-78"/>
              </a:rPr>
              <a:t>bint / ib-na</a:t>
            </a:r>
            <a:endParaRPr lang="en-US" sz="1350" dirty="0"/>
          </a:p>
        </p:txBody>
      </p:sp>
      <p:sp>
        <p:nvSpPr>
          <p:cNvPr id="105" name="Shape 10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6" name="Text 10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7" name="Text 10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بَنَاتٌ</a:t>
            </a:r>
            <a:endParaRPr lang="ar-SA" sz="1500" dirty="0"/>
          </a:p>
        </p:txBody>
      </p:sp>
      <p:sp>
        <p:nvSpPr>
          <p:cNvPr id="108" name="Shape 10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110" name="Text 10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بِنْتِي</a:t>
            </a:r>
            <a:endParaRPr lang="ar-SA" sz="1500" dirty="0"/>
          </a:p>
        </p:txBody>
      </p:sp>
      <p:sp>
        <p:nvSpPr>
          <p:cNvPr id="111" name="Text 10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GRANDPARENTS AND EXTENDED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Grandparents, uncles, aunts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الأَجْدَادُ وَالأَقَارِبُ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a:t>
            </a:r>
            <a:endParaRPr lang="en-US" sz="1350" dirty="0"/>
          </a:p>
          <a:p>
            <a:pPr indent="0" marL="0">
              <a:buNone/>
            </a:pPr>
            <a:r>
              <a:rPr lang="en-US" sz="1100" i="1" dirty="0">
                <a:solidFill>
                  <a:srgbClr val="5A6472"/>
                </a:solidFill>
                <a:latin typeface="Calibri" pitchFamily="34" charset="0"/>
                <a:cs typeface="Amiri" pitchFamily="2" charset="-78"/>
              </a:rPr>
              <a:t>jadd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grandmother</a:t>
            </a:r>
            <a:endParaRPr lang="en-US" sz="1350" dirty="0"/>
          </a:p>
          <a:p>
            <a:pPr indent="0" marL="0">
              <a:buNone/>
            </a:pPr>
            <a:r>
              <a:rPr lang="en-US" sz="1100" i="1" dirty="0">
                <a:solidFill>
                  <a:srgbClr val="5A6472"/>
                </a:solidFill>
                <a:latin typeface="Calibri" pitchFamily="34" charset="0"/>
                <a:cs typeface="Amiri" pitchFamily="2" charset="-78"/>
              </a:rPr>
              <a:t>jad-da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uncle (father’s side)</a:t>
            </a:r>
            <a:endParaRPr lang="en-US" sz="1350" dirty="0"/>
          </a:p>
          <a:p>
            <a:pPr indent="0" marL="0">
              <a:buNone/>
            </a:pPr>
            <a:r>
              <a:rPr lang="en-US" sz="1100" i="1" dirty="0">
                <a:solidFill>
                  <a:srgbClr val="5A6472"/>
                </a:solidFill>
                <a:latin typeface="Calibri" pitchFamily="34" charset="0"/>
                <a:cs typeface="Amiri" pitchFamily="2" charset="-78"/>
              </a:rPr>
              <a:t>‘amm</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أَعْمَامٌ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عَمِّي</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عَمَّةٌ</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(father’s side)</a:t>
            </a:r>
            <a:endParaRPr lang="en-US" sz="1350" dirty="0"/>
          </a:p>
          <a:p>
            <a:pPr indent="0" marL="0">
              <a:buNone/>
            </a:pPr>
            <a:r>
              <a:rPr lang="en-US" sz="1100" i="1" dirty="0">
                <a:solidFill>
                  <a:srgbClr val="5A6472"/>
                </a:solidFill>
                <a:latin typeface="Calibri" pitchFamily="34" charset="0"/>
                <a:cs typeface="Amiri" pitchFamily="2" charset="-78"/>
              </a:rPr>
              <a:t>‘am-ma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عَمَّتِي</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خَالٌ</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uncle (mother’s side)</a:t>
            </a:r>
            <a:endParaRPr lang="en-US" sz="1350" dirty="0"/>
          </a:p>
          <a:p>
            <a:pPr indent="0" marL="0">
              <a:buNone/>
            </a:pPr>
            <a:r>
              <a:rPr lang="en-US" sz="1100" i="1" dirty="0">
                <a:solidFill>
                  <a:srgbClr val="5A6472"/>
                </a:solidFill>
                <a:latin typeface="Calibri" pitchFamily="34" charset="0"/>
                <a:cs typeface="Amiri" pitchFamily="2" charset="-78"/>
              </a:rPr>
              <a:t>khāl</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أَخْوَالٌ</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خَالِي</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7" name="Shape 8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خَالَةٌ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(mother’s side)</a:t>
            </a:r>
            <a:endParaRPr lang="en-US" sz="1350" dirty="0"/>
          </a:p>
          <a:p>
            <a:pPr indent="0" marL="0">
              <a:buNone/>
            </a:pPr>
            <a:r>
              <a:rPr lang="en-US" sz="1100" i="1" dirty="0">
                <a:solidFill>
                  <a:srgbClr val="5A6472"/>
                </a:solidFill>
                <a:latin typeface="Calibri" pitchFamily="34" charset="0"/>
                <a:cs typeface="Amiri" pitchFamily="2" charset="-78"/>
              </a:rPr>
              <a:t>khā-la</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خَالَاتٌ</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خَالَتِي</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KEY WORDS · GROUP 3 · COUSINS, STRUCTURE AND SIBLING ORDER (WEBSITE) · FLEX</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Cousins, older, younger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العَلَاقَاتُ الأَوْسَعُ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paternal</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عَمٍّ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(father’s side) m. / f.</a:t>
            </a:r>
            <a:endParaRPr lang="en-US" sz="1350" dirty="0"/>
          </a:p>
          <a:p>
            <a:pPr indent="0" marL="0">
              <a:buNone/>
            </a:pPr>
            <a:r>
              <a:rPr lang="en-US" sz="1100" i="1" dirty="0">
                <a:solidFill>
                  <a:srgbClr val="5A6472"/>
                </a:solidFill>
                <a:latin typeface="Calibri" pitchFamily="34" charset="0"/>
                <a:cs typeface="Amiri" pitchFamily="2" charset="-78"/>
              </a:rPr>
              <a:t>ib-nu ‘amm / bin-tu ‘amm</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maternal</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خَالٍ / بِنْتُ خَالٍ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(mother’s side) m. / f.</a:t>
            </a:r>
            <a:endParaRPr lang="en-US" sz="1350" dirty="0"/>
          </a:p>
          <a:p>
            <a:pPr indent="0" marL="0">
              <a:buNone/>
            </a:pPr>
            <a:r>
              <a:rPr lang="en-US" sz="1100" i="1" dirty="0">
                <a:solidFill>
                  <a:srgbClr val="5A6472"/>
                </a:solidFill>
                <a:latin typeface="Calibri" pitchFamily="34" charset="0"/>
                <a:cs typeface="Amiri" pitchFamily="2" charset="-78"/>
              </a:rPr>
              <a:t>ib-nu khāl / bin-tu khāl</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 الأَكْبَرُ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brother</a:t>
            </a:r>
            <a:endParaRPr lang="en-US" sz="1350" dirty="0"/>
          </a:p>
          <a:p>
            <a:pPr indent="0" marL="0">
              <a:buNone/>
            </a:pPr>
            <a:r>
              <a:rPr lang="en-US" sz="1100" i="1" dirty="0">
                <a:solidFill>
                  <a:srgbClr val="5A6472"/>
                </a:solidFill>
                <a:latin typeface="Calibri" pitchFamily="34" charset="0"/>
                <a:cs typeface="Amiri" pitchFamily="2" charset="-78"/>
              </a:rPr>
              <a:t>al-a-khu l-ak-bar</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40" name="Text 3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 الأَصْغَرُ</a:t>
            </a:r>
            <a:endParaRPr lang="ar-SA"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Shape 4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الأُخْتُ الكُبْرَى</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sister</a:t>
            </a:r>
            <a:endParaRPr lang="en-US" sz="1350" dirty="0"/>
          </a:p>
          <a:p>
            <a:pPr indent="0" marL="0">
              <a:buNone/>
            </a:pPr>
            <a:r>
              <a:rPr lang="en-US" sz="1100" i="1" dirty="0">
                <a:solidFill>
                  <a:srgbClr val="5A6472"/>
                </a:solidFill>
                <a:latin typeface="Calibri" pitchFamily="34" charset="0"/>
                <a:cs typeface="Amiri" pitchFamily="2" charset="-78"/>
              </a:rPr>
              <a:t>al-ukh-tu l-kub-rā</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50" name="Text 4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الأُخْتُ الصُّغْرَى</a:t>
            </a:r>
            <a:endParaRPr lang="ar-SA"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4" name="Shape 51"/>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dual preview</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تَوْأَمٌ / تَوْأَمَانِ</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twin / twins</a:t>
            </a:r>
            <a:endParaRPr lang="en-US" sz="1350" dirty="0"/>
          </a:p>
          <a:p>
            <a:pPr indent="0" marL="0">
              <a:buNone/>
            </a:pPr>
            <a:r>
              <a:rPr lang="en-US" sz="1100" i="1" dirty="0">
                <a:solidFill>
                  <a:srgbClr val="5A6472"/>
                </a:solidFill>
                <a:latin typeface="Calibri" pitchFamily="34" charset="0"/>
                <a:cs typeface="Amiri" pitchFamily="2" charset="-78"/>
              </a:rPr>
              <a:t>taw-am / taw-a-mān</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61" name="Shape 5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3" name="Text 6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عَائِلَةٌ / أُسْرَةٌ</a:t>
            </a:r>
            <a:endParaRPr lang="ar-SA" sz="3000" dirty="0"/>
          </a:p>
        </p:txBody>
      </p:sp>
      <p:sp>
        <p:nvSpPr>
          <p:cNvPr id="64" name="Text 6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‘ā-ʾi-la / us-ra</a:t>
            </a:r>
            <a:endParaRPr lang="en-US" sz="1350" dirty="0"/>
          </a:p>
        </p:txBody>
      </p:sp>
      <p:sp>
        <p:nvSpPr>
          <p:cNvPr id="65" name="Shape 62"/>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67" name="Text 64"/>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عَائِلَتِي</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1 · WHOSE FAMILY MEMBER? (WEBSITE POSSESSIVE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your, his, 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father</a:t>
            </a:r>
            <a:endParaRPr lang="en-US" sz="1100" dirty="0"/>
          </a:p>
        </p:txBody>
      </p:sp>
      <p:sp>
        <p:nvSpPr>
          <p:cNvPr id="17" name="Text 14"/>
          <p:cNvSpPr txBox="1"/>
          <p:nvPr/>
        </p:nvSpPr>
        <p:spPr>
          <a:xfrm>
            <a:off x="67482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aunt (mother’s side)</a:t>
            </a:r>
            <a:endParaRPr lang="en-US" sz="1100" dirty="0"/>
          </a:p>
        </p:txBody>
      </p:sp>
      <p:sp>
        <p:nvSpPr>
          <p:cNvPr id="18" name="Text 15"/>
          <p:cNvSpPr txBox="1"/>
          <p:nvPr/>
        </p:nvSpPr>
        <p:spPr>
          <a:xfrm>
            <a:off x="42793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uncle (father’s side)</a:t>
            </a:r>
            <a:endParaRPr lang="en-US" sz="1100" dirty="0"/>
          </a:p>
        </p:txBody>
      </p:sp>
      <p:sp>
        <p:nvSpPr>
          <p:cNvPr id="19" name="Text 16"/>
          <p:cNvSpPr txBox="1"/>
          <p:nvPr/>
        </p:nvSpPr>
        <p:spPr>
          <a:xfrm>
            <a:off x="2816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235440" y="2267712"/>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3" name="Text 20"/>
          <p:cNvSpPr txBox="1"/>
          <p:nvPr/>
        </p:nvSpPr>
        <p:spPr>
          <a:xfrm>
            <a:off x="676656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خَالَتِ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4" name="Text 21"/>
          <p:cNvSpPr txBox="1"/>
          <p:nvPr/>
        </p:nvSpPr>
        <p:spPr>
          <a:xfrm>
            <a:off x="429768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25" name="Text 22"/>
          <p:cNvSpPr txBox="1"/>
          <p:nvPr/>
        </p:nvSpPr>
        <p:spPr>
          <a:xfrm>
            <a:off x="2834640" y="2267712"/>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ـي</a:t>
            </a:r>
            <a:endParaRPr lang="ar-SA" sz="2600" dirty="0"/>
          </a:p>
        </p:txBody>
      </p:sp>
      <p:sp>
        <p:nvSpPr>
          <p:cNvPr id="26" name="Text 23"/>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235440" y="3004718"/>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أَبُو</a:t>
            </a:r>
            <a:pPr rtl="1" algn="ctr" indent="0" marL="0">
              <a:buNone/>
            </a:pPr>
            <a:r>
              <a:rPr lang="ar-SA" altLang="en-US" sz="2400" b="1" dirty="0">
                <a:solidFill>
                  <a:srgbClr val="1D5FBF"/>
                </a:solidFill>
                <a:latin typeface="Amiri" pitchFamily="2" charset="-78"/>
                <a:ea typeface="Amiri" pitchFamily="2" charset="-78"/>
                <a:cs typeface="Amiri" pitchFamily="2" charset="-78"/>
              </a:rPr>
              <a:t>كَ</a:t>
            </a:r>
            <a:endParaRPr lang="ar-SA" sz="2400" dirty="0"/>
          </a:p>
        </p:txBody>
      </p:sp>
      <p:sp>
        <p:nvSpPr>
          <p:cNvPr id="31" name="Text 28"/>
          <p:cNvSpPr txBox="1"/>
          <p:nvPr/>
        </p:nvSpPr>
        <p:spPr>
          <a:xfrm>
            <a:off x="676656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خَالَتُ</a:t>
            </a:r>
            <a:pPr rtl="1" algn="ctr" indent="0" marL="0">
              <a:buNone/>
            </a:pPr>
            <a:r>
              <a:rPr lang="ar-SA" altLang="en-US" sz="2400" b="1" dirty="0">
                <a:solidFill>
                  <a:srgbClr val="1D5FBF"/>
                </a:solidFill>
                <a:latin typeface="Amiri" pitchFamily="2" charset="-78"/>
                <a:ea typeface="Amiri" pitchFamily="2" charset="-78"/>
                <a:cs typeface="Amiri" pitchFamily="2" charset="-78"/>
              </a:rPr>
              <a:t>كَ</a:t>
            </a:r>
            <a:endParaRPr lang="ar-SA" sz="2400" dirty="0"/>
          </a:p>
        </p:txBody>
      </p:sp>
      <p:sp>
        <p:nvSpPr>
          <p:cNvPr id="32" name="Text 29"/>
          <p:cNvSpPr txBox="1"/>
          <p:nvPr/>
        </p:nvSpPr>
        <p:spPr>
          <a:xfrm>
            <a:off x="429768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pPr rtl="1" algn="ctr" indent="0" marL="0">
              <a:buNone/>
            </a:pPr>
            <a:r>
              <a:rPr lang="ar-SA" altLang="en-US" sz="2400" b="1" dirty="0">
                <a:solidFill>
                  <a:srgbClr val="1D5FBF"/>
                </a:solidFill>
                <a:latin typeface="Amiri" pitchFamily="2" charset="-78"/>
                <a:ea typeface="Amiri" pitchFamily="2" charset="-78"/>
                <a:cs typeface="Amiri" pitchFamily="2" charset="-78"/>
              </a:rPr>
              <a:t>كَ</a:t>
            </a:r>
            <a:endParaRPr lang="ar-SA" sz="2400" dirty="0"/>
          </a:p>
        </p:txBody>
      </p:sp>
      <p:sp>
        <p:nvSpPr>
          <p:cNvPr id="33" name="Text 30"/>
          <p:cNvSpPr txBox="1"/>
          <p:nvPr/>
        </p:nvSpPr>
        <p:spPr>
          <a:xfrm>
            <a:off x="2834640" y="3004718"/>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ـكَ</a:t>
            </a:r>
            <a:endParaRPr lang="ar-SA" sz="2600" dirty="0"/>
          </a:p>
        </p:txBody>
      </p:sp>
      <p:sp>
        <p:nvSpPr>
          <p:cNvPr id="34" name="Text 31"/>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 a boy)</a:t>
            </a:r>
            <a:endParaRPr lang="en-US" sz="11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235440" y="3741725"/>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أَبُو</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endParaRPr lang="ar-SA" sz="2400" dirty="0"/>
          </a:p>
        </p:txBody>
      </p:sp>
      <p:sp>
        <p:nvSpPr>
          <p:cNvPr id="37" name="Text 34"/>
          <p:cNvSpPr txBox="1"/>
          <p:nvPr/>
        </p:nvSpPr>
        <p:spPr>
          <a:xfrm>
            <a:off x="676656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خَالَتُ</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endParaRPr lang="ar-SA" sz="2400" dirty="0"/>
          </a:p>
        </p:txBody>
      </p:sp>
      <p:sp>
        <p:nvSpPr>
          <p:cNvPr id="38" name="Text 35"/>
          <p:cNvSpPr txBox="1"/>
          <p:nvPr/>
        </p:nvSpPr>
        <p:spPr>
          <a:xfrm>
            <a:off x="429768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pPr rtl="1" algn="ctr" indent="0" marL="0">
              <a:buNone/>
            </a:pPr>
            <a:r>
              <a:rPr lang="ar-SA" altLang="en-US" sz="2400" b="1" dirty="0">
                <a:solidFill>
                  <a:srgbClr val="D6336C"/>
                </a:solidFill>
                <a:latin typeface="Amiri" pitchFamily="2" charset="-78"/>
                <a:ea typeface="Amiri" pitchFamily="2" charset="-78"/>
                <a:cs typeface="Amiri" pitchFamily="2" charset="-78"/>
              </a:rPr>
              <a:t>كِ</a:t>
            </a:r>
            <a:endParaRPr lang="ar-SA" sz="2400" dirty="0"/>
          </a:p>
        </p:txBody>
      </p:sp>
      <p:sp>
        <p:nvSpPr>
          <p:cNvPr id="39" name="Text 36"/>
          <p:cNvSpPr txBox="1"/>
          <p:nvPr/>
        </p:nvSpPr>
        <p:spPr>
          <a:xfrm>
            <a:off x="2834640" y="3741725"/>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ـكِ</a:t>
            </a:r>
            <a:endParaRPr lang="ar-SA" sz="2600" dirty="0"/>
          </a:p>
        </p:txBody>
      </p:sp>
      <p:sp>
        <p:nvSpPr>
          <p:cNvPr id="40" name="Text 37"/>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 a girl)</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235440" y="4478731"/>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أَبُو</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endParaRPr lang="ar-SA" sz="2400" dirty="0"/>
          </a:p>
        </p:txBody>
      </p:sp>
      <p:sp>
        <p:nvSpPr>
          <p:cNvPr id="43" name="Text 40"/>
          <p:cNvSpPr txBox="1"/>
          <p:nvPr/>
        </p:nvSpPr>
        <p:spPr>
          <a:xfrm>
            <a:off x="676656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خَالَتُ</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endParaRPr lang="ar-SA" sz="2400" dirty="0"/>
          </a:p>
        </p:txBody>
      </p:sp>
      <p:sp>
        <p:nvSpPr>
          <p:cNvPr id="44" name="Text 41"/>
          <p:cNvSpPr txBox="1"/>
          <p:nvPr/>
        </p:nvSpPr>
        <p:spPr>
          <a:xfrm>
            <a:off x="429768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endParaRPr lang="ar-SA" sz="2400" dirty="0"/>
          </a:p>
        </p:txBody>
      </p:sp>
      <p:sp>
        <p:nvSpPr>
          <p:cNvPr id="45" name="Text 42"/>
          <p:cNvSpPr txBox="1"/>
          <p:nvPr/>
        </p:nvSpPr>
        <p:spPr>
          <a:xfrm>
            <a:off x="2834640" y="4478731"/>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ـهُ</a:t>
            </a:r>
            <a:endParaRPr lang="ar-SA" sz="2600" dirty="0"/>
          </a:p>
        </p:txBody>
      </p:sp>
      <p:sp>
        <p:nvSpPr>
          <p:cNvPr id="46" name="Text 43"/>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a:t>
            </a:r>
            <a:endParaRPr lang="en-US" sz="1100" dirty="0"/>
          </a:p>
        </p:txBody>
      </p:sp>
      <p:sp>
        <p:nvSpPr>
          <p:cNvPr id="47" name="Shape 4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235440" y="5215738"/>
            <a:ext cx="240487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أَبُو</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endParaRPr lang="ar-SA" sz="2400" dirty="0"/>
          </a:p>
        </p:txBody>
      </p:sp>
      <p:sp>
        <p:nvSpPr>
          <p:cNvPr id="51" name="Text 48"/>
          <p:cNvSpPr txBox="1"/>
          <p:nvPr/>
        </p:nvSpPr>
        <p:spPr>
          <a:xfrm>
            <a:off x="676656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خَالَتُ</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endParaRPr lang="ar-SA" sz="2400" dirty="0"/>
          </a:p>
        </p:txBody>
      </p:sp>
      <p:sp>
        <p:nvSpPr>
          <p:cNvPr id="52" name="Text 49"/>
          <p:cNvSpPr txBox="1"/>
          <p:nvPr/>
        </p:nvSpPr>
        <p:spPr>
          <a:xfrm>
            <a:off x="429768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endParaRPr lang="ar-SA" sz="2400" dirty="0"/>
          </a:p>
        </p:txBody>
      </p:sp>
      <p:sp>
        <p:nvSpPr>
          <p:cNvPr id="53" name="Text 50"/>
          <p:cNvSpPr txBox="1"/>
          <p:nvPr/>
        </p:nvSpPr>
        <p:spPr>
          <a:xfrm>
            <a:off x="2834640" y="5215738"/>
            <a:ext cx="128016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2" charset="-78"/>
                <a:ea typeface="Amiri" pitchFamily="2" charset="-78"/>
                <a:cs typeface="Amiri" pitchFamily="2" charset="-78"/>
              </a:rPr>
              <a:t>ـهَا</a:t>
            </a:r>
            <a:endParaRPr lang="ar-SA" sz="2600" dirty="0"/>
          </a:p>
        </p:txBody>
      </p:sp>
      <p:sp>
        <p:nvSpPr>
          <p:cNvPr id="54" name="Text 51"/>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a:t>
            </a:r>
            <a:endParaRPr lang="en-US" sz="11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shows the OWNER: ukhtuhu = HIS sister. Father and brother add -ū- (abūhu, akhūhā).</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CLEAR FAMILY SENTENCES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my … His name is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عَنِ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هَذَا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هَذَا أَبِي. اِسْمُهُ خَالِدٌ. هُوَ لَطِيفٌ.</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is my father. His name is Khalid. He is kind.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hādhā · -hu · huwa.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هَذِهِ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هَذِهِ أُمِّي. اِسْمُهَا مَرْيَمُ. هِيَ لَطِيفَةٌ.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is my mother. Her name is Maryam. She is kind.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hādhihi · -hā · hiya.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ORDER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الكَبِيرُ · الصُّغْرَى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هَذَا أَخِي الكَبِيرُ، وَهَذِهِ أُخْتِي الصُّغْرَى.</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is my big brother, and this is my younger sister.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Age: ‘umruhu sitta ‘ashrata sana.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reminder: the adjective agrees with the family member.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أُخْتِي لَطِيفَةٌ.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أُخْتِي لَطِيفٌ.</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paternal uncle”.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sister”.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أُخْتُهُ</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أُخْتُهَا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father”?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أَبُوهُ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أَبُوكَ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“This is my mother.”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أُمِّي.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أُمِّي.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أُمُّهُ.</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paternal uncle”.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عَمُّهُ</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عَمِّي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sister”.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أُخْتُهُ</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أُخْتُهَا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owner is male, so use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أُخْتُهُ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“my father”?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أَبُوهُ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أَبِي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أَبُوكَ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special form is </a:t>
            </a:r>
            <a:pPr algn="l" indent="0" marL="0">
              <a:buNone/>
            </a:pPr>
            <a:r>
              <a:rPr lang="ar-SA" altLang="en-US" sz="1350" dirty="0">
                <a:solidFill>
                  <a:srgbClr val="8A6D1E"/>
                </a:solidFill>
                <a:latin typeface="Amiri" pitchFamily="2" charset="-78"/>
                <a:ea typeface="Amiri" pitchFamily="2" charset="-78"/>
                <a:cs typeface="Amiri" pitchFamily="2" charset="-78"/>
              </a:rPr>
              <a:t>أَبِي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“This is my mother.”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أُمِّي.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أُمِّي.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أُمُّهُ.</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introduce the Al-Rashid family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family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عَائِلَةُ الرَّشِيدِ.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Family is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Grandparents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الجَدُّ حَسَنٌ،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الجَدَّةُ سَلْمَى.</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 → hādhā · f. → hādhihi.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Parents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هَذَا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الأَبُ خَالِدٌ، 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هَذِهِ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الأُمُّ مَرْيَمُ.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pattern.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Extended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العَمُّ سَامِرٌ لَطِيفٌ، وَبِنْتُ</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زَيْنَبُ ذَكِيَّةٌ.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 daughter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 ENDING</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هَذِهِ عَائِلَةُ الرَّشِيدِ.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الجَدُّ حَسَنٌ، وَ</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الجَدَّةُ سَلْمَى.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هَذَا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الأَبُ خَالِدٌ، وَ</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هَذِهِ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الأُمُّ مَرْيَمُ. عِنْدَهُمَا بِنْتٌ وَابْنٌ. العَمُّ سَامِرٌ لَطِيفٌ، وَبِنْتُهُ زَيْنَبُ ذَكِيَّةٌ.</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the Al-Rashid family. This is grandfather Hassan, and this is grandmother Salma. This is the father, Khalid, and this is the mother, Maryam. They have a daughter and a son. Uncle Samir is kind, and his daughter Zaynab is clever.</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MY FAMILY — MEMBERS AND RELATIONSHIPS”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child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أَخِي.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جَدَّتِي.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أُمِّي.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mother and child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أُمِّي.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mother.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boys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أَخِي.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brother.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جَدَّتِي.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grandmother.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“FAMILY RELATIONSHIP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Solve the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العَلَاقَاتِ العَائِلِيَّةِ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Father’s brother: Choose the Arabic relationship.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Mother’s sister: Choose the Arabic relationship.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زَوْجَةٌ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sister: Choose the correct possessive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father: Choose the correct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أَبُوهُ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أَبُوهَا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my aunt: 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عَمَّتِي.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عَمِّي.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عَمَّتِي.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Father’s side: ‘amm / ‘amma</a:t>
            </a:r>
            <a:endParaRPr lang="en-US" sz="1250" dirty="0"/>
          </a:p>
          <a:p>
            <a:pPr algn="l" indent="0" marL="0">
              <a:buNone/>
            </a:pPr>
            <a:r>
              <a:rPr lang="en-US" sz="1250" dirty="0">
                <a:solidFill>
                  <a:srgbClr val="1E6B52"/>
                </a:solidFill>
                <a:latin typeface="Calibri" pitchFamily="34" charset="0"/>
                <a:cs typeface="Amiri" pitchFamily="2" charset="-78"/>
              </a:rPr>
              <a:t>Mother’s side: khāl / khāla</a:t>
            </a:r>
            <a:endParaRPr lang="en-US" sz="1250" dirty="0"/>
          </a:p>
          <a:p>
            <a:pPr algn="l" indent="0" marL="0">
              <a:buNone/>
            </a:pPr>
            <a:r>
              <a:rPr lang="en-US" sz="1250" dirty="0">
                <a:solidFill>
                  <a:srgbClr val="1E6B52"/>
                </a:solidFill>
                <a:latin typeface="Calibri" pitchFamily="34" charset="0"/>
                <a:cs typeface="Amiri" pitchFamily="2" charset="-78"/>
              </a:rPr>
              <a:t>The ending = the owner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Father’s brother: Choose the Arabic relationship.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a:t>
            </a:r>
            <a:pPr algn="l" indent="0" marL="0">
              <a:buNone/>
            </a:pPr>
            <a:r>
              <a:rPr lang="en-US" sz="1050" i="1" dirty="0">
                <a:solidFill>
                  <a:srgbClr val="8A6D1E"/>
                </a:solidFill>
                <a:latin typeface="Calibri" pitchFamily="34" charset="0"/>
                <a:cs typeface="Amiri" pitchFamily="2" charset="-78"/>
              </a:rPr>
              <a:t> is a paternal uncle.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Mother’s sister: Choose the Arabic relationship.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خَالَةٌ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زَوْجَةٌ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خَالَةٌ</a:t>
            </a:r>
            <a:pPr algn="l" indent="0" marL="0">
              <a:buNone/>
            </a:pPr>
            <a:r>
              <a:rPr lang="en-US" sz="1050" i="1" dirty="0">
                <a:solidFill>
                  <a:srgbClr val="8A6D1E"/>
                </a:solidFill>
                <a:latin typeface="Calibri" pitchFamily="34" charset="0"/>
                <a:cs typeface="Amiri" pitchFamily="2" charset="-78"/>
              </a:rPr>
              <a:t> is a maternal aunt.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His sister: Choose the correct possessive form.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أُخْتُهُ</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أُخْتُهَا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identifies a male owner.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 father: Choose the correct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أَبُوهُ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أَبُوهَا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أَبُوهَا</a:t>
            </a:r>
            <a:pPr algn="l" indent="0" marL="0">
              <a:buNone/>
            </a:pPr>
            <a:r>
              <a:rPr lang="en-US" sz="1050" i="1" dirty="0">
                <a:solidFill>
                  <a:srgbClr val="8A6D1E"/>
                </a:solidFill>
                <a:latin typeface="Calibri" pitchFamily="34" charset="0"/>
                <a:cs typeface="Amiri" pitchFamily="2" charset="-78"/>
              </a:rPr>
              <a:t> means her father.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is my aunt: Choose the accurate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عَمَّتِي.</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عَمِّي.</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عَمَّتِي.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عَمَّةٌ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Father’s side: ‘amm / ‘amma</a:t>
            </a:r>
            <a:endParaRPr lang="en-US" sz="1250" dirty="0"/>
          </a:p>
          <a:p>
            <a:pPr algn="l" indent="0" marL="0">
              <a:buNone/>
            </a:pPr>
            <a:r>
              <a:rPr lang="en-US" sz="1250" dirty="0">
                <a:solidFill>
                  <a:srgbClr val="1E6B52"/>
                </a:solidFill>
                <a:latin typeface="Calibri" pitchFamily="34" charset="0"/>
                <a:cs typeface="Amiri" pitchFamily="2" charset="-78"/>
              </a:rPr>
              <a:t>Mother’s side: khāl / khāla</a:t>
            </a:r>
            <a:endParaRPr lang="en-US" sz="1250" dirty="0"/>
          </a:p>
          <a:p>
            <a:pPr algn="l" indent="0" marL="0">
              <a:buNone/>
            </a:pPr>
            <a:r>
              <a:rPr lang="en-US" sz="1250" dirty="0">
                <a:solidFill>
                  <a:srgbClr val="1E6B52"/>
                </a:solidFill>
                <a:latin typeface="Calibri" pitchFamily="34" charset="0"/>
                <a:cs typeface="Amiri" pitchFamily="2" charset="-78"/>
              </a:rPr>
              <a:t>The ending = the owner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أُمِّي.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أُخْتُهَا</a:t>
            </a:r>
            <a:pPr algn="l" indent="0" marL="0">
              <a:buNone/>
            </a:pPr>
            <a:r>
              <a:rPr lang="en-US" sz="3000" b="1" dirty="0">
                <a:solidFill>
                  <a:srgbClr val="B83227"/>
                </a:solidFill>
                <a:latin typeface="Calibri" pitchFamily="34" charset="0"/>
                <a:cs typeface="Amiri" pitchFamily="2" charset="-78"/>
              </a:rPr>
              <a:t> (for “his sister”)</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His sister: whose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Father has a special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أُمِّي.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أُمِّي.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mother is feminine →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أُخْتُهَا</a:t>
            </a:r>
            <a:pPr algn="l" indent="0" marL="0">
              <a:buNone/>
            </a:pPr>
            <a:r>
              <a:rPr lang="en-US" sz="1800" dirty="0">
                <a:solidFill>
                  <a:srgbClr val="B83227"/>
                </a:solidFill>
                <a:latin typeface="Calibri" pitchFamily="34" charset="0"/>
                <a:cs typeface="Amiri" pitchFamily="2" charset="-78"/>
              </a:rPr>
              <a:t> (for “his sister”)</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shows the OWNER: his → -hu (website “important meaning”).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أَبُوهَا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Father has a special form: abī, abūhu, abūhā.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father’s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Yusuf?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younger brother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cousin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older brother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Yusuf?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Layla’s family?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grandmother 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uncle Samir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cousin Zaynab</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Zaynab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are the people? Second: names and one detail.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لَيْلَى. عَائِلَتِي كَبِيرَةٌ وَلَطِيفَةٌ.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Layla. My family is big and kind.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هَذَا أَبِي، وَاسْمُهُ خَالِدٌ. هُوَ مُجْتَهِدٌ. وَهَذِهِ أُمِّي، وَاسْمُهَا مَرْيَمُ. هِيَ لَطِيفَةٌ جِدًّا.</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my father, his name is Khalid. He is hard-working. And this is my mother, her name is Maryam. She is very kind.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أَخٌ أَكْبَرُ، وَاسْمُهُ يُوسُفُ، وَعُمْرُهُ سِتَّ عَشْرَةَ سَنَةً.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have an older brother, his name is Yusuf, and he is sixteen.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جَدَّتِي سَلْمَى تَعِيشُ مَعَنَا. عَمِّي سَامِرٌ يَعِيشُ فِي لَنْدَنَ، وَبِنْتُ عَمِّي زَيْنَبُ تُحِبُّ القِرَاءَةَ.</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Salma lives with us. My uncle Samir lives in London, and my cousin Zaynab loves reading.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أُحِبُّ عَائِلَتِي لِأَنَّهَا مُتَعَاوِنَةٌ.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love my family because it is helpful (we help each other).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father’s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father is Khalid.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Yusuf?</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younger brother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cousin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older brother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is her older brother.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Yusuf?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16</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عُمْرُهُ سِتَّ عَشْرَةَ سَنَةً.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Layla’s family?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grandmother 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uncle Samir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cousin Zaynab</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جَدَّتِي سَلْمَى تَعِيشُ مَعَنَا.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Zaynab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football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بِنْتُ عَمِّي زَيْنَبُ تُحِبُّ القِرَاءَةَ.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are the people? Second: names and one detail.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THE AL-RASHID FAMILY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Al-Rashid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عَائِلَةُ الرَّشِيدِ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عَائِلَةُ الرَّشِيدِ. الجَدُّ حَسَنٌ وَالجَدَّةُ سَلْمَى يَعِيشَانِ فِي بَيْتٍ كَبِيرٍ.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Grandparents Hassan and Salma live in a big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اِبْنُهُمَا خَالِدٌ هُوَ أَبُو لَيْلَى وَيُوسُفَ. زَوْجَتُهُ مَرْيَمُ مُعَلِّمَةٌ لَطِيفَةٌ.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son Khalid = Layla and Yusuf’s father · his wife Maryam: a kind teacher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لَيْلَى بِنْتٌ ذَكِيَّةٌ، وَأَخُوهَا يُوسُفُ طَالِبٌ مُجْتَهِدٌ.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clever · her brother Yusuf: a hard-working student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لِخَالِدٍ أَخٌ وَأُخْتٌ: أَخُوهُ سَامِرٌ، وَأُخْتُهُ نُورٌ. سَامِرٌ هُوَ عَمُّ لَيْلَى، وَنُورٌ هِيَ عَمَّتُهَا.</a:t>
            </a:r>
            <a:endParaRPr lang="ar-SA" sz="19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 brother Samir and sister Noor = Layla’s paternal uncle and aunt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زَيْنَبُ بِنْتُ سَامِرٍ، فَهِيَ بِنْتُ عَمِّ لَيْلَى. تَجْتَمِعُ العَائِلَةُ فِي نِهَايَةِ الأُسْبُوعِ.</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Zaynab = Samir’s daughter = Layla’s cousin · the family meets at the weekend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who?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Khalid?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grandfather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and Yusuf’s father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uncle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Maryam’s job?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Samir to Layla?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paternal uncle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maternal uncle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cousin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Noor to Layla?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maternal aunt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paternal aunt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grandmother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Zaynab to Layla?</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paternal cousin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niece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USE THE TEXT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 → read the words next to it.</a:t>
            </a:r>
            <a:endParaRPr lang="en-US" sz="1250" dirty="0"/>
          </a:p>
          <a:p>
            <a:pPr algn="l" indent="0" marL="0">
              <a:buNone/>
            </a:pPr>
            <a:r>
              <a:rPr lang="en-US" sz="1250" dirty="0">
                <a:solidFill>
                  <a:srgbClr val="1F2A37"/>
                </a:solidFill>
                <a:latin typeface="Calibri" pitchFamily="34" charset="0"/>
                <a:cs typeface="Amiri" pitchFamily="2" charset="-78"/>
              </a:rPr>
              <a:t>Father’s side or mother’s side?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Khalid?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grandfather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 and Yusuf’s father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uncle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خَالِدٌ هُوَ أَبُو لَيْلَى وَيُوسُفَ.</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Maryam’s job?</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student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teacher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زَوْجَتُهُ مَرْيَمُ مُعَلِّمَةٌ.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Samir to Layla?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paternal uncle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maternal uncle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cousin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سَامِرٌ هُوَ عَمُّ لَيْلَى.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Noor to Layla?</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maternal aunt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paternal aunt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grandmother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هِيَ عَمَّتُهَا.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Zaynab to Layla?</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paternal cousin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sister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niece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زَيْنَبُ ... بِنْتُ عَمِّ لَيْلَى.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USE THE TEXT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name → read the words next to it.</a:t>
            </a:r>
            <a:endParaRPr lang="en-US" sz="1250" dirty="0"/>
          </a:p>
          <a:p>
            <a:pPr algn="l" indent="0" marL="0">
              <a:buNone/>
            </a:pPr>
            <a:r>
              <a:rPr lang="en-US" sz="1250" dirty="0">
                <a:solidFill>
                  <a:srgbClr val="1F2A37"/>
                </a:solidFill>
                <a:latin typeface="Calibri" pitchFamily="34" charset="0"/>
                <a:cs typeface="Amiri" pitchFamily="2" charset="-78"/>
              </a:rPr>
              <a:t>Father’s side or mother’s side?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Introduce a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هَذَا؟ مَنْ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عَائِلَةَ الرَّشِيدِ: الجَدُّ، الجَدَّةُ، الأَبُ، الأُمُّ.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سَامِرٌ؟ مَنْ زَيْنَبُ؟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عَائِلَةً (حَقِيقِيَّةً أَوْ خَيَالِيَّةً) فِي سِتِّ جُمَلٍ.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 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الجَدُّ ___ ، وَهَذِهِ الجَدَّةُ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سَامِرٌ عَمُّ لَيْلَى، وَزَيْنَبُ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عِنْدِي ___ ، وَ ___ ، وَأُحِبُّ عَائِلَتِي لِأَنَّ ___ .</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هَذَا؟ وَمَنْ هَذِهِ؟</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this (m.)? And who is this (f.)?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هَذِهِ عَائِلَةُ الرَّشِيدِ. هَذَا الجَدُّ حَسَنٌ، وَهَذِهِ الجَدَّةُ سَلْمَى.</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This is the Al-Rashid family. This is grandfather Hassan, and this is grandmother Salma.</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naming at least six people with hādhā / hādhihi.</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a fictional tree, then six “this is …” sentences with a name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70–90 words with immediate and extended family, possessive endings and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Immediate + extended family, his / her endings,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sibling order, cousins, a comparison and a reason with li’anna.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Sibling order, cousins on both sides, a comparison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عَمِّي.</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uncle (father’s side).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خَالَتِي.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aunt (mother’s side).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sister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الأَكْبَرُ عُمْرُهُ ______ سَنَةً.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older brother is … years old.</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عَائِلَتِي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family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أَبِي.</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father.</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أُمِّي.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mother.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name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name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أَخٌ وَأُخْتٌ.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brother and a sister.</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  ·  أُمٌّ  ·  أَخٌ  ·  أُخْتٌ  ·  جَدٌّ  ·  جَدَّةٌ  ·  عَمٌّ  ·  خَالَةٌ  ·  هَذَا  ·  هَذِهِ  ·  اِسْمُهُ  ·  اِسْمُهَا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عَائِلَةُ الرَّشِيدِ. هَذَا الجَدُّ حَسَنٌ، وَهَذِهِ الجَدَّةُ سَلْمَى. هَذَا الأَبُ خَالِدٌ، وَهَذِهِ الأُمُّ مَرْيَمُ. عِنْدَهُمَا بِنْتٌ وَابْنٌ. العَمُّ سَامِرٌ لَطِيفٌ، وَبِنْتُهُ زَيْنَبُ ذَكِيَّةٌ.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the Al-Rashid family. This is grandfather Hassan, and this is grandmother Salma. This is the father, Khalid, and this is the mother, Maryam. They have a daughter and a son. Uncle Samir is kind, and his daughter Zaynab is clever.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hādhā + a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hādhihi + a woman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ending (-hu)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paternal uncle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hādhā for men, hādhihi for women.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“my” (-ī)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His (-hu) / her (-hā) show the owner.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abūhu / akhūhā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Paternal vs maternal and sibling order are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maternal uncle.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زَوْجٌ</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grandmother”.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جَدَّتُهُ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جَدَّتُكَ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أُخْتِي لَطِيفَةٌ.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أُخْتِي لَطِيفٌ.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أَخِي لَطِيفَةٌ.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maternal uncle.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زَوْجٌ</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خَالٌ</a:t>
            </a:r>
            <a:pPr algn="l" indent="0" marL="0">
              <a:buNone/>
            </a:pPr>
            <a:r>
              <a:rPr lang="en-US" sz="1050" i="1" dirty="0">
                <a:solidFill>
                  <a:srgbClr val="8A6D1E"/>
                </a:solidFill>
                <a:latin typeface="Calibri" pitchFamily="34" charset="0"/>
                <a:cs typeface="Amiri" pitchFamily="2" charset="-78"/>
              </a:rPr>
              <a:t> is the mother’s brother.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grandmother”.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جَدَّتُهُ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جَدَّتِي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جَدَّتُكَ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جَدَّتِي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أُخْتِي لَطِيفَةٌ.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أُخْتِي لَطِيفٌ.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أَخِي لَطِيفَةٌ.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 all agree.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F3-L01 · My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F3-L02 · Describing Family Members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طَوِيلٌ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a:t>
            </a:r>
            <a:pPr indent="0" marL="0">
              <a:buNone/>
            </a:pPr>
            <a:r>
              <a:rPr lang="ar-SA" sz="1000" i="1" dirty="0">
                <a:solidFill>
                  <a:srgbClr val="5A6472"/>
                </a:solidFill>
                <a:latin typeface="Calibri" pitchFamily="34" charset="0"/>
                <a:ea typeface="Amiri" pitchFamily="2" charset="-78"/>
                <a:cs typeface="Amiri" pitchFamily="2" charset="-78"/>
              </a:rPr>
              <a:t>  f. طَوِيلَةٌ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قَصِيرٌ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short</a:t>
            </a:r>
            <a:pPr indent="0" marL="0">
              <a:buNone/>
            </a:pPr>
            <a:r>
              <a:rPr lang="ar-SA" sz="1000" i="1" dirty="0">
                <a:solidFill>
                  <a:srgbClr val="5A6472"/>
                </a:solidFill>
                <a:latin typeface="Calibri" pitchFamily="34" charset="0"/>
                <a:ea typeface="Amiri" pitchFamily="2" charset="-78"/>
                <a:cs typeface="Amiri" pitchFamily="2" charset="-78"/>
              </a:rPr>
              <a:t>  f. قَصِيرَةٌ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لَطِيفٌ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kind</a:t>
            </a:r>
            <a:pPr indent="0" marL="0">
              <a:buNone/>
            </a:pPr>
            <a:r>
              <a:rPr lang="ar-SA" sz="1000" i="1" dirty="0">
                <a:solidFill>
                  <a:srgbClr val="5A6472"/>
                </a:solidFill>
                <a:latin typeface="Calibri" pitchFamily="34" charset="0"/>
                <a:ea typeface="Amiri" pitchFamily="2" charset="-78"/>
                <a:cs typeface="Amiri" pitchFamily="2" charset="-78"/>
              </a:rPr>
              <a:t>  f. لَطِيفَةٌ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مُضْحِكٌ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funny</a:t>
            </a:r>
            <a:pPr indent="0" marL="0">
              <a:buNone/>
            </a:pPr>
            <a:r>
              <a:rPr lang="ar-SA" sz="1000" i="1" dirty="0">
                <a:solidFill>
                  <a:srgbClr val="5A6472"/>
                </a:solidFill>
                <a:latin typeface="Calibri" pitchFamily="34" charset="0"/>
                <a:ea typeface="Amiri" pitchFamily="2" charset="-78"/>
                <a:cs typeface="Amiri" pitchFamily="2" charset="-78"/>
              </a:rPr>
              <a:t>  f. مُضْحِكَةٌ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كَرِيمٌ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generous</a:t>
            </a:r>
            <a:pPr indent="0" marL="0">
              <a:buNone/>
            </a:pPr>
            <a:r>
              <a:rPr lang="ar-SA" sz="1000" i="1" dirty="0">
                <a:solidFill>
                  <a:srgbClr val="5A6472"/>
                </a:solidFill>
                <a:latin typeface="Calibri" pitchFamily="34" charset="0"/>
                <a:ea typeface="Amiri" pitchFamily="2" charset="-78"/>
                <a:cs typeface="Amiri" pitchFamily="2" charset="-78"/>
              </a:rPr>
              <a:t>  f. كَرِيمَةٌ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family member or a friend (or a character). Which two words describe them?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هُوَ؟ كَيْفَ هِيَ؟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F3-L01: the Family Relationship Mission (12)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describe a real or invented family tree in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three generations and write 90+ words with cousins on both sides.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F3-L02 · Describing Family Members</a:t>
            </a:r>
            <a:endParaRPr lang="en-US" sz="2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أَفْرَادِ العَائِلَةِ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hādhā / hādhihi · the ending shows the owner.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F3-L01 · My Family — Members and Relationships</dc:title>
  <dc:subject>PptxGenJS Presentation</dc:subject>
  <dc:creator>Al Madina Online School · Arabic Department</dc:creator>
  <cp:lastModifiedBy>Al Madina Online School · Arabic Department</cp:lastModifiedBy>
  <cp:revision>1</cp:revision>
  <dcterms:created xsi:type="dcterms:W3CDTF">2026-10-11T06:41:28Z</dcterms:created>
  <dcterms:modified xsi:type="dcterms:W3CDTF">2026-10-11T06:41:28Z</dcterms:modified>
</cp:coreProperties>
</file>