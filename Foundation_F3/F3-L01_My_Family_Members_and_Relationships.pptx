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F3 My Family &amp; Home › Lesson 1 (F3-L01). Website sections used: the six-question F2 bridge, the complete family and relationship vocabulary (immediate family, grandparents and extended family, cousins and wider relations, family structure and sibling order) with its 12-question check, the Al-Rashid family tree, possessive endings with the special family forms and the 10-question laboratory, clear family sentences with هَذَا / هَذِهِ, the Family Relationship Mission (12), Layla’s family (listening, 8), the Al-Rashid family reading (10), the family speaking studio (4 prompts), the family-tree writing workshop and the 12-question checkpoint. Picture match: website visual game “My Family — Members and Relationships”.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NEW UNIT (F3 · My Family &amp; Home). Core: 10 family words + “this is my …” (هَذَا أَبِي / هَذِهِ أُمِّي). Develop: his / her endings (أُخْتُهُ، عَمُّهَا) and extended family. Stretch: paternal / maternal distinctions, sibling order and cousins.
• PRIVACY (website): no one needs to share real family information — every task may use the fictional عَائِلَةُ الرَّشِيدِ or an invented family. Be mindful of students in different family situations (single-parent, carers, bereavement, step-families — the website includes زَوْجَةُ الأَبِ / زَوْجُ الأُمِّ and “caregiver”).
• The website’s key rule: the ending shows the OWNER, not the family member (أُخْتُهُ = HIS sister).
• Urdu bridge: most family words are different in Urdu (ابو، امی، بھائی) but students know many Arabic ones from names and Islamic texts: وَالِد / وَالِدَة (والدین), عَمّ / خَال (in some dialects), أَقَارِب (اقارب), اِبْن (ابن سینا).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family words prepared at home at the end of F2-L12. Questions 3–5 are the website “F2 bridge” (this m., she is kind, his name).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(m.) is my father · this (f.) is my mother. The ending -ī means “my”.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aims (left) and the website writing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والد / والدہ / والدین, اقارب, زوجہ and طفل are Arabic words used in formal Urdu. ابن is known from names (ابنِ سینا، ابنِ بطوطہ). Everyday Urdu ابو / امی / بھائی / بہن are NOT the Arabic words — give أَبٌ / أُمٌّ / أَخٌ / أُخْتٌ extra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IMMEDIATE FAMILY (website). Also in the group: زَوْجٌ (husband), زَوْجَةٌ (wife). Every card shows “my” and a plural or his / her — the special forms of father and brother (أَبِي، أَبُوهُ، أَخُوهَا) are today’s grammar.
Hear → say → see → use: “hādhā abī · hādhihi ummī”.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EXTENDED FAMILY (website). Meaning clue (website): English says “uncle” and “aunt” for both sides; Arabic shows which side — father’s side عَمٌّ / عَمَّةٌ, mother’s side خَالٌ / خَالَةٌ. Also: أَقَارِبُ (relatives), أَجْدَادٌ (grandparents / ancestors).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WIDER BANK (FLEX / recognition). Also on the website: اِبْنُ أَخٍ / اِبْنُ أُخْتٍ (nephew), اِبْنَةُ أَخٍ (niece), طِفْلٌ / أَطْفَالٌ (child / children), جَارٌ / جَارَةٌ (neighbour), قَرِيبٌ / قَرِيبَةٌ (relative), زَوْجَةُ الأَبِ (stepmother), زَوْجُ الأُمِّ (stepfather).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section 4 “Show whose family member it is” (the ending table with عَمٌّ and خَالَةٌ) and the special forms: أَبِي · أَبُوكَ / أَبُوكِ · أَبُوهُ / أَبُوهَا — the same for أَخٌ (أَخِي، أَخُوهُ) — and أُمِّي، أُمُّهُ (keep the shadda).
Website “important meaning”: choose the suffix from the owner, not from the family member. أُخْتُهُ = his sister (the sister is female, the owner is male).
Remember ة → ت before an ending: خَالَةٌ → خَالَتِي (F2).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section 5 “Build clear family sentences”: هَذَا with a masculine family member, هَذِهِ with a feminine one, then a name, age or description. Website models: هَذَا أَبِي. اِسْمُهُ خَالِدٌ. هُوَ لَطِيفٌ وَمُجْتَهِدٌ. / هَذِهِ أُمِّي. اِسْمُهَا مَرْيَمُ. هِيَ لَطِيفَةٌ وَمُجْتَهِدَةٌ.
Connectors (website): وَ، أَيْضًا، وَلَكِنْ، لِأَنَّ. Age (F2-L03): عُمْرُهُ سِتَّ عَشْرَةَ سَنَةً · عُمْرُهَا اِثْنَتَا عَشْرَةَ سَنَةً.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“Ten-question possessive suffix laboratory” questions 1, 3, 5 and 10.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speaking-studio model for the Al-Rashid family, with a think-aloud at every هَذَا / هَذِهِ and ending. Then ask: “Layla is Khalid’s daughter — what is Samir to Layla?” → عَمُّهَا (her paternal uncle).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My Family — Members and Relationships”)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word tells you it is feminine? (هٰذِهِ). Other cards for homework: هٰذَا أَبِي، هٰذِهِ أُخْتِي، هٰذَا جَدِّي.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My Family — Members and Relationships”)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word tells you it is feminine? (هٰذِهِ). Other cards for homework: هٰذَا أَبِي، هٰذِهِ أُخْتِي، هٰذَا جَدِّي.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12 relationship clues (paternal uncle, maternal aunt, his sister, her father, this is my aunt).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which side of the family? who is the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and 4. Develop / Stretch: all 5.
Listen 1: just listen. Listen 2: note answers. Then chat the letters.
Support: after the second listening, show the read-along slide (Arabic + English, line by line) for Core students.
SCRIPT (read aloud):
اِسْمِي لَيْلَى. عَائِلَتِي كَبِيرَةٌ وَلَطِيفَةٌ. هَذَا أَبِي، وَاسْمُهُ خَالِدٌ. هُوَ مُجْتَهِدٌ. وَهَذِهِ أُمِّي، وَاسْمُهَا مَرْيَمُ. هِيَ لَطِيفَةٌ جِدًّا. عِنْدِي أَخٌ أَكْبَرُ، وَاسْمُهُ يُوسُفُ، وَعُمْرُهُ سِتَّ عَشْرَةَ سَنَةً. جَدَّتِي سَلْمَى تَعِيشُ مَعَنَا. عَمِّي سَامِرٌ يَعِيشُ فِي لَنْدَنَ، وَبِنْتُ عَمِّي زَيْنَبُ تُحِبُّ القِرَاءَةَ. أَنَا أُحِبُّ عَائِلَتِي لِأَنَّهَا مُتَعَاوِنَةٌ.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AL-RASHID FAMILY (website, one sentence abridged: “the relatives like to eat and talk together”). Draw the tree live as the class reads (website section 3). Every relationship is from LAYLA’s point of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2, 3, 7, 8 and 9. The other 5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“Introduce a family” — real or invented; speak from a tree or short notes. Prompt cards (website):
• Al-Rashid family: Grandparents · parents · two children · uncle · cousin
• Small invented family: One parent · two siblings · grandmother · maternal aunt
• Extended international family: Grandparents abroad · cousins in two cities · twins
• Sibling-focused family: Older sister · younger brother · cousins · neighbours
Website checklist (listener ticks 1–6): six relationships · possessive forms (أَبِي، أُمِّي، أَخُوهَا) · هَذَا / هَذِهِ and matching adjectives · names, ages or places · connectors · clear delivery.
The Core prompt and the “who is Samir?” prompt are teacher-made from the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Six accurate sentences naming at least six people with hādhā / hādhihi. · Develop — 70–90 words with immediate and extended family, possessive endings and three connectors. · Stretch — Add sibling order, cousins, a comparison and a reason with li’anna.
Website writing task (Stretch): Website writing workshop: describe a real or invented family tree — grandparents, parents or caregivers, children or siblings, extended family and one family quality with a reason.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model (speaking prompt “Al-Rashid family”). Develop: add Layla, Yusuf and aunt Noor with an age and a reason to reach 70–90 words.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(F3-L02 · Describing Family Members) will spend class time USING this language, so students prepare it tonight — short, simple, easy to access (school guidance: “Simple, Short, Interesting, Relevant, Easy to access”). The five words come from the website F3-L02 appearance and personality banks (m. / f.).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My Family — Members and Relationships</a:t>
            </a:r>
            <a:endParaRPr lang="en-US" sz="27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عَائِلَتِي — الأَفْرَادُ وَالعَلَاقَاتُ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Build a complete family vocabulary bank, show who belongs to whom with possessive endings, and describe a real or invented family clearly.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F3-L01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Family words, then “my, your, his, her” endings.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Relationship Mission, listen to Layla, read about the Al-Rashid family.</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F3-L02.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أُسْرَةٌ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father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sister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أُخْتٌ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sister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brother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mother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demonstrative introduces a masculine family member?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هَؤُلَاءِ</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kind.”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لَطِيفٌ.</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لَطِيفٌ.</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لَطِيفَةٌ.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“his name”?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اِسْمُهُ</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اِسْمِي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اِسْمُهَا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أُسْرَةٌ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father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family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sister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(F2-L12).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أُخْتٌ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sister</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brother</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mother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(F2-L12).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demonstrative introduces a masculine family member?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هَذِهِ</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هَؤُلَاءِ</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هَذَا</a:t>
            </a:r>
            <a:pPr algn="l" indent="0" marL="0">
              <a:buNone/>
            </a:pPr>
            <a:r>
              <a:rPr lang="en-US" sz="1050" i="1" dirty="0">
                <a:solidFill>
                  <a:srgbClr val="8A6D1E"/>
                </a:solidFill>
                <a:latin typeface="Calibri" pitchFamily="34" charset="0"/>
                <a:cs typeface="Amiri" pitchFamily="2" charset="-78"/>
              </a:rPr>
              <a:t> introduces one masculine noun.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kind.”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لَطِيفٌ.</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هِيَ لَطِيفٌ.</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هِيَ لَطِيفَةٌ.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subject </a:t>
            </a:r>
            <a:pPr algn="l" indent="0" marL="0">
              <a:buNone/>
            </a:pPr>
            <a:r>
              <a:rPr lang="ar-SA" altLang="en-US" sz="1350" dirty="0">
                <a:solidFill>
                  <a:srgbClr val="8A6D1E"/>
                </a:solidFill>
                <a:latin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takes the feminine adjective </a:t>
            </a:r>
            <a:pPr algn="l" indent="0" marL="0">
              <a:buNone/>
            </a:pPr>
            <a:r>
              <a:rPr lang="ar-SA" altLang="en-US" sz="1350" dirty="0">
                <a:solidFill>
                  <a:srgbClr val="8A6D1E"/>
                </a:solidFill>
                <a:latin typeface="Amiri" pitchFamily="2" charset="-78"/>
                <a:cs typeface="Amiri" pitchFamily="2" charset="-78"/>
              </a:rPr>
              <a:t>لَطِيفَةٌ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“his name”?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اِسْمُهُ</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اِسْمِي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اِسْمُهَا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ـهُ</a:t>
            </a:r>
            <a:pPr algn="l" indent="0" marL="0">
              <a:buNone/>
            </a:pPr>
            <a:r>
              <a:rPr lang="en-US" sz="1050" i="1" dirty="0">
                <a:solidFill>
                  <a:srgbClr val="8A6D1E"/>
                </a:solidFill>
                <a:latin typeface="Calibri" pitchFamily="34" charset="0"/>
                <a:cs typeface="Amiri" pitchFamily="2" charset="-78"/>
              </a:rPr>
              <a:t> means his: </a:t>
            </a:r>
            <a:pPr algn="l" indent="0" marL="0">
              <a:buNone/>
            </a:pPr>
            <a:r>
              <a:rPr lang="ar-SA" altLang="en-US" sz="1350" dirty="0">
                <a:solidFill>
                  <a:srgbClr val="8A6D1E"/>
                </a:solidFill>
                <a:latin typeface="Amiri" pitchFamily="2" charset="-78"/>
                <a:cs typeface="Amiri" pitchFamily="2" charset="-78"/>
              </a:rPr>
              <a:t>اِسْمُهُ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(m.) is my father · this (f.) is my mother. The ending -ī means “my”.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هَذَا</a:t>
            </a:r>
            <a:pPr rtl="1" algn="ctr" indent="0" marL="0">
              <a:buNone/>
            </a:pPr>
            <a:r>
              <a:rPr lang="ar-SA" altLang="en-US" sz="2400" b="1" dirty="0">
                <a:solidFill>
                  <a:srgbClr val="1B3B6F"/>
                </a:solidFill>
                <a:latin typeface="Amiri" pitchFamily="2" charset="-78"/>
                <a:cs typeface="Amiri" pitchFamily="2" charset="-78"/>
              </a:rPr>
              <a:t> أَبِ</a:t>
            </a:r>
            <a:pPr rtl="1" algn="ctr" indent="0" marL="0">
              <a:buNone/>
            </a:pPr>
            <a:r>
              <a:rPr lang="ar-SA" altLang="en-US" sz="2400" b="1" dirty="0">
                <a:solidFill>
                  <a:srgbClr val="D6336C"/>
                </a:solidFill>
                <a:latin typeface="Amiri" pitchFamily="2" charset="-78"/>
                <a:cs typeface="Amiri" pitchFamily="2" charset="-78"/>
              </a:rPr>
              <a:t>ي</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cs typeface="Amiri" pitchFamily="2" charset="-78"/>
              </a:rPr>
              <a:t>هَذِهِ</a:t>
            </a:r>
            <a:pPr rtl="1" algn="ctr" indent="0" marL="0">
              <a:buNone/>
            </a:pPr>
            <a:r>
              <a:rPr lang="ar-SA" altLang="en-US" sz="2400" b="1" dirty="0">
                <a:solidFill>
                  <a:srgbClr val="1B3B6F"/>
                </a:solidFill>
                <a:latin typeface="Amiri" pitchFamily="2" charset="-78"/>
                <a:cs typeface="Amiri" pitchFamily="2" charset="-78"/>
              </a:rPr>
              <a:t> أُمِّ</a:t>
            </a:r>
            <a:pPr rtl="1" algn="ctr" indent="0" marL="0">
              <a:buNone/>
            </a:pPr>
            <a:r>
              <a:rPr lang="ar-SA" altLang="en-US" sz="2400" b="1" dirty="0">
                <a:solidFill>
                  <a:srgbClr val="D6336C"/>
                </a:solidFill>
                <a:latin typeface="Amiri" pitchFamily="2" charset="-78"/>
                <a:cs typeface="Amiri" pitchFamily="2" charset="-78"/>
              </a:rPr>
              <a:t>ي</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at least 14 core family members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the wider family and relationships bank.</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cs typeface="Amiri" pitchFamily="2" charset="-78"/>
              </a:rPr>
              <a:t>ـي، ـكَ، ـكِ، ـهُ، ـهَا</a:t>
            </a:r>
            <a:pPr algn="l" indent="0" marL="0">
              <a:buNone/>
            </a:pPr>
            <a:r>
              <a:rPr lang="en-US" sz="1300" dirty="0">
                <a:solidFill>
                  <a:srgbClr val="1F2A37"/>
                </a:solidFill>
                <a:latin typeface="Calibri" pitchFamily="34" charset="0"/>
                <a:cs typeface="Amiri" pitchFamily="2" charset="-78"/>
              </a:rPr>
              <a:t> to show possession.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Create and describe a real or invented family tree.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ten family members.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“this is my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his / her … (-hu / -hā).</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name uncles, aunts and cousins.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tell paternal from maternal relatives.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sibling order and cousins.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The complete website family bank. Core: immediate family and grandparents. Uncles, aunts and cousins are Develop / Stretch.</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Immediate family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Grandparents and extended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Cousins, structure, siblings · 17</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وَالِدٌ · وَالِدَةٌ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‎والد · والدہ‎ </a:t>
            </a:r>
            <a:pPr indent="0" marL="0">
              <a:buNone/>
            </a:pPr>
            <a:r>
              <a:rPr lang="en-US" sz="950" b="1" dirty="0">
                <a:solidFill>
                  <a:srgbClr val="2E8B57"/>
                </a:solidFill>
                <a:latin typeface="Calibri" pitchFamily="34" charset="0"/>
                <a:cs typeface="Amiri" pitchFamily="2" charset="-78"/>
              </a:rPr>
              <a:t> wālid · wālida · father · mother</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أَقَارِبُ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‎اقارب‎ </a:t>
            </a:r>
            <a:pPr indent="0" marL="0">
              <a:buNone/>
            </a:pPr>
            <a:r>
              <a:rPr lang="en-US" sz="950" b="1" dirty="0">
                <a:solidFill>
                  <a:srgbClr val="2E8B57"/>
                </a:solidFill>
                <a:latin typeface="Calibri" pitchFamily="34" charset="0"/>
                <a:cs typeface="Amiri" pitchFamily="2" charset="-78"/>
              </a:rPr>
              <a:t> aqārib · relatives</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اِبْنٌ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‎ابن (ابنِ سینا)‎ </a:t>
            </a:r>
            <a:pPr indent="0" marL="0">
              <a:buNone/>
            </a:pPr>
            <a:r>
              <a:rPr lang="en-US" sz="950" b="1" dirty="0">
                <a:solidFill>
                  <a:srgbClr val="2E8B57"/>
                </a:solidFill>
                <a:latin typeface="Calibri" pitchFamily="34" charset="0"/>
                <a:cs typeface="Amiri" pitchFamily="2" charset="-78"/>
              </a:rPr>
              <a:t> ibn · son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زَوْجٌ · زَوْجَةٌ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‎زوج · زوجہ‎ </a:t>
            </a:r>
            <a:pPr indent="0" marL="0">
              <a:buNone/>
            </a:pPr>
            <a:r>
              <a:rPr lang="en-US" sz="950" b="1" dirty="0">
                <a:solidFill>
                  <a:srgbClr val="2E8B57"/>
                </a:solidFill>
                <a:latin typeface="Calibri" pitchFamily="34" charset="0"/>
                <a:cs typeface="Amiri" pitchFamily="2" charset="-78"/>
              </a:rPr>
              <a:t> zawj · zawja · husband · wife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طِفْلٌ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‎طفل‎ </a:t>
            </a:r>
            <a:pPr indent="0" marL="0">
              <a:buNone/>
            </a:pPr>
            <a:r>
              <a:rPr lang="en-US" sz="950" b="1" dirty="0">
                <a:solidFill>
                  <a:srgbClr val="2E8B57"/>
                </a:solidFill>
                <a:latin typeface="Calibri" pitchFamily="34" charset="0"/>
                <a:cs typeface="Amiri" pitchFamily="2" charset="-78"/>
              </a:rPr>
              <a:t> ṭifl · child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IMMEDIATE FAMILY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Father, mother, brother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الأُسْرَةُ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this: hādhā</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أَبٌ / وَالِدٌ</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father</a:t>
            </a:r>
            <a:endParaRPr lang="en-US" sz="1350" dirty="0"/>
          </a:p>
          <a:p>
            <a:pPr indent="0" marL="0">
              <a:buNone/>
            </a:pPr>
            <a:r>
              <a:rPr lang="en-US" sz="1100" i="1" dirty="0">
                <a:solidFill>
                  <a:srgbClr val="5A6472"/>
                </a:solidFill>
                <a:latin typeface="Calibri" pitchFamily="34" charset="0"/>
                <a:cs typeface="Amiri" pitchFamily="2" charset="-78"/>
              </a:rPr>
              <a:t>ab / wā-lid</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أَبُوهُ</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أَبِي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1393546"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this: hādhihi</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أُمٌّ / وَالِدَةٌ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mother</a:t>
            </a:r>
            <a:endParaRPr lang="en-US" sz="1350" dirty="0"/>
          </a:p>
          <a:p>
            <a:pPr indent="0" marL="0">
              <a:buNone/>
            </a:pPr>
            <a:r>
              <a:rPr lang="en-US" sz="1100" i="1" dirty="0">
                <a:solidFill>
                  <a:srgbClr val="5A6472"/>
                </a:solidFill>
                <a:latin typeface="Calibri" pitchFamily="34" charset="0"/>
                <a:cs typeface="Amiri" pitchFamily="2" charset="-78"/>
              </a:rPr>
              <a:t>umm / wā-li-da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أُمُّهُ</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أُمِّي</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أَخٌ</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brother</a:t>
            </a:r>
            <a:endParaRPr lang="en-US" sz="1350" dirty="0"/>
          </a:p>
          <a:p>
            <a:pPr indent="0" marL="0">
              <a:buNone/>
            </a:pPr>
            <a:r>
              <a:rPr lang="en-US" sz="1100" i="1" dirty="0">
                <a:solidFill>
                  <a:srgbClr val="5A6472"/>
                </a:solidFill>
                <a:latin typeface="Calibri" pitchFamily="34" charset="0"/>
                <a:cs typeface="Amiri" pitchFamily="2" charset="-78"/>
              </a:rPr>
              <a:t>akh</a:t>
            </a:r>
            <a:endParaRPr lang="en-US" sz="1350" dirty="0"/>
          </a:p>
        </p:txBody>
      </p:sp>
      <p:sp>
        <p:nvSpPr>
          <p:cNvPr id="54" name="Shape 51"/>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إِخْوَةٌ</a:t>
            </a:r>
            <a:endParaRPr lang="ar-SA" sz="1500" dirty="0"/>
          </a:p>
        </p:txBody>
      </p:sp>
      <p:sp>
        <p:nvSpPr>
          <p:cNvPr id="57" name="Shape 54"/>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59" name="Text 56"/>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أَخُوهَا</a:t>
            </a:r>
            <a:endParaRPr lang="ar-SA" sz="1500" dirty="0"/>
          </a:p>
        </p:txBody>
      </p:sp>
      <p:sp>
        <p:nvSpPr>
          <p:cNvPr id="60" name="Shape 57"/>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62" name="Text 59"/>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أَخِي</a:t>
            </a:r>
            <a:endParaRPr lang="ar-SA" sz="1500" dirty="0"/>
          </a:p>
        </p:txBody>
      </p:sp>
      <p:sp>
        <p:nvSpPr>
          <p:cNvPr id="63" name="Shape 6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8211312"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6" name="Shape 6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8" name="Shape 6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أُخْتٌ</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sister</a:t>
            </a:r>
            <a:endParaRPr lang="en-US" sz="1350" dirty="0"/>
          </a:p>
          <a:p>
            <a:pPr indent="0" marL="0">
              <a:buNone/>
            </a:pPr>
            <a:r>
              <a:rPr lang="en-US" sz="1100" i="1" dirty="0">
                <a:solidFill>
                  <a:srgbClr val="5A6472"/>
                </a:solidFill>
                <a:latin typeface="Calibri" pitchFamily="34" charset="0"/>
                <a:cs typeface="Amiri" pitchFamily="2" charset="-78"/>
              </a:rPr>
              <a:t>ukht</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أَخَوَاتٌ</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أُخْتُهُ</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أُخْتِي</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84" name="Shape 81"/>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pl</a:t>
            </a:r>
            <a:endParaRPr lang="en-US" sz="800" dirty="0"/>
          </a:p>
        </p:txBody>
      </p:sp>
      <p:sp>
        <p:nvSpPr>
          <p:cNvPr id="86" name="Shape 8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8" name="Text 8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اِبْنٌ</a:t>
            </a:r>
            <a:endParaRPr lang="ar-SA" sz="3000" dirty="0"/>
          </a:p>
        </p:txBody>
      </p:sp>
      <p:sp>
        <p:nvSpPr>
          <p:cNvPr id="89" name="Text 8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son</a:t>
            </a:r>
            <a:endParaRPr lang="en-US" sz="1350" dirty="0"/>
          </a:p>
          <a:p>
            <a:pPr indent="0" marL="0">
              <a:buNone/>
            </a:pPr>
            <a:r>
              <a:rPr lang="en-US" sz="1100" i="1" dirty="0">
                <a:solidFill>
                  <a:srgbClr val="5A6472"/>
                </a:solidFill>
                <a:latin typeface="Calibri" pitchFamily="34" charset="0"/>
                <a:cs typeface="Amiri" pitchFamily="2" charset="-78"/>
              </a:rPr>
              <a:t>ibn</a:t>
            </a:r>
            <a:endParaRPr lang="en-US" sz="1350" dirty="0"/>
          </a:p>
        </p:txBody>
      </p:sp>
      <p:sp>
        <p:nvSpPr>
          <p:cNvPr id="90" name="Shape 8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2" name="Text 89"/>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أَبْنَاءٌ</a:t>
            </a:r>
            <a:endParaRPr lang="ar-SA" sz="1500" dirty="0"/>
          </a:p>
        </p:txBody>
      </p:sp>
      <p:sp>
        <p:nvSpPr>
          <p:cNvPr id="93" name="Shape 9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95" name="Text 92"/>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اِبْنِي</a:t>
            </a:r>
            <a:endParaRPr lang="ar-SA" sz="1500" dirty="0"/>
          </a:p>
        </p:txBody>
      </p:sp>
      <p:sp>
        <p:nvSpPr>
          <p:cNvPr id="96" name="Shape 9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7" name="Shape 94"/>
          <p:cNvSpPr/>
          <p:nvPr/>
        </p:nvSpPr>
        <p:spPr>
          <a:xfrm>
            <a:off x="566928" y="4261104"/>
            <a:ext cx="310896" cy="310896"/>
          </a:xfrm>
          <a:prstGeom prst="ellipse">
            <a:avLst/>
          </a:prstGeom>
          <a:solidFill>
            <a:srgbClr val="F4F1EA"/>
          </a:solidFill>
          <a:ln w="12700">
            <a:solidFill>
              <a:srgbClr val="F4F1EA"/>
            </a:solidFill>
            <a:prstDash val="solid"/>
          </a:ln>
        </p:spPr>
      </p:sp>
      <p:sp>
        <p:nvSpPr>
          <p:cNvPr id="98" name="Text 9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9" name="Shape 96"/>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100" name="Text 97"/>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pl</a:t>
            </a:r>
            <a:endParaRPr lang="en-US" sz="800" dirty="0"/>
          </a:p>
        </p:txBody>
      </p:sp>
      <p:sp>
        <p:nvSpPr>
          <p:cNvPr id="101" name="Shape 9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02" name="Text 9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03" name="Text 10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بِنْتٌ / اِبْنَةٌ</a:t>
            </a:r>
            <a:endParaRPr lang="ar-SA" sz="3000" dirty="0"/>
          </a:p>
        </p:txBody>
      </p:sp>
      <p:sp>
        <p:nvSpPr>
          <p:cNvPr id="104" name="Text 10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daughter</a:t>
            </a:r>
            <a:endParaRPr lang="en-US" sz="1350" dirty="0"/>
          </a:p>
          <a:p>
            <a:pPr indent="0" marL="0">
              <a:buNone/>
            </a:pPr>
            <a:r>
              <a:rPr lang="en-US" sz="1100" i="1" dirty="0">
                <a:solidFill>
                  <a:srgbClr val="5A6472"/>
                </a:solidFill>
                <a:latin typeface="Calibri" pitchFamily="34" charset="0"/>
                <a:cs typeface="Amiri" pitchFamily="2" charset="-78"/>
              </a:rPr>
              <a:t>bint / ib-na</a:t>
            </a:r>
            <a:endParaRPr lang="en-US" sz="1350" dirty="0"/>
          </a:p>
        </p:txBody>
      </p:sp>
      <p:sp>
        <p:nvSpPr>
          <p:cNvPr id="105" name="Shape 10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6" name="Text 10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7" name="Text 10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بَنَاتٌ</a:t>
            </a:r>
            <a:endParaRPr lang="ar-SA" sz="1500" dirty="0"/>
          </a:p>
        </p:txBody>
      </p:sp>
      <p:sp>
        <p:nvSpPr>
          <p:cNvPr id="108" name="Shape 10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9" name="Text 10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110" name="Text 10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بِنْتِي</a:t>
            </a:r>
            <a:endParaRPr lang="ar-SA" sz="1500" dirty="0"/>
          </a:p>
        </p:txBody>
      </p:sp>
      <p:sp>
        <p:nvSpPr>
          <p:cNvPr id="111" name="Text 10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2 · GRANDPARENTS AND EXTENDED FAMILY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Grandparents, uncles, aunts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الأَجْدَادُ وَالأَقَارِبُ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جَدٌّ</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grandfather</a:t>
            </a:r>
            <a:endParaRPr lang="en-US" sz="1350" dirty="0"/>
          </a:p>
          <a:p>
            <a:pPr indent="0" marL="0">
              <a:buNone/>
            </a:pPr>
            <a:r>
              <a:rPr lang="en-US" sz="1100" i="1" dirty="0">
                <a:solidFill>
                  <a:srgbClr val="5A6472"/>
                </a:solidFill>
                <a:latin typeface="Calibri" pitchFamily="34" charset="0"/>
                <a:cs typeface="Amiri" pitchFamily="2" charset="-78"/>
              </a:rPr>
              <a:t>jadd</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أَجْدَادٌ</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جَدِّي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جَدَّةٌ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grandmother</a:t>
            </a:r>
            <a:endParaRPr lang="en-US" sz="1350" dirty="0"/>
          </a:p>
          <a:p>
            <a:pPr indent="0" marL="0">
              <a:buNone/>
            </a:pPr>
            <a:r>
              <a:rPr lang="en-US" sz="1100" i="1" dirty="0">
                <a:solidFill>
                  <a:srgbClr val="5A6472"/>
                </a:solidFill>
                <a:latin typeface="Calibri" pitchFamily="34" charset="0"/>
                <a:cs typeface="Amiri" pitchFamily="2" charset="-78"/>
              </a:rPr>
              <a:t>jad-da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جَدَّاتٌ</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جَدَّتِي</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pl</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عَمٌّ</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uncle (father’s side)</a:t>
            </a:r>
            <a:endParaRPr lang="en-US" sz="1350" dirty="0"/>
          </a:p>
          <a:p>
            <a:pPr indent="0" marL="0">
              <a:buNone/>
            </a:pPr>
            <a:r>
              <a:rPr lang="en-US" sz="1100" i="1" dirty="0">
                <a:solidFill>
                  <a:srgbClr val="5A6472"/>
                </a:solidFill>
                <a:latin typeface="Calibri" pitchFamily="34" charset="0"/>
                <a:cs typeface="Amiri" pitchFamily="2" charset="-78"/>
              </a:rPr>
              <a:t>‘amm</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4" name="Text 5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أَعْمَامٌ</a:t>
            </a:r>
            <a:endParaRPr lang="ar-SA" sz="150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57" name="Text 5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عَمِّي</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1" name="Shape 58"/>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pl</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عَمَّةٌ</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aunt (father’s side)</a:t>
            </a:r>
            <a:endParaRPr lang="en-US" sz="1350" dirty="0"/>
          </a:p>
          <a:p>
            <a:pPr indent="0" marL="0">
              <a:buNone/>
            </a:pPr>
            <a:r>
              <a:rPr lang="en-US" sz="1100" i="1" dirty="0">
                <a:solidFill>
                  <a:srgbClr val="5A6472"/>
                </a:solidFill>
                <a:latin typeface="Calibri" pitchFamily="34" charset="0"/>
                <a:cs typeface="Amiri" pitchFamily="2" charset="-78"/>
              </a:rPr>
              <a:t>‘am-ma</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عَمَّاتٌ</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70" name="Text 6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عَمَّتِي</a:t>
            </a:r>
            <a:endParaRPr lang="ar-SA" sz="1500" dirty="0"/>
          </a:p>
        </p:txBody>
      </p:sp>
      <p:sp>
        <p:nvSpPr>
          <p:cNvPr id="71" name="Shape 6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389120"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4" name="Shape 71"/>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pl</a:t>
            </a:r>
            <a:endParaRPr lang="en-US" sz="800" dirty="0"/>
          </a:p>
        </p:txBody>
      </p:sp>
      <p:sp>
        <p:nvSpPr>
          <p:cNvPr id="76" name="Text 7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خَالٌ</a:t>
            </a:r>
            <a:endParaRPr lang="ar-SA" sz="3000" dirty="0"/>
          </a:p>
        </p:txBody>
      </p:sp>
      <p:sp>
        <p:nvSpPr>
          <p:cNvPr id="77" name="Text 7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uncle (mother’s side)</a:t>
            </a:r>
            <a:endParaRPr lang="en-US" sz="1350" dirty="0"/>
          </a:p>
          <a:p>
            <a:pPr indent="0" marL="0">
              <a:buNone/>
            </a:pPr>
            <a:r>
              <a:rPr lang="en-US" sz="1100" i="1" dirty="0">
                <a:solidFill>
                  <a:srgbClr val="5A6472"/>
                </a:solidFill>
                <a:latin typeface="Calibri" pitchFamily="34" charset="0"/>
                <a:cs typeface="Amiri" pitchFamily="2" charset="-78"/>
              </a:rPr>
              <a:t>khāl</a:t>
            </a:r>
            <a:endParaRPr lang="en-US" sz="1350" dirty="0"/>
          </a:p>
        </p:txBody>
      </p:sp>
      <p:sp>
        <p:nvSpPr>
          <p:cNvPr id="78" name="Shape 7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أَخْوَالٌ</a:t>
            </a:r>
            <a:endParaRPr lang="ar-SA" sz="1500" dirty="0"/>
          </a:p>
        </p:txBody>
      </p:sp>
      <p:sp>
        <p:nvSpPr>
          <p:cNvPr id="81" name="Shape 7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83" name="Text 80"/>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خَالِي</a:t>
            </a:r>
            <a:endParaRPr lang="ar-SA" sz="1500" dirty="0"/>
          </a:p>
        </p:txBody>
      </p:sp>
      <p:sp>
        <p:nvSpPr>
          <p:cNvPr id="84" name="Shape 8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566928" y="4261104"/>
            <a:ext cx="310896" cy="310896"/>
          </a:xfrm>
          <a:prstGeom prst="ellipse">
            <a:avLst/>
          </a:prstGeom>
          <a:solidFill>
            <a:srgbClr val="F4F1EA"/>
          </a:solidFill>
          <a:ln w="12700">
            <a:solidFill>
              <a:srgbClr val="F4F1EA"/>
            </a:solidFill>
            <a:prstDash val="solid"/>
          </a:ln>
        </p:spPr>
      </p:sp>
      <p:sp>
        <p:nvSpPr>
          <p:cNvPr id="86" name="Text 8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7" name="Shape 84"/>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88" name="Text 85"/>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pl</a:t>
            </a:r>
            <a:endParaRPr lang="en-US" sz="800" dirty="0"/>
          </a:p>
        </p:txBody>
      </p:sp>
      <p:sp>
        <p:nvSpPr>
          <p:cNvPr id="89" name="Text 8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خَالَةٌ</a:t>
            </a:r>
            <a:endParaRPr lang="ar-SA" sz="3000" dirty="0"/>
          </a:p>
        </p:txBody>
      </p:sp>
      <p:sp>
        <p:nvSpPr>
          <p:cNvPr id="90" name="Text 8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aunt (mother’s side)</a:t>
            </a:r>
            <a:endParaRPr lang="en-US" sz="1350" dirty="0"/>
          </a:p>
          <a:p>
            <a:pPr indent="0" marL="0">
              <a:buNone/>
            </a:pPr>
            <a:r>
              <a:rPr lang="en-US" sz="1100" i="1" dirty="0">
                <a:solidFill>
                  <a:srgbClr val="5A6472"/>
                </a:solidFill>
                <a:latin typeface="Calibri" pitchFamily="34" charset="0"/>
                <a:cs typeface="Amiri" pitchFamily="2" charset="-78"/>
              </a:rPr>
              <a:t>khā-la</a:t>
            </a:r>
            <a:endParaRPr lang="en-US" sz="1350" dirty="0"/>
          </a:p>
        </p:txBody>
      </p:sp>
      <p:sp>
        <p:nvSpPr>
          <p:cNvPr id="91" name="Shape 88"/>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3" name="Text 90"/>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خَالَاتٌ</a:t>
            </a:r>
            <a:endParaRPr lang="ar-SA" sz="1500" dirty="0"/>
          </a:p>
        </p:txBody>
      </p:sp>
      <p:sp>
        <p:nvSpPr>
          <p:cNvPr id="94" name="Shape 91"/>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96" name="Text 93"/>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خَالَتِي</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cs typeface="Amiri" pitchFamily="2" charset="-78"/>
              </a:rPr>
              <a:t>KEY WORDS · GROUP 3 · COUSINS, STRUCTURE AND SIBLING ORDER (WEBSITE) · FLEX</a:t>
            </a:r>
            <a:endParaRPr lang="en-US" sz="93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Cousins, older, younger …</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العَلَاقَاتُ الأَوْسَعُ</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paternal</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اِبْنُ عَمٍّ / بِنْتُ عَمٍّ</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cousin (father’s side) m. / f.</a:t>
            </a:r>
            <a:endParaRPr lang="en-US" sz="1350" dirty="0"/>
          </a:p>
          <a:p>
            <a:pPr indent="0" marL="0">
              <a:buNone/>
            </a:pPr>
            <a:r>
              <a:rPr lang="en-US" sz="1100" i="1" dirty="0">
                <a:solidFill>
                  <a:srgbClr val="5A6472"/>
                </a:solidFill>
                <a:latin typeface="Calibri" pitchFamily="34" charset="0"/>
                <a:cs typeface="Amiri" pitchFamily="2" charset="-78"/>
              </a:rPr>
              <a:t>ib-nu ‘amm / bin-tu ‘amm</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7" name="Shape 24"/>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maternal</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اِبْنُ خَالٍ / بِنْتُ خَالٍ</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cousin (mother’s side) m. / f.</a:t>
            </a:r>
            <a:endParaRPr lang="en-US" sz="1350" dirty="0"/>
          </a:p>
          <a:p>
            <a:pPr indent="0" marL="0">
              <a:buNone/>
            </a:pPr>
            <a:r>
              <a:rPr lang="en-US" sz="1100" i="1" dirty="0">
                <a:solidFill>
                  <a:srgbClr val="5A6472"/>
                </a:solidFill>
                <a:latin typeface="Calibri" pitchFamily="34" charset="0"/>
                <a:cs typeface="Amiri" pitchFamily="2" charset="-78"/>
              </a:rPr>
              <a:t>ib-nu khāl / bin-tu khāl</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4" name="Shape 31"/>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sibling order</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الأَخُ الأَكْبَرُ</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older brother</a:t>
            </a:r>
            <a:endParaRPr lang="en-US" sz="1350" dirty="0"/>
          </a:p>
          <a:p>
            <a:pPr indent="0" marL="0">
              <a:buNone/>
            </a:pPr>
            <a:r>
              <a:rPr lang="en-US" sz="1100" i="1" dirty="0">
                <a:solidFill>
                  <a:srgbClr val="5A6472"/>
                </a:solidFill>
                <a:latin typeface="Calibri" pitchFamily="34" charset="0"/>
                <a:cs typeface="Amiri" pitchFamily="2" charset="-78"/>
              </a:rPr>
              <a:t>al-a-khu l-ak-bar</a:t>
            </a:r>
            <a:endParaRPr lang="en-US" sz="1350" dirty="0"/>
          </a:p>
        </p:txBody>
      </p:sp>
      <p:sp>
        <p:nvSpPr>
          <p:cNvPr id="38" name="Shape 3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younger</a:t>
            </a:r>
            <a:endParaRPr lang="en-US" sz="700" dirty="0"/>
          </a:p>
        </p:txBody>
      </p:sp>
      <p:sp>
        <p:nvSpPr>
          <p:cNvPr id="40" name="Text 3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الأَخُ الأَصْغَرُ</a:t>
            </a:r>
            <a:endParaRPr lang="ar-SA"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4" name="Shape 41"/>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sibling order</a:t>
            </a:r>
            <a:endParaRPr lang="en-US" sz="800" dirty="0"/>
          </a:p>
        </p:txBody>
      </p:sp>
      <p:sp>
        <p:nvSpPr>
          <p:cNvPr id="46" name="Text 4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الأُخْتُ الكُبْرَى</a:t>
            </a:r>
            <a:endParaRPr lang="ar-SA" sz="3000" dirty="0"/>
          </a:p>
        </p:txBody>
      </p:sp>
      <p:sp>
        <p:nvSpPr>
          <p:cNvPr id="47" name="Text 4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older sister</a:t>
            </a:r>
            <a:endParaRPr lang="en-US" sz="1350" dirty="0"/>
          </a:p>
          <a:p>
            <a:pPr indent="0" marL="0">
              <a:buNone/>
            </a:pPr>
            <a:r>
              <a:rPr lang="en-US" sz="1100" i="1" dirty="0">
                <a:solidFill>
                  <a:srgbClr val="5A6472"/>
                </a:solidFill>
                <a:latin typeface="Calibri" pitchFamily="34" charset="0"/>
                <a:cs typeface="Amiri" pitchFamily="2" charset="-78"/>
              </a:rPr>
              <a:t>al-ukh-tu l-kub-rā</a:t>
            </a:r>
            <a:endParaRPr lang="en-US" sz="1350" dirty="0"/>
          </a:p>
        </p:txBody>
      </p:sp>
      <p:sp>
        <p:nvSpPr>
          <p:cNvPr id="48" name="Shape 4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younger</a:t>
            </a:r>
            <a:endParaRPr lang="en-US" sz="700" dirty="0"/>
          </a:p>
        </p:txBody>
      </p:sp>
      <p:sp>
        <p:nvSpPr>
          <p:cNvPr id="50" name="Text 47"/>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الأُخْتُ الصُّغْرَى</a:t>
            </a:r>
            <a:endParaRPr lang="ar-SA"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54" name="Shape 51"/>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dual preview</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تَوْأَمٌ / تَوْأَمَانِ</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twin / twins</a:t>
            </a:r>
            <a:endParaRPr lang="en-US" sz="1350" dirty="0"/>
          </a:p>
          <a:p>
            <a:pPr indent="0" marL="0">
              <a:buNone/>
            </a:pPr>
            <a:r>
              <a:rPr lang="en-US" sz="1100" i="1" dirty="0">
                <a:solidFill>
                  <a:srgbClr val="5A6472"/>
                </a:solidFill>
                <a:latin typeface="Calibri" pitchFamily="34" charset="0"/>
                <a:cs typeface="Amiri" pitchFamily="2" charset="-78"/>
              </a:rPr>
              <a:t>taw-am / taw-a-mān</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61" name="Shape 5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3" name="Text 6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عَائِلَةٌ / أُسْرَةٌ</a:t>
            </a:r>
            <a:endParaRPr lang="ar-SA" sz="3000" dirty="0"/>
          </a:p>
        </p:txBody>
      </p:sp>
      <p:sp>
        <p:nvSpPr>
          <p:cNvPr id="64" name="Text 6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family</a:t>
            </a:r>
            <a:endParaRPr lang="en-US" sz="1350" dirty="0"/>
          </a:p>
          <a:p>
            <a:pPr indent="0" marL="0">
              <a:buNone/>
            </a:pPr>
            <a:r>
              <a:rPr lang="en-US" sz="1100" i="1" dirty="0">
                <a:solidFill>
                  <a:srgbClr val="5A6472"/>
                </a:solidFill>
                <a:latin typeface="Calibri" pitchFamily="34" charset="0"/>
                <a:cs typeface="Amiri" pitchFamily="2" charset="-78"/>
              </a:rPr>
              <a:t>‘ā-ʾi-la / us-ra</a:t>
            </a:r>
            <a:endParaRPr lang="en-US" sz="1350" dirty="0"/>
          </a:p>
        </p:txBody>
      </p:sp>
      <p:sp>
        <p:nvSpPr>
          <p:cNvPr id="65" name="Shape 62"/>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67" name="Text 64"/>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عَائِلَتِي</a:t>
            </a:r>
            <a:endParaRPr lang="ar-SA" sz="150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FOCUS · PART 1 · WHOSE FAMILY MEMBER? (WEBSITE POSSESSIVE TABLE)</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your, his, 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ضَمَائِرُ المِلْكِيَّةِ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17152" y="1810512"/>
            <a:ext cx="2441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father</a:t>
            </a:r>
            <a:endParaRPr lang="en-US" sz="1100" dirty="0"/>
          </a:p>
        </p:txBody>
      </p:sp>
      <p:sp>
        <p:nvSpPr>
          <p:cNvPr id="17" name="Text 14"/>
          <p:cNvSpPr txBox="1"/>
          <p:nvPr/>
        </p:nvSpPr>
        <p:spPr>
          <a:xfrm>
            <a:off x="6748272"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aunt (mother’s side)</a:t>
            </a:r>
            <a:endParaRPr lang="en-US" sz="1100" dirty="0"/>
          </a:p>
        </p:txBody>
      </p:sp>
      <p:sp>
        <p:nvSpPr>
          <p:cNvPr id="18" name="Text 15"/>
          <p:cNvSpPr txBox="1"/>
          <p:nvPr/>
        </p:nvSpPr>
        <p:spPr>
          <a:xfrm>
            <a:off x="4279392"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uncle (father’s side)</a:t>
            </a:r>
            <a:endParaRPr lang="en-US" sz="1100" dirty="0"/>
          </a:p>
        </p:txBody>
      </p:sp>
      <p:sp>
        <p:nvSpPr>
          <p:cNvPr id="19" name="Text 16"/>
          <p:cNvSpPr txBox="1"/>
          <p:nvPr/>
        </p:nvSpPr>
        <p:spPr>
          <a:xfrm>
            <a:off x="281635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Ending</a:t>
            </a:r>
            <a:endParaRPr lang="en-US" sz="1100" dirty="0"/>
          </a:p>
        </p:txBody>
      </p:sp>
      <p:sp>
        <p:nvSpPr>
          <p:cNvPr id="20" name="Text 17"/>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235440" y="2267712"/>
            <a:ext cx="24048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أَبِ</a:t>
            </a:r>
            <a:pPr rtl="1" algn="ctr" indent="0" marL="0">
              <a:buNone/>
            </a:pPr>
            <a:r>
              <a:rPr lang="ar-SA" altLang="en-US" sz="2400" b="1" dirty="0">
                <a:solidFill>
                  <a:srgbClr val="D6336C"/>
                </a:solidFill>
                <a:latin typeface="Amiri" pitchFamily="2" charset="-78"/>
                <a:cs typeface="Amiri" pitchFamily="2" charset="-78"/>
              </a:rPr>
              <a:t>ي</a:t>
            </a:r>
            <a:endParaRPr lang="ar-SA" sz="2400" dirty="0"/>
          </a:p>
        </p:txBody>
      </p:sp>
      <p:sp>
        <p:nvSpPr>
          <p:cNvPr id="23" name="Text 20"/>
          <p:cNvSpPr txBox="1"/>
          <p:nvPr/>
        </p:nvSpPr>
        <p:spPr>
          <a:xfrm>
            <a:off x="6766560" y="2267712"/>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خَالَتِ</a:t>
            </a:r>
            <a:pPr rtl="1" algn="ctr" indent="0" marL="0">
              <a:buNone/>
            </a:pPr>
            <a:r>
              <a:rPr lang="ar-SA" altLang="en-US" sz="2400" b="1" dirty="0">
                <a:solidFill>
                  <a:srgbClr val="D6336C"/>
                </a:solidFill>
                <a:latin typeface="Amiri" pitchFamily="2" charset="-78"/>
                <a:cs typeface="Amiri" pitchFamily="2" charset="-78"/>
              </a:rPr>
              <a:t>ي</a:t>
            </a:r>
            <a:endParaRPr lang="ar-SA" sz="2400" dirty="0"/>
          </a:p>
        </p:txBody>
      </p:sp>
      <p:sp>
        <p:nvSpPr>
          <p:cNvPr id="24" name="Text 21"/>
          <p:cNvSpPr txBox="1"/>
          <p:nvPr/>
        </p:nvSpPr>
        <p:spPr>
          <a:xfrm>
            <a:off x="4297680" y="2267712"/>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عَمِّ</a:t>
            </a:r>
            <a:pPr rtl="1" algn="ctr" indent="0" marL="0">
              <a:buNone/>
            </a:pPr>
            <a:r>
              <a:rPr lang="ar-SA" altLang="en-US" sz="2400" b="1" dirty="0">
                <a:solidFill>
                  <a:srgbClr val="D6336C"/>
                </a:solidFill>
                <a:latin typeface="Amiri" pitchFamily="2" charset="-78"/>
                <a:cs typeface="Amiri" pitchFamily="2" charset="-78"/>
              </a:rPr>
              <a:t>ي</a:t>
            </a:r>
            <a:endParaRPr lang="ar-SA" sz="2400" dirty="0"/>
          </a:p>
        </p:txBody>
      </p:sp>
      <p:sp>
        <p:nvSpPr>
          <p:cNvPr id="25" name="Text 22"/>
          <p:cNvSpPr txBox="1"/>
          <p:nvPr/>
        </p:nvSpPr>
        <p:spPr>
          <a:xfrm>
            <a:off x="2834640" y="2267712"/>
            <a:ext cx="128016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cs typeface="Amiri" pitchFamily="2" charset="-78"/>
              </a:rPr>
              <a:t>ـي</a:t>
            </a:r>
            <a:endParaRPr lang="ar-SA" sz="2600" dirty="0"/>
          </a:p>
        </p:txBody>
      </p:sp>
      <p:sp>
        <p:nvSpPr>
          <p:cNvPr id="26" name="Text 23"/>
          <p:cNvSpPr txBox="1"/>
          <p:nvPr/>
        </p:nvSpPr>
        <p:spPr>
          <a:xfrm>
            <a:off x="566928" y="2267712"/>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235440" y="3004718"/>
            <a:ext cx="24048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أَبُو</a:t>
            </a:r>
            <a:pPr rtl="1" algn="ctr" indent="0" marL="0">
              <a:buNone/>
            </a:pPr>
            <a:r>
              <a:rPr lang="ar-SA" altLang="en-US" sz="2400" b="1" dirty="0">
                <a:solidFill>
                  <a:srgbClr val="1D5FBF"/>
                </a:solidFill>
                <a:latin typeface="Amiri" pitchFamily="2" charset="-78"/>
                <a:cs typeface="Amiri" pitchFamily="2" charset="-78"/>
              </a:rPr>
              <a:t>كَ</a:t>
            </a:r>
            <a:endParaRPr lang="ar-SA" sz="2400" dirty="0"/>
          </a:p>
        </p:txBody>
      </p:sp>
      <p:sp>
        <p:nvSpPr>
          <p:cNvPr id="31" name="Text 28"/>
          <p:cNvSpPr txBox="1"/>
          <p:nvPr/>
        </p:nvSpPr>
        <p:spPr>
          <a:xfrm>
            <a:off x="6766560" y="3004718"/>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خَالَتُ</a:t>
            </a:r>
            <a:pPr rtl="1" algn="ctr" indent="0" marL="0">
              <a:buNone/>
            </a:pPr>
            <a:r>
              <a:rPr lang="ar-SA" altLang="en-US" sz="2400" b="1" dirty="0">
                <a:solidFill>
                  <a:srgbClr val="1D5FBF"/>
                </a:solidFill>
                <a:latin typeface="Amiri" pitchFamily="2" charset="-78"/>
                <a:cs typeface="Amiri" pitchFamily="2" charset="-78"/>
              </a:rPr>
              <a:t>كَ</a:t>
            </a:r>
            <a:endParaRPr lang="ar-SA" sz="2400" dirty="0"/>
          </a:p>
        </p:txBody>
      </p:sp>
      <p:sp>
        <p:nvSpPr>
          <p:cNvPr id="32" name="Text 29"/>
          <p:cNvSpPr txBox="1"/>
          <p:nvPr/>
        </p:nvSpPr>
        <p:spPr>
          <a:xfrm>
            <a:off x="4297680" y="3004718"/>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عَمُّ</a:t>
            </a:r>
            <a:pPr rtl="1" algn="ctr" indent="0" marL="0">
              <a:buNone/>
            </a:pPr>
            <a:r>
              <a:rPr lang="ar-SA" altLang="en-US" sz="2400" b="1" dirty="0">
                <a:solidFill>
                  <a:srgbClr val="1D5FBF"/>
                </a:solidFill>
                <a:latin typeface="Amiri" pitchFamily="2" charset="-78"/>
                <a:cs typeface="Amiri" pitchFamily="2" charset="-78"/>
              </a:rPr>
              <a:t>كَ</a:t>
            </a:r>
            <a:endParaRPr lang="ar-SA" sz="2400" dirty="0"/>
          </a:p>
        </p:txBody>
      </p:sp>
      <p:sp>
        <p:nvSpPr>
          <p:cNvPr id="33" name="Text 30"/>
          <p:cNvSpPr txBox="1"/>
          <p:nvPr/>
        </p:nvSpPr>
        <p:spPr>
          <a:xfrm>
            <a:off x="2834640" y="3004718"/>
            <a:ext cx="128016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cs typeface="Amiri" pitchFamily="2" charset="-78"/>
              </a:rPr>
              <a:t>ـكَ</a:t>
            </a:r>
            <a:endParaRPr lang="ar-SA" sz="2600" dirty="0"/>
          </a:p>
        </p:txBody>
      </p:sp>
      <p:sp>
        <p:nvSpPr>
          <p:cNvPr id="34" name="Text 31"/>
          <p:cNvSpPr txBox="1"/>
          <p:nvPr/>
        </p:nvSpPr>
        <p:spPr>
          <a:xfrm>
            <a:off x="566928" y="300471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(to a boy)</a:t>
            </a:r>
            <a:endParaRPr lang="en-US" sz="1100" dirty="0"/>
          </a:p>
        </p:txBody>
      </p:sp>
      <p:sp>
        <p:nvSpPr>
          <p:cNvPr id="35" name="Shape 32"/>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9235440" y="3741725"/>
            <a:ext cx="24048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أَبُو</a:t>
            </a:r>
            <a:pPr rtl="1" algn="ctr" indent="0" marL="0">
              <a:buNone/>
            </a:pPr>
            <a:r>
              <a:rPr lang="ar-SA" altLang="en-US" sz="2400" b="1" dirty="0">
                <a:solidFill>
                  <a:srgbClr val="D6336C"/>
                </a:solidFill>
                <a:latin typeface="Amiri" pitchFamily="2" charset="-78"/>
                <a:cs typeface="Amiri" pitchFamily="2" charset="-78"/>
              </a:rPr>
              <a:t>كِ</a:t>
            </a:r>
            <a:endParaRPr lang="ar-SA" sz="2400" dirty="0"/>
          </a:p>
        </p:txBody>
      </p:sp>
      <p:sp>
        <p:nvSpPr>
          <p:cNvPr id="37" name="Text 34"/>
          <p:cNvSpPr txBox="1"/>
          <p:nvPr/>
        </p:nvSpPr>
        <p:spPr>
          <a:xfrm>
            <a:off x="6766560" y="3741725"/>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خَالَتُ</a:t>
            </a:r>
            <a:pPr rtl="1" algn="ctr" indent="0" marL="0">
              <a:buNone/>
            </a:pPr>
            <a:r>
              <a:rPr lang="ar-SA" altLang="en-US" sz="2400" b="1" dirty="0">
                <a:solidFill>
                  <a:srgbClr val="D6336C"/>
                </a:solidFill>
                <a:latin typeface="Amiri" pitchFamily="2" charset="-78"/>
                <a:cs typeface="Amiri" pitchFamily="2" charset="-78"/>
              </a:rPr>
              <a:t>كِ</a:t>
            </a:r>
            <a:endParaRPr lang="ar-SA" sz="2400" dirty="0"/>
          </a:p>
        </p:txBody>
      </p:sp>
      <p:sp>
        <p:nvSpPr>
          <p:cNvPr id="38" name="Text 35"/>
          <p:cNvSpPr txBox="1"/>
          <p:nvPr/>
        </p:nvSpPr>
        <p:spPr>
          <a:xfrm>
            <a:off x="4297680" y="3741725"/>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عَمُّ</a:t>
            </a:r>
            <a:pPr rtl="1" algn="ctr" indent="0" marL="0">
              <a:buNone/>
            </a:pPr>
            <a:r>
              <a:rPr lang="ar-SA" altLang="en-US" sz="2400" b="1" dirty="0">
                <a:solidFill>
                  <a:srgbClr val="D6336C"/>
                </a:solidFill>
                <a:latin typeface="Amiri" pitchFamily="2" charset="-78"/>
                <a:cs typeface="Amiri" pitchFamily="2" charset="-78"/>
              </a:rPr>
              <a:t>كِ</a:t>
            </a:r>
            <a:endParaRPr lang="ar-SA" sz="2400" dirty="0"/>
          </a:p>
        </p:txBody>
      </p:sp>
      <p:sp>
        <p:nvSpPr>
          <p:cNvPr id="39" name="Text 36"/>
          <p:cNvSpPr txBox="1"/>
          <p:nvPr/>
        </p:nvSpPr>
        <p:spPr>
          <a:xfrm>
            <a:off x="2834640" y="3741725"/>
            <a:ext cx="128016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cs typeface="Amiri" pitchFamily="2" charset="-78"/>
              </a:rPr>
              <a:t>ـكِ</a:t>
            </a:r>
            <a:endParaRPr lang="ar-SA" sz="2600" dirty="0"/>
          </a:p>
        </p:txBody>
      </p:sp>
      <p:sp>
        <p:nvSpPr>
          <p:cNvPr id="40" name="Text 37"/>
          <p:cNvSpPr txBox="1"/>
          <p:nvPr/>
        </p:nvSpPr>
        <p:spPr>
          <a:xfrm>
            <a:off x="566928" y="3741725"/>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(to a girl)</a:t>
            </a:r>
            <a:endParaRPr lang="en-US" sz="110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235440" y="4478731"/>
            <a:ext cx="24048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أَبُو</a:t>
            </a:r>
            <a:pPr rtl="1" algn="ctr" indent="0" marL="0">
              <a:buNone/>
            </a:pPr>
            <a:r>
              <a:rPr lang="ar-SA" altLang="en-US" sz="2400" b="1" dirty="0">
                <a:solidFill>
                  <a:srgbClr val="1D5FBF"/>
                </a:solidFill>
                <a:latin typeface="Amiri" pitchFamily="2" charset="-78"/>
                <a:cs typeface="Amiri" pitchFamily="2" charset="-78"/>
              </a:rPr>
              <a:t>هُ</a:t>
            </a:r>
            <a:endParaRPr lang="ar-SA" sz="2400" dirty="0"/>
          </a:p>
        </p:txBody>
      </p:sp>
      <p:sp>
        <p:nvSpPr>
          <p:cNvPr id="43" name="Text 40"/>
          <p:cNvSpPr txBox="1"/>
          <p:nvPr/>
        </p:nvSpPr>
        <p:spPr>
          <a:xfrm>
            <a:off x="6766560" y="4478731"/>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خَالَتُ</a:t>
            </a:r>
            <a:pPr rtl="1" algn="ctr" indent="0" marL="0">
              <a:buNone/>
            </a:pPr>
            <a:r>
              <a:rPr lang="ar-SA" altLang="en-US" sz="2400" b="1" dirty="0">
                <a:solidFill>
                  <a:srgbClr val="1D5FBF"/>
                </a:solidFill>
                <a:latin typeface="Amiri" pitchFamily="2" charset="-78"/>
                <a:cs typeface="Amiri" pitchFamily="2" charset="-78"/>
              </a:rPr>
              <a:t>هُ</a:t>
            </a:r>
            <a:endParaRPr lang="ar-SA" sz="2400" dirty="0"/>
          </a:p>
        </p:txBody>
      </p:sp>
      <p:sp>
        <p:nvSpPr>
          <p:cNvPr id="44" name="Text 41"/>
          <p:cNvSpPr txBox="1"/>
          <p:nvPr/>
        </p:nvSpPr>
        <p:spPr>
          <a:xfrm>
            <a:off x="4297680" y="4478731"/>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عَمُّ</a:t>
            </a:r>
            <a:pPr rtl="1" algn="ctr" indent="0" marL="0">
              <a:buNone/>
            </a:pPr>
            <a:r>
              <a:rPr lang="ar-SA" altLang="en-US" sz="2400" b="1" dirty="0">
                <a:solidFill>
                  <a:srgbClr val="1D5FBF"/>
                </a:solidFill>
                <a:latin typeface="Amiri" pitchFamily="2" charset="-78"/>
                <a:cs typeface="Amiri" pitchFamily="2" charset="-78"/>
              </a:rPr>
              <a:t>هُ</a:t>
            </a:r>
            <a:endParaRPr lang="ar-SA" sz="2400" dirty="0"/>
          </a:p>
        </p:txBody>
      </p:sp>
      <p:sp>
        <p:nvSpPr>
          <p:cNvPr id="45" name="Text 42"/>
          <p:cNvSpPr txBox="1"/>
          <p:nvPr/>
        </p:nvSpPr>
        <p:spPr>
          <a:xfrm>
            <a:off x="2834640" y="4478731"/>
            <a:ext cx="128016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cs typeface="Amiri" pitchFamily="2" charset="-78"/>
              </a:rPr>
              <a:t>ـهُ</a:t>
            </a:r>
            <a:endParaRPr lang="ar-SA" sz="2600" dirty="0"/>
          </a:p>
        </p:txBody>
      </p:sp>
      <p:sp>
        <p:nvSpPr>
          <p:cNvPr id="46" name="Text 43"/>
          <p:cNvSpPr txBox="1"/>
          <p:nvPr/>
        </p:nvSpPr>
        <p:spPr>
          <a:xfrm>
            <a:off x="566928" y="4478731"/>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his</a:t>
            </a:r>
            <a:endParaRPr lang="en-US" sz="1100" dirty="0"/>
          </a:p>
        </p:txBody>
      </p:sp>
      <p:sp>
        <p:nvSpPr>
          <p:cNvPr id="47" name="Shape 44"/>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0" name="Text 47"/>
          <p:cNvSpPr txBox="1"/>
          <p:nvPr/>
        </p:nvSpPr>
        <p:spPr>
          <a:xfrm>
            <a:off x="9235440" y="5215738"/>
            <a:ext cx="24048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أَبُو</a:t>
            </a:r>
            <a:pPr rtl="1" algn="ctr" indent="0" marL="0">
              <a:buNone/>
            </a:pPr>
            <a:r>
              <a:rPr lang="ar-SA" altLang="en-US" sz="2400" b="1" dirty="0">
                <a:solidFill>
                  <a:srgbClr val="D6336C"/>
                </a:solidFill>
                <a:latin typeface="Amiri" pitchFamily="2" charset="-78"/>
                <a:cs typeface="Amiri" pitchFamily="2" charset="-78"/>
              </a:rPr>
              <a:t>هَا</a:t>
            </a:r>
            <a:endParaRPr lang="ar-SA" sz="2400" dirty="0"/>
          </a:p>
        </p:txBody>
      </p:sp>
      <p:sp>
        <p:nvSpPr>
          <p:cNvPr id="51" name="Text 48"/>
          <p:cNvSpPr txBox="1"/>
          <p:nvPr/>
        </p:nvSpPr>
        <p:spPr>
          <a:xfrm>
            <a:off x="6766560" y="5215738"/>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خَالَتُ</a:t>
            </a:r>
            <a:pPr rtl="1" algn="ctr" indent="0" marL="0">
              <a:buNone/>
            </a:pPr>
            <a:r>
              <a:rPr lang="ar-SA" altLang="en-US" sz="2400" b="1" dirty="0">
                <a:solidFill>
                  <a:srgbClr val="D6336C"/>
                </a:solidFill>
                <a:latin typeface="Amiri" pitchFamily="2" charset="-78"/>
                <a:cs typeface="Amiri" pitchFamily="2" charset="-78"/>
              </a:rPr>
              <a:t>هَا</a:t>
            </a:r>
            <a:endParaRPr lang="ar-SA" sz="2400" dirty="0"/>
          </a:p>
        </p:txBody>
      </p:sp>
      <p:sp>
        <p:nvSpPr>
          <p:cNvPr id="52" name="Text 49"/>
          <p:cNvSpPr txBox="1"/>
          <p:nvPr/>
        </p:nvSpPr>
        <p:spPr>
          <a:xfrm>
            <a:off x="4297680" y="5215738"/>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عَمُّ</a:t>
            </a:r>
            <a:pPr rtl="1" algn="ctr" indent="0" marL="0">
              <a:buNone/>
            </a:pPr>
            <a:r>
              <a:rPr lang="ar-SA" altLang="en-US" sz="2400" b="1" dirty="0">
                <a:solidFill>
                  <a:srgbClr val="D6336C"/>
                </a:solidFill>
                <a:latin typeface="Amiri" pitchFamily="2" charset="-78"/>
                <a:cs typeface="Amiri" pitchFamily="2" charset="-78"/>
              </a:rPr>
              <a:t>هَا</a:t>
            </a:r>
            <a:endParaRPr lang="ar-SA" sz="2400" dirty="0"/>
          </a:p>
        </p:txBody>
      </p:sp>
      <p:sp>
        <p:nvSpPr>
          <p:cNvPr id="53" name="Text 50"/>
          <p:cNvSpPr txBox="1"/>
          <p:nvPr/>
        </p:nvSpPr>
        <p:spPr>
          <a:xfrm>
            <a:off x="2834640" y="5215738"/>
            <a:ext cx="128016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cs typeface="Amiri" pitchFamily="2" charset="-78"/>
              </a:rPr>
              <a:t>ـهَا</a:t>
            </a:r>
            <a:endParaRPr lang="ar-SA" sz="2600" dirty="0"/>
          </a:p>
        </p:txBody>
      </p:sp>
      <p:sp>
        <p:nvSpPr>
          <p:cNvPr id="54" name="Text 51"/>
          <p:cNvSpPr txBox="1"/>
          <p:nvPr/>
        </p:nvSpPr>
        <p:spPr>
          <a:xfrm>
            <a:off x="566928" y="521573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a:t>
            </a:r>
            <a:endParaRPr lang="en-US" sz="1100" dirty="0"/>
          </a:p>
        </p:txBody>
      </p:sp>
      <p:sp>
        <p:nvSpPr>
          <p:cNvPr id="55" name="Shape 52"/>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ending shows the OWNER: ukhtuhu = HIS sister. Father and brother add -ū- (abūhu, akhūhā).</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CLEAR FAMILY SENTENCES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This is my … His name is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عَنِ العَائِلَةِ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MASCULINE · CORE</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هَذَا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cs typeface="Amiri" pitchFamily="2" charset="-78"/>
              </a:rPr>
              <a:t>هَذَا أَبِي. اِسْمُهُ خَالِدٌ. هُوَ لَطِيفٌ.</a:t>
            </a:r>
            <a:endParaRPr lang="ar-SA" sz="23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This is my father. His name is Khalid. He is kind.</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hādhā · -hu · huwa.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B83280"/>
          </a:solidFill>
          <a:ln w="12700">
            <a:solidFill>
              <a:srgbClr val="B83280"/>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FEMININE · CORE</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هَذِهِ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هَذِهِ أُمِّي. اِسْمُهَا مَرْيَمُ. هِيَ لَطِيفَةٌ.</a:t>
            </a:r>
            <a:endParaRPr lang="ar-SA" sz="2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This is my mother. Her name is Maryam. She is kind.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hādhihi · -hā · hiya.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ORDER · STRETCH</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الكَبِيرُ · الصُّغْرَى</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هَذَا أَخِي الكَبِيرُ، وَهَذِهِ أُخْتِي الصُّغْرَى.</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This is my big brother, and this is my younger sister.</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Age: ‘umruhu sitta ‘ashrata sana.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agreement reminder: the adjective agrees with the family member.</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أُخْتِي لَطِيفَةٌ.</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أُخْتِي لَطِيفٌ.</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paternal uncle”.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عَمُّهُ</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عَمُّكَ</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“his sister”.</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أُخْتُهُ</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أُخْتُهَا</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أُخْتِي</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“my father”?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أَبُوهُ</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أَبِي</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أَبُوكَ</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“This is my mother.”</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أُمِّي.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أُمِّي.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أُمُّهُ.</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paternal uncle”.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عَمُّهُ</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عَمُّكَ</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عَمِّي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means my: </a:t>
            </a:r>
            <a:pPr algn="l" indent="0" marL="0">
              <a:buNone/>
            </a:pPr>
            <a:r>
              <a:rPr lang="ar-SA" altLang="en-US" sz="1350" dirty="0">
                <a:solidFill>
                  <a:srgbClr val="8A6D1E"/>
                </a:solidFill>
                <a:latin typeface="Amiri" pitchFamily="2" charset="-78"/>
                <a:cs typeface="Amiri" pitchFamily="2" charset="-78"/>
              </a:rPr>
              <a:t>عَمِّي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“his sister”.</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أُخْتُهُ</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أُخْتُهَا</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أُخْتِي</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owner is male, so use </a:t>
            </a:r>
            <a:pPr algn="l" indent="0" marL="0">
              <a:buNone/>
            </a:pPr>
            <a:r>
              <a:rPr lang="ar-SA" altLang="en-US" sz="1350" dirty="0">
                <a:solidFill>
                  <a:srgbClr val="8A6D1E"/>
                </a:solidFill>
                <a:latin typeface="Amiri" pitchFamily="2" charset="-78"/>
                <a:cs typeface="Amiri" pitchFamily="2" charset="-78"/>
              </a:rPr>
              <a:t>ـهُ</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cs typeface="Amiri" pitchFamily="2" charset="-78"/>
              </a:rPr>
              <a:t>أُخْتُهُ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“my father”?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أَبُوهُ</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أَبِي</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أَبُوكَ</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special form is </a:t>
            </a:r>
            <a:pPr algn="l" indent="0" marL="0">
              <a:buNone/>
            </a:pPr>
            <a:r>
              <a:rPr lang="ar-SA" altLang="en-US" sz="1350" dirty="0">
                <a:solidFill>
                  <a:srgbClr val="8A6D1E"/>
                </a:solidFill>
                <a:latin typeface="Amiri" pitchFamily="2" charset="-78"/>
                <a:cs typeface="Amiri" pitchFamily="2" charset="-78"/>
              </a:rPr>
              <a:t>أَبِي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“This is my mother.”</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هَذِهِ أُمِّي.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أُمِّي.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هَذِهِ أُمُّهُ.</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أُمٌّ</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cs typeface="Amiri" pitchFamily="2" charset="-78"/>
              </a:rPr>
              <a:t>هَذِهِ</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means my.</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Watch me introduce the Al-Rashid family</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 family</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هَذِهِ عَائِلَةُ الرَّشِيدِ.</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Family is f. → hādhihi.</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Grandparents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cs typeface="Amiri" pitchFamily="2" charset="-78"/>
              </a:rPr>
              <a:t>هَذَا</a:t>
            </a:r>
            <a:pPr rtl="1" algn="ctr" indent="0" marL="0">
              <a:lnSpc>
                <a:spcPct val="120000"/>
              </a:lnSpc>
              <a:buNone/>
            </a:pPr>
            <a:r>
              <a:rPr lang="ar-SA" altLang="en-US" sz="1750" b="1" dirty="0">
                <a:solidFill>
                  <a:srgbClr val="1B3B6F"/>
                </a:solidFill>
                <a:latin typeface="Amiri" pitchFamily="2" charset="-78"/>
                <a:cs typeface="Amiri" pitchFamily="2" charset="-78"/>
              </a:rPr>
              <a:t> الجَدُّ حَسَنٌ، وَ</a:t>
            </a:r>
            <a:pPr rtl="1" algn="ctr" indent="0" marL="0">
              <a:lnSpc>
                <a:spcPct val="120000"/>
              </a:lnSpc>
              <a:buNone/>
            </a:pPr>
            <a:r>
              <a:rPr lang="ar-SA" altLang="en-US" sz="1750" b="1" dirty="0">
                <a:solidFill>
                  <a:srgbClr val="D6336C"/>
                </a:solidFill>
                <a:latin typeface="Amiri" pitchFamily="2" charset="-78"/>
                <a:cs typeface="Amiri" pitchFamily="2" charset="-78"/>
              </a:rPr>
              <a:t>هَذِهِ</a:t>
            </a:r>
            <a:pPr rtl="1" algn="ctr" indent="0" marL="0">
              <a:lnSpc>
                <a:spcPct val="120000"/>
              </a:lnSpc>
              <a:buNone/>
            </a:pPr>
            <a:r>
              <a:rPr lang="ar-SA" altLang="en-US" sz="1750" b="1" dirty="0">
                <a:solidFill>
                  <a:srgbClr val="1B3B6F"/>
                </a:solidFill>
                <a:latin typeface="Amiri" pitchFamily="2" charset="-78"/>
                <a:cs typeface="Amiri" pitchFamily="2" charset="-78"/>
              </a:rPr>
              <a:t> الجَدَّةُ سَلْمَى.</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 → hādhā · f. → hādhihi.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Parents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cs typeface="Amiri" pitchFamily="2" charset="-78"/>
              </a:rPr>
              <a:t>هَذَا</a:t>
            </a:r>
            <a:pPr rtl="1" algn="ctr" indent="0" marL="0">
              <a:lnSpc>
                <a:spcPct val="120000"/>
              </a:lnSpc>
              <a:buNone/>
            </a:pPr>
            <a:r>
              <a:rPr lang="ar-SA" altLang="en-US" sz="1750" b="1" dirty="0">
                <a:solidFill>
                  <a:srgbClr val="1B3B6F"/>
                </a:solidFill>
                <a:latin typeface="Amiri" pitchFamily="2" charset="-78"/>
                <a:cs typeface="Amiri" pitchFamily="2" charset="-78"/>
              </a:rPr>
              <a:t> الأَبُ خَالِدٌ، وَ</a:t>
            </a:r>
            <a:pPr rtl="1" algn="ctr" indent="0" marL="0">
              <a:lnSpc>
                <a:spcPct val="120000"/>
              </a:lnSpc>
              <a:buNone/>
            </a:pPr>
            <a:r>
              <a:rPr lang="ar-SA" altLang="en-US" sz="1750" b="1" dirty="0">
                <a:solidFill>
                  <a:srgbClr val="D6336C"/>
                </a:solidFill>
                <a:latin typeface="Amiri" pitchFamily="2" charset="-78"/>
                <a:cs typeface="Amiri" pitchFamily="2" charset="-78"/>
              </a:rPr>
              <a:t>هَذِهِ</a:t>
            </a:r>
            <a:pPr rtl="1" algn="ctr" indent="0" marL="0">
              <a:lnSpc>
                <a:spcPct val="120000"/>
              </a:lnSpc>
              <a:buNone/>
            </a:pPr>
            <a:r>
              <a:rPr lang="ar-SA" altLang="en-US" sz="1750" b="1" dirty="0">
                <a:solidFill>
                  <a:srgbClr val="1B3B6F"/>
                </a:solidFill>
                <a:latin typeface="Amiri" pitchFamily="2" charset="-78"/>
                <a:cs typeface="Amiri" pitchFamily="2" charset="-78"/>
              </a:rPr>
              <a:t> الأُمُّ مَرْيَمُ.</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Same pattern.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Extended</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العَمُّ سَامِرٌ لَطِيفٌ، وَبِنْتُ</a:t>
            </a:r>
            <a:pPr rtl="1" algn="ctr" indent="0" marL="0">
              <a:lnSpc>
                <a:spcPct val="120000"/>
              </a:lnSpc>
              <a:buNone/>
            </a:pPr>
            <a:r>
              <a:rPr lang="ar-SA" altLang="en-US" sz="1750" b="1" dirty="0">
                <a:solidFill>
                  <a:srgbClr val="D6336C"/>
                </a:solidFill>
                <a:latin typeface="Amiri" pitchFamily="2" charset="-78"/>
                <a:cs typeface="Amiri" pitchFamily="2" charset="-78"/>
              </a:rPr>
              <a:t>هُ</a:t>
            </a:r>
            <a:pPr rtl="1" algn="ctr" indent="0" marL="0">
              <a:lnSpc>
                <a:spcPct val="120000"/>
              </a:lnSpc>
              <a:buNone/>
            </a:pPr>
            <a:r>
              <a:rPr lang="ar-SA" altLang="en-US" sz="1750" b="1" dirty="0">
                <a:solidFill>
                  <a:srgbClr val="1B3B6F"/>
                </a:solidFill>
                <a:latin typeface="Amiri" pitchFamily="2" charset="-78"/>
                <a:cs typeface="Amiri" pitchFamily="2" charset="-78"/>
              </a:rPr>
              <a:t> زَيْنَبُ ذَكِيَّةٌ.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HIS daughter → -hu.</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 / ENDING</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cs typeface="Amiri" pitchFamily="2" charset="-78"/>
              </a:rPr>
              <a:t>هَذِهِ عَائِلَةُ الرَّشِيدِ. </a:t>
            </a:r>
            <a:pPr rtl="1" algn="r" indent="0" marL="0">
              <a:lnSpc>
                <a:spcPct val="120000"/>
              </a:lnSpc>
              <a:buNone/>
            </a:pPr>
            <a:r>
              <a:rPr lang="ar-SA" altLang="en-US" sz="1650" b="1" dirty="0">
                <a:solidFill>
                  <a:srgbClr val="1D5FBF"/>
                </a:solidFill>
                <a:latin typeface="Amiri" pitchFamily="2" charset="-78"/>
                <a:cs typeface="Amiri" pitchFamily="2" charset="-78"/>
              </a:rPr>
              <a:t>هَذَا</a:t>
            </a:r>
            <a:pPr rtl="1" algn="r" indent="0" marL="0">
              <a:lnSpc>
                <a:spcPct val="120000"/>
              </a:lnSpc>
              <a:buNone/>
            </a:pPr>
            <a:r>
              <a:rPr lang="ar-SA" altLang="en-US" sz="1650" b="1" dirty="0">
                <a:solidFill>
                  <a:srgbClr val="1B3B6F"/>
                </a:solidFill>
                <a:latin typeface="Amiri" pitchFamily="2" charset="-78"/>
                <a:cs typeface="Amiri" pitchFamily="2" charset="-78"/>
              </a:rPr>
              <a:t> الجَدُّ حَسَنٌ، وَ</a:t>
            </a:r>
            <a:pPr rtl="1" algn="r" indent="0" marL="0">
              <a:lnSpc>
                <a:spcPct val="120000"/>
              </a:lnSpc>
              <a:buNone/>
            </a:pPr>
            <a:r>
              <a:rPr lang="ar-SA" altLang="en-US" sz="1650" b="1" dirty="0">
                <a:solidFill>
                  <a:srgbClr val="D6336C"/>
                </a:solidFill>
                <a:latin typeface="Amiri" pitchFamily="2" charset="-78"/>
                <a:cs typeface="Amiri" pitchFamily="2" charset="-78"/>
              </a:rPr>
              <a:t>هَذِهِ</a:t>
            </a:r>
            <a:pPr rtl="1" algn="r" indent="0" marL="0">
              <a:lnSpc>
                <a:spcPct val="120000"/>
              </a:lnSpc>
              <a:buNone/>
            </a:pPr>
            <a:r>
              <a:rPr lang="ar-SA" altLang="en-US" sz="1650" b="1" dirty="0">
                <a:solidFill>
                  <a:srgbClr val="1B3B6F"/>
                </a:solidFill>
                <a:latin typeface="Amiri" pitchFamily="2" charset="-78"/>
                <a:cs typeface="Amiri" pitchFamily="2" charset="-78"/>
              </a:rPr>
              <a:t> الجَدَّةُ سَلْمَى. </a:t>
            </a:r>
            <a:pPr rtl="1" algn="r" indent="0" marL="0">
              <a:lnSpc>
                <a:spcPct val="120000"/>
              </a:lnSpc>
              <a:buNone/>
            </a:pPr>
            <a:r>
              <a:rPr lang="ar-SA" altLang="en-US" sz="1650" b="1" dirty="0">
                <a:solidFill>
                  <a:srgbClr val="1D5FBF"/>
                </a:solidFill>
                <a:latin typeface="Amiri" pitchFamily="2" charset="-78"/>
                <a:cs typeface="Amiri" pitchFamily="2" charset="-78"/>
              </a:rPr>
              <a:t>هَذَا</a:t>
            </a:r>
            <a:pPr rtl="1" algn="r" indent="0" marL="0">
              <a:lnSpc>
                <a:spcPct val="120000"/>
              </a:lnSpc>
              <a:buNone/>
            </a:pPr>
            <a:r>
              <a:rPr lang="ar-SA" altLang="en-US" sz="1650" b="1" dirty="0">
                <a:solidFill>
                  <a:srgbClr val="1B3B6F"/>
                </a:solidFill>
                <a:latin typeface="Amiri" pitchFamily="2" charset="-78"/>
                <a:cs typeface="Amiri" pitchFamily="2" charset="-78"/>
              </a:rPr>
              <a:t> الأَبُ خَالِدٌ، وَ</a:t>
            </a:r>
            <a:pPr rtl="1" algn="r" indent="0" marL="0">
              <a:lnSpc>
                <a:spcPct val="120000"/>
              </a:lnSpc>
              <a:buNone/>
            </a:pPr>
            <a:r>
              <a:rPr lang="ar-SA" altLang="en-US" sz="1650" b="1" dirty="0">
                <a:solidFill>
                  <a:srgbClr val="D6336C"/>
                </a:solidFill>
                <a:latin typeface="Amiri" pitchFamily="2" charset="-78"/>
                <a:cs typeface="Amiri" pitchFamily="2" charset="-78"/>
              </a:rPr>
              <a:t>هَذِهِ</a:t>
            </a:r>
            <a:pPr rtl="1" algn="r" indent="0" marL="0">
              <a:lnSpc>
                <a:spcPct val="120000"/>
              </a:lnSpc>
              <a:buNone/>
            </a:pPr>
            <a:r>
              <a:rPr lang="ar-SA" altLang="en-US" sz="1650" b="1" dirty="0">
                <a:solidFill>
                  <a:srgbClr val="1B3B6F"/>
                </a:solidFill>
                <a:latin typeface="Amiri" pitchFamily="2" charset="-78"/>
                <a:cs typeface="Amiri" pitchFamily="2" charset="-78"/>
              </a:rPr>
              <a:t> الأُمُّ مَرْيَمُ. عِنْدَهُمَا بِنْتٌ وَابْنٌ. العَمُّ سَامِرٌ لَطِيفٌ، وَبِنْتُهُ زَيْنَبُ ذَكِيَّةٌ.</a:t>
            </a:r>
            <a:endParaRPr lang="ar-SA" sz="16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This is the Al-Rashid family. This is grandfather Hassan, and this is grandmother Salma. This is the father, Khalid, and this is the mother, Maryam. They have a daughter and a son. Uncle Samir is kind, and his daughter Zaynab is clever.</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MY FAMILY — MEMBERS AND RELATIONSHIPS”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it?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مَشْهَدُ العَائِلَةِ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mother and child</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two boys</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grandmother and girl</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هٰذَا أَخِي.</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جَدَّتِي.</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أُمِّي.</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مَشْهَدُ العَائِلَةِ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mother and child</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أُمِّي.</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my mother.</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two boys</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أَخِي.</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my brother.</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grandmother and girl</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جَدَّتِي.</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my grandmother.</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“FAMILY RELATIONSHIP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Solve the relationships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العَلَاقَاتِ العَائِلِيَّةِ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Father’s brother: Choose the Arabic relationship.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Mother’s sister: Choose the Arabic relationship.</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خَالَةٌ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زَوْجَةٌ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His sister: Choose the correct possessive form.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أُخْتُهُ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أُخْتُهَا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أُخْتِي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Her father: Choose the correct form.</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أَبُوهُ</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أَبِي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أَبُوهَا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This is my aunt: 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عَمَّتِي.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عَمِّي.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عَمَّتِي.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Father’s side: ‘amm / ‘amma</a:t>
            </a:r>
            <a:endParaRPr lang="en-US" sz="1250" dirty="0"/>
          </a:p>
          <a:p>
            <a:pPr algn="l" indent="0" marL="0">
              <a:buNone/>
            </a:pPr>
            <a:r>
              <a:rPr lang="en-US" sz="1250" dirty="0">
                <a:solidFill>
                  <a:srgbClr val="1E6B52"/>
                </a:solidFill>
                <a:latin typeface="Calibri" pitchFamily="34" charset="0"/>
                <a:cs typeface="Amiri" pitchFamily="2" charset="-78"/>
              </a:rPr>
              <a:t>Mother’s side: khāl / khāla</a:t>
            </a:r>
            <a:endParaRPr lang="en-US" sz="1250" dirty="0"/>
          </a:p>
          <a:p>
            <a:pPr algn="l" indent="0" marL="0">
              <a:buNone/>
            </a:pPr>
            <a:r>
              <a:rPr lang="en-US" sz="1250" dirty="0">
                <a:solidFill>
                  <a:srgbClr val="1E6B52"/>
                </a:solidFill>
                <a:latin typeface="Calibri" pitchFamily="34" charset="0"/>
                <a:cs typeface="Amiri" pitchFamily="2" charset="-78"/>
              </a:rPr>
              <a:t>The ending = the owner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Father’s brother: Choose the Arabic relationship.</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عَمٌّ</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خَالٌ</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جَدٌّ</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عَمٌّ</a:t>
            </a:r>
            <a:pPr algn="l" indent="0" marL="0">
              <a:buNone/>
            </a:pPr>
            <a:r>
              <a:rPr lang="en-US" sz="1050" i="1" dirty="0">
                <a:solidFill>
                  <a:srgbClr val="8A6D1E"/>
                </a:solidFill>
                <a:latin typeface="Calibri" pitchFamily="34" charset="0"/>
                <a:cs typeface="Amiri" pitchFamily="2" charset="-78"/>
              </a:rPr>
              <a:t> is a paternal uncle.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Mother’s sister: Choose the Arabic relationship.</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عَمَّةٌ</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خَالَةٌ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زَوْجَةٌ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خَالَةٌ</a:t>
            </a:r>
            <a:pPr algn="l" indent="0" marL="0">
              <a:buNone/>
            </a:pPr>
            <a:r>
              <a:rPr lang="en-US" sz="1050" i="1" dirty="0">
                <a:solidFill>
                  <a:srgbClr val="8A6D1E"/>
                </a:solidFill>
                <a:latin typeface="Calibri" pitchFamily="34" charset="0"/>
                <a:cs typeface="Amiri" pitchFamily="2" charset="-78"/>
              </a:rPr>
              <a:t> is a maternal aunt.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His sister: Choose the correct possessive form.</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أُخْتُهُ</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أُخْتُهَا</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أُخْتِي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ـهُ</a:t>
            </a:r>
            <a:pPr algn="l" indent="0" marL="0">
              <a:buNone/>
            </a:pPr>
            <a:r>
              <a:rPr lang="en-US" sz="1050" i="1" dirty="0">
                <a:solidFill>
                  <a:srgbClr val="8A6D1E"/>
                </a:solidFill>
                <a:latin typeface="Calibri" pitchFamily="34" charset="0"/>
                <a:cs typeface="Amiri" pitchFamily="2" charset="-78"/>
              </a:rPr>
              <a:t> identifies a male owner.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Her father: Choose the correct form.</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أَبُوهُ</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أَبِي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أَبُوهَا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أَبُوهَا</a:t>
            </a:r>
            <a:pPr algn="l" indent="0" marL="0">
              <a:buNone/>
            </a:pPr>
            <a:r>
              <a:rPr lang="en-US" sz="1050" i="1" dirty="0">
                <a:solidFill>
                  <a:srgbClr val="8A6D1E"/>
                </a:solidFill>
                <a:latin typeface="Calibri" pitchFamily="34" charset="0"/>
                <a:cs typeface="Amiri" pitchFamily="2" charset="-78"/>
              </a:rPr>
              <a:t> means her father.</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This is my aunt: Choose the accurate sentence.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عَمَّتِي.</a:t>
            </a:r>
            <a:endParaRPr lang="ar-SA" sz="170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هَذِهِ عَمِّي.</a:t>
            </a:r>
            <a:endParaRPr lang="ar-SA" sz="170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هَذِهِ عَمَّتِي.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عَمَّةٌ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cs typeface="Amiri" pitchFamily="2" charset="-78"/>
              </a:rPr>
              <a:t>هَذِهِ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Father’s side: ‘amm / ‘amma</a:t>
            </a:r>
            <a:endParaRPr lang="en-US" sz="1250" dirty="0"/>
          </a:p>
          <a:p>
            <a:pPr algn="l" indent="0" marL="0">
              <a:buNone/>
            </a:pPr>
            <a:r>
              <a:rPr lang="en-US" sz="1250" dirty="0">
                <a:solidFill>
                  <a:srgbClr val="1E6B52"/>
                </a:solidFill>
                <a:latin typeface="Calibri" pitchFamily="34" charset="0"/>
                <a:cs typeface="Amiri" pitchFamily="2" charset="-78"/>
              </a:rPr>
              <a:t>Mother’s side: khāl / khāla</a:t>
            </a:r>
            <a:endParaRPr lang="en-US" sz="1250" dirty="0"/>
          </a:p>
          <a:p>
            <a:pPr algn="l" indent="0" marL="0">
              <a:buNone/>
            </a:pPr>
            <a:r>
              <a:rPr lang="en-US" sz="1250" dirty="0">
                <a:solidFill>
                  <a:srgbClr val="1E6B52"/>
                </a:solidFill>
                <a:latin typeface="Calibri" pitchFamily="34" charset="0"/>
                <a:cs typeface="Amiri" pitchFamily="2" charset="-78"/>
              </a:rPr>
              <a:t>The ending = the owner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هَذَا أُمِّي.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Mother: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algn="l" indent="0" marL="0">
              <a:buNone/>
            </a:pPr>
            <a:r>
              <a:rPr lang="ar-SA" altLang="en-US" sz="3900" b="1" dirty="0">
                <a:solidFill>
                  <a:srgbClr val="B83227"/>
                </a:solidFill>
                <a:latin typeface="Amiri" pitchFamily="2" charset="-78"/>
                <a:cs typeface="Amiri" pitchFamily="2" charset="-78"/>
              </a:rPr>
              <a:t>أُخْتُهَا</a:t>
            </a:r>
            <a:pPr algn="l" indent="0" marL="0">
              <a:buNone/>
            </a:pPr>
            <a:r>
              <a:rPr lang="en-US" sz="3000" b="1" dirty="0">
                <a:solidFill>
                  <a:srgbClr val="B83227"/>
                </a:solidFill>
                <a:latin typeface="Calibri" pitchFamily="34" charset="0"/>
                <a:cs typeface="Amiri" pitchFamily="2" charset="-78"/>
              </a:rPr>
              <a:t> (for “his sister”)</a:t>
            </a:r>
            <a:endParaRPr lang="en-US"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His sister: whose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أَبُهَا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Father has a special form.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هَذَا أُمِّي.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هَذِهِ أُمِّي.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mother is feminine → hādhihi.</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algn="l" indent="0" marL="0">
              <a:buNone/>
            </a:pPr>
            <a:r>
              <a:rPr lang="ar-SA" altLang="en-US" sz="2350" dirty="0">
                <a:solidFill>
                  <a:srgbClr val="B83227"/>
                </a:solidFill>
                <a:latin typeface="Amiri" pitchFamily="2" charset="-78"/>
                <a:cs typeface="Amiri" pitchFamily="2" charset="-78"/>
              </a:rPr>
              <a:t>أُخْتُهَا</a:t>
            </a:r>
            <a:pPr algn="l" indent="0" marL="0">
              <a:buNone/>
            </a:pPr>
            <a:r>
              <a:rPr lang="en-US" sz="1800" dirty="0">
                <a:solidFill>
                  <a:srgbClr val="B83227"/>
                </a:solidFill>
                <a:latin typeface="Calibri" pitchFamily="34" charset="0"/>
                <a:cs typeface="Amiri" pitchFamily="2" charset="-78"/>
              </a:rPr>
              <a:t> (for “his sister”)</a:t>
            </a:r>
            <a:endParaRPr lang="en-US"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أُخْتُهُ</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ending shows the OWNER: his → -hu (website “important meaning”).</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أَبُهَا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أَبُوهَا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Father has a special form: abī, abūhu, abūhā.</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Layla’s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father’s name?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Khalid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Yusuf?</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younger brother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cousin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older brother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Yusuf?</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14</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16</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lives with Layla’s family?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grandmother Salma</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uncle Samir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cousin Zaynab</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Zaynab like?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swimming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football</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First: who are the people? Second: names and one detail.</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اِسْمِي لَيْلَى. عَائِلَتِي كَبِيرَةٌ وَلَطِيفَةٌ.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 is Layla. My family is big and kind.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cs typeface="Amiri" pitchFamily="2" charset="-78"/>
              </a:rPr>
              <a:t>هَذَا أَبِي، وَاسْمُهُ خَالِدٌ. هُوَ مُجْتَهِدٌ. وَهَذِهِ أُمِّي، وَاسْمُهَا مَرْيَمُ. هِيَ لَطِيفَةٌ جِدًّا.</a:t>
            </a:r>
            <a:endParaRPr lang="ar-SA" sz="19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is my father, his name is Khalid. He is hard-working. And this is my mother, her name is Maryam. She is very kind.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عِنْدِي أَخٌ أَكْبَرُ، وَاسْمُهُ يُوسُفُ، وَعُمْرُهُ سِتَّ عَشْرَةَ سَنَةً.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have an older brother, his name is Yusuf, and he is sixteen.</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جَدَّتِي سَلْمَى تَعِيشُ مَعَنَا. عَمِّي سَامِرٌ يَعِيشُ فِي لَنْدَنَ، وَبِنْتُ عَمِّي زَيْنَبُ تُحِبُّ القِرَاءَةَ.</a:t>
            </a:r>
            <a:endParaRPr lang="ar-SA" sz="18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grandmother Salma lives with us. My uncle Samir lives in London, and my cousin Zaynab loves reading.</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أَنَا أُحِبُّ عَائِلَتِي لِأَنَّهَا مُتَعَاوِنَةٌ.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love my family because it is helpful (we help each other).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father’s name?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Khalid</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Yusuf</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Her father is Khalid.</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Yusuf?</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younger brother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cousin</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older brother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Yusuf is her older brother.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Yusuf?</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12</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14</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16</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عُمْرُهُ سِتَّ عَشْرَةَ سَنَةً.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lives with Layla’s family?</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grandmother Salma</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uncle Samir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cousin Zaynab</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جَدَّتِي سَلْمَى تَعِيشُ مَعَنَا.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Zaynab like?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swimming</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reading</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football</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بِنْتُ عَمِّي زَيْنَبُ تُحِبُّ القِرَاءَةَ.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First: who are the people? Second: names and one detail.</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THE AL-RASHID FAMILY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Al-Rashid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عَائِلَةُ الرَّشِيدِ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عَائِلَةُ الرَّشِيدِ. الجَدُّ حَسَنٌ وَالجَدَّةُ سَلْمَى يَعِيشَانِ فِي بَيْتٍ كَبِيرٍ.</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Grandparents Hassan and Salma live in a big house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اِبْنُهُمَا خَالِدٌ هُوَ أَبُو لَيْلَى وَيُوسُفَ. زَوْجَتُهُ مَرْيَمُ مُعَلِّمَةٌ لَطِيفَةٌ.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son Khalid = Layla and Yusuf’s father · his wife Maryam: a kind teacher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لَيْلَى بِنْتٌ ذَكِيَّةٌ، وَأَخُوهَا يُوسُفُ طَالِبٌ مُجْتَهِدٌ.</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 clever · her brother Yusuf: a hard-working student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لِخَالِدٍ أَخٌ وَأُخْتٌ: أَخُوهُ سَامِرٌ، وَأُخْتُهُ نُورٌ. سَامِرٌ هُوَ عَمُّ لَيْلَى، وَنُورٌ هِيَ عَمَّتُهَا.</a:t>
            </a:r>
            <a:endParaRPr lang="ar-SA" sz="19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Khalid’s brother Samir and sister Noor = Layla’s paternal uncle and aunt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زَيْنَبُ بِنْتُ سَامِرٍ، فَهِيَ بِنْتُ عَمِّ لَيْلَى. تَجْتَمِعُ العَائِلَةُ فِي نِهَايَةِ الأُسْبُوعِ.</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Zaynab = Samir’s daughter = Layla’s cousin · the family meets at the weekend</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who?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Khalid?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Layla’s grandfather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 and Yusuf’s father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Layla’s uncle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Maryam’s job?</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doctor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Samir to Layla?</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paternal uncle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maternal uncle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cousin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Noor to Layla?</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maternal aunt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paternal aunt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grandmother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Zaynab to Layla?</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paternal cousin</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sister</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niece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USE THE TEXT</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name → read the words next to it.</a:t>
            </a:r>
            <a:endParaRPr lang="en-US" sz="1250" dirty="0"/>
          </a:p>
          <a:p>
            <a:pPr algn="l" indent="0" marL="0">
              <a:buNone/>
            </a:pPr>
            <a:r>
              <a:rPr lang="en-US" sz="1250" dirty="0">
                <a:solidFill>
                  <a:srgbClr val="1F2A37"/>
                </a:solidFill>
                <a:latin typeface="Calibri" pitchFamily="34" charset="0"/>
                <a:cs typeface="Amiri" pitchFamily="2" charset="-78"/>
              </a:rPr>
              <a:t>Father’s side or mother’s side?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Khalid?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Layla’s grandfather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 and Yusuf’s father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Layla’s uncle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خَالِدٌ هُوَ أَبُو لَيْلَى وَيُوسُفَ.</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Maryam’s job?</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doctor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student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teacher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زَوْجَتُهُ مَرْيَمُ مُعَلِّمَةٌ.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Samir to Layla?</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paternal uncle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maternal uncle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cousin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سَامِرٌ هُوَ عَمُّ لَيْلَى.</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Noor to Layla?</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maternal aunt</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paternal aunt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grandmother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نُورٌ هِيَ عَمَّتُهَا.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Zaynab to Layla?</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paternal cousin</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sister</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niece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زَيْنَبُ ... بِنْتُ عَمِّ لَيْلَى.</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USE THE TEXT</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name → read the words next to it.</a:t>
            </a:r>
            <a:endParaRPr lang="en-US" sz="1250" dirty="0"/>
          </a:p>
          <a:p>
            <a:pPr algn="l" indent="0" marL="0">
              <a:buNone/>
            </a:pPr>
            <a:r>
              <a:rPr lang="en-US" sz="1250" dirty="0">
                <a:solidFill>
                  <a:srgbClr val="1F2A37"/>
                </a:solidFill>
                <a:latin typeface="Calibri" pitchFamily="34" charset="0"/>
                <a:cs typeface="Amiri" pitchFamily="2" charset="-78"/>
              </a:rPr>
              <a:t>Father’s side or mother’s side?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Introduce a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هَذَا؟ مَنْ هَذِهِ؟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قَدِّمْ عَائِلَةَ الرَّشِيدِ: الجَدُّ، الجَدَّةُ، الأَبُ، الأُمُّ.</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سَامِرٌ؟ مَنْ زَيْنَبُ؟</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قَدِّمْ عَائِلَةً (حَقِيقِيَّةً أَوْ خَيَالِيَّةً) فِي سِتِّ جُمَلٍ.</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هَذَا ___ . / هَذِهِ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هَذَا الجَدُّ ___ ، وَهَذِهِ الجَدَّةُ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سَامِرٌ عَمُّ لَيْلَى، وَزَيْنَبُ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عِنْدِي ___ ، وَ ___ ، وَأُحِبُّ عَائِلَتِي لِأَنَّ ___ .</a:t>
            </a:r>
            <a:endParaRPr lang="ar-SA" sz="13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مَنْ هَذَا؟ وَمَنْ هَذِهِ؟</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 is this (m.)? And who is this (f.)?</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هَذِهِ عَائِلَةُ الرَّشِيدِ. هَذَا الجَدُّ حَسَنٌ، وَهَذِهِ الجَدَّةُ سَلْمَى.</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This is the Al-Rashid family. This is grandfather Hassan, and this is grandmother Salma.</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accurate sentences naming at least six people with hādhā / hādhihi.</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Label a fictional tree, then six “this is …” sentences with a name each.</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70–90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70–90 words with immediate and extended family, possessive endings and three connectors.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Immediate + extended family, his / her endings, three connectors.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sibling order, cousins, a comparison and a reason with li’anna.</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Sibling order, cousins on both sides, a comparison and a reason.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هَذَا عَمِّي.</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uncle (father’s side).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هَذِهِ خَالَتِي.</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aunt (mother’s side).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أُخْتُهُ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sister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أَخِي الأَكْبَرُ عُمْرُهُ ______ سَنَةً.</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older brother is … years old.</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أُحِبُّ عَائِلَتِي لِأَنَّهَا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my family because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هَذَا أَبِي.</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father.</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هَذِهِ أُمِّي.</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mother.</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اِسْمُهُ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name is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اِسْمُهَا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Her name is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عِنْدِي أَخٌ وَأُخْتٌ.</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 brother and a sister.</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أَبٌ  ·  أُمٌّ  ·  أَخٌ  ·  أُخْتٌ  ·  جَدٌّ  ·  جَدَّةٌ  ·  عَمٌّ  ·  خَالَةٌ  ·  هَذَا  ·  هَذِهِ  ·  اِسْمُهُ  ·  اِسْمُهَا</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هَذِهِ عَائِلَةُ الرَّشِيدِ. هَذَا الجَدُّ حَسَنٌ، وَهَذِهِ الجَدَّةُ سَلْمَى. هَذَا الأَبُ خَالِدٌ، وَهَذِهِ الأُمُّ مَرْيَمُ. عِنْدَهُمَا بِنْتٌ وَابْنٌ. العَمُّ سَامِرٌ لَطِيفٌ، وَبِنْتُهُ زَيْنَبُ ذَكِيَّةٌ.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This is the Al-Rashid family. This is grandfather Hassan, and this is grandmother Salma. This is the father, Khalid, and this is the mother, Maryam. They have a daughter and a son. Uncle Samir is kind, and his daughter Zaynab is clever.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hādhā + a man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hādhihi + a woman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ending (-hu)</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paternal uncle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hādhā for men, hādhihi for women.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“my” (-ī) correctly.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His (-hu) / her (-hā) show the owner.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abūhu / akhūhā correctly.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Paternal vs maternal and sibling order are accurate.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maternal uncle.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خَالٌ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زَوْجٌ</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grandmother”.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جَدَّتُهُ</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جَدَّتِي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جَدَّتُكَ</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feminine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أُخْتِي لَطِيفَةٌ.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أُخْتِي لَطِيفٌ.</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أَخِي لَطِيفَةٌ.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maternal uncle.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خَالٌ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عَمٌّ</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زَوْجٌ</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خَالٌ</a:t>
            </a:r>
            <a:pPr algn="l" indent="0" marL="0">
              <a:buNone/>
            </a:pPr>
            <a:r>
              <a:rPr lang="en-US" sz="1050" i="1" dirty="0">
                <a:solidFill>
                  <a:srgbClr val="8A6D1E"/>
                </a:solidFill>
                <a:latin typeface="Calibri" pitchFamily="34" charset="0"/>
                <a:cs typeface="Amiri" pitchFamily="2" charset="-78"/>
              </a:rPr>
              <a:t> is the mother’s brother.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grandmother”.</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جَدَّتُهُ</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جَدَّتِي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جَدَّتُكَ</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means my: </a:t>
            </a:r>
            <a:pPr algn="l" indent="0" marL="0">
              <a:buNone/>
            </a:pPr>
            <a:r>
              <a:rPr lang="ar-SA" altLang="en-US" sz="1350" dirty="0">
                <a:solidFill>
                  <a:srgbClr val="8A6D1E"/>
                </a:solidFill>
                <a:latin typeface="Amiri" pitchFamily="2" charset="-78"/>
                <a:cs typeface="Amiri" pitchFamily="2" charset="-78"/>
              </a:rPr>
              <a:t>جَدَّتِي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feminine sentence.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هَذِهِ أُخْتِي لَطِيفَةٌ.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هَذَا أُخْتِي لَطِيفٌ.</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هَذِهِ أَخِي لَطِيفَةٌ.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هَذِهِ</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cs typeface="Amiri" pitchFamily="2" charset="-78"/>
              </a:rPr>
              <a:t>أُخْتِي</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cs typeface="Amiri" pitchFamily="2" charset="-78"/>
              </a:rPr>
              <a:t>لَطِيفَةٌ</a:t>
            </a:r>
            <a:pPr algn="l" indent="0" marL="0">
              <a:buNone/>
            </a:pPr>
            <a:r>
              <a:rPr lang="en-US" sz="1050" i="1" dirty="0">
                <a:solidFill>
                  <a:srgbClr val="8A6D1E"/>
                </a:solidFill>
                <a:latin typeface="Calibri" pitchFamily="34" charset="0"/>
                <a:cs typeface="Amiri" pitchFamily="2" charset="-78"/>
              </a:rPr>
              <a:t> all agree.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My Family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F3-L02: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F3-L02 · Describing Family Members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طَوِيلٌ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tall</a:t>
            </a:r>
            <a:pPr indent="0" marL="0">
              <a:buNone/>
            </a:pPr>
            <a:r>
              <a:rPr lang="en-US" sz="1000" i="1" dirty="0">
                <a:solidFill>
                  <a:srgbClr val="5A6472"/>
                </a:solidFill>
                <a:latin typeface="Calibri" pitchFamily="34" charset="0"/>
                <a:cs typeface="Amiri" pitchFamily="2" charset="-78"/>
              </a:rPr>
              <a:t>  f. طَوِيلَةٌ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قَصِيرٌ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short</a:t>
            </a:r>
            <a:pPr indent="0" marL="0">
              <a:buNone/>
            </a:pPr>
            <a:r>
              <a:rPr lang="en-US" sz="1000" i="1" dirty="0">
                <a:solidFill>
                  <a:srgbClr val="5A6472"/>
                </a:solidFill>
                <a:latin typeface="Calibri" pitchFamily="34" charset="0"/>
                <a:cs typeface="Amiri" pitchFamily="2" charset="-78"/>
              </a:rPr>
              <a:t>  f. قَصِيرَةٌ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لَطِيفٌ</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kind</a:t>
            </a:r>
            <a:pPr indent="0" marL="0">
              <a:buNone/>
            </a:pPr>
            <a:r>
              <a:rPr lang="en-US" sz="1000" i="1" dirty="0">
                <a:solidFill>
                  <a:srgbClr val="5A6472"/>
                </a:solidFill>
                <a:latin typeface="Calibri" pitchFamily="34" charset="0"/>
                <a:cs typeface="Amiri" pitchFamily="2" charset="-78"/>
              </a:rPr>
              <a:t>  f. لَطِيفَةٌ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مُضْحِكٌ</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funny</a:t>
            </a:r>
            <a:pPr indent="0" marL="0">
              <a:buNone/>
            </a:pPr>
            <a:r>
              <a:rPr lang="en-US" sz="1000" i="1" dirty="0">
                <a:solidFill>
                  <a:srgbClr val="5A6472"/>
                </a:solidFill>
                <a:latin typeface="Calibri" pitchFamily="34" charset="0"/>
                <a:cs typeface="Amiri" pitchFamily="2" charset="-78"/>
              </a:rPr>
              <a:t>  f. مُضْحِكَةٌ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كَرِيمٌ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generous</a:t>
            </a:r>
            <a:pPr indent="0" marL="0">
              <a:buNone/>
            </a:pPr>
            <a:r>
              <a:rPr lang="en-US" sz="1000" i="1" dirty="0">
                <a:solidFill>
                  <a:srgbClr val="5A6472"/>
                </a:solidFill>
                <a:latin typeface="Calibri" pitchFamily="34" charset="0"/>
                <a:cs typeface="Amiri" pitchFamily="2" charset="-78"/>
              </a:rPr>
              <a:t>  f. كَرِيمَةٌ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a family member or a friend (or a character). Which two words describe them?</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كَيْفَ هُوَ؟ كَيْفَ هِيَ؟</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F3-L01: the Family Relationship Mission (12)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describe a real or invented family tree in 70–90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Draw three generations and write 90+ words with cousins on both sides.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F3-L02 · Describing Family Members</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وَصْفُ أَفْرَادِ العَائِلَةِ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hādhā / hādhihi · the ending shows the owner.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F3-L01 · My Family — Members and Relationships</dc:title>
  <dc:subject>PptxGenJS Presentation</dc:subject>
  <dc:creator>Al Madina Online School · Arabic Department</dc:creator>
  <cp:lastModifiedBy>Al Madina Online School · Arabic Department</cp:lastModifiedBy>
  <cp:revision>1</cp:revision>
  <dcterms:created xsi:type="dcterms:W3CDTF">2026-10-11T06:41:28Z</dcterms:created>
  <dcterms:modified xsi:type="dcterms:W3CDTF">2026-10-11T06:41:28Z</dcterms:modified>
</cp:coreProperties>
</file>