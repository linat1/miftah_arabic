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1 (F3-L01). Website sections used: the six-question F2 bridge, the complete family and relationship vocabulary (immediate family, grandparents and extended family, cousins and wider relations, family structure and sibling order) with its 12-question check, the Al-Rashid family tree, possessive endings with the special family forms and the 10-question laboratory, clear family sentences with هَذَا / هَذِهِ, the Family Relationship Mission (12), Layla’s family (listening, 8), the Al-Rashid family reading (10), the family speaking studio (4 prompts), the family-tree writing workshop and the 12-question checkpoint. Picture match: website visual game “My Family — Members and Relationships”.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(F3 · My Family &amp; Home). Core: 10 family words + “this is my …” (هَذَا أَبِي / هَذِهِ أُمِّي). Develop: his / her endings (أُخْتُهُ، عَمُّهَا) and extended family. Stretch: paternal / maternal distinctions, sibling order and cousins.
• PRIVACY (website): no one needs to share real family information — every task may use the fictional عَائِلَةُ الرَّشِيدِ or an invented family. Be mindful of students in different family situations (single-parent, carers, bereavement, step-families — the website includes زَوْجَةُ الأَبِ / زَوْجُ الأُمِّ and “caregiver”).
• The website’s key rule: the ending shows the OWNER, not the family member (أُخْتُهُ = HIS sister).
• Urdu bridge: most family words are different in Urdu (ابو، امی، بھائی) but students know many Arabic ones from names and Islamic texts: وَالِد / وَالِدَة (والدین), عَمّ / خَال (in some dialects), أَقَارِب (اقارب), اِبْن (ابن سینا).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family words prepared at home at the end of F2-L12. Questions 3–5 are the website “F2 bridge” (this m., she is kind, his name).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(m.) is my father · this (f.) is my mother. The ending -ī means “my”.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والد / والدہ / والدین, اقارب, زوجہ and طفل are Arabic words used in formal Urdu. ابن is known from names (ابنِ سینا، ابنِ بطوطہ). Everyday Urdu ابو / امی / بھائی / بہن are NOT the Arabic words — give أَبٌ / أُمٌّ / أَخٌ / أُخْتٌ extra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IMMEDIATE FAMILY (website). Also in the group: زَوْجٌ (husband), زَوْجَةٌ (wife). Every card shows “my” and a plural or his / her — the special forms of father and brother (أَبِي، أَبُوهُ، أَخُوهَا) are today’s grammar.
Hear → say → see → use: “hādhā abī · hādhihi ummī”.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EXTENDED FAMILY (website). Meaning clue (website): English says “uncle” and “aunt” for both sides; Arabic shows which side — father’s side عَمٌّ / عَمَّةٌ, mother’s side خَالٌ / خَالَةٌ. Also: أَقَارِبُ (relatives), أَجْدَادٌ (grandparents / ancestors).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WIDER BANK (FLEX / recognition). Also on the website: اِبْنُ أَخٍ / اِبْنُ أُخْتٍ (nephew), اِبْنَةُ أَخٍ (niece), طِفْلٌ / أَطْفَالٌ (child / children), جَارٌ / جَارَةٌ (neighbour), قَرِيبٌ / قَرِيبَةٌ (relative), زَوْجَةُ الأَبِ (stepmother), زَوْجُ الأُمِّ (stepfather).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“Show whose family member it is” (the ending table with عَمٌّ and خَالَةٌ) and the special forms: أَبِي · أَبُوكَ / أَبُوكِ · أَبُوهُ / أَبُوهَا — the same for أَخٌ (أَخِي، أَخُوهُ) — and أُمِّي، أُمُّهُ (keep the shadda).
Website “important meaning”: choose the suffix from the owner, not from the family member. أُخْتُهُ = his sister (the sister is female, the owner is male).
Remember ة → ت before an ending: خَالَةٌ → خَالَتِي (F2).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“Build clear family sentences”: هَذَا with a masculine family member, هَذِهِ with a feminine one, then a name, age or description. Website models: هَذَا أَبِي. اِسْمُهُ خَالِدٌ. هُوَ لَطِيفٌ وَمُجْتَهِدٌ. / هَذِهِ أُمِّي. اِسْمُهَا مَرْيَمُ. هِيَ لَطِيفَةٌ وَمُجْتَهِدَةٌ.
Connectors (website): وَ، أَيْضًا، وَلَكِنْ، لِأَنَّ. Age (F2-L03): عُمْرُهُ سِتَّ عَشْرَةَ سَنَةً · عُمْرُهَا اِثْنَتَا عَشْرَةَ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“Ten-question possessive suffix laboratory” questions 1, 3, 5 and 10.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speaking-studio model for the Al-Rashid family, with a think-aloud at every هَذَا / هَذِهِ and ending. Then ask: “Layla is Khalid’s daughter — what is Samir to Layla?” → عَمُّهَا (her paternal uncle).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Family — Members and Relationships”)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it is feminine? (هٰذِهِ). Other cards for homework: هٰذَا أَبِي، هٰذِهِ أُخْتِي، هٰذَا جَدِّي.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Family — Members and Relationships”)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it is feminine? (هٰذِهِ). Other cards for homework: هٰذَا أَبِي، هٰذِهِ أُخْتِي، هٰذَا جَدِّي.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relationship clues (paternal uncle, maternal aunt, his sister, her father, this is my aunt).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side of the family? who is the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4. Develop / Stretch: all 5.
Listen 1: just listen. Listen 2: note answers. Then chat the letters.
Support: after the second listening, show the read-along slide (Arabic + English, line by line) for Core students.
SCRIPT (read aloud):
اِسْمِي لَيْلَى. عَائِلَتِي كَبِيرَةٌ وَلَطِيفَةٌ. هَذَا أَبِي، وَاسْمُهُ خَالِدٌ. هُوَ مُجْتَهِدٌ. وَهَذِهِ أُمِّي، وَاسْمُهَا مَرْيَمُ. هِيَ لَطِيفَةٌ جِدًّا. عِنْدِي أَخٌ أَكْبَرُ، وَاسْمُهُ يُوسُفُ، وَعُمْرُهُ سِتَّ عَشْرَةَ سَنَةً. جَدَّتِي سَلْمَى تَعِيشُ مَعَنَا. عَمِّي سَامِرٌ يَعِيشُ فِي لَنْدَنَ، وَبِنْتُ عَمِّي زَيْنَبُ تُحِبُّ القِرَاءَةَ. أَنَا أُحِبُّ عَائِلَتِي لِأَنَّهَا مُتَعَاوِنَةٌ.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AL-RASHID FAMILY (website, one sentence abridged: “the relatives like to eat and talk together”). Draw the tree live as the class reads (website section 3). Every relationship is from LAYLA’s point of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7, 8 and 9. The other 5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“Introduce a family” — real or invented; speak from a tree or short notes. Prompt cards (website):
• Al-Rashid family: Grandparents · parents · two children · uncle · cousin
• Small invented family: One parent · two siblings · grandmother · maternal aunt
• Extended international family: Grandparents abroad · cousins in two cities · twins
• Sibling-focused family: Older sister · younger brother · cousins · neighbours
Website checklist (listener ticks 1–6): six relationships · possessive forms (أَبِي، أُمِّي، أَخُوهَا) · هَذَا / هَذِهِ and matching adjectives · names, ages or places · connectors · clear delivery.
The Core prompt and the “who is Samir?” prompt are teacher-made from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naming at least six people with hādhā / hādhihi. · Develop — 70–90 words with immediate and extended family, possessive endings and three connectors. · Stretch — Add sibling order, cousins, a comparison and a reason with li’anna.
Website writing task (Stretch): Website writing workshop: describe a real or invented family tree — grandparents, parents or caregivers, children or siblings, extended family and one family quality with a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(speaking prompt “Al-Rashid family”). Develop: add Layla, Yusuf and aunt Noor with an age and a reason to reach 70–90 words.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(F3-L02 · Describing Family Members) will spend class time USING this language, so students prepare it tonight — short, simple, easy to access (school guidance: “Simple, Short, Interesting, Relevant, Easy to access”). The five words come from the website F3-L02 appearance and personality banks (m. / f.).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My Family — Members and Relationships</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عَائِلَتِي — الأَفْرَادُ وَالعَلَاقَاتُ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Build a complete family vocabulary bank, show who belongs to whom with possessive endings, and describe a real or invented family clearly.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F3-L01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Family words, then “my, your, his, her” endings.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Relationship Mission, listen to Layla, read about the Al-Rashid family.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sister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أُخْتٌ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sister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mother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demonstrative introduces a masculine family member?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kind.”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لَطِيفٌ.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لَطِيفٌ.</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لَطِيفَةٌ.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“his name”?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اِسْمُهُ</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اِسْمُهَا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sister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(F2-L12).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أُخْتٌ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sister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brother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mother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(F2-L12).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demonstrative introduces a masculine family member?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هَذَا</a:t>
            </a:r>
            <a:pPr algn="l" indent="0" marL="0">
              <a:buNone/>
            </a:pPr>
            <a:r>
              <a:rPr lang="en-US" sz="1050" i="1" dirty="0">
                <a:solidFill>
                  <a:srgbClr val="8A6D1E"/>
                </a:solidFill>
                <a:latin typeface="Calibri" pitchFamily="34" charset="0"/>
                <a:ea typeface="Calibri" pitchFamily="34" charset="-122"/>
                <a:cs typeface="Calibri" pitchFamily="34" charset="-120"/>
              </a:rPr>
              <a:t> introduces one masculine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kind.”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لَطِيفٌ.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لَطِيفٌ.</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لَطِيفَةٌ.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takes the feminine adjective </a:t>
            </a:r>
            <a:pPr algn="l" indent="0" marL="0">
              <a:buNone/>
            </a:pPr>
            <a:r>
              <a:rPr lang="ar-SA" altLang="en-US" sz="1350" dirty="0">
                <a:solidFill>
                  <a:srgbClr val="8A6D1E"/>
                </a:solidFill>
                <a:latin typeface="Amiri" pitchFamily="34" charset="0"/>
                <a:ea typeface="Amiri" pitchFamily="34" charset="-122"/>
                <a:cs typeface="Amiri" pitchFamily="34" charset="-120"/>
              </a:rPr>
              <a:t>لَطِيفَةٌ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“his name”?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اِسْمُهُ</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اِسْمُهَا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means his: </a:t>
            </a:r>
            <a:pPr algn="l" indent="0" marL="0">
              <a:buNone/>
            </a:pPr>
            <a:r>
              <a:rPr lang="ar-SA" altLang="en-US" sz="1350" dirty="0">
                <a:solidFill>
                  <a:srgbClr val="8A6D1E"/>
                </a:solidFill>
                <a:latin typeface="Amiri" pitchFamily="34" charset="0"/>
                <a:ea typeface="Amiri" pitchFamily="34" charset="-122"/>
                <a:cs typeface="Amiri" pitchFamily="34" charset="-120"/>
              </a:rPr>
              <a:t>اِسْمُهُ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(m.) is my father · this (f.) is my mother. The ending -ī means “my”.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أَبِ</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أُمِّ</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at least 14 core family members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the wider family and relationships bank.</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ـي، ـكَ، ـكِ، ـهُ، ـهَا</a:t>
            </a:r>
            <a:pPr algn="l" indent="0" marL="0">
              <a:buNone/>
            </a:pPr>
            <a:r>
              <a:rPr lang="en-US" sz="1300" dirty="0">
                <a:solidFill>
                  <a:srgbClr val="1F2A37"/>
                </a:solidFill>
                <a:latin typeface="Calibri" pitchFamily="34" charset="0"/>
                <a:ea typeface="Calibri" pitchFamily="34" charset="-122"/>
                <a:cs typeface="Calibri" pitchFamily="34" charset="-120"/>
              </a:rPr>
              <a:t> to show possession.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Create and describe a real or invented family tree.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ten family members.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“this is my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his / her … (-hu / -hā).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uncles, aunts and cousins.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tell paternal from maternal relatives.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sibling order and cousins.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The complete website family bank. Core: immediate family and grandparents. Uncles, aunts and cousins are Develop / Stretch.</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Immediate family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Grandparents and extended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Cousins, structure, siblings · 17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وَالِدٌ · وَالِدَةٌ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‎والد · والدہ‎ </a:t>
            </a:r>
            <a:pPr indent="0" marL="0">
              <a:buNone/>
            </a:pPr>
            <a:r>
              <a:rPr lang="en-US" sz="950" b="1" dirty="0">
                <a:solidFill>
                  <a:srgbClr val="2E8B57"/>
                </a:solidFill>
                <a:latin typeface="Calibri" pitchFamily="34" charset="0"/>
                <a:ea typeface="Calibri" pitchFamily="34" charset="-122"/>
                <a:cs typeface="Calibri" pitchFamily="34" charset="-120"/>
              </a:rPr>
              <a:t> wālid · wālida · father · mother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أَقَارِبُ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‎اقارب‎ </a:t>
            </a:r>
            <a:pPr indent="0" marL="0">
              <a:buNone/>
            </a:pPr>
            <a:r>
              <a:rPr lang="en-US" sz="950" b="1" dirty="0">
                <a:solidFill>
                  <a:srgbClr val="2E8B57"/>
                </a:solidFill>
                <a:latin typeface="Calibri" pitchFamily="34" charset="0"/>
                <a:ea typeface="Calibri" pitchFamily="34" charset="-122"/>
                <a:cs typeface="Calibri" pitchFamily="34" charset="-120"/>
              </a:rPr>
              <a:t> aqārib · relatives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اِبْنٌ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‎ابن (ابنِ سینا)‎ </a:t>
            </a:r>
            <a:pPr indent="0" marL="0">
              <a:buNone/>
            </a:pPr>
            <a:r>
              <a:rPr lang="en-US" sz="950" b="1" dirty="0">
                <a:solidFill>
                  <a:srgbClr val="2E8B57"/>
                </a:solidFill>
                <a:latin typeface="Calibri" pitchFamily="34" charset="0"/>
                <a:ea typeface="Calibri" pitchFamily="34" charset="-122"/>
                <a:cs typeface="Calibri" pitchFamily="34" charset="-120"/>
              </a:rPr>
              <a:t> ibn · son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زَوْجٌ · زَوْجَةٌ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‎زوج · زوجہ‎ </a:t>
            </a:r>
            <a:pPr indent="0" marL="0">
              <a:buNone/>
            </a:pPr>
            <a:r>
              <a:rPr lang="en-US" sz="950" b="1" dirty="0">
                <a:solidFill>
                  <a:srgbClr val="2E8B57"/>
                </a:solidFill>
                <a:latin typeface="Calibri" pitchFamily="34" charset="0"/>
                <a:ea typeface="Calibri" pitchFamily="34" charset="-122"/>
                <a:cs typeface="Calibri" pitchFamily="34" charset="-120"/>
              </a:rPr>
              <a:t> zawj · zawja · husband · wife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طِفْلٌ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‎طفل‎ </a:t>
            </a:r>
            <a:pPr indent="0" marL="0">
              <a:buNone/>
            </a:pPr>
            <a:r>
              <a:rPr lang="en-US" sz="950" b="1" dirty="0">
                <a:solidFill>
                  <a:srgbClr val="2E8B57"/>
                </a:solidFill>
                <a:latin typeface="Calibri" pitchFamily="34" charset="0"/>
                <a:ea typeface="Calibri" pitchFamily="34" charset="-122"/>
                <a:cs typeface="Calibri" pitchFamily="34" charset="-120"/>
              </a:rPr>
              <a:t> ṭifl · child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IMMEDIATE FAMILY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Father, mother, brother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الأُسْرَةُ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this: hādhā</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أَبٌ / وَالِدٌ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ab / wā-lid</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أَبُوهُ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393546"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this: hādhihi</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 / وَالِدَةٌ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umm / wā-li-da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أُمُّهُ</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إِخْوَةٌ</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أَخُوهَا</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6" name="Shape 6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8" name="Shape 6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أُخْتٌ</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sister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ukht</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أَخَوَاتٌ</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أُخْتُهُ</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أُخْتِي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pl</a:t>
            </a:r>
            <a:endParaRPr lang="en-US" sz="800" dirty="0"/>
          </a:p>
        </p:txBody>
      </p:sp>
      <p:sp>
        <p:nvSpPr>
          <p:cNvPr id="86" name="Shape 8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اِبْنٌ</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ibn</a:t>
            </a:r>
            <a:endParaRPr lang="en-US" sz="1350" dirty="0"/>
          </a:p>
        </p:txBody>
      </p:sp>
      <p:sp>
        <p:nvSpPr>
          <p:cNvPr id="90" name="Shape 8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أَبْنَاءٌ</a:t>
            </a:r>
            <a:endParaRPr lang="ar-SA" sz="1500" dirty="0"/>
          </a:p>
        </p:txBody>
      </p:sp>
      <p:sp>
        <p:nvSpPr>
          <p:cNvPr id="93" name="Shape 9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95" name="Text 9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اِبْنِي</a:t>
            </a:r>
            <a:endParaRPr lang="ar-SA" sz="1500" dirty="0"/>
          </a:p>
        </p:txBody>
      </p:sp>
      <p:sp>
        <p:nvSpPr>
          <p:cNvPr id="96" name="Shape 9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4"/>
          <p:cNvSpPr/>
          <p:nvPr/>
        </p:nvSpPr>
        <p:spPr>
          <a:xfrm>
            <a:off x="566928" y="4261104"/>
            <a:ext cx="310896" cy="310896"/>
          </a:xfrm>
          <a:prstGeom prst="ellipse">
            <a:avLst/>
          </a:prstGeom>
          <a:solidFill>
            <a:srgbClr val="F4F1EA"/>
          </a:solidFill>
          <a:ln w="12700">
            <a:solidFill>
              <a:srgbClr val="F4F1EA"/>
            </a:solidFill>
            <a:prstDash val="solid"/>
          </a:ln>
        </p:spPr>
      </p:sp>
      <p:sp>
        <p:nvSpPr>
          <p:cNvPr id="98" name="Text 9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9" name="Shape 96"/>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0" name="Text 97"/>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pl</a:t>
            </a:r>
            <a:endParaRPr lang="en-US" sz="800" dirty="0"/>
          </a:p>
        </p:txBody>
      </p:sp>
      <p:sp>
        <p:nvSpPr>
          <p:cNvPr id="101" name="Shape 9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2" name="Text 9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03" name="Text 10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بِنْتٌ / اِبْنَةٌ</a:t>
            </a:r>
            <a:endParaRPr lang="ar-SA" sz="3000" dirty="0"/>
          </a:p>
        </p:txBody>
      </p:sp>
      <p:sp>
        <p:nvSpPr>
          <p:cNvPr id="104" name="Text 10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daughter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bint / ib-na</a:t>
            </a:r>
            <a:endParaRPr lang="en-US" sz="1350" dirty="0"/>
          </a:p>
        </p:txBody>
      </p:sp>
      <p:sp>
        <p:nvSpPr>
          <p:cNvPr id="105" name="Shape 10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6" name="Text 10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7" name="Text 10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بَنَاتٌ</a:t>
            </a:r>
            <a:endParaRPr lang="ar-SA" sz="1500" dirty="0"/>
          </a:p>
        </p:txBody>
      </p:sp>
      <p:sp>
        <p:nvSpPr>
          <p:cNvPr id="108" name="Shape 10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110" name="Text 10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بِنْتِي</a:t>
            </a:r>
            <a:endParaRPr lang="ar-SA" sz="1500" dirty="0"/>
          </a:p>
        </p:txBody>
      </p:sp>
      <p:sp>
        <p:nvSpPr>
          <p:cNvPr id="111" name="Text 10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2 · GRANDPARENTS AND EXTENDED FAMILY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Grandparents, uncles, aunts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الأَجْدَادُ وَالأَقَارِبُ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grandfather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jadd</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أَجْدَادٌ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جَدِّي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grandmother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jad-da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جَدَّاتٌ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جَدَّتِي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pl</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uncle (father’s side)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أَعْمَامٌ</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عَمِّي</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1" name="Shape 58"/>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pl</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عَمَّةٌ</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aunt (father’s side)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‘am-ma</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عَمَّاتٌ</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عَمَّتِي</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4" name="Shape 7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pl</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خَالٌ</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uncle (mother’s side)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khāl</a:t>
            </a:r>
            <a:endParaRPr lang="en-US" sz="1350" dirty="0"/>
          </a:p>
        </p:txBody>
      </p:sp>
      <p:sp>
        <p:nvSpPr>
          <p:cNvPr id="78" name="Shape 7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أَخْوَالٌ</a:t>
            </a:r>
            <a:endParaRPr lang="ar-SA" sz="1500" dirty="0"/>
          </a:p>
        </p:txBody>
      </p:sp>
      <p:sp>
        <p:nvSpPr>
          <p:cNvPr id="81" name="Shape 7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83" name="Text 8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خَالِي</a:t>
            </a:r>
            <a:endParaRPr lang="ar-SA" sz="1500" dirty="0"/>
          </a:p>
        </p:txBody>
      </p:sp>
      <p:sp>
        <p:nvSpPr>
          <p:cNvPr id="84" name="Shape 8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566928" y="4261104"/>
            <a:ext cx="310896" cy="310896"/>
          </a:xfrm>
          <a:prstGeom prst="ellipse">
            <a:avLst/>
          </a:prstGeom>
          <a:solidFill>
            <a:srgbClr val="F4F1EA"/>
          </a:solidFill>
          <a:ln w="12700">
            <a:solidFill>
              <a:srgbClr val="F4F1EA"/>
            </a:solidFill>
            <a:prstDash val="solid"/>
          </a:ln>
        </p:spPr>
      </p:sp>
      <p:sp>
        <p:nvSpPr>
          <p:cNvPr id="86" name="Text 8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7" name="Shape 84"/>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8" name="Text 85"/>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pl</a:t>
            </a:r>
            <a:endParaRPr lang="en-US" sz="800" dirty="0"/>
          </a:p>
        </p:txBody>
      </p:sp>
      <p:sp>
        <p:nvSpPr>
          <p:cNvPr id="89" name="Text 8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خَالَةٌ</a:t>
            </a:r>
            <a:endParaRPr lang="ar-SA" sz="3000" dirty="0"/>
          </a:p>
        </p:txBody>
      </p:sp>
      <p:sp>
        <p:nvSpPr>
          <p:cNvPr id="90" name="Text 8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aunt (mother’s side)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khā-la</a:t>
            </a:r>
            <a:endParaRPr lang="en-US" sz="1350" dirty="0"/>
          </a:p>
        </p:txBody>
      </p:sp>
      <p:sp>
        <p:nvSpPr>
          <p:cNvPr id="91" name="Shape 8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3" name="Text 9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خَالَاتٌ</a:t>
            </a:r>
            <a:endParaRPr lang="ar-SA" sz="1500" dirty="0"/>
          </a:p>
        </p:txBody>
      </p:sp>
      <p:sp>
        <p:nvSpPr>
          <p:cNvPr id="94" name="Shape 9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96" name="Text 93"/>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خَالَتِي</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KEY WORDS · GROUP 3 · COUSINS, STRUCTURE AND SIBLING ORDER (WEBSITE) · FLEX</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Cousins, older, younger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العَلَاقَاتُ الأَوْسَعُ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paternal</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اِبْنُ عَمٍّ / بِنْتُ عَمٍّ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cousin (father’s side)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ib-nu ‘amm / bin-tu ‘amm</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maternal</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اِبْنُ خَالٍ / بِنْتُ خَالٍ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cousin (mother’s side)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ib-nu khāl / bin-tu khāl</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Shape 31"/>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sibling order</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الأَخُ الأَكْبَرُ</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older brother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al-a-khu l-ak-bar</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younger</a:t>
            </a:r>
            <a:endParaRPr lang="en-US" sz="700" dirty="0"/>
          </a:p>
        </p:txBody>
      </p:sp>
      <p:sp>
        <p:nvSpPr>
          <p:cNvPr id="40" name="Text 3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الأَخُ الأَصْغَرُ</a:t>
            </a:r>
            <a:endParaRPr lang="ar-SA"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4" name="Shape 4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sibling order</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الأُخْتُ الكُبْرَى</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older sister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al-ukh-tu l-kub-rā</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younger</a:t>
            </a:r>
            <a:endParaRPr lang="en-US" sz="700" dirty="0"/>
          </a:p>
        </p:txBody>
      </p:sp>
      <p:sp>
        <p:nvSpPr>
          <p:cNvPr id="50" name="Text 4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الأُخْتُ الصُّغْرَى</a:t>
            </a:r>
            <a:endParaRPr lang="ar-SA"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54" name="Shape 51"/>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dual preview</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تَوْأَمٌ / تَوْأَمَانِ</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twin / twins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taw-am / taw-a-mān</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61" name="Shape 5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3" name="Text 6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عَائِلَةٌ / أُسْرَةٌ</a:t>
            </a:r>
            <a:endParaRPr lang="ar-SA" sz="3000" dirty="0"/>
          </a:p>
        </p:txBody>
      </p:sp>
      <p:sp>
        <p:nvSpPr>
          <p:cNvPr id="64" name="Text 6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‘ā-ʾi-la / us-ra</a:t>
            </a:r>
            <a:endParaRPr lang="en-US" sz="1350" dirty="0"/>
          </a:p>
        </p:txBody>
      </p:sp>
      <p:sp>
        <p:nvSpPr>
          <p:cNvPr id="65" name="Shape 62"/>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67" name="Text 64"/>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عَائِلَتِي</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1 · WHOSE FAMILY MEMBER? (WEBSITE POSSESSIVE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your, his, 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ضَمَائِرُ المِلْكِيَّةِ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father</a:t>
            </a:r>
            <a:endParaRPr lang="en-US" sz="1100" dirty="0"/>
          </a:p>
        </p:txBody>
      </p:sp>
      <p:sp>
        <p:nvSpPr>
          <p:cNvPr id="17" name="Text 14"/>
          <p:cNvSpPr txBox="1"/>
          <p:nvPr/>
        </p:nvSpPr>
        <p:spPr>
          <a:xfrm>
            <a:off x="674827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aunt (mother’s side)</a:t>
            </a:r>
            <a:endParaRPr lang="en-US" sz="1100" dirty="0"/>
          </a:p>
        </p:txBody>
      </p:sp>
      <p:sp>
        <p:nvSpPr>
          <p:cNvPr id="18" name="Text 15"/>
          <p:cNvSpPr txBox="1"/>
          <p:nvPr/>
        </p:nvSpPr>
        <p:spPr>
          <a:xfrm>
            <a:off x="427939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uncle (father’s side)</a:t>
            </a:r>
            <a:endParaRPr lang="en-US" sz="1100" dirty="0"/>
          </a:p>
        </p:txBody>
      </p:sp>
      <p:sp>
        <p:nvSpPr>
          <p:cNvPr id="19" name="Text 16"/>
          <p:cNvSpPr txBox="1"/>
          <p:nvPr/>
        </p:nvSpPr>
        <p:spPr>
          <a:xfrm>
            <a:off x="2816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235440" y="2267712"/>
            <a:ext cx="2404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أَبِ</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23" name="Text 20"/>
          <p:cNvSpPr txBox="1"/>
          <p:nvPr/>
        </p:nvSpPr>
        <p:spPr>
          <a:xfrm>
            <a:off x="676656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خَالَتِ</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24" name="Text 21"/>
          <p:cNvSpPr txBox="1"/>
          <p:nvPr/>
        </p:nvSpPr>
        <p:spPr>
          <a:xfrm>
            <a:off x="429768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25" name="Text 22"/>
          <p:cNvSpPr txBox="1"/>
          <p:nvPr/>
        </p:nvSpPr>
        <p:spPr>
          <a:xfrm>
            <a:off x="2834640" y="2267712"/>
            <a:ext cx="12801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ـي</a:t>
            </a:r>
            <a:endParaRPr lang="ar-SA" sz="2600" dirty="0"/>
          </a:p>
        </p:txBody>
      </p:sp>
      <p:sp>
        <p:nvSpPr>
          <p:cNvPr id="26" name="Text 23"/>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235440" y="3004718"/>
            <a:ext cx="2404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أَبُو</a:t>
            </a:r>
            <a:pPr rtl="1" algn="ctr" indent="0" marL="0">
              <a:buNone/>
            </a:pPr>
            <a:r>
              <a:rPr lang="ar-SA" altLang="en-US" sz="2400" b="1" dirty="0">
                <a:solidFill>
                  <a:srgbClr val="1D5FBF"/>
                </a:solidFill>
                <a:latin typeface="Amiri" pitchFamily="34" charset="0"/>
                <a:ea typeface="Amiri" pitchFamily="34" charset="-122"/>
                <a:cs typeface="Amiri" pitchFamily="34" charset="-120"/>
              </a:rPr>
              <a:t>كَ</a:t>
            </a:r>
            <a:endParaRPr lang="ar-SA" sz="2400" dirty="0"/>
          </a:p>
        </p:txBody>
      </p:sp>
      <p:sp>
        <p:nvSpPr>
          <p:cNvPr id="31" name="Text 28"/>
          <p:cNvSpPr txBox="1"/>
          <p:nvPr/>
        </p:nvSpPr>
        <p:spPr>
          <a:xfrm>
            <a:off x="676656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خَالَتُ</a:t>
            </a:r>
            <a:pPr rtl="1" algn="ctr" indent="0" marL="0">
              <a:buNone/>
            </a:pPr>
            <a:r>
              <a:rPr lang="ar-SA" altLang="en-US" sz="2400" b="1" dirty="0">
                <a:solidFill>
                  <a:srgbClr val="1D5FBF"/>
                </a:solidFill>
                <a:latin typeface="Amiri" pitchFamily="34" charset="0"/>
                <a:ea typeface="Amiri" pitchFamily="34" charset="-122"/>
                <a:cs typeface="Amiri" pitchFamily="34" charset="-120"/>
              </a:rPr>
              <a:t>كَ</a:t>
            </a:r>
            <a:endParaRPr lang="ar-SA" sz="2400" dirty="0"/>
          </a:p>
        </p:txBody>
      </p:sp>
      <p:sp>
        <p:nvSpPr>
          <p:cNvPr id="32" name="Text 29"/>
          <p:cNvSpPr txBox="1"/>
          <p:nvPr/>
        </p:nvSpPr>
        <p:spPr>
          <a:xfrm>
            <a:off x="429768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a:t>
            </a:r>
            <a:pPr rtl="1" algn="ctr" indent="0" marL="0">
              <a:buNone/>
            </a:pPr>
            <a:r>
              <a:rPr lang="ar-SA" altLang="en-US" sz="2400" b="1" dirty="0">
                <a:solidFill>
                  <a:srgbClr val="1D5FBF"/>
                </a:solidFill>
                <a:latin typeface="Amiri" pitchFamily="34" charset="0"/>
                <a:ea typeface="Amiri" pitchFamily="34" charset="-122"/>
                <a:cs typeface="Amiri" pitchFamily="34" charset="-120"/>
              </a:rPr>
              <a:t>كَ</a:t>
            </a:r>
            <a:endParaRPr lang="ar-SA" sz="2400" dirty="0"/>
          </a:p>
        </p:txBody>
      </p:sp>
      <p:sp>
        <p:nvSpPr>
          <p:cNvPr id="33" name="Text 30"/>
          <p:cNvSpPr txBox="1"/>
          <p:nvPr/>
        </p:nvSpPr>
        <p:spPr>
          <a:xfrm>
            <a:off x="2834640" y="3004718"/>
            <a:ext cx="128016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ـكَ</a:t>
            </a:r>
            <a:endParaRPr lang="ar-SA" sz="2600" dirty="0"/>
          </a:p>
        </p:txBody>
      </p:sp>
      <p:sp>
        <p:nvSpPr>
          <p:cNvPr id="34" name="Text 31"/>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(to a boy)</a:t>
            </a:r>
            <a:endParaRPr lang="en-US" sz="110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235440" y="3741725"/>
            <a:ext cx="2404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أَبُو</a:t>
            </a:r>
            <a:pPr rtl="1" algn="ctr" indent="0" marL="0">
              <a:buNone/>
            </a:pPr>
            <a:r>
              <a:rPr lang="ar-SA" altLang="en-US" sz="2400" b="1" dirty="0">
                <a:solidFill>
                  <a:srgbClr val="D6336C"/>
                </a:solidFill>
                <a:latin typeface="Amiri" pitchFamily="34" charset="0"/>
                <a:ea typeface="Amiri" pitchFamily="34" charset="-122"/>
                <a:cs typeface="Amiri" pitchFamily="34" charset="-120"/>
              </a:rPr>
              <a:t>كِ</a:t>
            </a:r>
            <a:endParaRPr lang="ar-SA" sz="2400" dirty="0"/>
          </a:p>
        </p:txBody>
      </p:sp>
      <p:sp>
        <p:nvSpPr>
          <p:cNvPr id="37" name="Text 34"/>
          <p:cNvSpPr txBox="1"/>
          <p:nvPr/>
        </p:nvSpPr>
        <p:spPr>
          <a:xfrm>
            <a:off x="676656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خَالَتُ</a:t>
            </a:r>
            <a:pPr rtl="1" algn="ctr" indent="0" marL="0">
              <a:buNone/>
            </a:pPr>
            <a:r>
              <a:rPr lang="ar-SA" altLang="en-US" sz="2400" b="1" dirty="0">
                <a:solidFill>
                  <a:srgbClr val="D6336C"/>
                </a:solidFill>
                <a:latin typeface="Amiri" pitchFamily="34" charset="0"/>
                <a:ea typeface="Amiri" pitchFamily="34" charset="-122"/>
                <a:cs typeface="Amiri" pitchFamily="34" charset="-120"/>
              </a:rPr>
              <a:t>كِ</a:t>
            </a:r>
            <a:endParaRPr lang="ar-SA" sz="2400" dirty="0"/>
          </a:p>
        </p:txBody>
      </p:sp>
      <p:sp>
        <p:nvSpPr>
          <p:cNvPr id="38" name="Text 35"/>
          <p:cNvSpPr txBox="1"/>
          <p:nvPr/>
        </p:nvSpPr>
        <p:spPr>
          <a:xfrm>
            <a:off x="429768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a:t>
            </a:r>
            <a:pPr rtl="1" algn="ctr" indent="0" marL="0">
              <a:buNone/>
            </a:pPr>
            <a:r>
              <a:rPr lang="ar-SA" altLang="en-US" sz="2400" b="1" dirty="0">
                <a:solidFill>
                  <a:srgbClr val="D6336C"/>
                </a:solidFill>
                <a:latin typeface="Amiri" pitchFamily="34" charset="0"/>
                <a:ea typeface="Amiri" pitchFamily="34" charset="-122"/>
                <a:cs typeface="Amiri" pitchFamily="34" charset="-120"/>
              </a:rPr>
              <a:t>كِ</a:t>
            </a:r>
            <a:endParaRPr lang="ar-SA" sz="2400" dirty="0"/>
          </a:p>
        </p:txBody>
      </p:sp>
      <p:sp>
        <p:nvSpPr>
          <p:cNvPr id="39" name="Text 36"/>
          <p:cNvSpPr txBox="1"/>
          <p:nvPr/>
        </p:nvSpPr>
        <p:spPr>
          <a:xfrm>
            <a:off x="2834640" y="3741725"/>
            <a:ext cx="12801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ـكِ</a:t>
            </a:r>
            <a:endParaRPr lang="ar-SA" sz="2600" dirty="0"/>
          </a:p>
        </p:txBody>
      </p:sp>
      <p:sp>
        <p:nvSpPr>
          <p:cNvPr id="40" name="Text 37"/>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(to a girl)</a:t>
            </a:r>
            <a:endParaRPr lang="en-US" sz="110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235440" y="4478731"/>
            <a:ext cx="2404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أَبُو</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endParaRPr lang="ar-SA" sz="2400" dirty="0"/>
          </a:p>
        </p:txBody>
      </p:sp>
      <p:sp>
        <p:nvSpPr>
          <p:cNvPr id="43" name="Text 40"/>
          <p:cNvSpPr txBox="1"/>
          <p:nvPr/>
        </p:nvSpPr>
        <p:spPr>
          <a:xfrm>
            <a:off x="676656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خَالَتُ</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endParaRPr lang="ar-SA" sz="2400" dirty="0"/>
          </a:p>
        </p:txBody>
      </p:sp>
      <p:sp>
        <p:nvSpPr>
          <p:cNvPr id="44" name="Text 41"/>
          <p:cNvSpPr txBox="1"/>
          <p:nvPr/>
        </p:nvSpPr>
        <p:spPr>
          <a:xfrm>
            <a:off x="429768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endParaRPr lang="ar-SA" sz="2400" dirty="0"/>
          </a:p>
        </p:txBody>
      </p:sp>
      <p:sp>
        <p:nvSpPr>
          <p:cNvPr id="45" name="Text 42"/>
          <p:cNvSpPr txBox="1"/>
          <p:nvPr/>
        </p:nvSpPr>
        <p:spPr>
          <a:xfrm>
            <a:off x="2834640" y="4478731"/>
            <a:ext cx="128016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ـهُ</a:t>
            </a:r>
            <a:endParaRPr lang="ar-SA" sz="2600" dirty="0"/>
          </a:p>
        </p:txBody>
      </p:sp>
      <p:sp>
        <p:nvSpPr>
          <p:cNvPr id="46" name="Text 43"/>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a:t>
            </a:r>
            <a:endParaRPr lang="en-US" sz="1100" dirty="0"/>
          </a:p>
        </p:txBody>
      </p:sp>
      <p:sp>
        <p:nvSpPr>
          <p:cNvPr id="47" name="Shape 4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235440" y="5215738"/>
            <a:ext cx="2404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أَبُو</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endParaRPr lang="ar-SA" sz="2400" dirty="0"/>
          </a:p>
        </p:txBody>
      </p:sp>
      <p:sp>
        <p:nvSpPr>
          <p:cNvPr id="51" name="Text 48"/>
          <p:cNvSpPr txBox="1"/>
          <p:nvPr/>
        </p:nvSpPr>
        <p:spPr>
          <a:xfrm>
            <a:off x="676656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خَالَتُ</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endParaRPr lang="ar-SA" sz="2400" dirty="0"/>
          </a:p>
        </p:txBody>
      </p:sp>
      <p:sp>
        <p:nvSpPr>
          <p:cNvPr id="52" name="Text 49"/>
          <p:cNvSpPr txBox="1"/>
          <p:nvPr/>
        </p:nvSpPr>
        <p:spPr>
          <a:xfrm>
            <a:off x="429768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endParaRPr lang="ar-SA" sz="2400" dirty="0"/>
          </a:p>
        </p:txBody>
      </p:sp>
      <p:sp>
        <p:nvSpPr>
          <p:cNvPr id="53" name="Text 50"/>
          <p:cNvSpPr txBox="1"/>
          <p:nvPr/>
        </p:nvSpPr>
        <p:spPr>
          <a:xfrm>
            <a:off x="2834640" y="5215738"/>
            <a:ext cx="12801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ـهَا</a:t>
            </a:r>
            <a:endParaRPr lang="ar-SA" sz="2600" dirty="0"/>
          </a:p>
        </p:txBody>
      </p:sp>
      <p:sp>
        <p:nvSpPr>
          <p:cNvPr id="54" name="Text 51"/>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a:t>
            </a:r>
            <a:endParaRPr lang="en-US" sz="1100" dirty="0"/>
          </a:p>
        </p:txBody>
      </p:sp>
      <p:sp>
        <p:nvSpPr>
          <p:cNvPr id="55" name="Shape 52"/>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ending shows the OWNER: ukhtuhu = HIS sister. Father and brother add -ū- (abūhu, akhūhā).</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CLEAR FAMILY SENTENCES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is my … His name is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عَنِ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MASCULINE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هَذَا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هَذَا أَبِي. اِسْمُهُ خَالِدٌ. هُوَ لَطِيفٌ.</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father. His name is Khalid. He is kind.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hādhā · -hu · huwa.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FEMININE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هَذِهِ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هَذِهِ أُمِّي. اِسْمُهَا مَرْيَمُ. هِيَ لَطِيفَةٌ.</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mother. Her name is Maryam. She is kind.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hādhihi · -hā · hiya.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ORDER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الكَبِيرُ · الصُّغْرَى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هَذَا أَخِي الكَبِيرُ، وَهَذِهِ أُخْتِي الصُّغْرَى.</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big brother, and this is my younger sister.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Age: ‘umruhu sitta ‘ashrata sana.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agreement reminder: the adjective agrees with the family member.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أُخْتِي لَطِيفَةٌ.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أُخْتِي لَطِيفٌ.</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paternal uncle”.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sister”.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أُخْتُهُ</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أُخْتُهَا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“my father”?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أَبُوهُ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أَبُوكَ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“This is my mother.”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أُمِّي.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أُمِّي.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أُمُّهُ.</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paternal uncle”.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عَمُّهُ</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 </a:t>
            </a:r>
            <a:pPr algn="l" indent="0" marL="0">
              <a:buNone/>
            </a:pPr>
            <a:r>
              <a:rPr lang="ar-SA" altLang="en-US" sz="1350" dirty="0">
                <a:solidFill>
                  <a:srgbClr val="8A6D1E"/>
                </a:solidFill>
                <a:latin typeface="Amiri" pitchFamily="34" charset="0"/>
                <a:ea typeface="Amiri" pitchFamily="34" charset="-122"/>
                <a:cs typeface="Amiri" pitchFamily="34" charset="-120"/>
              </a:rPr>
              <a:t>عَمِّي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sister”.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أُخْتُهُ</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أُخْتُهَا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owner is male, so use </a:t>
            </a:r>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أُخْتُهُ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“my father”?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أَبُوهُ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أَبِي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أَبُوكَ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special form is </a:t>
            </a:r>
            <a:pPr algn="l" indent="0" marL="0">
              <a:buNone/>
            </a:pPr>
            <a:r>
              <a:rPr lang="ar-SA" altLang="en-US" sz="1350" dirty="0">
                <a:solidFill>
                  <a:srgbClr val="8A6D1E"/>
                </a:solidFill>
                <a:latin typeface="Amiri" pitchFamily="34" charset="0"/>
                <a:ea typeface="Amiri" pitchFamily="34" charset="-122"/>
                <a:cs typeface="Amiri" pitchFamily="34" charset="-120"/>
              </a:rPr>
              <a:t>أَبِي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“This is my mother.”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أُمِّي.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أُمِّي.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أُمُّهُ.</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Watch me introduce the Al-Rashid family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family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هَذِهِ عَائِلَةُ الرَّشِيدِ.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Family is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Grandparents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هَذَا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الجَدُّ حَسَنٌ، 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هَذِهِ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الجَدَّةُ سَلْمَى.</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 → hādhā · f. → hādhihi.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Parents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هَذَا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الأَبُ خَالِدٌ، 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هَذِهِ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الأُمُّ مَرْيَمُ.</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Same pattern.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Extended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العَمُّ سَامِرٌ لَطِيفٌ، وَبِنْتُ</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زَيْنَبُ ذَكِيَّةٌ.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HIS daughter → -hu.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 ENDING</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هَذِهِ عَائِلَةُ الرَّشِيدِ. </a:t>
            </a:r>
            <a:pPr rtl="1" algn="r" indent="0" marL="0">
              <a:lnSpc>
                <a:spcPct val="120000"/>
              </a:lnSpc>
              <a:buNone/>
            </a:pPr>
            <a:r>
              <a:rPr lang="ar-SA" altLang="en-US" sz="1650" b="1" dirty="0">
                <a:solidFill>
                  <a:srgbClr val="1D5FBF"/>
                </a:solidFill>
                <a:latin typeface="Amiri" pitchFamily="34" charset="0"/>
                <a:ea typeface="Amiri" pitchFamily="34" charset="-122"/>
                <a:cs typeface="Amiri" pitchFamily="34" charset="-120"/>
              </a:rPr>
              <a:t>هَذَا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الجَدُّ حَسَنٌ، وَ</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هَذِهِ</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الجَدَّةُ سَلْمَى. </a:t>
            </a:r>
            <a:pPr rtl="1" algn="r" indent="0" marL="0">
              <a:lnSpc>
                <a:spcPct val="120000"/>
              </a:lnSpc>
              <a:buNone/>
            </a:pPr>
            <a:r>
              <a:rPr lang="ar-SA" altLang="en-US" sz="1650" b="1" dirty="0">
                <a:solidFill>
                  <a:srgbClr val="1D5FBF"/>
                </a:solidFill>
                <a:latin typeface="Amiri" pitchFamily="34" charset="0"/>
                <a:ea typeface="Amiri" pitchFamily="34" charset="-122"/>
                <a:cs typeface="Amiri" pitchFamily="34" charset="-120"/>
              </a:rPr>
              <a:t>هَذَا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الأَبُ خَالِدٌ، وَ</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هَذِهِ</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الأُمُّ مَرْيَمُ. عِنْدَهُمَا بِنْتٌ وَابْنٌ. العَمُّ سَامِرٌ لَطِيفٌ، وَبِنْتُهُ زَيْنَبُ ذَكِيَّةٌ.</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This is the Al-Rashid family. This is grandfather Hassan, and this is grandmother Salma. This is the father, Khalid, and this is the mother, Maryam. They have a daughter and a son. Uncle Samir is kind, and his daughter Zaynab is clever.</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MY FAMILY — MEMBERS AND RELATIONSHIPS”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mother and child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boys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grandmother and girl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أَخِي.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جَدَّتِي.</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أُمِّي.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mother and child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أُمِّي.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mother.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boys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أَخِي.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brother.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grandmother and girl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جَدَّتِي.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grandmother.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“FAMILY RELATIONSHIP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Solve the relationships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العَلَاقَاتِ العَائِلِيَّةِ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Father’s brother: Choose the Arabic relationship.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Mother’s sister: Choose the Arabic relationship.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زَوْجَةٌ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His sister: Choose the correct possessive 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Her father: Choose the correct form.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أَبُوهُ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أَبُوهَا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This is my aunt: 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عَمَّتِي.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عَمِّي.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عَمَّتِي.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Father’s side: ‘amm / ‘amma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Mother’s side: khāl / khāla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 ending = the owner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Father’s brother: Choose the Arabic relationship.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عَمٌّ</a:t>
            </a:r>
            <a:pPr algn="l" indent="0" marL="0">
              <a:buNone/>
            </a:pPr>
            <a:r>
              <a:rPr lang="en-US" sz="1050" i="1" dirty="0">
                <a:solidFill>
                  <a:srgbClr val="8A6D1E"/>
                </a:solidFill>
                <a:latin typeface="Calibri" pitchFamily="34" charset="0"/>
                <a:ea typeface="Calibri" pitchFamily="34" charset="-122"/>
                <a:cs typeface="Calibri" pitchFamily="34" charset="-120"/>
              </a:rPr>
              <a:t> is a paternal uncle.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Mother’s sister: Choose the Arabic relationship.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عَمَّةٌ</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خَالَةٌ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زَوْجَةٌ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خَالَةٌ</a:t>
            </a:r>
            <a:pPr algn="l" indent="0" marL="0">
              <a:buNone/>
            </a:pPr>
            <a:r>
              <a:rPr lang="en-US" sz="1050" i="1" dirty="0">
                <a:solidFill>
                  <a:srgbClr val="8A6D1E"/>
                </a:solidFill>
                <a:latin typeface="Calibri" pitchFamily="34" charset="0"/>
                <a:ea typeface="Calibri" pitchFamily="34" charset="-122"/>
                <a:cs typeface="Calibri" pitchFamily="34" charset="-120"/>
              </a:rPr>
              <a:t> is a maternal aunt.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His sister: Choose the correct possessive form.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أُخْتُهُ</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أُخْتُهَا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identifies a male owner.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Her father: Choose the correct form.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أَبُوهُ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أَبُوهَا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أَبُوهَا</a:t>
            </a:r>
            <a:pPr algn="l" indent="0" marL="0">
              <a:buNone/>
            </a:pPr>
            <a:r>
              <a:rPr lang="en-US" sz="1050" i="1" dirty="0">
                <a:solidFill>
                  <a:srgbClr val="8A6D1E"/>
                </a:solidFill>
                <a:latin typeface="Calibri" pitchFamily="34" charset="0"/>
                <a:ea typeface="Calibri" pitchFamily="34" charset="-122"/>
                <a:cs typeface="Calibri" pitchFamily="34" charset="-120"/>
              </a:rPr>
              <a:t> means her father.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This is my aunt: Choose the accurate sentence.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عَمَّتِي.</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عَمِّي.</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عَمَّتِي.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عَمَّةٌ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Father’s side: ‘amm / ‘amma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Mother’s side: khāl / khāla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 ending = the owner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أُمِّي.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Mother: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34" charset="0"/>
                <a:ea typeface="Amiri" pitchFamily="34" charset="-122"/>
                <a:cs typeface="Amiri" pitchFamily="34" charset="-120"/>
              </a:rPr>
              <a:t>أُخْتُهَا</a:t>
            </a:r>
            <a:pPr algn="l" indent="0" marL="0">
              <a:buNone/>
            </a:pPr>
            <a:r>
              <a:rPr lang="en-US" sz="3000" b="1" dirty="0">
                <a:solidFill>
                  <a:srgbClr val="B83227"/>
                </a:solidFill>
                <a:latin typeface="Calibri" pitchFamily="34" charset="0"/>
                <a:ea typeface="Calibri" pitchFamily="34" charset="-122"/>
                <a:cs typeface="Calibri" pitchFamily="34" charset="-120"/>
              </a:rPr>
              <a:t> (for “his sister”)</a:t>
            </a:r>
            <a:endParaRPr lang="en-US"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His sister: whose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أَبُهَا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Father has a special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أُمِّي.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أُمِّي.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mother is feminine → hādhihi.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34" charset="0"/>
                <a:ea typeface="Amiri" pitchFamily="34" charset="-122"/>
                <a:cs typeface="Amiri" pitchFamily="34" charset="-120"/>
              </a:rPr>
              <a:t>أُخْتُهَا</a:t>
            </a:r>
            <a:pPr algn="l" indent="0" marL="0">
              <a:buNone/>
            </a:pPr>
            <a:r>
              <a:rPr lang="en-US" sz="1800" dirty="0">
                <a:solidFill>
                  <a:srgbClr val="B83227"/>
                </a:solidFill>
                <a:latin typeface="Calibri" pitchFamily="34" charset="0"/>
                <a:ea typeface="Calibri" pitchFamily="34" charset="-122"/>
                <a:cs typeface="Calibri" pitchFamily="34" charset="-120"/>
              </a:rPr>
              <a:t> (for “his sister”)</a:t>
            </a:r>
            <a:endParaRPr lang="en-US"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ending shows the OWNER: his → -hu (website “important meaning”).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أَبُهَا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أَبُوهَا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Father has a special form: abī, abūhu, abūhā.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Layla’s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father’s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Yusuf?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younger brother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cousin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older brother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Yusuf?</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14</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16</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with Layla’s family?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grandmother Salma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uncle Samir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cousin Zaynab</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Zaynab like?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football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who are the people? Second: names and one detail.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لَيْلَى. عَائِلَتِي كَبِيرَةٌ وَلَطِيفَةٌ.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Layla. My family is big and kind.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هَذَا أَبِي، وَاسْمُهُ خَالِدٌ. هُوَ مُجْتَهِدٌ. وَهَذِهِ أُمِّي، وَاسْمُهَا مَرْيَمُ. هِيَ لَطِيفَةٌ جِدًّا.</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is my father, his name is Khalid. He is hard-working. And this is my mother, her name is Maryam. She is very kind.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أَخٌ أَكْبَرُ، وَاسْمُهُ يُوسُفُ، وَعُمْرُهُ سِتَّ عَشْرَةَ سَنَةً.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have an older brother, his name is Yusuf, and he is sixteen.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جَدَّتِي سَلْمَى تَعِيشُ مَعَنَا. عَمِّي سَامِرٌ يَعِيشُ فِي لَنْدَنَ، وَبِنْتُ عَمِّي زَيْنَبُ تُحِبُّ القِرَاءَةَ.</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grandmother Salma lives with us. My uncle Samir lives in London, and my cousin Zaynab loves reading.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أُحِبُّ عَائِلَتِي لِأَنَّهَا مُتَعَاوِنَةٌ.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love my family because it is helpful (we help each other).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father’s name?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Khalid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father is Khalid.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Yusuf?</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younger brother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cousin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older brother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 is her older brother.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Yusuf?</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14</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16</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عُمْرُهُ سِتَّ عَشْرَةَ سَنَةً.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with Layla’s family?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grandmother Salma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uncle Samir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cousin Zaynab</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جَدَّتِي سَلْمَى تَعِيشُ مَعَنَا.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Zaynab like?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swimming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football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بِنْتُ عَمِّي زَيْنَبُ تُحِبُّ القِرَاءَةَ.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who are the people? Second: names and one detail.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THE AL-RASHID FAMILY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Al-Rashid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عَائِلَةُ الرَّشِيدِ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عَائِلَةُ الرَّشِيدِ. الجَدُّ حَسَنٌ وَالجَدَّةُ سَلْمَى يَعِيشَانِ فِي بَيْتٍ كَبِيرٍ.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Grandparents Hassan and Salma live in a big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اِبْنُهُمَا خَالِدٌ هُوَ أَبُو لَيْلَى وَيُوسُفَ. زَوْجَتُهُ مَرْيَمُ مُعَلِّمَةٌ لَطِيفَةٌ.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son Khalid = Layla and Yusuf’s father · his wife Maryam: a kind teacher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لَيْلَى بِنْتٌ ذَكِيَّةٌ، وَأَخُوهَا يُوسُفُ طَالِبٌ مُجْتَهِدٌ.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clever · her brother Yusuf: a hard-working student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لِخَالِدٍ أَخٌ وَأُخْتٌ: أَخُوهُ سَامِرٌ، وَأُخْتُهُ نُورٌ. سَامِرٌ هُوَ عَمُّ لَيْلَى، وَنُورٌ هِيَ عَمَّتُهَا.</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Khalid’s brother Samir and sister Noor = Layla’s paternal uncle and aunt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زَيْنَبُ بِنْتُ سَامِرٍ، فَهِيَ بِنْتُ عَمِّ لَيْلَى. تَجْتَمِعُ العَائِلَةُ فِي نِهَايَةِ الأُسْبُوعِ.</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Zaynab = Samir’s daughter = Layla’s cousin · the family meets at the weekend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is who?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Khalid?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 grandfather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and Yusuf’s father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 uncle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Maryam’s job?</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Samir to Layla?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paternal uncle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maternal uncle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cousin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Noor to Layla?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maternal aunt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paternal aunt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grandmother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Zaynab to Layla?</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paternal cousin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sister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niece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USE THE TEXT</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name → read the words next to it.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Father’s side or mother’s side?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Khalid?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Layla’s grandfather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 and Yusuf’s father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Layla’s uncle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خَالِدٌ هُوَ أَبُو لَيْلَى وَيُوسُفَ.</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Maryam’s job?</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doctor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student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teacher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زَوْجَتُهُ مَرْيَمُ مُعَلِّمَةٌ.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Samir to Layla?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paternal uncle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maternal uncle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cousin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سَامِرٌ هُوَ عَمُّ لَيْلَى.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Noor to Layla?</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maternal aunt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paternal aunt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grandmother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نُورٌ هِيَ عَمَّتُهَا.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Zaynab to Layla?</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paternal cousin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sister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niece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زَيْنَبُ ... بِنْتُ عَمِّ لَيْلَى.</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USE THE TEXT</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name → read the words next to it.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Father’s side or mother’s side?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Introduce a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هَذَا؟ مَنْ هَذِهِ؟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قَدِّمْ عَائِلَةَ الرَّشِيدِ: الجَدُّ، الجَدَّةُ، الأَبُ، الأُمُّ.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سَامِرٌ؟ مَنْ زَيْنَبُ؟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قَدِّمْ عَائِلَةً (حَقِيقِيَّةً أَوْ خَيَالِيَّةً) فِي سِتِّ جُمَلٍ.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 / هَذِهِ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الجَدُّ ___ ، وَهَذِهِ الجَدَّةُ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سَامِرٌ عَمُّ لَيْلَى، وَزَيْنَبُ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عِنْدِي ___ ، وَ ___ ، وَأُحِبُّ عَائِلَتِي لِأَنَّ ___ .</a:t>
            </a:r>
            <a:endParaRPr lang="ar-SA" sz="13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هَذَا؟ وَمَنْ هَذِهِ؟</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is this (m.)? And who is this (f.)?</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هَذِهِ عَائِلَةُ الرَّشِيدِ. هَذَا الجَدُّ حَسَنٌ، وَهَذِهِ الجَدَّةُ سَلْمَى.</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This is the Al-Rashid family. This is grandfather Hassan, and this is grandmother Salma.</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accurate sentences naming at least six people with hādhā / hādhihi.</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Label a fictional tree, then six “this is …” sentences with a name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70–90 words with immediate and extended family, possessive endings and three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Immediate + extended family, his / her endings, three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sibling order, cousins, a comparison and a reason with li’anna.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Sibling order, cousins on both sides, a comparison and a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عَمِّي.</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uncle (father’s side).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خَالَتِي.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aunt (mother’s side).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أُخْتُهُ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sister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الأَكْبَرُ عُمْرُهُ ______ سَنَةً.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older brother is … years old.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عَائِلَتِي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love my family because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أَبِي.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father.</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أُمِّي.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mother.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اِسْمُهُ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name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اِسْمُهَا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Her name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أَخٌ وَأُخْتٌ.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brother and a sister.</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  ·  أُمٌّ  ·  أَخٌ  ·  أُخْتٌ  ·  جَدٌّ  ·  جَدَّةٌ  ·  عَمٌّ  ·  خَالَةٌ  ·  هَذَا  ·  هَذِهِ  ·  اِسْمُهُ  ·  اِسْمُهَا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هَذِهِ عَائِلَةُ الرَّشِيدِ. هَذَا الجَدُّ حَسَنٌ، وَهَذِهِ الجَدَّةُ سَلْمَى. هَذَا الأَبُ خَالِدٌ، وَهَذِهِ الأُمُّ مَرْيَمُ. عِنْدَهُمَا بِنْتٌ وَابْنٌ. العَمُّ سَامِرٌ لَطِيفٌ، وَبِنْتُهُ زَيْنَبُ ذَكِيَّةٌ.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the Al-Rashid family. This is grandfather Hassan, and this is grandmother Salma. This is the father, Khalid, and this is the mother, Maryam. They have a daughter and a son. Uncle Samir is kind, and his daughter Zaynab is clever.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hādhā + a man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hādhihi + a woman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ending (-hu)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paternal uncle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hādhā for men, hādhihi for women.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“my” (-ī)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His (-hu) / her (-hā) show the owner.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abūhu / akhūhā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Paternal vs maternal and sibling order are accurate.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maternal uncle.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زَوْجٌ</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grandmother”.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جَدَّتُهُ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جَدَّتُكَ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أُخْتِي لَطِيفَةٌ.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أُخْتِي لَطِيفٌ.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أَخِي لَطِيفَةٌ.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maternal uncle.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خَالٌ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زَوْجٌ</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خَالٌ</a:t>
            </a:r>
            <a:pPr algn="l" indent="0" marL="0">
              <a:buNone/>
            </a:pPr>
            <a:r>
              <a:rPr lang="en-US" sz="1050" i="1" dirty="0">
                <a:solidFill>
                  <a:srgbClr val="8A6D1E"/>
                </a:solidFill>
                <a:latin typeface="Calibri" pitchFamily="34" charset="0"/>
                <a:ea typeface="Calibri" pitchFamily="34" charset="-122"/>
                <a:cs typeface="Calibri" pitchFamily="34" charset="-120"/>
              </a:rPr>
              <a:t> is the mother’s brother.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grandmother”.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جَدَّتُهُ</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جَدَّتِي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جَدَّتُكَ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 </a:t>
            </a:r>
            <a:pPr algn="l" indent="0" marL="0">
              <a:buNone/>
            </a:pPr>
            <a:r>
              <a:rPr lang="ar-SA" altLang="en-US" sz="1350" dirty="0">
                <a:solidFill>
                  <a:srgbClr val="8A6D1E"/>
                </a:solidFill>
                <a:latin typeface="Amiri" pitchFamily="34" charset="0"/>
                <a:ea typeface="Amiri" pitchFamily="34" charset="-122"/>
                <a:cs typeface="Amiri" pitchFamily="34" charset="-120"/>
              </a:rPr>
              <a:t>جَدَّتِي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أُخْتِي لَطِيفَةٌ.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أُخْتِي لَطِيفٌ.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أَخِي لَطِيفَةٌ.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لَطِيفَةٌ</a:t>
            </a:r>
            <a:pPr algn="l" indent="0" marL="0">
              <a:buNone/>
            </a:pPr>
            <a:r>
              <a:rPr lang="en-US" sz="1050" i="1" dirty="0">
                <a:solidFill>
                  <a:srgbClr val="8A6D1E"/>
                </a:solidFill>
                <a:latin typeface="Calibri" pitchFamily="34" charset="0"/>
                <a:ea typeface="Calibri" pitchFamily="34" charset="-122"/>
                <a:cs typeface="Calibri" pitchFamily="34" charset="-120"/>
              </a:rPr>
              <a:t> all agree.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F3-L01 · My Family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F3-L02 · Describing Family Members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طَوِيلٌ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tall</a:t>
            </a:r>
            <a:pPr indent="0" marL="0">
              <a:buNone/>
            </a:pPr>
            <a:r>
              <a:rPr lang="en-US" sz="1000" i="1" dirty="0">
                <a:solidFill>
                  <a:srgbClr val="5A6472"/>
                </a:solidFill>
                <a:latin typeface="Calibri" pitchFamily="34" charset="0"/>
                <a:ea typeface="Calibri" pitchFamily="34" charset="-122"/>
                <a:cs typeface="Calibri" pitchFamily="34" charset="-120"/>
              </a:rPr>
              <a:t>  f. طَوِيلَةٌ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قَصِيرٌ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short</a:t>
            </a:r>
            <a:pPr indent="0" marL="0">
              <a:buNone/>
            </a:pPr>
            <a:r>
              <a:rPr lang="en-US" sz="1000" i="1" dirty="0">
                <a:solidFill>
                  <a:srgbClr val="5A6472"/>
                </a:solidFill>
                <a:latin typeface="Calibri" pitchFamily="34" charset="0"/>
                <a:ea typeface="Calibri" pitchFamily="34" charset="-122"/>
                <a:cs typeface="Calibri" pitchFamily="34" charset="-120"/>
              </a:rPr>
              <a:t>  f. قَصِيرَةٌ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لَطِيفٌ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kind</a:t>
            </a:r>
            <a:pPr indent="0" marL="0">
              <a:buNone/>
            </a:pPr>
            <a:r>
              <a:rPr lang="en-US" sz="1000" i="1" dirty="0">
                <a:solidFill>
                  <a:srgbClr val="5A6472"/>
                </a:solidFill>
                <a:latin typeface="Calibri" pitchFamily="34" charset="0"/>
                <a:ea typeface="Calibri" pitchFamily="34" charset="-122"/>
                <a:cs typeface="Calibri" pitchFamily="34" charset="-120"/>
              </a:rPr>
              <a:t>  f. لَطِيفَةٌ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مُضْحِكٌ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funny</a:t>
            </a:r>
            <a:pPr indent="0" marL="0">
              <a:buNone/>
            </a:pPr>
            <a:r>
              <a:rPr lang="en-US" sz="1000" i="1" dirty="0">
                <a:solidFill>
                  <a:srgbClr val="5A6472"/>
                </a:solidFill>
                <a:latin typeface="Calibri" pitchFamily="34" charset="0"/>
                <a:ea typeface="Calibri" pitchFamily="34" charset="-122"/>
                <a:cs typeface="Calibri" pitchFamily="34" charset="-120"/>
              </a:rPr>
              <a:t>  f. مُضْحِكَةٌ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كَرِيمٌ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generous</a:t>
            </a:r>
            <a:pPr indent="0" marL="0">
              <a:buNone/>
            </a:pPr>
            <a:r>
              <a:rPr lang="en-US" sz="1000" i="1" dirty="0">
                <a:solidFill>
                  <a:srgbClr val="5A6472"/>
                </a:solidFill>
                <a:latin typeface="Calibri" pitchFamily="34" charset="0"/>
                <a:ea typeface="Calibri" pitchFamily="34" charset="-122"/>
                <a:cs typeface="Calibri" pitchFamily="34" charset="-120"/>
              </a:rPr>
              <a:t>  f. كَرِيمَةٌ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a family member or a friend (or a character). Which two words describe them?</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كَيْفَ هُوَ؟ كَيْفَ هِيَ؟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F3-L01: the Family Relationship Mission (12)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describe a real or invented family tree in 70–90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Draw three generations and write 90+ words with cousins on both sides.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ea typeface="Cambria" pitchFamily="34" charset="-122"/>
                <a:cs typeface="Cambria" pitchFamily="34" charset="-120"/>
              </a:rPr>
              <a:t>F3-L02 · Describing Family Members</a:t>
            </a:r>
            <a:endParaRPr lang="en-US" sz="2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وَصْفُ أَفْرَادِ العَائِلَةِ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hādhā / hādhihi · the ending shows the owner.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F3-L01 · My Family — Members and Relationships</dc:title>
  <dc:subject>PptxGenJS Presentation</dc:subject>
  <dc:creator>Al Madina Online School · Arabic Department</dc:creator>
  <cp:lastModifiedBy>Al Madina Online School · Arabic Department</cp:lastModifiedBy>
  <cp:revision>1</cp:revision>
  <dcterms:created xsi:type="dcterms:W3CDTF">2026-09-27T16:34:04Z</dcterms:created>
  <dcterms:modified xsi:type="dcterms:W3CDTF">2026-09-27T16:34:04Z</dcterms:modified>
</cp:coreProperties>
</file>