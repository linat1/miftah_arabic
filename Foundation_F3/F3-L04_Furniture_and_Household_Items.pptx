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F3 My Family &amp; Home › Lesson 4 (F3-L04). Website sections used: the eight-question room bridge, the core furniture bank (12 with plurals) and its 12-question check, appliances and bathroom items with the wider recognition bank (12-question check), the room sets and 12-question room sorter, يُوجَدُ / تُوجَدُ with non-human plurals and the 14-question grammar laboratory, the bedroom redesign, the Furniture Mission (14), Mariam’s three rooms (listening, 10), Samir’s bedroom and Layla’s kitchen (reading, 12), the room-tour studio (4 prompts), the 6–8-sentence writing task and the 16-question checkpoint. Picture match: website visual game “Furniture and Household Items”.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One decision all lesson: is the ITEM masculine or feminine? → يُوجَدُ (masc.) or تُوجَدُ (fem.). The room is only the place (website: “look at the item, not the room”).
• Core: 8 items + “in my room there is …” (the simpler verb-free pattern فِي غُرْفَتِي سَرِيرٌ is also correct — website). Develop: يُوجَدُ / تُوجَدُ and one plural. Stretch: colours, positions and non-human plural agreement (كَرَاسِي كَثِيرَةٌ).
• Privacy (website): use your own room only when comfortable — the model room or an invented room is always fine.
• Urdu bridge: کرسی ← كُرْسِيٌّ، میز (Persian) / طَاوِلَةٌ، الماری (Portuguese) / خِزَانَةٌ (Urdu خزانہ = treasury!), آئینہ (Persian) / مِرْآةٌ، قالین (Turkish) / سَجَّادَةٌ (Urdu سجادہ = prayer mat).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furniture words prepared at home at the end of F3-L03. Questions 3–5 are the website “room bridge” (room-name iḍāfa, room + adjective, in my room).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Look at the ITEM, not the room: masculine item → yūjadu; feminine item → tūjadu.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aims (left) and the website speaking checklist as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کرسی is the same word. مِصْبَاحٌ is in Surat an-Nūr (24:35: الْمِصْبَاحُ فِي زُجَاجَةٍ) — many students know it. CAREFUL: خزانہ in Urdu is a treasury and سجادہ is a prayer mat — in Arabic خِزَانَةٌ is a wardrobe / cupboard and سَجَّادَةٌ any rug. آئینہ، میز and الماری are not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FURNITURE 1 (website “Core furniture bank”). Every card: the plural and the right “there is”. The tag is the gender — that is today’s decision. Chant: sarīr – asirra – yūjadu sarīr.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CORE FURNITURE 2. مِرْآةٌ is feminine (ة); مِصْبَاحٌ and رَفٌّ are masculine. Website high-value plurals: كَرَاسِي، سَتَائِرُ، مَصَابِيحُ، رُفُوفٌ، مَرَايَا.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APPLIANCES (FLEX — they are the focus of F3-L06). Website wider recognition bank: فُرْنٌ (oven), غَسَّالَةُ صُحُونٍ (dishwasher), مُجَمِّدٌ (freezer), غَلَّايَةٌ (kettle), مِكْوَاةٌ (iron), مُكَيِّفٌ (air conditioner), مِرْوَحَةٌ (fan), حَاسُوبٌ (computer), سَاعَةٌ (clock), وِسَادَةٌ (pillow), بَطَّانِيَّةٌ (blanket).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section 5 “Use يُوجَدُ and تُوجَدُ”: يُوجَدُ before a masculine singular; تُوجَدُ before a feminine singular; “look at the item, not the room”.
Row 4 = the website “useful simpler alternative”: فِي غُرْفَتِي سَرِيرٌ وَخِزَانَةٌ — the verb can be omitted. Core students may always use this pattern.
Quick-fire: say an item; students type ي or 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“High-value plurals” (سَرِيرٌ ← أَسِرَّةٌ · كُرْسِيٌّ ← كَرَاسِي · طَاوِلَةٌ ← طَاوِلَاتٌ · خِزَانَةٌ ← خَزَائِنُ · سِتَارَةٌ ← سَتَائِرُ · مِصْبَاحٌ ← مَصَابِيحُ · رَفٌّ ← رُفُوفٌ · مِرْآةٌ ← مَرَايَا · مَكْتَبٌ ← مَكَاتِبُ) and “Non-human plurals · Develop” (فِي الغُرْفَةِ تُوجَدُ كَرَاسِي كَثِيرَةٌ).
Positions from the website model: عَلَى المَكْتَبِ (on the desk), بِجَانِبِ النَّافِذَةِ (beside the window), فَوْقَ المَكْتَبِ (above the desk), عَلَى الأَرْضِيَّةِ (on the floor). Colours are next lesson (F3-L05).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“Fourteen-question grammar laboratory” questions 1, 2, 5 and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“model description” of the bedroom scene (colours left out until F3-L05). Think aloud before every verb: “the ITEM is … masculine or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Furniture and Household Items”)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هٰذِهِ ثَلَّاجَةٌ? (ة → feminine). Other cards for homework: هٰذَا كُرْسِيٌّ، هٰذِهِ مِرْآةٌ، هٰذِهِ غَسَّالَةٌ.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Furniture and Household Items”)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هٰذِهِ ثَلَّاجَةٌ? (ة → feminine). Other cards for homework: هٰذَا كُرْسِيٌّ، هٰذِهِ مِرْآةٌ، هٰذِهِ غَسَّالَةٌ.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Furniture Mission cards (room choice, masculine, feminine, plural, repair).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which word decided it — the item or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5.
Listen 1: just listen. Listen 2: note answers. Then chat the letters.
Support: after the second listening, show the read-along slide (Arabic + English, line by line) for Core students.
SCRIPT (read aloud):
أَهْلًا! أَنَا مَرْيَمُ، وَسَأَصِفُ ثَلَاثَ غُرَفٍ فِي بَيْتِنَا. فِي غُرْفَةِ نَوْمِي يُوجَدُ سَرِيرٌ أَبْيَضُ وَمَكْتَبٌ بُنِّيٌّ، وَتُوجَدُ خِزَانَةٌ كَبِيرَةٌ وَمِرْآةٌ صَغِيرَةٌ. عَلَى المَكْتَبِ يُوجَدُ حَاسُوبٌ وَمِصْبَاحٌ. فِي المَطْبَخِ تُوجَدُ ثَلَّاجَةٌ بَيْضَاءُ وَغَسَّالَةٌ، وَيُوجَدُ مَوْقِدٌ وَحَوْضٌ. هُنَاكَ أَيْضًا طَاوِلَةٌ وَأَرْبَعَةُ كَرَاسِي. أَمَّا غُرْفَةُ الجُلُوسِ فَفِيهَا أَرِيكَةٌ زَرْقَاءُ وَتِلْفَازٌ كَبِيرٌ وَسَجَّادَةٌ جَمِيلَةٌ. أُحِبُّ غُرْفَةَ الجُلُوسِ لِأَنَّهَا وَاسِعَةٌ وَمُرِيحَةٌ.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TEXT A (website, complete). Note لَا يُوجَدُ = there is no (website reading: “locate objects, negatives, quantities, places and opinions”). تُوجَدُ رُفُوفٌ = a plural of things with the feminine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TEXT B (website, complete). Stretch: why لِأَنَّهُ here but لِأَنَّهَا in Text A? (مَطْبَخٌ is masculine, غُرْفَةٌ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2, 4, 5 (Samir) and 9, 10 (Layla — Core may skip).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ROOM-TOUR STUDIO: name the room, list at least six items, describe colours or size, and give an opinion with a reason. Room cards (website):
• Bedroom: bed · wardrobe · desk · mirror · lamp · rug
• Kitchen: fridge · cooker · oven · sink · table · chairs
• Living room: sofa · television · rug · curtains · lamps · shelves
• Bathroom: sink · shower · mirror · cupboard · washing machine
Website checklist (listener ticks 1–6): room named · six objects · يُوجَدُ / تُوجَدُ · colours or size · reason with لِأَنَّ · clear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Label eight items in one room and write four “in my room there is …” sentences. · Develop — Six to eight sentences with yūjadu / tūjadu, two descriptions and one plural. · Stretch — Add colours, positions (on, beside, above) and non-human plural agreement (kathīra).
Website writing task (Stretch): Website writing task: describe one room in 6–8 connected sentences — at least eight objects, two descriptions, one plural and an opinion with a reason.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model description (bedroom scene). Stretch: find the two colours (بَيْضَاءُ، بُنِّيَّةٌ) — next lesson.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(F3-L05 · Colours — Full System and Agreement) will spend class time USING this language, so students prepare it tonight — short, simple, easy to access (school guidance: “Simple, Short, Interesting, Relevant, Easy to access”). The five words come from the website F3-L05 colour bank (masculine and feminine forms).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cs typeface="Amiri" pitchFamily="2" charset="-78"/>
              </a:rPr>
              <a:t>Furniture and Household Items</a:t>
            </a:r>
            <a:endParaRPr lang="en-US" sz="36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الأَثَاثُ وَالأَغْرَاضُ المَنْزِلِيَّةُ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Furnish each room: name the core furniture and appliances with useful plurals, choose </a:t>
            </a:r>
            <a:pPr algn="l" indent="0" marL="0">
              <a:buNone/>
            </a:pPr>
            <a:r>
              <a:rPr lang="ar-SA" altLang="en-US" sz="1800" dirty="0">
                <a:solidFill>
                  <a:srgbClr val="C6D2E6"/>
                </a:solidFill>
                <a:latin typeface="Amiri" pitchFamily="2" charset="-78"/>
                <a:ea typeface="Amiri" pitchFamily="2" charset="-78"/>
                <a:cs typeface="Amiri" pitchFamily="2" charset="-78"/>
              </a:rPr>
              <a:t>يُوجَدُ</a:t>
            </a:r>
            <a:pPr algn="l" indent="0" marL="0">
              <a:buNone/>
            </a:pPr>
            <a:r>
              <a:rPr lang="en-US" sz="1400" dirty="0">
                <a:solidFill>
                  <a:srgbClr val="C6D2E6"/>
                </a:solidFill>
                <a:latin typeface="Calibri" pitchFamily="34" charset="0"/>
                <a:cs typeface="Amiri" pitchFamily="2" charset="-78"/>
              </a:rPr>
              <a:t> or </a:t>
            </a:r>
            <a:pPr algn="l" indent="0" marL="0">
              <a:buNone/>
            </a:pPr>
            <a:r>
              <a:rPr lang="ar-SA" altLang="en-US" sz="1800" dirty="0">
                <a:solidFill>
                  <a:srgbClr val="C6D2E6"/>
                </a:solidFill>
                <a:latin typeface="Amiri" pitchFamily="2" charset="-78"/>
                <a:ea typeface="Amiri" pitchFamily="2" charset="-78"/>
                <a:cs typeface="Amiri" pitchFamily="2" charset="-78"/>
              </a:rPr>
              <a:t>تُوجَدُ</a:t>
            </a:r>
            <a:pPr algn="l" indent="0" marL="0">
              <a:buNone/>
            </a:pPr>
            <a:r>
              <a:rPr lang="en-US" sz="1400" dirty="0">
                <a:solidFill>
                  <a:srgbClr val="C6D2E6"/>
                </a:solidFill>
                <a:latin typeface="Calibri" pitchFamily="34" charset="0"/>
                <a:cs typeface="Amiri" pitchFamily="2" charset="-78"/>
              </a:rPr>
              <a:t> by the gender of the item, and describe one room in detail.</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F3-L04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Furniture and appliances, then “there is” for masculine and feminine items.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Furniture Mission, listen to Mariam, read two rooms.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F3-L05.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سَرِيرٌ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chair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bed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table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خِزَانَةٌ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wardrobe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sofa</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mirror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iḍāfa phrase.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الغُرْفَةُ الجُلُوسِ</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غُرْفَةٌ الجُلُوسُ</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غُرْفَةُ الجُلُوسِ</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غُرْفَةٌ ___.</a:t>
            </a:r>
            <a:endParaRPr lang="ar-SA" sz="220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وَاسِعٌ</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وَاسِعَاتٌ</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وَاسِعَةٌ</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my room”.</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غُرْفَتِي</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غُرْفَتِهَا</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غُرْفَتِي</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سَرِيرٌ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chair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bed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table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(F3-L03).</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خِزَانَةٌ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wardrobe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sofa</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mirror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(F3-L03).</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iḍāfa phrase.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الغُرْفَةُ الجُلُوسِ</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غُرْفَةٌ الجُلُوسُ</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غُرْفَةُ الجُلُوسِ</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noun has no definite article.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غُرْفَةٌ ___.</a:t>
            </a:r>
            <a:endParaRPr lang="ar-SA" sz="220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وَاسِعٌ</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وَاسِعَاتٌ</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وَاسِعَةٌ</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 is feminine, so the adjective is feminine.</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my room”.</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غُرْفَتِي</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غُرْفَتِهَا</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غُرْفَتِي</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 marks location and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means my.</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Look at the ITEM, not the room: masculine item → yūjadu; feminine item → tūjadu.</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يُوجَدُ</a:t>
            </a:r>
            <a:pPr rtl="1" algn="ctr" indent="0" marL="0">
              <a:buNone/>
            </a:pPr>
            <a:r>
              <a:rPr lang="ar-SA" altLang="en-US" sz="2400" b="1" dirty="0">
                <a:solidFill>
                  <a:srgbClr val="1B3B6F"/>
                </a:solidFill>
                <a:latin typeface="Amiri" pitchFamily="2" charset="-78"/>
                <a:ea typeface="Amiri" pitchFamily="2" charset="-78"/>
                <a:cs typeface="Amiri" pitchFamily="2" charset="-78"/>
              </a:rPr>
              <a:t> سَرِيرٌ · </a:t>
            </a:r>
            <a:pPr rtl="1" algn="ctr" indent="0" marL="0">
              <a:buNone/>
            </a:pPr>
            <a:r>
              <a:rPr lang="ar-SA" altLang="en-US" sz="2400" b="1" dirty="0">
                <a:solidFill>
                  <a:srgbClr val="D6336C"/>
                </a:solidFill>
                <a:latin typeface="Amiri" pitchFamily="2" charset="-78"/>
                <a:ea typeface="Amiri" pitchFamily="2" charset="-78"/>
                <a:cs typeface="Amiri" pitchFamily="2" charset="-78"/>
              </a:rPr>
              <a:t>تُوجَدُ</a:t>
            </a:r>
            <a:pPr rtl="1" algn="ctr" indent="0" marL="0">
              <a:buNone/>
            </a:pPr>
            <a:r>
              <a:rPr lang="ar-SA" altLang="en-US" sz="2400" b="1" dirty="0">
                <a:solidFill>
                  <a:srgbClr val="1B3B6F"/>
                </a:solidFill>
                <a:latin typeface="Amiri" pitchFamily="2" charset="-78"/>
                <a:ea typeface="Amiri" pitchFamily="2" charset="-78"/>
                <a:cs typeface="Amiri" pitchFamily="2" charset="-78"/>
              </a:rPr>
              <a:t> خِزَانَةٌ</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full core furniture and appliance bank.</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Place items in appropriate rooms.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ea typeface="Amiri" pitchFamily="2" charset="-78"/>
                <a:cs typeface="Amiri" pitchFamily="2" charset="-78"/>
              </a:rPr>
              <a:t>يُوجَدُ / تُوجَدُ</a:t>
            </a:r>
            <a:pPr algn="l" indent="0" marL="0">
              <a:buNone/>
            </a:pPr>
            <a:r>
              <a:rPr lang="en-US" sz="1300" dirty="0">
                <a:solidFill>
                  <a:srgbClr val="1F2A37"/>
                </a:solidFill>
                <a:latin typeface="Calibri" pitchFamily="34" charset="0"/>
                <a:cs typeface="Amiri" pitchFamily="2" charset="-78"/>
              </a:rPr>
              <a:t>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one room in 6–8 connected sentences.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eight items of furniture.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is in my room.</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choose yūjadu or tūjadu.</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two useful plurals.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colours and positions.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make a plural of things agree (kathīra).</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12 furniture words and 6 appliances from the website, each with its plural. Core: bed, wardrobe, table, chair, sofa, television, lamp, mirror.</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Core furniture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Appliances and bathroom · 6</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Recognition bank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كُرْسِيٌّ</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‎کرسی‎ </a:t>
            </a:r>
            <a:pPr indent="0" marL="0">
              <a:buNone/>
            </a:pPr>
            <a:r>
              <a:rPr lang="en-US" sz="950" b="1" dirty="0">
                <a:solidFill>
                  <a:srgbClr val="2E8B57"/>
                </a:solidFill>
                <a:latin typeface="Calibri" pitchFamily="34" charset="0"/>
                <a:cs typeface="Amiri" pitchFamily="2" charset="-78"/>
              </a:rPr>
              <a:t> kursī · chair</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خِزَانَةٌ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‎خزانہ‎ </a:t>
            </a:r>
            <a:pPr indent="0" marL="0">
              <a:buNone/>
            </a:pPr>
            <a:r>
              <a:rPr lang="en-US" sz="950" b="1" dirty="0">
                <a:solidFill>
                  <a:srgbClr val="2E8B57"/>
                </a:solidFill>
                <a:latin typeface="Calibri" pitchFamily="34" charset="0"/>
                <a:cs typeface="Amiri" pitchFamily="2" charset="-78"/>
              </a:rPr>
              <a:t> khizāna · Arabic: wardrobe · Urdu: treasury</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سَجَّادَةٌ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‎سجادہ‎ </a:t>
            </a:r>
            <a:pPr indent="0" marL="0">
              <a:buNone/>
            </a:pPr>
            <a:r>
              <a:rPr lang="en-US" sz="950" b="1" dirty="0">
                <a:solidFill>
                  <a:srgbClr val="2E8B57"/>
                </a:solidFill>
                <a:latin typeface="Calibri" pitchFamily="34" charset="0"/>
                <a:cs typeface="Amiri" pitchFamily="2" charset="-78"/>
              </a:rPr>
              <a:t> sajjāda · Arabic: rug · Urdu: prayer mat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مِصْبَاحٌ</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‎مصباح‎ </a:t>
            </a:r>
            <a:pPr indent="0" marL="0">
              <a:buNone/>
            </a:pPr>
            <a:r>
              <a:rPr lang="en-US" sz="950" b="1" dirty="0">
                <a:solidFill>
                  <a:srgbClr val="2E8B57"/>
                </a:solidFill>
                <a:latin typeface="Calibri" pitchFamily="34" charset="0"/>
                <a:cs typeface="Amiri" pitchFamily="2" charset="-78"/>
              </a:rPr>
              <a:t> miṣbāḥ · lamp (Surat an-Nur!)</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مِرْآةٌ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‎آئینہ‎ </a:t>
            </a:r>
            <a:pPr indent="0" marL="0">
              <a:buNone/>
            </a:pPr>
            <a:r>
              <a:rPr lang="en-US" sz="950" b="1" dirty="0">
                <a:solidFill>
                  <a:srgbClr val="2E8B57"/>
                </a:solidFill>
                <a:latin typeface="Calibri" pitchFamily="34" charset="0"/>
                <a:cs typeface="Amiri" pitchFamily="2" charset="-78"/>
              </a:rPr>
              <a:t> mirʾā · mirror (not cognate)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CORE FURNITURE (WEBSITE) ·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Bed, wardrobe, table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الأَثَاثُ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سَرِيرٌ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bed</a:t>
            </a:r>
            <a:endParaRPr lang="en-US" sz="1350" dirty="0"/>
          </a:p>
          <a:p>
            <a:pPr indent="0" marL="0">
              <a:buNone/>
            </a:pPr>
            <a:r>
              <a:rPr lang="en-US" sz="1100" i="1" dirty="0">
                <a:solidFill>
                  <a:srgbClr val="5A6472"/>
                </a:solidFill>
                <a:latin typeface="Calibri" pitchFamily="34" charset="0"/>
                <a:cs typeface="Amiri" pitchFamily="2" charset="-78"/>
              </a:rPr>
              <a:t>sa-rīr</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أَسِرَّةٌ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يُوجَدُ</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خِزَانَةٌ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wardrobe / cupboard</a:t>
            </a:r>
            <a:endParaRPr lang="en-US" sz="1350" dirty="0"/>
          </a:p>
          <a:p>
            <a:pPr indent="0" marL="0">
              <a:buNone/>
            </a:pPr>
            <a:r>
              <a:rPr lang="en-US" sz="1100" i="1" dirty="0">
                <a:solidFill>
                  <a:srgbClr val="5A6472"/>
                </a:solidFill>
                <a:latin typeface="Calibri" pitchFamily="34" charset="0"/>
                <a:cs typeface="Amiri" pitchFamily="2" charset="-78"/>
              </a:rPr>
              <a:t>khi-zā-na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خَزَائِنُ</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تُوجَدُ</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طَاوِلَةٌ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table</a:t>
            </a:r>
            <a:endParaRPr lang="en-US" sz="1350" dirty="0"/>
          </a:p>
          <a:p>
            <a:pPr indent="0" marL="0">
              <a:buNone/>
            </a:pPr>
            <a:r>
              <a:rPr lang="en-US" sz="1100" i="1" dirty="0">
                <a:solidFill>
                  <a:srgbClr val="5A6472"/>
                </a:solidFill>
                <a:latin typeface="Calibri" pitchFamily="34" charset="0"/>
                <a:cs typeface="Amiri" pitchFamily="2" charset="-78"/>
              </a:rPr>
              <a:t>ṭā-wi-la</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طَاوِلَاتٌ</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تُوجَدُ</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كُرْسِيٌّ</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chair</a:t>
            </a:r>
            <a:endParaRPr lang="en-US" sz="1350" dirty="0"/>
          </a:p>
          <a:p>
            <a:pPr indent="0" marL="0">
              <a:buNone/>
            </a:pPr>
            <a:r>
              <a:rPr lang="en-US" sz="1100" i="1" dirty="0">
                <a:solidFill>
                  <a:srgbClr val="5A6472"/>
                </a:solidFill>
                <a:latin typeface="Calibri" pitchFamily="34" charset="0"/>
                <a:cs typeface="Amiri" pitchFamily="2" charset="-78"/>
              </a:rPr>
              <a:t>kur-siyy</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كَرَاسِي</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يُوجَدُ</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أَرِيكَةٌ / كَنَبَةٌ</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sofa / couch</a:t>
            </a:r>
            <a:endParaRPr lang="en-US" sz="1350" dirty="0"/>
          </a:p>
          <a:p>
            <a:pPr indent="0" marL="0">
              <a:buNone/>
            </a:pPr>
            <a:r>
              <a:rPr lang="en-US" sz="1100" i="1" dirty="0">
                <a:solidFill>
                  <a:srgbClr val="5A6472"/>
                </a:solidFill>
                <a:latin typeface="Calibri" pitchFamily="34" charset="0"/>
                <a:cs typeface="Amiri" pitchFamily="2" charset="-78"/>
              </a:rPr>
              <a:t>a-rī-ka / ka-na-ba</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أَرَائِكُ</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89" name="Text 8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تُوجَدُ</a:t>
            </a:r>
            <a:endParaRPr lang="ar-SA" sz="135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3" name="Shape 9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تِلْفَازٌ</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television</a:t>
            </a:r>
            <a:endParaRPr lang="en-US" sz="1350" dirty="0"/>
          </a:p>
          <a:p>
            <a:pPr indent="0" marL="0">
              <a:buNone/>
            </a:pPr>
            <a:r>
              <a:rPr lang="en-US" sz="1100" i="1" dirty="0">
                <a:solidFill>
                  <a:srgbClr val="5A6472"/>
                </a:solidFill>
                <a:latin typeface="Calibri" pitchFamily="34" charset="0"/>
                <a:cs typeface="Amiri" pitchFamily="2" charset="-78"/>
              </a:rPr>
              <a:t>til-fāz</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1" name="Text 98"/>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تِلْفَازَاتٌ</a:t>
            </a:r>
            <a:endParaRPr lang="ar-SA" sz="150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104" name="Text 101"/>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يُوجَدُ</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CORE FURNITURE (WEBSITE) · 2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Rug, curtain, lamp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الأَثَاثُ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سَجَّادَةٌ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rug / carpet</a:t>
            </a:r>
            <a:endParaRPr lang="en-US" sz="1350" dirty="0"/>
          </a:p>
          <a:p>
            <a:pPr indent="0" marL="0">
              <a:buNone/>
            </a:pPr>
            <a:r>
              <a:rPr lang="en-US" sz="1100" i="1" dirty="0">
                <a:solidFill>
                  <a:srgbClr val="5A6472"/>
                </a:solidFill>
                <a:latin typeface="Calibri" pitchFamily="34" charset="0"/>
                <a:cs typeface="Amiri" pitchFamily="2" charset="-78"/>
              </a:rPr>
              <a:t>saj-jā-da</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سَجَّادَاتٌ</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27" name="Text 24"/>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تُوجَدُ</a:t>
            </a:r>
            <a:endParaRPr lang="ar-SA" sz="135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1" name="Shape 28"/>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3" name="Text 30"/>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سِتَارَةٌ</a:t>
            </a:r>
            <a:endParaRPr lang="ar-SA" sz="3000" dirty="0"/>
          </a:p>
        </p:txBody>
      </p:sp>
      <p:sp>
        <p:nvSpPr>
          <p:cNvPr id="34" name="Text 31"/>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curtain</a:t>
            </a:r>
            <a:endParaRPr lang="en-US" sz="1350" dirty="0"/>
          </a:p>
          <a:p>
            <a:pPr indent="0" marL="0">
              <a:buNone/>
            </a:pPr>
            <a:r>
              <a:rPr lang="en-US" sz="1100" i="1" dirty="0">
                <a:solidFill>
                  <a:srgbClr val="5A6472"/>
                </a:solidFill>
                <a:latin typeface="Calibri" pitchFamily="34" charset="0"/>
                <a:cs typeface="Amiri" pitchFamily="2" charset="-78"/>
              </a:rPr>
              <a:t>si-tā-ra</a:t>
            </a:r>
            <a:endParaRPr lang="en-US" sz="1350" dirty="0"/>
          </a:p>
        </p:txBody>
      </p:sp>
      <p:sp>
        <p:nvSpPr>
          <p:cNvPr id="35" name="Shape 32"/>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7" name="Text 34"/>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سَتَائِرُ</a:t>
            </a:r>
            <a:endParaRPr lang="ar-SA" sz="1500" dirty="0"/>
          </a:p>
        </p:txBody>
      </p:sp>
      <p:sp>
        <p:nvSpPr>
          <p:cNvPr id="38" name="Shape 35"/>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40" name="Text 37"/>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تُوجَدُ</a:t>
            </a:r>
            <a:endParaRPr lang="ar-SA" sz="135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4" name="Shape 41"/>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6" name="Shape 4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مِصْبَاحٌ</a:t>
            </a:r>
            <a:endParaRPr lang="ar-SA" sz="3000" dirty="0"/>
          </a:p>
        </p:txBody>
      </p:sp>
      <p:sp>
        <p:nvSpPr>
          <p:cNvPr id="49" name="Text 4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lamp</a:t>
            </a:r>
            <a:endParaRPr lang="en-US" sz="1350" dirty="0"/>
          </a:p>
          <a:p>
            <a:pPr indent="0" marL="0">
              <a:buNone/>
            </a:pPr>
            <a:r>
              <a:rPr lang="en-US" sz="1100" i="1" dirty="0">
                <a:solidFill>
                  <a:srgbClr val="5A6472"/>
                </a:solidFill>
                <a:latin typeface="Calibri" pitchFamily="34" charset="0"/>
                <a:cs typeface="Amiri" pitchFamily="2" charset="-78"/>
              </a:rPr>
              <a:t>miṣ-bāḥ</a:t>
            </a:r>
            <a:endParaRPr lang="en-US" sz="1350" dirty="0"/>
          </a:p>
        </p:txBody>
      </p:sp>
      <p:sp>
        <p:nvSpPr>
          <p:cNvPr id="50" name="Shape 4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2" name="Text 4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مَصَابِيحُ</a:t>
            </a:r>
            <a:endParaRPr lang="ar-SA" sz="1500" dirty="0"/>
          </a:p>
        </p:txBody>
      </p:sp>
      <p:sp>
        <p:nvSpPr>
          <p:cNvPr id="53" name="Shape 5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55" name="Text 52"/>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يُوجَدُ</a:t>
            </a:r>
            <a:endParaRPr lang="ar-SA" sz="135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9" name="Shape 56"/>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1" name="Text 5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رَفٌّ</a:t>
            </a:r>
            <a:endParaRPr lang="ar-SA" sz="3000" dirty="0"/>
          </a:p>
        </p:txBody>
      </p:sp>
      <p:sp>
        <p:nvSpPr>
          <p:cNvPr id="62" name="Text 5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shelf</a:t>
            </a:r>
            <a:endParaRPr lang="en-US" sz="1350" dirty="0"/>
          </a:p>
          <a:p>
            <a:pPr indent="0" marL="0">
              <a:buNone/>
            </a:pPr>
            <a:r>
              <a:rPr lang="en-US" sz="1100" i="1" dirty="0">
                <a:solidFill>
                  <a:srgbClr val="5A6472"/>
                </a:solidFill>
                <a:latin typeface="Calibri" pitchFamily="34" charset="0"/>
                <a:cs typeface="Amiri" pitchFamily="2" charset="-78"/>
              </a:rPr>
              <a:t>raff</a:t>
            </a:r>
            <a:endParaRPr lang="en-US" sz="1350" dirty="0"/>
          </a:p>
        </p:txBody>
      </p:sp>
      <p:sp>
        <p:nvSpPr>
          <p:cNvPr id="63" name="Shape 6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5" name="Text 6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رُفُوفٌ</a:t>
            </a:r>
            <a:endParaRPr lang="ar-SA" sz="1500" dirty="0"/>
          </a:p>
        </p:txBody>
      </p:sp>
      <p:sp>
        <p:nvSpPr>
          <p:cNvPr id="66" name="Shape 6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68" name="Text 65"/>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يُوجَدُ</a:t>
            </a:r>
            <a:endParaRPr lang="ar-SA" sz="1350" dirty="0"/>
          </a:p>
        </p:txBody>
      </p:sp>
      <p:sp>
        <p:nvSpPr>
          <p:cNvPr id="69" name="Shape 6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389120"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2" name="Shape 6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74" name="Text 7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a:t>
            </a:r>
            <a:endParaRPr lang="ar-SA" sz="3000" dirty="0"/>
          </a:p>
        </p:txBody>
      </p:sp>
      <p:sp>
        <p:nvSpPr>
          <p:cNvPr id="75" name="Text 7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desk / study</a:t>
            </a:r>
            <a:endParaRPr lang="en-US" sz="1350" dirty="0"/>
          </a:p>
          <a:p>
            <a:pPr indent="0" marL="0">
              <a:buNone/>
            </a:pPr>
            <a:r>
              <a:rPr lang="en-US" sz="1100" i="1" dirty="0">
                <a:solidFill>
                  <a:srgbClr val="5A6472"/>
                </a:solidFill>
                <a:latin typeface="Calibri" pitchFamily="34" charset="0"/>
                <a:cs typeface="Amiri" pitchFamily="2" charset="-78"/>
              </a:rPr>
              <a:t>mak-tab</a:t>
            </a:r>
            <a:endParaRPr lang="en-US" sz="1350" dirty="0"/>
          </a:p>
        </p:txBody>
      </p:sp>
      <p:sp>
        <p:nvSpPr>
          <p:cNvPr id="76" name="Shape 73"/>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8" name="Text 75"/>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مَكَاتِبُ</a:t>
            </a:r>
            <a:endParaRPr lang="ar-SA" sz="1500" dirty="0"/>
          </a:p>
        </p:txBody>
      </p:sp>
      <p:sp>
        <p:nvSpPr>
          <p:cNvPr id="79" name="Shape 76"/>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81" name="Text 78"/>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يُوجَدُ</a:t>
            </a:r>
            <a:endParaRPr lang="ar-SA" sz="1350" dirty="0"/>
          </a:p>
        </p:txBody>
      </p:sp>
      <p:sp>
        <p:nvSpPr>
          <p:cNvPr id="82" name="Shape 7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566928" y="4261104"/>
            <a:ext cx="310896" cy="310896"/>
          </a:xfrm>
          <a:prstGeom prst="ellipse">
            <a:avLst/>
          </a:prstGeom>
          <a:solidFill>
            <a:srgbClr val="F4F1EA"/>
          </a:solidFill>
          <a:ln w="12700">
            <a:solidFill>
              <a:srgbClr val="F4F1EA"/>
            </a:solidFill>
            <a:prstDash val="solid"/>
          </a:ln>
        </p:spPr>
      </p:sp>
      <p:sp>
        <p:nvSpPr>
          <p:cNvPr id="84" name="Text 8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5" name="Shape 82"/>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6" name="Text 83"/>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87" name="Shape 8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8" name="Text 8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9" name="Text 8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مِرْآةٌ</a:t>
            </a:r>
            <a:endParaRPr lang="ar-SA" sz="3000" dirty="0"/>
          </a:p>
        </p:txBody>
      </p:sp>
      <p:sp>
        <p:nvSpPr>
          <p:cNvPr id="90" name="Text 8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mirror</a:t>
            </a:r>
            <a:endParaRPr lang="en-US" sz="1350" dirty="0"/>
          </a:p>
          <a:p>
            <a:pPr indent="0" marL="0">
              <a:buNone/>
            </a:pPr>
            <a:r>
              <a:rPr lang="en-US" sz="1100" i="1" dirty="0">
                <a:solidFill>
                  <a:srgbClr val="5A6472"/>
                </a:solidFill>
                <a:latin typeface="Calibri" pitchFamily="34" charset="0"/>
                <a:cs typeface="Amiri" pitchFamily="2" charset="-78"/>
              </a:rPr>
              <a:t>mir-ʾā</a:t>
            </a:r>
            <a:endParaRPr lang="en-US" sz="1350" dirty="0"/>
          </a:p>
        </p:txBody>
      </p:sp>
      <p:sp>
        <p:nvSpPr>
          <p:cNvPr id="91" name="Shape 88"/>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3" name="Text 90"/>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مَرَايَا</a:t>
            </a:r>
            <a:endParaRPr lang="ar-SA" sz="1500" dirty="0"/>
          </a:p>
        </p:txBody>
      </p:sp>
      <p:sp>
        <p:nvSpPr>
          <p:cNvPr id="94" name="Shape 91"/>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96" name="Text 93"/>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تُوجَدُ</a:t>
            </a:r>
            <a:endParaRPr lang="ar-SA" sz="13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2 · APPLIANCES AND BATHROOM (WEBSITE)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Fridge, cooker, shower …</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الأَجْهِزَةُ المَنْزِلِيَّةُ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ثَلَّاجَةٌ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fridge</a:t>
            </a:r>
            <a:endParaRPr lang="en-US" sz="1350" dirty="0"/>
          </a:p>
          <a:p>
            <a:pPr indent="0" marL="0">
              <a:buNone/>
            </a:pPr>
            <a:r>
              <a:rPr lang="en-US" sz="1100" i="1" dirty="0">
                <a:solidFill>
                  <a:srgbClr val="5A6472"/>
                </a:solidFill>
                <a:latin typeface="Calibri" pitchFamily="34" charset="0"/>
                <a:cs typeface="Amiri" pitchFamily="2" charset="-78"/>
              </a:rPr>
              <a:t>thal-lā-ja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ثَلَّاجَاتٌ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تُوجَدُ</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مَوْقِدٌ</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cooker / stove</a:t>
            </a:r>
            <a:endParaRPr lang="en-US" sz="1350" dirty="0"/>
          </a:p>
          <a:p>
            <a:pPr indent="0" marL="0">
              <a:buNone/>
            </a:pPr>
            <a:r>
              <a:rPr lang="en-US" sz="1100" i="1" dirty="0">
                <a:solidFill>
                  <a:srgbClr val="5A6472"/>
                </a:solidFill>
                <a:latin typeface="Calibri" pitchFamily="34" charset="0"/>
                <a:cs typeface="Amiri" pitchFamily="2" charset="-78"/>
              </a:rPr>
              <a:t>maw-qid</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مَوَاقِدُ</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42" name="Text 39"/>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يُوجَدُ</a:t>
            </a:r>
            <a:endParaRPr lang="ar-SA" sz="135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6" name="Shape 4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8" name="Text 4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غَسَّالَةٌ</a:t>
            </a:r>
            <a:endParaRPr lang="ar-SA" sz="3000" dirty="0"/>
          </a:p>
        </p:txBody>
      </p:sp>
      <p:sp>
        <p:nvSpPr>
          <p:cNvPr id="49" name="Text 4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washing machine</a:t>
            </a:r>
            <a:endParaRPr lang="en-US" sz="1350" dirty="0"/>
          </a:p>
          <a:p>
            <a:pPr indent="0" marL="0">
              <a:buNone/>
            </a:pPr>
            <a:r>
              <a:rPr lang="en-US" sz="1100" i="1" dirty="0">
                <a:solidFill>
                  <a:srgbClr val="5A6472"/>
                </a:solidFill>
                <a:latin typeface="Calibri" pitchFamily="34" charset="0"/>
                <a:cs typeface="Amiri" pitchFamily="2" charset="-78"/>
              </a:rPr>
              <a:t>ghas-sā-la</a:t>
            </a:r>
            <a:endParaRPr lang="en-US" sz="1350" dirty="0"/>
          </a:p>
        </p:txBody>
      </p:sp>
      <p:sp>
        <p:nvSpPr>
          <p:cNvPr id="50" name="Shape 4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2" name="Text 4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غَسَّالَاتٌ</a:t>
            </a:r>
            <a:endParaRPr lang="ar-SA" sz="1500" dirty="0"/>
          </a:p>
        </p:txBody>
      </p:sp>
      <p:sp>
        <p:nvSpPr>
          <p:cNvPr id="53" name="Shape 5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55" name="Text 52"/>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تُوجَدُ</a:t>
            </a:r>
            <a:endParaRPr lang="ar-SA" sz="135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59" name="Shape 56"/>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1" name="Text 5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مِكْنَسَةٌ كَهْرَبَائِيَّةٌ</a:t>
            </a:r>
            <a:endParaRPr lang="ar-SA" sz="3000" dirty="0"/>
          </a:p>
        </p:txBody>
      </p:sp>
      <p:sp>
        <p:nvSpPr>
          <p:cNvPr id="62" name="Text 5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vacuum cleaner</a:t>
            </a:r>
            <a:endParaRPr lang="en-US" sz="1350" dirty="0"/>
          </a:p>
          <a:p>
            <a:pPr indent="0" marL="0">
              <a:buNone/>
            </a:pPr>
            <a:r>
              <a:rPr lang="en-US" sz="1100" i="1" dirty="0">
                <a:solidFill>
                  <a:srgbClr val="5A6472"/>
                </a:solidFill>
                <a:latin typeface="Calibri" pitchFamily="34" charset="0"/>
                <a:cs typeface="Amiri" pitchFamily="2" charset="-78"/>
              </a:rPr>
              <a:t>mik-na-sa kah-ra-bā-ʾiy-ya</a:t>
            </a:r>
            <a:endParaRPr lang="en-US"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8" name="Text 6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حَوْضٌ</a:t>
            </a:r>
            <a:endParaRPr lang="ar-SA" sz="3000" dirty="0"/>
          </a:p>
        </p:txBody>
      </p:sp>
      <p:sp>
        <p:nvSpPr>
          <p:cNvPr id="69" name="Text 6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sink / basin</a:t>
            </a:r>
            <a:endParaRPr lang="en-US" sz="1350" dirty="0"/>
          </a:p>
          <a:p>
            <a:pPr indent="0" marL="0">
              <a:buNone/>
            </a:pPr>
            <a:r>
              <a:rPr lang="en-US" sz="1100" i="1" dirty="0">
                <a:solidFill>
                  <a:srgbClr val="5A6472"/>
                </a:solidFill>
                <a:latin typeface="Calibri" pitchFamily="34" charset="0"/>
                <a:cs typeface="Amiri" pitchFamily="2" charset="-78"/>
              </a:rPr>
              <a:t>ḥawḍ</a:t>
            </a:r>
            <a:endParaRPr lang="en-US" sz="1350" dirty="0"/>
          </a:p>
        </p:txBody>
      </p:sp>
      <p:sp>
        <p:nvSpPr>
          <p:cNvPr id="70" name="Shape 67"/>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2" name="Text 69"/>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أَحْوَاضٌ</a:t>
            </a:r>
            <a:endParaRPr lang="ar-SA" sz="1500" dirty="0"/>
          </a:p>
        </p:txBody>
      </p:sp>
      <p:sp>
        <p:nvSpPr>
          <p:cNvPr id="73" name="Shape 70"/>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75" name="Text 72"/>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يُوجَدُ</a:t>
            </a:r>
            <a:endParaRPr lang="ar-SA" sz="1350" dirty="0"/>
          </a:p>
        </p:txBody>
      </p:sp>
      <p:sp>
        <p:nvSpPr>
          <p:cNvPr id="76" name="Shape 7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566928"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79" name="Shape 76"/>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0" name="Text 77"/>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81" name="Text 7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دُشٌّ</a:t>
            </a:r>
            <a:endParaRPr lang="ar-SA" sz="3000" dirty="0"/>
          </a:p>
        </p:txBody>
      </p:sp>
      <p:sp>
        <p:nvSpPr>
          <p:cNvPr id="82" name="Text 7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shower</a:t>
            </a:r>
            <a:endParaRPr lang="en-US" sz="1350" dirty="0"/>
          </a:p>
          <a:p>
            <a:pPr indent="0" marL="0">
              <a:buNone/>
            </a:pPr>
            <a:r>
              <a:rPr lang="en-US" sz="1100" i="1" dirty="0">
                <a:solidFill>
                  <a:srgbClr val="5A6472"/>
                </a:solidFill>
                <a:latin typeface="Calibri" pitchFamily="34" charset="0"/>
                <a:cs typeface="Amiri" pitchFamily="2" charset="-78"/>
              </a:rPr>
              <a:t>dushsh</a:t>
            </a:r>
            <a:endParaRPr lang="en-US" sz="1350" dirty="0"/>
          </a:p>
        </p:txBody>
      </p:sp>
      <p:sp>
        <p:nvSpPr>
          <p:cNvPr id="83" name="Shape 80"/>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5" name="Text 82"/>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دُشُوشٌ</a:t>
            </a:r>
            <a:endParaRPr lang="ar-SA" sz="1500" dirty="0"/>
          </a:p>
        </p:txBody>
      </p:sp>
      <p:sp>
        <p:nvSpPr>
          <p:cNvPr id="86" name="Shape 83"/>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88" name="Text 85"/>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يُوجَدُ</a:t>
            </a:r>
            <a:endParaRPr lang="ar-SA" sz="13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YŪJADU / TŪJADU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There is … (masculine or feminine item)</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يُوجَدُ · تُوجَدُ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8738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Place</a:t>
            </a:r>
            <a:endParaRPr lang="en-US" sz="1100" dirty="0"/>
          </a:p>
        </p:txBody>
      </p:sp>
      <p:sp>
        <p:nvSpPr>
          <p:cNvPr id="17" name="Text 14"/>
          <p:cNvSpPr txBox="1"/>
          <p:nvPr/>
        </p:nvSpPr>
        <p:spPr>
          <a:xfrm>
            <a:off x="5586984" y="1810512"/>
            <a:ext cx="3054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 item</a:t>
            </a:r>
            <a:endParaRPr lang="en-US" sz="1100" dirty="0"/>
          </a:p>
        </p:txBody>
      </p:sp>
      <p:sp>
        <p:nvSpPr>
          <p:cNvPr id="18" name="Text 15"/>
          <p:cNvSpPr txBox="1"/>
          <p:nvPr/>
        </p:nvSpPr>
        <p:spPr>
          <a:xfrm>
            <a:off x="2386584" y="1810512"/>
            <a:ext cx="3054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 item</a:t>
            </a:r>
            <a:endParaRPr lang="en-US" sz="1100" dirty="0"/>
          </a:p>
        </p:txBody>
      </p:sp>
      <p:sp>
        <p:nvSpPr>
          <p:cNvPr id="19" name="Text 16"/>
          <p:cNvSpPr txBox="1"/>
          <p:nvPr/>
        </p:nvSpPr>
        <p:spPr>
          <a:xfrm>
            <a:off x="530352" y="1810512"/>
            <a:ext cx="1709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805672" y="2267712"/>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غُرْفَةِ النَّوْمِ</a:t>
            </a:r>
            <a:endParaRPr lang="ar-SA" sz="2200" dirty="0"/>
          </a:p>
        </p:txBody>
      </p:sp>
      <p:sp>
        <p:nvSpPr>
          <p:cNvPr id="22" name="Text 19"/>
          <p:cNvSpPr txBox="1"/>
          <p:nvPr/>
        </p:nvSpPr>
        <p:spPr>
          <a:xfrm>
            <a:off x="5605272" y="2267712"/>
            <a:ext cx="30175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يُوجَدُ</a:t>
            </a:r>
            <a:pPr rtl="1" algn="ctr" indent="0" marL="0">
              <a:buNone/>
            </a:pPr>
            <a:r>
              <a:rPr lang="ar-SA" altLang="en-US" sz="2200" b="1" dirty="0">
                <a:solidFill>
                  <a:srgbClr val="1B3B6F"/>
                </a:solidFill>
                <a:latin typeface="Amiri" pitchFamily="2" charset="-78"/>
                <a:ea typeface="Amiri" pitchFamily="2" charset="-78"/>
                <a:cs typeface="Amiri" pitchFamily="2" charset="-78"/>
              </a:rPr>
              <a:t> سَرِيرٌ</a:t>
            </a:r>
            <a:endParaRPr lang="ar-SA" sz="2200" dirty="0"/>
          </a:p>
        </p:txBody>
      </p:sp>
      <p:sp>
        <p:nvSpPr>
          <p:cNvPr id="23" name="Text 20"/>
          <p:cNvSpPr txBox="1"/>
          <p:nvPr/>
        </p:nvSpPr>
        <p:spPr>
          <a:xfrm>
            <a:off x="2404872" y="2267712"/>
            <a:ext cx="3017520" cy="731520"/>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تُوجَدُ</a:t>
            </a:r>
            <a:pPr rtl="1" algn="ctr" indent="0" marL="0">
              <a:buNone/>
            </a:pPr>
            <a:r>
              <a:rPr lang="ar-SA" altLang="en-US" sz="2200" b="1" dirty="0">
                <a:solidFill>
                  <a:srgbClr val="1B3B6F"/>
                </a:solidFill>
                <a:latin typeface="Amiri" pitchFamily="2" charset="-78"/>
                <a:ea typeface="Amiri" pitchFamily="2" charset="-78"/>
                <a:cs typeface="Amiri" pitchFamily="2" charset="-78"/>
              </a:rPr>
              <a:t> خِزَانَةٌ</a:t>
            </a:r>
            <a:endParaRPr lang="ar-SA" sz="2200" dirty="0"/>
          </a:p>
        </p:txBody>
      </p:sp>
      <p:sp>
        <p:nvSpPr>
          <p:cNvPr id="24" name="Text 21"/>
          <p:cNvSpPr txBox="1"/>
          <p:nvPr/>
        </p:nvSpPr>
        <p:spPr>
          <a:xfrm>
            <a:off x="566928" y="2267712"/>
            <a:ext cx="1673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bed · wardrobe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805672" y="3054096"/>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غُرْفَةِ الجُلُوسِ</a:t>
            </a:r>
            <a:endParaRPr lang="ar-SA" sz="2200" dirty="0"/>
          </a:p>
        </p:txBody>
      </p:sp>
      <p:sp>
        <p:nvSpPr>
          <p:cNvPr id="29" name="Text 26"/>
          <p:cNvSpPr txBox="1"/>
          <p:nvPr/>
        </p:nvSpPr>
        <p:spPr>
          <a:xfrm>
            <a:off x="5605272" y="3054096"/>
            <a:ext cx="30175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يُوجَدُ</a:t>
            </a:r>
            <a:pPr rtl="1" algn="ctr" indent="0" marL="0">
              <a:buNone/>
            </a:pPr>
            <a:r>
              <a:rPr lang="ar-SA" altLang="en-US" sz="2200" b="1" dirty="0">
                <a:solidFill>
                  <a:srgbClr val="1B3B6F"/>
                </a:solidFill>
                <a:latin typeface="Amiri" pitchFamily="2" charset="-78"/>
                <a:ea typeface="Amiri" pitchFamily="2" charset="-78"/>
                <a:cs typeface="Amiri" pitchFamily="2" charset="-78"/>
              </a:rPr>
              <a:t> تِلْفَازٌ</a:t>
            </a:r>
            <a:endParaRPr lang="ar-SA" sz="2200" dirty="0"/>
          </a:p>
        </p:txBody>
      </p:sp>
      <p:sp>
        <p:nvSpPr>
          <p:cNvPr id="30" name="Text 27"/>
          <p:cNvSpPr txBox="1"/>
          <p:nvPr/>
        </p:nvSpPr>
        <p:spPr>
          <a:xfrm>
            <a:off x="2404872" y="3054096"/>
            <a:ext cx="3017520" cy="731520"/>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تُوجَدُ</a:t>
            </a:r>
            <a:pPr rtl="1" algn="ctr" indent="0" marL="0">
              <a:buNone/>
            </a:pPr>
            <a:r>
              <a:rPr lang="ar-SA" altLang="en-US" sz="2200" b="1" dirty="0">
                <a:solidFill>
                  <a:srgbClr val="1B3B6F"/>
                </a:solidFill>
                <a:latin typeface="Amiri" pitchFamily="2" charset="-78"/>
                <a:ea typeface="Amiri" pitchFamily="2" charset="-78"/>
                <a:cs typeface="Amiri" pitchFamily="2" charset="-78"/>
              </a:rPr>
              <a:t> أَرِيكَةٌ</a:t>
            </a:r>
            <a:endParaRPr lang="ar-SA" sz="2200" dirty="0"/>
          </a:p>
        </p:txBody>
      </p:sp>
      <p:sp>
        <p:nvSpPr>
          <p:cNvPr id="31" name="Text 28"/>
          <p:cNvSpPr txBox="1"/>
          <p:nvPr/>
        </p:nvSpPr>
        <p:spPr>
          <a:xfrm>
            <a:off x="566928" y="3054096"/>
            <a:ext cx="1673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TV · sofa</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805672" y="3840480"/>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الحَمَّامِ</a:t>
            </a:r>
            <a:endParaRPr lang="ar-SA" sz="2200" dirty="0"/>
          </a:p>
        </p:txBody>
      </p:sp>
      <p:sp>
        <p:nvSpPr>
          <p:cNvPr id="36" name="Text 33"/>
          <p:cNvSpPr txBox="1"/>
          <p:nvPr/>
        </p:nvSpPr>
        <p:spPr>
          <a:xfrm>
            <a:off x="5605272" y="3840480"/>
            <a:ext cx="30175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يُوجَدُ</a:t>
            </a:r>
            <a:pPr rtl="1" algn="ctr" indent="0" marL="0">
              <a:buNone/>
            </a:pPr>
            <a:r>
              <a:rPr lang="ar-SA" altLang="en-US" sz="2200" b="1" dirty="0">
                <a:solidFill>
                  <a:srgbClr val="1B3B6F"/>
                </a:solidFill>
                <a:latin typeface="Amiri" pitchFamily="2" charset="-78"/>
                <a:ea typeface="Amiri" pitchFamily="2" charset="-78"/>
                <a:cs typeface="Amiri" pitchFamily="2" charset="-78"/>
              </a:rPr>
              <a:t> حَوْضٌ</a:t>
            </a:r>
            <a:endParaRPr lang="ar-SA" sz="2200" dirty="0"/>
          </a:p>
        </p:txBody>
      </p:sp>
      <p:sp>
        <p:nvSpPr>
          <p:cNvPr id="37" name="Text 34"/>
          <p:cNvSpPr txBox="1"/>
          <p:nvPr/>
        </p:nvSpPr>
        <p:spPr>
          <a:xfrm>
            <a:off x="2404872" y="3840480"/>
            <a:ext cx="3017520" cy="731520"/>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تُوجَدُ</a:t>
            </a:r>
            <a:pPr rtl="1" algn="ctr" indent="0" marL="0">
              <a:buNone/>
            </a:pPr>
            <a:r>
              <a:rPr lang="ar-SA" altLang="en-US" sz="2200" b="1" dirty="0">
                <a:solidFill>
                  <a:srgbClr val="1B3B6F"/>
                </a:solidFill>
                <a:latin typeface="Amiri" pitchFamily="2" charset="-78"/>
                <a:ea typeface="Amiri" pitchFamily="2" charset="-78"/>
                <a:cs typeface="Amiri" pitchFamily="2" charset="-78"/>
              </a:rPr>
              <a:t> مِرْآةٌ</a:t>
            </a:r>
            <a:endParaRPr lang="ar-SA" sz="2200" dirty="0"/>
          </a:p>
        </p:txBody>
      </p:sp>
      <p:sp>
        <p:nvSpPr>
          <p:cNvPr id="38" name="Text 35"/>
          <p:cNvSpPr txBox="1"/>
          <p:nvPr/>
        </p:nvSpPr>
        <p:spPr>
          <a:xfrm>
            <a:off x="566928" y="3840480"/>
            <a:ext cx="1673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sink · mirror</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805672" y="4626864"/>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غُرْفَتِي</a:t>
            </a:r>
            <a:endParaRPr lang="ar-SA" sz="2200" dirty="0"/>
          </a:p>
        </p:txBody>
      </p:sp>
      <p:sp>
        <p:nvSpPr>
          <p:cNvPr id="41" name="Text 38"/>
          <p:cNvSpPr txBox="1"/>
          <p:nvPr/>
        </p:nvSpPr>
        <p:spPr>
          <a:xfrm>
            <a:off x="5605272" y="4626864"/>
            <a:ext cx="30175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سَرِيرٌ</a:t>
            </a:r>
            <a:endParaRPr lang="ar-SA" sz="2200" dirty="0"/>
          </a:p>
        </p:txBody>
      </p:sp>
      <p:sp>
        <p:nvSpPr>
          <p:cNvPr id="42" name="Text 39"/>
          <p:cNvSpPr txBox="1"/>
          <p:nvPr/>
        </p:nvSpPr>
        <p:spPr>
          <a:xfrm>
            <a:off x="2404872" y="4626864"/>
            <a:ext cx="30175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وَخِزَانَةٌ</a:t>
            </a:r>
            <a:endParaRPr lang="ar-SA" sz="2200" dirty="0"/>
          </a:p>
        </p:txBody>
      </p:sp>
      <p:sp>
        <p:nvSpPr>
          <p:cNvPr id="43" name="Text 40"/>
          <p:cNvSpPr txBox="1"/>
          <p:nvPr/>
        </p:nvSpPr>
        <p:spPr>
          <a:xfrm>
            <a:off x="566928" y="4626864"/>
            <a:ext cx="1673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verb — also correct</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agrees with the item after it. The room is only the place.</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PLURALS AND DESCRIBING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many, and what they are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المُفْرَدُ وَالجَمْعُ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PLURAL · CORE</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كَرَاسِي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هُنَاكَ طَاوِلَةٌ وَأَرْبَعَةُ كَرَاسِي.</a:t>
            </a:r>
            <a:endParaRPr lang="ar-SA" sz="27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There is a table and four chairs.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Learn the plural with the word.</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75438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26" name="Text 23"/>
          <p:cNvSpPr txBox="1"/>
          <p:nvPr/>
        </p:nvSpPr>
        <p:spPr>
          <a:xfrm>
            <a:off x="5213604" y="1874520"/>
            <a:ext cx="256184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things → f.</a:t>
            </a:r>
            <a:endParaRPr lang="en-US"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تُوجَدُ كَرَاسِي كَثِيرَةٌ.</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There are many chairs.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tūjadu + kathīra (not kathīrūn).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75438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34" name="Text 31"/>
          <p:cNvSpPr txBox="1"/>
          <p:nvPr/>
        </p:nvSpPr>
        <p:spPr>
          <a:xfrm>
            <a:off x="1394460" y="1874520"/>
            <a:ext cx="256184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describe</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تُوجَدُ خِزَانَةٌ بَيْضَاءُ بِجَانِبِ النَّافِذَةِ.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There is a white wardrobe beside the window.</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Colour + position.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Furniture Mission: a lamp is masculine.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يُوجَدُ مِصْبَاحٌ.</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تُوجَدُ مِصْبَاحٌ.</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فِي الغُرْفَةِ ___ سَرِيرٌ.</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نُوجَدُ</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فِي الغُرْفَةِ ___ خِزَانَةٌ.</a:t>
            </a:r>
            <a:endParaRPr lang="ar-SA" sz="22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أُوجَدُ</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also correct without a verb?</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غُرْفَتِي يُوجَدَ.</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غُرْفَتِي سَرِيرٌ.</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غُرْفَتِي فِي سَرِيرٌ.</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plural of this</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كُرْسِيٌّ.</a:t>
            </a:r>
            <a:endParaRPr lang="ar-SA" sz="22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كَرَاسِي</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كُرْسِيَّاتٌ</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أَكْرُسٌ</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فِي الغُرْفَةِ ___ سَرِيرٌ.</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تُوجَدُ</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نُوجَدُ</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يُوجَدُ</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سَرِيرٌ</a:t>
            </a:r>
            <a:pPr algn="l" indent="0" marL="0">
              <a:buNone/>
            </a:pPr>
            <a:r>
              <a:rPr lang="en-US" sz="1050" i="1" dirty="0">
                <a:solidFill>
                  <a:srgbClr val="8A6D1E"/>
                </a:solidFill>
                <a:latin typeface="Calibri" pitchFamily="34" charset="0"/>
                <a:cs typeface="Amiri" pitchFamily="2" charset="-78"/>
              </a:rPr>
              <a:t> is masculine, so use </a:t>
            </a:r>
            <a:pPr algn="l" indent="0" marL="0">
              <a:buNone/>
            </a:pPr>
            <a:r>
              <a:rPr lang="ar-SA" altLang="en-US" sz="1350" dirty="0">
                <a:solidFill>
                  <a:srgbClr val="8A6D1E"/>
                </a:solidFill>
                <a:latin typeface="Amiri" pitchFamily="2" charset="-78"/>
                <a:ea typeface="Amiri" pitchFamily="2" charset="-78"/>
                <a:cs typeface="Amiri" pitchFamily="2" charset="-78"/>
              </a:rPr>
              <a:t>يُوجَدُ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فِي الغُرْفَةِ ___ خِزَانَةٌ.</a:t>
            </a:r>
            <a:endParaRPr lang="ar-SA" sz="22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تُوجَدُ</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يُوجَدُ</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أُوجَدُ</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خِزَانَةٌ</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ea typeface="Amiri" pitchFamily="2" charset="-78"/>
                <a:cs typeface="Amiri" pitchFamily="2" charset="-78"/>
              </a:rPr>
              <a:t>تُوجَدُ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also correct without a verb?</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غُرْفَتِي يُوجَدَ.</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غُرْفَتِي سَرِيرٌ.</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غُرْفَتِي فِي سَرِيرٌ.</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simple Arabic location sentence may omit “there is”.</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plural of this</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كُرْسِيٌّ.</a:t>
            </a:r>
            <a:endParaRPr lang="ar-SA" sz="220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كَرَاسِي</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كُرْسِيَّاتٌ</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أَكْرُسٌ</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common plural is </a:t>
            </a:r>
            <a:pPr algn="l" indent="0" marL="0">
              <a:buNone/>
            </a:pPr>
            <a:r>
              <a:rPr lang="ar-SA" altLang="en-US" sz="1350" dirty="0">
                <a:solidFill>
                  <a:srgbClr val="8A6D1E"/>
                </a:solidFill>
                <a:latin typeface="Amiri" pitchFamily="2" charset="-78"/>
                <a:ea typeface="Amiri" pitchFamily="2" charset="-78"/>
                <a:cs typeface="Amiri" pitchFamily="2" charset="-78"/>
              </a:rPr>
              <a:t>كَرَاسِي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furnish a bedroom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 room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غُرْفَةُ النَّوْمِ وَاسِعَةٌ وَمُرِيحَةٌ.</a:t>
            </a:r>
            <a:endParaRPr lang="ar-SA" sz="20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Room (f.) → -a adjectives.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Masculine items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فِيهَا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يُوجَدُ</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سَرِيرٌ كَبِيرٌ وَمَكْتَبٌ صَغِيرٌ.</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Bed, desk → yūjadu.</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Feminine items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تُوجَدُ</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خِزَانَةٌ بِجَانِبِ النَّافِذَةِ، وَ</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تُوجَدُ</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سَجَّادَةٌ عَلَى الأَرْضِيَّةِ.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Wardrobe, rug → tūjadu.</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Opinion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أُحِبُّ هَذِهِ الغُرْفَةَ لِأَنَّهَا هَادِئَةٌ.</a:t>
            </a:r>
            <a:endParaRPr lang="ar-SA" sz="1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Because it (f.) is quiet.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MASCULINE ITEM</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 ITEM</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غُرْفَةُ النَّوْمِ وَاسِعَةٌ وَمُرِيحَةٌ. فِيهَا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يُوجَدُ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سَرِيرٌ كَبِيرٌ وَمَكْتَبٌ صَغِيرٌ.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تُوجَدُ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خِزَانَةٌ بِجَانِبِ النَّافِذَةِ، وَ</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تُوجَدُ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سَجَّادَةٌ عَلَى الأَرْضِيَّةِ. عَلَى المَكْتَبِ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يُوجَدُ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مِصْبَاحٌ وَحَاسُوبٌ. أُحِبُّ هَذِهِ الغُرْفَةَ لِأَنَّهَا هَادِئَةٌ.</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bedroom is spacious and comfortable. In it there is a big bed and a small desk. There is a wardrobe beside the window, and there is a rug on the floor. On the desk there is a lamp and a computer. I love this room because it is quiet.</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33" b="1" spc="150" kern="0" dirty="0">
                <a:solidFill>
                  <a:srgbClr val="2F6FB0"/>
                </a:solidFill>
                <a:latin typeface="Calibri" pitchFamily="34" charset="0"/>
                <a:cs typeface="Amiri" pitchFamily="2" charset="-78"/>
              </a:rPr>
              <a:t>WE DO · PICTURE MATCH · WEBSITE GAME “VISUAL GAME — FURNITURE AND HOUSEHOLD ITEMS”</a:t>
            </a:r>
            <a:endParaRPr lang="en-US" sz="83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is it?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اِبْحَثْ عَنِ الأَثَاثِ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bed</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sofa</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17348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356360" y="2249424"/>
            <a:ext cx="649224" cy="649224"/>
          </a:xfrm>
          <a:prstGeom prst="rect">
            <a:avLst/>
          </a:prstGeom>
        </p:spPr>
      </p:pic>
      <p:sp>
        <p:nvSpPr>
          <p:cNvPr id="32" name="Shape 26"/>
          <p:cNvSpPr/>
          <p:nvPr/>
        </p:nvSpPr>
        <p:spPr>
          <a:xfrm>
            <a:off x="236220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2545080" y="2249424"/>
            <a:ext cx="649224" cy="649224"/>
          </a:xfrm>
          <a:prstGeom prst="rect">
            <a:avLst/>
          </a:prstGeom>
        </p:spPr>
      </p:pic>
      <p:sp>
        <p:nvSpPr>
          <p:cNvPr id="34" name="Text 2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fridge</a:t>
            </a:r>
            <a:endParaRPr lang="en-US" sz="1100" dirty="0"/>
          </a:p>
        </p:txBody>
      </p:sp>
      <p:sp>
        <p:nvSpPr>
          <p:cNvPr id="35" name="Shape 28"/>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6" name="Shape 29"/>
          <p:cNvSpPr/>
          <p:nvPr/>
        </p:nvSpPr>
        <p:spPr>
          <a:xfrm>
            <a:off x="11247120" y="3831336"/>
            <a:ext cx="292608" cy="292608"/>
          </a:xfrm>
          <a:prstGeom prst="ellipse">
            <a:avLst/>
          </a:prstGeom>
          <a:solidFill>
            <a:srgbClr val="2F6FB0"/>
          </a:solidFill>
          <a:ln w="12700">
            <a:solidFill>
              <a:srgbClr val="2F6FB0"/>
            </a:solidFill>
            <a:prstDash val="solid"/>
          </a:ln>
        </p:spPr>
      </p:sp>
      <p:sp>
        <p:nvSpPr>
          <p:cNvPr id="37" name="Text 30"/>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8" name="Text 31"/>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الأَرِيكَةُ فِي غُرْفَةِ الجُلُوسِ.</a:t>
            </a:r>
            <a:endParaRPr lang="ar-SA" sz="2000" dirty="0"/>
          </a:p>
        </p:txBody>
      </p:sp>
      <p:sp>
        <p:nvSpPr>
          <p:cNvPr id="39" name="Shape 32"/>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0" name="Shape 33"/>
          <p:cNvSpPr/>
          <p:nvPr/>
        </p:nvSpPr>
        <p:spPr>
          <a:xfrm>
            <a:off x="11247120" y="4398264"/>
            <a:ext cx="292608" cy="292608"/>
          </a:xfrm>
          <a:prstGeom prst="ellipse">
            <a:avLst/>
          </a:prstGeom>
          <a:solidFill>
            <a:srgbClr val="2F6FB0"/>
          </a:solidFill>
          <a:ln w="12700">
            <a:solidFill>
              <a:srgbClr val="2F6FB0"/>
            </a:solidFill>
            <a:prstDash val="solid"/>
          </a:ln>
        </p:spPr>
      </p:sp>
      <p:sp>
        <p:nvSpPr>
          <p:cNvPr id="41" name="Text 34"/>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2" name="Text 35"/>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ثَلَّاجَةٌ.</a:t>
            </a:r>
            <a:endParaRPr lang="ar-SA" sz="2000" dirty="0"/>
          </a:p>
        </p:txBody>
      </p:sp>
      <p:sp>
        <p:nvSpPr>
          <p:cNvPr id="43" name="Shape 36"/>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4" name="Shape 37"/>
          <p:cNvSpPr/>
          <p:nvPr/>
        </p:nvSpPr>
        <p:spPr>
          <a:xfrm>
            <a:off x="11247120" y="4965192"/>
            <a:ext cx="292608" cy="292608"/>
          </a:xfrm>
          <a:prstGeom prst="ellipse">
            <a:avLst/>
          </a:prstGeom>
          <a:solidFill>
            <a:srgbClr val="2F6FB0"/>
          </a:solidFill>
          <a:ln w="12700">
            <a:solidFill>
              <a:srgbClr val="2F6FB0"/>
            </a:solidFill>
            <a:prstDash val="solid"/>
          </a:ln>
        </p:spPr>
      </p:sp>
      <p:sp>
        <p:nvSpPr>
          <p:cNvPr id="45" name="Text 38"/>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6" name="Text 39"/>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السَّرِيرُ فِي غُرْفَةِ النَّوْمِ.</a:t>
            </a:r>
            <a:endParaRPr lang="ar-SA" sz="2000" dirty="0"/>
          </a:p>
        </p:txBody>
      </p:sp>
      <p:sp>
        <p:nvSpPr>
          <p:cNvPr id="47" name="Text 40"/>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8" name="Text 41"/>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9"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اِبْحَثْ عَنِ الأَثَاثِ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bed</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السَّرِيرُ فِي غُرْفَةِ النَّوْمِ.</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bed is in the bedroom.</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sofa</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الأَرِيكَةُ فِي غُرْفَةِ الجُلُوسِ.</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sofa is in the living room.</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17348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356360" y="2249424"/>
            <a:ext cx="649224" cy="649224"/>
          </a:xfrm>
          <a:prstGeom prst="rect">
            <a:avLst/>
          </a:prstGeom>
        </p:spPr>
      </p:pic>
      <p:sp>
        <p:nvSpPr>
          <p:cNvPr id="42" name="Shape 36"/>
          <p:cNvSpPr/>
          <p:nvPr/>
        </p:nvSpPr>
        <p:spPr>
          <a:xfrm>
            <a:off x="236220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2545080" y="2249424"/>
            <a:ext cx="649224" cy="649224"/>
          </a:xfrm>
          <a:prstGeom prst="rect">
            <a:avLst/>
          </a:prstGeom>
        </p:spPr>
      </p:pic>
      <p:sp>
        <p:nvSpPr>
          <p:cNvPr id="44" name="Text 3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fridge</a:t>
            </a:r>
            <a:endParaRPr lang="en-US" sz="1100" dirty="0"/>
          </a:p>
        </p:txBody>
      </p:sp>
      <p:sp>
        <p:nvSpPr>
          <p:cNvPr id="45" name="Shape 38"/>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6" name="Shape 39"/>
          <p:cNvSpPr/>
          <p:nvPr/>
        </p:nvSpPr>
        <p:spPr>
          <a:xfrm>
            <a:off x="3617976" y="3785616"/>
            <a:ext cx="329184" cy="329184"/>
          </a:xfrm>
          <a:prstGeom prst="ellipse">
            <a:avLst/>
          </a:prstGeom>
          <a:solidFill>
            <a:srgbClr val="2E8B57"/>
          </a:solidFill>
          <a:ln w="12700">
            <a:solidFill>
              <a:srgbClr val="2E8B57"/>
            </a:solidFill>
            <a:prstDash val="solid"/>
          </a:ln>
        </p:spPr>
      </p:sp>
      <p:sp>
        <p:nvSpPr>
          <p:cNvPr id="47" name="Text 40"/>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48" name="Text 41"/>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ثَلَّاجَةٌ.</a:t>
            </a:r>
            <a:endParaRPr lang="ar-SA" sz="2200" dirty="0"/>
          </a:p>
        </p:txBody>
      </p:sp>
      <p:sp>
        <p:nvSpPr>
          <p:cNvPr id="49" name="Text 42"/>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fridge.</a:t>
            </a:r>
            <a:endParaRPr lang="en-US" sz="1200" dirty="0"/>
          </a:p>
        </p:txBody>
      </p:sp>
      <p:sp>
        <p:nvSpPr>
          <p:cNvPr id="50"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“FURNITURE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Furnish the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تَأْثِيثِ البَيْتِ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Where does this normally belong?</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أَرِيكَةٌ</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الحَمَّامُ</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المَطْبَخُ</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غُرْفَةُ الجُلُوسِ</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___ تِلْفَازٌ.</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___ سَجَّادَةٌ.</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plural of this</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كُرْسِيٌّ.</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كُرْسِيَّاتٌ</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كَرَاسِي</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أَكْرُسٌ</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يُوجَدُ خِزَانَةٌ.</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 خِزَانَةٌ.</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 خِزَانَةٌ.</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 خِزَانٌ.</a:t>
            </a:r>
            <a:endParaRPr lang="ar-SA" sz="2050" dirty="0"/>
          </a:p>
        </p:txBody>
      </p:sp>
      <p:sp>
        <p:nvSpPr>
          <p:cNvPr id="85" name="Shape 8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8" name="Text 8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Masculine item → yūjadu</a:t>
            </a:r>
            <a:endParaRPr lang="en-US" sz="1250" dirty="0"/>
          </a:p>
          <a:p>
            <a:pPr algn="l" indent="0" marL="0">
              <a:buNone/>
            </a:pPr>
            <a:r>
              <a:rPr lang="en-US" sz="1250" dirty="0">
                <a:solidFill>
                  <a:srgbClr val="1E6B52"/>
                </a:solidFill>
                <a:latin typeface="Calibri" pitchFamily="34" charset="0"/>
                <a:cs typeface="Amiri" pitchFamily="2" charset="-78"/>
              </a:rPr>
              <a:t>Feminine item → tūjadu</a:t>
            </a:r>
            <a:endParaRPr lang="en-US" sz="1250" dirty="0"/>
          </a:p>
          <a:p>
            <a:pPr algn="l" indent="0" marL="0">
              <a:buNone/>
            </a:pPr>
            <a:r>
              <a:rPr lang="en-US" sz="1250" dirty="0">
                <a:solidFill>
                  <a:srgbClr val="1E6B52"/>
                </a:solidFill>
                <a:latin typeface="Calibri" pitchFamily="34" charset="0"/>
                <a:cs typeface="Amiri" pitchFamily="2" charset="-78"/>
              </a:rPr>
              <a:t>Learn the plural too</a:t>
            </a:r>
            <a:endParaRPr lang="en-US" sz="12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Where does this normally belong?</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أَرِيكَةٌ</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الحَمَّامُ</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المَطْبَخُ</a:t>
            </a:r>
            <a:endParaRPr lang="ar-SA" sz="170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غُرْفَةُ الجُلُوسِ</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sofa normally belongs in the living room.</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___ تِلْفَازٌ.</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تُوجَدُ</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تُوجَدَ</a:t>
            </a:r>
            <a:endParaRPr lang="ar-SA" sz="170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يُوجَدُ</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تِلْفَازٌ</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___ سَجَّادَةٌ.</a:t>
            </a:r>
            <a:endParaRPr lang="ar-SA" sz="220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تُوجَدُ</a:t>
            </a:r>
            <a:endParaRPr lang="ar-SA" sz="170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يُوجَدُ</a:t>
            </a:r>
            <a:endParaRPr lang="ar-SA" sz="170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يُوجَدَ</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سَجَّادَةٌ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plural of this</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كُرْسِيٌّ.</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كُرْسِيَّاتٌ</a:t>
            </a:r>
            <a:endParaRPr lang="ar-SA" sz="1700" dirty="0"/>
          </a:p>
        </p:txBody>
      </p:sp>
      <p:sp>
        <p:nvSpPr>
          <p:cNvPr id="71" name="Shape 6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202936"/>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كَرَاسِي</a:t>
            </a:r>
            <a:endParaRPr lang="ar-SA" sz="170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أَكْرُسٌ</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كَرَاسِي</a:t>
            </a:r>
            <a:pPr algn="l" indent="0" marL="0">
              <a:buNone/>
            </a:pPr>
            <a:r>
              <a:rPr lang="en-US" sz="1050" i="1" dirty="0">
                <a:solidFill>
                  <a:srgbClr val="8A6D1E"/>
                </a:solidFill>
                <a:latin typeface="Calibri" pitchFamily="34" charset="0"/>
                <a:cs typeface="Amiri" pitchFamily="2" charset="-78"/>
              </a:rPr>
              <a:t> is the common plural.</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يُوجَدُ خِزَانَةٌ.</a:t>
            </a:r>
            <a:endParaRPr lang="ar-SA" sz="2200" dirty="0"/>
          </a:p>
        </p:txBody>
      </p:sp>
      <p:sp>
        <p:nvSpPr>
          <p:cNvPr id="84" name="Shape 81"/>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4831080"/>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7" name="Text 84"/>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تُوجَدُ خِزَانَةٌ.</a:t>
            </a:r>
            <a:endParaRPr lang="ar-SA" sz="1700" dirty="0"/>
          </a:p>
        </p:txBody>
      </p:sp>
      <p:sp>
        <p:nvSpPr>
          <p:cNvPr id="88" name="Shape 85"/>
          <p:cNvSpPr/>
          <p:nvPr/>
        </p:nvSpPr>
        <p:spPr>
          <a:xfrm>
            <a:off x="4459224" y="5202936"/>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0" name="Text 87"/>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يُوجَدُ خِزَانَةٌ.</a:t>
            </a:r>
            <a:endParaRPr lang="ar-SA" sz="1700" dirty="0"/>
          </a:p>
        </p:txBody>
      </p:sp>
      <p:sp>
        <p:nvSpPr>
          <p:cNvPr id="91"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تُوجَدُ خِزَانٌ.</a:t>
            </a:r>
            <a:endParaRPr lang="ar-SA" sz="170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خِزَانَةٌ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95" name="Shape 9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7" name="Text 9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8" name="Text 9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Masculine item → yūjadu</a:t>
            </a:r>
            <a:endParaRPr lang="en-US" sz="1250" dirty="0"/>
          </a:p>
          <a:p>
            <a:pPr algn="l" indent="0" marL="0">
              <a:buNone/>
            </a:pPr>
            <a:r>
              <a:rPr lang="en-US" sz="1250" dirty="0">
                <a:solidFill>
                  <a:srgbClr val="1E6B52"/>
                </a:solidFill>
                <a:latin typeface="Calibri" pitchFamily="34" charset="0"/>
                <a:cs typeface="Amiri" pitchFamily="2" charset="-78"/>
              </a:rPr>
              <a:t>Feminine item → tūjadu</a:t>
            </a:r>
            <a:endParaRPr lang="en-US" sz="1250" dirty="0"/>
          </a:p>
          <a:p>
            <a:pPr algn="l" indent="0" marL="0">
              <a:buNone/>
            </a:pPr>
            <a:r>
              <a:rPr lang="en-US" sz="1250" dirty="0">
                <a:solidFill>
                  <a:srgbClr val="1E6B52"/>
                </a:solidFill>
                <a:latin typeface="Calibri" pitchFamily="34" charset="0"/>
                <a:cs typeface="Amiri" pitchFamily="2" charset="-78"/>
              </a:rPr>
              <a:t>Learn the plural too</a:t>
            </a:r>
            <a:endParaRPr lang="en-US" sz="12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الغُرْفَةِ يُوجَدُ خِزَانَةٌ.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Wardrobe: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تُوجَدُ مِصْبَاحٌ.</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Lamp: masculine or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تُوجَدُ كَرَاسِي كَثِيرُونَ.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Chairs are things, not people.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فِي الغُرْفَةِ يُوجَدُ خِزَانَةٌ.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الغُرْفَةِ تُوجَدُ خِزَانَةٌ.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Look at the ITEM, not the room: a wardrobe is feminine.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تُوجَدُ مِصْبَاحٌ.</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يُوجَدُ مِصْبَاحٌ.</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lamp is masculine → yūjadu (website Furniture Mission).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تُوجَدُ كَرَاسِي كَثِيرُونَ.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تُوجَدُ كَرَاسِي كَثِيرَةٌ.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plural of things takes a feminine singular adjective.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Mariam describes three rooms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bed?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items are on the desk?</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mirror and clock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television and shelf</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computer and lamp</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chairs are in the kitchen?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sofa?</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room is Mariam’s favourite?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kitchen</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living room</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bedroom</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Three columns: bedroom · kitchen · living room.</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أَهْلًا! أَنَا مَرْيَمُ، وَسَأَصِفُ ثَلَاثَ غُرَفٍ فِي بَيْتِنَا.</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Hello! I am Mariam, and I will describe three rooms in our house.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فِي غُرْفَةِ نَوْمِي يُوجَدُ سَرِيرٌ أَبْيَضُ وَمَكْتَبٌ بُنِّيٌّ، وَتُوجَدُ خِزَانَةٌ كَبِيرَةٌ وَمِرْآةٌ صَغِيرَةٌ.</a:t>
            </a:r>
            <a:endParaRPr lang="ar-SA" sz="19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my bedroom there is a white bed and a brown desk, and a big wardrobe and a small mirror.</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عَلَى المَكْتَبِ يُوجَدُ حَاسُوبٌ وَمِصْبَاحٌ.</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desk there is a computer and a lamp.</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فِي المَطْبَخِ تُوجَدُ ثَلَّاجَةٌ بَيْضَاءُ وَغَسَّالَةٌ، وَيُوجَدُ مَوْقِدٌ وَحَوْضٌ. هُنَاكَ أَيْضًا طَاوِلَةٌ وَأَرْبَعَةُ كَرَاسِي.</a:t>
            </a:r>
            <a:endParaRPr lang="ar-SA" sz="16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kitchen there is a white fridge and a washing machine, a cooker and a sink. There is also a table and four chairs.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أَمَّا غُرْفَةُ الجُلُوسِ فَفِيهَا أَرِيكَةٌ زَرْقَاءُ وَتِلْفَازٌ كَبِيرٌ وَسَجَّادَةٌ جَمِيلَةٌ. أُحِبُّ غُرْفَةَ الجُلُوسِ لِأَنَّهَا وَاسِعَةٌ وَمُرِيحَةٌ.</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the living room, it has a blue sofa, a big TV and a beautiful rug. I love the living room because it is spacious and comfortable.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bed?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white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brown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blue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سَرِيرٌ أَبْيَضُ.</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items are on the desk?</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mirror and clock</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television and shelf</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computer and lamp</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عَلَى المَكْتَبِ يُوجَدُ حَاسُوبٌ وَمِصْبَاحٌ.</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chairs are in the kitchen?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six</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أَرْبَعَةُ كَرَاسِي.</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sofa?</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blue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white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brown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أَرِيكَةٌ زَرْقَاءُ.</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room is Mariam’s favourite?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kitchen</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living room</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bedroom</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أُحِبُّ غُرْفَةَ الجُلُوسِ</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Three columns: bedroom · kitchen · living room.</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TEXT 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Samir’s bedroom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غُرْفَةُ نَوْمِ سَامِرٍ صَغِيرَةٌ وَلَكِنَّهَا مُرَتَّبَةٌ.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Description: small but tidy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فِيهَا سَرِيرٌ وَخِزَانَةٌ وَمَكْتَبٌ.</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Main items: bed · wardrobe · desk</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عَلَى المَكْتَبِ يُوجَدُ حَاسُوبٌ وَمِصْبَاحٌ، وَفَوْقَ المَكْتَبِ تُوجَدُ رُفُوفٌ لِلْكُتُبِ.</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desk: computer, lamp · above it: shelves for books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يُوجَدُ تِلْفَازٌ فِي الغُرْفَةِ.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in the room: a television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يُحِبُّ سَامِرٌ غُرْفَتَهُ لِأَنَّهَا هَادِئَةٌ.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Opinion: he likes it — it is quiet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TEXT B (WEBSITE)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Layla’s kitchen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 (ب)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مَطْبَخُ لَيْلَى وَاسِعٌ وَحَدِيثٌ.</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Description: spacious and modern</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فِيهِ ثَلَّاجَةٌ كَبِيرَةٌ وَفُرْنٌ وَمَوْقِدٌ وَغَسَّالَةُ صُحُونٍ.</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Appliances: fridge · oven · cooker · dishwasher</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تُوجَدُ خَزَائِنُ بَيْضَاءُ كَثِيرَةٌ،</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Many white cupboards (plural of things)</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وَفِي الوَسَطِ تُوجَدُ طَاوِلَةٌ مَعَ سِتَّةِ كَرَاسِي.</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middle: a table with six chairs</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تُحِبُّ لَيْلَى المَطْبَخَ لِأَنَّهُ مُضِيءٌ وَنَظِيفٌ.</a:t>
            </a:r>
            <a:endParaRPr lang="ar-SA" sz="20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Opinion: bright and clean (kitchen m. → li’annahu)</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Samir or Layla?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three main items are in Samir’s room?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sofa, television and rug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bed, wardrobe and desk</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fridge, cooker and sink</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the shelves?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under the bed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beside the wardrobe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above the desk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in Samir’s room?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television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lamp</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computer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are the cupboards?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chairs are around the table?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eight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Object? Negative? Number? Place?</a:t>
            </a:r>
            <a:endParaRPr lang="en-US" sz="1250" dirty="0"/>
          </a:p>
          <a:p>
            <a:pPr algn="l" indent="0" marL="0">
              <a:buNone/>
            </a:pPr>
            <a:r>
              <a:rPr lang="en-US" sz="1250" dirty="0">
                <a:solidFill>
                  <a:srgbClr val="1F2A37"/>
                </a:solidFill>
                <a:latin typeface="Calibri" pitchFamily="34" charset="0"/>
                <a:cs typeface="Amiri" pitchFamily="2" charset="-78"/>
              </a:rPr>
              <a:t>Find the exact Arabic words.</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three main items are in Samir’s room?</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sofa, television and rug</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bed, wardrobe and desk</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fridge, cooker and sink</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فِيهَا سَرِيرٌ وَخِزَانَةٌ وَمَكْتَبٌ.</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the shelves?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under the bed</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beside the wardrobe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above the desk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فَوْقَ المَكْتَبِ تُوجَدُ رُفُوفٌ.</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in Samir’s room?</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television</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lamp</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computer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يُوجَدُ تِلْفَازٌ.</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are the cupboards?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blue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white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brown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خَزَائِنُ بَيْضَاءُ.</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chairs are around the table?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six</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eight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سِتَّةِ كَرَاسِي.</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Object? Negative? Number? Place?</a:t>
            </a:r>
            <a:endParaRPr lang="en-US" sz="1250" dirty="0"/>
          </a:p>
          <a:p>
            <a:pPr algn="l" indent="0" marL="0">
              <a:buNone/>
            </a:pPr>
            <a:r>
              <a:rPr lang="en-US" sz="1250" dirty="0">
                <a:solidFill>
                  <a:srgbClr val="1F2A37"/>
                </a:solidFill>
                <a:latin typeface="Calibri" pitchFamily="34" charset="0"/>
                <a:cs typeface="Amiri" pitchFamily="2" charset="-78"/>
              </a:rPr>
              <a:t>Find the exact Arabic words.</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Give a guided room tour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يُوجَدُ فِي غُرْفَةِ النَّوْمِ؟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يُوجَدُ فِي المَطْبَخِ؟</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يُوجَدُ فِي غُرْفَةِ الجُلُوسِ؟</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غُرْفَتُكَ المُفَضَّلَةُ؟ صِفْهَا وَقُلْ 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فِي غُرْفَةِ النَّوْمِ ___ وَ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يُوجَدُ ___ ، وَتُوجَدُ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هُنَاكَ ___ وَ ___ كَرَاسِي.</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أُحِبُّ ___ لِأَنَّهَا / لِأَنَّهُ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يُوجَدُ فِي غُرْفَةِ النَّوْمِ؟</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there in the bedroom?</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غُرْفَةُ النَّوْمِ وَاسِعَةٌ وَهَادِئَةٌ. فِيهَا يُوجَدُ سَرِيرٌ كَبِيرٌ وَمَكْتَبٌ صَغِيرٌ.</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The bedroom is spacious and quiet. In it there is a big bed and a small desk.</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Label eight items in one room and write four “in my room there is …”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Draw one room, label eight items, then four sentences: fī ghurfatī … (no verb needed).</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to eight sentences with yūjadu / tūjadu, two descriptions and one plural.</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Yūjadu / tūjadu for every item, two descriptions, one plural, an opinion.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colours, positions (on, beside, above) and non-human plural agreement (kathīra).</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colours (next lesson preview), positions (on, beside, above) and kathīra with a plural.</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المَكْتَبِ يُوجَدُ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the desk there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بِجَانِبِ النَّافِذَةِ تُوجَدُ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Beside the window there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تُوجَدُ كَرَاسِي كَثِيرَةٌ.</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are many chairs.</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هُنَاكَ طَاوِلَةٌ وَأَرْبَعَةُ كَرَاسِي.</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table and four chairs.</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لِأَنَّهَا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 because it is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غُرْفَتِي سَرِيرٌ.</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room there is a bed.</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يُوجَدُ مَكْتَبٌ.</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desk (m.).</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تُوجَدُ خِزَانَةٌ.</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wardrobe (f.).</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يُوجَدُ تِلْفَازٌ.</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no television.</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غُرْفَتِي كَبِيرَةٌ / صَغِيرَةٌ.</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room is big / small.</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سَرِيرٌ  ·  خِزَانَةٌ  ·  طَاوِلَةٌ  ·  كُرْسِيٌّ / كَرَاسِي  ·  أَرِيكَةٌ  ·  تِلْفَازٌ  ·  مِصْبَاحٌ  ·  مِرْآةٌ  ·  رُفُوفٌ  ·  يُوجَدُ  ·  تُوجَدُ  ·  لِأَنَّ</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غُرْفَةُ النَّوْمِ وَاسِعَةٌ وَمُرِيحَةٌ. فِيهَا يُوجَدُ سَرِيرٌ كَبِيرٌ وَمَكْتَبٌ صَغِيرٌ. تُوجَدُ خِزَانَةٌ بَيْضَاءُ بِجَانِبِ النَّافِذَةِ، وَتُوجَدُ سَجَّادَةٌ بُنِّيَّةٌ عَلَى الأَرْضِيَّةِ. عَلَى المَكْتَبِ يُوجَدُ مِصْبَاحٌ وَحَاسُوبٌ. أُحِبُّ هَذِهِ الغُرْفَةَ لِأَنَّهَا هَادِئَةٌ.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bedroom is spacious and comfortable. In it there is a big bed and a small desk. There is a white wardrobe beside the window, and there is a brown rug on the floor. On the desk there is a lamp and a computer. I love this room because it is quiet.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يُوجَدُ + masculine item</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تُوجَدُ + feminine item</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position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لِأَنَّهَا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at least eight items.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“in my room there is …”.</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Masculine item → yūjadu; feminine item → tūjadu.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one plural correctly.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Plural of things → kathīra (f. sing.).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سَرِيرٌ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رَفٌّ</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حَوْضٌ</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___ سَرِيرٌ.</a:t>
            </a:r>
            <a:endParaRPr lang="ar-SA" sz="22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6" name="Text 43"/>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___ مِرْآةٌ.</a:t>
            </a:r>
            <a:endParaRPr lang="ar-SA" sz="220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56" name="Shape 53"/>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7" name="Text 54"/>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8" name="Text 55"/>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“bed”.</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سَرِيرٌ</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رَفٌّ</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حَوْضٌ</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سَرِيرٌ</a:t>
            </a:r>
            <a:pPr algn="l" indent="0" marL="0">
              <a:buNone/>
            </a:pPr>
            <a:r>
              <a:rPr lang="en-US" sz="1050" i="1" dirty="0">
                <a:solidFill>
                  <a:srgbClr val="8A6D1E"/>
                </a:solidFill>
                <a:latin typeface="Calibri" pitchFamily="34" charset="0"/>
                <a:cs typeface="Amiri" pitchFamily="2" charset="-78"/>
              </a:rPr>
              <a:t> means bed.</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___ سَرِيرٌ.</a:t>
            </a:r>
            <a:endParaRPr lang="ar-SA" sz="220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تُوجَدُ</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يُوجَدُ</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تُوجَدَ</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سَرِيرٌ</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7"/>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___ مِرْآةٌ.</a:t>
            </a:r>
            <a:endParaRPr lang="ar-SA" sz="2200" dirty="0"/>
          </a:p>
        </p:txBody>
      </p:sp>
      <p:sp>
        <p:nvSpPr>
          <p:cNvPr id="51" name="Shape 48"/>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532888"/>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تُوجَدُ</a:t>
            </a:r>
            <a:endParaRPr lang="ar-SA" sz="2050" dirty="0"/>
          </a:p>
        </p:txBody>
      </p:sp>
      <p:sp>
        <p:nvSpPr>
          <p:cNvPr id="55" name="Shape 52"/>
          <p:cNvSpPr/>
          <p:nvPr/>
        </p:nvSpPr>
        <p:spPr>
          <a:xfrm>
            <a:off x="8278368" y="2990088"/>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يُوجَدُ</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يُوجَدَ</a:t>
            </a:r>
            <a:endParaRPr lang="ar-SA" sz="2050" dirty="0"/>
          </a:p>
        </p:txBody>
      </p:sp>
      <p:sp>
        <p:nvSpPr>
          <p:cNvPr id="61" name="Text 58"/>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مِرْآةٌ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2" name="Shape 59"/>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4" name="Text 61"/>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F3-L04 · Furniture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F3-L05: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F3-L05 · Colours — Full System and Agreement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أَحْمَرُ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red</a:t>
            </a:r>
            <a:pPr indent="0" marL="0">
              <a:buNone/>
            </a:pPr>
            <a:r>
              <a:rPr lang="ar-SA" sz="1000" i="1" dirty="0">
                <a:solidFill>
                  <a:srgbClr val="5A6472"/>
                </a:solidFill>
                <a:latin typeface="Calibri" pitchFamily="34" charset="0"/>
                <a:ea typeface="Amiri" pitchFamily="2" charset="-78"/>
                <a:cs typeface="Amiri" pitchFamily="2" charset="-78"/>
              </a:rPr>
              <a:t>  f. حَمْرَاءُ</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أَزْرَقُ</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blue</a:t>
            </a:r>
            <a:pPr indent="0" marL="0">
              <a:buNone/>
            </a:pPr>
            <a:r>
              <a:rPr lang="ar-SA" sz="1000" i="1" dirty="0">
                <a:solidFill>
                  <a:srgbClr val="5A6472"/>
                </a:solidFill>
                <a:latin typeface="Calibri" pitchFamily="34" charset="0"/>
                <a:ea typeface="Amiri" pitchFamily="2" charset="-78"/>
                <a:cs typeface="Amiri" pitchFamily="2" charset="-78"/>
              </a:rPr>
              <a:t>  f. زَرْقَاءُ</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أَخْضَرُ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green</a:t>
            </a:r>
            <a:pPr indent="0" marL="0">
              <a:buNone/>
            </a:pPr>
            <a:r>
              <a:rPr lang="ar-SA" sz="1000" i="1" dirty="0">
                <a:solidFill>
                  <a:srgbClr val="5A6472"/>
                </a:solidFill>
                <a:latin typeface="Calibri" pitchFamily="34" charset="0"/>
                <a:ea typeface="Amiri" pitchFamily="2" charset="-78"/>
                <a:cs typeface="Amiri" pitchFamily="2" charset="-78"/>
              </a:rPr>
              <a:t>  f. خَضْرَاءُ</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أَبْيَضُ</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white</a:t>
            </a:r>
            <a:pPr indent="0" marL="0">
              <a:buNone/>
            </a:pPr>
            <a:r>
              <a:rPr lang="ar-SA" sz="1000" i="1" dirty="0">
                <a:solidFill>
                  <a:srgbClr val="5A6472"/>
                </a:solidFill>
                <a:latin typeface="Calibri" pitchFamily="34" charset="0"/>
                <a:ea typeface="Amiri" pitchFamily="2" charset="-78"/>
                <a:cs typeface="Amiri" pitchFamily="2" charset="-78"/>
              </a:rPr>
              <a:t>  f. بَيْضَاءُ</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أَسْوَدُ</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black</a:t>
            </a:r>
            <a:pPr indent="0" marL="0">
              <a:buNone/>
            </a:pPr>
            <a:r>
              <a:rPr lang="ar-SA" sz="1000" i="1" dirty="0">
                <a:solidFill>
                  <a:srgbClr val="5A6472"/>
                </a:solidFill>
                <a:latin typeface="Calibri" pitchFamily="34" charset="0"/>
                <a:ea typeface="Amiri" pitchFamily="2" charset="-78"/>
                <a:cs typeface="Amiri" pitchFamily="2" charset="-78"/>
              </a:rPr>
              <a:t>  f. سَوْدَاءُ</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colour is your favourite thing at home? Write it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 لَوْنُكَ المُفَضَّلُ؟</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F3-L04: the Furniture Mission (14)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describe one room in 6–8 sentences with yūjadu / tūjadu.</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Redesign a room: label eight items and write eight sentences with positions and a plural.</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37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F3-L05 · Colours — Full System and Agreement</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الأَلْوَانُ وَالمُطَابَقَةُ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look at the item — yūjadu (m.) · tūjadu (f.).</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F3-L04 · Furniture and Household Items</dc:title>
  <dc:subject>PptxGenJS Presentation</dc:subject>
  <dc:creator>Al Madina Online School · Arabic Department</dc:creator>
  <cp:lastModifiedBy>Al Madina Online School · Arabic Department</cp:lastModifiedBy>
  <cp:revision>1</cp:revision>
  <dcterms:created xsi:type="dcterms:W3CDTF">2026-10-11T06:41:30Z</dcterms:created>
  <dcterms:modified xsi:type="dcterms:W3CDTF">2026-10-11T06:41:30Z</dcterms:modified>
</cp:coreProperties>
</file>