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4 (F3-L04). Website sections used: the eight-question room bridge, the core furniture bank (12 with plurals) and its 12-question check, appliances and bathroom items with the wider recognition bank (12-question check), the room sets and 12-question room sorter, يُوجَدُ / تُوجَدُ with non-human plurals and the 14-question grammar laboratory, the bedroom redesign, the Furniture Mission (14), Mariam’s three rooms (listening, 10), Samir’s bedroom and Layla’s kitchen (reading, 12), the room-tour studio (4 prompts), the 6–8-sentence writing task and the 16-question checkpoint. Picture match: website visual game “Furniture and Household Items”.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One decision all lesson: is the ITEM masculine or feminine? → يُوجَدُ (masc.) or تُوجَدُ (fem.). The room is only the place (website: “look at the item, not the room”).
• Core: 8 items + “in my room there is …” (the simpler verb-free pattern فِي غُرْفَتِي سَرِيرٌ is also correct — website). Develop: يُوجَدُ / تُوجَدُ and one plural. Stretch: colours, positions and non-human plural agreement (كَرَاسِي كَثِيرَةٌ).
• Privacy (website): use your own room only when comfortable — the model room or an invented room is always fine.
• Urdu bridge: کرسی ← كُرْسِيٌّ، میز (Persian) / طَاوِلَةٌ، الماری (Portuguese) / خِزَانَةٌ (Urdu خزانہ = treasury!), آئینہ (Persian) / مِرْآةٌ، قالین (Turkish) / سَجَّادَةٌ (Urdu سجادہ = prayer mat).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furniture words prepared at home at the end of F3-L03. Questions 3–5 are the website “room bridge” (room-name iḍāfa, room + adjective, in my room).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ITEM, not the room: masculine item → yūjadu; feminine item → tūjadu.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is the same word. مِصْبَاحٌ is in Surat an-Nūr (24:35: الْمِصْبَاحُ فِي زُجَاجَةٍ) — many students know it. CAREFUL: خزانہ in Urdu is a treasury and سجادہ is a prayer mat — in Arabic خِزَانَةٌ is a wardrobe / cupboard and سَجَّادَةٌ any rug. آئینہ، میز and الماری are not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1 (website “Core furniture bank”). Every card: the plural and the right “there is”. The tag is the gender — that is today’s decision. Chant: sarīr – asirra – yūjadu sarīr.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FURNITURE 2. مِرْآةٌ is feminine (ة); مِصْبَاحٌ and رَفٌّ are masculine. Website high-value plurals: كَرَاسِي، سَتَائِرُ، مَصَابِيحُ، رُفُوفٌ، مَرَايَا.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APPLIANCES (FLEX — they are the focus of F3-L06). Website wider recognition bank: فُرْنٌ (oven), غَسَّالَةُ صُحُونٍ (dishwasher), مُجَمِّدٌ (freezer), غَلَّايَةٌ (kettle), مِكْوَاةٌ (iron), مُكَيِّفٌ (air conditioner), مِرْوَحَةٌ (fan), حَاسُوبٌ (computer), سَاعَةٌ (clock), وِسَادَةٌ (pillow), بَطَّانِيَّةٌ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5 “Use يُوجَدُ and تُوجَدُ”: يُوجَدُ before a masculine singular; تُوجَدُ before a feminine singular; “look at the item, not the room”.
Row 4 = the website “useful simpler alternative”: فِي غُرْفَتِي سَرِيرٌ وَخِزَانَةٌ — the verb can be omitted. Core students may always use this pattern.
Quick-fire: say an item; students type ي or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“High-value plurals” (سَرِيرٌ ← أَسِرَّةٌ · كُرْسِيٌّ ← كَرَاسِي · طَاوِلَةٌ ← طَاوِلَاتٌ · خِزَانَةٌ ← خَزَائِنُ · سِتَارَةٌ ← سَتَائِرُ · مِصْبَاحٌ ← مَصَابِيحُ · رَفٌّ ← رُفُوفٌ · مِرْآةٌ ← مَرَايَا · مَكْتَبٌ ← مَكَاتِبُ) and “Non-human plurals · Develop” (فِي الغُرْفَةِ تُوجَدُ كَرَاسِي كَثِيرَةٌ).
Positions from the website model: عَلَى المَكْتَبِ (on the desk), بِجَانِبِ النَّافِذَةِ (beside the window), فَوْقَ المَكْتَبِ (above the desk), عَلَى الأَرْضِيَّةِ (on the floor). Colours are next lesson (F3-L05).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grammar laboratory” questions 1, 2, 5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description” of the bedroom scene (colours left out until F3-L05). Think aloud before every verb: “the ITEM is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Furniture Mission cards (room choice, masculine, feminine, plural,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decided it — the item or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أَهْلًا! أَنَا مَرْيَمُ، وَسَأَصِفُ ثَلَاثَ غُرَفٍ فِي بَيْتِنَا. فِي غُرْفَةِ نَوْمِي يُوجَدُ سَرِيرٌ أَبْيَضُ وَمَكْتَبٌ بُنِّيٌّ، وَتُوجَدُ خِزَانَةٌ كَبِيرَةٌ وَمِرْآةٌ صَغِيرَةٌ. عَلَى المَكْتَبِ يُوجَدُ حَاسُوبٌ وَمِصْبَاحٌ. فِي المَطْبَخِ تُوجَدُ ثَلَّاجَةٌ بَيْضَاءُ وَغَسَّالَةٌ، وَيُوجَدُ مَوْقِدٌ وَحَوْضٌ. هُنَاكَ أَيْضًا طَاوِلَةٌ وَأَرْبَعَةُ كَرَاسِي. أَمَّا غُرْفَةُ الجُلُوسِ فَفِيهَا أَرِيكَةٌ زَرْقَاءُ وَتِلْفَازٌ كَبِيرٌ وَسَجَّادَةٌ جَمِيلَةٌ. أُحِبُّ غُرْفَةَ الجُلُوسِ لِأَنَّهَا وَاسِعَةٌ وَمُرِيحَةٌ.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Note لَا يُوجَدُ = there is no (website reading: “locate objects, negatives, quantities, places and opinions”). تُوجَدُ رُفُوفٌ = a plural of things with the feminine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Stretch: why لِأَنَّهُ here but لِأَنَّهَا in Text A? (مَطْبَخٌ is masculine, غُرْفَةٌ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(Samir) and 9, 10 (Layla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ROOM-TOUR STUDIO: name the room, list at least six items, describe colours or size, and give an opinion with a reason. Room cards (website):
• Bedroom: bed · wardrobe · desk · mirror · lamp · rug
• Kitchen: fridge · cooker · oven · sink · table · chairs
• Living room: sofa · television · rug · curtains · lamps · shelves
• Bathroom: sink · shower · mirror · cupboard · washing machine
Website checklist (listener ticks 1–6): room named · six objects · يُوجَدُ / تُوجَدُ · colours or size · reason with لِأَنَّ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eight items in one room and write four “in my room there is …” sentences. · Develop — Six to eight sentences with yūjadu / tūjadu, two descriptions and one plural. · Stretch — Add colours, positions (on, beside, above) and non-human plural agreement (kathīra).
Website writing task (Stretch): Website writing task: describe one room in 6–8 connected sentences — at least eight objects, two descriptions, one plural and an opinion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description (bedroom scene). Stretch: find the two colours (بَيْضَاءُ، بُنِّيَّةٌ) —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(F3-L05 · Colours — Full System and Agreement) will spend class time USING this language, so students prepare it tonight — short, simple, easy to access (school guidance: “Simple, Short, Interesting, Relevant, Easy to access”). The five words come from the website F3-L05 colour bank (masculine and feminine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Furniture and Household Items</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الأَثَاثُ وَالأَغْرَاضُ المَنْزِلِيَّةُ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Furnish each room: name the core furniture and appliances with useful plurals, choose </a:t>
            </a:r>
            <a:pPr algn="l" indent="0" marL="0">
              <a:buNone/>
            </a:pPr>
            <a:r>
              <a:rPr lang="ar-SA" altLang="en-US" sz="1800" dirty="0">
                <a:solidFill>
                  <a:srgbClr val="C6D2E6"/>
                </a:solidFill>
                <a:latin typeface="Amiri" pitchFamily="2" charset="-78"/>
                <a:ea typeface="Amiri" pitchFamily="2" charset="-78"/>
                <a:cs typeface="Amiri" pitchFamily="2" charset="-78"/>
              </a:rPr>
              <a:t>يُوجَدُ</a:t>
            </a:r>
            <a:pPr algn="l" indent="0" marL="0">
              <a:buNone/>
            </a:pPr>
            <a:r>
              <a:rPr lang="en-US" sz="1400" dirty="0">
                <a:solidFill>
                  <a:srgbClr val="C6D2E6"/>
                </a:solidFill>
                <a:latin typeface="Calibri" pitchFamily="34" charset="0"/>
                <a:cs typeface="Amiri" pitchFamily="2" charset="-78"/>
              </a:rPr>
              <a:t> or </a:t>
            </a:r>
            <a:pPr algn="l" indent="0" marL="0">
              <a:buNone/>
            </a:pPr>
            <a:r>
              <a:rPr lang="ar-SA" altLang="en-US" sz="1800" dirty="0">
                <a:solidFill>
                  <a:srgbClr val="C6D2E6"/>
                </a:solidFill>
                <a:latin typeface="Amiri" pitchFamily="2" charset="-78"/>
                <a:ea typeface="Amiri" pitchFamily="2" charset="-78"/>
                <a:cs typeface="Amiri" pitchFamily="2" charset="-78"/>
              </a:rPr>
              <a:t>تُوجَدُ</a:t>
            </a:r>
            <a:pPr algn="l" indent="0" marL="0">
              <a:buNone/>
            </a:pPr>
            <a:r>
              <a:rPr lang="en-US" sz="1400" dirty="0">
                <a:solidFill>
                  <a:srgbClr val="C6D2E6"/>
                </a:solidFill>
                <a:latin typeface="Calibri" pitchFamily="34" charset="0"/>
                <a:cs typeface="Amiri" pitchFamily="2" charset="-78"/>
              </a:rPr>
              <a:t> by the gender of the item, and describe one room in detail.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F3-L04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and appliances, then “there is” for masculine and feminine items.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Furniture Mission, listen to Mariam, read two 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wardrobe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sofa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الجُلُوسِ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وَاسِعَاتٌ</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غُرْفَتِهَا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غُرْفَتِي</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سَرِيرٌ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خِزَانَةٌ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wardrobe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sofa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الجُلُوسِ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الجُلُوسُ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الجُلُوسِ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وَاسِعَاتٌ</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وَاسِعَةٌ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the adjective is feminine.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room”.</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غُرْفَتِي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غُرْفَتِهَا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غُرْفَتِي</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marks location and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at the ITEM, not the room: masculine item → yūjadu; feminine item → tūjadu.</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يُوجَدُ</a:t>
            </a:r>
            <a:pPr rtl="1" algn="ctr" indent="0" marL="0">
              <a:buNone/>
            </a:pPr>
            <a:r>
              <a:rPr lang="ar-SA" altLang="en-US" sz="2400" b="1" dirty="0">
                <a:solidFill>
                  <a:srgbClr val="1B3B6F"/>
                </a:solidFill>
                <a:latin typeface="Amiri" pitchFamily="2" charset="-78"/>
                <a:ea typeface="Amiri" pitchFamily="2" charset="-78"/>
                <a:cs typeface="Amiri" pitchFamily="2" charset="-78"/>
              </a:rPr>
              <a:t> سَرِيرٌ · </a:t>
            </a:r>
            <a:pPr rtl="1" algn="ctr" indent="0" marL="0">
              <a:buNone/>
            </a:pPr>
            <a:r>
              <a:rPr lang="ar-SA" altLang="en-US" sz="2400" b="1" dirty="0">
                <a:solidFill>
                  <a:srgbClr val="D6336C"/>
                </a:solidFill>
                <a:latin typeface="Amiri" pitchFamily="2" charset="-78"/>
                <a:ea typeface="Amiri" pitchFamily="2" charset="-78"/>
                <a:cs typeface="Amiri" pitchFamily="2" charset="-78"/>
              </a:rPr>
              <a:t>تُوجَدُ</a:t>
            </a:r>
            <a:pPr rtl="1" algn="ctr" indent="0" marL="0">
              <a:buNone/>
            </a:pPr>
            <a:r>
              <a:rPr lang="ar-SA" altLang="en-US" sz="2400" b="1" dirty="0">
                <a:solidFill>
                  <a:srgbClr val="1B3B6F"/>
                </a:solidFill>
                <a:latin typeface="Amiri" pitchFamily="2" charset="-78"/>
                <a:ea typeface="Amiri" pitchFamily="2" charset="-78"/>
                <a:cs typeface="Amiri" pitchFamily="2" charset="-78"/>
              </a:rPr>
              <a:t> خِزَانَةٌ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core furniture and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items in appropriate rooms.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يُوجَدُ / تُوجَدُ</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one room in 6–8 connected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items of furniture.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yūjadu or tūjadu.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useful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colours and positions.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 plural of things agree (kathīra).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12 furniture words and 6 appliances from the website, each with its plural. Core: bed, wardrobe, table, chair, sofa, television, lamp, mirror.</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furniture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Appliances and bathroom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Recognition bank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kursī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خِزَانَةٌ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‎خزانہ‎ </a:t>
            </a:r>
            <a:pPr indent="0" marL="0">
              <a:buNone/>
            </a:pPr>
            <a:r>
              <a:rPr lang="en-US" sz="950" b="1" dirty="0">
                <a:solidFill>
                  <a:srgbClr val="2E8B57"/>
                </a:solidFill>
                <a:latin typeface="Calibri" pitchFamily="34" charset="0"/>
                <a:cs typeface="Amiri" pitchFamily="2" charset="-78"/>
              </a:rPr>
              <a:t> khizāna · Arabic: wardrobe · Urdu: treasury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سَجَّادَةٌ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‎سجادہ‎ </a:t>
            </a:r>
            <a:pPr indent="0" marL="0">
              <a:buNone/>
            </a:pPr>
            <a:r>
              <a:rPr lang="en-US" sz="950" b="1" dirty="0">
                <a:solidFill>
                  <a:srgbClr val="2E8B57"/>
                </a:solidFill>
                <a:latin typeface="Calibri" pitchFamily="34" charset="0"/>
                <a:cs typeface="Amiri" pitchFamily="2" charset="-78"/>
              </a:rPr>
              <a:t> sajjāda · Arabic: rug · Urdu: prayer mat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مِصْبَاحٌ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‎مصباح‎ </a:t>
            </a:r>
            <a:pPr indent="0" marL="0">
              <a:buNone/>
            </a:pPr>
            <a:r>
              <a:rPr lang="en-US" sz="950" b="1" dirty="0">
                <a:solidFill>
                  <a:srgbClr val="2E8B57"/>
                </a:solidFill>
                <a:latin typeface="Calibri" pitchFamily="34" charset="0"/>
                <a:cs typeface="Amiri" pitchFamily="2" charset="-78"/>
              </a:rPr>
              <a:t> miṣbāḥ · lamp (Surat an-Nur!)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مِرْآةٌ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‎آئینہ‎ </a:t>
            </a:r>
            <a:pPr indent="0" marL="0">
              <a:buNone/>
            </a:pPr>
            <a:r>
              <a:rPr lang="en-US" sz="950" b="1" dirty="0">
                <a:solidFill>
                  <a:srgbClr val="2E8B57"/>
                </a:solidFill>
                <a:latin typeface="Calibri" pitchFamily="34" charset="0"/>
                <a:cs typeface="Amiri" pitchFamily="2" charset="-78"/>
              </a:rPr>
              <a:t> mirʾā · mirror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Bed, wardrobe, table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خِزَانَةٌ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wardrobe / cupboard</a:t>
            </a:r>
            <a:endParaRPr lang="en-US" sz="1350" dirty="0"/>
          </a:p>
          <a:p>
            <a:pPr indent="0" marL="0">
              <a:buNone/>
            </a:pPr>
            <a:r>
              <a:rPr lang="en-US" sz="1100" i="1" dirty="0">
                <a:solidFill>
                  <a:srgbClr val="5A6472"/>
                </a:solidFill>
                <a:latin typeface="Calibri" pitchFamily="34" charset="0"/>
                <a:cs typeface="Amiri" pitchFamily="2" charset="-78"/>
              </a:rPr>
              <a:t>khi-zā-na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خَزَائِنُ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طَاوِلَةٌ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طَاوِلَاتٌ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أَرِيكَةٌ / كَنَبَةٌ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sofa / couch</a:t>
            </a:r>
            <a:endParaRPr lang="en-US" sz="1350" dirty="0"/>
          </a:p>
          <a:p>
            <a:pPr indent="0" marL="0">
              <a:buNone/>
            </a:pPr>
            <a:r>
              <a:rPr lang="en-US" sz="1100" i="1" dirty="0">
                <a:solidFill>
                  <a:srgbClr val="5A6472"/>
                </a:solidFill>
                <a:latin typeface="Calibri" pitchFamily="34" charset="0"/>
                <a:cs typeface="Amiri" pitchFamily="2" charset="-78"/>
              </a:rPr>
              <a:t>a-rī-ka / ka-na-ba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أَرَائِكُ</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تِلْفَازٌ</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television</a:t>
            </a:r>
            <a:endParaRPr lang="en-US" sz="1350" dirty="0"/>
          </a:p>
          <a:p>
            <a:pPr indent="0" marL="0">
              <a:buNone/>
            </a:pPr>
            <a:r>
              <a:rPr lang="en-US" sz="1100" i="1" dirty="0">
                <a:solidFill>
                  <a:srgbClr val="5A6472"/>
                </a:solidFill>
                <a:latin typeface="Calibri" pitchFamily="34" charset="0"/>
                <a:cs typeface="Amiri" pitchFamily="2" charset="-78"/>
              </a:rPr>
              <a:t>til-fāz</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تِلْفَازَاتٌ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FURNITURE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Rug, curtain, lamp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سَجَّادَةٌ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rug / carpet</a:t>
            </a:r>
            <a:endParaRPr lang="en-US" sz="1350" dirty="0"/>
          </a:p>
          <a:p>
            <a:pPr indent="0" marL="0">
              <a:buNone/>
            </a:pPr>
            <a:r>
              <a:rPr lang="en-US" sz="1100" i="1" dirty="0">
                <a:solidFill>
                  <a:srgbClr val="5A6472"/>
                </a:solidFill>
                <a:latin typeface="Calibri" pitchFamily="34" charset="0"/>
                <a:cs typeface="Amiri" pitchFamily="2" charset="-78"/>
              </a:rPr>
              <a:t>saj-jā-da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سَجَّادَاتٌ</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سِتَارَةٌ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curtain</a:t>
            </a:r>
            <a:endParaRPr lang="en-US" sz="1350" dirty="0"/>
          </a:p>
          <a:p>
            <a:pPr indent="0" marL="0">
              <a:buNone/>
            </a:pPr>
            <a:r>
              <a:rPr lang="en-US" sz="1100" i="1" dirty="0">
                <a:solidFill>
                  <a:srgbClr val="5A6472"/>
                </a:solidFill>
                <a:latin typeface="Calibri" pitchFamily="34" charset="0"/>
                <a:cs typeface="Amiri" pitchFamily="2" charset="-78"/>
              </a:rPr>
              <a:t>si-tā-ra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سَتَائِرُ</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0" name="Text 37"/>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مِصْبَاحٌ</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lamp</a:t>
            </a:r>
            <a:endParaRPr lang="en-US" sz="1350" dirty="0"/>
          </a:p>
          <a:p>
            <a:pPr indent="0" marL="0">
              <a:buNone/>
            </a:pPr>
            <a:r>
              <a:rPr lang="en-US" sz="1100" i="1" dirty="0">
                <a:solidFill>
                  <a:srgbClr val="5A6472"/>
                </a:solidFill>
                <a:latin typeface="Calibri" pitchFamily="34" charset="0"/>
                <a:cs typeface="Amiri" pitchFamily="2" charset="-78"/>
              </a:rPr>
              <a:t>miṣ-bāḥ</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مَصَابِيحُ</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رَفٌّ</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shelf</a:t>
            </a:r>
            <a:endParaRPr lang="en-US" sz="1350" dirty="0"/>
          </a:p>
          <a:p>
            <a:pPr indent="0" marL="0">
              <a:buNone/>
            </a:pPr>
            <a:r>
              <a:rPr lang="en-US" sz="1100" i="1" dirty="0">
                <a:solidFill>
                  <a:srgbClr val="5A6472"/>
                </a:solidFill>
                <a:latin typeface="Calibri" pitchFamily="34" charset="0"/>
                <a:cs typeface="Amiri" pitchFamily="2" charset="-78"/>
              </a:rPr>
              <a:t>raff</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رُفُوفٌ</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68" name="Text 6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 study</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مَكَاتِبُ</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1" name="Text 7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5" name="Shape 8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6" name="Text 8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7" name="Shape 8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8" name="Text 8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mir-ʾā</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مَرَايَا</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96" name="Text 9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APPLIANCES AND BATHROOM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Fridge, cooker, shower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الأَجْهِزَةُ المَنْزِلِيَّةُ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مَوْقِدٌ</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cooker / stove</a:t>
            </a:r>
            <a:endParaRPr lang="en-US" sz="1350" dirty="0"/>
          </a:p>
          <a:p>
            <a:pPr indent="0" marL="0">
              <a:buNone/>
            </a:pPr>
            <a:r>
              <a:rPr lang="en-US" sz="1100" i="1" dirty="0">
                <a:solidFill>
                  <a:srgbClr val="5A6472"/>
                </a:solidFill>
                <a:latin typeface="Calibri" pitchFamily="34" charset="0"/>
                <a:cs typeface="Amiri" pitchFamily="2" charset="-78"/>
              </a:rPr>
              <a:t>maw-qid</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مَوَاقِدُ</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kah-ra-bā-ʾiy-ya</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حَوْضٌ</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sink / basin</a:t>
            </a:r>
            <a:endParaRPr lang="en-US" sz="1350" dirty="0"/>
          </a:p>
          <a:p>
            <a:pPr indent="0" marL="0">
              <a:buNone/>
            </a:pPr>
            <a:r>
              <a:rPr lang="en-US" sz="1100" i="1" dirty="0">
                <a:solidFill>
                  <a:srgbClr val="5A6472"/>
                </a:solidFill>
                <a:latin typeface="Calibri" pitchFamily="34" charset="0"/>
                <a:cs typeface="Amiri" pitchFamily="2" charset="-78"/>
              </a:rPr>
              <a:t>ḥawḍ</a:t>
            </a:r>
            <a:endParaRPr lang="en-US" sz="1350" dirty="0"/>
          </a:p>
        </p:txBody>
      </p:sp>
      <p:sp>
        <p:nvSpPr>
          <p:cNvPr id="70" name="Shape 6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أَحْوَاضٌ</a:t>
            </a:r>
            <a:endParaRPr lang="ar-SA" sz="1500" dirty="0"/>
          </a:p>
        </p:txBody>
      </p:sp>
      <p:sp>
        <p:nvSpPr>
          <p:cNvPr id="73" name="Shape 7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5" name="Text 7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دُشٌّ</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shower</a:t>
            </a:r>
            <a:endParaRPr lang="en-US" sz="1350" dirty="0"/>
          </a:p>
          <a:p>
            <a:pPr indent="0" marL="0">
              <a:buNone/>
            </a:pPr>
            <a:r>
              <a:rPr lang="en-US" sz="1100" i="1" dirty="0">
                <a:solidFill>
                  <a:srgbClr val="5A6472"/>
                </a:solidFill>
                <a:latin typeface="Calibri" pitchFamily="34" charset="0"/>
                <a:cs typeface="Amiri" pitchFamily="2" charset="-78"/>
              </a:rPr>
              <a:t>dushsh</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دُشُوشٌ</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8" name="Text 8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YŪJADU / TŪJADU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There is … (masculine or feminine item)</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يُوجَدُ · 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Place</a:t>
            </a:r>
            <a:endParaRPr lang="en-US" sz="1100" dirty="0"/>
          </a:p>
        </p:txBody>
      </p:sp>
      <p:sp>
        <p:nvSpPr>
          <p:cNvPr id="17" name="Text 14"/>
          <p:cNvSpPr txBox="1"/>
          <p:nvPr/>
        </p:nvSpPr>
        <p:spPr>
          <a:xfrm>
            <a:off x="55869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a:t>
            </a:r>
            <a:endParaRPr lang="en-US" sz="1100" dirty="0"/>
          </a:p>
        </p:txBody>
      </p:sp>
      <p:sp>
        <p:nvSpPr>
          <p:cNvPr id="18" name="Text 15"/>
          <p:cNvSpPr txBox="1"/>
          <p:nvPr/>
        </p:nvSpPr>
        <p:spPr>
          <a:xfrm>
            <a:off x="23865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a:t>
            </a:r>
            <a:endParaRPr lang="en-US" sz="1100" dirty="0"/>
          </a:p>
        </p:txBody>
      </p:sp>
      <p:sp>
        <p:nvSpPr>
          <p:cNvPr id="19" name="Text 16"/>
          <p:cNvSpPr txBox="1"/>
          <p:nvPr/>
        </p:nvSpPr>
        <p:spPr>
          <a:xfrm>
            <a:off x="53035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غُرْفَةِ النَّوْمِ</a:t>
            </a:r>
            <a:endParaRPr lang="ar-SA" sz="2200" dirty="0"/>
          </a:p>
        </p:txBody>
      </p:sp>
      <p:sp>
        <p:nvSpPr>
          <p:cNvPr id="22" name="Text 19"/>
          <p:cNvSpPr txBox="1"/>
          <p:nvPr/>
        </p:nvSpPr>
        <p:spPr>
          <a:xfrm>
            <a:off x="56052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سَرِيرٌ</a:t>
            </a:r>
            <a:endParaRPr lang="ar-SA" sz="2200" dirty="0"/>
          </a:p>
        </p:txBody>
      </p:sp>
      <p:sp>
        <p:nvSpPr>
          <p:cNvPr id="23" name="Text 20"/>
          <p:cNvSpPr txBox="1"/>
          <p:nvPr/>
        </p:nvSpPr>
        <p:spPr>
          <a:xfrm>
            <a:off x="24048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خِزَانَةٌ</a:t>
            </a:r>
            <a:endParaRPr lang="ar-SA" sz="2200" dirty="0"/>
          </a:p>
        </p:txBody>
      </p:sp>
      <p:sp>
        <p:nvSpPr>
          <p:cNvPr id="24" name="Text 21"/>
          <p:cNvSpPr txBox="1"/>
          <p:nvPr/>
        </p:nvSpPr>
        <p:spPr>
          <a:xfrm>
            <a:off x="566928" y="2267712"/>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bed · wardrobe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غُرْفَةِ الجُلُوسِ</a:t>
            </a:r>
            <a:endParaRPr lang="ar-SA" sz="2200" dirty="0"/>
          </a:p>
        </p:txBody>
      </p:sp>
      <p:sp>
        <p:nvSpPr>
          <p:cNvPr id="29" name="Text 26"/>
          <p:cNvSpPr txBox="1"/>
          <p:nvPr/>
        </p:nvSpPr>
        <p:spPr>
          <a:xfrm>
            <a:off x="56052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تِلْفَازٌ</a:t>
            </a:r>
            <a:endParaRPr lang="ar-SA" sz="2200" dirty="0"/>
          </a:p>
        </p:txBody>
      </p:sp>
      <p:sp>
        <p:nvSpPr>
          <p:cNvPr id="30" name="Text 27"/>
          <p:cNvSpPr txBox="1"/>
          <p:nvPr/>
        </p:nvSpPr>
        <p:spPr>
          <a:xfrm>
            <a:off x="24048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أَرِيكَةٌ</a:t>
            </a:r>
            <a:endParaRPr lang="ar-SA" sz="2200" dirty="0"/>
          </a:p>
        </p:txBody>
      </p:sp>
      <p:sp>
        <p:nvSpPr>
          <p:cNvPr id="31" name="Text 28"/>
          <p:cNvSpPr txBox="1"/>
          <p:nvPr/>
        </p:nvSpPr>
        <p:spPr>
          <a:xfrm>
            <a:off x="566928" y="3054096"/>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TV · sofa</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الحَمَّامِ</a:t>
            </a:r>
            <a:endParaRPr lang="ar-SA" sz="2200" dirty="0"/>
          </a:p>
        </p:txBody>
      </p:sp>
      <p:sp>
        <p:nvSpPr>
          <p:cNvPr id="36" name="Text 33"/>
          <p:cNvSpPr txBox="1"/>
          <p:nvPr/>
        </p:nvSpPr>
        <p:spPr>
          <a:xfrm>
            <a:off x="56052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يُوجَدُ</a:t>
            </a:r>
            <a:pPr rtl="1" algn="ctr" indent="0" marL="0">
              <a:buNone/>
            </a:pPr>
            <a:r>
              <a:rPr lang="ar-SA" altLang="en-US" sz="2200" b="1" dirty="0">
                <a:solidFill>
                  <a:srgbClr val="1B3B6F"/>
                </a:solidFill>
                <a:latin typeface="Amiri" pitchFamily="2" charset="-78"/>
                <a:ea typeface="Amiri" pitchFamily="2" charset="-78"/>
                <a:cs typeface="Amiri" pitchFamily="2" charset="-78"/>
              </a:rPr>
              <a:t> حَوْضٌ</a:t>
            </a:r>
            <a:endParaRPr lang="ar-SA" sz="2200" dirty="0"/>
          </a:p>
        </p:txBody>
      </p:sp>
      <p:sp>
        <p:nvSpPr>
          <p:cNvPr id="37" name="Text 34"/>
          <p:cNvSpPr txBox="1"/>
          <p:nvPr/>
        </p:nvSpPr>
        <p:spPr>
          <a:xfrm>
            <a:off x="24048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تُوجَدُ</a:t>
            </a:r>
            <a:pPr rtl="1" algn="ctr" indent="0" marL="0">
              <a:buNone/>
            </a:pPr>
            <a:r>
              <a:rPr lang="ar-SA" altLang="en-US" sz="2200" b="1" dirty="0">
                <a:solidFill>
                  <a:srgbClr val="1B3B6F"/>
                </a:solidFill>
                <a:latin typeface="Amiri" pitchFamily="2" charset="-78"/>
                <a:ea typeface="Amiri" pitchFamily="2" charset="-78"/>
                <a:cs typeface="Amiri" pitchFamily="2" charset="-78"/>
              </a:rPr>
              <a:t> مِرْآةٌ</a:t>
            </a:r>
            <a:endParaRPr lang="ar-SA" sz="2200" dirty="0"/>
          </a:p>
        </p:txBody>
      </p:sp>
      <p:sp>
        <p:nvSpPr>
          <p:cNvPr id="38" name="Text 35"/>
          <p:cNvSpPr txBox="1"/>
          <p:nvPr/>
        </p:nvSpPr>
        <p:spPr>
          <a:xfrm>
            <a:off x="566928" y="3840480"/>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sink · mirror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غُرْفَتِي</a:t>
            </a:r>
            <a:endParaRPr lang="ar-SA" sz="2200" dirty="0"/>
          </a:p>
        </p:txBody>
      </p:sp>
      <p:sp>
        <p:nvSpPr>
          <p:cNvPr id="41" name="Text 38"/>
          <p:cNvSpPr txBox="1"/>
          <p:nvPr/>
        </p:nvSpPr>
        <p:spPr>
          <a:xfrm>
            <a:off x="56052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سَرِيرٌ</a:t>
            </a:r>
            <a:endParaRPr lang="ar-SA" sz="2200" dirty="0"/>
          </a:p>
        </p:txBody>
      </p:sp>
      <p:sp>
        <p:nvSpPr>
          <p:cNvPr id="42" name="Text 39"/>
          <p:cNvSpPr txBox="1"/>
          <p:nvPr/>
        </p:nvSpPr>
        <p:spPr>
          <a:xfrm>
            <a:off x="24048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وَخِزَانَةٌ</a:t>
            </a:r>
            <a:endParaRPr lang="ar-SA" sz="2200" dirty="0"/>
          </a:p>
        </p:txBody>
      </p:sp>
      <p:sp>
        <p:nvSpPr>
          <p:cNvPr id="43" name="Text 40"/>
          <p:cNvSpPr txBox="1"/>
          <p:nvPr/>
        </p:nvSpPr>
        <p:spPr>
          <a:xfrm>
            <a:off x="566928" y="4626864"/>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verb — also correct</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item after it. The room is only the place.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PLURALS AND DESCRIBING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many, and what they are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المُفْرَدُ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PLURAL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كَرَاسِي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هُنَاكَ طَاوِلَةٌ وَأَرْبَعَةُ كَرَاسِي.</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table and four chairs.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 plural with the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things → f.</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تُوجَدُ كَرَاسِي كَثِيرَةٌ.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many chairs.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tūjadu + kathīra (not kathīrūn).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describe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تُوجَدُ خِزَانَةٌ بَيْضَاءُ بِجَانِبِ النَّافِذَةِ.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white wardrobe beside the window.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Colour + position.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Furniture Mission: a lamp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يُوجَدُ مِصْبَاحٌ.</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تُوجَدُ مِصْبَاحٌ.</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سَرِيرٌ.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خِزَانَةٌ.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أُوجَدُ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 يُوجَدَ.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غُرْفَتِي 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 فِي 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كُرْسِيَّاتٌ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أَكْرُسٌ</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سَرِيرٌ.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نُوجَدُ</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الغُرْفَةِ ___ خِزَانَةٌ.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أُوجَدُ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also correct without a verb?</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غُرْفَتِي يُوجَدَ.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غُرْفَتِي 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 فِي 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simple Arabic location sentence may omit “there is”.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كُرْسِيَّاتٌ</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أَكْرُسٌ</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common plural is </a:t>
            </a:r>
            <a:pPr algn="l" indent="0" marL="0">
              <a:buNone/>
            </a:pPr>
            <a:r>
              <a:rPr lang="ar-SA" altLang="en-US" sz="1350" dirty="0">
                <a:solidFill>
                  <a:srgbClr val="8A6D1E"/>
                </a:solidFill>
                <a:latin typeface="Amiri" pitchFamily="2" charset="-78"/>
                <a:ea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furnish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غُرْفَةُ النَّوْمِ وَاسِعَةٌ وَمُرِيحَةٌ.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Masculine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فِيهَا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سَرِيرٌ كَبِيرٌ وَمَكْتَبٌ صَغِيرٌ.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Bed, desk → yūjadu.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 items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خِزَانَةٌ بِجَانِبِ النَّافِذَةِ،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سَجَّادَةٌ عَلَى الأَرْضِيَّةِ.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Wardrobe, rug → tūjadu.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أُحِبُّ هَذِهِ الغُرْفَةَ لِأَنَّهَا هَادِئَةٌ.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it (f.) is quiet.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ITEM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غُرْفَةُ النَّوْمِ وَاسِعَةٌ وَمُرِيحَةٌ. فِيهَا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سَرِيرٌ كَبِيرٌ وَمَكْتَبٌ صَغِيرٌ.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خِزَانَةٌ بِجَانِبِ النَّافِذَةِ،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سَجَّادَةٌ عَلَى الأَرْضِيَّةِ. عَلَى المَكْتَبِ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مِصْبَاحٌ وَحَاسُوبٌ. أُحِبُّ هَذِهِ الغُرْفَةَ لِأَنَّهَا هَادِئَةٌ.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bedroom is spacious and comfortable. In it there is a big bed and a small desk. There is a wardrobe beside the window, and there is a rug on the floor. On the desk there is a lamp and a computer. I love this room because it is quiet.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PICTURE MATCH · WEBSITE GAME “VISUAL GAME — FURNITURE AND HOUSEHOLD ITEMS”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الأَرِيكَةُ فِي غُرْفَةِ الجُلُوسِ.</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ثَلَّاجَةٌ.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السَّرِيرُ فِي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السَّرِيرُ فِي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bed is in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الأَرِيكَةُ فِي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sofa is in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fridge</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ثَلَّاجَةٌ.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fridge.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“FURNITURE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Furnish the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تَأْثِيثِ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أَرِيكَةٌ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الحَمَّامُ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تِلْفَازٌ.</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سَجَّادَةٌ.</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كُرْسِيَّاتٌ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أَكْرُسٌ</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يُوجَدُ خِزَانَةٌ.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خِزَانَةٌ.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أَرِيكَةٌ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الحَمَّامُ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المَطْبَخُ</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الجُلُوسِ</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sofa normally belongs in the living room.</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تِلْفَازٌ.</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يُوجَدُ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تِلْفَازٌ</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سَجَّادَةٌ.</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سَجَّادَةٌ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كُرْسِيٌّ.</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كُرْسِيَّاتٌ</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أَكْرُسٌ</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كَرَاسِي</a:t>
            </a:r>
            <a:pPr algn="l" indent="0" marL="0">
              <a:buNone/>
            </a:pPr>
            <a:r>
              <a:rPr lang="en-US" sz="1050" i="1" dirty="0">
                <a:solidFill>
                  <a:srgbClr val="8A6D1E"/>
                </a:solidFill>
                <a:latin typeface="Calibri" pitchFamily="34" charset="0"/>
                <a:cs typeface="Amiri" pitchFamily="2" charset="-78"/>
              </a:rPr>
              <a:t> is the common plural.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يُوجَدُ خِزَانَةٌ.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خِزَانَةٌ.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خِزَانَةٌ.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 خِزَانٌ.</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Masculine item → yūjadu</a:t>
            </a:r>
            <a:endParaRPr lang="en-US" sz="1250" dirty="0"/>
          </a:p>
          <a:p>
            <a:pPr algn="l" indent="0" marL="0">
              <a:buNone/>
            </a:pPr>
            <a:r>
              <a:rPr lang="en-US" sz="1250" dirty="0">
                <a:solidFill>
                  <a:srgbClr val="1E6B52"/>
                </a:solidFill>
                <a:latin typeface="Calibri" pitchFamily="34" charset="0"/>
                <a:cs typeface="Amiri" pitchFamily="2" charset="-78"/>
              </a:rPr>
              <a:t>Feminine item → tūjadu</a:t>
            </a:r>
            <a:endParaRPr lang="en-US" sz="1250" dirty="0"/>
          </a:p>
          <a:p>
            <a:pPr algn="l" indent="0" marL="0">
              <a:buNone/>
            </a:pPr>
            <a:r>
              <a:rPr lang="en-US" sz="1250" dirty="0">
                <a:solidFill>
                  <a:srgbClr val="1E6B52"/>
                </a:solidFill>
                <a:latin typeface="Calibri" pitchFamily="34" charset="0"/>
                <a:cs typeface="Amiri" pitchFamily="2" charset="-78"/>
              </a:rPr>
              <a:t>Learn the plural too</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الغُرْفَةِ يُوجَدُ خِزَانَةٌ.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Wardrobe: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تُوجَدُ مِصْبَاحٌ.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Lamp: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تُوجَدُ كَرَاسِي كَثِيرُونَ.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Chairs are things,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الغُرْفَةِ يُوجَدُ خِزَانَةٌ.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الغُرْفَةِ تُوجَدُ خِزَانَةٌ.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ITEM, not the room: a wardrobe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تُوجَدُ مِصْبَاحٌ.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يُوجَدُ مِصْبَاحٌ.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lamp is masculine → yūjadu (website Furniture Mission).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تُوجَدُ كَرَاسِي كَثِيرُونَ.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كَرَاسِي كَثِيرَةٌ.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plural of things takes a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 describes three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 and 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 and shelf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 and lamp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kitchen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living room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bedroom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أَهْلًا! أَنَا مَرْيَمُ، وَسَأَصِفُ ثَلَاثَ غُرَفٍ فِي بَيْتِنَا.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I am Mariam, and I will describe three rooms in our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غُرْفَةِ نَوْمِي يُوجَدُ سَرِيرٌ أَبْيَضُ وَمَكْتَبٌ بُنِّيٌّ، وَتُوجَدُ خِزَانَةٌ كَبِيرَةٌ وَمِرْآةٌ صَغِيرَةٌ.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bedroom there is a white bed and a brown desk, and a big wardrobe and a small mirror.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يُوجَدُ حَاسُوبٌ وَمِصْبَاحٌ.</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there is a computer and a lamp.</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المَطْبَخِ تُوجَدُ ثَلَّاجَةٌ بَيْضَاءُ وَغَسَّالَةٌ، وَيُوجَدُ مَوْقِدٌ وَحَوْضٌ. هُنَاكَ أَيْضًا طَاوِلَةٌ وَأَرْبَعَةُ كَرَاسِي.</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white fridge and a washing machine, a cooker and a sink. There is also a table and four chairs.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أَمَّا غُرْفَةُ الجُلُوسِ فَفِيهَا أَرِيكَةٌ زَرْقَاءُ وَتِلْفَازٌ كَبِيرٌ وَسَجَّادَةٌ جَمِيلَةٌ. أُحِبُّ غُرْفَةَ الجُلُوسِ لِأَنَّهَا وَاسِعَةٌ وَمُرِيحَةٌ.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living room, it has a blue sofa, a big TV and a beautiful rug. I love the living room because it is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سَرِيرٌ أَبْيَضُ.</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items are on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 and clock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television and shelf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computer and lamp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المَكْتَبِ يُوجَدُ حَاسُوبٌ وَمِصْبَاحٌ.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in the kitchen?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كَرَاسِي.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أَرِيكَةٌ زَرْقَاءُ.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room is Mariam’s favourite?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kitchen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living room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bedroom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غُرْفَةَ الجُلُوسِ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bedroom · kitchen · living room.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 نَوْمِ سَامِرٍ صَغِيرَةٌ وَلَكِنَّهَا مُرَتَّبَةٌ.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سَرِيرٌ وَخِزَانَةٌ وَمَكْتَبٌ.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Main items: bed · wardrobe · desk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يُوجَدُ حَاسُوبٌ وَمِصْبَاحٌ، وَفَوْقَ المَكْتَبِ تُوجَدُ رُفُوفٌ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computer, lamp · above it: shelves for books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يُوجَدُ تِلْفَازٌ فِي الغُرْفَةِ.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in the room: a television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سَامِرٌ غُرْفَتَهُ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he likes it —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مَطْبَخُ لَيْلَى وَاسِعٌ وَحَدِيثٌ.</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spacious and modern</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 ثَلَّاجَةٌ كَبِيرَةٌ وَفُرْنٌ وَمَوْقِدٌ وَغَسَّالَةُ صُحُونٍ.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Appliances: fridge · oven · cooker · dishwasher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تُوجَدُ خَزَائِنُ بَيْضَاءُ كَثِيرَةٌ،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white cupboards (plural of things)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الوَسَطِ تُوجَدُ طَاوِلَةٌ مَعَ سِتَّةِ كَرَاسِي.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 a table with six chairs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لَيْلَى المَطْبَخَ لِأَنَّهُ مُضِيءٌ وَنَظِيفٌ.</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bright and clean (kitchen m. → li’annahu)</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sofa, television and rug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 wardrobe and desk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 cooker and sink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bed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the wardrobe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above the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lamp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main items are in Samir’s room?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sofa, television and rug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bed, wardrobe and desk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 cooker and sink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فِيهَا سَرِيرٌ وَخِزَانَةٌ وَمَكْتَبٌ.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shelves?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bed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beside the wardrobe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above the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فَوْقَ المَكْتَبِ تُوجَدُ رُفُوفٌ.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in Samir’s room?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television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lamp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computer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يُوجَدُ تِلْفَازٌ.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cupboards?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خَزَائِنُ بَيْضَاءُ.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chairs are around the table?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سِتَّةِ كَرَاسِي.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Object? Negative? Number? Place?</a:t>
            </a:r>
            <a:endParaRPr lang="en-US" sz="1250" dirty="0"/>
          </a:p>
          <a:p>
            <a:pPr algn="l" indent="0" marL="0">
              <a:buNone/>
            </a:pPr>
            <a:r>
              <a:rPr lang="en-US" sz="1250" dirty="0">
                <a:solidFill>
                  <a:srgbClr val="1F2A37"/>
                </a:solidFill>
                <a:latin typeface="Calibri" pitchFamily="34" charset="0"/>
                <a:cs typeface="Amiri" pitchFamily="2" charset="-78"/>
              </a:rPr>
              <a:t>Find the exact Arabic words.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guided 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غُرْفَةِ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المَطْبَخِ؟</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غُرْفَةِ الجُلُوسِ؟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غُرْفَتُكَ المُفَضَّلَةُ؟ صِفْهَا وَقُلْ 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غُرْفَةِ النَّوْمِ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يُوجَدُ ___ ، وَتُوجَدُ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هُنَاكَ ___ وَ ___ كَرَاسِي.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___ لِأَنَّهَا / لِأَنَّهُ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يُوجَدُ فِي غُرْفَةِ النَّوْمِ؟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there in the bedroom?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غُرْفَةُ النَّوْمِ وَاسِعَةٌ وَهَادِئَةٌ. فِيهَا يُوجَدُ سَرِيرٌ كَبِيرٌ وَمَكْتَبٌ صَغِيرٌ.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bedroom is spacious and quiet. In it there is a big bed and a small desk.</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Label eight items in one room and write four “in my room there is …”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one room, label eight items, then four sentences: fī ghurfatī … (no verb needed).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yūjadu / tūjadu, two descriptions and one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Yūjadu / tūjadu for every item, two descriptions, one plural,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colours, positions (on, beside, above) and non-human plural agreement (kathīra).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colours (next lesson preview), positions (on, beside, above) and kathīra with a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المَكْتَبِ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desk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بِجَانِبِ النَّافِذَةِ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window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كَرَاسِي كَثِيرَةٌ.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many chairs.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طَاوِلَةٌ وَأَرْبَعَةُ كَرَاسِي.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table and four chairs.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غُرْفَتِي سَرِيرٌ.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room there is a bed.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desk (m.).</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خِزَانَةٌ.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wardrobe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television.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سَرِيرٌ  ·  خِزَانَةٌ  ·  طَاوِلَةٌ  ·  كُرْسِيٌّ / كَرَاسِي  ·  أَرِيكَةٌ  ·  تِلْفَازٌ  ·  مِصْبَاحٌ  ·  مِرْآةٌ  ·  رُفُوفٌ  ·  يُوجَدُ  ·  تُوجَدُ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غُرْفَةُ النَّوْمِ وَاسِعَةٌ وَمُرِيحَةٌ. فِيهَا يُوجَدُ سَرِيرٌ كَبِيرٌ وَمَكْتَبٌ صَغِيرٌ. تُوجَدُ خِزَانَةٌ بَيْضَاءُ بِجَانِبِ النَّافِذَةِ، وَتُوجَدُ سَجَّادَةٌ بُنِّيَّةٌ عَلَى الأَرْضِيَّةِ. عَلَى المَكْتَبِ يُوجَدُ مِصْبَاحٌ وَحَاسُوبٌ. أُحِبُّ هَذِهِ الغُرْفَةَ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bedroom is spacious and comfortable. In it there is a big bed and a small desk. There is a white wardrobe beside the window, and there is a brown rug on the floor. On the desk there is a lamp and a computer. I love this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يُوجَدُ + masculine item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تُوجَدُ + feminine item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items.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“in my room there is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item → yūjadu; feminine item → tūjadu.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plural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of things → kathīra (f. sing.).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سَرِيرٌ.</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مِرْآةٌ.</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سَرِيرٌ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حَوْضٌ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means bed.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سَرِيرٌ.</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يُوجَدُ</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 مِرْآةٌ.</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تُوجَدُ</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مِرْآةٌ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F3-L04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F3-L05 · Colours — Full System and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a:t>
            </a:r>
            <a:pPr indent="0" marL="0">
              <a:buNone/>
            </a:pPr>
            <a:r>
              <a:rPr lang="ar-SA" sz="1000" i="1" dirty="0">
                <a:solidFill>
                  <a:srgbClr val="5A6472"/>
                </a:solidFill>
                <a:latin typeface="Calibri" pitchFamily="34" charset="0"/>
                <a:ea typeface="Amiri" pitchFamily="2" charset="-78"/>
                <a:cs typeface="Amiri" pitchFamily="2" charset="-78"/>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blue</a:t>
            </a:r>
            <a:pPr indent="0" marL="0">
              <a:buNone/>
            </a:pPr>
            <a:r>
              <a:rPr lang="ar-SA" sz="1000" i="1" dirty="0">
                <a:solidFill>
                  <a:srgbClr val="5A6472"/>
                </a:solidFill>
                <a:latin typeface="Calibri" pitchFamily="34" charset="0"/>
                <a:ea typeface="Amiri" pitchFamily="2" charset="-78"/>
                <a:cs typeface="Amiri" pitchFamily="2" charset="-78"/>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a:t>
            </a:r>
            <a:pPr indent="0" marL="0">
              <a:buNone/>
            </a:pPr>
            <a:r>
              <a:rPr lang="ar-SA" sz="1000" i="1" dirty="0">
                <a:solidFill>
                  <a:srgbClr val="5A6472"/>
                </a:solidFill>
                <a:latin typeface="Calibri" pitchFamily="34" charset="0"/>
                <a:ea typeface="Amiri" pitchFamily="2" charset="-78"/>
                <a:cs typeface="Amiri" pitchFamily="2" charset="-78"/>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white</a:t>
            </a:r>
            <a:pPr indent="0" marL="0">
              <a:buNone/>
            </a:pPr>
            <a:r>
              <a:rPr lang="ar-SA" sz="1000" i="1" dirty="0">
                <a:solidFill>
                  <a:srgbClr val="5A6472"/>
                </a:solidFill>
                <a:latin typeface="Calibri" pitchFamily="34" charset="0"/>
                <a:ea typeface="Amiri" pitchFamily="2" charset="-78"/>
                <a:cs typeface="Amiri" pitchFamily="2" charset="-78"/>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black</a:t>
            </a:r>
            <a:pPr indent="0" marL="0">
              <a:buNone/>
            </a:pPr>
            <a:r>
              <a:rPr lang="ar-SA" sz="1000" i="1" dirty="0">
                <a:solidFill>
                  <a:srgbClr val="5A6472"/>
                </a:solidFill>
                <a:latin typeface="Calibri" pitchFamily="34" charset="0"/>
                <a:ea typeface="Amiri" pitchFamily="2" charset="-78"/>
                <a:cs typeface="Amiri" pitchFamily="2" charset="-78"/>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colour is your favourite thing at home?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لَوْنُكَ المُفَضَّلُ؟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F3-L04: the Furniture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describe one room in 6–8 sentences with yūjadu / tūjadu.</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Redesign a room: label eight items and write eight sentences with positions and a plural.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F3-L05 · Colours — Full System and Agreement</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الأَلْوَانُ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look at the item — yūjadu (m.) · tūjadu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F3-L04 · Furniture and Household Items</dc:title>
  <dc:subject>PptxGenJS Presentation</dc:subject>
  <dc:creator>Al Madina Online School · Arabic Department</dc:creator>
  <cp:lastModifiedBy>Al Madina Online School · Arabic Department</cp:lastModifiedBy>
  <cp:revision>1</cp:revision>
  <dcterms:created xsi:type="dcterms:W3CDTF">2026-10-11T06:41:30Z</dcterms:created>
  <dcterms:modified xsi:type="dcterms:W3CDTF">2026-10-11T06:41:30Z</dcterms:modified>
</cp:coreProperties>
</file>