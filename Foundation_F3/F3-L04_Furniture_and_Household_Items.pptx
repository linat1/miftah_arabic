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4 (F3-L04).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F3-L03.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APPLIANCES (FLEX — they are the focus of F3-L06).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(F3-L05).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F3-L05).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(F3-L05 · Colours — Full System and Agreement) will spend class time USING this language, so students prepare it tonight — short, simple, easy to access (school guidance: “Simple, Short, Interesting, Relevant, Easy to access”). The five words come from the website F3-L05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F3  ·  F3-L04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00" b="1" dirty="0">
                <a:solidFill>
                  <a:srgbClr val="FFFFFF"/>
                </a:solidFill>
                <a:latin typeface="Cambria" pitchFamily="34" charset="0"/>
                <a:ea typeface="Cambria" pitchFamily="34" charset="-122"/>
                <a:cs typeface="Cambria" pitchFamily="34" charset="-120"/>
              </a:rPr>
              <a:t>Furniture and Household Items</a:t>
            </a:r>
            <a:endParaRPr lang="en-US" sz="36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الأَثَاثُ وَالأَغْرَاضُ المَنْزِلِيَّةُ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Furnish each room: name the core furniture and appliances with useful plurals, choose </a:t>
            </a:r>
            <a:pPr algn="l" indent="0" marL="0">
              <a:buNone/>
            </a:pPr>
            <a:r>
              <a:rPr lang="ar-SA" altLang="en-US" sz="1800" dirty="0">
                <a:solidFill>
                  <a:srgbClr val="C6D2E6"/>
                </a:solidFill>
                <a:latin typeface="Amiri" pitchFamily="34" charset="0"/>
                <a:ea typeface="Amiri" pitchFamily="34" charset="-122"/>
                <a:cs typeface="Amiri" pitchFamily="34" charset="-120"/>
              </a:rPr>
              <a:t>يُوجَدُ</a:t>
            </a:r>
            <a:pPr algn="l" indent="0" marL="0">
              <a:buNone/>
            </a:pPr>
            <a:r>
              <a:rPr lang="en-US" sz="1400" dirty="0">
                <a:solidFill>
                  <a:srgbClr val="C6D2E6"/>
                </a:solidFill>
                <a:latin typeface="Calibri" pitchFamily="34" charset="0"/>
                <a:ea typeface="Calibri" pitchFamily="34" charset="-122"/>
                <a:cs typeface="Calibri" pitchFamily="34" charset="-120"/>
              </a:rPr>
              <a:t> or </a:t>
            </a:r>
            <a:pPr algn="l" indent="0" marL="0">
              <a:buNone/>
            </a:pPr>
            <a:r>
              <a:rPr lang="ar-SA" altLang="en-US" sz="1800" dirty="0">
                <a:solidFill>
                  <a:srgbClr val="C6D2E6"/>
                </a:solidFill>
                <a:latin typeface="Amiri" pitchFamily="34" charset="0"/>
                <a:ea typeface="Amiri" pitchFamily="34" charset="-122"/>
                <a:cs typeface="Amiri" pitchFamily="34" charset="-120"/>
              </a:rPr>
              <a:t>تُوجَدُ</a:t>
            </a:r>
            <a:pPr algn="l" indent="0" marL="0">
              <a:buNone/>
            </a:pPr>
            <a:r>
              <a:rPr lang="en-US" sz="1400" dirty="0">
                <a:solidFill>
                  <a:srgbClr val="C6D2E6"/>
                </a:solidFill>
                <a:latin typeface="Calibri" pitchFamily="34" charset="0"/>
                <a:ea typeface="Calibri" pitchFamily="34" charset="-122"/>
                <a:cs typeface="Calibri" pitchFamily="34" charset="-120"/>
              </a:rPr>
              <a:t> by the gender of the item, and describe one room in detail.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F3-L04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F3 › F3-L04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سَرِيرٌ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خِزَانَةٌ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سَرِيرٌ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خِزَانَةٌ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marks location and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400" b="1" dirty="0">
                <a:solidFill>
                  <a:srgbClr val="1B3B6F"/>
                </a:solidFill>
                <a:latin typeface="Amiri" pitchFamily="34" charset="0"/>
                <a:ea typeface="Amiri" pitchFamily="34" charset="-122"/>
                <a:cs typeface="Amiri" pitchFamily="34" charset="-120"/>
              </a:rPr>
              <a:t> سَرِيرٌ · </a:t>
            </a:r>
            <a:pPr rtl="1" algn="ctr" indent="0" marL="0">
              <a:buNone/>
            </a:pPr>
            <a:r>
              <a:rPr lang="ar-SA" altLang="en-US" sz="24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400" b="1" dirty="0">
                <a:solidFill>
                  <a:srgbClr val="1B3B6F"/>
                </a:solidFill>
                <a:latin typeface="Amiri" pitchFamily="34" charset="0"/>
                <a:ea typeface="Amiri" pitchFamily="34" charset="-122"/>
                <a:cs typeface="Amiri" pitchFamily="34" charset="-120"/>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يُوجَدُ / تُوجَدُ</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‎خزانہ‎ </a:t>
            </a:r>
            <a:pPr indent="0" marL="0">
              <a:buNone/>
            </a:pPr>
            <a:r>
              <a:rPr lang="en-US" sz="950" b="1" dirty="0">
                <a:solidFill>
                  <a:srgbClr val="2E8B57"/>
                </a:solidFill>
                <a:latin typeface="Calibri" pitchFamily="34" charset="0"/>
                <a:ea typeface="Calibri" pitchFamily="34" charset="-122"/>
                <a:cs typeface="Calibri" pitchFamily="34" charset="-120"/>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‎سجادہ‎ </a:t>
            </a:r>
            <a:pPr indent="0" marL="0">
              <a:buNone/>
            </a:pPr>
            <a:r>
              <a:rPr lang="en-US" sz="950" b="1" dirty="0">
                <a:solidFill>
                  <a:srgbClr val="2E8B57"/>
                </a:solidFill>
                <a:latin typeface="Calibri" pitchFamily="34" charset="0"/>
                <a:ea typeface="Calibri" pitchFamily="34" charset="-122"/>
                <a:cs typeface="Calibri" pitchFamily="34" charset="-120"/>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‎مصباح‎ </a:t>
            </a:r>
            <a:pPr indent="0" marL="0">
              <a:buNone/>
            </a:pPr>
            <a:r>
              <a:rPr lang="en-US" sz="950" b="1" dirty="0">
                <a:solidFill>
                  <a:srgbClr val="2E8B57"/>
                </a:solidFill>
                <a:latin typeface="Calibri" pitchFamily="34" charset="0"/>
                <a:ea typeface="Calibri" pitchFamily="34" charset="-122"/>
                <a:cs typeface="Calibri" pitchFamily="34" charset="-120"/>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‎آئینہ‎ </a:t>
            </a:r>
            <a:pPr indent="0" marL="0">
              <a:buNone/>
            </a:pPr>
            <a:r>
              <a:rPr lang="en-US" sz="950" b="1" dirty="0">
                <a:solidFill>
                  <a:srgbClr val="2E8B57"/>
                </a:solidFill>
                <a:latin typeface="Calibri" pitchFamily="34" charset="0"/>
                <a:ea typeface="Calibri" pitchFamily="34" charset="-122"/>
                <a:cs typeface="Calibri" pitchFamily="34" charset="-120"/>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wardrobe / cupboard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sofa / couch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television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rug / carpet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mirror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cooker / stove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washing machine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vacuum cleaner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sink / basin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common plural is </a:t>
            </a:r>
            <a:pPr algn="l" indent="0" marL="0">
              <a:buNone/>
            </a:pPr>
            <a:r>
              <a:rPr lang="ar-SA" altLang="en-US" sz="1350" dirty="0">
                <a:solidFill>
                  <a:srgbClr val="8A6D1E"/>
                </a:solidFill>
                <a:latin typeface="Amiri" pitchFamily="34" charset="0"/>
                <a:ea typeface="Amiri" pitchFamily="34" charset="-122"/>
                <a:cs typeface="Amiri" pitchFamily="34" charset="-120"/>
              </a:rPr>
              <a:t>كَرَاسِي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فِيهَا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خِزَانَةٌ بِجَانِبِ النَّافِذَةِ،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غُرْفَةُ النَّوْمِ وَاسِعَةٌ وَمُرِيحَةٌ. فِيهَا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سَرِيرٌ كَبِيرٌ وَمَكْتَبٌ صَغِيرٌ.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خِزَانَةٌ بِجَانِبِ النَّافِذَةِ،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سَجَّادَةٌ عَلَى الأَرْضِيَّةِ. عَلَى المَكْتَبِ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Masculine item → yūjadu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Feminine item → tūjadu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تِلْفَازٌ</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سَجَّادَةٌ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كَرَاسِي</a:t>
            </a:r>
            <a:pPr algn="l" indent="0" marL="0">
              <a:buNone/>
            </a:pPr>
            <a:r>
              <a:rPr lang="en-US" sz="1050" i="1" dirty="0">
                <a:solidFill>
                  <a:srgbClr val="8A6D1E"/>
                </a:solidFill>
                <a:latin typeface="Calibri" pitchFamily="34" charset="0"/>
                <a:ea typeface="Calibri" pitchFamily="34" charset="-122"/>
                <a:cs typeface="Calibri" pitchFamily="34" charset="-120"/>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Masculine item → yūjadu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Feminine item → tūjadu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غُرْفَةَ الجُلُوسِ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Object? Negative? Number? Place?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Object? Negative? Number? Place?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guided 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غُرْفَةِ النَّوْمِ؟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المَطْبَخِ؟</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غُرْفَةِ الجُلُوسِ؟</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غُرْفَتُكَ المُفَضَّلَةُ؟ صِفْهَا وَقُلْ 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غُرْفَةِ النَّوْمِ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يُوجَدُ ___ ، وَتُوجَدُ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هُنَاكَ ___ وَ ___ كَرَاسِي.</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___ لِأَنَّهَا / لِأَنَّهُ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يُوجَدُ فِي غُرْفَةِ النَّوْمِ؟</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there in the bedroom?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غُرْفَةُ النَّوْمِ وَاسِعَةٌ وَهَادِئَةٌ. فِيهَا يُوجَدُ سَرِيرٌ كَبِيرٌ وَمَكْتَبٌ صَغِيرٌ.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bedroom is spacious and quiet. In it there is a big bed and a small desk.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مِرْآةٌ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F3-L04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F3 · My Family &amp; Home · F3-L04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F3-L05 · Colours — Full System and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red</a:t>
            </a:r>
            <a:pPr indent="0" marL="0">
              <a:buNone/>
            </a:pPr>
            <a:r>
              <a:rPr lang="en-US" sz="1000" i="1" dirty="0">
                <a:solidFill>
                  <a:srgbClr val="5A6472"/>
                </a:solidFill>
                <a:latin typeface="Calibri" pitchFamily="34" charset="0"/>
                <a:ea typeface="Calibri" pitchFamily="34" charset="-122"/>
                <a:cs typeface="Calibri" pitchFamily="34" charset="-120"/>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blue</a:t>
            </a:r>
            <a:pPr indent="0" marL="0">
              <a:buNone/>
            </a:pPr>
            <a:r>
              <a:rPr lang="en-US" sz="1000" i="1" dirty="0">
                <a:solidFill>
                  <a:srgbClr val="5A6472"/>
                </a:solidFill>
                <a:latin typeface="Calibri" pitchFamily="34" charset="0"/>
                <a:ea typeface="Calibri" pitchFamily="34" charset="-122"/>
                <a:cs typeface="Calibri" pitchFamily="34" charset="-120"/>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green</a:t>
            </a:r>
            <a:pPr indent="0" marL="0">
              <a:buNone/>
            </a:pPr>
            <a:r>
              <a:rPr lang="en-US" sz="1000" i="1" dirty="0">
                <a:solidFill>
                  <a:srgbClr val="5A6472"/>
                </a:solidFill>
                <a:latin typeface="Calibri" pitchFamily="34" charset="0"/>
                <a:ea typeface="Calibri" pitchFamily="34" charset="-122"/>
                <a:cs typeface="Calibri" pitchFamily="34" charset="-120"/>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white</a:t>
            </a:r>
            <a:pPr indent="0" marL="0">
              <a:buNone/>
            </a:pPr>
            <a:r>
              <a:rPr lang="en-US" sz="1000" i="1" dirty="0">
                <a:solidFill>
                  <a:srgbClr val="5A6472"/>
                </a:solidFill>
                <a:latin typeface="Calibri" pitchFamily="34" charset="0"/>
                <a:ea typeface="Calibri" pitchFamily="34" charset="-122"/>
                <a:cs typeface="Calibri" pitchFamily="34" charset="-120"/>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black</a:t>
            </a:r>
            <a:pPr indent="0" marL="0">
              <a:buNone/>
            </a:pPr>
            <a:r>
              <a:rPr lang="en-US" sz="1000" i="1" dirty="0">
                <a:solidFill>
                  <a:srgbClr val="5A6472"/>
                </a:solidFill>
                <a:latin typeface="Calibri" pitchFamily="34" charset="0"/>
                <a:ea typeface="Calibri" pitchFamily="34" charset="-122"/>
                <a:cs typeface="Calibri" pitchFamily="34" charset="-120"/>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F3-L04: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F3-L05 · Colours — Full System and Agreement</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الأَلْوَانُ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F3-L04 · Furniture and Household Items</dc:title>
  <dc:subject>PptxGenJS Presentation</dc:subject>
  <dc:creator>Al Madina Online School · Arabic Department</dc:creator>
  <cp:lastModifiedBy>Al Madina Online School · Arabic Department</cp:lastModifiedBy>
  <cp:revision>1</cp:revision>
  <dcterms:created xsi:type="dcterms:W3CDTF">2026-09-27T12:51:09Z</dcterms:created>
  <dcterms:modified xsi:type="dcterms:W3CDTF">2026-09-27T12:51:09Z</dcterms:modified>
</cp:coreProperties>
</file>