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F3-L07 · Learn F3-L08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F3-L07 (My Neighbourhood — Places Near My Home) and F3-L08 (Describing My Bedroom).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F3-L07 and F3-L08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F3-L07? After F3-L08?” Take two answers in the chat for each lesson (one word or one sentence is enough). Then read objective 3 — today’s new situation that needs BOTH lessons. Students tick their route goals at the end of the lesson.
F3-L07 language: places + positions: qarībun min · baʿīdun ʿan · bi-jānibi · amāma · khalfa · muqābila; directions (imshi · khudh · ʿalā al-yamīni / al-yasāri); yūjadu / tūjadu
F3-L08 language: ghurfatī + feminine adjectives (wāsiʿa · murattaba · muḍīʾa); colours and sizes that agree; positions; simple actions (anāmu · adrusu · aqraʾu fī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F3-L07.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F3-L08.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(5 min). A NEW dialogue that joins F3-L07 and F3-L08. Teacher reads it once with a confident student; then pairs. Ask: “Which lines are from F3-L07? Which from F3-L08?” Places, positions and directions come from F3-L07; the bedroom with feminine adjectives and colours from F3-L08.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places near and far, positions and directions (F3-L07) with the bedroom: adjectives, colours and positions (F3-L08). SUPPORTED: the plan column gives the first words, not the full answer. To a girl Partner A says: هَلْ بَيْتُكِ قَرِيبٌ …؟ · كَيْفَ غُرْفَتُكِ؟ — directions to a girl: امْشِي · خُذِي.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F3-L07 and F3-L08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F3-L07 and F3-L08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(43 words). CHECK YOURSELF (2 min). Find each bullet point in the model, and one phrase from F3-L07 and one from F3-L08.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F3-L07 + F3-L08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F3-W04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Welcome, Exchange Student!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أَهْلًا بِالطَّالِبِ الضَّيْفِ</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the neighbourhood and the bedroom: an exchange student is coming to stay, so they explain the way from the station, say what is near and far, describe the room the guest will share, and write a welcome email that uses both lessons.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F3-L07 + F3-L08</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F3-L07 and F3-L08.</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F3-L07 + F3-L08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F3-L07: My Neighbourhood — Places Near My Home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F3-L08: Describing My Bedroom</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a phone call before the visit · A welcome email to the exchange student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F3-L07 and F3-L08.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F3-L07</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F3-L07 · My Neighbourhood — Places Near My Home</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neighbourhood</a:t>
            </a:r>
            <a:endParaRPr lang="en-US" sz="1350" dirty="0"/>
          </a:p>
          <a:p>
            <a:pPr indent="0" marL="0">
              <a:buNone/>
            </a:pPr>
            <a:r>
              <a:rPr lang="en-US" sz="1100" i="1" dirty="0">
                <a:solidFill>
                  <a:srgbClr val="5A6472"/>
                </a:solidFill>
                <a:latin typeface="Calibri" pitchFamily="34" charset="0"/>
                <a:cs typeface="Amiri" pitchFamily="2" charset="-78"/>
              </a:rPr>
              <a:t>ḥayy</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أَحْيَاءٌ</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حَيِّي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a:t>
            </a:r>
            <a:endParaRPr lang="en-US" sz="1350" dirty="0"/>
          </a:p>
        </p:txBody>
      </p:sp>
      <p:sp>
        <p:nvSpPr>
          <p:cNvPr id="39" name="Shape 3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مَدَارِسُ</a:t>
            </a:r>
            <a:endParaRPr lang="ar-SA" sz="150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5" name="Shape 42"/>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7" name="Shape 4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50" name="Text 4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mus-tash-fā</a:t>
            </a:r>
            <a:endParaRPr lang="en-US" sz="1350" dirty="0"/>
          </a:p>
        </p:txBody>
      </p:sp>
      <p:sp>
        <p:nvSpPr>
          <p:cNvPr id="51" name="Shape 4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مُسْتَشْفَيَاتٌ</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7" name="Shape 5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مَتْجَرٌ / دُكَّانٌ</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shop</a:t>
            </a:r>
            <a:endParaRPr lang="en-US" sz="1350" dirty="0"/>
          </a:p>
          <a:p>
            <a:pPr indent="0" marL="0">
              <a:buNone/>
            </a:pPr>
            <a:r>
              <a:rPr lang="en-US" sz="1100" i="1" dirty="0">
                <a:solidFill>
                  <a:srgbClr val="5A6472"/>
                </a:solidFill>
                <a:latin typeface="Calibri" pitchFamily="34" charset="0"/>
                <a:cs typeface="Amiri" pitchFamily="2" charset="-78"/>
              </a:rPr>
              <a:t>mat-jar / duk-kān</a:t>
            </a:r>
            <a:endParaRPr lang="en-US" sz="1350" dirty="0"/>
          </a:p>
        </p:txBody>
      </p:sp>
      <p:sp>
        <p:nvSpPr>
          <p:cNvPr id="63" name="Shape 6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مَتَاجِرُ</a:t>
            </a:r>
            <a:endParaRPr lang="ar-SA" sz="1500" dirty="0"/>
          </a:p>
        </p:txBody>
      </p:sp>
      <p:sp>
        <p:nvSpPr>
          <p:cNvPr id="66" name="Shape 6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389120"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9" name="Shape 66"/>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1" name="Shape 6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حَدِيقَةٌ عَامَّةٌ</a:t>
            </a:r>
            <a:endParaRPr lang="ar-SA" sz="3000" dirty="0"/>
          </a:p>
        </p:txBody>
      </p:sp>
      <p:sp>
        <p:nvSpPr>
          <p:cNvPr id="74" name="Text 7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park</a:t>
            </a:r>
            <a:endParaRPr lang="en-US" sz="1350" dirty="0"/>
          </a:p>
          <a:p>
            <a:pPr indent="0" marL="0">
              <a:buNone/>
            </a:pPr>
            <a:r>
              <a:rPr lang="en-US" sz="1100" i="1" dirty="0">
                <a:solidFill>
                  <a:srgbClr val="5A6472"/>
                </a:solidFill>
                <a:latin typeface="Calibri" pitchFamily="34" charset="0"/>
                <a:cs typeface="Amiri" pitchFamily="2" charset="-78"/>
              </a:rPr>
              <a:t>ḥa-dī-qa ‘ām-ma</a:t>
            </a:r>
            <a:endParaRPr lang="en-US" sz="1350" dirty="0"/>
          </a:p>
        </p:txBody>
      </p:sp>
      <p:sp>
        <p:nvSpPr>
          <p:cNvPr id="75" name="Shape 72"/>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7" name="Text 74"/>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حَدَائِقُ عَامَّةٌ</a:t>
            </a:r>
            <a:endParaRPr lang="ar-SA" sz="150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1" name="Shape 7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2" name="Text 7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3" name="Text 8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مَحَطَّةٌ</a:t>
            </a:r>
            <a:endParaRPr lang="ar-SA" sz="3000" dirty="0"/>
          </a:p>
        </p:txBody>
      </p:sp>
      <p:sp>
        <p:nvSpPr>
          <p:cNvPr id="84" name="Text 8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station</a:t>
            </a:r>
            <a:endParaRPr lang="en-US" sz="1350" dirty="0"/>
          </a:p>
          <a:p>
            <a:pPr indent="0" marL="0">
              <a:buNone/>
            </a:pPr>
            <a:r>
              <a:rPr lang="en-US" sz="1100" i="1" dirty="0">
                <a:solidFill>
                  <a:srgbClr val="5A6472"/>
                </a:solidFill>
                <a:latin typeface="Calibri" pitchFamily="34" charset="0"/>
                <a:cs typeface="Amiri" pitchFamily="2" charset="-78"/>
              </a:rPr>
              <a:t>ma-ḥaṭ-ṭa</a:t>
            </a:r>
            <a:endParaRPr lang="en-US" sz="1350" dirty="0"/>
          </a:p>
        </p:txBody>
      </p:sp>
      <p:sp>
        <p:nvSpPr>
          <p:cNvPr id="85" name="Shape 82"/>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7" name="Text 84"/>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مَحَطَّاتٌ</a:t>
            </a:r>
            <a:endParaRPr lang="ar-SA" sz="15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F3-L08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F3-L08 · Describing My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سَرِيرٌ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a:t>
            </a:r>
            <a:endParaRPr lang="en-US" sz="1350" dirty="0"/>
          </a:p>
          <a:p>
            <a:pPr indent="0" marL="0">
              <a:buNone/>
            </a:pPr>
            <a:r>
              <a:rPr lang="en-US" sz="1100" i="1" dirty="0">
                <a:solidFill>
                  <a:srgbClr val="5A6472"/>
                </a:solidFill>
                <a:latin typeface="Calibri" pitchFamily="34" charset="0"/>
                <a:cs typeface="Amiri" pitchFamily="2" charset="-78"/>
              </a:rPr>
              <a:t>sa-rīr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أَسِرَّةٌ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مِرْآةٌ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mirror</a:t>
            </a:r>
            <a:endParaRPr lang="en-US" sz="1350" dirty="0"/>
          </a:p>
          <a:p>
            <a:pPr indent="0" marL="0">
              <a:buNone/>
            </a:pPr>
            <a:r>
              <a:rPr lang="en-US" sz="1100" i="1" dirty="0">
                <a:solidFill>
                  <a:srgbClr val="5A6472"/>
                </a:solidFill>
                <a:latin typeface="Calibri" pitchFamily="34" charset="0"/>
                <a:cs typeface="Amiri" pitchFamily="2" charset="-78"/>
              </a:rPr>
              <a:t>mir-’ā</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مَرَايَا</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بِطَّانِيَّةٌ</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blanket</a:t>
            </a:r>
            <a:endParaRPr lang="en-US" sz="1350" dirty="0"/>
          </a:p>
          <a:p>
            <a:pPr indent="0" marL="0">
              <a:buNone/>
            </a:pPr>
            <a:r>
              <a:rPr lang="en-US" sz="1100" i="1" dirty="0">
                <a:solidFill>
                  <a:srgbClr val="5A6472"/>
                </a:solidFill>
                <a:latin typeface="Calibri" pitchFamily="34" charset="0"/>
                <a:cs typeface="Amiri" pitchFamily="2" charset="-78"/>
              </a:rPr>
              <a:t>biṭ-ṭā-niy-ya</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بِطَّانِيَّاتٌ</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2" name="Shape 49"/>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مُرَتَّبَةٌ</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tidy</a:t>
            </a:r>
            <a:endParaRPr lang="en-US" sz="1350" dirty="0"/>
          </a:p>
          <a:p>
            <a:pPr indent="0" marL="0">
              <a:buNone/>
            </a:pPr>
            <a:r>
              <a:rPr lang="en-US" sz="1100" i="1" dirty="0">
                <a:solidFill>
                  <a:srgbClr val="5A6472"/>
                </a:solidFill>
                <a:latin typeface="Calibri" pitchFamily="34" charset="0"/>
                <a:cs typeface="Amiri" pitchFamily="2" charset="-78"/>
              </a:rPr>
              <a:t>mu-rat-ta-ba</a:t>
            </a:r>
            <a:endParaRPr lang="en-US" sz="1350" dirty="0"/>
          </a:p>
        </p:txBody>
      </p:sp>
      <p:sp>
        <p:nvSpPr>
          <p:cNvPr id="58" name="Shape 55"/>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0" name="Text 57"/>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مُرَتَّبَةٌ</a:t>
            </a:r>
            <a:endParaRPr lang="ar-SA" sz="1500" dirty="0"/>
          </a:p>
        </p:txBody>
      </p:sp>
      <p:sp>
        <p:nvSpPr>
          <p:cNvPr id="61" name="Shape 58"/>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3" name="Text 60"/>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مُرَتَّبٌ</a:t>
            </a:r>
            <a:endParaRPr lang="ar-SA" sz="150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7" name="Shape 64"/>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9" name="Shape 6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وَاسِعَةٌ</a:t>
            </a:r>
            <a:endParaRPr lang="ar-SA" sz="3000" dirty="0"/>
          </a:p>
        </p:txBody>
      </p:sp>
      <p:sp>
        <p:nvSpPr>
          <p:cNvPr id="72" name="Text 6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spacious</a:t>
            </a:r>
            <a:endParaRPr lang="en-US" sz="1350" dirty="0"/>
          </a:p>
          <a:p>
            <a:pPr indent="0" marL="0">
              <a:buNone/>
            </a:pPr>
            <a:r>
              <a:rPr lang="en-US" sz="1100" i="1" dirty="0">
                <a:solidFill>
                  <a:srgbClr val="5A6472"/>
                </a:solidFill>
                <a:latin typeface="Calibri" pitchFamily="34" charset="0"/>
                <a:cs typeface="Amiri" pitchFamily="2" charset="-78"/>
              </a:rPr>
              <a:t>wā-si-‘a</a:t>
            </a:r>
            <a:endParaRPr lang="en-US" sz="1350" dirty="0"/>
          </a:p>
        </p:txBody>
      </p:sp>
      <p:sp>
        <p:nvSpPr>
          <p:cNvPr id="73" name="Shape 70"/>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5" name="Text 72"/>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وَاسِعَةٌ</a:t>
            </a:r>
            <a:endParaRPr lang="ar-SA" sz="1500" dirty="0"/>
          </a:p>
        </p:txBody>
      </p:sp>
      <p:sp>
        <p:nvSpPr>
          <p:cNvPr id="76" name="Shape 73"/>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8" name="Text 75"/>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وَاسِعٌ</a:t>
            </a:r>
            <a:endParaRPr lang="ar-SA" sz="150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2" name="Shape 7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4" name="Shape 8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5" name="Text 8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6" name="Text 8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مُرِيحَةٌ</a:t>
            </a:r>
            <a:endParaRPr lang="ar-SA" sz="3000" dirty="0"/>
          </a:p>
        </p:txBody>
      </p:sp>
      <p:sp>
        <p:nvSpPr>
          <p:cNvPr id="87" name="Text 8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mu-rī-ḥa</a:t>
            </a:r>
            <a:endParaRPr lang="en-US" sz="1350" dirty="0"/>
          </a:p>
        </p:txBody>
      </p:sp>
      <p:sp>
        <p:nvSpPr>
          <p:cNvPr id="88" name="Shape 85"/>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0" name="Text 87"/>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مُرِيحَةٌ</a:t>
            </a:r>
            <a:endParaRPr lang="ar-SA" sz="1500" dirty="0"/>
          </a:p>
        </p:txBody>
      </p:sp>
      <p:sp>
        <p:nvSpPr>
          <p:cNvPr id="91" name="Shape 88"/>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3" name="Text 90"/>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a:t>
            </a:r>
            <a:endParaRPr lang="ar-SA" sz="15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حَيِّي يُوجَدُ … وَتُوجَدُ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غُرْفَتِي … وَ… ، لٰكِنَّهَا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 أَزْرَقُ · تُوجَدُ … زَرْقَاءُ</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بِجَانِبِ / مُقَابِلَ / أَمَامَ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قَرِيبٌ مِنْ … · بَعِيدٌ عَنْ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بِجَانِبِ / تَحْتَ / فَوْقَ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أُحِبُّهَا لِأَنَّهَا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بَيْتِي: امْشِ … ثُمَّ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F3-L07 · My Neighbourhood — Places Near My Home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F3-L08 · Describing My Bedroom</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F3-L07 · My Neighbourhood — Places Near My Home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حَيِّي يُوجَدُ … وَتُوجَدُ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بِجَانِبِ / مُقَابِلَ / أَمَامَ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قَرِيبٌ مِنْ … · بَعِيدٌ عَنْ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بَيْتِي: امْشِ … ثُمَّ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F3-L08 · Describing My Bedroom</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غُرْفَتِي … وَ… ، لٰكِنَّهَا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 أَزْرَقُ · تُوجَدُ … زَرْقَاءُ</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بِجَانِبِ / تَحْتَ / فَوْقَ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أُحِبُّهَا لِأَنَّهَا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guest arrives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وَصَلَ الضَّيْفُ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house near the station?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البَيْتُ قَرِيبٌ مِنَ المَحَطَّةِ؟</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 walk along the street, then take the first street on the right.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نَعَمْ، امْشِ فِي الشَّارِعِ، ثُمَّ خُذْ أَوَّلَ شَارِعٍ عَلَى اليَمِينِ.</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there in the neighbourhood?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يُوجَدُ فِي الحَيِّ؟</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a mosque next to the house, and the park is opposite the school.</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يُوجَدُ مَسْجِدٌ بِجَانِبِ البَيْتِ، وَالحَدِيقَةُ العَامَّةُ مُقَابِلَ المَدْرَسَةِ.</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is your room like?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وَكَيْفَ غُرْفَتُكَ؟</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room is spacious and bright. In it there are two beds and a blue wardrobe.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غُرْفَتِي وَاسِعَةٌ وَمُضِيئَةٌ. فِيهَا سَرِيرَانِ وَخِزَانَةٌ زَرْقَاءُ.</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لَا يُوجَدُ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حَيِّي يُوجَدُ … وَتُوجَدُ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there in your neighbourhood?</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حَيِّكَ؟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لٰكِنَّهَا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غُرْفَتِي … وَ…</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room like?</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غُرْفَتُكَ؟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عَشْرُ دَقَائِقَ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نَعَمْ، قَرِيبَةٌ مِنْ … / لَا، بَعِيدَةٌ عَنْ …</a:t>
            </a:r>
            <a:endParaRPr lang="ar-SA" sz="155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school near your home?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المَدْرَسَةُ قَرِيبَةٌ مِنْ بَيْتِكَ؟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وَالبِطَّانِيَّةُ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سَرِيرِي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is your bed?</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 سَرِيرِكَ؟</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وَخَلْفَهُ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أَمَامَ بَيْتِي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front of your house?</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أَمَامَ بَيْتِكَ؟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بِجَانِبِ / فَوْقَ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المِرْآةُ … ← عَلَى الحَائِطِ</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mirror in your room?</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المِرْآةُ فِي غُرْفَتِكَ؟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F3-L07, even numbers from F3-L08.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Role-play card — a phone call before the visit</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مُكَالَمَةٌ قَبْلَ الزِّيَارَةِ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بَيْتِي قَرِيبٌ مِنْ … / لَا، بَعِيدٌ عَنْ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near or far.</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بَيْتُكَ قَرِيبٌ مِنَ المَحَطَّةِ؟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امْشِ … ثُمَّ خُذْ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two directions.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أَصِلُ إِلَى بَيْتِكَ؟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يُوجَدُ … بِجَانِبِ … وَ… مُقَابِلَ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places and where they are.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قَرِيبًا مِنْ بَيْتِكَ؟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غُرْفَتِي … وَ… ، لٰكِنَّهَا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room with three adjectives.</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غُرْفَتُكَ؟</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ضَعْهَا … تَحْتَ / بِجَانِبِ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the guest can put the bag.</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أَضَعُ حَقِيبَتِي؟</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host student · Partner A = the exchange student.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my street to my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شَارِعِي إِلَى غُرْفَتِي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name three places in your neighbourhood and where they are, say one place that is near and one that is far, then describe your bedroom (size, two adjectives, three objects with colours).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فِي حَيِّي يُوجَدُ … · غُرْفَتِي … وَ…</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positions: </a:t>
            </a:r>
            <a:pPr algn="l" indent="0" marL="0">
              <a:buNone/>
            </a:pPr>
            <a:r>
              <a:rPr lang="ar-SA" altLang="en-US" sz="1500" dirty="0">
                <a:solidFill>
                  <a:srgbClr val="1F2A37"/>
                </a:solidFill>
                <a:latin typeface="Amiri" pitchFamily="2" charset="-78"/>
                <a:ea typeface="Amiri" pitchFamily="2" charset="-78"/>
                <a:cs typeface="Amiri" pitchFamily="2" charset="-78"/>
              </a:rPr>
              <a:t>بِجَانِبِ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مُقَابِلَ</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أَمَامَ</a:t>
            </a:r>
            <a:pPr algn="l" indent="0" marL="0">
              <a:buNone/>
            </a:pPr>
            <a:r>
              <a:rPr lang="en-US" sz="1150" dirty="0">
                <a:solidFill>
                  <a:srgbClr val="1F2A37"/>
                </a:solidFill>
                <a:latin typeface="Calibri" pitchFamily="34" charset="0"/>
                <a:cs typeface="Amiri" pitchFamily="2" charset="-78"/>
              </a:rPr>
              <a:t> — and colours that agree.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direction (</a:t>
            </a:r>
            <a:pPr algn="l" indent="0" marL="0">
              <a:buNone/>
            </a:pPr>
            <a:r>
              <a:rPr lang="ar-SA" altLang="en-US" sz="1500" dirty="0">
                <a:solidFill>
                  <a:srgbClr val="1F2A37"/>
                </a:solidFill>
                <a:latin typeface="Amiri" pitchFamily="2" charset="-78"/>
                <a:ea typeface="Amiri" pitchFamily="2" charset="-78"/>
                <a:cs typeface="Amiri" pitchFamily="2" charset="-78"/>
              </a:rPr>
              <a:t>امْشِ … ثُمَّ</a:t>
            </a:r>
            <a:pPr algn="l" indent="0" marL="0">
              <a:buNone/>
            </a:pPr>
            <a:r>
              <a:rPr lang="en-US" sz="1150" dirty="0">
                <a:solidFill>
                  <a:srgbClr val="1F2A37"/>
                </a:solidFill>
                <a:latin typeface="Calibri" pitchFamily="34" charset="0"/>
                <a:cs typeface="Amiri" pitchFamily="2" charset="-78"/>
              </a:rPr>
              <a:t> …) and what you do in your room (</a:t>
            </a:r>
            <a:pPr algn="l" indent="0" marL="0">
              <a:buNone/>
            </a:pPr>
            <a:r>
              <a:rPr lang="ar-SA" altLang="en-US" sz="1500" dirty="0">
                <a:solidFill>
                  <a:srgbClr val="1F2A37"/>
                </a:solidFill>
                <a:latin typeface="Amiri" pitchFamily="2" charset="-78"/>
                <a:ea typeface="Amiri" pitchFamily="2" charset="-78"/>
                <a:cs typeface="Amiri" pitchFamily="2" charset="-78"/>
              </a:rPr>
              <a:t>أَنَامُ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أَدْرُسُ</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أَقْرَأُ</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حَيِّي يُوجَدُ … وَتُوجَدُ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area there is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 قَرِيبٌ مِنْ … · بَعِيدٌ عَنْ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 near … · far from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غُرْفَتِي وَاسِعَةٌ وَمُضِيئَةٌ</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room is spacious and bright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خِزَانَةٌ زَرْقَاءُ · سَرِيرٌ أَبْيَضُ</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blue wardrobe · a white bed</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bank is opposite the station.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البَنْكُ</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المَحَطَّةِ.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المَحَطَّةُ.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room is spacious and bright.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غُرْفَتِي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غُرْفَتُكَ</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وَاسِعَةٌ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وَاسِعٌ</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وَمُضِيئَةٌ.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وَمُضِيءٌ.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school is far from my home.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المَدْرَسَةُ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المَدْرَسَةَ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بَعِيدَةٌ عَنْ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بَعِيدٌ مِنْ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بَيْتِي.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bank is opposite the station.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مُقَابِلَ</a:t>
            </a:r>
            <a:pPr algn="l" indent="0" marL="0">
              <a:buNone/>
            </a:pPr>
            <a:r>
              <a:rPr lang="en-US" sz="1050" i="1" dirty="0">
                <a:solidFill>
                  <a:srgbClr val="5A6472"/>
                </a:solidFill>
                <a:latin typeface="Calibri" pitchFamily="34" charset="0"/>
                <a:cs typeface="Amiri" pitchFamily="2" charset="-78"/>
              </a:rPr>
              <a:t> + genitive: </a:t>
            </a:r>
            <a:pPr algn="l" indent="0" marL="0">
              <a:buNone/>
            </a:pPr>
            <a:r>
              <a:rPr lang="ar-SA" altLang="en-US" sz="1350" dirty="0">
                <a:solidFill>
                  <a:srgbClr val="5A6472"/>
                </a:solidFill>
                <a:latin typeface="Amiri" pitchFamily="2" charset="-78"/>
                <a:ea typeface="Amiri" pitchFamily="2" charset="-78"/>
                <a:cs typeface="Amiri" pitchFamily="2" charset="-78"/>
              </a:rPr>
              <a:t>المَحَطَّةِ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البَنْكُ مُقَابِلَ المَحَطَّةِ.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room is spacious and bright.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غُرْفَةٌ</a:t>
            </a:r>
            <a:pPr algn="l" indent="0" marL="0">
              <a:buNone/>
            </a:pPr>
            <a:r>
              <a:rPr lang="en-US" sz="1050" i="1" dirty="0">
                <a:solidFill>
                  <a:srgbClr val="5A6472"/>
                </a:solidFill>
                <a:latin typeface="Calibri" pitchFamily="34" charset="0"/>
                <a:cs typeface="Amiri" pitchFamily="2" charset="-78"/>
              </a:rPr>
              <a:t> is feminine → both adjectives with </a:t>
            </a:r>
            <a:pPr algn="l" indent="0" marL="0">
              <a:buNone/>
            </a:pPr>
            <a:r>
              <a:rPr lang="ar-SA" altLang="en-US" sz="1350" dirty="0">
                <a:solidFill>
                  <a:srgbClr val="5A6472"/>
                </a:solidFill>
                <a:latin typeface="Amiri" pitchFamily="2" charset="-78"/>
                <a:ea typeface="Amiri" pitchFamily="2" charset="-78"/>
                <a:cs typeface="Amiri" pitchFamily="2" charset="-78"/>
              </a:rPr>
              <a:t>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غُرْفَتِي وَاسِعَةٌ وَمُضِيئَةٌ.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school is far from my home.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school is feminine → </a:t>
            </a:r>
            <a:pPr algn="l" indent="0" marL="0">
              <a:buNone/>
            </a:pPr>
            <a:r>
              <a:rPr lang="ar-SA" altLang="en-US" sz="1350" dirty="0">
                <a:solidFill>
                  <a:srgbClr val="5A6472"/>
                </a:solidFill>
                <a:latin typeface="Amiri" pitchFamily="2" charset="-78"/>
                <a:ea typeface="Amiri" pitchFamily="2" charset="-78"/>
                <a:cs typeface="Amiri" pitchFamily="2" charset="-78"/>
              </a:rPr>
              <a:t>بَعِيدَةٌ</a:t>
            </a:r>
            <a:pPr algn="l" indent="0" marL="0">
              <a:buNone/>
            </a:pPr>
            <a:r>
              <a:rPr lang="en-US" sz="1050" i="1" dirty="0">
                <a:solidFill>
                  <a:srgbClr val="5A6472"/>
                </a:solidFill>
                <a:latin typeface="Calibri" pitchFamily="34" charset="0"/>
                <a:cs typeface="Amiri" pitchFamily="2" charset="-78"/>
              </a:rPr>
              <a:t>; far FROM = </a:t>
            </a:r>
            <a:pPr algn="l" indent="0" marL="0">
              <a:buNone/>
            </a:pPr>
            <a:r>
              <a:rPr lang="ar-SA" altLang="en-US" sz="1350" dirty="0">
                <a:solidFill>
                  <a:srgbClr val="5A6472"/>
                </a:solidFill>
                <a:latin typeface="Amiri" pitchFamily="2" charset="-78"/>
                <a:ea typeface="Amiri" pitchFamily="2" charset="-78"/>
                <a:cs typeface="Amiri" pitchFamily="2" charset="-78"/>
              </a:rPr>
              <a:t>عَنْ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المَدْرَسَةُ بَعِيدَةٌ عَنْ بَيْتِي.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المَسْجِدُ قَرِيبٌ عَنْ بَيْتِي.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near … which little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غُرْفَتِي مُرَتَّبٌ.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غُرْفَةٌ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صَيْدَلِيَّةٌ فِي شَارِعِي.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صَيْدَلِيَّةٌ</a:t>
            </a:r>
            <a:pPr algn="l" indent="0" marL="0">
              <a:buNone/>
            </a:pPr>
            <a:r>
              <a:rPr lang="en-US" sz="1300" i="1" dirty="0">
                <a:solidFill>
                  <a:srgbClr val="5A6472"/>
                </a:solidFill>
                <a:latin typeface="Calibri" pitchFamily="34" charset="0"/>
                <a:cs typeface="Amiri" pitchFamily="2" charset="-78"/>
              </a:rPr>
              <a:t> ends in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المَسْجِدُ قَرِيبٌ عَنْ بَيْتِي.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المَسْجِدُ قَرِيبٌ مِنْ بَيْتِي.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near = </a:t>
            </a:r>
            <a:pPr algn="l" indent="0" marL="0">
              <a:buNone/>
            </a:pPr>
            <a:r>
              <a:rPr lang="ar-SA" altLang="en-US" sz="1500" b="1" dirty="0">
                <a:solidFill>
                  <a:srgbClr val="1B3B6F"/>
                </a:solidFill>
                <a:latin typeface="Amiri" pitchFamily="2" charset="-78"/>
                <a:ea typeface="Amiri" pitchFamily="2" charset="-78"/>
                <a:cs typeface="Amiri" pitchFamily="2" charset="-78"/>
              </a:rPr>
              <a:t>قَرِيبٌ مِنْ</a:t>
            </a:r>
            <a:pPr algn="l" indent="0" marL="0">
              <a:buNone/>
            </a:pPr>
            <a:r>
              <a:rPr lang="en-US" sz="1150" b="1" dirty="0">
                <a:solidFill>
                  <a:srgbClr val="1B3B6F"/>
                </a:solidFill>
                <a:latin typeface="Calibri" pitchFamily="34" charset="0"/>
                <a:cs typeface="Amiri" pitchFamily="2" charset="-78"/>
              </a:rPr>
              <a:t>; far = </a:t>
            </a:r>
            <a:pPr algn="l" indent="0" marL="0">
              <a:buNone/>
            </a:pPr>
            <a:r>
              <a:rPr lang="ar-SA" altLang="en-US" sz="1500" b="1" dirty="0">
                <a:solidFill>
                  <a:srgbClr val="1B3B6F"/>
                </a:solidFill>
                <a:latin typeface="Amiri" pitchFamily="2" charset="-78"/>
                <a:ea typeface="Amiri" pitchFamily="2" charset="-78"/>
                <a:cs typeface="Amiri" pitchFamily="2" charset="-78"/>
              </a:rPr>
              <a:t>بَعِيدٌ عَنْ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غُرْفَتِي مُرَتَّبٌ.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غُرْفَتِي مُرَتَّبَةٌ.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مُرَتَّبَةٌ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صَيْدَلِيَّةٌ فِي شَارِعِي.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صَيْدَلِيَّةٌ فِي شَارِعِي.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place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مِنَ المَحَطَّةِ: امْشِ ______ ، ثُمَّ خُذْ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the station: walk …, then take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بِجَانِبِ / مُقَابِلَ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next to / opposite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______ بَعِيدٌ عَنِ البَيْتِ.</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 is far from the house.</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يَا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حَيِّي يُوجَدُ ______ ، وَتُوجَدُ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area there is … and there is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البَيْتُ قَرِيبٌ مِنْ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house is near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______ وَ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 and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فِيهَا سَرِيرٌ ______ وَخِزَانَةٌ ______ .</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it there is a … bed and a … wardrobe.</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مَسْجِدٌ · مَكْتَبَةٌ  ·  صَيْدَلِيَّةٌ · مَحَطَّةٌ  ·  بِجَانِبِ · مُقَابِلَ · أَمَامَ  ·  قَرِيبٌ مِنْ · بَعِيدٌ عَنْ  ·  امْشِ · خُذْ · ثُمَّ  ·  وَاسِعَةٌ · مُرِيحَةٌ  ·  نَظِيفَةٌ · مُضِيئَةٌ  ·  أَزْرَقُ · زَرْقَاءُ</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A welcome email to the exchange student</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تَرْحِيبٍ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an email (about 45–65 words) to the exchange student. Include: • a greeting • three places in your neighbourhood and where they are • one place near and one place far • the way from the station • your bedroom: size, two adjectives, three objects with colours • a polite closing.</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F3-L07 AND F3-L08.</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حَيِّي يُوجَدُ … وَتُوجَدُ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area there is … and there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البَيْتُ قَرِيبٌ مِنْ … ، لٰكِنَّهُ بَعِيدٌ عَنْ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house is near … but far from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المَحَطَّةِ: امْشِ … ثُمَّ خُذْ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the station: walk … then take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 وَ… ، وَفِيهَا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room is … and …, and in it there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four places and say where they are?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colours that agree and at least two positions?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بَيْتِي قَرِيبٌ مِنَ المَحَطَّةِ.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my house is near the station.</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بَيْتُكَ قَرِيبٌ مِنَ المَحَطَّةِ؟</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امْشِ مُسْتَقِيمًا، ثُمَّ خُذِ الشَّارِعَ الثَّانِيَ عَلَى اليَسَارِ.</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Walk straight on, then take the second street on the left.</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أَصِلُ إِلَى بَيْتِكَ؟</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تُوجَدُ صَيْدَلِيَّةٌ بِجَانِبِ البَيْتِ، وَمَكْتَبَةٌ مُقَابِلَ المَسْجِدِ.</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pharmacy next to the house, and a library opposite the mosque.</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يُوجَدُ قَرِيبًا مِنْ بَيْتِكَ؟</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غُرْفَتِي مُرِيحَةٌ وَنَظِيفَةٌ، لٰكِنَّهَا صَغِيرَةٌ قَلِيلًا.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room is comfortable and clean, but it is a little small.</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غُرْفَتُكَ؟</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ضَعْهَا بِجَانِبِ الخِزَانَةِ، تَحْتَ النَّافِذَةِ.</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Put it next to the wardrobe, under the window.</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أَضَعُ حَقِيبَتِي؟</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يَا سَامِي! بَيْتِي قَرِيبٌ مِنَ المَحَطَّةِ: امْشِ مُسْتَقِيمًا، ثُمَّ خُذْ أَوَّلَ شَارِعٍ عَلَى اليَمِينِ. فِي حَيِّي يُوجَدُ مَسْجِدٌ بِجَانِبِ البَيْتِ، وَتُوجَدُ مَكْتَبَةٌ مُقَابِلَ المَدْرَسَةِ، لٰكِنَّ المُسْتَشْفَى بَعِيدٌ. غُرْفَتِي وَاسِعَةٌ وَمُضِيئَةٌ. فِيهَا سَرِيرَانِ أَبْيَضَانِ، وَخِزَانَةٌ زَرْقَاءُ، وَسَجَّادَةٌ حَمْرَاءُ تَحْتَ النَّافِذَةِ. إِلَى اللِّقَاءِ قَرِيبًا!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Sami! My house is near the station: walk straight on, then take the first street on the right. In my area there is a mosque next to the house, and there is a library opposite the school, but the hospital is far. My room is spacious and bright. In it there are two white beds, a blue wardrobe and a red rug under the window. See you soon!”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قَرِيبٌ مِنَ المَحَطَّةِ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مُقَابِلَ المَدْرَسَةِ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وَاسِعَةٌ وَمُضِيئَةٌ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خِزَانَةٌ زَرْقَاءُ</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F3-W04 · Apply workshop (F3-L07 + F3-L08)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F3-L07 and F3-L08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F3-W04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F3-L09 · Extended Writing: My Home and Family</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المُطَوَّلَةُ — بَيْتِي وَعَائِلَتِي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F3-W04 · Apply Workshop — Welcome, Exchange Student!</dc:title>
  <dc:subject>PptxGenJS Presentation</dc:subject>
  <dc:creator>Al Madina Online School · Arabic Department</dc:creator>
  <cp:lastModifiedBy>Al Madina Online School · Arabic Department</cp:lastModifiedBy>
  <cp:revision>1</cp:revision>
  <dcterms:created xsi:type="dcterms:W3CDTF">2026-10-26T15:17:24Z</dcterms:created>
  <dcterms:modified xsi:type="dcterms:W3CDTF">2026-10-26T15:17:24Z</dcterms:modified>
</cp:coreProperties>
</file>