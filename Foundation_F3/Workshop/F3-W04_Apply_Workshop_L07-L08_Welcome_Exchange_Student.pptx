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F3-L07 · Learn F3-L08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30–45 seconds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F3-L07 (My Neighbourhood — Places Near My Home) and F3-L08 (Describing My Bedroom).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F3-L07 and F3-L08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F3-L07? After F3-L08?” Take two answers in the chat for each lesson (one word or one sentence is enough). Then read objective 3 — today’s new situation that needs BOTH lessons. Students tick their route goals at the end of the lesson.
F3-L07 language: places + positions: qarībun min · baʿīdun ʿan · bi-jānibi · amāma · khalfa · muqābila; directions (imshi · khudh · ʿalā al-yamīni / al-yasāri); yūjadu / tūjadu
F3-L08 language: ghurfatī + feminine adjectives (wāsiʿa · murattaba · muḍīʾa); colours and sizes that agree; positions; simple actions (anāmu · adrusu · aqraʾu fī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F3-L07.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F3-L08.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(5 min). A NEW dialogue that joins F3-L07 and F3-L08. Teacher reads it once with a confident student; then pairs. Ask: “Which lines are from F3-L07? Which from F3-L08?” Places, positions and directions come from F3-L07; the bedroom with feminine adjectives and colours from F3-L08.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places near and far, positions and directions (F3-L07) with the bedroom: adjectives, colours and positions (F3-L08). SUPPORTED: the plan column gives the first words, not the full answer. To a girl Partner A says: هَلْ بَيْتُكِ قَرِيبٌ …؟ · كَيْفَ غُرْفَتُكِ؟ — directions to a girl: امْشِي · خُذِي.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F3-L07 and F3-L08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F3-L07 and F3-L08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(30–40 words). Develop: 40–70 words, frames only if stuck. Stretch: no frames, add reasons.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(43 words). CHECK YOURSELF (2 min). Find each bullet point in the model, and one phrase from F3-L07 and one from F3-L08.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F3  ·  F3-L07 + F3-L08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F3-W04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Welcome, Exchange Student!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أَهْلًا بِالطَّالِبِ الضَّيْفِ</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join the neighbourhood and the bedroom: an exchange student is coming to stay, so they explain the way from the station, say what is near and far, describe the room the guest will share, and write a welcome email that uses both lessons.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F3-L07 + F3-L08</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F3 › F3-L08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F3-W04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F3-W04 · Apply workshop (F3-L07 + F3-L08)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F3-W04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F3-W04 · Apply workshop (F3-L07 + F3-L08)</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F3-L07 and F3-L08.</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F3-W04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F3-L07 + F3-L08</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F3-W04 · Apply workshop (F3-L07 + F3-L08)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F3-L07: My Neighbourhood — Places Near My Home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F3-L08: Describing My Bedroom</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a phone call before the visit · A welcome email to the exchange student</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30–45 seconds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Add a reason (</a:t>
            </a:r>
            <a:pPr algn="l" indent="0" marL="0">
              <a:buNone/>
            </a:pPr>
            <a:r>
              <a:rPr lang="ar-SA" altLang="en-US" sz="1700" b="1" dirty="0">
                <a:solidFill>
                  <a:srgbClr val="B83227"/>
                </a:solidFill>
                <a:latin typeface="Amiri" pitchFamily="2" charset="-78"/>
                <a:ea typeface="Amiri" pitchFamily="2" charset="-78"/>
                <a:cs typeface="Amiri" pitchFamily="2" charset="-78"/>
              </a:rPr>
              <a:t>لِأَنَّ</a:t>
            </a:r>
            <a:pPr algn="l" indent="0" marL="0">
              <a:buNone/>
            </a:pPr>
            <a:r>
              <a:rPr lang="en-US" sz="1300" b="1" dirty="0">
                <a:solidFill>
                  <a:srgbClr val="B83227"/>
                </a:solidFill>
                <a:latin typeface="Calibri" pitchFamily="34" charset="0"/>
                <a:cs typeface="Amiri" pitchFamily="2" charset="-78"/>
              </a:rPr>
              <a:t>) and an extra detail to every point.</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F3-W04 · Apply workshop (F3-L07 + F3-L08)</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F3-L07 and F3-L08.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F3-W04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F3-L07</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F3-L07 · My Neighbourhood — Places Near My Home</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F3-W04 · Apply workshop (F3-L07 + F3-L08)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neighbourhood</a:t>
            </a:r>
            <a:endParaRPr lang="en-US" sz="1350" dirty="0"/>
          </a:p>
          <a:p>
            <a:pPr indent="0" marL="0">
              <a:buNone/>
            </a:pPr>
            <a:r>
              <a:rPr lang="en-US" sz="1100" i="1" dirty="0">
                <a:solidFill>
                  <a:srgbClr val="5A6472"/>
                </a:solidFill>
                <a:latin typeface="Calibri" pitchFamily="34" charset="0"/>
                <a:cs typeface="Amiri" pitchFamily="2" charset="-78"/>
              </a:rPr>
              <a:t>ḥayy</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أَحْيَاءٌ</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حَيِّي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مَدْرَسَةٌ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school</a:t>
            </a:r>
            <a:endParaRPr lang="en-US" sz="1350" dirty="0"/>
          </a:p>
          <a:p>
            <a:pPr indent="0" marL="0">
              <a:buNone/>
            </a:pPr>
            <a:r>
              <a:rPr lang="en-US" sz="1100" i="1" dirty="0">
                <a:solidFill>
                  <a:srgbClr val="5A6472"/>
                </a:solidFill>
                <a:latin typeface="Calibri" pitchFamily="34" charset="0"/>
                <a:cs typeface="Amiri" pitchFamily="2" charset="-78"/>
              </a:rPr>
              <a:t>mad-ra-sa</a:t>
            </a:r>
            <a:endParaRPr lang="en-US" sz="1350" dirty="0"/>
          </a:p>
        </p:txBody>
      </p:sp>
      <p:sp>
        <p:nvSpPr>
          <p:cNvPr id="39" name="Shape 3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مَدَارِسُ</a:t>
            </a:r>
            <a:endParaRPr lang="ar-SA" sz="1500" dirty="0"/>
          </a:p>
        </p:txBody>
      </p:sp>
      <p:sp>
        <p:nvSpPr>
          <p:cNvPr id="42" name="Shape 3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1920240"/>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5" name="Shape 42"/>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47" name="Shape 4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9" name="Text 4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مُسْتَشْفًى</a:t>
            </a:r>
            <a:endParaRPr lang="ar-SA" sz="3000" dirty="0"/>
          </a:p>
        </p:txBody>
      </p:sp>
      <p:sp>
        <p:nvSpPr>
          <p:cNvPr id="50" name="Text 4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hospital</a:t>
            </a:r>
            <a:endParaRPr lang="en-US" sz="1350" dirty="0"/>
          </a:p>
          <a:p>
            <a:pPr indent="0" marL="0">
              <a:buNone/>
            </a:pPr>
            <a:r>
              <a:rPr lang="en-US" sz="1100" i="1" dirty="0">
                <a:solidFill>
                  <a:srgbClr val="5A6472"/>
                </a:solidFill>
                <a:latin typeface="Calibri" pitchFamily="34" charset="0"/>
                <a:cs typeface="Amiri" pitchFamily="2" charset="-78"/>
              </a:rPr>
              <a:t>mus-tash-fā</a:t>
            </a:r>
            <a:endParaRPr lang="en-US" sz="1350" dirty="0"/>
          </a:p>
        </p:txBody>
      </p:sp>
      <p:sp>
        <p:nvSpPr>
          <p:cNvPr id="51" name="Shape 4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3" name="Text 5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مُسْتَشْفَيَاتٌ</a:t>
            </a:r>
            <a:endParaRPr lang="ar-SA" sz="150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7" name="Shape 54"/>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59" name="Shape 5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1" name="Text 5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مَتْجَرٌ / دُكَّانٌ</a:t>
            </a:r>
            <a:endParaRPr lang="ar-SA" sz="3000" dirty="0"/>
          </a:p>
        </p:txBody>
      </p:sp>
      <p:sp>
        <p:nvSpPr>
          <p:cNvPr id="62" name="Text 5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shop</a:t>
            </a:r>
            <a:endParaRPr lang="en-US" sz="1350" dirty="0"/>
          </a:p>
          <a:p>
            <a:pPr indent="0" marL="0">
              <a:buNone/>
            </a:pPr>
            <a:r>
              <a:rPr lang="en-US" sz="1100" i="1" dirty="0">
                <a:solidFill>
                  <a:srgbClr val="5A6472"/>
                </a:solidFill>
                <a:latin typeface="Calibri" pitchFamily="34" charset="0"/>
                <a:cs typeface="Amiri" pitchFamily="2" charset="-78"/>
              </a:rPr>
              <a:t>mat-jar / duk-kān</a:t>
            </a:r>
            <a:endParaRPr lang="en-US" sz="1350" dirty="0"/>
          </a:p>
        </p:txBody>
      </p:sp>
      <p:sp>
        <p:nvSpPr>
          <p:cNvPr id="63" name="Shape 6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5" name="Text 62"/>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مَتَاجِرُ</a:t>
            </a:r>
            <a:endParaRPr lang="ar-SA" sz="1500" dirty="0"/>
          </a:p>
        </p:txBody>
      </p:sp>
      <p:sp>
        <p:nvSpPr>
          <p:cNvPr id="66" name="Shape 6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4389120" y="4261104"/>
            <a:ext cx="310896" cy="310896"/>
          </a:xfrm>
          <a:prstGeom prst="ellipse">
            <a:avLst/>
          </a:prstGeom>
          <a:solidFill>
            <a:srgbClr val="F4F1EA"/>
          </a:solidFill>
          <a:ln w="12700">
            <a:solidFill>
              <a:srgbClr val="F4F1EA"/>
            </a:solidFill>
            <a:prstDash val="solid"/>
          </a:ln>
        </p:spPr>
      </p:sp>
      <p:sp>
        <p:nvSpPr>
          <p:cNvPr id="68" name="Text 6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9" name="Shape 66"/>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0" name="Text 67"/>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71" name="Shape 6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2" name="Text 6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3" name="Text 70"/>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حَدِيقَةٌ عَامَّةٌ</a:t>
            </a:r>
            <a:endParaRPr lang="ar-SA" sz="3000" dirty="0"/>
          </a:p>
        </p:txBody>
      </p:sp>
      <p:sp>
        <p:nvSpPr>
          <p:cNvPr id="74" name="Text 71"/>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public park</a:t>
            </a:r>
            <a:endParaRPr lang="en-US" sz="1350" dirty="0"/>
          </a:p>
          <a:p>
            <a:pPr indent="0" marL="0">
              <a:buNone/>
            </a:pPr>
            <a:r>
              <a:rPr lang="en-US" sz="1100" i="1" dirty="0">
                <a:solidFill>
                  <a:srgbClr val="5A6472"/>
                </a:solidFill>
                <a:latin typeface="Calibri" pitchFamily="34" charset="0"/>
                <a:cs typeface="Amiri" pitchFamily="2" charset="-78"/>
              </a:rPr>
              <a:t>ḥa-dī-qa ‘ām-ma</a:t>
            </a:r>
            <a:endParaRPr lang="en-US" sz="1350" dirty="0"/>
          </a:p>
        </p:txBody>
      </p:sp>
      <p:sp>
        <p:nvSpPr>
          <p:cNvPr id="75" name="Shape 72"/>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7" name="Text 74"/>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حَدَائِقُ عَامَّةٌ</a:t>
            </a:r>
            <a:endParaRPr lang="ar-SA" sz="1500" dirty="0"/>
          </a:p>
        </p:txBody>
      </p:sp>
      <p:sp>
        <p:nvSpPr>
          <p:cNvPr id="78" name="Shape 7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6"/>
          <p:cNvSpPr/>
          <p:nvPr/>
        </p:nvSpPr>
        <p:spPr>
          <a:xfrm>
            <a:off x="566928" y="4261104"/>
            <a:ext cx="310896" cy="310896"/>
          </a:xfrm>
          <a:prstGeom prst="ellipse">
            <a:avLst/>
          </a:prstGeom>
          <a:solidFill>
            <a:srgbClr val="F4F1EA"/>
          </a:solidFill>
          <a:ln w="12700">
            <a:solidFill>
              <a:srgbClr val="F4F1EA"/>
            </a:solidFill>
            <a:prstDash val="solid"/>
          </a:ln>
        </p:spPr>
      </p:sp>
      <p:sp>
        <p:nvSpPr>
          <p:cNvPr id="80" name="Text 7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81" name="Shape 78"/>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2" name="Text 79"/>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83" name="Text 80"/>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مَحَطَّةٌ</a:t>
            </a:r>
            <a:endParaRPr lang="ar-SA" sz="3000" dirty="0"/>
          </a:p>
        </p:txBody>
      </p:sp>
      <p:sp>
        <p:nvSpPr>
          <p:cNvPr id="84" name="Text 81"/>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station</a:t>
            </a:r>
            <a:endParaRPr lang="en-US" sz="1350" dirty="0"/>
          </a:p>
          <a:p>
            <a:pPr indent="0" marL="0">
              <a:buNone/>
            </a:pPr>
            <a:r>
              <a:rPr lang="en-US" sz="1100" i="1" dirty="0">
                <a:solidFill>
                  <a:srgbClr val="5A6472"/>
                </a:solidFill>
                <a:latin typeface="Calibri" pitchFamily="34" charset="0"/>
                <a:cs typeface="Amiri" pitchFamily="2" charset="-78"/>
              </a:rPr>
              <a:t>ma-ḥaṭ-ṭa</a:t>
            </a:r>
            <a:endParaRPr lang="en-US" sz="1350" dirty="0"/>
          </a:p>
        </p:txBody>
      </p:sp>
      <p:sp>
        <p:nvSpPr>
          <p:cNvPr id="85" name="Shape 82"/>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7" name="Text 84"/>
          <p:cNvSpPr txBox="1"/>
          <p:nvPr/>
        </p:nvSpPr>
        <p:spPr>
          <a:xfrm>
            <a:off x="640080"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مَحَطَّاتٌ</a:t>
            </a:r>
            <a:endParaRPr lang="ar-SA" sz="150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F3-W04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F3-L08</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F3-L08 · Describing My Bedroom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F3-W04 · Apply workshop (F3-L07 + F3-L08)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سَرِيرٌ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bed</a:t>
            </a:r>
            <a:endParaRPr lang="en-US" sz="1350" dirty="0"/>
          </a:p>
          <a:p>
            <a:pPr indent="0" marL="0">
              <a:buNone/>
            </a:pPr>
            <a:r>
              <a:rPr lang="en-US" sz="1100" i="1" dirty="0">
                <a:solidFill>
                  <a:srgbClr val="5A6472"/>
                </a:solidFill>
                <a:latin typeface="Calibri" pitchFamily="34" charset="0"/>
                <a:cs typeface="Amiri" pitchFamily="2" charset="-78"/>
              </a:rPr>
              <a:t>sa-rīr</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أَسِرَّةٌ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مِرْآةٌ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mirror</a:t>
            </a:r>
            <a:endParaRPr lang="en-US" sz="1350" dirty="0"/>
          </a:p>
          <a:p>
            <a:pPr indent="0" marL="0">
              <a:buNone/>
            </a:pPr>
            <a:r>
              <a:rPr lang="en-US" sz="1100" i="1" dirty="0">
                <a:solidFill>
                  <a:srgbClr val="5A6472"/>
                </a:solidFill>
                <a:latin typeface="Calibri" pitchFamily="34" charset="0"/>
                <a:cs typeface="Amiri" pitchFamily="2" charset="-78"/>
              </a:rPr>
              <a:t>mir-’ā</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مَرَايَا</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2" name="Shape 39"/>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بِطَّانِيَّةٌ</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blanket</a:t>
            </a:r>
            <a:endParaRPr lang="en-US" sz="1350" dirty="0"/>
          </a:p>
          <a:p>
            <a:pPr indent="0" marL="0">
              <a:buNone/>
            </a:pPr>
            <a:r>
              <a:rPr lang="en-US" sz="1100" i="1" dirty="0">
                <a:solidFill>
                  <a:srgbClr val="5A6472"/>
                </a:solidFill>
                <a:latin typeface="Calibri" pitchFamily="34" charset="0"/>
                <a:cs typeface="Amiri" pitchFamily="2" charset="-78"/>
              </a:rPr>
              <a:t>biṭ-ṭā-niy-ya</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8" name="Text 45"/>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بِطَّانِيَّاتٌ</a:t>
            </a:r>
            <a:endParaRPr lang="ar-SA" sz="150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2" name="Shape 49"/>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54" name="Shape 5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مُرَتَّبَةٌ</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tidy</a:t>
            </a:r>
            <a:endParaRPr lang="en-US" sz="1350" dirty="0"/>
          </a:p>
          <a:p>
            <a:pPr indent="0" marL="0">
              <a:buNone/>
            </a:pPr>
            <a:r>
              <a:rPr lang="en-US" sz="1100" i="1" dirty="0">
                <a:solidFill>
                  <a:srgbClr val="5A6472"/>
                </a:solidFill>
                <a:latin typeface="Calibri" pitchFamily="34" charset="0"/>
                <a:cs typeface="Amiri" pitchFamily="2" charset="-78"/>
              </a:rPr>
              <a:t>mu-rat-ta-ba</a:t>
            </a:r>
            <a:endParaRPr lang="en-US" sz="1350" dirty="0"/>
          </a:p>
        </p:txBody>
      </p:sp>
      <p:sp>
        <p:nvSpPr>
          <p:cNvPr id="58" name="Shape 55"/>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0" name="Text 57"/>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مُرَتَّبَةٌ</a:t>
            </a:r>
            <a:endParaRPr lang="ar-SA" sz="1500" dirty="0"/>
          </a:p>
        </p:txBody>
      </p:sp>
      <p:sp>
        <p:nvSpPr>
          <p:cNvPr id="61" name="Shape 58"/>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3" name="Text 60"/>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مُرَتَّبٌ</a:t>
            </a:r>
            <a:endParaRPr lang="ar-SA" sz="1500" dirty="0"/>
          </a:p>
        </p:txBody>
      </p:sp>
      <p:sp>
        <p:nvSpPr>
          <p:cNvPr id="64" name="Shape 6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4389120" y="4261104"/>
            <a:ext cx="310896" cy="310896"/>
          </a:xfrm>
          <a:prstGeom prst="ellipse">
            <a:avLst/>
          </a:prstGeom>
          <a:solidFill>
            <a:srgbClr val="F4F1EA"/>
          </a:solidFill>
          <a:ln w="12700">
            <a:solidFill>
              <a:srgbClr val="F4F1EA"/>
            </a:solidFill>
            <a:prstDash val="solid"/>
          </a:ln>
        </p:spPr>
      </p:sp>
      <p:sp>
        <p:nvSpPr>
          <p:cNvPr id="66" name="Text 6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67" name="Shape 64"/>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8" name="Text 65"/>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69" name="Shape 6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0" name="Text 6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1" name="Text 68"/>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وَاسِعَةٌ</a:t>
            </a:r>
            <a:endParaRPr lang="ar-SA" sz="3000" dirty="0"/>
          </a:p>
        </p:txBody>
      </p:sp>
      <p:sp>
        <p:nvSpPr>
          <p:cNvPr id="72" name="Text 69"/>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spacious</a:t>
            </a:r>
            <a:endParaRPr lang="en-US" sz="1350" dirty="0"/>
          </a:p>
          <a:p>
            <a:pPr indent="0" marL="0">
              <a:buNone/>
            </a:pPr>
            <a:r>
              <a:rPr lang="en-US" sz="1100" i="1" dirty="0">
                <a:solidFill>
                  <a:srgbClr val="5A6472"/>
                </a:solidFill>
                <a:latin typeface="Calibri" pitchFamily="34" charset="0"/>
                <a:cs typeface="Amiri" pitchFamily="2" charset="-78"/>
              </a:rPr>
              <a:t>wā-si-‘a</a:t>
            </a:r>
            <a:endParaRPr lang="en-US" sz="1350" dirty="0"/>
          </a:p>
        </p:txBody>
      </p:sp>
      <p:sp>
        <p:nvSpPr>
          <p:cNvPr id="73" name="Shape 70"/>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74" name="Text 71"/>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5" name="Text 72"/>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وَاسِعَةٌ</a:t>
            </a:r>
            <a:endParaRPr lang="ar-SA" sz="1500" dirty="0"/>
          </a:p>
        </p:txBody>
      </p:sp>
      <p:sp>
        <p:nvSpPr>
          <p:cNvPr id="76" name="Shape 73"/>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8" name="Text 75"/>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وَاسِعٌ</a:t>
            </a:r>
            <a:endParaRPr lang="ar-SA" sz="1500" dirty="0"/>
          </a:p>
        </p:txBody>
      </p:sp>
      <p:sp>
        <p:nvSpPr>
          <p:cNvPr id="79" name="Shape 7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566928" y="4261104"/>
            <a:ext cx="310896" cy="310896"/>
          </a:xfrm>
          <a:prstGeom prst="ellipse">
            <a:avLst/>
          </a:prstGeom>
          <a:solidFill>
            <a:srgbClr val="F4F1EA"/>
          </a:solidFill>
          <a:ln w="12700">
            <a:solidFill>
              <a:srgbClr val="F4F1EA"/>
            </a:solidFill>
            <a:prstDash val="solid"/>
          </a:ln>
        </p:spPr>
      </p:sp>
      <p:sp>
        <p:nvSpPr>
          <p:cNvPr id="81" name="Text 7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82" name="Shape 79"/>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3" name="Text 80"/>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84" name="Shape 81"/>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5" name="Text 82"/>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6" name="Text 8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مُرِيحَةٌ</a:t>
            </a:r>
            <a:endParaRPr lang="ar-SA" sz="3000" dirty="0"/>
          </a:p>
        </p:txBody>
      </p:sp>
      <p:sp>
        <p:nvSpPr>
          <p:cNvPr id="87" name="Text 8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comfortable</a:t>
            </a:r>
            <a:endParaRPr lang="en-US" sz="1350" dirty="0"/>
          </a:p>
          <a:p>
            <a:pPr indent="0" marL="0">
              <a:buNone/>
            </a:pPr>
            <a:r>
              <a:rPr lang="en-US" sz="1100" i="1" dirty="0">
                <a:solidFill>
                  <a:srgbClr val="5A6472"/>
                </a:solidFill>
                <a:latin typeface="Calibri" pitchFamily="34" charset="0"/>
                <a:cs typeface="Amiri" pitchFamily="2" charset="-78"/>
              </a:rPr>
              <a:t>mu-rī-ḥa</a:t>
            </a:r>
            <a:endParaRPr lang="en-US" sz="1350" dirty="0"/>
          </a:p>
        </p:txBody>
      </p:sp>
      <p:sp>
        <p:nvSpPr>
          <p:cNvPr id="88" name="Shape 85"/>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0" name="Text 87"/>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مُرِيحَةٌ</a:t>
            </a:r>
            <a:endParaRPr lang="ar-SA" sz="1500" dirty="0"/>
          </a:p>
        </p:txBody>
      </p:sp>
      <p:sp>
        <p:nvSpPr>
          <p:cNvPr id="91" name="Shape 88"/>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3" name="Text 90"/>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مُرِيحٌ</a:t>
            </a:r>
            <a:endParaRPr lang="ar-SA" sz="15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F3-W04 · Apply workshop (F3-L07 + F3-L08)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حَيِّي يُوجَدُ … وَتُوجَدُ …</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غُرْفَتِي … وَ… ، لٰكِنَّهَا …</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يُوجَدُ … أَزْرَقُ · تُوجَدُ … زَرْقَاءُ</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بِجَانِبِ / مُقَابِلَ / أَمَامَ …</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قَرِيبٌ مِنْ … · بَعِيدٌ عَنْ …</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بِجَانِبِ / تَحْتَ / فَوْقَ …</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أُحِبُّهَا لِأَنَّهَا …</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بَيْتِي: امْشِ … ثُمَّ …</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F3-L07 · My Neighbourhood — Places Near My Home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F3-L08 · Describing My Bedroom</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F3-W04 · Apply workshop (F3-L07 + F3-L08)</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F3-L07 · My Neighbourhood — Places Near My Home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حَيِّي يُوجَدُ … وَتُوجَدُ …</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بِجَانِبِ / مُقَابِلَ / أَمَامَ …</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قَرِيبٌ مِنْ … · بَعِيدٌ عَنْ …</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بَيْتِي: امْشِ … ثُمَّ …</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F3-L08 · Describing My Bedroom</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غُرْفَتِي … وَ… ، لٰكِنَّهَا …</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يُوجَدُ … أَزْرَقُ · تُوجَدُ … زَرْقَاءُ</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بِجَانِبِ / تَحْتَ / فَوْقَ …</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أُحِبُّهَا لِأَنَّهَا …</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guest arrives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وَصَلَ الضَّيْفُ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F3-W04 · Apply workshop (F3-L07 + F3-L08)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the house near the station?</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هَلِ البَيْتُ قَرِيبٌ مِنَ المَحَطَّةِ؟</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 — walk along the street, then take the first street on the right.</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نَعَمْ، امْشِ فِي الشَّارِعِ، ثُمَّ خُذْ أَوَّلَ شَارِعٍ عَلَى اليَمِينِ.</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there in the neighbourhood?</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مَاذَا يُوجَدُ فِي الحَيِّ؟</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There is a mosque next to the house, and the park is opposite the school.</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يُوجَدُ مَسْجِدٌ بِجَانِبِ البَيْتِ، وَالحَدِيقَةُ العَامَّةُ مُقَابِلَ المَدْرَسَةِ.</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what is your room like?</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وَكَيْفَ غُرْفَتُكَ؟</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room is spacious and bright. In it there are two beds and a blue wardrobe.</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غُرْفَتِي وَاسِعَةٌ وَمُضِيئَةٌ. فِيهَا سَرِيرَانِ وَخِزَانَةٌ زَرْقَاءُ.</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F3-W04 · Apply workshop (F3-L07 + F3-L08)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وَلٰكِنْ لَا يُوجَدُ …</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فِي حَيِّي يُوجَدُ … وَتُوجَدُ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there in your neighbourhood?</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يُوجَدُ فِي حَيِّكَ؟</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لٰكِنَّهَا …</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غُرْفَتِي … وَ…</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room like?</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غُرْفَتُكَ؟</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عَشْرُ دَقَائِقَ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ea typeface="Amiri" pitchFamily="2" charset="-78"/>
                <a:cs typeface="Amiri" pitchFamily="2" charset="-78"/>
              </a:rPr>
              <a:t>نَعَمْ، قَرِيبَةٌ مِنْ … / لَا، بَعِيدَةٌ عَنْ …</a:t>
            </a:r>
            <a:endParaRPr lang="ar-SA" sz="155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the school near your home?</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المَدْرَسَةُ قَرِيبَةٌ مِنْ بَيْتِكَ؟</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وَالبِطَّانِيَّةُ …</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سَرِيرِي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colour is your bed?</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لَوْنُ سَرِيرِكَ؟</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وَخَلْفَهُ …</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أَمَامَ بَيْتِي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in front of your house?</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يُوجَدُ أَمَامَ بَيْتِكَ؟</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بِجَانِبِ / فَوْقَ …</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المِرْآةُ … ← عَلَى الحَائِطِ</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is the mirror in your room?</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المِرْآةُ فِي غُرْفَتِكَ؟</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F3-L07, even numbers from F3-L08.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5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Role-play card — a phone call before the visit</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مُكَالَمَةٌ قَبْلَ الزِّيَارَةِ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F3-W04 · Apply workshop (F3-L07 + F3-L08)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 نَعَمْ، بَيْتِي قَرِيبٌ مِنْ … / لَا، بَعِيدٌ عَنْ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near or far.</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بَيْتُكَ قَرِيبٌ مِنَ المَحَطَّةِ؟</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 امْشِ … ثُمَّ خُذْ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two directions.</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أَصِلُ إِلَى بَيْتِكَ؟</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75320" y="3741725"/>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يُوجَدُ … بِجَانِبِ … وَ… مُقَابِلَ …</a:t>
            </a:r>
            <a:endParaRPr lang="ar-SA" sz="16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two places and where they are.</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يُوجَدُ قَرِيبًا مِنْ بَيْتِكَ؟</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75320" y="4478731"/>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 غُرْفَتِي … وَ… ، لٰكِنَّهَا …</a:t>
            </a:r>
            <a:endParaRPr lang="ar-SA" sz="1600" dirty="0"/>
          </a:p>
        </p:txBody>
      </p:sp>
      <p:sp>
        <p:nvSpPr>
          <p:cNvPr id="43" name="Text 40"/>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the room with three adjectives.</a:t>
            </a:r>
            <a:endParaRPr lang="en-US" sz="1100" dirty="0"/>
          </a:p>
        </p:txBody>
      </p:sp>
      <p:sp>
        <p:nvSpPr>
          <p:cNvPr id="44" name="Text 41"/>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غُرْفَتُكَ؟</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75320" y="521573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أَيْنَ ← ضَعْهَا … تَحْتَ / بِجَانِبِ …</a:t>
            </a:r>
            <a:endParaRPr lang="ar-SA" sz="1600" dirty="0"/>
          </a:p>
        </p:txBody>
      </p:sp>
      <p:sp>
        <p:nvSpPr>
          <p:cNvPr id="50" name="Text 47"/>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where the guest can put the bag.</a:t>
            </a:r>
            <a:endParaRPr lang="en-US" sz="1100" dirty="0"/>
          </a:p>
        </p:txBody>
      </p:sp>
      <p:sp>
        <p:nvSpPr>
          <p:cNvPr id="51" name="Text 48"/>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أَضَعُ حَقِيبَتِي؟</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the host student · Partner A = the exchange student. Read the plan for 1 minute, then hide it and speak. Task ! is a surprise. Then swap roles.</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30–45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From my street to my 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شَارِعِي إِلَى غُرْفَتِي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F3-W04 · Apply workshop (F3-L07 + F3-L08)</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000" b="1" dirty="0">
                <a:solidFill>
                  <a:srgbClr val="1B3B6F"/>
                </a:solidFill>
                <a:latin typeface="Calibri" pitchFamily="34" charset="0"/>
                <a:cs typeface="Amiri" pitchFamily="2" charset="-78"/>
              </a:rPr>
              <a:t>⏱  Talk for 30–45 seconds — use both lessons</a:t>
            </a:r>
            <a:endParaRPr lang="en-US" sz="20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30–45 seconds: name three places in your neighbourhood and where they are, say one place that is near and one that is far, then describe your bedroom (size, two adjectives, three objects with colours).</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فِي حَيِّي يُوجَدُ … · غُرْفَتِي … وَ…</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Use positions: </a:t>
            </a:r>
            <a:pPr algn="l" indent="0" marL="0">
              <a:buNone/>
            </a:pPr>
            <a:r>
              <a:rPr lang="ar-SA" altLang="en-US" sz="1500" dirty="0">
                <a:solidFill>
                  <a:srgbClr val="1F2A37"/>
                </a:solidFill>
                <a:latin typeface="Amiri" pitchFamily="2" charset="-78"/>
                <a:ea typeface="Amiri" pitchFamily="2" charset="-78"/>
                <a:cs typeface="Amiri" pitchFamily="2" charset="-78"/>
              </a:rPr>
              <a:t>بِجَانِبِ</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مُقَابِلَ</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أَمَامَ</a:t>
            </a:r>
            <a:pPr algn="l" indent="0" marL="0">
              <a:buNone/>
            </a:pPr>
            <a:r>
              <a:rPr lang="en-US" sz="1150" dirty="0">
                <a:solidFill>
                  <a:srgbClr val="1F2A37"/>
                </a:solidFill>
                <a:latin typeface="Calibri" pitchFamily="34" charset="0"/>
                <a:cs typeface="Amiri" pitchFamily="2" charset="-78"/>
              </a:rPr>
              <a:t> — and colours that agree.</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 direction (</a:t>
            </a:r>
            <a:pPr algn="l" indent="0" marL="0">
              <a:buNone/>
            </a:pPr>
            <a:r>
              <a:rPr lang="ar-SA" altLang="en-US" sz="1500" dirty="0">
                <a:solidFill>
                  <a:srgbClr val="1F2A37"/>
                </a:solidFill>
                <a:latin typeface="Amiri" pitchFamily="2" charset="-78"/>
                <a:ea typeface="Amiri" pitchFamily="2" charset="-78"/>
                <a:cs typeface="Amiri" pitchFamily="2" charset="-78"/>
              </a:rPr>
              <a:t>امْشِ … ثُمَّ</a:t>
            </a:r>
            <a:pPr algn="l" indent="0" marL="0">
              <a:buNone/>
            </a:pPr>
            <a:r>
              <a:rPr lang="en-US" sz="1150" dirty="0">
                <a:solidFill>
                  <a:srgbClr val="1F2A37"/>
                </a:solidFill>
                <a:latin typeface="Calibri" pitchFamily="34" charset="0"/>
                <a:cs typeface="Amiri" pitchFamily="2" charset="-78"/>
              </a:rPr>
              <a:t> …) and what you do in your room (</a:t>
            </a:r>
            <a:pPr algn="l" indent="0" marL="0">
              <a:buNone/>
            </a:pPr>
            <a:r>
              <a:rPr lang="ar-SA" altLang="en-US" sz="1500" dirty="0">
                <a:solidFill>
                  <a:srgbClr val="1F2A37"/>
                </a:solidFill>
                <a:latin typeface="Amiri" pitchFamily="2" charset="-78"/>
                <a:ea typeface="Amiri" pitchFamily="2" charset="-78"/>
                <a:cs typeface="Amiri" pitchFamily="2" charset="-78"/>
              </a:rPr>
              <a:t>أَنَامُ</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أَدْرُسُ</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أَقْرَأُ</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حَيِّي يُوجَدُ … وَتُوجَدُ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area there is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 قَرِيبٌ مِنْ … · بَعِيدٌ عَنْ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 near … · far from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غُرْفَتِي وَاسِعَةٌ وَمُضِيئَةٌ</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my room is spacious and bright</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خِزَانَةٌ زَرْقَاءُ · سَرِيرٌ أَبْيَضُ</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blue wardrobe · a white bed</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F3-W04 · Apply workshop (F3-L07 + F3-L08)</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bank is opposite the station.</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البَنْكُ</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بَنْكٌ</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مُقَابِلَ</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مُقَابِلُ</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المَحَطَّةِ.</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المَحَطَّةُ.</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My room is spacious and bright.</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غُرْفَتِي</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غُرْفَتُكَ</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وَاسِعَةٌ</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وَاسِعٌ</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وَمُضِيئَةٌ.</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وَمُضِيءٌ.</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school is far from my home.</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المَدْرَسَةُ</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المَدْرَسَةَ</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بَعِيدَةٌ عَنْ</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بَعِيدٌ مِنْ</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بَيْتِي.</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بَيْتُ.</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F3-W04 · Apply workshop (F3-L07 + F3-L08)</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bank is opposite the station.</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مُقَابِلَ</a:t>
            </a:r>
            <a:pPr algn="l" indent="0" marL="0">
              <a:buNone/>
            </a:pPr>
            <a:r>
              <a:rPr lang="en-US" sz="1050" i="1" dirty="0">
                <a:solidFill>
                  <a:srgbClr val="5A6472"/>
                </a:solidFill>
                <a:latin typeface="Calibri" pitchFamily="34" charset="0"/>
                <a:cs typeface="Amiri" pitchFamily="2" charset="-78"/>
              </a:rPr>
              <a:t> + genitive: </a:t>
            </a:r>
            <a:pPr algn="l" indent="0" marL="0">
              <a:buNone/>
            </a:pPr>
            <a:r>
              <a:rPr lang="ar-SA" altLang="en-US" sz="1350" dirty="0">
                <a:solidFill>
                  <a:srgbClr val="5A6472"/>
                </a:solidFill>
                <a:latin typeface="Amiri" pitchFamily="2" charset="-78"/>
                <a:ea typeface="Amiri" pitchFamily="2" charset="-78"/>
                <a:cs typeface="Amiri" pitchFamily="2" charset="-78"/>
              </a:rPr>
              <a:t>المَحَطَّةِ</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البَنْكُ مُقَابِلَ المَحَطَّةِ.</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My room is spacious and bright.</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غُرْفَةٌ</a:t>
            </a:r>
            <a:pPr algn="l" indent="0" marL="0">
              <a:buNone/>
            </a:pPr>
            <a:r>
              <a:rPr lang="en-US" sz="1050" i="1" dirty="0">
                <a:solidFill>
                  <a:srgbClr val="5A6472"/>
                </a:solidFill>
                <a:latin typeface="Calibri" pitchFamily="34" charset="0"/>
                <a:cs typeface="Amiri" pitchFamily="2" charset="-78"/>
              </a:rPr>
              <a:t> is feminine → both adjectives with </a:t>
            </a:r>
            <a:pPr algn="l" indent="0" marL="0">
              <a:buNone/>
            </a:pPr>
            <a:r>
              <a:rPr lang="ar-SA" altLang="en-US" sz="1350" dirty="0">
                <a:solidFill>
                  <a:srgbClr val="5A6472"/>
                </a:solidFill>
                <a:latin typeface="Amiri" pitchFamily="2" charset="-78"/>
                <a:ea typeface="Amiri" pitchFamily="2" charset="-78"/>
                <a:cs typeface="Amiri" pitchFamily="2" charset="-78"/>
              </a:rPr>
              <a:t>ة</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غُرْفَتِي وَاسِعَةٌ وَمُضِيئَةٌ.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school is far from my home.</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school is feminine → </a:t>
            </a:r>
            <a:pPr algn="l" indent="0" marL="0">
              <a:buNone/>
            </a:pPr>
            <a:r>
              <a:rPr lang="ar-SA" altLang="en-US" sz="1350" dirty="0">
                <a:solidFill>
                  <a:srgbClr val="5A6472"/>
                </a:solidFill>
                <a:latin typeface="Amiri" pitchFamily="2" charset="-78"/>
                <a:ea typeface="Amiri" pitchFamily="2" charset="-78"/>
                <a:cs typeface="Amiri" pitchFamily="2" charset="-78"/>
              </a:rPr>
              <a:t>بَعِيدَةٌ</a:t>
            </a:r>
            <a:pPr algn="l" indent="0" marL="0">
              <a:buNone/>
            </a:pPr>
            <a:r>
              <a:rPr lang="en-US" sz="1050" i="1" dirty="0">
                <a:solidFill>
                  <a:srgbClr val="5A6472"/>
                </a:solidFill>
                <a:latin typeface="Calibri" pitchFamily="34" charset="0"/>
                <a:cs typeface="Amiri" pitchFamily="2" charset="-78"/>
              </a:rPr>
              <a:t>; far FROM = </a:t>
            </a:r>
            <a:pPr algn="l" indent="0" marL="0">
              <a:buNone/>
            </a:pPr>
            <a:r>
              <a:rPr lang="ar-SA" altLang="en-US" sz="1350" dirty="0">
                <a:solidFill>
                  <a:srgbClr val="5A6472"/>
                </a:solidFill>
                <a:latin typeface="Amiri" pitchFamily="2" charset="-78"/>
                <a:ea typeface="Amiri" pitchFamily="2" charset="-78"/>
                <a:cs typeface="Amiri" pitchFamily="2" charset="-78"/>
              </a:rPr>
              <a:t>عَنْ</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المَدْرَسَةُ بَعِيدَةٌ عَنْ بَيْتِي.</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F3-W04 · Apply workshop (F3-L07 + F3-L08)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المَسْجِدُ قَرِيبٌ عَنْ بَيْتِي.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near … which little word?</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غُرْفَتِي مُرَتَّبٌ.</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غُرْفَةٌ</a:t>
            </a:r>
            <a:pPr algn="l" indent="0" marL="0">
              <a:buNone/>
            </a:pPr>
            <a:r>
              <a:rPr lang="en-US" sz="1300" i="1" dirty="0">
                <a:solidFill>
                  <a:srgbClr val="5A6472"/>
                </a:solidFill>
                <a:latin typeface="Calibri" pitchFamily="34" charset="0"/>
                <a:cs typeface="Amiri" pitchFamily="2" charset="-78"/>
              </a:rPr>
              <a:t> is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يُوجَدُ صَيْدَلِيَّةٌ فِي شَارِعِي.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صَيْدَلِيَّةٌ</a:t>
            </a:r>
            <a:pPr algn="l" indent="0" marL="0">
              <a:buNone/>
            </a:pPr>
            <a:r>
              <a:rPr lang="en-US" sz="1300" i="1" dirty="0">
                <a:solidFill>
                  <a:srgbClr val="5A6472"/>
                </a:solidFill>
                <a:latin typeface="Calibri" pitchFamily="34" charset="0"/>
                <a:cs typeface="Amiri" pitchFamily="2" charset="-78"/>
              </a:rPr>
              <a:t> ends in </a:t>
            </a:r>
            <a:pPr algn="l" indent="0" marL="0">
              <a:buNone/>
            </a:pPr>
            <a:r>
              <a:rPr lang="ar-SA" altLang="en-US" sz="1700" dirty="0">
                <a:solidFill>
                  <a:srgbClr val="5A6472"/>
                </a:solidFill>
                <a:latin typeface="Amiri" pitchFamily="2" charset="-78"/>
                <a:ea typeface="Amiri" pitchFamily="2" charset="-78"/>
                <a:cs typeface="Amiri" pitchFamily="2" charset="-78"/>
              </a:rPr>
              <a:t>ة</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F3-W04 · Apply workshop (F3-L07 + F3-L08)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المَسْجِدُ قَرِيبٌ عَنْ بَيْتِي.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المَسْجِدُ قَرِيبٌ مِنْ بَيْتِي.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near = </a:t>
            </a:r>
            <a:pPr algn="l" indent="0" marL="0">
              <a:buNone/>
            </a:pPr>
            <a:r>
              <a:rPr lang="ar-SA" altLang="en-US" sz="1500" b="1" dirty="0">
                <a:solidFill>
                  <a:srgbClr val="1B3B6F"/>
                </a:solidFill>
                <a:latin typeface="Amiri" pitchFamily="2" charset="-78"/>
                <a:ea typeface="Amiri" pitchFamily="2" charset="-78"/>
                <a:cs typeface="Amiri" pitchFamily="2" charset="-78"/>
              </a:rPr>
              <a:t>قَرِيبٌ مِنْ</a:t>
            </a:r>
            <a:pPr algn="l" indent="0" marL="0">
              <a:buNone/>
            </a:pPr>
            <a:r>
              <a:rPr lang="en-US" sz="1150" b="1" dirty="0">
                <a:solidFill>
                  <a:srgbClr val="1B3B6F"/>
                </a:solidFill>
                <a:latin typeface="Calibri" pitchFamily="34" charset="0"/>
                <a:cs typeface="Amiri" pitchFamily="2" charset="-78"/>
              </a:rPr>
              <a:t>; far = </a:t>
            </a:r>
            <a:pPr algn="l" indent="0" marL="0">
              <a:buNone/>
            </a:pPr>
            <a:r>
              <a:rPr lang="ar-SA" altLang="en-US" sz="1500" b="1" dirty="0">
                <a:solidFill>
                  <a:srgbClr val="1B3B6F"/>
                </a:solidFill>
                <a:latin typeface="Amiri" pitchFamily="2" charset="-78"/>
                <a:ea typeface="Amiri" pitchFamily="2" charset="-78"/>
                <a:cs typeface="Amiri" pitchFamily="2" charset="-78"/>
              </a:rPr>
              <a:t>بَعِيدٌ عَنْ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غُرْفَتِي مُرَتَّبٌ.</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غُرْفَتِي مُرَتَّبَةٌ.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noun → </a:t>
            </a:r>
            <a:pPr algn="l" indent="0" marL="0">
              <a:buNone/>
            </a:pPr>
            <a:r>
              <a:rPr lang="ar-SA" altLang="en-US" sz="1500" b="1" dirty="0">
                <a:solidFill>
                  <a:srgbClr val="1B3B6F"/>
                </a:solidFill>
                <a:latin typeface="Amiri" pitchFamily="2" charset="-78"/>
                <a:ea typeface="Amiri" pitchFamily="2" charset="-78"/>
                <a:cs typeface="Amiri" pitchFamily="2" charset="-78"/>
              </a:rPr>
              <a:t>مُرَتَّبَةٌ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يُوجَدُ صَيْدَلِيَّةٌ فِي شَارِعِي.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تُوجَدُ صَيْدَلِيَّةٌ فِي شَارِعِي.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place → </a:t>
            </a:r>
            <a:pPr algn="l" indent="0" marL="0">
              <a:buNone/>
            </a:pPr>
            <a:r>
              <a:rPr lang="ar-SA" altLang="en-US" sz="1500" b="1" dirty="0">
                <a:solidFill>
                  <a:srgbClr val="1B3B6F"/>
                </a:solidFill>
                <a:latin typeface="Amiri" pitchFamily="2" charset="-78"/>
                <a:ea typeface="Amiri" pitchFamily="2" charset="-78"/>
                <a:cs typeface="Amiri" pitchFamily="2" charset="-78"/>
              </a:rPr>
              <a:t>تُوجَدُ</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F3-W04 · Apply workshop (F3-L07 + F3-L08)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مِنَ المَحَطَّةِ: امْشِ ______ ، ثُمَّ خُذْ ______ .</a:t>
            </a:r>
            <a:endParaRPr lang="ar-SA" sz="17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From the station: walk …, then take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بِجَانِبِ / مُقَابِلَ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next to / opposite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لٰكِنَّ ______ بَعِيدٌ عَنِ البَيْتِ.</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But … is far from the house.</a:t>
            </a:r>
            <a:endParaRPr lang="en-US" sz="1050" dirty="0"/>
          </a:p>
        </p:txBody>
      </p:sp>
      <p:sp>
        <p:nvSpPr>
          <p:cNvPr id="24" name="Shape 21"/>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7" name="Text 24"/>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أَهْلًا يَا ______ !</a:t>
            </a:r>
            <a:endParaRPr lang="ar-SA" sz="1800" dirty="0"/>
          </a:p>
        </p:txBody>
      </p:sp>
      <p:sp>
        <p:nvSpPr>
          <p:cNvPr id="28" name="Text 25"/>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Hello, …!</a:t>
            </a:r>
            <a:endParaRPr lang="en-US" sz="1050" dirty="0"/>
          </a:p>
        </p:txBody>
      </p:sp>
      <p:sp>
        <p:nvSpPr>
          <p:cNvPr id="29" name="Text 26"/>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حَيِّي يُوجَدُ ______ ، وَتُوجَدُ ______ .</a:t>
            </a:r>
            <a:endParaRPr lang="ar-SA" sz="1800" dirty="0"/>
          </a:p>
        </p:txBody>
      </p:sp>
      <p:sp>
        <p:nvSpPr>
          <p:cNvPr id="30" name="Text 27"/>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area there is … and there is …</a:t>
            </a:r>
            <a:endParaRPr lang="en-US" sz="1050" dirty="0"/>
          </a:p>
        </p:txBody>
      </p:sp>
      <p:sp>
        <p:nvSpPr>
          <p:cNvPr id="31" name="Text 28"/>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البَيْتُ قَرِيبٌ مِنْ ______ .</a:t>
            </a:r>
            <a:endParaRPr lang="ar-SA" sz="1800" dirty="0"/>
          </a:p>
        </p:txBody>
      </p:sp>
      <p:sp>
        <p:nvSpPr>
          <p:cNvPr id="32" name="Text 29"/>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house is near …</a:t>
            </a:r>
            <a:endParaRPr lang="en-US" sz="1050" dirty="0"/>
          </a:p>
        </p:txBody>
      </p:sp>
      <p:sp>
        <p:nvSpPr>
          <p:cNvPr id="33" name="Text 30"/>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غُرْفَتِي ______ وَ ______ .</a:t>
            </a:r>
            <a:endParaRPr lang="ar-SA" sz="1800" dirty="0"/>
          </a:p>
        </p:txBody>
      </p:sp>
      <p:sp>
        <p:nvSpPr>
          <p:cNvPr id="34" name="Text 31"/>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room is … and …</a:t>
            </a:r>
            <a:endParaRPr lang="en-US" sz="1050" dirty="0"/>
          </a:p>
        </p:txBody>
      </p:sp>
      <p:sp>
        <p:nvSpPr>
          <p:cNvPr id="35" name="Text 32"/>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فِيهَا سَرِيرٌ ______ وَخِزَانَةٌ ______ .</a:t>
            </a:r>
            <a:endParaRPr lang="ar-SA" sz="1800" dirty="0"/>
          </a:p>
        </p:txBody>
      </p:sp>
      <p:sp>
        <p:nvSpPr>
          <p:cNvPr id="36" name="Text 33"/>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it there is a … bed and a … wardrobe.</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مَسْجِدٌ · مَكْتَبَةٌ  ·  صَيْدَلِيَّةٌ · مَحَطَّةٌ  ·  بِجَانِبِ · مُقَابِلَ · أَمَامَ  ·  قَرِيبٌ مِنْ · بَعِيدٌ عَنْ  ·  امْشِ · خُذْ · ثُمَّ  ·  وَاسِعَةٌ · مُرِيحَةٌ  ·  نَظِيفَةٌ · مُضِيئَةٌ  ·  أَزْرَقُ · زَرْقَاءُ</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F3-W04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45–65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A welcome email to the exchange student</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تَرْحِيبٍ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F3-W04 · Apply workshop (F3-L07 + F3-L08)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84248"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84248"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BOTH LESSONS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Write an email (about 45–65 words) to the exchange student. Include: • a greeting • three places in your neighbourhood and where they are • one place near and one place far • the way from the station • your bedroom: size, two adjectives, three objects with colours • a polite closing.</a:t>
            </a:r>
            <a:endParaRPr lang="en-US" sz="11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F3-L07 AND F3-L08.</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حَيِّي يُوجَدُ … وَتُوجَدُ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my area there is … and there is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البَيْتُ قَرِيبٌ مِنْ … ، لٰكِنَّهُ بَعِيدٌ عَنْ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house is near … but far from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المَحَطَّةِ: امْشِ … ثُمَّ خُذْ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from the station: walk … then take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غُرْفَتِي … وَ… ، وَفِيهَا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room is … and …, and in it there is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F3-W04 · Apply workshop (F3-L07 + F3-L08)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four places and say where they are?</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colours that agree and at least two positions?</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F3-W04 · Apply workshop (F3-L07 + F3-L08)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نَعَمْ، بَيْتِي قَرِيبٌ مِنَ المَحَطَّةِ.</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Yes, my house is near the station.</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بَيْتُكَ قَرِيبٌ مِنَ المَحَطَّةِ؟</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امْشِ مُسْتَقِيمًا، ثُمَّ خُذِ الشَّارِعَ الثَّانِيَ عَلَى اليَسَارِ.</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Walk straight on, then take the second street on the left.</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أَصِلُ إِلَى بَيْتِكَ؟</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تُوجَدُ صَيْدَلِيَّةٌ بِجَانِبِ البَيْتِ، وَمَكْتَبَةٌ مُقَابِلَ المَسْجِدِ.</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There is a pharmacy next to the house, and a library opposite the mosque.</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يُوجَدُ قَرِيبًا مِنْ بَيْتِكَ؟</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غُرْفَتِي مُرِيحَةٌ وَنَظِيفَةٌ، لٰكِنَّهَا صَغِيرَةٌ قَلِيلًا.</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room is comfortable and clean, but it is a little small.</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غُرْفَتُكَ؟</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ضَعْهَا بِجَانِبِ الخِزَانَةِ، تَحْتَ النَّافِذَةِ.</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Put it next to the wardrobe, under the window.</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أَيْنَ أَضَعُ حَقِيبَتِي؟</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F3-W04 · Apply workshop (F3-L07 + F3-L08)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أَهْلًا يَا سَامِي! بَيْتِي قَرِيبٌ مِنَ المَحَطَّةِ: امْشِ مُسْتَقِيمًا، ثُمَّ خُذْ أَوَّلَ شَارِعٍ عَلَى اليَمِينِ. فِي حَيِّي يُوجَدُ مَسْجِدٌ بِجَانِبِ البَيْتِ، وَتُوجَدُ مَكْتَبَةٌ مُقَابِلَ المَدْرَسَةِ، لٰكِنَّ المُسْتَشْفَى بَعِيدٌ. غُرْفَتِي وَاسِعَةٌ وَمُضِيئَةٌ. فِيهَا سَرِيرَانِ أَبْيَضَانِ، وَخِزَانَةٌ زَرْقَاءُ، وَسَجَّادَةٌ حَمْرَاءُ تَحْتَ النَّافِذَةِ. إِلَى اللِّقَاءِ قَرِيبًا!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Sami! My house is near the station: walk straight on, then take the first street on the right. In my area there is a mosque next to the house, and there is a library opposite the school, but the hospital is far. My room is spacious and bright. In it there are two white beds, a blue wardrobe and a red rug under the window. See you soon!”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قَرِيبٌ مِنَ المَحَطَّةِ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مُقَابِلَ المَدْرَسَةِ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وَاسِعَةٌ وَمُضِيئَةٌ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خِزَانَةٌ زَرْقَاءُ</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F3-W04 · Apply workshop (F3-L07 + F3-L08)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F3-L07 and F3-L08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F3-W04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cs typeface="Amiri" pitchFamily="2" charset="-78"/>
              </a:rPr>
              <a:t>F3-L09 · Extended Writing: My Home and Family</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الكِتَابَةُ المُطَوَّلَةُ — بَيْتِي وَعَائِلَتِي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F3-W04 · Apply Workshop — Welcome, Exchange Student!</dc:title>
  <dc:subject>PptxGenJS Presentation</dc:subject>
  <dc:creator>Al Madina Online School · Arabic Department</dc:creator>
  <cp:lastModifiedBy>Al Madina Online School · Arabic Department</cp:lastModifiedBy>
  <cp:revision>1</cp:revision>
  <dcterms:created xsi:type="dcterms:W3CDTF">2026-10-26T14:59:45Z</dcterms:created>
  <dcterms:modified xsi:type="dcterms:W3CDTF">2026-10-26T14:59:45Z</dcterms:modified>
</cp:coreProperties>
</file>