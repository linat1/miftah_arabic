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F3-L11 · Learn F3-L12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F3-L11 (F3 Consolidation — Integrated Skills Review) and F3-L12 (Unit Assessment: My Family and Home).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F3-L11 and F3-L12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F3-L11? After F3-L12?” Take two answers in the chat for each lesson (one word or one sentence is enough). Then read objective 3 — today’s new situation that needs BOTH lessons. Students tick their route goals at the end of the lesson.
F3-L11 language: F3 key decisions: hādhā / hādhihi; m. / f. adjectives; colour agreement; yūjadu / tūjadu; possessive endings; positions + genitive; qarībun min / baʿīdun ʿan
F3-L12 language: all of F3 under assessment conditions: family words + possessives; describing people; rooms, furniture and colours; neighbourhood positions;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F3-L11 and F3-L12. Teacher reads it once with a confident student; then pairs. Ask: “Which lines are from F3-L11? Which from F3-L12?” Everything here is F3 language: family and adjectives (L01–L02), rooms and colours (L03–L05), near / far (L07). F3-L11 and F3-L12 bring it all together — this workshop gives it a real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key F3 decisions (F3-L11: هٰذَا / هٰذِهِ, agreement, يُوجَدُ / تُوجَدُ, near / far) under the assessment-style conditions of F3-L12. SUPPORTED: the plan column gives the first words, not the full answer. To a girl Partner A says: the questions use “you all” (-kum), so they stay the same for a girl; she says: أَنَا … وَأُحِبُّ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F3-L11 and F3-L12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F3-L11 and F3-L12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F3-L11 and one from F3-L12.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F3-L11 + F3-L12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Apply Workshop — Family Home Exchange</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تَبَادُلُ البُيُوتِ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all of F3 for one real purpose: a family wants to swap homes for a holiday, so students present their family, describe the home room by room with colours and furniture, explain what is near and far, and write a home-exchange advert.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F3-L11 + F3-L12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F3-L11 and F3-L12.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F3-L11 + F3-L12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F3-L11: F3 Consolidation — Integrated Skills Review</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F3-L12: Unit Assessment: My Family and Home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home-exchange video call · Our home-exchange advert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F3-L11 and F3-L12.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F3-L11 · F3 Consolidation — Integrated Skills Review</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 / jad-da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 / أُخْتٌ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brother / sister</a:t>
            </a:r>
            <a:endParaRPr lang="en-US" sz="1350" dirty="0"/>
          </a:p>
          <a:p>
            <a:pPr indent="0" marL="0">
              <a:buNone/>
            </a:pPr>
            <a:r>
              <a:rPr lang="en-US" sz="1100" i="1" dirty="0">
                <a:solidFill>
                  <a:srgbClr val="5A6472"/>
                </a:solidFill>
                <a:latin typeface="Calibri" pitchFamily="34" charset="0"/>
                <a:cs typeface="Amiri" pitchFamily="2" charset="-78"/>
              </a:rPr>
              <a:t>akh / ukht</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إِخْوَةٌ / أَخَوَاتٌ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 / co-operative</a:t>
            </a:r>
            <a:endParaRPr lang="en-US" sz="1350" dirty="0"/>
          </a:p>
          <a:p>
            <a:pPr indent="0" marL="0">
              <a:buNone/>
            </a:pPr>
            <a:r>
              <a:rPr lang="en-US" sz="1100" i="1" dirty="0">
                <a:solidFill>
                  <a:srgbClr val="5A6472"/>
                </a:solidFill>
                <a:latin typeface="Calibri" pitchFamily="34" charset="0"/>
                <a:cs typeface="Amiri" pitchFamily="2" charset="-78"/>
              </a:rPr>
              <a:t>mu-ta-‘ā-win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 al-ju-lūs</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الجُلُوسِ</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72" name="Text 6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73" name="Shape 7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5" name="Text 7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83" name="Shape 8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F3-L12 · Unit Assessment: My Family and Home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jad-dun · jad-da-tun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خَالٍ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(m. · f.)</a:t>
            </a:r>
            <a:endParaRPr lang="en-US" sz="1350" dirty="0"/>
          </a:p>
          <a:p>
            <a:pPr indent="0" marL="0">
              <a:buNone/>
            </a:pPr>
            <a:r>
              <a:rPr lang="en-US" sz="1100" i="1" dirty="0">
                <a:solidFill>
                  <a:srgbClr val="5A6472"/>
                </a:solidFill>
                <a:latin typeface="Calibri" pitchFamily="34" charset="0"/>
                <a:cs typeface="Amiri" pitchFamily="2" charset="-78"/>
              </a:rPr>
              <a:t>ab-nu ʿam-min · bin-tu khā-lin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 · مُضْحِكَةٌ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(m.) · funny (f.)</a:t>
            </a:r>
            <a:endParaRPr lang="en-US" sz="1350" dirty="0"/>
          </a:p>
          <a:p>
            <a:pPr indent="0" marL="0">
              <a:buNone/>
            </a:pPr>
            <a:r>
              <a:rPr lang="en-US" sz="1100" i="1" dirty="0">
                <a:solidFill>
                  <a:srgbClr val="5A6472"/>
                </a:solidFill>
                <a:latin typeface="Calibri" pitchFamily="34" charset="0"/>
                <a:cs typeface="Amiri" pitchFamily="2" charset="-78"/>
              </a:rPr>
              <a:t>la-ṭī-fun · muḍ-ḥi-ka-tun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an-naw-mi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(m. · f.)</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بِجَانِبِ · مُقَابِلَ</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 · opposite</a:t>
            </a:r>
            <a:endParaRPr lang="en-US" sz="1350" dirty="0"/>
          </a:p>
          <a:p>
            <a:pPr indent="0" marL="0">
              <a:buNone/>
            </a:pPr>
            <a:r>
              <a:rPr lang="en-US" sz="1100" i="1" dirty="0">
                <a:solidFill>
                  <a:srgbClr val="5A6472"/>
                </a:solidFill>
                <a:latin typeface="Calibri" pitchFamily="34" charset="0"/>
                <a:cs typeface="Amiri" pitchFamily="2" charset="-78"/>
              </a:rPr>
              <a:t>bi-jā-ni-bi · mu-qā-bi-la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Family 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 لَطِيفَةٌ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خِزَانَةٌ زَرْقَاءُ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الجُلُوسِ وَاسِعَةٌ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خَالِي مُجْتَهِدٌ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أَسْوَدُ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كُرْسِيٌّ أَبْيَضُ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ابْنُ عَمِّي مُضْحِكٌ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family —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My home — places and things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family —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 لَطِيفَةٌ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خَالِي مُجْتَهِدٌ</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أَسْوَدُ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ابْنُ عَمِّي مُضْحِكٌ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My home — places and things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خِزَانَةٌ زَرْقَاءُ</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الجُلُوسِ وَاسِعَةٌ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كُرْسِيٌّ أَبْيَضُ</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families plan an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عَائِلَتَانِ تَتَبَادَلَانِ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فِي عَائِلَتِكُمْ؟</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my mother, my brother and me. My brother is young and very funny.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أَبِي وَأُمِّي وَأَخِي وَأَنَا. أَخِي صَغِيرٌ وَمُضْحِكٌ جِدًّا.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home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بَيْتُكُمْ؟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house is big; it has four rooms and a garden. The living room is green.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بَيْتُنَا كَبِيرٌ، فِيهِ أَرْبَعُ غُرَفٍ وَحَدِيقَةٌ. غُرْفَةُ الجُلُوسِ خَضْرَاءُ.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house near the sea?</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البَيْتُ قَرِيبٌ مِنَ البَحْرِ؟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it is near the sea, but it is far from the town.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هُوَ قَرِيبٌ مِنَ البَحْرِ، لٰكِنَّهُ بَعِيدٌ عَنِ المَدِينَةِ.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 اسْمُهَا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(show a real or imagined photo)</a:t>
            </a:r>
            <a:endParaRPr lang="en-US" sz="1100" dirty="0"/>
          </a:p>
        </p:txBody>
      </p:sp>
      <p:sp>
        <p:nvSpPr>
          <p:cNvPr id="25" name="Text 22"/>
          <p:cNvSpPr txBox="1"/>
          <p:nvPr/>
        </p:nvSpPr>
        <p:spPr>
          <a:xfrm>
            <a:off x="1069848" y="2267712"/>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مَنْ هٰذَا؟ / مَنْ هٰذِهِ؟</a:t>
            </a:r>
            <a:pPr algn="l" indent="0" marL="0">
              <a:buNone/>
            </a:pPr>
            <a:r>
              <a:rPr lang="en-US" sz="1100" dirty="0">
                <a:solidFill>
                  <a:srgbClr val="5A6472"/>
                </a:solidFill>
                <a:latin typeface="Calibri" pitchFamily="34" charset="0"/>
                <a:cs typeface="Amiri" pitchFamily="2" charset="-78"/>
              </a:rPr>
              <a:t> (show a photo)</a:t>
            </a:r>
            <a:endParaRPr lang="en-US" sz="11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وَعِنْدِي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عَائِلَتِي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فِي عَائِلَتِكَ؟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 / وَشَعْرُهَا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خَالِي / خَالَتِي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of your relatives.</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أَحَدَ أَقَارِبِكَ.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وَشَعْرُهَا / وَشَعْرُهُ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 / أَبِي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mother or father.</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أُمَّكَ أَوْ أَبَاكَ.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kitchen?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مَطْبَخِكُمْ؟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 لَوْنُهَا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غُرْفَتِي … ؛ فِيهَا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غُرْفَتَكَ.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F3-L11, even numbers from F3-L12.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 the home-exchange video call</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التَّبَادُلِ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فِي عَائِلَتِي … ، … هُوَ / هِيَ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is in your family; describe one person.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فِي عَائِلَتِكُمْ؟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بَيْتِنَا … غُرَفٍ: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rooms + two rooms.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غُرْفَةً فِي بَيْتِكُمْ؟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items with colours that agree.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غُرْفَةِ الضُّيُوفِ؟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 قَرِيبٌ مِنْ … ، وَ… بَعِيدٌ عَنْ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place near, one place far.</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قَرِيبًا مِنَ البَيْتِ؟</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نُحِبُّهُ لِأَنَّهُ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تُحِبُّونَ بَيْتَكُمْ؟</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your family’s spokesperson · Partner A = the other family.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Come and stay in our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تَعَالَوْا إِلَى بَيْتِنَا!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to “sell” your home to the other family: your family in one or two sentences, the rooms, one room in detail with colours, what is near and far, and why they will like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عَائِلَتِي … · فِي بَيْتِنَا … · يُوجَدُ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colours that agree and near / far: </a:t>
            </a:r>
            <a:pPr algn="l" indent="0" marL="0">
              <a:buNone/>
            </a:pPr>
            <a:r>
              <a:rPr lang="ar-SA" altLang="en-US" sz="1500" dirty="0">
                <a:solidFill>
                  <a:srgbClr val="1F2A37"/>
                </a:solidFill>
                <a:latin typeface="Amiri" pitchFamily="2" charset="-78"/>
                <a:ea typeface="Amiri" pitchFamily="2" charset="-78"/>
                <a:cs typeface="Amiri" pitchFamily="2" charset="-78"/>
              </a:rPr>
              <a:t>قَرِيبٌ مِنْ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بَعِيدٌ عَنْ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Persuade: </a:t>
            </a:r>
            <a:pPr algn="l" indent="0" marL="0">
              <a:buNone/>
            </a:pPr>
            <a:r>
              <a:rPr lang="ar-SA" altLang="en-US" sz="1500" dirty="0">
                <a:solidFill>
                  <a:srgbClr val="1F2A37"/>
                </a:solidFill>
                <a:latin typeface="Amiri" pitchFamily="2" charset="-78"/>
                <a:ea typeface="Amiri" pitchFamily="2" charset="-78"/>
                <a:cs typeface="Amiri" pitchFamily="2" charset="-78"/>
              </a:rPr>
              <a:t>سَتُحِبُّونَ … لِأَنَّ</a:t>
            </a:r>
            <a:pPr algn="l" indent="0" marL="0">
              <a:buNone/>
            </a:pPr>
            <a:r>
              <a:rPr lang="en-US" sz="1150" dirty="0">
                <a:solidFill>
                  <a:srgbClr val="1F2A37"/>
                </a:solidFill>
                <a:latin typeface="Calibri" pitchFamily="34" charset="0"/>
                <a:cs typeface="Amiri" pitchFamily="2" charset="-78"/>
              </a:rPr>
              <a:t> … — and add a “but”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بَيْتِنَا … غُرَفٍ</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are … rooms in our home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أَبْيَضُ · تُوجَدُ … بَيْضَاءُ</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a white …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قَرِيبٌ مِنْ … · بَعِيدٌ عَنْ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near … · far from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سَتُحِبُّونَ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(all) will like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cousin (f.); her hair is long.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بِنْتُ عَمِّي،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بِنْتُ عَمِّي،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شَعْرُهَا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شَعْرُهُ</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aunt has two daughters; they are young.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 خَالَتِي بِنْتَانِ،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 خَالَتِي بِنْتٌ،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صَغِيرَتَانِ.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yellow lamp next to the bed.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 مِصْبَاحٌ</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 مِصْبَاحٌ</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أَصْفَرُ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صَفْرَاءُ</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 السَّرِيرِ.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 السَّرِيرُ.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cousin (f.); her hair is long.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هٰذِهِ … شَعْرُهَا</a:t>
            </a:r>
            <a:pPr algn="l" indent="0" marL="0">
              <a:buNone/>
            </a:pPr>
            <a:r>
              <a:rPr lang="en-US" sz="1050" i="1" dirty="0">
                <a:solidFill>
                  <a:srgbClr val="5A6472"/>
                </a:solidFill>
                <a:latin typeface="Calibri" pitchFamily="34" charset="0"/>
                <a:cs typeface="Amiri" pitchFamily="2" charset="-78"/>
              </a:rPr>
              <a:t>; hair is masculine → </a:t>
            </a:r>
            <a:pPr algn="l" indent="0" marL="0">
              <a:buNone/>
            </a:pPr>
            <a:r>
              <a:rPr lang="ar-SA" altLang="en-US" sz="1350" dirty="0">
                <a:solidFill>
                  <a:srgbClr val="5A6472"/>
                </a:solidFill>
                <a:latin typeface="Amiri" pitchFamily="2" charset="-78"/>
                <a:ea typeface="Amiri" pitchFamily="2" charset="-78"/>
                <a:cs typeface="Amiri" pitchFamily="2" charset="-78"/>
              </a:rPr>
              <a:t>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بِنْتُ عَمِّي، شَعْرُهَا طَوِيلٌ.</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aunt has two daughters; they are young.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daughters = dual </a:t>
            </a:r>
            <a:pPr algn="l" indent="0" marL="0">
              <a:buNone/>
            </a:pPr>
            <a:r>
              <a:rPr lang="ar-SA" altLang="en-US" sz="1350" dirty="0">
                <a:solidFill>
                  <a:srgbClr val="5A6472"/>
                </a:solidFill>
                <a:latin typeface="Amiri" pitchFamily="2" charset="-78"/>
                <a:ea typeface="Amiri" pitchFamily="2" charset="-78"/>
                <a:cs typeface="Amiri" pitchFamily="2" charset="-78"/>
              </a:rPr>
              <a:t>بِنْتَانِ</a:t>
            </a:r>
            <a:pPr algn="l" indent="0" marL="0">
              <a:buNone/>
            </a:pPr>
            <a:r>
              <a:rPr lang="en-US" sz="1050" i="1" dirty="0">
                <a:solidFill>
                  <a:srgbClr val="5A6472"/>
                </a:solidFill>
                <a:latin typeface="Calibri" pitchFamily="34" charset="0"/>
                <a:cs typeface="Amiri" pitchFamily="2" charset="-78"/>
              </a:rPr>
              <a:t>; they two = </a:t>
            </a:r>
            <a:pPr algn="l" indent="0" marL="0">
              <a:buNone/>
            </a:pPr>
            <a:r>
              <a:rPr lang="ar-SA" altLang="en-US" sz="1350" dirty="0">
                <a:solidFill>
                  <a:srgbClr val="5A6472"/>
                </a:solidFill>
                <a:latin typeface="Amiri" pitchFamily="2" charset="-78"/>
                <a:ea typeface="Amiri" pitchFamily="2" charset="-78"/>
                <a:cs typeface="Amiri" pitchFamily="2" charset="-78"/>
              </a:rPr>
              <a:t>هُمَا … صَغِيرَتَانِ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 خَالَتِي بِنْتَانِ، هُمَا صَغِيرَتَانِ.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yellow lamp next to the bed.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مِصْبَاحٌ</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يُوجَدُ … أَصْفَرُ</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بِجَانِبِ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يُوجَدُ مِصْبَاحٌ أَصْفَرُ بِجَانِبِ السَّرِيرِ.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جَدَّتِي، هِيَ 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words don’t match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شَعْرُهُ سَوْدَاءُ.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Hair is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السَّجَّادَةُ أَحْمَرُ.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Colour agreement.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جَدَّتِي، هِيَ 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جَدَّتِي، هِيَ 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Woman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كَرِيمَةٌ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شَعْرُهُ سَوْدَاءُ.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شَعْرُهُ أَسْوَدُ.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(m.) → </a:t>
            </a:r>
            <a:pPr algn="l" indent="0" marL="0">
              <a:buNone/>
            </a:pPr>
            <a:r>
              <a:rPr lang="ar-SA" altLang="en-US" sz="1500" b="1" dirty="0">
                <a:solidFill>
                  <a:srgbClr val="1B3B6F"/>
                </a:solidFill>
                <a:latin typeface="Amiri" pitchFamily="2" charset="-78"/>
                <a:ea typeface="Amiri" pitchFamily="2" charset="-78"/>
                <a:cs typeface="Amiri" pitchFamily="2" charset="-78"/>
              </a:rPr>
              <a:t>أَسْوَدُ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السَّجَّادَةُ أَحْمَرُ.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السَّجَّادَةُ حَمْرَاءُ.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حَمْرَاءُ</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 بَعِيدَةٌ عَنْهُ.</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it.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سَتُحِبُّونَ بَيْتَنَا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will like our home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عَائِلَةٌ مِنْ ______ أَشْخَاصٍ.</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a family of … people.</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______ ، وَأُمِّي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 and my mother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______ غُرَفٍ.</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 in our home.</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غُرْفَةِ الجُلُوسِ يُوجَدُ ______ وَتُوجَدُ ______ .</a:t>
            </a:r>
            <a:endParaRPr lang="ar-SA" sz="16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living room there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قَرِيبٌ مِنَ البَيْتِ.</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near the house.</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 · أُمِّي · جَدَّتِي  ·  طَوِيلٌ · لَطِيفَةٌ  ·  غُرْفَةُ الجُلُوسِ  ·  يُوجَدُ · تُوجَدُ  ·  أَبْيَضُ · خَضْرَاءُ  ·  بِجَانِبِ · مُقَابِلَ  ·  قَرِيبٌ مِنْ · بَعِيدٌ عَنْ  ·  لِأَنَّ · لٰكِنَّ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home-exchange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تَبَادُلِ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advert (about 45–65 words) for a home-exchange website. Include: • who is in your family, with two people described (a man and a woman) • your home: the rooms • one room in detail with three items and colours • one place near and one place far • why the other family will like it.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F3-L11 AND F3-L12.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عَائِلَةٌ مِنْ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a family of …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 ، وَفِيهِ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our home … and it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قَرِيبٌ مِنْ … ، وَ… بَعِيدٌ عَنْ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near … and … is far from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سَتُحِبُّونَ بَيْتَنَا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like our home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right every time?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agreements right (people, colours,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أَرْبَعَةُ أَشْخَاصٍ. أُمِّي طَوِيلَةٌ وَكَرِيمَةٌ جِدًّا.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four people in my family. My mother is tall and very generous.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فِي عَائِلَتِكُمْ؟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خَمْسُ غُرَفٍ: ثَلَاثُ غُرَفِ نَوْمٍ، وَغُرْفَةُ جُلُوسٍ، وَمَطْبَخٌ.</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five rooms in our house: three bedrooms, a living room and a kitchen.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غُرْفَةً فِي بَيْتِكُمْ؟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 وَتُوجَدُ خِزَانَةٌ بُنِّيَّةٌ.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white bed, and there is a brown wardrobe.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غُرْفَةِ الضُّيُوفِ؟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 مِنَ البَيْتِ، وَالمَحَطَّةُ بَعِيدَةٌ عَنْهُ.</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mosque is near the house, and the station is far from it.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قَرِيبًا مِنَ البَيْتِ؟</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نُحِبُّهُ لِأَنَّهُ هَادِئٌ وَمُرِيحٌ، وَالحَدِيقَةُ جَمِيلَةٌ.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like it because it is quiet and comfortable, and the garden is lovely.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تُحِبُّونَ بَيْتَكُمْ؟</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نَحْنُ عَائِلَةٌ مِنْ خَمْسَةِ أَشْخَاصٍ. أَبِي طَوِيلٌ وَهَادِئٌ، وَأُمِّي لَطِيفَةٌ وَمُضْحِكَةٌ. فِي بَيْتِنَا سِتُّ غُرَفٍ وَحَدِيقَةٌ كَبِيرَةٌ. فِي غُرْفَةِ الجُلُوسِ يُوجَدُ تِلْفَازٌ أَسْوَدُ، وَتُوجَدُ سَجَّادَةٌ حَمْرَاءُ وَطَاوِلَةٌ بَيْضَاءُ. البَيْتُ قَرِيبٌ مِنَ البَحْرِ، وَالمَسْجِدُ بِجَانِبِهِ، لٰكِنَّ المَحَطَّةَ بَعِيدَةٌ عَنْهُ. سَتُحِبُّونَ بَيْتَنَا لِأَنَّهُ وَاسِعٌ وَمُرِيحٌ.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are a family of five. My father is tall and calm, and my mother is kind and funny. Our home has six rooms and a big garden. In the living room there is a black television, and there is a red rug and a white table. The house is near the sea, and the mosque is next to it, but the station is far from it. You will like our home because it is spacious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لَطِيفَةٌ وَمُضْحِكَةٌ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سَجَّادَةٌ حَمْرَاءُ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قَرِيبٌ مِنَ البَحْرِ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بَعِيدَةٌ عَنْهُ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F3-L11 and F3-L12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F3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F3-W06 · Apply Workshop — Family Home Exchange</dc:title>
  <dc:subject>PptxGenJS Presentation</dc:subject>
  <dc:creator>Al Madina Online School · Arabic Department</dc:creator>
  <cp:lastModifiedBy>Al Madina Online School · Arabic Department</cp:lastModifiedBy>
  <cp:revision>1</cp:revision>
  <dcterms:created xsi:type="dcterms:W3CDTF">2026-10-26T15:04:33Z</dcterms:created>
  <dcterms:modified xsi:type="dcterms:W3CDTF">2026-10-26T15:04:34Z</dcterms:modified>
</cp:coreProperties>
</file>