
<file path=[Content_Types].xml><?xml version="1.0" encoding="utf-8"?>
<Types xmlns="http://schemas.openxmlformats.org/package/2006/content-types">
  <Default Extension="fntdata" ContentType="application/x-fontdata"/>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slideMasters/slideMaster11.xml" ContentType="application/vnd.openxmlformats-officedocument.presentationml.slideMaster+xml"/>
  <Override PartName="/ppt/slides/slide11.xml" ContentType="application/vnd.openxmlformats-officedocument.presentationml.slide+xml"/>
  <Override PartName="/ppt/slideMasters/slideMaster12.xml" ContentType="application/vnd.openxmlformats-officedocument.presentationml.slideMaster+xml"/>
  <Override PartName="/ppt/slides/slide12.xml" ContentType="application/vnd.openxmlformats-officedocument.presentationml.slide+xml"/>
  <Override PartName="/ppt/slideMasters/slideMaster13.xml" ContentType="application/vnd.openxmlformats-officedocument.presentationml.slideMaster+xml"/>
  <Override PartName="/ppt/slides/slide13.xml" ContentType="application/vnd.openxmlformats-officedocument.presentationml.slide+xml"/>
  <Override PartName="/ppt/slideMasters/slideMaster14.xml" ContentType="application/vnd.openxmlformats-officedocument.presentationml.slideMaster+xml"/>
  <Override PartName="/ppt/slides/slide14.xml" ContentType="application/vnd.openxmlformats-officedocument.presentationml.slide+xml"/>
  <Override PartName="/ppt/slideMasters/slideMaster15.xml" ContentType="application/vnd.openxmlformats-officedocument.presentationml.slideMaster+xml"/>
  <Override PartName="/ppt/slides/slide15.xml" ContentType="application/vnd.openxmlformats-officedocument.presentationml.slide+xml"/>
  <Override PartName="/ppt/slideMasters/slideMaster16.xml" ContentType="application/vnd.openxmlformats-officedocument.presentationml.slideMaster+xml"/>
  <Override PartName="/ppt/slides/slide16.xml" ContentType="application/vnd.openxmlformats-officedocument.presentationml.slide+xml"/>
  <Override PartName="/ppt/slideMasters/slideMaster17.xml" ContentType="application/vnd.openxmlformats-officedocument.presentationml.slideMaster+xml"/>
  <Override PartName="/ppt/slides/slide17.xml" ContentType="application/vnd.openxmlformats-officedocument.presentationml.slide+xml"/>
  <Override PartName="/ppt/slideMasters/slideMaster18.xml" ContentType="application/vnd.openxmlformats-officedocument.presentationml.slideMaster+xml"/>
  <Override PartName="/ppt/slides/slide18.xml" ContentType="application/vnd.openxmlformats-officedocument.presentationml.slide+xml"/>
  <Override PartName="/ppt/slideMasters/slideMaster19.xml" ContentType="application/vnd.openxmlformats-officedocument.presentationml.slideMaster+xml"/>
  <Override PartName="/ppt/slides/slide19.xml" ContentType="application/vnd.openxmlformats-officedocument.presentationml.slide+xml"/>
  <Override PartName="/ppt/slideMasters/slideMaster20.xml" ContentType="application/vnd.openxmlformats-officedocument.presentationml.slideMaster+xml"/>
  <Override PartName="/ppt/slides/slide20.xml" ContentType="application/vnd.openxmlformats-officedocument.presentationml.slide+xml"/>
  <Override PartName="/ppt/slideMasters/slideMaster21.xml" ContentType="application/vnd.openxmlformats-officedocument.presentationml.slideMaster+xml"/>
  <Override PartName="/ppt/slides/slide21.xml" ContentType="application/vnd.openxmlformats-officedocument.presentationml.slide+xml"/>
  <Override PartName="/ppt/slideMasters/slideMaster22.xml" ContentType="application/vnd.openxmlformats-officedocument.presentationml.slideMaster+xml"/>
  <Override PartName="/ppt/slides/slide22.xml" ContentType="application/vnd.openxmlformats-officedocument.presentationml.slide+xml"/>
  <Override PartName="/ppt/slideMasters/slideMaster23.xml" ContentType="application/vnd.openxmlformats-officedocument.presentationml.slideMaster+xml"/>
  <Override PartName="/ppt/slides/slide23.xml" ContentType="application/vnd.openxmlformats-officedocument.presentationml.slide+xml"/>
  <Override PartName="/ppt/slideMasters/slideMaster24.xml" ContentType="application/vnd.openxmlformats-officedocument.presentationml.slideMaster+xml"/>
  <Override PartName="/ppt/slides/slide24.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embedTrueTypeFonts="1"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 id="273" r:id="rId19"/>
    <p:sldId id="274" r:id="rId20"/>
    <p:sldId id="275" r:id="rId21"/>
    <p:sldId id="276" r:id="rId22"/>
    <p:sldId id="277" r:id="rId23"/>
    <p:sldId id="278" r:id="rId24"/>
    <p:sldId id="279" r:id="rId25"/>
  </p:sldIdLst>
  <p:notesMasterIdLst>
    <p:notesMasterId r:id="rId26"/>
  </p:notesMasterIdLst>
  <p:sldSz cx="12192000" cy="6858000"/>
  <p:notesSz cx="6858000" cy="12192000"/>
  <p:embeddedFontLst>
    <p:embeddedFont>
      <p:font typeface="Amiri" pitchFamily="2" charset="-78"/>
      <p:regular r:id="rIdFont1"/>
      <p:bold r:id="rIdFont2"/>
    </p:embeddedFont>
  </p:embeddedFontLst>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slide" Target="slides/slide15.xml"/><Relationship Id="rId17" Type="http://schemas.openxmlformats.org/officeDocument/2006/relationships/slide" Target="slides/slide16.xml"/><Relationship Id="rId18" Type="http://schemas.openxmlformats.org/officeDocument/2006/relationships/slide" Target="slides/slide17.xml"/><Relationship Id="rId19" Type="http://schemas.openxmlformats.org/officeDocument/2006/relationships/slide" Target="slides/slide18.xml"/><Relationship Id="rId20" Type="http://schemas.openxmlformats.org/officeDocument/2006/relationships/slide" Target="slides/slide19.xml"/><Relationship Id="rId21" Type="http://schemas.openxmlformats.org/officeDocument/2006/relationships/slide" Target="slides/slide20.xml"/><Relationship Id="rId22" Type="http://schemas.openxmlformats.org/officeDocument/2006/relationships/slide" Target="slides/slide21.xml"/><Relationship Id="rId23" Type="http://schemas.openxmlformats.org/officeDocument/2006/relationships/slide" Target="slides/slide22.xml"/><Relationship Id="rId24" Type="http://schemas.openxmlformats.org/officeDocument/2006/relationships/slide" Target="slides/slide23.xml"/><Relationship Id="rId25" Type="http://schemas.openxmlformats.org/officeDocument/2006/relationships/slide" Target="slides/slide24.xml"/><Relationship Id="rId26" Type="http://schemas.openxmlformats.org/officeDocument/2006/relationships/notesMaster" Target="notesMasters/notesMaster1.xml"/><Relationship Id="rId27" Type="http://schemas.openxmlformats.org/officeDocument/2006/relationships/presProps" Target="presProps.xml"/><Relationship Id="rId28" Type="http://schemas.openxmlformats.org/officeDocument/2006/relationships/viewProps" Target="viewProps.xml"/><Relationship Id="rId29" Type="http://schemas.openxmlformats.org/officeDocument/2006/relationships/theme" Target="theme/theme1.xml"/><Relationship Id="rId30" Type="http://schemas.openxmlformats.org/officeDocument/2006/relationships/tableStyles" Target="tableStyles.xml"/><Relationship Id="rIdFont1" Type="http://schemas.openxmlformats.org/officeDocument/2006/relationships/font" Target="fonts/font1.fntdata"/><Relationship Id="rIdFont2" Type="http://schemas.openxmlformats.org/officeDocument/2006/relationships/font" Target="fonts/font2.fntdata"/></Relationships>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cs typeface="Amiri" pitchFamily="2" charset="-78"/>
      </a:defRPr>
    </a:lvl1pPr>
    <a:lvl2pPr marL="457200" algn="l" defTabSz="914400" rtl="0" eaLnBrk="1" latinLnBrk="0" hangingPunct="1">
      <a:defRPr sz="1200" kern="1200">
        <a:solidFill>
          <a:schemeClr val="tx1"/>
        </a:solidFill>
        <a:latin typeface="+mn-lt"/>
        <a:cs typeface="Amiri" pitchFamily="2" charset="-78"/>
      </a:defRPr>
    </a:lvl2pPr>
    <a:lvl3pPr marL="914400" algn="l" defTabSz="914400" rtl="0" eaLnBrk="1" latinLnBrk="0" hangingPunct="1">
      <a:defRPr sz="1200" kern="1200">
        <a:solidFill>
          <a:schemeClr val="tx1"/>
        </a:solidFill>
        <a:latin typeface="+mn-lt"/>
        <a:cs typeface="Amiri" pitchFamily="2" charset="-78"/>
      </a:defRPr>
    </a:lvl3pPr>
    <a:lvl4pPr marL="1371600" algn="l" defTabSz="914400" rtl="0" eaLnBrk="1" latinLnBrk="0" hangingPunct="1">
      <a:defRPr sz="1200" kern="1200">
        <a:solidFill>
          <a:schemeClr val="tx1"/>
        </a:solidFill>
        <a:latin typeface="+mn-lt"/>
        <a:cs typeface="Amiri" pitchFamily="2" charset="-78"/>
      </a:defRPr>
    </a:lvl4pPr>
    <a:lvl5pPr marL="1828800" algn="l" defTabSz="914400" rtl="0" eaLnBrk="1" latinLnBrk="0" hangingPunct="1">
      <a:defRPr sz="1200" kern="1200">
        <a:solidFill>
          <a:schemeClr val="tx1"/>
        </a:solidFill>
        <a:latin typeface="+mn-lt"/>
        <a:cs typeface="Amiri" pitchFamily="2" charset="-78"/>
      </a:defRPr>
    </a:lvl5pPr>
    <a:lvl6pPr marL="2286000" algn="l" defTabSz="914400" rtl="0" eaLnBrk="1" latinLnBrk="0" hangingPunct="1">
      <a:defRPr sz="1200" kern="1200">
        <a:solidFill>
          <a:schemeClr val="tx1"/>
        </a:solidFill>
        <a:latin typeface="+mn-lt"/>
        <a:cs typeface="Amiri" pitchFamily="2" charset="-78"/>
      </a:defRPr>
    </a:lvl6pPr>
    <a:lvl7pPr marL="2743200" algn="l" defTabSz="914400" rtl="0" eaLnBrk="1" latinLnBrk="0" hangingPunct="1">
      <a:defRPr sz="1200" kern="1200">
        <a:solidFill>
          <a:schemeClr val="tx1"/>
        </a:solidFill>
        <a:latin typeface="+mn-lt"/>
        <a:cs typeface="Amiri" pitchFamily="2" charset="-78"/>
      </a:defRPr>
    </a:lvl7pPr>
    <a:lvl8pPr marL="3200400" algn="l" defTabSz="914400" rtl="0" eaLnBrk="1" latinLnBrk="0" hangingPunct="1">
      <a:defRPr sz="1200" kern="1200">
        <a:solidFill>
          <a:schemeClr val="tx1"/>
        </a:solidFill>
        <a:latin typeface="+mn-lt"/>
        <a:cs typeface="Amiri" pitchFamily="2" charset="-78"/>
      </a:defRPr>
    </a:lvl8pPr>
    <a:lvl9pPr marL="3657600" algn="l" defTabSz="914400" rtl="0" eaLnBrk="1" latinLnBrk="0" hangingPunct="1">
      <a:defRPr sz="1200" kern="1200">
        <a:solidFill>
          <a:schemeClr val="tx1"/>
        </a:solidFill>
        <a:latin typeface="+mn-lt"/>
        <a:cs typeface="Amiri" pitchFamily="2" charset="-78"/>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_rels/notesSlide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xml"/>
		</Relationships>
</file>

<file path=ppt/notesSlides/_rels/notesSlide1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3.xml"/>
		</Relationships>
</file>

<file path=ppt/notesSlides/_rels/notesSlide1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4.xml"/>
		</Relationships>
</file>

<file path=ppt/notesSlides/_rels/notesSlide1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5.xml"/>
		</Relationships>
</file>

<file path=ppt/notesSlides/_rels/notesSlide1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6.xml"/>
		</Relationships>
</file>

<file path=ppt/notesSlides/_rels/notesSlide1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7.xml"/>
		</Relationships>
</file>

<file path=ppt/notesSlides/_rels/notesSlide1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8.xml"/>
		</Relationships>
</file>

<file path=ppt/notesSlides/_rels/notesSlide1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9.xml"/>
		</Relationships>
</file>

<file path=ppt/notesSlides/_rels/notesSlide2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0.xml"/>
		</Relationships>
</file>

<file path=ppt/notesSlides/_rels/notesSlide2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1.xml"/>
		</Relationships>
</file>

<file path=ppt/notesSlides/_rels/notesSlide2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2.xml"/>
		</Relationships>
</file>

<file path=ppt/notesSlides/_rels/notesSlide2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3.xml"/>
		</Relationships>
</file>

<file path=ppt/notesSlides/_rels/notesSlide2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4.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APPLY WORKSHOP AT A GLANCE — the third lesson of the week (Learn F3-L01 · Learn F3-L02 · Apply). 60 minutes on Teams: teacher-led in the main room for the short whole-class steps, pairs or breakout rooms of two or three for speaking, individual writing.
0–3 Welcome + plan · 3–6 What we learnt this week · PART 1 REMEMBER: word race (4) · which lesson? sort (4) · PART 2 SPEAK: new dialogue (5) · mixed question cards (6) · role-play card (7) · 30–45 seconds talk (4) · PART 3 WRITE: sentence builder (3) · spot and fix (3) · connected writing (12) + buddy check (3) · CHECK YOURSELF: models + self-check (5).
PURPOSE: students APPLY the language of BOTH lessons in new contexts — the question cards, builder and common mistakes come from the two practice rooms; the dialogue, role-play, talk and writing task are new and join the lessons together.
CONTENT: F3-L01 (My Family — Members and Relationships) and F3-L02 (Describing Family Members).
SET-UP: share this deck or its PDF in the chat. Pairs or breakout rooms for Part 2 (same-level rooms keep the routes simple). Everyone writes in their own book or document in Part 3.</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ar-SA" dirty="0">
                <a:latin typeface="Amiri" pitchFamily="2" charset="-78"/>
                <a:ea typeface="Amiri" pitchFamily="2" charset="-78"/>
                <a:cs typeface="Amiri" pitchFamily="2" charset="-78"/>
              </a:rPr>
              <a:t>WELCOME (1 min) — while students join.
• Greet each student by name as they arrive: السَّلَامُ عَلَيْكُمْ. Take the register (Pastoral Tracker: attendance 0/1).
• 2-MINUTE CHECK-IN (SEND training): a private chat to any student who seemed unsettled last lesson — “Are you okay today? 👍 / 👎”.
• Point to the four expectations — brief and positive: this is our class agreement.
• Talk code: “I will always give you thinking and practice time before I ask anyone.” Reading aloud is by invitation — a student may say “pass” and you return to them later.
• Follow-up on preparation: who learnt the five words? Quick private reminder to anyone who did not (Flipped Learning: follow up every time).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MAP (1 min). Apply = use what you learnt in F3-L01 and F3-L02 in a NEW situation. Point out the step number in the top-left of each slide.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WHAT WE LEARNT (3 min, main room). Ask: “What can you say after F3-L01? After F3-L02?” Take two answers in the chat for each lesson (one word or one sentence is enough). Then read objective 3 — today’s new situation that needs BOTH lessons. Students tick their route goals at the end of the lesson.
F3-L01 language: family words; possessive endings (-ī · -ka · -ki · -hu · -hā); hādhā / hādhihi; ismuhu / ismuhā
F3-L02 language: adjective agreement (m. / f.); shaʿruhu / shaʿruhā + colour; ʿaynāhu / ʿaynāhā; huwa / hiya + two adjectives; jiddan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STEP 1 (4 min). Quick, energetic retrieval. Model one round with a student, then pairs race. Collect the best score in the chat. Listen for words students hesitate over and revisit them in Part 2.</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Step 1 reference — six words from F3-L01.</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Step 1 reference — six words from F3-L02.</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STEP 2 (4 min). Students read each card ALOUD (by invitation), then type its number in the chat with 1 or 2 (for example “card 3 → 2”). Then check the answer slide. Ask: “Which card could you use in BOTH lessons?” — this links the two lessons before Part 2.</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STEP 2 (4 min). Students read each card ALOUD (by invitation), then type its number in the chat with 1 or 2 (for example “card 3 → 2”). Then check the answer slide. Ask: “Which card could you use in BOTH lessons?” — this links the two lessons before Part 2.</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ar-SA" dirty="0">
                <a:latin typeface="Amiri" pitchFamily="2" charset="-78"/>
                <a:ea typeface="Amiri" pitchFamily="2" charset="-78"/>
                <a:cs typeface="Amiri" pitchFamily="2" charset="-78"/>
              </a:rPr>
              <a:t>STEP 3 (5 min). A NEW dialogue that joins F3-L01 and F3-L02. Teacher reads it once with a confident student; then pairs. Ask: “Which lines are from F3-L01? Which from F3-L02?” Family words and هٰذَا / هٰذِهِ come from F3-L01; appearance and personality adjectives that agree from F3-L02. Ask: why مُضْحِكَةٌ but كَرِيمٌ?</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STEP 4 (6 min, pairs or rooms). The questions come from the two practice rooms, now mixed so students switch between the lessons. Teacher: visit rooms and ask one Stretch follow-up question in each.</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ar-SA" dirty="0">
                <a:latin typeface="Amiri" pitchFamily="2" charset="-78"/>
                <a:ea typeface="Amiri" pitchFamily="2" charset="-78"/>
                <a:cs typeface="Amiri" pitchFamily="2" charset="-78"/>
              </a:rPr>
              <a:t>STEP 5 (7 min). One NEW situation that needs both lessons: family members and possessive endings (F3-L01) with descriptions that agree, hair and personality (F3-L02). SUPPORTED: the plan column gives the first words, not the full answer. To a girl Partner A says: كَمْ شَخْصًا فِي عَائِلَتِكِ؟ · كَيْفَ يَبْدُو أَخُوكِ؟ · مَنْ تُحِبِّينَ؟.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STEP 6 (4 min). Fluency: one talk that uses BOTH lessons. Two volunteers speak to the whole class at the end (open mic).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STEP 7 (3 min). Rows come from the F3-L01 and F3-L02 practice rooms. Read the English, choose the correct part from each column (start on the RIGHT). Pairs agree, then check. Students copy the correct sentences — they help in Step 9.</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STEP 7 (3 min). Rows come from the F3-L01 and F3-L02 practice rooms. Read the English, choose the correct part from each column (start on the RIGHT). Pairs agree, then check. Students copy the correct sentences — they help in Step 9.</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STEP 8 (3 min). Common mistakes from both lessons. Students type the corrected version in the chat before the answer slide. These are the mistakes to look for in the buddy check.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STEP 8 (3 min). Common mistakes from both lessons. Students type the corrected version in the chat before the answer slide. These are the mistakes to look for in the buddy check.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STEP 9 support. Core: use the Core frames for every bullet. Develop: use the Develop frames only if stuck. Stretch: no frames — add reasons, a time phrase and an extra detail.</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STEP 9 (10 min writing, everyone on their own). Core: frames for every bullet (30–40 words). Develop: 40–70 words, frames only if stuck. Stretch: no frames, add reasons. Teacher reads ONE sentence per student (in the chat or the shared document) and gives one live correction.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BUDDY CHECK (3 min). Pairs swap texts (or share screens). Then everyone returns to the main room.</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CHECK YOURSELF (2 min, main room). Each student finds one task they answered less fully and says it again using the model.</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MODEL ANSWER (40 words). CHECK YOURSELF (2 min). Find each bullet point in the model, and one phrase from F3-L01 and one from F3-L02. Then each student copies ONE phrase from the model into their own text.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SELF-CHECK (1 min) against the website success criteria. Students tick privately, then type one WWW and one EBI in the chat (English is fine).
Teacher: one whole-class feedback point from live feedback. Pastoral: Curiosity &amp; Growth for honest reflection and a harder target next lesson.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CLOSE — thank students, dismiss calmly. After the lesson: complete the Pastoral Tracker (attendance, character, self-management, curiosity; demerits only for the five listed concerns). Note any student below 2/3 on the exit ticket for a Do Now check-in next lesson.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24</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49" r:id="rId1"/>
  </p:sldLayoutIdLst>
  <p:hf sldNum="0" hdr="0" ftr="0" dt="0"/>
  <p:txStyles>
    <p:titleStyle>
      <a:lvl1pPr algn="ctr" defTabSz="914400" rtl="0" eaLnBrk="1" latinLnBrk="0" hangingPunct="1">
        <a:spcBef>
          <a:spcPct val="0"/>
        </a:spcBef>
        <a:buNone/>
        <a:defRPr sz="4400" kern="1200">
          <a:solidFill>
            <a:schemeClr val="tx1"/>
          </a:solidFill>
          <a:latin typeface="+mj-lt"/>
          <a:cs typeface="Amiri" pitchFamily="2" charset="-78"/>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cs typeface="Amiri" pitchFamily="2" charset="-78"/>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cs typeface="Amiri" pitchFamily="2" charset="-78"/>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cs typeface="Amiri" pitchFamily="2" charset="-78"/>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cs typeface="Amiri" pitchFamily="2" charset="-78"/>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cs typeface="Amiri" pitchFamily="2" charset="-78"/>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cs typeface="Amiri" pitchFamily="2" charset="-78"/>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cs typeface="Amiri" pitchFamily="2" charset="-78"/>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cs typeface="Amiri" pitchFamily="2" charset="-78"/>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cs typeface="Amiri" pitchFamily="2" charset="-78"/>
        </a:defRPr>
      </a:lvl9pPr>
    </p:bodyStyle>
    <p:otherStyle>
      <a:defPPr>
        <a:defRPr lang="en-US"/>
      </a:defPPr>
      <a:lvl1pPr marL="0" algn="l" defTabSz="914400" rtl="0" eaLnBrk="1" latinLnBrk="0" hangingPunct="1">
        <a:defRPr sz="1800" kern="1200">
          <a:solidFill>
            <a:schemeClr val="tx1"/>
          </a:solidFill>
          <a:latin typeface="+mn-lt"/>
          <a:cs typeface="Amiri" pitchFamily="2" charset="-78"/>
        </a:defRPr>
      </a:lvl1pPr>
      <a:lvl2pPr marL="457200" algn="l" defTabSz="914400" rtl="0" eaLnBrk="1" latinLnBrk="0" hangingPunct="1">
        <a:defRPr sz="1800" kern="1200">
          <a:solidFill>
            <a:schemeClr val="tx1"/>
          </a:solidFill>
          <a:latin typeface="+mn-lt"/>
          <a:cs typeface="Amiri" pitchFamily="2" charset="-78"/>
        </a:defRPr>
      </a:lvl2pPr>
      <a:lvl3pPr marL="914400" algn="l" defTabSz="914400" rtl="0" eaLnBrk="1" latinLnBrk="0" hangingPunct="1">
        <a:defRPr sz="1800" kern="1200">
          <a:solidFill>
            <a:schemeClr val="tx1"/>
          </a:solidFill>
          <a:latin typeface="+mn-lt"/>
          <a:cs typeface="Amiri" pitchFamily="2" charset="-78"/>
        </a:defRPr>
      </a:lvl3pPr>
      <a:lvl4pPr marL="1371600" algn="l" defTabSz="914400" rtl="0" eaLnBrk="1" latinLnBrk="0" hangingPunct="1">
        <a:defRPr sz="1800" kern="1200">
          <a:solidFill>
            <a:schemeClr val="tx1"/>
          </a:solidFill>
          <a:latin typeface="+mn-lt"/>
          <a:cs typeface="Amiri" pitchFamily="2" charset="-78"/>
        </a:defRPr>
      </a:lvl4pPr>
      <a:lvl5pPr marL="1828800" algn="l" defTabSz="914400" rtl="0" eaLnBrk="1" latinLnBrk="0" hangingPunct="1">
        <a:defRPr sz="1800" kern="1200">
          <a:solidFill>
            <a:schemeClr val="tx1"/>
          </a:solidFill>
          <a:latin typeface="+mn-lt"/>
          <a:cs typeface="Amiri" pitchFamily="2" charset="-78"/>
        </a:defRPr>
      </a:lvl5pPr>
      <a:lvl6pPr marL="2286000" algn="l" defTabSz="914400" rtl="0" eaLnBrk="1" latinLnBrk="0" hangingPunct="1">
        <a:defRPr sz="1800" kern="1200">
          <a:solidFill>
            <a:schemeClr val="tx1"/>
          </a:solidFill>
          <a:latin typeface="+mn-lt"/>
          <a:cs typeface="Amiri" pitchFamily="2" charset="-78"/>
        </a:defRPr>
      </a:lvl6pPr>
      <a:lvl7pPr marL="2743200" algn="l" defTabSz="914400" rtl="0" eaLnBrk="1" latinLnBrk="0" hangingPunct="1">
        <a:defRPr sz="1800" kern="1200">
          <a:solidFill>
            <a:schemeClr val="tx1"/>
          </a:solidFill>
          <a:latin typeface="+mn-lt"/>
          <a:cs typeface="Amiri" pitchFamily="2" charset="-78"/>
        </a:defRPr>
      </a:lvl7pPr>
      <a:lvl8pPr marL="3200400" algn="l" defTabSz="914400" rtl="0" eaLnBrk="1" latinLnBrk="0" hangingPunct="1">
        <a:defRPr sz="1800" kern="1200">
          <a:solidFill>
            <a:schemeClr val="tx1"/>
          </a:solidFill>
          <a:latin typeface="+mn-lt"/>
          <a:cs typeface="Amiri" pitchFamily="2" charset="-78"/>
        </a:defRPr>
      </a:lvl8pPr>
      <a:lvl9pPr marL="3657600" algn="l" defTabSz="914400" rtl="0" eaLnBrk="1" latinLnBrk="0" hangingPunct="1">
        <a:defRPr sz="1800" kern="1200">
          <a:solidFill>
            <a:schemeClr val="tx1"/>
          </a:solidFill>
          <a:latin typeface="+mn-lt"/>
          <a:cs typeface="Amiri" pitchFamily="2" charset="-78"/>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image" Target="../media/image-1-1.png"/><Relationship Id="rId2" Type="http://schemas.openxmlformats.org/officeDocument/2006/relationships/slideLayout" Target="../slideLayouts/slideLayout1.xml"/><Relationship Id="rId3"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image" Target="../media/image-2-1.png"/><Relationship Id="rId2" Type="http://schemas.openxmlformats.org/officeDocument/2006/relationships/image" Target="../media/image-2-2.png"/><Relationship Id="rId3" Type="http://schemas.openxmlformats.org/officeDocument/2006/relationships/image" Target="../media/image-2-3.png"/><Relationship Id="rId4" Type="http://schemas.openxmlformats.org/officeDocument/2006/relationships/image" Target="../media/image-2-4.png"/><Relationship Id="rId5" Type="http://schemas.openxmlformats.org/officeDocument/2006/relationships/slideLayout" Target="../slideLayouts/slideLayout1.xml"/><Relationship Id="rId6"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8.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9.xm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0.xml"/></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1.xml"/></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2.xml"/></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3.xml"/></Relationships>
</file>

<file path=ppt/slides/_rels/slide24.xml.rels><?xml version="1.0" encoding="UTF-8" standalone="yes"?>
<Relationships xmlns="http://schemas.openxmlformats.org/package/2006/relationships"><Relationship Id="rId1" Type="http://schemas.openxmlformats.org/officeDocument/2006/relationships/image" Target="../media/image-24-1.png"/><Relationship Id="rId2" Type="http://schemas.openxmlformats.org/officeDocument/2006/relationships/slideLayout" Target="../slideLayouts/slideLayout1.xml"/><Relationship Id="rId3" Type="http://schemas.openxmlformats.org/officeDocument/2006/relationships/notesSlide" Target="../notesSlides/notesSlide24.xml"/></Relationships>
</file>

<file path=ppt/slides/slide1.xml><?xml version="1.0" encoding="utf-8"?>
<p:sld xmlns:a="http://schemas.openxmlformats.org/drawingml/2006/main" xmlns:r="http://schemas.openxmlformats.org/officeDocument/2006/relationships" xmlns:p="http://schemas.openxmlformats.org/presentationml/2006/main">
  <p:cSld name="Slide 1">
    <p:bg>
      <p:bgPr>
        <a:solidFill>
          <a:srgbClr val="0D1F3C"/>
        </a:solidFill>
      </p:bgPr>
    </p:bg>
    <p:spTree>
      <p:nvGrpSpPr>
        <p:cNvPr id="1" name=""/>
        <p:cNvGrpSpPr/>
        <p:nvPr/>
      </p:nvGrpSpPr>
      <p:grpSpPr>
        <a:xfrm>
          <a:off x="0" y="0"/>
          <a:ext cx="0" cy="0"/>
          <a:chOff x="0" y="0"/>
          <a:chExt cx="0" cy="0"/>
        </a:xfrm>
      </p:grpSpPr>
      <p:sp>
        <p:nvSpPr>
          <p:cNvPr id="2" name="Shape 0"/>
          <p:cNvSpPr/>
          <p:nvPr/>
        </p:nvSpPr>
        <p:spPr>
          <a:xfrm>
            <a:off x="7863840" y="-1463040"/>
            <a:ext cx="5852160" cy="5852160"/>
          </a:xfrm>
          <a:prstGeom prst="ellipse">
            <a:avLst/>
          </a:prstGeom>
          <a:solidFill>
            <a:srgbClr val="14315C"/>
          </a:solidFill>
          <a:ln w="12700">
            <a:solidFill>
              <a:srgbClr val="14315C"/>
            </a:solidFill>
            <a:prstDash val="solid"/>
          </a:ln>
        </p:spPr>
      </p:sp>
      <p:sp>
        <p:nvSpPr>
          <p:cNvPr id="3" name="Shape 1"/>
          <p:cNvSpPr/>
          <p:nvPr/>
        </p:nvSpPr>
        <p:spPr>
          <a:xfrm>
            <a:off x="8778240" y="-548640"/>
            <a:ext cx="4023360" cy="4023360"/>
          </a:xfrm>
          <a:prstGeom prst="ellipse">
            <a:avLst/>
          </a:prstGeom>
          <a:solidFill>
            <a:srgbClr val="1B3B6F"/>
          </a:solidFill>
          <a:ln w="12700">
            <a:solidFill>
              <a:srgbClr val="1B3B6F"/>
            </a:solidFill>
            <a:prstDash val="solid"/>
          </a:ln>
        </p:spPr>
      </p:sp>
      <p:pic>
        <p:nvPicPr>
          <p:cNvPr id="4" name="Image 0" descr="preencoded.png">    </p:cNvPr>
          <p:cNvPicPr>
            <a:picLocks noChangeAspect="1"/>
          </p:cNvPicPr>
          <p:nvPr/>
        </p:nvPicPr>
        <p:blipFill>
          <a:blip r:embed="rId1"/>
          <a:stretch>
            <a:fillRect/>
          </a:stretch>
        </p:blipFill>
        <p:spPr>
          <a:xfrm>
            <a:off x="10012680" y="685800"/>
            <a:ext cx="1554480" cy="1554480"/>
          </a:xfrm>
          <a:prstGeom prst="rect">
            <a:avLst/>
          </a:prstGeom>
        </p:spPr>
      </p:pic>
      <p:sp>
        <p:nvSpPr>
          <p:cNvPr id="5" name="Shape 2"/>
          <p:cNvSpPr/>
          <p:nvPr/>
        </p:nvSpPr>
        <p:spPr>
          <a:xfrm>
            <a:off x="457200" y="411480"/>
            <a:ext cx="502920" cy="502920"/>
          </a:xfrm>
          <a:prstGeom prst="ellipse">
            <a:avLst/>
          </a:prstGeom>
          <a:solidFill>
            <a:srgbClr val="1B3B6F"/>
          </a:solidFill>
          <a:ln w="15875">
            <a:solidFill>
              <a:srgbClr val="D4AF37"/>
            </a:solidFill>
            <a:prstDash val="solid"/>
          </a:ln>
        </p:spPr>
      </p:sp>
      <p:sp>
        <p:nvSpPr>
          <p:cNvPr id="6" name="Text 3"/>
          <p:cNvSpPr txBox="1"/>
          <p:nvPr/>
        </p:nvSpPr>
        <p:spPr>
          <a:xfrm>
            <a:off x="457200" y="393192"/>
            <a:ext cx="502920" cy="502920"/>
          </a:xfrm>
          <a:prstGeom prst="rect">
            <a:avLst/>
          </a:prstGeom>
          <a:noFill/>
          <a:ln/>
        </p:spPr>
        <p:txBody>
          <a:bodyPr wrap="square" lIns="0" tIns="0" rIns="0" bIns="0" rtlCol="0" anchor="ctr"/>
          <a:lstStyle/>
          <a:p>
            <a:pPr rtl="1" algn="ctr" indent="0" marL="0">
              <a:buNone/>
            </a:pPr>
            <a:r>
              <a:rPr lang="ar-SA" altLang="en-US" sz="2200" b="1" dirty="0">
                <a:solidFill>
                  <a:srgbClr val="D4AF37"/>
                </a:solidFill>
                <a:latin typeface="Amiri" pitchFamily="2" charset="-78"/>
                <a:ea typeface="Amiri" pitchFamily="2" charset="-78"/>
                <a:cs typeface="Amiri" pitchFamily="2" charset="-78"/>
              </a:rPr>
              <a:t>م</a:t>
            </a:r>
            <a:endParaRPr lang="ar-SA" sz="2200" dirty="0"/>
          </a:p>
        </p:txBody>
      </p:sp>
      <p:sp>
        <p:nvSpPr>
          <p:cNvPr id="7" name="Text 4"/>
          <p:cNvSpPr txBox="1"/>
          <p:nvPr/>
        </p:nvSpPr>
        <p:spPr>
          <a:xfrm>
            <a:off x="1078992" y="384048"/>
            <a:ext cx="5486400" cy="566928"/>
          </a:xfrm>
          <a:prstGeom prst="rect">
            <a:avLst/>
          </a:prstGeom>
          <a:noFill/>
          <a:ln/>
        </p:spPr>
        <p:txBody>
          <a:bodyPr wrap="square" lIns="0" tIns="0" rIns="0" bIns="0" rtlCol="0" anchor="ctr"/>
          <a:lstStyle/>
          <a:p>
            <a:pPr indent="0" marL="0">
              <a:buNone/>
            </a:pPr>
            <a:r>
              <a:rPr lang="en-US" sz="1400" b="1" dirty="0">
                <a:solidFill>
                  <a:srgbClr val="FFFFFF"/>
                </a:solidFill>
                <a:latin typeface="Cambria" pitchFamily="34" charset="0"/>
                <a:cs typeface="Amiri" pitchFamily="2" charset="-78"/>
              </a:rPr>
              <a:t>Al Madina Online School</a:t>
            </a:r>
            <a:endParaRPr lang="en-US" sz="1400" dirty="0"/>
          </a:p>
          <a:p>
            <a:pPr indent="0" marL="0">
              <a:buNone/>
            </a:pPr>
            <a:r>
              <a:rPr lang="en-US" sz="800" b="1" spc="200" kern="0" dirty="0">
                <a:solidFill>
                  <a:srgbClr val="D4AF37"/>
                </a:solidFill>
                <a:latin typeface="Calibri" pitchFamily="34" charset="0"/>
                <a:cs typeface="Amiri" pitchFamily="2" charset="-78"/>
              </a:rPr>
              <a:t>ARABIC DEPARTMENT · MIFTAH ARABIC</a:t>
            </a:r>
            <a:endParaRPr lang="en-US" sz="1400" dirty="0"/>
          </a:p>
        </p:txBody>
      </p:sp>
      <p:sp>
        <p:nvSpPr>
          <p:cNvPr id="8" name="Text 5"/>
          <p:cNvSpPr txBox="1"/>
          <p:nvPr/>
        </p:nvSpPr>
        <p:spPr>
          <a:xfrm>
            <a:off x="457200" y="1600200"/>
            <a:ext cx="8686800" cy="274320"/>
          </a:xfrm>
          <a:prstGeom prst="rect">
            <a:avLst/>
          </a:prstGeom>
          <a:noFill/>
          <a:ln/>
        </p:spPr>
        <p:txBody>
          <a:bodyPr wrap="square" lIns="0" tIns="0" rIns="0" bIns="0" rtlCol="0" anchor="ctr"/>
          <a:lstStyle/>
          <a:p>
            <a:pPr algn="l" indent="0" marL="0">
              <a:buNone/>
            </a:pPr>
            <a:r>
              <a:rPr lang="en-US" sz="1100" b="1" spc="200" kern="0" dirty="0">
                <a:solidFill>
                  <a:srgbClr val="D4AF37"/>
                </a:solidFill>
                <a:latin typeface="Calibri" pitchFamily="34" charset="0"/>
                <a:cs typeface="Amiri" pitchFamily="2" charset="-78"/>
              </a:rPr>
              <a:t>CAMBRIDGE IGCSE ARABIC 0544  ·  YEAR 7  ·  FOUNDATION F3  ·  F3-L01 + F3-L02 · APPLY WORKSHOP</a:t>
            </a:r>
            <a:endParaRPr lang="en-US" sz="1100" dirty="0"/>
          </a:p>
        </p:txBody>
      </p:sp>
      <p:sp>
        <p:nvSpPr>
          <p:cNvPr id="9" name="Text 6"/>
          <p:cNvSpPr txBox="1"/>
          <p:nvPr/>
        </p:nvSpPr>
        <p:spPr>
          <a:xfrm>
            <a:off x="457200" y="1965960"/>
            <a:ext cx="7315200" cy="548640"/>
          </a:xfrm>
          <a:prstGeom prst="rect">
            <a:avLst/>
          </a:prstGeom>
          <a:noFill/>
          <a:ln/>
        </p:spPr>
        <p:txBody>
          <a:bodyPr wrap="square" lIns="0" tIns="0" rIns="0" bIns="0" rtlCol="0" anchor="ctr"/>
          <a:lstStyle/>
          <a:p>
            <a:pPr algn="l" indent="0" marL="0">
              <a:buNone/>
            </a:pPr>
            <a:r>
              <a:rPr lang="en-US" sz="2600" b="1" dirty="0">
                <a:solidFill>
                  <a:srgbClr val="9FB3D1"/>
                </a:solidFill>
                <a:latin typeface="Cambria" pitchFamily="34" charset="0"/>
                <a:cs typeface="Amiri" pitchFamily="2" charset="-78"/>
              </a:rPr>
              <a:t>F3-W01</a:t>
            </a:r>
            <a:endParaRPr lang="en-US" sz="2600" dirty="0"/>
          </a:p>
        </p:txBody>
      </p:sp>
      <p:sp>
        <p:nvSpPr>
          <p:cNvPr id="10" name="Text 7"/>
          <p:cNvSpPr txBox="1"/>
          <p:nvPr/>
        </p:nvSpPr>
        <p:spPr>
          <a:xfrm>
            <a:off x="457200" y="2487168"/>
            <a:ext cx="8046720" cy="868680"/>
          </a:xfrm>
          <a:prstGeom prst="rect">
            <a:avLst/>
          </a:prstGeom>
          <a:noFill/>
          <a:ln/>
        </p:spPr>
        <p:txBody>
          <a:bodyPr wrap="square" lIns="0" tIns="0" rIns="0" bIns="0" rtlCol="0" anchor="ctr"/>
          <a:lstStyle/>
          <a:p>
            <a:pPr algn="l" indent="0" marL="0">
              <a:buNone/>
            </a:pPr>
            <a:r>
              <a:rPr lang="en-US" sz="2650" b="1" dirty="0">
                <a:solidFill>
                  <a:srgbClr val="FFFFFF"/>
                </a:solidFill>
                <a:latin typeface="Cambria" pitchFamily="34" charset="0"/>
                <a:cs typeface="Amiri" pitchFamily="2" charset="-78"/>
              </a:rPr>
              <a:t>Apply Workshop — Our Family Photo Album</a:t>
            </a:r>
            <a:endParaRPr lang="en-US" sz="2650" dirty="0"/>
          </a:p>
        </p:txBody>
      </p:sp>
      <p:sp>
        <p:nvSpPr>
          <p:cNvPr id="11" name="Text 8"/>
          <p:cNvSpPr txBox="1"/>
          <p:nvPr/>
        </p:nvSpPr>
        <p:spPr>
          <a:xfrm>
            <a:off x="457200" y="3310128"/>
            <a:ext cx="8046720" cy="868680"/>
          </a:xfrm>
          <a:prstGeom prst="rect">
            <a:avLst/>
          </a:prstGeom>
          <a:noFill/>
          <a:ln/>
        </p:spPr>
        <p:txBody>
          <a:bodyPr wrap="square" lIns="0" tIns="0" rIns="0" bIns="0" rtlCol="0" anchor="ctr"/>
          <a:lstStyle/>
          <a:p>
            <a:pPr rtl="1" algn="l" indent="0" marL="0">
              <a:buNone/>
            </a:pPr>
            <a:r>
              <a:rPr lang="ar-SA" altLang="en-US" sz="3600" b="1" dirty="0">
                <a:solidFill>
                  <a:srgbClr val="D4AF37"/>
                </a:solidFill>
                <a:latin typeface="Amiri" pitchFamily="2" charset="-78"/>
                <a:ea typeface="Amiri" pitchFamily="2" charset="-78"/>
                <a:cs typeface="Amiri" pitchFamily="2" charset="-78"/>
              </a:rPr>
              <a:t>وَرْشَةُ التَّطْبِيقِ — أَلْبُومُ صُوَرِ العَائِلَةِ</a:t>
            </a:r>
            <a:endParaRPr lang="ar-SA" sz="3600" dirty="0"/>
          </a:p>
        </p:txBody>
      </p:sp>
      <p:sp>
        <p:nvSpPr>
          <p:cNvPr id="12" name="Text 9"/>
          <p:cNvSpPr txBox="1"/>
          <p:nvPr/>
        </p:nvSpPr>
        <p:spPr>
          <a:xfrm>
            <a:off x="457200" y="4224528"/>
            <a:ext cx="7863840" cy="731520"/>
          </a:xfrm>
          <a:prstGeom prst="rect">
            <a:avLst/>
          </a:prstGeom>
          <a:noFill/>
          <a:ln/>
        </p:spPr>
        <p:txBody>
          <a:bodyPr wrap="square" lIns="0" tIns="0" rIns="0" bIns="0" rtlCol="0" anchor="t"/>
          <a:lstStyle/>
          <a:p>
            <a:pPr algn="l" indent="0" marL="0">
              <a:buNone/>
            </a:pPr>
            <a:r>
              <a:rPr lang="en-US" sz="1400" dirty="0">
                <a:solidFill>
                  <a:srgbClr val="C6D2E6"/>
                </a:solidFill>
                <a:latin typeface="Calibri" pitchFamily="34" charset="0"/>
                <a:cs typeface="Amiri" pitchFamily="2" charset="-78"/>
              </a:rPr>
              <a:t>Students join family words and descriptions: they show a family photo, say who each person is and describe them (appearance and personality), give a short talk about two relatives and write a photo-album page that uses both lessons.</a:t>
            </a:r>
            <a:endParaRPr lang="en-US" sz="1400" dirty="0"/>
          </a:p>
        </p:txBody>
      </p:sp>
      <p:sp>
        <p:nvSpPr>
          <p:cNvPr id="13" name="Shape 10"/>
          <p:cNvSpPr/>
          <p:nvPr/>
        </p:nvSpPr>
        <p:spPr>
          <a:xfrm>
            <a:off x="457200" y="5166360"/>
            <a:ext cx="2651760" cy="868680"/>
          </a:xfrm>
          <a:prstGeom prst="roundRect">
            <a:avLst>
              <a:gd name="adj" fmla="val 8421"/>
            </a:avLst>
          </a:prstGeom>
          <a:solidFill>
            <a:srgbClr val="16335F"/>
          </a:solidFill>
          <a:ln w="12700">
            <a:solidFill>
              <a:srgbClr val="2A4B7C"/>
            </a:solidFill>
            <a:prstDash val="solid"/>
          </a:ln>
        </p:spPr>
      </p:sp>
      <p:sp>
        <p:nvSpPr>
          <p:cNvPr id="14" name="Text 11"/>
          <p:cNvSpPr txBox="1"/>
          <p:nvPr/>
        </p:nvSpPr>
        <p:spPr>
          <a:xfrm>
            <a:off x="621792" y="5212080"/>
            <a:ext cx="2377440" cy="777240"/>
          </a:xfrm>
          <a:prstGeom prst="rect">
            <a:avLst/>
          </a:prstGeom>
          <a:noFill/>
          <a:ln/>
        </p:spPr>
        <p:txBody>
          <a:bodyPr wrap="square" lIns="0" tIns="0" rIns="0" bIns="0" rtlCol="0" anchor="ctr"/>
          <a:lstStyle/>
          <a:p>
            <a:pPr indent="0" marL="0">
              <a:buNone/>
            </a:pPr>
            <a:r>
              <a:rPr lang="en-US" sz="850" b="1" spc="200" kern="0" dirty="0">
                <a:solidFill>
                  <a:srgbClr val="D4AF37"/>
                </a:solidFill>
                <a:latin typeface="Calibri" pitchFamily="34" charset="0"/>
                <a:cs typeface="Amiri" pitchFamily="2" charset="-78"/>
              </a:rPr>
              <a:t>LESSON</a:t>
            </a:r>
            <a:endParaRPr lang="en-US" sz="850" dirty="0"/>
          </a:p>
          <a:p>
            <a:pPr indent="0" marL="0">
              <a:buNone/>
            </a:pPr>
            <a:r>
              <a:rPr lang="en-US" sz="1200" b="1" dirty="0">
                <a:solidFill>
                  <a:srgbClr val="FFFFFF"/>
                </a:solidFill>
                <a:latin typeface="Calibri" pitchFamily="34" charset="0"/>
                <a:cs typeface="Amiri" pitchFamily="2" charset="-78"/>
              </a:rPr>
              <a:t>Apply workshop · F3-L01 + F3-L02</a:t>
            </a:r>
            <a:endParaRPr lang="en-US" sz="850" dirty="0"/>
          </a:p>
        </p:txBody>
      </p:sp>
      <p:sp>
        <p:nvSpPr>
          <p:cNvPr id="15" name="Shape 12"/>
          <p:cNvSpPr/>
          <p:nvPr/>
        </p:nvSpPr>
        <p:spPr>
          <a:xfrm>
            <a:off x="3273552" y="5166360"/>
            <a:ext cx="2651760" cy="868680"/>
          </a:xfrm>
          <a:prstGeom prst="roundRect">
            <a:avLst>
              <a:gd name="adj" fmla="val 8421"/>
            </a:avLst>
          </a:prstGeom>
          <a:solidFill>
            <a:srgbClr val="16335F"/>
          </a:solidFill>
          <a:ln w="12700">
            <a:solidFill>
              <a:srgbClr val="2A4B7C"/>
            </a:solidFill>
            <a:prstDash val="solid"/>
          </a:ln>
        </p:spPr>
      </p:sp>
      <p:sp>
        <p:nvSpPr>
          <p:cNvPr id="16" name="Text 13"/>
          <p:cNvSpPr txBox="1"/>
          <p:nvPr/>
        </p:nvSpPr>
        <p:spPr>
          <a:xfrm>
            <a:off x="3438144" y="5212080"/>
            <a:ext cx="2377440" cy="777240"/>
          </a:xfrm>
          <a:prstGeom prst="rect">
            <a:avLst/>
          </a:prstGeom>
          <a:noFill/>
          <a:ln/>
        </p:spPr>
        <p:txBody>
          <a:bodyPr wrap="square" lIns="0" tIns="0" rIns="0" bIns="0" rtlCol="0" anchor="ctr"/>
          <a:lstStyle/>
          <a:p>
            <a:pPr indent="0" marL="0">
              <a:buNone/>
            </a:pPr>
            <a:r>
              <a:rPr lang="en-US" sz="850" b="1" spc="200" kern="0" dirty="0">
                <a:solidFill>
                  <a:srgbClr val="D4AF37"/>
                </a:solidFill>
                <a:latin typeface="Calibri" pitchFamily="34" charset="0"/>
                <a:cs typeface="Amiri" pitchFamily="2" charset="-78"/>
              </a:rPr>
              <a:t>DURATION</a:t>
            </a:r>
            <a:endParaRPr lang="en-US" sz="850" dirty="0"/>
          </a:p>
          <a:p>
            <a:pPr indent="0" marL="0">
              <a:buNone/>
            </a:pPr>
            <a:r>
              <a:rPr lang="en-US" sz="1200" b="1" dirty="0">
                <a:solidFill>
                  <a:srgbClr val="FFFFFF"/>
                </a:solidFill>
                <a:latin typeface="Calibri" pitchFamily="34" charset="0"/>
                <a:cs typeface="Amiri" pitchFamily="2" charset="-78"/>
              </a:rPr>
              <a:t>60 minutes · Teams</a:t>
            </a:r>
            <a:endParaRPr lang="en-US" sz="850" dirty="0"/>
          </a:p>
        </p:txBody>
      </p:sp>
      <p:sp>
        <p:nvSpPr>
          <p:cNvPr id="17" name="Shape 14"/>
          <p:cNvSpPr/>
          <p:nvPr/>
        </p:nvSpPr>
        <p:spPr>
          <a:xfrm>
            <a:off x="6089904" y="5166360"/>
            <a:ext cx="2651760" cy="868680"/>
          </a:xfrm>
          <a:prstGeom prst="roundRect">
            <a:avLst>
              <a:gd name="adj" fmla="val 8421"/>
            </a:avLst>
          </a:prstGeom>
          <a:solidFill>
            <a:srgbClr val="16335F"/>
          </a:solidFill>
          <a:ln w="12700">
            <a:solidFill>
              <a:srgbClr val="2A4B7C"/>
            </a:solidFill>
            <a:prstDash val="solid"/>
          </a:ln>
        </p:spPr>
      </p:sp>
      <p:sp>
        <p:nvSpPr>
          <p:cNvPr id="18" name="Text 15"/>
          <p:cNvSpPr txBox="1"/>
          <p:nvPr/>
        </p:nvSpPr>
        <p:spPr>
          <a:xfrm>
            <a:off x="6254496" y="5212080"/>
            <a:ext cx="2377440" cy="777240"/>
          </a:xfrm>
          <a:prstGeom prst="rect">
            <a:avLst/>
          </a:prstGeom>
          <a:noFill/>
          <a:ln/>
        </p:spPr>
        <p:txBody>
          <a:bodyPr wrap="square" lIns="0" tIns="0" rIns="0" bIns="0" rtlCol="0" anchor="ctr"/>
          <a:lstStyle/>
          <a:p>
            <a:pPr indent="0" marL="0">
              <a:buNone/>
            </a:pPr>
            <a:r>
              <a:rPr lang="en-US" sz="850" b="1" spc="200" kern="0" dirty="0">
                <a:solidFill>
                  <a:srgbClr val="D4AF37"/>
                </a:solidFill>
                <a:latin typeface="Calibri" pitchFamily="34" charset="0"/>
                <a:cs typeface="Amiri" pitchFamily="2" charset="-78"/>
              </a:rPr>
              <a:t>LEVEL</a:t>
            </a:r>
            <a:endParaRPr lang="en-US" sz="850" dirty="0"/>
          </a:p>
          <a:p>
            <a:pPr indent="0" marL="0">
              <a:buNone/>
            </a:pPr>
            <a:r>
              <a:rPr lang="en-US" sz="1200" b="1" dirty="0">
                <a:solidFill>
                  <a:srgbClr val="FFFFFF"/>
                </a:solidFill>
                <a:latin typeface="Calibri" pitchFamily="34" charset="0"/>
                <a:cs typeface="Amiri" pitchFamily="2" charset="-78"/>
              </a:rPr>
              <a:t>Foundation · A1</a:t>
            </a:r>
            <a:endParaRPr lang="en-US" sz="850" dirty="0"/>
          </a:p>
        </p:txBody>
      </p:sp>
      <p:sp>
        <p:nvSpPr>
          <p:cNvPr id="19" name="Shape 16"/>
          <p:cNvSpPr/>
          <p:nvPr/>
        </p:nvSpPr>
        <p:spPr>
          <a:xfrm>
            <a:off x="8906256" y="5166360"/>
            <a:ext cx="2651760" cy="868680"/>
          </a:xfrm>
          <a:prstGeom prst="roundRect">
            <a:avLst>
              <a:gd name="adj" fmla="val 8421"/>
            </a:avLst>
          </a:prstGeom>
          <a:solidFill>
            <a:srgbClr val="16335F"/>
          </a:solidFill>
          <a:ln w="12700">
            <a:solidFill>
              <a:srgbClr val="2A4B7C"/>
            </a:solidFill>
            <a:prstDash val="solid"/>
          </a:ln>
        </p:spPr>
      </p:sp>
      <p:sp>
        <p:nvSpPr>
          <p:cNvPr id="20" name="Text 17"/>
          <p:cNvSpPr txBox="1"/>
          <p:nvPr/>
        </p:nvSpPr>
        <p:spPr>
          <a:xfrm>
            <a:off x="9070848" y="5212080"/>
            <a:ext cx="2377440" cy="777240"/>
          </a:xfrm>
          <a:prstGeom prst="rect">
            <a:avLst/>
          </a:prstGeom>
          <a:noFill/>
          <a:ln/>
        </p:spPr>
        <p:txBody>
          <a:bodyPr wrap="square" lIns="0" tIns="0" rIns="0" bIns="0" rtlCol="0" anchor="ctr"/>
          <a:lstStyle/>
          <a:p>
            <a:pPr indent="0" marL="0">
              <a:buNone/>
            </a:pPr>
            <a:r>
              <a:rPr lang="en-US" sz="850" b="1" spc="200" kern="0" dirty="0">
                <a:solidFill>
                  <a:srgbClr val="D4AF37"/>
                </a:solidFill>
                <a:latin typeface="Calibri" pitchFamily="34" charset="0"/>
                <a:cs typeface="Amiri" pitchFamily="2" charset="-78"/>
              </a:rPr>
              <a:t>ON THE WEBSITE</a:t>
            </a:r>
            <a:endParaRPr lang="en-US" sz="850" dirty="0"/>
          </a:p>
          <a:p>
            <a:pPr indent="0" marL="0">
              <a:buNone/>
            </a:pPr>
            <a:r>
              <a:rPr lang="en-US" sz="1200" b="1" dirty="0">
                <a:solidFill>
                  <a:srgbClr val="FFFFFF"/>
                </a:solidFill>
                <a:latin typeface="Calibri" pitchFamily="34" charset="0"/>
                <a:cs typeface="Amiri" pitchFamily="2" charset="-78"/>
              </a:rPr>
              <a:t>Pathways › Foundation › F3 › F3-L02</a:t>
            </a:r>
            <a:endParaRPr lang="en-US" sz="85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F3-W01 · Apply workshop</a:t>
            </a:r>
            <a:endParaRPr lang="en-US" sz="950" dirty="0"/>
          </a:p>
        </p:txBody>
      </p:sp>
      <p:sp>
        <p:nvSpPr>
          <p:cNvPr id="8" name="Shape 6"/>
          <p:cNvSpPr/>
          <p:nvPr/>
        </p:nvSpPr>
        <p:spPr>
          <a:xfrm>
            <a:off x="7219188" y="274320"/>
            <a:ext cx="1540764" cy="329184"/>
          </a:xfrm>
          <a:prstGeom prst="roundRect">
            <a:avLst>
              <a:gd name="adj" fmla="val 50000"/>
            </a:avLst>
          </a:prstGeom>
          <a:solidFill>
            <a:srgbClr val="5A6472"/>
          </a:solidFill>
          <a:ln w="12700">
            <a:solidFill>
              <a:srgbClr val="5A6472"/>
            </a:solidFill>
            <a:prstDash val="solid"/>
          </a:ln>
        </p:spPr>
      </p:sp>
      <p:sp>
        <p:nvSpPr>
          <p:cNvPr id="9" name="Text 7"/>
          <p:cNvSpPr txBox="1"/>
          <p:nvPr/>
        </p:nvSpPr>
        <p:spPr>
          <a:xfrm>
            <a:off x="7219188" y="274320"/>
            <a:ext cx="1540764"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WELCOME · 1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5A6472"/>
                </a:solidFill>
                <a:latin typeface="Calibri" pitchFamily="34" charset="0"/>
                <a:cs typeface="Amiri" pitchFamily="2" charset="-78"/>
              </a:rPr>
              <a:t>BEFORE WE BEGIN</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Our online classroom</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آدَابُ الصَّفِّ</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Foundation F3 · My Family &amp; Home · F3-W01 · Apply workshop (F3-L01 + F3-L02)</a:t>
            </a:r>
            <a:endParaRPr lang="en-US" sz="850" dirty="0"/>
          </a:p>
        </p:txBody>
      </p:sp>
      <p:sp>
        <p:nvSpPr>
          <p:cNvPr id="15" name="Shape 12"/>
          <p:cNvSpPr/>
          <p:nvPr/>
        </p:nvSpPr>
        <p:spPr>
          <a:xfrm>
            <a:off x="457200" y="1828800"/>
            <a:ext cx="5394960" cy="932688"/>
          </a:xfrm>
          <a:prstGeom prst="roundRect">
            <a:avLst>
              <a:gd name="adj" fmla="val 7843"/>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640080" y="2002536"/>
            <a:ext cx="585216" cy="585216"/>
          </a:xfrm>
          <a:prstGeom prst="ellipse">
            <a:avLst/>
          </a:prstGeom>
          <a:solidFill>
            <a:srgbClr val="EEF3FA"/>
          </a:solidFill>
          <a:ln w="12700">
            <a:solidFill>
              <a:srgbClr val="EEF3FA"/>
            </a:solidFill>
            <a:prstDash val="solid"/>
          </a:ln>
        </p:spPr>
      </p:sp>
      <p:pic>
        <p:nvPicPr>
          <p:cNvPr id="17" name="Image 0" descr="preencoded.png">    </p:cNvPr>
          <p:cNvPicPr>
            <a:picLocks noChangeAspect="1"/>
          </p:cNvPicPr>
          <p:nvPr/>
        </p:nvPicPr>
        <p:blipFill>
          <a:blip r:embed="rId1"/>
          <a:stretch>
            <a:fillRect/>
          </a:stretch>
        </p:blipFill>
        <p:spPr>
          <a:xfrm>
            <a:off x="777240" y="2139696"/>
            <a:ext cx="310896" cy="310896"/>
          </a:xfrm>
          <a:prstGeom prst="rect">
            <a:avLst/>
          </a:prstGeom>
        </p:spPr>
      </p:pic>
      <p:sp>
        <p:nvSpPr>
          <p:cNvPr id="18" name="Text 14"/>
          <p:cNvSpPr txBox="1"/>
          <p:nvPr/>
        </p:nvSpPr>
        <p:spPr>
          <a:xfrm>
            <a:off x="1371600" y="1901952"/>
            <a:ext cx="4389120" cy="786384"/>
          </a:xfrm>
          <a:prstGeom prst="rect">
            <a:avLst/>
          </a:prstGeom>
          <a:noFill/>
          <a:ln/>
        </p:spPr>
        <p:txBody>
          <a:bodyPr wrap="square" lIns="0" tIns="0" rIns="0" bIns="0" rtlCol="0" anchor="ctr"/>
          <a:lstStyle/>
          <a:p>
            <a:pPr indent="0" marL="0">
              <a:buNone/>
            </a:pPr>
            <a:r>
              <a:rPr lang="en-US" sz="1500" b="1" dirty="0">
                <a:solidFill>
                  <a:srgbClr val="1B3B6F"/>
                </a:solidFill>
                <a:latin typeface="Calibri" pitchFamily="34" charset="0"/>
                <a:cs typeface="Amiri" pitchFamily="2" charset="-78"/>
              </a:rPr>
              <a:t>Camera on</a:t>
            </a:r>
            <a:endParaRPr lang="en-US" sz="1500" dirty="0"/>
          </a:p>
          <a:p>
            <a:pPr indent="0" marL="0">
              <a:buNone/>
            </a:pPr>
            <a:r>
              <a:rPr lang="en-US" sz="1150" dirty="0">
                <a:solidFill>
                  <a:srgbClr val="5A6472"/>
                </a:solidFill>
                <a:latin typeface="Calibri" pitchFamily="34" charset="0"/>
                <a:cs typeface="Amiri" pitchFamily="2" charset="-78"/>
              </a:rPr>
              <a:t>So I can see you learning and help you quickly.</a:t>
            </a:r>
            <a:endParaRPr lang="en-US" sz="1500" dirty="0"/>
          </a:p>
        </p:txBody>
      </p:sp>
      <p:sp>
        <p:nvSpPr>
          <p:cNvPr id="19" name="Shape 15"/>
          <p:cNvSpPr/>
          <p:nvPr/>
        </p:nvSpPr>
        <p:spPr>
          <a:xfrm>
            <a:off x="457200" y="2907792"/>
            <a:ext cx="5394960" cy="932688"/>
          </a:xfrm>
          <a:prstGeom prst="roundRect">
            <a:avLst>
              <a:gd name="adj" fmla="val 7843"/>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0" name="Shape 16"/>
          <p:cNvSpPr/>
          <p:nvPr/>
        </p:nvSpPr>
        <p:spPr>
          <a:xfrm>
            <a:off x="640080" y="3081528"/>
            <a:ext cx="585216" cy="585216"/>
          </a:xfrm>
          <a:prstGeom prst="ellipse">
            <a:avLst/>
          </a:prstGeom>
          <a:solidFill>
            <a:srgbClr val="EEF3FA"/>
          </a:solidFill>
          <a:ln w="12700">
            <a:solidFill>
              <a:srgbClr val="EEF3FA"/>
            </a:solidFill>
            <a:prstDash val="solid"/>
          </a:ln>
        </p:spPr>
      </p:sp>
      <p:pic>
        <p:nvPicPr>
          <p:cNvPr id="21" name="Image 1" descr="preencoded.png">    </p:cNvPr>
          <p:cNvPicPr>
            <a:picLocks noChangeAspect="1"/>
          </p:cNvPicPr>
          <p:nvPr/>
        </p:nvPicPr>
        <p:blipFill>
          <a:blip r:embed="rId2"/>
          <a:stretch>
            <a:fillRect/>
          </a:stretch>
        </p:blipFill>
        <p:spPr>
          <a:xfrm>
            <a:off x="777240" y="3218688"/>
            <a:ext cx="310896" cy="310896"/>
          </a:xfrm>
          <a:prstGeom prst="rect">
            <a:avLst/>
          </a:prstGeom>
        </p:spPr>
      </p:pic>
      <p:sp>
        <p:nvSpPr>
          <p:cNvPr id="22" name="Text 17"/>
          <p:cNvSpPr txBox="1"/>
          <p:nvPr/>
        </p:nvSpPr>
        <p:spPr>
          <a:xfrm>
            <a:off x="1371600" y="2980944"/>
            <a:ext cx="4389120" cy="786384"/>
          </a:xfrm>
          <a:prstGeom prst="rect">
            <a:avLst/>
          </a:prstGeom>
          <a:noFill/>
          <a:ln/>
        </p:spPr>
        <p:txBody>
          <a:bodyPr wrap="square" lIns="0" tIns="0" rIns="0" bIns="0" rtlCol="0" anchor="ctr"/>
          <a:lstStyle/>
          <a:p>
            <a:pPr indent="0" marL="0">
              <a:buNone/>
            </a:pPr>
            <a:r>
              <a:rPr lang="en-US" sz="1500" b="1" dirty="0">
                <a:solidFill>
                  <a:srgbClr val="1B3B6F"/>
                </a:solidFill>
                <a:latin typeface="Calibri" pitchFamily="34" charset="0"/>
                <a:cs typeface="Amiri" pitchFamily="2" charset="-78"/>
              </a:rPr>
              <a:t>Mic muted</a:t>
            </a:r>
            <a:endParaRPr lang="en-US" sz="1500" dirty="0"/>
          </a:p>
          <a:p>
            <a:pPr indent="0" marL="0">
              <a:buNone/>
            </a:pPr>
            <a:r>
              <a:rPr lang="en-US" sz="1150" dirty="0">
                <a:solidFill>
                  <a:srgbClr val="5A6472"/>
                </a:solidFill>
                <a:latin typeface="Calibri" pitchFamily="34" charset="0"/>
                <a:cs typeface="Amiri" pitchFamily="2" charset="-78"/>
              </a:rPr>
              <a:t>Unmute only when invited to speak.</a:t>
            </a:r>
            <a:endParaRPr lang="en-US" sz="1500" dirty="0"/>
          </a:p>
        </p:txBody>
      </p:sp>
      <p:sp>
        <p:nvSpPr>
          <p:cNvPr id="23" name="Shape 18"/>
          <p:cNvSpPr/>
          <p:nvPr/>
        </p:nvSpPr>
        <p:spPr>
          <a:xfrm>
            <a:off x="457200" y="3986784"/>
            <a:ext cx="5394960" cy="932688"/>
          </a:xfrm>
          <a:prstGeom prst="roundRect">
            <a:avLst>
              <a:gd name="adj" fmla="val 7843"/>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4" name="Shape 19"/>
          <p:cNvSpPr/>
          <p:nvPr/>
        </p:nvSpPr>
        <p:spPr>
          <a:xfrm>
            <a:off x="640080" y="4160520"/>
            <a:ext cx="585216" cy="585216"/>
          </a:xfrm>
          <a:prstGeom prst="ellipse">
            <a:avLst/>
          </a:prstGeom>
          <a:solidFill>
            <a:srgbClr val="EEF3FA"/>
          </a:solidFill>
          <a:ln w="12700">
            <a:solidFill>
              <a:srgbClr val="EEF3FA"/>
            </a:solidFill>
            <a:prstDash val="solid"/>
          </a:ln>
        </p:spPr>
      </p:sp>
      <p:pic>
        <p:nvPicPr>
          <p:cNvPr id="25" name="Image 2" descr="preencoded.png">    </p:cNvPr>
          <p:cNvPicPr>
            <a:picLocks noChangeAspect="1"/>
          </p:cNvPicPr>
          <p:nvPr/>
        </p:nvPicPr>
        <p:blipFill>
          <a:blip r:embed="rId3"/>
          <a:stretch>
            <a:fillRect/>
          </a:stretch>
        </p:blipFill>
        <p:spPr>
          <a:xfrm>
            <a:off x="777240" y="4297680"/>
            <a:ext cx="310896" cy="310896"/>
          </a:xfrm>
          <a:prstGeom prst="rect">
            <a:avLst/>
          </a:prstGeom>
        </p:spPr>
      </p:pic>
      <p:sp>
        <p:nvSpPr>
          <p:cNvPr id="26" name="Text 20"/>
          <p:cNvSpPr txBox="1"/>
          <p:nvPr/>
        </p:nvSpPr>
        <p:spPr>
          <a:xfrm>
            <a:off x="1371600" y="4059936"/>
            <a:ext cx="4389120" cy="786384"/>
          </a:xfrm>
          <a:prstGeom prst="rect">
            <a:avLst/>
          </a:prstGeom>
          <a:noFill/>
          <a:ln/>
        </p:spPr>
        <p:txBody>
          <a:bodyPr wrap="square" lIns="0" tIns="0" rIns="0" bIns="0" rtlCol="0" anchor="ctr"/>
          <a:lstStyle/>
          <a:p>
            <a:pPr indent="0" marL="0">
              <a:buNone/>
            </a:pPr>
            <a:r>
              <a:rPr lang="en-US" sz="1500" b="1" dirty="0">
                <a:solidFill>
                  <a:srgbClr val="1B3B6F"/>
                </a:solidFill>
                <a:latin typeface="Calibri" pitchFamily="34" charset="0"/>
                <a:cs typeface="Amiri" pitchFamily="2" charset="-78"/>
              </a:rPr>
              <a:t>Chat for learning</a:t>
            </a:r>
            <a:endParaRPr lang="en-US" sz="1500" dirty="0"/>
          </a:p>
          <a:p>
            <a:pPr indent="0" marL="0">
              <a:buNone/>
            </a:pPr>
            <a:r>
              <a:rPr lang="en-US" sz="1150" dirty="0">
                <a:solidFill>
                  <a:srgbClr val="5A6472"/>
                </a:solidFill>
                <a:latin typeface="Calibri" pitchFamily="34" charset="0"/>
                <a:cs typeface="Amiri" pitchFamily="2" charset="-78"/>
              </a:rPr>
              <a:t>Answers, questions and Arabic only.</a:t>
            </a:r>
            <a:endParaRPr lang="en-US" sz="1500" dirty="0"/>
          </a:p>
        </p:txBody>
      </p:sp>
      <p:sp>
        <p:nvSpPr>
          <p:cNvPr id="27" name="Shape 21"/>
          <p:cNvSpPr/>
          <p:nvPr/>
        </p:nvSpPr>
        <p:spPr>
          <a:xfrm>
            <a:off x="457200" y="5065776"/>
            <a:ext cx="5394960" cy="932688"/>
          </a:xfrm>
          <a:prstGeom prst="roundRect">
            <a:avLst>
              <a:gd name="adj" fmla="val 7843"/>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8" name="Shape 22"/>
          <p:cNvSpPr/>
          <p:nvPr/>
        </p:nvSpPr>
        <p:spPr>
          <a:xfrm>
            <a:off x="640080" y="5239512"/>
            <a:ext cx="585216" cy="585216"/>
          </a:xfrm>
          <a:prstGeom prst="ellipse">
            <a:avLst/>
          </a:prstGeom>
          <a:solidFill>
            <a:srgbClr val="EEF3FA"/>
          </a:solidFill>
          <a:ln w="12700">
            <a:solidFill>
              <a:srgbClr val="EEF3FA"/>
            </a:solidFill>
            <a:prstDash val="solid"/>
          </a:ln>
        </p:spPr>
      </p:sp>
      <p:pic>
        <p:nvPicPr>
          <p:cNvPr id="29" name="Image 3" descr="preencoded.png">    </p:cNvPr>
          <p:cNvPicPr>
            <a:picLocks noChangeAspect="1"/>
          </p:cNvPicPr>
          <p:nvPr/>
        </p:nvPicPr>
        <p:blipFill>
          <a:blip r:embed="rId4"/>
          <a:stretch>
            <a:fillRect/>
          </a:stretch>
        </p:blipFill>
        <p:spPr>
          <a:xfrm>
            <a:off x="777240" y="5376672"/>
            <a:ext cx="310896" cy="310896"/>
          </a:xfrm>
          <a:prstGeom prst="rect">
            <a:avLst/>
          </a:prstGeom>
        </p:spPr>
      </p:pic>
      <p:sp>
        <p:nvSpPr>
          <p:cNvPr id="30" name="Text 23"/>
          <p:cNvSpPr txBox="1"/>
          <p:nvPr/>
        </p:nvSpPr>
        <p:spPr>
          <a:xfrm>
            <a:off x="1371600" y="5138928"/>
            <a:ext cx="4389120" cy="786384"/>
          </a:xfrm>
          <a:prstGeom prst="rect">
            <a:avLst/>
          </a:prstGeom>
          <a:noFill/>
          <a:ln/>
        </p:spPr>
        <p:txBody>
          <a:bodyPr wrap="square" lIns="0" tIns="0" rIns="0" bIns="0" rtlCol="0" anchor="ctr"/>
          <a:lstStyle/>
          <a:p>
            <a:pPr indent="0" marL="0">
              <a:buNone/>
            </a:pPr>
            <a:r>
              <a:rPr lang="en-US" sz="1500" b="1" dirty="0">
                <a:solidFill>
                  <a:srgbClr val="1B3B6F"/>
                </a:solidFill>
                <a:latin typeface="Calibri" pitchFamily="34" charset="0"/>
                <a:cs typeface="Amiri" pitchFamily="2" charset="-78"/>
              </a:rPr>
              <a:t>Raise your hand</a:t>
            </a:r>
            <a:endParaRPr lang="en-US" sz="1500" dirty="0"/>
          </a:p>
          <a:p>
            <a:pPr indent="0" marL="0">
              <a:buNone/>
            </a:pPr>
            <a:r>
              <a:rPr lang="en-US" sz="1150" dirty="0">
                <a:solidFill>
                  <a:srgbClr val="5A6472"/>
                </a:solidFill>
                <a:latin typeface="Calibri" pitchFamily="34" charset="0"/>
                <a:cs typeface="Amiri" pitchFamily="2" charset="-78"/>
              </a:rPr>
              <a:t>Use the hand button to ask for help.</a:t>
            </a:r>
            <a:endParaRPr lang="en-US" sz="1500" dirty="0"/>
          </a:p>
        </p:txBody>
      </p:sp>
      <p:sp>
        <p:nvSpPr>
          <p:cNvPr id="31" name="Shape 24"/>
          <p:cNvSpPr/>
          <p:nvPr/>
        </p:nvSpPr>
        <p:spPr>
          <a:xfrm>
            <a:off x="6172200" y="1828800"/>
            <a:ext cx="5559552" cy="4169664"/>
          </a:xfrm>
          <a:prstGeom prst="roundRect">
            <a:avLst>
              <a:gd name="adj" fmla="val 1754"/>
            </a:avLst>
          </a:prstGeom>
          <a:solidFill>
            <a:srgbClr val="F7F9FC"/>
          </a:solidFill>
          <a:ln w="9525">
            <a:solidFill>
              <a:srgbClr val="C9D6EA"/>
            </a:solidFill>
            <a:prstDash val="solid"/>
          </a:ln>
          <a:effectLst>
            <a:outerShdw sx="100000" sy="100000" kx="0" ky="0" algn="bl" rotWithShape="0" blurRad="50800" dist="19050" dir="5400000">
              <a:srgbClr val="000000">
                <a:alpha val="10000"/>
              </a:srgbClr>
            </a:outerShdw>
          </a:effectLst>
        </p:spPr>
      </p:sp>
      <p:sp>
        <p:nvSpPr>
          <p:cNvPr id="32" name="Text 25"/>
          <p:cNvSpPr txBox="1"/>
          <p:nvPr/>
        </p:nvSpPr>
        <p:spPr>
          <a:xfrm>
            <a:off x="6400800" y="1938528"/>
            <a:ext cx="5102352" cy="310896"/>
          </a:xfrm>
          <a:prstGeom prst="rect">
            <a:avLst/>
          </a:prstGeom>
          <a:noFill/>
          <a:ln/>
        </p:spPr>
        <p:txBody>
          <a:bodyPr wrap="square" lIns="0" tIns="0" rIns="0" bIns="0" rtlCol="0" anchor="ctr"/>
          <a:lstStyle/>
          <a:p>
            <a:pPr algn="l" indent="0" marL="0">
              <a:buNone/>
            </a:pPr>
            <a:r>
              <a:rPr lang="en-US" sz="1100" b="1" spc="200" kern="0" dirty="0">
                <a:solidFill>
                  <a:srgbClr val="1B3B6F"/>
                </a:solidFill>
                <a:latin typeface="Calibri" pitchFamily="34" charset="0"/>
                <a:cs typeface="Amiri" pitchFamily="2" charset="-78"/>
              </a:rPr>
              <a:t>HOW WE TALK — THE ORACY CODE</a:t>
            </a:r>
            <a:endParaRPr lang="en-US" sz="1100" dirty="0"/>
          </a:p>
        </p:txBody>
      </p:sp>
      <p:sp>
        <p:nvSpPr>
          <p:cNvPr id="33" name="Shape 26"/>
          <p:cNvSpPr/>
          <p:nvPr/>
        </p:nvSpPr>
        <p:spPr>
          <a:xfrm>
            <a:off x="6400800" y="2450592"/>
            <a:ext cx="548640" cy="548640"/>
          </a:xfrm>
          <a:prstGeom prst="ellipse">
            <a:avLst/>
          </a:prstGeom>
          <a:solidFill>
            <a:srgbClr val="1B3B6F"/>
          </a:solidFill>
          <a:ln w="12700">
            <a:solidFill>
              <a:srgbClr val="1B3B6F"/>
            </a:solidFill>
            <a:prstDash val="solid"/>
          </a:ln>
        </p:spPr>
      </p:sp>
      <p:sp>
        <p:nvSpPr>
          <p:cNvPr id="34" name="Text 27"/>
          <p:cNvSpPr txBox="1"/>
          <p:nvPr/>
        </p:nvSpPr>
        <p:spPr>
          <a:xfrm>
            <a:off x="6400800" y="2450592"/>
            <a:ext cx="548640" cy="548640"/>
          </a:xfrm>
          <a:prstGeom prst="rect">
            <a:avLst/>
          </a:prstGeom>
          <a:noFill/>
          <a:ln/>
        </p:spPr>
        <p:txBody>
          <a:bodyPr wrap="square" lIns="0" tIns="0" rIns="0" bIns="0" rtlCol="0" anchor="ctr"/>
          <a:lstStyle/>
          <a:p>
            <a:pPr algn="ctr" indent="0" marL="0">
              <a:buNone/>
            </a:pPr>
            <a:r>
              <a:rPr lang="en-US" sz="1800" b="1" dirty="0">
                <a:solidFill>
                  <a:srgbClr val="D4AF37"/>
                </a:solidFill>
                <a:latin typeface="Arial" pitchFamily="34" charset="0"/>
                <a:cs typeface="Amiri" pitchFamily="2" charset="-78"/>
              </a:rPr>
              <a:t>●</a:t>
            </a:r>
            <a:endParaRPr lang="en-US" sz="1800" dirty="0"/>
          </a:p>
        </p:txBody>
      </p:sp>
      <p:sp>
        <p:nvSpPr>
          <p:cNvPr id="35" name="Text 28"/>
          <p:cNvSpPr txBox="1"/>
          <p:nvPr/>
        </p:nvSpPr>
        <p:spPr>
          <a:xfrm>
            <a:off x="7059168" y="2377440"/>
            <a:ext cx="2011680" cy="694944"/>
          </a:xfrm>
          <a:prstGeom prst="rect">
            <a:avLst/>
          </a:prstGeom>
          <a:noFill/>
          <a:ln/>
        </p:spPr>
        <p:txBody>
          <a:bodyPr wrap="square" lIns="0" tIns="0" rIns="0" bIns="0" rtlCol="0" anchor="ctr"/>
          <a:lstStyle/>
          <a:p>
            <a:pPr indent="0" marL="0">
              <a:buNone/>
            </a:pPr>
            <a:r>
              <a:rPr lang="en-US" sz="1400" b="1" dirty="0">
                <a:solidFill>
                  <a:srgbClr val="1B3B6F"/>
                </a:solidFill>
                <a:latin typeface="Calibri" pitchFamily="34" charset="0"/>
                <a:cs typeface="Amiri" pitchFamily="2" charset="-78"/>
              </a:rPr>
              <a:t>Think</a:t>
            </a:r>
            <a:endParaRPr lang="en-US" sz="1400" dirty="0"/>
          </a:p>
          <a:p>
            <a:pPr indent="0" marL="0">
              <a:buNone/>
            </a:pPr>
            <a:r>
              <a:rPr lang="en-US" sz="1100" dirty="0">
                <a:solidFill>
                  <a:srgbClr val="5A6472"/>
                </a:solidFill>
                <a:latin typeface="Calibri" pitchFamily="34" charset="0"/>
                <a:cs typeface="Amiri" pitchFamily="2" charset="-78"/>
              </a:rPr>
              <a:t>silent preparation</a:t>
            </a:r>
            <a:endParaRPr lang="en-US" sz="1400" dirty="0"/>
          </a:p>
        </p:txBody>
      </p:sp>
      <p:sp>
        <p:nvSpPr>
          <p:cNvPr id="36" name="Shape 29"/>
          <p:cNvSpPr/>
          <p:nvPr/>
        </p:nvSpPr>
        <p:spPr>
          <a:xfrm>
            <a:off x="8997696" y="2450592"/>
            <a:ext cx="548640" cy="548640"/>
          </a:xfrm>
          <a:prstGeom prst="ellipse">
            <a:avLst/>
          </a:prstGeom>
          <a:solidFill>
            <a:srgbClr val="1B3B6F"/>
          </a:solidFill>
          <a:ln w="12700">
            <a:solidFill>
              <a:srgbClr val="1B3B6F"/>
            </a:solidFill>
            <a:prstDash val="solid"/>
          </a:ln>
        </p:spPr>
      </p:sp>
      <p:sp>
        <p:nvSpPr>
          <p:cNvPr id="37" name="Text 30"/>
          <p:cNvSpPr txBox="1"/>
          <p:nvPr/>
        </p:nvSpPr>
        <p:spPr>
          <a:xfrm>
            <a:off x="8997696" y="2450592"/>
            <a:ext cx="548640" cy="548640"/>
          </a:xfrm>
          <a:prstGeom prst="rect">
            <a:avLst/>
          </a:prstGeom>
          <a:noFill/>
          <a:ln/>
        </p:spPr>
        <p:txBody>
          <a:bodyPr wrap="square" lIns="0" tIns="0" rIns="0" bIns="0" rtlCol="0" anchor="ctr"/>
          <a:lstStyle/>
          <a:p>
            <a:pPr algn="ctr" indent="0" marL="0">
              <a:buNone/>
            </a:pPr>
            <a:r>
              <a:rPr lang="en-US" sz="1800" b="1" dirty="0">
                <a:solidFill>
                  <a:srgbClr val="D4AF37"/>
                </a:solidFill>
                <a:latin typeface="Arial" pitchFamily="34" charset="0"/>
                <a:cs typeface="Amiri" pitchFamily="2" charset="-78"/>
              </a:rPr>
              <a:t>↔</a:t>
            </a:r>
            <a:endParaRPr lang="en-US" sz="1800" dirty="0"/>
          </a:p>
        </p:txBody>
      </p:sp>
      <p:sp>
        <p:nvSpPr>
          <p:cNvPr id="38" name="Text 31"/>
          <p:cNvSpPr txBox="1"/>
          <p:nvPr/>
        </p:nvSpPr>
        <p:spPr>
          <a:xfrm>
            <a:off x="9656064" y="2377440"/>
            <a:ext cx="2011680" cy="694944"/>
          </a:xfrm>
          <a:prstGeom prst="rect">
            <a:avLst/>
          </a:prstGeom>
          <a:noFill/>
          <a:ln/>
        </p:spPr>
        <p:txBody>
          <a:bodyPr wrap="square" lIns="0" tIns="0" rIns="0" bIns="0" rtlCol="0" anchor="ctr"/>
          <a:lstStyle/>
          <a:p>
            <a:pPr indent="0" marL="0">
              <a:buNone/>
            </a:pPr>
            <a:r>
              <a:rPr lang="en-US" sz="1400" b="1" dirty="0">
                <a:solidFill>
                  <a:srgbClr val="1B3B6F"/>
                </a:solidFill>
                <a:latin typeface="Calibri" pitchFamily="34" charset="0"/>
                <a:cs typeface="Amiri" pitchFamily="2" charset="-78"/>
              </a:rPr>
              <a:t>Rehearse</a:t>
            </a:r>
            <a:endParaRPr lang="en-US" sz="1400" dirty="0"/>
          </a:p>
          <a:p>
            <a:pPr indent="0" marL="0">
              <a:buNone/>
            </a:pPr>
            <a:r>
              <a:rPr lang="en-US" sz="1100" dirty="0">
                <a:solidFill>
                  <a:srgbClr val="5A6472"/>
                </a:solidFill>
                <a:latin typeface="Calibri" pitchFamily="34" charset="0"/>
                <a:cs typeface="Amiri" pitchFamily="2" charset="-78"/>
              </a:rPr>
              <a:t>both partners speak</a:t>
            </a:r>
            <a:endParaRPr lang="en-US" sz="1400" dirty="0"/>
          </a:p>
        </p:txBody>
      </p:sp>
      <p:sp>
        <p:nvSpPr>
          <p:cNvPr id="39" name="Shape 32"/>
          <p:cNvSpPr/>
          <p:nvPr/>
        </p:nvSpPr>
        <p:spPr>
          <a:xfrm>
            <a:off x="6400800" y="3364992"/>
            <a:ext cx="548640" cy="548640"/>
          </a:xfrm>
          <a:prstGeom prst="ellipse">
            <a:avLst/>
          </a:prstGeom>
          <a:solidFill>
            <a:srgbClr val="1B3B6F"/>
          </a:solidFill>
          <a:ln w="12700">
            <a:solidFill>
              <a:srgbClr val="1B3B6F"/>
            </a:solidFill>
            <a:prstDash val="solid"/>
          </a:ln>
        </p:spPr>
      </p:sp>
      <p:sp>
        <p:nvSpPr>
          <p:cNvPr id="40" name="Text 33"/>
          <p:cNvSpPr txBox="1"/>
          <p:nvPr/>
        </p:nvSpPr>
        <p:spPr>
          <a:xfrm>
            <a:off x="6400800" y="3364992"/>
            <a:ext cx="548640" cy="548640"/>
          </a:xfrm>
          <a:prstGeom prst="rect">
            <a:avLst/>
          </a:prstGeom>
          <a:noFill/>
          <a:ln/>
        </p:spPr>
        <p:txBody>
          <a:bodyPr wrap="square" lIns="0" tIns="0" rIns="0" bIns="0" rtlCol="0" anchor="ctr"/>
          <a:lstStyle/>
          <a:p>
            <a:pPr algn="ctr" indent="0" marL="0">
              <a:buNone/>
            </a:pPr>
            <a:r>
              <a:rPr lang="en-US" sz="1800" b="1" dirty="0">
                <a:solidFill>
                  <a:srgbClr val="D4AF37"/>
                </a:solidFill>
                <a:latin typeface="Arial" pitchFamily="34" charset="0"/>
                <a:cs typeface="Amiri" pitchFamily="2" charset="-78"/>
              </a:rPr>
              <a:t>+</a:t>
            </a:r>
            <a:endParaRPr lang="en-US" sz="1800" dirty="0"/>
          </a:p>
        </p:txBody>
      </p:sp>
      <p:sp>
        <p:nvSpPr>
          <p:cNvPr id="41" name="Text 34"/>
          <p:cNvSpPr txBox="1"/>
          <p:nvPr/>
        </p:nvSpPr>
        <p:spPr>
          <a:xfrm>
            <a:off x="7059168" y="3291840"/>
            <a:ext cx="2011680" cy="694944"/>
          </a:xfrm>
          <a:prstGeom prst="rect">
            <a:avLst/>
          </a:prstGeom>
          <a:noFill/>
          <a:ln/>
        </p:spPr>
        <p:txBody>
          <a:bodyPr wrap="square" lIns="0" tIns="0" rIns="0" bIns="0" rtlCol="0" anchor="ctr"/>
          <a:lstStyle/>
          <a:p>
            <a:pPr indent="0" marL="0">
              <a:buNone/>
            </a:pPr>
            <a:r>
              <a:rPr lang="en-US" sz="1400" b="1" dirty="0">
                <a:solidFill>
                  <a:srgbClr val="1B3B6F"/>
                </a:solidFill>
                <a:latin typeface="Calibri" pitchFamily="34" charset="0"/>
                <a:cs typeface="Amiri" pitchFamily="2" charset="-78"/>
              </a:rPr>
              <a:t>Build</a:t>
            </a:r>
            <a:endParaRPr lang="en-US" sz="1400" dirty="0"/>
          </a:p>
          <a:p>
            <a:pPr indent="0" marL="0">
              <a:buNone/>
            </a:pPr>
            <a:r>
              <a:rPr lang="en-US" sz="1100" dirty="0">
                <a:solidFill>
                  <a:srgbClr val="5A6472"/>
                </a:solidFill>
                <a:latin typeface="Calibri" pitchFamily="34" charset="0"/>
                <a:cs typeface="Amiri" pitchFamily="2" charset="-78"/>
              </a:rPr>
              <a:t>add a reason or detail</a:t>
            </a:r>
            <a:endParaRPr lang="en-US" sz="1400" dirty="0"/>
          </a:p>
        </p:txBody>
      </p:sp>
      <p:sp>
        <p:nvSpPr>
          <p:cNvPr id="42" name="Shape 35"/>
          <p:cNvSpPr/>
          <p:nvPr/>
        </p:nvSpPr>
        <p:spPr>
          <a:xfrm>
            <a:off x="8997696" y="3364992"/>
            <a:ext cx="548640" cy="548640"/>
          </a:xfrm>
          <a:prstGeom prst="ellipse">
            <a:avLst/>
          </a:prstGeom>
          <a:solidFill>
            <a:srgbClr val="1B3B6F"/>
          </a:solidFill>
          <a:ln w="12700">
            <a:solidFill>
              <a:srgbClr val="1B3B6F"/>
            </a:solidFill>
            <a:prstDash val="solid"/>
          </a:ln>
        </p:spPr>
      </p:sp>
      <p:sp>
        <p:nvSpPr>
          <p:cNvPr id="43" name="Text 36"/>
          <p:cNvSpPr txBox="1"/>
          <p:nvPr/>
        </p:nvSpPr>
        <p:spPr>
          <a:xfrm>
            <a:off x="8997696" y="3364992"/>
            <a:ext cx="548640" cy="548640"/>
          </a:xfrm>
          <a:prstGeom prst="rect">
            <a:avLst/>
          </a:prstGeom>
          <a:noFill/>
          <a:ln/>
        </p:spPr>
        <p:txBody>
          <a:bodyPr wrap="square" lIns="0" tIns="0" rIns="0" bIns="0" rtlCol="0" anchor="ctr"/>
          <a:lstStyle/>
          <a:p>
            <a:pPr algn="ctr" indent="0" marL="0">
              <a:buNone/>
            </a:pPr>
            <a:r>
              <a:rPr lang="en-US" sz="1800" b="1" dirty="0">
                <a:solidFill>
                  <a:srgbClr val="D4AF37"/>
                </a:solidFill>
                <a:latin typeface="Arial" pitchFamily="34" charset="0"/>
                <a:cs typeface="Amiri" pitchFamily="2" charset="-78"/>
              </a:rPr>
              <a:t>?</a:t>
            </a:r>
            <a:endParaRPr lang="en-US" sz="1800" dirty="0"/>
          </a:p>
        </p:txBody>
      </p:sp>
      <p:sp>
        <p:nvSpPr>
          <p:cNvPr id="44" name="Text 37"/>
          <p:cNvSpPr txBox="1"/>
          <p:nvPr/>
        </p:nvSpPr>
        <p:spPr>
          <a:xfrm>
            <a:off x="9656064" y="3291840"/>
            <a:ext cx="2011680" cy="694944"/>
          </a:xfrm>
          <a:prstGeom prst="rect">
            <a:avLst/>
          </a:prstGeom>
          <a:noFill/>
          <a:ln/>
        </p:spPr>
        <p:txBody>
          <a:bodyPr wrap="square" lIns="0" tIns="0" rIns="0" bIns="0" rtlCol="0" anchor="ctr"/>
          <a:lstStyle/>
          <a:p>
            <a:pPr indent="0" marL="0">
              <a:buNone/>
            </a:pPr>
            <a:r>
              <a:rPr lang="en-US" sz="1400" b="1" dirty="0">
                <a:solidFill>
                  <a:srgbClr val="1B3B6F"/>
                </a:solidFill>
                <a:latin typeface="Calibri" pitchFamily="34" charset="0"/>
                <a:cs typeface="Amiri" pitchFamily="2" charset="-78"/>
              </a:rPr>
              <a:t>Challenge</a:t>
            </a:r>
            <a:endParaRPr lang="en-US" sz="1400" dirty="0"/>
          </a:p>
          <a:p>
            <a:pPr indent="0" marL="0">
              <a:buNone/>
            </a:pPr>
            <a:r>
              <a:rPr lang="en-US" sz="1100" dirty="0">
                <a:solidFill>
                  <a:srgbClr val="5A6472"/>
                </a:solidFill>
                <a:latin typeface="Calibri" pitchFamily="34" charset="0"/>
                <a:cs typeface="Amiri" pitchFamily="2" charset="-78"/>
              </a:rPr>
              <a:t>question respectfully</a:t>
            </a:r>
            <a:endParaRPr lang="en-US" sz="1400" dirty="0"/>
          </a:p>
        </p:txBody>
      </p:sp>
      <p:sp>
        <p:nvSpPr>
          <p:cNvPr id="45" name="Shape 38"/>
          <p:cNvSpPr/>
          <p:nvPr/>
        </p:nvSpPr>
        <p:spPr>
          <a:xfrm>
            <a:off x="6400800" y="4279392"/>
            <a:ext cx="548640" cy="548640"/>
          </a:xfrm>
          <a:prstGeom prst="ellipse">
            <a:avLst/>
          </a:prstGeom>
          <a:solidFill>
            <a:srgbClr val="1B3B6F"/>
          </a:solidFill>
          <a:ln w="12700">
            <a:solidFill>
              <a:srgbClr val="1B3B6F"/>
            </a:solidFill>
            <a:prstDash val="solid"/>
          </a:ln>
        </p:spPr>
      </p:sp>
      <p:sp>
        <p:nvSpPr>
          <p:cNvPr id="46" name="Text 39"/>
          <p:cNvSpPr txBox="1"/>
          <p:nvPr/>
        </p:nvSpPr>
        <p:spPr>
          <a:xfrm>
            <a:off x="6400800" y="4279392"/>
            <a:ext cx="548640" cy="548640"/>
          </a:xfrm>
          <a:prstGeom prst="rect">
            <a:avLst/>
          </a:prstGeom>
          <a:noFill/>
          <a:ln/>
        </p:spPr>
        <p:txBody>
          <a:bodyPr wrap="square" lIns="0" tIns="0" rIns="0" bIns="0" rtlCol="0" anchor="ctr"/>
          <a:lstStyle/>
          <a:p>
            <a:pPr algn="ctr" indent="0" marL="0">
              <a:buNone/>
            </a:pPr>
            <a:r>
              <a:rPr lang="en-US" sz="1800" b="1" dirty="0">
                <a:solidFill>
                  <a:srgbClr val="D4AF37"/>
                </a:solidFill>
                <a:latin typeface="Arial" pitchFamily="34" charset="0"/>
                <a:cs typeface="Amiri" pitchFamily="2" charset="-78"/>
              </a:rPr>
              <a:t>◎</a:t>
            </a:r>
            <a:endParaRPr lang="en-US" sz="1800" dirty="0"/>
          </a:p>
        </p:txBody>
      </p:sp>
      <p:sp>
        <p:nvSpPr>
          <p:cNvPr id="47" name="Text 40"/>
          <p:cNvSpPr txBox="1"/>
          <p:nvPr/>
        </p:nvSpPr>
        <p:spPr>
          <a:xfrm>
            <a:off x="7059168" y="4206240"/>
            <a:ext cx="2011680" cy="694944"/>
          </a:xfrm>
          <a:prstGeom prst="rect">
            <a:avLst/>
          </a:prstGeom>
          <a:noFill/>
          <a:ln/>
        </p:spPr>
        <p:txBody>
          <a:bodyPr wrap="square" lIns="0" tIns="0" rIns="0" bIns="0" rtlCol="0" anchor="ctr"/>
          <a:lstStyle/>
          <a:p>
            <a:pPr indent="0" marL="0">
              <a:buNone/>
            </a:pPr>
            <a:r>
              <a:rPr lang="en-US" sz="1400" b="1" dirty="0">
                <a:solidFill>
                  <a:srgbClr val="1B3B6F"/>
                </a:solidFill>
                <a:latin typeface="Calibri" pitchFamily="34" charset="0"/>
                <a:cs typeface="Amiri" pitchFamily="2" charset="-78"/>
              </a:rPr>
              <a:t>Share</a:t>
            </a:r>
            <a:endParaRPr lang="en-US" sz="1400" dirty="0"/>
          </a:p>
          <a:p>
            <a:pPr indent="0" marL="0">
              <a:buNone/>
            </a:pPr>
            <a:r>
              <a:rPr lang="en-US" sz="1100" dirty="0">
                <a:solidFill>
                  <a:srgbClr val="5A6472"/>
                </a:solidFill>
                <a:latin typeface="Calibri" pitchFamily="34" charset="0"/>
                <a:cs typeface="Amiri" pitchFamily="2" charset="-78"/>
              </a:rPr>
              <a:t>anyone may be invited</a:t>
            </a:r>
            <a:endParaRPr lang="en-US" sz="1400" dirty="0"/>
          </a:p>
        </p:txBody>
      </p:sp>
      <p:sp>
        <p:nvSpPr>
          <p:cNvPr id="48" name="Shape 41"/>
          <p:cNvSpPr/>
          <p:nvPr/>
        </p:nvSpPr>
        <p:spPr>
          <a:xfrm>
            <a:off x="8997696" y="4279392"/>
            <a:ext cx="548640" cy="548640"/>
          </a:xfrm>
          <a:prstGeom prst="ellipse">
            <a:avLst/>
          </a:prstGeom>
          <a:solidFill>
            <a:srgbClr val="1B3B6F"/>
          </a:solidFill>
          <a:ln w="12700">
            <a:solidFill>
              <a:srgbClr val="1B3B6F"/>
            </a:solidFill>
            <a:prstDash val="solid"/>
          </a:ln>
        </p:spPr>
      </p:sp>
      <p:sp>
        <p:nvSpPr>
          <p:cNvPr id="49" name="Text 42"/>
          <p:cNvSpPr txBox="1"/>
          <p:nvPr/>
        </p:nvSpPr>
        <p:spPr>
          <a:xfrm>
            <a:off x="8997696" y="4279392"/>
            <a:ext cx="548640" cy="548640"/>
          </a:xfrm>
          <a:prstGeom prst="rect">
            <a:avLst/>
          </a:prstGeom>
          <a:noFill/>
          <a:ln/>
        </p:spPr>
        <p:txBody>
          <a:bodyPr wrap="square" lIns="0" tIns="0" rIns="0" bIns="0" rtlCol="0" anchor="ctr"/>
          <a:lstStyle/>
          <a:p>
            <a:pPr algn="ctr" indent="0" marL="0">
              <a:buNone/>
            </a:pPr>
            <a:r>
              <a:rPr lang="en-US" sz="1800" b="1" dirty="0">
                <a:solidFill>
                  <a:srgbClr val="D4AF37"/>
                </a:solidFill>
                <a:latin typeface="Arial" pitchFamily="34" charset="0"/>
                <a:cs typeface="Amiri" pitchFamily="2" charset="-78"/>
              </a:rPr>
              <a:t>↺</a:t>
            </a:r>
            <a:endParaRPr lang="en-US" sz="1800" dirty="0"/>
          </a:p>
        </p:txBody>
      </p:sp>
      <p:sp>
        <p:nvSpPr>
          <p:cNvPr id="50" name="Text 43"/>
          <p:cNvSpPr txBox="1"/>
          <p:nvPr/>
        </p:nvSpPr>
        <p:spPr>
          <a:xfrm>
            <a:off x="9656064" y="4206240"/>
            <a:ext cx="2011680" cy="694944"/>
          </a:xfrm>
          <a:prstGeom prst="rect">
            <a:avLst/>
          </a:prstGeom>
          <a:noFill/>
          <a:ln/>
        </p:spPr>
        <p:txBody>
          <a:bodyPr wrap="square" lIns="0" tIns="0" rIns="0" bIns="0" rtlCol="0" anchor="ctr"/>
          <a:lstStyle/>
          <a:p>
            <a:pPr indent="0" marL="0">
              <a:buNone/>
            </a:pPr>
            <a:r>
              <a:rPr lang="en-US" sz="1400" b="1" dirty="0">
                <a:solidFill>
                  <a:srgbClr val="1B3B6F"/>
                </a:solidFill>
                <a:latin typeface="Calibri" pitchFamily="34" charset="0"/>
                <a:cs typeface="Amiri" pitchFamily="2" charset="-78"/>
              </a:rPr>
              <a:t>Summarise</a:t>
            </a:r>
            <a:endParaRPr lang="en-US" sz="1400" dirty="0"/>
          </a:p>
          <a:p>
            <a:pPr indent="0" marL="0">
              <a:buNone/>
            </a:pPr>
            <a:r>
              <a:rPr lang="en-US" sz="1100" dirty="0">
                <a:solidFill>
                  <a:srgbClr val="5A6472"/>
                </a:solidFill>
                <a:latin typeface="Calibri" pitchFamily="34" charset="0"/>
                <a:cs typeface="Amiri" pitchFamily="2" charset="-78"/>
              </a:rPr>
              <a:t>say it more precisely</a:t>
            </a:r>
            <a:endParaRPr lang="en-US" sz="1400" dirty="0"/>
          </a:p>
        </p:txBody>
      </p:sp>
      <p:sp>
        <p:nvSpPr>
          <p:cNvPr id="51" name="Text 44"/>
          <p:cNvSpPr txBox="1"/>
          <p:nvPr/>
        </p:nvSpPr>
        <p:spPr>
          <a:xfrm>
            <a:off x="6400800" y="5230368"/>
            <a:ext cx="5102352" cy="694944"/>
          </a:xfrm>
          <a:prstGeom prst="rect">
            <a:avLst/>
          </a:prstGeom>
          <a:noFill/>
          <a:ln/>
        </p:spPr>
        <p:txBody>
          <a:bodyPr wrap="square" lIns="0" tIns="0" rIns="0" bIns="0" rtlCol="0" anchor="ctr"/>
          <a:lstStyle/>
          <a:p>
            <a:pPr algn="l" indent="0" marL="0">
              <a:buNone/>
            </a:pPr>
            <a:r>
              <a:rPr lang="en-US" sz="1150" i="1" dirty="0">
                <a:solidFill>
                  <a:srgbClr val="8A6D1E"/>
                </a:solidFill>
                <a:latin typeface="Calibri" pitchFamily="34" charset="0"/>
                <a:cs typeface="Amiri" pitchFamily="2" charset="-78"/>
              </a:rPr>
              <a:t>I will always give you thinking and practice time before I ask anyone. Reading aloud is by invitation — you can always say “pass, please come back to me”.</a:t>
            </a:r>
            <a:endParaRPr lang="en-US" sz="1150" dirty="0"/>
          </a:p>
        </p:txBody>
      </p:sp>
      <p:sp>
        <p:nvSpPr>
          <p:cNvPr id="52" name="Text 45"/>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2 / 24</a:t>
            </a:r>
            <a:endParaRPr lang="en-US" sz="850" dirty="0"/>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F3-W01 · Apply workshop</a:t>
            </a:r>
            <a:endParaRPr lang="en-US" sz="950" dirty="0"/>
          </a:p>
        </p:txBody>
      </p:sp>
      <p:sp>
        <p:nvSpPr>
          <p:cNvPr id="8" name="Shape 6"/>
          <p:cNvSpPr/>
          <p:nvPr/>
        </p:nvSpPr>
        <p:spPr>
          <a:xfrm>
            <a:off x="7388352" y="274320"/>
            <a:ext cx="1371600" cy="329184"/>
          </a:xfrm>
          <a:prstGeom prst="roundRect">
            <a:avLst>
              <a:gd name="adj" fmla="val 50000"/>
            </a:avLst>
          </a:prstGeom>
          <a:solidFill>
            <a:srgbClr val="5A6472"/>
          </a:solidFill>
          <a:ln w="12700">
            <a:solidFill>
              <a:srgbClr val="5A6472"/>
            </a:solidFill>
            <a:prstDash val="solid"/>
          </a:ln>
        </p:spPr>
      </p:sp>
      <p:sp>
        <p:nvSpPr>
          <p:cNvPr id="9" name="Text 7"/>
          <p:cNvSpPr txBox="1"/>
          <p:nvPr/>
        </p:nvSpPr>
        <p:spPr>
          <a:xfrm>
            <a:off x="7388352" y="274320"/>
            <a:ext cx="1371600"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WELCOME</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5A6472"/>
                </a:solidFill>
                <a:latin typeface="Calibri" pitchFamily="34" charset="0"/>
                <a:cs typeface="Amiri" pitchFamily="2" charset="-78"/>
              </a:rPr>
              <a:t>TODAY’S PLAN · LEARN, LEARN, APPLY</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500" b="1" dirty="0">
                <a:solidFill>
                  <a:srgbClr val="1B3B6F"/>
                </a:solidFill>
                <a:latin typeface="Cambria" pitchFamily="34" charset="0"/>
                <a:cs typeface="Amiri" pitchFamily="2" charset="-78"/>
              </a:rPr>
              <a:t>Two lessons — now use them together</a:t>
            </a:r>
            <a:endParaRPr lang="en-US" sz="25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خُطُوَاتُ الوَرْشَةِ</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Foundation F3 · My Family &amp; Home · F3-W01 · Apply workshop (F3-L01 + F3-L02)</a:t>
            </a:r>
            <a:endParaRPr lang="en-US" sz="850" dirty="0"/>
          </a:p>
        </p:txBody>
      </p:sp>
      <p:sp>
        <p:nvSpPr>
          <p:cNvPr id="15" name="Shape 12"/>
          <p:cNvSpPr/>
          <p:nvPr/>
        </p:nvSpPr>
        <p:spPr>
          <a:xfrm>
            <a:off x="457200" y="1828800"/>
            <a:ext cx="2152498" cy="3246120"/>
          </a:xfrm>
          <a:prstGeom prst="roundRect">
            <a:avLst>
              <a:gd name="adj" fmla="val 3398"/>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566928" y="1938528"/>
            <a:ext cx="1933042" cy="566928"/>
          </a:xfrm>
          <a:prstGeom prst="roundRect">
            <a:avLst>
              <a:gd name="adj" fmla="val 9677"/>
            </a:avLst>
          </a:prstGeom>
          <a:solidFill>
            <a:srgbClr val="1B3B6F"/>
          </a:solidFill>
          <a:ln w="12700">
            <a:solidFill>
              <a:srgbClr val="1B3B6F"/>
            </a:solidFill>
            <a:prstDash val="solid"/>
          </a:ln>
        </p:spPr>
      </p:sp>
      <p:sp>
        <p:nvSpPr>
          <p:cNvPr id="17" name="Text 14"/>
          <p:cNvSpPr txBox="1"/>
          <p:nvPr/>
        </p:nvSpPr>
        <p:spPr>
          <a:xfrm>
            <a:off x="603504" y="1956816"/>
            <a:ext cx="1859890" cy="329184"/>
          </a:xfrm>
          <a:prstGeom prst="rect">
            <a:avLst/>
          </a:prstGeom>
          <a:noFill/>
          <a:ln/>
        </p:spPr>
        <p:txBody>
          <a:bodyPr wrap="square" lIns="0" tIns="0" rIns="0" bIns="0" rtlCol="0" anchor="ctr"/>
          <a:lstStyle/>
          <a:p>
            <a:pPr algn="ctr" indent="0" marL="0">
              <a:buNone/>
            </a:pPr>
            <a:r>
              <a:rPr lang="en-US" sz="1000" b="1" spc="100" kern="0" dirty="0">
                <a:solidFill>
                  <a:srgbClr val="FFFFFF"/>
                </a:solidFill>
                <a:latin typeface="Calibri" pitchFamily="34" charset="0"/>
                <a:cs typeface="Amiri" pitchFamily="2" charset="-78"/>
              </a:rPr>
              <a:t>TEACHER INSTRUCTION</a:t>
            </a:r>
            <a:endParaRPr lang="en-US" sz="1000" dirty="0"/>
          </a:p>
        </p:txBody>
      </p:sp>
      <p:sp>
        <p:nvSpPr>
          <p:cNvPr id="18" name="Text 15"/>
          <p:cNvSpPr txBox="1"/>
          <p:nvPr/>
        </p:nvSpPr>
        <p:spPr>
          <a:xfrm>
            <a:off x="603504" y="2249424"/>
            <a:ext cx="1859890" cy="237744"/>
          </a:xfrm>
          <a:prstGeom prst="rect">
            <a:avLst/>
          </a:prstGeom>
          <a:noFill/>
          <a:ln/>
        </p:spPr>
        <p:txBody>
          <a:bodyPr wrap="square" lIns="0" tIns="0" rIns="0" bIns="0" rtlCol="0" anchor="ctr"/>
          <a:lstStyle/>
          <a:p>
            <a:pPr algn="ctr" indent="0" marL="0">
              <a:buNone/>
            </a:pPr>
            <a:r>
              <a:rPr lang="en-US" sz="1000" dirty="0">
                <a:solidFill>
                  <a:srgbClr val="E8EDF5"/>
                </a:solidFill>
                <a:latin typeface="Calibri" pitchFamily="34" charset="0"/>
                <a:cs typeface="Amiri" pitchFamily="2" charset="-78"/>
              </a:rPr>
              <a:t>6 min</a:t>
            </a:r>
            <a:endParaRPr lang="en-US" sz="1000" dirty="0"/>
          </a:p>
        </p:txBody>
      </p:sp>
      <p:sp>
        <p:nvSpPr>
          <p:cNvPr id="19" name="Shape 16"/>
          <p:cNvSpPr/>
          <p:nvPr/>
        </p:nvSpPr>
        <p:spPr>
          <a:xfrm>
            <a:off x="1332281" y="2651760"/>
            <a:ext cx="402336" cy="402336"/>
          </a:xfrm>
          <a:prstGeom prst="ellipse">
            <a:avLst/>
          </a:prstGeom>
          <a:solidFill>
            <a:srgbClr val="F4F1EA"/>
          </a:solidFill>
          <a:ln w="12700">
            <a:solidFill>
              <a:srgbClr val="F4F1EA"/>
            </a:solidFill>
            <a:prstDash val="solid"/>
          </a:ln>
        </p:spPr>
      </p:sp>
      <p:sp>
        <p:nvSpPr>
          <p:cNvPr id="20" name="Text 17"/>
          <p:cNvSpPr txBox="1"/>
          <p:nvPr/>
        </p:nvSpPr>
        <p:spPr>
          <a:xfrm>
            <a:off x="1332281" y="2651760"/>
            <a:ext cx="402336" cy="402336"/>
          </a:xfrm>
          <a:prstGeom prst="rect">
            <a:avLst/>
          </a:prstGeom>
          <a:noFill/>
          <a:ln/>
        </p:spPr>
        <p:txBody>
          <a:bodyPr wrap="square" lIns="0" tIns="0" rIns="0" bIns="0" rtlCol="0" anchor="ctr"/>
          <a:lstStyle/>
          <a:p>
            <a:pPr algn="ctr" indent="0" marL="0">
              <a:buNone/>
            </a:pPr>
            <a:r>
              <a:rPr lang="en-US" sz="1300" b="1" dirty="0">
                <a:solidFill>
                  <a:srgbClr val="1B3B6F"/>
                </a:solidFill>
                <a:latin typeface="Calibri" pitchFamily="34" charset="0"/>
                <a:cs typeface="Amiri" pitchFamily="2" charset="-78"/>
              </a:rPr>
              <a:t>1</a:t>
            </a:r>
            <a:endParaRPr lang="en-US" sz="1300" dirty="0"/>
          </a:p>
        </p:txBody>
      </p:sp>
      <p:sp>
        <p:nvSpPr>
          <p:cNvPr id="21" name="Text 18"/>
          <p:cNvSpPr txBox="1"/>
          <p:nvPr/>
        </p:nvSpPr>
        <p:spPr>
          <a:xfrm>
            <a:off x="585216" y="3145536"/>
            <a:ext cx="1896466" cy="1417320"/>
          </a:xfrm>
          <a:prstGeom prst="rect">
            <a:avLst/>
          </a:prstGeom>
          <a:noFill/>
          <a:ln/>
        </p:spPr>
        <p:txBody>
          <a:bodyPr wrap="square" lIns="0" tIns="0" rIns="0" bIns="0" rtlCol="0" anchor="t"/>
          <a:lstStyle/>
          <a:p>
            <a:pPr algn="ctr" indent="0" marL="0">
              <a:buNone/>
            </a:pPr>
            <a:r>
              <a:rPr lang="en-US" sz="1200" dirty="0">
                <a:solidFill>
                  <a:srgbClr val="1F2A37"/>
                </a:solidFill>
                <a:latin typeface="Calibri" pitchFamily="34" charset="0"/>
                <a:cs typeface="Amiri" pitchFamily="2" charset="-78"/>
              </a:rPr>
              <a:t>What we learnt: F3-L01 and F3-L02.</a:t>
            </a:r>
            <a:endParaRPr lang="en-US" sz="1200" dirty="0"/>
          </a:p>
        </p:txBody>
      </p:sp>
      <p:sp>
        <p:nvSpPr>
          <p:cNvPr id="22" name="Text 19"/>
          <p:cNvSpPr txBox="1"/>
          <p:nvPr/>
        </p:nvSpPr>
        <p:spPr>
          <a:xfrm>
            <a:off x="548640" y="4526280"/>
            <a:ext cx="1969618" cy="438912"/>
          </a:xfrm>
          <a:prstGeom prst="rect">
            <a:avLst/>
          </a:prstGeom>
          <a:noFill/>
          <a:ln/>
        </p:spPr>
        <p:txBody>
          <a:bodyPr wrap="square" lIns="0" tIns="0" rIns="0" bIns="0" rtlCol="0" anchor="ctr"/>
          <a:lstStyle/>
          <a:p>
            <a:pPr rtl="1" algn="ctr" indent="0" marL="0">
              <a:buNone/>
            </a:pPr>
            <a:r>
              <a:rPr lang="ar-SA" altLang="en-US" sz="1500" b="1" dirty="0">
                <a:solidFill>
                  <a:srgbClr val="1B3B6F"/>
                </a:solidFill>
                <a:latin typeface="Amiri" pitchFamily="2" charset="-78"/>
                <a:ea typeface="Amiri" pitchFamily="2" charset="-78"/>
                <a:cs typeface="Amiri" pitchFamily="2" charset="-78"/>
              </a:rPr>
              <a:t>مَاذَا تَعَلَّمْنَا؟</a:t>
            </a:r>
            <a:endParaRPr lang="ar-SA" sz="1500" dirty="0"/>
          </a:p>
        </p:txBody>
      </p:sp>
      <p:sp>
        <p:nvSpPr>
          <p:cNvPr id="23" name="Shape 20"/>
          <p:cNvSpPr/>
          <p:nvPr/>
        </p:nvSpPr>
        <p:spPr>
          <a:xfrm>
            <a:off x="2737714" y="1828800"/>
            <a:ext cx="2152498" cy="3246120"/>
          </a:xfrm>
          <a:prstGeom prst="roundRect">
            <a:avLst>
              <a:gd name="adj" fmla="val 3398"/>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4" name="Shape 21"/>
          <p:cNvSpPr/>
          <p:nvPr/>
        </p:nvSpPr>
        <p:spPr>
          <a:xfrm>
            <a:off x="2847442" y="1938528"/>
            <a:ext cx="1933042" cy="566928"/>
          </a:xfrm>
          <a:prstGeom prst="roundRect">
            <a:avLst>
              <a:gd name="adj" fmla="val 9677"/>
            </a:avLst>
          </a:prstGeom>
          <a:solidFill>
            <a:srgbClr val="2F6FB0"/>
          </a:solidFill>
          <a:ln w="12700">
            <a:solidFill>
              <a:srgbClr val="2F6FB0"/>
            </a:solidFill>
            <a:prstDash val="solid"/>
          </a:ln>
        </p:spPr>
      </p:sp>
      <p:sp>
        <p:nvSpPr>
          <p:cNvPr id="25" name="Text 22"/>
          <p:cNvSpPr txBox="1"/>
          <p:nvPr/>
        </p:nvSpPr>
        <p:spPr>
          <a:xfrm>
            <a:off x="2884018" y="1956816"/>
            <a:ext cx="1859890" cy="329184"/>
          </a:xfrm>
          <a:prstGeom prst="rect">
            <a:avLst/>
          </a:prstGeom>
          <a:noFill/>
          <a:ln/>
        </p:spPr>
        <p:txBody>
          <a:bodyPr wrap="square" lIns="0" tIns="0" rIns="0" bIns="0" rtlCol="0" anchor="ctr"/>
          <a:lstStyle/>
          <a:p>
            <a:pPr algn="ctr" indent="0" marL="0">
              <a:buNone/>
            </a:pPr>
            <a:r>
              <a:rPr lang="en-US" sz="1000" b="1" spc="100" kern="0" dirty="0">
                <a:solidFill>
                  <a:srgbClr val="FFFFFF"/>
                </a:solidFill>
                <a:latin typeface="Calibri" pitchFamily="34" charset="0"/>
                <a:cs typeface="Amiri" pitchFamily="2" charset="-78"/>
              </a:rPr>
              <a:t>WE DO</a:t>
            </a:r>
            <a:endParaRPr lang="en-US" sz="1000" dirty="0"/>
          </a:p>
        </p:txBody>
      </p:sp>
      <p:sp>
        <p:nvSpPr>
          <p:cNvPr id="26" name="Text 23"/>
          <p:cNvSpPr txBox="1"/>
          <p:nvPr/>
        </p:nvSpPr>
        <p:spPr>
          <a:xfrm>
            <a:off x="2884018" y="2249424"/>
            <a:ext cx="1859890" cy="237744"/>
          </a:xfrm>
          <a:prstGeom prst="rect">
            <a:avLst/>
          </a:prstGeom>
          <a:noFill/>
          <a:ln/>
        </p:spPr>
        <p:txBody>
          <a:bodyPr wrap="square" lIns="0" tIns="0" rIns="0" bIns="0" rtlCol="0" anchor="ctr"/>
          <a:lstStyle/>
          <a:p>
            <a:pPr algn="ctr" indent="0" marL="0">
              <a:buNone/>
            </a:pPr>
            <a:r>
              <a:rPr lang="en-US" sz="1000" dirty="0">
                <a:solidFill>
                  <a:srgbClr val="E8EDF5"/>
                </a:solidFill>
                <a:latin typeface="Calibri" pitchFamily="34" charset="0"/>
                <a:cs typeface="Amiri" pitchFamily="2" charset="-78"/>
              </a:rPr>
              <a:t>8 min</a:t>
            </a:r>
            <a:endParaRPr lang="en-US" sz="1000" dirty="0"/>
          </a:p>
        </p:txBody>
      </p:sp>
      <p:sp>
        <p:nvSpPr>
          <p:cNvPr id="27" name="Shape 24"/>
          <p:cNvSpPr/>
          <p:nvPr/>
        </p:nvSpPr>
        <p:spPr>
          <a:xfrm>
            <a:off x="3612794" y="2651760"/>
            <a:ext cx="402336" cy="402336"/>
          </a:xfrm>
          <a:prstGeom prst="ellipse">
            <a:avLst/>
          </a:prstGeom>
          <a:solidFill>
            <a:srgbClr val="F4F1EA"/>
          </a:solidFill>
          <a:ln w="12700">
            <a:solidFill>
              <a:srgbClr val="F4F1EA"/>
            </a:solidFill>
            <a:prstDash val="solid"/>
          </a:ln>
        </p:spPr>
      </p:sp>
      <p:sp>
        <p:nvSpPr>
          <p:cNvPr id="28" name="Text 25"/>
          <p:cNvSpPr txBox="1"/>
          <p:nvPr/>
        </p:nvSpPr>
        <p:spPr>
          <a:xfrm>
            <a:off x="3612794" y="2651760"/>
            <a:ext cx="402336" cy="402336"/>
          </a:xfrm>
          <a:prstGeom prst="rect">
            <a:avLst/>
          </a:prstGeom>
          <a:noFill/>
          <a:ln/>
        </p:spPr>
        <p:txBody>
          <a:bodyPr wrap="square" lIns="0" tIns="0" rIns="0" bIns="0" rtlCol="0" anchor="ctr"/>
          <a:lstStyle/>
          <a:p>
            <a:pPr algn="ctr" indent="0" marL="0">
              <a:buNone/>
            </a:pPr>
            <a:r>
              <a:rPr lang="en-US" sz="1300" b="1" dirty="0">
                <a:solidFill>
                  <a:srgbClr val="1B3B6F"/>
                </a:solidFill>
                <a:latin typeface="Calibri" pitchFamily="34" charset="0"/>
                <a:cs typeface="Amiri" pitchFamily="2" charset="-78"/>
              </a:rPr>
              <a:t>2</a:t>
            </a:r>
            <a:endParaRPr lang="en-US" sz="1300" dirty="0"/>
          </a:p>
        </p:txBody>
      </p:sp>
      <p:sp>
        <p:nvSpPr>
          <p:cNvPr id="29" name="Text 26"/>
          <p:cNvSpPr txBox="1"/>
          <p:nvPr/>
        </p:nvSpPr>
        <p:spPr>
          <a:xfrm>
            <a:off x="2865730" y="3145536"/>
            <a:ext cx="1896466" cy="1417320"/>
          </a:xfrm>
          <a:prstGeom prst="rect">
            <a:avLst/>
          </a:prstGeom>
          <a:noFill/>
          <a:ln/>
        </p:spPr>
        <p:txBody>
          <a:bodyPr wrap="square" lIns="0" tIns="0" rIns="0" bIns="0" rtlCol="0" anchor="t"/>
          <a:lstStyle/>
          <a:p>
            <a:pPr algn="ctr" indent="0" marL="0">
              <a:buNone/>
            </a:pPr>
            <a:r>
              <a:rPr lang="en-US" sz="1200" dirty="0">
                <a:solidFill>
                  <a:srgbClr val="1F2A37"/>
                </a:solidFill>
                <a:latin typeface="Calibri" pitchFamily="34" charset="0"/>
                <a:cs typeface="Amiri" pitchFamily="2" charset="-78"/>
              </a:rPr>
              <a:t>Part 1 · Remember: word race and “which lesson?” sort.</a:t>
            </a:r>
            <a:endParaRPr lang="en-US" sz="1200" dirty="0"/>
          </a:p>
        </p:txBody>
      </p:sp>
      <p:sp>
        <p:nvSpPr>
          <p:cNvPr id="30" name="Text 27"/>
          <p:cNvSpPr txBox="1"/>
          <p:nvPr/>
        </p:nvSpPr>
        <p:spPr>
          <a:xfrm>
            <a:off x="2829154" y="4526280"/>
            <a:ext cx="1969618" cy="438912"/>
          </a:xfrm>
          <a:prstGeom prst="rect">
            <a:avLst/>
          </a:prstGeom>
          <a:noFill/>
          <a:ln/>
        </p:spPr>
        <p:txBody>
          <a:bodyPr wrap="square" lIns="0" tIns="0" rIns="0" bIns="0" rtlCol="0" anchor="ctr"/>
          <a:lstStyle/>
          <a:p>
            <a:pPr rtl="1" algn="ctr" indent="0" marL="0">
              <a:buNone/>
            </a:pPr>
            <a:r>
              <a:rPr lang="ar-SA" altLang="en-US" sz="1500" b="1" dirty="0">
                <a:solidFill>
                  <a:srgbClr val="2F6FB0"/>
                </a:solidFill>
                <a:latin typeface="Amiri" pitchFamily="2" charset="-78"/>
                <a:ea typeface="Amiri" pitchFamily="2" charset="-78"/>
                <a:cs typeface="Amiri" pitchFamily="2" charset="-78"/>
              </a:rPr>
              <a:t>تَذَكَّرْ</a:t>
            </a:r>
            <a:endParaRPr lang="ar-SA" sz="1500" dirty="0"/>
          </a:p>
        </p:txBody>
      </p:sp>
      <p:sp>
        <p:nvSpPr>
          <p:cNvPr id="31" name="Shape 28"/>
          <p:cNvSpPr/>
          <p:nvPr/>
        </p:nvSpPr>
        <p:spPr>
          <a:xfrm>
            <a:off x="5018227" y="1828800"/>
            <a:ext cx="2152498" cy="3246120"/>
          </a:xfrm>
          <a:prstGeom prst="roundRect">
            <a:avLst>
              <a:gd name="adj" fmla="val 3398"/>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2" name="Shape 29"/>
          <p:cNvSpPr/>
          <p:nvPr/>
        </p:nvSpPr>
        <p:spPr>
          <a:xfrm>
            <a:off x="5127955" y="1938528"/>
            <a:ext cx="1933042" cy="566928"/>
          </a:xfrm>
          <a:prstGeom prst="roundRect">
            <a:avLst>
              <a:gd name="adj" fmla="val 9677"/>
            </a:avLst>
          </a:prstGeom>
          <a:solidFill>
            <a:srgbClr val="1E6B52"/>
          </a:solidFill>
          <a:ln w="12700">
            <a:solidFill>
              <a:srgbClr val="1E6B52"/>
            </a:solidFill>
            <a:prstDash val="solid"/>
          </a:ln>
        </p:spPr>
      </p:sp>
      <p:sp>
        <p:nvSpPr>
          <p:cNvPr id="33" name="Text 30"/>
          <p:cNvSpPr txBox="1"/>
          <p:nvPr/>
        </p:nvSpPr>
        <p:spPr>
          <a:xfrm>
            <a:off x="5164531" y="1956816"/>
            <a:ext cx="1859890" cy="329184"/>
          </a:xfrm>
          <a:prstGeom prst="rect">
            <a:avLst/>
          </a:prstGeom>
          <a:noFill/>
          <a:ln/>
        </p:spPr>
        <p:txBody>
          <a:bodyPr wrap="square" lIns="0" tIns="0" rIns="0" bIns="0" rtlCol="0" anchor="ctr"/>
          <a:lstStyle/>
          <a:p>
            <a:pPr algn="ctr" indent="0" marL="0">
              <a:buNone/>
            </a:pPr>
            <a:r>
              <a:rPr lang="en-US" sz="1000" b="1" spc="100" kern="0" dirty="0">
                <a:solidFill>
                  <a:srgbClr val="FFFFFF"/>
                </a:solidFill>
                <a:latin typeface="Calibri" pitchFamily="34" charset="0"/>
                <a:cs typeface="Amiri" pitchFamily="2" charset="-78"/>
              </a:rPr>
              <a:t>YOU DO</a:t>
            </a:r>
            <a:endParaRPr lang="en-US" sz="1000" dirty="0"/>
          </a:p>
        </p:txBody>
      </p:sp>
      <p:sp>
        <p:nvSpPr>
          <p:cNvPr id="34" name="Text 31"/>
          <p:cNvSpPr txBox="1"/>
          <p:nvPr/>
        </p:nvSpPr>
        <p:spPr>
          <a:xfrm>
            <a:off x="5164531" y="2249424"/>
            <a:ext cx="1859890" cy="237744"/>
          </a:xfrm>
          <a:prstGeom prst="rect">
            <a:avLst/>
          </a:prstGeom>
          <a:noFill/>
          <a:ln/>
        </p:spPr>
        <p:txBody>
          <a:bodyPr wrap="square" lIns="0" tIns="0" rIns="0" bIns="0" rtlCol="0" anchor="ctr"/>
          <a:lstStyle/>
          <a:p>
            <a:pPr algn="ctr" indent="0" marL="0">
              <a:buNone/>
            </a:pPr>
            <a:r>
              <a:rPr lang="en-US" sz="1000" dirty="0">
                <a:solidFill>
                  <a:srgbClr val="E8EDF5"/>
                </a:solidFill>
                <a:latin typeface="Calibri" pitchFamily="34" charset="0"/>
                <a:cs typeface="Amiri" pitchFamily="2" charset="-78"/>
              </a:rPr>
              <a:t>22 min</a:t>
            </a:r>
            <a:endParaRPr lang="en-US" sz="1000" dirty="0"/>
          </a:p>
        </p:txBody>
      </p:sp>
      <p:sp>
        <p:nvSpPr>
          <p:cNvPr id="35" name="Shape 32"/>
          <p:cNvSpPr/>
          <p:nvPr/>
        </p:nvSpPr>
        <p:spPr>
          <a:xfrm>
            <a:off x="5893308" y="2651760"/>
            <a:ext cx="402336" cy="402336"/>
          </a:xfrm>
          <a:prstGeom prst="ellipse">
            <a:avLst/>
          </a:prstGeom>
          <a:solidFill>
            <a:srgbClr val="F4F1EA"/>
          </a:solidFill>
          <a:ln w="12700">
            <a:solidFill>
              <a:srgbClr val="F4F1EA"/>
            </a:solidFill>
            <a:prstDash val="solid"/>
          </a:ln>
        </p:spPr>
      </p:sp>
      <p:sp>
        <p:nvSpPr>
          <p:cNvPr id="36" name="Text 33"/>
          <p:cNvSpPr txBox="1"/>
          <p:nvPr/>
        </p:nvSpPr>
        <p:spPr>
          <a:xfrm>
            <a:off x="5893308" y="2651760"/>
            <a:ext cx="402336" cy="402336"/>
          </a:xfrm>
          <a:prstGeom prst="rect">
            <a:avLst/>
          </a:prstGeom>
          <a:noFill/>
          <a:ln/>
        </p:spPr>
        <p:txBody>
          <a:bodyPr wrap="square" lIns="0" tIns="0" rIns="0" bIns="0" rtlCol="0" anchor="ctr"/>
          <a:lstStyle/>
          <a:p>
            <a:pPr algn="ctr" indent="0" marL="0">
              <a:buNone/>
            </a:pPr>
            <a:r>
              <a:rPr lang="en-US" sz="1300" b="1" dirty="0">
                <a:solidFill>
                  <a:srgbClr val="1B3B6F"/>
                </a:solidFill>
                <a:latin typeface="Calibri" pitchFamily="34" charset="0"/>
                <a:cs typeface="Amiri" pitchFamily="2" charset="-78"/>
              </a:rPr>
              <a:t>3</a:t>
            </a:r>
            <a:endParaRPr lang="en-US" sz="1300" dirty="0"/>
          </a:p>
        </p:txBody>
      </p:sp>
      <p:sp>
        <p:nvSpPr>
          <p:cNvPr id="37" name="Text 34"/>
          <p:cNvSpPr txBox="1"/>
          <p:nvPr/>
        </p:nvSpPr>
        <p:spPr>
          <a:xfrm>
            <a:off x="5146243" y="3145536"/>
            <a:ext cx="1896466" cy="1417320"/>
          </a:xfrm>
          <a:prstGeom prst="rect">
            <a:avLst/>
          </a:prstGeom>
          <a:noFill/>
          <a:ln/>
        </p:spPr>
        <p:txBody>
          <a:bodyPr wrap="square" lIns="0" tIns="0" rIns="0" bIns="0" rtlCol="0" anchor="t"/>
          <a:lstStyle/>
          <a:p>
            <a:pPr algn="ctr" indent="0" marL="0">
              <a:buNone/>
            </a:pPr>
            <a:r>
              <a:rPr lang="en-US" sz="1200" dirty="0">
                <a:solidFill>
                  <a:srgbClr val="1F2A37"/>
                </a:solidFill>
                <a:latin typeface="Calibri" pitchFamily="34" charset="0"/>
                <a:cs typeface="Amiri" pitchFamily="2" charset="-78"/>
              </a:rPr>
              <a:t>Part 2 · Speak: say the model dialogue · question cards · role-play card · short talk.</a:t>
            </a:r>
            <a:endParaRPr lang="en-US" sz="1200" dirty="0"/>
          </a:p>
        </p:txBody>
      </p:sp>
      <p:sp>
        <p:nvSpPr>
          <p:cNvPr id="38" name="Text 35"/>
          <p:cNvSpPr txBox="1"/>
          <p:nvPr/>
        </p:nvSpPr>
        <p:spPr>
          <a:xfrm>
            <a:off x="5109667" y="4526280"/>
            <a:ext cx="1969618" cy="438912"/>
          </a:xfrm>
          <a:prstGeom prst="rect">
            <a:avLst/>
          </a:prstGeom>
          <a:noFill/>
          <a:ln/>
        </p:spPr>
        <p:txBody>
          <a:bodyPr wrap="square" lIns="0" tIns="0" rIns="0" bIns="0" rtlCol="0" anchor="ctr"/>
          <a:lstStyle/>
          <a:p>
            <a:pPr rtl="1" algn="ctr" indent="0" marL="0">
              <a:buNone/>
            </a:pPr>
            <a:r>
              <a:rPr lang="ar-SA" altLang="en-US" sz="1500" b="1" dirty="0">
                <a:solidFill>
                  <a:srgbClr val="1E6B52"/>
                </a:solidFill>
                <a:latin typeface="Amiri" pitchFamily="2" charset="-78"/>
                <a:ea typeface="Amiri" pitchFamily="2" charset="-78"/>
                <a:cs typeface="Amiri" pitchFamily="2" charset="-78"/>
              </a:rPr>
              <a:t>تَكَلَّمْ</a:t>
            </a:r>
            <a:endParaRPr lang="ar-SA" sz="1500" dirty="0"/>
          </a:p>
        </p:txBody>
      </p:sp>
      <p:sp>
        <p:nvSpPr>
          <p:cNvPr id="39" name="Shape 36"/>
          <p:cNvSpPr/>
          <p:nvPr/>
        </p:nvSpPr>
        <p:spPr>
          <a:xfrm>
            <a:off x="7298741" y="1828800"/>
            <a:ext cx="2152498" cy="3246120"/>
          </a:xfrm>
          <a:prstGeom prst="roundRect">
            <a:avLst>
              <a:gd name="adj" fmla="val 3398"/>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0" name="Shape 37"/>
          <p:cNvSpPr/>
          <p:nvPr/>
        </p:nvSpPr>
        <p:spPr>
          <a:xfrm>
            <a:off x="7408469" y="1938528"/>
            <a:ext cx="1933042" cy="566928"/>
          </a:xfrm>
          <a:prstGeom prst="roundRect">
            <a:avLst>
              <a:gd name="adj" fmla="val 9677"/>
            </a:avLst>
          </a:prstGeom>
          <a:solidFill>
            <a:srgbClr val="1E6B52"/>
          </a:solidFill>
          <a:ln w="12700">
            <a:solidFill>
              <a:srgbClr val="1E6B52"/>
            </a:solidFill>
            <a:prstDash val="solid"/>
          </a:ln>
        </p:spPr>
      </p:sp>
      <p:sp>
        <p:nvSpPr>
          <p:cNvPr id="41" name="Text 38"/>
          <p:cNvSpPr txBox="1"/>
          <p:nvPr/>
        </p:nvSpPr>
        <p:spPr>
          <a:xfrm>
            <a:off x="7445045" y="1956816"/>
            <a:ext cx="1859890" cy="329184"/>
          </a:xfrm>
          <a:prstGeom prst="rect">
            <a:avLst/>
          </a:prstGeom>
          <a:noFill/>
          <a:ln/>
        </p:spPr>
        <p:txBody>
          <a:bodyPr wrap="square" lIns="0" tIns="0" rIns="0" bIns="0" rtlCol="0" anchor="ctr"/>
          <a:lstStyle/>
          <a:p>
            <a:pPr algn="ctr" indent="0" marL="0">
              <a:buNone/>
            </a:pPr>
            <a:r>
              <a:rPr lang="en-US" sz="1000" b="1" spc="100" kern="0" dirty="0">
                <a:solidFill>
                  <a:srgbClr val="FFFFFF"/>
                </a:solidFill>
                <a:latin typeface="Calibri" pitchFamily="34" charset="0"/>
                <a:cs typeface="Amiri" pitchFamily="2" charset="-78"/>
              </a:rPr>
              <a:t>YOU DO</a:t>
            </a:r>
            <a:endParaRPr lang="en-US" sz="1000" dirty="0"/>
          </a:p>
        </p:txBody>
      </p:sp>
      <p:sp>
        <p:nvSpPr>
          <p:cNvPr id="42" name="Text 39"/>
          <p:cNvSpPr txBox="1"/>
          <p:nvPr/>
        </p:nvSpPr>
        <p:spPr>
          <a:xfrm>
            <a:off x="7445045" y="2249424"/>
            <a:ext cx="1859890" cy="237744"/>
          </a:xfrm>
          <a:prstGeom prst="rect">
            <a:avLst/>
          </a:prstGeom>
          <a:noFill/>
          <a:ln/>
        </p:spPr>
        <p:txBody>
          <a:bodyPr wrap="square" lIns="0" tIns="0" rIns="0" bIns="0" rtlCol="0" anchor="ctr"/>
          <a:lstStyle/>
          <a:p>
            <a:pPr algn="ctr" indent="0" marL="0">
              <a:buNone/>
            </a:pPr>
            <a:r>
              <a:rPr lang="en-US" sz="1000" dirty="0">
                <a:solidFill>
                  <a:srgbClr val="E8EDF5"/>
                </a:solidFill>
                <a:latin typeface="Calibri" pitchFamily="34" charset="0"/>
                <a:cs typeface="Amiri" pitchFamily="2" charset="-78"/>
              </a:rPr>
              <a:t>19 min</a:t>
            </a:r>
            <a:endParaRPr lang="en-US" sz="1000" dirty="0"/>
          </a:p>
        </p:txBody>
      </p:sp>
      <p:sp>
        <p:nvSpPr>
          <p:cNvPr id="43" name="Shape 40"/>
          <p:cNvSpPr/>
          <p:nvPr/>
        </p:nvSpPr>
        <p:spPr>
          <a:xfrm>
            <a:off x="8173822" y="2651760"/>
            <a:ext cx="402336" cy="402336"/>
          </a:xfrm>
          <a:prstGeom prst="ellipse">
            <a:avLst/>
          </a:prstGeom>
          <a:solidFill>
            <a:srgbClr val="F4F1EA"/>
          </a:solidFill>
          <a:ln w="12700">
            <a:solidFill>
              <a:srgbClr val="F4F1EA"/>
            </a:solidFill>
            <a:prstDash val="solid"/>
          </a:ln>
        </p:spPr>
      </p:sp>
      <p:sp>
        <p:nvSpPr>
          <p:cNvPr id="44" name="Text 41"/>
          <p:cNvSpPr txBox="1"/>
          <p:nvPr/>
        </p:nvSpPr>
        <p:spPr>
          <a:xfrm>
            <a:off x="8173822" y="2651760"/>
            <a:ext cx="402336" cy="402336"/>
          </a:xfrm>
          <a:prstGeom prst="rect">
            <a:avLst/>
          </a:prstGeom>
          <a:noFill/>
          <a:ln/>
        </p:spPr>
        <p:txBody>
          <a:bodyPr wrap="square" lIns="0" tIns="0" rIns="0" bIns="0" rtlCol="0" anchor="ctr"/>
          <a:lstStyle/>
          <a:p>
            <a:pPr algn="ctr" indent="0" marL="0">
              <a:buNone/>
            </a:pPr>
            <a:r>
              <a:rPr lang="en-US" sz="1300" b="1" dirty="0">
                <a:solidFill>
                  <a:srgbClr val="1B3B6F"/>
                </a:solidFill>
                <a:latin typeface="Calibri" pitchFamily="34" charset="0"/>
                <a:cs typeface="Amiri" pitchFamily="2" charset="-78"/>
              </a:rPr>
              <a:t>4</a:t>
            </a:r>
            <a:endParaRPr lang="en-US" sz="1300" dirty="0"/>
          </a:p>
        </p:txBody>
      </p:sp>
      <p:sp>
        <p:nvSpPr>
          <p:cNvPr id="45" name="Text 42"/>
          <p:cNvSpPr txBox="1"/>
          <p:nvPr/>
        </p:nvSpPr>
        <p:spPr>
          <a:xfrm>
            <a:off x="7426757" y="3145536"/>
            <a:ext cx="1896466" cy="1417320"/>
          </a:xfrm>
          <a:prstGeom prst="rect">
            <a:avLst/>
          </a:prstGeom>
          <a:noFill/>
          <a:ln/>
        </p:spPr>
        <p:txBody>
          <a:bodyPr wrap="square" lIns="0" tIns="0" rIns="0" bIns="0" rtlCol="0" anchor="t"/>
          <a:lstStyle/>
          <a:p>
            <a:pPr algn="ctr" indent="0" marL="0">
              <a:buNone/>
            </a:pPr>
            <a:r>
              <a:rPr lang="en-US" sz="1200" dirty="0">
                <a:solidFill>
                  <a:srgbClr val="1F2A37"/>
                </a:solidFill>
                <a:latin typeface="Calibri" pitchFamily="34" charset="0"/>
                <a:cs typeface="Amiri" pitchFamily="2" charset="-78"/>
              </a:rPr>
              <a:t>Part 3 · Write: sentence builder · spot and fix · write your text · buddy check.</a:t>
            </a:r>
            <a:endParaRPr lang="en-US" sz="1200" dirty="0"/>
          </a:p>
        </p:txBody>
      </p:sp>
      <p:sp>
        <p:nvSpPr>
          <p:cNvPr id="46" name="Text 43"/>
          <p:cNvSpPr txBox="1"/>
          <p:nvPr/>
        </p:nvSpPr>
        <p:spPr>
          <a:xfrm>
            <a:off x="7390181" y="4526280"/>
            <a:ext cx="1969618" cy="438912"/>
          </a:xfrm>
          <a:prstGeom prst="rect">
            <a:avLst/>
          </a:prstGeom>
          <a:noFill/>
          <a:ln/>
        </p:spPr>
        <p:txBody>
          <a:bodyPr wrap="square" lIns="0" tIns="0" rIns="0" bIns="0" rtlCol="0" anchor="ctr"/>
          <a:lstStyle/>
          <a:p>
            <a:pPr rtl="1" algn="ctr" indent="0" marL="0">
              <a:buNone/>
            </a:pPr>
            <a:r>
              <a:rPr lang="ar-SA" altLang="en-US" sz="1500" b="1" dirty="0">
                <a:solidFill>
                  <a:srgbClr val="1E6B52"/>
                </a:solidFill>
                <a:latin typeface="Amiri" pitchFamily="2" charset="-78"/>
                <a:ea typeface="Amiri" pitchFamily="2" charset="-78"/>
                <a:cs typeface="Amiri" pitchFamily="2" charset="-78"/>
              </a:rPr>
              <a:t>اكْتُبْ</a:t>
            </a:r>
            <a:endParaRPr lang="ar-SA" sz="1500" dirty="0"/>
          </a:p>
        </p:txBody>
      </p:sp>
      <p:sp>
        <p:nvSpPr>
          <p:cNvPr id="47" name="Shape 44"/>
          <p:cNvSpPr/>
          <p:nvPr/>
        </p:nvSpPr>
        <p:spPr>
          <a:xfrm>
            <a:off x="9579254" y="1828800"/>
            <a:ext cx="2152498" cy="3246120"/>
          </a:xfrm>
          <a:prstGeom prst="roundRect">
            <a:avLst>
              <a:gd name="adj" fmla="val 3398"/>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8" name="Shape 45"/>
          <p:cNvSpPr/>
          <p:nvPr/>
        </p:nvSpPr>
        <p:spPr>
          <a:xfrm>
            <a:off x="9688982" y="1938528"/>
            <a:ext cx="1933042" cy="566928"/>
          </a:xfrm>
          <a:prstGeom prst="roundRect">
            <a:avLst>
              <a:gd name="adj" fmla="val 9677"/>
            </a:avLst>
          </a:prstGeom>
          <a:solidFill>
            <a:srgbClr val="8A6D1E"/>
          </a:solidFill>
          <a:ln w="12700">
            <a:solidFill>
              <a:srgbClr val="8A6D1E"/>
            </a:solidFill>
            <a:prstDash val="solid"/>
          </a:ln>
        </p:spPr>
      </p:sp>
      <p:sp>
        <p:nvSpPr>
          <p:cNvPr id="49" name="Text 46"/>
          <p:cNvSpPr txBox="1"/>
          <p:nvPr/>
        </p:nvSpPr>
        <p:spPr>
          <a:xfrm>
            <a:off x="9725558" y="1956816"/>
            <a:ext cx="1859890" cy="329184"/>
          </a:xfrm>
          <a:prstGeom prst="rect">
            <a:avLst/>
          </a:prstGeom>
          <a:noFill/>
          <a:ln/>
        </p:spPr>
        <p:txBody>
          <a:bodyPr wrap="square" lIns="0" tIns="0" rIns="0" bIns="0" rtlCol="0" anchor="ctr"/>
          <a:lstStyle/>
          <a:p>
            <a:pPr algn="ctr" indent="0" marL="0">
              <a:buNone/>
            </a:pPr>
            <a:r>
              <a:rPr lang="en-US" sz="1000" b="1" spc="100" kern="0" dirty="0">
                <a:solidFill>
                  <a:srgbClr val="FFFFFF"/>
                </a:solidFill>
                <a:latin typeface="Calibri" pitchFamily="34" charset="0"/>
                <a:cs typeface="Amiri" pitchFamily="2" charset="-78"/>
              </a:rPr>
              <a:t>FEEDBACK</a:t>
            </a:r>
            <a:endParaRPr lang="en-US" sz="1000" dirty="0"/>
          </a:p>
        </p:txBody>
      </p:sp>
      <p:sp>
        <p:nvSpPr>
          <p:cNvPr id="50" name="Text 47"/>
          <p:cNvSpPr txBox="1"/>
          <p:nvPr/>
        </p:nvSpPr>
        <p:spPr>
          <a:xfrm>
            <a:off x="9725558" y="2249424"/>
            <a:ext cx="1859890" cy="237744"/>
          </a:xfrm>
          <a:prstGeom prst="rect">
            <a:avLst/>
          </a:prstGeom>
          <a:noFill/>
          <a:ln/>
        </p:spPr>
        <p:txBody>
          <a:bodyPr wrap="square" lIns="0" tIns="0" rIns="0" bIns="0" rtlCol="0" anchor="ctr"/>
          <a:lstStyle/>
          <a:p>
            <a:pPr algn="ctr" indent="0" marL="0">
              <a:buNone/>
            </a:pPr>
            <a:r>
              <a:rPr lang="en-US" sz="1000" dirty="0">
                <a:solidFill>
                  <a:srgbClr val="E8EDF5"/>
                </a:solidFill>
                <a:latin typeface="Calibri" pitchFamily="34" charset="0"/>
                <a:cs typeface="Amiri" pitchFamily="2" charset="-78"/>
              </a:rPr>
              <a:t>5 min</a:t>
            </a:r>
            <a:endParaRPr lang="en-US" sz="1000" dirty="0"/>
          </a:p>
        </p:txBody>
      </p:sp>
      <p:sp>
        <p:nvSpPr>
          <p:cNvPr id="51" name="Shape 48"/>
          <p:cNvSpPr/>
          <p:nvPr/>
        </p:nvSpPr>
        <p:spPr>
          <a:xfrm>
            <a:off x="10454335" y="2651760"/>
            <a:ext cx="402336" cy="402336"/>
          </a:xfrm>
          <a:prstGeom prst="ellipse">
            <a:avLst/>
          </a:prstGeom>
          <a:solidFill>
            <a:srgbClr val="F4F1EA"/>
          </a:solidFill>
          <a:ln w="12700">
            <a:solidFill>
              <a:srgbClr val="F4F1EA"/>
            </a:solidFill>
            <a:prstDash val="solid"/>
          </a:ln>
        </p:spPr>
      </p:sp>
      <p:sp>
        <p:nvSpPr>
          <p:cNvPr id="52" name="Text 49"/>
          <p:cNvSpPr txBox="1"/>
          <p:nvPr/>
        </p:nvSpPr>
        <p:spPr>
          <a:xfrm>
            <a:off x="10454335" y="2651760"/>
            <a:ext cx="402336" cy="402336"/>
          </a:xfrm>
          <a:prstGeom prst="rect">
            <a:avLst/>
          </a:prstGeom>
          <a:noFill/>
          <a:ln/>
        </p:spPr>
        <p:txBody>
          <a:bodyPr wrap="square" lIns="0" tIns="0" rIns="0" bIns="0" rtlCol="0" anchor="ctr"/>
          <a:lstStyle/>
          <a:p>
            <a:pPr algn="ctr" indent="0" marL="0">
              <a:buNone/>
            </a:pPr>
            <a:r>
              <a:rPr lang="en-US" sz="1300" b="1" dirty="0">
                <a:solidFill>
                  <a:srgbClr val="1B3B6F"/>
                </a:solidFill>
                <a:latin typeface="Calibri" pitchFamily="34" charset="0"/>
                <a:cs typeface="Amiri" pitchFamily="2" charset="-78"/>
              </a:rPr>
              <a:t>5</a:t>
            </a:r>
            <a:endParaRPr lang="en-US" sz="1300" dirty="0"/>
          </a:p>
        </p:txBody>
      </p:sp>
      <p:sp>
        <p:nvSpPr>
          <p:cNvPr id="53" name="Text 50"/>
          <p:cNvSpPr txBox="1"/>
          <p:nvPr/>
        </p:nvSpPr>
        <p:spPr>
          <a:xfrm>
            <a:off x="9707270" y="3145536"/>
            <a:ext cx="1896466" cy="1417320"/>
          </a:xfrm>
          <a:prstGeom prst="rect">
            <a:avLst/>
          </a:prstGeom>
          <a:noFill/>
          <a:ln/>
        </p:spPr>
        <p:txBody>
          <a:bodyPr wrap="square" lIns="0" tIns="0" rIns="0" bIns="0" rtlCol="0" anchor="t"/>
          <a:lstStyle/>
          <a:p>
            <a:pPr algn="ctr" indent="0" marL="0">
              <a:buNone/>
            </a:pPr>
            <a:r>
              <a:rPr lang="en-US" sz="1200" dirty="0">
                <a:solidFill>
                  <a:srgbClr val="1F2A37"/>
                </a:solidFill>
                <a:latin typeface="Calibri" pitchFamily="34" charset="0"/>
                <a:cs typeface="Amiri" pitchFamily="2" charset="-78"/>
              </a:rPr>
              <a:t>Check yourself with the models.</a:t>
            </a:r>
            <a:endParaRPr lang="en-US" sz="1200" dirty="0"/>
          </a:p>
        </p:txBody>
      </p:sp>
      <p:sp>
        <p:nvSpPr>
          <p:cNvPr id="54" name="Text 51"/>
          <p:cNvSpPr txBox="1"/>
          <p:nvPr/>
        </p:nvSpPr>
        <p:spPr>
          <a:xfrm>
            <a:off x="9670694" y="4526280"/>
            <a:ext cx="1969618" cy="438912"/>
          </a:xfrm>
          <a:prstGeom prst="rect">
            <a:avLst/>
          </a:prstGeom>
          <a:noFill/>
          <a:ln/>
        </p:spPr>
        <p:txBody>
          <a:bodyPr wrap="square" lIns="0" tIns="0" rIns="0" bIns="0" rtlCol="0" anchor="ctr"/>
          <a:lstStyle/>
          <a:p>
            <a:pPr rtl="1" algn="ctr" indent="0" marL="0">
              <a:buNone/>
            </a:pPr>
            <a:r>
              <a:rPr lang="ar-SA" altLang="en-US" sz="1500" b="1" dirty="0">
                <a:solidFill>
                  <a:srgbClr val="8A6D1E"/>
                </a:solidFill>
                <a:latin typeface="Amiri" pitchFamily="2" charset="-78"/>
                <a:ea typeface="Amiri" pitchFamily="2" charset="-78"/>
                <a:cs typeface="Amiri" pitchFamily="2" charset="-78"/>
              </a:rPr>
              <a:t>قَارِنْ</a:t>
            </a:r>
            <a:endParaRPr lang="ar-SA" sz="1500" dirty="0"/>
          </a:p>
        </p:txBody>
      </p:sp>
      <p:sp>
        <p:nvSpPr>
          <p:cNvPr id="55" name="Shape 52"/>
          <p:cNvSpPr/>
          <p:nvPr/>
        </p:nvSpPr>
        <p:spPr>
          <a:xfrm>
            <a:off x="457200" y="5285232"/>
            <a:ext cx="11274552" cy="1024128"/>
          </a:xfrm>
          <a:prstGeom prst="roundRect">
            <a:avLst>
              <a:gd name="adj" fmla="val 7143"/>
            </a:avLst>
          </a:prstGeom>
          <a:solidFill>
            <a:srgbClr val="E9F5EE"/>
          </a:solidFill>
          <a:ln w="9525">
            <a:solidFill>
              <a:srgbClr val="9CCFB0"/>
            </a:solidFill>
            <a:prstDash val="solid"/>
          </a:ln>
          <a:effectLst>
            <a:outerShdw sx="100000" sy="100000" kx="0" ky="0" algn="bl" rotWithShape="0" blurRad="50800" dist="19050" dir="5400000">
              <a:srgbClr val="000000">
                <a:alpha val="10000"/>
              </a:srgbClr>
            </a:outerShdw>
          </a:effectLst>
        </p:spPr>
      </p:sp>
      <p:sp>
        <p:nvSpPr>
          <p:cNvPr id="56" name="Text 53"/>
          <p:cNvSpPr txBox="1"/>
          <p:nvPr/>
        </p:nvSpPr>
        <p:spPr>
          <a:xfrm>
            <a:off x="685800" y="5358384"/>
            <a:ext cx="4572000" cy="274320"/>
          </a:xfrm>
          <a:prstGeom prst="rect">
            <a:avLst/>
          </a:prstGeom>
          <a:noFill/>
          <a:ln/>
        </p:spPr>
        <p:txBody>
          <a:bodyPr wrap="square" lIns="0" tIns="0" rIns="0" bIns="0" rtlCol="0" anchor="ctr"/>
          <a:lstStyle/>
          <a:p>
            <a:pPr algn="l" indent="0" marL="0">
              <a:buNone/>
            </a:pPr>
            <a:r>
              <a:rPr lang="en-US" sz="1000" b="1" spc="200" kern="0" dirty="0">
                <a:solidFill>
                  <a:srgbClr val="1E6B52"/>
                </a:solidFill>
                <a:latin typeface="Calibri" pitchFamily="34" charset="0"/>
                <a:cs typeface="Amiri" pitchFamily="2" charset="-78"/>
              </a:rPr>
              <a:t>HOW THE WORKSHOP RUNS</a:t>
            </a:r>
            <a:endParaRPr lang="en-US" sz="1000" dirty="0"/>
          </a:p>
        </p:txBody>
      </p:sp>
      <p:sp>
        <p:nvSpPr>
          <p:cNvPr id="57" name="Text 54"/>
          <p:cNvSpPr txBox="1"/>
          <p:nvPr/>
        </p:nvSpPr>
        <p:spPr>
          <a:xfrm>
            <a:off x="685800" y="5632704"/>
            <a:ext cx="10881360" cy="621792"/>
          </a:xfrm>
          <a:prstGeom prst="rect">
            <a:avLst/>
          </a:prstGeom>
          <a:noFill/>
          <a:ln/>
        </p:spPr>
        <p:txBody>
          <a:bodyPr wrap="square" lIns="0" tIns="0" rIns="0" bIns="0" rtlCol="0" anchor="t"/>
          <a:lstStyle/>
          <a:p>
            <a:pPr algn="l" indent="0" marL="0">
              <a:buNone/>
            </a:pPr>
            <a:r>
              <a:rPr lang="en-US" sz="1250" dirty="0">
                <a:solidFill>
                  <a:srgbClr val="1F2A37"/>
                </a:solidFill>
                <a:latin typeface="Calibri" pitchFamily="34" charset="0"/>
                <a:cs typeface="Amiri" pitchFamily="2" charset="-78"/>
              </a:rPr>
              <a:t>Today there is no new language: you USE the words and structures of the last two lessons together. Everybody speaks in every step and everybody writes their own text. Choose your route — Core, Develop or Stretch — and move up when you are ready.</a:t>
            </a:r>
            <a:endParaRPr lang="en-US" sz="1250" dirty="0"/>
          </a:p>
        </p:txBody>
      </p:sp>
      <p:sp>
        <p:nvSpPr>
          <p:cNvPr id="58" name="Text 55"/>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3 / 24</a:t>
            </a:r>
            <a:endParaRPr lang="en-US" sz="850" dirty="0"/>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F3-W01 · Apply workshop</a:t>
            </a:r>
            <a:endParaRPr lang="en-US" sz="950" dirty="0"/>
          </a:p>
        </p:txBody>
      </p:sp>
      <p:sp>
        <p:nvSpPr>
          <p:cNvPr id="8" name="Shape 6"/>
          <p:cNvSpPr/>
          <p:nvPr/>
        </p:nvSpPr>
        <p:spPr>
          <a:xfrm>
            <a:off x="6308446" y="274320"/>
            <a:ext cx="2451506" cy="329184"/>
          </a:xfrm>
          <a:prstGeom prst="roundRect">
            <a:avLst>
              <a:gd name="adj" fmla="val 50000"/>
            </a:avLst>
          </a:prstGeom>
          <a:solidFill>
            <a:srgbClr val="1B3B6F"/>
          </a:solidFill>
          <a:ln w="12700">
            <a:solidFill>
              <a:srgbClr val="1B3B6F"/>
            </a:solidFill>
            <a:prstDash val="solid"/>
          </a:ln>
        </p:spPr>
      </p:sp>
      <p:sp>
        <p:nvSpPr>
          <p:cNvPr id="9" name="Text 7"/>
          <p:cNvSpPr txBox="1"/>
          <p:nvPr/>
        </p:nvSpPr>
        <p:spPr>
          <a:xfrm>
            <a:off x="6308446" y="274320"/>
            <a:ext cx="2451506"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TEACHER INSTRUCTION · 3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1B3B6F"/>
                </a:solidFill>
                <a:latin typeface="Calibri" pitchFamily="34" charset="0"/>
                <a:cs typeface="Amiri" pitchFamily="2" charset="-78"/>
              </a:rPr>
              <a:t>WHAT WE LEARNT THIS WEEK · F3-L01 + F3-L02</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250" b="1" dirty="0">
                <a:solidFill>
                  <a:srgbClr val="1B3B6F"/>
                </a:solidFill>
                <a:latin typeface="Cambria" pitchFamily="34" charset="0"/>
                <a:cs typeface="Amiri" pitchFamily="2" charset="-78"/>
              </a:rPr>
              <a:t>This week’s two lessons — and today’s goal</a:t>
            </a:r>
            <a:endParaRPr lang="en-US" sz="225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نُطَبِّقُ مَا تَعَلَّمْنَا</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Foundation F3 · My Family &amp; Home · F3-W01 · Apply workshop (F3-L01 + F3-L02)</a:t>
            </a:r>
            <a:endParaRPr lang="en-US" sz="850" dirty="0"/>
          </a:p>
        </p:txBody>
      </p:sp>
      <p:sp>
        <p:nvSpPr>
          <p:cNvPr id="15" name="Shape 12"/>
          <p:cNvSpPr/>
          <p:nvPr/>
        </p:nvSpPr>
        <p:spPr>
          <a:xfrm>
            <a:off x="457200" y="1810512"/>
            <a:ext cx="4663440" cy="4315968"/>
          </a:xfrm>
          <a:prstGeom prst="roundRect">
            <a:avLst>
              <a:gd name="adj" fmla="val 1695"/>
            </a:avLst>
          </a:prstGeom>
          <a:solidFill>
            <a:srgbClr val="F7F9FC"/>
          </a:solidFill>
          <a:ln w="9525">
            <a:solidFill>
              <a:srgbClr val="C9D6EA"/>
            </a:solidFill>
            <a:prstDash val="solid"/>
          </a:ln>
          <a:effectLst>
            <a:outerShdw sx="100000" sy="100000" kx="0" ky="0" algn="bl" rotWithShape="0" blurRad="50800" dist="19050" dir="5400000">
              <a:srgbClr val="000000">
                <a:alpha val="10000"/>
              </a:srgbClr>
            </a:outerShdw>
          </a:effectLst>
        </p:spPr>
      </p:sp>
      <p:sp>
        <p:nvSpPr>
          <p:cNvPr id="16" name="Text 13"/>
          <p:cNvSpPr txBox="1"/>
          <p:nvPr/>
        </p:nvSpPr>
        <p:spPr>
          <a:xfrm>
            <a:off x="685800" y="1920240"/>
            <a:ext cx="2743200" cy="292608"/>
          </a:xfrm>
          <a:prstGeom prst="rect">
            <a:avLst/>
          </a:prstGeom>
          <a:noFill/>
          <a:ln/>
        </p:spPr>
        <p:txBody>
          <a:bodyPr wrap="square" lIns="0" tIns="0" rIns="0" bIns="0" rtlCol="0" anchor="ctr"/>
          <a:lstStyle/>
          <a:p>
            <a:pPr algn="l" indent="0" marL="0">
              <a:buNone/>
            </a:pPr>
            <a:r>
              <a:rPr lang="en-US" sz="1100" b="1" spc="200" kern="0" dirty="0">
                <a:solidFill>
                  <a:srgbClr val="1B3B6F"/>
                </a:solidFill>
                <a:latin typeface="Calibri" pitchFamily="34" charset="0"/>
                <a:cs typeface="Amiri" pitchFamily="2" charset="-78"/>
              </a:rPr>
              <a:t>TODAY YOU WILL</a:t>
            </a:r>
            <a:endParaRPr lang="en-US" sz="1100" dirty="0"/>
          </a:p>
        </p:txBody>
      </p:sp>
      <p:sp>
        <p:nvSpPr>
          <p:cNvPr id="17" name="Text 14"/>
          <p:cNvSpPr txBox="1"/>
          <p:nvPr/>
        </p:nvSpPr>
        <p:spPr>
          <a:xfrm>
            <a:off x="2834640" y="1874520"/>
            <a:ext cx="2103120" cy="365760"/>
          </a:xfrm>
          <a:prstGeom prst="rect">
            <a:avLst/>
          </a:prstGeom>
          <a:noFill/>
          <a:ln/>
        </p:spPr>
        <p:txBody>
          <a:bodyPr wrap="square" lIns="0" tIns="0" rIns="0" bIns="0" rtlCol="0" anchor="ctr"/>
          <a:lstStyle/>
          <a:p>
            <a:pPr rtl="1" algn="r" indent="0" marL="0">
              <a:buNone/>
            </a:pPr>
            <a:r>
              <a:rPr lang="ar-SA" altLang="en-US" sz="1600" dirty="0">
                <a:solidFill>
                  <a:srgbClr val="8A6D1E"/>
                </a:solidFill>
                <a:latin typeface="Amiri" pitchFamily="2" charset="-78"/>
                <a:ea typeface="Amiri" pitchFamily="2" charset="-78"/>
                <a:cs typeface="Amiri" pitchFamily="2" charset="-78"/>
              </a:rPr>
              <a:t>سَتَتَعَلَّمُ اليَوْمَ</a:t>
            </a:r>
            <a:endParaRPr lang="ar-SA" sz="1600" dirty="0"/>
          </a:p>
        </p:txBody>
      </p:sp>
      <p:sp>
        <p:nvSpPr>
          <p:cNvPr id="18" name="Shape 15"/>
          <p:cNvSpPr/>
          <p:nvPr/>
        </p:nvSpPr>
        <p:spPr>
          <a:xfrm>
            <a:off x="685800" y="2395728"/>
            <a:ext cx="365760" cy="365760"/>
          </a:xfrm>
          <a:prstGeom prst="ellipse">
            <a:avLst/>
          </a:prstGeom>
          <a:solidFill>
            <a:srgbClr val="1B3B6F"/>
          </a:solidFill>
          <a:ln w="12700">
            <a:solidFill>
              <a:srgbClr val="1B3B6F"/>
            </a:solidFill>
            <a:prstDash val="solid"/>
          </a:ln>
        </p:spPr>
      </p:sp>
      <p:sp>
        <p:nvSpPr>
          <p:cNvPr id="19" name="Text 16"/>
          <p:cNvSpPr txBox="1"/>
          <p:nvPr/>
        </p:nvSpPr>
        <p:spPr>
          <a:xfrm>
            <a:off x="685800" y="2395728"/>
            <a:ext cx="365760" cy="365760"/>
          </a:xfrm>
          <a:prstGeom prst="rect">
            <a:avLst/>
          </a:prstGeom>
          <a:noFill/>
          <a:ln/>
        </p:spPr>
        <p:txBody>
          <a:bodyPr wrap="square" lIns="0" tIns="0" rIns="0" bIns="0" rtlCol="0" anchor="ctr"/>
          <a:lstStyle/>
          <a:p>
            <a:pPr algn="ctr" indent="0" marL="0">
              <a:buNone/>
            </a:pPr>
            <a:r>
              <a:rPr lang="en-US" sz="1200" b="1" dirty="0">
                <a:solidFill>
                  <a:srgbClr val="D4AF37"/>
                </a:solidFill>
                <a:latin typeface="Calibri" pitchFamily="34" charset="0"/>
                <a:cs typeface="Amiri" pitchFamily="2" charset="-78"/>
              </a:rPr>
              <a:t>1</a:t>
            </a:r>
            <a:endParaRPr lang="en-US" sz="1200" dirty="0"/>
          </a:p>
        </p:txBody>
      </p:sp>
      <p:sp>
        <p:nvSpPr>
          <p:cNvPr id="20" name="Text 17"/>
          <p:cNvSpPr txBox="1"/>
          <p:nvPr/>
        </p:nvSpPr>
        <p:spPr>
          <a:xfrm>
            <a:off x="1188720" y="2286000"/>
            <a:ext cx="3749040" cy="841248"/>
          </a:xfrm>
          <a:prstGeom prst="rect">
            <a:avLst/>
          </a:prstGeom>
          <a:noFill/>
          <a:ln/>
        </p:spPr>
        <p:txBody>
          <a:bodyPr wrap="square" lIns="0" tIns="0" rIns="0" bIns="0" rtlCol="0" anchor="ctr"/>
          <a:lstStyle/>
          <a:p>
            <a:pPr algn="l" indent="0" marL="0">
              <a:buNone/>
            </a:pPr>
            <a:r>
              <a:rPr lang="en-US" sz="1300" dirty="0">
                <a:solidFill>
                  <a:srgbClr val="1F2A37"/>
                </a:solidFill>
                <a:latin typeface="Calibri" pitchFamily="34" charset="0"/>
                <a:cs typeface="Amiri" pitchFamily="2" charset="-78"/>
              </a:rPr>
              <a:t>F3-L01: My Family — Members and Relationships</a:t>
            </a:r>
            <a:endParaRPr lang="en-US" sz="1300" dirty="0"/>
          </a:p>
        </p:txBody>
      </p:sp>
      <p:sp>
        <p:nvSpPr>
          <p:cNvPr id="21" name="Shape 18"/>
          <p:cNvSpPr/>
          <p:nvPr/>
        </p:nvSpPr>
        <p:spPr>
          <a:xfrm>
            <a:off x="685800" y="3291840"/>
            <a:ext cx="365760" cy="365760"/>
          </a:xfrm>
          <a:prstGeom prst="ellipse">
            <a:avLst/>
          </a:prstGeom>
          <a:solidFill>
            <a:srgbClr val="1B3B6F"/>
          </a:solidFill>
          <a:ln w="12700">
            <a:solidFill>
              <a:srgbClr val="1B3B6F"/>
            </a:solidFill>
            <a:prstDash val="solid"/>
          </a:ln>
        </p:spPr>
      </p:sp>
      <p:sp>
        <p:nvSpPr>
          <p:cNvPr id="22" name="Text 19"/>
          <p:cNvSpPr txBox="1"/>
          <p:nvPr/>
        </p:nvSpPr>
        <p:spPr>
          <a:xfrm>
            <a:off x="685800" y="3291840"/>
            <a:ext cx="365760" cy="365760"/>
          </a:xfrm>
          <a:prstGeom prst="rect">
            <a:avLst/>
          </a:prstGeom>
          <a:noFill/>
          <a:ln/>
        </p:spPr>
        <p:txBody>
          <a:bodyPr wrap="square" lIns="0" tIns="0" rIns="0" bIns="0" rtlCol="0" anchor="ctr"/>
          <a:lstStyle/>
          <a:p>
            <a:pPr algn="ctr" indent="0" marL="0">
              <a:buNone/>
            </a:pPr>
            <a:r>
              <a:rPr lang="en-US" sz="1200" b="1" dirty="0">
                <a:solidFill>
                  <a:srgbClr val="D4AF37"/>
                </a:solidFill>
                <a:latin typeface="Calibri" pitchFamily="34" charset="0"/>
                <a:cs typeface="Amiri" pitchFamily="2" charset="-78"/>
              </a:rPr>
              <a:t>2</a:t>
            </a:r>
            <a:endParaRPr lang="en-US" sz="1200" dirty="0"/>
          </a:p>
        </p:txBody>
      </p:sp>
      <p:sp>
        <p:nvSpPr>
          <p:cNvPr id="23" name="Text 20"/>
          <p:cNvSpPr txBox="1"/>
          <p:nvPr/>
        </p:nvSpPr>
        <p:spPr>
          <a:xfrm>
            <a:off x="1188720" y="3182112"/>
            <a:ext cx="3749040" cy="841248"/>
          </a:xfrm>
          <a:prstGeom prst="rect">
            <a:avLst/>
          </a:prstGeom>
          <a:noFill/>
          <a:ln/>
        </p:spPr>
        <p:txBody>
          <a:bodyPr wrap="square" lIns="0" tIns="0" rIns="0" bIns="0" rtlCol="0" anchor="ctr"/>
          <a:lstStyle/>
          <a:p>
            <a:pPr algn="l" indent="0" marL="0">
              <a:buNone/>
            </a:pPr>
            <a:r>
              <a:rPr lang="en-US" sz="1300" dirty="0">
                <a:solidFill>
                  <a:srgbClr val="1F2A37"/>
                </a:solidFill>
                <a:latin typeface="Calibri" pitchFamily="34" charset="0"/>
                <a:cs typeface="Amiri" pitchFamily="2" charset="-78"/>
              </a:rPr>
              <a:t>F3-L02: Describing Family Members</a:t>
            </a:r>
            <a:endParaRPr lang="en-US" sz="1300" dirty="0"/>
          </a:p>
        </p:txBody>
      </p:sp>
      <p:sp>
        <p:nvSpPr>
          <p:cNvPr id="24" name="Shape 21"/>
          <p:cNvSpPr/>
          <p:nvPr/>
        </p:nvSpPr>
        <p:spPr>
          <a:xfrm>
            <a:off x="685800" y="4187952"/>
            <a:ext cx="365760" cy="365760"/>
          </a:xfrm>
          <a:prstGeom prst="ellipse">
            <a:avLst/>
          </a:prstGeom>
          <a:solidFill>
            <a:srgbClr val="1B3B6F"/>
          </a:solidFill>
          <a:ln w="12700">
            <a:solidFill>
              <a:srgbClr val="1B3B6F"/>
            </a:solidFill>
            <a:prstDash val="solid"/>
          </a:ln>
        </p:spPr>
      </p:sp>
      <p:sp>
        <p:nvSpPr>
          <p:cNvPr id="25" name="Text 22"/>
          <p:cNvSpPr txBox="1"/>
          <p:nvPr/>
        </p:nvSpPr>
        <p:spPr>
          <a:xfrm>
            <a:off x="685800" y="4187952"/>
            <a:ext cx="365760" cy="365760"/>
          </a:xfrm>
          <a:prstGeom prst="rect">
            <a:avLst/>
          </a:prstGeom>
          <a:noFill/>
          <a:ln/>
        </p:spPr>
        <p:txBody>
          <a:bodyPr wrap="square" lIns="0" tIns="0" rIns="0" bIns="0" rtlCol="0" anchor="ctr"/>
          <a:lstStyle/>
          <a:p>
            <a:pPr algn="ctr" indent="0" marL="0">
              <a:buNone/>
            </a:pPr>
            <a:r>
              <a:rPr lang="en-US" sz="1200" b="1" dirty="0">
                <a:solidFill>
                  <a:srgbClr val="D4AF37"/>
                </a:solidFill>
                <a:latin typeface="Calibri" pitchFamily="34" charset="0"/>
                <a:cs typeface="Amiri" pitchFamily="2" charset="-78"/>
              </a:rPr>
              <a:t>3</a:t>
            </a:r>
            <a:endParaRPr lang="en-US" sz="1200" dirty="0"/>
          </a:p>
        </p:txBody>
      </p:sp>
      <p:sp>
        <p:nvSpPr>
          <p:cNvPr id="26" name="Text 23"/>
          <p:cNvSpPr txBox="1"/>
          <p:nvPr/>
        </p:nvSpPr>
        <p:spPr>
          <a:xfrm>
            <a:off x="1188720" y="4078224"/>
            <a:ext cx="3749040" cy="841248"/>
          </a:xfrm>
          <a:prstGeom prst="rect">
            <a:avLst/>
          </a:prstGeom>
          <a:noFill/>
          <a:ln/>
        </p:spPr>
        <p:txBody>
          <a:bodyPr wrap="square" lIns="0" tIns="0" rIns="0" bIns="0" rtlCol="0" anchor="ctr"/>
          <a:lstStyle/>
          <a:p>
            <a:pPr algn="l" indent="0" marL="0">
              <a:buNone/>
            </a:pPr>
            <a:r>
              <a:rPr lang="en-US" sz="1300" dirty="0">
                <a:solidFill>
                  <a:srgbClr val="1F2A37"/>
                </a:solidFill>
                <a:latin typeface="Calibri" pitchFamily="34" charset="0"/>
                <a:cs typeface="Amiri" pitchFamily="2" charset="-78"/>
              </a:rPr>
              <a:t>Apply both: showing photos to a new friend · A page in our family photo album</a:t>
            </a:r>
            <a:endParaRPr lang="en-US" sz="1300" dirty="0"/>
          </a:p>
        </p:txBody>
      </p:sp>
      <p:sp>
        <p:nvSpPr>
          <p:cNvPr id="27" name="Shape 24"/>
          <p:cNvSpPr/>
          <p:nvPr/>
        </p:nvSpPr>
        <p:spPr>
          <a:xfrm>
            <a:off x="5349240" y="1810512"/>
            <a:ext cx="6382512" cy="1353312"/>
          </a:xfrm>
          <a:prstGeom prst="roundRect">
            <a:avLst>
              <a:gd name="adj" fmla="val 5405"/>
            </a:avLst>
          </a:prstGeom>
          <a:solidFill>
            <a:srgbClr val="E9F5EE"/>
          </a:solidFill>
          <a:ln w="9525">
            <a:solidFill>
              <a:srgbClr val="2E8B57"/>
            </a:solidFill>
            <a:prstDash val="solid"/>
          </a:ln>
        </p:spPr>
      </p:sp>
      <p:sp>
        <p:nvSpPr>
          <p:cNvPr id="28" name="Shape 25"/>
          <p:cNvSpPr/>
          <p:nvPr/>
        </p:nvSpPr>
        <p:spPr>
          <a:xfrm>
            <a:off x="5532120" y="1947672"/>
            <a:ext cx="1143000" cy="292608"/>
          </a:xfrm>
          <a:prstGeom prst="roundRect">
            <a:avLst>
              <a:gd name="adj" fmla="val 50000"/>
            </a:avLst>
          </a:prstGeom>
          <a:solidFill>
            <a:srgbClr val="2E8B57"/>
          </a:solidFill>
          <a:ln w="12700">
            <a:solidFill>
              <a:srgbClr val="2E8B57"/>
            </a:solidFill>
            <a:prstDash val="solid"/>
          </a:ln>
        </p:spPr>
      </p:sp>
      <p:sp>
        <p:nvSpPr>
          <p:cNvPr id="29" name="Text 26"/>
          <p:cNvSpPr txBox="1"/>
          <p:nvPr/>
        </p:nvSpPr>
        <p:spPr>
          <a:xfrm>
            <a:off x="5532120" y="1947672"/>
            <a:ext cx="1143000" cy="292608"/>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CORE</a:t>
            </a:r>
            <a:endParaRPr lang="en-US" sz="950" dirty="0"/>
          </a:p>
        </p:txBody>
      </p:sp>
      <p:sp>
        <p:nvSpPr>
          <p:cNvPr id="30" name="Text 27"/>
          <p:cNvSpPr txBox="1"/>
          <p:nvPr/>
        </p:nvSpPr>
        <p:spPr>
          <a:xfrm>
            <a:off x="6766560" y="1947672"/>
            <a:ext cx="1828800" cy="292608"/>
          </a:xfrm>
          <a:prstGeom prst="rect">
            <a:avLst/>
          </a:prstGeom>
          <a:noFill/>
          <a:ln/>
        </p:spPr>
        <p:txBody>
          <a:bodyPr wrap="square" lIns="0" tIns="0" rIns="0" bIns="0" rtlCol="0" anchor="ctr"/>
          <a:lstStyle/>
          <a:p>
            <a:pPr algn="l" indent="0" marL="0">
              <a:buNone/>
            </a:pPr>
            <a:r>
              <a:rPr lang="en-US" sz="1050" b="1" i="1" dirty="0">
                <a:solidFill>
                  <a:srgbClr val="2E8B57"/>
                </a:solidFill>
                <a:latin typeface="Calibri" pitchFamily="34" charset="0"/>
                <a:cs typeface="Amiri" pitchFamily="2" charset="-78"/>
              </a:rPr>
              <a:t>Everyone</a:t>
            </a:r>
            <a:endParaRPr lang="en-US" sz="1050" dirty="0"/>
          </a:p>
        </p:txBody>
      </p:sp>
      <p:sp>
        <p:nvSpPr>
          <p:cNvPr id="31" name="Text 28"/>
          <p:cNvSpPr txBox="1"/>
          <p:nvPr/>
        </p:nvSpPr>
        <p:spPr>
          <a:xfrm>
            <a:off x="5532120" y="2286000"/>
            <a:ext cx="6016752" cy="393192"/>
          </a:xfrm>
          <a:prstGeom prst="rect">
            <a:avLst/>
          </a:prstGeom>
          <a:noFill/>
          <a:ln/>
        </p:spPr>
        <p:txBody>
          <a:bodyPr wrap="square" lIns="0" tIns="0" rIns="0" bIns="0" rtlCol="0" anchor="ctr"/>
          <a:lstStyle/>
          <a:p>
            <a:pPr algn="l" indent="0" marL="0">
              <a:buNone/>
            </a:pPr>
            <a:r>
              <a:rPr lang="en-US" sz="1300" b="1" dirty="0">
                <a:solidFill>
                  <a:srgbClr val="2E8B57"/>
                </a:solidFill>
                <a:latin typeface="Calibri" pitchFamily="34" charset="0"/>
                <a:cs typeface="Amiri" pitchFamily="2" charset="-78"/>
              </a:rPr>
              <a:t>☐  Answer questions from BOTH lessons in full sentences.</a:t>
            </a:r>
            <a:endParaRPr lang="en-US" sz="1300" dirty="0"/>
          </a:p>
        </p:txBody>
      </p:sp>
      <p:sp>
        <p:nvSpPr>
          <p:cNvPr id="32" name="Text 29"/>
          <p:cNvSpPr txBox="1"/>
          <p:nvPr/>
        </p:nvSpPr>
        <p:spPr>
          <a:xfrm>
            <a:off x="5532120" y="2697480"/>
            <a:ext cx="6016752" cy="393192"/>
          </a:xfrm>
          <a:prstGeom prst="rect">
            <a:avLst/>
          </a:prstGeom>
          <a:noFill/>
          <a:ln/>
        </p:spPr>
        <p:txBody>
          <a:bodyPr wrap="square" lIns="0" tIns="0" rIns="0" bIns="0" rtlCol="0" anchor="ctr"/>
          <a:lstStyle/>
          <a:p>
            <a:pPr algn="l" indent="0" marL="0">
              <a:buNone/>
            </a:pPr>
            <a:r>
              <a:rPr lang="en-US" sz="1300" b="1" dirty="0">
                <a:solidFill>
                  <a:srgbClr val="2E8B57"/>
                </a:solidFill>
                <a:latin typeface="Calibri" pitchFamily="34" charset="0"/>
                <a:cs typeface="Amiri" pitchFamily="2" charset="-78"/>
              </a:rPr>
              <a:t>☐  Write the text using the frames.</a:t>
            </a:r>
            <a:endParaRPr lang="en-US" sz="1300" dirty="0"/>
          </a:p>
        </p:txBody>
      </p:sp>
      <p:sp>
        <p:nvSpPr>
          <p:cNvPr id="33" name="Shape 30"/>
          <p:cNvSpPr/>
          <p:nvPr/>
        </p:nvSpPr>
        <p:spPr>
          <a:xfrm>
            <a:off x="5349240" y="3273552"/>
            <a:ext cx="6382512" cy="1353312"/>
          </a:xfrm>
          <a:prstGeom prst="roundRect">
            <a:avLst>
              <a:gd name="adj" fmla="val 5405"/>
            </a:avLst>
          </a:prstGeom>
          <a:solidFill>
            <a:srgbClr val="FCF1E0"/>
          </a:solidFill>
          <a:ln w="9525">
            <a:solidFill>
              <a:srgbClr val="C9780A"/>
            </a:solidFill>
            <a:prstDash val="solid"/>
          </a:ln>
        </p:spPr>
      </p:sp>
      <p:sp>
        <p:nvSpPr>
          <p:cNvPr id="34" name="Shape 31"/>
          <p:cNvSpPr/>
          <p:nvPr/>
        </p:nvSpPr>
        <p:spPr>
          <a:xfrm>
            <a:off x="5532120" y="3410712"/>
            <a:ext cx="1143000" cy="292608"/>
          </a:xfrm>
          <a:prstGeom prst="roundRect">
            <a:avLst>
              <a:gd name="adj" fmla="val 50000"/>
            </a:avLst>
          </a:prstGeom>
          <a:solidFill>
            <a:srgbClr val="C9780A"/>
          </a:solidFill>
          <a:ln w="12700">
            <a:solidFill>
              <a:srgbClr val="C9780A"/>
            </a:solidFill>
            <a:prstDash val="solid"/>
          </a:ln>
        </p:spPr>
      </p:sp>
      <p:sp>
        <p:nvSpPr>
          <p:cNvPr id="35" name="Text 32"/>
          <p:cNvSpPr txBox="1"/>
          <p:nvPr/>
        </p:nvSpPr>
        <p:spPr>
          <a:xfrm>
            <a:off x="5532120" y="3410712"/>
            <a:ext cx="1143000" cy="292608"/>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DEVELOP</a:t>
            </a:r>
            <a:endParaRPr lang="en-US" sz="950" dirty="0"/>
          </a:p>
        </p:txBody>
      </p:sp>
      <p:sp>
        <p:nvSpPr>
          <p:cNvPr id="36" name="Text 33"/>
          <p:cNvSpPr txBox="1"/>
          <p:nvPr/>
        </p:nvSpPr>
        <p:spPr>
          <a:xfrm>
            <a:off x="6766560" y="3410712"/>
            <a:ext cx="1828800" cy="292608"/>
          </a:xfrm>
          <a:prstGeom prst="rect">
            <a:avLst/>
          </a:prstGeom>
          <a:noFill/>
          <a:ln/>
        </p:spPr>
        <p:txBody>
          <a:bodyPr wrap="square" lIns="0" tIns="0" rIns="0" bIns="0" rtlCol="0" anchor="ctr"/>
          <a:lstStyle/>
          <a:p>
            <a:pPr algn="l" indent="0" marL="0">
              <a:buNone/>
            </a:pPr>
            <a:r>
              <a:rPr lang="en-US" sz="1050" b="1" i="1" dirty="0">
                <a:solidFill>
                  <a:srgbClr val="C9780A"/>
                </a:solidFill>
                <a:latin typeface="Calibri" pitchFamily="34" charset="0"/>
                <a:cs typeface="Amiri" pitchFamily="2" charset="-78"/>
              </a:rPr>
              <a:t>Most of us</a:t>
            </a:r>
            <a:endParaRPr lang="en-US" sz="1050" dirty="0"/>
          </a:p>
        </p:txBody>
      </p:sp>
      <p:sp>
        <p:nvSpPr>
          <p:cNvPr id="37" name="Text 34"/>
          <p:cNvSpPr txBox="1"/>
          <p:nvPr/>
        </p:nvSpPr>
        <p:spPr>
          <a:xfrm>
            <a:off x="5532120" y="3749040"/>
            <a:ext cx="6016752" cy="393192"/>
          </a:xfrm>
          <a:prstGeom prst="rect">
            <a:avLst/>
          </a:prstGeom>
          <a:noFill/>
          <a:ln/>
        </p:spPr>
        <p:txBody>
          <a:bodyPr wrap="square" lIns="0" tIns="0" rIns="0" bIns="0" rtlCol="0" anchor="ctr"/>
          <a:lstStyle/>
          <a:p>
            <a:pPr algn="l" indent="0" marL="0">
              <a:buNone/>
            </a:pPr>
            <a:r>
              <a:rPr lang="en-US" sz="1300" b="1" dirty="0">
                <a:solidFill>
                  <a:srgbClr val="C9780A"/>
                </a:solidFill>
                <a:latin typeface="Calibri" pitchFamily="34" charset="0"/>
                <a:cs typeface="Amiri" pitchFamily="2" charset="-78"/>
              </a:rPr>
              <a:t>☐  Join both lessons in one conversation and a 30–45 seconds talk.</a:t>
            </a:r>
            <a:endParaRPr lang="en-US" sz="1300" dirty="0"/>
          </a:p>
        </p:txBody>
      </p:sp>
      <p:sp>
        <p:nvSpPr>
          <p:cNvPr id="38" name="Text 35"/>
          <p:cNvSpPr txBox="1"/>
          <p:nvPr/>
        </p:nvSpPr>
        <p:spPr>
          <a:xfrm>
            <a:off x="5532120" y="4160520"/>
            <a:ext cx="6016752" cy="393192"/>
          </a:xfrm>
          <a:prstGeom prst="rect">
            <a:avLst/>
          </a:prstGeom>
          <a:noFill/>
          <a:ln/>
        </p:spPr>
        <p:txBody>
          <a:bodyPr wrap="square" lIns="0" tIns="0" rIns="0" bIns="0" rtlCol="0" anchor="ctr"/>
          <a:lstStyle/>
          <a:p>
            <a:pPr algn="l" indent="0" marL="0">
              <a:buNone/>
            </a:pPr>
            <a:r>
              <a:rPr lang="en-US" sz="1300" b="1" dirty="0">
                <a:solidFill>
                  <a:srgbClr val="C9780A"/>
                </a:solidFill>
                <a:latin typeface="Calibri" pitchFamily="34" charset="0"/>
                <a:cs typeface="Amiri" pitchFamily="2" charset="-78"/>
              </a:rPr>
              <a:t>☐  Write the text, frames only if stuck.</a:t>
            </a:r>
            <a:endParaRPr lang="en-US" sz="1300" dirty="0"/>
          </a:p>
        </p:txBody>
      </p:sp>
      <p:sp>
        <p:nvSpPr>
          <p:cNvPr id="39" name="Shape 36"/>
          <p:cNvSpPr/>
          <p:nvPr/>
        </p:nvSpPr>
        <p:spPr>
          <a:xfrm>
            <a:off x="5349240" y="4736592"/>
            <a:ext cx="6382512" cy="1353312"/>
          </a:xfrm>
          <a:prstGeom prst="roundRect">
            <a:avLst>
              <a:gd name="adj" fmla="val 5405"/>
            </a:avLst>
          </a:prstGeom>
          <a:solidFill>
            <a:srgbClr val="FBEAEA"/>
          </a:solidFill>
          <a:ln w="9525">
            <a:solidFill>
              <a:srgbClr val="B83227"/>
            </a:solidFill>
            <a:prstDash val="solid"/>
          </a:ln>
        </p:spPr>
      </p:sp>
      <p:sp>
        <p:nvSpPr>
          <p:cNvPr id="40" name="Shape 37"/>
          <p:cNvSpPr/>
          <p:nvPr/>
        </p:nvSpPr>
        <p:spPr>
          <a:xfrm>
            <a:off x="5532120" y="4873752"/>
            <a:ext cx="1143000" cy="292608"/>
          </a:xfrm>
          <a:prstGeom prst="roundRect">
            <a:avLst>
              <a:gd name="adj" fmla="val 50000"/>
            </a:avLst>
          </a:prstGeom>
          <a:solidFill>
            <a:srgbClr val="B83227"/>
          </a:solidFill>
          <a:ln w="12700">
            <a:solidFill>
              <a:srgbClr val="B83227"/>
            </a:solidFill>
            <a:prstDash val="solid"/>
          </a:ln>
        </p:spPr>
      </p:sp>
      <p:sp>
        <p:nvSpPr>
          <p:cNvPr id="41" name="Text 38"/>
          <p:cNvSpPr txBox="1"/>
          <p:nvPr/>
        </p:nvSpPr>
        <p:spPr>
          <a:xfrm>
            <a:off x="5532120" y="4873752"/>
            <a:ext cx="1143000" cy="292608"/>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STRETCH</a:t>
            </a:r>
            <a:endParaRPr lang="en-US" sz="950" dirty="0"/>
          </a:p>
        </p:txBody>
      </p:sp>
      <p:sp>
        <p:nvSpPr>
          <p:cNvPr id="42" name="Text 39"/>
          <p:cNvSpPr txBox="1"/>
          <p:nvPr/>
        </p:nvSpPr>
        <p:spPr>
          <a:xfrm>
            <a:off x="6766560" y="4873752"/>
            <a:ext cx="1828800" cy="292608"/>
          </a:xfrm>
          <a:prstGeom prst="rect">
            <a:avLst/>
          </a:prstGeom>
          <a:noFill/>
          <a:ln/>
        </p:spPr>
        <p:txBody>
          <a:bodyPr wrap="square" lIns="0" tIns="0" rIns="0" bIns="0" rtlCol="0" anchor="ctr"/>
          <a:lstStyle/>
          <a:p>
            <a:pPr algn="l" indent="0" marL="0">
              <a:buNone/>
            </a:pPr>
            <a:r>
              <a:rPr lang="en-US" sz="1050" b="1" i="1" dirty="0">
                <a:solidFill>
                  <a:srgbClr val="B83227"/>
                </a:solidFill>
                <a:latin typeface="Calibri" pitchFamily="34" charset="0"/>
                <a:cs typeface="Amiri" pitchFamily="2" charset="-78"/>
              </a:rPr>
              <a:t>Aim high</a:t>
            </a:r>
            <a:endParaRPr lang="en-US" sz="1050" dirty="0"/>
          </a:p>
        </p:txBody>
      </p:sp>
      <p:sp>
        <p:nvSpPr>
          <p:cNvPr id="43" name="Text 40"/>
          <p:cNvSpPr txBox="1"/>
          <p:nvPr/>
        </p:nvSpPr>
        <p:spPr>
          <a:xfrm>
            <a:off x="5532120" y="5212080"/>
            <a:ext cx="6016752" cy="393192"/>
          </a:xfrm>
          <a:prstGeom prst="rect">
            <a:avLst/>
          </a:prstGeom>
          <a:noFill/>
          <a:ln/>
        </p:spPr>
        <p:txBody>
          <a:bodyPr wrap="square" lIns="0" tIns="0" rIns="0" bIns="0" rtlCol="0" anchor="ctr"/>
          <a:lstStyle/>
          <a:p>
            <a:pPr algn="l" indent="0" marL="0">
              <a:buNone/>
            </a:pPr>
            <a:r>
              <a:rPr lang="en-US" sz="1300" b="1" dirty="0">
                <a:solidFill>
                  <a:srgbClr val="B83227"/>
                </a:solidFill>
                <a:latin typeface="Calibri" pitchFamily="34" charset="0"/>
                <a:cs typeface="Amiri" pitchFamily="2" charset="-78"/>
              </a:rPr>
              <a:t>☐  Speak without notes; add reasons and opinions.</a:t>
            </a:r>
            <a:endParaRPr lang="en-US" sz="1300" dirty="0"/>
          </a:p>
        </p:txBody>
      </p:sp>
      <p:sp>
        <p:nvSpPr>
          <p:cNvPr id="44" name="Text 41"/>
          <p:cNvSpPr txBox="1"/>
          <p:nvPr/>
        </p:nvSpPr>
        <p:spPr>
          <a:xfrm>
            <a:off x="5532120" y="5623560"/>
            <a:ext cx="6016752" cy="393192"/>
          </a:xfrm>
          <a:prstGeom prst="rect">
            <a:avLst/>
          </a:prstGeom>
          <a:noFill/>
          <a:ln/>
        </p:spPr>
        <p:txBody>
          <a:bodyPr wrap="square" lIns="0" tIns="0" rIns="0" bIns="0" rtlCol="0" anchor="ctr"/>
          <a:lstStyle/>
          <a:p>
            <a:pPr algn="l" indent="0" marL="0">
              <a:buNone/>
            </a:pPr>
            <a:r>
              <a:rPr lang="en-US" sz="1300" b="1" dirty="0">
                <a:solidFill>
                  <a:srgbClr val="B83227"/>
                </a:solidFill>
                <a:latin typeface="Calibri" pitchFamily="34" charset="0"/>
                <a:cs typeface="Amiri" pitchFamily="2" charset="-78"/>
              </a:rPr>
              <a:t>☐  Add a reason (</a:t>
            </a:r>
            <a:pPr algn="l" indent="0" marL="0">
              <a:buNone/>
            </a:pPr>
            <a:r>
              <a:rPr lang="ar-SA" altLang="en-US" sz="1700" b="1" dirty="0">
                <a:solidFill>
                  <a:srgbClr val="B83227"/>
                </a:solidFill>
                <a:latin typeface="Amiri" pitchFamily="2" charset="-78"/>
                <a:ea typeface="Amiri" pitchFamily="2" charset="-78"/>
                <a:cs typeface="Amiri" pitchFamily="2" charset="-78"/>
              </a:rPr>
              <a:t>لِأَنَّ</a:t>
            </a:r>
            <a:pPr algn="l" indent="0" marL="0">
              <a:buNone/>
            </a:pPr>
            <a:r>
              <a:rPr lang="en-US" sz="1300" b="1" dirty="0">
                <a:solidFill>
                  <a:srgbClr val="B83227"/>
                </a:solidFill>
                <a:latin typeface="Calibri" pitchFamily="34" charset="0"/>
                <a:cs typeface="Amiri" pitchFamily="2" charset="-78"/>
              </a:rPr>
              <a:t>) and an extra detail to every point.</a:t>
            </a:r>
            <a:endParaRPr lang="en-US" sz="1300" dirty="0"/>
          </a:p>
        </p:txBody>
      </p:sp>
      <p:sp>
        <p:nvSpPr>
          <p:cNvPr id="45" name="Text 42"/>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4 / 24</a:t>
            </a:r>
            <a:endParaRPr lang="en-US" sz="850" dirty="0"/>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F3-W01 · Apply workshop</a:t>
            </a:r>
            <a:endParaRPr lang="en-US" sz="950" dirty="0"/>
          </a:p>
        </p:txBody>
      </p:sp>
      <p:sp>
        <p:nvSpPr>
          <p:cNvPr id="8" name="Shape 6"/>
          <p:cNvSpPr/>
          <p:nvPr/>
        </p:nvSpPr>
        <p:spPr>
          <a:xfrm>
            <a:off x="7370978" y="274320"/>
            <a:ext cx="1388974" cy="329184"/>
          </a:xfrm>
          <a:prstGeom prst="roundRect">
            <a:avLst>
              <a:gd name="adj" fmla="val 50000"/>
            </a:avLst>
          </a:prstGeom>
          <a:solidFill>
            <a:srgbClr val="2F6FB0"/>
          </a:solidFill>
          <a:ln w="12700">
            <a:solidFill>
              <a:srgbClr val="2F6FB0"/>
            </a:solidFill>
            <a:prstDash val="solid"/>
          </a:ln>
        </p:spPr>
      </p:sp>
      <p:sp>
        <p:nvSpPr>
          <p:cNvPr id="9" name="Text 7"/>
          <p:cNvSpPr txBox="1"/>
          <p:nvPr/>
        </p:nvSpPr>
        <p:spPr>
          <a:xfrm>
            <a:off x="7370978" y="274320"/>
            <a:ext cx="1388974"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WE DO · 4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2F6FB0"/>
                </a:solidFill>
                <a:latin typeface="Calibri" pitchFamily="34" charset="0"/>
                <a:cs typeface="Amiri" pitchFamily="2" charset="-78"/>
              </a:rPr>
              <a:t>PART 1 · STEP 1 · WORD RACE · 4 MINUTES</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Word race: two lessons, one race</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سِبَاقُ الكَلِمَاتِ</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Foundation F3 · My Family &amp; Home · F3-W01 · Apply workshop (F3-L01 + F3-L02)</a:t>
            </a:r>
            <a:endParaRPr lang="en-US" sz="850" dirty="0"/>
          </a:p>
        </p:txBody>
      </p:sp>
      <p:sp>
        <p:nvSpPr>
          <p:cNvPr id="15" name="Shape 12"/>
          <p:cNvSpPr/>
          <p:nvPr/>
        </p:nvSpPr>
        <p:spPr>
          <a:xfrm>
            <a:off x="457200" y="1810512"/>
            <a:ext cx="5715000" cy="4498848"/>
          </a:xfrm>
          <a:prstGeom prst="roundRect">
            <a:avLst>
              <a:gd name="adj" fmla="val 1626"/>
            </a:avLst>
          </a:prstGeom>
          <a:solidFill>
            <a:srgbClr val="F4F1EA"/>
          </a:solidFill>
          <a:ln w="9525">
            <a:solidFill>
              <a:srgbClr val="E8D49A"/>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640080" y="1920240"/>
            <a:ext cx="3108960" cy="292608"/>
          </a:xfrm>
          <a:prstGeom prst="roundRect">
            <a:avLst>
              <a:gd name="adj" fmla="val 50000"/>
            </a:avLst>
          </a:prstGeom>
          <a:solidFill>
            <a:srgbClr val="8A6D1E"/>
          </a:solidFill>
          <a:ln w="12700">
            <a:solidFill>
              <a:srgbClr val="8A6D1E"/>
            </a:solidFill>
            <a:prstDash val="solid"/>
          </a:ln>
        </p:spPr>
      </p:sp>
      <p:sp>
        <p:nvSpPr>
          <p:cNvPr id="17" name="Text 14"/>
          <p:cNvSpPr txBox="1"/>
          <p:nvPr/>
        </p:nvSpPr>
        <p:spPr>
          <a:xfrm>
            <a:off x="640080" y="1920240"/>
            <a:ext cx="3108960" cy="292608"/>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STEP 1 · PAIRS</a:t>
            </a:r>
            <a:endParaRPr lang="en-US" sz="900" dirty="0"/>
          </a:p>
        </p:txBody>
      </p:sp>
      <p:sp>
        <p:nvSpPr>
          <p:cNvPr id="18" name="Text 15"/>
          <p:cNvSpPr txBox="1"/>
          <p:nvPr/>
        </p:nvSpPr>
        <p:spPr>
          <a:xfrm>
            <a:off x="640080" y="2286000"/>
            <a:ext cx="5349240" cy="502920"/>
          </a:xfrm>
          <a:prstGeom prst="rect">
            <a:avLst/>
          </a:prstGeom>
          <a:noFill/>
          <a:ln/>
        </p:spPr>
        <p:txBody>
          <a:bodyPr wrap="square" lIns="0" tIns="0" rIns="0" bIns="0" rtlCol="0" anchor="ctr"/>
          <a:lstStyle/>
          <a:p>
            <a:pPr algn="l" indent="0" marL="0">
              <a:buNone/>
            </a:pPr>
            <a:r>
              <a:rPr lang="en-US" sz="2200" b="1" dirty="0">
                <a:solidFill>
                  <a:srgbClr val="1B3B6F"/>
                </a:solidFill>
                <a:latin typeface="Calibri" pitchFamily="34" charset="0"/>
                <a:cs typeface="Amiri" pitchFamily="2" charset="-78"/>
              </a:rPr>
              <a:t>🏁  English → Arabic, from both lessons</a:t>
            </a:r>
            <a:endParaRPr lang="en-US" sz="2200" dirty="0"/>
          </a:p>
        </p:txBody>
      </p:sp>
      <p:sp>
        <p:nvSpPr>
          <p:cNvPr id="19" name="Text 16"/>
          <p:cNvSpPr txBox="1"/>
          <p:nvPr/>
        </p:nvSpPr>
        <p:spPr>
          <a:xfrm>
            <a:off x="640080" y="2816352"/>
            <a:ext cx="5349240" cy="1188720"/>
          </a:xfrm>
          <a:prstGeom prst="rect">
            <a:avLst/>
          </a:prstGeom>
          <a:noFill/>
          <a:ln/>
        </p:spPr>
        <p:txBody>
          <a:bodyPr wrap="square" lIns="0" tIns="0" rIns="0" bIns="0" rtlCol="0" anchor="t"/>
          <a:lstStyle/>
          <a:p>
            <a:pPr algn="l" indent="0" marL="0">
              <a:buNone/>
            </a:pPr>
            <a:r>
              <a:rPr lang="en-US" sz="1350" dirty="0">
                <a:solidFill>
                  <a:srgbClr val="1F2A37"/>
                </a:solidFill>
                <a:latin typeface="Calibri" pitchFamily="34" charset="0"/>
                <a:cs typeface="Amiri" pitchFamily="2" charset="-78"/>
              </a:rPr>
              <a:t>The next two slides show words from F3-L01 and F3-L02. Partner A says a word in ENGLISH; Partner B says it in ARABIC. One point for every correct answer in 90 seconds — then swap.</a:t>
            </a:r>
            <a:endParaRPr lang="en-US" sz="1350" dirty="0"/>
          </a:p>
        </p:txBody>
      </p:sp>
      <p:sp>
        <p:nvSpPr>
          <p:cNvPr id="20" name="Text 17"/>
          <p:cNvSpPr txBox="1"/>
          <p:nvPr/>
        </p:nvSpPr>
        <p:spPr>
          <a:xfrm>
            <a:off x="640080" y="4041648"/>
            <a:ext cx="5303520" cy="256032"/>
          </a:xfrm>
          <a:prstGeom prst="rect">
            <a:avLst/>
          </a:prstGeom>
          <a:noFill/>
          <a:ln/>
        </p:spPr>
        <p:txBody>
          <a:bodyPr wrap="square" lIns="0" tIns="0" rIns="0" bIns="0" rtlCol="0" anchor="ctr"/>
          <a:lstStyle/>
          <a:p>
            <a:pPr algn="l" indent="0" marL="0">
              <a:buNone/>
            </a:pPr>
            <a:r>
              <a:rPr lang="en-US" sz="950" b="1" spc="200" kern="0" dirty="0">
                <a:solidFill>
                  <a:srgbClr val="8A6D1E"/>
                </a:solidFill>
                <a:latin typeface="Calibri" pitchFamily="34" charset="0"/>
                <a:cs typeface="Amiri" pitchFamily="2" charset="-78"/>
              </a:rPr>
              <a:t>HOW WE RUN IT ONLINE</a:t>
            </a:r>
            <a:endParaRPr lang="en-US" sz="950" dirty="0"/>
          </a:p>
        </p:txBody>
      </p:sp>
      <p:sp>
        <p:nvSpPr>
          <p:cNvPr id="21" name="Shape 18"/>
          <p:cNvSpPr/>
          <p:nvPr/>
        </p:nvSpPr>
        <p:spPr>
          <a:xfrm>
            <a:off x="658368" y="4407408"/>
            <a:ext cx="274320" cy="274320"/>
          </a:xfrm>
          <a:prstGeom prst="ellipse">
            <a:avLst/>
          </a:prstGeom>
          <a:solidFill>
            <a:srgbClr val="1B3B6F"/>
          </a:solidFill>
          <a:ln w="12700">
            <a:solidFill>
              <a:srgbClr val="1B3B6F"/>
            </a:solidFill>
            <a:prstDash val="solid"/>
          </a:ln>
        </p:spPr>
      </p:sp>
      <p:sp>
        <p:nvSpPr>
          <p:cNvPr id="22" name="Text 19"/>
          <p:cNvSpPr txBox="1"/>
          <p:nvPr/>
        </p:nvSpPr>
        <p:spPr>
          <a:xfrm>
            <a:off x="658368" y="4407408"/>
            <a:ext cx="274320" cy="274320"/>
          </a:xfrm>
          <a:prstGeom prst="rect">
            <a:avLst/>
          </a:prstGeom>
          <a:noFill/>
          <a:ln/>
        </p:spPr>
        <p:txBody>
          <a:bodyPr wrap="square" lIns="0" tIns="0" rIns="0" bIns="0" rtlCol="0" anchor="ctr"/>
          <a:lstStyle/>
          <a:p>
            <a:pPr algn="ctr" indent="0" marL="0">
              <a:buNone/>
            </a:pPr>
            <a:r>
              <a:rPr lang="en-US" sz="1000" b="1" dirty="0">
                <a:solidFill>
                  <a:srgbClr val="FFFFFF"/>
                </a:solidFill>
                <a:latin typeface="Calibri" pitchFamily="34" charset="0"/>
                <a:cs typeface="Amiri" pitchFamily="2" charset="-78"/>
              </a:rPr>
              <a:t>1</a:t>
            </a:r>
            <a:endParaRPr lang="en-US" sz="1000" dirty="0"/>
          </a:p>
        </p:txBody>
      </p:sp>
      <p:sp>
        <p:nvSpPr>
          <p:cNvPr id="23" name="Text 20"/>
          <p:cNvSpPr txBox="1"/>
          <p:nvPr/>
        </p:nvSpPr>
        <p:spPr>
          <a:xfrm>
            <a:off x="1024128" y="4334256"/>
            <a:ext cx="4983480" cy="457200"/>
          </a:xfrm>
          <a:prstGeom prst="rect">
            <a:avLst/>
          </a:prstGeom>
          <a:noFill/>
          <a:ln/>
        </p:spPr>
        <p:txBody>
          <a:bodyPr wrap="square" lIns="0" tIns="0" rIns="0" bIns="0" rtlCol="0" anchor="ctr"/>
          <a:lstStyle/>
          <a:p>
            <a:pPr algn="l" indent="0" marL="0">
              <a:buNone/>
            </a:pPr>
            <a:r>
              <a:rPr lang="en-US" sz="1150" dirty="0">
                <a:solidFill>
                  <a:srgbClr val="1F2A37"/>
                </a:solidFill>
                <a:latin typeface="Calibri" pitchFamily="34" charset="0"/>
                <a:cs typeface="Amiri" pitchFamily="2" charset="-78"/>
              </a:rPr>
              <a:t>Teacher: first round together (3 words from each slide).</a:t>
            </a:r>
            <a:endParaRPr lang="en-US" sz="1150" dirty="0"/>
          </a:p>
        </p:txBody>
      </p:sp>
      <p:sp>
        <p:nvSpPr>
          <p:cNvPr id="24" name="Shape 21"/>
          <p:cNvSpPr/>
          <p:nvPr/>
        </p:nvSpPr>
        <p:spPr>
          <a:xfrm>
            <a:off x="658368" y="4864608"/>
            <a:ext cx="274320" cy="274320"/>
          </a:xfrm>
          <a:prstGeom prst="ellipse">
            <a:avLst/>
          </a:prstGeom>
          <a:solidFill>
            <a:srgbClr val="1B3B6F"/>
          </a:solidFill>
          <a:ln w="12700">
            <a:solidFill>
              <a:srgbClr val="1B3B6F"/>
            </a:solidFill>
            <a:prstDash val="solid"/>
          </a:ln>
        </p:spPr>
      </p:sp>
      <p:sp>
        <p:nvSpPr>
          <p:cNvPr id="25" name="Text 22"/>
          <p:cNvSpPr txBox="1"/>
          <p:nvPr/>
        </p:nvSpPr>
        <p:spPr>
          <a:xfrm>
            <a:off x="658368" y="4864608"/>
            <a:ext cx="274320" cy="274320"/>
          </a:xfrm>
          <a:prstGeom prst="rect">
            <a:avLst/>
          </a:prstGeom>
          <a:noFill/>
          <a:ln/>
        </p:spPr>
        <p:txBody>
          <a:bodyPr wrap="square" lIns="0" tIns="0" rIns="0" bIns="0" rtlCol="0" anchor="ctr"/>
          <a:lstStyle/>
          <a:p>
            <a:pPr algn="ctr" indent="0" marL="0">
              <a:buNone/>
            </a:pPr>
            <a:r>
              <a:rPr lang="en-US" sz="1000" b="1" dirty="0">
                <a:solidFill>
                  <a:srgbClr val="FFFFFF"/>
                </a:solidFill>
                <a:latin typeface="Calibri" pitchFamily="34" charset="0"/>
                <a:cs typeface="Amiri" pitchFamily="2" charset="-78"/>
              </a:rPr>
              <a:t>2</a:t>
            </a:r>
            <a:endParaRPr lang="en-US" sz="1000" dirty="0"/>
          </a:p>
        </p:txBody>
      </p:sp>
      <p:sp>
        <p:nvSpPr>
          <p:cNvPr id="26" name="Text 23"/>
          <p:cNvSpPr txBox="1"/>
          <p:nvPr/>
        </p:nvSpPr>
        <p:spPr>
          <a:xfrm>
            <a:off x="1024128" y="4791456"/>
            <a:ext cx="4983480" cy="457200"/>
          </a:xfrm>
          <a:prstGeom prst="rect">
            <a:avLst/>
          </a:prstGeom>
          <a:noFill/>
          <a:ln/>
        </p:spPr>
        <p:txBody>
          <a:bodyPr wrap="square" lIns="0" tIns="0" rIns="0" bIns="0" rtlCol="0" anchor="ctr"/>
          <a:lstStyle/>
          <a:p>
            <a:pPr algn="l" indent="0" marL="0">
              <a:buNone/>
            </a:pPr>
            <a:r>
              <a:rPr lang="en-US" sz="1150" dirty="0">
                <a:solidFill>
                  <a:srgbClr val="1F2A37"/>
                </a:solidFill>
                <a:latin typeface="Calibri" pitchFamily="34" charset="0"/>
                <a:cs typeface="Amiri" pitchFamily="2" charset="-78"/>
              </a:rPr>
              <a:t>Pairs: 90 seconds each, as many as you can.</a:t>
            </a:r>
            <a:endParaRPr lang="en-US" sz="1150" dirty="0"/>
          </a:p>
        </p:txBody>
      </p:sp>
      <p:sp>
        <p:nvSpPr>
          <p:cNvPr id="27" name="Shape 24"/>
          <p:cNvSpPr/>
          <p:nvPr/>
        </p:nvSpPr>
        <p:spPr>
          <a:xfrm>
            <a:off x="658368" y="5321808"/>
            <a:ext cx="274320" cy="274320"/>
          </a:xfrm>
          <a:prstGeom prst="ellipse">
            <a:avLst/>
          </a:prstGeom>
          <a:solidFill>
            <a:srgbClr val="1B3B6F"/>
          </a:solidFill>
          <a:ln w="12700">
            <a:solidFill>
              <a:srgbClr val="1B3B6F"/>
            </a:solidFill>
            <a:prstDash val="solid"/>
          </a:ln>
        </p:spPr>
      </p:sp>
      <p:sp>
        <p:nvSpPr>
          <p:cNvPr id="28" name="Text 25"/>
          <p:cNvSpPr txBox="1"/>
          <p:nvPr/>
        </p:nvSpPr>
        <p:spPr>
          <a:xfrm>
            <a:off x="658368" y="5321808"/>
            <a:ext cx="274320" cy="274320"/>
          </a:xfrm>
          <a:prstGeom prst="rect">
            <a:avLst/>
          </a:prstGeom>
          <a:noFill/>
          <a:ln/>
        </p:spPr>
        <p:txBody>
          <a:bodyPr wrap="square" lIns="0" tIns="0" rIns="0" bIns="0" rtlCol="0" anchor="ctr"/>
          <a:lstStyle/>
          <a:p>
            <a:pPr algn="ctr" indent="0" marL="0">
              <a:buNone/>
            </a:pPr>
            <a:r>
              <a:rPr lang="en-US" sz="1000" b="1" dirty="0">
                <a:solidFill>
                  <a:srgbClr val="FFFFFF"/>
                </a:solidFill>
                <a:latin typeface="Calibri" pitchFamily="34" charset="0"/>
                <a:cs typeface="Amiri" pitchFamily="2" charset="-78"/>
              </a:rPr>
              <a:t>3</a:t>
            </a:r>
            <a:endParaRPr lang="en-US" sz="1000" dirty="0"/>
          </a:p>
        </p:txBody>
      </p:sp>
      <p:sp>
        <p:nvSpPr>
          <p:cNvPr id="29" name="Text 26"/>
          <p:cNvSpPr txBox="1"/>
          <p:nvPr/>
        </p:nvSpPr>
        <p:spPr>
          <a:xfrm>
            <a:off x="1024128" y="5248656"/>
            <a:ext cx="4983480" cy="457200"/>
          </a:xfrm>
          <a:prstGeom prst="rect">
            <a:avLst/>
          </a:prstGeom>
          <a:noFill/>
          <a:ln/>
        </p:spPr>
        <p:txBody>
          <a:bodyPr wrap="square" lIns="0" tIns="0" rIns="0" bIns="0" rtlCol="0" anchor="ctr"/>
          <a:lstStyle/>
          <a:p>
            <a:pPr algn="l" indent="0" marL="0">
              <a:buNone/>
            </a:pPr>
            <a:r>
              <a:rPr lang="en-US" sz="1150" dirty="0">
                <a:solidFill>
                  <a:srgbClr val="1F2A37"/>
                </a:solidFill>
                <a:latin typeface="Calibri" pitchFamily="34" charset="0"/>
                <a:cs typeface="Amiri" pitchFamily="2" charset="-78"/>
              </a:rPr>
              <a:t>Mix the lessons: one word from slide 1, one from slide 2.</a:t>
            </a:r>
            <a:endParaRPr lang="en-US" sz="1150" dirty="0"/>
          </a:p>
        </p:txBody>
      </p:sp>
      <p:sp>
        <p:nvSpPr>
          <p:cNvPr id="30" name="Shape 27"/>
          <p:cNvSpPr/>
          <p:nvPr/>
        </p:nvSpPr>
        <p:spPr>
          <a:xfrm>
            <a:off x="658368" y="5779008"/>
            <a:ext cx="274320" cy="274320"/>
          </a:xfrm>
          <a:prstGeom prst="ellipse">
            <a:avLst/>
          </a:prstGeom>
          <a:solidFill>
            <a:srgbClr val="1B3B6F"/>
          </a:solidFill>
          <a:ln w="12700">
            <a:solidFill>
              <a:srgbClr val="1B3B6F"/>
            </a:solidFill>
            <a:prstDash val="solid"/>
          </a:ln>
        </p:spPr>
      </p:sp>
      <p:sp>
        <p:nvSpPr>
          <p:cNvPr id="31" name="Text 28"/>
          <p:cNvSpPr txBox="1"/>
          <p:nvPr/>
        </p:nvSpPr>
        <p:spPr>
          <a:xfrm>
            <a:off x="658368" y="5779008"/>
            <a:ext cx="274320" cy="274320"/>
          </a:xfrm>
          <a:prstGeom prst="rect">
            <a:avLst/>
          </a:prstGeom>
          <a:noFill/>
          <a:ln/>
        </p:spPr>
        <p:txBody>
          <a:bodyPr wrap="square" lIns="0" tIns="0" rIns="0" bIns="0" rtlCol="0" anchor="ctr"/>
          <a:lstStyle/>
          <a:p>
            <a:pPr algn="ctr" indent="0" marL="0">
              <a:buNone/>
            </a:pPr>
            <a:r>
              <a:rPr lang="en-US" sz="1000" b="1" dirty="0">
                <a:solidFill>
                  <a:srgbClr val="FFFFFF"/>
                </a:solidFill>
                <a:latin typeface="Calibri" pitchFamily="34" charset="0"/>
                <a:cs typeface="Amiri" pitchFamily="2" charset="-78"/>
              </a:rPr>
              <a:t>4</a:t>
            </a:r>
            <a:endParaRPr lang="en-US" sz="1000" dirty="0"/>
          </a:p>
        </p:txBody>
      </p:sp>
      <p:sp>
        <p:nvSpPr>
          <p:cNvPr id="32" name="Text 29"/>
          <p:cNvSpPr txBox="1"/>
          <p:nvPr/>
        </p:nvSpPr>
        <p:spPr>
          <a:xfrm>
            <a:off x="1024128" y="5705856"/>
            <a:ext cx="4983480" cy="457200"/>
          </a:xfrm>
          <a:prstGeom prst="rect">
            <a:avLst/>
          </a:prstGeom>
          <a:noFill/>
          <a:ln/>
        </p:spPr>
        <p:txBody>
          <a:bodyPr wrap="square" lIns="0" tIns="0" rIns="0" bIns="0" rtlCol="0" anchor="ctr"/>
          <a:lstStyle/>
          <a:p>
            <a:pPr algn="l" indent="0" marL="0">
              <a:buNone/>
            </a:pPr>
            <a:r>
              <a:rPr lang="en-US" sz="1150" dirty="0">
                <a:solidFill>
                  <a:srgbClr val="1F2A37"/>
                </a:solidFill>
                <a:latin typeface="Calibri" pitchFamily="34" charset="0"/>
                <a:cs typeface="Amiri" pitchFamily="2" charset="-78"/>
              </a:rPr>
              <a:t>Last round: use two words — one from each lesson — in ONE sentence.</a:t>
            </a:r>
            <a:endParaRPr lang="en-US" sz="1150" dirty="0"/>
          </a:p>
        </p:txBody>
      </p:sp>
      <p:sp>
        <p:nvSpPr>
          <p:cNvPr id="33" name="Shape 30"/>
          <p:cNvSpPr/>
          <p:nvPr/>
        </p:nvSpPr>
        <p:spPr>
          <a:xfrm>
            <a:off x="6355080" y="1810512"/>
            <a:ext cx="5376672" cy="896112"/>
          </a:xfrm>
          <a:prstGeom prst="roundRect">
            <a:avLst>
              <a:gd name="adj" fmla="val 8163"/>
            </a:avLst>
          </a:prstGeom>
          <a:solidFill>
            <a:srgbClr val="E9F5EE"/>
          </a:solidFill>
          <a:ln w="9525">
            <a:solidFill>
              <a:srgbClr val="2E8B57"/>
            </a:solidFill>
            <a:prstDash val="solid"/>
          </a:ln>
          <a:effectLst>
            <a:outerShdw sx="100000" sy="100000" kx="0" ky="0" algn="bl" rotWithShape="0" blurRad="50800" dist="19050" dir="5400000">
              <a:srgbClr val="000000">
                <a:alpha val="10000"/>
              </a:srgbClr>
            </a:outerShdw>
          </a:effectLst>
        </p:spPr>
      </p:sp>
      <p:sp>
        <p:nvSpPr>
          <p:cNvPr id="34" name="Shape 31"/>
          <p:cNvSpPr/>
          <p:nvPr/>
        </p:nvSpPr>
        <p:spPr>
          <a:xfrm>
            <a:off x="6473952" y="1901952"/>
            <a:ext cx="1051560" cy="256032"/>
          </a:xfrm>
          <a:prstGeom prst="roundRect">
            <a:avLst>
              <a:gd name="adj" fmla="val 50000"/>
            </a:avLst>
          </a:prstGeom>
          <a:solidFill>
            <a:srgbClr val="2E8B57"/>
          </a:solidFill>
          <a:ln w="12700">
            <a:solidFill>
              <a:srgbClr val="2E8B57"/>
            </a:solidFill>
            <a:prstDash val="solid"/>
          </a:ln>
        </p:spPr>
      </p:sp>
      <p:sp>
        <p:nvSpPr>
          <p:cNvPr id="35" name="Text 32"/>
          <p:cNvSpPr txBox="1"/>
          <p:nvPr/>
        </p:nvSpPr>
        <p:spPr>
          <a:xfrm>
            <a:off x="6473952" y="1901952"/>
            <a:ext cx="1051560" cy="256032"/>
          </a:xfrm>
          <a:prstGeom prst="rect">
            <a:avLst/>
          </a:prstGeom>
          <a:noFill/>
          <a:ln/>
        </p:spPr>
        <p:txBody>
          <a:bodyPr wrap="square" lIns="0" tIns="0" rIns="0" bIns="0" rtlCol="0" anchor="ctr"/>
          <a:lstStyle/>
          <a:p>
            <a:pPr algn="ctr" indent="0" marL="0">
              <a:buNone/>
            </a:pPr>
            <a:r>
              <a:rPr lang="en-US" sz="850" b="1" spc="100" kern="0" dirty="0">
                <a:solidFill>
                  <a:srgbClr val="FFFFFF"/>
                </a:solidFill>
                <a:latin typeface="Calibri" pitchFamily="34" charset="0"/>
                <a:cs typeface="Amiri" pitchFamily="2" charset="-78"/>
              </a:rPr>
              <a:t>CORE</a:t>
            </a:r>
            <a:endParaRPr lang="en-US" sz="850" dirty="0"/>
          </a:p>
        </p:txBody>
      </p:sp>
      <p:sp>
        <p:nvSpPr>
          <p:cNvPr id="36" name="Text 33"/>
          <p:cNvSpPr txBox="1"/>
          <p:nvPr/>
        </p:nvSpPr>
        <p:spPr>
          <a:xfrm>
            <a:off x="6473952" y="2176272"/>
            <a:ext cx="5120640" cy="475488"/>
          </a:xfrm>
          <a:prstGeom prst="rect">
            <a:avLst/>
          </a:prstGeom>
          <a:noFill/>
          <a:ln/>
        </p:spPr>
        <p:txBody>
          <a:bodyPr wrap="square" lIns="0" tIns="0" rIns="0" bIns="0" rtlCol="0" anchor="ctr"/>
          <a:lstStyle/>
          <a:p>
            <a:pPr algn="l" indent="0" marL="0">
              <a:buNone/>
            </a:pPr>
            <a:r>
              <a:rPr lang="en-US" sz="1150" dirty="0">
                <a:solidFill>
                  <a:srgbClr val="1F2A37"/>
                </a:solidFill>
                <a:latin typeface="Calibri" pitchFamily="34" charset="0"/>
                <a:cs typeface="Amiri" pitchFamily="2" charset="-78"/>
              </a:rPr>
              <a:t>Say the Arabic word clearly.</a:t>
            </a:r>
            <a:endParaRPr lang="en-US" sz="1150" dirty="0"/>
          </a:p>
        </p:txBody>
      </p:sp>
      <p:sp>
        <p:nvSpPr>
          <p:cNvPr id="37" name="Shape 34"/>
          <p:cNvSpPr/>
          <p:nvPr/>
        </p:nvSpPr>
        <p:spPr>
          <a:xfrm>
            <a:off x="6355080" y="2816352"/>
            <a:ext cx="5376672" cy="896112"/>
          </a:xfrm>
          <a:prstGeom prst="roundRect">
            <a:avLst>
              <a:gd name="adj" fmla="val 8163"/>
            </a:avLst>
          </a:prstGeom>
          <a:solidFill>
            <a:srgbClr val="FCF1E0"/>
          </a:solidFill>
          <a:ln w="9525">
            <a:solidFill>
              <a:srgbClr val="C9780A"/>
            </a:solidFill>
            <a:prstDash val="solid"/>
          </a:ln>
          <a:effectLst>
            <a:outerShdw sx="100000" sy="100000" kx="0" ky="0" algn="bl" rotWithShape="0" blurRad="50800" dist="19050" dir="5400000">
              <a:srgbClr val="000000">
                <a:alpha val="10000"/>
              </a:srgbClr>
            </a:outerShdw>
          </a:effectLst>
        </p:spPr>
      </p:sp>
      <p:sp>
        <p:nvSpPr>
          <p:cNvPr id="38" name="Shape 35"/>
          <p:cNvSpPr/>
          <p:nvPr/>
        </p:nvSpPr>
        <p:spPr>
          <a:xfrm>
            <a:off x="6473952" y="2907792"/>
            <a:ext cx="1051560" cy="256032"/>
          </a:xfrm>
          <a:prstGeom prst="roundRect">
            <a:avLst>
              <a:gd name="adj" fmla="val 50000"/>
            </a:avLst>
          </a:prstGeom>
          <a:solidFill>
            <a:srgbClr val="C9780A"/>
          </a:solidFill>
          <a:ln w="12700">
            <a:solidFill>
              <a:srgbClr val="C9780A"/>
            </a:solidFill>
            <a:prstDash val="solid"/>
          </a:ln>
        </p:spPr>
      </p:sp>
      <p:sp>
        <p:nvSpPr>
          <p:cNvPr id="39" name="Text 36"/>
          <p:cNvSpPr txBox="1"/>
          <p:nvPr/>
        </p:nvSpPr>
        <p:spPr>
          <a:xfrm>
            <a:off x="6473952" y="2907792"/>
            <a:ext cx="1051560" cy="256032"/>
          </a:xfrm>
          <a:prstGeom prst="rect">
            <a:avLst/>
          </a:prstGeom>
          <a:noFill/>
          <a:ln/>
        </p:spPr>
        <p:txBody>
          <a:bodyPr wrap="square" lIns="0" tIns="0" rIns="0" bIns="0" rtlCol="0" anchor="ctr"/>
          <a:lstStyle/>
          <a:p>
            <a:pPr algn="ctr" indent="0" marL="0">
              <a:buNone/>
            </a:pPr>
            <a:r>
              <a:rPr lang="en-US" sz="850" b="1" spc="100" kern="0" dirty="0">
                <a:solidFill>
                  <a:srgbClr val="FFFFFF"/>
                </a:solidFill>
                <a:latin typeface="Calibri" pitchFamily="34" charset="0"/>
                <a:cs typeface="Amiri" pitchFamily="2" charset="-78"/>
              </a:rPr>
              <a:t>DEVELOP</a:t>
            </a:r>
            <a:endParaRPr lang="en-US" sz="850" dirty="0"/>
          </a:p>
        </p:txBody>
      </p:sp>
      <p:sp>
        <p:nvSpPr>
          <p:cNvPr id="40" name="Text 37"/>
          <p:cNvSpPr txBox="1"/>
          <p:nvPr/>
        </p:nvSpPr>
        <p:spPr>
          <a:xfrm>
            <a:off x="6473952" y="3182112"/>
            <a:ext cx="5120640" cy="475488"/>
          </a:xfrm>
          <a:prstGeom prst="rect">
            <a:avLst/>
          </a:prstGeom>
          <a:noFill/>
          <a:ln/>
        </p:spPr>
        <p:txBody>
          <a:bodyPr wrap="square" lIns="0" tIns="0" rIns="0" bIns="0" rtlCol="0" anchor="ctr"/>
          <a:lstStyle/>
          <a:p>
            <a:pPr algn="l" indent="0" marL="0">
              <a:buNone/>
            </a:pPr>
            <a:r>
              <a:rPr lang="en-US" sz="1150" dirty="0">
                <a:solidFill>
                  <a:srgbClr val="1F2A37"/>
                </a:solidFill>
                <a:latin typeface="Calibri" pitchFamily="34" charset="0"/>
                <a:cs typeface="Amiri" pitchFamily="2" charset="-78"/>
              </a:rPr>
              <a:t>Say the word, then a short sentence with it.</a:t>
            </a:r>
            <a:endParaRPr lang="en-US" sz="1150" dirty="0"/>
          </a:p>
        </p:txBody>
      </p:sp>
      <p:sp>
        <p:nvSpPr>
          <p:cNvPr id="41" name="Shape 38"/>
          <p:cNvSpPr/>
          <p:nvPr/>
        </p:nvSpPr>
        <p:spPr>
          <a:xfrm>
            <a:off x="6355080" y="3822192"/>
            <a:ext cx="5376672" cy="896112"/>
          </a:xfrm>
          <a:prstGeom prst="roundRect">
            <a:avLst>
              <a:gd name="adj" fmla="val 8163"/>
            </a:avLst>
          </a:prstGeom>
          <a:solidFill>
            <a:srgbClr val="FBEAEA"/>
          </a:solidFill>
          <a:ln w="9525">
            <a:solidFill>
              <a:srgbClr val="B83227"/>
            </a:solidFill>
            <a:prstDash val="solid"/>
          </a:ln>
          <a:effectLst>
            <a:outerShdw sx="100000" sy="100000" kx="0" ky="0" algn="bl" rotWithShape="0" blurRad="50800" dist="19050" dir="5400000">
              <a:srgbClr val="000000">
                <a:alpha val="10000"/>
              </a:srgbClr>
            </a:outerShdw>
          </a:effectLst>
        </p:spPr>
      </p:sp>
      <p:sp>
        <p:nvSpPr>
          <p:cNvPr id="42" name="Shape 39"/>
          <p:cNvSpPr/>
          <p:nvPr/>
        </p:nvSpPr>
        <p:spPr>
          <a:xfrm>
            <a:off x="6473952" y="3913632"/>
            <a:ext cx="1051560" cy="256032"/>
          </a:xfrm>
          <a:prstGeom prst="roundRect">
            <a:avLst>
              <a:gd name="adj" fmla="val 50000"/>
            </a:avLst>
          </a:prstGeom>
          <a:solidFill>
            <a:srgbClr val="B83227"/>
          </a:solidFill>
          <a:ln w="12700">
            <a:solidFill>
              <a:srgbClr val="B83227"/>
            </a:solidFill>
            <a:prstDash val="solid"/>
          </a:ln>
        </p:spPr>
      </p:sp>
      <p:sp>
        <p:nvSpPr>
          <p:cNvPr id="43" name="Text 40"/>
          <p:cNvSpPr txBox="1"/>
          <p:nvPr/>
        </p:nvSpPr>
        <p:spPr>
          <a:xfrm>
            <a:off x="6473952" y="3913632"/>
            <a:ext cx="1051560" cy="256032"/>
          </a:xfrm>
          <a:prstGeom prst="rect">
            <a:avLst/>
          </a:prstGeom>
          <a:noFill/>
          <a:ln/>
        </p:spPr>
        <p:txBody>
          <a:bodyPr wrap="square" lIns="0" tIns="0" rIns="0" bIns="0" rtlCol="0" anchor="ctr"/>
          <a:lstStyle/>
          <a:p>
            <a:pPr algn="ctr" indent="0" marL="0">
              <a:buNone/>
            </a:pPr>
            <a:r>
              <a:rPr lang="en-US" sz="850" b="1" spc="100" kern="0" dirty="0">
                <a:solidFill>
                  <a:srgbClr val="FFFFFF"/>
                </a:solidFill>
                <a:latin typeface="Calibri" pitchFamily="34" charset="0"/>
                <a:cs typeface="Amiri" pitchFamily="2" charset="-78"/>
              </a:rPr>
              <a:t>STRETCH</a:t>
            </a:r>
            <a:endParaRPr lang="en-US" sz="850" dirty="0"/>
          </a:p>
        </p:txBody>
      </p:sp>
      <p:sp>
        <p:nvSpPr>
          <p:cNvPr id="44" name="Text 41"/>
          <p:cNvSpPr txBox="1"/>
          <p:nvPr/>
        </p:nvSpPr>
        <p:spPr>
          <a:xfrm>
            <a:off x="6473952" y="4187952"/>
            <a:ext cx="5120640" cy="475488"/>
          </a:xfrm>
          <a:prstGeom prst="rect">
            <a:avLst/>
          </a:prstGeom>
          <a:noFill/>
          <a:ln/>
        </p:spPr>
        <p:txBody>
          <a:bodyPr wrap="square" lIns="0" tIns="0" rIns="0" bIns="0" rtlCol="0" anchor="ctr"/>
          <a:lstStyle/>
          <a:p>
            <a:pPr algn="l" indent="0" marL="0">
              <a:buNone/>
            </a:pPr>
            <a:r>
              <a:rPr lang="en-US" sz="1150" dirty="0">
                <a:solidFill>
                  <a:srgbClr val="1F2A37"/>
                </a:solidFill>
                <a:latin typeface="Calibri" pitchFamily="34" charset="0"/>
                <a:cs typeface="Amiri" pitchFamily="2" charset="-78"/>
              </a:rPr>
              <a:t>Join a word from each lesson in one sentence with </a:t>
            </a:r>
            <a:pPr algn="l" indent="0" marL="0">
              <a:buNone/>
            </a:pPr>
            <a:r>
              <a:rPr lang="ar-SA" altLang="en-US" sz="1500" dirty="0">
                <a:solidFill>
                  <a:srgbClr val="1F2A37"/>
                </a:solidFill>
                <a:latin typeface="Amiri" pitchFamily="2" charset="-78"/>
                <a:ea typeface="Amiri" pitchFamily="2" charset="-78"/>
                <a:cs typeface="Amiri" pitchFamily="2" charset="-78"/>
              </a:rPr>
              <a:t>وَ</a:t>
            </a:r>
            <a:pPr algn="l" indent="0" marL="0">
              <a:buNone/>
            </a:pPr>
            <a:r>
              <a:rPr lang="en-US" sz="1150" dirty="0">
                <a:solidFill>
                  <a:srgbClr val="1F2A37"/>
                </a:solidFill>
                <a:latin typeface="Calibri" pitchFamily="34" charset="0"/>
                <a:cs typeface="Amiri" pitchFamily="2" charset="-78"/>
              </a:rPr>
              <a:t> or </a:t>
            </a:r>
            <a:pPr algn="l" indent="0" marL="0">
              <a:buNone/>
            </a:pPr>
            <a:r>
              <a:rPr lang="ar-SA" altLang="en-US" sz="1500" dirty="0">
                <a:solidFill>
                  <a:srgbClr val="1F2A37"/>
                </a:solidFill>
                <a:latin typeface="Amiri" pitchFamily="2" charset="-78"/>
                <a:ea typeface="Amiri" pitchFamily="2" charset="-78"/>
                <a:cs typeface="Amiri" pitchFamily="2" charset="-78"/>
              </a:rPr>
              <a:t>لِأَنَّ</a:t>
            </a:r>
            <a:pPr algn="l" indent="0" marL="0">
              <a:buNone/>
            </a:pPr>
            <a:r>
              <a:rPr lang="en-US" sz="1150" dirty="0">
                <a:solidFill>
                  <a:srgbClr val="1F2A37"/>
                </a:solidFill>
                <a:latin typeface="Calibri" pitchFamily="34" charset="0"/>
                <a:cs typeface="Amiri" pitchFamily="2" charset="-78"/>
              </a:rPr>
              <a:t>.</a:t>
            </a:r>
            <a:endParaRPr lang="en-US" sz="1150" dirty="0"/>
          </a:p>
        </p:txBody>
      </p:sp>
      <p:sp>
        <p:nvSpPr>
          <p:cNvPr id="45" name="Shape 42"/>
          <p:cNvSpPr/>
          <p:nvPr/>
        </p:nvSpPr>
        <p:spPr>
          <a:xfrm>
            <a:off x="6355080" y="4828032"/>
            <a:ext cx="5376672" cy="1481328"/>
          </a:xfrm>
          <a:prstGeom prst="roundRect">
            <a:avLst>
              <a:gd name="adj" fmla="val 4938"/>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6" name="Text 43"/>
          <p:cNvSpPr txBox="1"/>
          <p:nvPr/>
        </p:nvSpPr>
        <p:spPr>
          <a:xfrm>
            <a:off x="6492240" y="4882896"/>
            <a:ext cx="2743200" cy="237744"/>
          </a:xfrm>
          <a:prstGeom prst="rect">
            <a:avLst/>
          </a:prstGeom>
          <a:noFill/>
          <a:ln/>
        </p:spPr>
        <p:txBody>
          <a:bodyPr wrap="square" lIns="0" tIns="0" rIns="0" bIns="0" rtlCol="0" anchor="ctr"/>
          <a:lstStyle/>
          <a:p>
            <a:pPr algn="l" indent="0" marL="0">
              <a:buNone/>
            </a:pPr>
            <a:r>
              <a:rPr lang="en-US" sz="950" b="1" spc="200" kern="0" dirty="0">
                <a:solidFill>
                  <a:srgbClr val="8A6D1E"/>
                </a:solidFill>
                <a:latin typeface="Calibri" pitchFamily="34" charset="0"/>
                <a:cs typeface="Amiri" pitchFamily="2" charset="-78"/>
              </a:rPr>
              <a:t>USEFUL LANGUAGE</a:t>
            </a:r>
            <a:endParaRPr lang="en-US" sz="950" dirty="0"/>
          </a:p>
        </p:txBody>
      </p:sp>
      <p:sp>
        <p:nvSpPr>
          <p:cNvPr id="47" name="Text 44"/>
          <p:cNvSpPr txBox="1"/>
          <p:nvPr/>
        </p:nvSpPr>
        <p:spPr>
          <a:xfrm>
            <a:off x="8732520" y="5138928"/>
            <a:ext cx="2880360" cy="283464"/>
          </a:xfrm>
          <a:prstGeom prst="rect">
            <a:avLst/>
          </a:prstGeom>
          <a:noFill/>
          <a:ln/>
        </p:spPr>
        <p:txBody>
          <a:bodyPr wrap="square" lIns="0" tIns="0" rIns="0" bIns="0" rtlCol="0" anchor="ctr"/>
          <a:lstStyle/>
          <a:p>
            <a:pPr rtl="1" algn="r" indent="0" marL="0">
              <a:buNone/>
            </a:pPr>
            <a:r>
              <a:rPr lang="ar-SA" altLang="en-US" sz="1300" b="1" dirty="0">
                <a:solidFill>
                  <a:srgbClr val="1B3B6F"/>
                </a:solidFill>
                <a:latin typeface="Amiri" pitchFamily="2" charset="-78"/>
                <a:ea typeface="Amiri" pitchFamily="2" charset="-78"/>
                <a:cs typeface="Amiri" pitchFamily="2" charset="-78"/>
              </a:rPr>
              <a:t>دَوْرُكَ! / دَوْرُكِ!</a:t>
            </a:r>
            <a:endParaRPr lang="ar-SA" sz="1300" dirty="0"/>
          </a:p>
        </p:txBody>
      </p:sp>
      <p:sp>
        <p:nvSpPr>
          <p:cNvPr id="48" name="Text 45"/>
          <p:cNvSpPr txBox="1"/>
          <p:nvPr/>
        </p:nvSpPr>
        <p:spPr>
          <a:xfrm>
            <a:off x="6492240" y="5138928"/>
            <a:ext cx="2194560" cy="283464"/>
          </a:xfrm>
          <a:prstGeom prst="rect">
            <a:avLst/>
          </a:prstGeom>
          <a:noFill/>
          <a:ln/>
        </p:spPr>
        <p:txBody>
          <a:bodyPr wrap="square" lIns="0" tIns="0" rIns="0" bIns="0" rtlCol="0" anchor="ctr"/>
          <a:lstStyle/>
          <a:p>
            <a:pPr algn="l" indent="0" marL="0">
              <a:buNone/>
            </a:pPr>
            <a:r>
              <a:rPr lang="en-US" sz="1000" i="1" dirty="0">
                <a:solidFill>
                  <a:srgbClr val="5A6472"/>
                </a:solidFill>
                <a:latin typeface="Calibri" pitchFamily="34" charset="0"/>
                <a:cs typeface="Amiri" pitchFamily="2" charset="-78"/>
              </a:rPr>
              <a:t>your turn! (m. / f.)</a:t>
            </a:r>
            <a:endParaRPr lang="en-US" sz="1000" dirty="0"/>
          </a:p>
        </p:txBody>
      </p:sp>
      <p:sp>
        <p:nvSpPr>
          <p:cNvPr id="49" name="Text 46"/>
          <p:cNvSpPr txBox="1"/>
          <p:nvPr/>
        </p:nvSpPr>
        <p:spPr>
          <a:xfrm>
            <a:off x="8732520" y="5422392"/>
            <a:ext cx="2880360" cy="283464"/>
          </a:xfrm>
          <a:prstGeom prst="rect">
            <a:avLst/>
          </a:prstGeom>
          <a:noFill/>
          <a:ln/>
        </p:spPr>
        <p:txBody>
          <a:bodyPr wrap="square" lIns="0" tIns="0" rIns="0" bIns="0" rtlCol="0" anchor="ctr"/>
          <a:lstStyle/>
          <a:p>
            <a:pPr rtl="1" algn="r" indent="0" marL="0">
              <a:buNone/>
            </a:pPr>
            <a:r>
              <a:rPr lang="ar-SA" altLang="en-US" sz="1300" b="1" dirty="0">
                <a:solidFill>
                  <a:srgbClr val="1B3B6F"/>
                </a:solidFill>
                <a:latin typeface="Amiri" pitchFamily="2" charset="-78"/>
                <a:ea typeface="Amiri" pitchFamily="2" charset="-78"/>
                <a:cs typeface="Amiri" pitchFamily="2" charset="-78"/>
              </a:rPr>
              <a:t>صَحِيحٌ!</a:t>
            </a:r>
            <a:endParaRPr lang="ar-SA" sz="1300" dirty="0"/>
          </a:p>
        </p:txBody>
      </p:sp>
      <p:sp>
        <p:nvSpPr>
          <p:cNvPr id="50" name="Text 47"/>
          <p:cNvSpPr txBox="1"/>
          <p:nvPr/>
        </p:nvSpPr>
        <p:spPr>
          <a:xfrm>
            <a:off x="6492240" y="5422392"/>
            <a:ext cx="2194560" cy="283464"/>
          </a:xfrm>
          <a:prstGeom prst="rect">
            <a:avLst/>
          </a:prstGeom>
          <a:noFill/>
          <a:ln/>
        </p:spPr>
        <p:txBody>
          <a:bodyPr wrap="square" lIns="0" tIns="0" rIns="0" bIns="0" rtlCol="0" anchor="ctr"/>
          <a:lstStyle/>
          <a:p>
            <a:pPr algn="l" indent="0" marL="0">
              <a:buNone/>
            </a:pPr>
            <a:r>
              <a:rPr lang="en-US" sz="1000" i="1" dirty="0">
                <a:solidFill>
                  <a:srgbClr val="5A6472"/>
                </a:solidFill>
                <a:latin typeface="Calibri" pitchFamily="34" charset="0"/>
                <a:cs typeface="Amiri" pitchFamily="2" charset="-78"/>
              </a:rPr>
              <a:t>correct!</a:t>
            </a:r>
            <a:endParaRPr lang="en-US" sz="1000" dirty="0"/>
          </a:p>
        </p:txBody>
      </p:sp>
      <p:sp>
        <p:nvSpPr>
          <p:cNvPr id="51" name="Text 48"/>
          <p:cNvSpPr txBox="1"/>
          <p:nvPr/>
        </p:nvSpPr>
        <p:spPr>
          <a:xfrm>
            <a:off x="8732520" y="5705856"/>
            <a:ext cx="2880360" cy="283464"/>
          </a:xfrm>
          <a:prstGeom prst="rect">
            <a:avLst/>
          </a:prstGeom>
          <a:noFill/>
          <a:ln/>
        </p:spPr>
        <p:txBody>
          <a:bodyPr wrap="square" lIns="0" tIns="0" rIns="0" bIns="0" rtlCol="0" anchor="ctr"/>
          <a:lstStyle/>
          <a:p>
            <a:pPr rtl="1" algn="r" indent="0" marL="0">
              <a:buNone/>
            </a:pPr>
            <a:r>
              <a:rPr lang="ar-SA" altLang="en-US" sz="1300" b="1" dirty="0">
                <a:solidFill>
                  <a:srgbClr val="1B3B6F"/>
                </a:solidFill>
                <a:latin typeface="Amiri" pitchFamily="2" charset="-78"/>
                <a:ea typeface="Amiri" pitchFamily="2" charset="-78"/>
                <a:cs typeface="Amiri" pitchFamily="2" charset="-78"/>
              </a:rPr>
              <a:t>حَاوِلْ مَرَّةً أُخْرَى</a:t>
            </a:r>
            <a:endParaRPr lang="ar-SA" sz="1300" dirty="0"/>
          </a:p>
        </p:txBody>
      </p:sp>
      <p:sp>
        <p:nvSpPr>
          <p:cNvPr id="52" name="Text 49"/>
          <p:cNvSpPr txBox="1"/>
          <p:nvPr/>
        </p:nvSpPr>
        <p:spPr>
          <a:xfrm>
            <a:off x="6492240" y="5705856"/>
            <a:ext cx="2194560" cy="283464"/>
          </a:xfrm>
          <a:prstGeom prst="rect">
            <a:avLst/>
          </a:prstGeom>
          <a:noFill/>
          <a:ln/>
        </p:spPr>
        <p:txBody>
          <a:bodyPr wrap="square" lIns="0" tIns="0" rIns="0" bIns="0" rtlCol="0" anchor="ctr"/>
          <a:lstStyle/>
          <a:p>
            <a:pPr algn="l" indent="0" marL="0">
              <a:buNone/>
            </a:pPr>
            <a:r>
              <a:rPr lang="en-US" sz="1000" i="1" dirty="0">
                <a:solidFill>
                  <a:srgbClr val="5A6472"/>
                </a:solidFill>
                <a:latin typeface="Calibri" pitchFamily="34" charset="0"/>
                <a:cs typeface="Amiri" pitchFamily="2" charset="-78"/>
              </a:rPr>
              <a:t>try again</a:t>
            </a:r>
            <a:endParaRPr lang="en-US" sz="1000" dirty="0"/>
          </a:p>
        </p:txBody>
      </p:sp>
      <p:sp>
        <p:nvSpPr>
          <p:cNvPr id="53" name="Text 50"/>
          <p:cNvSpPr txBox="1"/>
          <p:nvPr/>
        </p:nvSpPr>
        <p:spPr>
          <a:xfrm>
            <a:off x="8732520" y="5989320"/>
            <a:ext cx="2880360" cy="283464"/>
          </a:xfrm>
          <a:prstGeom prst="rect">
            <a:avLst/>
          </a:prstGeom>
          <a:noFill/>
          <a:ln/>
        </p:spPr>
        <p:txBody>
          <a:bodyPr wrap="square" lIns="0" tIns="0" rIns="0" bIns="0" rtlCol="0" anchor="ctr"/>
          <a:lstStyle/>
          <a:p>
            <a:pPr rtl="1" algn="r" indent="0" marL="0">
              <a:buNone/>
            </a:pPr>
            <a:r>
              <a:rPr lang="ar-SA" altLang="en-US" sz="1300" b="1" dirty="0">
                <a:solidFill>
                  <a:srgbClr val="1B3B6F"/>
                </a:solidFill>
                <a:latin typeface="Amiri" pitchFamily="2" charset="-78"/>
                <a:ea typeface="Amiri" pitchFamily="2" charset="-78"/>
                <a:cs typeface="Amiri" pitchFamily="2" charset="-78"/>
              </a:rPr>
              <a:t>نُقْطَةٌ لَكَ / لَكِ</a:t>
            </a:r>
            <a:endParaRPr lang="ar-SA" sz="1300" dirty="0"/>
          </a:p>
        </p:txBody>
      </p:sp>
      <p:sp>
        <p:nvSpPr>
          <p:cNvPr id="54" name="Text 51"/>
          <p:cNvSpPr txBox="1"/>
          <p:nvPr/>
        </p:nvSpPr>
        <p:spPr>
          <a:xfrm>
            <a:off x="6492240" y="5989320"/>
            <a:ext cx="2194560" cy="283464"/>
          </a:xfrm>
          <a:prstGeom prst="rect">
            <a:avLst/>
          </a:prstGeom>
          <a:noFill/>
          <a:ln/>
        </p:spPr>
        <p:txBody>
          <a:bodyPr wrap="square" lIns="0" tIns="0" rIns="0" bIns="0" rtlCol="0" anchor="ctr"/>
          <a:lstStyle/>
          <a:p>
            <a:pPr algn="l" indent="0" marL="0">
              <a:buNone/>
            </a:pPr>
            <a:r>
              <a:rPr lang="en-US" sz="1000" i="1" dirty="0">
                <a:solidFill>
                  <a:srgbClr val="5A6472"/>
                </a:solidFill>
                <a:latin typeface="Calibri" pitchFamily="34" charset="0"/>
                <a:cs typeface="Amiri" pitchFamily="2" charset="-78"/>
              </a:rPr>
              <a:t>a point for you (m. / f.)</a:t>
            </a:r>
            <a:endParaRPr lang="en-US" sz="1000" dirty="0"/>
          </a:p>
        </p:txBody>
      </p:sp>
      <p:sp>
        <p:nvSpPr>
          <p:cNvPr id="55" name="Text 52"/>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5 / 24</a:t>
            </a:r>
            <a:endParaRPr lang="en-US" sz="850" dirty="0"/>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F3-W01 · Apply workshop</a:t>
            </a:r>
            <a:endParaRPr lang="en-US" sz="950" dirty="0"/>
          </a:p>
        </p:txBody>
      </p:sp>
      <p:sp>
        <p:nvSpPr>
          <p:cNvPr id="8" name="Shape 6"/>
          <p:cNvSpPr/>
          <p:nvPr/>
        </p:nvSpPr>
        <p:spPr>
          <a:xfrm>
            <a:off x="6308446" y="274320"/>
            <a:ext cx="2451506" cy="329184"/>
          </a:xfrm>
          <a:prstGeom prst="roundRect">
            <a:avLst>
              <a:gd name="adj" fmla="val 50000"/>
            </a:avLst>
          </a:prstGeom>
          <a:solidFill>
            <a:srgbClr val="1B3B6F"/>
          </a:solidFill>
          <a:ln w="12700">
            <a:solidFill>
              <a:srgbClr val="1B3B6F"/>
            </a:solidFill>
            <a:prstDash val="solid"/>
          </a:ln>
        </p:spPr>
      </p:sp>
      <p:sp>
        <p:nvSpPr>
          <p:cNvPr id="9" name="Text 7"/>
          <p:cNvSpPr txBox="1"/>
          <p:nvPr/>
        </p:nvSpPr>
        <p:spPr>
          <a:xfrm>
            <a:off x="6308446" y="274320"/>
            <a:ext cx="2451506"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TEACHER INSTRUCTION · 2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1B3B6F"/>
                </a:solidFill>
                <a:latin typeface="Calibri" pitchFamily="34" charset="0"/>
                <a:cs typeface="Amiri" pitchFamily="2" charset="-78"/>
              </a:rPr>
              <a:t>STEP 1 · WORDS FROM F3-L01</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1900" b="1" dirty="0">
                <a:solidFill>
                  <a:srgbClr val="1B3B6F"/>
                </a:solidFill>
                <a:latin typeface="Cambria" pitchFamily="34" charset="0"/>
                <a:cs typeface="Amiri" pitchFamily="2" charset="-78"/>
              </a:rPr>
              <a:t>F3-L01 · My Family — Members and Relationships</a:t>
            </a:r>
            <a:endParaRPr lang="en-US" sz="19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كَلِمَاتُ الدَّرْسِ الأَوَّلِ</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Foundation F3 · My Family &amp; Home · F3-W01 · Apply workshop (F3-L01 + F3-L02)</a:t>
            </a:r>
            <a:endParaRPr lang="en-US" sz="850" dirty="0"/>
          </a:p>
        </p:txBody>
      </p:sp>
      <p:sp>
        <p:nvSpPr>
          <p:cNvPr id="15" name="Shape 12"/>
          <p:cNvSpPr/>
          <p:nvPr/>
        </p:nvSpPr>
        <p:spPr>
          <a:xfrm>
            <a:off x="8101584" y="1810512"/>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8211312" y="1920240"/>
            <a:ext cx="310896" cy="310896"/>
          </a:xfrm>
          <a:prstGeom prst="ellipse">
            <a:avLst/>
          </a:prstGeom>
          <a:solidFill>
            <a:srgbClr val="F4F1EA"/>
          </a:solidFill>
          <a:ln w="12700">
            <a:solidFill>
              <a:srgbClr val="F4F1EA"/>
            </a:solidFill>
            <a:prstDash val="solid"/>
          </a:ln>
        </p:spPr>
      </p:sp>
      <p:sp>
        <p:nvSpPr>
          <p:cNvPr id="17" name="Text 14"/>
          <p:cNvSpPr txBox="1"/>
          <p:nvPr/>
        </p:nvSpPr>
        <p:spPr>
          <a:xfrm>
            <a:off x="8211312" y="1920240"/>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cs typeface="Amiri" pitchFamily="2" charset="-78"/>
              </a:rPr>
              <a:t>1</a:t>
            </a:r>
            <a:endParaRPr lang="en-US" sz="1000" dirty="0"/>
          </a:p>
        </p:txBody>
      </p:sp>
      <p:sp>
        <p:nvSpPr>
          <p:cNvPr id="18" name="Shape 15"/>
          <p:cNvSpPr/>
          <p:nvPr/>
        </p:nvSpPr>
        <p:spPr>
          <a:xfrm>
            <a:off x="8604504" y="1938528"/>
            <a:ext cx="1269187" cy="256032"/>
          </a:xfrm>
          <a:prstGeom prst="roundRect">
            <a:avLst>
              <a:gd name="adj" fmla="val 50000"/>
            </a:avLst>
          </a:prstGeom>
          <a:solidFill>
            <a:srgbClr val="EFE7D2"/>
          </a:solidFill>
          <a:ln w="12700">
            <a:solidFill>
              <a:srgbClr val="EFE7D2"/>
            </a:solidFill>
            <a:prstDash val="solid"/>
          </a:ln>
        </p:spPr>
      </p:sp>
      <p:sp>
        <p:nvSpPr>
          <p:cNvPr id="19" name="Text 16"/>
          <p:cNvSpPr txBox="1"/>
          <p:nvPr/>
        </p:nvSpPr>
        <p:spPr>
          <a:xfrm>
            <a:off x="8604504" y="1938528"/>
            <a:ext cx="1269187" cy="256032"/>
          </a:xfrm>
          <a:prstGeom prst="rect">
            <a:avLst/>
          </a:prstGeom>
          <a:noFill/>
          <a:ln/>
        </p:spPr>
        <p:txBody>
          <a:bodyPr wrap="square" lIns="0" tIns="0" rIns="0" bIns="0" rtlCol="0" anchor="ctr"/>
          <a:lstStyle/>
          <a:p>
            <a:pPr algn="ctr" indent="0" marL="0">
              <a:buNone/>
            </a:pPr>
            <a:r>
              <a:rPr lang="en-US" sz="800" b="1" dirty="0">
                <a:solidFill>
                  <a:srgbClr val="8A6D1E"/>
                </a:solidFill>
                <a:latin typeface="Calibri" pitchFamily="34" charset="0"/>
                <a:cs typeface="Amiri" pitchFamily="2" charset="-78"/>
              </a:rPr>
              <a:t>m. · this: hādhā</a:t>
            </a:r>
            <a:endParaRPr lang="en-US" sz="800" dirty="0"/>
          </a:p>
        </p:txBody>
      </p:sp>
      <p:sp>
        <p:nvSpPr>
          <p:cNvPr id="20" name="Shape 17"/>
          <p:cNvSpPr/>
          <p:nvPr/>
        </p:nvSpPr>
        <p:spPr>
          <a:xfrm>
            <a:off x="10872216" y="1938528"/>
            <a:ext cx="731520" cy="256032"/>
          </a:xfrm>
          <a:prstGeom prst="roundRect">
            <a:avLst>
              <a:gd name="adj" fmla="val 50000"/>
            </a:avLst>
          </a:prstGeom>
          <a:solidFill>
            <a:srgbClr val="2E8B57"/>
          </a:solidFill>
          <a:ln w="12700">
            <a:solidFill>
              <a:srgbClr val="2E8B57"/>
            </a:solidFill>
            <a:prstDash val="solid"/>
          </a:ln>
        </p:spPr>
      </p:sp>
      <p:sp>
        <p:nvSpPr>
          <p:cNvPr id="21" name="Text 18"/>
          <p:cNvSpPr txBox="1"/>
          <p:nvPr/>
        </p:nvSpPr>
        <p:spPr>
          <a:xfrm>
            <a:off x="10872216" y="1938528"/>
            <a:ext cx="73152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cs typeface="Amiri" pitchFamily="2" charset="-78"/>
              </a:rPr>
              <a:t>CORE</a:t>
            </a:r>
            <a:endParaRPr lang="en-US" sz="800" dirty="0"/>
          </a:p>
        </p:txBody>
      </p:sp>
      <p:sp>
        <p:nvSpPr>
          <p:cNvPr id="22" name="Text 19"/>
          <p:cNvSpPr txBox="1"/>
          <p:nvPr/>
        </p:nvSpPr>
        <p:spPr>
          <a:xfrm>
            <a:off x="8211312" y="2212848"/>
            <a:ext cx="3401568" cy="713232"/>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2" charset="-78"/>
                <a:ea typeface="Amiri" pitchFamily="2" charset="-78"/>
                <a:cs typeface="Amiri" pitchFamily="2" charset="-78"/>
              </a:rPr>
              <a:t>أَبٌ / وَالِدٌ</a:t>
            </a:r>
            <a:endParaRPr lang="ar-SA" sz="3000" dirty="0"/>
          </a:p>
        </p:txBody>
      </p:sp>
      <p:sp>
        <p:nvSpPr>
          <p:cNvPr id="23" name="Text 20"/>
          <p:cNvSpPr txBox="1"/>
          <p:nvPr/>
        </p:nvSpPr>
        <p:spPr>
          <a:xfrm>
            <a:off x="8238744" y="2907792"/>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cs typeface="Amiri" pitchFamily="2" charset="-78"/>
              </a:rPr>
              <a:t>father</a:t>
            </a:r>
            <a:endParaRPr lang="en-US" sz="1350" dirty="0"/>
          </a:p>
          <a:p>
            <a:pPr indent="0" marL="0">
              <a:buNone/>
            </a:pPr>
            <a:r>
              <a:rPr lang="en-US" sz="1100" i="1" dirty="0">
                <a:solidFill>
                  <a:srgbClr val="5A6472"/>
                </a:solidFill>
                <a:latin typeface="Calibri" pitchFamily="34" charset="0"/>
                <a:cs typeface="Amiri" pitchFamily="2" charset="-78"/>
              </a:rPr>
              <a:t>ab / wā-lid</a:t>
            </a:r>
            <a:endParaRPr lang="en-US" sz="1350" dirty="0"/>
          </a:p>
        </p:txBody>
      </p:sp>
      <p:sp>
        <p:nvSpPr>
          <p:cNvPr id="24" name="Shape 21"/>
          <p:cNvSpPr/>
          <p:nvPr/>
        </p:nvSpPr>
        <p:spPr>
          <a:xfrm>
            <a:off x="9966960" y="3438144"/>
            <a:ext cx="1636776" cy="438912"/>
          </a:xfrm>
          <a:prstGeom prst="roundRect">
            <a:avLst>
              <a:gd name="adj" fmla="val 10417"/>
            </a:avLst>
          </a:prstGeom>
          <a:solidFill>
            <a:srgbClr val="F4F1EA"/>
          </a:solidFill>
          <a:ln w="9525">
            <a:solidFill>
              <a:srgbClr val="F4F1EA"/>
            </a:solidFill>
            <a:prstDash val="solid"/>
          </a:ln>
        </p:spPr>
      </p:sp>
      <p:sp>
        <p:nvSpPr>
          <p:cNvPr id="25" name="Text 22"/>
          <p:cNvSpPr txBox="1"/>
          <p:nvPr/>
        </p:nvSpPr>
        <p:spPr>
          <a:xfrm>
            <a:off x="10021824" y="3447288"/>
            <a:ext cx="1527048" cy="155448"/>
          </a:xfrm>
          <a:prstGeom prst="rect">
            <a:avLst/>
          </a:prstGeom>
          <a:noFill/>
          <a:ln/>
        </p:spPr>
        <p:txBody>
          <a:bodyPr wrap="square" lIns="0" tIns="0" rIns="0" bIns="0" rtlCol="0" anchor="ctr"/>
          <a:lstStyle/>
          <a:p>
            <a:pPr algn="l" indent="0" marL="0">
              <a:buNone/>
            </a:pPr>
            <a:r>
              <a:rPr lang="en-US" sz="750" b="1" dirty="0">
                <a:solidFill>
                  <a:srgbClr val="8A6D1E"/>
                </a:solidFill>
                <a:latin typeface="Calibri" pitchFamily="34" charset="0"/>
                <a:cs typeface="Amiri" pitchFamily="2" charset="-78"/>
              </a:rPr>
              <a:t>his</a:t>
            </a:r>
            <a:endParaRPr lang="en-US" sz="750" dirty="0"/>
          </a:p>
        </p:txBody>
      </p:sp>
      <p:sp>
        <p:nvSpPr>
          <p:cNvPr id="26" name="Text 23"/>
          <p:cNvSpPr txBox="1"/>
          <p:nvPr/>
        </p:nvSpPr>
        <p:spPr>
          <a:xfrm>
            <a:off x="10012680" y="3483864"/>
            <a:ext cx="1545336" cy="384048"/>
          </a:xfrm>
          <a:prstGeom prst="rect">
            <a:avLst/>
          </a:prstGeom>
          <a:noFill/>
          <a:ln/>
        </p:spPr>
        <p:txBody>
          <a:bodyPr wrap="square" lIns="0" tIns="0" rIns="0" bIns="0" rtlCol="0" anchor="ctr"/>
          <a:lstStyle/>
          <a:p>
            <a:pPr rtl="1" algn="ctr" indent="0" marL="0">
              <a:buNone/>
            </a:pPr>
            <a:r>
              <a:rPr lang="ar-SA" altLang="en-US" sz="1500" b="1" dirty="0">
                <a:solidFill>
                  <a:srgbClr val="1B3B6F"/>
                </a:solidFill>
                <a:latin typeface="Amiri" pitchFamily="2" charset="-78"/>
                <a:ea typeface="Amiri" pitchFamily="2" charset="-78"/>
                <a:cs typeface="Amiri" pitchFamily="2" charset="-78"/>
              </a:rPr>
              <a:t>أَبُوهُ</a:t>
            </a:r>
            <a:endParaRPr lang="ar-SA" sz="1500" dirty="0"/>
          </a:p>
        </p:txBody>
      </p:sp>
      <p:sp>
        <p:nvSpPr>
          <p:cNvPr id="27" name="Shape 24"/>
          <p:cNvSpPr/>
          <p:nvPr/>
        </p:nvSpPr>
        <p:spPr>
          <a:xfrm>
            <a:off x="8238744" y="3438144"/>
            <a:ext cx="1636776" cy="438912"/>
          </a:xfrm>
          <a:prstGeom prst="roundRect">
            <a:avLst>
              <a:gd name="adj" fmla="val 10417"/>
            </a:avLst>
          </a:prstGeom>
          <a:solidFill>
            <a:srgbClr val="F4F1EA"/>
          </a:solidFill>
          <a:ln w="9525">
            <a:solidFill>
              <a:srgbClr val="F4F1EA"/>
            </a:solidFill>
            <a:prstDash val="solid"/>
          </a:ln>
        </p:spPr>
      </p:sp>
      <p:sp>
        <p:nvSpPr>
          <p:cNvPr id="28" name="Text 25"/>
          <p:cNvSpPr txBox="1"/>
          <p:nvPr/>
        </p:nvSpPr>
        <p:spPr>
          <a:xfrm>
            <a:off x="8293608" y="3447288"/>
            <a:ext cx="1527048" cy="155448"/>
          </a:xfrm>
          <a:prstGeom prst="rect">
            <a:avLst/>
          </a:prstGeom>
          <a:noFill/>
          <a:ln/>
        </p:spPr>
        <p:txBody>
          <a:bodyPr wrap="square" lIns="0" tIns="0" rIns="0" bIns="0" rtlCol="0" anchor="ctr"/>
          <a:lstStyle/>
          <a:p>
            <a:pPr algn="l" indent="0" marL="0">
              <a:buNone/>
            </a:pPr>
            <a:r>
              <a:rPr lang="en-US" sz="750" b="1" dirty="0">
                <a:solidFill>
                  <a:srgbClr val="8A6D1E"/>
                </a:solidFill>
                <a:latin typeface="Calibri" pitchFamily="34" charset="0"/>
                <a:cs typeface="Amiri" pitchFamily="2" charset="-78"/>
              </a:rPr>
              <a:t>my</a:t>
            </a:r>
            <a:endParaRPr lang="en-US" sz="750" dirty="0"/>
          </a:p>
        </p:txBody>
      </p:sp>
      <p:sp>
        <p:nvSpPr>
          <p:cNvPr id="29" name="Text 26"/>
          <p:cNvSpPr txBox="1"/>
          <p:nvPr/>
        </p:nvSpPr>
        <p:spPr>
          <a:xfrm>
            <a:off x="8284464" y="3483864"/>
            <a:ext cx="1545336" cy="384048"/>
          </a:xfrm>
          <a:prstGeom prst="rect">
            <a:avLst/>
          </a:prstGeom>
          <a:noFill/>
          <a:ln/>
        </p:spPr>
        <p:txBody>
          <a:bodyPr wrap="square" lIns="0" tIns="0" rIns="0" bIns="0" rtlCol="0" anchor="ctr"/>
          <a:lstStyle/>
          <a:p>
            <a:pPr rtl="1" algn="ctr" indent="0" marL="0">
              <a:buNone/>
            </a:pPr>
            <a:r>
              <a:rPr lang="ar-SA" altLang="en-US" sz="1500" b="1" dirty="0">
                <a:solidFill>
                  <a:srgbClr val="1B3B6F"/>
                </a:solidFill>
                <a:latin typeface="Amiri" pitchFamily="2" charset="-78"/>
                <a:ea typeface="Amiri" pitchFamily="2" charset="-78"/>
                <a:cs typeface="Amiri" pitchFamily="2" charset="-78"/>
              </a:rPr>
              <a:t>أَبِي</a:t>
            </a:r>
            <a:endParaRPr lang="ar-SA" sz="1500" dirty="0"/>
          </a:p>
        </p:txBody>
      </p:sp>
      <p:sp>
        <p:nvSpPr>
          <p:cNvPr id="30" name="Shape 27"/>
          <p:cNvSpPr/>
          <p:nvPr/>
        </p:nvSpPr>
        <p:spPr>
          <a:xfrm>
            <a:off x="4279392" y="1810512"/>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1" name="Shape 28"/>
          <p:cNvSpPr/>
          <p:nvPr/>
        </p:nvSpPr>
        <p:spPr>
          <a:xfrm>
            <a:off x="4389120" y="1920240"/>
            <a:ext cx="310896" cy="310896"/>
          </a:xfrm>
          <a:prstGeom prst="ellipse">
            <a:avLst/>
          </a:prstGeom>
          <a:solidFill>
            <a:srgbClr val="F4F1EA"/>
          </a:solidFill>
          <a:ln w="12700">
            <a:solidFill>
              <a:srgbClr val="F4F1EA"/>
            </a:solidFill>
            <a:prstDash val="solid"/>
          </a:ln>
        </p:spPr>
      </p:sp>
      <p:sp>
        <p:nvSpPr>
          <p:cNvPr id="32" name="Text 29"/>
          <p:cNvSpPr txBox="1"/>
          <p:nvPr/>
        </p:nvSpPr>
        <p:spPr>
          <a:xfrm>
            <a:off x="4389120" y="1920240"/>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cs typeface="Amiri" pitchFamily="2" charset="-78"/>
              </a:rPr>
              <a:t>2</a:t>
            </a:r>
            <a:endParaRPr lang="en-US" sz="1000" dirty="0"/>
          </a:p>
        </p:txBody>
      </p:sp>
      <p:sp>
        <p:nvSpPr>
          <p:cNvPr id="33" name="Shape 30"/>
          <p:cNvSpPr/>
          <p:nvPr/>
        </p:nvSpPr>
        <p:spPr>
          <a:xfrm>
            <a:off x="4782312" y="1938528"/>
            <a:ext cx="704088" cy="256032"/>
          </a:xfrm>
          <a:prstGeom prst="roundRect">
            <a:avLst>
              <a:gd name="adj" fmla="val 50000"/>
            </a:avLst>
          </a:prstGeom>
          <a:solidFill>
            <a:srgbClr val="EFE7D2"/>
          </a:solidFill>
          <a:ln w="12700">
            <a:solidFill>
              <a:srgbClr val="EFE7D2"/>
            </a:solidFill>
            <a:prstDash val="solid"/>
          </a:ln>
        </p:spPr>
      </p:sp>
      <p:sp>
        <p:nvSpPr>
          <p:cNvPr id="34" name="Text 31"/>
          <p:cNvSpPr txBox="1"/>
          <p:nvPr/>
        </p:nvSpPr>
        <p:spPr>
          <a:xfrm>
            <a:off x="4782312" y="1938528"/>
            <a:ext cx="704088" cy="256032"/>
          </a:xfrm>
          <a:prstGeom prst="rect">
            <a:avLst/>
          </a:prstGeom>
          <a:noFill/>
          <a:ln/>
        </p:spPr>
        <p:txBody>
          <a:bodyPr wrap="square" lIns="0" tIns="0" rIns="0" bIns="0" rtlCol="0" anchor="ctr"/>
          <a:lstStyle/>
          <a:p>
            <a:pPr algn="ctr" indent="0" marL="0">
              <a:buNone/>
            </a:pPr>
            <a:r>
              <a:rPr lang="en-US" sz="800" b="1" dirty="0">
                <a:solidFill>
                  <a:srgbClr val="8A6D1E"/>
                </a:solidFill>
                <a:latin typeface="Calibri" pitchFamily="34" charset="0"/>
                <a:cs typeface="Amiri" pitchFamily="2" charset="-78"/>
              </a:rPr>
              <a:t>f.</a:t>
            </a:r>
            <a:endParaRPr lang="en-US" sz="800" dirty="0"/>
          </a:p>
        </p:txBody>
      </p:sp>
      <p:sp>
        <p:nvSpPr>
          <p:cNvPr id="35" name="Shape 32"/>
          <p:cNvSpPr/>
          <p:nvPr/>
        </p:nvSpPr>
        <p:spPr>
          <a:xfrm>
            <a:off x="7050024" y="1938528"/>
            <a:ext cx="731520" cy="256032"/>
          </a:xfrm>
          <a:prstGeom prst="roundRect">
            <a:avLst>
              <a:gd name="adj" fmla="val 50000"/>
            </a:avLst>
          </a:prstGeom>
          <a:solidFill>
            <a:srgbClr val="2E8B57"/>
          </a:solidFill>
          <a:ln w="12700">
            <a:solidFill>
              <a:srgbClr val="2E8B57"/>
            </a:solidFill>
            <a:prstDash val="solid"/>
          </a:ln>
        </p:spPr>
      </p:sp>
      <p:sp>
        <p:nvSpPr>
          <p:cNvPr id="36" name="Text 33"/>
          <p:cNvSpPr txBox="1"/>
          <p:nvPr/>
        </p:nvSpPr>
        <p:spPr>
          <a:xfrm>
            <a:off x="7050024" y="1938528"/>
            <a:ext cx="73152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cs typeface="Amiri" pitchFamily="2" charset="-78"/>
              </a:rPr>
              <a:t>CORE</a:t>
            </a:r>
            <a:endParaRPr lang="en-US" sz="800" dirty="0"/>
          </a:p>
        </p:txBody>
      </p:sp>
      <p:sp>
        <p:nvSpPr>
          <p:cNvPr id="37" name="Text 34"/>
          <p:cNvSpPr txBox="1"/>
          <p:nvPr/>
        </p:nvSpPr>
        <p:spPr>
          <a:xfrm>
            <a:off x="4389120" y="2212848"/>
            <a:ext cx="3401568" cy="713232"/>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2" charset="-78"/>
                <a:ea typeface="Amiri" pitchFamily="2" charset="-78"/>
                <a:cs typeface="Amiri" pitchFamily="2" charset="-78"/>
              </a:rPr>
              <a:t>أُخْتٌ</a:t>
            </a:r>
            <a:endParaRPr lang="ar-SA" sz="3000" dirty="0"/>
          </a:p>
        </p:txBody>
      </p:sp>
      <p:sp>
        <p:nvSpPr>
          <p:cNvPr id="38" name="Text 35"/>
          <p:cNvSpPr txBox="1"/>
          <p:nvPr/>
        </p:nvSpPr>
        <p:spPr>
          <a:xfrm>
            <a:off x="4416552" y="2907792"/>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cs typeface="Amiri" pitchFamily="2" charset="-78"/>
              </a:rPr>
              <a:t>sister</a:t>
            </a:r>
            <a:endParaRPr lang="en-US" sz="1350" dirty="0"/>
          </a:p>
          <a:p>
            <a:pPr indent="0" marL="0">
              <a:buNone/>
            </a:pPr>
            <a:r>
              <a:rPr lang="en-US" sz="1100" i="1" dirty="0">
                <a:solidFill>
                  <a:srgbClr val="5A6472"/>
                </a:solidFill>
                <a:latin typeface="Calibri" pitchFamily="34" charset="0"/>
                <a:cs typeface="Amiri" pitchFamily="2" charset="-78"/>
              </a:rPr>
              <a:t>ukht</a:t>
            </a:r>
            <a:endParaRPr lang="en-US" sz="1350" dirty="0"/>
          </a:p>
        </p:txBody>
      </p:sp>
      <p:sp>
        <p:nvSpPr>
          <p:cNvPr id="39" name="Shape 36"/>
          <p:cNvSpPr/>
          <p:nvPr/>
        </p:nvSpPr>
        <p:spPr>
          <a:xfrm>
            <a:off x="6720840" y="3438144"/>
            <a:ext cx="1060704" cy="438912"/>
          </a:xfrm>
          <a:prstGeom prst="roundRect">
            <a:avLst>
              <a:gd name="adj" fmla="val 10417"/>
            </a:avLst>
          </a:prstGeom>
          <a:solidFill>
            <a:srgbClr val="F4F1EA"/>
          </a:solidFill>
          <a:ln w="9525">
            <a:solidFill>
              <a:srgbClr val="F4F1EA"/>
            </a:solidFill>
            <a:prstDash val="solid"/>
          </a:ln>
        </p:spPr>
      </p:sp>
      <p:sp>
        <p:nvSpPr>
          <p:cNvPr id="40" name="Text 37"/>
          <p:cNvSpPr txBox="1"/>
          <p:nvPr/>
        </p:nvSpPr>
        <p:spPr>
          <a:xfrm>
            <a:off x="6775704" y="3447288"/>
            <a:ext cx="950976" cy="155448"/>
          </a:xfrm>
          <a:prstGeom prst="rect">
            <a:avLst/>
          </a:prstGeom>
          <a:noFill/>
          <a:ln/>
        </p:spPr>
        <p:txBody>
          <a:bodyPr wrap="square" lIns="0" tIns="0" rIns="0" bIns="0" rtlCol="0" anchor="ctr"/>
          <a:lstStyle/>
          <a:p>
            <a:pPr algn="l" indent="0" marL="0">
              <a:buNone/>
            </a:pPr>
            <a:r>
              <a:rPr lang="en-US" sz="750" b="1" dirty="0">
                <a:solidFill>
                  <a:srgbClr val="8A6D1E"/>
                </a:solidFill>
                <a:latin typeface="Calibri" pitchFamily="34" charset="0"/>
                <a:cs typeface="Amiri" pitchFamily="2" charset="-78"/>
              </a:rPr>
              <a:t>pl.</a:t>
            </a:r>
            <a:endParaRPr lang="en-US" sz="750" dirty="0"/>
          </a:p>
        </p:txBody>
      </p:sp>
      <p:sp>
        <p:nvSpPr>
          <p:cNvPr id="41" name="Text 38"/>
          <p:cNvSpPr txBox="1"/>
          <p:nvPr/>
        </p:nvSpPr>
        <p:spPr>
          <a:xfrm>
            <a:off x="6766560" y="3483864"/>
            <a:ext cx="969264" cy="384048"/>
          </a:xfrm>
          <a:prstGeom prst="rect">
            <a:avLst/>
          </a:prstGeom>
          <a:noFill/>
          <a:ln/>
        </p:spPr>
        <p:txBody>
          <a:bodyPr wrap="square" lIns="0" tIns="0" rIns="0" bIns="0" rtlCol="0" anchor="ctr"/>
          <a:lstStyle/>
          <a:p>
            <a:pPr rtl="1" algn="ctr" indent="0" marL="0">
              <a:buNone/>
            </a:pPr>
            <a:r>
              <a:rPr lang="ar-SA" altLang="en-US" sz="1500" b="1" dirty="0">
                <a:solidFill>
                  <a:srgbClr val="1B3B6F"/>
                </a:solidFill>
                <a:latin typeface="Amiri" pitchFamily="2" charset="-78"/>
                <a:ea typeface="Amiri" pitchFamily="2" charset="-78"/>
                <a:cs typeface="Amiri" pitchFamily="2" charset="-78"/>
              </a:rPr>
              <a:t>أَخَوَاتٌ</a:t>
            </a:r>
            <a:endParaRPr lang="ar-SA" sz="1500" dirty="0"/>
          </a:p>
        </p:txBody>
      </p:sp>
      <p:sp>
        <p:nvSpPr>
          <p:cNvPr id="42" name="Shape 39"/>
          <p:cNvSpPr/>
          <p:nvPr/>
        </p:nvSpPr>
        <p:spPr>
          <a:xfrm>
            <a:off x="5568696" y="3438144"/>
            <a:ext cx="1060704" cy="438912"/>
          </a:xfrm>
          <a:prstGeom prst="roundRect">
            <a:avLst>
              <a:gd name="adj" fmla="val 10417"/>
            </a:avLst>
          </a:prstGeom>
          <a:solidFill>
            <a:srgbClr val="F4F1EA"/>
          </a:solidFill>
          <a:ln w="9525">
            <a:solidFill>
              <a:srgbClr val="F4F1EA"/>
            </a:solidFill>
            <a:prstDash val="solid"/>
          </a:ln>
        </p:spPr>
      </p:sp>
      <p:sp>
        <p:nvSpPr>
          <p:cNvPr id="43" name="Text 40"/>
          <p:cNvSpPr txBox="1"/>
          <p:nvPr/>
        </p:nvSpPr>
        <p:spPr>
          <a:xfrm>
            <a:off x="5623560" y="3447288"/>
            <a:ext cx="950976" cy="155448"/>
          </a:xfrm>
          <a:prstGeom prst="rect">
            <a:avLst/>
          </a:prstGeom>
          <a:noFill/>
          <a:ln/>
        </p:spPr>
        <p:txBody>
          <a:bodyPr wrap="square" lIns="0" tIns="0" rIns="0" bIns="0" rtlCol="0" anchor="ctr"/>
          <a:lstStyle/>
          <a:p>
            <a:pPr algn="l" indent="0" marL="0">
              <a:buNone/>
            </a:pPr>
            <a:r>
              <a:rPr lang="en-US" sz="750" b="1" dirty="0">
                <a:solidFill>
                  <a:srgbClr val="8A6D1E"/>
                </a:solidFill>
                <a:latin typeface="Calibri" pitchFamily="34" charset="0"/>
                <a:cs typeface="Amiri" pitchFamily="2" charset="-78"/>
              </a:rPr>
              <a:t>his</a:t>
            </a:r>
            <a:endParaRPr lang="en-US" sz="750" dirty="0"/>
          </a:p>
        </p:txBody>
      </p:sp>
      <p:sp>
        <p:nvSpPr>
          <p:cNvPr id="44" name="Text 41"/>
          <p:cNvSpPr txBox="1"/>
          <p:nvPr/>
        </p:nvSpPr>
        <p:spPr>
          <a:xfrm>
            <a:off x="5614416" y="3483864"/>
            <a:ext cx="969264" cy="384048"/>
          </a:xfrm>
          <a:prstGeom prst="rect">
            <a:avLst/>
          </a:prstGeom>
          <a:noFill/>
          <a:ln/>
        </p:spPr>
        <p:txBody>
          <a:bodyPr wrap="square" lIns="0" tIns="0" rIns="0" bIns="0" rtlCol="0" anchor="ctr"/>
          <a:lstStyle/>
          <a:p>
            <a:pPr rtl="1" algn="ctr" indent="0" marL="0">
              <a:buNone/>
            </a:pPr>
            <a:r>
              <a:rPr lang="ar-SA" altLang="en-US" sz="1500" b="1" dirty="0">
                <a:solidFill>
                  <a:srgbClr val="1B3B6F"/>
                </a:solidFill>
                <a:latin typeface="Amiri" pitchFamily="2" charset="-78"/>
                <a:ea typeface="Amiri" pitchFamily="2" charset="-78"/>
                <a:cs typeface="Amiri" pitchFamily="2" charset="-78"/>
              </a:rPr>
              <a:t>أُخْتُهُ</a:t>
            </a:r>
            <a:endParaRPr lang="ar-SA" sz="1500" dirty="0"/>
          </a:p>
        </p:txBody>
      </p:sp>
      <p:sp>
        <p:nvSpPr>
          <p:cNvPr id="45" name="Shape 42"/>
          <p:cNvSpPr/>
          <p:nvPr/>
        </p:nvSpPr>
        <p:spPr>
          <a:xfrm>
            <a:off x="4416552" y="3438144"/>
            <a:ext cx="1060704" cy="438912"/>
          </a:xfrm>
          <a:prstGeom prst="roundRect">
            <a:avLst>
              <a:gd name="adj" fmla="val 10417"/>
            </a:avLst>
          </a:prstGeom>
          <a:solidFill>
            <a:srgbClr val="F4F1EA"/>
          </a:solidFill>
          <a:ln w="9525">
            <a:solidFill>
              <a:srgbClr val="F4F1EA"/>
            </a:solidFill>
            <a:prstDash val="solid"/>
          </a:ln>
        </p:spPr>
      </p:sp>
      <p:sp>
        <p:nvSpPr>
          <p:cNvPr id="46" name="Text 43"/>
          <p:cNvSpPr txBox="1"/>
          <p:nvPr/>
        </p:nvSpPr>
        <p:spPr>
          <a:xfrm>
            <a:off x="4471416" y="3447288"/>
            <a:ext cx="950976" cy="155448"/>
          </a:xfrm>
          <a:prstGeom prst="rect">
            <a:avLst/>
          </a:prstGeom>
          <a:noFill/>
          <a:ln/>
        </p:spPr>
        <p:txBody>
          <a:bodyPr wrap="square" lIns="0" tIns="0" rIns="0" bIns="0" rtlCol="0" anchor="ctr"/>
          <a:lstStyle/>
          <a:p>
            <a:pPr algn="l" indent="0" marL="0">
              <a:buNone/>
            </a:pPr>
            <a:r>
              <a:rPr lang="en-US" sz="750" b="1" dirty="0">
                <a:solidFill>
                  <a:srgbClr val="8A6D1E"/>
                </a:solidFill>
                <a:latin typeface="Calibri" pitchFamily="34" charset="0"/>
                <a:cs typeface="Amiri" pitchFamily="2" charset="-78"/>
              </a:rPr>
              <a:t>my</a:t>
            </a:r>
            <a:endParaRPr lang="en-US" sz="750" dirty="0"/>
          </a:p>
        </p:txBody>
      </p:sp>
      <p:sp>
        <p:nvSpPr>
          <p:cNvPr id="47" name="Text 44"/>
          <p:cNvSpPr txBox="1"/>
          <p:nvPr/>
        </p:nvSpPr>
        <p:spPr>
          <a:xfrm>
            <a:off x="4462272" y="3483864"/>
            <a:ext cx="969264" cy="384048"/>
          </a:xfrm>
          <a:prstGeom prst="rect">
            <a:avLst/>
          </a:prstGeom>
          <a:noFill/>
          <a:ln/>
        </p:spPr>
        <p:txBody>
          <a:bodyPr wrap="square" lIns="0" tIns="0" rIns="0" bIns="0" rtlCol="0" anchor="ctr"/>
          <a:lstStyle/>
          <a:p>
            <a:pPr rtl="1" algn="ctr" indent="0" marL="0">
              <a:buNone/>
            </a:pPr>
            <a:r>
              <a:rPr lang="ar-SA" altLang="en-US" sz="1500" b="1" dirty="0">
                <a:solidFill>
                  <a:srgbClr val="1B3B6F"/>
                </a:solidFill>
                <a:latin typeface="Amiri" pitchFamily="2" charset="-78"/>
                <a:ea typeface="Amiri" pitchFamily="2" charset="-78"/>
                <a:cs typeface="Amiri" pitchFamily="2" charset="-78"/>
              </a:rPr>
              <a:t>أُخْتِي</a:t>
            </a:r>
            <a:endParaRPr lang="ar-SA" sz="1500" dirty="0"/>
          </a:p>
        </p:txBody>
      </p:sp>
      <p:sp>
        <p:nvSpPr>
          <p:cNvPr id="48" name="Shape 45"/>
          <p:cNvSpPr/>
          <p:nvPr/>
        </p:nvSpPr>
        <p:spPr>
          <a:xfrm>
            <a:off x="457200" y="1810512"/>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9" name="Shape 46"/>
          <p:cNvSpPr/>
          <p:nvPr/>
        </p:nvSpPr>
        <p:spPr>
          <a:xfrm>
            <a:off x="566928" y="1920240"/>
            <a:ext cx="310896" cy="310896"/>
          </a:xfrm>
          <a:prstGeom prst="ellipse">
            <a:avLst/>
          </a:prstGeom>
          <a:solidFill>
            <a:srgbClr val="F4F1EA"/>
          </a:solidFill>
          <a:ln w="12700">
            <a:solidFill>
              <a:srgbClr val="F4F1EA"/>
            </a:solidFill>
            <a:prstDash val="solid"/>
          </a:ln>
        </p:spPr>
      </p:sp>
      <p:sp>
        <p:nvSpPr>
          <p:cNvPr id="50" name="Text 47"/>
          <p:cNvSpPr txBox="1"/>
          <p:nvPr/>
        </p:nvSpPr>
        <p:spPr>
          <a:xfrm>
            <a:off x="566928" y="1920240"/>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cs typeface="Amiri" pitchFamily="2" charset="-78"/>
              </a:rPr>
              <a:t>3</a:t>
            </a:r>
            <a:endParaRPr lang="en-US" sz="1000" dirty="0"/>
          </a:p>
        </p:txBody>
      </p:sp>
      <p:sp>
        <p:nvSpPr>
          <p:cNvPr id="51" name="Shape 48"/>
          <p:cNvSpPr/>
          <p:nvPr/>
        </p:nvSpPr>
        <p:spPr>
          <a:xfrm>
            <a:off x="960120" y="1938528"/>
            <a:ext cx="709574" cy="256032"/>
          </a:xfrm>
          <a:prstGeom prst="roundRect">
            <a:avLst>
              <a:gd name="adj" fmla="val 50000"/>
            </a:avLst>
          </a:prstGeom>
          <a:solidFill>
            <a:srgbClr val="EFE7D2"/>
          </a:solidFill>
          <a:ln w="12700">
            <a:solidFill>
              <a:srgbClr val="EFE7D2"/>
            </a:solidFill>
            <a:prstDash val="solid"/>
          </a:ln>
        </p:spPr>
      </p:sp>
      <p:sp>
        <p:nvSpPr>
          <p:cNvPr id="52" name="Text 49"/>
          <p:cNvSpPr txBox="1"/>
          <p:nvPr/>
        </p:nvSpPr>
        <p:spPr>
          <a:xfrm>
            <a:off x="960120" y="1938528"/>
            <a:ext cx="709574" cy="256032"/>
          </a:xfrm>
          <a:prstGeom prst="rect">
            <a:avLst/>
          </a:prstGeom>
          <a:noFill/>
          <a:ln/>
        </p:spPr>
        <p:txBody>
          <a:bodyPr wrap="square" lIns="0" tIns="0" rIns="0" bIns="0" rtlCol="0" anchor="ctr"/>
          <a:lstStyle/>
          <a:p>
            <a:pPr algn="ctr" indent="0" marL="0">
              <a:buNone/>
            </a:pPr>
            <a:r>
              <a:rPr lang="en-US" sz="800" b="1" dirty="0">
                <a:solidFill>
                  <a:srgbClr val="8A6D1E"/>
                </a:solidFill>
                <a:latin typeface="Calibri" pitchFamily="34" charset="0"/>
                <a:cs typeface="Amiri" pitchFamily="2" charset="-78"/>
              </a:rPr>
              <a:t>my · pl</a:t>
            </a:r>
            <a:endParaRPr lang="en-US" sz="800" dirty="0"/>
          </a:p>
        </p:txBody>
      </p:sp>
      <p:sp>
        <p:nvSpPr>
          <p:cNvPr id="53" name="Shape 50"/>
          <p:cNvSpPr/>
          <p:nvPr/>
        </p:nvSpPr>
        <p:spPr>
          <a:xfrm>
            <a:off x="3227832" y="1938528"/>
            <a:ext cx="731520" cy="256032"/>
          </a:xfrm>
          <a:prstGeom prst="roundRect">
            <a:avLst>
              <a:gd name="adj" fmla="val 50000"/>
            </a:avLst>
          </a:prstGeom>
          <a:solidFill>
            <a:srgbClr val="2E8B57"/>
          </a:solidFill>
          <a:ln w="12700">
            <a:solidFill>
              <a:srgbClr val="2E8B57"/>
            </a:solidFill>
            <a:prstDash val="solid"/>
          </a:ln>
        </p:spPr>
      </p:sp>
      <p:sp>
        <p:nvSpPr>
          <p:cNvPr id="54" name="Text 51"/>
          <p:cNvSpPr txBox="1"/>
          <p:nvPr/>
        </p:nvSpPr>
        <p:spPr>
          <a:xfrm>
            <a:off x="3227832" y="1938528"/>
            <a:ext cx="73152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cs typeface="Amiri" pitchFamily="2" charset="-78"/>
              </a:rPr>
              <a:t>CORE</a:t>
            </a:r>
            <a:endParaRPr lang="en-US" sz="800" dirty="0"/>
          </a:p>
        </p:txBody>
      </p:sp>
      <p:sp>
        <p:nvSpPr>
          <p:cNvPr id="55" name="Text 52"/>
          <p:cNvSpPr txBox="1"/>
          <p:nvPr/>
        </p:nvSpPr>
        <p:spPr>
          <a:xfrm>
            <a:off x="566928" y="2212848"/>
            <a:ext cx="3401568" cy="713232"/>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2" charset="-78"/>
                <a:ea typeface="Amiri" pitchFamily="2" charset="-78"/>
                <a:cs typeface="Amiri" pitchFamily="2" charset="-78"/>
              </a:rPr>
              <a:t>جَدٌّ</a:t>
            </a:r>
            <a:endParaRPr lang="ar-SA" sz="3000" dirty="0"/>
          </a:p>
        </p:txBody>
      </p:sp>
      <p:sp>
        <p:nvSpPr>
          <p:cNvPr id="56" name="Text 53"/>
          <p:cNvSpPr txBox="1"/>
          <p:nvPr/>
        </p:nvSpPr>
        <p:spPr>
          <a:xfrm>
            <a:off x="594360" y="2907792"/>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cs typeface="Amiri" pitchFamily="2" charset="-78"/>
              </a:rPr>
              <a:t>grandfather</a:t>
            </a:r>
            <a:endParaRPr lang="en-US" sz="1350" dirty="0"/>
          </a:p>
          <a:p>
            <a:pPr indent="0" marL="0">
              <a:buNone/>
            </a:pPr>
            <a:r>
              <a:rPr lang="en-US" sz="1100" i="1" dirty="0">
                <a:solidFill>
                  <a:srgbClr val="5A6472"/>
                </a:solidFill>
                <a:latin typeface="Calibri" pitchFamily="34" charset="0"/>
                <a:cs typeface="Amiri" pitchFamily="2" charset="-78"/>
              </a:rPr>
              <a:t>jadd</a:t>
            </a:r>
            <a:endParaRPr lang="en-US" sz="1350" dirty="0"/>
          </a:p>
        </p:txBody>
      </p:sp>
      <p:sp>
        <p:nvSpPr>
          <p:cNvPr id="57" name="Shape 54"/>
          <p:cNvSpPr/>
          <p:nvPr/>
        </p:nvSpPr>
        <p:spPr>
          <a:xfrm>
            <a:off x="2322576" y="3438144"/>
            <a:ext cx="1636776" cy="438912"/>
          </a:xfrm>
          <a:prstGeom prst="roundRect">
            <a:avLst>
              <a:gd name="adj" fmla="val 10417"/>
            </a:avLst>
          </a:prstGeom>
          <a:solidFill>
            <a:srgbClr val="F4F1EA"/>
          </a:solidFill>
          <a:ln w="9525">
            <a:solidFill>
              <a:srgbClr val="F4F1EA"/>
            </a:solidFill>
            <a:prstDash val="solid"/>
          </a:ln>
        </p:spPr>
      </p:sp>
      <p:sp>
        <p:nvSpPr>
          <p:cNvPr id="58" name="Text 55"/>
          <p:cNvSpPr txBox="1"/>
          <p:nvPr/>
        </p:nvSpPr>
        <p:spPr>
          <a:xfrm>
            <a:off x="2377440" y="3447288"/>
            <a:ext cx="1527048" cy="155448"/>
          </a:xfrm>
          <a:prstGeom prst="rect">
            <a:avLst/>
          </a:prstGeom>
          <a:noFill/>
          <a:ln/>
        </p:spPr>
        <p:txBody>
          <a:bodyPr wrap="square" lIns="0" tIns="0" rIns="0" bIns="0" rtlCol="0" anchor="ctr"/>
          <a:lstStyle/>
          <a:p>
            <a:pPr algn="l" indent="0" marL="0">
              <a:buNone/>
            </a:pPr>
            <a:r>
              <a:rPr lang="en-US" sz="750" b="1" dirty="0">
                <a:solidFill>
                  <a:srgbClr val="8A6D1E"/>
                </a:solidFill>
                <a:latin typeface="Calibri" pitchFamily="34" charset="0"/>
                <a:cs typeface="Amiri" pitchFamily="2" charset="-78"/>
              </a:rPr>
              <a:t>pl.</a:t>
            </a:r>
            <a:endParaRPr lang="en-US" sz="750" dirty="0"/>
          </a:p>
        </p:txBody>
      </p:sp>
      <p:sp>
        <p:nvSpPr>
          <p:cNvPr id="59" name="Text 56"/>
          <p:cNvSpPr txBox="1"/>
          <p:nvPr/>
        </p:nvSpPr>
        <p:spPr>
          <a:xfrm>
            <a:off x="2368296" y="3483864"/>
            <a:ext cx="1545336" cy="384048"/>
          </a:xfrm>
          <a:prstGeom prst="rect">
            <a:avLst/>
          </a:prstGeom>
          <a:noFill/>
          <a:ln/>
        </p:spPr>
        <p:txBody>
          <a:bodyPr wrap="square" lIns="0" tIns="0" rIns="0" bIns="0" rtlCol="0" anchor="ctr"/>
          <a:lstStyle/>
          <a:p>
            <a:pPr rtl="1" algn="ctr" indent="0" marL="0">
              <a:buNone/>
            </a:pPr>
            <a:r>
              <a:rPr lang="ar-SA" altLang="en-US" sz="1500" b="1" dirty="0">
                <a:solidFill>
                  <a:srgbClr val="1B3B6F"/>
                </a:solidFill>
                <a:latin typeface="Amiri" pitchFamily="2" charset="-78"/>
                <a:ea typeface="Amiri" pitchFamily="2" charset="-78"/>
                <a:cs typeface="Amiri" pitchFamily="2" charset="-78"/>
              </a:rPr>
              <a:t>أَجْدَادٌ</a:t>
            </a:r>
            <a:endParaRPr lang="ar-SA" sz="1500" dirty="0"/>
          </a:p>
        </p:txBody>
      </p:sp>
      <p:sp>
        <p:nvSpPr>
          <p:cNvPr id="60" name="Shape 57"/>
          <p:cNvSpPr/>
          <p:nvPr/>
        </p:nvSpPr>
        <p:spPr>
          <a:xfrm>
            <a:off x="594360" y="3438144"/>
            <a:ext cx="1636776" cy="438912"/>
          </a:xfrm>
          <a:prstGeom prst="roundRect">
            <a:avLst>
              <a:gd name="adj" fmla="val 10417"/>
            </a:avLst>
          </a:prstGeom>
          <a:solidFill>
            <a:srgbClr val="F4F1EA"/>
          </a:solidFill>
          <a:ln w="9525">
            <a:solidFill>
              <a:srgbClr val="F4F1EA"/>
            </a:solidFill>
            <a:prstDash val="solid"/>
          </a:ln>
        </p:spPr>
      </p:sp>
      <p:sp>
        <p:nvSpPr>
          <p:cNvPr id="61" name="Text 58"/>
          <p:cNvSpPr txBox="1"/>
          <p:nvPr/>
        </p:nvSpPr>
        <p:spPr>
          <a:xfrm>
            <a:off x="649224" y="3447288"/>
            <a:ext cx="1527048" cy="155448"/>
          </a:xfrm>
          <a:prstGeom prst="rect">
            <a:avLst/>
          </a:prstGeom>
          <a:noFill/>
          <a:ln/>
        </p:spPr>
        <p:txBody>
          <a:bodyPr wrap="square" lIns="0" tIns="0" rIns="0" bIns="0" rtlCol="0" anchor="ctr"/>
          <a:lstStyle/>
          <a:p>
            <a:pPr algn="l" indent="0" marL="0">
              <a:buNone/>
            </a:pPr>
            <a:r>
              <a:rPr lang="en-US" sz="750" b="1" dirty="0">
                <a:solidFill>
                  <a:srgbClr val="8A6D1E"/>
                </a:solidFill>
                <a:latin typeface="Calibri" pitchFamily="34" charset="0"/>
                <a:cs typeface="Amiri" pitchFamily="2" charset="-78"/>
              </a:rPr>
              <a:t>my</a:t>
            </a:r>
            <a:endParaRPr lang="en-US" sz="750" dirty="0"/>
          </a:p>
        </p:txBody>
      </p:sp>
      <p:sp>
        <p:nvSpPr>
          <p:cNvPr id="62" name="Text 59"/>
          <p:cNvSpPr txBox="1"/>
          <p:nvPr/>
        </p:nvSpPr>
        <p:spPr>
          <a:xfrm>
            <a:off x="640080" y="3483864"/>
            <a:ext cx="1545336" cy="384048"/>
          </a:xfrm>
          <a:prstGeom prst="rect">
            <a:avLst/>
          </a:prstGeom>
          <a:noFill/>
          <a:ln/>
        </p:spPr>
        <p:txBody>
          <a:bodyPr wrap="square" lIns="0" tIns="0" rIns="0" bIns="0" rtlCol="0" anchor="ctr"/>
          <a:lstStyle/>
          <a:p>
            <a:pPr rtl="1" algn="ctr" indent="0" marL="0">
              <a:buNone/>
            </a:pPr>
            <a:r>
              <a:rPr lang="ar-SA" altLang="en-US" sz="1500" b="1" dirty="0">
                <a:solidFill>
                  <a:srgbClr val="1B3B6F"/>
                </a:solidFill>
                <a:latin typeface="Amiri" pitchFamily="2" charset="-78"/>
                <a:ea typeface="Amiri" pitchFamily="2" charset="-78"/>
                <a:cs typeface="Amiri" pitchFamily="2" charset="-78"/>
              </a:rPr>
              <a:t>جَدِّي</a:t>
            </a:r>
            <a:endParaRPr lang="ar-SA" sz="1500" dirty="0"/>
          </a:p>
        </p:txBody>
      </p:sp>
      <p:sp>
        <p:nvSpPr>
          <p:cNvPr id="63" name="Shape 60"/>
          <p:cNvSpPr/>
          <p:nvPr/>
        </p:nvSpPr>
        <p:spPr>
          <a:xfrm>
            <a:off x="8101584" y="4151376"/>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64" name="Shape 61"/>
          <p:cNvSpPr/>
          <p:nvPr/>
        </p:nvSpPr>
        <p:spPr>
          <a:xfrm>
            <a:off x="8211312" y="4261104"/>
            <a:ext cx="310896" cy="310896"/>
          </a:xfrm>
          <a:prstGeom prst="ellipse">
            <a:avLst/>
          </a:prstGeom>
          <a:solidFill>
            <a:srgbClr val="F4F1EA"/>
          </a:solidFill>
          <a:ln w="12700">
            <a:solidFill>
              <a:srgbClr val="F4F1EA"/>
            </a:solidFill>
            <a:prstDash val="solid"/>
          </a:ln>
        </p:spPr>
      </p:sp>
      <p:sp>
        <p:nvSpPr>
          <p:cNvPr id="65" name="Text 62"/>
          <p:cNvSpPr txBox="1"/>
          <p:nvPr/>
        </p:nvSpPr>
        <p:spPr>
          <a:xfrm>
            <a:off x="8211312" y="4261104"/>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cs typeface="Amiri" pitchFamily="2" charset="-78"/>
              </a:rPr>
              <a:t>4</a:t>
            </a:r>
            <a:endParaRPr lang="en-US" sz="1000" dirty="0"/>
          </a:p>
        </p:txBody>
      </p:sp>
      <p:sp>
        <p:nvSpPr>
          <p:cNvPr id="66" name="Shape 63"/>
          <p:cNvSpPr/>
          <p:nvPr/>
        </p:nvSpPr>
        <p:spPr>
          <a:xfrm>
            <a:off x="8604504" y="4279392"/>
            <a:ext cx="709574" cy="256032"/>
          </a:xfrm>
          <a:prstGeom prst="roundRect">
            <a:avLst>
              <a:gd name="adj" fmla="val 50000"/>
            </a:avLst>
          </a:prstGeom>
          <a:solidFill>
            <a:srgbClr val="EFE7D2"/>
          </a:solidFill>
          <a:ln w="12700">
            <a:solidFill>
              <a:srgbClr val="EFE7D2"/>
            </a:solidFill>
            <a:prstDash val="solid"/>
          </a:ln>
        </p:spPr>
      </p:sp>
      <p:sp>
        <p:nvSpPr>
          <p:cNvPr id="67" name="Text 64"/>
          <p:cNvSpPr txBox="1"/>
          <p:nvPr/>
        </p:nvSpPr>
        <p:spPr>
          <a:xfrm>
            <a:off x="8604504" y="4279392"/>
            <a:ext cx="709574" cy="256032"/>
          </a:xfrm>
          <a:prstGeom prst="rect">
            <a:avLst/>
          </a:prstGeom>
          <a:noFill/>
          <a:ln/>
        </p:spPr>
        <p:txBody>
          <a:bodyPr wrap="square" lIns="0" tIns="0" rIns="0" bIns="0" rtlCol="0" anchor="ctr"/>
          <a:lstStyle/>
          <a:p>
            <a:pPr algn="ctr" indent="0" marL="0">
              <a:buNone/>
            </a:pPr>
            <a:r>
              <a:rPr lang="en-US" sz="800" b="1" dirty="0">
                <a:solidFill>
                  <a:srgbClr val="8A6D1E"/>
                </a:solidFill>
                <a:latin typeface="Calibri" pitchFamily="34" charset="0"/>
                <a:cs typeface="Amiri" pitchFamily="2" charset="-78"/>
              </a:rPr>
              <a:t>my · pl</a:t>
            </a:r>
            <a:endParaRPr lang="en-US" sz="800" dirty="0"/>
          </a:p>
        </p:txBody>
      </p:sp>
      <p:sp>
        <p:nvSpPr>
          <p:cNvPr id="68" name="Text 65"/>
          <p:cNvSpPr txBox="1"/>
          <p:nvPr/>
        </p:nvSpPr>
        <p:spPr>
          <a:xfrm>
            <a:off x="8211312" y="4553712"/>
            <a:ext cx="3401568" cy="713232"/>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2" charset="-78"/>
                <a:ea typeface="Amiri" pitchFamily="2" charset="-78"/>
                <a:cs typeface="Amiri" pitchFamily="2" charset="-78"/>
              </a:rPr>
              <a:t>عَمَّةٌ</a:t>
            </a:r>
            <a:endParaRPr lang="ar-SA" sz="3000" dirty="0"/>
          </a:p>
        </p:txBody>
      </p:sp>
      <p:sp>
        <p:nvSpPr>
          <p:cNvPr id="69" name="Text 66"/>
          <p:cNvSpPr txBox="1"/>
          <p:nvPr/>
        </p:nvSpPr>
        <p:spPr>
          <a:xfrm>
            <a:off x="8238744" y="5248656"/>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cs typeface="Amiri" pitchFamily="2" charset="-78"/>
              </a:rPr>
              <a:t>aunt (father’s side)</a:t>
            </a:r>
            <a:endParaRPr lang="en-US" sz="1350" dirty="0"/>
          </a:p>
          <a:p>
            <a:pPr indent="0" marL="0">
              <a:buNone/>
            </a:pPr>
            <a:r>
              <a:rPr lang="en-US" sz="1100" i="1" dirty="0">
                <a:solidFill>
                  <a:srgbClr val="5A6472"/>
                </a:solidFill>
                <a:latin typeface="Calibri" pitchFamily="34" charset="0"/>
                <a:cs typeface="Amiri" pitchFamily="2" charset="-78"/>
              </a:rPr>
              <a:t>‘am-ma</a:t>
            </a:r>
            <a:endParaRPr lang="en-US" sz="1350" dirty="0"/>
          </a:p>
        </p:txBody>
      </p:sp>
      <p:sp>
        <p:nvSpPr>
          <p:cNvPr id="70" name="Shape 67"/>
          <p:cNvSpPr/>
          <p:nvPr/>
        </p:nvSpPr>
        <p:spPr>
          <a:xfrm>
            <a:off x="9966960" y="5779008"/>
            <a:ext cx="1636776" cy="438912"/>
          </a:xfrm>
          <a:prstGeom prst="roundRect">
            <a:avLst>
              <a:gd name="adj" fmla="val 10417"/>
            </a:avLst>
          </a:prstGeom>
          <a:solidFill>
            <a:srgbClr val="F4F1EA"/>
          </a:solidFill>
          <a:ln w="9525">
            <a:solidFill>
              <a:srgbClr val="F4F1EA"/>
            </a:solidFill>
            <a:prstDash val="solid"/>
          </a:ln>
        </p:spPr>
      </p:sp>
      <p:sp>
        <p:nvSpPr>
          <p:cNvPr id="71" name="Text 68"/>
          <p:cNvSpPr txBox="1"/>
          <p:nvPr/>
        </p:nvSpPr>
        <p:spPr>
          <a:xfrm>
            <a:off x="10021824" y="5788152"/>
            <a:ext cx="1527048" cy="155448"/>
          </a:xfrm>
          <a:prstGeom prst="rect">
            <a:avLst/>
          </a:prstGeom>
          <a:noFill/>
          <a:ln/>
        </p:spPr>
        <p:txBody>
          <a:bodyPr wrap="square" lIns="0" tIns="0" rIns="0" bIns="0" rtlCol="0" anchor="ctr"/>
          <a:lstStyle/>
          <a:p>
            <a:pPr algn="l" indent="0" marL="0">
              <a:buNone/>
            </a:pPr>
            <a:r>
              <a:rPr lang="en-US" sz="750" b="1" dirty="0">
                <a:solidFill>
                  <a:srgbClr val="8A6D1E"/>
                </a:solidFill>
                <a:latin typeface="Calibri" pitchFamily="34" charset="0"/>
                <a:cs typeface="Amiri" pitchFamily="2" charset="-78"/>
              </a:rPr>
              <a:t>pl.</a:t>
            </a:r>
            <a:endParaRPr lang="en-US" sz="750" dirty="0"/>
          </a:p>
        </p:txBody>
      </p:sp>
      <p:sp>
        <p:nvSpPr>
          <p:cNvPr id="72" name="Text 69"/>
          <p:cNvSpPr txBox="1"/>
          <p:nvPr/>
        </p:nvSpPr>
        <p:spPr>
          <a:xfrm>
            <a:off x="10012680" y="5824728"/>
            <a:ext cx="1545336" cy="384048"/>
          </a:xfrm>
          <a:prstGeom prst="rect">
            <a:avLst/>
          </a:prstGeom>
          <a:noFill/>
          <a:ln/>
        </p:spPr>
        <p:txBody>
          <a:bodyPr wrap="square" lIns="0" tIns="0" rIns="0" bIns="0" rtlCol="0" anchor="ctr"/>
          <a:lstStyle/>
          <a:p>
            <a:pPr rtl="1" algn="ctr" indent="0" marL="0">
              <a:buNone/>
            </a:pPr>
            <a:r>
              <a:rPr lang="ar-SA" altLang="en-US" sz="1500" b="1" dirty="0">
                <a:solidFill>
                  <a:srgbClr val="1B3B6F"/>
                </a:solidFill>
                <a:latin typeface="Amiri" pitchFamily="2" charset="-78"/>
                <a:ea typeface="Amiri" pitchFamily="2" charset="-78"/>
                <a:cs typeface="Amiri" pitchFamily="2" charset="-78"/>
              </a:rPr>
              <a:t>عَمَّاتٌ</a:t>
            </a:r>
            <a:endParaRPr lang="ar-SA" sz="1500" dirty="0"/>
          </a:p>
        </p:txBody>
      </p:sp>
      <p:sp>
        <p:nvSpPr>
          <p:cNvPr id="73" name="Shape 70"/>
          <p:cNvSpPr/>
          <p:nvPr/>
        </p:nvSpPr>
        <p:spPr>
          <a:xfrm>
            <a:off x="8238744" y="5779008"/>
            <a:ext cx="1636776" cy="438912"/>
          </a:xfrm>
          <a:prstGeom prst="roundRect">
            <a:avLst>
              <a:gd name="adj" fmla="val 10417"/>
            </a:avLst>
          </a:prstGeom>
          <a:solidFill>
            <a:srgbClr val="F4F1EA"/>
          </a:solidFill>
          <a:ln w="9525">
            <a:solidFill>
              <a:srgbClr val="F4F1EA"/>
            </a:solidFill>
            <a:prstDash val="solid"/>
          </a:ln>
        </p:spPr>
      </p:sp>
      <p:sp>
        <p:nvSpPr>
          <p:cNvPr id="74" name="Text 71"/>
          <p:cNvSpPr txBox="1"/>
          <p:nvPr/>
        </p:nvSpPr>
        <p:spPr>
          <a:xfrm>
            <a:off x="8293608" y="5788152"/>
            <a:ext cx="1527048" cy="155448"/>
          </a:xfrm>
          <a:prstGeom prst="rect">
            <a:avLst/>
          </a:prstGeom>
          <a:noFill/>
          <a:ln/>
        </p:spPr>
        <p:txBody>
          <a:bodyPr wrap="square" lIns="0" tIns="0" rIns="0" bIns="0" rtlCol="0" anchor="ctr"/>
          <a:lstStyle/>
          <a:p>
            <a:pPr algn="l" indent="0" marL="0">
              <a:buNone/>
            </a:pPr>
            <a:r>
              <a:rPr lang="en-US" sz="750" b="1" dirty="0">
                <a:solidFill>
                  <a:srgbClr val="8A6D1E"/>
                </a:solidFill>
                <a:latin typeface="Calibri" pitchFamily="34" charset="0"/>
                <a:cs typeface="Amiri" pitchFamily="2" charset="-78"/>
              </a:rPr>
              <a:t>my</a:t>
            </a:r>
            <a:endParaRPr lang="en-US" sz="750" dirty="0"/>
          </a:p>
        </p:txBody>
      </p:sp>
      <p:sp>
        <p:nvSpPr>
          <p:cNvPr id="75" name="Text 72"/>
          <p:cNvSpPr txBox="1"/>
          <p:nvPr/>
        </p:nvSpPr>
        <p:spPr>
          <a:xfrm>
            <a:off x="8284464" y="5824728"/>
            <a:ext cx="1545336" cy="384048"/>
          </a:xfrm>
          <a:prstGeom prst="rect">
            <a:avLst/>
          </a:prstGeom>
          <a:noFill/>
          <a:ln/>
        </p:spPr>
        <p:txBody>
          <a:bodyPr wrap="square" lIns="0" tIns="0" rIns="0" bIns="0" rtlCol="0" anchor="ctr"/>
          <a:lstStyle/>
          <a:p>
            <a:pPr rtl="1" algn="ctr" indent="0" marL="0">
              <a:buNone/>
            </a:pPr>
            <a:r>
              <a:rPr lang="ar-SA" altLang="en-US" sz="1500" b="1" dirty="0">
                <a:solidFill>
                  <a:srgbClr val="1B3B6F"/>
                </a:solidFill>
                <a:latin typeface="Amiri" pitchFamily="2" charset="-78"/>
                <a:ea typeface="Amiri" pitchFamily="2" charset="-78"/>
                <a:cs typeface="Amiri" pitchFamily="2" charset="-78"/>
              </a:rPr>
              <a:t>عَمَّتِي</a:t>
            </a:r>
            <a:endParaRPr lang="ar-SA" sz="1500" dirty="0"/>
          </a:p>
        </p:txBody>
      </p:sp>
      <p:sp>
        <p:nvSpPr>
          <p:cNvPr id="76" name="Shape 73"/>
          <p:cNvSpPr/>
          <p:nvPr/>
        </p:nvSpPr>
        <p:spPr>
          <a:xfrm>
            <a:off x="4279392" y="4151376"/>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77" name="Shape 74"/>
          <p:cNvSpPr/>
          <p:nvPr/>
        </p:nvSpPr>
        <p:spPr>
          <a:xfrm>
            <a:off x="4389120" y="4261104"/>
            <a:ext cx="310896" cy="310896"/>
          </a:xfrm>
          <a:prstGeom prst="ellipse">
            <a:avLst/>
          </a:prstGeom>
          <a:solidFill>
            <a:srgbClr val="F4F1EA"/>
          </a:solidFill>
          <a:ln w="12700">
            <a:solidFill>
              <a:srgbClr val="F4F1EA"/>
            </a:solidFill>
            <a:prstDash val="solid"/>
          </a:ln>
        </p:spPr>
      </p:sp>
      <p:sp>
        <p:nvSpPr>
          <p:cNvPr id="78" name="Text 75"/>
          <p:cNvSpPr txBox="1"/>
          <p:nvPr/>
        </p:nvSpPr>
        <p:spPr>
          <a:xfrm>
            <a:off x="4389120" y="4261104"/>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cs typeface="Amiri" pitchFamily="2" charset="-78"/>
              </a:rPr>
              <a:t>5</a:t>
            </a:r>
            <a:endParaRPr lang="en-US" sz="1000" dirty="0"/>
          </a:p>
        </p:txBody>
      </p:sp>
      <p:sp>
        <p:nvSpPr>
          <p:cNvPr id="79" name="Shape 76"/>
          <p:cNvSpPr/>
          <p:nvPr/>
        </p:nvSpPr>
        <p:spPr>
          <a:xfrm>
            <a:off x="4782312" y="4279392"/>
            <a:ext cx="771754" cy="256032"/>
          </a:xfrm>
          <a:prstGeom prst="roundRect">
            <a:avLst>
              <a:gd name="adj" fmla="val 50000"/>
            </a:avLst>
          </a:prstGeom>
          <a:solidFill>
            <a:srgbClr val="EFE7D2"/>
          </a:solidFill>
          <a:ln w="12700">
            <a:solidFill>
              <a:srgbClr val="EFE7D2"/>
            </a:solidFill>
            <a:prstDash val="solid"/>
          </a:ln>
        </p:spPr>
      </p:sp>
      <p:sp>
        <p:nvSpPr>
          <p:cNvPr id="80" name="Text 77"/>
          <p:cNvSpPr txBox="1"/>
          <p:nvPr/>
        </p:nvSpPr>
        <p:spPr>
          <a:xfrm>
            <a:off x="4782312" y="4279392"/>
            <a:ext cx="771754" cy="256032"/>
          </a:xfrm>
          <a:prstGeom prst="rect">
            <a:avLst/>
          </a:prstGeom>
          <a:noFill/>
          <a:ln/>
        </p:spPr>
        <p:txBody>
          <a:bodyPr wrap="square" lIns="0" tIns="0" rIns="0" bIns="0" rtlCol="0" anchor="ctr"/>
          <a:lstStyle/>
          <a:p>
            <a:pPr algn="ctr" indent="0" marL="0">
              <a:buNone/>
            </a:pPr>
            <a:r>
              <a:rPr lang="en-US" sz="800" b="1" dirty="0">
                <a:solidFill>
                  <a:srgbClr val="8A6D1E"/>
                </a:solidFill>
                <a:latin typeface="Calibri" pitchFamily="34" charset="0"/>
                <a:cs typeface="Amiri" pitchFamily="2" charset="-78"/>
              </a:rPr>
              <a:t>paternal</a:t>
            </a:r>
            <a:endParaRPr lang="en-US" sz="800" dirty="0"/>
          </a:p>
        </p:txBody>
      </p:sp>
      <p:sp>
        <p:nvSpPr>
          <p:cNvPr id="81" name="Text 78"/>
          <p:cNvSpPr txBox="1"/>
          <p:nvPr/>
        </p:nvSpPr>
        <p:spPr>
          <a:xfrm>
            <a:off x="4389120" y="4553712"/>
            <a:ext cx="3401568" cy="868680"/>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2" charset="-78"/>
                <a:ea typeface="Amiri" pitchFamily="2" charset="-78"/>
                <a:cs typeface="Amiri" pitchFamily="2" charset="-78"/>
              </a:rPr>
              <a:t>اِبْنُ عَمٍّ / بِنْتُ عَمٍّ</a:t>
            </a:r>
            <a:endParaRPr lang="ar-SA" sz="3000" dirty="0"/>
          </a:p>
        </p:txBody>
      </p:sp>
      <p:sp>
        <p:nvSpPr>
          <p:cNvPr id="82" name="Text 79"/>
          <p:cNvSpPr txBox="1"/>
          <p:nvPr/>
        </p:nvSpPr>
        <p:spPr>
          <a:xfrm>
            <a:off x="4416552" y="5468112"/>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cs typeface="Amiri" pitchFamily="2" charset="-78"/>
              </a:rPr>
              <a:t>cousin (father’s side) m. / f.</a:t>
            </a:r>
            <a:endParaRPr lang="en-US" sz="1350" dirty="0"/>
          </a:p>
          <a:p>
            <a:pPr indent="0" marL="0">
              <a:buNone/>
            </a:pPr>
            <a:r>
              <a:rPr lang="en-US" sz="1100" i="1" dirty="0">
                <a:solidFill>
                  <a:srgbClr val="5A6472"/>
                </a:solidFill>
                <a:latin typeface="Calibri" pitchFamily="34" charset="0"/>
                <a:cs typeface="Amiri" pitchFamily="2" charset="-78"/>
              </a:rPr>
              <a:t>ib-nu ‘amm / bin-tu ‘amm</a:t>
            </a:r>
            <a:endParaRPr lang="en-US" sz="1350" dirty="0"/>
          </a:p>
        </p:txBody>
      </p:sp>
      <p:sp>
        <p:nvSpPr>
          <p:cNvPr id="83" name="Shape 80"/>
          <p:cNvSpPr/>
          <p:nvPr/>
        </p:nvSpPr>
        <p:spPr>
          <a:xfrm>
            <a:off x="457200" y="4151376"/>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84" name="Shape 81"/>
          <p:cNvSpPr/>
          <p:nvPr/>
        </p:nvSpPr>
        <p:spPr>
          <a:xfrm>
            <a:off x="566928" y="4261104"/>
            <a:ext cx="310896" cy="310896"/>
          </a:xfrm>
          <a:prstGeom prst="ellipse">
            <a:avLst/>
          </a:prstGeom>
          <a:solidFill>
            <a:srgbClr val="F4F1EA"/>
          </a:solidFill>
          <a:ln w="12700">
            <a:solidFill>
              <a:srgbClr val="F4F1EA"/>
            </a:solidFill>
            <a:prstDash val="solid"/>
          </a:ln>
        </p:spPr>
      </p:sp>
      <p:sp>
        <p:nvSpPr>
          <p:cNvPr id="85" name="Text 82"/>
          <p:cNvSpPr txBox="1"/>
          <p:nvPr/>
        </p:nvSpPr>
        <p:spPr>
          <a:xfrm>
            <a:off x="566928" y="4261104"/>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cs typeface="Amiri" pitchFamily="2" charset="-78"/>
              </a:rPr>
              <a:t>6</a:t>
            </a:r>
            <a:endParaRPr lang="en-US" sz="1000" dirty="0"/>
          </a:p>
        </p:txBody>
      </p:sp>
      <p:sp>
        <p:nvSpPr>
          <p:cNvPr id="86" name="Shape 83"/>
          <p:cNvSpPr/>
          <p:nvPr/>
        </p:nvSpPr>
        <p:spPr>
          <a:xfrm>
            <a:off x="960120" y="4279392"/>
            <a:ext cx="1082650" cy="256032"/>
          </a:xfrm>
          <a:prstGeom prst="roundRect">
            <a:avLst>
              <a:gd name="adj" fmla="val 50000"/>
            </a:avLst>
          </a:prstGeom>
          <a:solidFill>
            <a:srgbClr val="EFE7D2"/>
          </a:solidFill>
          <a:ln w="12700">
            <a:solidFill>
              <a:srgbClr val="EFE7D2"/>
            </a:solidFill>
            <a:prstDash val="solid"/>
          </a:ln>
        </p:spPr>
      </p:sp>
      <p:sp>
        <p:nvSpPr>
          <p:cNvPr id="87" name="Text 84"/>
          <p:cNvSpPr txBox="1"/>
          <p:nvPr/>
        </p:nvSpPr>
        <p:spPr>
          <a:xfrm>
            <a:off x="960120" y="4279392"/>
            <a:ext cx="1082650" cy="256032"/>
          </a:xfrm>
          <a:prstGeom prst="rect">
            <a:avLst/>
          </a:prstGeom>
          <a:noFill/>
          <a:ln/>
        </p:spPr>
        <p:txBody>
          <a:bodyPr wrap="square" lIns="0" tIns="0" rIns="0" bIns="0" rtlCol="0" anchor="ctr"/>
          <a:lstStyle/>
          <a:p>
            <a:pPr algn="ctr" indent="0" marL="0">
              <a:buNone/>
            </a:pPr>
            <a:r>
              <a:rPr lang="en-US" sz="800" b="1" dirty="0">
                <a:solidFill>
                  <a:srgbClr val="8A6D1E"/>
                </a:solidFill>
                <a:latin typeface="Calibri" pitchFamily="34" charset="0"/>
                <a:cs typeface="Amiri" pitchFamily="2" charset="-78"/>
              </a:rPr>
              <a:t>sibling order</a:t>
            </a:r>
            <a:endParaRPr lang="en-US" sz="800" dirty="0"/>
          </a:p>
        </p:txBody>
      </p:sp>
      <p:sp>
        <p:nvSpPr>
          <p:cNvPr id="88" name="Text 85"/>
          <p:cNvSpPr txBox="1"/>
          <p:nvPr/>
        </p:nvSpPr>
        <p:spPr>
          <a:xfrm>
            <a:off x="566928" y="4553712"/>
            <a:ext cx="3401568" cy="713232"/>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2" charset="-78"/>
                <a:ea typeface="Amiri" pitchFamily="2" charset="-78"/>
                <a:cs typeface="Amiri" pitchFamily="2" charset="-78"/>
              </a:rPr>
              <a:t>الأُخْتُ الكُبْرَى</a:t>
            </a:r>
            <a:endParaRPr lang="ar-SA" sz="3000" dirty="0"/>
          </a:p>
        </p:txBody>
      </p:sp>
      <p:sp>
        <p:nvSpPr>
          <p:cNvPr id="89" name="Text 86"/>
          <p:cNvSpPr txBox="1"/>
          <p:nvPr/>
        </p:nvSpPr>
        <p:spPr>
          <a:xfrm>
            <a:off x="594360" y="5248656"/>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cs typeface="Amiri" pitchFamily="2" charset="-78"/>
              </a:rPr>
              <a:t>older sister</a:t>
            </a:r>
            <a:endParaRPr lang="en-US" sz="1350" dirty="0"/>
          </a:p>
          <a:p>
            <a:pPr indent="0" marL="0">
              <a:buNone/>
            </a:pPr>
            <a:r>
              <a:rPr lang="en-US" sz="1100" i="1" dirty="0">
                <a:solidFill>
                  <a:srgbClr val="5A6472"/>
                </a:solidFill>
                <a:latin typeface="Calibri" pitchFamily="34" charset="0"/>
                <a:cs typeface="Amiri" pitchFamily="2" charset="-78"/>
              </a:rPr>
              <a:t>al-ukh-tu l-kub-rā</a:t>
            </a:r>
            <a:endParaRPr lang="en-US" sz="1350" dirty="0"/>
          </a:p>
        </p:txBody>
      </p:sp>
      <p:sp>
        <p:nvSpPr>
          <p:cNvPr id="90" name="Shape 87"/>
          <p:cNvSpPr/>
          <p:nvPr/>
        </p:nvSpPr>
        <p:spPr>
          <a:xfrm>
            <a:off x="594360" y="5779008"/>
            <a:ext cx="3364992" cy="438912"/>
          </a:xfrm>
          <a:prstGeom prst="roundRect">
            <a:avLst>
              <a:gd name="adj" fmla="val 10417"/>
            </a:avLst>
          </a:prstGeom>
          <a:solidFill>
            <a:srgbClr val="F4F1EA"/>
          </a:solidFill>
          <a:ln w="9525">
            <a:solidFill>
              <a:srgbClr val="F4F1EA"/>
            </a:solidFill>
            <a:prstDash val="solid"/>
          </a:ln>
        </p:spPr>
      </p:sp>
      <p:sp>
        <p:nvSpPr>
          <p:cNvPr id="91" name="Text 88"/>
          <p:cNvSpPr txBox="1"/>
          <p:nvPr/>
        </p:nvSpPr>
        <p:spPr>
          <a:xfrm>
            <a:off x="649224" y="5788152"/>
            <a:ext cx="3255264" cy="155448"/>
          </a:xfrm>
          <a:prstGeom prst="rect">
            <a:avLst/>
          </a:prstGeom>
          <a:noFill/>
          <a:ln/>
        </p:spPr>
        <p:txBody>
          <a:bodyPr wrap="square" lIns="0" tIns="0" rIns="0" bIns="0" rtlCol="0" anchor="ctr"/>
          <a:lstStyle/>
          <a:p>
            <a:pPr algn="l" indent="0" marL="0">
              <a:buNone/>
            </a:pPr>
            <a:r>
              <a:rPr lang="en-US" sz="700" b="1" dirty="0">
                <a:solidFill>
                  <a:srgbClr val="8A6D1E"/>
                </a:solidFill>
                <a:latin typeface="Calibri" pitchFamily="34" charset="0"/>
                <a:cs typeface="Amiri" pitchFamily="2" charset="-78"/>
              </a:rPr>
              <a:t>younger</a:t>
            </a:r>
            <a:endParaRPr lang="en-US" sz="700" dirty="0"/>
          </a:p>
        </p:txBody>
      </p:sp>
      <p:sp>
        <p:nvSpPr>
          <p:cNvPr id="92" name="Text 89"/>
          <p:cNvSpPr txBox="1"/>
          <p:nvPr/>
        </p:nvSpPr>
        <p:spPr>
          <a:xfrm>
            <a:off x="640080" y="5916168"/>
            <a:ext cx="3273552" cy="292608"/>
          </a:xfrm>
          <a:prstGeom prst="rect">
            <a:avLst/>
          </a:prstGeom>
          <a:noFill/>
          <a:ln/>
        </p:spPr>
        <p:txBody>
          <a:bodyPr wrap="square" lIns="0" tIns="0" rIns="0" bIns="0" rtlCol="0" anchor="ctr"/>
          <a:lstStyle/>
          <a:p>
            <a:pPr rtl="1" algn="ctr" indent="0" marL="0">
              <a:buNone/>
            </a:pPr>
            <a:r>
              <a:rPr lang="ar-SA" altLang="en-US" sz="1350" b="1" dirty="0">
                <a:solidFill>
                  <a:srgbClr val="1B3B6F"/>
                </a:solidFill>
                <a:latin typeface="Amiri" pitchFamily="2" charset="-78"/>
                <a:ea typeface="Amiri" pitchFamily="2" charset="-78"/>
                <a:cs typeface="Amiri" pitchFamily="2" charset="-78"/>
              </a:rPr>
              <a:t>الأُخْتُ الصُّغْرَى</a:t>
            </a:r>
            <a:endParaRPr lang="ar-SA" sz="1350" dirty="0"/>
          </a:p>
        </p:txBody>
      </p:sp>
      <p:sp>
        <p:nvSpPr>
          <p:cNvPr id="93" name="Text 90"/>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6 / 24</a:t>
            </a:r>
            <a:endParaRPr lang="en-US" sz="850" dirty="0"/>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F3-W01 · Apply workshop</a:t>
            </a:r>
            <a:endParaRPr lang="en-US" sz="950" dirty="0"/>
          </a:p>
        </p:txBody>
      </p:sp>
      <p:sp>
        <p:nvSpPr>
          <p:cNvPr id="8" name="Shape 6"/>
          <p:cNvSpPr/>
          <p:nvPr/>
        </p:nvSpPr>
        <p:spPr>
          <a:xfrm>
            <a:off x="6308446" y="274320"/>
            <a:ext cx="2451506" cy="329184"/>
          </a:xfrm>
          <a:prstGeom prst="roundRect">
            <a:avLst>
              <a:gd name="adj" fmla="val 50000"/>
            </a:avLst>
          </a:prstGeom>
          <a:solidFill>
            <a:srgbClr val="1B3B6F"/>
          </a:solidFill>
          <a:ln w="12700">
            <a:solidFill>
              <a:srgbClr val="1B3B6F"/>
            </a:solidFill>
            <a:prstDash val="solid"/>
          </a:ln>
        </p:spPr>
      </p:sp>
      <p:sp>
        <p:nvSpPr>
          <p:cNvPr id="9" name="Text 7"/>
          <p:cNvSpPr txBox="1"/>
          <p:nvPr/>
        </p:nvSpPr>
        <p:spPr>
          <a:xfrm>
            <a:off x="6308446" y="274320"/>
            <a:ext cx="2451506"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TEACHER INSTRUCTION · 2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1B3B6F"/>
                </a:solidFill>
                <a:latin typeface="Calibri" pitchFamily="34" charset="0"/>
                <a:cs typeface="Amiri" pitchFamily="2" charset="-78"/>
              </a:rPr>
              <a:t>STEP 1 · WORDS FROM F3-L02</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550" b="1" dirty="0">
                <a:solidFill>
                  <a:srgbClr val="1B3B6F"/>
                </a:solidFill>
                <a:latin typeface="Cambria" pitchFamily="34" charset="0"/>
                <a:cs typeface="Amiri" pitchFamily="2" charset="-78"/>
              </a:rPr>
              <a:t>F3-L02 · Describing Family Members</a:t>
            </a:r>
            <a:endParaRPr lang="en-US" sz="255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كَلِمَاتُ الدَّرْسِ الثَّانِي</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Foundation F3 · My Family &amp; Home · F3-W01 · Apply workshop (F3-L01 + F3-L02)</a:t>
            </a:r>
            <a:endParaRPr lang="en-US" sz="850" dirty="0"/>
          </a:p>
        </p:txBody>
      </p:sp>
      <p:sp>
        <p:nvSpPr>
          <p:cNvPr id="15" name="Shape 12"/>
          <p:cNvSpPr/>
          <p:nvPr/>
        </p:nvSpPr>
        <p:spPr>
          <a:xfrm>
            <a:off x="8101584" y="1810512"/>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8211312" y="1920240"/>
            <a:ext cx="310896" cy="310896"/>
          </a:xfrm>
          <a:prstGeom prst="ellipse">
            <a:avLst/>
          </a:prstGeom>
          <a:solidFill>
            <a:srgbClr val="F4F1EA"/>
          </a:solidFill>
          <a:ln w="12700">
            <a:solidFill>
              <a:srgbClr val="F4F1EA"/>
            </a:solidFill>
            <a:prstDash val="solid"/>
          </a:ln>
        </p:spPr>
      </p:sp>
      <p:sp>
        <p:nvSpPr>
          <p:cNvPr id="17" name="Text 14"/>
          <p:cNvSpPr txBox="1"/>
          <p:nvPr/>
        </p:nvSpPr>
        <p:spPr>
          <a:xfrm>
            <a:off x="8211312" y="1920240"/>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cs typeface="Amiri" pitchFamily="2" charset="-78"/>
              </a:rPr>
              <a:t>7</a:t>
            </a:r>
            <a:endParaRPr lang="en-US" sz="1000" dirty="0"/>
          </a:p>
        </p:txBody>
      </p:sp>
      <p:sp>
        <p:nvSpPr>
          <p:cNvPr id="18" name="Shape 15"/>
          <p:cNvSpPr/>
          <p:nvPr/>
        </p:nvSpPr>
        <p:spPr>
          <a:xfrm>
            <a:off x="8604504" y="1938528"/>
            <a:ext cx="704088" cy="256032"/>
          </a:xfrm>
          <a:prstGeom prst="roundRect">
            <a:avLst>
              <a:gd name="adj" fmla="val 50000"/>
            </a:avLst>
          </a:prstGeom>
          <a:solidFill>
            <a:srgbClr val="EFE7D2"/>
          </a:solidFill>
          <a:ln w="12700">
            <a:solidFill>
              <a:srgbClr val="EFE7D2"/>
            </a:solidFill>
            <a:prstDash val="solid"/>
          </a:ln>
        </p:spPr>
      </p:sp>
      <p:sp>
        <p:nvSpPr>
          <p:cNvPr id="19" name="Text 16"/>
          <p:cNvSpPr txBox="1"/>
          <p:nvPr/>
        </p:nvSpPr>
        <p:spPr>
          <a:xfrm>
            <a:off x="8604504" y="1938528"/>
            <a:ext cx="704088" cy="256032"/>
          </a:xfrm>
          <a:prstGeom prst="rect">
            <a:avLst/>
          </a:prstGeom>
          <a:noFill/>
          <a:ln/>
        </p:spPr>
        <p:txBody>
          <a:bodyPr wrap="square" lIns="0" tIns="0" rIns="0" bIns="0" rtlCol="0" anchor="ctr"/>
          <a:lstStyle/>
          <a:p>
            <a:pPr algn="ctr" indent="0" marL="0">
              <a:buNone/>
            </a:pPr>
            <a:r>
              <a:rPr lang="en-US" sz="800" b="1" dirty="0">
                <a:solidFill>
                  <a:srgbClr val="8A6D1E"/>
                </a:solidFill>
                <a:latin typeface="Calibri" pitchFamily="34" charset="0"/>
                <a:cs typeface="Amiri" pitchFamily="2" charset="-78"/>
              </a:rPr>
              <a:t>m · f</a:t>
            </a:r>
            <a:endParaRPr lang="en-US" sz="800" dirty="0"/>
          </a:p>
        </p:txBody>
      </p:sp>
      <p:sp>
        <p:nvSpPr>
          <p:cNvPr id="20" name="Shape 17"/>
          <p:cNvSpPr/>
          <p:nvPr/>
        </p:nvSpPr>
        <p:spPr>
          <a:xfrm>
            <a:off x="10872216" y="1938528"/>
            <a:ext cx="731520" cy="256032"/>
          </a:xfrm>
          <a:prstGeom prst="roundRect">
            <a:avLst>
              <a:gd name="adj" fmla="val 50000"/>
            </a:avLst>
          </a:prstGeom>
          <a:solidFill>
            <a:srgbClr val="2E8B57"/>
          </a:solidFill>
          <a:ln w="12700">
            <a:solidFill>
              <a:srgbClr val="2E8B57"/>
            </a:solidFill>
            <a:prstDash val="solid"/>
          </a:ln>
        </p:spPr>
      </p:sp>
      <p:sp>
        <p:nvSpPr>
          <p:cNvPr id="21" name="Text 18"/>
          <p:cNvSpPr txBox="1"/>
          <p:nvPr/>
        </p:nvSpPr>
        <p:spPr>
          <a:xfrm>
            <a:off x="10872216" y="1938528"/>
            <a:ext cx="73152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cs typeface="Amiri" pitchFamily="2" charset="-78"/>
              </a:rPr>
              <a:t>CORE</a:t>
            </a:r>
            <a:endParaRPr lang="en-US" sz="800" dirty="0"/>
          </a:p>
        </p:txBody>
      </p:sp>
      <p:sp>
        <p:nvSpPr>
          <p:cNvPr id="22" name="Text 19"/>
          <p:cNvSpPr txBox="1"/>
          <p:nvPr/>
        </p:nvSpPr>
        <p:spPr>
          <a:xfrm>
            <a:off x="8211312" y="2212848"/>
            <a:ext cx="3401568" cy="713232"/>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2" charset="-78"/>
                <a:ea typeface="Amiri" pitchFamily="2" charset="-78"/>
                <a:cs typeface="Amiri" pitchFamily="2" charset="-78"/>
              </a:rPr>
              <a:t>طَوِيلٌ</a:t>
            </a:r>
            <a:endParaRPr lang="ar-SA" sz="3000" dirty="0"/>
          </a:p>
        </p:txBody>
      </p:sp>
      <p:sp>
        <p:nvSpPr>
          <p:cNvPr id="23" name="Text 20"/>
          <p:cNvSpPr txBox="1"/>
          <p:nvPr/>
        </p:nvSpPr>
        <p:spPr>
          <a:xfrm>
            <a:off x="8238744" y="2907792"/>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cs typeface="Amiri" pitchFamily="2" charset="-78"/>
              </a:rPr>
              <a:t>tall / long</a:t>
            </a:r>
            <a:endParaRPr lang="en-US" sz="1350" dirty="0"/>
          </a:p>
          <a:p>
            <a:pPr indent="0" marL="0">
              <a:buNone/>
            </a:pPr>
            <a:r>
              <a:rPr lang="en-US" sz="1100" i="1" dirty="0">
                <a:solidFill>
                  <a:srgbClr val="5A6472"/>
                </a:solidFill>
                <a:latin typeface="Calibri" pitchFamily="34" charset="0"/>
                <a:cs typeface="Amiri" pitchFamily="2" charset="-78"/>
              </a:rPr>
              <a:t>ṭa-wīl</a:t>
            </a:r>
            <a:endParaRPr lang="en-US" sz="1350" dirty="0"/>
          </a:p>
        </p:txBody>
      </p:sp>
      <p:sp>
        <p:nvSpPr>
          <p:cNvPr id="24" name="Shape 21"/>
          <p:cNvSpPr/>
          <p:nvPr/>
        </p:nvSpPr>
        <p:spPr>
          <a:xfrm>
            <a:off x="9966960" y="3438144"/>
            <a:ext cx="1636776" cy="438912"/>
          </a:xfrm>
          <a:prstGeom prst="roundRect">
            <a:avLst>
              <a:gd name="adj" fmla="val 10417"/>
            </a:avLst>
          </a:prstGeom>
          <a:solidFill>
            <a:srgbClr val="F4F1EA"/>
          </a:solidFill>
          <a:ln w="9525">
            <a:solidFill>
              <a:srgbClr val="F4F1EA"/>
            </a:solidFill>
            <a:prstDash val="solid"/>
          </a:ln>
        </p:spPr>
      </p:sp>
      <p:sp>
        <p:nvSpPr>
          <p:cNvPr id="25" name="Text 22"/>
          <p:cNvSpPr txBox="1"/>
          <p:nvPr/>
        </p:nvSpPr>
        <p:spPr>
          <a:xfrm>
            <a:off x="10021824" y="3447288"/>
            <a:ext cx="1527048" cy="155448"/>
          </a:xfrm>
          <a:prstGeom prst="rect">
            <a:avLst/>
          </a:prstGeom>
          <a:noFill/>
          <a:ln/>
        </p:spPr>
        <p:txBody>
          <a:bodyPr wrap="square" lIns="0" tIns="0" rIns="0" bIns="0" rtlCol="0" anchor="ctr"/>
          <a:lstStyle/>
          <a:p>
            <a:pPr algn="l" indent="0" marL="0">
              <a:buNone/>
            </a:pPr>
            <a:r>
              <a:rPr lang="en-US" sz="750" b="1" dirty="0">
                <a:solidFill>
                  <a:srgbClr val="8A6D1E"/>
                </a:solidFill>
                <a:latin typeface="Calibri" pitchFamily="34" charset="0"/>
                <a:cs typeface="Amiri" pitchFamily="2" charset="-78"/>
              </a:rPr>
              <a:t>f.</a:t>
            </a:r>
            <a:endParaRPr lang="en-US" sz="750" dirty="0"/>
          </a:p>
        </p:txBody>
      </p:sp>
      <p:sp>
        <p:nvSpPr>
          <p:cNvPr id="26" name="Text 23"/>
          <p:cNvSpPr txBox="1"/>
          <p:nvPr/>
        </p:nvSpPr>
        <p:spPr>
          <a:xfrm>
            <a:off x="10012680" y="3483864"/>
            <a:ext cx="1545336" cy="384048"/>
          </a:xfrm>
          <a:prstGeom prst="rect">
            <a:avLst/>
          </a:prstGeom>
          <a:noFill/>
          <a:ln/>
        </p:spPr>
        <p:txBody>
          <a:bodyPr wrap="square" lIns="0" tIns="0" rIns="0" bIns="0" rtlCol="0" anchor="ctr"/>
          <a:lstStyle/>
          <a:p>
            <a:pPr rtl="1" algn="ctr" indent="0" marL="0">
              <a:buNone/>
            </a:pPr>
            <a:r>
              <a:rPr lang="ar-SA" altLang="en-US" sz="1500" b="1" dirty="0">
                <a:solidFill>
                  <a:srgbClr val="1B3B6F"/>
                </a:solidFill>
                <a:latin typeface="Amiri" pitchFamily="2" charset="-78"/>
                <a:ea typeface="Amiri" pitchFamily="2" charset="-78"/>
                <a:cs typeface="Amiri" pitchFamily="2" charset="-78"/>
              </a:rPr>
              <a:t>طَوِيلَةٌ</a:t>
            </a:r>
            <a:endParaRPr lang="ar-SA" sz="1500" dirty="0"/>
          </a:p>
        </p:txBody>
      </p:sp>
      <p:sp>
        <p:nvSpPr>
          <p:cNvPr id="27" name="Shape 24"/>
          <p:cNvSpPr/>
          <p:nvPr/>
        </p:nvSpPr>
        <p:spPr>
          <a:xfrm>
            <a:off x="8238744" y="3438144"/>
            <a:ext cx="1636776" cy="438912"/>
          </a:xfrm>
          <a:prstGeom prst="roundRect">
            <a:avLst>
              <a:gd name="adj" fmla="val 10417"/>
            </a:avLst>
          </a:prstGeom>
          <a:solidFill>
            <a:srgbClr val="F4F1EA"/>
          </a:solidFill>
          <a:ln w="9525">
            <a:solidFill>
              <a:srgbClr val="F4F1EA"/>
            </a:solidFill>
            <a:prstDash val="solid"/>
          </a:ln>
        </p:spPr>
      </p:sp>
      <p:sp>
        <p:nvSpPr>
          <p:cNvPr id="28" name="Text 25"/>
          <p:cNvSpPr txBox="1"/>
          <p:nvPr/>
        </p:nvSpPr>
        <p:spPr>
          <a:xfrm>
            <a:off x="8293608" y="3447288"/>
            <a:ext cx="1527048" cy="155448"/>
          </a:xfrm>
          <a:prstGeom prst="rect">
            <a:avLst/>
          </a:prstGeom>
          <a:noFill/>
          <a:ln/>
        </p:spPr>
        <p:txBody>
          <a:bodyPr wrap="square" lIns="0" tIns="0" rIns="0" bIns="0" rtlCol="0" anchor="ctr"/>
          <a:lstStyle/>
          <a:p>
            <a:pPr algn="l" indent="0" marL="0">
              <a:buNone/>
            </a:pPr>
            <a:r>
              <a:rPr lang="en-US" sz="750" b="1" dirty="0">
                <a:solidFill>
                  <a:srgbClr val="8A6D1E"/>
                </a:solidFill>
                <a:latin typeface="Calibri" pitchFamily="34" charset="0"/>
                <a:cs typeface="Amiri" pitchFamily="2" charset="-78"/>
              </a:rPr>
              <a:t>m.</a:t>
            </a:r>
            <a:endParaRPr lang="en-US" sz="750" dirty="0"/>
          </a:p>
        </p:txBody>
      </p:sp>
      <p:sp>
        <p:nvSpPr>
          <p:cNvPr id="29" name="Text 26"/>
          <p:cNvSpPr txBox="1"/>
          <p:nvPr/>
        </p:nvSpPr>
        <p:spPr>
          <a:xfrm>
            <a:off x="8284464" y="3483864"/>
            <a:ext cx="1545336" cy="384048"/>
          </a:xfrm>
          <a:prstGeom prst="rect">
            <a:avLst/>
          </a:prstGeom>
          <a:noFill/>
          <a:ln/>
        </p:spPr>
        <p:txBody>
          <a:bodyPr wrap="square" lIns="0" tIns="0" rIns="0" bIns="0" rtlCol="0" anchor="ctr"/>
          <a:lstStyle/>
          <a:p>
            <a:pPr rtl="1" algn="ctr" indent="0" marL="0">
              <a:buNone/>
            </a:pPr>
            <a:r>
              <a:rPr lang="ar-SA" altLang="en-US" sz="1500" b="1" dirty="0">
                <a:solidFill>
                  <a:srgbClr val="1B3B6F"/>
                </a:solidFill>
                <a:latin typeface="Amiri" pitchFamily="2" charset="-78"/>
                <a:ea typeface="Amiri" pitchFamily="2" charset="-78"/>
                <a:cs typeface="Amiri" pitchFamily="2" charset="-78"/>
              </a:rPr>
              <a:t>طَوِيلٌ</a:t>
            </a:r>
            <a:endParaRPr lang="ar-SA" sz="1500" dirty="0"/>
          </a:p>
        </p:txBody>
      </p:sp>
      <p:sp>
        <p:nvSpPr>
          <p:cNvPr id="30" name="Shape 27"/>
          <p:cNvSpPr/>
          <p:nvPr/>
        </p:nvSpPr>
        <p:spPr>
          <a:xfrm>
            <a:off x="4279392" y="1810512"/>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1" name="Shape 28"/>
          <p:cNvSpPr/>
          <p:nvPr/>
        </p:nvSpPr>
        <p:spPr>
          <a:xfrm>
            <a:off x="4389120" y="1920240"/>
            <a:ext cx="310896" cy="310896"/>
          </a:xfrm>
          <a:prstGeom prst="ellipse">
            <a:avLst/>
          </a:prstGeom>
          <a:solidFill>
            <a:srgbClr val="F4F1EA"/>
          </a:solidFill>
          <a:ln w="12700">
            <a:solidFill>
              <a:srgbClr val="F4F1EA"/>
            </a:solidFill>
            <a:prstDash val="solid"/>
          </a:ln>
        </p:spPr>
      </p:sp>
      <p:sp>
        <p:nvSpPr>
          <p:cNvPr id="32" name="Text 29"/>
          <p:cNvSpPr txBox="1"/>
          <p:nvPr/>
        </p:nvSpPr>
        <p:spPr>
          <a:xfrm>
            <a:off x="4389120" y="1920240"/>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cs typeface="Amiri" pitchFamily="2" charset="-78"/>
              </a:rPr>
              <a:t>8</a:t>
            </a:r>
            <a:endParaRPr lang="en-US" sz="1000" dirty="0"/>
          </a:p>
        </p:txBody>
      </p:sp>
      <p:sp>
        <p:nvSpPr>
          <p:cNvPr id="33" name="Shape 30"/>
          <p:cNvSpPr/>
          <p:nvPr/>
        </p:nvSpPr>
        <p:spPr>
          <a:xfrm>
            <a:off x="4782312" y="1938528"/>
            <a:ext cx="704088" cy="256032"/>
          </a:xfrm>
          <a:prstGeom prst="roundRect">
            <a:avLst>
              <a:gd name="adj" fmla="val 50000"/>
            </a:avLst>
          </a:prstGeom>
          <a:solidFill>
            <a:srgbClr val="EFE7D2"/>
          </a:solidFill>
          <a:ln w="12700">
            <a:solidFill>
              <a:srgbClr val="EFE7D2"/>
            </a:solidFill>
            <a:prstDash val="solid"/>
          </a:ln>
        </p:spPr>
      </p:sp>
      <p:sp>
        <p:nvSpPr>
          <p:cNvPr id="34" name="Text 31"/>
          <p:cNvSpPr txBox="1"/>
          <p:nvPr/>
        </p:nvSpPr>
        <p:spPr>
          <a:xfrm>
            <a:off x="4782312" y="1938528"/>
            <a:ext cx="704088" cy="256032"/>
          </a:xfrm>
          <a:prstGeom prst="rect">
            <a:avLst/>
          </a:prstGeom>
          <a:noFill/>
          <a:ln/>
        </p:spPr>
        <p:txBody>
          <a:bodyPr wrap="square" lIns="0" tIns="0" rIns="0" bIns="0" rtlCol="0" anchor="ctr"/>
          <a:lstStyle/>
          <a:p>
            <a:pPr algn="ctr" indent="0" marL="0">
              <a:buNone/>
            </a:pPr>
            <a:r>
              <a:rPr lang="en-US" sz="800" b="1" dirty="0">
                <a:solidFill>
                  <a:srgbClr val="8A6D1E"/>
                </a:solidFill>
                <a:latin typeface="Calibri" pitchFamily="34" charset="0"/>
                <a:cs typeface="Amiri" pitchFamily="2" charset="-78"/>
              </a:rPr>
              <a:t>m · f</a:t>
            </a:r>
            <a:endParaRPr lang="en-US" sz="800" dirty="0"/>
          </a:p>
        </p:txBody>
      </p:sp>
      <p:sp>
        <p:nvSpPr>
          <p:cNvPr id="35" name="Shape 32"/>
          <p:cNvSpPr/>
          <p:nvPr/>
        </p:nvSpPr>
        <p:spPr>
          <a:xfrm>
            <a:off x="7050024" y="1938528"/>
            <a:ext cx="731520" cy="256032"/>
          </a:xfrm>
          <a:prstGeom prst="roundRect">
            <a:avLst>
              <a:gd name="adj" fmla="val 50000"/>
            </a:avLst>
          </a:prstGeom>
          <a:solidFill>
            <a:srgbClr val="2E8B57"/>
          </a:solidFill>
          <a:ln w="12700">
            <a:solidFill>
              <a:srgbClr val="2E8B57"/>
            </a:solidFill>
            <a:prstDash val="solid"/>
          </a:ln>
        </p:spPr>
      </p:sp>
      <p:sp>
        <p:nvSpPr>
          <p:cNvPr id="36" name="Text 33"/>
          <p:cNvSpPr txBox="1"/>
          <p:nvPr/>
        </p:nvSpPr>
        <p:spPr>
          <a:xfrm>
            <a:off x="7050024" y="1938528"/>
            <a:ext cx="73152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cs typeface="Amiri" pitchFamily="2" charset="-78"/>
              </a:rPr>
              <a:t>CORE</a:t>
            </a:r>
            <a:endParaRPr lang="en-US" sz="800" dirty="0"/>
          </a:p>
        </p:txBody>
      </p:sp>
      <p:sp>
        <p:nvSpPr>
          <p:cNvPr id="37" name="Text 34"/>
          <p:cNvSpPr txBox="1"/>
          <p:nvPr/>
        </p:nvSpPr>
        <p:spPr>
          <a:xfrm>
            <a:off x="4389120" y="2212848"/>
            <a:ext cx="3401568" cy="713232"/>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2" charset="-78"/>
                <a:ea typeface="Amiri" pitchFamily="2" charset="-78"/>
                <a:cs typeface="Amiri" pitchFamily="2" charset="-78"/>
              </a:rPr>
              <a:t>نَحِيفٌ</a:t>
            </a:r>
            <a:endParaRPr lang="ar-SA" sz="3000" dirty="0"/>
          </a:p>
        </p:txBody>
      </p:sp>
      <p:sp>
        <p:nvSpPr>
          <p:cNvPr id="38" name="Text 35"/>
          <p:cNvSpPr txBox="1"/>
          <p:nvPr/>
        </p:nvSpPr>
        <p:spPr>
          <a:xfrm>
            <a:off x="4416552" y="2907792"/>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cs typeface="Amiri" pitchFamily="2" charset="-78"/>
              </a:rPr>
              <a:t>slim</a:t>
            </a:r>
            <a:endParaRPr lang="en-US" sz="1350" dirty="0"/>
          </a:p>
          <a:p>
            <a:pPr indent="0" marL="0">
              <a:buNone/>
            </a:pPr>
            <a:r>
              <a:rPr lang="en-US" sz="1100" i="1" dirty="0">
                <a:solidFill>
                  <a:srgbClr val="5A6472"/>
                </a:solidFill>
                <a:latin typeface="Calibri" pitchFamily="34" charset="0"/>
                <a:cs typeface="Amiri" pitchFamily="2" charset="-78"/>
              </a:rPr>
              <a:t>na-ḥīf</a:t>
            </a:r>
            <a:endParaRPr lang="en-US" sz="1350" dirty="0"/>
          </a:p>
        </p:txBody>
      </p:sp>
      <p:sp>
        <p:nvSpPr>
          <p:cNvPr id="39" name="Shape 36"/>
          <p:cNvSpPr/>
          <p:nvPr/>
        </p:nvSpPr>
        <p:spPr>
          <a:xfrm>
            <a:off x="6144768" y="3438144"/>
            <a:ext cx="1636776" cy="438912"/>
          </a:xfrm>
          <a:prstGeom prst="roundRect">
            <a:avLst>
              <a:gd name="adj" fmla="val 10417"/>
            </a:avLst>
          </a:prstGeom>
          <a:solidFill>
            <a:srgbClr val="F4F1EA"/>
          </a:solidFill>
          <a:ln w="9525">
            <a:solidFill>
              <a:srgbClr val="F4F1EA"/>
            </a:solidFill>
            <a:prstDash val="solid"/>
          </a:ln>
        </p:spPr>
      </p:sp>
      <p:sp>
        <p:nvSpPr>
          <p:cNvPr id="40" name="Text 37"/>
          <p:cNvSpPr txBox="1"/>
          <p:nvPr/>
        </p:nvSpPr>
        <p:spPr>
          <a:xfrm>
            <a:off x="6199632" y="3447288"/>
            <a:ext cx="1527048" cy="155448"/>
          </a:xfrm>
          <a:prstGeom prst="rect">
            <a:avLst/>
          </a:prstGeom>
          <a:noFill/>
          <a:ln/>
        </p:spPr>
        <p:txBody>
          <a:bodyPr wrap="square" lIns="0" tIns="0" rIns="0" bIns="0" rtlCol="0" anchor="ctr"/>
          <a:lstStyle/>
          <a:p>
            <a:pPr algn="l" indent="0" marL="0">
              <a:buNone/>
            </a:pPr>
            <a:r>
              <a:rPr lang="en-US" sz="750" b="1" dirty="0">
                <a:solidFill>
                  <a:srgbClr val="8A6D1E"/>
                </a:solidFill>
                <a:latin typeface="Calibri" pitchFamily="34" charset="0"/>
                <a:cs typeface="Amiri" pitchFamily="2" charset="-78"/>
              </a:rPr>
              <a:t>f.</a:t>
            </a:r>
            <a:endParaRPr lang="en-US" sz="750" dirty="0"/>
          </a:p>
        </p:txBody>
      </p:sp>
      <p:sp>
        <p:nvSpPr>
          <p:cNvPr id="41" name="Text 38"/>
          <p:cNvSpPr txBox="1"/>
          <p:nvPr/>
        </p:nvSpPr>
        <p:spPr>
          <a:xfrm>
            <a:off x="6190488" y="3483864"/>
            <a:ext cx="1545336" cy="384048"/>
          </a:xfrm>
          <a:prstGeom prst="rect">
            <a:avLst/>
          </a:prstGeom>
          <a:noFill/>
          <a:ln/>
        </p:spPr>
        <p:txBody>
          <a:bodyPr wrap="square" lIns="0" tIns="0" rIns="0" bIns="0" rtlCol="0" anchor="ctr"/>
          <a:lstStyle/>
          <a:p>
            <a:pPr rtl="1" algn="ctr" indent="0" marL="0">
              <a:buNone/>
            </a:pPr>
            <a:r>
              <a:rPr lang="ar-SA" altLang="en-US" sz="1500" b="1" dirty="0">
                <a:solidFill>
                  <a:srgbClr val="1B3B6F"/>
                </a:solidFill>
                <a:latin typeface="Amiri" pitchFamily="2" charset="-78"/>
                <a:ea typeface="Amiri" pitchFamily="2" charset="-78"/>
                <a:cs typeface="Amiri" pitchFamily="2" charset="-78"/>
              </a:rPr>
              <a:t>نَحِيفَةٌ</a:t>
            </a:r>
            <a:endParaRPr lang="ar-SA" sz="1500" dirty="0"/>
          </a:p>
        </p:txBody>
      </p:sp>
      <p:sp>
        <p:nvSpPr>
          <p:cNvPr id="42" name="Shape 39"/>
          <p:cNvSpPr/>
          <p:nvPr/>
        </p:nvSpPr>
        <p:spPr>
          <a:xfrm>
            <a:off x="4416552" y="3438144"/>
            <a:ext cx="1636776" cy="438912"/>
          </a:xfrm>
          <a:prstGeom prst="roundRect">
            <a:avLst>
              <a:gd name="adj" fmla="val 10417"/>
            </a:avLst>
          </a:prstGeom>
          <a:solidFill>
            <a:srgbClr val="F4F1EA"/>
          </a:solidFill>
          <a:ln w="9525">
            <a:solidFill>
              <a:srgbClr val="F4F1EA"/>
            </a:solidFill>
            <a:prstDash val="solid"/>
          </a:ln>
        </p:spPr>
      </p:sp>
      <p:sp>
        <p:nvSpPr>
          <p:cNvPr id="43" name="Text 40"/>
          <p:cNvSpPr txBox="1"/>
          <p:nvPr/>
        </p:nvSpPr>
        <p:spPr>
          <a:xfrm>
            <a:off x="4471416" y="3447288"/>
            <a:ext cx="1527048" cy="155448"/>
          </a:xfrm>
          <a:prstGeom prst="rect">
            <a:avLst/>
          </a:prstGeom>
          <a:noFill/>
          <a:ln/>
        </p:spPr>
        <p:txBody>
          <a:bodyPr wrap="square" lIns="0" tIns="0" rIns="0" bIns="0" rtlCol="0" anchor="ctr"/>
          <a:lstStyle/>
          <a:p>
            <a:pPr algn="l" indent="0" marL="0">
              <a:buNone/>
            </a:pPr>
            <a:r>
              <a:rPr lang="en-US" sz="750" b="1" dirty="0">
                <a:solidFill>
                  <a:srgbClr val="8A6D1E"/>
                </a:solidFill>
                <a:latin typeface="Calibri" pitchFamily="34" charset="0"/>
                <a:cs typeface="Amiri" pitchFamily="2" charset="-78"/>
              </a:rPr>
              <a:t>m.</a:t>
            </a:r>
            <a:endParaRPr lang="en-US" sz="750" dirty="0"/>
          </a:p>
        </p:txBody>
      </p:sp>
      <p:sp>
        <p:nvSpPr>
          <p:cNvPr id="44" name="Text 41"/>
          <p:cNvSpPr txBox="1"/>
          <p:nvPr/>
        </p:nvSpPr>
        <p:spPr>
          <a:xfrm>
            <a:off x="4462272" y="3483864"/>
            <a:ext cx="1545336" cy="384048"/>
          </a:xfrm>
          <a:prstGeom prst="rect">
            <a:avLst/>
          </a:prstGeom>
          <a:noFill/>
          <a:ln/>
        </p:spPr>
        <p:txBody>
          <a:bodyPr wrap="square" lIns="0" tIns="0" rIns="0" bIns="0" rtlCol="0" anchor="ctr"/>
          <a:lstStyle/>
          <a:p>
            <a:pPr rtl="1" algn="ctr" indent="0" marL="0">
              <a:buNone/>
            </a:pPr>
            <a:r>
              <a:rPr lang="ar-SA" altLang="en-US" sz="1500" b="1" dirty="0">
                <a:solidFill>
                  <a:srgbClr val="1B3B6F"/>
                </a:solidFill>
                <a:latin typeface="Amiri" pitchFamily="2" charset="-78"/>
                <a:ea typeface="Amiri" pitchFamily="2" charset="-78"/>
                <a:cs typeface="Amiri" pitchFamily="2" charset="-78"/>
              </a:rPr>
              <a:t>نَحِيفٌ</a:t>
            </a:r>
            <a:endParaRPr lang="ar-SA" sz="1500" dirty="0"/>
          </a:p>
        </p:txBody>
      </p:sp>
      <p:sp>
        <p:nvSpPr>
          <p:cNvPr id="45" name="Shape 42"/>
          <p:cNvSpPr/>
          <p:nvPr/>
        </p:nvSpPr>
        <p:spPr>
          <a:xfrm>
            <a:off x="457200" y="1810512"/>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6" name="Shape 43"/>
          <p:cNvSpPr/>
          <p:nvPr/>
        </p:nvSpPr>
        <p:spPr>
          <a:xfrm>
            <a:off x="566928" y="1920240"/>
            <a:ext cx="310896" cy="310896"/>
          </a:xfrm>
          <a:prstGeom prst="ellipse">
            <a:avLst/>
          </a:prstGeom>
          <a:solidFill>
            <a:srgbClr val="F4F1EA"/>
          </a:solidFill>
          <a:ln w="12700">
            <a:solidFill>
              <a:srgbClr val="F4F1EA"/>
            </a:solidFill>
            <a:prstDash val="solid"/>
          </a:ln>
        </p:spPr>
      </p:sp>
      <p:sp>
        <p:nvSpPr>
          <p:cNvPr id="47" name="Text 44"/>
          <p:cNvSpPr txBox="1"/>
          <p:nvPr/>
        </p:nvSpPr>
        <p:spPr>
          <a:xfrm>
            <a:off x="566928" y="1920240"/>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cs typeface="Amiri" pitchFamily="2" charset="-78"/>
              </a:rPr>
              <a:t>9</a:t>
            </a:r>
            <a:endParaRPr lang="en-US" sz="1000" dirty="0"/>
          </a:p>
        </p:txBody>
      </p:sp>
      <p:sp>
        <p:nvSpPr>
          <p:cNvPr id="48" name="Shape 45"/>
          <p:cNvSpPr/>
          <p:nvPr/>
        </p:nvSpPr>
        <p:spPr>
          <a:xfrm>
            <a:off x="960120" y="1938528"/>
            <a:ext cx="704088" cy="256032"/>
          </a:xfrm>
          <a:prstGeom prst="roundRect">
            <a:avLst>
              <a:gd name="adj" fmla="val 50000"/>
            </a:avLst>
          </a:prstGeom>
          <a:solidFill>
            <a:srgbClr val="EFE7D2"/>
          </a:solidFill>
          <a:ln w="12700">
            <a:solidFill>
              <a:srgbClr val="EFE7D2"/>
            </a:solidFill>
            <a:prstDash val="solid"/>
          </a:ln>
        </p:spPr>
      </p:sp>
      <p:sp>
        <p:nvSpPr>
          <p:cNvPr id="49" name="Text 46"/>
          <p:cNvSpPr txBox="1"/>
          <p:nvPr/>
        </p:nvSpPr>
        <p:spPr>
          <a:xfrm>
            <a:off x="960120" y="1938528"/>
            <a:ext cx="704088" cy="256032"/>
          </a:xfrm>
          <a:prstGeom prst="rect">
            <a:avLst/>
          </a:prstGeom>
          <a:noFill/>
          <a:ln/>
        </p:spPr>
        <p:txBody>
          <a:bodyPr wrap="square" lIns="0" tIns="0" rIns="0" bIns="0" rtlCol="0" anchor="ctr"/>
          <a:lstStyle/>
          <a:p>
            <a:pPr algn="ctr" indent="0" marL="0">
              <a:buNone/>
            </a:pPr>
            <a:r>
              <a:rPr lang="en-US" sz="800" b="1" dirty="0">
                <a:solidFill>
                  <a:srgbClr val="8A6D1E"/>
                </a:solidFill>
                <a:latin typeface="Calibri" pitchFamily="34" charset="0"/>
                <a:cs typeface="Amiri" pitchFamily="2" charset="-78"/>
              </a:rPr>
              <a:t>m · f</a:t>
            </a:r>
            <a:endParaRPr lang="en-US" sz="800" dirty="0"/>
          </a:p>
        </p:txBody>
      </p:sp>
      <p:sp>
        <p:nvSpPr>
          <p:cNvPr id="50" name="Shape 47"/>
          <p:cNvSpPr/>
          <p:nvPr/>
        </p:nvSpPr>
        <p:spPr>
          <a:xfrm>
            <a:off x="3227832" y="1938528"/>
            <a:ext cx="731520" cy="256032"/>
          </a:xfrm>
          <a:prstGeom prst="roundRect">
            <a:avLst>
              <a:gd name="adj" fmla="val 50000"/>
            </a:avLst>
          </a:prstGeom>
          <a:solidFill>
            <a:srgbClr val="2E8B57"/>
          </a:solidFill>
          <a:ln w="12700">
            <a:solidFill>
              <a:srgbClr val="2E8B57"/>
            </a:solidFill>
            <a:prstDash val="solid"/>
          </a:ln>
        </p:spPr>
      </p:sp>
      <p:sp>
        <p:nvSpPr>
          <p:cNvPr id="51" name="Text 48"/>
          <p:cNvSpPr txBox="1"/>
          <p:nvPr/>
        </p:nvSpPr>
        <p:spPr>
          <a:xfrm>
            <a:off x="3227832" y="1938528"/>
            <a:ext cx="73152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cs typeface="Amiri" pitchFamily="2" charset="-78"/>
              </a:rPr>
              <a:t>CORE</a:t>
            </a:r>
            <a:endParaRPr lang="en-US" sz="800" dirty="0"/>
          </a:p>
        </p:txBody>
      </p:sp>
      <p:sp>
        <p:nvSpPr>
          <p:cNvPr id="52" name="Text 49"/>
          <p:cNvSpPr txBox="1"/>
          <p:nvPr/>
        </p:nvSpPr>
        <p:spPr>
          <a:xfrm>
            <a:off x="566928" y="2212848"/>
            <a:ext cx="3401568" cy="713232"/>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2" charset="-78"/>
                <a:ea typeface="Amiri" pitchFamily="2" charset="-78"/>
                <a:cs typeface="Amiri" pitchFamily="2" charset="-78"/>
              </a:rPr>
              <a:t>صَغِيرٌ</a:t>
            </a:r>
            <a:endParaRPr lang="ar-SA" sz="3000" dirty="0"/>
          </a:p>
        </p:txBody>
      </p:sp>
      <p:sp>
        <p:nvSpPr>
          <p:cNvPr id="53" name="Text 50"/>
          <p:cNvSpPr txBox="1"/>
          <p:nvPr/>
        </p:nvSpPr>
        <p:spPr>
          <a:xfrm>
            <a:off x="594360" y="2907792"/>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cs typeface="Amiri" pitchFamily="2" charset="-78"/>
              </a:rPr>
              <a:t>small / younger</a:t>
            </a:r>
            <a:endParaRPr lang="en-US" sz="1350" dirty="0"/>
          </a:p>
          <a:p>
            <a:pPr indent="0" marL="0">
              <a:buNone/>
            </a:pPr>
            <a:r>
              <a:rPr lang="en-US" sz="1100" i="1" dirty="0">
                <a:solidFill>
                  <a:srgbClr val="5A6472"/>
                </a:solidFill>
                <a:latin typeface="Calibri" pitchFamily="34" charset="0"/>
                <a:cs typeface="Amiri" pitchFamily="2" charset="-78"/>
              </a:rPr>
              <a:t>ṣa-ghīr</a:t>
            </a:r>
            <a:endParaRPr lang="en-US" sz="1350" dirty="0"/>
          </a:p>
        </p:txBody>
      </p:sp>
      <p:sp>
        <p:nvSpPr>
          <p:cNvPr id="54" name="Shape 51"/>
          <p:cNvSpPr/>
          <p:nvPr/>
        </p:nvSpPr>
        <p:spPr>
          <a:xfrm>
            <a:off x="2322576" y="3438144"/>
            <a:ext cx="1636776" cy="438912"/>
          </a:xfrm>
          <a:prstGeom prst="roundRect">
            <a:avLst>
              <a:gd name="adj" fmla="val 10417"/>
            </a:avLst>
          </a:prstGeom>
          <a:solidFill>
            <a:srgbClr val="F4F1EA"/>
          </a:solidFill>
          <a:ln w="9525">
            <a:solidFill>
              <a:srgbClr val="F4F1EA"/>
            </a:solidFill>
            <a:prstDash val="solid"/>
          </a:ln>
        </p:spPr>
      </p:sp>
      <p:sp>
        <p:nvSpPr>
          <p:cNvPr id="55" name="Text 52"/>
          <p:cNvSpPr txBox="1"/>
          <p:nvPr/>
        </p:nvSpPr>
        <p:spPr>
          <a:xfrm>
            <a:off x="2377440" y="3447288"/>
            <a:ext cx="1527048" cy="155448"/>
          </a:xfrm>
          <a:prstGeom prst="rect">
            <a:avLst/>
          </a:prstGeom>
          <a:noFill/>
          <a:ln/>
        </p:spPr>
        <p:txBody>
          <a:bodyPr wrap="square" lIns="0" tIns="0" rIns="0" bIns="0" rtlCol="0" anchor="ctr"/>
          <a:lstStyle/>
          <a:p>
            <a:pPr algn="l" indent="0" marL="0">
              <a:buNone/>
            </a:pPr>
            <a:r>
              <a:rPr lang="en-US" sz="750" b="1" dirty="0">
                <a:solidFill>
                  <a:srgbClr val="8A6D1E"/>
                </a:solidFill>
                <a:latin typeface="Calibri" pitchFamily="34" charset="0"/>
                <a:cs typeface="Amiri" pitchFamily="2" charset="-78"/>
              </a:rPr>
              <a:t>f.</a:t>
            </a:r>
            <a:endParaRPr lang="en-US" sz="750" dirty="0"/>
          </a:p>
        </p:txBody>
      </p:sp>
      <p:sp>
        <p:nvSpPr>
          <p:cNvPr id="56" name="Text 53"/>
          <p:cNvSpPr txBox="1"/>
          <p:nvPr/>
        </p:nvSpPr>
        <p:spPr>
          <a:xfrm>
            <a:off x="2368296" y="3483864"/>
            <a:ext cx="1545336" cy="384048"/>
          </a:xfrm>
          <a:prstGeom prst="rect">
            <a:avLst/>
          </a:prstGeom>
          <a:noFill/>
          <a:ln/>
        </p:spPr>
        <p:txBody>
          <a:bodyPr wrap="square" lIns="0" tIns="0" rIns="0" bIns="0" rtlCol="0" anchor="ctr"/>
          <a:lstStyle/>
          <a:p>
            <a:pPr rtl="1" algn="ctr" indent="0" marL="0">
              <a:buNone/>
            </a:pPr>
            <a:r>
              <a:rPr lang="ar-SA" altLang="en-US" sz="1500" b="1" dirty="0">
                <a:solidFill>
                  <a:srgbClr val="1B3B6F"/>
                </a:solidFill>
                <a:latin typeface="Amiri" pitchFamily="2" charset="-78"/>
                <a:ea typeface="Amiri" pitchFamily="2" charset="-78"/>
                <a:cs typeface="Amiri" pitchFamily="2" charset="-78"/>
              </a:rPr>
              <a:t>صَغِيرَةٌ</a:t>
            </a:r>
            <a:endParaRPr lang="ar-SA" sz="1500" dirty="0"/>
          </a:p>
        </p:txBody>
      </p:sp>
      <p:sp>
        <p:nvSpPr>
          <p:cNvPr id="57" name="Shape 54"/>
          <p:cNvSpPr/>
          <p:nvPr/>
        </p:nvSpPr>
        <p:spPr>
          <a:xfrm>
            <a:off x="594360" y="3438144"/>
            <a:ext cx="1636776" cy="438912"/>
          </a:xfrm>
          <a:prstGeom prst="roundRect">
            <a:avLst>
              <a:gd name="adj" fmla="val 10417"/>
            </a:avLst>
          </a:prstGeom>
          <a:solidFill>
            <a:srgbClr val="F4F1EA"/>
          </a:solidFill>
          <a:ln w="9525">
            <a:solidFill>
              <a:srgbClr val="F4F1EA"/>
            </a:solidFill>
            <a:prstDash val="solid"/>
          </a:ln>
        </p:spPr>
      </p:sp>
      <p:sp>
        <p:nvSpPr>
          <p:cNvPr id="58" name="Text 55"/>
          <p:cNvSpPr txBox="1"/>
          <p:nvPr/>
        </p:nvSpPr>
        <p:spPr>
          <a:xfrm>
            <a:off x="649224" y="3447288"/>
            <a:ext cx="1527048" cy="155448"/>
          </a:xfrm>
          <a:prstGeom prst="rect">
            <a:avLst/>
          </a:prstGeom>
          <a:noFill/>
          <a:ln/>
        </p:spPr>
        <p:txBody>
          <a:bodyPr wrap="square" lIns="0" tIns="0" rIns="0" bIns="0" rtlCol="0" anchor="ctr"/>
          <a:lstStyle/>
          <a:p>
            <a:pPr algn="l" indent="0" marL="0">
              <a:buNone/>
            </a:pPr>
            <a:r>
              <a:rPr lang="en-US" sz="750" b="1" dirty="0">
                <a:solidFill>
                  <a:srgbClr val="8A6D1E"/>
                </a:solidFill>
                <a:latin typeface="Calibri" pitchFamily="34" charset="0"/>
                <a:cs typeface="Amiri" pitchFamily="2" charset="-78"/>
              </a:rPr>
              <a:t>m.</a:t>
            </a:r>
            <a:endParaRPr lang="en-US" sz="750" dirty="0"/>
          </a:p>
        </p:txBody>
      </p:sp>
      <p:sp>
        <p:nvSpPr>
          <p:cNvPr id="59" name="Text 56"/>
          <p:cNvSpPr txBox="1"/>
          <p:nvPr/>
        </p:nvSpPr>
        <p:spPr>
          <a:xfrm>
            <a:off x="640080" y="3483864"/>
            <a:ext cx="1545336" cy="384048"/>
          </a:xfrm>
          <a:prstGeom prst="rect">
            <a:avLst/>
          </a:prstGeom>
          <a:noFill/>
          <a:ln/>
        </p:spPr>
        <p:txBody>
          <a:bodyPr wrap="square" lIns="0" tIns="0" rIns="0" bIns="0" rtlCol="0" anchor="ctr"/>
          <a:lstStyle/>
          <a:p>
            <a:pPr rtl="1" algn="ctr" indent="0" marL="0">
              <a:buNone/>
            </a:pPr>
            <a:r>
              <a:rPr lang="ar-SA" altLang="en-US" sz="1500" b="1" dirty="0">
                <a:solidFill>
                  <a:srgbClr val="1B3B6F"/>
                </a:solidFill>
                <a:latin typeface="Amiri" pitchFamily="2" charset="-78"/>
                <a:ea typeface="Amiri" pitchFamily="2" charset="-78"/>
                <a:cs typeface="Amiri" pitchFamily="2" charset="-78"/>
              </a:rPr>
              <a:t>صَغِيرٌ</a:t>
            </a:r>
            <a:endParaRPr lang="ar-SA" sz="1500" dirty="0"/>
          </a:p>
        </p:txBody>
      </p:sp>
      <p:sp>
        <p:nvSpPr>
          <p:cNvPr id="60" name="Shape 57"/>
          <p:cNvSpPr/>
          <p:nvPr/>
        </p:nvSpPr>
        <p:spPr>
          <a:xfrm>
            <a:off x="8101584" y="4151376"/>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61" name="Shape 58"/>
          <p:cNvSpPr/>
          <p:nvPr/>
        </p:nvSpPr>
        <p:spPr>
          <a:xfrm>
            <a:off x="8211312" y="4261104"/>
            <a:ext cx="310896" cy="310896"/>
          </a:xfrm>
          <a:prstGeom prst="ellipse">
            <a:avLst/>
          </a:prstGeom>
          <a:solidFill>
            <a:srgbClr val="F4F1EA"/>
          </a:solidFill>
          <a:ln w="12700">
            <a:solidFill>
              <a:srgbClr val="F4F1EA"/>
            </a:solidFill>
            <a:prstDash val="solid"/>
          </a:ln>
        </p:spPr>
      </p:sp>
      <p:sp>
        <p:nvSpPr>
          <p:cNvPr id="62" name="Text 59"/>
          <p:cNvSpPr txBox="1"/>
          <p:nvPr/>
        </p:nvSpPr>
        <p:spPr>
          <a:xfrm>
            <a:off x="8211312" y="4261104"/>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cs typeface="Amiri" pitchFamily="2" charset="-78"/>
              </a:rPr>
              <a:t>10</a:t>
            </a:r>
            <a:endParaRPr lang="en-US" sz="1000" dirty="0"/>
          </a:p>
        </p:txBody>
      </p:sp>
      <p:sp>
        <p:nvSpPr>
          <p:cNvPr id="63" name="Shape 60"/>
          <p:cNvSpPr/>
          <p:nvPr/>
        </p:nvSpPr>
        <p:spPr>
          <a:xfrm>
            <a:off x="8604504" y="4279392"/>
            <a:ext cx="704088" cy="256032"/>
          </a:xfrm>
          <a:prstGeom prst="roundRect">
            <a:avLst>
              <a:gd name="adj" fmla="val 50000"/>
            </a:avLst>
          </a:prstGeom>
          <a:solidFill>
            <a:srgbClr val="EFE7D2"/>
          </a:solidFill>
          <a:ln w="12700">
            <a:solidFill>
              <a:srgbClr val="EFE7D2"/>
            </a:solidFill>
            <a:prstDash val="solid"/>
          </a:ln>
        </p:spPr>
      </p:sp>
      <p:sp>
        <p:nvSpPr>
          <p:cNvPr id="64" name="Text 61"/>
          <p:cNvSpPr txBox="1"/>
          <p:nvPr/>
        </p:nvSpPr>
        <p:spPr>
          <a:xfrm>
            <a:off x="8604504" y="4279392"/>
            <a:ext cx="704088" cy="256032"/>
          </a:xfrm>
          <a:prstGeom prst="rect">
            <a:avLst/>
          </a:prstGeom>
          <a:noFill/>
          <a:ln/>
        </p:spPr>
        <p:txBody>
          <a:bodyPr wrap="square" lIns="0" tIns="0" rIns="0" bIns="0" rtlCol="0" anchor="ctr"/>
          <a:lstStyle/>
          <a:p>
            <a:pPr algn="ctr" indent="0" marL="0">
              <a:buNone/>
            </a:pPr>
            <a:r>
              <a:rPr lang="en-US" sz="800" b="1" dirty="0">
                <a:solidFill>
                  <a:srgbClr val="8A6D1E"/>
                </a:solidFill>
                <a:latin typeface="Calibri" pitchFamily="34" charset="0"/>
                <a:cs typeface="Amiri" pitchFamily="2" charset="-78"/>
              </a:rPr>
              <a:t>m · f</a:t>
            </a:r>
            <a:endParaRPr lang="en-US" sz="800" dirty="0"/>
          </a:p>
        </p:txBody>
      </p:sp>
      <p:sp>
        <p:nvSpPr>
          <p:cNvPr id="65" name="Shape 62"/>
          <p:cNvSpPr/>
          <p:nvPr/>
        </p:nvSpPr>
        <p:spPr>
          <a:xfrm>
            <a:off x="10872216" y="4279392"/>
            <a:ext cx="731520" cy="256032"/>
          </a:xfrm>
          <a:prstGeom prst="roundRect">
            <a:avLst>
              <a:gd name="adj" fmla="val 50000"/>
            </a:avLst>
          </a:prstGeom>
          <a:solidFill>
            <a:srgbClr val="2E8B57"/>
          </a:solidFill>
          <a:ln w="12700">
            <a:solidFill>
              <a:srgbClr val="2E8B57"/>
            </a:solidFill>
            <a:prstDash val="solid"/>
          </a:ln>
        </p:spPr>
      </p:sp>
      <p:sp>
        <p:nvSpPr>
          <p:cNvPr id="66" name="Text 63"/>
          <p:cNvSpPr txBox="1"/>
          <p:nvPr/>
        </p:nvSpPr>
        <p:spPr>
          <a:xfrm>
            <a:off x="10872216" y="4279392"/>
            <a:ext cx="73152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cs typeface="Amiri" pitchFamily="2" charset="-78"/>
              </a:rPr>
              <a:t>CORE</a:t>
            </a:r>
            <a:endParaRPr lang="en-US" sz="800" dirty="0"/>
          </a:p>
        </p:txBody>
      </p:sp>
      <p:sp>
        <p:nvSpPr>
          <p:cNvPr id="67" name="Text 64"/>
          <p:cNvSpPr txBox="1"/>
          <p:nvPr/>
        </p:nvSpPr>
        <p:spPr>
          <a:xfrm>
            <a:off x="8211312" y="4553712"/>
            <a:ext cx="3401568" cy="713232"/>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2" charset="-78"/>
                <a:ea typeface="Amiri" pitchFamily="2" charset="-78"/>
                <a:cs typeface="Amiri" pitchFamily="2" charset="-78"/>
              </a:rPr>
              <a:t>لَطِيفٌ</a:t>
            </a:r>
            <a:endParaRPr lang="ar-SA" sz="3000" dirty="0"/>
          </a:p>
        </p:txBody>
      </p:sp>
      <p:sp>
        <p:nvSpPr>
          <p:cNvPr id="68" name="Text 65"/>
          <p:cNvSpPr txBox="1"/>
          <p:nvPr/>
        </p:nvSpPr>
        <p:spPr>
          <a:xfrm>
            <a:off x="8238744" y="5248656"/>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cs typeface="Amiri" pitchFamily="2" charset="-78"/>
              </a:rPr>
              <a:t>kind / pleasant</a:t>
            </a:r>
            <a:endParaRPr lang="en-US" sz="1350" dirty="0"/>
          </a:p>
          <a:p>
            <a:pPr indent="0" marL="0">
              <a:buNone/>
            </a:pPr>
            <a:r>
              <a:rPr lang="en-US" sz="1100" i="1" dirty="0">
                <a:solidFill>
                  <a:srgbClr val="5A6472"/>
                </a:solidFill>
                <a:latin typeface="Calibri" pitchFamily="34" charset="0"/>
                <a:cs typeface="Amiri" pitchFamily="2" charset="-78"/>
              </a:rPr>
              <a:t>la-ṭīf</a:t>
            </a:r>
            <a:endParaRPr lang="en-US" sz="1350" dirty="0"/>
          </a:p>
        </p:txBody>
      </p:sp>
      <p:sp>
        <p:nvSpPr>
          <p:cNvPr id="69" name="Shape 66"/>
          <p:cNvSpPr/>
          <p:nvPr/>
        </p:nvSpPr>
        <p:spPr>
          <a:xfrm>
            <a:off x="9966960" y="5779008"/>
            <a:ext cx="1636776" cy="438912"/>
          </a:xfrm>
          <a:prstGeom prst="roundRect">
            <a:avLst>
              <a:gd name="adj" fmla="val 10417"/>
            </a:avLst>
          </a:prstGeom>
          <a:solidFill>
            <a:srgbClr val="F4F1EA"/>
          </a:solidFill>
          <a:ln w="9525">
            <a:solidFill>
              <a:srgbClr val="F4F1EA"/>
            </a:solidFill>
            <a:prstDash val="solid"/>
          </a:ln>
        </p:spPr>
      </p:sp>
      <p:sp>
        <p:nvSpPr>
          <p:cNvPr id="70" name="Text 67"/>
          <p:cNvSpPr txBox="1"/>
          <p:nvPr/>
        </p:nvSpPr>
        <p:spPr>
          <a:xfrm>
            <a:off x="10021824" y="5788152"/>
            <a:ext cx="1527048" cy="155448"/>
          </a:xfrm>
          <a:prstGeom prst="rect">
            <a:avLst/>
          </a:prstGeom>
          <a:noFill/>
          <a:ln/>
        </p:spPr>
        <p:txBody>
          <a:bodyPr wrap="square" lIns="0" tIns="0" rIns="0" bIns="0" rtlCol="0" anchor="ctr"/>
          <a:lstStyle/>
          <a:p>
            <a:pPr algn="l" indent="0" marL="0">
              <a:buNone/>
            </a:pPr>
            <a:r>
              <a:rPr lang="en-US" sz="750" b="1" dirty="0">
                <a:solidFill>
                  <a:srgbClr val="8A6D1E"/>
                </a:solidFill>
                <a:latin typeface="Calibri" pitchFamily="34" charset="0"/>
                <a:cs typeface="Amiri" pitchFamily="2" charset="-78"/>
              </a:rPr>
              <a:t>f.</a:t>
            </a:r>
            <a:endParaRPr lang="en-US" sz="750" dirty="0"/>
          </a:p>
        </p:txBody>
      </p:sp>
      <p:sp>
        <p:nvSpPr>
          <p:cNvPr id="71" name="Text 68"/>
          <p:cNvSpPr txBox="1"/>
          <p:nvPr/>
        </p:nvSpPr>
        <p:spPr>
          <a:xfrm>
            <a:off x="10012680" y="5824728"/>
            <a:ext cx="1545336" cy="384048"/>
          </a:xfrm>
          <a:prstGeom prst="rect">
            <a:avLst/>
          </a:prstGeom>
          <a:noFill/>
          <a:ln/>
        </p:spPr>
        <p:txBody>
          <a:bodyPr wrap="square" lIns="0" tIns="0" rIns="0" bIns="0" rtlCol="0" anchor="ctr"/>
          <a:lstStyle/>
          <a:p>
            <a:pPr rtl="1" algn="ctr" indent="0" marL="0">
              <a:buNone/>
            </a:pPr>
            <a:r>
              <a:rPr lang="ar-SA" altLang="en-US" sz="1500" b="1" dirty="0">
                <a:solidFill>
                  <a:srgbClr val="1B3B6F"/>
                </a:solidFill>
                <a:latin typeface="Amiri" pitchFamily="2" charset="-78"/>
                <a:ea typeface="Amiri" pitchFamily="2" charset="-78"/>
                <a:cs typeface="Amiri" pitchFamily="2" charset="-78"/>
              </a:rPr>
              <a:t>لَطِيفَةٌ</a:t>
            </a:r>
            <a:endParaRPr lang="ar-SA" sz="1500" dirty="0"/>
          </a:p>
        </p:txBody>
      </p:sp>
      <p:sp>
        <p:nvSpPr>
          <p:cNvPr id="72" name="Shape 69"/>
          <p:cNvSpPr/>
          <p:nvPr/>
        </p:nvSpPr>
        <p:spPr>
          <a:xfrm>
            <a:off x="8238744" y="5779008"/>
            <a:ext cx="1636776" cy="438912"/>
          </a:xfrm>
          <a:prstGeom prst="roundRect">
            <a:avLst>
              <a:gd name="adj" fmla="val 10417"/>
            </a:avLst>
          </a:prstGeom>
          <a:solidFill>
            <a:srgbClr val="F4F1EA"/>
          </a:solidFill>
          <a:ln w="9525">
            <a:solidFill>
              <a:srgbClr val="F4F1EA"/>
            </a:solidFill>
            <a:prstDash val="solid"/>
          </a:ln>
        </p:spPr>
      </p:sp>
      <p:sp>
        <p:nvSpPr>
          <p:cNvPr id="73" name="Text 70"/>
          <p:cNvSpPr txBox="1"/>
          <p:nvPr/>
        </p:nvSpPr>
        <p:spPr>
          <a:xfrm>
            <a:off x="8293608" y="5788152"/>
            <a:ext cx="1527048" cy="155448"/>
          </a:xfrm>
          <a:prstGeom prst="rect">
            <a:avLst/>
          </a:prstGeom>
          <a:noFill/>
          <a:ln/>
        </p:spPr>
        <p:txBody>
          <a:bodyPr wrap="square" lIns="0" tIns="0" rIns="0" bIns="0" rtlCol="0" anchor="ctr"/>
          <a:lstStyle/>
          <a:p>
            <a:pPr algn="l" indent="0" marL="0">
              <a:buNone/>
            </a:pPr>
            <a:r>
              <a:rPr lang="en-US" sz="750" b="1" dirty="0">
                <a:solidFill>
                  <a:srgbClr val="8A6D1E"/>
                </a:solidFill>
                <a:latin typeface="Calibri" pitchFamily="34" charset="0"/>
                <a:cs typeface="Amiri" pitchFamily="2" charset="-78"/>
              </a:rPr>
              <a:t>m.</a:t>
            </a:r>
            <a:endParaRPr lang="en-US" sz="750" dirty="0"/>
          </a:p>
        </p:txBody>
      </p:sp>
      <p:sp>
        <p:nvSpPr>
          <p:cNvPr id="74" name="Text 71"/>
          <p:cNvSpPr txBox="1"/>
          <p:nvPr/>
        </p:nvSpPr>
        <p:spPr>
          <a:xfrm>
            <a:off x="8284464" y="5824728"/>
            <a:ext cx="1545336" cy="384048"/>
          </a:xfrm>
          <a:prstGeom prst="rect">
            <a:avLst/>
          </a:prstGeom>
          <a:noFill/>
          <a:ln/>
        </p:spPr>
        <p:txBody>
          <a:bodyPr wrap="square" lIns="0" tIns="0" rIns="0" bIns="0" rtlCol="0" anchor="ctr"/>
          <a:lstStyle/>
          <a:p>
            <a:pPr rtl="1" algn="ctr" indent="0" marL="0">
              <a:buNone/>
            </a:pPr>
            <a:r>
              <a:rPr lang="ar-SA" altLang="en-US" sz="1500" b="1" dirty="0">
                <a:solidFill>
                  <a:srgbClr val="1B3B6F"/>
                </a:solidFill>
                <a:latin typeface="Amiri" pitchFamily="2" charset="-78"/>
                <a:ea typeface="Amiri" pitchFamily="2" charset="-78"/>
                <a:cs typeface="Amiri" pitchFamily="2" charset="-78"/>
              </a:rPr>
              <a:t>لَطِيفٌ</a:t>
            </a:r>
            <a:endParaRPr lang="ar-SA" sz="1500" dirty="0"/>
          </a:p>
        </p:txBody>
      </p:sp>
      <p:sp>
        <p:nvSpPr>
          <p:cNvPr id="75" name="Shape 72"/>
          <p:cNvSpPr/>
          <p:nvPr/>
        </p:nvSpPr>
        <p:spPr>
          <a:xfrm>
            <a:off x="4279392" y="4151376"/>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76" name="Shape 73"/>
          <p:cNvSpPr/>
          <p:nvPr/>
        </p:nvSpPr>
        <p:spPr>
          <a:xfrm>
            <a:off x="4389120" y="4261104"/>
            <a:ext cx="310896" cy="310896"/>
          </a:xfrm>
          <a:prstGeom prst="ellipse">
            <a:avLst/>
          </a:prstGeom>
          <a:solidFill>
            <a:srgbClr val="F4F1EA"/>
          </a:solidFill>
          <a:ln w="12700">
            <a:solidFill>
              <a:srgbClr val="F4F1EA"/>
            </a:solidFill>
            <a:prstDash val="solid"/>
          </a:ln>
        </p:spPr>
      </p:sp>
      <p:sp>
        <p:nvSpPr>
          <p:cNvPr id="77" name="Text 74"/>
          <p:cNvSpPr txBox="1"/>
          <p:nvPr/>
        </p:nvSpPr>
        <p:spPr>
          <a:xfrm>
            <a:off x="4389120" y="4261104"/>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cs typeface="Amiri" pitchFamily="2" charset="-78"/>
              </a:rPr>
              <a:t>11</a:t>
            </a:r>
            <a:endParaRPr lang="en-US" sz="1000" dirty="0"/>
          </a:p>
        </p:txBody>
      </p:sp>
      <p:sp>
        <p:nvSpPr>
          <p:cNvPr id="78" name="Shape 75"/>
          <p:cNvSpPr/>
          <p:nvPr/>
        </p:nvSpPr>
        <p:spPr>
          <a:xfrm>
            <a:off x="4782312" y="4279392"/>
            <a:ext cx="704088" cy="256032"/>
          </a:xfrm>
          <a:prstGeom prst="roundRect">
            <a:avLst>
              <a:gd name="adj" fmla="val 50000"/>
            </a:avLst>
          </a:prstGeom>
          <a:solidFill>
            <a:srgbClr val="EFE7D2"/>
          </a:solidFill>
          <a:ln w="12700">
            <a:solidFill>
              <a:srgbClr val="EFE7D2"/>
            </a:solidFill>
            <a:prstDash val="solid"/>
          </a:ln>
        </p:spPr>
      </p:sp>
      <p:sp>
        <p:nvSpPr>
          <p:cNvPr id="79" name="Text 76"/>
          <p:cNvSpPr txBox="1"/>
          <p:nvPr/>
        </p:nvSpPr>
        <p:spPr>
          <a:xfrm>
            <a:off x="4782312" y="4279392"/>
            <a:ext cx="704088" cy="256032"/>
          </a:xfrm>
          <a:prstGeom prst="rect">
            <a:avLst/>
          </a:prstGeom>
          <a:noFill/>
          <a:ln/>
        </p:spPr>
        <p:txBody>
          <a:bodyPr wrap="square" lIns="0" tIns="0" rIns="0" bIns="0" rtlCol="0" anchor="ctr"/>
          <a:lstStyle/>
          <a:p>
            <a:pPr algn="ctr" indent="0" marL="0">
              <a:buNone/>
            </a:pPr>
            <a:r>
              <a:rPr lang="en-US" sz="800" b="1" dirty="0">
                <a:solidFill>
                  <a:srgbClr val="8A6D1E"/>
                </a:solidFill>
                <a:latin typeface="Calibri" pitchFamily="34" charset="0"/>
                <a:cs typeface="Amiri" pitchFamily="2" charset="-78"/>
              </a:rPr>
              <a:t>m · f</a:t>
            </a:r>
            <a:endParaRPr lang="en-US" sz="800" dirty="0"/>
          </a:p>
        </p:txBody>
      </p:sp>
      <p:sp>
        <p:nvSpPr>
          <p:cNvPr id="80" name="Shape 77"/>
          <p:cNvSpPr/>
          <p:nvPr/>
        </p:nvSpPr>
        <p:spPr>
          <a:xfrm>
            <a:off x="7050024" y="4279392"/>
            <a:ext cx="731520" cy="256032"/>
          </a:xfrm>
          <a:prstGeom prst="roundRect">
            <a:avLst>
              <a:gd name="adj" fmla="val 50000"/>
            </a:avLst>
          </a:prstGeom>
          <a:solidFill>
            <a:srgbClr val="2E8B57"/>
          </a:solidFill>
          <a:ln w="12700">
            <a:solidFill>
              <a:srgbClr val="2E8B57"/>
            </a:solidFill>
            <a:prstDash val="solid"/>
          </a:ln>
        </p:spPr>
      </p:sp>
      <p:sp>
        <p:nvSpPr>
          <p:cNvPr id="81" name="Text 78"/>
          <p:cNvSpPr txBox="1"/>
          <p:nvPr/>
        </p:nvSpPr>
        <p:spPr>
          <a:xfrm>
            <a:off x="7050024" y="4279392"/>
            <a:ext cx="73152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cs typeface="Amiri" pitchFamily="2" charset="-78"/>
              </a:rPr>
              <a:t>CORE</a:t>
            </a:r>
            <a:endParaRPr lang="en-US" sz="800" dirty="0"/>
          </a:p>
        </p:txBody>
      </p:sp>
      <p:sp>
        <p:nvSpPr>
          <p:cNvPr id="82" name="Text 79"/>
          <p:cNvSpPr txBox="1"/>
          <p:nvPr/>
        </p:nvSpPr>
        <p:spPr>
          <a:xfrm>
            <a:off x="4389120" y="4553712"/>
            <a:ext cx="3401568" cy="713232"/>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2" charset="-78"/>
                <a:ea typeface="Amiri" pitchFamily="2" charset="-78"/>
                <a:cs typeface="Amiri" pitchFamily="2" charset="-78"/>
              </a:rPr>
              <a:t>هَادِئٌ</a:t>
            </a:r>
            <a:endParaRPr lang="ar-SA" sz="3000" dirty="0"/>
          </a:p>
        </p:txBody>
      </p:sp>
      <p:sp>
        <p:nvSpPr>
          <p:cNvPr id="83" name="Text 80"/>
          <p:cNvSpPr txBox="1"/>
          <p:nvPr/>
        </p:nvSpPr>
        <p:spPr>
          <a:xfrm>
            <a:off x="4416552" y="5248656"/>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cs typeface="Amiri" pitchFamily="2" charset="-78"/>
              </a:rPr>
              <a:t>quiet / calm</a:t>
            </a:r>
            <a:endParaRPr lang="en-US" sz="1350" dirty="0"/>
          </a:p>
          <a:p>
            <a:pPr indent="0" marL="0">
              <a:buNone/>
            </a:pPr>
            <a:r>
              <a:rPr lang="en-US" sz="1100" i="1" dirty="0">
                <a:solidFill>
                  <a:srgbClr val="5A6472"/>
                </a:solidFill>
                <a:latin typeface="Calibri" pitchFamily="34" charset="0"/>
                <a:cs typeface="Amiri" pitchFamily="2" charset="-78"/>
              </a:rPr>
              <a:t>hā-di’</a:t>
            </a:r>
            <a:endParaRPr lang="en-US" sz="1350" dirty="0"/>
          </a:p>
        </p:txBody>
      </p:sp>
      <p:sp>
        <p:nvSpPr>
          <p:cNvPr id="84" name="Shape 81"/>
          <p:cNvSpPr/>
          <p:nvPr/>
        </p:nvSpPr>
        <p:spPr>
          <a:xfrm>
            <a:off x="6144768" y="5779008"/>
            <a:ext cx="1636776" cy="438912"/>
          </a:xfrm>
          <a:prstGeom prst="roundRect">
            <a:avLst>
              <a:gd name="adj" fmla="val 10417"/>
            </a:avLst>
          </a:prstGeom>
          <a:solidFill>
            <a:srgbClr val="F4F1EA"/>
          </a:solidFill>
          <a:ln w="9525">
            <a:solidFill>
              <a:srgbClr val="F4F1EA"/>
            </a:solidFill>
            <a:prstDash val="solid"/>
          </a:ln>
        </p:spPr>
      </p:sp>
      <p:sp>
        <p:nvSpPr>
          <p:cNvPr id="85" name="Text 82"/>
          <p:cNvSpPr txBox="1"/>
          <p:nvPr/>
        </p:nvSpPr>
        <p:spPr>
          <a:xfrm>
            <a:off x="6199632" y="5788152"/>
            <a:ext cx="1527048" cy="155448"/>
          </a:xfrm>
          <a:prstGeom prst="rect">
            <a:avLst/>
          </a:prstGeom>
          <a:noFill/>
          <a:ln/>
        </p:spPr>
        <p:txBody>
          <a:bodyPr wrap="square" lIns="0" tIns="0" rIns="0" bIns="0" rtlCol="0" anchor="ctr"/>
          <a:lstStyle/>
          <a:p>
            <a:pPr algn="l" indent="0" marL="0">
              <a:buNone/>
            </a:pPr>
            <a:r>
              <a:rPr lang="en-US" sz="750" b="1" dirty="0">
                <a:solidFill>
                  <a:srgbClr val="8A6D1E"/>
                </a:solidFill>
                <a:latin typeface="Calibri" pitchFamily="34" charset="0"/>
                <a:cs typeface="Amiri" pitchFamily="2" charset="-78"/>
              </a:rPr>
              <a:t>f.</a:t>
            </a:r>
            <a:endParaRPr lang="en-US" sz="750" dirty="0"/>
          </a:p>
        </p:txBody>
      </p:sp>
      <p:sp>
        <p:nvSpPr>
          <p:cNvPr id="86" name="Text 83"/>
          <p:cNvSpPr txBox="1"/>
          <p:nvPr/>
        </p:nvSpPr>
        <p:spPr>
          <a:xfrm>
            <a:off x="6190488" y="5824728"/>
            <a:ext cx="1545336" cy="384048"/>
          </a:xfrm>
          <a:prstGeom prst="rect">
            <a:avLst/>
          </a:prstGeom>
          <a:noFill/>
          <a:ln/>
        </p:spPr>
        <p:txBody>
          <a:bodyPr wrap="square" lIns="0" tIns="0" rIns="0" bIns="0" rtlCol="0" anchor="ctr"/>
          <a:lstStyle/>
          <a:p>
            <a:pPr rtl="1" algn="ctr" indent="0" marL="0">
              <a:buNone/>
            </a:pPr>
            <a:r>
              <a:rPr lang="ar-SA" altLang="en-US" sz="1500" b="1" dirty="0">
                <a:solidFill>
                  <a:srgbClr val="1B3B6F"/>
                </a:solidFill>
                <a:latin typeface="Amiri" pitchFamily="2" charset="-78"/>
                <a:ea typeface="Amiri" pitchFamily="2" charset="-78"/>
                <a:cs typeface="Amiri" pitchFamily="2" charset="-78"/>
              </a:rPr>
              <a:t>هَادِئَةٌ</a:t>
            </a:r>
            <a:endParaRPr lang="ar-SA" sz="1500" dirty="0"/>
          </a:p>
        </p:txBody>
      </p:sp>
      <p:sp>
        <p:nvSpPr>
          <p:cNvPr id="87" name="Shape 84"/>
          <p:cNvSpPr/>
          <p:nvPr/>
        </p:nvSpPr>
        <p:spPr>
          <a:xfrm>
            <a:off x="4416552" y="5779008"/>
            <a:ext cx="1636776" cy="438912"/>
          </a:xfrm>
          <a:prstGeom prst="roundRect">
            <a:avLst>
              <a:gd name="adj" fmla="val 10417"/>
            </a:avLst>
          </a:prstGeom>
          <a:solidFill>
            <a:srgbClr val="F4F1EA"/>
          </a:solidFill>
          <a:ln w="9525">
            <a:solidFill>
              <a:srgbClr val="F4F1EA"/>
            </a:solidFill>
            <a:prstDash val="solid"/>
          </a:ln>
        </p:spPr>
      </p:sp>
      <p:sp>
        <p:nvSpPr>
          <p:cNvPr id="88" name="Text 85"/>
          <p:cNvSpPr txBox="1"/>
          <p:nvPr/>
        </p:nvSpPr>
        <p:spPr>
          <a:xfrm>
            <a:off x="4471416" y="5788152"/>
            <a:ext cx="1527048" cy="155448"/>
          </a:xfrm>
          <a:prstGeom prst="rect">
            <a:avLst/>
          </a:prstGeom>
          <a:noFill/>
          <a:ln/>
        </p:spPr>
        <p:txBody>
          <a:bodyPr wrap="square" lIns="0" tIns="0" rIns="0" bIns="0" rtlCol="0" anchor="ctr"/>
          <a:lstStyle/>
          <a:p>
            <a:pPr algn="l" indent="0" marL="0">
              <a:buNone/>
            </a:pPr>
            <a:r>
              <a:rPr lang="en-US" sz="750" b="1" dirty="0">
                <a:solidFill>
                  <a:srgbClr val="8A6D1E"/>
                </a:solidFill>
                <a:latin typeface="Calibri" pitchFamily="34" charset="0"/>
                <a:cs typeface="Amiri" pitchFamily="2" charset="-78"/>
              </a:rPr>
              <a:t>m.</a:t>
            </a:r>
            <a:endParaRPr lang="en-US" sz="750" dirty="0"/>
          </a:p>
        </p:txBody>
      </p:sp>
      <p:sp>
        <p:nvSpPr>
          <p:cNvPr id="89" name="Text 86"/>
          <p:cNvSpPr txBox="1"/>
          <p:nvPr/>
        </p:nvSpPr>
        <p:spPr>
          <a:xfrm>
            <a:off x="4462272" y="5824728"/>
            <a:ext cx="1545336" cy="384048"/>
          </a:xfrm>
          <a:prstGeom prst="rect">
            <a:avLst/>
          </a:prstGeom>
          <a:noFill/>
          <a:ln/>
        </p:spPr>
        <p:txBody>
          <a:bodyPr wrap="square" lIns="0" tIns="0" rIns="0" bIns="0" rtlCol="0" anchor="ctr"/>
          <a:lstStyle/>
          <a:p>
            <a:pPr rtl="1" algn="ctr" indent="0" marL="0">
              <a:buNone/>
            </a:pPr>
            <a:r>
              <a:rPr lang="ar-SA" altLang="en-US" sz="1500" b="1" dirty="0">
                <a:solidFill>
                  <a:srgbClr val="1B3B6F"/>
                </a:solidFill>
                <a:latin typeface="Amiri" pitchFamily="2" charset="-78"/>
                <a:ea typeface="Amiri" pitchFamily="2" charset="-78"/>
                <a:cs typeface="Amiri" pitchFamily="2" charset="-78"/>
              </a:rPr>
              <a:t>هَادِئٌ</a:t>
            </a:r>
            <a:endParaRPr lang="ar-SA" sz="1500" dirty="0"/>
          </a:p>
        </p:txBody>
      </p:sp>
      <p:sp>
        <p:nvSpPr>
          <p:cNvPr id="90" name="Shape 87"/>
          <p:cNvSpPr/>
          <p:nvPr/>
        </p:nvSpPr>
        <p:spPr>
          <a:xfrm>
            <a:off x="457200" y="4151376"/>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91" name="Shape 88"/>
          <p:cNvSpPr/>
          <p:nvPr/>
        </p:nvSpPr>
        <p:spPr>
          <a:xfrm>
            <a:off x="566928" y="4261104"/>
            <a:ext cx="310896" cy="310896"/>
          </a:xfrm>
          <a:prstGeom prst="ellipse">
            <a:avLst/>
          </a:prstGeom>
          <a:solidFill>
            <a:srgbClr val="F4F1EA"/>
          </a:solidFill>
          <a:ln w="12700">
            <a:solidFill>
              <a:srgbClr val="F4F1EA"/>
            </a:solidFill>
            <a:prstDash val="solid"/>
          </a:ln>
        </p:spPr>
      </p:sp>
      <p:sp>
        <p:nvSpPr>
          <p:cNvPr id="92" name="Text 89"/>
          <p:cNvSpPr txBox="1"/>
          <p:nvPr/>
        </p:nvSpPr>
        <p:spPr>
          <a:xfrm>
            <a:off x="566928" y="4261104"/>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cs typeface="Amiri" pitchFamily="2" charset="-78"/>
              </a:rPr>
              <a:t>12</a:t>
            </a:r>
            <a:endParaRPr lang="en-US" sz="1000" dirty="0"/>
          </a:p>
        </p:txBody>
      </p:sp>
      <p:sp>
        <p:nvSpPr>
          <p:cNvPr id="93" name="Shape 90"/>
          <p:cNvSpPr/>
          <p:nvPr/>
        </p:nvSpPr>
        <p:spPr>
          <a:xfrm>
            <a:off x="960120" y="4279392"/>
            <a:ext cx="704088" cy="256032"/>
          </a:xfrm>
          <a:prstGeom prst="roundRect">
            <a:avLst>
              <a:gd name="adj" fmla="val 50000"/>
            </a:avLst>
          </a:prstGeom>
          <a:solidFill>
            <a:srgbClr val="EFE7D2"/>
          </a:solidFill>
          <a:ln w="12700">
            <a:solidFill>
              <a:srgbClr val="EFE7D2"/>
            </a:solidFill>
            <a:prstDash val="solid"/>
          </a:ln>
        </p:spPr>
      </p:sp>
      <p:sp>
        <p:nvSpPr>
          <p:cNvPr id="94" name="Text 91"/>
          <p:cNvSpPr txBox="1"/>
          <p:nvPr/>
        </p:nvSpPr>
        <p:spPr>
          <a:xfrm>
            <a:off x="960120" y="4279392"/>
            <a:ext cx="704088" cy="256032"/>
          </a:xfrm>
          <a:prstGeom prst="rect">
            <a:avLst/>
          </a:prstGeom>
          <a:noFill/>
          <a:ln/>
        </p:spPr>
        <p:txBody>
          <a:bodyPr wrap="square" lIns="0" tIns="0" rIns="0" bIns="0" rtlCol="0" anchor="ctr"/>
          <a:lstStyle/>
          <a:p>
            <a:pPr algn="ctr" indent="0" marL="0">
              <a:buNone/>
            </a:pPr>
            <a:r>
              <a:rPr lang="en-US" sz="800" b="1" dirty="0">
                <a:solidFill>
                  <a:srgbClr val="8A6D1E"/>
                </a:solidFill>
                <a:latin typeface="Calibri" pitchFamily="34" charset="0"/>
                <a:cs typeface="Amiri" pitchFamily="2" charset="-78"/>
              </a:rPr>
              <a:t>m · f</a:t>
            </a:r>
            <a:endParaRPr lang="en-US" sz="800" dirty="0"/>
          </a:p>
        </p:txBody>
      </p:sp>
      <p:sp>
        <p:nvSpPr>
          <p:cNvPr id="95" name="Shape 92"/>
          <p:cNvSpPr/>
          <p:nvPr/>
        </p:nvSpPr>
        <p:spPr>
          <a:xfrm>
            <a:off x="3227832" y="4279392"/>
            <a:ext cx="731520" cy="256032"/>
          </a:xfrm>
          <a:prstGeom prst="roundRect">
            <a:avLst>
              <a:gd name="adj" fmla="val 50000"/>
            </a:avLst>
          </a:prstGeom>
          <a:solidFill>
            <a:srgbClr val="2E8B57"/>
          </a:solidFill>
          <a:ln w="12700">
            <a:solidFill>
              <a:srgbClr val="2E8B57"/>
            </a:solidFill>
            <a:prstDash val="solid"/>
          </a:ln>
        </p:spPr>
      </p:sp>
      <p:sp>
        <p:nvSpPr>
          <p:cNvPr id="96" name="Text 93"/>
          <p:cNvSpPr txBox="1"/>
          <p:nvPr/>
        </p:nvSpPr>
        <p:spPr>
          <a:xfrm>
            <a:off x="3227832" y="4279392"/>
            <a:ext cx="73152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cs typeface="Amiri" pitchFamily="2" charset="-78"/>
              </a:rPr>
              <a:t>CORE</a:t>
            </a:r>
            <a:endParaRPr lang="en-US" sz="800" dirty="0"/>
          </a:p>
        </p:txBody>
      </p:sp>
      <p:sp>
        <p:nvSpPr>
          <p:cNvPr id="97" name="Text 94"/>
          <p:cNvSpPr txBox="1"/>
          <p:nvPr/>
        </p:nvSpPr>
        <p:spPr>
          <a:xfrm>
            <a:off x="566928" y="4553712"/>
            <a:ext cx="3401568" cy="713232"/>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2" charset="-78"/>
                <a:ea typeface="Amiri" pitchFamily="2" charset="-78"/>
                <a:cs typeface="Amiri" pitchFamily="2" charset="-78"/>
              </a:rPr>
              <a:t>مُجْتَهِدٌ</a:t>
            </a:r>
            <a:endParaRPr lang="ar-SA" sz="3000" dirty="0"/>
          </a:p>
        </p:txBody>
      </p:sp>
      <p:sp>
        <p:nvSpPr>
          <p:cNvPr id="98" name="Text 95"/>
          <p:cNvSpPr txBox="1"/>
          <p:nvPr/>
        </p:nvSpPr>
        <p:spPr>
          <a:xfrm>
            <a:off x="594360" y="5248656"/>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cs typeface="Amiri" pitchFamily="2" charset="-78"/>
              </a:rPr>
              <a:t>hard-working</a:t>
            </a:r>
            <a:endParaRPr lang="en-US" sz="1350" dirty="0"/>
          </a:p>
          <a:p>
            <a:pPr indent="0" marL="0">
              <a:buNone/>
            </a:pPr>
            <a:r>
              <a:rPr lang="en-US" sz="1100" i="1" dirty="0">
                <a:solidFill>
                  <a:srgbClr val="5A6472"/>
                </a:solidFill>
                <a:latin typeface="Calibri" pitchFamily="34" charset="0"/>
                <a:cs typeface="Amiri" pitchFamily="2" charset="-78"/>
              </a:rPr>
              <a:t>muj-ta-hid</a:t>
            </a:r>
            <a:endParaRPr lang="en-US" sz="1350" dirty="0"/>
          </a:p>
        </p:txBody>
      </p:sp>
      <p:sp>
        <p:nvSpPr>
          <p:cNvPr id="99" name="Shape 96"/>
          <p:cNvSpPr/>
          <p:nvPr/>
        </p:nvSpPr>
        <p:spPr>
          <a:xfrm>
            <a:off x="2322576" y="5779008"/>
            <a:ext cx="1636776" cy="438912"/>
          </a:xfrm>
          <a:prstGeom prst="roundRect">
            <a:avLst>
              <a:gd name="adj" fmla="val 10417"/>
            </a:avLst>
          </a:prstGeom>
          <a:solidFill>
            <a:srgbClr val="F4F1EA"/>
          </a:solidFill>
          <a:ln w="9525">
            <a:solidFill>
              <a:srgbClr val="F4F1EA"/>
            </a:solidFill>
            <a:prstDash val="solid"/>
          </a:ln>
        </p:spPr>
      </p:sp>
      <p:sp>
        <p:nvSpPr>
          <p:cNvPr id="100" name="Text 97"/>
          <p:cNvSpPr txBox="1"/>
          <p:nvPr/>
        </p:nvSpPr>
        <p:spPr>
          <a:xfrm>
            <a:off x="2377440" y="5788152"/>
            <a:ext cx="1527048" cy="155448"/>
          </a:xfrm>
          <a:prstGeom prst="rect">
            <a:avLst/>
          </a:prstGeom>
          <a:noFill/>
          <a:ln/>
        </p:spPr>
        <p:txBody>
          <a:bodyPr wrap="square" lIns="0" tIns="0" rIns="0" bIns="0" rtlCol="0" anchor="ctr"/>
          <a:lstStyle/>
          <a:p>
            <a:pPr algn="l" indent="0" marL="0">
              <a:buNone/>
            </a:pPr>
            <a:r>
              <a:rPr lang="en-US" sz="750" b="1" dirty="0">
                <a:solidFill>
                  <a:srgbClr val="8A6D1E"/>
                </a:solidFill>
                <a:latin typeface="Calibri" pitchFamily="34" charset="0"/>
                <a:cs typeface="Amiri" pitchFamily="2" charset="-78"/>
              </a:rPr>
              <a:t>f.</a:t>
            </a:r>
            <a:endParaRPr lang="en-US" sz="750" dirty="0"/>
          </a:p>
        </p:txBody>
      </p:sp>
      <p:sp>
        <p:nvSpPr>
          <p:cNvPr id="101" name="Text 98"/>
          <p:cNvSpPr txBox="1"/>
          <p:nvPr/>
        </p:nvSpPr>
        <p:spPr>
          <a:xfrm>
            <a:off x="2368296" y="5824728"/>
            <a:ext cx="1545336" cy="384048"/>
          </a:xfrm>
          <a:prstGeom prst="rect">
            <a:avLst/>
          </a:prstGeom>
          <a:noFill/>
          <a:ln/>
        </p:spPr>
        <p:txBody>
          <a:bodyPr wrap="square" lIns="0" tIns="0" rIns="0" bIns="0" rtlCol="0" anchor="ctr"/>
          <a:lstStyle/>
          <a:p>
            <a:pPr rtl="1" algn="ctr" indent="0" marL="0">
              <a:buNone/>
            </a:pPr>
            <a:r>
              <a:rPr lang="ar-SA" altLang="en-US" sz="1500" b="1" dirty="0">
                <a:solidFill>
                  <a:srgbClr val="1B3B6F"/>
                </a:solidFill>
                <a:latin typeface="Amiri" pitchFamily="2" charset="-78"/>
                <a:ea typeface="Amiri" pitchFamily="2" charset="-78"/>
                <a:cs typeface="Amiri" pitchFamily="2" charset="-78"/>
              </a:rPr>
              <a:t>مُجْتَهِدَةٌ</a:t>
            </a:r>
            <a:endParaRPr lang="ar-SA" sz="1500" dirty="0"/>
          </a:p>
        </p:txBody>
      </p:sp>
      <p:sp>
        <p:nvSpPr>
          <p:cNvPr id="102" name="Shape 99"/>
          <p:cNvSpPr/>
          <p:nvPr/>
        </p:nvSpPr>
        <p:spPr>
          <a:xfrm>
            <a:off x="594360" y="5779008"/>
            <a:ext cx="1636776" cy="438912"/>
          </a:xfrm>
          <a:prstGeom prst="roundRect">
            <a:avLst>
              <a:gd name="adj" fmla="val 10417"/>
            </a:avLst>
          </a:prstGeom>
          <a:solidFill>
            <a:srgbClr val="F4F1EA"/>
          </a:solidFill>
          <a:ln w="9525">
            <a:solidFill>
              <a:srgbClr val="F4F1EA"/>
            </a:solidFill>
            <a:prstDash val="solid"/>
          </a:ln>
        </p:spPr>
      </p:sp>
      <p:sp>
        <p:nvSpPr>
          <p:cNvPr id="103" name="Text 100"/>
          <p:cNvSpPr txBox="1"/>
          <p:nvPr/>
        </p:nvSpPr>
        <p:spPr>
          <a:xfrm>
            <a:off x="649224" y="5788152"/>
            <a:ext cx="1527048" cy="155448"/>
          </a:xfrm>
          <a:prstGeom prst="rect">
            <a:avLst/>
          </a:prstGeom>
          <a:noFill/>
          <a:ln/>
        </p:spPr>
        <p:txBody>
          <a:bodyPr wrap="square" lIns="0" tIns="0" rIns="0" bIns="0" rtlCol="0" anchor="ctr"/>
          <a:lstStyle/>
          <a:p>
            <a:pPr algn="l" indent="0" marL="0">
              <a:buNone/>
            </a:pPr>
            <a:r>
              <a:rPr lang="en-US" sz="750" b="1" dirty="0">
                <a:solidFill>
                  <a:srgbClr val="8A6D1E"/>
                </a:solidFill>
                <a:latin typeface="Calibri" pitchFamily="34" charset="0"/>
                <a:cs typeface="Amiri" pitchFamily="2" charset="-78"/>
              </a:rPr>
              <a:t>m.</a:t>
            </a:r>
            <a:endParaRPr lang="en-US" sz="750" dirty="0"/>
          </a:p>
        </p:txBody>
      </p:sp>
      <p:sp>
        <p:nvSpPr>
          <p:cNvPr id="104" name="Text 101"/>
          <p:cNvSpPr txBox="1"/>
          <p:nvPr/>
        </p:nvSpPr>
        <p:spPr>
          <a:xfrm>
            <a:off x="640080" y="5824728"/>
            <a:ext cx="1545336" cy="384048"/>
          </a:xfrm>
          <a:prstGeom prst="rect">
            <a:avLst/>
          </a:prstGeom>
          <a:noFill/>
          <a:ln/>
        </p:spPr>
        <p:txBody>
          <a:bodyPr wrap="square" lIns="0" tIns="0" rIns="0" bIns="0" rtlCol="0" anchor="ctr"/>
          <a:lstStyle/>
          <a:p>
            <a:pPr rtl="1" algn="ctr" indent="0" marL="0">
              <a:buNone/>
            </a:pPr>
            <a:r>
              <a:rPr lang="ar-SA" altLang="en-US" sz="1500" b="1" dirty="0">
                <a:solidFill>
                  <a:srgbClr val="1B3B6F"/>
                </a:solidFill>
                <a:latin typeface="Amiri" pitchFamily="2" charset="-78"/>
                <a:ea typeface="Amiri" pitchFamily="2" charset="-78"/>
                <a:cs typeface="Amiri" pitchFamily="2" charset="-78"/>
              </a:rPr>
              <a:t>مُجْتَهِدٌ</a:t>
            </a:r>
            <a:endParaRPr lang="ar-SA" sz="1500" dirty="0"/>
          </a:p>
        </p:txBody>
      </p:sp>
      <p:sp>
        <p:nvSpPr>
          <p:cNvPr id="105" name="Text 102"/>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7 / 24</a:t>
            </a:r>
            <a:endParaRPr lang="en-US" sz="850" dirty="0"/>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F3-W01 · Apply workshop</a:t>
            </a:r>
            <a:endParaRPr lang="en-US" sz="950" dirty="0"/>
          </a:p>
        </p:txBody>
      </p:sp>
      <p:sp>
        <p:nvSpPr>
          <p:cNvPr id="8" name="Shape 6"/>
          <p:cNvSpPr/>
          <p:nvPr/>
        </p:nvSpPr>
        <p:spPr>
          <a:xfrm>
            <a:off x="7370978" y="274320"/>
            <a:ext cx="1388974" cy="329184"/>
          </a:xfrm>
          <a:prstGeom prst="roundRect">
            <a:avLst>
              <a:gd name="adj" fmla="val 50000"/>
            </a:avLst>
          </a:prstGeom>
          <a:solidFill>
            <a:srgbClr val="2F6FB0"/>
          </a:solidFill>
          <a:ln w="12700">
            <a:solidFill>
              <a:srgbClr val="2F6FB0"/>
            </a:solidFill>
            <a:prstDash val="solid"/>
          </a:ln>
        </p:spPr>
      </p:sp>
      <p:sp>
        <p:nvSpPr>
          <p:cNvPr id="9" name="Text 7"/>
          <p:cNvSpPr txBox="1"/>
          <p:nvPr/>
        </p:nvSpPr>
        <p:spPr>
          <a:xfrm>
            <a:off x="7370978" y="274320"/>
            <a:ext cx="1388974"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WE DO · 4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150" kern="0" dirty="0">
                <a:solidFill>
                  <a:srgbClr val="2F6FB0"/>
                </a:solidFill>
                <a:latin typeface="Calibri" pitchFamily="34" charset="0"/>
                <a:cs typeface="Amiri" pitchFamily="2" charset="-78"/>
              </a:rPr>
              <a:t>PART 1 · STEP 2 · WHICH LESSON? · READ EACH CARD, THEN SORT IT</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Which lesson does it come from?</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مِنْ أَيِّ دَرْسٍ؟</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Foundation F3 · My Family &amp; Home · F3-W01 · Apply workshop (F3-L01 + F3-L02)</a:t>
            </a:r>
            <a:endParaRPr lang="en-US" sz="850" dirty="0"/>
          </a:p>
        </p:txBody>
      </p:sp>
      <p:sp>
        <p:nvSpPr>
          <p:cNvPr id="15" name="Shape 12"/>
          <p:cNvSpPr/>
          <p:nvPr/>
        </p:nvSpPr>
        <p:spPr>
          <a:xfrm>
            <a:off x="9015984" y="1810512"/>
            <a:ext cx="2715768" cy="438912"/>
          </a:xfrm>
          <a:prstGeom prst="roundRect">
            <a:avLst>
              <a:gd name="adj" fmla="val 12500"/>
            </a:avLst>
          </a:prstGeom>
          <a:solidFill>
            <a:srgbClr val="FFF4DC"/>
          </a:solidFill>
          <a:ln w="9525">
            <a:solidFill>
              <a:srgbClr val="E6C98A"/>
            </a:solidFill>
            <a:prstDash val="solid"/>
          </a:ln>
          <a:effectLst>
            <a:outerShdw sx="100000" sy="100000" kx="0" ky="0" algn="bl" rotWithShape="0" blurRad="50800" dist="19050" dir="5400000">
              <a:srgbClr val="000000">
                <a:alpha val="10000"/>
              </a:srgbClr>
            </a:outerShdw>
          </a:effectLst>
        </p:spPr>
      </p:sp>
      <p:sp>
        <p:nvSpPr>
          <p:cNvPr id="16" name="Text 13"/>
          <p:cNvSpPr txBox="1"/>
          <p:nvPr/>
        </p:nvSpPr>
        <p:spPr>
          <a:xfrm>
            <a:off x="9107424" y="1810512"/>
            <a:ext cx="2532888" cy="438912"/>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2" charset="-78"/>
                <a:ea typeface="Amiri" pitchFamily="2" charset="-78"/>
                <a:cs typeface="Amiri" pitchFamily="2" charset="-78"/>
              </a:rPr>
              <a:t>فِي عَائِلَتِي … أَشْخَاصٍ</a:t>
            </a:r>
            <a:endParaRPr lang="ar-SA" sz="1800" dirty="0"/>
          </a:p>
        </p:txBody>
      </p:sp>
      <p:sp>
        <p:nvSpPr>
          <p:cNvPr id="17" name="Shape 14"/>
          <p:cNvSpPr/>
          <p:nvPr/>
        </p:nvSpPr>
        <p:spPr>
          <a:xfrm>
            <a:off x="6163056" y="1810512"/>
            <a:ext cx="2715768" cy="438912"/>
          </a:xfrm>
          <a:prstGeom prst="roundRect">
            <a:avLst>
              <a:gd name="adj" fmla="val 12500"/>
            </a:avLst>
          </a:prstGeom>
          <a:solidFill>
            <a:srgbClr val="FFF4DC"/>
          </a:solidFill>
          <a:ln w="9525">
            <a:solidFill>
              <a:srgbClr val="E6C98A"/>
            </a:solidFill>
            <a:prstDash val="solid"/>
          </a:ln>
          <a:effectLst>
            <a:outerShdw sx="100000" sy="100000" kx="0" ky="0" algn="bl" rotWithShape="0" blurRad="50800" dist="19050" dir="5400000">
              <a:srgbClr val="000000">
                <a:alpha val="10000"/>
              </a:srgbClr>
            </a:outerShdw>
          </a:effectLst>
        </p:spPr>
      </p:sp>
      <p:sp>
        <p:nvSpPr>
          <p:cNvPr id="18" name="Text 15"/>
          <p:cNvSpPr txBox="1"/>
          <p:nvPr/>
        </p:nvSpPr>
        <p:spPr>
          <a:xfrm>
            <a:off x="6254496" y="1810512"/>
            <a:ext cx="2532888" cy="438912"/>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2" charset="-78"/>
                <a:ea typeface="Amiri" pitchFamily="2" charset="-78"/>
                <a:cs typeface="Amiri" pitchFamily="2" charset="-78"/>
              </a:rPr>
              <a:t>أَبِي / خَالِي … طَوِيلٌ وَ…</a:t>
            </a:r>
            <a:endParaRPr lang="ar-SA" sz="1800" dirty="0"/>
          </a:p>
        </p:txBody>
      </p:sp>
      <p:sp>
        <p:nvSpPr>
          <p:cNvPr id="19" name="Shape 16"/>
          <p:cNvSpPr/>
          <p:nvPr/>
        </p:nvSpPr>
        <p:spPr>
          <a:xfrm>
            <a:off x="3310128" y="1810512"/>
            <a:ext cx="2715768" cy="438912"/>
          </a:xfrm>
          <a:prstGeom prst="roundRect">
            <a:avLst>
              <a:gd name="adj" fmla="val 12500"/>
            </a:avLst>
          </a:prstGeom>
          <a:solidFill>
            <a:srgbClr val="FFF4DC"/>
          </a:solidFill>
          <a:ln w="9525">
            <a:solidFill>
              <a:srgbClr val="E6C98A"/>
            </a:solidFill>
            <a:prstDash val="solid"/>
          </a:ln>
          <a:effectLst>
            <a:outerShdw sx="100000" sy="100000" kx="0" ky="0" algn="bl" rotWithShape="0" blurRad="50800" dist="19050" dir="5400000">
              <a:srgbClr val="000000">
                <a:alpha val="10000"/>
              </a:srgbClr>
            </a:outerShdw>
          </a:effectLst>
        </p:spPr>
      </p:sp>
      <p:sp>
        <p:nvSpPr>
          <p:cNvPr id="20" name="Text 17"/>
          <p:cNvSpPr txBox="1"/>
          <p:nvPr/>
        </p:nvSpPr>
        <p:spPr>
          <a:xfrm>
            <a:off x="3401568" y="1810512"/>
            <a:ext cx="2532888" cy="438912"/>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2" charset="-78"/>
                <a:ea typeface="Amiri" pitchFamily="2" charset="-78"/>
                <a:cs typeface="Amiri" pitchFamily="2" charset="-78"/>
              </a:rPr>
              <a:t>شَعْرُهُ / شَعْرُهَا …</a:t>
            </a:r>
            <a:endParaRPr lang="ar-SA" sz="1800" dirty="0"/>
          </a:p>
        </p:txBody>
      </p:sp>
      <p:sp>
        <p:nvSpPr>
          <p:cNvPr id="21" name="Shape 18"/>
          <p:cNvSpPr/>
          <p:nvPr/>
        </p:nvSpPr>
        <p:spPr>
          <a:xfrm>
            <a:off x="457200" y="1810512"/>
            <a:ext cx="2715768" cy="438912"/>
          </a:xfrm>
          <a:prstGeom prst="roundRect">
            <a:avLst>
              <a:gd name="adj" fmla="val 12500"/>
            </a:avLst>
          </a:prstGeom>
          <a:solidFill>
            <a:srgbClr val="FFF4DC"/>
          </a:solidFill>
          <a:ln w="9525">
            <a:solidFill>
              <a:srgbClr val="E6C98A"/>
            </a:solidFill>
            <a:prstDash val="solid"/>
          </a:ln>
          <a:effectLst>
            <a:outerShdw sx="100000" sy="100000" kx="0" ky="0" algn="bl" rotWithShape="0" blurRad="50800" dist="19050" dir="5400000">
              <a:srgbClr val="000000">
                <a:alpha val="10000"/>
              </a:srgbClr>
            </a:outerShdw>
          </a:effectLst>
        </p:spPr>
      </p:sp>
      <p:sp>
        <p:nvSpPr>
          <p:cNvPr id="22" name="Text 19"/>
          <p:cNvSpPr txBox="1"/>
          <p:nvPr/>
        </p:nvSpPr>
        <p:spPr>
          <a:xfrm>
            <a:off x="548640" y="1810512"/>
            <a:ext cx="2532888" cy="438912"/>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2" charset="-78"/>
                <a:ea typeface="Amiri" pitchFamily="2" charset="-78"/>
                <a:cs typeface="Amiri" pitchFamily="2" charset="-78"/>
              </a:rPr>
              <a:t>اسْمُ أَبِي … وَاسْمُ أُمِّي …</a:t>
            </a:r>
            <a:endParaRPr lang="ar-SA" sz="1800" dirty="0"/>
          </a:p>
        </p:txBody>
      </p:sp>
      <p:sp>
        <p:nvSpPr>
          <p:cNvPr id="23" name="Shape 20"/>
          <p:cNvSpPr/>
          <p:nvPr/>
        </p:nvSpPr>
        <p:spPr>
          <a:xfrm>
            <a:off x="9015984" y="2322576"/>
            <a:ext cx="2715768" cy="438912"/>
          </a:xfrm>
          <a:prstGeom prst="roundRect">
            <a:avLst>
              <a:gd name="adj" fmla="val 12500"/>
            </a:avLst>
          </a:prstGeom>
          <a:solidFill>
            <a:srgbClr val="FFF4DC"/>
          </a:solidFill>
          <a:ln w="9525">
            <a:solidFill>
              <a:srgbClr val="E6C98A"/>
            </a:solidFill>
            <a:prstDash val="solid"/>
          </a:ln>
          <a:effectLst>
            <a:outerShdw sx="100000" sy="100000" kx="0" ky="0" algn="bl" rotWithShape="0" blurRad="50800" dist="19050" dir="5400000">
              <a:srgbClr val="000000">
                <a:alpha val="10000"/>
              </a:srgbClr>
            </a:outerShdw>
          </a:effectLst>
        </p:spPr>
      </p:sp>
      <p:sp>
        <p:nvSpPr>
          <p:cNvPr id="24" name="Text 21"/>
          <p:cNvSpPr txBox="1"/>
          <p:nvPr/>
        </p:nvSpPr>
        <p:spPr>
          <a:xfrm>
            <a:off x="9107424" y="2322576"/>
            <a:ext cx="2532888" cy="438912"/>
          </a:xfrm>
          <a:prstGeom prst="rect">
            <a:avLst/>
          </a:prstGeom>
          <a:noFill/>
          <a:ln/>
        </p:spPr>
        <p:txBody>
          <a:bodyPr wrap="square" lIns="0" tIns="0" rIns="0" bIns="0" rtlCol="0" anchor="ctr"/>
          <a:lstStyle/>
          <a:p>
            <a:pPr rtl="1" algn="ctr" indent="0" marL="0">
              <a:buNone/>
            </a:pPr>
            <a:r>
              <a:rPr lang="ar-SA" altLang="en-US" sz="1750" b="1" dirty="0">
                <a:solidFill>
                  <a:srgbClr val="1B3B6F"/>
                </a:solidFill>
                <a:latin typeface="Amiri" pitchFamily="2" charset="-78"/>
                <a:ea typeface="Amiri" pitchFamily="2" charset="-78"/>
                <a:cs typeface="Amiri" pitchFamily="2" charset="-78"/>
              </a:rPr>
              <a:t>عِنْدِي أَخٌ اسْمُهُ … / أُخْتٌ اسْمُهَا …</a:t>
            </a:r>
            <a:endParaRPr lang="ar-SA" sz="1750" dirty="0"/>
          </a:p>
        </p:txBody>
      </p:sp>
      <p:sp>
        <p:nvSpPr>
          <p:cNvPr id="25" name="Shape 22"/>
          <p:cNvSpPr/>
          <p:nvPr/>
        </p:nvSpPr>
        <p:spPr>
          <a:xfrm>
            <a:off x="6163056" y="2322576"/>
            <a:ext cx="2715768" cy="438912"/>
          </a:xfrm>
          <a:prstGeom prst="roundRect">
            <a:avLst>
              <a:gd name="adj" fmla="val 12500"/>
            </a:avLst>
          </a:prstGeom>
          <a:solidFill>
            <a:srgbClr val="FFF4DC"/>
          </a:solidFill>
          <a:ln w="9525">
            <a:solidFill>
              <a:srgbClr val="E6C98A"/>
            </a:solidFill>
            <a:prstDash val="solid"/>
          </a:ln>
          <a:effectLst>
            <a:outerShdw sx="100000" sy="100000" kx="0" ky="0" algn="bl" rotWithShape="0" blurRad="50800" dist="19050" dir="5400000">
              <a:srgbClr val="000000">
                <a:alpha val="10000"/>
              </a:srgbClr>
            </a:outerShdw>
          </a:effectLst>
        </p:spPr>
      </p:sp>
      <p:sp>
        <p:nvSpPr>
          <p:cNvPr id="26" name="Text 23"/>
          <p:cNvSpPr txBox="1"/>
          <p:nvPr/>
        </p:nvSpPr>
        <p:spPr>
          <a:xfrm>
            <a:off x="6254496" y="2322576"/>
            <a:ext cx="2532888" cy="438912"/>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2" charset="-78"/>
                <a:ea typeface="Amiri" pitchFamily="2" charset="-78"/>
                <a:cs typeface="Amiri" pitchFamily="2" charset="-78"/>
              </a:rPr>
              <a:t>هِيَ لَطِيفَةٌ وَ… جِدًّا</a:t>
            </a:r>
            <a:endParaRPr lang="ar-SA" sz="1800" dirty="0"/>
          </a:p>
        </p:txBody>
      </p:sp>
      <p:sp>
        <p:nvSpPr>
          <p:cNvPr id="27" name="Shape 24"/>
          <p:cNvSpPr/>
          <p:nvPr/>
        </p:nvSpPr>
        <p:spPr>
          <a:xfrm>
            <a:off x="3310128" y="2322576"/>
            <a:ext cx="2715768" cy="438912"/>
          </a:xfrm>
          <a:prstGeom prst="roundRect">
            <a:avLst>
              <a:gd name="adj" fmla="val 12500"/>
            </a:avLst>
          </a:prstGeom>
          <a:solidFill>
            <a:srgbClr val="FFF4DC"/>
          </a:solidFill>
          <a:ln w="9525">
            <a:solidFill>
              <a:srgbClr val="E6C98A"/>
            </a:solidFill>
            <a:prstDash val="solid"/>
          </a:ln>
          <a:effectLst>
            <a:outerShdw sx="100000" sy="100000" kx="0" ky="0" algn="bl" rotWithShape="0" blurRad="50800" dist="19050" dir="5400000">
              <a:srgbClr val="000000">
                <a:alpha val="10000"/>
              </a:srgbClr>
            </a:outerShdw>
          </a:effectLst>
        </p:spPr>
      </p:sp>
      <p:sp>
        <p:nvSpPr>
          <p:cNvPr id="28" name="Text 25"/>
          <p:cNvSpPr txBox="1"/>
          <p:nvPr/>
        </p:nvSpPr>
        <p:spPr>
          <a:xfrm>
            <a:off x="3401568" y="2322576"/>
            <a:ext cx="2532888" cy="438912"/>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2" charset="-78"/>
                <a:ea typeface="Amiri" pitchFamily="2" charset="-78"/>
                <a:cs typeface="Amiri" pitchFamily="2" charset="-78"/>
              </a:rPr>
              <a:t>أُحِبُّهُ / أُحِبُّهَا لِأَنَّهُ / لِأَنَّهَا …</a:t>
            </a:r>
            <a:endParaRPr lang="ar-SA" sz="1800" dirty="0"/>
          </a:p>
        </p:txBody>
      </p:sp>
      <p:sp>
        <p:nvSpPr>
          <p:cNvPr id="29" name="Shape 26"/>
          <p:cNvSpPr/>
          <p:nvPr/>
        </p:nvSpPr>
        <p:spPr>
          <a:xfrm>
            <a:off x="457200" y="2322576"/>
            <a:ext cx="2715768" cy="438912"/>
          </a:xfrm>
          <a:prstGeom prst="roundRect">
            <a:avLst>
              <a:gd name="adj" fmla="val 12500"/>
            </a:avLst>
          </a:prstGeom>
          <a:solidFill>
            <a:srgbClr val="FFF4DC"/>
          </a:solidFill>
          <a:ln w="9525">
            <a:solidFill>
              <a:srgbClr val="E6C98A"/>
            </a:solidFill>
            <a:prstDash val="solid"/>
          </a:ln>
          <a:effectLst>
            <a:outerShdw sx="100000" sy="100000" kx="0" ky="0" algn="bl" rotWithShape="0" blurRad="50800" dist="19050" dir="5400000">
              <a:srgbClr val="000000">
                <a:alpha val="10000"/>
              </a:srgbClr>
            </a:outerShdw>
          </a:effectLst>
        </p:spPr>
      </p:sp>
      <p:sp>
        <p:nvSpPr>
          <p:cNvPr id="30" name="Text 27"/>
          <p:cNvSpPr txBox="1"/>
          <p:nvPr/>
        </p:nvSpPr>
        <p:spPr>
          <a:xfrm>
            <a:off x="548640" y="2322576"/>
            <a:ext cx="2532888" cy="438912"/>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2" charset="-78"/>
                <a:ea typeface="Amiri" pitchFamily="2" charset="-78"/>
                <a:cs typeface="Amiri" pitchFamily="2" charset="-78"/>
              </a:rPr>
              <a:t>أُحِبُّ … لِأَنَّهُ / لِأَنَّهَا …</a:t>
            </a:r>
            <a:endParaRPr lang="ar-SA" sz="1800" dirty="0"/>
          </a:p>
        </p:txBody>
      </p:sp>
      <p:sp>
        <p:nvSpPr>
          <p:cNvPr id="31" name="Shape 28"/>
          <p:cNvSpPr/>
          <p:nvPr/>
        </p:nvSpPr>
        <p:spPr>
          <a:xfrm>
            <a:off x="6185916" y="3017520"/>
            <a:ext cx="5545836" cy="3291840"/>
          </a:xfrm>
          <a:prstGeom prst="roundRect">
            <a:avLst>
              <a:gd name="adj" fmla="val 2222"/>
            </a:avLst>
          </a:prstGeom>
          <a:solidFill>
            <a:srgbClr val="EEF3FA"/>
          </a:solidFill>
          <a:ln w="9525">
            <a:solidFill>
              <a:srgbClr val="C9D6EA"/>
            </a:solidFill>
            <a:prstDash val="solid"/>
          </a:ln>
        </p:spPr>
      </p:sp>
      <p:sp>
        <p:nvSpPr>
          <p:cNvPr id="32" name="Shape 29"/>
          <p:cNvSpPr/>
          <p:nvPr/>
        </p:nvSpPr>
        <p:spPr>
          <a:xfrm>
            <a:off x="6323076" y="3127248"/>
            <a:ext cx="5271516" cy="310896"/>
          </a:xfrm>
          <a:prstGeom prst="roundRect">
            <a:avLst>
              <a:gd name="adj" fmla="val 50000"/>
            </a:avLst>
          </a:prstGeom>
          <a:solidFill>
            <a:srgbClr val="2F6FB0"/>
          </a:solidFill>
          <a:ln w="12700">
            <a:solidFill>
              <a:srgbClr val="2F6FB0"/>
            </a:solidFill>
            <a:prstDash val="solid"/>
          </a:ln>
        </p:spPr>
      </p:sp>
      <p:sp>
        <p:nvSpPr>
          <p:cNvPr id="33" name="Text 30"/>
          <p:cNvSpPr txBox="1"/>
          <p:nvPr/>
        </p:nvSpPr>
        <p:spPr>
          <a:xfrm>
            <a:off x="6323076" y="3127248"/>
            <a:ext cx="5271516" cy="310896"/>
          </a:xfrm>
          <a:prstGeom prst="rect">
            <a:avLst/>
          </a:prstGeom>
          <a:noFill/>
          <a:ln/>
        </p:spPr>
        <p:txBody>
          <a:bodyPr wrap="square" lIns="0" tIns="0" rIns="0" bIns="0" rtlCol="0" anchor="ctr"/>
          <a:lstStyle/>
          <a:p>
            <a:pPr algn="ctr" indent="0" marL="0">
              <a:buNone/>
            </a:pPr>
            <a:r>
              <a:rPr lang="en-US" sz="950" b="1" dirty="0">
                <a:solidFill>
                  <a:srgbClr val="FFFFFF"/>
                </a:solidFill>
                <a:latin typeface="Calibri" pitchFamily="34" charset="0"/>
                <a:cs typeface="Amiri" pitchFamily="2" charset="-78"/>
              </a:rPr>
              <a:t>1 · F3-L01 · My Family — Members and Relationships</a:t>
            </a:r>
            <a:endParaRPr lang="en-US" sz="950" dirty="0"/>
          </a:p>
        </p:txBody>
      </p:sp>
      <p:sp>
        <p:nvSpPr>
          <p:cNvPr id="34" name="Shape 31"/>
          <p:cNvSpPr/>
          <p:nvPr/>
        </p:nvSpPr>
        <p:spPr>
          <a:xfrm>
            <a:off x="457200" y="3017520"/>
            <a:ext cx="5545836" cy="3291840"/>
          </a:xfrm>
          <a:prstGeom prst="roundRect">
            <a:avLst>
              <a:gd name="adj" fmla="val 2222"/>
            </a:avLst>
          </a:prstGeom>
          <a:solidFill>
            <a:srgbClr val="EEF3FA"/>
          </a:solidFill>
          <a:ln w="9525">
            <a:solidFill>
              <a:srgbClr val="C9D6EA"/>
            </a:solidFill>
            <a:prstDash val="solid"/>
          </a:ln>
        </p:spPr>
      </p:sp>
      <p:sp>
        <p:nvSpPr>
          <p:cNvPr id="35" name="Shape 32"/>
          <p:cNvSpPr/>
          <p:nvPr/>
        </p:nvSpPr>
        <p:spPr>
          <a:xfrm>
            <a:off x="594360" y="3127248"/>
            <a:ext cx="5271516" cy="310896"/>
          </a:xfrm>
          <a:prstGeom prst="roundRect">
            <a:avLst>
              <a:gd name="adj" fmla="val 50000"/>
            </a:avLst>
          </a:prstGeom>
          <a:solidFill>
            <a:srgbClr val="2F6FB0"/>
          </a:solidFill>
          <a:ln w="12700">
            <a:solidFill>
              <a:srgbClr val="2F6FB0"/>
            </a:solidFill>
            <a:prstDash val="solid"/>
          </a:ln>
        </p:spPr>
      </p:sp>
      <p:sp>
        <p:nvSpPr>
          <p:cNvPr id="36" name="Text 33"/>
          <p:cNvSpPr txBox="1"/>
          <p:nvPr/>
        </p:nvSpPr>
        <p:spPr>
          <a:xfrm>
            <a:off x="594360" y="3127248"/>
            <a:ext cx="5271516" cy="310896"/>
          </a:xfrm>
          <a:prstGeom prst="rect">
            <a:avLst/>
          </a:prstGeom>
          <a:noFill/>
          <a:ln/>
        </p:spPr>
        <p:txBody>
          <a:bodyPr wrap="square" lIns="0" tIns="0" rIns="0" bIns="0" rtlCol="0" anchor="ctr"/>
          <a:lstStyle/>
          <a:p>
            <a:pPr algn="ctr" indent="0" marL="0">
              <a:buNone/>
            </a:pPr>
            <a:r>
              <a:rPr lang="en-US" sz="950" b="1" dirty="0">
                <a:solidFill>
                  <a:srgbClr val="FFFFFF"/>
                </a:solidFill>
                <a:latin typeface="Calibri" pitchFamily="34" charset="0"/>
                <a:cs typeface="Amiri" pitchFamily="2" charset="-78"/>
              </a:rPr>
              <a:t>2 · F3-L02 · Describing Family Members</a:t>
            </a:r>
            <a:endParaRPr lang="en-US" sz="950" dirty="0"/>
          </a:p>
        </p:txBody>
      </p:sp>
      <p:sp>
        <p:nvSpPr>
          <p:cNvPr id="37" name="Text 34"/>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8 / 24</a:t>
            </a:r>
            <a:endParaRPr lang="en-US" sz="850" dirty="0"/>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F3-W01 · Apply workshop</a:t>
            </a:r>
            <a:endParaRPr lang="en-US" sz="950" dirty="0"/>
          </a:p>
        </p:txBody>
      </p:sp>
      <p:sp>
        <p:nvSpPr>
          <p:cNvPr id="8" name="Shape 6"/>
          <p:cNvSpPr/>
          <p:nvPr/>
        </p:nvSpPr>
        <p:spPr>
          <a:xfrm>
            <a:off x="7143293" y="274320"/>
            <a:ext cx="1616659" cy="329184"/>
          </a:xfrm>
          <a:prstGeom prst="roundRect">
            <a:avLst>
              <a:gd name="adj" fmla="val 50000"/>
            </a:avLst>
          </a:prstGeom>
          <a:solidFill>
            <a:srgbClr val="8A6D1E"/>
          </a:solidFill>
          <a:ln w="12700">
            <a:solidFill>
              <a:srgbClr val="8A6D1E"/>
            </a:solidFill>
            <a:prstDash val="solid"/>
          </a:ln>
        </p:spPr>
      </p:sp>
      <p:sp>
        <p:nvSpPr>
          <p:cNvPr id="9" name="Text 7"/>
          <p:cNvSpPr txBox="1"/>
          <p:nvPr/>
        </p:nvSpPr>
        <p:spPr>
          <a:xfrm>
            <a:off x="7143293" y="274320"/>
            <a:ext cx="1616659"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FEEDBACK · 1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8A6D1E"/>
                </a:solidFill>
                <a:latin typeface="Calibri" pitchFamily="34" charset="0"/>
                <a:cs typeface="Amiri" pitchFamily="2" charset="-78"/>
              </a:rPr>
              <a:t>STEP 2 · ANSWERS</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Which lesson? Answers</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مِنْ أَيِّ دَرْسٍ؟</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Foundation F3 · My Family &amp; Home · F3-W01 · Apply workshop (F3-L01 + F3-L02)</a:t>
            </a:r>
            <a:endParaRPr lang="en-US" sz="850" dirty="0"/>
          </a:p>
        </p:txBody>
      </p:sp>
      <p:sp>
        <p:nvSpPr>
          <p:cNvPr id="15" name="Shape 12"/>
          <p:cNvSpPr/>
          <p:nvPr/>
        </p:nvSpPr>
        <p:spPr>
          <a:xfrm>
            <a:off x="6185916" y="1810512"/>
            <a:ext cx="5545836" cy="4498848"/>
          </a:xfrm>
          <a:prstGeom prst="roundRect">
            <a:avLst>
              <a:gd name="adj" fmla="val 1626"/>
            </a:avLst>
          </a:prstGeom>
          <a:solidFill>
            <a:srgbClr val="EEF3FA"/>
          </a:solidFill>
          <a:ln w="9525">
            <a:solidFill>
              <a:srgbClr val="C9D6EA"/>
            </a:solidFill>
            <a:prstDash val="solid"/>
          </a:ln>
        </p:spPr>
      </p:sp>
      <p:sp>
        <p:nvSpPr>
          <p:cNvPr id="16" name="Shape 13"/>
          <p:cNvSpPr/>
          <p:nvPr/>
        </p:nvSpPr>
        <p:spPr>
          <a:xfrm>
            <a:off x="6323076" y="1920240"/>
            <a:ext cx="5271516" cy="310896"/>
          </a:xfrm>
          <a:prstGeom prst="roundRect">
            <a:avLst>
              <a:gd name="adj" fmla="val 50000"/>
            </a:avLst>
          </a:prstGeom>
          <a:solidFill>
            <a:srgbClr val="2F6FB0"/>
          </a:solidFill>
          <a:ln w="12700">
            <a:solidFill>
              <a:srgbClr val="2F6FB0"/>
            </a:solidFill>
            <a:prstDash val="solid"/>
          </a:ln>
        </p:spPr>
      </p:sp>
      <p:sp>
        <p:nvSpPr>
          <p:cNvPr id="17" name="Text 14"/>
          <p:cNvSpPr txBox="1"/>
          <p:nvPr/>
        </p:nvSpPr>
        <p:spPr>
          <a:xfrm>
            <a:off x="6323076" y="1920240"/>
            <a:ext cx="5271516" cy="310896"/>
          </a:xfrm>
          <a:prstGeom prst="rect">
            <a:avLst/>
          </a:prstGeom>
          <a:noFill/>
          <a:ln/>
        </p:spPr>
        <p:txBody>
          <a:bodyPr wrap="square" lIns="0" tIns="0" rIns="0" bIns="0" rtlCol="0" anchor="ctr"/>
          <a:lstStyle/>
          <a:p>
            <a:pPr algn="ctr" indent="0" marL="0">
              <a:buNone/>
            </a:pPr>
            <a:r>
              <a:rPr lang="en-US" sz="950" b="1" dirty="0">
                <a:solidFill>
                  <a:srgbClr val="FFFFFF"/>
                </a:solidFill>
                <a:latin typeface="Calibri" pitchFamily="34" charset="0"/>
                <a:cs typeface="Amiri" pitchFamily="2" charset="-78"/>
              </a:rPr>
              <a:t>1 · F3-L01 · My Family — Members and Relationships</a:t>
            </a:r>
            <a:endParaRPr lang="en-US" sz="950" dirty="0"/>
          </a:p>
        </p:txBody>
      </p:sp>
      <p:sp>
        <p:nvSpPr>
          <p:cNvPr id="18" name="Shape 15"/>
          <p:cNvSpPr/>
          <p:nvPr/>
        </p:nvSpPr>
        <p:spPr>
          <a:xfrm>
            <a:off x="6323076" y="2377440"/>
            <a:ext cx="5271516" cy="438912"/>
          </a:xfrm>
          <a:prstGeom prst="roundRect">
            <a:avLst>
              <a:gd name="adj" fmla="val 12500"/>
            </a:avLst>
          </a:prstGeom>
          <a:solidFill>
            <a:srgbClr val="FFF4DC"/>
          </a:solidFill>
          <a:ln w="9525">
            <a:solidFill>
              <a:srgbClr val="E6C98A"/>
            </a:solidFill>
            <a:prstDash val="solid"/>
          </a:ln>
        </p:spPr>
      </p:sp>
      <p:sp>
        <p:nvSpPr>
          <p:cNvPr id="19" name="Text 16"/>
          <p:cNvSpPr txBox="1"/>
          <p:nvPr/>
        </p:nvSpPr>
        <p:spPr>
          <a:xfrm>
            <a:off x="6414516" y="2377440"/>
            <a:ext cx="5088636" cy="438912"/>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2" charset="-78"/>
                <a:ea typeface="Amiri" pitchFamily="2" charset="-78"/>
                <a:cs typeface="Amiri" pitchFamily="2" charset="-78"/>
              </a:rPr>
              <a:t>فِي عَائِلَتِي … أَشْخَاصٍ</a:t>
            </a:r>
            <a:endParaRPr lang="ar-SA" sz="1800" dirty="0"/>
          </a:p>
        </p:txBody>
      </p:sp>
      <p:sp>
        <p:nvSpPr>
          <p:cNvPr id="20" name="Shape 17"/>
          <p:cNvSpPr/>
          <p:nvPr/>
        </p:nvSpPr>
        <p:spPr>
          <a:xfrm>
            <a:off x="6323076" y="2889504"/>
            <a:ext cx="5271516" cy="438912"/>
          </a:xfrm>
          <a:prstGeom prst="roundRect">
            <a:avLst>
              <a:gd name="adj" fmla="val 12500"/>
            </a:avLst>
          </a:prstGeom>
          <a:solidFill>
            <a:srgbClr val="FFF4DC"/>
          </a:solidFill>
          <a:ln w="9525">
            <a:solidFill>
              <a:srgbClr val="E6C98A"/>
            </a:solidFill>
            <a:prstDash val="solid"/>
          </a:ln>
        </p:spPr>
      </p:sp>
      <p:sp>
        <p:nvSpPr>
          <p:cNvPr id="21" name="Text 18"/>
          <p:cNvSpPr txBox="1"/>
          <p:nvPr/>
        </p:nvSpPr>
        <p:spPr>
          <a:xfrm>
            <a:off x="6414516" y="2889504"/>
            <a:ext cx="5088636" cy="438912"/>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2" charset="-78"/>
                <a:ea typeface="Amiri" pitchFamily="2" charset="-78"/>
                <a:cs typeface="Amiri" pitchFamily="2" charset="-78"/>
              </a:rPr>
              <a:t>اسْمُ أَبِي … وَاسْمُ أُمِّي …</a:t>
            </a:r>
            <a:endParaRPr lang="ar-SA" sz="1800" dirty="0"/>
          </a:p>
        </p:txBody>
      </p:sp>
      <p:sp>
        <p:nvSpPr>
          <p:cNvPr id="22" name="Shape 19"/>
          <p:cNvSpPr/>
          <p:nvPr/>
        </p:nvSpPr>
        <p:spPr>
          <a:xfrm>
            <a:off x="6323076" y="3401568"/>
            <a:ext cx="5271516" cy="438912"/>
          </a:xfrm>
          <a:prstGeom prst="roundRect">
            <a:avLst>
              <a:gd name="adj" fmla="val 12500"/>
            </a:avLst>
          </a:prstGeom>
          <a:solidFill>
            <a:srgbClr val="FFF4DC"/>
          </a:solidFill>
          <a:ln w="9525">
            <a:solidFill>
              <a:srgbClr val="E6C98A"/>
            </a:solidFill>
            <a:prstDash val="solid"/>
          </a:ln>
        </p:spPr>
      </p:sp>
      <p:sp>
        <p:nvSpPr>
          <p:cNvPr id="23" name="Text 20"/>
          <p:cNvSpPr txBox="1"/>
          <p:nvPr/>
        </p:nvSpPr>
        <p:spPr>
          <a:xfrm>
            <a:off x="6414516" y="3401568"/>
            <a:ext cx="5088636" cy="438912"/>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2" charset="-78"/>
                <a:ea typeface="Amiri" pitchFamily="2" charset="-78"/>
                <a:cs typeface="Amiri" pitchFamily="2" charset="-78"/>
              </a:rPr>
              <a:t>عِنْدِي أَخٌ اسْمُهُ … / أُخْتٌ اسْمُهَا …</a:t>
            </a:r>
            <a:endParaRPr lang="ar-SA" sz="1800" dirty="0"/>
          </a:p>
        </p:txBody>
      </p:sp>
      <p:sp>
        <p:nvSpPr>
          <p:cNvPr id="24" name="Shape 21"/>
          <p:cNvSpPr/>
          <p:nvPr/>
        </p:nvSpPr>
        <p:spPr>
          <a:xfrm>
            <a:off x="6323076" y="3913632"/>
            <a:ext cx="5271516" cy="438912"/>
          </a:xfrm>
          <a:prstGeom prst="roundRect">
            <a:avLst>
              <a:gd name="adj" fmla="val 12500"/>
            </a:avLst>
          </a:prstGeom>
          <a:solidFill>
            <a:srgbClr val="FFF4DC"/>
          </a:solidFill>
          <a:ln w="9525">
            <a:solidFill>
              <a:srgbClr val="E6C98A"/>
            </a:solidFill>
            <a:prstDash val="solid"/>
          </a:ln>
        </p:spPr>
      </p:sp>
      <p:sp>
        <p:nvSpPr>
          <p:cNvPr id="25" name="Text 22"/>
          <p:cNvSpPr txBox="1"/>
          <p:nvPr/>
        </p:nvSpPr>
        <p:spPr>
          <a:xfrm>
            <a:off x="6414516" y="3913632"/>
            <a:ext cx="5088636" cy="438912"/>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2" charset="-78"/>
                <a:ea typeface="Amiri" pitchFamily="2" charset="-78"/>
                <a:cs typeface="Amiri" pitchFamily="2" charset="-78"/>
              </a:rPr>
              <a:t>أُحِبُّ … لِأَنَّهُ / لِأَنَّهَا …</a:t>
            </a:r>
            <a:endParaRPr lang="ar-SA" sz="1800" dirty="0"/>
          </a:p>
        </p:txBody>
      </p:sp>
      <p:sp>
        <p:nvSpPr>
          <p:cNvPr id="26" name="Shape 23"/>
          <p:cNvSpPr/>
          <p:nvPr/>
        </p:nvSpPr>
        <p:spPr>
          <a:xfrm>
            <a:off x="457200" y="1810512"/>
            <a:ext cx="5545836" cy="4498848"/>
          </a:xfrm>
          <a:prstGeom prst="roundRect">
            <a:avLst>
              <a:gd name="adj" fmla="val 1626"/>
            </a:avLst>
          </a:prstGeom>
          <a:solidFill>
            <a:srgbClr val="EEF3FA"/>
          </a:solidFill>
          <a:ln w="9525">
            <a:solidFill>
              <a:srgbClr val="C9D6EA"/>
            </a:solidFill>
            <a:prstDash val="solid"/>
          </a:ln>
        </p:spPr>
      </p:sp>
      <p:sp>
        <p:nvSpPr>
          <p:cNvPr id="27" name="Shape 24"/>
          <p:cNvSpPr/>
          <p:nvPr/>
        </p:nvSpPr>
        <p:spPr>
          <a:xfrm>
            <a:off x="594360" y="1920240"/>
            <a:ext cx="5271516" cy="310896"/>
          </a:xfrm>
          <a:prstGeom prst="roundRect">
            <a:avLst>
              <a:gd name="adj" fmla="val 50000"/>
            </a:avLst>
          </a:prstGeom>
          <a:solidFill>
            <a:srgbClr val="2F6FB0"/>
          </a:solidFill>
          <a:ln w="12700">
            <a:solidFill>
              <a:srgbClr val="2F6FB0"/>
            </a:solidFill>
            <a:prstDash val="solid"/>
          </a:ln>
        </p:spPr>
      </p:sp>
      <p:sp>
        <p:nvSpPr>
          <p:cNvPr id="28" name="Text 25"/>
          <p:cNvSpPr txBox="1"/>
          <p:nvPr/>
        </p:nvSpPr>
        <p:spPr>
          <a:xfrm>
            <a:off x="594360" y="1920240"/>
            <a:ext cx="5271516" cy="310896"/>
          </a:xfrm>
          <a:prstGeom prst="rect">
            <a:avLst/>
          </a:prstGeom>
          <a:noFill/>
          <a:ln/>
        </p:spPr>
        <p:txBody>
          <a:bodyPr wrap="square" lIns="0" tIns="0" rIns="0" bIns="0" rtlCol="0" anchor="ctr"/>
          <a:lstStyle/>
          <a:p>
            <a:pPr algn="ctr" indent="0" marL="0">
              <a:buNone/>
            </a:pPr>
            <a:r>
              <a:rPr lang="en-US" sz="950" b="1" dirty="0">
                <a:solidFill>
                  <a:srgbClr val="FFFFFF"/>
                </a:solidFill>
                <a:latin typeface="Calibri" pitchFamily="34" charset="0"/>
                <a:cs typeface="Amiri" pitchFamily="2" charset="-78"/>
              </a:rPr>
              <a:t>2 · F3-L02 · Describing Family Members</a:t>
            </a:r>
            <a:endParaRPr lang="en-US" sz="950" dirty="0"/>
          </a:p>
        </p:txBody>
      </p:sp>
      <p:sp>
        <p:nvSpPr>
          <p:cNvPr id="29" name="Shape 26"/>
          <p:cNvSpPr/>
          <p:nvPr/>
        </p:nvSpPr>
        <p:spPr>
          <a:xfrm>
            <a:off x="594360" y="2377440"/>
            <a:ext cx="5271516" cy="438912"/>
          </a:xfrm>
          <a:prstGeom prst="roundRect">
            <a:avLst>
              <a:gd name="adj" fmla="val 12500"/>
            </a:avLst>
          </a:prstGeom>
          <a:solidFill>
            <a:srgbClr val="FFF4DC"/>
          </a:solidFill>
          <a:ln w="9525">
            <a:solidFill>
              <a:srgbClr val="E6C98A"/>
            </a:solidFill>
            <a:prstDash val="solid"/>
          </a:ln>
        </p:spPr>
      </p:sp>
      <p:sp>
        <p:nvSpPr>
          <p:cNvPr id="30" name="Text 27"/>
          <p:cNvSpPr txBox="1"/>
          <p:nvPr/>
        </p:nvSpPr>
        <p:spPr>
          <a:xfrm>
            <a:off x="685800" y="2377440"/>
            <a:ext cx="5088636" cy="438912"/>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2" charset="-78"/>
                <a:ea typeface="Amiri" pitchFamily="2" charset="-78"/>
                <a:cs typeface="Amiri" pitchFamily="2" charset="-78"/>
              </a:rPr>
              <a:t>أَبِي / خَالِي … طَوِيلٌ وَ…</a:t>
            </a:r>
            <a:endParaRPr lang="ar-SA" sz="1800" dirty="0"/>
          </a:p>
        </p:txBody>
      </p:sp>
      <p:sp>
        <p:nvSpPr>
          <p:cNvPr id="31" name="Shape 28"/>
          <p:cNvSpPr/>
          <p:nvPr/>
        </p:nvSpPr>
        <p:spPr>
          <a:xfrm>
            <a:off x="594360" y="2889504"/>
            <a:ext cx="5271516" cy="438912"/>
          </a:xfrm>
          <a:prstGeom prst="roundRect">
            <a:avLst>
              <a:gd name="adj" fmla="val 12500"/>
            </a:avLst>
          </a:prstGeom>
          <a:solidFill>
            <a:srgbClr val="FFF4DC"/>
          </a:solidFill>
          <a:ln w="9525">
            <a:solidFill>
              <a:srgbClr val="E6C98A"/>
            </a:solidFill>
            <a:prstDash val="solid"/>
          </a:ln>
        </p:spPr>
      </p:sp>
      <p:sp>
        <p:nvSpPr>
          <p:cNvPr id="32" name="Text 29"/>
          <p:cNvSpPr txBox="1"/>
          <p:nvPr/>
        </p:nvSpPr>
        <p:spPr>
          <a:xfrm>
            <a:off x="685800" y="2889504"/>
            <a:ext cx="5088636" cy="438912"/>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2" charset="-78"/>
                <a:ea typeface="Amiri" pitchFamily="2" charset="-78"/>
                <a:cs typeface="Amiri" pitchFamily="2" charset="-78"/>
              </a:rPr>
              <a:t>شَعْرُهُ / شَعْرُهَا …</a:t>
            </a:r>
            <a:endParaRPr lang="ar-SA" sz="1800" dirty="0"/>
          </a:p>
        </p:txBody>
      </p:sp>
      <p:sp>
        <p:nvSpPr>
          <p:cNvPr id="33" name="Shape 30"/>
          <p:cNvSpPr/>
          <p:nvPr/>
        </p:nvSpPr>
        <p:spPr>
          <a:xfrm>
            <a:off x="594360" y="3401568"/>
            <a:ext cx="5271516" cy="438912"/>
          </a:xfrm>
          <a:prstGeom prst="roundRect">
            <a:avLst>
              <a:gd name="adj" fmla="val 12500"/>
            </a:avLst>
          </a:prstGeom>
          <a:solidFill>
            <a:srgbClr val="FFF4DC"/>
          </a:solidFill>
          <a:ln w="9525">
            <a:solidFill>
              <a:srgbClr val="E6C98A"/>
            </a:solidFill>
            <a:prstDash val="solid"/>
          </a:ln>
        </p:spPr>
      </p:sp>
      <p:sp>
        <p:nvSpPr>
          <p:cNvPr id="34" name="Text 31"/>
          <p:cNvSpPr txBox="1"/>
          <p:nvPr/>
        </p:nvSpPr>
        <p:spPr>
          <a:xfrm>
            <a:off x="685800" y="3401568"/>
            <a:ext cx="5088636" cy="438912"/>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2" charset="-78"/>
                <a:ea typeface="Amiri" pitchFamily="2" charset="-78"/>
                <a:cs typeface="Amiri" pitchFamily="2" charset="-78"/>
              </a:rPr>
              <a:t>هِيَ لَطِيفَةٌ وَ… جِدًّا</a:t>
            </a:r>
            <a:endParaRPr lang="ar-SA" sz="1800" dirty="0"/>
          </a:p>
        </p:txBody>
      </p:sp>
      <p:sp>
        <p:nvSpPr>
          <p:cNvPr id="35" name="Shape 32"/>
          <p:cNvSpPr/>
          <p:nvPr/>
        </p:nvSpPr>
        <p:spPr>
          <a:xfrm>
            <a:off x="594360" y="3913632"/>
            <a:ext cx="5271516" cy="438912"/>
          </a:xfrm>
          <a:prstGeom prst="roundRect">
            <a:avLst>
              <a:gd name="adj" fmla="val 12500"/>
            </a:avLst>
          </a:prstGeom>
          <a:solidFill>
            <a:srgbClr val="FFF4DC"/>
          </a:solidFill>
          <a:ln w="9525">
            <a:solidFill>
              <a:srgbClr val="E6C98A"/>
            </a:solidFill>
            <a:prstDash val="solid"/>
          </a:ln>
        </p:spPr>
      </p:sp>
      <p:sp>
        <p:nvSpPr>
          <p:cNvPr id="36" name="Text 33"/>
          <p:cNvSpPr txBox="1"/>
          <p:nvPr/>
        </p:nvSpPr>
        <p:spPr>
          <a:xfrm>
            <a:off x="685800" y="3913632"/>
            <a:ext cx="5088636" cy="438912"/>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2" charset="-78"/>
                <a:ea typeface="Amiri" pitchFamily="2" charset="-78"/>
                <a:cs typeface="Amiri" pitchFamily="2" charset="-78"/>
              </a:rPr>
              <a:t>أُحِبُّهُ / أُحِبُّهَا لِأَنَّهُ / لِأَنَّهَا …</a:t>
            </a:r>
            <a:endParaRPr lang="ar-SA" sz="1800" dirty="0"/>
          </a:p>
        </p:txBody>
      </p:sp>
      <p:sp>
        <p:nvSpPr>
          <p:cNvPr id="37" name="Text 34"/>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9 / 24</a:t>
            </a:r>
            <a:endParaRPr lang="en-US" sz="850" dirty="0"/>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F3-W01 · Apply workshop</a:t>
            </a:r>
            <a:endParaRPr lang="en-US" sz="950" dirty="0"/>
          </a:p>
        </p:txBody>
      </p:sp>
      <p:sp>
        <p:nvSpPr>
          <p:cNvPr id="8" name="Shape 6"/>
          <p:cNvSpPr/>
          <p:nvPr/>
        </p:nvSpPr>
        <p:spPr>
          <a:xfrm>
            <a:off x="7370978" y="274320"/>
            <a:ext cx="1388974" cy="329184"/>
          </a:xfrm>
          <a:prstGeom prst="roundRect">
            <a:avLst>
              <a:gd name="adj" fmla="val 50000"/>
            </a:avLst>
          </a:prstGeom>
          <a:solidFill>
            <a:srgbClr val="2F6FB0"/>
          </a:solidFill>
          <a:ln w="12700">
            <a:solidFill>
              <a:srgbClr val="2F6FB0"/>
            </a:solidFill>
            <a:prstDash val="solid"/>
          </a:ln>
        </p:spPr>
      </p:sp>
      <p:sp>
        <p:nvSpPr>
          <p:cNvPr id="9" name="Text 7"/>
          <p:cNvSpPr txBox="1"/>
          <p:nvPr/>
        </p:nvSpPr>
        <p:spPr>
          <a:xfrm>
            <a:off x="7370978" y="274320"/>
            <a:ext cx="1388974"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WE DO · 5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934" b="1" spc="150" kern="0" dirty="0">
                <a:solidFill>
                  <a:srgbClr val="2F6FB0"/>
                </a:solidFill>
                <a:latin typeface="Calibri" pitchFamily="34" charset="0"/>
                <a:cs typeface="Amiri" pitchFamily="2" charset="-78"/>
              </a:rPr>
              <a:t>PART 2 · STEP 3 · SAY THE MODEL DIALOGUE · BOTH LESSONS IN ONE CONVERSATION</a:t>
            </a:r>
            <a:endParaRPr lang="en-US" sz="934"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Who is in the photo?</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مَنْ فِي الصُّورَةِ؟</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Foundation F3 · My Family &amp; Home · F3-W01 · Apply workshop (F3-L01 + F3-L02)</a:t>
            </a:r>
            <a:endParaRPr lang="en-US" sz="850" dirty="0"/>
          </a:p>
        </p:txBody>
      </p:sp>
      <p:sp>
        <p:nvSpPr>
          <p:cNvPr id="15" name="Shape 12"/>
          <p:cNvSpPr/>
          <p:nvPr/>
        </p:nvSpPr>
        <p:spPr>
          <a:xfrm>
            <a:off x="457200" y="1810512"/>
            <a:ext cx="11274552" cy="384048"/>
          </a:xfrm>
          <a:prstGeom prst="rect">
            <a:avLst/>
          </a:prstGeom>
          <a:solidFill>
            <a:srgbClr val="1B3B6F"/>
          </a:solidFill>
          <a:ln w="12700">
            <a:solidFill>
              <a:srgbClr val="1B3B6F"/>
            </a:solidFill>
            <a:prstDash val="solid"/>
          </a:ln>
        </p:spPr>
      </p:sp>
      <p:sp>
        <p:nvSpPr>
          <p:cNvPr id="16" name="Text 13"/>
          <p:cNvSpPr txBox="1"/>
          <p:nvPr/>
        </p:nvSpPr>
        <p:spPr>
          <a:xfrm>
            <a:off x="7754112" y="1810512"/>
            <a:ext cx="3904488" cy="384048"/>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Meaning</a:t>
            </a:r>
            <a:endParaRPr lang="en-US" sz="1100" dirty="0"/>
          </a:p>
        </p:txBody>
      </p:sp>
      <p:sp>
        <p:nvSpPr>
          <p:cNvPr id="17" name="Text 14"/>
          <p:cNvSpPr txBox="1"/>
          <p:nvPr/>
        </p:nvSpPr>
        <p:spPr>
          <a:xfrm>
            <a:off x="1444752" y="1810512"/>
            <a:ext cx="6163056" cy="384048"/>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Say it in Arabic</a:t>
            </a:r>
            <a:endParaRPr lang="en-US" sz="1100" dirty="0"/>
          </a:p>
        </p:txBody>
      </p:sp>
      <p:sp>
        <p:nvSpPr>
          <p:cNvPr id="18" name="Text 15"/>
          <p:cNvSpPr txBox="1"/>
          <p:nvPr/>
        </p:nvSpPr>
        <p:spPr>
          <a:xfrm>
            <a:off x="530352" y="1810512"/>
            <a:ext cx="768096" cy="384048"/>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Who</a:t>
            </a:r>
            <a:endParaRPr lang="en-US" sz="1100" dirty="0"/>
          </a:p>
        </p:txBody>
      </p:sp>
      <p:sp>
        <p:nvSpPr>
          <p:cNvPr id="19" name="Shape 16"/>
          <p:cNvSpPr/>
          <p:nvPr/>
        </p:nvSpPr>
        <p:spPr>
          <a:xfrm>
            <a:off x="457200" y="2267712"/>
            <a:ext cx="11274552" cy="559308"/>
          </a:xfrm>
          <a:prstGeom prst="roundRect">
            <a:avLst>
              <a:gd name="adj" fmla="val 8174"/>
            </a:avLst>
          </a:prstGeom>
          <a:solidFill>
            <a:srgbClr val="FFFFFF"/>
          </a:solidFill>
          <a:ln w="9525">
            <a:solidFill>
              <a:srgbClr val="D8D0BF"/>
            </a:solidFill>
            <a:prstDash val="solid"/>
          </a:ln>
        </p:spPr>
      </p:sp>
      <p:sp>
        <p:nvSpPr>
          <p:cNvPr id="20" name="Text 17"/>
          <p:cNvSpPr txBox="1"/>
          <p:nvPr/>
        </p:nvSpPr>
        <p:spPr>
          <a:xfrm>
            <a:off x="7790688" y="2267712"/>
            <a:ext cx="3867912" cy="559308"/>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Who is this in the photo?</a:t>
            </a:r>
            <a:endParaRPr lang="en-US" sz="1100" dirty="0"/>
          </a:p>
        </p:txBody>
      </p:sp>
      <p:sp>
        <p:nvSpPr>
          <p:cNvPr id="21" name="Text 18"/>
          <p:cNvSpPr txBox="1"/>
          <p:nvPr/>
        </p:nvSpPr>
        <p:spPr>
          <a:xfrm>
            <a:off x="1463040" y="2267712"/>
            <a:ext cx="6126480" cy="559308"/>
          </a:xfrm>
          <a:prstGeom prst="rect">
            <a:avLst/>
          </a:prstGeom>
          <a:noFill/>
          <a:ln/>
        </p:spPr>
        <p:txBody>
          <a:bodyPr wrap="square" lIns="0" tIns="0" rIns="0" bIns="0" rtlCol="0" anchor="ctr"/>
          <a:lstStyle/>
          <a:p>
            <a:pPr rtl="1" algn="ctr" indent="0" marL="0">
              <a:buNone/>
            </a:pPr>
            <a:r>
              <a:rPr lang="ar-SA" altLang="en-US" sz="1900" b="1" dirty="0">
                <a:solidFill>
                  <a:srgbClr val="1B3B6F"/>
                </a:solidFill>
                <a:latin typeface="Amiri" pitchFamily="2" charset="-78"/>
                <a:ea typeface="Amiri" pitchFamily="2" charset="-78"/>
                <a:cs typeface="Amiri" pitchFamily="2" charset="-78"/>
              </a:rPr>
              <a:t>مَنْ هٰذَا فِي الصُّورَةِ؟</a:t>
            </a:r>
            <a:endParaRPr lang="ar-SA" sz="1900" dirty="0"/>
          </a:p>
        </p:txBody>
      </p:sp>
      <p:sp>
        <p:nvSpPr>
          <p:cNvPr id="22" name="Text 19"/>
          <p:cNvSpPr txBox="1"/>
          <p:nvPr/>
        </p:nvSpPr>
        <p:spPr>
          <a:xfrm>
            <a:off x="566928" y="2267712"/>
            <a:ext cx="731520" cy="559308"/>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A</a:t>
            </a:r>
            <a:endParaRPr lang="en-US" sz="1100" dirty="0"/>
          </a:p>
        </p:txBody>
      </p:sp>
      <p:sp>
        <p:nvSpPr>
          <p:cNvPr id="23" name="Shape 20"/>
          <p:cNvSpPr/>
          <p:nvPr/>
        </p:nvSpPr>
        <p:spPr>
          <a:xfrm>
            <a:off x="457200" y="2881884"/>
            <a:ext cx="11274552" cy="559308"/>
          </a:xfrm>
          <a:prstGeom prst="roundRect">
            <a:avLst>
              <a:gd name="adj" fmla="val 8174"/>
            </a:avLst>
          </a:prstGeom>
          <a:solidFill>
            <a:srgbClr val="F4F1EA"/>
          </a:solidFill>
          <a:ln w="9525">
            <a:solidFill>
              <a:srgbClr val="D8D0BF"/>
            </a:solidFill>
            <a:prstDash val="solid"/>
          </a:ln>
        </p:spPr>
      </p:sp>
      <p:sp>
        <p:nvSpPr>
          <p:cNvPr id="24" name="Text 21"/>
          <p:cNvSpPr txBox="1"/>
          <p:nvPr/>
        </p:nvSpPr>
        <p:spPr>
          <a:xfrm>
            <a:off x="7790688" y="2881884"/>
            <a:ext cx="3867912" cy="559308"/>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This is my grandfather; his name is Ibrahim.</a:t>
            </a:r>
            <a:endParaRPr lang="en-US" sz="1100" dirty="0"/>
          </a:p>
        </p:txBody>
      </p:sp>
      <p:sp>
        <p:nvSpPr>
          <p:cNvPr id="25" name="Text 22"/>
          <p:cNvSpPr txBox="1"/>
          <p:nvPr/>
        </p:nvSpPr>
        <p:spPr>
          <a:xfrm>
            <a:off x="1463040" y="2881884"/>
            <a:ext cx="6126480" cy="559308"/>
          </a:xfrm>
          <a:prstGeom prst="rect">
            <a:avLst/>
          </a:prstGeom>
          <a:noFill/>
          <a:ln/>
        </p:spPr>
        <p:txBody>
          <a:bodyPr wrap="square" lIns="0" tIns="0" rIns="0" bIns="0" rtlCol="0" anchor="ctr"/>
          <a:lstStyle/>
          <a:p>
            <a:pPr rtl="1" algn="ctr" indent="0" marL="0">
              <a:buNone/>
            </a:pPr>
            <a:r>
              <a:rPr lang="ar-SA" altLang="en-US" sz="1900" b="1" dirty="0">
                <a:solidFill>
                  <a:srgbClr val="1B3B6F"/>
                </a:solidFill>
                <a:latin typeface="Amiri" pitchFamily="2" charset="-78"/>
                <a:ea typeface="Amiri" pitchFamily="2" charset="-78"/>
                <a:cs typeface="Amiri" pitchFamily="2" charset="-78"/>
              </a:rPr>
              <a:t>هٰذَا جَدِّي، اسْمُهُ إِبْرَاهِيمُ.</a:t>
            </a:r>
            <a:endParaRPr lang="ar-SA" sz="1900" dirty="0"/>
          </a:p>
        </p:txBody>
      </p:sp>
      <p:sp>
        <p:nvSpPr>
          <p:cNvPr id="26" name="Text 23"/>
          <p:cNvSpPr txBox="1"/>
          <p:nvPr/>
        </p:nvSpPr>
        <p:spPr>
          <a:xfrm>
            <a:off x="566928" y="2881884"/>
            <a:ext cx="731520" cy="559308"/>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B</a:t>
            </a:r>
            <a:endParaRPr lang="en-US" sz="1100" dirty="0"/>
          </a:p>
        </p:txBody>
      </p:sp>
      <p:sp>
        <p:nvSpPr>
          <p:cNvPr id="27" name="Shape 24"/>
          <p:cNvSpPr/>
          <p:nvPr/>
        </p:nvSpPr>
        <p:spPr>
          <a:xfrm>
            <a:off x="457200" y="3496056"/>
            <a:ext cx="11274552" cy="559308"/>
          </a:xfrm>
          <a:prstGeom prst="roundRect">
            <a:avLst>
              <a:gd name="adj" fmla="val 8174"/>
            </a:avLst>
          </a:prstGeom>
          <a:solidFill>
            <a:srgbClr val="FFFFFF"/>
          </a:solidFill>
          <a:ln w="9525">
            <a:solidFill>
              <a:srgbClr val="D8D0BF"/>
            </a:solidFill>
            <a:prstDash val="solid"/>
          </a:ln>
        </p:spPr>
      </p:sp>
      <p:sp>
        <p:nvSpPr>
          <p:cNvPr id="28" name="Text 25"/>
          <p:cNvSpPr txBox="1"/>
          <p:nvPr/>
        </p:nvSpPr>
        <p:spPr>
          <a:xfrm>
            <a:off x="7790688" y="3496056"/>
            <a:ext cx="3867912" cy="559308"/>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What is he like?</a:t>
            </a:r>
            <a:endParaRPr lang="en-US" sz="1100" dirty="0"/>
          </a:p>
        </p:txBody>
      </p:sp>
      <p:sp>
        <p:nvSpPr>
          <p:cNvPr id="29" name="Text 26"/>
          <p:cNvSpPr txBox="1"/>
          <p:nvPr/>
        </p:nvSpPr>
        <p:spPr>
          <a:xfrm>
            <a:off x="1463040" y="3496056"/>
            <a:ext cx="6126480" cy="559308"/>
          </a:xfrm>
          <a:prstGeom prst="rect">
            <a:avLst/>
          </a:prstGeom>
          <a:noFill/>
          <a:ln/>
        </p:spPr>
        <p:txBody>
          <a:bodyPr wrap="square" lIns="0" tIns="0" rIns="0" bIns="0" rtlCol="0" anchor="ctr"/>
          <a:lstStyle/>
          <a:p>
            <a:pPr rtl="1" algn="ctr" indent="0" marL="0">
              <a:buNone/>
            </a:pPr>
            <a:r>
              <a:rPr lang="ar-SA" altLang="en-US" sz="1900" b="1" dirty="0">
                <a:solidFill>
                  <a:srgbClr val="1B3B6F"/>
                </a:solidFill>
                <a:latin typeface="Amiri" pitchFamily="2" charset="-78"/>
                <a:ea typeface="Amiri" pitchFamily="2" charset="-78"/>
                <a:cs typeface="Amiri" pitchFamily="2" charset="-78"/>
              </a:rPr>
              <a:t>كَيْفَ هُوَ؟</a:t>
            </a:r>
            <a:endParaRPr lang="ar-SA" sz="1900" dirty="0"/>
          </a:p>
        </p:txBody>
      </p:sp>
      <p:sp>
        <p:nvSpPr>
          <p:cNvPr id="30" name="Text 27"/>
          <p:cNvSpPr txBox="1"/>
          <p:nvPr/>
        </p:nvSpPr>
        <p:spPr>
          <a:xfrm>
            <a:off x="566928" y="3496056"/>
            <a:ext cx="731520" cy="559308"/>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A</a:t>
            </a:r>
            <a:endParaRPr lang="en-US" sz="1100" dirty="0"/>
          </a:p>
        </p:txBody>
      </p:sp>
      <p:sp>
        <p:nvSpPr>
          <p:cNvPr id="31" name="Shape 28"/>
          <p:cNvSpPr/>
          <p:nvPr/>
        </p:nvSpPr>
        <p:spPr>
          <a:xfrm>
            <a:off x="457200" y="4110228"/>
            <a:ext cx="11274552" cy="559308"/>
          </a:xfrm>
          <a:prstGeom prst="roundRect">
            <a:avLst>
              <a:gd name="adj" fmla="val 8174"/>
            </a:avLst>
          </a:prstGeom>
          <a:solidFill>
            <a:srgbClr val="F4F1EA"/>
          </a:solidFill>
          <a:ln w="9525">
            <a:solidFill>
              <a:srgbClr val="D8D0BF"/>
            </a:solidFill>
            <a:prstDash val="solid"/>
          </a:ln>
        </p:spPr>
      </p:sp>
      <p:sp>
        <p:nvSpPr>
          <p:cNvPr id="32" name="Text 29"/>
          <p:cNvSpPr txBox="1"/>
          <p:nvPr/>
        </p:nvSpPr>
        <p:spPr>
          <a:xfrm>
            <a:off x="7790688" y="4110228"/>
            <a:ext cx="3867912" cy="559308"/>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He is tall, and his hair is white. He is very generous.</a:t>
            </a:r>
            <a:endParaRPr lang="en-US" sz="1100" dirty="0"/>
          </a:p>
        </p:txBody>
      </p:sp>
      <p:sp>
        <p:nvSpPr>
          <p:cNvPr id="33" name="Text 30"/>
          <p:cNvSpPr txBox="1"/>
          <p:nvPr/>
        </p:nvSpPr>
        <p:spPr>
          <a:xfrm>
            <a:off x="1463040" y="4110228"/>
            <a:ext cx="6126480" cy="559308"/>
          </a:xfrm>
          <a:prstGeom prst="rect">
            <a:avLst/>
          </a:prstGeom>
          <a:noFill/>
          <a:ln/>
        </p:spPr>
        <p:txBody>
          <a:bodyPr wrap="square" lIns="0" tIns="0" rIns="0" bIns="0" rtlCol="0" anchor="ctr"/>
          <a:lstStyle/>
          <a:p>
            <a:pPr rtl="1" algn="ctr" indent="0" marL="0">
              <a:buNone/>
            </a:pPr>
            <a:r>
              <a:rPr lang="ar-SA" altLang="en-US" sz="1900" b="1" dirty="0">
                <a:solidFill>
                  <a:srgbClr val="1B3B6F"/>
                </a:solidFill>
                <a:latin typeface="Amiri" pitchFamily="2" charset="-78"/>
                <a:ea typeface="Amiri" pitchFamily="2" charset="-78"/>
                <a:cs typeface="Amiri" pitchFamily="2" charset="-78"/>
              </a:rPr>
              <a:t>هُوَ طَوِيلٌ، وَشَعْرُهُ أَبْيَضُ. هُوَ كَرِيمٌ جِدًّا.</a:t>
            </a:r>
            <a:endParaRPr lang="ar-SA" sz="1900" dirty="0"/>
          </a:p>
        </p:txBody>
      </p:sp>
      <p:sp>
        <p:nvSpPr>
          <p:cNvPr id="34" name="Text 31"/>
          <p:cNvSpPr txBox="1"/>
          <p:nvPr/>
        </p:nvSpPr>
        <p:spPr>
          <a:xfrm>
            <a:off x="566928" y="4110228"/>
            <a:ext cx="731520" cy="559308"/>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B</a:t>
            </a:r>
            <a:endParaRPr lang="en-US" sz="1100" dirty="0"/>
          </a:p>
        </p:txBody>
      </p:sp>
      <p:sp>
        <p:nvSpPr>
          <p:cNvPr id="35" name="Shape 32"/>
          <p:cNvSpPr/>
          <p:nvPr/>
        </p:nvSpPr>
        <p:spPr>
          <a:xfrm>
            <a:off x="457200" y="4724400"/>
            <a:ext cx="11274552" cy="559308"/>
          </a:xfrm>
          <a:prstGeom prst="roundRect">
            <a:avLst>
              <a:gd name="adj" fmla="val 8174"/>
            </a:avLst>
          </a:prstGeom>
          <a:solidFill>
            <a:srgbClr val="FFFFFF"/>
          </a:solidFill>
          <a:ln w="9525">
            <a:solidFill>
              <a:srgbClr val="D8D0BF"/>
            </a:solidFill>
            <a:prstDash val="solid"/>
          </a:ln>
        </p:spPr>
      </p:sp>
      <p:sp>
        <p:nvSpPr>
          <p:cNvPr id="36" name="Text 33"/>
          <p:cNvSpPr txBox="1"/>
          <p:nvPr/>
        </p:nvSpPr>
        <p:spPr>
          <a:xfrm>
            <a:off x="7790688" y="4724400"/>
            <a:ext cx="3867912" cy="559308"/>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And who is this?</a:t>
            </a:r>
            <a:endParaRPr lang="en-US" sz="1100" dirty="0"/>
          </a:p>
        </p:txBody>
      </p:sp>
      <p:sp>
        <p:nvSpPr>
          <p:cNvPr id="37" name="Text 34"/>
          <p:cNvSpPr txBox="1"/>
          <p:nvPr/>
        </p:nvSpPr>
        <p:spPr>
          <a:xfrm>
            <a:off x="1463040" y="4724400"/>
            <a:ext cx="6126480" cy="559308"/>
          </a:xfrm>
          <a:prstGeom prst="rect">
            <a:avLst/>
          </a:prstGeom>
          <a:noFill/>
          <a:ln/>
        </p:spPr>
        <p:txBody>
          <a:bodyPr wrap="square" lIns="0" tIns="0" rIns="0" bIns="0" rtlCol="0" anchor="ctr"/>
          <a:lstStyle/>
          <a:p>
            <a:pPr rtl="1" algn="ctr" indent="0" marL="0">
              <a:buNone/>
            </a:pPr>
            <a:r>
              <a:rPr lang="ar-SA" altLang="en-US" sz="1900" b="1" dirty="0">
                <a:solidFill>
                  <a:srgbClr val="1B3B6F"/>
                </a:solidFill>
                <a:latin typeface="Amiri" pitchFamily="2" charset="-78"/>
                <a:ea typeface="Amiri" pitchFamily="2" charset="-78"/>
                <a:cs typeface="Amiri" pitchFamily="2" charset="-78"/>
              </a:rPr>
              <a:t>وَمَنْ هٰذِهِ؟</a:t>
            </a:r>
            <a:endParaRPr lang="ar-SA" sz="1900" dirty="0"/>
          </a:p>
        </p:txBody>
      </p:sp>
      <p:sp>
        <p:nvSpPr>
          <p:cNvPr id="38" name="Text 35"/>
          <p:cNvSpPr txBox="1"/>
          <p:nvPr/>
        </p:nvSpPr>
        <p:spPr>
          <a:xfrm>
            <a:off x="566928" y="4724400"/>
            <a:ext cx="731520" cy="559308"/>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A</a:t>
            </a:r>
            <a:endParaRPr lang="en-US" sz="1100" dirty="0"/>
          </a:p>
        </p:txBody>
      </p:sp>
      <p:sp>
        <p:nvSpPr>
          <p:cNvPr id="39" name="Shape 36"/>
          <p:cNvSpPr/>
          <p:nvPr/>
        </p:nvSpPr>
        <p:spPr>
          <a:xfrm>
            <a:off x="457200" y="5338572"/>
            <a:ext cx="11274552" cy="559308"/>
          </a:xfrm>
          <a:prstGeom prst="roundRect">
            <a:avLst>
              <a:gd name="adj" fmla="val 8174"/>
            </a:avLst>
          </a:prstGeom>
          <a:solidFill>
            <a:srgbClr val="F4F1EA"/>
          </a:solidFill>
          <a:ln w="9525">
            <a:solidFill>
              <a:srgbClr val="D8D0BF"/>
            </a:solidFill>
            <a:prstDash val="solid"/>
          </a:ln>
        </p:spPr>
      </p:sp>
      <p:sp>
        <p:nvSpPr>
          <p:cNvPr id="40" name="Text 37"/>
          <p:cNvSpPr txBox="1"/>
          <p:nvPr/>
        </p:nvSpPr>
        <p:spPr>
          <a:xfrm>
            <a:off x="7790688" y="5338572"/>
            <a:ext cx="3867912" cy="559308"/>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This is my aunt Suad. She is short and funny, and I love her a lot.</a:t>
            </a:r>
            <a:endParaRPr lang="en-US" sz="1100" dirty="0"/>
          </a:p>
        </p:txBody>
      </p:sp>
      <p:sp>
        <p:nvSpPr>
          <p:cNvPr id="41" name="Text 38"/>
          <p:cNvSpPr txBox="1"/>
          <p:nvPr/>
        </p:nvSpPr>
        <p:spPr>
          <a:xfrm>
            <a:off x="1463040" y="5338572"/>
            <a:ext cx="6126480" cy="559308"/>
          </a:xfrm>
          <a:prstGeom prst="rect">
            <a:avLst/>
          </a:prstGeom>
          <a:noFill/>
          <a:ln/>
        </p:spPr>
        <p:txBody>
          <a:bodyPr wrap="square" lIns="0" tIns="0" rIns="0" bIns="0" rtlCol="0" anchor="ctr"/>
          <a:lstStyle/>
          <a:p>
            <a:pPr rtl="1" algn="ctr" indent="0" marL="0">
              <a:buNone/>
            </a:pPr>
            <a:r>
              <a:rPr lang="ar-SA" altLang="en-US" sz="1900" b="1" dirty="0">
                <a:solidFill>
                  <a:srgbClr val="1B3B6F"/>
                </a:solidFill>
                <a:latin typeface="Amiri" pitchFamily="2" charset="-78"/>
                <a:ea typeface="Amiri" pitchFamily="2" charset="-78"/>
                <a:cs typeface="Amiri" pitchFamily="2" charset="-78"/>
              </a:rPr>
              <a:t>هٰذِهِ عَمَّتِي سُعَادُ. هِيَ قَصِيرَةٌ وَمُضْحِكَةٌ، وَأُحِبُّهَا كَثِيرًا.</a:t>
            </a:r>
            <a:endParaRPr lang="ar-SA" sz="1900" dirty="0"/>
          </a:p>
        </p:txBody>
      </p:sp>
      <p:sp>
        <p:nvSpPr>
          <p:cNvPr id="42" name="Text 39"/>
          <p:cNvSpPr txBox="1"/>
          <p:nvPr/>
        </p:nvSpPr>
        <p:spPr>
          <a:xfrm>
            <a:off x="566928" y="5338572"/>
            <a:ext cx="731520" cy="559308"/>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B</a:t>
            </a:r>
            <a:endParaRPr lang="en-US" sz="1100" dirty="0"/>
          </a:p>
        </p:txBody>
      </p:sp>
      <p:sp>
        <p:nvSpPr>
          <p:cNvPr id="43" name="Text 40"/>
          <p:cNvSpPr txBox="1"/>
          <p:nvPr/>
        </p:nvSpPr>
        <p:spPr>
          <a:xfrm>
            <a:off x="457200" y="5943600"/>
            <a:ext cx="11274552" cy="365760"/>
          </a:xfrm>
          <a:prstGeom prst="rect">
            <a:avLst/>
          </a:prstGeom>
          <a:noFill/>
          <a:ln/>
        </p:spPr>
        <p:txBody>
          <a:bodyPr wrap="square" lIns="0" tIns="0" rIns="0" bIns="0" rtlCol="0" anchor="ctr"/>
          <a:lstStyle/>
          <a:p>
            <a:pPr algn="l" indent="0" marL="0">
              <a:buNone/>
            </a:pPr>
            <a:r>
              <a:rPr lang="en-US" sz="1100" b="1" dirty="0">
                <a:solidFill>
                  <a:srgbClr val="1B3B6F"/>
                </a:solidFill>
                <a:latin typeface="Calibri" pitchFamily="34" charset="0"/>
                <a:cs typeface="Amiri" pitchFamily="2" charset="-78"/>
              </a:rPr>
              <a:t>Round 1: read it in pairs (A and B). Round 2: swap letters. Round 3: cover the Arabic and say it from the English. Then change TWO details — one from each lesson — and say it again.</a:t>
            </a:r>
            <a:endParaRPr lang="en-US" sz="1100" dirty="0"/>
          </a:p>
        </p:txBody>
      </p:sp>
      <p:sp>
        <p:nvSpPr>
          <p:cNvPr id="44" name="Text 41"/>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10 / 24</a:t>
            </a:r>
            <a:endParaRPr lang="en-US" sz="850" dirty="0"/>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F3-W01 · Apply workshop</a:t>
            </a:r>
            <a:endParaRPr lang="en-US" sz="950" dirty="0"/>
          </a:p>
        </p:txBody>
      </p:sp>
      <p:sp>
        <p:nvSpPr>
          <p:cNvPr id="8" name="Shape 6"/>
          <p:cNvSpPr/>
          <p:nvPr/>
        </p:nvSpPr>
        <p:spPr>
          <a:xfrm>
            <a:off x="7295083" y="274320"/>
            <a:ext cx="1464869" cy="329184"/>
          </a:xfrm>
          <a:prstGeom prst="roundRect">
            <a:avLst>
              <a:gd name="adj" fmla="val 50000"/>
            </a:avLst>
          </a:prstGeom>
          <a:solidFill>
            <a:srgbClr val="1E6B52"/>
          </a:solidFill>
          <a:ln w="12700">
            <a:solidFill>
              <a:srgbClr val="1E6B52"/>
            </a:solidFill>
            <a:prstDash val="solid"/>
          </a:ln>
        </p:spPr>
      </p:sp>
      <p:sp>
        <p:nvSpPr>
          <p:cNvPr id="9" name="Text 7"/>
          <p:cNvSpPr txBox="1"/>
          <p:nvPr/>
        </p:nvSpPr>
        <p:spPr>
          <a:xfrm>
            <a:off x="7295083" y="274320"/>
            <a:ext cx="1464869"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YOU DO · 6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150" kern="0" dirty="0">
                <a:solidFill>
                  <a:srgbClr val="1E6B52"/>
                </a:solidFill>
                <a:latin typeface="Calibri" pitchFamily="34" charset="0"/>
                <a:cs typeface="Amiri" pitchFamily="2" charset="-78"/>
              </a:rPr>
              <a:t>STEP 4 · QUESTION CARDS · QUESTIONS FROM BOTH LESSONS, MIXED</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300" b="1" dirty="0">
                <a:solidFill>
                  <a:srgbClr val="1B3B6F"/>
                </a:solidFill>
                <a:latin typeface="Cambria" pitchFamily="34" charset="0"/>
                <a:cs typeface="Amiri" pitchFamily="2" charset="-78"/>
              </a:rPr>
              <a:t>Mixed questions — answer, then add more</a:t>
            </a:r>
            <a:endParaRPr lang="en-US" sz="23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أَسْئِلَةٌ مِنَ الدَّرْسَيْنِ</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Foundation F3 · My Family &amp; Home · F3-W01 · Apply workshop (F3-L01 + F3-L02)</a:t>
            </a:r>
            <a:endParaRPr lang="en-US" sz="850" dirty="0"/>
          </a:p>
        </p:txBody>
      </p:sp>
      <p:sp>
        <p:nvSpPr>
          <p:cNvPr id="15" name="Shape 12"/>
          <p:cNvSpPr/>
          <p:nvPr/>
        </p:nvSpPr>
        <p:spPr>
          <a:xfrm>
            <a:off x="457200" y="1810512"/>
            <a:ext cx="11274552" cy="384048"/>
          </a:xfrm>
          <a:prstGeom prst="rect">
            <a:avLst/>
          </a:prstGeom>
          <a:solidFill>
            <a:srgbClr val="1B3B6F"/>
          </a:solidFill>
          <a:ln w="12700">
            <a:solidFill>
              <a:srgbClr val="1B3B6F"/>
            </a:solidFill>
            <a:prstDash val="solid"/>
          </a:ln>
        </p:spPr>
      </p:sp>
      <p:sp>
        <p:nvSpPr>
          <p:cNvPr id="16" name="Text 13"/>
          <p:cNvSpPr txBox="1"/>
          <p:nvPr/>
        </p:nvSpPr>
        <p:spPr>
          <a:xfrm>
            <a:off x="9720072" y="1810512"/>
            <a:ext cx="1938528" cy="384048"/>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Add more (Develop · Stretch)</a:t>
            </a:r>
            <a:endParaRPr lang="en-US" sz="1100" dirty="0"/>
          </a:p>
        </p:txBody>
      </p:sp>
      <p:sp>
        <p:nvSpPr>
          <p:cNvPr id="17" name="Text 14"/>
          <p:cNvSpPr txBox="1"/>
          <p:nvPr/>
        </p:nvSpPr>
        <p:spPr>
          <a:xfrm>
            <a:off x="6976872" y="1810512"/>
            <a:ext cx="2596896" cy="384048"/>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Start your answer (Core)</a:t>
            </a:r>
            <a:endParaRPr lang="en-US" sz="1100" dirty="0"/>
          </a:p>
        </p:txBody>
      </p:sp>
      <p:sp>
        <p:nvSpPr>
          <p:cNvPr id="18" name="Text 15"/>
          <p:cNvSpPr txBox="1"/>
          <p:nvPr/>
        </p:nvSpPr>
        <p:spPr>
          <a:xfrm>
            <a:off x="4599432" y="1810512"/>
            <a:ext cx="2231136" cy="384048"/>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Meaning</a:t>
            </a:r>
            <a:endParaRPr lang="en-US" sz="1100" dirty="0"/>
          </a:p>
        </p:txBody>
      </p:sp>
      <p:sp>
        <p:nvSpPr>
          <p:cNvPr id="19" name="Text 16"/>
          <p:cNvSpPr txBox="1"/>
          <p:nvPr/>
        </p:nvSpPr>
        <p:spPr>
          <a:xfrm>
            <a:off x="1033272" y="1810512"/>
            <a:ext cx="3419856" cy="384048"/>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Partner A asks</a:t>
            </a:r>
            <a:endParaRPr lang="en-US" sz="1100" dirty="0"/>
          </a:p>
        </p:txBody>
      </p:sp>
      <p:sp>
        <p:nvSpPr>
          <p:cNvPr id="20" name="Text 17"/>
          <p:cNvSpPr txBox="1"/>
          <p:nvPr/>
        </p:nvSpPr>
        <p:spPr>
          <a:xfrm>
            <a:off x="530352" y="1810512"/>
            <a:ext cx="356616" cy="384048"/>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a:t>
            </a:r>
            <a:endParaRPr lang="en-US" sz="1100" dirty="0"/>
          </a:p>
        </p:txBody>
      </p:sp>
      <p:sp>
        <p:nvSpPr>
          <p:cNvPr id="21" name="Shape 18"/>
          <p:cNvSpPr/>
          <p:nvPr/>
        </p:nvSpPr>
        <p:spPr>
          <a:xfrm>
            <a:off x="457200" y="2267712"/>
            <a:ext cx="11274552" cy="559308"/>
          </a:xfrm>
          <a:prstGeom prst="roundRect">
            <a:avLst>
              <a:gd name="adj" fmla="val 8174"/>
            </a:avLst>
          </a:prstGeom>
          <a:solidFill>
            <a:srgbClr val="FFFFFF"/>
          </a:solidFill>
          <a:ln w="9525">
            <a:solidFill>
              <a:srgbClr val="D8D0BF"/>
            </a:solidFill>
            <a:prstDash val="solid"/>
          </a:ln>
        </p:spPr>
      </p:sp>
      <p:sp>
        <p:nvSpPr>
          <p:cNvPr id="22" name="Text 19"/>
          <p:cNvSpPr txBox="1"/>
          <p:nvPr/>
        </p:nvSpPr>
        <p:spPr>
          <a:xfrm>
            <a:off x="9738360" y="2267712"/>
            <a:ext cx="1901952" cy="559308"/>
          </a:xfrm>
          <a:prstGeom prst="rect">
            <a:avLst/>
          </a:prstGeom>
          <a:noFill/>
          <a:ln/>
        </p:spPr>
        <p:txBody>
          <a:bodyPr wrap="square" lIns="0" tIns="0" rIns="0" bIns="0" rtlCol="0" anchor="ctr"/>
          <a:lstStyle/>
          <a:p>
            <a:pPr rtl="1" algn="ctr" indent="0" marL="0">
              <a:buNone/>
            </a:pPr>
            <a:r>
              <a:rPr lang="ar-SA" altLang="en-US" sz="1500" b="1" dirty="0">
                <a:solidFill>
                  <a:srgbClr val="1B3B6F"/>
                </a:solidFill>
                <a:latin typeface="Amiri" pitchFamily="2" charset="-78"/>
                <a:ea typeface="Amiri" pitchFamily="2" charset="-78"/>
                <a:cs typeface="Amiri" pitchFamily="2" charset="-78"/>
              </a:rPr>
              <a:t>… وَهُوَ …</a:t>
            </a:r>
            <a:endParaRPr lang="ar-SA" sz="1500" dirty="0"/>
          </a:p>
        </p:txBody>
      </p:sp>
      <p:sp>
        <p:nvSpPr>
          <p:cNvPr id="23" name="Text 20"/>
          <p:cNvSpPr txBox="1"/>
          <p:nvPr/>
        </p:nvSpPr>
        <p:spPr>
          <a:xfrm>
            <a:off x="6995160" y="2267712"/>
            <a:ext cx="2560320" cy="559308"/>
          </a:xfrm>
          <a:prstGeom prst="rect">
            <a:avLst/>
          </a:prstGeom>
          <a:noFill/>
          <a:ln/>
        </p:spPr>
        <p:txBody>
          <a:bodyPr wrap="square" lIns="0" tIns="0" rIns="0" bIns="0" rtlCol="0" anchor="ctr"/>
          <a:lstStyle/>
          <a:p>
            <a:pPr rtl="1" algn="ctr" indent="0" marL="0">
              <a:buNone/>
            </a:pPr>
            <a:r>
              <a:rPr lang="ar-SA" altLang="en-US" sz="1600" b="1" dirty="0">
                <a:solidFill>
                  <a:srgbClr val="1B3B6F"/>
                </a:solidFill>
                <a:latin typeface="Amiri" pitchFamily="2" charset="-78"/>
                <a:ea typeface="Amiri" pitchFamily="2" charset="-78"/>
                <a:cs typeface="Amiri" pitchFamily="2" charset="-78"/>
              </a:rPr>
              <a:t>اسْمُ أَبِي …</a:t>
            </a:r>
            <a:endParaRPr lang="ar-SA" sz="1600" dirty="0"/>
          </a:p>
        </p:txBody>
      </p:sp>
      <p:sp>
        <p:nvSpPr>
          <p:cNvPr id="24" name="Text 21"/>
          <p:cNvSpPr txBox="1"/>
          <p:nvPr/>
        </p:nvSpPr>
        <p:spPr>
          <a:xfrm>
            <a:off x="4636008" y="2267712"/>
            <a:ext cx="2194560" cy="559308"/>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What is your father’s name?</a:t>
            </a:r>
            <a:endParaRPr lang="en-US" sz="1100" dirty="0"/>
          </a:p>
        </p:txBody>
      </p:sp>
      <p:sp>
        <p:nvSpPr>
          <p:cNvPr id="25" name="Text 22"/>
          <p:cNvSpPr txBox="1"/>
          <p:nvPr/>
        </p:nvSpPr>
        <p:spPr>
          <a:xfrm>
            <a:off x="1051560" y="2267712"/>
            <a:ext cx="3383280" cy="559308"/>
          </a:xfrm>
          <a:prstGeom prst="rect">
            <a:avLst/>
          </a:prstGeom>
          <a:noFill/>
          <a:ln/>
        </p:spPr>
        <p:txBody>
          <a:bodyPr wrap="square" lIns="0" tIns="0" rIns="0" bIns="0" rtlCol="0" anchor="ctr"/>
          <a:lstStyle/>
          <a:p>
            <a:pPr rtl="1" algn="ctr" indent="0" marL="0">
              <a:buNone/>
            </a:pPr>
            <a:r>
              <a:rPr lang="ar-SA" altLang="en-US" sz="1700" b="1" dirty="0">
                <a:solidFill>
                  <a:srgbClr val="1B3B6F"/>
                </a:solidFill>
                <a:latin typeface="Amiri" pitchFamily="2" charset="-78"/>
                <a:ea typeface="Amiri" pitchFamily="2" charset="-78"/>
                <a:cs typeface="Amiri" pitchFamily="2" charset="-78"/>
              </a:rPr>
              <a:t>مَا اسْمُ أَبِيكَ؟</a:t>
            </a:r>
            <a:endParaRPr lang="ar-SA" sz="1700" dirty="0"/>
          </a:p>
        </p:txBody>
      </p:sp>
      <p:sp>
        <p:nvSpPr>
          <p:cNvPr id="26" name="Text 23"/>
          <p:cNvSpPr txBox="1"/>
          <p:nvPr/>
        </p:nvSpPr>
        <p:spPr>
          <a:xfrm>
            <a:off x="566928" y="2267712"/>
            <a:ext cx="320040" cy="559308"/>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1</a:t>
            </a:r>
            <a:endParaRPr lang="en-US" sz="1100" dirty="0"/>
          </a:p>
        </p:txBody>
      </p:sp>
      <p:sp>
        <p:nvSpPr>
          <p:cNvPr id="27" name="Shape 24"/>
          <p:cNvSpPr/>
          <p:nvPr/>
        </p:nvSpPr>
        <p:spPr>
          <a:xfrm>
            <a:off x="11091672" y="2313432"/>
            <a:ext cx="548640" cy="182880"/>
          </a:xfrm>
          <a:prstGeom prst="roundRect">
            <a:avLst>
              <a:gd name="adj" fmla="val 50000"/>
            </a:avLst>
          </a:prstGeom>
          <a:solidFill>
            <a:srgbClr val="2E8B57"/>
          </a:solidFill>
          <a:ln w="12700">
            <a:solidFill>
              <a:srgbClr val="2E8B57"/>
            </a:solidFill>
            <a:prstDash val="solid"/>
          </a:ln>
        </p:spPr>
      </p:sp>
      <p:sp>
        <p:nvSpPr>
          <p:cNvPr id="28" name="Text 25"/>
          <p:cNvSpPr txBox="1"/>
          <p:nvPr/>
        </p:nvSpPr>
        <p:spPr>
          <a:xfrm>
            <a:off x="11091672" y="2313432"/>
            <a:ext cx="548640" cy="182880"/>
          </a:xfrm>
          <a:prstGeom prst="rect">
            <a:avLst/>
          </a:prstGeom>
          <a:noFill/>
          <a:ln/>
        </p:spPr>
        <p:txBody>
          <a:bodyPr wrap="square" lIns="0" tIns="0" rIns="0" bIns="0" rtlCol="0" anchor="ctr"/>
          <a:lstStyle/>
          <a:p>
            <a:pPr algn="ctr" indent="0" marL="0">
              <a:buNone/>
            </a:pPr>
            <a:r>
              <a:rPr lang="en-US" sz="650" b="1" spc="100" kern="0" dirty="0">
                <a:solidFill>
                  <a:srgbClr val="FFFFFF"/>
                </a:solidFill>
                <a:latin typeface="Calibri" pitchFamily="34" charset="0"/>
                <a:cs typeface="Amiri" pitchFamily="2" charset="-78"/>
              </a:rPr>
              <a:t>CORE</a:t>
            </a:r>
            <a:endParaRPr lang="en-US" sz="650" dirty="0"/>
          </a:p>
        </p:txBody>
      </p:sp>
      <p:sp>
        <p:nvSpPr>
          <p:cNvPr id="29" name="Shape 26"/>
          <p:cNvSpPr/>
          <p:nvPr/>
        </p:nvSpPr>
        <p:spPr>
          <a:xfrm>
            <a:off x="457200" y="2881884"/>
            <a:ext cx="11274552" cy="559308"/>
          </a:xfrm>
          <a:prstGeom prst="roundRect">
            <a:avLst>
              <a:gd name="adj" fmla="val 8174"/>
            </a:avLst>
          </a:prstGeom>
          <a:solidFill>
            <a:srgbClr val="F4F1EA"/>
          </a:solidFill>
          <a:ln w="9525">
            <a:solidFill>
              <a:srgbClr val="D8D0BF"/>
            </a:solidFill>
            <a:prstDash val="solid"/>
          </a:ln>
        </p:spPr>
      </p:sp>
      <p:sp>
        <p:nvSpPr>
          <p:cNvPr id="30" name="Text 27"/>
          <p:cNvSpPr txBox="1"/>
          <p:nvPr/>
        </p:nvSpPr>
        <p:spPr>
          <a:xfrm>
            <a:off x="9738360" y="2881884"/>
            <a:ext cx="1901952" cy="559308"/>
          </a:xfrm>
          <a:prstGeom prst="rect">
            <a:avLst/>
          </a:prstGeom>
          <a:noFill/>
          <a:ln/>
        </p:spPr>
        <p:txBody>
          <a:bodyPr wrap="square" lIns="0" tIns="0" rIns="0" bIns="0" rtlCol="0" anchor="ctr"/>
          <a:lstStyle/>
          <a:p>
            <a:pPr rtl="1" algn="ctr" indent="0" marL="0">
              <a:buNone/>
            </a:pPr>
            <a:r>
              <a:rPr lang="ar-SA" altLang="en-US" sz="1500" b="1" dirty="0">
                <a:solidFill>
                  <a:srgbClr val="1B3B6F"/>
                </a:solidFill>
                <a:latin typeface="Amiri" pitchFamily="2" charset="-78"/>
                <a:ea typeface="Amiri" pitchFamily="2" charset="-78"/>
                <a:cs typeface="Amiri" pitchFamily="2" charset="-78"/>
              </a:rPr>
              <a:t>… وَشَعْرُهُ …</a:t>
            </a:r>
            <a:endParaRPr lang="ar-SA" sz="1500" dirty="0"/>
          </a:p>
        </p:txBody>
      </p:sp>
      <p:sp>
        <p:nvSpPr>
          <p:cNvPr id="31" name="Text 28"/>
          <p:cNvSpPr txBox="1"/>
          <p:nvPr/>
        </p:nvSpPr>
        <p:spPr>
          <a:xfrm>
            <a:off x="6995160" y="2881884"/>
            <a:ext cx="2560320" cy="559308"/>
          </a:xfrm>
          <a:prstGeom prst="rect">
            <a:avLst/>
          </a:prstGeom>
          <a:noFill/>
          <a:ln/>
        </p:spPr>
        <p:txBody>
          <a:bodyPr wrap="square" lIns="0" tIns="0" rIns="0" bIns="0" rtlCol="0" anchor="ctr"/>
          <a:lstStyle/>
          <a:p>
            <a:pPr rtl="1" algn="ctr" indent="0" marL="0">
              <a:buNone/>
            </a:pPr>
            <a:r>
              <a:rPr lang="ar-SA" altLang="en-US" sz="1600" b="1" dirty="0">
                <a:solidFill>
                  <a:srgbClr val="1B3B6F"/>
                </a:solidFill>
                <a:latin typeface="Amiri" pitchFamily="2" charset="-78"/>
                <a:ea typeface="Amiri" pitchFamily="2" charset="-78"/>
                <a:cs typeface="Amiri" pitchFamily="2" charset="-78"/>
              </a:rPr>
              <a:t>أَبِي …</a:t>
            </a:r>
            <a:endParaRPr lang="ar-SA" sz="1600" dirty="0"/>
          </a:p>
        </p:txBody>
      </p:sp>
      <p:sp>
        <p:nvSpPr>
          <p:cNvPr id="32" name="Text 29"/>
          <p:cNvSpPr txBox="1"/>
          <p:nvPr/>
        </p:nvSpPr>
        <p:spPr>
          <a:xfrm>
            <a:off x="4636008" y="2881884"/>
            <a:ext cx="2194560" cy="559308"/>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Is your father tall or short?</a:t>
            </a:r>
            <a:endParaRPr lang="en-US" sz="1100" dirty="0"/>
          </a:p>
        </p:txBody>
      </p:sp>
      <p:sp>
        <p:nvSpPr>
          <p:cNvPr id="33" name="Text 30"/>
          <p:cNvSpPr txBox="1"/>
          <p:nvPr/>
        </p:nvSpPr>
        <p:spPr>
          <a:xfrm>
            <a:off x="1051560" y="2881884"/>
            <a:ext cx="3383280" cy="559308"/>
          </a:xfrm>
          <a:prstGeom prst="rect">
            <a:avLst/>
          </a:prstGeom>
          <a:noFill/>
          <a:ln/>
        </p:spPr>
        <p:txBody>
          <a:bodyPr wrap="square" lIns="0" tIns="0" rIns="0" bIns="0" rtlCol="0" anchor="ctr"/>
          <a:lstStyle/>
          <a:p>
            <a:pPr rtl="1" algn="ctr" indent="0" marL="0">
              <a:buNone/>
            </a:pPr>
            <a:r>
              <a:rPr lang="ar-SA" altLang="en-US" sz="1700" b="1" dirty="0">
                <a:solidFill>
                  <a:srgbClr val="1B3B6F"/>
                </a:solidFill>
                <a:latin typeface="Amiri" pitchFamily="2" charset="-78"/>
                <a:ea typeface="Amiri" pitchFamily="2" charset="-78"/>
                <a:cs typeface="Amiri" pitchFamily="2" charset="-78"/>
              </a:rPr>
              <a:t>هَلْ أَبُوكَ طَوِيلٌ أَمْ قَصِيرٌ؟</a:t>
            </a:r>
            <a:endParaRPr lang="ar-SA" sz="1700" dirty="0"/>
          </a:p>
        </p:txBody>
      </p:sp>
      <p:sp>
        <p:nvSpPr>
          <p:cNvPr id="34" name="Text 31"/>
          <p:cNvSpPr txBox="1"/>
          <p:nvPr/>
        </p:nvSpPr>
        <p:spPr>
          <a:xfrm>
            <a:off x="566928" y="2881884"/>
            <a:ext cx="320040" cy="559308"/>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2</a:t>
            </a:r>
            <a:endParaRPr lang="en-US" sz="1100" dirty="0"/>
          </a:p>
        </p:txBody>
      </p:sp>
      <p:sp>
        <p:nvSpPr>
          <p:cNvPr id="35" name="Shape 32"/>
          <p:cNvSpPr/>
          <p:nvPr/>
        </p:nvSpPr>
        <p:spPr>
          <a:xfrm>
            <a:off x="11091672" y="2927604"/>
            <a:ext cx="548640" cy="182880"/>
          </a:xfrm>
          <a:prstGeom prst="roundRect">
            <a:avLst>
              <a:gd name="adj" fmla="val 50000"/>
            </a:avLst>
          </a:prstGeom>
          <a:solidFill>
            <a:srgbClr val="2E8B57"/>
          </a:solidFill>
          <a:ln w="12700">
            <a:solidFill>
              <a:srgbClr val="2E8B57"/>
            </a:solidFill>
            <a:prstDash val="solid"/>
          </a:ln>
        </p:spPr>
      </p:sp>
      <p:sp>
        <p:nvSpPr>
          <p:cNvPr id="36" name="Text 33"/>
          <p:cNvSpPr txBox="1"/>
          <p:nvPr/>
        </p:nvSpPr>
        <p:spPr>
          <a:xfrm>
            <a:off x="11091672" y="2927604"/>
            <a:ext cx="548640" cy="182880"/>
          </a:xfrm>
          <a:prstGeom prst="rect">
            <a:avLst/>
          </a:prstGeom>
          <a:noFill/>
          <a:ln/>
        </p:spPr>
        <p:txBody>
          <a:bodyPr wrap="square" lIns="0" tIns="0" rIns="0" bIns="0" rtlCol="0" anchor="ctr"/>
          <a:lstStyle/>
          <a:p>
            <a:pPr algn="ctr" indent="0" marL="0">
              <a:buNone/>
            </a:pPr>
            <a:r>
              <a:rPr lang="en-US" sz="650" b="1" spc="100" kern="0" dirty="0">
                <a:solidFill>
                  <a:srgbClr val="FFFFFF"/>
                </a:solidFill>
                <a:latin typeface="Calibri" pitchFamily="34" charset="0"/>
                <a:cs typeface="Amiri" pitchFamily="2" charset="-78"/>
              </a:rPr>
              <a:t>CORE</a:t>
            </a:r>
            <a:endParaRPr lang="en-US" sz="650" dirty="0"/>
          </a:p>
        </p:txBody>
      </p:sp>
      <p:sp>
        <p:nvSpPr>
          <p:cNvPr id="37" name="Shape 34"/>
          <p:cNvSpPr/>
          <p:nvPr/>
        </p:nvSpPr>
        <p:spPr>
          <a:xfrm>
            <a:off x="457200" y="3496056"/>
            <a:ext cx="11274552" cy="559308"/>
          </a:xfrm>
          <a:prstGeom prst="roundRect">
            <a:avLst>
              <a:gd name="adj" fmla="val 8174"/>
            </a:avLst>
          </a:prstGeom>
          <a:solidFill>
            <a:srgbClr val="FFFFFF"/>
          </a:solidFill>
          <a:ln w="9525">
            <a:solidFill>
              <a:srgbClr val="D8D0BF"/>
            </a:solidFill>
            <a:prstDash val="solid"/>
          </a:ln>
        </p:spPr>
      </p:sp>
      <p:sp>
        <p:nvSpPr>
          <p:cNvPr id="38" name="Text 35"/>
          <p:cNvSpPr txBox="1"/>
          <p:nvPr/>
        </p:nvSpPr>
        <p:spPr>
          <a:xfrm>
            <a:off x="9738360" y="3496056"/>
            <a:ext cx="1901952" cy="559308"/>
          </a:xfrm>
          <a:prstGeom prst="rect">
            <a:avLst/>
          </a:prstGeom>
          <a:noFill/>
          <a:ln/>
        </p:spPr>
        <p:txBody>
          <a:bodyPr wrap="square" lIns="0" tIns="0" rIns="0" bIns="0" rtlCol="0" anchor="ctr"/>
          <a:lstStyle/>
          <a:p>
            <a:pPr rtl="1" algn="ctr" indent="0" marL="0">
              <a:buNone/>
            </a:pPr>
            <a:r>
              <a:rPr lang="ar-SA" altLang="en-US" sz="1500" b="1" dirty="0">
                <a:solidFill>
                  <a:srgbClr val="1B3B6F"/>
                </a:solidFill>
                <a:latin typeface="Amiri" pitchFamily="2" charset="-78"/>
                <a:ea typeface="Amiri" pitchFamily="2" charset="-78"/>
                <a:cs typeface="Amiri" pitchFamily="2" charset="-78"/>
              </a:rPr>
              <a:t>… وَهِيَ …</a:t>
            </a:r>
            <a:endParaRPr lang="ar-SA" sz="1500" dirty="0"/>
          </a:p>
        </p:txBody>
      </p:sp>
      <p:sp>
        <p:nvSpPr>
          <p:cNvPr id="39" name="Text 36"/>
          <p:cNvSpPr txBox="1"/>
          <p:nvPr/>
        </p:nvSpPr>
        <p:spPr>
          <a:xfrm>
            <a:off x="6995160" y="3496056"/>
            <a:ext cx="2560320" cy="559308"/>
          </a:xfrm>
          <a:prstGeom prst="rect">
            <a:avLst/>
          </a:prstGeom>
          <a:noFill/>
          <a:ln/>
        </p:spPr>
        <p:txBody>
          <a:bodyPr wrap="square" lIns="0" tIns="0" rIns="0" bIns="0" rtlCol="0" anchor="ctr"/>
          <a:lstStyle/>
          <a:p>
            <a:pPr rtl="1" algn="ctr" indent="0" marL="0">
              <a:buNone/>
            </a:pPr>
            <a:r>
              <a:rPr lang="ar-SA" altLang="en-US" sz="1600" b="1" dirty="0">
                <a:solidFill>
                  <a:srgbClr val="1B3B6F"/>
                </a:solidFill>
                <a:latin typeface="Amiri" pitchFamily="2" charset="-78"/>
                <a:ea typeface="Amiri" pitchFamily="2" charset="-78"/>
                <a:cs typeface="Amiri" pitchFamily="2" charset="-78"/>
              </a:rPr>
              <a:t>اسْمُ أُمِّي …</a:t>
            </a:r>
            <a:endParaRPr lang="ar-SA" sz="1600" dirty="0"/>
          </a:p>
        </p:txBody>
      </p:sp>
      <p:sp>
        <p:nvSpPr>
          <p:cNvPr id="40" name="Text 37"/>
          <p:cNvSpPr txBox="1"/>
          <p:nvPr/>
        </p:nvSpPr>
        <p:spPr>
          <a:xfrm>
            <a:off x="4636008" y="3496056"/>
            <a:ext cx="2194560" cy="559308"/>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What is your mother’s name?</a:t>
            </a:r>
            <a:endParaRPr lang="en-US" sz="1100" dirty="0"/>
          </a:p>
        </p:txBody>
      </p:sp>
      <p:sp>
        <p:nvSpPr>
          <p:cNvPr id="41" name="Text 38"/>
          <p:cNvSpPr txBox="1"/>
          <p:nvPr/>
        </p:nvSpPr>
        <p:spPr>
          <a:xfrm>
            <a:off x="1051560" y="3496056"/>
            <a:ext cx="3383280" cy="559308"/>
          </a:xfrm>
          <a:prstGeom prst="rect">
            <a:avLst/>
          </a:prstGeom>
          <a:noFill/>
          <a:ln/>
        </p:spPr>
        <p:txBody>
          <a:bodyPr wrap="square" lIns="0" tIns="0" rIns="0" bIns="0" rtlCol="0" anchor="ctr"/>
          <a:lstStyle/>
          <a:p>
            <a:pPr rtl="1" algn="ctr" indent="0" marL="0">
              <a:buNone/>
            </a:pPr>
            <a:r>
              <a:rPr lang="ar-SA" altLang="en-US" sz="1700" b="1" dirty="0">
                <a:solidFill>
                  <a:srgbClr val="1B3B6F"/>
                </a:solidFill>
                <a:latin typeface="Amiri" pitchFamily="2" charset="-78"/>
                <a:ea typeface="Amiri" pitchFamily="2" charset="-78"/>
                <a:cs typeface="Amiri" pitchFamily="2" charset="-78"/>
              </a:rPr>
              <a:t>مَا اسْمُ أُمِّكَ؟</a:t>
            </a:r>
            <a:endParaRPr lang="ar-SA" sz="1700" dirty="0"/>
          </a:p>
        </p:txBody>
      </p:sp>
      <p:sp>
        <p:nvSpPr>
          <p:cNvPr id="42" name="Text 39"/>
          <p:cNvSpPr txBox="1"/>
          <p:nvPr/>
        </p:nvSpPr>
        <p:spPr>
          <a:xfrm>
            <a:off x="566928" y="3496056"/>
            <a:ext cx="320040" cy="559308"/>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3</a:t>
            </a:r>
            <a:endParaRPr lang="en-US" sz="1100" dirty="0"/>
          </a:p>
        </p:txBody>
      </p:sp>
      <p:sp>
        <p:nvSpPr>
          <p:cNvPr id="43" name="Shape 40"/>
          <p:cNvSpPr/>
          <p:nvPr/>
        </p:nvSpPr>
        <p:spPr>
          <a:xfrm>
            <a:off x="11091672" y="3541776"/>
            <a:ext cx="548640" cy="182880"/>
          </a:xfrm>
          <a:prstGeom prst="roundRect">
            <a:avLst>
              <a:gd name="adj" fmla="val 50000"/>
            </a:avLst>
          </a:prstGeom>
          <a:solidFill>
            <a:srgbClr val="2E8B57"/>
          </a:solidFill>
          <a:ln w="12700">
            <a:solidFill>
              <a:srgbClr val="2E8B57"/>
            </a:solidFill>
            <a:prstDash val="solid"/>
          </a:ln>
        </p:spPr>
      </p:sp>
      <p:sp>
        <p:nvSpPr>
          <p:cNvPr id="44" name="Text 41"/>
          <p:cNvSpPr txBox="1"/>
          <p:nvPr/>
        </p:nvSpPr>
        <p:spPr>
          <a:xfrm>
            <a:off x="11091672" y="3541776"/>
            <a:ext cx="548640" cy="182880"/>
          </a:xfrm>
          <a:prstGeom prst="rect">
            <a:avLst/>
          </a:prstGeom>
          <a:noFill/>
          <a:ln/>
        </p:spPr>
        <p:txBody>
          <a:bodyPr wrap="square" lIns="0" tIns="0" rIns="0" bIns="0" rtlCol="0" anchor="ctr"/>
          <a:lstStyle/>
          <a:p>
            <a:pPr algn="ctr" indent="0" marL="0">
              <a:buNone/>
            </a:pPr>
            <a:r>
              <a:rPr lang="en-US" sz="650" b="1" spc="100" kern="0" dirty="0">
                <a:solidFill>
                  <a:srgbClr val="FFFFFF"/>
                </a:solidFill>
                <a:latin typeface="Calibri" pitchFamily="34" charset="0"/>
                <a:cs typeface="Amiri" pitchFamily="2" charset="-78"/>
              </a:rPr>
              <a:t>CORE</a:t>
            </a:r>
            <a:endParaRPr lang="en-US" sz="650" dirty="0"/>
          </a:p>
        </p:txBody>
      </p:sp>
      <p:sp>
        <p:nvSpPr>
          <p:cNvPr id="45" name="Shape 42"/>
          <p:cNvSpPr/>
          <p:nvPr/>
        </p:nvSpPr>
        <p:spPr>
          <a:xfrm>
            <a:off x="457200" y="4110228"/>
            <a:ext cx="11274552" cy="559308"/>
          </a:xfrm>
          <a:prstGeom prst="roundRect">
            <a:avLst>
              <a:gd name="adj" fmla="val 8174"/>
            </a:avLst>
          </a:prstGeom>
          <a:solidFill>
            <a:srgbClr val="F4F1EA"/>
          </a:solidFill>
          <a:ln w="9525">
            <a:solidFill>
              <a:srgbClr val="D8D0BF"/>
            </a:solidFill>
            <a:prstDash val="solid"/>
          </a:ln>
        </p:spPr>
      </p:sp>
      <p:sp>
        <p:nvSpPr>
          <p:cNvPr id="46" name="Text 43"/>
          <p:cNvSpPr txBox="1"/>
          <p:nvPr/>
        </p:nvSpPr>
        <p:spPr>
          <a:xfrm>
            <a:off x="9738360" y="4110228"/>
            <a:ext cx="1901952" cy="559308"/>
          </a:xfrm>
          <a:prstGeom prst="rect">
            <a:avLst/>
          </a:prstGeom>
          <a:noFill/>
          <a:ln/>
        </p:spPr>
        <p:txBody>
          <a:bodyPr wrap="square" lIns="0" tIns="0" rIns="0" bIns="0" rtlCol="0" anchor="ctr"/>
          <a:lstStyle/>
          <a:p>
            <a:pPr rtl="1" algn="ctr" indent="0" marL="0">
              <a:buNone/>
            </a:pPr>
            <a:r>
              <a:rPr lang="ar-SA" altLang="en-US" sz="1500" b="1" dirty="0">
                <a:solidFill>
                  <a:srgbClr val="1B3B6F"/>
                </a:solidFill>
                <a:latin typeface="Amiri" pitchFamily="2" charset="-78"/>
                <a:ea typeface="Amiri" pitchFamily="2" charset="-78"/>
                <a:cs typeface="Amiri" pitchFamily="2" charset="-78"/>
              </a:rPr>
              <a:t>… وَعَيْنَاهَا …</a:t>
            </a:r>
            <a:endParaRPr lang="ar-SA" sz="1500" dirty="0"/>
          </a:p>
        </p:txBody>
      </p:sp>
      <p:sp>
        <p:nvSpPr>
          <p:cNvPr id="47" name="Text 44"/>
          <p:cNvSpPr txBox="1"/>
          <p:nvPr/>
        </p:nvSpPr>
        <p:spPr>
          <a:xfrm>
            <a:off x="6995160" y="4110228"/>
            <a:ext cx="2560320" cy="559308"/>
          </a:xfrm>
          <a:prstGeom prst="rect">
            <a:avLst/>
          </a:prstGeom>
          <a:noFill/>
          <a:ln/>
        </p:spPr>
        <p:txBody>
          <a:bodyPr wrap="square" lIns="0" tIns="0" rIns="0" bIns="0" rtlCol="0" anchor="ctr"/>
          <a:lstStyle/>
          <a:p>
            <a:pPr rtl="1" algn="ctr" indent="0" marL="0">
              <a:buNone/>
            </a:pPr>
            <a:r>
              <a:rPr lang="ar-SA" altLang="en-US" sz="1600" b="1" dirty="0">
                <a:solidFill>
                  <a:srgbClr val="1B3B6F"/>
                </a:solidFill>
                <a:latin typeface="Amiri" pitchFamily="2" charset="-78"/>
                <a:ea typeface="Amiri" pitchFamily="2" charset="-78"/>
                <a:cs typeface="Amiri" pitchFamily="2" charset="-78"/>
              </a:rPr>
              <a:t>أُمِّي …</a:t>
            </a:r>
            <a:endParaRPr lang="ar-SA" sz="1600" dirty="0"/>
          </a:p>
        </p:txBody>
      </p:sp>
      <p:sp>
        <p:nvSpPr>
          <p:cNvPr id="48" name="Text 45"/>
          <p:cNvSpPr txBox="1"/>
          <p:nvPr/>
        </p:nvSpPr>
        <p:spPr>
          <a:xfrm>
            <a:off x="4636008" y="4110228"/>
            <a:ext cx="2194560" cy="559308"/>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What does your mother look like?</a:t>
            </a:r>
            <a:endParaRPr lang="en-US" sz="1100" dirty="0"/>
          </a:p>
        </p:txBody>
      </p:sp>
      <p:sp>
        <p:nvSpPr>
          <p:cNvPr id="49" name="Text 46"/>
          <p:cNvSpPr txBox="1"/>
          <p:nvPr/>
        </p:nvSpPr>
        <p:spPr>
          <a:xfrm>
            <a:off x="1051560" y="4110228"/>
            <a:ext cx="3383280" cy="559308"/>
          </a:xfrm>
          <a:prstGeom prst="rect">
            <a:avLst/>
          </a:prstGeom>
          <a:noFill/>
          <a:ln/>
        </p:spPr>
        <p:txBody>
          <a:bodyPr wrap="square" lIns="0" tIns="0" rIns="0" bIns="0" rtlCol="0" anchor="ctr"/>
          <a:lstStyle/>
          <a:p>
            <a:pPr rtl="1" algn="ctr" indent="0" marL="0">
              <a:buNone/>
            </a:pPr>
            <a:r>
              <a:rPr lang="ar-SA" altLang="en-US" sz="1700" b="1" dirty="0">
                <a:solidFill>
                  <a:srgbClr val="1B3B6F"/>
                </a:solidFill>
                <a:latin typeface="Amiri" pitchFamily="2" charset="-78"/>
                <a:ea typeface="Amiri" pitchFamily="2" charset="-78"/>
                <a:cs typeface="Amiri" pitchFamily="2" charset="-78"/>
              </a:rPr>
              <a:t>كَيْفَ تَبْدُو أُمُّكَ؟</a:t>
            </a:r>
            <a:endParaRPr lang="ar-SA" sz="1700" dirty="0"/>
          </a:p>
        </p:txBody>
      </p:sp>
      <p:sp>
        <p:nvSpPr>
          <p:cNvPr id="50" name="Text 47"/>
          <p:cNvSpPr txBox="1"/>
          <p:nvPr/>
        </p:nvSpPr>
        <p:spPr>
          <a:xfrm>
            <a:off x="566928" y="4110228"/>
            <a:ext cx="320040" cy="559308"/>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4</a:t>
            </a:r>
            <a:endParaRPr lang="en-US" sz="1100" dirty="0"/>
          </a:p>
        </p:txBody>
      </p:sp>
      <p:sp>
        <p:nvSpPr>
          <p:cNvPr id="51" name="Shape 48"/>
          <p:cNvSpPr/>
          <p:nvPr/>
        </p:nvSpPr>
        <p:spPr>
          <a:xfrm>
            <a:off x="11091672" y="4155948"/>
            <a:ext cx="548640" cy="182880"/>
          </a:xfrm>
          <a:prstGeom prst="roundRect">
            <a:avLst>
              <a:gd name="adj" fmla="val 50000"/>
            </a:avLst>
          </a:prstGeom>
          <a:solidFill>
            <a:srgbClr val="2E8B57"/>
          </a:solidFill>
          <a:ln w="12700">
            <a:solidFill>
              <a:srgbClr val="2E8B57"/>
            </a:solidFill>
            <a:prstDash val="solid"/>
          </a:ln>
        </p:spPr>
      </p:sp>
      <p:sp>
        <p:nvSpPr>
          <p:cNvPr id="52" name="Text 49"/>
          <p:cNvSpPr txBox="1"/>
          <p:nvPr/>
        </p:nvSpPr>
        <p:spPr>
          <a:xfrm>
            <a:off x="11091672" y="4155948"/>
            <a:ext cx="548640" cy="182880"/>
          </a:xfrm>
          <a:prstGeom prst="rect">
            <a:avLst/>
          </a:prstGeom>
          <a:noFill/>
          <a:ln/>
        </p:spPr>
        <p:txBody>
          <a:bodyPr wrap="square" lIns="0" tIns="0" rIns="0" bIns="0" rtlCol="0" anchor="ctr"/>
          <a:lstStyle/>
          <a:p>
            <a:pPr algn="ctr" indent="0" marL="0">
              <a:buNone/>
            </a:pPr>
            <a:r>
              <a:rPr lang="en-US" sz="650" b="1" spc="100" kern="0" dirty="0">
                <a:solidFill>
                  <a:srgbClr val="FFFFFF"/>
                </a:solidFill>
                <a:latin typeface="Calibri" pitchFamily="34" charset="0"/>
                <a:cs typeface="Amiri" pitchFamily="2" charset="-78"/>
              </a:rPr>
              <a:t>CORE</a:t>
            </a:r>
            <a:endParaRPr lang="en-US" sz="650" dirty="0"/>
          </a:p>
        </p:txBody>
      </p:sp>
      <p:sp>
        <p:nvSpPr>
          <p:cNvPr id="53" name="Shape 50"/>
          <p:cNvSpPr/>
          <p:nvPr/>
        </p:nvSpPr>
        <p:spPr>
          <a:xfrm>
            <a:off x="457200" y="4724400"/>
            <a:ext cx="11274552" cy="559308"/>
          </a:xfrm>
          <a:prstGeom prst="roundRect">
            <a:avLst>
              <a:gd name="adj" fmla="val 8174"/>
            </a:avLst>
          </a:prstGeom>
          <a:solidFill>
            <a:srgbClr val="FFFFFF"/>
          </a:solidFill>
          <a:ln w="9525">
            <a:solidFill>
              <a:srgbClr val="D8D0BF"/>
            </a:solidFill>
            <a:prstDash val="solid"/>
          </a:ln>
        </p:spPr>
      </p:sp>
      <p:sp>
        <p:nvSpPr>
          <p:cNvPr id="54" name="Text 51"/>
          <p:cNvSpPr txBox="1"/>
          <p:nvPr/>
        </p:nvSpPr>
        <p:spPr>
          <a:xfrm>
            <a:off x="9738360" y="4724400"/>
            <a:ext cx="1901952" cy="559308"/>
          </a:xfrm>
          <a:prstGeom prst="rect">
            <a:avLst/>
          </a:prstGeom>
          <a:noFill/>
          <a:ln/>
        </p:spPr>
        <p:txBody>
          <a:bodyPr wrap="square" lIns="0" tIns="0" rIns="0" bIns="0" rtlCol="0" anchor="ctr"/>
          <a:lstStyle/>
          <a:p>
            <a:pPr rtl="1" algn="ctr" indent="0" marL="0">
              <a:buNone/>
            </a:pPr>
            <a:r>
              <a:rPr lang="ar-SA" altLang="en-US" sz="1500" b="1" dirty="0">
                <a:solidFill>
                  <a:srgbClr val="1B3B6F"/>
                </a:solidFill>
                <a:latin typeface="Amiri" pitchFamily="2" charset="-78"/>
                <a:ea typeface="Amiri" pitchFamily="2" charset="-78"/>
                <a:cs typeface="Amiri" pitchFamily="2" charset="-78"/>
              </a:rPr>
              <a:t>… اسْمُهُ / اسْمُهَا …</a:t>
            </a:r>
            <a:endParaRPr lang="ar-SA" sz="1500" dirty="0"/>
          </a:p>
        </p:txBody>
      </p:sp>
      <p:sp>
        <p:nvSpPr>
          <p:cNvPr id="55" name="Text 52"/>
          <p:cNvSpPr txBox="1"/>
          <p:nvPr/>
        </p:nvSpPr>
        <p:spPr>
          <a:xfrm>
            <a:off x="6995160" y="4724400"/>
            <a:ext cx="2560320" cy="559308"/>
          </a:xfrm>
          <a:prstGeom prst="rect">
            <a:avLst/>
          </a:prstGeom>
          <a:noFill/>
          <a:ln/>
        </p:spPr>
        <p:txBody>
          <a:bodyPr wrap="square" lIns="0" tIns="0" rIns="0" bIns="0" rtlCol="0" anchor="ctr"/>
          <a:lstStyle/>
          <a:p>
            <a:pPr rtl="1" algn="ctr" indent="0" marL="0">
              <a:buNone/>
            </a:pPr>
            <a:r>
              <a:rPr lang="ar-SA" altLang="en-US" sz="1600" b="1" dirty="0">
                <a:solidFill>
                  <a:srgbClr val="1B3B6F"/>
                </a:solidFill>
                <a:latin typeface="Amiri" pitchFamily="2" charset="-78"/>
                <a:ea typeface="Amiri" pitchFamily="2" charset="-78"/>
                <a:cs typeface="Amiri" pitchFamily="2" charset="-78"/>
              </a:rPr>
              <a:t>عِنْدِي …</a:t>
            </a:r>
            <a:endParaRPr lang="ar-SA" sz="1600" dirty="0"/>
          </a:p>
        </p:txBody>
      </p:sp>
      <p:sp>
        <p:nvSpPr>
          <p:cNvPr id="56" name="Text 53"/>
          <p:cNvSpPr txBox="1"/>
          <p:nvPr/>
        </p:nvSpPr>
        <p:spPr>
          <a:xfrm>
            <a:off x="4636008" y="4724400"/>
            <a:ext cx="2194560" cy="559308"/>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How many brothers and sisters do you have?</a:t>
            </a:r>
            <a:endParaRPr lang="en-US" sz="1100" dirty="0"/>
          </a:p>
        </p:txBody>
      </p:sp>
      <p:sp>
        <p:nvSpPr>
          <p:cNvPr id="57" name="Text 54"/>
          <p:cNvSpPr txBox="1"/>
          <p:nvPr/>
        </p:nvSpPr>
        <p:spPr>
          <a:xfrm>
            <a:off x="1051560" y="4724400"/>
            <a:ext cx="3383280" cy="559308"/>
          </a:xfrm>
          <a:prstGeom prst="rect">
            <a:avLst/>
          </a:prstGeom>
          <a:noFill/>
          <a:ln/>
        </p:spPr>
        <p:txBody>
          <a:bodyPr wrap="square" lIns="0" tIns="0" rIns="0" bIns="0" rtlCol="0" anchor="ctr"/>
          <a:lstStyle/>
          <a:p>
            <a:pPr rtl="1" algn="ctr" indent="0" marL="0">
              <a:buNone/>
            </a:pPr>
            <a:r>
              <a:rPr lang="ar-SA" altLang="en-US" sz="1700" b="1" dirty="0">
                <a:solidFill>
                  <a:srgbClr val="1B3B6F"/>
                </a:solidFill>
                <a:latin typeface="Amiri" pitchFamily="2" charset="-78"/>
                <a:ea typeface="Amiri" pitchFamily="2" charset="-78"/>
                <a:cs typeface="Amiri" pitchFamily="2" charset="-78"/>
              </a:rPr>
              <a:t>كَمْ أَخًا وَأُخْتًا عِنْدَكَ؟</a:t>
            </a:r>
            <a:endParaRPr lang="ar-SA" sz="1700" dirty="0"/>
          </a:p>
        </p:txBody>
      </p:sp>
      <p:sp>
        <p:nvSpPr>
          <p:cNvPr id="58" name="Text 55"/>
          <p:cNvSpPr txBox="1"/>
          <p:nvPr/>
        </p:nvSpPr>
        <p:spPr>
          <a:xfrm>
            <a:off x="566928" y="4724400"/>
            <a:ext cx="320040" cy="559308"/>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5</a:t>
            </a:r>
            <a:endParaRPr lang="en-US" sz="1100" dirty="0"/>
          </a:p>
        </p:txBody>
      </p:sp>
      <p:sp>
        <p:nvSpPr>
          <p:cNvPr id="59" name="Shape 56"/>
          <p:cNvSpPr/>
          <p:nvPr/>
        </p:nvSpPr>
        <p:spPr>
          <a:xfrm>
            <a:off x="457200" y="5338572"/>
            <a:ext cx="11274552" cy="559308"/>
          </a:xfrm>
          <a:prstGeom prst="roundRect">
            <a:avLst>
              <a:gd name="adj" fmla="val 8174"/>
            </a:avLst>
          </a:prstGeom>
          <a:solidFill>
            <a:srgbClr val="F4F1EA"/>
          </a:solidFill>
          <a:ln w="9525">
            <a:solidFill>
              <a:srgbClr val="D8D0BF"/>
            </a:solidFill>
            <a:prstDash val="solid"/>
          </a:ln>
        </p:spPr>
      </p:sp>
      <p:sp>
        <p:nvSpPr>
          <p:cNvPr id="60" name="Text 57"/>
          <p:cNvSpPr txBox="1"/>
          <p:nvPr/>
        </p:nvSpPr>
        <p:spPr>
          <a:xfrm>
            <a:off x="9738360" y="5338572"/>
            <a:ext cx="1901952" cy="559308"/>
          </a:xfrm>
          <a:prstGeom prst="rect">
            <a:avLst/>
          </a:prstGeom>
          <a:noFill/>
          <a:ln/>
        </p:spPr>
        <p:txBody>
          <a:bodyPr wrap="square" lIns="0" tIns="0" rIns="0" bIns="0" rtlCol="0" anchor="ctr"/>
          <a:lstStyle/>
          <a:p>
            <a:pPr rtl="1" algn="ctr" indent="0" marL="0">
              <a:buNone/>
            </a:pPr>
            <a:r>
              <a:rPr lang="ar-SA" altLang="en-US" sz="1500" b="1" dirty="0">
                <a:solidFill>
                  <a:srgbClr val="1B3B6F"/>
                </a:solidFill>
                <a:latin typeface="Amiri" pitchFamily="2" charset="-78"/>
                <a:ea typeface="Amiri" pitchFamily="2" charset="-78"/>
                <a:cs typeface="Amiri" pitchFamily="2" charset="-78"/>
              </a:rPr>
              <a:t>… لِأَنَّهُ …</a:t>
            </a:r>
            <a:endParaRPr lang="ar-SA" sz="1500" dirty="0"/>
          </a:p>
        </p:txBody>
      </p:sp>
      <p:sp>
        <p:nvSpPr>
          <p:cNvPr id="61" name="Text 58"/>
          <p:cNvSpPr txBox="1"/>
          <p:nvPr/>
        </p:nvSpPr>
        <p:spPr>
          <a:xfrm>
            <a:off x="6995160" y="5338572"/>
            <a:ext cx="2560320" cy="559308"/>
          </a:xfrm>
          <a:prstGeom prst="rect">
            <a:avLst/>
          </a:prstGeom>
          <a:noFill/>
          <a:ln/>
        </p:spPr>
        <p:txBody>
          <a:bodyPr wrap="square" lIns="0" tIns="0" rIns="0" bIns="0" rtlCol="0" anchor="ctr"/>
          <a:lstStyle/>
          <a:p>
            <a:pPr rtl="1" algn="ctr" indent="0" marL="0">
              <a:buNone/>
            </a:pPr>
            <a:r>
              <a:rPr lang="ar-SA" altLang="en-US" sz="1600" b="1" dirty="0">
                <a:solidFill>
                  <a:srgbClr val="1B3B6F"/>
                </a:solidFill>
                <a:latin typeface="Amiri" pitchFamily="2" charset="-78"/>
                <a:ea typeface="Amiri" pitchFamily="2" charset="-78"/>
                <a:cs typeface="Amiri" pitchFamily="2" charset="-78"/>
              </a:rPr>
              <a:t>… ← أَخِي / خَالِي … مُضْحِكٌ جِدًّا</a:t>
            </a:r>
            <a:endParaRPr lang="ar-SA" sz="1600" dirty="0"/>
          </a:p>
        </p:txBody>
      </p:sp>
      <p:sp>
        <p:nvSpPr>
          <p:cNvPr id="62" name="Text 59"/>
          <p:cNvSpPr txBox="1"/>
          <p:nvPr/>
        </p:nvSpPr>
        <p:spPr>
          <a:xfrm>
            <a:off x="4636008" y="5338572"/>
            <a:ext cx="2194560" cy="559308"/>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Who is the funniest person in your family?</a:t>
            </a:r>
            <a:endParaRPr lang="en-US" sz="1100" dirty="0"/>
          </a:p>
        </p:txBody>
      </p:sp>
      <p:sp>
        <p:nvSpPr>
          <p:cNvPr id="63" name="Text 60"/>
          <p:cNvSpPr txBox="1"/>
          <p:nvPr/>
        </p:nvSpPr>
        <p:spPr>
          <a:xfrm>
            <a:off x="1051560" y="5338572"/>
            <a:ext cx="3383280" cy="559308"/>
          </a:xfrm>
          <a:prstGeom prst="rect">
            <a:avLst/>
          </a:prstGeom>
          <a:noFill/>
          <a:ln/>
        </p:spPr>
        <p:txBody>
          <a:bodyPr wrap="square" lIns="0" tIns="0" rIns="0" bIns="0" rtlCol="0" anchor="ctr"/>
          <a:lstStyle/>
          <a:p>
            <a:pPr rtl="1" algn="ctr" indent="0" marL="0">
              <a:buNone/>
            </a:pPr>
            <a:r>
              <a:rPr lang="ar-SA" altLang="en-US" sz="1700" b="1" dirty="0">
                <a:solidFill>
                  <a:srgbClr val="1B3B6F"/>
                </a:solidFill>
                <a:latin typeface="Amiri" pitchFamily="2" charset="-78"/>
                <a:ea typeface="Amiri" pitchFamily="2" charset="-78"/>
                <a:cs typeface="Amiri" pitchFamily="2" charset="-78"/>
              </a:rPr>
              <a:t>مَنْ أَكْثَرُ شَخْصٍ مُضْحِكٍ فِي عَائِلَتِكَ؟</a:t>
            </a:r>
            <a:endParaRPr lang="ar-SA" sz="1700" dirty="0"/>
          </a:p>
        </p:txBody>
      </p:sp>
      <p:sp>
        <p:nvSpPr>
          <p:cNvPr id="64" name="Text 61"/>
          <p:cNvSpPr txBox="1"/>
          <p:nvPr/>
        </p:nvSpPr>
        <p:spPr>
          <a:xfrm>
            <a:off x="566928" y="5338572"/>
            <a:ext cx="320040" cy="559308"/>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6</a:t>
            </a:r>
            <a:endParaRPr lang="en-US" sz="1100" dirty="0"/>
          </a:p>
        </p:txBody>
      </p:sp>
      <p:sp>
        <p:nvSpPr>
          <p:cNvPr id="65" name="Text 62"/>
          <p:cNvSpPr txBox="1"/>
          <p:nvPr/>
        </p:nvSpPr>
        <p:spPr>
          <a:xfrm>
            <a:off x="457200" y="5943600"/>
            <a:ext cx="11274552" cy="365760"/>
          </a:xfrm>
          <a:prstGeom prst="rect">
            <a:avLst/>
          </a:prstGeom>
          <a:noFill/>
          <a:ln/>
        </p:spPr>
        <p:txBody>
          <a:bodyPr wrap="square" lIns="0" tIns="0" rIns="0" bIns="0" rtlCol="0" anchor="ctr"/>
          <a:lstStyle/>
          <a:p>
            <a:pPr algn="l" indent="0" marL="0">
              <a:buNone/>
            </a:pPr>
            <a:r>
              <a:rPr lang="en-US" sz="1100" b="1" dirty="0">
                <a:solidFill>
                  <a:srgbClr val="1B3B6F"/>
                </a:solidFill>
                <a:latin typeface="Calibri" pitchFamily="34" charset="0"/>
                <a:cs typeface="Amiri" pitchFamily="2" charset="-78"/>
              </a:rPr>
              <a:t>Odd numbers come from F3-L01, even numbers from F3-L02. Core: a full sentence from the starter. Develop: add the “more” part. Stretch: link two answers with </a:t>
            </a:r>
            <a:pPr algn="l" indent="0" marL="0">
              <a:buNone/>
            </a:pPr>
            <a:r>
              <a:rPr lang="ar-SA" altLang="en-US" sz="1450" b="1" dirty="0">
                <a:solidFill>
                  <a:srgbClr val="1B3B6F"/>
                </a:solidFill>
                <a:latin typeface="Amiri" pitchFamily="2" charset="-78"/>
                <a:ea typeface="Amiri" pitchFamily="2" charset="-78"/>
                <a:cs typeface="Amiri" pitchFamily="2" charset="-78"/>
              </a:rPr>
              <a:t>وَ</a:t>
            </a:r>
            <a:pPr algn="l" indent="0" marL="0">
              <a:buNone/>
            </a:pPr>
            <a:r>
              <a:rPr lang="en-US" sz="1100" b="1" dirty="0">
                <a:solidFill>
                  <a:srgbClr val="1B3B6F"/>
                </a:solidFill>
                <a:latin typeface="Calibri" pitchFamily="34" charset="0"/>
                <a:cs typeface="Amiri" pitchFamily="2" charset="-78"/>
              </a:rPr>
              <a:t>, </a:t>
            </a:r>
            <a:pPr algn="l" indent="0" marL="0">
              <a:buNone/>
            </a:pPr>
            <a:r>
              <a:rPr lang="ar-SA" altLang="en-US" sz="1450" b="1" dirty="0">
                <a:solidFill>
                  <a:srgbClr val="1B3B6F"/>
                </a:solidFill>
                <a:latin typeface="Amiri" pitchFamily="2" charset="-78"/>
                <a:ea typeface="Amiri" pitchFamily="2" charset="-78"/>
                <a:cs typeface="Amiri" pitchFamily="2" charset="-78"/>
              </a:rPr>
              <a:t>لِأَنَّ</a:t>
            </a:r>
            <a:pPr algn="l" indent="0" marL="0">
              <a:buNone/>
            </a:pPr>
            <a:r>
              <a:rPr lang="en-US" sz="1100" b="1" dirty="0">
                <a:solidFill>
                  <a:srgbClr val="1B3B6F"/>
                </a:solidFill>
                <a:latin typeface="Calibri" pitchFamily="34" charset="0"/>
                <a:cs typeface="Amiri" pitchFamily="2" charset="-78"/>
              </a:rPr>
              <a:t> or </a:t>
            </a:r>
            <a:pPr algn="l" indent="0" marL="0">
              <a:buNone/>
            </a:pPr>
            <a:r>
              <a:rPr lang="ar-SA" altLang="en-US" sz="1450" b="1" dirty="0">
                <a:solidFill>
                  <a:srgbClr val="1B3B6F"/>
                </a:solidFill>
                <a:latin typeface="Amiri" pitchFamily="2" charset="-78"/>
                <a:ea typeface="Amiri" pitchFamily="2" charset="-78"/>
                <a:cs typeface="Amiri" pitchFamily="2" charset="-78"/>
              </a:rPr>
              <a:t>لٰكِنَّ</a:t>
            </a:r>
            <a:pPr algn="l" indent="0" marL="0">
              <a:buNone/>
            </a:pPr>
            <a:r>
              <a:rPr lang="en-US" sz="1100" b="1" dirty="0">
                <a:solidFill>
                  <a:srgbClr val="1B3B6F"/>
                </a:solidFill>
                <a:latin typeface="Calibri" pitchFamily="34" charset="0"/>
                <a:cs typeface="Amiri" pitchFamily="2" charset="-78"/>
              </a:rPr>
              <a:t>. Swap after each question.</a:t>
            </a:r>
            <a:endParaRPr lang="en-US" sz="1100" dirty="0"/>
          </a:p>
        </p:txBody>
      </p:sp>
      <p:sp>
        <p:nvSpPr>
          <p:cNvPr id="66" name="Text 63"/>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11 / 24</a:t>
            </a:r>
            <a:endParaRPr lang="en-US" sz="850" dirty="0"/>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F3-W01 · Apply workshop</a:t>
            </a:r>
            <a:endParaRPr lang="en-US" sz="950" dirty="0"/>
          </a:p>
        </p:txBody>
      </p:sp>
      <p:sp>
        <p:nvSpPr>
          <p:cNvPr id="8" name="Shape 6"/>
          <p:cNvSpPr/>
          <p:nvPr/>
        </p:nvSpPr>
        <p:spPr>
          <a:xfrm>
            <a:off x="7295083" y="274320"/>
            <a:ext cx="1464869" cy="329184"/>
          </a:xfrm>
          <a:prstGeom prst="roundRect">
            <a:avLst>
              <a:gd name="adj" fmla="val 50000"/>
            </a:avLst>
          </a:prstGeom>
          <a:solidFill>
            <a:srgbClr val="1E6B52"/>
          </a:solidFill>
          <a:ln w="12700">
            <a:solidFill>
              <a:srgbClr val="1E6B52"/>
            </a:solidFill>
            <a:prstDash val="solid"/>
          </a:ln>
        </p:spPr>
      </p:sp>
      <p:sp>
        <p:nvSpPr>
          <p:cNvPr id="9" name="Text 7"/>
          <p:cNvSpPr txBox="1"/>
          <p:nvPr/>
        </p:nvSpPr>
        <p:spPr>
          <a:xfrm>
            <a:off x="7295083" y="274320"/>
            <a:ext cx="1464869"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YOU DO · 7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150" kern="0" dirty="0">
                <a:solidFill>
                  <a:srgbClr val="1E6B52"/>
                </a:solidFill>
                <a:latin typeface="Calibri" pitchFamily="34" charset="0"/>
                <a:cs typeface="Amiri" pitchFamily="2" charset="-78"/>
              </a:rPr>
              <a:t>STEP 5 · ROLE-PLAY CARD · USE THE PLAN, THEN HIDE IT AND SPEAK</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1950" b="1" dirty="0">
                <a:solidFill>
                  <a:srgbClr val="1B3B6F"/>
                </a:solidFill>
                <a:latin typeface="Cambria" pitchFamily="34" charset="0"/>
                <a:cs typeface="Amiri" pitchFamily="2" charset="-78"/>
              </a:rPr>
              <a:t>Role-play card — showing photos to a new friend</a:t>
            </a:r>
            <a:endParaRPr lang="en-US" sz="195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صُوَرُ عَائِلَتِي</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Foundation F3 · My Family &amp; Home · F3-W01 · Apply workshop (F3-L01 + F3-L02)</a:t>
            </a:r>
            <a:endParaRPr lang="en-US" sz="850" dirty="0"/>
          </a:p>
        </p:txBody>
      </p:sp>
      <p:sp>
        <p:nvSpPr>
          <p:cNvPr id="15" name="Shape 12"/>
          <p:cNvSpPr/>
          <p:nvPr/>
        </p:nvSpPr>
        <p:spPr>
          <a:xfrm>
            <a:off x="457200" y="1810512"/>
            <a:ext cx="11274552" cy="384048"/>
          </a:xfrm>
          <a:prstGeom prst="rect">
            <a:avLst/>
          </a:prstGeom>
          <a:solidFill>
            <a:srgbClr val="1B3B6F"/>
          </a:solidFill>
          <a:ln w="12700">
            <a:solidFill>
              <a:srgbClr val="1B3B6F"/>
            </a:solidFill>
            <a:prstDash val="solid"/>
          </a:ln>
        </p:spPr>
      </p:sp>
      <p:sp>
        <p:nvSpPr>
          <p:cNvPr id="16" name="Text 13"/>
          <p:cNvSpPr txBox="1"/>
          <p:nvPr/>
        </p:nvSpPr>
        <p:spPr>
          <a:xfrm>
            <a:off x="8257032" y="1810512"/>
            <a:ext cx="3401568" cy="384048"/>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Plan: first words</a:t>
            </a:r>
            <a:endParaRPr lang="en-US" sz="1100" dirty="0"/>
          </a:p>
        </p:txBody>
      </p:sp>
      <p:sp>
        <p:nvSpPr>
          <p:cNvPr id="17" name="Text 14"/>
          <p:cNvSpPr txBox="1"/>
          <p:nvPr/>
        </p:nvSpPr>
        <p:spPr>
          <a:xfrm>
            <a:off x="4965192" y="1810512"/>
            <a:ext cx="3145536" cy="384048"/>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Speaker’s task</a:t>
            </a:r>
            <a:endParaRPr lang="en-US" sz="1100" dirty="0"/>
          </a:p>
        </p:txBody>
      </p:sp>
      <p:sp>
        <p:nvSpPr>
          <p:cNvPr id="18" name="Text 15"/>
          <p:cNvSpPr txBox="1"/>
          <p:nvPr/>
        </p:nvSpPr>
        <p:spPr>
          <a:xfrm>
            <a:off x="1033272" y="1810512"/>
            <a:ext cx="3785616" cy="384048"/>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Partner A reads</a:t>
            </a:r>
            <a:endParaRPr lang="en-US" sz="1100" dirty="0"/>
          </a:p>
        </p:txBody>
      </p:sp>
      <p:sp>
        <p:nvSpPr>
          <p:cNvPr id="19" name="Text 16"/>
          <p:cNvSpPr txBox="1"/>
          <p:nvPr/>
        </p:nvSpPr>
        <p:spPr>
          <a:xfrm>
            <a:off x="530352" y="1810512"/>
            <a:ext cx="356616" cy="384048"/>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a:t>
            </a:r>
            <a:endParaRPr lang="en-US" sz="1100" dirty="0"/>
          </a:p>
        </p:txBody>
      </p:sp>
      <p:sp>
        <p:nvSpPr>
          <p:cNvPr id="20" name="Shape 17"/>
          <p:cNvSpPr/>
          <p:nvPr/>
        </p:nvSpPr>
        <p:spPr>
          <a:xfrm>
            <a:off x="457200" y="2267712"/>
            <a:ext cx="11274552" cy="682142"/>
          </a:xfrm>
          <a:prstGeom prst="roundRect">
            <a:avLst>
              <a:gd name="adj" fmla="val 6702"/>
            </a:avLst>
          </a:prstGeom>
          <a:solidFill>
            <a:srgbClr val="FFFFFF"/>
          </a:solidFill>
          <a:ln w="9525">
            <a:solidFill>
              <a:srgbClr val="D8D0BF"/>
            </a:solidFill>
            <a:prstDash val="solid"/>
          </a:ln>
        </p:spPr>
      </p:sp>
      <p:sp>
        <p:nvSpPr>
          <p:cNvPr id="21" name="Text 18"/>
          <p:cNvSpPr txBox="1"/>
          <p:nvPr/>
        </p:nvSpPr>
        <p:spPr>
          <a:xfrm>
            <a:off x="8275320" y="2267712"/>
            <a:ext cx="3364992" cy="682142"/>
          </a:xfrm>
          <a:prstGeom prst="rect">
            <a:avLst/>
          </a:prstGeom>
          <a:noFill/>
          <a:ln/>
        </p:spPr>
        <p:txBody>
          <a:bodyPr wrap="square" lIns="0" tIns="0" rIns="0" bIns="0" rtlCol="0" anchor="ctr"/>
          <a:lstStyle/>
          <a:p>
            <a:pPr rtl="1" algn="ctr" indent="0" marL="0">
              <a:buNone/>
            </a:pPr>
            <a:r>
              <a:rPr lang="ar-SA" altLang="en-US" sz="1600" b="1" dirty="0">
                <a:solidFill>
                  <a:srgbClr val="1B3B6F"/>
                </a:solidFill>
                <a:latin typeface="Amiri" pitchFamily="2" charset="-78"/>
                <a:ea typeface="Amiri" pitchFamily="2" charset="-78"/>
                <a:cs typeface="Amiri" pitchFamily="2" charset="-78"/>
              </a:rPr>
              <a:t>كَمْ ← فِي عَائِلَتِي … أَشْخَاصٍ: …</a:t>
            </a:r>
            <a:endParaRPr lang="ar-SA" sz="1600" dirty="0"/>
          </a:p>
        </p:txBody>
      </p:sp>
      <p:sp>
        <p:nvSpPr>
          <p:cNvPr id="22" name="Text 19"/>
          <p:cNvSpPr txBox="1"/>
          <p:nvPr/>
        </p:nvSpPr>
        <p:spPr>
          <a:xfrm>
            <a:off x="5001768" y="2267712"/>
            <a:ext cx="3108960" cy="682142"/>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Say how many people and who they are.</a:t>
            </a:r>
            <a:endParaRPr lang="en-US" sz="1100" dirty="0"/>
          </a:p>
        </p:txBody>
      </p:sp>
      <p:sp>
        <p:nvSpPr>
          <p:cNvPr id="23" name="Text 20"/>
          <p:cNvSpPr txBox="1"/>
          <p:nvPr/>
        </p:nvSpPr>
        <p:spPr>
          <a:xfrm>
            <a:off x="1051560" y="2267712"/>
            <a:ext cx="3749040" cy="682142"/>
          </a:xfrm>
          <a:prstGeom prst="rect">
            <a:avLst/>
          </a:prstGeom>
          <a:noFill/>
          <a:ln/>
        </p:spPr>
        <p:txBody>
          <a:bodyPr wrap="square" lIns="0" tIns="0" rIns="0" bIns="0" rtlCol="0" anchor="ctr"/>
          <a:lstStyle/>
          <a:p>
            <a:pPr rtl="1" algn="ctr" indent="0" marL="0">
              <a:buNone/>
            </a:pPr>
            <a:r>
              <a:rPr lang="ar-SA" altLang="en-US" sz="1700" b="1" dirty="0">
                <a:solidFill>
                  <a:srgbClr val="1B3B6F"/>
                </a:solidFill>
                <a:latin typeface="Amiri" pitchFamily="2" charset="-78"/>
                <a:ea typeface="Amiri" pitchFamily="2" charset="-78"/>
                <a:cs typeface="Amiri" pitchFamily="2" charset="-78"/>
              </a:rPr>
              <a:t>كَمْ شَخْصًا فِي عَائِلَتِكَ؟</a:t>
            </a:r>
            <a:endParaRPr lang="ar-SA" sz="1700" dirty="0"/>
          </a:p>
        </p:txBody>
      </p:sp>
      <p:sp>
        <p:nvSpPr>
          <p:cNvPr id="24" name="Text 21"/>
          <p:cNvSpPr txBox="1"/>
          <p:nvPr/>
        </p:nvSpPr>
        <p:spPr>
          <a:xfrm>
            <a:off x="566928" y="2267712"/>
            <a:ext cx="320040" cy="682142"/>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1</a:t>
            </a:r>
            <a:endParaRPr lang="en-US" sz="1100" dirty="0"/>
          </a:p>
        </p:txBody>
      </p:sp>
      <p:sp>
        <p:nvSpPr>
          <p:cNvPr id="25" name="Shape 22"/>
          <p:cNvSpPr/>
          <p:nvPr/>
        </p:nvSpPr>
        <p:spPr>
          <a:xfrm>
            <a:off x="11091672" y="2313432"/>
            <a:ext cx="548640" cy="182880"/>
          </a:xfrm>
          <a:prstGeom prst="roundRect">
            <a:avLst>
              <a:gd name="adj" fmla="val 50000"/>
            </a:avLst>
          </a:prstGeom>
          <a:solidFill>
            <a:srgbClr val="2E8B57"/>
          </a:solidFill>
          <a:ln w="12700">
            <a:solidFill>
              <a:srgbClr val="2E8B57"/>
            </a:solidFill>
            <a:prstDash val="solid"/>
          </a:ln>
        </p:spPr>
      </p:sp>
      <p:sp>
        <p:nvSpPr>
          <p:cNvPr id="26" name="Text 23"/>
          <p:cNvSpPr txBox="1"/>
          <p:nvPr/>
        </p:nvSpPr>
        <p:spPr>
          <a:xfrm>
            <a:off x="11091672" y="2313432"/>
            <a:ext cx="548640" cy="182880"/>
          </a:xfrm>
          <a:prstGeom prst="rect">
            <a:avLst/>
          </a:prstGeom>
          <a:noFill/>
          <a:ln/>
        </p:spPr>
        <p:txBody>
          <a:bodyPr wrap="square" lIns="0" tIns="0" rIns="0" bIns="0" rtlCol="0" anchor="ctr"/>
          <a:lstStyle/>
          <a:p>
            <a:pPr algn="ctr" indent="0" marL="0">
              <a:buNone/>
            </a:pPr>
            <a:r>
              <a:rPr lang="en-US" sz="650" b="1" spc="100" kern="0" dirty="0">
                <a:solidFill>
                  <a:srgbClr val="FFFFFF"/>
                </a:solidFill>
                <a:latin typeface="Calibri" pitchFamily="34" charset="0"/>
                <a:cs typeface="Amiri" pitchFamily="2" charset="-78"/>
              </a:rPr>
              <a:t>CORE</a:t>
            </a:r>
            <a:endParaRPr lang="en-US" sz="650" dirty="0"/>
          </a:p>
        </p:txBody>
      </p:sp>
      <p:sp>
        <p:nvSpPr>
          <p:cNvPr id="27" name="Shape 24"/>
          <p:cNvSpPr/>
          <p:nvPr/>
        </p:nvSpPr>
        <p:spPr>
          <a:xfrm>
            <a:off x="457200" y="3004718"/>
            <a:ext cx="11274552" cy="682142"/>
          </a:xfrm>
          <a:prstGeom prst="roundRect">
            <a:avLst>
              <a:gd name="adj" fmla="val 6702"/>
            </a:avLst>
          </a:prstGeom>
          <a:solidFill>
            <a:srgbClr val="F4F1EA"/>
          </a:solidFill>
          <a:ln w="9525">
            <a:solidFill>
              <a:srgbClr val="D8D0BF"/>
            </a:solidFill>
            <a:prstDash val="solid"/>
          </a:ln>
        </p:spPr>
      </p:sp>
      <p:sp>
        <p:nvSpPr>
          <p:cNvPr id="28" name="Text 25"/>
          <p:cNvSpPr txBox="1"/>
          <p:nvPr/>
        </p:nvSpPr>
        <p:spPr>
          <a:xfrm>
            <a:off x="8275320" y="3004718"/>
            <a:ext cx="3364992" cy="682142"/>
          </a:xfrm>
          <a:prstGeom prst="rect">
            <a:avLst/>
          </a:prstGeom>
          <a:noFill/>
          <a:ln/>
        </p:spPr>
        <p:txBody>
          <a:bodyPr wrap="square" lIns="0" tIns="0" rIns="0" bIns="0" rtlCol="0" anchor="ctr"/>
          <a:lstStyle/>
          <a:p>
            <a:pPr rtl="1" algn="ctr" indent="0" marL="0">
              <a:buNone/>
            </a:pPr>
            <a:r>
              <a:rPr lang="ar-SA" altLang="en-US" sz="1600" b="1" dirty="0">
                <a:solidFill>
                  <a:srgbClr val="1B3B6F"/>
                </a:solidFill>
                <a:latin typeface="Amiri" pitchFamily="2" charset="-78"/>
                <a:ea typeface="Amiri" pitchFamily="2" charset="-78"/>
                <a:cs typeface="Amiri" pitchFamily="2" charset="-78"/>
              </a:rPr>
              <a:t>مَنْ ← هٰذَا … ، اسْمُهُ …</a:t>
            </a:r>
            <a:endParaRPr lang="ar-SA" sz="1600" dirty="0"/>
          </a:p>
        </p:txBody>
      </p:sp>
      <p:sp>
        <p:nvSpPr>
          <p:cNvPr id="29" name="Text 26"/>
          <p:cNvSpPr txBox="1"/>
          <p:nvPr/>
        </p:nvSpPr>
        <p:spPr>
          <a:xfrm>
            <a:off x="5001768" y="3004718"/>
            <a:ext cx="3108960" cy="682142"/>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Say who he is and give his name.</a:t>
            </a:r>
            <a:endParaRPr lang="en-US" sz="1100" dirty="0"/>
          </a:p>
        </p:txBody>
      </p:sp>
      <p:sp>
        <p:nvSpPr>
          <p:cNvPr id="30" name="Text 27"/>
          <p:cNvSpPr txBox="1"/>
          <p:nvPr/>
        </p:nvSpPr>
        <p:spPr>
          <a:xfrm>
            <a:off x="1051560" y="3004718"/>
            <a:ext cx="3749040" cy="682142"/>
          </a:xfrm>
          <a:prstGeom prst="rect">
            <a:avLst/>
          </a:prstGeom>
          <a:noFill/>
          <a:ln/>
        </p:spPr>
        <p:txBody>
          <a:bodyPr wrap="square" lIns="0" tIns="0" rIns="0" bIns="0" rtlCol="0" anchor="ctr"/>
          <a:lstStyle/>
          <a:p>
            <a:pPr rtl="1" algn="ctr" indent="0" marL="0">
              <a:buNone/>
            </a:pPr>
            <a:r>
              <a:rPr lang="ar-SA" altLang="en-US" sz="1700" b="1" dirty="0">
                <a:solidFill>
                  <a:srgbClr val="1B3B6F"/>
                </a:solidFill>
                <a:latin typeface="Amiri" pitchFamily="2" charset="-78"/>
                <a:ea typeface="Amiri" pitchFamily="2" charset="-78"/>
                <a:cs typeface="Amiri" pitchFamily="2" charset="-78"/>
              </a:rPr>
              <a:t>مَنْ هٰذَا؟</a:t>
            </a:r>
            <a:endParaRPr lang="ar-SA" sz="1700" dirty="0"/>
          </a:p>
        </p:txBody>
      </p:sp>
      <p:sp>
        <p:nvSpPr>
          <p:cNvPr id="31" name="Text 28"/>
          <p:cNvSpPr txBox="1"/>
          <p:nvPr/>
        </p:nvSpPr>
        <p:spPr>
          <a:xfrm>
            <a:off x="566928" y="3004718"/>
            <a:ext cx="320040" cy="682142"/>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2</a:t>
            </a:r>
            <a:endParaRPr lang="en-US" sz="1100" dirty="0"/>
          </a:p>
        </p:txBody>
      </p:sp>
      <p:sp>
        <p:nvSpPr>
          <p:cNvPr id="32" name="Shape 29"/>
          <p:cNvSpPr/>
          <p:nvPr/>
        </p:nvSpPr>
        <p:spPr>
          <a:xfrm>
            <a:off x="11091672" y="3050438"/>
            <a:ext cx="548640" cy="182880"/>
          </a:xfrm>
          <a:prstGeom prst="roundRect">
            <a:avLst>
              <a:gd name="adj" fmla="val 50000"/>
            </a:avLst>
          </a:prstGeom>
          <a:solidFill>
            <a:srgbClr val="2E8B57"/>
          </a:solidFill>
          <a:ln w="12700">
            <a:solidFill>
              <a:srgbClr val="2E8B57"/>
            </a:solidFill>
            <a:prstDash val="solid"/>
          </a:ln>
        </p:spPr>
      </p:sp>
      <p:sp>
        <p:nvSpPr>
          <p:cNvPr id="33" name="Text 30"/>
          <p:cNvSpPr txBox="1"/>
          <p:nvPr/>
        </p:nvSpPr>
        <p:spPr>
          <a:xfrm>
            <a:off x="11091672" y="3050438"/>
            <a:ext cx="548640" cy="182880"/>
          </a:xfrm>
          <a:prstGeom prst="rect">
            <a:avLst/>
          </a:prstGeom>
          <a:noFill/>
          <a:ln/>
        </p:spPr>
        <p:txBody>
          <a:bodyPr wrap="square" lIns="0" tIns="0" rIns="0" bIns="0" rtlCol="0" anchor="ctr"/>
          <a:lstStyle/>
          <a:p>
            <a:pPr algn="ctr" indent="0" marL="0">
              <a:buNone/>
            </a:pPr>
            <a:r>
              <a:rPr lang="en-US" sz="650" b="1" spc="100" kern="0" dirty="0">
                <a:solidFill>
                  <a:srgbClr val="FFFFFF"/>
                </a:solidFill>
                <a:latin typeface="Calibri" pitchFamily="34" charset="0"/>
                <a:cs typeface="Amiri" pitchFamily="2" charset="-78"/>
              </a:rPr>
              <a:t>CORE</a:t>
            </a:r>
            <a:endParaRPr lang="en-US" sz="650" dirty="0"/>
          </a:p>
        </p:txBody>
      </p:sp>
      <p:sp>
        <p:nvSpPr>
          <p:cNvPr id="34" name="Shape 31"/>
          <p:cNvSpPr/>
          <p:nvPr/>
        </p:nvSpPr>
        <p:spPr>
          <a:xfrm>
            <a:off x="457200" y="3741725"/>
            <a:ext cx="11274552" cy="682142"/>
          </a:xfrm>
          <a:prstGeom prst="roundRect">
            <a:avLst>
              <a:gd name="adj" fmla="val 6702"/>
            </a:avLst>
          </a:prstGeom>
          <a:solidFill>
            <a:srgbClr val="FFFFFF"/>
          </a:solidFill>
          <a:ln w="9525">
            <a:solidFill>
              <a:srgbClr val="D8D0BF"/>
            </a:solidFill>
            <a:prstDash val="solid"/>
          </a:ln>
        </p:spPr>
      </p:sp>
      <p:sp>
        <p:nvSpPr>
          <p:cNvPr id="35" name="Text 32"/>
          <p:cNvSpPr txBox="1"/>
          <p:nvPr/>
        </p:nvSpPr>
        <p:spPr>
          <a:xfrm>
            <a:off x="8275320" y="3741725"/>
            <a:ext cx="3364992" cy="682142"/>
          </a:xfrm>
          <a:prstGeom prst="rect">
            <a:avLst/>
          </a:prstGeom>
          <a:noFill/>
          <a:ln/>
        </p:spPr>
        <p:txBody>
          <a:bodyPr wrap="square" lIns="0" tIns="0" rIns="0" bIns="0" rtlCol="0" anchor="ctr"/>
          <a:lstStyle/>
          <a:p>
            <a:pPr rtl="1" algn="ctr" indent="0" marL="0">
              <a:buNone/>
            </a:pPr>
            <a:r>
              <a:rPr lang="ar-SA" altLang="en-US" sz="1600" b="1" dirty="0">
                <a:solidFill>
                  <a:srgbClr val="1B3B6F"/>
                </a:solidFill>
                <a:latin typeface="Amiri" pitchFamily="2" charset="-78"/>
                <a:ea typeface="Amiri" pitchFamily="2" charset="-78"/>
                <a:cs typeface="Amiri" pitchFamily="2" charset="-78"/>
              </a:rPr>
              <a:t>كَيْفَ ← هُوَ … ، وَشَعْرُهُ …</a:t>
            </a:r>
            <a:endParaRPr lang="ar-SA" sz="1600" dirty="0"/>
          </a:p>
        </p:txBody>
      </p:sp>
      <p:sp>
        <p:nvSpPr>
          <p:cNvPr id="36" name="Text 33"/>
          <p:cNvSpPr txBox="1"/>
          <p:nvPr/>
        </p:nvSpPr>
        <p:spPr>
          <a:xfrm>
            <a:off x="5001768" y="3741725"/>
            <a:ext cx="3108960" cy="682142"/>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Describe his appearance: height and hair.</a:t>
            </a:r>
            <a:endParaRPr lang="en-US" sz="1100" dirty="0"/>
          </a:p>
        </p:txBody>
      </p:sp>
      <p:sp>
        <p:nvSpPr>
          <p:cNvPr id="37" name="Text 34"/>
          <p:cNvSpPr txBox="1"/>
          <p:nvPr/>
        </p:nvSpPr>
        <p:spPr>
          <a:xfrm>
            <a:off x="1051560" y="3741725"/>
            <a:ext cx="3749040" cy="682142"/>
          </a:xfrm>
          <a:prstGeom prst="rect">
            <a:avLst/>
          </a:prstGeom>
          <a:noFill/>
          <a:ln/>
        </p:spPr>
        <p:txBody>
          <a:bodyPr wrap="square" lIns="0" tIns="0" rIns="0" bIns="0" rtlCol="0" anchor="ctr"/>
          <a:lstStyle/>
          <a:p>
            <a:pPr rtl="1" algn="ctr" indent="0" marL="0">
              <a:buNone/>
            </a:pPr>
            <a:r>
              <a:rPr lang="ar-SA" altLang="en-US" sz="1700" b="1" dirty="0">
                <a:solidFill>
                  <a:srgbClr val="1B3B6F"/>
                </a:solidFill>
                <a:latin typeface="Amiri" pitchFamily="2" charset="-78"/>
                <a:ea typeface="Amiri" pitchFamily="2" charset="-78"/>
                <a:cs typeface="Amiri" pitchFamily="2" charset="-78"/>
              </a:rPr>
              <a:t>كَيْفَ يَبْدُو أَخُوكَ؟</a:t>
            </a:r>
            <a:endParaRPr lang="ar-SA" sz="1700" dirty="0"/>
          </a:p>
        </p:txBody>
      </p:sp>
      <p:sp>
        <p:nvSpPr>
          <p:cNvPr id="38" name="Text 35"/>
          <p:cNvSpPr txBox="1"/>
          <p:nvPr/>
        </p:nvSpPr>
        <p:spPr>
          <a:xfrm>
            <a:off x="566928" y="3741725"/>
            <a:ext cx="320040" cy="682142"/>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3</a:t>
            </a:r>
            <a:endParaRPr lang="en-US" sz="1100" dirty="0"/>
          </a:p>
        </p:txBody>
      </p:sp>
      <p:sp>
        <p:nvSpPr>
          <p:cNvPr id="39" name="Shape 36"/>
          <p:cNvSpPr/>
          <p:nvPr/>
        </p:nvSpPr>
        <p:spPr>
          <a:xfrm>
            <a:off x="11091672" y="3787445"/>
            <a:ext cx="548640" cy="182880"/>
          </a:xfrm>
          <a:prstGeom prst="roundRect">
            <a:avLst>
              <a:gd name="adj" fmla="val 50000"/>
            </a:avLst>
          </a:prstGeom>
          <a:solidFill>
            <a:srgbClr val="2E8B57"/>
          </a:solidFill>
          <a:ln w="12700">
            <a:solidFill>
              <a:srgbClr val="2E8B57"/>
            </a:solidFill>
            <a:prstDash val="solid"/>
          </a:ln>
        </p:spPr>
      </p:sp>
      <p:sp>
        <p:nvSpPr>
          <p:cNvPr id="40" name="Text 37"/>
          <p:cNvSpPr txBox="1"/>
          <p:nvPr/>
        </p:nvSpPr>
        <p:spPr>
          <a:xfrm>
            <a:off x="11091672" y="3787445"/>
            <a:ext cx="548640" cy="182880"/>
          </a:xfrm>
          <a:prstGeom prst="rect">
            <a:avLst/>
          </a:prstGeom>
          <a:noFill/>
          <a:ln/>
        </p:spPr>
        <p:txBody>
          <a:bodyPr wrap="square" lIns="0" tIns="0" rIns="0" bIns="0" rtlCol="0" anchor="ctr"/>
          <a:lstStyle/>
          <a:p>
            <a:pPr algn="ctr" indent="0" marL="0">
              <a:buNone/>
            </a:pPr>
            <a:r>
              <a:rPr lang="en-US" sz="650" b="1" spc="100" kern="0" dirty="0">
                <a:solidFill>
                  <a:srgbClr val="FFFFFF"/>
                </a:solidFill>
                <a:latin typeface="Calibri" pitchFamily="34" charset="0"/>
                <a:cs typeface="Amiri" pitchFamily="2" charset="-78"/>
              </a:rPr>
              <a:t>CORE</a:t>
            </a:r>
            <a:endParaRPr lang="en-US" sz="650" dirty="0"/>
          </a:p>
        </p:txBody>
      </p:sp>
      <p:sp>
        <p:nvSpPr>
          <p:cNvPr id="41" name="Shape 38"/>
          <p:cNvSpPr/>
          <p:nvPr/>
        </p:nvSpPr>
        <p:spPr>
          <a:xfrm>
            <a:off x="457200" y="4478731"/>
            <a:ext cx="11274552" cy="682142"/>
          </a:xfrm>
          <a:prstGeom prst="roundRect">
            <a:avLst>
              <a:gd name="adj" fmla="val 6702"/>
            </a:avLst>
          </a:prstGeom>
          <a:solidFill>
            <a:srgbClr val="F4F1EA"/>
          </a:solidFill>
          <a:ln w="9525">
            <a:solidFill>
              <a:srgbClr val="D8D0BF"/>
            </a:solidFill>
            <a:prstDash val="solid"/>
          </a:ln>
        </p:spPr>
      </p:sp>
      <p:sp>
        <p:nvSpPr>
          <p:cNvPr id="42" name="Text 39"/>
          <p:cNvSpPr txBox="1"/>
          <p:nvPr/>
        </p:nvSpPr>
        <p:spPr>
          <a:xfrm>
            <a:off x="8275320" y="4478731"/>
            <a:ext cx="3364992" cy="682142"/>
          </a:xfrm>
          <a:prstGeom prst="rect">
            <a:avLst/>
          </a:prstGeom>
          <a:noFill/>
          <a:ln/>
        </p:spPr>
        <p:txBody>
          <a:bodyPr wrap="square" lIns="0" tIns="0" rIns="0" bIns="0" rtlCol="0" anchor="ctr"/>
          <a:lstStyle/>
          <a:p>
            <a:pPr rtl="1" algn="ctr" indent="0" marL="0">
              <a:buNone/>
            </a:pPr>
            <a:r>
              <a:rPr lang="ar-SA" altLang="en-US" sz="1600" b="1" dirty="0">
                <a:solidFill>
                  <a:srgbClr val="1B3B6F"/>
                </a:solidFill>
                <a:latin typeface="Amiri" pitchFamily="2" charset="-78"/>
                <a:ea typeface="Amiri" pitchFamily="2" charset="-78"/>
                <a:cs typeface="Amiri" pitchFamily="2" charset="-78"/>
              </a:rPr>
              <a:t>مَنْ / كَيْفَ ← هٰذِهِ … ، هِيَ … وَ…</a:t>
            </a:r>
            <a:endParaRPr lang="ar-SA" sz="1600" dirty="0"/>
          </a:p>
        </p:txBody>
      </p:sp>
      <p:sp>
        <p:nvSpPr>
          <p:cNvPr id="43" name="Text 40"/>
          <p:cNvSpPr txBox="1"/>
          <p:nvPr/>
        </p:nvSpPr>
        <p:spPr>
          <a:xfrm>
            <a:off x="5001768" y="4478731"/>
            <a:ext cx="3108960" cy="682142"/>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Introduce a woman and give two personality adjectives.</a:t>
            </a:r>
            <a:endParaRPr lang="en-US" sz="1100" dirty="0"/>
          </a:p>
        </p:txBody>
      </p:sp>
      <p:sp>
        <p:nvSpPr>
          <p:cNvPr id="44" name="Text 41"/>
          <p:cNvSpPr txBox="1"/>
          <p:nvPr/>
        </p:nvSpPr>
        <p:spPr>
          <a:xfrm>
            <a:off x="1051560" y="4478731"/>
            <a:ext cx="3749040" cy="682142"/>
          </a:xfrm>
          <a:prstGeom prst="rect">
            <a:avLst/>
          </a:prstGeom>
          <a:noFill/>
          <a:ln/>
        </p:spPr>
        <p:txBody>
          <a:bodyPr wrap="square" lIns="0" tIns="0" rIns="0" bIns="0" rtlCol="0" anchor="ctr"/>
          <a:lstStyle/>
          <a:p>
            <a:pPr rtl="1" algn="ctr" indent="0" marL="0">
              <a:buNone/>
            </a:pPr>
            <a:r>
              <a:rPr lang="ar-SA" altLang="en-US" sz="1700" b="1" dirty="0">
                <a:solidFill>
                  <a:srgbClr val="1B3B6F"/>
                </a:solidFill>
                <a:latin typeface="Amiri" pitchFamily="2" charset="-78"/>
                <a:ea typeface="Amiri" pitchFamily="2" charset="-78"/>
                <a:cs typeface="Amiri" pitchFamily="2" charset="-78"/>
              </a:rPr>
              <a:t>وَمَنْ هٰذِهِ؟ كَيْفَ شَخْصِيَّتُهَا؟</a:t>
            </a:r>
            <a:endParaRPr lang="ar-SA" sz="1700" dirty="0"/>
          </a:p>
        </p:txBody>
      </p:sp>
      <p:sp>
        <p:nvSpPr>
          <p:cNvPr id="45" name="Text 42"/>
          <p:cNvSpPr txBox="1"/>
          <p:nvPr/>
        </p:nvSpPr>
        <p:spPr>
          <a:xfrm>
            <a:off x="566928" y="4478731"/>
            <a:ext cx="320040" cy="682142"/>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4</a:t>
            </a:r>
            <a:endParaRPr lang="en-US" sz="1100" dirty="0"/>
          </a:p>
        </p:txBody>
      </p:sp>
      <p:sp>
        <p:nvSpPr>
          <p:cNvPr id="46" name="Shape 43"/>
          <p:cNvSpPr/>
          <p:nvPr/>
        </p:nvSpPr>
        <p:spPr>
          <a:xfrm>
            <a:off x="11091672" y="4524451"/>
            <a:ext cx="548640" cy="182880"/>
          </a:xfrm>
          <a:prstGeom prst="roundRect">
            <a:avLst>
              <a:gd name="adj" fmla="val 50000"/>
            </a:avLst>
          </a:prstGeom>
          <a:solidFill>
            <a:srgbClr val="2E8B57"/>
          </a:solidFill>
          <a:ln w="12700">
            <a:solidFill>
              <a:srgbClr val="2E8B57"/>
            </a:solidFill>
            <a:prstDash val="solid"/>
          </a:ln>
        </p:spPr>
      </p:sp>
      <p:sp>
        <p:nvSpPr>
          <p:cNvPr id="47" name="Text 44"/>
          <p:cNvSpPr txBox="1"/>
          <p:nvPr/>
        </p:nvSpPr>
        <p:spPr>
          <a:xfrm>
            <a:off x="11091672" y="4524451"/>
            <a:ext cx="548640" cy="182880"/>
          </a:xfrm>
          <a:prstGeom prst="rect">
            <a:avLst/>
          </a:prstGeom>
          <a:noFill/>
          <a:ln/>
        </p:spPr>
        <p:txBody>
          <a:bodyPr wrap="square" lIns="0" tIns="0" rIns="0" bIns="0" rtlCol="0" anchor="ctr"/>
          <a:lstStyle/>
          <a:p>
            <a:pPr algn="ctr" indent="0" marL="0">
              <a:buNone/>
            </a:pPr>
            <a:r>
              <a:rPr lang="en-US" sz="650" b="1" spc="100" kern="0" dirty="0">
                <a:solidFill>
                  <a:srgbClr val="FFFFFF"/>
                </a:solidFill>
                <a:latin typeface="Calibri" pitchFamily="34" charset="0"/>
                <a:cs typeface="Amiri" pitchFamily="2" charset="-78"/>
              </a:rPr>
              <a:t>CORE</a:t>
            </a:r>
            <a:endParaRPr lang="en-US" sz="650" dirty="0"/>
          </a:p>
        </p:txBody>
      </p:sp>
      <p:sp>
        <p:nvSpPr>
          <p:cNvPr id="48" name="Shape 45"/>
          <p:cNvSpPr/>
          <p:nvPr/>
        </p:nvSpPr>
        <p:spPr>
          <a:xfrm>
            <a:off x="457200" y="5215738"/>
            <a:ext cx="11274552" cy="682142"/>
          </a:xfrm>
          <a:prstGeom prst="roundRect">
            <a:avLst>
              <a:gd name="adj" fmla="val 6702"/>
            </a:avLst>
          </a:prstGeom>
          <a:solidFill>
            <a:srgbClr val="FFFFFF"/>
          </a:solidFill>
          <a:ln w="9525">
            <a:solidFill>
              <a:srgbClr val="D8D0BF"/>
            </a:solidFill>
            <a:prstDash val="solid"/>
          </a:ln>
        </p:spPr>
      </p:sp>
      <p:sp>
        <p:nvSpPr>
          <p:cNvPr id="49" name="Text 46"/>
          <p:cNvSpPr txBox="1"/>
          <p:nvPr/>
        </p:nvSpPr>
        <p:spPr>
          <a:xfrm>
            <a:off x="8275320" y="5215738"/>
            <a:ext cx="3364992" cy="682142"/>
          </a:xfrm>
          <a:prstGeom prst="rect">
            <a:avLst/>
          </a:prstGeom>
          <a:noFill/>
          <a:ln/>
        </p:spPr>
        <p:txBody>
          <a:bodyPr wrap="square" lIns="0" tIns="0" rIns="0" bIns="0" rtlCol="0" anchor="ctr"/>
          <a:lstStyle/>
          <a:p>
            <a:pPr rtl="1" algn="ctr" indent="0" marL="0">
              <a:buNone/>
            </a:pPr>
            <a:r>
              <a:rPr lang="ar-SA" altLang="en-US" sz="1600" b="1" dirty="0">
                <a:solidFill>
                  <a:srgbClr val="1B3B6F"/>
                </a:solidFill>
                <a:latin typeface="Amiri" pitchFamily="2" charset="-78"/>
                <a:ea typeface="Amiri" pitchFamily="2" charset="-78"/>
                <a:cs typeface="Amiri" pitchFamily="2" charset="-78"/>
              </a:rPr>
              <a:t>مَنْ ← أُحِبُّ … لِأَنَّهُ / لِأَنَّهَا …</a:t>
            </a:r>
            <a:endParaRPr lang="ar-SA" sz="1600" dirty="0"/>
          </a:p>
        </p:txBody>
      </p:sp>
      <p:sp>
        <p:nvSpPr>
          <p:cNvPr id="50" name="Text 47"/>
          <p:cNvSpPr txBox="1"/>
          <p:nvPr/>
        </p:nvSpPr>
        <p:spPr>
          <a:xfrm>
            <a:off x="5001768" y="5215738"/>
            <a:ext cx="3108960" cy="682142"/>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Name one person and give a reason.</a:t>
            </a:r>
            <a:endParaRPr lang="en-US" sz="1100" dirty="0"/>
          </a:p>
        </p:txBody>
      </p:sp>
      <p:sp>
        <p:nvSpPr>
          <p:cNvPr id="51" name="Text 48"/>
          <p:cNvSpPr txBox="1"/>
          <p:nvPr/>
        </p:nvSpPr>
        <p:spPr>
          <a:xfrm>
            <a:off x="1051560" y="5215738"/>
            <a:ext cx="3749040" cy="682142"/>
          </a:xfrm>
          <a:prstGeom prst="rect">
            <a:avLst/>
          </a:prstGeom>
          <a:noFill/>
          <a:ln/>
        </p:spPr>
        <p:txBody>
          <a:bodyPr wrap="square" lIns="0" tIns="0" rIns="0" bIns="0" rtlCol="0" anchor="ctr"/>
          <a:lstStyle/>
          <a:p>
            <a:pPr rtl="1" algn="ctr" indent="0" marL="0">
              <a:buNone/>
            </a:pPr>
            <a:r>
              <a:rPr lang="ar-SA" altLang="en-US" sz="1700" b="1" dirty="0">
                <a:solidFill>
                  <a:srgbClr val="1B3B6F"/>
                </a:solidFill>
                <a:latin typeface="Amiri" pitchFamily="2" charset="-78"/>
                <a:ea typeface="Amiri" pitchFamily="2" charset="-78"/>
                <a:cs typeface="Amiri" pitchFamily="2" charset="-78"/>
              </a:rPr>
              <a:t>مَنْ تُحِبُّ كَثِيرًا فِي عَائِلَتِكَ؟ لِمَاذَا؟</a:t>
            </a:r>
            <a:endParaRPr lang="ar-SA" sz="1700" dirty="0"/>
          </a:p>
        </p:txBody>
      </p:sp>
      <p:sp>
        <p:nvSpPr>
          <p:cNvPr id="52" name="Text 49"/>
          <p:cNvSpPr txBox="1"/>
          <p:nvPr/>
        </p:nvSpPr>
        <p:spPr>
          <a:xfrm>
            <a:off x="566928" y="5215738"/>
            <a:ext cx="320040" cy="682142"/>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5 !</a:t>
            </a:r>
            <a:endParaRPr lang="en-US" sz="1100" dirty="0"/>
          </a:p>
        </p:txBody>
      </p:sp>
      <p:sp>
        <p:nvSpPr>
          <p:cNvPr id="53" name="Shape 50"/>
          <p:cNvSpPr/>
          <p:nvPr/>
        </p:nvSpPr>
        <p:spPr>
          <a:xfrm>
            <a:off x="11091672" y="5261458"/>
            <a:ext cx="548640" cy="182880"/>
          </a:xfrm>
          <a:prstGeom prst="roundRect">
            <a:avLst>
              <a:gd name="adj" fmla="val 50000"/>
            </a:avLst>
          </a:prstGeom>
          <a:solidFill>
            <a:srgbClr val="2E8B57"/>
          </a:solidFill>
          <a:ln w="12700">
            <a:solidFill>
              <a:srgbClr val="2E8B57"/>
            </a:solidFill>
            <a:prstDash val="solid"/>
          </a:ln>
        </p:spPr>
      </p:sp>
      <p:sp>
        <p:nvSpPr>
          <p:cNvPr id="54" name="Text 51"/>
          <p:cNvSpPr txBox="1"/>
          <p:nvPr/>
        </p:nvSpPr>
        <p:spPr>
          <a:xfrm>
            <a:off x="11091672" y="5261458"/>
            <a:ext cx="548640" cy="182880"/>
          </a:xfrm>
          <a:prstGeom prst="rect">
            <a:avLst/>
          </a:prstGeom>
          <a:noFill/>
          <a:ln/>
        </p:spPr>
        <p:txBody>
          <a:bodyPr wrap="square" lIns="0" tIns="0" rIns="0" bIns="0" rtlCol="0" anchor="ctr"/>
          <a:lstStyle/>
          <a:p>
            <a:pPr algn="ctr" indent="0" marL="0">
              <a:buNone/>
            </a:pPr>
            <a:r>
              <a:rPr lang="en-US" sz="650" b="1" spc="100" kern="0" dirty="0">
                <a:solidFill>
                  <a:srgbClr val="FFFFFF"/>
                </a:solidFill>
                <a:latin typeface="Calibri" pitchFamily="34" charset="0"/>
                <a:cs typeface="Amiri" pitchFamily="2" charset="-78"/>
              </a:rPr>
              <a:t>CORE</a:t>
            </a:r>
            <a:endParaRPr lang="en-US" sz="650" dirty="0"/>
          </a:p>
        </p:txBody>
      </p:sp>
      <p:sp>
        <p:nvSpPr>
          <p:cNvPr id="55" name="Text 52"/>
          <p:cNvSpPr txBox="1"/>
          <p:nvPr/>
        </p:nvSpPr>
        <p:spPr>
          <a:xfrm>
            <a:off x="457200" y="5943600"/>
            <a:ext cx="11274552" cy="365760"/>
          </a:xfrm>
          <a:prstGeom prst="rect">
            <a:avLst/>
          </a:prstGeom>
          <a:noFill/>
          <a:ln/>
        </p:spPr>
        <p:txBody>
          <a:bodyPr wrap="square" lIns="0" tIns="0" rIns="0" bIns="0" rtlCol="0" anchor="ctr"/>
          <a:lstStyle/>
          <a:p>
            <a:pPr algn="l" indent="0" marL="0">
              <a:buNone/>
            </a:pPr>
            <a:r>
              <a:rPr lang="en-US" sz="1150" b="1" dirty="0">
                <a:solidFill>
                  <a:srgbClr val="1B3B6F"/>
                </a:solidFill>
                <a:latin typeface="Calibri" pitchFamily="34" charset="0"/>
                <a:cs typeface="Amiri" pitchFamily="2" charset="-78"/>
              </a:rPr>
              <a:t>Speaker = the photo owner · Partner A = a new friend. Read the plan for 1 minute, then hide it and speak. Task ! is a surprise. Then swap roles.</a:t>
            </a:r>
            <a:endParaRPr lang="en-US" sz="1150" dirty="0"/>
          </a:p>
        </p:txBody>
      </p:sp>
      <p:sp>
        <p:nvSpPr>
          <p:cNvPr id="56" name="Text 53"/>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12 / 24</a:t>
            </a:r>
            <a:endParaRPr lang="en-US" sz="850" dirty="0"/>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F3-W01 · Apply workshop</a:t>
            </a:r>
            <a:endParaRPr lang="en-US" sz="950" dirty="0"/>
          </a:p>
        </p:txBody>
      </p:sp>
      <p:sp>
        <p:nvSpPr>
          <p:cNvPr id="8" name="Shape 6"/>
          <p:cNvSpPr/>
          <p:nvPr/>
        </p:nvSpPr>
        <p:spPr>
          <a:xfrm>
            <a:off x="7295083" y="274320"/>
            <a:ext cx="1464869" cy="329184"/>
          </a:xfrm>
          <a:prstGeom prst="roundRect">
            <a:avLst>
              <a:gd name="adj" fmla="val 50000"/>
            </a:avLst>
          </a:prstGeom>
          <a:solidFill>
            <a:srgbClr val="1E6B52"/>
          </a:solidFill>
          <a:ln w="12700">
            <a:solidFill>
              <a:srgbClr val="1E6B52"/>
            </a:solidFill>
            <a:prstDash val="solid"/>
          </a:ln>
        </p:spPr>
      </p:sp>
      <p:sp>
        <p:nvSpPr>
          <p:cNvPr id="9" name="Text 7"/>
          <p:cNvSpPr txBox="1"/>
          <p:nvPr/>
        </p:nvSpPr>
        <p:spPr>
          <a:xfrm>
            <a:off x="7295083" y="274320"/>
            <a:ext cx="1464869"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YOU DO · 4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1E6B52"/>
                </a:solidFill>
                <a:latin typeface="Calibri" pitchFamily="34" charset="0"/>
                <a:cs typeface="Amiri" pitchFamily="2" charset="-78"/>
              </a:rPr>
              <a:t>STEP 6 · SHORT TALK · 30–45 SECONDS</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Two people in my family photo</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شَخْصَانِ فِي صُورَتِي</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Foundation F3 · My Family &amp; Home · F3-W01 · Apply workshop (F3-L01 + F3-L02)</a:t>
            </a:r>
            <a:endParaRPr lang="en-US" sz="850" dirty="0"/>
          </a:p>
        </p:txBody>
      </p:sp>
      <p:sp>
        <p:nvSpPr>
          <p:cNvPr id="15" name="Shape 12"/>
          <p:cNvSpPr/>
          <p:nvPr/>
        </p:nvSpPr>
        <p:spPr>
          <a:xfrm>
            <a:off x="457200" y="1810512"/>
            <a:ext cx="5715000" cy="4498848"/>
          </a:xfrm>
          <a:prstGeom prst="roundRect">
            <a:avLst>
              <a:gd name="adj" fmla="val 1626"/>
            </a:avLst>
          </a:prstGeom>
          <a:solidFill>
            <a:srgbClr val="F4F1EA"/>
          </a:solidFill>
          <a:ln w="9525">
            <a:solidFill>
              <a:srgbClr val="E8D49A"/>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640080" y="1920240"/>
            <a:ext cx="3108960" cy="292608"/>
          </a:xfrm>
          <a:prstGeom prst="roundRect">
            <a:avLst>
              <a:gd name="adj" fmla="val 50000"/>
            </a:avLst>
          </a:prstGeom>
          <a:solidFill>
            <a:srgbClr val="8A6D1E"/>
          </a:solidFill>
          <a:ln w="12700">
            <a:solidFill>
              <a:srgbClr val="8A6D1E"/>
            </a:solidFill>
            <a:prstDash val="solid"/>
          </a:ln>
        </p:spPr>
      </p:sp>
      <p:sp>
        <p:nvSpPr>
          <p:cNvPr id="17" name="Text 14"/>
          <p:cNvSpPr txBox="1"/>
          <p:nvPr/>
        </p:nvSpPr>
        <p:spPr>
          <a:xfrm>
            <a:off x="640080" y="1920240"/>
            <a:ext cx="3108960" cy="292608"/>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STEP 6 · PAIRS</a:t>
            </a:r>
            <a:endParaRPr lang="en-US" sz="900" dirty="0"/>
          </a:p>
        </p:txBody>
      </p:sp>
      <p:sp>
        <p:nvSpPr>
          <p:cNvPr id="18" name="Text 15"/>
          <p:cNvSpPr txBox="1"/>
          <p:nvPr/>
        </p:nvSpPr>
        <p:spPr>
          <a:xfrm>
            <a:off x="640080" y="2286000"/>
            <a:ext cx="5349240" cy="502920"/>
          </a:xfrm>
          <a:prstGeom prst="rect">
            <a:avLst/>
          </a:prstGeom>
          <a:noFill/>
          <a:ln/>
        </p:spPr>
        <p:txBody>
          <a:bodyPr wrap="square" lIns="0" tIns="0" rIns="0" bIns="0" rtlCol="0" anchor="ctr"/>
          <a:lstStyle/>
          <a:p>
            <a:pPr algn="l" indent="0" marL="0">
              <a:buNone/>
            </a:pPr>
            <a:r>
              <a:rPr lang="en-US" sz="2000" b="1" dirty="0">
                <a:solidFill>
                  <a:srgbClr val="1B3B6F"/>
                </a:solidFill>
                <a:latin typeface="Calibri" pitchFamily="34" charset="0"/>
                <a:cs typeface="Amiri" pitchFamily="2" charset="-78"/>
              </a:rPr>
              <a:t>⏱  Talk for 30–45 seconds — use both lessons</a:t>
            </a:r>
            <a:endParaRPr lang="en-US" sz="2000" dirty="0"/>
          </a:p>
        </p:txBody>
      </p:sp>
      <p:sp>
        <p:nvSpPr>
          <p:cNvPr id="19" name="Text 16"/>
          <p:cNvSpPr txBox="1"/>
          <p:nvPr/>
        </p:nvSpPr>
        <p:spPr>
          <a:xfrm>
            <a:off x="640080" y="2816352"/>
            <a:ext cx="5349240" cy="1188720"/>
          </a:xfrm>
          <a:prstGeom prst="rect">
            <a:avLst/>
          </a:prstGeom>
          <a:noFill/>
          <a:ln/>
        </p:spPr>
        <p:txBody>
          <a:bodyPr wrap="square" lIns="0" tIns="0" rIns="0" bIns="0" rtlCol="0" anchor="t"/>
          <a:lstStyle/>
          <a:p>
            <a:pPr algn="l" indent="0" marL="0">
              <a:buNone/>
            </a:pPr>
            <a:r>
              <a:rPr lang="en-US" sz="1350" dirty="0">
                <a:solidFill>
                  <a:srgbClr val="1F2A37"/>
                </a:solidFill>
                <a:latin typeface="Calibri" pitchFamily="34" charset="0"/>
                <a:cs typeface="Amiri" pitchFamily="2" charset="-78"/>
              </a:rPr>
              <a:t>Talk for 30–45 seconds about two people in your family (or an imaginary photo): who they are, their names, what they look like and what they are like. Finish with who you love most and why.</a:t>
            </a:r>
            <a:endParaRPr lang="en-US" sz="1350" dirty="0"/>
          </a:p>
        </p:txBody>
      </p:sp>
      <p:sp>
        <p:nvSpPr>
          <p:cNvPr id="20" name="Text 17"/>
          <p:cNvSpPr txBox="1"/>
          <p:nvPr/>
        </p:nvSpPr>
        <p:spPr>
          <a:xfrm>
            <a:off x="640080" y="4041648"/>
            <a:ext cx="5303520" cy="256032"/>
          </a:xfrm>
          <a:prstGeom prst="rect">
            <a:avLst/>
          </a:prstGeom>
          <a:noFill/>
          <a:ln/>
        </p:spPr>
        <p:txBody>
          <a:bodyPr wrap="square" lIns="0" tIns="0" rIns="0" bIns="0" rtlCol="0" anchor="ctr"/>
          <a:lstStyle/>
          <a:p>
            <a:pPr algn="l" indent="0" marL="0">
              <a:buNone/>
            </a:pPr>
            <a:r>
              <a:rPr lang="en-US" sz="950" b="1" spc="200" kern="0" dirty="0">
                <a:solidFill>
                  <a:srgbClr val="8A6D1E"/>
                </a:solidFill>
                <a:latin typeface="Calibri" pitchFamily="34" charset="0"/>
                <a:cs typeface="Amiri" pitchFamily="2" charset="-78"/>
              </a:rPr>
              <a:t>HOW WE RUN IT ONLINE</a:t>
            </a:r>
            <a:endParaRPr lang="en-US" sz="950" dirty="0"/>
          </a:p>
        </p:txBody>
      </p:sp>
      <p:sp>
        <p:nvSpPr>
          <p:cNvPr id="21" name="Shape 18"/>
          <p:cNvSpPr/>
          <p:nvPr/>
        </p:nvSpPr>
        <p:spPr>
          <a:xfrm>
            <a:off x="658368" y="4407408"/>
            <a:ext cx="274320" cy="274320"/>
          </a:xfrm>
          <a:prstGeom prst="ellipse">
            <a:avLst/>
          </a:prstGeom>
          <a:solidFill>
            <a:srgbClr val="1B3B6F"/>
          </a:solidFill>
          <a:ln w="12700">
            <a:solidFill>
              <a:srgbClr val="1B3B6F"/>
            </a:solidFill>
            <a:prstDash val="solid"/>
          </a:ln>
        </p:spPr>
      </p:sp>
      <p:sp>
        <p:nvSpPr>
          <p:cNvPr id="22" name="Text 19"/>
          <p:cNvSpPr txBox="1"/>
          <p:nvPr/>
        </p:nvSpPr>
        <p:spPr>
          <a:xfrm>
            <a:off x="658368" y="4407408"/>
            <a:ext cx="274320" cy="274320"/>
          </a:xfrm>
          <a:prstGeom prst="rect">
            <a:avLst/>
          </a:prstGeom>
          <a:noFill/>
          <a:ln/>
        </p:spPr>
        <p:txBody>
          <a:bodyPr wrap="square" lIns="0" tIns="0" rIns="0" bIns="0" rtlCol="0" anchor="ctr"/>
          <a:lstStyle/>
          <a:p>
            <a:pPr algn="ctr" indent="0" marL="0">
              <a:buNone/>
            </a:pPr>
            <a:r>
              <a:rPr lang="en-US" sz="1000" b="1" dirty="0">
                <a:solidFill>
                  <a:srgbClr val="FFFFFF"/>
                </a:solidFill>
                <a:latin typeface="Calibri" pitchFamily="34" charset="0"/>
                <a:cs typeface="Amiri" pitchFamily="2" charset="-78"/>
              </a:rPr>
              <a:t>1</a:t>
            </a:r>
            <a:endParaRPr lang="en-US" sz="1000" dirty="0"/>
          </a:p>
        </p:txBody>
      </p:sp>
      <p:sp>
        <p:nvSpPr>
          <p:cNvPr id="23" name="Text 20"/>
          <p:cNvSpPr txBox="1"/>
          <p:nvPr/>
        </p:nvSpPr>
        <p:spPr>
          <a:xfrm>
            <a:off x="1024128" y="4334256"/>
            <a:ext cx="4983480" cy="457200"/>
          </a:xfrm>
          <a:prstGeom prst="rect">
            <a:avLst/>
          </a:prstGeom>
          <a:noFill/>
          <a:ln/>
        </p:spPr>
        <p:txBody>
          <a:bodyPr wrap="square" lIns="0" tIns="0" rIns="0" bIns="0" rtlCol="0" anchor="ctr"/>
          <a:lstStyle/>
          <a:p>
            <a:pPr algn="l" indent="0" marL="0">
              <a:buNone/>
            </a:pPr>
            <a:r>
              <a:rPr lang="en-US" sz="1150" dirty="0">
                <a:solidFill>
                  <a:srgbClr val="1F2A37"/>
                </a:solidFill>
                <a:latin typeface="Calibri" pitchFamily="34" charset="0"/>
                <a:cs typeface="Amiri" pitchFamily="2" charset="-78"/>
              </a:rPr>
              <a:t>Think for 30 seconds: 2 key words from EACH lesson, no sentences.</a:t>
            </a:r>
            <a:endParaRPr lang="en-US" sz="1150" dirty="0"/>
          </a:p>
        </p:txBody>
      </p:sp>
      <p:sp>
        <p:nvSpPr>
          <p:cNvPr id="24" name="Shape 21"/>
          <p:cNvSpPr/>
          <p:nvPr/>
        </p:nvSpPr>
        <p:spPr>
          <a:xfrm>
            <a:off x="658368" y="4864608"/>
            <a:ext cx="274320" cy="274320"/>
          </a:xfrm>
          <a:prstGeom prst="ellipse">
            <a:avLst/>
          </a:prstGeom>
          <a:solidFill>
            <a:srgbClr val="1B3B6F"/>
          </a:solidFill>
          <a:ln w="12700">
            <a:solidFill>
              <a:srgbClr val="1B3B6F"/>
            </a:solidFill>
            <a:prstDash val="solid"/>
          </a:ln>
        </p:spPr>
      </p:sp>
      <p:sp>
        <p:nvSpPr>
          <p:cNvPr id="25" name="Text 22"/>
          <p:cNvSpPr txBox="1"/>
          <p:nvPr/>
        </p:nvSpPr>
        <p:spPr>
          <a:xfrm>
            <a:off x="658368" y="4864608"/>
            <a:ext cx="274320" cy="274320"/>
          </a:xfrm>
          <a:prstGeom prst="rect">
            <a:avLst/>
          </a:prstGeom>
          <a:noFill/>
          <a:ln/>
        </p:spPr>
        <p:txBody>
          <a:bodyPr wrap="square" lIns="0" tIns="0" rIns="0" bIns="0" rtlCol="0" anchor="ctr"/>
          <a:lstStyle/>
          <a:p>
            <a:pPr algn="ctr" indent="0" marL="0">
              <a:buNone/>
            </a:pPr>
            <a:r>
              <a:rPr lang="en-US" sz="1000" b="1" dirty="0">
                <a:solidFill>
                  <a:srgbClr val="FFFFFF"/>
                </a:solidFill>
                <a:latin typeface="Calibri" pitchFamily="34" charset="0"/>
                <a:cs typeface="Amiri" pitchFamily="2" charset="-78"/>
              </a:rPr>
              <a:t>2</a:t>
            </a:r>
            <a:endParaRPr lang="en-US" sz="1000" dirty="0"/>
          </a:p>
        </p:txBody>
      </p:sp>
      <p:sp>
        <p:nvSpPr>
          <p:cNvPr id="26" name="Text 23"/>
          <p:cNvSpPr txBox="1"/>
          <p:nvPr/>
        </p:nvSpPr>
        <p:spPr>
          <a:xfrm>
            <a:off x="1024128" y="4791456"/>
            <a:ext cx="4983480" cy="457200"/>
          </a:xfrm>
          <a:prstGeom prst="rect">
            <a:avLst/>
          </a:prstGeom>
          <a:noFill/>
          <a:ln/>
        </p:spPr>
        <p:txBody>
          <a:bodyPr wrap="square" lIns="0" tIns="0" rIns="0" bIns="0" rtlCol="0" anchor="ctr"/>
          <a:lstStyle/>
          <a:p>
            <a:pPr algn="l" indent="0" marL="0">
              <a:buNone/>
            </a:pPr>
            <a:r>
              <a:rPr lang="en-US" sz="1150" dirty="0">
                <a:solidFill>
                  <a:srgbClr val="1F2A37"/>
                </a:solidFill>
                <a:latin typeface="Calibri" pitchFamily="34" charset="0"/>
                <a:cs typeface="Amiri" pitchFamily="2" charset="-78"/>
              </a:rPr>
              <a:t>Speaker talks; the partner times it.</a:t>
            </a:r>
            <a:endParaRPr lang="en-US" sz="1150" dirty="0"/>
          </a:p>
        </p:txBody>
      </p:sp>
      <p:sp>
        <p:nvSpPr>
          <p:cNvPr id="27" name="Shape 24"/>
          <p:cNvSpPr/>
          <p:nvPr/>
        </p:nvSpPr>
        <p:spPr>
          <a:xfrm>
            <a:off x="658368" y="5321808"/>
            <a:ext cx="274320" cy="274320"/>
          </a:xfrm>
          <a:prstGeom prst="ellipse">
            <a:avLst/>
          </a:prstGeom>
          <a:solidFill>
            <a:srgbClr val="1B3B6F"/>
          </a:solidFill>
          <a:ln w="12700">
            <a:solidFill>
              <a:srgbClr val="1B3B6F"/>
            </a:solidFill>
            <a:prstDash val="solid"/>
          </a:ln>
        </p:spPr>
      </p:sp>
      <p:sp>
        <p:nvSpPr>
          <p:cNvPr id="28" name="Text 25"/>
          <p:cNvSpPr txBox="1"/>
          <p:nvPr/>
        </p:nvSpPr>
        <p:spPr>
          <a:xfrm>
            <a:off x="658368" y="5321808"/>
            <a:ext cx="274320" cy="274320"/>
          </a:xfrm>
          <a:prstGeom prst="rect">
            <a:avLst/>
          </a:prstGeom>
          <a:noFill/>
          <a:ln/>
        </p:spPr>
        <p:txBody>
          <a:bodyPr wrap="square" lIns="0" tIns="0" rIns="0" bIns="0" rtlCol="0" anchor="ctr"/>
          <a:lstStyle/>
          <a:p>
            <a:pPr algn="ctr" indent="0" marL="0">
              <a:buNone/>
            </a:pPr>
            <a:r>
              <a:rPr lang="en-US" sz="1000" b="1" dirty="0">
                <a:solidFill>
                  <a:srgbClr val="FFFFFF"/>
                </a:solidFill>
                <a:latin typeface="Calibri" pitchFamily="34" charset="0"/>
                <a:cs typeface="Amiri" pitchFamily="2" charset="-78"/>
              </a:rPr>
              <a:t>3</a:t>
            </a:r>
            <a:endParaRPr lang="en-US" sz="1000" dirty="0"/>
          </a:p>
        </p:txBody>
      </p:sp>
      <p:sp>
        <p:nvSpPr>
          <p:cNvPr id="29" name="Text 26"/>
          <p:cNvSpPr txBox="1"/>
          <p:nvPr/>
        </p:nvSpPr>
        <p:spPr>
          <a:xfrm>
            <a:off x="1024128" y="5248656"/>
            <a:ext cx="4983480" cy="457200"/>
          </a:xfrm>
          <a:prstGeom prst="rect">
            <a:avLst/>
          </a:prstGeom>
          <a:noFill/>
          <a:ln/>
        </p:spPr>
        <p:txBody>
          <a:bodyPr wrap="square" lIns="0" tIns="0" rIns="0" bIns="0" rtlCol="0" anchor="ctr"/>
          <a:lstStyle/>
          <a:p>
            <a:pPr algn="l" indent="0" marL="0">
              <a:buNone/>
            </a:pPr>
            <a:r>
              <a:rPr lang="en-US" sz="1150" dirty="0">
                <a:solidFill>
                  <a:srgbClr val="1F2A37"/>
                </a:solidFill>
                <a:latin typeface="Calibri" pitchFamily="34" charset="0"/>
                <a:cs typeface="Amiri" pitchFamily="2" charset="-78"/>
              </a:rPr>
              <a:t>Partner: one thing that went well + one thing to improve.</a:t>
            </a:r>
            <a:endParaRPr lang="en-US" sz="1150" dirty="0"/>
          </a:p>
        </p:txBody>
      </p:sp>
      <p:sp>
        <p:nvSpPr>
          <p:cNvPr id="30" name="Shape 27"/>
          <p:cNvSpPr/>
          <p:nvPr/>
        </p:nvSpPr>
        <p:spPr>
          <a:xfrm>
            <a:off x="658368" y="5779008"/>
            <a:ext cx="274320" cy="274320"/>
          </a:xfrm>
          <a:prstGeom prst="ellipse">
            <a:avLst/>
          </a:prstGeom>
          <a:solidFill>
            <a:srgbClr val="1B3B6F"/>
          </a:solidFill>
          <a:ln w="12700">
            <a:solidFill>
              <a:srgbClr val="1B3B6F"/>
            </a:solidFill>
            <a:prstDash val="solid"/>
          </a:ln>
        </p:spPr>
      </p:sp>
      <p:sp>
        <p:nvSpPr>
          <p:cNvPr id="31" name="Text 28"/>
          <p:cNvSpPr txBox="1"/>
          <p:nvPr/>
        </p:nvSpPr>
        <p:spPr>
          <a:xfrm>
            <a:off x="658368" y="5779008"/>
            <a:ext cx="274320" cy="274320"/>
          </a:xfrm>
          <a:prstGeom prst="rect">
            <a:avLst/>
          </a:prstGeom>
          <a:noFill/>
          <a:ln/>
        </p:spPr>
        <p:txBody>
          <a:bodyPr wrap="square" lIns="0" tIns="0" rIns="0" bIns="0" rtlCol="0" anchor="ctr"/>
          <a:lstStyle/>
          <a:p>
            <a:pPr algn="ctr" indent="0" marL="0">
              <a:buNone/>
            </a:pPr>
            <a:r>
              <a:rPr lang="en-US" sz="1000" b="1" dirty="0">
                <a:solidFill>
                  <a:srgbClr val="FFFFFF"/>
                </a:solidFill>
                <a:latin typeface="Calibri" pitchFamily="34" charset="0"/>
                <a:cs typeface="Amiri" pitchFamily="2" charset="-78"/>
              </a:rPr>
              <a:t>4</a:t>
            </a:r>
            <a:endParaRPr lang="en-US" sz="1000" dirty="0"/>
          </a:p>
        </p:txBody>
      </p:sp>
      <p:sp>
        <p:nvSpPr>
          <p:cNvPr id="32" name="Text 29"/>
          <p:cNvSpPr txBox="1"/>
          <p:nvPr/>
        </p:nvSpPr>
        <p:spPr>
          <a:xfrm>
            <a:off x="1024128" y="5705856"/>
            <a:ext cx="4983480" cy="457200"/>
          </a:xfrm>
          <a:prstGeom prst="rect">
            <a:avLst/>
          </a:prstGeom>
          <a:noFill/>
          <a:ln/>
        </p:spPr>
        <p:txBody>
          <a:bodyPr wrap="square" lIns="0" tIns="0" rIns="0" bIns="0" rtlCol="0" anchor="ctr"/>
          <a:lstStyle/>
          <a:p>
            <a:pPr algn="l" indent="0" marL="0">
              <a:buNone/>
            </a:pPr>
            <a:r>
              <a:rPr lang="en-US" sz="1150" dirty="0">
                <a:solidFill>
                  <a:srgbClr val="1F2A37"/>
                </a:solidFill>
                <a:latin typeface="Calibri" pitchFamily="34" charset="0"/>
                <a:cs typeface="Amiri" pitchFamily="2" charset="-78"/>
              </a:rPr>
              <a:t>Swap — then the teacher invites two volunteers.</a:t>
            </a:r>
            <a:endParaRPr lang="en-US" sz="1150" dirty="0"/>
          </a:p>
        </p:txBody>
      </p:sp>
      <p:sp>
        <p:nvSpPr>
          <p:cNvPr id="33" name="Shape 30"/>
          <p:cNvSpPr/>
          <p:nvPr/>
        </p:nvSpPr>
        <p:spPr>
          <a:xfrm>
            <a:off x="6355080" y="1810512"/>
            <a:ext cx="5376672" cy="896112"/>
          </a:xfrm>
          <a:prstGeom prst="roundRect">
            <a:avLst>
              <a:gd name="adj" fmla="val 8163"/>
            </a:avLst>
          </a:prstGeom>
          <a:solidFill>
            <a:srgbClr val="E9F5EE"/>
          </a:solidFill>
          <a:ln w="9525">
            <a:solidFill>
              <a:srgbClr val="2E8B57"/>
            </a:solidFill>
            <a:prstDash val="solid"/>
          </a:ln>
          <a:effectLst>
            <a:outerShdw sx="100000" sy="100000" kx="0" ky="0" algn="bl" rotWithShape="0" blurRad="50800" dist="19050" dir="5400000">
              <a:srgbClr val="000000">
                <a:alpha val="10000"/>
              </a:srgbClr>
            </a:outerShdw>
          </a:effectLst>
        </p:spPr>
      </p:sp>
      <p:sp>
        <p:nvSpPr>
          <p:cNvPr id="34" name="Shape 31"/>
          <p:cNvSpPr/>
          <p:nvPr/>
        </p:nvSpPr>
        <p:spPr>
          <a:xfrm>
            <a:off x="6473952" y="1901952"/>
            <a:ext cx="1051560" cy="256032"/>
          </a:xfrm>
          <a:prstGeom prst="roundRect">
            <a:avLst>
              <a:gd name="adj" fmla="val 50000"/>
            </a:avLst>
          </a:prstGeom>
          <a:solidFill>
            <a:srgbClr val="2E8B57"/>
          </a:solidFill>
          <a:ln w="12700">
            <a:solidFill>
              <a:srgbClr val="2E8B57"/>
            </a:solidFill>
            <a:prstDash val="solid"/>
          </a:ln>
        </p:spPr>
      </p:sp>
      <p:sp>
        <p:nvSpPr>
          <p:cNvPr id="35" name="Text 32"/>
          <p:cNvSpPr txBox="1"/>
          <p:nvPr/>
        </p:nvSpPr>
        <p:spPr>
          <a:xfrm>
            <a:off x="6473952" y="1901952"/>
            <a:ext cx="1051560" cy="256032"/>
          </a:xfrm>
          <a:prstGeom prst="rect">
            <a:avLst/>
          </a:prstGeom>
          <a:noFill/>
          <a:ln/>
        </p:spPr>
        <p:txBody>
          <a:bodyPr wrap="square" lIns="0" tIns="0" rIns="0" bIns="0" rtlCol="0" anchor="ctr"/>
          <a:lstStyle/>
          <a:p>
            <a:pPr algn="ctr" indent="0" marL="0">
              <a:buNone/>
            </a:pPr>
            <a:r>
              <a:rPr lang="en-US" sz="850" b="1" spc="100" kern="0" dirty="0">
                <a:solidFill>
                  <a:srgbClr val="FFFFFF"/>
                </a:solidFill>
                <a:latin typeface="Calibri" pitchFamily="34" charset="0"/>
                <a:cs typeface="Amiri" pitchFamily="2" charset="-78"/>
              </a:rPr>
              <a:t>CORE</a:t>
            </a:r>
            <a:endParaRPr lang="en-US" sz="850" dirty="0"/>
          </a:p>
        </p:txBody>
      </p:sp>
      <p:sp>
        <p:nvSpPr>
          <p:cNvPr id="36" name="Text 33"/>
          <p:cNvSpPr txBox="1"/>
          <p:nvPr/>
        </p:nvSpPr>
        <p:spPr>
          <a:xfrm>
            <a:off x="6473952" y="2176272"/>
            <a:ext cx="5120640" cy="475488"/>
          </a:xfrm>
          <a:prstGeom prst="rect">
            <a:avLst/>
          </a:prstGeom>
          <a:noFill/>
          <a:ln/>
        </p:spPr>
        <p:txBody>
          <a:bodyPr wrap="square" lIns="0" tIns="0" rIns="0" bIns="0" rtlCol="0" anchor="ctr"/>
          <a:lstStyle/>
          <a:p>
            <a:pPr rtl="1" algn="r" indent="0" marL="0">
              <a:buNone/>
            </a:pPr>
            <a:r>
              <a:rPr lang="ar-SA" altLang="en-US" sz="1450" dirty="0">
                <a:solidFill>
                  <a:srgbClr val="1F2A37"/>
                </a:solidFill>
                <a:latin typeface="Amiri" pitchFamily="2" charset="-78"/>
                <a:ea typeface="Amiri" pitchFamily="2" charset="-78"/>
                <a:cs typeface="Amiri" pitchFamily="2" charset="-78"/>
              </a:rPr>
              <a:t>هٰذَا … اسْمُهُ … هُوَ … · هٰذِهِ … اسْمُهَا … هِيَ …</a:t>
            </a:r>
            <a:endParaRPr lang="ar-SA" sz="1450" dirty="0"/>
          </a:p>
        </p:txBody>
      </p:sp>
      <p:sp>
        <p:nvSpPr>
          <p:cNvPr id="37" name="Shape 34"/>
          <p:cNvSpPr/>
          <p:nvPr/>
        </p:nvSpPr>
        <p:spPr>
          <a:xfrm>
            <a:off x="6355080" y="2816352"/>
            <a:ext cx="5376672" cy="896112"/>
          </a:xfrm>
          <a:prstGeom prst="roundRect">
            <a:avLst>
              <a:gd name="adj" fmla="val 8163"/>
            </a:avLst>
          </a:prstGeom>
          <a:solidFill>
            <a:srgbClr val="FCF1E0"/>
          </a:solidFill>
          <a:ln w="9525">
            <a:solidFill>
              <a:srgbClr val="C9780A"/>
            </a:solidFill>
            <a:prstDash val="solid"/>
          </a:ln>
          <a:effectLst>
            <a:outerShdw sx="100000" sy="100000" kx="0" ky="0" algn="bl" rotWithShape="0" blurRad="50800" dist="19050" dir="5400000">
              <a:srgbClr val="000000">
                <a:alpha val="10000"/>
              </a:srgbClr>
            </a:outerShdw>
          </a:effectLst>
        </p:spPr>
      </p:sp>
      <p:sp>
        <p:nvSpPr>
          <p:cNvPr id="38" name="Shape 35"/>
          <p:cNvSpPr/>
          <p:nvPr/>
        </p:nvSpPr>
        <p:spPr>
          <a:xfrm>
            <a:off x="6473952" y="2907792"/>
            <a:ext cx="1051560" cy="256032"/>
          </a:xfrm>
          <a:prstGeom prst="roundRect">
            <a:avLst>
              <a:gd name="adj" fmla="val 50000"/>
            </a:avLst>
          </a:prstGeom>
          <a:solidFill>
            <a:srgbClr val="C9780A"/>
          </a:solidFill>
          <a:ln w="12700">
            <a:solidFill>
              <a:srgbClr val="C9780A"/>
            </a:solidFill>
            <a:prstDash val="solid"/>
          </a:ln>
        </p:spPr>
      </p:sp>
      <p:sp>
        <p:nvSpPr>
          <p:cNvPr id="39" name="Text 36"/>
          <p:cNvSpPr txBox="1"/>
          <p:nvPr/>
        </p:nvSpPr>
        <p:spPr>
          <a:xfrm>
            <a:off x="6473952" y="2907792"/>
            <a:ext cx="1051560" cy="256032"/>
          </a:xfrm>
          <a:prstGeom prst="rect">
            <a:avLst/>
          </a:prstGeom>
          <a:noFill/>
          <a:ln/>
        </p:spPr>
        <p:txBody>
          <a:bodyPr wrap="square" lIns="0" tIns="0" rIns="0" bIns="0" rtlCol="0" anchor="ctr"/>
          <a:lstStyle/>
          <a:p>
            <a:pPr algn="ctr" indent="0" marL="0">
              <a:buNone/>
            </a:pPr>
            <a:r>
              <a:rPr lang="en-US" sz="850" b="1" spc="100" kern="0" dirty="0">
                <a:solidFill>
                  <a:srgbClr val="FFFFFF"/>
                </a:solidFill>
                <a:latin typeface="Calibri" pitchFamily="34" charset="0"/>
                <a:cs typeface="Amiri" pitchFamily="2" charset="-78"/>
              </a:rPr>
              <a:t>DEVELOP</a:t>
            </a:r>
            <a:endParaRPr lang="en-US" sz="850" dirty="0"/>
          </a:p>
        </p:txBody>
      </p:sp>
      <p:sp>
        <p:nvSpPr>
          <p:cNvPr id="40" name="Text 37"/>
          <p:cNvSpPr txBox="1"/>
          <p:nvPr/>
        </p:nvSpPr>
        <p:spPr>
          <a:xfrm>
            <a:off x="6473952" y="3182112"/>
            <a:ext cx="5120640" cy="475488"/>
          </a:xfrm>
          <a:prstGeom prst="rect">
            <a:avLst/>
          </a:prstGeom>
          <a:noFill/>
          <a:ln/>
        </p:spPr>
        <p:txBody>
          <a:bodyPr wrap="square" lIns="0" tIns="0" rIns="0" bIns="0" rtlCol="0" anchor="ctr"/>
          <a:lstStyle/>
          <a:p>
            <a:pPr algn="l" indent="0" marL="0">
              <a:buNone/>
            </a:pPr>
            <a:r>
              <a:rPr lang="en-US" sz="1150" dirty="0">
                <a:solidFill>
                  <a:srgbClr val="1F2A37"/>
                </a:solidFill>
                <a:latin typeface="Calibri" pitchFamily="34" charset="0"/>
                <a:cs typeface="Amiri" pitchFamily="2" charset="-78"/>
              </a:rPr>
              <a:t>Add hair and two personality adjectives for each person.</a:t>
            </a:r>
            <a:endParaRPr lang="en-US" sz="1150" dirty="0"/>
          </a:p>
        </p:txBody>
      </p:sp>
      <p:sp>
        <p:nvSpPr>
          <p:cNvPr id="41" name="Shape 38"/>
          <p:cNvSpPr/>
          <p:nvPr/>
        </p:nvSpPr>
        <p:spPr>
          <a:xfrm>
            <a:off x="6355080" y="3822192"/>
            <a:ext cx="5376672" cy="896112"/>
          </a:xfrm>
          <a:prstGeom prst="roundRect">
            <a:avLst>
              <a:gd name="adj" fmla="val 8163"/>
            </a:avLst>
          </a:prstGeom>
          <a:solidFill>
            <a:srgbClr val="FBEAEA"/>
          </a:solidFill>
          <a:ln w="9525">
            <a:solidFill>
              <a:srgbClr val="B83227"/>
            </a:solidFill>
            <a:prstDash val="solid"/>
          </a:ln>
          <a:effectLst>
            <a:outerShdw sx="100000" sy="100000" kx="0" ky="0" algn="bl" rotWithShape="0" blurRad="50800" dist="19050" dir="5400000">
              <a:srgbClr val="000000">
                <a:alpha val="10000"/>
              </a:srgbClr>
            </a:outerShdw>
          </a:effectLst>
        </p:spPr>
      </p:sp>
      <p:sp>
        <p:nvSpPr>
          <p:cNvPr id="42" name="Shape 39"/>
          <p:cNvSpPr/>
          <p:nvPr/>
        </p:nvSpPr>
        <p:spPr>
          <a:xfrm>
            <a:off x="6473952" y="3913632"/>
            <a:ext cx="1051560" cy="256032"/>
          </a:xfrm>
          <a:prstGeom prst="roundRect">
            <a:avLst>
              <a:gd name="adj" fmla="val 50000"/>
            </a:avLst>
          </a:prstGeom>
          <a:solidFill>
            <a:srgbClr val="B83227"/>
          </a:solidFill>
          <a:ln w="12700">
            <a:solidFill>
              <a:srgbClr val="B83227"/>
            </a:solidFill>
            <a:prstDash val="solid"/>
          </a:ln>
        </p:spPr>
      </p:sp>
      <p:sp>
        <p:nvSpPr>
          <p:cNvPr id="43" name="Text 40"/>
          <p:cNvSpPr txBox="1"/>
          <p:nvPr/>
        </p:nvSpPr>
        <p:spPr>
          <a:xfrm>
            <a:off x="6473952" y="3913632"/>
            <a:ext cx="1051560" cy="256032"/>
          </a:xfrm>
          <a:prstGeom prst="rect">
            <a:avLst/>
          </a:prstGeom>
          <a:noFill/>
          <a:ln/>
        </p:spPr>
        <p:txBody>
          <a:bodyPr wrap="square" lIns="0" tIns="0" rIns="0" bIns="0" rtlCol="0" anchor="ctr"/>
          <a:lstStyle/>
          <a:p>
            <a:pPr algn="ctr" indent="0" marL="0">
              <a:buNone/>
            </a:pPr>
            <a:r>
              <a:rPr lang="en-US" sz="850" b="1" spc="100" kern="0" dirty="0">
                <a:solidFill>
                  <a:srgbClr val="FFFFFF"/>
                </a:solidFill>
                <a:latin typeface="Calibri" pitchFamily="34" charset="0"/>
                <a:cs typeface="Amiri" pitchFamily="2" charset="-78"/>
              </a:rPr>
              <a:t>STRETCH</a:t>
            </a:r>
            <a:endParaRPr lang="en-US" sz="850" dirty="0"/>
          </a:p>
        </p:txBody>
      </p:sp>
      <p:sp>
        <p:nvSpPr>
          <p:cNvPr id="44" name="Text 41"/>
          <p:cNvSpPr txBox="1"/>
          <p:nvPr/>
        </p:nvSpPr>
        <p:spPr>
          <a:xfrm>
            <a:off x="6473952" y="4187952"/>
            <a:ext cx="5120640" cy="475488"/>
          </a:xfrm>
          <a:prstGeom prst="rect">
            <a:avLst/>
          </a:prstGeom>
          <a:noFill/>
          <a:ln/>
        </p:spPr>
        <p:txBody>
          <a:bodyPr wrap="square" lIns="0" tIns="0" rIns="0" bIns="0" rtlCol="0" anchor="ctr"/>
          <a:lstStyle/>
          <a:p>
            <a:pPr algn="l" indent="0" marL="0">
              <a:buNone/>
            </a:pPr>
            <a:r>
              <a:rPr lang="en-US" sz="1150" dirty="0">
                <a:solidFill>
                  <a:srgbClr val="1F2A37"/>
                </a:solidFill>
                <a:latin typeface="Calibri" pitchFamily="34" charset="0"/>
                <a:cs typeface="Amiri" pitchFamily="2" charset="-78"/>
              </a:rPr>
              <a:t>Compare: </a:t>
            </a:r>
            <a:pPr algn="l" indent="0" marL="0">
              <a:buNone/>
            </a:pPr>
            <a:r>
              <a:rPr lang="ar-SA" altLang="en-US" sz="1500" dirty="0">
                <a:solidFill>
                  <a:srgbClr val="1F2A37"/>
                </a:solidFill>
                <a:latin typeface="Amiri" pitchFamily="2" charset="-78"/>
                <a:ea typeface="Amiri" pitchFamily="2" charset="-78"/>
                <a:cs typeface="Amiri" pitchFamily="2" charset="-78"/>
              </a:rPr>
              <a:t>أَخِي أَطْوَلُ مِنِّي</a:t>
            </a:r>
            <a:pPr algn="l" indent="0" marL="0">
              <a:buNone/>
            </a:pPr>
            <a:r>
              <a:rPr lang="en-US" sz="1150" dirty="0">
                <a:solidFill>
                  <a:srgbClr val="1F2A37"/>
                </a:solidFill>
                <a:latin typeface="Calibri" pitchFamily="34" charset="0"/>
                <a:cs typeface="Amiri" pitchFamily="2" charset="-78"/>
              </a:rPr>
              <a:t> … and give a reason with </a:t>
            </a:r>
            <a:pPr algn="l" indent="0" marL="0">
              <a:buNone/>
            </a:pPr>
            <a:r>
              <a:rPr lang="ar-SA" altLang="en-US" sz="1500" dirty="0">
                <a:solidFill>
                  <a:srgbClr val="1F2A37"/>
                </a:solidFill>
                <a:latin typeface="Amiri" pitchFamily="2" charset="-78"/>
                <a:ea typeface="Amiri" pitchFamily="2" charset="-78"/>
                <a:cs typeface="Amiri" pitchFamily="2" charset="-78"/>
              </a:rPr>
              <a:t>لِأَنَّهُ / لِأَنَّهَا</a:t>
            </a:r>
            <a:pPr algn="l" indent="0" marL="0">
              <a:buNone/>
            </a:pPr>
            <a:r>
              <a:rPr lang="en-US" sz="1150" dirty="0">
                <a:solidFill>
                  <a:srgbClr val="1F2A37"/>
                </a:solidFill>
                <a:latin typeface="Calibri" pitchFamily="34" charset="0"/>
                <a:cs typeface="Amiri" pitchFamily="2" charset="-78"/>
              </a:rPr>
              <a:t>.</a:t>
            </a:r>
            <a:endParaRPr lang="en-US" sz="1150" dirty="0"/>
          </a:p>
        </p:txBody>
      </p:sp>
      <p:sp>
        <p:nvSpPr>
          <p:cNvPr id="45" name="Shape 42"/>
          <p:cNvSpPr/>
          <p:nvPr/>
        </p:nvSpPr>
        <p:spPr>
          <a:xfrm>
            <a:off x="6355080" y="4828032"/>
            <a:ext cx="5376672" cy="1481328"/>
          </a:xfrm>
          <a:prstGeom prst="roundRect">
            <a:avLst>
              <a:gd name="adj" fmla="val 4938"/>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6" name="Text 43"/>
          <p:cNvSpPr txBox="1"/>
          <p:nvPr/>
        </p:nvSpPr>
        <p:spPr>
          <a:xfrm>
            <a:off x="6492240" y="4882896"/>
            <a:ext cx="2743200" cy="237744"/>
          </a:xfrm>
          <a:prstGeom prst="rect">
            <a:avLst/>
          </a:prstGeom>
          <a:noFill/>
          <a:ln/>
        </p:spPr>
        <p:txBody>
          <a:bodyPr wrap="square" lIns="0" tIns="0" rIns="0" bIns="0" rtlCol="0" anchor="ctr"/>
          <a:lstStyle/>
          <a:p>
            <a:pPr algn="l" indent="0" marL="0">
              <a:buNone/>
            </a:pPr>
            <a:r>
              <a:rPr lang="en-US" sz="950" b="1" spc="200" kern="0" dirty="0">
                <a:solidFill>
                  <a:srgbClr val="8A6D1E"/>
                </a:solidFill>
                <a:latin typeface="Calibri" pitchFamily="34" charset="0"/>
                <a:cs typeface="Amiri" pitchFamily="2" charset="-78"/>
              </a:rPr>
              <a:t>USEFUL LANGUAGE</a:t>
            </a:r>
            <a:endParaRPr lang="en-US" sz="950" dirty="0"/>
          </a:p>
        </p:txBody>
      </p:sp>
      <p:sp>
        <p:nvSpPr>
          <p:cNvPr id="47" name="Text 44"/>
          <p:cNvSpPr txBox="1"/>
          <p:nvPr/>
        </p:nvSpPr>
        <p:spPr>
          <a:xfrm>
            <a:off x="8732520" y="5138928"/>
            <a:ext cx="2880360" cy="283464"/>
          </a:xfrm>
          <a:prstGeom prst="rect">
            <a:avLst/>
          </a:prstGeom>
          <a:noFill/>
          <a:ln/>
        </p:spPr>
        <p:txBody>
          <a:bodyPr wrap="square" lIns="0" tIns="0" rIns="0" bIns="0" rtlCol="0" anchor="ctr"/>
          <a:lstStyle/>
          <a:p>
            <a:pPr rtl="1" algn="r" indent="0" marL="0">
              <a:buNone/>
            </a:pPr>
            <a:r>
              <a:rPr lang="ar-SA" altLang="en-US" sz="1300" b="1" dirty="0">
                <a:solidFill>
                  <a:srgbClr val="1B3B6F"/>
                </a:solidFill>
                <a:latin typeface="Amiri" pitchFamily="2" charset="-78"/>
                <a:ea typeface="Amiri" pitchFamily="2" charset="-78"/>
                <a:cs typeface="Amiri" pitchFamily="2" charset="-78"/>
              </a:rPr>
              <a:t>هٰذَا جَدِّي · هٰذِهِ عَمَّتِي</a:t>
            </a:r>
            <a:endParaRPr lang="ar-SA" sz="1300" dirty="0"/>
          </a:p>
        </p:txBody>
      </p:sp>
      <p:sp>
        <p:nvSpPr>
          <p:cNvPr id="48" name="Text 45"/>
          <p:cNvSpPr txBox="1"/>
          <p:nvPr/>
        </p:nvSpPr>
        <p:spPr>
          <a:xfrm>
            <a:off x="6492240" y="5138928"/>
            <a:ext cx="2194560" cy="283464"/>
          </a:xfrm>
          <a:prstGeom prst="rect">
            <a:avLst/>
          </a:prstGeom>
          <a:noFill/>
          <a:ln/>
        </p:spPr>
        <p:txBody>
          <a:bodyPr wrap="square" lIns="0" tIns="0" rIns="0" bIns="0" rtlCol="0" anchor="ctr"/>
          <a:lstStyle/>
          <a:p>
            <a:pPr algn="l" indent="0" marL="0">
              <a:buNone/>
            </a:pPr>
            <a:r>
              <a:rPr lang="en-US" sz="1000" i="1" dirty="0">
                <a:solidFill>
                  <a:srgbClr val="5A6472"/>
                </a:solidFill>
                <a:latin typeface="Calibri" pitchFamily="34" charset="0"/>
                <a:cs typeface="Amiri" pitchFamily="2" charset="-78"/>
              </a:rPr>
              <a:t>this is my grandfather · my aunt</a:t>
            </a:r>
            <a:endParaRPr lang="en-US" sz="1000" dirty="0"/>
          </a:p>
        </p:txBody>
      </p:sp>
      <p:sp>
        <p:nvSpPr>
          <p:cNvPr id="49" name="Text 46"/>
          <p:cNvSpPr txBox="1"/>
          <p:nvPr/>
        </p:nvSpPr>
        <p:spPr>
          <a:xfrm>
            <a:off x="8732520" y="5422392"/>
            <a:ext cx="2880360" cy="283464"/>
          </a:xfrm>
          <a:prstGeom prst="rect">
            <a:avLst/>
          </a:prstGeom>
          <a:noFill/>
          <a:ln/>
        </p:spPr>
        <p:txBody>
          <a:bodyPr wrap="square" lIns="0" tIns="0" rIns="0" bIns="0" rtlCol="0" anchor="ctr"/>
          <a:lstStyle/>
          <a:p>
            <a:pPr rtl="1" algn="r" indent="0" marL="0">
              <a:buNone/>
            </a:pPr>
            <a:r>
              <a:rPr lang="ar-SA" altLang="en-US" sz="1300" b="1" dirty="0">
                <a:solidFill>
                  <a:srgbClr val="1B3B6F"/>
                </a:solidFill>
                <a:latin typeface="Amiri" pitchFamily="2" charset="-78"/>
                <a:ea typeface="Amiri" pitchFamily="2" charset="-78"/>
                <a:cs typeface="Amiri" pitchFamily="2" charset="-78"/>
              </a:rPr>
              <a:t>هُوَ طَوِيلٌ · هِيَ قَصِيرَةٌ</a:t>
            </a:r>
            <a:endParaRPr lang="ar-SA" sz="1300" dirty="0"/>
          </a:p>
        </p:txBody>
      </p:sp>
      <p:sp>
        <p:nvSpPr>
          <p:cNvPr id="50" name="Text 47"/>
          <p:cNvSpPr txBox="1"/>
          <p:nvPr/>
        </p:nvSpPr>
        <p:spPr>
          <a:xfrm>
            <a:off x="6492240" y="5422392"/>
            <a:ext cx="2194560" cy="283464"/>
          </a:xfrm>
          <a:prstGeom prst="rect">
            <a:avLst/>
          </a:prstGeom>
          <a:noFill/>
          <a:ln/>
        </p:spPr>
        <p:txBody>
          <a:bodyPr wrap="square" lIns="0" tIns="0" rIns="0" bIns="0" rtlCol="0" anchor="ctr"/>
          <a:lstStyle/>
          <a:p>
            <a:pPr algn="l" indent="0" marL="0">
              <a:buNone/>
            </a:pPr>
            <a:r>
              <a:rPr lang="en-US" sz="1000" i="1" dirty="0">
                <a:solidFill>
                  <a:srgbClr val="5A6472"/>
                </a:solidFill>
                <a:latin typeface="Calibri" pitchFamily="34" charset="0"/>
                <a:cs typeface="Amiri" pitchFamily="2" charset="-78"/>
              </a:rPr>
              <a:t>he is tall · she is short</a:t>
            </a:r>
            <a:endParaRPr lang="en-US" sz="1000" dirty="0"/>
          </a:p>
        </p:txBody>
      </p:sp>
      <p:sp>
        <p:nvSpPr>
          <p:cNvPr id="51" name="Text 48"/>
          <p:cNvSpPr txBox="1"/>
          <p:nvPr/>
        </p:nvSpPr>
        <p:spPr>
          <a:xfrm>
            <a:off x="8732520" y="5705856"/>
            <a:ext cx="2880360" cy="283464"/>
          </a:xfrm>
          <a:prstGeom prst="rect">
            <a:avLst/>
          </a:prstGeom>
          <a:noFill/>
          <a:ln/>
        </p:spPr>
        <p:txBody>
          <a:bodyPr wrap="square" lIns="0" tIns="0" rIns="0" bIns="0" rtlCol="0" anchor="ctr"/>
          <a:lstStyle/>
          <a:p>
            <a:pPr rtl="1" algn="r" indent="0" marL="0">
              <a:buNone/>
            </a:pPr>
            <a:r>
              <a:rPr lang="ar-SA" altLang="en-US" sz="1300" b="1" dirty="0">
                <a:solidFill>
                  <a:srgbClr val="1B3B6F"/>
                </a:solidFill>
                <a:latin typeface="Amiri" pitchFamily="2" charset="-78"/>
                <a:ea typeface="Amiri" pitchFamily="2" charset="-78"/>
                <a:cs typeface="Amiri" pitchFamily="2" charset="-78"/>
              </a:rPr>
              <a:t>شَعْرُهُ / شَعْرُهَا …</a:t>
            </a:r>
            <a:endParaRPr lang="ar-SA" sz="1300" dirty="0"/>
          </a:p>
        </p:txBody>
      </p:sp>
      <p:sp>
        <p:nvSpPr>
          <p:cNvPr id="52" name="Text 49"/>
          <p:cNvSpPr txBox="1"/>
          <p:nvPr/>
        </p:nvSpPr>
        <p:spPr>
          <a:xfrm>
            <a:off x="6492240" y="5705856"/>
            <a:ext cx="2194560" cy="283464"/>
          </a:xfrm>
          <a:prstGeom prst="rect">
            <a:avLst/>
          </a:prstGeom>
          <a:noFill/>
          <a:ln/>
        </p:spPr>
        <p:txBody>
          <a:bodyPr wrap="square" lIns="0" tIns="0" rIns="0" bIns="0" rtlCol="0" anchor="ctr"/>
          <a:lstStyle/>
          <a:p>
            <a:pPr algn="l" indent="0" marL="0">
              <a:buNone/>
            </a:pPr>
            <a:r>
              <a:rPr lang="en-US" sz="1000" i="1" dirty="0">
                <a:solidFill>
                  <a:srgbClr val="5A6472"/>
                </a:solidFill>
                <a:latin typeface="Calibri" pitchFamily="34" charset="0"/>
                <a:cs typeface="Amiri" pitchFamily="2" charset="-78"/>
              </a:rPr>
              <a:t>his / her hair is …</a:t>
            </a:r>
            <a:endParaRPr lang="en-US" sz="1000" dirty="0"/>
          </a:p>
        </p:txBody>
      </p:sp>
      <p:sp>
        <p:nvSpPr>
          <p:cNvPr id="53" name="Text 50"/>
          <p:cNvSpPr txBox="1"/>
          <p:nvPr/>
        </p:nvSpPr>
        <p:spPr>
          <a:xfrm>
            <a:off x="8732520" y="5989320"/>
            <a:ext cx="2880360" cy="283464"/>
          </a:xfrm>
          <a:prstGeom prst="rect">
            <a:avLst/>
          </a:prstGeom>
          <a:noFill/>
          <a:ln/>
        </p:spPr>
        <p:txBody>
          <a:bodyPr wrap="square" lIns="0" tIns="0" rIns="0" bIns="0" rtlCol="0" anchor="ctr"/>
          <a:lstStyle/>
          <a:p>
            <a:pPr rtl="1" algn="r" indent="0" marL="0">
              <a:buNone/>
            </a:pPr>
            <a:r>
              <a:rPr lang="ar-SA" altLang="en-US" sz="1300" b="1" dirty="0">
                <a:solidFill>
                  <a:srgbClr val="1B3B6F"/>
                </a:solidFill>
                <a:latin typeface="Amiri" pitchFamily="2" charset="-78"/>
                <a:ea typeface="Amiri" pitchFamily="2" charset="-78"/>
                <a:cs typeface="Amiri" pitchFamily="2" charset="-78"/>
              </a:rPr>
              <a:t>أُحِبُّهُ / أُحِبُّهَا لِأَنَّ …</a:t>
            </a:r>
            <a:endParaRPr lang="ar-SA" sz="1300" dirty="0"/>
          </a:p>
        </p:txBody>
      </p:sp>
      <p:sp>
        <p:nvSpPr>
          <p:cNvPr id="54" name="Text 51"/>
          <p:cNvSpPr txBox="1"/>
          <p:nvPr/>
        </p:nvSpPr>
        <p:spPr>
          <a:xfrm>
            <a:off x="6492240" y="5989320"/>
            <a:ext cx="2194560" cy="283464"/>
          </a:xfrm>
          <a:prstGeom prst="rect">
            <a:avLst/>
          </a:prstGeom>
          <a:noFill/>
          <a:ln/>
        </p:spPr>
        <p:txBody>
          <a:bodyPr wrap="square" lIns="0" tIns="0" rIns="0" bIns="0" rtlCol="0" anchor="ctr"/>
          <a:lstStyle/>
          <a:p>
            <a:pPr algn="l" indent="0" marL="0">
              <a:buNone/>
            </a:pPr>
            <a:r>
              <a:rPr lang="en-US" sz="1000" i="1" dirty="0">
                <a:solidFill>
                  <a:srgbClr val="5A6472"/>
                </a:solidFill>
                <a:latin typeface="Calibri" pitchFamily="34" charset="0"/>
                <a:cs typeface="Amiri" pitchFamily="2" charset="-78"/>
              </a:rPr>
              <a:t>I love him / her because …</a:t>
            </a:r>
            <a:endParaRPr lang="en-US" sz="1000" dirty="0"/>
          </a:p>
        </p:txBody>
      </p:sp>
      <p:sp>
        <p:nvSpPr>
          <p:cNvPr id="55" name="Text 52"/>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13 / 24</a:t>
            </a:r>
            <a:endParaRPr lang="en-US" sz="850" dirty="0"/>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4">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F3-W01 · Apply workshop</a:t>
            </a:r>
            <a:endParaRPr lang="en-US" sz="950" dirty="0"/>
          </a:p>
        </p:txBody>
      </p:sp>
      <p:sp>
        <p:nvSpPr>
          <p:cNvPr id="8" name="Shape 6"/>
          <p:cNvSpPr/>
          <p:nvPr/>
        </p:nvSpPr>
        <p:spPr>
          <a:xfrm>
            <a:off x="7370978" y="274320"/>
            <a:ext cx="1388974" cy="329184"/>
          </a:xfrm>
          <a:prstGeom prst="roundRect">
            <a:avLst>
              <a:gd name="adj" fmla="val 50000"/>
            </a:avLst>
          </a:prstGeom>
          <a:solidFill>
            <a:srgbClr val="2F6FB0"/>
          </a:solidFill>
          <a:ln w="12700">
            <a:solidFill>
              <a:srgbClr val="2F6FB0"/>
            </a:solidFill>
            <a:prstDash val="solid"/>
          </a:ln>
        </p:spPr>
      </p:sp>
      <p:sp>
        <p:nvSpPr>
          <p:cNvPr id="9" name="Text 7"/>
          <p:cNvSpPr txBox="1"/>
          <p:nvPr/>
        </p:nvSpPr>
        <p:spPr>
          <a:xfrm>
            <a:off x="7370978" y="274320"/>
            <a:ext cx="1388974"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WE DO · 3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2F6FB0"/>
                </a:solidFill>
                <a:latin typeface="Calibri" pitchFamily="34" charset="0"/>
                <a:cs typeface="Amiri" pitchFamily="2" charset="-78"/>
              </a:rPr>
              <a:t>PART 3 · STEP 7 · SENTENCE BUILDER · FROM BOTH LESSONS</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Build three correct sentences</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ابْنِ الجُمْلَةَ</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Foundation F3 · My Family &amp; Home · F3-W01 · Apply workshop (F3-L01 + F3-L02)</a:t>
            </a:r>
            <a:endParaRPr lang="en-US" sz="850" dirty="0"/>
          </a:p>
        </p:txBody>
      </p:sp>
      <p:sp>
        <p:nvSpPr>
          <p:cNvPr id="15" name="Text 12"/>
          <p:cNvSpPr txBox="1"/>
          <p:nvPr/>
        </p:nvSpPr>
        <p:spPr>
          <a:xfrm>
            <a:off x="9180576" y="1700784"/>
            <a:ext cx="2414016" cy="256032"/>
          </a:xfrm>
          <a:prstGeom prst="rect">
            <a:avLst/>
          </a:prstGeom>
          <a:noFill/>
          <a:ln/>
        </p:spPr>
        <p:txBody>
          <a:bodyPr wrap="square" lIns="0" tIns="0" rIns="0" bIns="0" rtlCol="0" anchor="ctr"/>
          <a:lstStyle/>
          <a:p>
            <a:pPr algn="ctr" indent="0" marL="0">
              <a:buNone/>
            </a:pPr>
            <a:r>
              <a:rPr lang="en-US" sz="1000" b="1" dirty="0">
                <a:solidFill>
                  <a:srgbClr val="2F6FB0"/>
                </a:solidFill>
                <a:latin typeface="Calibri" pitchFamily="34" charset="0"/>
                <a:cs typeface="Amiri" pitchFamily="2" charset="-78"/>
              </a:rPr>
              <a:t>Column 1 · start here</a:t>
            </a:r>
            <a:endParaRPr lang="en-US" sz="1000" dirty="0"/>
          </a:p>
        </p:txBody>
      </p:sp>
      <p:sp>
        <p:nvSpPr>
          <p:cNvPr id="16" name="Text 13"/>
          <p:cNvSpPr txBox="1"/>
          <p:nvPr/>
        </p:nvSpPr>
        <p:spPr>
          <a:xfrm>
            <a:off x="6624828" y="1700784"/>
            <a:ext cx="2414016" cy="256032"/>
          </a:xfrm>
          <a:prstGeom prst="rect">
            <a:avLst/>
          </a:prstGeom>
          <a:noFill/>
          <a:ln/>
        </p:spPr>
        <p:txBody>
          <a:bodyPr wrap="square" lIns="0" tIns="0" rIns="0" bIns="0" rtlCol="0" anchor="ctr"/>
          <a:lstStyle/>
          <a:p>
            <a:pPr algn="ctr" indent="0" marL="0">
              <a:buNone/>
            </a:pPr>
            <a:r>
              <a:rPr lang="en-US" sz="1000" b="1" dirty="0">
                <a:solidFill>
                  <a:srgbClr val="2F6FB0"/>
                </a:solidFill>
                <a:latin typeface="Calibri" pitchFamily="34" charset="0"/>
                <a:cs typeface="Amiri" pitchFamily="2" charset="-78"/>
              </a:rPr>
              <a:t>Column 2</a:t>
            </a:r>
            <a:endParaRPr lang="en-US" sz="1000" dirty="0"/>
          </a:p>
        </p:txBody>
      </p:sp>
      <p:sp>
        <p:nvSpPr>
          <p:cNvPr id="17" name="Text 14"/>
          <p:cNvSpPr txBox="1"/>
          <p:nvPr/>
        </p:nvSpPr>
        <p:spPr>
          <a:xfrm>
            <a:off x="4069080" y="1700784"/>
            <a:ext cx="2414016" cy="256032"/>
          </a:xfrm>
          <a:prstGeom prst="rect">
            <a:avLst/>
          </a:prstGeom>
          <a:noFill/>
          <a:ln/>
        </p:spPr>
        <p:txBody>
          <a:bodyPr wrap="square" lIns="0" tIns="0" rIns="0" bIns="0" rtlCol="0" anchor="ctr"/>
          <a:lstStyle/>
          <a:p>
            <a:pPr algn="ctr" indent="0" marL="0">
              <a:buNone/>
            </a:pPr>
            <a:r>
              <a:rPr lang="en-US" sz="1000" b="1" dirty="0">
                <a:solidFill>
                  <a:srgbClr val="2F6FB0"/>
                </a:solidFill>
                <a:latin typeface="Calibri" pitchFamily="34" charset="0"/>
                <a:cs typeface="Amiri" pitchFamily="2" charset="-78"/>
              </a:rPr>
              <a:t>Column 3</a:t>
            </a:r>
            <a:endParaRPr lang="en-US" sz="1000" dirty="0"/>
          </a:p>
        </p:txBody>
      </p:sp>
      <p:sp>
        <p:nvSpPr>
          <p:cNvPr id="18" name="Shape 15"/>
          <p:cNvSpPr/>
          <p:nvPr/>
        </p:nvSpPr>
        <p:spPr>
          <a:xfrm>
            <a:off x="457200" y="2011680"/>
            <a:ext cx="11274552" cy="1261872"/>
          </a:xfrm>
          <a:prstGeom prst="roundRect">
            <a:avLst>
              <a:gd name="adj" fmla="val 5797"/>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9" name="Shape 16"/>
          <p:cNvSpPr/>
          <p:nvPr/>
        </p:nvSpPr>
        <p:spPr>
          <a:xfrm>
            <a:off x="594360" y="2148840"/>
            <a:ext cx="365760" cy="365760"/>
          </a:xfrm>
          <a:prstGeom prst="ellipse">
            <a:avLst/>
          </a:prstGeom>
          <a:solidFill>
            <a:srgbClr val="2F6FB0"/>
          </a:solidFill>
          <a:ln w="12700">
            <a:solidFill>
              <a:srgbClr val="2F6FB0"/>
            </a:solidFill>
            <a:prstDash val="solid"/>
          </a:ln>
        </p:spPr>
      </p:sp>
      <p:sp>
        <p:nvSpPr>
          <p:cNvPr id="20" name="Text 17"/>
          <p:cNvSpPr txBox="1"/>
          <p:nvPr/>
        </p:nvSpPr>
        <p:spPr>
          <a:xfrm>
            <a:off x="594360" y="2148840"/>
            <a:ext cx="365760" cy="365760"/>
          </a:xfrm>
          <a:prstGeom prst="rect">
            <a:avLst/>
          </a:prstGeom>
          <a:noFill/>
          <a:ln/>
        </p:spPr>
        <p:txBody>
          <a:bodyPr wrap="square" lIns="0" tIns="0" rIns="0" bIns="0" rtlCol="0" anchor="ctr"/>
          <a:lstStyle/>
          <a:p>
            <a:pPr algn="ctr" indent="0" marL="0">
              <a:buNone/>
            </a:pPr>
            <a:r>
              <a:rPr lang="en-US" sz="1200" b="1" dirty="0">
                <a:solidFill>
                  <a:srgbClr val="FFFFFF"/>
                </a:solidFill>
                <a:latin typeface="Calibri" pitchFamily="34" charset="0"/>
                <a:cs typeface="Amiri" pitchFamily="2" charset="-78"/>
              </a:rPr>
              <a:t>1</a:t>
            </a:r>
            <a:endParaRPr lang="en-US" sz="1200" dirty="0"/>
          </a:p>
        </p:txBody>
      </p:sp>
      <p:sp>
        <p:nvSpPr>
          <p:cNvPr id="21" name="Text 18"/>
          <p:cNvSpPr txBox="1"/>
          <p:nvPr/>
        </p:nvSpPr>
        <p:spPr>
          <a:xfrm>
            <a:off x="1051560" y="2121408"/>
            <a:ext cx="2834640" cy="1042416"/>
          </a:xfrm>
          <a:prstGeom prst="rect">
            <a:avLst/>
          </a:prstGeom>
          <a:noFill/>
          <a:ln/>
        </p:spPr>
        <p:txBody>
          <a:bodyPr wrap="square" lIns="0" tIns="0" rIns="0" bIns="0" rtlCol="0" anchor="t"/>
          <a:lstStyle/>
          <a:p>
            <a:pPr algn="l" indent="0" marL="0">
              <a:buNone/>
            </a:pPr>
            <a:r>
              <a:rPr lang="en-US" sz="1400" b="1" dirty="0">
                <a:solidFill>
                  <a:srgbClr val="1B3B6F"/>
                </a:solidFill>
                <a:latin typeface="Calibri" pitchFamily="34" charset="0"/>
                <a:cs typeface="Amiri" pitchFamily="2" charset="-78"/>
              </a:rPr>
              <a:t>This is my kind mother.</a:t>
            </a:r>
            <a:endParaRPr lang="en-US" sz="1400" dirty="0"/>
          </a:p>
        </p:txBody>
      </p:sp>
      <p:sp>
        <p:nvSpPr>
          <p:cNvPr id="22" name="Shape 19"/>
          <p:cNvSpPr/>
          <p:nvPr/>
        </p:nvSpPr>
        <p:spPr>
          <a:xfrm>
            <a:off x="9180576" y="2103120"/>
            <a:ext cx="2414016" cy="512064"/>
          </a:xfrm>
          <a:prstGeom prst="roundRect">
            <a:avLst>
              <a:gd name="adj" fmla="val 10714"/>
            </a:avLst>
          </a:prstGeom>
          <a:solidFill>
            <a:srgbClr val="EEF3FA"/>
          </a:solidFill>
          <a:ln w="9525">
            <a:solidFill>
              <a:srgbClr val="C9D6EA"/>
            </a:solidFill>
            <a:prstDash val="solid"/>
          </a:ln>
        </p:spPr>
      </p:sp>
      <p:sp>
        <p:nvSpPr>
          <p:cNvPr id="23" name="Text 20"/>
          <p:cNvSpPr txBox="1"/>
          <p:nvPr/>
        </p:nvSpPr>
        <p:spPr>
          <a:xfrm>
            <a:off x="9235440" y="2103120"/>
            <a:ext cx="274320" cy="512064"/>
          </a:xfrm>
          <a:prstGeom prst="rect">
            <a:avLst/>
          </a:prstGeom>
          <a:noFill/>
          <a:ln/>
        </p:spPr>
        <p:txBody>
          <a:bodyPr wrap="square" lIns="0" tIns="0" rIns="0" bIns="0" rtlCol="0" anchor="ctr"/>
          <a:lstStyle/>
          <a:p>
            <a:pPr algn="l" indent="0" marL="0">
              <a:buNone/>
            </a:pPr>
            <a:r>
              <a:rPr lang="en-US" sz="1000" b="1" dirty="0">
                <a:solidFill>
                  <a:srgbClr val="2F6FB0"/>
                </a:solidFill>
                <a:latin typeface="Calibri" pitchFamily="34" charset="0"/>
                <a:cs typeface="Amiri" pitchFamily="2" charset="-78"/>
              </a:rPr>
              <a:t>A</a:t>
            </a:r>
            <a:endParaRPr lang="en-US" sz="1000" dirty="0"/>
          </a:p>
        </p:txBody>
      </p:sp>
      <p:sp>
        <p:nvSpPr>
          <p:cNvPr id="24" name="Text 21"/>
          <p:cNvSpPr txBox="1"/>
          <p:nvPr/>
        </p:nvSpPr>
        <p:spPr>
          <a:xfrm>
            <a:off x="9500616" y="2103120"/>
            <a:ext cx="2002536" cy="512064"/>
          </a:xfrm>
          <a:prstGeom prst="rect">
            <a:avLst/>
          </a:prstGeom>
          <a:noFill/>
          <a:ln/>
        </p:spPr>
        <p:txBody>
          <a:bodyPr wrap="square" lIns="0" tIns="0" rIns="0" bIns="0" rtlCol="0" anchor="ctr"/>
          <a:lstStyle/>
          <a:p>
            <a:pPr rtl="1" algn="r" indent="0" marL="0">
              <a:buNone/>
            </a:pPr>
            <a:r>
              <a:rPr lang="ar-SA" altLang="en-US" sz="1800" dirty="0">
                <a:solidFill>
                  <a:srgbClr val="1F2A37"/>
                </a:solidFill>
                <a:latin typeface="Amiri" pitchFamily="2" charset="-78"/>
                <a:ea typeface="Amiri" pitchFamily="2" charset="-78"/>
                <a:cs typeface="Amiri" pitchFamily="2" charset="-78"/>
              </a:rPr>
              <a:t>هٰذِهِ</a:t>
            </a:r>
            <a:endParaRPr lang="ar-SA" sz="1800" dirty="0"/>
          </a:p>
        </p:txBody>
      </p:sp>
      <p:sp>
        <p:nvSpPr>
          <p:cNvPr id="25" name="Shape 22"/>
          <p:cNvSpPr/>
          <p:nvPr/>
        </p:nvSpPr>
        <p:spPr>
          <a:xfrm>
            <a:off x="9180576" y="2670048"/>
            <a:ext cx="2414016" cy="512064"/>
          </a:xfrm>
          <a:prstGeom prst="roundRect">
            <a:avLst>
              <a:gd name="adj" fmla="val 10714"/>
            </a:avLst>
          </a:prstGeom>
          <a:solidFill>
            <a:srgbClr val="EEF3FA"/>
          </a:solidFill>
          <a:ln w="9525">
            <a:solidFill>
              <a:srgbClr val="C9D6EA"/>
            </a:solidFill>
            <a:prstDash val="solid"/>
          </a:ln>
        </p:spPr>
      </p:sp>
      <p:sp>
        <p:nvSpPr>
          <p:cNvPr id="26" name="Text 23"/>
          <p:cNvSpPr txBox="1"/>
          <p:nvPr/>
        </p:nvSpPr>
        <p:spPr>
          <a:xfrm>
            <a:off x="9235440" y="2670048"/>
            <a:ext cx="274320" cy="512064"/>
          </a:xfrm>
          <a:prstGeom prst="rect">
            <a:avLst/>
          </a:prstGeom>
          <a:noFill/>
          <a:ln/>
        </p:spPr>
        <p:txBody>
          <a:bodyPr wrap="square" lIns="0" tIns="0" rIns="0" bIns="0" rtlCol="0" anchor="ctr"/>
          <a:lstStyle/>
          <a:p>
            <a:pPr algn="l" indent="0" marL="0">
              <a:buNone/>
            </a:pPr>
            <a:r>
              <a:rPr lang="en-US" sz="1000" b="1" dirty="0">
                <a:solidFill>
                  <a:srgbClr val="2F6FB0"/>
                </a:solidFill>
                <a:latin typeface="Calibri" pitchFamily="34" charset="0"/>
                <a:cs typeface="Amiri" pitchFamily="2" charset="-78"/>
              </a:rPr>
              <a:t>B</a:t>
            </a:r>
            <a:endParaRPr lang="en-US" sz="1000" dirty="0"/>
          </a:p>
        </p:txBody>
      </p:sp>
      <p:sp>
        <p:nvSpPr>
          <p:cNvPr id="27" name="Text 24"/>
          <p:cNvSpPr txBox="1"/>
          <p:nvPr/>
        </p:nvSpPr>
        <p:spPr>
          <a:xfrm>
            <a:off x="9500616" y="2670048"/>
            <a:ext cx="2002536" cy="512064"/>
          </a:xfrm>
          <a:prstGeom prst="rect">
            <a:avLst/>
          </a:prstGeom>
          <a:noFill/>
          <a:ln/>
        </p:spPr>
        <p:txBody>
          <a:bodyPr wrap="square" lIns="0" tIns="0" rIns="0" bIns="0" rtlCol="0" anchor="ctr"/>
          <a:lstStyle/>
          <a:p>
            <a:pPr rtl="1" algn="r" indent="0" marL="0">
              <a:buNone/>
            </a:pPr>
            <a:r>
              <a:rPr lang="ar-SA" altLang="en-US" sz="1800" dirty="0">
                <a:solidFill>
                  <a:srgbClr val="1F2A37"/>
                </a:solidFill>
                <a:latin typeface="Amiri" pitchFamily="2" charset="-78"/>
                <a:ea typeface="Amiri" pitchFamily="2" charset="-78"/>
                <a:cs typeface="Amiri" pitchFamily="2" charset="-78"/>
              </a:rPr>
              <a:t>هٰذَا</a:t>
            </a:r>
            <a:endParaRPr lang="ar-SA" sz="1800" dirty="0"/>
          </a:p>
        </p:txBody>
      </p:sp>
      <p:sp>
        <p:nvSpPr>
          <p:cNvPr id="28" name="Shape 25"/>
          <p:cNvSpPr/>
          <p:nvPr/>
        </p:nvSpPr>
        <p:spPr>
          <a:xfrm>
            <a:off x="6624828" y="2103120"/>
            <a:ext cx="2414016" cy="512064"/>
          </a:xfrm>
          <a:prstGeom prst="roundRect">
            <a:avLst>
              <a:gd name="adj" fmla="val 10714"/>
            </a:avLst>
          </a:prstGeom>
          <a:solidFill>
            <a:srgbClr val="EEF3FA"/>
          </a:solidFill>
          <a:ln w="9525">
            <a:solidFill>
              <a:srgbClr val="C9D6EA"/>
            </a:solidFill>
            <a:prstDash val="solid"/>
          </a:ln>
        </p:spPr>
      </p:sp>
      <p:sp>
        <p:nvSpPr>
          <p:cNvPr id="29" name="Text 26"/>
          <p:cNvSpPr txBox="1"/>
          <p:nvPr/>
        </p:nvSpPr>
        <p:spPr>
          <a:xfrm>
            <a:off x="6679692" y="2103120"/>
            <a:ext cx="274320" cy="512064"/>
          </a:xfrm>
          <a:prstGeom prst="rect">
            <a:avLst/>
          </a:prstGeom>
          <a:noFill/>
          <a:ln/>
        </p:spPr>
        <p:txBody>
          <a:bodyPr wrap="square" lIns="0" tIns="0" rIns="0" bIns="0" rtlCol="0" anchor="ctr"/>
          <a:lstStyle/>
          <a:p>
            <a:pPr algn="l" indent="0" marL="0">
              <a:buNone/>
            </a:pPr>
            <a:r>
              <a:rPr lang="en-US" sz="1000" b="1" dirty="0">
                <a:solidFill>
                  <a:srgbClr val="2F6FB0"/>
                </a:solidFill>
                <a:latin typeface="Calibri" pitchFamily="34" charset="0"/>
                <a:cs typeface="Amiri" pitchFamily="2" charset="-78"/>
              </a:rPr>
              <a:t>A</a:t>
            </a:r>
            <a:endParaRPr lang="en-US" sz="1000" dirty="0"/>
          </a:p>
        </p:txBody>
      </p:sp>
      <p:sp>
        <p:nvSpPr>
          <p:cNvPr id="30" name="Text 27"/>
          <p:cNvSpPr txBox="1"/>
          <p:nvPr/>
        </p:nvSpPr>
        <p:spPr>
          <a:xfrm>
            <a:off x="6944868" y="2103120"/>
            <a:ext cx="2002536" cy="512064"/>
          </a:xfrm>
          <a:prstGeom prst="rect">
            <a:avLst/>
          </a:prstGeom>
          <a:noFill/>
          <a:ln/>
        </p:spPr>
        <p:txBody>
          <a:bodyPr wrap="square" lIns="0" tIns="0" rIns="0" bIns="0" rtlCol="0" anchor="ctr"/>
          <a:lstStyle/>
          <a:p>
            <a:pPr rtl="1" algn="r" indent="0" marL="0">
              <a:buNone/>
            </a:pPr>
            <a:r>
              <a:rPr lang="ar-SA" altLang="en-US" sz="1800" dirty="0">
                <a:solidFill>
                  <a:srgbClr val="1F2A37"/>
                </a:solidFill>
                <a:latin typeface="Amiri" pitchFamily="2" charset="-78"/>
                <a:ea typeface="Amiri" pitchFamily="2" charset="-78"/>
                <a:cs typeface="Amiri" pitchFamily="2" charset="-78"/>
              </a:rPr>
              <a:t>أُمِّي</a:t>
            </a:r>
            <a:endParaRPr lang="ar-SA" sz="1800" dirty="0"/>
          </a:p>
        </p:txBody>
      </p:sp>
      <p:sp>
        <p:nvSpPr>
          <p:cNvPr id="31" name="Shape 28"/>
          <p:cNvSpPr/>
          <p:nvPr/>
        </p:nvSpPr>
        <p:spPr>
          <a:xfrm>
            <a:off x="6624828" y="2670048"/>
            <a:ext cx="2414016" cy="512064"/>
          </a:xfrm>
          <a:prstGeom prst="roundRect">
            <a:avLst>
              <a:gd name="adj" fmla="val 10714"/>
            </a:avLst>
          </a:prstGeom>
          <a:solidFill>
            <a:srgbClr val="EEF3FA"/>
          </a:solidFill>
          <a:ln w="9525">
            <a:solidFill>
              <a:srgbClr val="C9D6EA"/>
            </a:solidFill>
            <a:prstDash val="solid"/>
          </a:ln>
        </p:spPr>
      </p:sp>
      <p:sp>
        <p:nvSpPr>
          <p:cNvPr id="32" name="Text 29"/>
          <p:cNvSpPr txBox="1"/>
          <p:nvPr/>
        </p:nvSpPr>
        <p:spPr>
          <a:xfrm>
            <a:off x="6679692" y="2670048"/>
            <a:ext cx="274320" cy="512064"/>
          </a:xfrm>
          <a:prstGeom prst="rect">
            <a:avLst/>
          </a:prstGeom>
          <a:noFill/>
          <a:ln/>
        </p:spPr>
        <p:txBody>
          <a:bodyPr wrap="square" lIns="0" tIns="0" rIns="0" bIns="0" rtlCol="0" anchor="ctr"/>
          <a:lstStyle/>
          <a:p>
            <a:pPr algn="l" indent="0" marL="0">
              <a:buNone/>
            </a:pPr>
            <a:r>
              <a:rPr lang="en-US" sz="1000" b="1" dirty="0">
                <a:solidFill>
                  <a:srgbClr val="2F6FB0"/>
                </a:solidFill>
                <a:latin typeface="Calibri" pitchFamily="34" charset="0"/>
                <a:cs typeface="Amiri" pitchFamily="2" charset="-78"/>
              </a:rPr>
              <a:t>B</a:t>
            </a:r>
            <a:endParaRPr lang="en-US" sz="1000" dirty="0"/>
          </a:p>
        </p:txBody>
      </p:sp>
      <p:sp>
        <p:nvSpPr>
          <p:cNvPr id="33" name="Text 30"/>
          <p:cNvSpPr txBox="1"/>
          <p:nvPr/>
        </p:nvSpPr>
        <p:spPr>
          <a:xfrm>
            <a:off x="6944868" y="2670048"/>
            <a:ext cx="2002536" cy="512064"/>
          </a:xfrm>
          <a:prstGeom prst="rect">
            <a:avLst/>
          </a:prstGeom>
          <a:noFill/>
          <a:ln/>
        </p:spPr>
        <p:txBody>
          <a:bodyPr wrap="square" lIns="0" tIns="0" rIns="0" bIns="0" rtlCol="0" anchor="ctr"/>
          <a:lstStyle/>
          <a:p>
            <a:pPr rtl="1" algn="r" indent="0" marL="0">
              <a:buNone/>
            </a:pPr>
            <a:r>
              <a:rPr lang="ar-SA" altLang="en-US" sz="1800" dirty="0">
                <a:solidFill>
                  <a:srgbClr val="1F2A37"/>
                </a:solidFill>
                <a:latin typeface="Amiri" pitchFamily="2" charset="-78"/>
                <a:ea typeface="Amiri" pitchFamily="2" charset="-78"/>
                <a:cs typeface="Amiri" pitchFamily="2" charset="-78"/>
              </a:rPr>
              <a:t>أُمُّكَ</a:t>
            </a:r>
            <a:endParaRPr lang="ar-SA" sz="1800" dirty="0"/>
          </a:p>
        </p:txBody>
      </p:sp>
      <p:sp>
        <p:nvSpPr>
          <p:cNvPr id="34" name="Shape 31"/>
          <p:cNvSpPr/>
          <p:nvPr/>
        </p:nvSpPr>
        <p:spPr>
          <a:xfrm>
            <a:off x="4069080" y="2103120"/>
            <a:ext cx="2414016" cy="512064"/>
          </a:xfrm>
          <a:prstGeom prst="roundRect">
            <a:avLst>
              <a:gd name="adj" fmla="val 10714"/>
            </a:avLst>
          </a:prstGeom>
          <a:solidFill>
            <a:srgbClr val="EEF3FA"/>
          </a:solidFill>
          <a:ln w="9525">
            <a:solidFill>
              <a:srgbClr val="C9D6EA"/>
            </a:solidFill>
            <a:prstDash val="solid"/>
          </a:ln>
        </p:spPr>
      </p:sp>
      <p:sp>
        <p:nvSpPr>
          <p:cNvPr id="35" name="Text 32"/>
          <p:cNvSpPr txBox="1"/>
          <p:nvPr/>
        </p:nvSpPr>
        <p:spPr>
          <a:xfrm>
            <a:off x="4123944" y="2103120"/>
            <a:ext cx="274320" cy="512064"/>
          </a:xfrm>
          <a:prstGeom prst="rect">
            <a:avLst/>
          </a:prstGeom>
          <a:noFill/>
          <a:ln/>
        </p:spPr>
        <p:txBody>
          <a:bodyPr wrap="square" lIns="0" tIns="0" rIns="0" bIns="0" rtlCol="0" anchor="ctr"/>
          <a:lstStyle/>
          <a:p>
            <a:pPr algn="l" indent="0" marL="0">
              <a:buNone/>
            </a:pPr>
            <a:r>
              <a:rPr lang="en-US" sz="1000" b="1" dirty="0">
                <a:solidFill>
                  <a:srgbClr val="2F6FB0"/>
                </a:solidFill>
                <a:latin typeface="Calibri" pitchFamily="34" charset="0"/>
                <a:cs typeface="Amiri" pitchFamily="2" charset="-78"/>
              </a:rPr>
              <a:t>A</a:t>
            </a:r>
            <a:endParaRPr lang="en-US" sz="1000" dirty="0"/>
          </a:p>
        </p:txBody>
      </p:sp>
      <p:sp>
        <p:nvSpPr>
          <p:cNvPr id="36" name="Text 33"/>
          <p:cNvSpPr txBox="1"/>
          <p:nvPr/>
        </p:nvSpPr>
        <p:spPr>
          <a:xfrm>
            <a:off x="4389120" y="2103120"/>
            <a:ext cx="2002536" cy="512064"/>
          </a:xfrm>
          <a:prstGeom prst="rect">
            <a:avLst/>
          </a:prstGeom>
          <a:noFill/>
          <a:ln/>
        </p:spPr>
        <p:txBody>
          <a:bodyPr wrap="square" lIns="0" tIns="0" rIns="0" bIns="0" rtlCol="0" anchor="ctr"/>
          <a:lstStyle/>
          <a:p>
            <a:pPr rtl="1" algn="r" indent="0" marL="0">
              <a:buNone/>
            </a:pPr>
            <a:r>
              <a:rPr lang="ar-SA" altLang="en-US" sz="1800" dirty="0">
                <a:solidFill>
                  <a:srgbClr val="1F2A37"/>
                </a:solidFill>
                <a:latin typeface="Amiri" pitchFamily="2" charset="-78"/>
                <a:ea typeface="Amiri" pitchFamily="2" charset="-78"/>
                <a:cs typeface="Amiri" pitchFamily="2" charset="-78"/>
              </a:rPr>
              <a:t>اللَّطِيفَةُ</a:t>
            </a:r>
            <a:endParaRPr lang="ar-SA" sz="1800" dirty="0"/>
          </a:p>
        </p:txBody>
      </p:sp>
      <p:sp>
        <p:nvSpPr>
          <p:cNvPr id="37" name="Shape 34"/>
          <p:cNvSpPr/>
          <p:nvPr/>
        </p:nvSpPr>
        <p:spPr>
          <a:xfrm>
            <a:off x="4069080" y="2670048"/>
            <a:ext cx="2414016" cy="512064"/>
          </a:xfrm>
          <a:prstGeom prst="roundRect">
            <a:avLst>
              <a:gd name="adj" fmla="val 10714"/>
            </a:avLst>
          </a:prstGeom>
          <a:solidFill>
            <a:srgbClr val="EEF3FA"/>
          </a:solidFill>
          <a:ln w="9525">
            <a:solidFill>
              <a:srgbClr val="C9D6EA"/>
            </a:solidFill>
            <a:prstDash val="solid"/>
          </a:ln>
        </p:spPr>
      </p:sp>
      <p:sp>
        <p:nvSpPr>
          <p:cNvPr id="38" name="Text 35"/>
          <p:cNvSpPr txBox="1"/>
          <p:nvPr/>
        </p:nvSpPr>
        <p:spPr>
          <a:xfrm>
            <a:off x="4123944" y="2670048"/>
            <a:ext cx="274320" cy="512064"/>
          </a:xfrm>
          <a:prstGeom prst="rect">
            <a:avLst/>
          </a:prstGeom>
          <a:noFill/>
          <a:ln/>
        </p:spPr>
        <p:txBody>
          <a:bodyPr wrap="square" lIns="0" tIns="0" rIns="0" bIns="0" rtlCol="0" anchor="ctr"/>
          <a:lstStyle/>
          <a:p>
            <a:pPr algn="l" indent="0" marL="0">
              <a:buNone/>
            </a:pPr>
            <a:r>
              <a:rPr lang="en-US" sz="1000" b="1" dirty="0">
                <a:solidFill>
                  <a:srgbClr val="2F6FB0"/>
                </a:solidFill>
                <a:latin typeface="Calibri" pitchFamily="34" charset="0"/>
                <a:cs typeface="Amiri" pitchFamily="2" charset="-78"/>
              </a:rPr>
              <a:t>B</a:t>
            </a:r>
            <a:endParaRPr lang="en-US" sz="1000" dirty="0"/>
          </a:p>
        </p:txBody>
      </p:sp>
      <p:sp>
        <p:nvSpPr>
          <p:cNvPr id="39" name="Text 36"/>
          <p:cNvSpPr txBox="1"/>
          <p:nvPr/>
        </p:nvSpPr>
        <p:spPr>
          <a:xfrm>
            <a:off x="4389120" y="2670048"/>
            <a:ext cx="2002536" cy="512064"/>
          </a:xfrm>
          <a:prstGeom prst="rect">
            <a:avLst/>
          </a:prstGeom>
          <a:noFill/>
          <a:ln/>
        </p:spPr>
        <p:txBody>
          <a:bodyPr wrap="square" lIns="0" tIns="0" rIns="0" bIns="0" rtlCol="0" anchor="ctr"/>
          <a:lstStyle/>
          <a:p>
            <a:pPr rtl="1" algn="r" indent="0" marL="0">
              <a:buNone/>
            </a:pPr>
            <a:r>
              <a:rPr lang="ar-SA" altLang="en-US" sz="1800" dirty="0">
                <a:solidFill>
                  <a:srgbClr val="1F2A37"/>
                </a:solidFill>
                <a:latin typeface="Amiri" pitchFamily="2" charset="-78"/>
                <a:ea typeface="Amiri" pitchFamily="2" charset="-78"/>
                <a:cs typeface="Amiri" pitchFamily="2" charset="-78"/>
              </a:rPr>
              <a:t>اللَّطِيفُ</a:t>
            </a:r>
            <a:endParaRPr lang="ar-SA" sz="1800" dirty="0"/>
          </a:p>
        </p:txBody>
      </p:sp>
      <p:sp>
        <p:nvSpPr>
          <p:cNvPr id="40" name="Shape 37"/>
          <p:cNvSpPr/>
          <p:nvPr/>
        </p:nvSpPr>
        <p:spPr>
          <a:xfrm>
            <a:off x="457200" y="3392424"/>
            <a:ext cx="11274552" cy="1261872"/>
          </a:xfrm>
          <a:prstGeom prst="roundRect">
            <a:avLst>
              <a:gd name="adj" fmla="val 5797"/>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1" name="Shape 38"/>
          <p:cNvSpPr/>
          <p:nvPr/>
        </p:nvSpPr>
        <p:spPr>
          <a:xfrm>
            <a:off x="594360" y="3529584"/>
            <a:ext cx="365760" cy="365760"/>
          </a:xfrm>
          <a:prstGeom prst="ellipse">
            <a:avLst/>
          </a:prstGeom>
          <a:solidFill>
            <a:srgbClr val="2F6FB0"/>
          </a:solidFill>
          <a:ln w="12700">
            <a:solidFill>
              <a:srgbClr val="2F6FB0"/>
            </a:solidFill>
            <a:prstDash val="solid"/>
          </a:ln>
        </p:spPr>
      </p:sp>
      <p:sp>
        <p:nvSpPr>
          <p:cNvPr id="42" name="Text 39"/>
          <p:cNvSpPr txBox="1"/>
          <p:nvPr/>
        </p:nvSpPr>
        <p:spPr>
          <a:xfrm>
            <a:off x="594360" y="3529584"/>
            <a:ext cx="365760" cy="365760"/>
          </a:xfrm>
          <a:prstGeom prst="rect">
            <a:avLst/>
          </a:prstGeom>
          <a:noFill/>
          <a:ln/>
        </p:spPr>
        <p:txBody>
          <a:bodyPr wrap="square" lIns="0" tIns="0" rIns="0" bIns="0" rtlCol="0" anchor="ctr"/>
          <a:lstStyle/>
          <a:p>
            <a:pPr algn="ctr" indent="0" marL="0">
              <a:buNone/>
            </a:pPr>
            <a:r>
              <a:rPr lang="en-US" sz="1200" b="1" dirty="0">
                <a:solidFill>
                  <a:srgbClr val="FFFFFF"/>
                </a:solidFill>
                <a:latin typeface="Calibri" pitchFamily="34" charset="0"/>
                <a:cs typeface="Amiri" pitchFamily="2" charset="-78"/>
              </a:rPr>
              <a:t>2</a:t>
            </a:r>
            <a:endParaRPr lang="en-US" sz="1200" dirty="0"/>
          </a:p>
        </p:txBody>
      </p:sp>
      <p:sp>
        <p:nvSpPr>
          <p:cNvPr id="43" name="Text 40"/>
          <p:cNvSpPr txBox="1"/>
          <p:nvPr/>
        </p:nvSpPr>
        <p:spPr>
          <a:xfrm>
            <a:off x="1051560" y="3502152"/>
            <a:ext cx="2834640" cy="1042416"/>
          </a:xfrm>
          <a:prstGeom prst="rect">
            <a:avLst/>
          </a:prstGeom>
          <a:noFill/>
          <a:ln/>
        </p:spPr>
        <p:txBody>
          <a:bodyPr wrap="square" lIns="0" tIns="0" rIns="0" bIns="0" rtlCol="0" anchor="t"/>
          <a:lstStyle/>
          <a:p>
            <a:pPr algn="l" indent="0" marL="0">
              <a:buNone/>
            </a:pPr>
            <a:r>
              <a:rPr lang="en-US" sz="1400" b="1" dirty="0">
                <a:solidFill>
                  <a:srgbClr val="1B3B6F"/>
                </a:solidFill>
                <a:latin typeface="Calibri" pitchFamily="34" charset="0"/>
                <a:cs typeface="Amiri" pitchFamily="2" charset="-78"/>
              </a:rPr>
              <a:t>My sister is tall and clever.</a:t>
            </a:r>
            <a:endParaRPr lang="en-US" sz="1400" dirty="0"/>
          </a:p>
        </p:txBody>
      </p:sp>
      <p:sp>
        <p:nvSpPr>
          <p:cNvPr id="44" name="Shape 41"/>
          <p:cNvSpPr/>
          <p:nvPr/>
        </p:nvSpPr>
        <p:spPr>
          <a:xfrm>
            <a:off x="9180576" y="3483864"/>
            <a:ext cx="2414016" cy="512064"/>
          </a:xfrm>
          <a:prstGeom prst="roundRect">
            <a:avLst>
              <a:gd name="adj" fmla="val 10714"/>
            </a:avLst>
          </a:prstGeom>
          <a:solidFill>
            <a:srgbClr val="EEF3FA"/>
          </a:solidFill>
          <a:ln w="9525">
            <a:solidFill>
              <a:srgbClr val="C9D6EA"/>
            </a:solidFill>
            <a:prstDash val="solid"/>
          </a:ln>
        </p:spPr>
      </p:sp>
      <p:sp>
        <p:nvSpPr>
          <p:cNvPr id="45" name="Text 42"/>
          <p:cNvSpPr txBox="1"/>
          <p:nvPr/>
        </p:nvSpPr>
        <p:spPr>
          <a:xfrm>
            <a:off x="9235440" y="3483864"/>
            <a:ext cx="274320" cy="512064"/>
          </a:xfrm>
          <a:prstGeom prst="rect">
            <a:avLst/>
          </a:prstGeom>
          <a:noFill/>
          <a:ln/>
        </p:spPr>
        <p:txBody>
          <a:bodyPr wrap="square" lIns="0" tIns="0" rIns="0" bIns="0" rtlCol="0" anchor="ctr"/>
          <a:lstStyle/>
          <a:p>
            <a:pPr algn="l" indent="0" marL="0">
              <a:buNone/>
            </a:pPr>
            <a:r>
              <a:rPr lang="en-US" sz="1000" b="1" dirty="0">
                <a:solidFill>
                  <a:srgbClr val="2F6FB0"/>
                </a:solidFill>
                <a:latin typeface="Calibri" pitchFamily="34" charset="0"/>
                <a:cs typeface="Amiri" pitchFamily="2" charset="-78"/>
              </a:rPr>
              <a:t>A</a:t>
            </a:r>
            <a:endParaRPr lang="en-US" sz="1000" dirty="0"/>
          </a:p>
        </p:txBody>
      </p:sp>
      <p:sp>
        <p:nvSpPr>
          <p:cNvPr id="46" name="Text 43"/>
          <p:cNvSpPr txBox="1"/>
          <p:nvPr/>
        </p:nvSpPr>
        <p:spPr>
          <a:xfrm>
            <a:off x="9500616" y="3483864"/>
            <a:ext cx="2002536" cy="512064"/>
          </a:xfrm>
          <a:prstGeom prst="rect">
            <a:avLst/>
          </a:prstGeom>
          <a:noFill/>
          <a:ln/>
        </p:spPr>
        <p:txBody>
          <a:bodyPr wrap="square" lIns="0" tIns="0" rIns="0" bIns="0" rtlCol="0" anchor="ctr"/>
          <a:lstStyle/>
          <a:p>
            <a:pPr rtl="1" algn="r" indent="0" marL="0">
              <a:buNone/>
            </a:pPr>
            <a:r>
              <a:rPr lang="ar-SA" altLang="en-US" sz="1800" dirty="0">
                <a:solidFill>
                  <a:srgbClr val="1F2A37"/>
                </a:solidFill>
                <a:latin typeface="Amiri" pitchFamily="2" charset="-78"/>
                <a:ea typeface="Amiri" pitchFamily="2" charset="-78"/>
                <a:cs typeface="Amiri" pitchFamily="2" charset="-78"/>
              </a:rPr>
              <a:t>أُخْتِي</a:t>
            </a:r>
            <a:endParaRPr lang="ar-SA" sz="1800" dirty="0"/>
          </a:p>
        </p:txBody>
      </p:sp>
      <p:sp>
        <p:nvSpPr>
          <p:cNvPr id="47" name="Shape 44"/>
          <p:cNvSpPr/>
          <p:nvPr/>
        </p:nvSpPr>
        <p:spPr>
          <a:xfrm>
            <a:off x="9180576" y="4050792"/>
            <a:ext cx="2414016" cy="512064"/>
          </a:xfrm>
          <a:prstGeom prst="roundRect">
            <a:avLst>
              <a:gd name="adj" fmla="val 10714"/>
            </a:avLst>
          </a:prstGeom>
          <a:solidFill>
            <a:srgbClr val="EEF3FA"/>
          </a:solidFill>
          <a:ln w="9525">
            <a:solidFill>
              <a:srgbClr val="C9D6EA"/>
            </a:solidFill>
            <a:prstDash val="solid"/>
          </a:ln>
        </p:spPr>
      </p:sp>
      <p:sp>
        <p:nvSpPr>
          <p:cNvPr id="48" name="Text 45"/>
          <p:cNvSpPr txBox="1"/>
          <p:nvPr/>
        </p:nvSpPr>
        <p:spPr>
          <a:xfrm>
            <a:off x="9235440" y="4050792"/>
            <a:ext cx="274320" cy="512064"/>
          </a:xfrm>
          <a:prstGeom prst="rect">
            <a:avLst/>
          </a:prstGeom>
          <a:noFill/>
          <a:ln/>
        </p:spPr>
        <p:txBody>
          <a:bodyPr wrap="square" lIns="0" tIns="0" rIns="0" bIns="0" rtlCol="0" anchor="ctr"/>
          <a:lstStyle/>
          <a:p>
            <a:pPr algn="l" indent="0" marL="0">
              <a:buNone/>
            </a:pPr>
            <a:r>
              <a:rPr lang="en-US" sz="1000" b="1" dirty="0">
                <a:solidFill>
                  <a:srgbClr val="2F6FB0"/>
                </a:solidFill>
                <a:latin typeface="Calibri" pitchFamily="34" charset="0"/>
                <a:cs typeface="Amiri" pitchFamily="2" charset="-78"/>
              </a:rPr>
              <a:t>B</a:t>
            </a:r>
            <a:endParaRPr lang="en-US" sz="1000" dirty="0"/>
          </a:p>
        </p:txBody>
      </p:sp>
      <p:sp>
        <p:nvSpPr>
          <p:cNvPr id="49" name="Text 46"/>
          <p:cNvSpPr txBox="1"/>
          <p:nvPr/>
        </p:nvSpPr>
        <p:spPr>
          <a:xfrm>
            <a:off x="9500616" y="4050792"/>
            <a:ext cx="2002536" cy="512064"/>
          </a:xfrm>
          <a:prstGeom prst="rect">
            <a:avLst/>
          </a:prstGeom>
          <a:noFill/>
          <a:ln/>
        </p:spPr>
        <p:txBody>
          <a:bodyPr wrap="square" lIns="0" tIns="0" rIns="0" bIns="0" rtlCol="0" anchor="ctr"/>
          <a:lstStyle/>
          <a:p>
            <a:pPr rtl="1" algn="r" indent="0" marL="0">
              <a:buNone/>
            </a:pPr>
            <a:r>
              <a:rPr lang="ar-SA" altLang="en-US" sz="1800" dirty="0">
                <a:solidFill>
                  <a:srgbClr val="1F2A37"/>
                </a:solidFill>
                <a:latin typeface="Amiri" pitchFamily="2" charset="-78"/>
                <a:ea typeface="Amiri" pitchFamily="2" charset="-78"/>
                <a:cs typeface="Amiri" pitchFamily="2" charset="-78"/>
              </a:rPr>
              <a:t>أَخِي</a:t>
            </a:r>
            <a:endParaRPr lang="ar-SA" sz="1800" dirty="0"/>
          </a:p>
        </p:txBody>
      </p:sp>
      <p:sp>
        <p:nvSpPr>
          <p:cNvPr id="50" name="Shape 47"/>
          <p:cNvSpPr/>
          <p:nvPr/>
        </p:nvSpPr>
        <p:spPr>
          <a:xfrm>
            <a:off x="6624828" y="3483864"/>
            <a:ext cx="2414016" cy="512064"/>
          </a:xfrm>
          <a:prstGeom prst="roundRect">
            <a:avLst>
              <a:gd name="adj" fmla="val 10714"/>
            </a:avLst>
          </a:prstGeom>
          <a:solidFill>
            <a:srgbClr val="EEF3FA"/>
          </a:solidFill>
          <a:ln w="9525">
            <a:solidFill>
              <a:srgbClr val="C9D6EA"/>
            </a:solidFill>
            <a:prstDash val="solid"/>
          </a:ln>
        </p:spPr>
      </p:sp>
      <p:sp>
        <p:nvSpPr>
          <p:cNvPr id="51" name="Text 48"/>
          <p:cNvSpPr txBox="1"/>
          <p:nvPr/>
        </p:nvSpPr>
        <p:spPr>
          <a:xfrm>
            <a:off x="6679692" y="3483864"/>
            <a:ext cx="274320" cy="512064"/>
          </a:xfrm>
          <a:prstGeom prst="rect">
            <a:avLst/>
          </a:prstGeom>
          <a:noFill/>
          <a:ln/>
        </p:spPr>
        <p:txBody>
          <a:bodyPr wrap="square" lIns="0" tIns="0" rIns="0" bIns="0" rtlCol="0" anchor="ctr"/>
          <a:lstStyle/>
          <a:p>
            <a:pPr algn="l" indent="0" marL="0">
              <a:buNone/>
            </a:pPr>
            <a:r>
              <a:rPr lang="en-US" sz="1000" b="1" dirty="0">
                <a:solidFill>
                  <a:srgbClr val="2F6FB0"/>
                </a:solidFill>
                <a:latin typeface="Calibri" pitchFamily="34" charset="0"/>
                <a:cs typeface="Amiri" pitchFamily="2" charset="-78"/>
              </a:rPr>
              <a:t>A</a:t>
            </a:r>
            <a:endParaRPr lang="en-US" sz="1000" dirty="0"/>
          </a:p>
        </p:txBody>
      </p:sp>
      <p:sp>
        <p:nvSpPr>
          <p:cNvPr id="52" name="Text 49"/>
          <p:cNvSpPr txBox="1"/>
          <p:nvPr/>
        </p:nvSpPr>
        <p:spPr>
          <a:xfrm>
            <a:off x="6944868" y="3483864"/>
            <a:ext cx="2002536" cy="512064"/>
          </a:xfrm>
          <a:prstGeom prst="rect">
            <a:avLst/>
          </a:prstGeom>
          <a:noFill/>
          <a:ln/>
        </p:spPr>
        <p:txBody>
          <a:bodyPr wrap="square" lIns="0" tIns="0" rIns="0" bIns="0" rtlCol="0" anchor="ctr"/>
          <a:lstStyle/>
          <a:p>
            <a:pPr rtl="1" algn="r" indent="0" marL="0">
              <a:buNone/>
            </a:pPr>
            <a:r>
              <a:rPr lang="ar-SA" altLang="en-US" sz="1800" dirty="0">
                <a:solidFill>
                  <a:srgbClr val="1F2A37"/>
                </a:solidFill>
                <a:latin typeface="Amiri" pitchFamily="2" charset="-78"/>
                <a:ea typeface="Amiri" pitchFamily="2" charset="-78"/>
                <a:cs typeface="Amiri" pitchFamily="2" charset="-78"/>
              </a:rPr>
              <a:t>طَوِيلَةٌ</a:t>
            </a:r>
            <a:endParaRPr lang="ar-SA" sz="1800" dirty="0"/>
          </a:p>
        </p:txBody>
      </p:sp>
      <p:sp>
        <p:nvSpPr>
          <p:cNvPr id="53" name="Shape 50"/>
          <p:cNvSpPr/>
          <p:nvPr/>
        </p:nvSpPr>
        <p:spPr>
          <a:xfrm>
            <a:off x="6624828" y="4050792"/>
            <a:ext cx="2414016" cy="512064"/>
          </a:xfrm>
          <a:prstGeom prst="roundRect">
            <a:avLst>
              <a:gd name="adj" fmla="val 10714"/>
            </a:avLst>
          </a:prstGeom>
          <a:solidFill>
            <a:srgbClr val="EEF3FA"/>
          </a:solidFill>
          <a:ln w="9525">
            <a:solidFill>
              <a:srgbClr val="C9D6EA"/>
            </a:solidFill>
            <a:prstDash val="solid"/>
          </a:ln>
        </p:spPr>
      </p:sp>
      <p:sp>
        <p:nvSpPr>
          <p:cNvPr id="54" name="Text 51"/>
          <p:cNvSpPr txBox="1"/>
          <p:nvPr/>
        </p:nvSpPr>
        <p:spPr>
          <a:xfrm>
            <a:off x="6679692" y="4050792"/>
            <a:ext cx="274320" cy="512064"/>
          </a:xfrm>
          <a:prstGeom prst="rect">
            <a:avLst/>
          </a:prstGeom>
          <a:noFill/>
          <a:ln/>
        </p:spPr>
        <p:txBody>
          <a:bodyPr wrap="square" lIns="0" tIns="0" rIns="0" bIns="0" rtlCol="0" anchor="ctr"/>
          <a:lstStyle/>
          <a:p>
            <a:pPr algn="l" indent="0" marL="0">
              <a:buNone/>
            </a:pPr>
            <a:r>
              <a:rPr lang="en-US" sz="1000" b="1" dirty="0">
                <a:solidFill>
                  <a:srgbClr val="2F6FB0"/>
                </a:solidFill>
                <a:latin typeface="Calibri" pitchFamily="34" charset="0"/>
                <a:cs typeface="Amiri" pitchFamily="2" charset="-78"/>
              </a:rPr>
              <a:t>B</a:t>
            </a:r>
            <a:endParaRPr lang="en-US" sz="1000" dirty="0"/>
          </a:p>
        </p:txBody>
      </p:sp>
      <p:sp>
        <p:nvSpPr>
          <p:cNvPr id="55" name="Text 52"/>
          <p:cNvSpPr txBox="1"/>
          <p:nvPr/>
        </p:nvSpPr>
        <p:spPr>
          <a:xfrm>
            <a:off x="6944868" y="4050792"/>
            <a:ext cx="2002536" cy="512064"/>
          </a:xfrm>
          <a:prstGeom prst="rect">
            <a:avLst/>
          </a:prstGeom>
          <a:noFill/>
          <a:ln/>
        </p:spPr>
        <p:txBody>
          <a:bodyPr wrap="square" lIns="0" tIns="0" rIns="0" bIns="0" rtlCol="0" anchor="ctr"/>
          <a:lstStyle/>
          <a:p>
            <a:pPr rtl="1" algn="r" indent="0" marL="0">
              <a:buNone/>
            </a:pPr>
            <a:r>
              <a:rPr lang="ar-SA" altLang="en-US" sz="1800" dirty="0">
                <a:solidFill>
                  <a:srgbClr val="1F2A37"/>
                </a:solidFill>
                <a:latin typeface="Amiri" pitchFamily="2" charset="-78"/>
                <a:ea typeface="Amiri" pitchFamily="2" charset="-78"/>
                <a:cs typeface="Amiri" pitchFamily="2" charset="-78"/>
              </a:rPr>
              <a:t>طَوِيلٌ</a:t>
            </a:r>
            <a:endParaRPr lang="ar-SA" sz="1800" dirty="0"/>
          </a:p>
        </p:txBody>
      </p:sp>
      <p:sp>
        <p:nvSpPr>
          <p:cNvPr id="56" name="Shape 53"/>
          <p:cNvSpPr/>
          <p:nvPr/>
        </p:nvSpPr>
        <p:spPr>
          <a:xfrm>
            <a:off x="4069080" y="3483864"/>
            <a:ext cx="2414016" cy="512064"/>
          </a:xfrm>
          <a:prstGeom prst="roundRect">
            <a:avLst>
              <a:gd name="adj" fmla="val 10714"/>
            </a:avLst>
          </a:prstGeom>
          <a:solidFill>
            <a:srgbClr val="EEF3FA"/>
          </a:solidFill>
          <a:ln w="9525">
            <a:solidFill>
              <a:srgbClr val="C9D6EA"/>
            </a:solidFill>
            <a:prstDash val="solid"/>
          </a:ln>
        </p:spPr>
      </p:sp>
      <p:sp>
        <p:nvSpPr>
          <p:cNvPr id="57" name="Text 54"/>
          <p:cNvSpPr txBox="1"/>
          <p:nvPr/>
        </p:nvSpPr>
        <p:spPr>
          <a:xfrm>
            <a:off x="4123944" y="3483864"/>
            <a:ext cx="274320" cy="512064"/>
          </a:xfrm>
          <a:prstGeom prst="rect">
            <a:avLst/>
          </a:prstGeom>
          <a:noFill/>
          <a:ln/>
        </p:spPr>
        <p:txBody>
          <a:bodyPr wrap="square" lIns="0" tIns="0" rIns="0" bIns="0" rtlCol="0" anchor="ctr"/>
          <a:lstStyle/>
          <a:p>
            <a:pPr algn="l" indent="0" marL="0">
              <a:buNone/>
            </a:pPr>
            <a:r>
              <a:rPr lang="en-US" sz="1000" b="1" dirty="0">
                <a:solidFill>
                  <a:srgbClr val="2F6FB0"/>
                </a:solidFill>
                <a:latin typeface="Calibri" pitchFamily="34" charset="0"/>
                <a:cs typeface="Amiri" pitchFamily="2" charset="-78"/>
              </a:rPr>
              <a:t>A</a:t>
            </a:r>
            <a:endParaRPr lang="en-US" sz="1000" dirty="0"/>
          </a:p>
        </p:txBody>
      </p:sp>
      <p:sp>
        <p:nvSpPr>
          <p:cNvPr id="58" name="Text 55"/>
          <p:cNvSpPr txBox="1"/>
          <p:nvPr/>
        </p:nvSpPr>
        <p:spPr>
          <a:xfrm>
            <a:off x="4389120" y="3483864"/>
            <a:ext cx="2002536" cy="512064"/>
          </a:xfrm>
          <a:prstGeom prst="rect">
            <a:avLst/>
          </a:prstGeom>
          <a:noFill/>
          <a:ln/>
        </p:spPr>
        <p:txBody>
          <a:bodyPr wrap="square" lIns="0" tIns="0" rIns="0" bIns="0" rtlCol="0" anchor="ctr"/>
          <a:lstStyle/>
          <a:p>
            <a:pPr rtl="1" algn="r" indent="0" marL="0">
              <a:buNone/>
            </a:pPr>
            <a:r>
              <a:rPr lang="ar-SA" altLang="en-US" sz="1800" dirty="0">
                <a:solidFill>
                  <a:srgbClr val="1F2A37"/>
                </a:solidFill>
                <a:latin typeface="Amiri" pitchFamily="2" charset="-78"/>
                <a:ea typeface="Amiri" pitchFamily="2" charset="-78"/>
                <a:cs typeface="Amiri" pitchFamily="2" charset="-78"/>
              </a:rPr>
              <a:t>وَذَكِيَّةٌ</a:t>
            </a:r>
            <a:endParaRPr lang="ar-SA" sz="1800" dirty="0"/>
          </a:p>
        </p:txBody>
      </p:sp>
      <p:sp>
        <p:nvSpPr>
          <p:cNvPr id="59" name="Shape 56"/>
          <p:cNvSpPr/>
          <p:nvPr/>
        </p:nvSpPr>
        <p:spPr>
          <a:xfrm>
            <a:off x="4069080" y="4050792"/>
            <a:ext cx="2414016" cy="512064"/>
          </a:xfrm>
          <a:prstGeom prst="roundRect">
            <a:avLst>
              <a:gd name="adj" fmla="val 10714"/>
            </a:avLst>
          </a:prstGeom>
          <a:solidFill>
            <a:srgbClr val="EEF3FA"/>
          </a:solidFill>
          <a:ln w="9525">
            <a:solidFill>
              <a:srgbClr val="C9D6EA"/>
            </a:solidFill>
            <a:prstDash val="solid"/>
          </a:ln>
        </p:spPr>
      </p:sp>
      <p:sp>
        <p:nvSpPr>
          <p:cNvPr id="60" name="Text 57"/>
          <p:cNvSpPr txBox="1"/>
          <p:nvPr/>
        </p:nvSpPr>
        <p:spPr>
          <a:xfrm>
            <a:off x="4123944" y="4050792"/>
            <a:ext cx="274320" cy="512064"/>
          </a:xfrm>
          <a:prstGeom prst="rect">
            <a:avLst/>
          </a:prstGeom>
          <a:noFill/>
          <a:ln/>
        </p:spPr>
        <p:txBody>
          <a:bodyPr wrap="square" lIns="0" tIns="0" rIns="0" bIns="0" rtlCol="0" anchor="ctr"/>
          <a:lstStyle/>
          <a:p>
            <a:pPr algn="l" indent="0" marL="0">
              <a:buNone/>
            </a:pPr>
            <a:r>
              <a:rPr lang="en-US" sz="1000" b="1" dirty="0">
                <a:solidFill>
                  <a:srgbClr val="2F6FB0"/>
                </a:solidFill>
                <a:latin typeface="Calibri" pitchFamily="34" charset="0"/>
                <a:cs typeface="Amiri" pitchFamily="2" charset="-78"/>
              </a:rPr>
              <a:t>B</a:t>
            </a:r>
            <a:endParaRPr lang="en-US" sz="1000" dirty="0"/>
          </a:p>
        </p:txBody>
      </p:sp>
      <p:sp>
        <p:nvSpPr>
          <p:cNvPr id="61" name="Text 58"/>
          <p:cNvSpPr txBox="1"/>
          <p:nvPr/>
        </p:nvSpPr>
        <p:spPr>
          <a:xfrm>
            <a:off x="4389120" y="4050792"/>
            <a:ext cx="2002536" cy="512064"/>
          </a:xfrm>
          <a:prstGeom prst="rect">
            <a:avLst/>
          </a:prstGeom>
          <a:noFill/>
          <a:ln/>
        </p:spPr>
        <p:txBody>
          <a:bodyPr wrap="square" lIns="0" tIns="0" rIns="0" bIns="0" rtlCol="0" anchor="ctr"/>
          <a:lstStyle/>
          <a:p>
            <a:pPr rtl="1" algn="r" indent="0" marL="0">
              <a:buNone/>
            </a:pPr>
            <a:r>
              <a:rPr lang="ar-SA" altLang="en-US" sz="1800" dirty="0">
                <a:solidFill>
                  <a:srgbClr val="1F2A37"/>
                </a:solidFill>
                <a:latin typeface="Amiri" pitchFamily="2" charset="-78"/>
                <a:ea typeface="Amiri" pitchFamily="2" charset="-78"/>
                <a:cs typeface="Amiri" pitchFamily="2" charset="-78"/>
              </a:rPr>
              <a:t>وَذَكِيٌّ</a:t>
            </a:r>
            <a:endParaRPr lang="ar-SA" sz="1800" dirty="0"/>
          </a:p>
        </p:txBody>
      </p:sp>
      <p:sp>
        <p:nvSpPr>
          <p:cNvPr id="62" name="Shape 59"/>
          <p:cNvSpPr/>
          <p:nvPr/>
        </p:nvSpPr>
        <p:spPr>
          <a:xfrm>
            <a:off x="457200" y="4773168"/>
            <a:ext cx="11274552" cy="1261872"/>
          </a:xfrm>
          <a:prstGeom prst="roundRect">
            <a:avLst>
              <a:gd name="adj" fmla="val 5797"/>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63" name="Shape 60"/>
          <p:cNvSpPr/>
          <p:nvPr/>
        </p:nvSpPr>
        <p:spPr>
          <a:xfrm>
            <a:off x="594360" y="4910328"/>
            <a:ext cx="365760" cy="365760"/>
          </a:xfrm>
          <a:prstGeom prst="ellipse">
            <a:avLst/>
          </a:prstGeom>
          <a:solidFill>
            <a:srgbClr val="2F6FB0"/>
          </a:solidFill>
          <a:ln w="12700">
            <a:solidFill>
              <a:srgbClr val="2F6FB0"/>
            </a:solidFill>
            <a:prstDash val="solid"/>
          </a:ln>
        </p:spPr>
      </p:sp>
      <p:sp>
        <p:nvSpPr>
          <p:cNvPr id="64" name="Text 61"/>
          <p:cNvSpPr txBox="1"/>
          <p:nvPr/>
        </p:nvSpPr>
        <p:spPr>
          <a:xfrm>
            <a:off x="594360" y="4910328"/>
            <a:ext cx="365760" cy="365760"/>
          </a:xfrm>
          <a:prstGeom prst="rect">
            <a:avLst/>
          </a:prstGeom>
          <a:noFill/>
          <a:ln/>
        </p:spPr>
        <p:txBody>
          <a:bodyPr wrap="square" lIns="0" tIns="0" rIns="0" bIns="0" rtlCol="0" anchor="ctr"/>
          <a:lstStyle/>
          <a:p>
            <a:pPr algn="ctr" indent="0" marL="0">
              <a:buNone/>
            </a:pPr>
            <a:r>
              <a:rPr lang="en-US" sz="1200" b="1" dirty="0">
                <a:solidFill>
                  <a:srgbClr val="FFFFFF"/>
                </a:solidFill>
                <a:latin typeface="Calibri" pitchFamily="34" charset="0"/>
                <a:cs typeface="Amiri" pitchFamily="2" charset="-78"/>
              </a:rPr>
              <a:t>3</a:t>
            </a:r>
            <a:endParaRPr lang="en-US" sz="1200" dirty="0"/>
          </a:p>
        </p:txBody>
      </p:sp>
      <p:sp>
        <p:nvSpPr>
          <p:cNvPr id="65" name="Text 62"/>
          <p:cNvSpPr txBox="1"/>
          <p:nvPr/>
        </p:nvSpPr>
        <p:spPr>
          <a:xfrm>
            <a:off x="1051560" y="4882896"/>
            <a:ext cx="2834640" cy="1042416"/>
          </a:xfrm>
          <a:prstGeom prst="rect">
            <a:avLst/>
          </a:prstGeom>
          <a:noFill/>
          <a:ln/>
        </p:spPr>
        <p:txBody>
          <a:bodyPr wrap="square" lIns="0" tIns="0" rIns="0" bIns="0" rtlCol="0" anchor="t"/>
          <a:lstStyle/>
          <a:p>
            <a:pPr algn="l" indent="0" marL="0">
              <a:buNone/>
            </a:pPr>
            <a:r>
              <a:rPr lang="en-US" sz="1400" b="1" dirty="0">
                <a:solidFill>
                  <a:srgbClr val="1B3B6F"/>
                </a:solidFill>
                <a:latin typeface="Calibri" pitchFamily="34" charset="0"/>
                <a:cs typeface="Amiri" pitchFamily="2" charset="-78"/>
              </a:rPr>
              <a:t>His name is Ali, and he is tall.</a:t>
            </a:r>
            <a:endParaRPr lang="en-US" sz="1400" dirty="0"/>
          </a:p>
        </p:txBody>
      </p:sp>
      <p:sp>
        <p:nvSpPr>
          <p:cNvPr id="66" name="Shape 63"/>
          <p:cNvSpPr/>
          <p:nvPr/>
        </p:nvSpPr>
        <p:spPr>
          <a:xfrm>
            <a:off x="9180576" y="4864608"/>
            <a:ext cx="2414016" cy="512064"/>
          </a:xfrm>
          <a:prstGeom prst="roundRect">
            <a:avLst>
              <a:gd name="adj" fmla="val 10714"/>
            </a:avLst>
          </a:prstGeom>
          <a:solidFill>
            <a:srgbClr val="EEF3FA"/>
          </a:solidFill>
          <a:ln w="9525">
            <a:solidFill>
              <a:srgbClr val="C9D6EA"/>
            </a:solidFill>
            <a:prstDash val="solid"/>
          </a:ln>
        </p:spPr>
      </p:sp>
      <p:sp>
        <p:nvSpPr>
          <p:cNvPr id="67" name="Text 64"/>
          <p:cNvSpPr txBox="1"/>
          <p:nvPr/>
        </p:nvSpPr>
        <p:spPr>
          <a:xfrm>
            <a:off x="9235440" y="4864608"/>
            <a:ext cx="274320" cy="512064"/>
          </a:xfrm>
          <a:prstGeom prst="rect">
            <a:avLst/>
          </a:prstGeom>
          <a:noFill/>
          <a:ln/>
        </p:spPr>
        <p:txBody>
          <a:bodyPr wrap="square" lIns="0" tIns="0" rIns="0" bIns="0" rtlCol="0" anchor="ctr"/>
          <a:lstStyle/>
          <a:p>
            <a:pPr algn="l" indent="0" marL="0">
              <a:buNone/>
            </a:pPr>
            <a:r>
              <a:rPr lang="en-US" sz="1000" b="1" dirty="0">
                <a:solidFill>
                  <a:srgbClr val="2F6FB0"/>
                </a:solidFill>
                <a:latin typeface="Calibri" pitchFamily="34" charset="0"/>
                <a:cs typeface="Amiri" pitchFamily="2" charset="-78"/>
              </a:rPr>
              <a:t>A</a:t>
            </a:r>
            <a:endParaRPr lang="en-US" sz="1000" dirty="0"/>
          </a:p>
        </p:txBody>
      </p:sp>
      <p:sp>
        <p:nvSpPr>
          <p:cNvPr id="68" name="Text 65"/>
          <p:cNvSpPr txBox="1"/>
          <p:nvPr/>
        </p:nvSpPr>
        <p:spPr>
          <a:xfrm>
            <a:off x="9500616" y="4864608"/>
            <a:ext cx="2002536" cy="512064"/>
          </a:xfrm>
          <a:prstGeom prst="rect">
            <a:avLst/>
          </a:prstGeom>
          <a:noFill/>
          <a:ln/>
        </p:spPr>
        <p:txBody>
          <a:bodyPr wrap="square" lIns="0" tIns="0" rIns="0" bIns="0" rtlCol="0" anchor="ctr"/>
          <a:lstStyle/>
          <a:p>
            <a:pPr rtl="1" algn="r" indent="0" marL="0">
              <a:buNone/>
            </a:pPr>
            <a:r>
              <a:rPr lang="ar-SA" altLang="en-US" sz="1800" dirty="0">
                <a:solidFill>
                  <a:srgbClr val="1F2A37"/>
                </a:solidFill>
                <a:latin typeface="Amiri" pitchFamily="2" charset="-78"/>
                <a:ea typeface="Amiri" pitchFamily="2" charset="-78"/>
                <a:cs typeface="Amiri" pitchFamily="2" charset="-78"/>
              </a:rPr>
              <a:t>اسْمُهُ</a:t>
            </a:r>
            <a:endParaRPr lang="ar-SA" sz="1800" dirty="0"/>
          </a:p>
        </p:txBody>
      </p:sp>
      <p:sp>
        <p:nvSpPr>
          <p:cNvPr id="69" name="Shape 66"/>
          <p:cNvSpPr/>
          <p:nvPr/>
        </p:nvSpPr>
        <p:spPr>
          <a:xfrm>
            <a:off x="9180576" y="5431536"/>
            <a:ext cx="2414016" cy="512064"/>
          </a:xfrm>
          <a:prstGeom prst="roundRect">
            <a:avLst>
              <a:gd name="adj" fmla="val 10714"/>
            </a:avLst>
          </a:prstGeom>
          <a:solidFill>
            <a:srgbClr val="EEF3FA"/>
          </a:solidFill>
          <a:ln w="9525">
            <a:solidFill>
              <a:srgbClr val="C9D6EA"/>
            </a:solidFill>
            <a:prstDash val="solid"/>
          </a:ln>
        </p:spPr>
      </p:sp>
      <p:sp>
        <p:nvSpPr>
          <p:cNvPr id="70" name="Text 67"/>
          <p:cNvSpPr txBox="1"/>
          <p:nvPr/>
        </p:nvSpPr>
        <p:spPr>
          <a:xfrm>
            <a:off x="9235440" y="5431536"/>
            <a:ext cx="274320" cy="512064"/>
          </a:xfrm>
          <a:prstGeom prst="rect">
            <a:avLst/>
          </a:prstGeom>
          <a:noFill/>
          <a:ln/>
        </p:spPr>
        <p:txBody>
          <a:bodyPr wrap="square" lIns="0" tIns="0" rIns="0" bIns="0" rtlCol="0" anchor="ctr"/>
          <a:lstStyle/>
          <a:p>
            <a:pPr algn="l" indent="0" marL="0">
              <a:buNone/>
            </a:pPr>
            <a:r>
              <a:rPr lang="en-US" sz="1000" b="1" dirty="0">
                <a:solidFill>
                  <a:srgbClr val="2F6FB0"/>
                </a:solidFill>
                <a:latin typeface="Calibri" pitchFamily="34" charset="0"/>
                <a:cs typeface="Amiri" pitchFamily="2" charset="-78"/>
              </a:rPr>
              <a:t>B</a:t>
            </a:r>
            <a:endParaRPr lang="en-US" sz="1000" dirty="0"/>
          </a:p>
        </p:txBody>
      </p:sp>
      <p:sp>
        <p:nvSpPr>
          <p:cNvPr id="71" name="Text 68"/>
          <p:cNvSpPr txBox="1"/>
          <p:nvPr/>
        </p:nvSpPr>
        <p:spPr>
          <a:xfrm>
            <a:off x="9500616" y="5431536"/>
            <a:ext cx="2002536" cy="512064"/>
          </a:xfrm>
          <a:prstGeom prst="rect">
            <a:avLst/>
          </a:prstGeom>
          <a:noFill/>
          <a:ln/>
        </p:spPr>
        <p:txBody>
          <a:bodyPr wrap="square" lIns="0" tIns="0" rIns="0" bIns="0" rtlCol="0" anchor="ctr"/>
          <a:lstStyle/>
          <a:p>
            <a:pPr rtl="1" algn="r" indent="0" marL="0">
              <a:buNone/>
            </a:pPr>
            <a:r>
              <a:rPr lang="ar-SA" altLang="en-US" sz="1800" dirty="0">
                <a:solidFill>
                  <a:srgbClr val="1F2A37"/>
                </a:solidFill>
                <a:latin typeface="Amiri" pitchFamily="2" charset="-78"/>
                <a:ea typeface="Amiri" pitchFamily="2" charset="-78"/>
                <a:cs typeface="Amiri" pitchFamily="2" charset="-78"/>
              </a:rPr>
              <a:t>اسْمُهَا</a:t>
            </a:r>
            <a:endParaRPr lang="ar-SA" sz="1800" dirty="0"/>
          </a:p>
        </p:txBody>
      </p:sp>
      <p:sp>
        <p:nvSpPr>
          <p:cNvPr id="72" name="Shape 69"/>
          <p:cNvSpPr/>
          <p:nvPr/>
        </p:nvSpPr>
        <p:spPr>
          <a:xfrm>
            <a:off x="6624828" y="4864608"/>
            <a:ext cx="2414016" cy="512064"/>
          </a:xfrm>
          <a:prstGeom prst="roundRect">
            <a:avLst>
              <a:gd name="adj" fmla="val 10714"/>
            </a:avLst>
          </a:prstGeom>
          <a:solidFill>
            <a:srgbClr val="EEF3FA"/>
          </a:solidFill>
          <a:ln w="9525">
            <a:solidFill>
              <a:srgbClr val="C9D6EA"/>
            </a:solidFill>
            <a:prstDash val="solid"/>
          </a:ln>
        </p:spPr>
      </p:sp>
      <p:sp>
        <p:nvSpPr>
          <p:cNvPr id="73" name="Text 70"/>
          <p:cNvSpPr txBox="1"/>
          <p:nvPr/>
        </p:nvSpPr>
        <p:spPr>
          <a:xfrm>
            <a:off x="6679692" y="4864608"/>
            <a:ext cx="274320" cy="512064"/>
          </a:xfrm>
          <a:prstGeom prst="rect">
            <a:avLst/>
          </a:prstGeom>
          <a:noFill/>
          <a:ln/>
        </p:spPr>
        <p:txBody>
          <a:bodyPr wrap="square" lIns="0" tIns="0" rIns="0" bIns="0" rtlCol="0" anchor="ctr"/>
          <a:lstStyle/>
          <a:p>
            <a:pPr algn="l" indent="0" marL="0">
              <a:buNone/>
            </a:pPr>
            <a:r>
              <a:rPr lang="en-US" sz="1000" b="1" dirty="0">
                <a:solidFill>
                  <a:srgbClr val="2F6FB0"/>
                </a:solidFill>
                <a:latin typeface="Calibri" pitchFamily="34" charset="0"/>
                <a:cs typeface="Amiri" pitchFamily="2" charset="-78"/>
              </a:rPr>
              <a:t>A</a:t>
            </a:r>
            <a:endParaRPr lang="en-US" sz="1000" dirty="0"/>
          </a:p>
        </p:txBody>
      </p:sp>
      <p:sp>
        <p:nvSpPr>
          <p:cNvPr id="74" name="Text 71"/>
          <p:cNvSpPr txBox="1"/>
          <p:nvPr/>
        </p:nvSpPr>
        <p:spPr>
          <a:xfrm>
            <a:off x="6944868" y="4864608"/>
            <a:ext cx="2002536" cy="512064"/>
          </a:xfrm>
          <a:prstGeom prst="rect">
            <a:avLst/>
          </a:prstGeom>
          <a:noFill/>
          <a:ln/>
        </p:spPr>
        <p:txBody>
          <a:bodyPr wrap="square" lIns="0" tIns="0" rIns="0" bIns="0" rtlCol="0" anchor="ctr"/>
          <a:lstStyle/>
          <a:p>
            <a:pPr rtl="1" algn="r" indent="0" marL="0">
              <a:buNone/>
            </a:pPr>
            <a:r>
              <a:rPr lang="ar-SA" altLang="en-US" sz="1800" dirty="0">
                <a:solidFill>
                  <a:srgbClr val="1F2A37"/>
                </a:solidFill>
                <a:latin typeface="Amiri" pitchFamily="2" charset="-78"/>
                <a:ea typeface="Amiri" pitchFamily="2" charset="-78"/>
                <a:cs typeface="Amiri" pitchFamily="2" charset="-78"/>
              </a:rPr>
              <a:t>عَلِيٌّ</a:t>
            </a:r>
            <a:endParaRPr lang="ar-SA" sz="1800" dirty="0"/>
          </a:p>
        </p:txBody>
      </p:sp>
      <p:sp>
        <p:nvSpPr>
          <p:cNvPr id="75" name="Shape 72"/>
          <p:cNvSpPr/>
          <p:nvPr/>
        </p:nvSpPr>
        <p:spPr>
          <a:xfrm>
            <a:off x="6624828" y="5431536"/>
            <a:ext cx="2414016" cy="512064"/>
          </a:xfrm>
          <a:prstGeom prst="roundRect">
            <a:avLst>
              <a:gd name="adj" fmla="val 10714"/>
            </a:avLst>
          </a:prstGeom>
          <a:solidFill>
            <a:srgbClr val="EEF3FA"/>
          </a:solidFill>
          <a:ln w="9525">
            <a:solidFill>
              <a:srgbClr val="C9D6EA"/>
            </a:solidFill>
            <a:prstDash val="solid"/>
          </a:ln>
        </p:spPr>
      </p:sp>
      <p:sp>
        <p:nvSpPr>
          <p:cNvPr id="76" name="Text 73"/>
          <p:cNvSpPr txBox="1"/>
          <p:nvPr/>
        </p:nvSpPr>
        <p:spPr>
          <a:xfrm>
            <a:off x="6679692" y="5431536"/>
            <a:ext cx="274320" cy="512064"/>
          </a:xfrm>
          <a:prstGeom prst="rect">
            <a:avLst/>
          </a:prstGeom>
          <a:noFill/>
          <a:ln/>
        </p:spPr>
        <p:txBody>
          <a:bodyPr wrap="square" lIns="0" tIns="0" rIns="0" bIns="0" rtlCol="0" anchor="ctr"/>
          <a:lstStyle/>
          <a:p>
            <a:pPr algn="l" indent="0" marL="0">
              <a:buNone/>
            </a:pPr>
            <a:r>
              <a:rPr lang="en-US" sz="1000" b="1" dirty="0">
                <a:solidFill>
                  <a:srgbClr val="2F6FB0"/>
                </a:solidFill>
                <a:latin typeface="Calibri" pitchFamily="34" charset="0"/>
                <a:cs typeface="Amiri" pitchFamily="2" charset="-78"/>
              </a:rPr>
              <a:t>B</a:t>
            </a:r>
            <a:endParaRPr lang="en-US" sz="1000" dirty="0"/>
          </a:p>
        </p:txBody>
      </p:sp>
      <p:sp>
        <p:nvSpPr>
          <p:cNvPr id="77" name="Text 74"/>
          <p:cNvSpPr txBox="1"/>
          <p:nvPr/>
        </p:nvSpPr>
        <p:spPr>
          <a:xfrm>
            <a:off x="6944868" y="5431536"/>
            <a:ext cx="2002536" cy="512064"/>
          </a:xfrm>
          <a:prstGeom prst="rect">
            <a:avLst/>
          </a:prstGeom>
          <a:noFill/>
          <a:ln/>
        </p:spPr>
        <p:txBody>
          <a:bodyPr wrap="square" lIns="0" tIns="0" rIns="0" bIns="0" rtlCol="0" anchor="ctr"/>
          <a:lstStyle/>
          <a:p>
            <a:pPr rtl="1" algn="r" indent="0" marL="0">
              <a:buNone/>
            </a:pPr>
            <a:r>
              <a:rPr lang="ar-SA" altLang="en-US" sz="1800" dirty="0">
                <a:solidFill>
                  <a:srgbClr val="1F2A37"/>
                </a:solidFill>
                <a:latin typeface="Amiri" pitchFamily="2" charset="-78"/>
                <a:ea typeface="Amiri" pitchFamily="2" charset="-78"/>
                <a:cs typeface="Amiri" pitchFamily="2" charset="-78"/>
              </a:rPr>
              <a:t>عَلِيًّا</a:t>
            </a:r>
            <a:endParaRPr lang="ar-SA" sz="1800" dirty="0"/>
          </a:p>
        </p:txBody>
      </p:sp>
      <p:sp>
        <p:nvSpPr>
          <p:cNvPr id="78" name="Shape 75"/>
          <p:cNvSpPr/>
          <p:nvPr/>
        </p:nvSpPr>
        <p:spPr>
          <a:xfrm>
            <a:off x="4069080" y="4864608"/>
            <a:ext cx="2414016" cy="512064"/>
          </a:xfrm>
          <a:prstGeom prst="roundRect">
            <a:avLst>
              <a:gd name="adj" fmla="val 10714"/>
            </a:avLst>
          </a:prstGeom>
          <a:solidFill>
            <a:srgbClr val="EEF3FA"/>
          </a:solidFill>
          <a:ln w="9525">
            <a:solidFill>
              <a:srgbClr val="C9D6EA"/>
            </a:solidFill>
            <a:prstDash val="solid"/>
          </a:ln>
        </p:spPr>
      </p:sp>
      <p:sp>
        <p:nvSpPr>
          <p:cNvPr id="79" name="Text 76"/>
          <p:cNvSpPr txBox="1"/>
          <p:nvPr/>
        </p:nvSpPr>
        <p:spPr>
          <a:xfrm>
            <a:off x="4123944" y="4864608"/>
            <a:ext cx="274320" cy="512064"/>
          </a:xfrm>
          <a:prstGeom prst="rect">
            <a:avLst/>
          </a:prstGeom>
          <a:noFill/>
          <a:ln/>
        </p:spPr>
        <p:txBody>
          <a:bodyPr wrap="square" lIns="0" tIns="0" rIns="0" bIns="0" rtlCol="0" anchor="ctr"/>
          <a:lstStyle/>
          <a:p>
            <a:pPr algn="l" indent="0" marL="0">
              <a:buNone/>
            </a:pPr>
            <a:r>
              <a:rPr lang="en-US" sz="1000" b="1" dirty="0">
                <a:solidFill>
                  <a:srgbClr val="2F6FB0"/>
                </a:solidFill>
                <a:latin typeface="Calibri" pitchFamily="34" charset="0"/>
                <a:cs typeface="Amiri" pitchFamily="2" charset="-78"/>
              </a:rPr>
              <a:t>A</a:t>
            </a:r>
            <a:endParaRPr lang="en-US" sz="1000" dirty="0"/>
          </a:p>
        </p:txBody>
      </p:sp>
      <p:sp>
        <p:nvSpPr>
          <p:cNvPr id="80" name="Text 77"/>
          <p:cNvSpPr txBox="1"/>
          <p:nvPr/>
        </p:nvSpPr>
        <p:spPr>
          <a:xfrm>
            <a:off x="4389120" y="4864608"/>
            <a:ext cx="2002536" cy="512064"/>
          </a:xfrm>
          <a:prstGeom prst="rect">
            <a:avLst/>
          </a:prstGeom>
          <a:noFill/>
          <a:ln/>
        </p:spPr>
        <p:txBody>
          <a:bodyPr wrap="square" lIns="0" tIns="0" rIns="0" bIns="0" rtlCol="0" anchor="ctr"/>
          <a:lstStyle/>
          <a:p>
            <a:pPr rtl="1" algn="r" indent="0" marL="0">
              <a:buNone/>
            </a:pPr>
            <a:r>
              <a:rPr lang="ar-SA" altLang="en-US" sz="1800" dirty="0">
                <a:solidFill>
                  <a:srgbClr val="1F2A37"/>
                </a:solidFill>
                <a:latin typeface="Amiri" pitchFamily="2" charset="-78"/>
                <a:ea typeface="Amiri" pitchFamily="2" charset="-78"/>
                <a:cs typeface="Amiri" pitchFamily="2" charset="-78"/>
              </a:rPr>
              <a:t>وَهُوَ طَوِيلٌ</a:t>
            </a:r>
            <a:endParaRPr lang="ar-SA" sz="1800" dirty="0"/>
          </a:p>
        </p:txBody>
      </p:sp>
      <p:sp>
        <p:nvSpPr>
          <p:cNvPr id="81" name="Shape 78"/>
          <p:cNvSpPr/>
          <p:nvPr/>
        </p:nvSpPr>
        <p:spPr>
          <a:xfrm>
            <a:off x="4069080" y="5431536"/>
            <a:ext cx="2414016" cy="512064"/>
          </a:xfrm>
          <a:prstGeom prst="roundRect">
            <a:avLst>
              <a:gd name="adj" fmla="val 10714"/>
            </a:avLst>
          </a:prstGeom>
          <a:solidFill>
            <a:srgbClr val="EEF3FA"/>
          </a:solidFill>
          <a:ln w="9525">
            <a:solidFill>
              <a:srgbClr val="C9D6EA"/>
            </a:solidFill>
            <a:prstDash val="solid"/>
          </a:ln>
        </p:spPr>
      </p:sp>
      <p:sp>
        <p:nvSpPr>
          <p:cNvPr id="82" name="Text 79"/>
          <p:cNvSpPr txBox="1"/>
          <p:nvPr/>
        </p:nvSpPr>
        <p:spPr>
          <a:xfrm>
            <a:off x="4123944" y="5431536"/>
            <a:ext cx="274320" cy="512064"/>
          </a:xfrm>
          <a:prstGeom prst="rect">
            <a:avLst/>
          </a:prstGeom>
          <a:noFill/>
          <a:ln/>
        </p:spPr>
        <p:txBody>
          <a:bodyPr wrap="square" lIns="0" tIns="0" rIns="0" bIns="0" rtlCol="0" anchor="ctr"/>
          <a:lstStyle/>
          <a:p>
            <a:pPr algn="l" indent="0" marL="0">
              <a:buNone/>
            </a:pPr>
            <a:r>
              <a:rPr lang="en-US" sz="1000" b="1" dirty="0">
                <a:solidFill>
                  <a:srgbClr val="2F6FB0"/>
                </a:solidFill>
                <a:latin typeface="Calibri" pitchFamily="34" charset="0"/>
                <a:cs typeface="Amiri" pitchFamily="2" charset="-78"/>
              </a:rPr>
              <a:t>B</a:t>
            </a:r>
            <a:endParaRPr lang="en-US" sz="1000" dirty="0"/>
          </a:p>
        </p:txBody>
      </p:sp>
      <p:sp>
        <p:nvSpPr>
          <p:cNvPr id="83" name="Text 80"/>
          <p:cNvSpPr txBox="1"/>
          <p:nvPr/>
        </p:nvSpPr>
        <p:spPr>
          <a:xfrm>
            <a:off x="4389120" y="5431536"/>
            <a:ext cx="2002536" cy="512064"/>
          </a:xfrm>
          <a:prstGeom prst="rect">
            <a:avLst/>
          </a:prstGeom>
          <a:noFill/>
          <a:ln/>
        </p:spPr>
        <p:txBody>
          <a:bodyPr wrap="square" lIns="0" tIns="0" rIns="0" bIns="0" rtlCol="0" anchor="ctr"/>
          <a:lstStyle/>
          <a:p>
            <a:pPr rtl="1" algn="r" indent="0" marL="0">
              <a:buNone/>
            </a:pPr>
            <a:r>
              <a:rPr lang="ar-SA" altLang="en-US" sz="1800" dirty="0">
                <a:solidFill>
                  <a:srgbClr val="1F2A37"/>
                </a:solidFill>
                <a:latin typeface="Amiri" pitchFamily="2" charset="-78"/>
                <a:ea typeface="Amiri" pitchFamily="2" charset="-78"/>
                <a:cs typeface="Amiri" pitchFamily="2" charset="-78"/>
              </a:rPr>
              <a:t>وَهِيَ طَوِيلَةٌ</a:t>
            </a:r>
            <a:endParaRPr lang="ar-SA" sz="1800" dirty="0"/>
          </a:p>
        </p:txBody>
      </p:sp>
      <p:sp>
        <p:nvSpPr>
          <p:cNvPr id="84" name="Text 81"/>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14 / 24</a:t>
            </a:r>
            <a:endParaRPr lang="en-US" sz="850" dirty="0"/>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name="Slide 15">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F3-W01 · Apply workshop</a:t>
            </a:r>
            <a:endParaRPr lang="en-US" sz="950" dirty="0"/>
          </a:p>
        </p:txBody>
      </p:sp>
      <p:sp>
        <p:nvSpPr>
          <p:cNvPr id="8" name="Shape 6"/>
          <p:cNvSpPr/>
          <p:nvPr/>
        </p:nvSpPr>
        <p:spPr>
          <a:xfrm>
            <a:off x="7143293" y="274320"/>
            <a:ext cx="1616659" cy="329184"/>
          </a:xfrm>
          <a:prstGeom prst="roundRect">
            <a:avLst>
              <a:gd name="adj" fmla="val 50000"/>
            </a:avLst>
          </a:prstGeom>
          <a:solidFill>
            <a:srgbClr val="8A6D1E"/>
          </a:solidFill>
          <a:ln w="12700">
            <a:solidFill>
              <a:srgbClr val="8A6D1E"/>
            </a:solidFill>
            <a:prstDash val="solid"/>
          </a:ln>
        </p:spPr>
      </p:sp>
      <p:sp>
        <p:nvSpPr>
          <p:cNvPr id="9" name="Text 7"/>
          <p:cNvSpPr txBox="1"/>
          <p:nvPr/>
        </p:nvSpPr>
        <p:spPr>
          <a:xfrm>
            <a:off x="7143293" y="274320"/>
            <a:ext cx="1616659"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FEEDBACK · 1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8A6D1E"/>
                </a:solidFill>
                <a:latin typeface="Calibri" pitchFamily="34" charset="0"/>
                <a:cs typeface="Amiri" pitchFamily="2" charset="-78"/>
              </a:rPr>
              <a:t>STEP 7 · CHECK YOUR SENTENCES</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Sentence builder: answers</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ابْنِ الجُمْلَةَ</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Foundation F3 · My Family &amp; Home · F3-W01 · Apply workshop (F3-L01 + F3-L02)</a:t>
            </a:r>
            <a:endParaRPr lang="en-US" sz="850" dirty="0"/>
          </a:p>
        </p:txBody>
      </p:sp>
      <p:sp>
        <p:nvSpPr>
          <p:cNvPr id="15" name="Shape 12"/>
          <p:cNvSpPr/>
          <p:nvPr/>
        </p:nvSpPr>
        <p:spPr>
          <a:xfrm>
            <a:off x="457200" y="1810512"/>
            <a:ext cx="11274552" cy="1353312"/>
          </a:xfrm>
          <a:prstGeom prst="roundRect">
            <a:avLst>
              <a:gd name="adj" fmla="val 5405"/>
            </a:avLst>
          </a:prstGeom>
          <a:solidFill>
            <a:srgbClr val="E6F4EC"/>
          </a:solidFill>
          <a:ln w="9525">
            <a:solidFill>
              <a:srgbClr val="9CCFB0"/>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640080" y="1947672"/>
            <a:ext cx="365760" cy="365760"/>
          </a:xfrm>
          <a:prstGeom prst="ellipse">
            <a:avLst/>
          </a:prstGeom>
          <a:solidFill>
            <a:srgbClr val="2E8B57"/>
          </a:solidFill>
          <a:ln w="12700">
            <a:solidFill>
              <a:srgbClr val="2E8B57"/>
            </a:solidFill>
            <a:prstDash val="solid"/>
          </a:ln>
        </p:spPr>
      </p:sp>
      <p:sp>
        <p:nvSpPr>
          <p:cNvPr id="17" name="Text 14"/>
          <p:cNvSpPr txBox="1"/>
          <p:nvPr/>
        </p:nvSpPr>
        <p:spPr>
          <a:xfrm>
            <a:off x="640080" y="1947672"/>
            <a:ext cx="365760" cy="365760"/>
          </a:xfrm>
          <a:prstGeom prst="rect">
            <a:avLst/>
          </a:prstGeom>
          <a:noFill/>
          <a:ln/>
        </p:spPr>
        <p:txBody>
          <a:bodyPr wrap="square" lIns="0" tIns="0" rIns="0" bIns="0" rtlCol="0" anchor="ctr"/>
          <a:lstStyle/>
          <a:p>
            <a:pPr algn="ctr" indent="0" marL="0">
              <a:buNone/>
            </a:pPr>
            <a:r>
              <a:rPr lang="en-US" sz="1200" b="1" dirty="0">
                <a:solidFill>
                  <a:srgbClr val="FFFFFF"/>
                </a:solidFill>
                <a:latin typeface="Calibri" pitchFamily="34" charset="0"/>
                <a:cs typeface="Amiri" pitchFamily="2" charset="-78"/>
              </a:rPr>
              <a:t>1</a:t>
            </a:r>
            <a:endParaRPr lang="en-US" sz="1200" dirty="0"/>
          </a:p>
        </p:txBody>
      </p:sp>
      <p:sp>
        <p:nvSpPr>
          <p:cNvPr id="18" name="Text 15"/>
          <p:cNvSpPr txBox="1"/>
          <p:nvPr/>
        </p:nvSpPr>
        <p:spPr>
          <a:xfrm>
            <a:off x="1143000" y="1901952"/>
            <a:ext cx="3291840" cy="457200"/>
          </a:xfrm>
          <a:prstGeom prst="rect">
            <a:avLst/>
          </a:prstGeom>
          <a:noFill/>
          <a:ln/>
        </p:spPr>
        <p:txBody>
          <a:bodyPr wrap="square" lIns="0" tIns="0" rIns="0" bIns="0" rtlCol="0" anchor="ctr"/>
          <a:lstStyle/>
          <a:p>
            <a:pPr algn="l" indent="0" marL="0">
              <a:buNone/>
            </a:pPr>
            <a:r>
              <a:rPr lang="en-US" sz="1300" b="1" dirty="0">
                <a:solidFill>
                  <a:srgbClr val="1B3B6F"/>
                </a:solidFill>
                <a:latin typeface="Calibri" pitchFamily="34" charset="0"/>
                <a:cs typeface="Amiri" pitchFamily="2" charset="-78"/>
              </a:rPr>
              <a:t>This is my kind mother.</a:t>
            </a:r>
            <a:endParaRPr lang="en-US" sz="1300" dirty="0"/>
          </a:p>
        </p:txBody>
      </p:sp>
      <p:sp>
        <p:nvSpPr>
          <p:cNvPr id="19" name="Text 16"/>
          <p:cNvSpPr txBox="1"/>
          <p:nvPr/>
        </p:nvSpPr>
        <p:spPr>
          <a:xfrm>
            <a:off x="1143000" y="2359152"/>
            <a:ext cx="3291840" cy="256032"/>
          </a:xfrm>
          <a:prstGeom prst="rect">
            <a:avLst/>
          </a:prstGeom>
          <a:noFill/>
          <a:ln/>
        </p:spPr>
        <p:txBody>
          <a:bodyPr wrap="square" lIns="0" tIns="0" rIns="0" bIns="0" rtlCol="0" anchor="ctr"/>
          <a:lstStyle/>
          <a:p>
            <a:pPr algn="l" indent="0" marL="0">
              <a:buNone/>
            </a:pPr>
            <a:r>
              <a:rPr lang="en-US" sz="1050" b="1" dirty="0">
                <a:solidFill>
                  <a:srgbClr val="1E6B52"/>
                </a:solidFill>
                <a:latin typeface="Calibri" pitchFamily="34" charset="0"/>
                <a:cs typeface="Amiri" pitchFamily="2" charset="-78"/>
              </a:rPr>
              <a:t>Columns = A · A · A</a:t>
            </a:r>
            <a:endParaRPr lang="en-US" sz="1050" dirty="0"/>
          </a:p>
        </p:txBody>
      </p:sp>
      <p:sp>
        <p:nvSpPr>
          <p:cNvPr id="20" name="Text 17"/>
          <p:cNvSpPr txBox="1"/>
          <p:nvPr/>
        </p:nvSpPr>
        <p:spPr>
          <a:xfrm>
            <a:off x="1143000" y="2633472"/>
            <a:ext cx="3291840" cy="438912"/>
          </a:xfrm>
          <a:prstGeom prst="rect">
            <a:avLst/>
          </a:prstGeom>
          <a:noFill/>
          <a:ln/>
        </p:spPr>
        <p:txBody>
          <a:bodyPr wrap="square" lIns="0" tIns="0" rIns="0" bIns="0" rtlCol="0" anchor="ctr"/>
          <a:lstStyle/>
          <a:p>
            <a:pPr algn="l" indent="0" marL="0">
              <a:buNone/>
            </a:pPr>
            <a:r>
              <a:rPr lang="en-US" sz="1050" i="1" dirty="0">
                <a:solidFill>
                  <a:srgbClr val="5A6472"/>
                </a:solidFill>
                <a:latin typeface="Calibri" pitchFamily="34" charset="0"/>
                <a:cs typeface="Amiri" pitchFamily="2" charset="-78"/>
              </a:rPr>
              <a:t>A mother is feminine → </a:t>
            </a:r>
            <a:pPr algn="l" indent="0" marL="0">
              <a:buNone/>
            </a:pPr>
            <a:r>
              <a:rPr lang="ar-SA" altLang="en-US" sz="1350" dirty="0">
                <a:solidFill>
                  <a:srgbClr val="5A6472"/>
                </a:solidFill>
                <a:latin typeface="Amiri" pitchFamily="2" charset="-78"/>
                <a:ea typeface="Amiri" pitchFamily="2" charset="-78"/>
                <a:cs typeface="Amiri" pitchFamily="2" charset="-78"/>
              </a:rPr>
              <a:t>هٰذِهِ … اللَّطِيفَةُ</a:t>
            </a:r>
            <a:pPr algn="l" indent="0" marL="0">
              <a:buNone/>
            </a:pPr>
            <a:r>
              <a:rPr lang="en-US" sz="1050" i="1" dirty="0">
                <a:solidFill>
                  <a:srgbClr val="5A6472"/>
                </a:solidFill>
                <a:latin typeface="Calibri" pitchFamily="34" charset="0"/>
                <a:cs typeface="Amiri" pitchFamily="2" charset="-78"/>
              </a:rPr>
              <a:t>; my mother = </a:t>
            </a:r>
            <a:pPr algn="l" indent="0" marL="0">
              <a:buNone/>
            </a:pPr>
            <a:r>
              <a:rPr lang="ar-SA" altLang="en-US" sz="1350" dirty="0">
                <a:solidFill>
                  <a:srgbClr val="5A6472"/>
                </a:solidFill>
                <a:latin typeface="Amiri" pitchFamily="2" charset="-78"/>
                <a:ea typeface="Amiri" pitchFamily="2" charset="-78"/>
                <a:cs typeface="Amiri" pitchFamily="2" charset="-78"/>
              </a:rPr>
              <a:t>أُمِّي</a:t>
            </a:r>
            <a:pPr algn="l" indent="0" marL="0">
              <a:buNone/>
            </a:pPr>
            <a:r>
              <a:rPr lang="en-US" sz="1050" i="1" dirty="0">
                <a:solidFill>
                  <a:srgbClr val="5A6472"/>
                </a:solidFill>
                <a:latin typeface="Calibri" pitchFamily="34" charset="0"/>
                <a:cs typeface="Amiri" pitchFamily="2" charset="-78"/>
              </a:rPr>
              <a:t>.</a:t>
            </a:r>
            <a:endParaRPr lang="en-US" sz="1050" dirty="0"/>
          </a:p>
        </p:txBody>
      </p:sp>
      <p:sp>
        <p:nvSpPr>
          <p:cNvPr id="21" name="Text 18"/>
          <p:cNvSpPr txBox="1"/>
          <p:nvPr/>
        </p:nvSpPr>
        <p:spPr>
          <a:xfrm>
            <a:off x="4572000" y="1901952"/>
            <a:ext cx="6949440" cy="1170432"/>
          </a:xfrm>
          <a:prstGeom prst="rect">
            <a:avLst/>
          </a:prstGeom>
          <a:noFill/>
          <a:ln/>
        </p:spPr>
        <p:txBody>
          <a:bodyPr wrap="square" lIns="0" tIns="0" rIns="0" bIns="0" rtlCol="0" anchor="ctr"/>
          <a:lstStyle/>
          <a:p>
            <a:pPr rtl="1" algn="r" indent="0" marL="0">
              <a:buNone/>
            </a:pPr>
            <a:r>
              <a:rPr lang="ar-SA" altLang="en-US" sz="2800" b="1" dirty="0">
                <a:solidFill>
                  <a:srgbClr val="1B3B6F"/>
                </a:solidFill>
                <a:latin typeface="Amiri" pitchFamily="2" charset="-78"/>
                <a:ea typeface="Amiri" pitchFamily="2" charset="-78"/>
                <a:cs typeface="Amiri" pitchFamily="2" charset="-78"/>
              </a:rPr>
              <a:t>هٰذِهِ أُمِّي اللَّطِيفَةُ</a:t>
            </a:r>
            <a:endParaRPr lang="ar-SA" sz="2800" dirty="0"/>
          </a:p>
        </p:txBody>
      </p:sp>
      <p:sp>
        <p:nvSpPr>
          <p:cNvPr id="22" name="Shape 19"/>
          <p:cNvSpPr/>
          <p:nvPr/>
        </p:nvSpPr>
        <p:spPr>
          <a:xfrm>
            <a:off x="457200" y="3291840"/>
            <a:ext cx="11274552" cy="1353312"/>
          </a:xfrm>
          <a:prstGeom prst="roundRect">
            <a:avLst>
              <a:gd name="adj" fmla="val 5405"/>
            </a:avLst>
          </a:prstGeom>
          <a:solidFill>
            <a:srgbClr val="E6F4EC"/>
          </a:solidFill>
          <a:ln w="9525">
            <a:solidFill>
              <a:srgbClr val="9CCFB0"/>
            </a:solidFill>
            <a:prstDash val="solid"/>
          </a:ln>
          <a:effectLst>
            <a:outerShdw sx="100000" sy="100000" kx="0" ky="0" algn="bl" rotWithShape="0" blurRad="50800" dist="19050" dir="5400000">
              <a:srgbClr val="000000">
                <a:alpha val="10000"/>
              </a:srgbClr>
            </a:outerShdw>
          </a:effectLst>
        </p:spPr>
      </p:sp>
      <p:sp>
        <p:nvSpPr>
          <p:cNvPr id="23" name="Shape 20"/>
          <p:cNvSpPr/>
          <p:nvPr/>
        </p:nvSpPr>
        <p:spPr>
          <a:xfrm>
            <a:off x="640080" y="3429000"/>
            <a:ext cx="365760" cy="365760"/>
          </a:xfrm>
          <a:prstGeom prst="ellipse">
            <a:avLst/>
          </a:prstGeom>
          <a:solidFill>
            <a:srgbClr val="2E8B57"/>
          </a:solidFill>
          <a:ln w="12700">
            <a:solidFill>
              <a:srgbClr val="2E8B57"/>
            </a:solidFill>
            <a:prstDash val="solid"/>
          </a:ln>
        </p:spPr>
      </p:sp>
      <p:sp>
        <p:nvSpPr>
          <p:cNvPr id="24" name="Text 21"/>
          <p:cNvSpPr txBox="1"/>
          <p:nvPr/>
        </p:nvSpPr>
        <p:spPr>
          <a:xfrm>
            <a:off x="640080" y="3429000"/>
            <a:ext cx="365760" cy="365760"/>
          </a:xfrm>
          <a:prstGeom prst="rect">
            <a:avLst/>
          </a:prstGeom>
          <a:noFill/>
          <a:ln/>
        </p:spPr>
        <p:txBody>
          <a:bodyPr wrap="square" lIns="0" tIns="0" rIns="0" bIns="0" rtlCol="0" anchor="ctr"/>
          <a:lstStyle/>
          <a:p>
            <a:pPr algn="ctr" indent="0" marL="0">
              <a:buNone/>
            </a:pPr>
            <a:r>
              <a:rPr lang="en-US" sz="1200" b="1" dirty="0">
                <a:solidFill>
                  <a:srgbClr val="FFFFFF"/>
                </a:solidFill>
                <a:latin typeface="Calibri" pitchFamily="34" charset="0"/>
                <a:cs typeface="Amiri" pitchFamily="2" charset="-78"/>
              </a:rPr>
              <a:t>2</a:t>
            </a:r>
            <a:endParaRPr lang="en-US" sz="1200" dirty="0"/>
          </a:p>
        </p:txBody>
      </p:sp>
      <p:sp>
        <p:nvSpPr>
          <p:cNvPr id="25" name="Text 22"/>
          <p:cNvSpPr txBox="1"/>
          <p:nvPr/>
        </p:nvSpPr>
        <p:spPr>
          <a:xfrm>
            <a:off x="1143000" y="3383280"/>
            <a:ext cx="3291840" cy="457200"/>
          </a:xfrm>
          <a:prstGeom prst="rect">
            <a:avLst/>
          </a:prstGeom>
          <a:noFill/>
          <a:ln/>
        </p:spPr>
        <p:txBody>
          <a:bodyPr wrap="square" lIns="0" tIns="0" rIns="0" bIns="0" rtlCol="0" anchor="ctr"/>
          <a:lstStyle/>
          <a:p>
            <a:pPr algn="l" indent="0" marL="0">
              <a:buNone/>
            </a:pPr>
            <a:r>
              <a:rPr lang="en-US" sz="1300" b="1" dirty="0">
                <a:solidFill>
                  <a:srgbClr val="1B3B6F"/>
                </a:solidFill>
                <a:latin typeface="Calibri" pitchFamily="34" charset="0"/>
                <a:cs typeface="Amiri" pitchFamily="2" charset="-78"/>
              </a:rPr>
              <a:t>My sister is tall and clever.</a:t>
            </a:r>
            <a:endParaRPr lang="en-US" sz="1300" dirty="0"/>
          </a:p>
        </p:txBody>
      </p:sp>
      <p:sp>
        <p:nvSpPr>
          <p:cNvPr id="26" name="Text 23"/>
          <p:cNvSpPr txBox="1"/>
          <p:nvPr/>
        </p:nvSpPr>
        <p:spPr>
          <a:xfrm>
            <a:off x="1143000" y="3840480"/>
            <a:ext cx="3291840" cy="256032"/>
          </a:xfrm>
          <a:prstGeom prst="rect">
            <a:avLst/>
          </a:prstGeom>
          <a:noFill/>
          <a:ln/>
        </p:spPr>
        <p:txBody>
          <a:bodyPr wrap="square" lIns="0" tIns="0" rIns="0" bIns="0" rtlCol="0" anchor="ctr"/>
          <a:lstStyle/>
          <a:p>
            <a:pPr algn="l" indent="0" marL="0">
              <a:buNone/>
            </a:pPr>
            <a:r>
              <a:rPr lang="en-US" sz="1050" b="1" dirty="0">
                <a:solidFill>
                  <a:srgbClr val="1E6B52"/>
                </a:solidFill>
                <a:latin typeface="Calibri" pitchFamily="34" charset="0"/>
                <a:cs typeface="Amiri" pitchFamily="2" charset="-78"/>
              </a:rPr>
              <a:t>Columns = A · A · A</a:t>
            </a:r>
            <a:endParaRPr lang="en-US" sz="1050" dirty="0"/>
          </a:p>
        </p:txBody>
      </p:sp>
      <p:sp>
        <p:nvSpPr>
          <p:cNvPr id="27" name="Text 24"/>
          <p:cNvSpPr txBox="1"/>
          <p:nvPr/>
        </p:nvSpPr>
        <p:spPr>
          <a:xfrm>
            <a:off x="1143000" y="4114800"/>
            <a:ext cx="3291840" cy="438912"/>
          </a:xfrm>
          <a:prstGeom prst="rect">
            <a:avLst/>
          </a:prstGeom>
          <a:noFill/>
          <a:ln/>
        </p:spPr>
        <p:txBody>
          <a:bodyPr wrap="square" lIns="0" tIns="0" rIns="0" bIns="0" rtlCol="0" anchor="ctr"/>
          <a:lstStyle/>
          <a:p>
            <a:pPr algn="l" indent="0" marL="0">
              <a:buNone/>
            </a:pPr>
            <a:r>
              <a:rPr lang="en-US" sz="1050" i="1" dirty="0">
                <a:solidFill>
                  <a:srgbClr val="5A6472"/>
                </a:solidFill>
                <a:latin typeface="Calibri" pitchFamily="34" charset="0"/>
                <a:cs typeface="Amiri" pitchFamily="2" charset="-78"/>
              </a:rPr>
              <a:t>A sister → every adjective feminine: </a:t>
            </a:r>
            <a:pPr algn="l" indent="0" marL="0">
              <a:buNone/>
            </a:pPr>
            <a:r>
              <a:rPr lang="ar-SA" altLang="en-US" sz="1350" dirty="0">
                <a:solidFill>
                  <a:srgbClr val="5A6472"/>
                </a:solidFill>
                <a:latin typeface="Amiri" pitchFamily="2" charset="-78"/>
                <a:ea typeface="Amiri" pitchFamily="2" charset="-78"/>
                <a:cs typeface="Amiri" pitchFamily="2" charset="-78"/>
              </a:rPr>
              <a:t>طَوِيلَةٌ وَذَكِيَّةٌ</a:t>
            </a:r>
            <a:pPr algn="l" indent="0" marL="0">
              <a:buNone/>
            </a:pPr>
            <a:r>
              <a:rPr lang="en-US" sz="1050" i="1" dirty="0">
                <a:solidFill>
                  <a:srgbClr val="5A6472"/>
                </a:solidFill>
                <a:latin typeface="Calibri" pitchFamily="34" charset="0"/>
                <a:cs typeface="Amiri" pitchFamily="2" charset="-78"/>
              </a:rPr>
              <a:t>.</a:t>
            </a:r>
            <a:endParaRPr lang="en-US" sz="1050" dirty="0"/>
          </a:p>
        </p:txBody>
      </p:sp>
      <p:sp>
        <p:nvSpPr>
          <p:cNvPr id="28" name="Text 25"/>
          <p:cNvSpPr txBox="1"/>
          <p:nvPr/>
        </p:nvSpPr>
        <p:spPr>
          <a:xfrm>
            <a:off x="4572000" y="3383280"/>
            <a:ext cx="6949440" cy="1170432"/>
          </a:xfrm>
          <a:prstGeom prst="rect">
            <a:avLst/>
          </a:prstGeom>
          <a:noFill/>
          <a:ln/>
        </p:spPr>
        <p:txBody>
          <a:bodyPr wrap="square" lIns="0" tIns="0" rIns="0" bIns="0" rtlCol="0" anchor="ctr"/>
          <a:lstStyle/>
          <a:p>
            <a:pPr rtl="1" algn="r" indent="0" marL="0">
              <a:buNone/>
            </a:pPr>
            <a:r>
              <a:rPr lang="ar-SA" altLang="en-US" sz="2800" b="1" dirty="0">
                <a:solidFill>
                  <a:srgbClr val="1B3B6F"/>
                </a:solidFill>
                <a:latin typeface="Amiri" pitchFamily="2" charset="-78"/>
                <a:ea typeface="Amiri" pitchFamily="2" charset="-78"/>
                <a:cs typeface="Amiri" pitchFamily="2" charset="-78"/>
              </a:rPr>
              <a:t>أُخْتِي طَوِيلَةٌ وَذَكِيَّةٌ</a:t>
            </a:r>
            <a:endParaRPr lang="ar-SA" sz="2800" dirty="0"/>
          </a:p>
        </p:txBody>
      </p:sp>
      <p:sp>
        <p:nvSpPr>
          <p:cNvPr id="29" name="Shape 26"/>
          <p:cNvSpPr/>
          <p:nvPr/>
        </p:nvSpPr>
        <p:spPr>
          <a:xfrm>
            <a:off x="457200" y="4773168"/>
            <a:ext cx="11274552" cy="1353312"/>
          </a:xfrm>
          <a:prstGeom prst="roundRect">
            <a:avLst>
              <a:gd name="adj" fmla="val 5405"/>
            </a:avLst>
          </a:prstGeom>
          <a:solidFill>
            <a:srgbClr val="E6F4EC"/>
          </a:solidFill>
          <a:ln w="9525">
            <a:solidFill>
              <a:srgbClr val="9CCFB0"/>
            </a:solidFill>
            <a:prstDash val="solid"/>
          </a:ln>
          <a:effectLst>
            <a:outerShdw sx="100000" sy="100000" kx="0" ky="0" algn="bl" rotWithShape="0" blurRad="50800" dist="19050" dir="5400000">
              <a:srgbClr val="000000">
                <a:alpha val="10000"/>
              </a:srgbClr>
            </a:outerShdw>
          </a:effectLst>
        </p:spPr>
      </p:sp>
      <p:sp>
        <p:nvSpPr>
          <p:cNvPr id="30" name="Shape 27"/>
          <p:cNvSpPr/>
          <p:nvPr/>
        </p:nvSpPr>
        <p:spPr>
          <a:xfrm>
            <a:off x="640080" y="4910328"/>
            <a:ext cx="365760" cy="365760"/>
          </a:xfrm>
          <a:prstGeom prst="ellipse">
            <a:avLst/>
          </a:prstGeom>
          <a:solidFill>
            <a:srgbClr val="2E8B57"/>
          </a:solidFill>
          <a:ln w="12700">
            <a:solidFill>
              <a:srgbClr val="2E8B57"/>
            </a:solidFill>
            <a:prstDash val="solid"/>
          </a:ln>
        </p:spPr>
      </p:sp>
      <p:sp>
        <p:nvSpPr>
          <p:cNvPr id="31" name="Text 28"/>
          <p:cNvSpPr txBox="1"/>
          <p:nvPr/>
        </p:nvSpPr>
        <p:spPr>
          <a:xfrm>
            <a:off x="640080" y="4910328"/>
            <a:ext cx="365760" cy="365760"/>
          </a:xfrm>
          <a:prstGeom prst="rect">
            <a:avLst/>
          </a:prstGeom>
          <a:noFill/>
          <a:ln/>
        </p:spPr>
        <p:txBody>
          <a:bodyPr wrap="square" lIns="0" tIns="0" rIns="0" bIns="0" rtlCol="0" anchor="ctr"/>
          <a:lstStyle/>
          <a:p>
            <a:pPr algn="ctr" indent="0" marL="0">
              <a:buNone/>
            </a:pPr>
            <a:r>
              <a:rPr lang="en-US" sz="1200" b="1" dirty="0">
                <a:solidFill>
                  <a:srgbClr val="FFFFFF"/>
                </a:solidFill>
                <a:latin typeface="Calibri" pitchFamily="34" charset="0"/>
                <a:cs typeface="Amiri" pitchFamily="2" charset="-78"/>
              </a:rPr>
              <a:t>3</a:t>
            </a:r>
            <a:endParaRPr lang="en-US" sz="1200" dirty="0"/>
          </a:p>
        </p:txBody>
      </p:sp>
      <p:sp>
        <p:nvSpPr>
          <p:cNvPr id="32" name="Text 29"/>
          <p:cNvSpPr txBox="1"/>
          <p:nvPr/>
        </p:nvSpPr>
        <p:spPr>
          <a:xfrm>
            <a:off x="1143000" y="4864608"/>
            <a:ext cx="3291840" cy="457200"/>
          </a:xfrm>
          <a:prstGeom prst="rect">
            <a:avLst/>
          </a:prstGeom>
          <a:noFill/>
          <a:ln/>
        </p:spPr>
        <p:txBody>
          <a:bodyPr wrap="square" lIns="0" tIns="0" rIns="0" bIns="0" rtlCol="0" anchor="ctr"/>
          <a:lstStyle/>
          <a:p>
            <a:pPr algn="l" indent="0" marL="0">
              <a:buNone/>
            </a:pPr>
            <a:r>
              <a:rPr lang="en-US" sz="1300" b="1" dirty="0">
                <a:solidFill>
                  <a:srgbClr val="1B3B6F"/>
                </a:solidFill>
                <a:latin typeface="Calibri" pitchFamily="34" charset="0"/>
                <a:cs typeface="Amiri" pitchFamily="2" charset="-78"/>
              </a:rPr>
              <a:t>His name is Ali, and he is tall.</a:t>
            </a:r>
            <a:endParaRPr lang="en-US" sz="1300" dirty="0"/>
          </a:p>
        </p:txBody>
      </p:sp>
      <p:sp>
        <p:nvSpPr>
          <p:cNvPr id="33" name="Text 30"/>
          <p:cNvSpPr txBox="1"/>
          <p:nvPr/>
        </p:nvSpPr>
        <p:spPr>
          <a:xfrm>
            <a:off x="1143000" y="5321808"/>
            <a:ext cx="3291840" cy="256032"/>
          </a:xfrm>
          <a:prstGeom prst="rect">
            <a:avLst/>
          </a:prstGeom>
          <a:noFill/>
          <a:ln/>
        </p:spPr>
        <p:txBody>
          <a:bodyPr wrap="square" lIns="0" tIns="0" rIns="0" bIns="0" rtlCol="0" anchor="ctr"/>
          <a:lstStyle/>
          <a:p>
            <a:pPr algn="l" indent="0" marL="0">
              <a:buNone/>
            </a:pPr>
            <a:r>
              <a:rPr lang="en-US" sz="1050" b="1" dirty="0">
                <a:solidFill>
                  <a:srgbClr val="1E6B52"/>
                </a:solidFill>
                <a:latin typeface="Calibri" pitchFamily="34" charset="0"/>
                <a:cs typeface="Amiri" pitchFamily="2" charset="-78"/>
              </a:rPr>
              <a:t>Columns = A · A · A</a:t>
            </a:r>
            <a:endParaRPr lang="en-US" sz="1050" dirty="0"/>
          </a:p>
        </p:txBody>
      </p:sp>
      <p:sp>
        <p:nvSpPr>
          <p:cNvPr id="34" name="Text 31"/>
          <p:cNvSpPr txBox="1"/>
          <p:nvPr/>
        </p:nvSpPr>
        <p:spPr>
          <a:xfrm>
            <a:off x="1143000" y="5596128"/>
            <a:ext cx="3291840" cy="438912"/>
          </a:xfrm>
          <a:prstGeom prst="rect">
            <a:avLst/>
          </a:prstGeom>
          <a:noFill/>
          <a:ln/>
        </p:spPr>
        <p:txBody>
          <a:bodyPr wrap="square" lIns="0" tIns="0" rIns="0" bIns="0" rtlCol="0" anchor="ctr"/>
          <a:lstStyle/>
          <a:p>
            <a:pPr algn="l" indent="0" marL="0">
              <a:buNone/>
            </a:pPr>
            <a:r>
              <a:rPr lang="en-US" sz="1050" i="1" dirty="0">
                <a:solidFill>
                  <a:srgbClr val="5A6472"/>
                </a:solidFill>
                <a:latin typeface="Calibri" pitchFamily="34" charset="0"/>
                <a:cs typeface="Amiri" pitchFamily="2" charset="-78"/>
              </a:rPr>
              <a:t>His name → </a:t>
            </a:r>
            <a:pPr algn="l" indent="0" marL="0">
              <a:buNone/>
            </a:pPr>
            <a:r>
              <a:rPr lang="ar-SA" altLang="en-US" sz="1350" dirty="0">
                <a:solidFill>
                  <a:srgbClr val="5A6472"/>
                </a:solidFill>
                <a:latin typeface="Amiri" pitchFamily="2" charset="-78"/>
                <a:ea typeface="Amiri" pitchFamily="2" charset="-78"/>
                <a:cs typeface="Amiri" pitchFamily="2" charset="-78"/>
              </a:rPr>
              <a:t>اسْمُهُ</a:t>
            </a:r>
            <a:pPr algn="l" indent="0" marL="0">
              <a:buNone/>
            </a:pPr>
            <a:r>
              <a:rPr lang="en-US" sz="1050" i="1" dirty="0">
                <a:solidFill>
                  <a:srgbClr val="5A6472"/>
                </a:solidFill>
                <a:latin typeface="Calibri" pitchFamily="34" charset="0"/>
                <a:cs typeface="Amiri" pitchFamily="2" charset="-78"/>
              </a:rPr>
              <a:t> (-hu); a man → </a:t>
            </a:r>
            <a:pPr algn="l" indent="0" marL="0">
              <a:buNone/>
            </a:pPr>
            <a:r>
              <a:rPr lang="ar-SA" altLang="en-US" sz="1350" dirty="0">
                <a:solidFill>
                  <a:srgbClr val="5A6472"/>
                </a:solidFill>
                <a:latin typeface="Amiri" pitchFamily="2" charset="-78"/>
                <a:ea typeface="Amiri" pitchFamily="2" charset="-78"/>
                <a:cs typeface="Amiri" pitchFamily="2" charset="-78"/>
              </a:rPr>
              <a:t>هُوَ طَوِيلٌ</a:t>
            </a:r>
            <a:pPr algn="l" indent="0" marL="0">
              <a:buNone/>
            </a:pPr>
            <a:r>
              <a:rPr lang="en-US" sz="1050" i="1" dirty="0">
                <a:solidFill>
                  <a:srgbClr val="5A6472"/>
                </a:solidFill>
                <a:latin typeface="Calibri" pitchFamily="34" charset="0"/>
                <a:cs typeface="Amiri" pitchFamily="2" charset="-78"/>
              </a:rPr>
              <a:t>.</a:t>
            </a:r>
            <a:endParaRPr lang="en-US" sz="1050" dirty="0"/>
          </a:p>
        </p:txBody>
      </p:sp>
      <p:sp>
        <p:nvSpPr>
          <p:cNvPr id="35" name="Text 32"/>
          <p:cNvSpPr txBox="1"/>
          <p:nvPr/>
        </p:nvSpPr>
        <p:spPr>
          <a:xfrm>
            <a:off x="4572000" y="4864608"/>
            <a:ext cx="6949440" cy="1170432"/>
          </a:xfrm>
          <a:prstGeom prst="rect">
            <a:avLst/>
          </a:prstGeom>
          <a:noFill/>
          <a:ln/>
        </p:spPr>
        <p:txBody>
          <a:bodyPr wrap="square" lIns="0" tIns="0" rIns="0" bIns="0" rtlCol="0" anchor="ctr"/>
          <a:lstStyle/>
          <a:p>
            <a:pPr rtl="1" algn="r" indent="0" marL="0">
              <a:buNone/>
            </a:pPr>
            <a:r>
              <a:rPr lang="ar-SA" altLang="en-US" sz="2800" b="1" dirty="0">
                <a:solidFill>
                  <a:srgbClr val="1B3B6F"/>
                </a:solidFill>
                <a:latin typeface="Amiri" pitchFamily="2" charset="-78"/>
                <a:ea typeface="Amiri" pitchFamily="2" charset="-78"/>
                <a:cs typeface="Amiri" pitchFamily="2" charset="-78"/>
              </a:rPr>
              <a:t>اسْمُهُ عَلِيٌّ وَهُوَ طَوِيلٌ</a:t>
            </a:r>
            <a:endParaRPr lang="ar-SA" sz="2800" dirty="0"/>
          </a:p>
        </p:txBody>
      </p:sp>
      <p:sp>
        <p:nvSpPr>
          <p:cNvPr id="36" name="Text 33"/>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15 / 24</a:t>
            </a:r>
            <a:endParaRPr lang="en-US" sz="850" dirty="0"/>
          </a:p>
        </p:txBody>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name="Slide 16">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F3-W01 · Apply workshop</a:t>
            </a:r>
            <a:endParaRPr lang="en-US" sz="950" dirty="0"/>
          </a:p>
        </p:txBody>
      </p:sp>
      <p:sp>
        <p:nvSpPr>
          <p:cNvPr id="8" name="Shape 6"/>
          <p:cNvSpPr/>
          <p:nvPr/>
        </p:nvSpPr>
        <p:spPr>
          <a:xfrm>
            <a:off x="7370978" y="274320"/>
            <a:ext cx="1388974" cy="329184"/>
          </a:xfrm>
          <a:prstGeom prst="roundRect">
            <a:avLst>
              <a:gd name="adj" fmla="val 50000"/>
            </a:avLst>
          </a:prstGeom>
          <a:solidFill>
            <a:srgbClr val="2F6FB0"/>
          </a:solidFill>
          <a:ln w="12700">
            <a:solidFill>
              <a:srgbClr val="2F6FB0"/>
            </a:solidFill>
            <a:prstDash val="solid"/>
          </a:ln>
        </p:spPr>
      </p:sp>
      <p:sp>
        <p:nvSpPr>
          <p:cNvPr id="9" name="Text 7"/>
          <p:cNvSpPr txBox="1"/>
          <p:nvPr/>
        </p:nvSpPr>
        <p:spPr>
          <a:xfrm>
            <a:off x="7370978" y="274320"/>
            <a:ext cx="1388974"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WE DO · 3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2F6FB0"/>
                </a:solidFill>
                <a:latin typeface="Calibri" pitchFamily="34" charset="0"/>
                <a:cs typeface="Amiri" pitchFamily="2" charset="-78"/>
              </a:rPr>
              <a:t>STEP 8 · SPOT AND FIX · MISTAKES FROM BOTH LESSONS</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Find the mistake, fix it</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اكْتَشِفِ الخَطَأَ</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Foundation F3 · My Family &amp; Home · F3-W01 · Apply workshop (F3-L01 + F3-L02)</a:t>
            </a:r>
            <a:endParaRPr lang="en-US" sz="850" dirty="0"/>
          </a:p>
        </p:txBody>
      </p:sp>
      <p:sp>
        <p:nvSpPr>
          <p:cNvPr id="15" name="Shape 12"/>
          <p:cNvSpPr/>
          <p:nvPr/>
        </p:nvSpPr>
        <p:spPr>
          <a:xfrm>
            <a:off x="457200" y="1810512"/>
            <a:ext cx="11274552" cy="1298448"/>
          </a:xfrm>
          <a:prstGeom prst="roundRect">
            <a:avLst>
              <a:gd name="adj" fmla="val 5634"/>
            </a:avLst>
          </a:prstGeom>
          <a:solidFill>
            <a:srgbClr val="FBEAEA"/>
          </a:solidFill>
          <a:ln w="9525">
            <a:solidFill>
              <a:srgbClr val="E3B4AE"/>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11183112" y="2249424"/>
            <a:ext cx="402336" cy="402336"/>
          </a:xfrm>
          <a:prstGeom prst="ellipse">
            <a:avLst/>
          </a:prstGeom>
          <a:solidFill>
            <a:srgbClr val="B83227"/>
          </a:solidFill>
          <a:ln w="12700">
            <a:solidFill>
              <a:srgbClr val="B83227"/>
            </a:solidFill>
            <a:prstDash val="solid"/>
          </a:ln>
        </p:spPr>
      </p:sp>
      <p:sp>
        <p:nvSpPr>
          <p:cNvPr id="17" name="Text 14"/>
          <p:cNvSpPr txBox="1"/>
          <p:nvPr/>
        </p:nvSpPr>
        <p:spPr>
          <a:xfrm>
            <a:off x="11183112" y="2249424"/>
            <a:ext cx="402336" cy="402336"/>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cs typeface="Amiri" pitchFamily="2" charset="-78"/>
              </a:rPr>
              <a:t>1</a:t>
            </a:r>
            <a:endParaRPr lang="en-US" sz="1300" dirty="0"/>
          </a:p>
        </p:txBody>
      </p:sp>
      <p:sp>
        <p:nvSpPr>
          <p:cNvPr id="18" name="Text 15"/>
          <p:cNvSpPr txBox="1"/>
          <p:nvPr/>
        </p:nvSpPr>
        <p:spPr>
          <a:xfrm>
            <a:off x="4023360" y="1901952"/>
            <a:ext cx="6976872" cy="1097280"/>
          </a:xfrm>
          <a:prstGeom prst="rect">
            <a:avLst/>
          </a:prstGeom>
          <a:noFill/>
          <a:ln/>
        </p:spPr>
        <p:txBody>
          <a:bodyPr wrap="square" lIns="0" tIns="0" rIns="0" bIns="0" rtlCol="0" anchor="ctr"/>
          <a:lstStyle/>
          <a:p>
            <a:pPr rtl="1" algn="r" indent="0" marL="0">
              <a:buNone/>
            </a:pPr>
            <a:r>
              <a:rPr lang="ar-SA" altLang="en-US" sz="3000" b="1" dirty="0">
                <a:solidFill>
                  <a:srgbClr val="B83227"/>
                </a:solidFill>
                <a:latin typeface="Amiri" pitchFamily="2" charset="-78"/>
                <a:ea typeface="Amiri" pitchFamily="2" charset="-78"/>
                <a:cs typeface="Amiri" pitchFamily="2" charset="-78"/>
              </a:rPr>
              <a:t>هٰذَا أُخْتِي.</a:t>
            </a:r>
            <a:endParaRPr lang="ar-SA" sz="3000" dirty="0"/>
          </a:p>
        </p:txBody>
      </p:sp>
      <p:sp>
        <p:nvSpPr>
          <p:cNvPr id="19" name="Text 16"/>
          <p:cNvSpPr txBox="1"/>
          <p:nvPr/>
        </p:nvSpPr>
        <p:spPr>
          <a:xfrm>
            <a:off x="731520" y="1901952"/>
            <a:ext cx="3200400" cy="1097280"/>
          </a:xfrm>
          <a:prstGeom prst="rect">
            <a:avLst/>
          </a:prstGeom>
          <a:noFill/>
          <a:ln/>
        </p:spPr>
        <p:txBody>
          <a:bodyPr wrap="square" lIns="0" tIns="0" rIns="0" bIns="0" rtlCol="0" anchor="ctr"/>
          <a:lstStyle/>
          <a:p>
            <a:pPr algn="l" indent="0" marL="0">
              <a:buNone/>
            </a:pPr>
            <a:r>
              <a:rPr lang="en-US" sz="1300" i="1" dirty="0">
                <a:solidFill>
                  <a:srgbClr val="5A6472"/>
                </a:solidFill>
                <a:latin typeface="Calibri" pitchFamily="34" charset="0"/>
                <a:cs typeface="Amiri" pitchFamily="2" charset="-78"/>
              </a:rPr>
              <a:t>Is a sister masculine or feminine?</a:t>
            </a:r>
            <a:endParaRPr lang="en-US" sz="1300" dirty="0"/>
          </a:p>
        </p:txBody>
      </p:sp>
      <p:sp>
        <p:nvSpPr>
          <p:cNvPr id="20" name="Shape 17"/>
          <p:cNvSpPr/>
          <p:nvPr/>
        </p:nvSpPr>
        <p:spPr>
          <a:xfrm>
            <a:off x="457200" y="3255264"/>
            <a:ext cx="11274552" cy="1298448"/>
          </a:xfrm>
          <a:prstGeom prst="roundRect">
            <a:avLst>
              <a:gd name="adj" fmla="val 5634"/>
            </a:avLst>
          </a:prstGeom>
          <a:solidFill>
            <a:srgbClr val="FBEAEA"/>
          </a:solidFill>
          <a:ln w="9525">
            <a:solidFill>
              <a:srgbClr val="E3B4AE"/>
            </a:solidFill>
            <a:prstDash val="solid"/>
          </a:ln>
          <a:effectLst>
            <a:outerShdw sx="100000" sy="100000" kx="0" ky="0" algn="bl" rotWithShape="0" blurRad="50800" dist="19050" dir="5400000">
              <a:srgbClr val="000000">
                <a:alpha val="10000"/>
              </a:srgbClr>
            </a:outerShdw>
          </a:effectLst>
        </p:spPr>
      </p:sp>
      <p:sp>
        <p:nvSpPr>
          <p:cNvPr id="21" name="Shape 18"/>
          <p:cNvSpPr/>
          <p:nvPr/>
        </p:nvSpPr>
        <p:spPr>
          <a:xfrm>
            <a:off x="11183112" y="3694176"/>
            <a:ext cx="402336" cy="402336"/>
          </a:xfrm>
          <a:prstGeom prst="ellipse">
            <a:avLst/>
          </a:prstGeom>
          <a:solidFill>
            <a:srgbClr val="B83227"/>
          </a:solidFill>
          <a:ln w="12700">
            <a:solidFill>
              <a:srgbClr val="B83227"/>
            </a:solidFill>
            <a:prstDash val="solid"/>
          </a:ln>
        </p:spPr>
      </p:sp>
      <p:sp>
        <p:nvSpPr>
          <p:cNvPr id="22" name="Text 19"/>
          <p:cNvSpPr txBox="1"/>
          <p:nvPr/>
        </p:nvSpPr>
        <p:spPr>
          <a:xfrm>
            <a:off x="11183112" y="3694176"/>
            <a:ext cx="402336" cy="402336"/>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cs typeface="Amiri" pitchFamily="2" charset="-78"/>
              </a:rPr>
              <a:t>2</a:t>
            </a:r>
            <a:endParaRPr lang="en-US" sz="1300" dirty="0"/>
          </a:p>
        </p:txBody>
      </p:sp>
      <p:sp>
        <p:nvSpPr>
          <p:cNvPr id="23" name="Text 20"/>
          <p:cNvSpPr txBox="1"/>
          <p:nvPr/>
        </p:nvSpPr>
        <p:spPr>
          <a:xfrm>
            <a:off x="4023360" y="3346704"/>
            <a:ext cx="6976872" cy="1097280"/>
          </a:xfrm>
          <a:prstGeom prst="rect">
            <a:avLst/>
          </a:prstGeom>
          <a:noFill/>
          <a:ln/>
        </p:spPr>
        <p:txBody>
          <a:bodyPr wrap="square" lIns="0" tIns="0" rIns="0" bIns="0" rtlCol="0" anchor="ctr"/>
          <a:lstStyle/>
          <a:p>
            <a:pPr rtl="1" algn="r" indent="0" marL="0">
              <a:buNone/>
            </a:pPr>
            <a:r>
              <a:rPr lang="ar-SA" altLang="en-US" sz="3000" b="1" dirty="0">
                <a:solidFill>
                  <a:srgbClr val="B83227"/>
                </a:solidFill>
                <a:latin typeface="Amiri" pitchFamily="2" charset="-78"/>
                <a:ea typeface="Amiri" pitchFamily="2" charset="-78"/>
                <a:cs typeface="Amiri" pitchFamily="2" charset="-78"/>
              </a:rPr>
              <a:t>أُمِّي طَوِيلٌ وَلَطِيفٌ.</a:t>
            </a:r>
            <a:endParaRPr lang="ar-SA" sz="3000" dirty="0"/>
          </a:p>
        </p:txBody>
      </p:sp>
      <p:sp>
        <p:nvSpPr>
          <p:cNvPr id="24" name="Text 21"/>
          <p:cNvSpPr txBox="1"/>
          <p:nvPr/>
        </p:nvSpPr>
        <p:spPr>
          <a:xfrm>
            <a:off x="731520" y="3346704"/>
            <a:ext cx="3200400" cy="1097280"/>
          </a:xfrm>
          <a:prstGeom prst="rect">
            <a:avLst/>
          </a:prstGeom>
          <a:noFill/>
          <a:ln/>
        </p:spPr>
        <p:txBody>
          <a:bodyPr wrap="square" lIns="0" tIns="0" rIns="0" bIns="0" rtlCol="0" anchor="ctr"/>
          <a:lstStyle/>
          <a:p>
            <a:pPr algn="l" indent="0" marL="0">
              <a:buNone/>
            </a:pPr>
            <a:r>
              <a:rPr lang="en-US" sz="1300" i="1" dirty="0">
                <a:solidFill>
                  <a:srgbClr val="5A6472"/>
                </a:solidFill>
                <a:latin typeface="Calibri" pitchFamily="34" charset="0"/>
                <a:cs typeface="Amiri" pitchFamily="2" charset="-78"/>
              </a:rPr>
              <a:t>A mother is feminine.</a:t>
            </a:r>
            <a:endParaRPr lang="en-US" sz="1300" dirty="0"/>
          </a:p>
        </p:txBody>
      </p:sp>
      <p:sp>
        <p:nvSpPr>
          <p:cNvPr id="25" name="Shape 22"/>
          <p:cNvSpPr/>
          <p:nvPr/>
        </p:nvSpPr>
        <p:spPr>
          <a:xfrm>
            <a:off x="457200" y="4700016"/>
            <a:ext cx="11274552" cy="1298448"/>
          </a:xfrm>
          <a:prstGeom prst="roundRect">
            <a:avLst>
              <a:gd name="adj" fmla="val 5634"/>
            </a:avLst>
          </a:prstGeom>
          <a:solidFill>
            <a:srgbClr val="FBEAEA"/>
          </a:solidFill>
          <a:ln w="9525">
            <a:solidFill>
              <a:srgbClr val="E3B4AE"/>
            </a:solidFill>
            <a:prstDash val="solid"/>
          </a:ln>
          <a:effectLst>
            <a:outerShdw sx="100000" sy="100000" kx="0" ky="0" algn="bl" rotWithShape="0" blurRad="50800" dist="19050" dir="5400000">
              <a:srgbClr val="000000">
                <a:alpha val="10000"/>
              </a:srgbClr>
            </a:outerShdw>
          </a:effectLst>
        </p:spPr>
      </p:sp>
      <p:sp>
        <p:nvSpPr>
          <p:cNvPr id="26" name="Shape 23"/>
          <p:cNvSpPr/>
          <p:nvPr/>
        </p:nvSpPr>
        <p:spPr>
          <a:xfrm>
            <a:off x="11183112" y="5138928"/>
            <a:ext cx="402336" cy="402336"/>
          </a:xfrm>
          <a:prstGeom prst="ellipse">
            <a:avLst/>
          </a:prstGeom>
          <a:solidFill>
            <a:srgbClr val="B83227"/>
          </a:solidFill>
          <a:ln w="12700">
            <a:solidFill>
              <a:srgbClr val="B83227"/>
            </a:solidFill>
            <a:prstDash val="solid"/>
          </a:ln>
        </p:spPr>
      </p:sp>
      <p:sp>
        <p:nvSpPr>
          <p:cNvPr id="27" name="Text 24"/>
          <p:cNvSpPr txBox="1"/>
          <p:nvPr/>
        </p:nvSpPr>
        <p:spPr>
          <a:xfrm>
            <a:off x="11183112" y="5138928"/>
            <a:ext cx="402336" cy="402336"/>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cs typeface="Amiri" pitchFamily="2" charset="-78"/>
              </a:rPr>
              <a:t>3</a:t>
            </a:r>
            <a:endParaRPr lang="en-US" sz="1300" dirty="0"/>
          </a:p>
        </p:txBody>
      </p:sp>
      <p:sp>
        <p:nvSpPr>
          <p:cNvPr id="28" name="Text 25"/>
          <p:cNvSpPr txBox="1"/>
          <p:nvPr/>
        </p:nvSpPr>
        <p:spPr>
          <a:xfrm>
            <a:off x="4023360" y="4791456"/>
            <a:ext cx="6976872" cy="1097280"/>
          </a:xfrm>
          <a:prstGeom prst="rect">
            <a:avLst/>
          </a:prstGeom>
          <a:noFill/>
          <a:ln/>
        </p:spPr>
        <p:txBody>
          <a:bodyPr wrap="square" lIns="0" tIns="0" rIns="0" bIns="0" rtlCol="0" anchor="ctr"/>
          <a:lstStyle/>
          <a:p>
            <a:pPr rtl="1" algn="r" indent="0" marL="0">
              <a:buNone/>
            </a:pPr>
            <a:r>
              <a:rPr lang="ar-SA" altLang="en-US" sz="3000" b="1" dirty="0">
                <a:solidFill>
                  <a:srgbClr val="B83227"/>
                </a:solidFill>
                <a:latin typeface="Amiri" pitchFamily="2" charset="-78"/>
                <a:ea typeface="Amiri" pitchFamily="2" charset="-78"/>
                <a:cs typeface="Amiri" pitchFamily="2" charset="-78"/>
              </a:rPr>
              <a:t>هٰذِهِ عَمِّي، اسْمُهُ خَالِدٌ.</a:t>
            </a:r>
            <a:endParaRPr lang="ar-SA" sz="3000" dirty="0"/>
          </a:p>
        </p:txBody>
      </p:sp>
      <p:sp>
        <p:nvSpPr>
          <p:cNvPr id="29" name="Text 26"/>
          <p:cNvSpPr txBox="1"/>
          <p:nvPr/>
        </p:nvSpPr>
        <p:spPr>
          <a:xfrm>
            <a:off x="731520" y="4791456"/>
            <a:ext cx="3200400" cy="1097280"/>
          </a:xfrm>
          <a:prstGeom prst="rect">
            <a:avLst/>
          </a:prstGeom>
          <a:noFill/>
          <a:ln/>
        </p:spPr>
        <p:txBody>
          <a:bodyPr wrap="square" lIns="0" tIns="0" rIns="0" bIns="0" rtlCol="0" anchor="ctr"/>
          <a:lstStyle/>
          <a:p>
            <a:pPr algn="l" indent="0" marL="0">
              <a:buNone/>
            </a:pPr>
            <a:r>
              <a:rPr lang="en-US" sz="1300" i="1" dirty="0">
                <a:solidFill>
                  <a:srgbClr val="5A6472"/>
                </a:solidFill>
                <a:latin typeface="Calibri" pitchFamily="34" charset="0"/>
                <a:cs typeface="Amiri" pitchFamily="2" charset="-78"/>
              </a:rPr>
              <a:t>An uncle is a man.</a:t>
            </a:r>
            <a:endParaRPr lang="en-US" sz="1300" dirty="0"/>
          </a:p>
        </p:txBody>
      </p:sp>
      <p:sp>
        <p:nvSpPr>
          <p:cNvPr id="30" name="Text 27"/>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16 / 24</a:t>
            </a:r>
            <a:endParaRPr lang="en-US" sz="850" dirty="0"/>
          </a:p>
        </p:txBody>
      </p:sp>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name="Slide 17">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F3-W01 · Apply workshop</a:t>
            </a:r>
            <a:endParaRPr lang="en-US" sz="950" dirty="0"/>
          </a:p>
        </p:txBody>
      </p:sp>
      <p:sp>
        <p:nvSpPr>
          <p:cNvPr id="8" name="Shape 6"/>
          <p:cNvSpPr/>
          <p:nvPr/>
        </p:nvSpPr>
        <p:spPr>
          <a:xfrm>
            <a:off x="7143293" y="274320"/>
            <a:ext cx="1616659" cy="329184"/>
          </a:xfrm>
          <a:prstGeom prst="roundRect">
            <a:avLst>
              <a:gd name="adj" fmla="val 50000"/>
            </a:avLst>
          </a:prstGeom>
          <a:solidFill>
            <a:srgbClr val="8A6D1E"/>
          </a:solidFill>
          <a:ln w="12700">
            <a:solidFill>
              <a:srgbClr val="8A6D1E"/>
            </a:solidFill>
            <a:prstDash val="solid"/>
          </a:ln>
        </p:spPr>
      </p:sp>
      <p:sp>
        <p:nvSpPr>
          <p:cNvPr id="9" name="Text 7"/>
          <p:cNvSpPr txBox="1"/>
          <p:nvPr/>
        </p:nvSpPr>
        <p:spPr>
          <a:xfrm>
            <a:off x="7143293" y="274320"/>
            <a:ext cx="1616659"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FEEDBACK · 1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8A6D1E"/>
                </a:solidFill>
                <a:latin typeface="Calibri" pitchFamily="34" charset="0"/>
                <a:cs typeface="Amiri" pitchFamily="2" charset="-78"/>
              </a:rPr>
              <a:t>STEP 8 · CORRECTIONS</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Spot and fix: corrections</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اكْتَشِفِ الخَطَأَ</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Foundation F3 · My Family &amp; Home · F3-W01 · Apply workshop (F3-L01 + F3-L02)</a:t>
            </a:r>
            <a:endParaRPr lang="en-US" sz="850" dirty="0"/>
          </a:p>
        </p:txBody>
      </p:sp>
      <p:sp>
        <p:nvSpPr>
          <p:cNvPr id="15" name="Shape 12"/>
          <p:cNvSpPr/>
          <p:nvPr/>
        </p:nvSpPr>
        <p:spPr>
          <a:xfrm>
            <a:off x="457200" y="1810512"/>
            <a:ext cx="11274552" cy="1298448"/>
          </a:xfrm>
          <a:prstGeom prst="roundRect">
            <a:avLst>
              <a:gd name="adj" fmla="val 5634"/>
            </a:avLst>
          </a:prstGeom>
          <a:solidFill>
            <a:srgbClr val="E6F4EC"/>
          </a:solidFill>
          <a:ln w="9525">
            <a:solidFill>
              <a:srgbClr val="9CCFB0"/>
            </a:solidFill>
            <a:prstDash val="solid"/>
          </a:ln>
          <a:effectLst>
            <a:outerShdw sx="100000" sy="100000" kx="0" ky="0" algn="bl" rotWithShape="0" blurRad="50800" dist="19050" dir="5400000">
              <a:srgbClr val="000000">
                <a:alpha val="10000"/>
              </a:srgbClr>
            </a:outerShdw>
          </a:effectLst>
        </p:spPr>
      </p:sp>
      <p:sp>
        <p:nvSpPr>
          <p:cNvPr id="16" name="Text 13"/>
          <p:cNvSpPr txBox="1"/>
          <p:nvPr/>
        </p:nvSpPr>
        <p:spPr>
          <a:xfrm>
            <a:off x="8503920" y="1901952"/>
            <a:ext cx="3063240" cy="1097280"/>
          </a:xfrm>
          <a:prstGeom prst="rect">
            <a:avLst/>
          </a:prstGeom>
          <a:noFill/>
          <a:ln/>
        </p:spPr>
        <p:txBody>
          <a:bodyPr wrap="square" lIns="0" tIns="0" rIns="0" bIns="0" rtlCol="0" anchor="ctr"/>
          <a:lstStyle/>
          <a:p>
            <a:pPr rtl="1" algn="r" indent="0" marL="0">
              <a:buNone/>
            </a:pPr>
            <a:r>
              <a:rPr lang="ar-SA" altLang="en-US" sz="1800" b="1" dirty="0">
                <a:solidFill>
                  <a:srgbClr val="B83227"/>
                </a:solidFill>
                <a:latin typeface="Amiri" pitchFamily="2" charset="-78"/>
                <a:ea typeface="Amiri" pitchFamily="2" charset="-78"/>
                <a:cs typeface="Amiri" pitchFamily="2" charset="-78"/>
              </a:rPr>
              <a:t>هٰذَا أُخْتِي.</a:t>
            </a:r>
            <a:endParaRPr lang="ar-SA" sz="1800" dirty="0"/>
          </a:p>
        </p:txBody>
      </p:sp>
      <p:sp>
        <p:nvSpPr>
          <p:cNvPr id="17" name="Shape 14"/>
          <p:cNvSpPr/>
          <p:nvPr/>
        </p:nvSpPr>
        <p:spPr>
          <a:xfrm>
            <a:off x="8641080" y="2459736"/>
            <a:ext cx="2834640" cy="0"/>
          </a:xfrm>
          <a:prstGeom prst="line">
            <a:avLst/>
          </a:prstGeom>
          <a:noFill/>
          <a:ln w="15875">
            <a:solidFill>
              <a:srgbClr val="B83227"/>
            </a:solidFill>
            <a:prstDash val="solid"/>
          </a:ln>
        </p:spPr>
      </p:sp>
      <p:sp>
        <p:nvSpPr>
          <p:cNvPr id="18" name="Text 15"/>
          <p:cNvSpPr txBox="1"/>
          <p:nvPr/>
        </p:nvSpPr>
        <p:spPr>
          <a:xfrm>
            <a:off x="8138160" y="1901952"/>
            <a:ext cx="365760" cy="1097280"/>
          </a:xfrm>
          <a:prstGeom prst="rect">
            <a:avLst/>
          </a:prstGeom>
          <a:noFill/>
          <a:ln/>
        </p:spPr>
        <p:txBody>
          <a:bodyPr wrap="square" lIns="0" tIns="0" rIns="0" bIns="0" rtlCol="0" anchor="ctr"/>
          <a:lstStyle/>
          <a:p>
            <a:pPr algn="ctr" indent="0" marL="0">
              <a:buNone/>
            </a:pPr>
            <a:r>
              <a:rPr lang="en-US" sz="2000" dirty="0">
                <a:solidFill>
                  <a:srgbClr val="5A6472"/>
                </a:solidFill>
                <a:latin typeface="Calibri" pitchFamily="34" charset="0"/>
                <a:cs typeface="Amiri" pitchFamily="2" charset="-78"/>
              </a:rPr>
              <a:t>←</a:t>
            </a:r>
            <a:endParaRPr lang="en-US" sz="2000" dirty="0"/>
          </a:p>
        </p:txBody>
      </p:sp>
      <p:sp>
        <p:nvSpPr>
          <p:cNvPr id="19" name="Text 16"/>
          <p:cNvSpPr txBox="1"/>
          <p:nvPr/>
        </p:nvSpPr>
        <p:spPr>
          <a:xfrm>
            <a:off x="3566160" y="1901952"/>
            <a:ext cx="4526280" cy="1097280"/>
          </a:xfrm>
          <a:prstGeom prst="rect">
            <a:avLst/>
          </a:prstGeom>
          <a:noFill/>
          <a:ln/>
        </p:spPr>
        <p:txBody>
          <a:bodyPr wrap="square" lIns="0" tIns="0" rIns="0" bIns="0" rtlCol="0" anchor="ctr"/>
          <a:lstStyle/>
          <a:p>
            <a:pPr rtl="1" algn="r" indent="0" marL="0">
              <a:buNone/>
            </a:pPr>
            <a:r>
              <a:rPr lang="ar-SA" altLang="en-US" sz="2400" b="1" dirty="0">
                <a:solidFill>
                  <a:srgbClr val="1E6B52"/>
                </a:solidFill>
                <a:latin typeface="Amiri" pitchFamily="2" charset="-78"/>
                <a:ea typeface="Amiri" pitchFamily="2" charset="-78"/>
                <a:cs typeface="Amiri" pitchFamily="2" charset="-78"/>
              </a:rPr>
              <a:t>هٰذِهِ أُخْتِي.</a:t>
            </a:r>
            <a:endParaRPr lang="ar-SA" sz="2400" dirty="0"/>
          </a:p>
        </p:txBody>
      </p:sp>
      <p:sp>
        <p:nvSpPr>
          <p:cNvPr id="20" name="Text 17"/>
          <p:cNvSpPr txBox="1"/>
          <p:nvPr/>
        </p:nvSpPr>
        <p:spPr>
          <a:xfrm>
            <a:off x="685800" y="1901952"/>
            <a:ext cx="2788920" cy="1097280"/>
          </a:xfrm>
          <a:prstGeom prst="rect">
            <a:avLst/>
          </a:prstGeom>
          <a:noFill/>
          <a:ln/>
        </p:spPr>
        <p:txBody>
          <a:bodyPr wrap="square" lIns="0" tIns="0" rIns="0" bIns="0" rtlCol="0" anchor="ctr"/>
          <a:lstStyle/>
          <a:p>
            <a:pPr algn="l" indent="0" marL="0">
              <a:buNone/>
            </a:pPr>
            <a:r>
              <a:rPr lang="en-US" sz="1150" b="1" dirty="0">
                <a:solidFill>
                  <a:srgbClr val="1B3B6F"/>
                </a:solidFill>
                <a:latin typeface="Calibri" pitchFamily="34" charset="0"/>
                <a:cs typeface="Amiri" pitchFamily="2" charset="-78"/>
              </a:rPr>
              <a:t>A sister is feminine → </a:t>
            </a:r>
            <a:pPr algn="l" indent="0" marL="0">
              <a:buNone/>
            </a:pPr>
            <a:r>
              <a:rPr lang="ar-SA" altLang="en-US" sz="1500" b="1" dirty="0">
                <a:solidFill>
                  <a:srgbClr val="1B3B6F"/>
                </a:solidFill>
                <a:latin typeface="Amiri" pitchFamily="2" charset="-78"/>
                <a:ea typeface="Amiri" pitchFamily="2" charset="-78"/>
                <a:cs typeface="Amiri" pitchFamily="2" charset="-78"/>
              </a:rPr>
              <a:t>هٰذِهِ</a:t>
            </a:r>
            <a:pPr algn="l" indent="0" marL="0">
              <a:buNone/>
            </a:pPr>
            <a:r>
              <a:rPr lang="en-US" sz="1150" b="1" dirty="0">
                <a:solidFill>
                  <a:srgbClr val="1B3B6F"/>
                </a:solidFill>
                <a:latin typeface="Calibri" pitchFamily="34" charset="0"/>
                <a:cs typeface="Amiri" pitchFamily="2" charset="-78"/>
              </a:rPr>
              <a:t>.</a:t>
            </a:r>
            <a:endParaRPr lang="en-US" sz="1150" dirty="0"/>
          </a:p>
        </p:txBody>
      </p:sp>
      <p:sp>
        <p:nvSpPr>
          <p:cNvPr id="21" name="Shape 18"/>
          <p:cNvSpPr/>
          <p:nvPr/>
        </p:nvSpPr>
        <p:spPr>
          <a:xfrm>
            <a:off x="457200" y="3255264"/>
            <a:ext cx="11274552" cy="1298448"/>
          </a:xfrm>
          <a:prstGeom prst="roundRect">
            <a:avLst>
              <a:gd name="adj" fmla="val 5634"/>
            </a:avLst>
          </a:prstGeom>
          <a:solidFill>
            <a:srgbClr val="E6F4EC"/>
          </a:solidFill>
          <a:ln w="9525">
            <a:solidFill>
              <a:srgbClr val="9CCFB0"/>
            </a:solidFill>
            <a:prstDash val="solid"/>
          </a:ln>
          <a:effectLst>
            <a:outerShdw sx="100000" sy="100000" kx="0" ky="0" algn="bl" rotWithShape="0" blurRad="50800" dist="19050" dir="5400000">
              <a:srgbClr val="000000">
                <a:alpha val="10000"/>
              </a:srgbClr>
            </a:outerShdw>
          </a:effectLst>
        </p:spPr>
      </p:sp>
      <p:sp>
        <p:nvSpPr>
          <p:cNvPr id="22" name="Text 19"/>
          <p:cNvSpPr txBox="1"/>
          <p:nvPr/>
        </p:nvSpPr>
        <p:spPr>
          <a:xfrm>
            <a:off x="8503920" y="3346704"/>
            <a:ext cx="3063240" cy="1097280"/>
          </a:xfrm>
          <a:prstGeom prst="rect">
            <a:avLst/>
          </a:prstGeom>
          <a:noFill/>
          <a:ln/>
        </p:spPr>
        <p:txBody>
          <a:bodyPr wrap="square" lIns="0" tIns="0" rIns="0" bIns="0" rtlCol="0" anchor="ctr"/>
          <a:lstStyle/>
          <a:p>
            <a:pPr rtl="1" algn="r" indent="0" marL="0">
              <a:buNone/>
            </a:pPr>
            <a:r>
              <a:rPr lang="ar-SA" altLang="en-US" sz="1800" b="1" dirty="0">
                <a:solidFill>
                  <a:srgbClr val="B83227"/>
                </a:solidFill>
                <a:latin typeface="Amiri" pitchFamily="2" charset="-78"/>
                <a:ea typeface="Amiri" pitchFamily="2" charset="-78"/>
                <a:cs typeface="Amiri" pitchFamily="2" charset="-78"/>
              </a:rPr>
              <a:t>أُمِّي طَوِيلٌ وَلَطِيفٌ.</a:t>
            </a:r>
            <a:endParaRPr lang="ar-SA" sz="1800" dirty="0"/>
          </a:p>
        </p:txBody>
      </p:sp>
      <p:sp>
        <p:nvSpPr>
          <p:cNvPr id="23" name="Shape 20"/>
          <p:cNvSpPr/>
          <p:nvPr/>
        </p:nvSpPr>
        <p:spPr>
          <a:xfrm>
            <a:off x="8641080" y="3904488"/>
            <a:ext cx="2834640" cy="0"/>
          </a:xfrm>
          <a:prstGeom prst="line">
            <a:avLst/>
          </a:prstGeom>
          <a:noFill/>
          <a:ln w="15875">
            <a:solidFill>
              <a:srgbClr val="B83227"/>
            </a:solidFill>
            <a:prstDash val="solid"/>
          </a:ln>
        </p:spPr>
      </p:sp>
      <p:sp>
        <p:nvSpPr>
          <p:cNvPr id="24" name="Text 21"/>
          <p:cNvSpPr txBox="1"/>
          <p:nvPr/>
        </p:nvSpPr>
        <p:spPr>
          <a:xfrm>
            <a:off x="8138160" y="3346704"/>
            <a:ext cx="365760" cy="1097280"/>
          </a:xfrm>
          <a:prstGeom prst="rect">
            <a:avLst/>
          </a:prstGeom>
          <a:noFill/>
          <a:ln/>
        </p:spPr>
        <p:txBody>
          <a:bodyPr wrap="square" lIns="0" tIns="0" rIns="0" bIns="0" rtlCol="0" anchor="ctr"/>
          <a:lstStyle/>
          <a:p>
            <a:pPr algn="ctr" indent="0" marL="0">
              <a:buNone/>
            </a:pPr>
            <a:r>
              <a:rPr lang="en-US" sz="2000" dirty="0">
                <a:solidFill>
                  <a:srgbClr val="5A6472"/>
                </a:solidFill>
                <a:latin typeface="Calibri" pitchFamily="34" charset="0"/>
                <a:cs typeface="Amiri" pitchFamily="2" charset="-78"/>
              </a:rPr>
              <a:t>←</a:t>
            </a:r>
            <a:endParaRPr lang="en-US" sz="2000" dirty="0"/>
          </a:p>
        </p:txBody>
      </p:sp>
      <p:sp>
        <p:nvSpPr>
          <p:cNvPr id="25" name="Text 22"/>
          <p:cNvSpPr txBox="1"/>
          <p:nvPr/>
        </p:nvSpPr>
        <p:spPr>
          <a:xfrm>
            <a:off x="3566160" y="3346704"/>
            <a:ext cx="4526280" cy="1097280"/>
          </a:xfrm>
          <a:prstGeom prst="rect">
            <a:avLst/>
          </a:prstGeom>
          <a:noFill/>
          <a:ln/>
        </p:spPr>
        <p:txBody>
          <a:bodyPr wrap="square" lIns="0" tIns="0" rIns="0" bIns="0" rtlCol="0" anchor="ctr"/>
          <a:lstStyle/>
          <a:p>
            <a:pPr rtl="1" algn="r" indent="0" marL="0">
              <a:buNone/>
            </a:pPr>
            <a:r>
              <a:rPr lang="ar-SA" altLang="en-US" sz="2400" b="1" dirty="0">
                <a:solidFill>
                  <a:srgbClr val="1E6B52"/>
                </a:solidFill>
                <a:latin typeface="Amiri" pitchFamily="2" charset="-78"/>
                <a:ea typeface="Amiri" pitchFamily="2" charset="-78"/>
                <a:cs typeface="Amiri" pitchFamily="2" charset="-78"/>
              </a:rPr>
              <a:t>أُمِّي طَوِيلَةٌ وَلَطِيفَةٌ.</a:t>
            </a:r>
            <a:endParaRPr lang="ar-SA" sz="2400" dirty="0"/>
          </a:p>
        </p:txBody>
      </p:sp>
      <p:sp>
        <p:nvSpPr>
          <p:cNvPr id="26" name="Text 23"/>
          <p:cNvSpPr txBox="1"/>
          <p:nvPr/>
        </p:nvSpPr>
        <p:spPr>
          <a:xfrm>
            <a:off x="685800" y="3346704"/>
            <a:ext cx="2788920" cy="1097280"/>
          </a:xfrm>
          <a:prstGeom prst="rect">
            <a:avLst/>
          </a:prstGeom>
          <a:noFill/>
          <a:ln/>
        </p:spPr>
        <p:txBody>
          <a:bodyPr wrap="square" lIns="0" tIns="0" rIns="0" bIns="0" rtlCol="0" anchor="ctr"/>
          <a:lstStyle/>
          <a:p>
            <a:pPr algn="l" indent="0" marL="0">
              <a:buNone/>
            </a:pPr>
            <a:r>
              <a:rPr lang="en-US" sz="1150" b="1" dirty="0">
                <a:solidFill>
                  <a:srgbClr val="1B3B6F"/>
                </a:solidFill>
                <a:latin typeface="Calibri" pitchFamily="34" charset="0"/>
                <a:cs typeface="Amiri" pitchFamily="2" charset="-78"/>
              </a:rPr>
              <a:t>Both adjectives need </a:t>
            </a:r>
            <a:pPr algn="l" indent="0" marL="0">
              <a:buNone/>
            </a:pPr>
            <a:r>
              <a:rPr lang="ar-SA" altLang="en-US" sz="1500" b="1" dirty="0">
                <a:solidFill>
                  <a:srgbClr val="1B3B6F"/>
                </a:solidFill>
                <a:latin typeface="Amiri" pitchFamily="2" charset="-78"/>
                <a:ea typeface="Amiri" pitchFamily="2" charset="-78"/>
                <a:cs typeface="Amiri" pitchFamily="2" charset="-78"/>
              </a:rPr>
              <a:t>ة</a:t>
            </a:r>
            <a:pPr algn="l" indent="0" marL="0">
              <a:buNone/>
            </a:pPr>
            <a:r>
              <a:rPr lang="en-US" sz="1150" b="1" dirty="0">
                <a:solidFill>
                  <a:srgbClr val="1B3B6F"/>
                </a:solidFill>
                <a:latin typeface="Calibri" pitchFamily="34" charset="0"/>
                <a:cs typeface="Amiri" pitchFamily="2" charset="-78"/>
              </a:rPr>
              <a:t> for a woman.</a:t>
            </a:r>
            <a:endParaRPr lang="en-US" sz="1150" dirty="0"/>
          </a:p>
        </p:txBody>
      </p:sp>
      <p:sp>
        <p:nvSpPr>
          <p:cNvPr id="27" name="Shape 24"/>
          <p:cNvSpPr/>
          <p:nvPr/>
        </p:nvSpPr>
        <p:spPr>
          <a:xfrm>
            <a:off x="457200" y="4700016"/>
            <a:ext cx="11274552" cy="1298448"/>
          </a:xfrm>
          <a:prstGeom prst="roundRect">
            <a:avLst>
              <a:gd name="adj" fmla="val 5634"/>
            </a:avLst>
          </a:prstGeom>
          <a:solidFill>
            <a:srgbClr val="E6F4EC"/>
          </a:solidFill>
          <a:ln w="9525">
            <a:solidFill>
              <a:srgbClr val="9CCFB0"/>
            </a:solidFill>
            <a:prstDash val="solid"/>
          </a:ln>
          <a:effectLst>
            <a:outerShdw sx="100000" sy="100000" kx="0" ky="0" algn="bl" rotWithShape="0" blurRad="50800" dist="19050" dir="5400000">
              <a:srgbClr val="000000">
                <a:alpha val="10000"/>
              </a:srgbClr>
            </a:outerShdw>
          </a:effectLst>
        </p:spPr>
      </p:sp>
      <p:sp>
        <p:nvSpPr>
          <p:cNvPr id="28" name="Text 25"/>
          <p:cNvSpPr txBox="1"/>
          <p:nvPr/>
        </p:nvSpPr>
        <p:spPr>
          <a:xfrm>
            <a:off x="8503920" y="4791456"/>
            <a:ext cx="3063240" cy="1097280"/>
          </a:xfrm>
          <a:prstGeom prst="rect">
            <a:avLst/>
          </a:prstGeom>
          <a:noFill/>
          <a:ln/>
        </p:spPr>
        <p:txBody>
          <a:bodyPr wrap="square" lIns="0" tIns="0" rIns="0" bIns="0" rtlCol="0" anchor="ctr"/>
          <a:lstStyle/>
          <a:p>
            <a:pPr rtl="1" algn="r" indent="0" marL="0">
              <a:buNone/>
            </a:pPr>
            <a:r>
              <a:rPr lang="ar-SA" altLang="en-US" sz="1800" b="1" dirty="0">
                <a:solidFill>
                  <a:srgbClr val="B83227"/>
                </a:solidFill>
                <a:latin typeface="Amiri" pitchFamily="2" charset="-78"/>
                <a:ea typeface="Amiri" pitchFamily="2" charset="-78"/>
                <a:cs typeface="Amiri" pitchFamily="2" charset="-78"/>
              </a:rPr>
              <a:t>هٰذِهِ عَمِّي، اسْمُهُ خَالِدٌ.</a:t>
            </a:r>
            <a:endParaRPr lang="ar-SA" sz="1800" dirty="0"/>
          </a:p>
        </p:txBody>
      </p:sp>
      <p:sp>
        <p:nvSpPr>
          <p:cNvPr id="29" name="Shape 26"/>
          <p:cNvSpPr/>
          <p:nvPr/>
        </p:nvSpPr>
        <p:spPr>
          <a:xfrm>
            <a:off x="8641080" y="5349240"/>
            <a:ext cx="2834640" cy="0"/>
          </a:xfrm>
          <a:prstGeom prst="line">
            <a:avLst/>
          </a:prstGeom>
          <a:noFill/>
          <a:ln w="15875">
            <a:solidFill>
              <a:srgbClr val="B83227"/>
            </a:solidFill>
            <a:prstDash val="solid"/>
          </a:ln>
        </p:spPr>
      </p:sp>
      <p:sp>
        <p:nvSpPr>
          <p:cNvPr id="30" name="Text 27"/>
          <p:cNvSpPr txBox="1"/>
          <p:nvPr/>
        </p:nvSpPr>
        <p:spPr>
          <a:xfrm>
            <a:off x="8138160" y="4791456"/>
            <a:ext cx="365760" cy="1097280"/>
          </a:xfrm>
          <a:prstGeom prst="rect">
            <a:avLst/>
          </a:prstGeom>
          <a:noFill/>
          <a:ln/>
        </p:spPr>
        <p:txBody>
          <a:bodyPr wrap="square" lIns="0" tIns="0" rIns="0" bIns="0" rtlCol="0" anchor="ctr"/>
          <a:lstStyle/>
          <a:p>
            <a:pPr algn="ctr" indent="0" marL="0">
              <a:buNone/>
            </a:pPr>
            <a:r>
              <a:rPr lang="en-US" sz="2000" dirty="0">
                <a:solidFill>
                  <a:srgbClr val="5A6472"/>
                </a:solidFill>
                <a:latin typeface="Calibri" pitchFamily="34" charset="0"/>
                <a:cs typeface="Amiri" pitchFamily="2" charset="-78"/>
              </a:rPr>
              <a:t>←</a:t>
            </a:r>
            <a:endParaRPr lang="en-US" sz="2000" dirty="0"/>
          </a:p>
        </p:txBody>
      </p:sp>
      <p:sp>
        <p:nvSpPr>
          <p:cNvPr id="31" name="Text 28"/>
          <p:cNvSpPr txBox="1"/>
          <p:nvPr/>
        </p:nvSpPr>
        <p:spPr>
          <a:xfrm>
            <a:off x="3566160" y="4791456"/>
            <a:ext cx="4526280" cy="1097280"/>
          </a:xfrm>
          <a:prstGeom prst="rect">
            <a:avLst/>
          </a:prstGeom>
          <a:noFill/>
          <a:ln/>
        </p:spPr>
        <p:txBody>
          <a:bodyPr wrap="square" lIns="0" tIns="0" rIns="0" bIns="0" rtlCol="0" anchor="ctr"/>
          <a:lstStyle/>
          <a:p>
            <a:pPr rtl="1" algn="r" indent="0" marL="0">
              <a:buNone/>
            </a:pPr>
            <a:r>
              <a:rPr lang="ar-SA" altLang="en-US" sz="2400" b="1" dirty="0">
                <a:solidFill>
                  <a:srgbClr val="1E6B52"/>
                </a:solidFill>
                <a:latin typeface="Amiri" pitchFamily="2" charset="-78"/>
                <a:ea typeface="Amiri" pitchFamily="2" charset="-78"/>
                <a:cs typeface="Amiri" pitchFamily="2" charset="-78"/>
              </a:rPr>
              <a:t>هٰذَا عَمِّي، اسْمُهُ خَالِدٌ.</a:t>
            </a:r>
            <a:endParaRPr lang="ar-SA" sz="2400" dirty="0"/>
          </a:p>
        </p:txBody>
      </p:sp>
      <p:sp>
        <p:nvSpPr>
          <p:cNvPr id="32" name="Text 29"/>
          <p:cNvSpPr txBox="1"/>
          <p:nvPr/>
        </p:nvSpPr>
        <p:spPr>
          <a:xfrm>
            <a:off x="685800" y="4791456"/>
            <a:ext cx="2788920" cy="1097280"/>
          </a:xfrm>
          <a:prstGeom prst="rect">
            <a:avLst/>
          </a:prstGeom>
          <a:noFill/>
          <a:ln/>
        </p:spPr>
        <p:txBody>
          <a:bodyPr wrap="square" lIns="0" tIns="0" rIns="0" bIns="0" rtlCol="0" anchor="ctr"/>
          <a:lstStyle/>
          <a:p>
            <a:pPr algn="l" indent="0" marL="0">
              <a:buNone/>
            </a:pPr>
            <a:r>
              <a:rPr lang="en-US" sz="1150" b="1" dirty="0">
                <a:solidFill>
                  <a:srgbClr val="1B3B6F"/>
                </a:solidFill>
                <a:latin typeface="Calibri" pitchFamily="34" charset="0"/>
                <a:cs typeface="Amiri" pitchFamily="2" charset="-78"/>
              </a:rPr>
              <a:t>An uncle is masculine → </a:t>
            </a:r>
            <a:pPr algn="l" indent="0" marL="0">
              <a:buNone/>
            </a:pPr>
            <a:r>
              <a:rPr lang="ar-SA" altLang="en-US" sz="1500" b="1" dirty="0">
                <a:solidFill>
                  <a:srgbClr val="1B3B6F"/>
                </a:solidFill>
                <a:latin typeface="Amiri" pitchFamily="2" charset="-78"/>
                <a:ea typeface="Amiri" pitchFamily="2" charset="-78"/>
                <a:cs typeface="Amiri" pitchFamily="2" charset="-78"/>
              </a:rPr>
              <a:t>هٰذَا</a:t>
            </a:r>
            <a:pPr algn="l" indent="0" marL="0">
              <a:buNone/>
            </a:pPr>
            <a:r>
              <a:rPr lang="en-US" sz="1150" b="1" dirty="0">
                <a:solidFill>
                  <a:srgbClr val="1B3B6F"/>
                </a:solidFill>
                <a:latin typeface="Calibri" pitchFamily="34" charset="0"/>
                <a:cs typeface="Amiri" pitchFamily="2" charset="-78"/>
              </a:rPr>
              <a:t>.</a:t>
            </a:r>
            <a:endParaRPr lang="en-US" sz="1150" dirty="0"/>
          </a:p>
        </p:txBody>
      </p:sp>
      <p:sp>
        <p:nvSpPr>
          <p:cNvPr id="33" name="Text 30"/>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17 / 24</a:t>
            </a:r>
            <a:endParaRPr lang="en-US" sz="850" dirty="0"/>
          </a:p>
        </p:txBody>
      </p:sp>
    </p:spTree>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name="Slide 18">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F3-W01 · Apply workshop</a:t>
            </a:r>
            <a:endParaRPr lang="en-US" sz="950" dirty="0"/>
          </a:p>
        </p:txBody>
      </p:sp>
      <p:sp>
        <p:nvSpPr>
          <p:cNvPr id="8" name="Shape 6"/>
          <p:cNvSpPr/>
          <p:nvPr/>
        </p:nvSpPr>
        <p:spPr>
          <a:xfrm>
            <a:off x="7295083" y="274320"/>
            <a:ext cx="1464869" cy="329184"/>
          </a:xfrm>
          <a:prstGeom prst="roundRect">
            <a:avLst>
              <a:gd name="adj" fmla="val 50000"/>
            </a:avLst>
          </a:prstGeom>
          <a:solidFill>
            <a:srgbClr val="1E6B52"/>
          </a:solidFill>
          <a:ln w="12700">
            <a:solidFill>
              <a:srgbClr val="1E6B52"/>
            </a:solidFill>
            <a:prstDash val="solid"/>
          </a:ln>
        </p:spPr>
      </p:sp>
      <p:sp>
        <p:nvSpPr>
          <p:cNvPr id="9" name="Text 7"/>
          <p:cNvSpPr txBox="1"/>
          <p:nvPr/>
        </p:nvSpPr>
        <p:spPr>
          <a:xfrm>
            <a:off x="7295083" y="274320"/>
            <a:ext cx="1464869"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YOU DO · 2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1E6B52"/>
                </a:solidFill>
                <a:latin typeface="Calibri" pitchFamily="34" charset="0"/>
                <a:cs typeface="Amiri" pitchFamily="2" charset="-78"/>
              </a:rPr>
              <a:t>STEP 9 · WRITE YOUR TEXT · FRAMES IF YOU NEED THEM</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Your writing frames</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قَوَالِبُ الكِتَابَةِ</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Foundation F3 · My Family &amp; Home · F3-W01 · Apply workshop (F3-L01 + F3-L02)</a:t>
            </a:r>
            <a:endParaRPr lang="en-US" sz="850" dirty="0"/>
          </a:p>
        </p:txBody>
      </p:sp>
      <p:sp>
        <p:nvSpPr>
          <p:cNvPr id="15" name="Shape 12"/>
          <p:cNvSpPr/>
          <p:nvPr/>
        </p:nvSpPr>
        <p:spPr>
          <a:xfrm>
            <a:off x="457200" y="1810512"/>
            <a:ext cx="5541264" cy="3566160"/>
          </a:xfrm>
          <a:prstGeom prst="roundRect">
            <a:avLst>
              <a:gd name="adj" fmla="val 2051"/>
            </a:avLst>
          </a:prstGeom>
          <a:solidFill>
            <a:srgbClr val="FCF1E0"/>
          </a:solidFill>
          <a:ln w="9525">
            <a:solidFill>
              <a:srgbClr val="C9780A"/>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594360" y="1901952"/>
            <a:ext cx="1051560" cy="274320"/>
          </a:xfrm>
          <a:prstGeom prst="roundRect">
            <a:avLst>
              <a:gd name="adj" fmla="val 50000"/>
            </a:avLst>
          </a:prstGeom>
          <a:solidFill>
            <a:srgbClr val="C9780A"/>
          </a:solidFill>
          <a:ln w="12700">
            <a:solidFill>
              <a:srgbClr val="C9780A"/>
            </a:solidFill>
            <a:prstDash val="solid"/>
          </a:ln>
        </p:spPr>
      </p:sp>
      <p:sp>
        <p:nvSpPr>
          <p:cNvPr id="17" name="Text 14"/>
          <p:cNvSpPr txBox="1"/>
          <p:nvPr/>
        </p:nvSpPr>
        <p:spPr>
          <a:xfrm>
            <a:off x="594360" y="1901952"/>
            <a:ext cx="1051560" cy="274320"/>
          </a:xfrm>
          <a:prstGeom prst="rect">
            <a:avLst/>
          </a:prstGeom>
          <a:noFill/>
          <a:ln/>
        </p:spPr>
        <p:txBody>
          <a:bodyPr wrap="square" lIns="0" tIns="0" rIns="0" bIns="0" rtlCol="0" anchor="ctr"/>
          <a:lstStyle/>
          <a:p>
            <a:pPr algn="ctr" indent="0" marL="0">
              <a:buNone/>
            </a:pPr>
            <a:r>
              <a:rPr lang="en-US" sz="850" b="1" spc="100" kern="0" dirty="0">
                <a:solidFill>
                  <a:srgbClr val="FFFFFF"/>
                </a:solidFill>
                <a:latin typeface="Calibri" pitchFamily="34" charset="0"/>
                <a:cs typeface="Amiri" pitchFamily="2" charset="-78"/>
              </a:rPr>
              <a:t>DEVELOP</a:t>
            </a:r>
            <a:endParaRPr lang="en-US" sz="850" dirty="0"/>
          </a:p>
        </p:txBody>
      </p:sp>
      <p:sp>
        <p:nvSpPr>
          <p:cNvPr id="18" name="Text 15"/>
          <p:cNvSpPr txBox="1"/>
          <p:nvPr/>
        </p:nvSpPr>
        <p:spPr>
          <a:xfrm>
            <a:off x="2468880" y="2249424"/>
            <a:ext cx="3383280" cy="538582"/>
          </a:xfrm>
          <a:prstGeom prst="rect">
            <a:avLst/>
          </a:prstGeom>
          <a:noFill/>
          <a:ln/>
        </p:spPr>
        <p:txBody>
          <a:bodyPr wrap="square" lIns="0" tIns="0" rIns="0" bIns="0" rtlCol="0" anchor="ctr"/>
          <a:lstStyle/>
          <a:p>
            <a:pPr rtl="1" algn="r" indent="0" marL="0">
              <a:buNone/>
            </a:pPr>
            <a:r>
              <a:rPr lang="ar-SA" altLang="en-US" sz="1750" b="1" dirty="0">
                <a:solidFill>
                  <a:srgbClr val="1B3B6F"/>
                </a:solidFill>
                <a:latin typeface="Amiri" pitchFamily="2" charset="-78"/>
                <a:ea typeface="Amiri" pitchFamily="2" charset="-78"/>
                <a:cs typeface="Amiri" pitchFamily="2" charset="-78"/>
              </a:rPr>
              <a:t>أُحِبُّ ______ كَثِيرًا لِأَنَّهُ / لِأَنَّهَا ______ .</a:t>
            </a:r>
            <a:endParaRPr lang="ar-SA" sz="1750" dirty="0"/>
          </a:p>
        </p:txBody>
      </p:sp>
      <p:sp>
        <p:nvSpPr>
          <p:cNvPr id="19" name="Text 16"/>
          <p:cNvSpPr txBox="1"/>
          <p:nvPr/>
        </p:nvSpPr>
        <p:spPr>
          <a:xfrm>
            <a:off x="594360" y="2249424"/>
            <a:ext cx="1828800" cy="538582"/>
          </a:xfrm>
          <a:prstGeom prst="rect">
            <a:avLst/>
          </a:prstGeom>
          <a:noFill/>
          <a:ln/>
        </p:spPr>
        <p:txBody>
          <a:bodyPr wrap="square" lIns="0" tIns="0" rIns="0" bIns="0" rtlCol="0" anchor="ctr"/>
          <a:lstStyle/>
          <a:p>
            <a:pPr algn="l" indent="0" marL="0">
              <a:buNone/>
            </a:pPr>
            <a:r>
              <a:rPr lang="en-US" sz="1050" i="1" dirty="0">
                <a:solidFill>
                  <a:srgbClr val="5A6472"/>
                </a:solidFill>
                <a:latin typeface="Calibri" pitchFamily="34" charset="0"/>
                <a:cs typeface="Amiri" pitchFamily="2" charset="-78"/>
              </a:rPr>
              <a:t>I love … a lot because he / she is …</a:t>
            </a:r>
            <a:endParaRPr lang="en-US" sz="1050" dirty="0"/>
          </a:p>
        </p:txBody>
      </p:sp>
      <p:sp>
        <p:nvSpPr>
          <p:cNvPr id="20" name="Text 17"/>
          <p:cNvSpPr txBox="1"/>
          <p:nvPr/>
        </p:nvSpPr>
        <p:spPr>
          <a:xfrm>
            <a:off x="2468880" y="2816352"/>
            <a:ext cx="3383280" cy="538582"/>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2" charset="-78"/>
                <a:ea typeface="Amiri" pitchFamily="2" charset="-78"/>
                <a:cs typeface="Amiri" pitchFamily="2" charset="-78"/>
              </a:rPr>
              <a:t>عَيْنَاهُ / عَيْنَاهَا ______ .</a:t>
            </a:r>
            <a:endParaRPr lang="ar-SA" sz="1800" dirty="0"/>
          </a:p>
        </p:txBody>
      </p:sp>
      <p:sp>
        <p:nvSpPr>
          <p:cNvPr id="21" name="Text 18"/>
          <p:cNvSpPr txBox="1"/>
          <p:nvPr/>
        </p:nvSpPr>
        <p:spPr>
          <a:xfrm>
            <a:off x="594360" y="2816352"/>
            <a:ext cx="1828800" cy="538582"/>
          </a:xfrm>
          <a:prstGeom prst="rect">
            <a:avLst/>
          </a:prstGeom>
          <a:noFill/>
          <a:ln/>
        </p:spPr>
        <p:txBody>
          <a:bodyPr wrap="square" lIns="0" tIns="0" rIns="0" bIns="0" rtlCol="0" anchor="ctr"/>
          <a:lstStyle/>
          <a:p>
            <a:pPr algn="l" indent="0" marL="0">
              <a:buNone/>
            </a:pPr>
            <a:r>
              <a:rPr lang="en-US" sz="1050" i="1" dirty="0">
                <a:solidFill>
                  <a:srgbClr val="5A6472"/>
                </a:solidFill>
                <a:latin typeface="Calibri" pitchFamily="34" charset="0"/>
                <a:cs typeface="Amiri" pitchFamily="2" charset="-78"/>
              </a:rPr>
              <a:t>His / her eyes are …</a:t>
            </a:r>
            <a:endParaRPr lang="en-US" sz="1050" dirty="0"/>
          </a:p>
        </p:txBody>
      </p:sp>
      <p:sp>
        <p:nvSpPr>
          <p:cNvPr id="22" name="Shape 19"/>
          <p:cNvSpPr/>
          <p:nvPr/>
        </p:nvSpPr>
        <p:spPr>
          <a:xfrm>
            <a:off x="6190488" y="1810512"/>
            <a:ext cx="5541264" cy="3566160"/>
          </a:xfrm>
          <a:prstGeom prst="roundRect">
            <a:avLst>
              <a:gd name="adj" fmla="val 2051"/>
            </a:avLst>
          </a:prstGeom>
          <a:solidFill>
            <a:srgbClr val="E9F5EE"/>
          </a:solidFill>
          <a:ln w="9525">
            <a:solidFill>
              <a:srgbClr val="2E8B57"/>
            </a:solidFill>
            <a:prstDash val="solid"/>
          </a:ln>
          <a:effectLst>
            <a:outerShdw sx="100000" sy="100000" kx="0" ky="0" algn="bl" rotWithShape="0" blurRad="50800" dist="19050" dir="5400000">
              <a:srgbClr val="000000">
                <a:alpha val="10000"/>
              </a:srgbClr>
            </a:outerShdw>
          </a:effectLst>
        </p:spPr>
      </p:sp>
      <p:sp>
        <p:nvSpPr>
          <p:cNvPr id="23" name="Shape 20"/>
          <p:cNvSpPr/>
          <p:nvPr/>
        </p:nvSpPr>
        <p:spPr>
          <a:xfrm>
            <a:off x="10543032" y="1901952"/>
            <a:ext cx="1051560" cy="274320"/>
          </a:xfrm>
          <a:prstGeom prst="roundRect">
            <a:avLst>
              <a:gd name="adj" fmla="val 50000"/>
            </a:avLst>
          </a:prstGeom>
          <a:solidFill>
            <a:srgbClr val="2E8B57"/>
          </a:solidFill>
          <a:ln w="12700">
            <a:solidFill>
              <a:srgbClr val="2E8B57"/>
            </a:solidFill>
            <a:prstDash val="solid"/>
          </a:ln>
        </p:spPr>
      </p:sp>
      <p:sp>
        <p:nvSpPr>
          <p:cNvPr id="24" name="Text 21"/>
          <p:cNvSpPr txBox="1"/>
          <p:nvPr/>
        </p:nvSpPr>
        <p:spPr>
          <a:xfrm>
            <a:off x="10543032" y="1901952"/>
            <a:ext cx="1051560" cy="274320"/>
          </a:xfrm>
          <a:prstGeom prst="rect">
            <a:avLst/>
          </a:prstGeom>
          <a:noFill/>
          <a:ln/>
        </p:spPr>
        <p:txBody>
          <a:bodyPr wrap="square" lIns="0" tIns="0" rIns="0" bIns="0" rtlCol="0" anchor="ctr"/>
          <a:lstStyle/>
          <a:p>
            <a:pPr algn="ctr" indent="0" marL="0">
              <a:buNone/>
            </a:pPr>
            <a:r>
              <a:rPr lang="en-US" sz="850" b="1" spc="100" kern="0" dirty="0">
                <a:solidFill>
                  <a:srgbClr val="FFFFFF"/>
                </a:solidFill>
                <a:latin typeface="Calibri" pitchFamily="34" charset="0"/>
                <a:cs typeface="Amiri" pitchFamily="2" charset="-78"/>
              </a:rPr>
              <a:t>CORE</a:t>
            </a:r>
            <a:endParaRPr lang="en-US" sz="850" dirty="0"/>
          </a:p>
        </p:txBody>
      </p:sp>
      <p:sp>
        <p:nvSpPr>
          <p:cNvPr id="25" name="Text 22"/>
          <p:cNvSpPr txBox="1"/>
          <p:nvPr/>
        </p:nvSpPr>
        <p:spPr>
          <a:xfrm>
            <a:off x="8202168" y="2249424"/>
            <a:ext cx="3383280" cy="538582"/>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2" charset="-78"/>
                <a:ea typeface="Amiri" pitchFamily="2" charset="-78"/>
                <a:cs typeface="Amiri" pitchFamily="2" charset="-78"/>
              </a:rPr>
              <a:t>فِي عَائِلَتِي ______ أَشْخَاصٍ.</a:t>
            </a:r>
            <a:endParaRPr lang="ar-SA" sz="1800" dirty="0"/>
          </a:p>
        </p:txBody>
      </p:sp>
      <p:sp>
        <p:nvSpPr>
          <p:cNvPr id="26" name="Text 23"/>
          <p:cNvSpPr txBox="1"/>
          <p:nvPr/>
        </p:nvSpPr>
        <p:spPr>
          <a:xfrm>
            <a:off x="6327648" y="2249424"/>
            <a:ext cx="1828800" cy="538582"/>
          </a:xfrm>
          <a:prstGeom prst="rect">
            <a:avLst/>
          </a:prstGeom>
          <a:noFill/>
          <a:ln/>
        </p:spPr>
        <p:txBody>
          <a:bodyPr wrap="square" lIns="0" tIns="0" rIns="0" bIns="0" rtlCol="0" anchor="ctr"/>
          <a:lstStyle/>
          <a:p>
            <a:pPr algn="l" indent="0" marL="0">
              <a:buNone/>
            </a:pPr>
            <a:r>
              <a:rPr lang="en-US" sz="1050" i="1" dirty="0">
                <a:solidFill>
                  <a:srgbClr val="5A6472"/>
                </a:solidFill>
                <a:latin typeface="Calibri" pitchFamily="34" charset="0"/>
                <a:cs typeface="Amiri" pitchFamily="2" charset="-78"/>
              </a:rPr>
              <a:t>There are … people in my family.</a:t>
            </a:r>
            <a:endParaRPr lang="en-US" sz="1050" dirty="0"/>
          </a:p>
        </p:txBody>
      </p:sp>
      <p:sp>
        <p:nvSpPr>
          <p:cNvPr id="27" name="Text 24"/>
          <p:cNvSpPr txBox="1"/>
          <p:nvPr/>
        </p:nvSpPr>
        <p:spPr>
          <a:xfrm>
            <a:off x="8202168" y="2816352"/>
            <a:ext cx="3383280" cy="538582"/>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2" charset="-78"/>
                <a:ea typeface="Amiri" pitchFamily="2" charset="-78"/>
                <a:cs typeface="Amiri" pitchFamily="2" charset="-78"/>
              </a:rPr>
              <a:t>هٰذَا ______ ، اسْمُهُ ______ .</a:t>
            </a:r>
            <a:endParaRPr lang="ar-SA" sz="1800" dirty="0"/>
          </a:p>
        </p:txBody>
      </p:sp>
      <p:sp>
        <p:nvSpPr>
          <p:cNvPr id="28" name="Text 25"/>
          <p:cNvSpPr txBox="1"/>
          <p:nvPr/>
        </p:nvSpPr>
        <p:spPr>
          <a:xfrm>
            <a:off x="6327648" y="2816352"/>
            <a:ext cx="1828800" cy="538582"/>
          </a:xfrm>
          <a:prstGeom prst="rect">
            <a:avLst/>
          </a:prstGeom>
          <a:noFill/>
          <a:ln/>
        </p:spPr>
        <p:txBody>
          <a:bodyPr wrap="square" lIns="0" tIns="0" rIns="0" bIns="0" rtlCol="0" anchor="ctr"/>
          <a:lstStyle/>
          <a:p>
            <a:pPr algn="l" indent="0" marL="0">
              <a:buNone/>
            </a:pPr>
            <a:r>
              <a:rPr lang="en-US" sz="1050" i="1" dirty="0">
                <a:solidFill>
                  <a:srgbClr val="5A6472"/>
                </a:solidFill>
                <a:latin typeface="Calibri" pitchFamily="34" charset="0"/>
                <a:cs typeface="Amiri" pitchFamily="2" charset="-78"/>
              </a:rPr>
              <a:t>This is my …; his name is …</a:t>
            </a:r>
            <a:endParaRPr lang="en-US" sz="1050" dirty="0"/>
          </a:p>
        </p:txBody>
      </p:sp>
      <p:sp>
        <p:nvSpPr>
          <p:cNvPr id="29" name="Text 26"/>
          <p:cNvSpPr txBox="1"/>
          <p:nvPr/>
        </p:nvSpPr>
        <p:spPr>
          <a:xfrm>
            <a:off x="8202168" y="3383280"/>
            <a:ext cx="3383280" cy="538582"/>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2" charset="-78"/>
                <a:ea typeface="Amiri" pitchFamily="2" charset="-78"/>
                <a:cs typeface="Amiri" pitchFamily="2" charset="-78"/>
              </a:rPr>
              <a:t>هُوَ ______ وَ ______ ، وَشَعْرُهُ ______ .</a:t>
            </a:r>
            <a:endParaRPr lang="ar-SA" sz="1800" dirty="0"/>
          </a:p>
        </p:txBody>
      </p:sp>
      <p:sp>
        <p:nvSpPr>
          <p:cNvPr id="30" name="Text 27"/>
          <p:cNvSpPr txBox="1"/>
          <p:nvPr/>
        </p:nvSpPr>
        <p:spPr>
          <a:xfrm>
            <a:off x="6327648" y="3383280"/>
            <a:ext cx="1828800" cy="538582"/>
          </a:xfrm>
          <a:prstGeom prst="rect">
            <a:avLst/>
          </a:prstGeom>
          <a:noFill/>
          <a:ln/>
        </p:spPr>
        <p:txBody>
          <a:bodyPr wrap="square" lIns="0" tIns="0" rIns="0" bIns="0" rtlCol="0" anchor="ctr"/>
          <a:lstStyle/>
          <a:p>
            <a:pPr algn="l" indent="0" marL="0">
              <a:buNone/>
            </a:pPr>
            <a:r>
              <a:rPr lang="en-US" sz="1050" i="1" dirty="0">
                <a:solidFill>
                  <a:srgbClr val="5A6472"/>
                </a:solidFill>
                <a:latin typeface="Calibri" pitchFamily="34" charset="0"/>
                <a:cs typeface="Amiri" pitchFamily="2" charset="-78"/>
              </a:rPr>
              <a:t>He is … and …, and his hair is …</a:t>
            </a:r>
            <a:endParaRPr lang="en-US" sz="1050" dirty="0"/>
          </a:p>
        </p:txBody>
      </p:sp>
      <p:sp>
        <p:nvSpPr>
          <p:cNvPr id="31" name="Text 28"/>
          <p:cNvSpPr txBox="1"/>
          <p:nvPr/>
        </p:nvSpPr>
        <p:spPr>
          <a:xfrm>
            <a:off x="8202168" y="3950208"/>
            <a:ext cx="3383280" cy="538582"/>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2" charset="-78"/>
                <a:ea typeface="Amiri" pitchFamily="2" charset="-78"/>
                <a:cs typeface="Amiri" pitchFamily="2" charset="-78"/>
              </a:rPr>
              <a:t>هٰذِهِ ______ ، اسْمُهَا ______ .</a:t>
            </a:r>
            <a:endParaRPr lang="ar-SA" sz="1800" dirty="0"/>
          </a:p>
        </p:txBody>
      </p:sp>
      <p:sp>
        <p:nvSpPr>
          <p:cNvPr id="32" name="Text 29"/>
          <p:cNvSpPr txBox="1"/>
          <p:nvPr/>
        </p:nvSpPr>
        <p:spPr>
          <a:xfrm>
            <a:off x="6327648" y="3950208"/>
            <a:ext cx="1828800" cy="538582"/>
          </a:xfrm>
          <a:prstGeom prst="rect">
            <a:avLst/>
          </a:prstGeom>
          <a:noFill/>
          <a:ln/>
        </p:spPr>
        <p:txBody>
          <a:bodyPr wrap="square" lIns="0" tIns="0" rIns="0" bIns="0" rtlCol="0" anchor="ctr"/>
          <a:lstStyle/>
          <a:p>
            <a:pPr algn="l" indent="0" marL="0">
              <a:buNone/>
            </a:pPr>
            <a:r>
              <a:rPr lang="en-US" sz="1050" i="1" dirty="0">
                <a:solidFill>
                  <a:srgbClr val="5A6472"/>
                </a:solidFill>
                <a:latin typeface="Calibri" pitchFamily="34" charset="0"/>
                <a:cs typeface="Amiri" pitchFamily="2" charset="-78"/>
              </a:rPr>
              <a:t>This is my …; her name is …</a:t>
            </a:r>
            <a:endParaRPr lang="en-US" sz="1050" dirty="0"/>
          </a:p>
        </p:txBody>
      </p:sp>
      <p:sp>
        <p:nvSpPr>
          <p:cNvPr id="33" name="Text 30"/>
          <p:cNvSpPr txBox="1"/>
          <p:nvPr/>
        </p:nvSpPr>
        <p:spPr>
          <a:xfrm>
            <a:off x="8202168" y="4517136"/>
            <a:ext cx="3383280" cy="538582"/>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2" charset="-78"/>
                <a:ea typeface="Amiri" pitchFamily="2" charset="-78"/>
                <a:cs typeface="Amiri" pitchFamily="2" charset="-78"/>
              </a:rPr>
              <a:t>هِيَ ______ وَ ______ جِدًّا.</a:t>
            </a:r>
            <a:endParaRPr lang="ar-SA" sz="1800" dirty="0"/>
          </a:p>
        </p:txBody>
      </p:sp>
      <p:sp>
        <p:nvSpPr>
          <p:cNvPr id="34" name="Text 31"/>
          <p:cNvSpPr txBox="1"/>
          <p:nvPr/>
        </p:nvSpPr>
        <p:spPr>
          <a:xfrm>
            <a:off x="6327648" y="4517136"/>
            <a:ext cx="1828800" cy="538582"/>
          </a:xfrm>
          <a:prstGeom prst="rect">
            <a:avLst/>
          </a:prstGeom>
          <a:noFill/>
          <a:ln/>
        </p:spPr>
        <p:txBody>
          <a:bodyPr wrap="square" lIns="0" tIns="0" rIns="0" bIns="0" rtlCol="0" anchor="ctr"/>
          <a:lstStyle/>
          <a:p>
            <a:pPr algn="l" indent="0" marL="0">
              <a:buNone/>
            </a:pPr>
            <a:r>
              <a:rPr lang="en-US" sz="1050" i="1" dirty="0">
                <a:solidFill>
                  <a:srgbClr val="5A6472"/>
                </a:solidFill>
                <a:latin typeface="Calibri" pitchFamily="34" charset="0"/>
                <a:cs typeface="Amiri" pitchFamily="2" charset="-78"/>
              </a:rPr>
              <a:t>She is … and very …</a:t>
            </a:r>
            <a:endParaRPr lang="en-US" sz="1050" dirty="0"/>
          </a:p>
        </p:txBody>
      </p:sp>
      <p:sp>
        <p:nvSpPr>
          <p:cNvPr id="35" name="Shape 32"/>
          <p:cNvSpPr/>
          <p:nvPr/>
        </p:nvSpPr>
        <p:spPr>
          <a:xfrm>
            <a:off x="457200" y="5504688"/>
            <a:ext cx="11274552" cy="804672"/>
          </a:xfrm>
          <a:prstGeom prst="roundRect">
            <a:avLst>
              <a:gd name="adj" fmla="val 9091"/>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6" name="Text 33"/>
          <p:cNvSpPr txBox="1"/>
          <p:nvPr/>
        </p:nvSpPr>
        <p:spPr>
          <a:xfrm>
            <a:off x="640080" y="5541264"/>
            <a:ext cx="1828800" cy="237744"/>
          </a:xfrm>
          <a:prstGeom prst="rect">
            <a:avLst/>
          </a:prstGeom>
          <a:noFill/>
          <a:ln/>
        </p:spPr>
        <p:txBody>
          <a:bodyPr wrap="square" lIns="0" tIns="0" rIns="0" bIns="0" rtlCol="0" anchor="ctr"/>
          <a:lstStyle/>
          <a:p>
            <a:pPr algn="l" indent="0" marL="0">
              <a:buNone/>
            </a:pPr>
            <a:r>
              <a:rPr lang="en-US" sz="950" b="1" spc="200" kern="0" dirty="0">
                <a:solidFill>
                  <a:srgbClr val="8A6D1E"/>
                </a:solidFill>
                <a:latin typeface="Calibri" pitchFamily="34" charset="0"/>
                <a:cs typeface="Amiri" pitchFamily="2" charset="-78"/>
              </a:rPr>
              <a:t>WORD BANK</a:t>
            </a:r>
            <a:endParaRPr lang="en-US" sz="950" dirty="0"/>
          </a:p>
        </p:txBody>
      </p:sp>
      <p:sp>
        <p:nvSpPr>
          <p:cNvPr id="37" name="Text 34"/>
          <p:cNvSpPr txBox="1"/>
          <p:nvPr/>
        </p:nvSpPr>
        <p:spPr>
          <a:xfrm>
            <a:off x="640080" y="5760720"/>
            <a:ext cx="10908792" cy="512064"/>
          </a:xfrm>
          <a:prstGeom prst="rect">
            <a:avLst/>
          </a:prstGeom>
          <a:noFill/>
          <a:ln/>
        </p:spPr>
        <p:txBody>
          <a:bodyPr wrap="square" lIns="0" tIns="0" rIns="0" bIns="0" rtlCol="0" anchor="ctr"/>
          <a:lstStyle/>
          <a:p>
            <a:pPr rtl="1" algn="r" indent="0" marL="0">
              <a:buNone/>
            </a:pPr>
            <a:r>
              <a:rPr lang="ar-SA" altLang="en-US" sz="1600" b="1" dirty="0">
                <a:solidFill>
                  <a:srgbClr val="1B3B6F"/>
                </a:solidFill>
                <a:latin typeface="Amiri" pitchFamily="2" charset="-78"/>
                <a:ea typeface="Amiri" pitchFamily="2" charset="-78"/>
                <a:cs typeface="Amiri" pitchFamily="2" charset="-78"/>
              </a:rPr>
              <a:t>جَدِّي · جَدَّتِي  ·  عَمِّي · عَمَّتِي · خَالَتِي  ·  طَوِيلٌ · قَصِيرَةٌ  ·  شَعْرُهُ · شَعْرُهَا  ·  لَطِيفٌ · لَطِيفَةٌ  ·  مُضْحِكٌ · مُضْحِكَةٌ  ·  كَرِيمٌ · كَرِيمَةٌ  ·  لِأَنَّهُ · لِأَنَّهَا</a:t>
            </a:r>
            <a:endParaRPr lang="ar-SA" sz="1600" dirty="0"/>
          </a:p>
        </p:txBody>
      </p:sp>
      <p:sp>
        <p:nvSpPr>
          <p:cNvPr id="38" name="Text 35"/>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18 / 24</a:t>
            </a:r>
            <a:endParaRPr lang="en-US" sz="850" dirty="0"/>
          </a:p>
        </p:txBody>
      </p:sp>
    </p:spTree>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name="Slide 19">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F3-W01 · Apply workshop</a:t>
            </a:r>
            <a:endParaRPr lang="en-US" sz="950" dirty="0"/>
          </a:p>
        </p:txBody>
      </p:sp>
      <p:sp>
        <p:nvSpPr>
          <p:cNvPr id="8" name="Shape 6"/>
          <p:cNvSpPr/>
          <p:nvPr/>
        </p:nvSpPr>
        <p:spPr>
          <a:xfrm>
            <a:off x="7219188" y="274320"/>
            <a:ext cx="1540764" cy="329184"/>
          </a:xfrm>
          <a:prstGeom prst="roundRect">
            <a:avLst>
              <a:gd name="adj" fmla="val 50000"/>
            </a:avLst>
          </a:prstGeom>
          <a:solidFill>
            <a:srgbClr val="1E6B52"/>
          </a:solidFill>
          <a:ln w="12700">
            <a:solidFill>
              <a:srgbClr val="1E6B52"/>
            </a:solidFill>
            <a:prstDash val="solid"/>
          </a:ln>
        </p:spPr>
      </p:sp>
      <p:sp>
        <p:nvSpPr>
          <p:cNvPr id="9" name="Text 7"/>
          <p:cNvSpPr txBox="1"/>
          <p:nvPr/>
        </p:nvSpPr>
        <p:spPr>
          <a:xfrm>
            <a:off x="7219188" y="274320"/>
            <a:ext cx="1540764"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YOU DO · 10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1E6B52"/>
                </a:solidFill>
                <a:latin typeface="Calibri" pitchFamily="34" charset="0"/>
                <a:cs typeface="Amiri" pitchFamily="2" charset="-78"/>
              </a:rPr>
              <a:t>STEP 9 · WRITE YOUR TEXT · ABOUT 45–65 WORDS</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A page in our family photo album</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صَفْحَةٌ مِنْ أَلْبُومِ العَائِلَةِ</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Foundation F3 · My Family &amp; Home · F3-W01 · Apply workshop (F3-L01 + F3-L02)</a:t>
            </a:r>
            <a:endParaRPr lang="en-US" sz="850" dirty="0"/>
          </a:p>
        </p:txBody>
      </p:sp>
      <p:sp>
        <p:nvSpPr>
          <p:cNvPr id="15" name="Shape 12"/>
          <p:cNvSpPr/>
          <p:nvPr/>
        </p:nvSpPr>
        <p:spPr>
          <a:xfrm>
            <a:off x="457200" y="1810512"/>
            <a:ext cx="5577840" cy="4498848"/>
          </a:xfrm>
          <a:prstGeom prst="roundRect">
            <a:avLst>
              <a:gd name="adj" fmla="val 1626"/>
            </a:avLst>
          </a:prstGeom>
          <a:solidFill>
            <a:srgbClr val="F7F9FC"/>
          </a:solidFill>
          <a:ln w="9525">
            <a:solidFill>
              <a:srgbClr val="C9D6EA"/>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640080" y="1938528"/>
            <a:ext cx="1984248" cy="292608"/>
          </a:xfrm>
          <a:prstGeom prst="roundRect">
            <a:avLst>
              <a:gd name="adj" fmla="val 50000"/>
            </a:avLst>
          </a:prstGeom>
          <a:solidFill>
            <a:srgbClr val="1B3B6F"/>
          </a:solidFill>
          <a:ln w="12700">
            <a:solidFill>
              <a:srgbClr val="1B3B6F"/>
            </a:solidFill>
            <a:prstDash val="solid"/>
          </a:ln>
        </p:spPr>
      </p:sp>
      <p:sp>
        <p:nvSpPr>
          <p:cNvPr id="17" name="Text 14"/>
          <p:cNvSpPr txBox="1"/>
          <p:nvPr/>
        </p:nvSpPr>
        <p:spPr>
          <a:xfrm>
            <a:off x="640080" y="1938528"/>
            <a:ext cx="1984248" cy="292608"/>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WRITING · BOTH LESSONS</a:t>
            </a:r>
            <a:endParaRPr lang="en-US" sz="950" dirty="0"/>
          </a:p>
        </p:txBody>
      </p:sp>
      <p:sp>
        <p:nvSpPr>
          <p:cNvPr id="18" name="Text 15"/>
          <p:cNvSpPr txBox="1"/>
          <p:nvPr/>
        </p:nvSpPr>
        <p:spPr>
          <a:xfrm>
            <a:off x="640080" y="2331720"/>
            <a:ext cx="5212080" cy="914400"/>
          </a:xfrm>
          <a:prstGeom prst="rect">
            <a:avLst/>
          </a:prstGeom>
          <a:noFill/>
          <a:ln/>
        </p:spPr>
        <p:txBody>
          <a:bodyPr wrap="square" lIns="0" tIns="0" rIns="0" bIns="0" rtlCol="0" anchor="ctr"/>
          <a:lstStyle/>
          <a:p>
            <a:pPr algn="l" indent="0" marL="0">
              <a:buNone/>
            </a:pPr>
            <a:r>
              <a:rPr lang="en-US" sz="1350" b="1" dirty="0">
                <a:solidFill>
                  <a:srgbClr val="1F2A37"/>
                </a:solidFill>
                <a:latin typeface="Calibri" pitchFamily="34" charset="0"/>
                <a:cs typeface="Amiri" pitchFamily="2" charset="-78"/>
              </a:rPr>
              <a:t>Write a page (about 45–65 words) for your family photo album. Include: • who is in your family • one man (relation, name, appearance, personality) • one woman (relation, name, appearance, personality) • one person you love a lot, and why.</a:t>
            </a:r>
            <a:endParaRPr lang="en-US" sz="1350" dirty="0"/>
          </a:p>
        </p:txBody>
      </p:sp>
      <p:sp>
        <p:nvSpPr>
          <p:cNvPr id="19" name="Text 16"/>
          <p:cNvSpPr txBox="1"/>
          <p:nvPr/>
        </p:nvSpPr>
        <p:spPr>
          <a:xfrm>
            <a:off x="685800" y="3310128"/>
            <a:ext cx="5212080" cy="530352"/>
          </a:xfrm>
          <a:prstGeom prst="rect">
            <a:avLst/>
          </a:prstGeom>
          <a:noFill/>
          <a:ln/>
        </p:spPr>
        <p:txBody>
          <a:bodyPr wrap="square" lIns="0" tIns="0" rIns="0" bIns="0" rtlCol="0" anchor="ctr"/>
          <a:lstStyle/>
          <a:p>
            <a:pPr algn="l" indent="0" marL="0">
              <a:buNone/>
            </a:pPr>
            <a:r>
              <a:rPr lang="en-US" sz="1200" dirty="0">
                <a:solidFill>
                  <a:srgbClr val="1F2A37"/>
                </a:solidFill>
                <a:latin typeface="Calibri" pitchFamily="34" charset="0"/>
                <a:cs typeface="Amiri" pitchFamily="2" charset="-78"/>
              </a:rPr>
              <a:t>☐  Every bullet point has at least one sentence.</a:t>
            </a:r>
            <a:endParaRPr lang="en-US" sz="1200" dirty="0"/>
          </a:p>
        </p:txBody>
      </p:sp>
      <p:sp>
        <p:nvSpPr>
          <p:cNvPr id="20" name="Text 17"/>
          <p:cNvSpPr txBox="1"/>
          <p:nvPr/>
        </p:nvSpPr>
        <p:spPr>
          <a:xfrm>
            <a:off x="685800" y="3840480"/>
            <a:ext cx="5212080" cy="530352"/>
          </a:xfrm>
          <a:prstGeom prst="rect">
            <a:avLst/>
          </a:prstGeom>
          <a:noFill/>
          <a:ln/>
        </p:spPr>
        <p:txBody>
          <a:bodyPr wrap="square" lIns="0" tIns="0" rIns="0" bIns="0" rtlCol="0" anchor="ctr"/>
          <a:lstStyle/>
          <a:p>
            <a:pPr algn="l" indent="0" marL="0">
              <a:buNone/>
            </a:pPr>
            <a:r>
              <a:rPr lang="en-US" sz="1200" dirty="0">
                <a:solidFill>
                  <a:srgbClr val="1F2A37"/>
                </a:solidFill>
                <a:latin typeface="Calibri" pitchFamily="34" charset="0"/>
                <a:cs typeface="Amiri" pitchFamily="2" charset="-78"/>
              </a:rPr>
              <a:t>☐  Language from F3-L01 AND F3-L02.</a:t>
            </a:r>
            <a:endParaRPr lang="en-US" sz="1200" dirty="0"/>
          </a:p>
        </p:txBody>
      </p:sp>
      <p:sp>
        <p:nvSpPr>
          <p:cNvPr id="21" name="Text 18"/>
          <p:cNvSpPr txBox="1"/>
          <p:nvPr/>
        </p:nvSpPr>
        <p:spPr>
          <a:xfrm>
            <a:off x="685800" y="4370832"/>
            <a:ext cx="5212080" cy="530352"/>
          </a:xfrm>
          <a:prstGeom prst="rect">
            <a:avLst/>
          </a:prstGeom>
          <a:noFill/>
          <a:ln/>
        </p:spPr>
        <p:txBody>
          <a:bodyPr wrap="square" lIns="0" tIns="0" rIns="0" bIns="0" rtlCol="0" anchor="ctr"/>
          <a:lstStyle/>
          <a:p>
            <a:pPr algn="l" indent="0" marL="0">
              <a:buNone/>
            </a:pPr>
            <a:r>
              <a:rPr lang="en-US" sz="1200" dirty="0">
                <a:solidFill>
                  <a:srgbClr val="1F2A37"/>
                </a:solidFill>
                <a:latin typeface="Calibri" pitchFamily="34" charset="0"/>
                <a:cs typeface="Amiri" pitchFamily="2" charset="-78"/>
              </a:rPr>
              <a:t>☐  Full sentences with the right ending (I · my · he · she).</a:t>
            </a:r>
            <a:endParaRPr lang="en-US" sz="1200" dirty="0"/>
          </a:p>
        </p:txBody>
      </p:sp>
      <p:sp>
        <p:nvSpPr>
          <p:cNvPr id="22" name="Text 19"/>
          <p:cNvSpPr txBox="1"/>
          <p:nvPr/>
        </p:nvSpPr>
        <p:spPr>
          <a:xfrm>
            <a:off x="685800" y="4901184"/>
            <a:ext cx="5212080" cy="530352"/>
          </a:xfrm>
          <a:prstGeom prst="rect">
            <a:avLst/>
          </a:prstGeom>
          <a:noFill/>
          <a:ln/>
        </p:spPr>
        <p:txBody>
          <a:bodyPr wrap="square" lIns="0" tIns="0" rIns="0" bIns="0" rtlCol="0" anchor="ctr"/>
          <a:lstStyle/>
          <a:p>
            <a:pPr algn="l" indent="0" marL="0">
              <a:buNone/>
            </a:pPr>
            <a:r>
              <a:rPr lang="en-US" sz="1200" dirty="0">
                <a:solidFill>
                  <a:srgbClr val="1F2A37"/>
                </a:solidFill>
                <a:latin typeface="Calibri" pitchFamily="34" charset="0"/>
                <a:cs typeface="Amiri" pitchFamily="2" charset="-78"/>
              </a:rPr>
              <a:t>☐  At least one </a:t>
            </a:r>
            <a:pPr algn="l" indent="0" marL="0">
              <a:buNone/>
            </a:pPr>
            <a:r>
              <a:rPr lang="ar-SA" altLang="en-US" sz="1550" dirty="0">
                <a:solidFill>
                  <a:srgbClr val="1F2A37"/>
                </a:solidFill>
                <a:latin typeface="Amiri" pitchFamily="2" charset="-78"/>
                <a:ea typeface="Amiri" pitchFamily="2" charset="-78"/>
                <a:cs typeface="Amiri" pitchFamily="2" charset="-78"/>
              </a:rPr>
              <a:t>وَ</a:t>
            </a:r>
            <a:pPr algn="l" indent="0" marL="0">
              <a:buNone/>
            </a:pPr>
            <a:r>
              <a:rPr lang="en-US" sz="1200" dirty="0">
                <a:solidFill>
                  <a:srgbClr val="1F2A37"/>
                </a:solidFill>
                <a:latin typeface="Calibri" pitchFamily="34" charset="0"/>
                <a:cs typeface="Amiri" pitchFamily="2" charset="-78"/>
              </a:rPr>
              <a:t> and one </a:t>
            </a:r>
            <a:pPr algn="l" indent="0" marL="0">
              <a:buNone/>
            </a:pPr>
            <a:r>
              <a:rPr lang="ar-SA" altLang="en-US" sz="1550" dirty="0">
                <a:solidFill>
                  <a:srgbClr val="1F2A37"/>
                </a:solidFill>
                <a:latin typeface="Amiri" pitchFamily="2" charset="-78"/>
                <a:ea typeface="Amiri" pitchFamily="2" charset="-78"/>
                <a:cs typeface="Amiri" pitchFamily="2" charset="-78"/>
              </a:rPr>
              <a:t>لِأَنَّ</a:t>
            </a:r>
            <a:pPr algn="l" indent="0" marL="0">
              <a:buNone/>
            </a:pPr>
            <a:r>
              <a:rPr lang="en-US" sz="1200" dirty="0">
                <a:solidFill>
                  <a:srgbClr val="1F2A37"/>
                </a:solidFill>
                <a:latin typeface="Calibri" pitchFamily="34" charset="0"/>
                <a:cs typeface="Amiri" pitchFamily="2" charset="-78"/>
              </a:rPr>
              <a:t> (Develop).</a:t>
            </a:r>
            <a:endParaRPr lang="en-US" sz="1200" dirty="0"/>
          </a:p>
        </p:txBody>
      </p:sp>
      <p:sp>
        <p:nvSpPr>
          <p:cNvPr id="23" name="Text 20"/>
          <p:cNvSpPr txBox="1"/>
          <p:nvPr/>
        </p:nvSpPr>
        <p:spPr>
          <a:xfrm>
            <a:off x="685800" y="5431536"/>
            <a:ext cx="5212080" cy="530352"/>
          </a:xfrm>
          <a:prstGeom prst="rect">
            <a:avLst/>
          </a:prstGeom>
          <a:noFill/>
          <a:ln/>
        </p:spPr>
        <p:txBody>
          <a:bodyPr wrap="square" lIns="0" tIns="0" rIns="0" bIns="0" rtlCol="0" anchor="ctr"/>
          <a:lstStyle/>
          <a:p>
            <a:pPr algn="l" indent="0" marL="0">
              <a:buNone/>
            </a:pPr>
            <a:r>
              <a:rPr lang="en-US" sz="1200" dirty="0">
                <a:solidFill>
                  <a:srgbClr val="1F2A37"/>
                </a:solidFill>
                <a:latin typeface="Calibri" pitchFamily="34" charset="0"/>
                <a:cs typeface="Amiri" pitchFamily="2" charset="-78"/>
              </a:rPr>
              <a:t>☐  Buddy check, then fix one thing.</a:t>
            </a:r>
            <a:endParaRPr lang="en-US" sz="1200" dirty="0"/>
          </a:p>
        </p:txBody>
      </p:sp>
      <p:sp>
        <p:nvSpPr>
          <p:cNvPr id="24" name="Shape 21"/>
          <p:cNvSpPr/>
          <p:nvPr/>
        </p:nvSpPr>
        <p:spPr>
          <a:xfrm>
            <a:off x="6217920" y="1810512"/>
            <a:ext cx="5513832" cy="4498848"/>
          </a:xfrm>
          <a:prstGeom prst="roundRect">
            <a:avLst>
              <a:gd name="adj" fmla="val 1626"/>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5" name="Text 22"/>
          <p:cNvSpPr txBox="1"/>
          <p:nvPr/>
        </p:nvSpPr>
        <p:spPr>
          <a:xfrm>
            <a:off x="6400800" y="1901952"/>
            <a:ext cx="5120640" cy="274320"/>
          </a:xfrm>
          <a:prstGeom prst="rect">
            <a:avLst/>
          </a:prstGeom>
          <a:noFill/>
          <a:ln/>
        </p:spPr>
        <p:txBody>
          <a:bodyPr wrap="square" lIns="0" tIns="0" rIns="0" bIns="0" rtlCol="0" anchor="ctr"/>
          <a:lstStyle/>
          <a:p>
            <a:pPr algn="l" indent="0" marL="0">
              <a:buNone/>
            </a:pPr>
            <a:r>
              <a:rPr lang="en-US" sz="950" b="1" spc="100" kern="0" dirty="0">
                <a:solidFill>
                  <a:srgbClr val="8A6D1E"/>
                </a:solidFill>
                <a:latin typeface="Calibri" pitchFamily="34" charset="0"/>
                <a:cs typeface="Amiri" pitchFamily="2" charset="-78"/>
              </a:rPr>
              <a:t>USEFUL LANGUAGE</a:t>
            </a:r>
            <a:endParaRPr lang="en-US" sz="950" dirty="0"/>
          </a:p>
        </p:txBody>
      </p:sp>
      <p:sp>
        <p:nvSpPr>
          <p:cNvPr id="26" name="Text 23"/>
          <p:cNvSpPr txBox="1"/>
          <p:nvPr/>
        </p:nvSpPr>
        <p:spPr>
          <a:xfrm>
            <a:off x="8412480" y="2231136"/>
            <a:ext cx="3154680" cy="408188"/>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2" charset="-78"/>
                <a:ea typeface="Amiri" pitchFamily="2" charset="-78"/>
                <a:cs typeface="Amiri" pitchFamily="2" charset="-78"/>
              </a:rPr>
              <a:t>فِي عَائِلَتِي … أَشْخَاصٍ</a:t>
            </a:r>
            <a:endParaRPr lang="ar-SA" sz="1800" dirty="0"/>
          </a:p>
        </p:txBody>
      </p:sp>
      <p:sp>
        <p:nvSpPr>
          <p:cNvPr id="27" name="Text 24"/>
          <p:cNvSpPr txBox="1"/>
          <p:nvPr/>
        </p:nvSpPr>
        <p:spPr>
          <a:xfrm>
            <a:off x="6400800" y="2560320"/>
            <a:ext cx="5166360" cy="276515"/>
          </a:xfrm>
          <a:prstGeom prst="rect">
            <a:avLst/>
          </a:prstGeom>
          <a:noFill/>
          <a:ln/>
        </p:spPr>
        <p:txBody>
          <a:bodyPr wrap="square" lIns="0" tIns="0" rIns="0" bIns="0" rtlCol="0" anchor="ctr"/>
          <a:lstStyle/>
          <a:p>
            <a:pPr algn="r" indent="0" marL="0">
              <a:buNone/>
            </a:pPr>
            <a:r>
              <a:rPr lang="en-US" sz="1050" i="1" dirty="0">
                <a:solidFill>
                  <a:srgbClr val="5A6472"/>
                </a:solidFill>
                <a:latin typeface="Calibri" pitchFamily="34" charset="0"/>
                <a:cs typeface="Amiri" pitchFamily="2" charset="-78"/>
              </a:rPr>
              <a:t>there are … people in my family</a:t>
            </a:r>
            <a:endParaRPr lang="en-US" sz="1050" dirty="0"/>
          </a:p>
        </p:txBody>
      </p:sp>
      <p:sp>
        <p:nvSpPr>
          <p:cNvPr id="28" name="Text 25"/>
          <p:cNvSpPr txBox="1"/>
          <p:nvPr/>
        </p:nvSpPr>
        <p:spPr>
          <a:xfrm>
            <a:off x="8412480" y="2889504"/>
            <a:ext cx="3154680" cy="408188"/>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2" charset="-78"/>
                <a:ea typeface="Amiri" pitchFamily="2" charset="-78"/>
                <a:cs typeface="Amiri" pitchFamily="2" charset="-78"/>
              </a:rPr>
              <a:t>هٰذَا … ، اسْمُهُ … ، هُوَ … وَ…</a:t>
            </a:r>
            <a:endParaRPr lang="ar-SA" sz="1800" dirty="0"/>
          </a:p>
        </p:txBody>
      </p:sp>
      <p:sp>
        <p:nvSpPr>
          <p:cNvPr id="29" name="Text 26"/>
          <p:cNvSpPr txBox="1"/>
          <p:nvPr/>
        </p:nvSpPr>
        <p:spPr>
          <a:xfrm>
            <a:off x="6400800" y="3218688"/>
            <a:ext cx="5166360" cy="276515"/>
          </a:xfrm>
          <a:prstGeom prst="rect">
            <a:avLst/>
          </a:prstGeom>
          <a:noFill/>
          <a:ln/>
        </p:spPr>
        <p:txBody>
          <a:bodyPr wrap="square" lIns="0" tIns="0" rIns="0" bIns="0" rtlCol="0" anchor="ctr"/>
          <a:lstStyle/>
          <a:p>
            <a:pPr algn="r" indent="0" marL="0">
              <a:buNone/>
            </a:pPr>
            <a:r>
              <a:rPr lang="en-US" sz="1050" i="1" dirty="0">
                <a:solidFill>
                  <a:srgbClr val="5A6472"/>
                </a:solidFill>
                <a:latin typeface="Calibri" pitchFamily="34" charset="0"/>
                <a:cs typeface="Amiri" pitchFamily="2" charset="-78"/>
              </a:rPr>
              <a:t>this is …; his name is …; he is … and …</a:t>
            </a:r>
            <a:endParaRPr lang="en-US" sz="1050" dirty="0"/>
          </a:p>
        </p:txBody>
      </p:sp>
      <p:sp>
        <p:nvSpPr>
          <p:cNvPr id="30" name="Text 27"/>
          <p:cNvSpPr txBox="1"/>
          <p:nvPr/>
        </p:nvSpPr>
        <p:spPr>
          <a:xfrm>
            <a:off x="8412480" y="3547872"/>
            <a:ext cx="3154680" cy="408188"/>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2" charset="-78"/>
                <a:ea typeface="Amiri" pitchFamily="2" charset="-78"/>
                <a:cs typeface="Amiri" pitchFamily="2" charset="-78"/>
              </a:rPr>
              <a:t>هٰذِهِ … ، اسْمُهَا … ، شَعْرُهَا …</a:t>
            </a:r>
            <a:endParaRPr lang="ar-SA" sz="1800" dirty="0"/>
          </a:p>
        </p:txBody>
      </p:sp>
      <p:sp>
        <p:nvSpPr>
          <p:cNvPr id="31" name="Text 28"/>
          <p:cNvSpPr txBox="1"/>
          <p:nvPr/>
        </p:nvSpPr>
        <p:spPr>
          <a:xfrm>
            <a:off x="6400800" y="3877056"/>
            <a:ext cx="5166360" cy="276515"/>
          </a:xfrm>
          <a:prstGeom prst="rect">
            <a:avLst/>
          </a:prstGeom>
          <a:noFill/>
          <a:ln/>
        </p:spPr>
        <p:txBody>
          <a:bodyPr wrap="square" lIns="0" tIns="0" rIns="0" bIns="0" rtlCol="0" anchor="ctr"/>
          <a:lstStyle/>
          <a:p>
            <a:pPr algn="r" indent="0" marL="0">
              <a:buNone/>
            </a:pPr>
            <a:r>
              <a:rPr lang="en-US" sz="1050" i="1" dirty="0">
                <a:solidFill>
                  <a:srgbClr val="5A6472"/>
                </a:solidFill>
                <a:latin typeface="Calibri" pitchFamily="34" charset="0"/>
                <a:cs typeface="Amiri" pitchFamily="2" charset="-78"/>
              </a:rPr>
              <a:t>this is …; her name is …; her hair is …</a:t>
            </a:r>
            <a:endParaRPr lang="en-US" sz="1050" dirty="0"/>
          </a:p>
        </p:txBody>
      </p:sp>
      <p:sp>
        <p:nvSpPr>
          <p:cNvPr id="32" name="Text 29"/>
          <p:cNvSpPr txBox="1"/>
          <p:nvPr/>
        </p:nvSpPr>
        <p:spPr>
          <a:xfrm>
            <a:off x="8412480" y="4206240"/>
            <a:ext cx="3154680" cy="408188"/>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2" charset="-78"/>
                <a:ea typeface="Amiri" pitchFamily="2" charset="-78"/>
                <a:cs typeface="Amiri" pitchFamily="2" charset="-78"/>
              </a:rPr>
              <a:t>أُحِبُّهُ / أُحِبُّهَا لِأَنَّهُ / لِأَنَّهَا …</a:t>
            </a:r>
            <a:endParaRPr lang="ar-SA" sz="1800" dirty="0"/>
          </a:p>
        </p:txBody>
      </p:sp>
      <p:sp>
        <p:nvSpPr>
          <p:cNvPr id="33" name="Text 30"/>
          <p:cNvSpPr txBox="1"/>
          <p:nvPr/>
        </p:nvSpPr>
        <p:spPr>
          <a:xfrm>
            <a:off x="6400800" y="4535424"/>
            <a:ext cx="5166360" cy="276515"/>
          </a:xfrm>
          <a:prstGeom prst="rect">
            <a:avLst/>
          </a:prstGeom>
          <a:noFill/>
          <a:ln/>
        </p:spPr>
        <p:txBody>
          <a:bodyPr wrap="square" lIns="0" tIns="0" rIns="0" bIns="0" rtlCol="0" anchor="ctr"/>
          <a:lstStyle/>
          <a:p>
            <a:pPr algn="r" indent="0" marL="0">
              <a:buNone/>
            </a:pPr>
            <a:r>
              <a:rPr lang="en-US" sz="1050" i="1" dirty="0">
                <a:solidFill>
                  <a:srgbClr val="5A6472"/>
                </a:solidFill>
                <a:latin typeface="Calibri" pitchFamily="34" charset="0"/>
                <a:cs typeface="Amiri" pitchFamily="2" charset="-78"/>
              </a:rPr>
              <a:t>I love him / her because he / she …</a:t>
            </a:r>
            <a:endParaRPr lang="en-US" sz="1050" dirty="0"/>
          </a:p>
        </p:txBody>
      </p:sp>
      <p:sp>
        <p:nvSpPr>
          <p:cNvPr id="34" name="Text 31"/>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19 / 24</a:t>
            </a:r>
            <a:endParaRPr lang="en-US" sz="850" dirty="0"/>
          </a:p>
        </p:txBody>
      </p:sp>
    </p:spTree>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name="Slide 20">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F3-W01 · Apply workshop</a:t>
            </a:r>
            <a:endParaRPr lang="en-US" sz="950" dirty="0"/>
          </a:p>
        </p:txBody>
      </p:sp>
      <p:sp>
        <p:nvSpPr>
          <p:cNvPr id="8" name="Shape 6"/>
          <p:cNvSpPr/>
          <p:nvPr/>
        </p:nvSpPr>
        <p:spPr>
          <a:xfrm>
            <a:off x="7295083" y="274320"/>
            <a:ext cx="1464869" cy="329184"/>
          </a:xfrm>
          <a:prstGeom prst="roundRect">
            <a:avLst>
              <a:gd name="adj" fmla="val 50000"/>
            </a:avLst>
          </a:prstGeom>
          <a:solidFill>
            <a:srgbClr val="1E6B52"/>
          </a:solidFill>
          <a:ln w="12700">
            <a:solidFill>
              <a:srgbClr val="1E6B52"/>
            </a:solidFill>
            <a:prstDash val="solid"/>
          </a:ln>
        </p:spPr>
      </p:sp>
      <p:sp>
        <p:nvSpPr>
          <p:cNvPr id="9" name="Text 7"/>
          <p:cNvSpPr txBox="1"/>
          <p:nvPr/>
        </p:nvSpPr>
        <p:spPr>
          <a:xfrm>
            <a:off x="7295083" y="274320"/>
            <a:ext cx="1464869"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YOU DO · 3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1E6B52"/>
                </a:solidFill>
                <a:latin typeface="Calibri" pitchFamily="34" charset="0"/>
                <a:cs typeface="Amiri" pitchFamily="2" charset="-78"/>
              </a:rPr>
              <a:t>STEP 9 · BUDDY CHECK · SWAP AND READ YOUR BUDDY’S TEXT</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Buddy check: five points</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رَاجِعْ مَعَ زَمِيلِكَ</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Foundation F3 · My Family &amp; Home · F3-W01 · Apply workshop (F3-L01 + F3-L02)</a:t>
            </a:r>
            <a:endParaRPr lang="en-US" sz="850" dirty="0"/>
          </a:p>
        </p:txBody>
      </p:sp>
      <p:sp>
        <p:nvSpPr>
          <p:cNvPr id="15" name="Shape 12"/>
          <p:cNvSpPr/>
          <p:nvPr/>
        </p:nvSpPr>
        <p:spPr>
          <a:xfrm>
            <a:off x="457200" y="1810512"/>
            <a:ext cx="11274552" cy="384048"/>
          </a:xfrm>
          <a:prstGeom prst="rect">
            <a:avLst/>
          </a:prstGeom>
          <a:solidFill>
            <a:srgbClr val="1B3B6F"/>
          </a:solidFill>
          <a:ln w="12700">
            <a:solidFill>
              <a:srgbClr val="1B3B6F"/>
            </a:solidFill>
            <a:prstDash val="solid"/>
          </a:ln>
        </p:spPr>
      </p:sp>
      <p:sp>
        <p:nvSpPr>
          <p:cNvPr id="16" name="Text 13"/>
          <p:cNvSpPr txBox="1"/>
          <p:nvPr/>
        </p:nvSpPr>
        <p:spPr>
          <a:xfrm>
            <a:off x="8759952" y="1810512"/>
            <a:ext cx="2898648" cy="384048"/>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Line / example</a:t>
            </a:r>
            <a:endParaRPr lang="en-US" sz="1100" dirty="0"/>
          </a:p>
        </p:txBody>
      </p:sp>
      <p:sp>
        <p:nvSpPr>
          <p:cNvPr id="17" name="Text 14"/>
          <p:cNvSpPr txBox="1"/>
          <p:nvPr/>
        </p:nvSpPr>
        <p:spPr>
          <a:xfrm>
            <a:off x="7845552" y="1810512"/>
            <a:ext cx="768096" cy="384048"/>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 / ✗</a:t>
            </a:r>
            <a:endParaRPr lang="en-US" sz="1100" dirty="0"/>
          </a:p>
        </p:txBody>
      </p:sp>
      <p:sp>
        <p:nvSpPr>
          <p:cNvPr id="18" name="Text 15"/>
          <p:cNvSpPr txBox="1"/>
          <p:nvPr/>
        </p:nvSpPr>
        <p:spPr>
          <a:xfrm>
            <a:off x="6565392" y="1810512"/>
            <a:ext cx="1133856" cy="384048"/>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Route</a:t>
            </a:r>
            <a:endParaRPr lang="en-US" sz="1100" dirty="0"/>
          </a:p>
        </p:txBody>
      </p:sp>
      <p:sp>
        <p:nvSpPr>
          <p:cNvPr id="19" name="Text 16"/>
          <p:cNvSpPr txBox="1"/>
          <p:nvPr/>
        </p:nvSpPr>
        <p:spPr>
          <a:xfrm>
            <a:off x="530352" y="1810512"/>
            <a:ext cx="5888736" cy="384048"/>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Did the writer …</a:t>
            </a:r>
            <a:endParaRPr lang="en-US" sz="1100" dirty="0"/>
          </a:p>
        </p:txBody>
      </p:sp>
      <p:sp>
        <p:nvSpPr>
          <p:cNvPr id="20" name="Shape 17"/>
          <p:cNvSpPr/>
          <p:nvPr/>
        </p:nvSpPr>
        <p:spPr>
          <a:xfrm>
            <a:off x="457200" y="2267712"/>
            <a:ext cx="11274552" cy="682142"/>
          </a:xfrm>
          <a:prstGeom prst="roundRect">
            <a:avLst>
              <a:gd name="adj" fmla="val 6702"/>
            </a:avLst>
          </a:prstGeom>
          <a:solidFill>
            <a:srgbClr val="FFFFFF"/>
          </a:solidFill>
          <a:ln w="9525">
            <a:solidFill>
              <a:srgbClr val="D8D0BF"/>
            </a:solidFill>
            <a:prstDash val="solid"/>
          </a:ln>
        </p:spPr>
      </p:sp>
      <p:sp>
        <p:nvSpPr>
          <p:cNvPr id="21" name="Text 18"/>
          <p:cNvSpPr txBox="1"/>
          <p:nvPr/>
        </p:nvSpPr>
        <p:spPr>
          <a:xfrm>
            <a:off x="8796528" y="2267712"/>
            <a:ext cx="2862072" cy="682142"/>
          </a:xfrm>
          <a:prstGeom prst="rect">
            <a:avLst/>
          </a:prstGeom>
          <a:noFill/>
          <a:ln/>
        </p:spPr>
        <p:txBody>
          <a:bodyPr wrap="square" lIns="0" tIns="0" rIns="0" bIns="0" rtlCol="0" anchor="ctr"/>
          <a:lstStyle/>
          <a:p>
            <a:pPr algn="l" indent="0" marL="0">
              <a:buNone/>
            </a:pPr>
            <a:endParaRPr lang="en-US" sz="1100" dirty="0"/>
          </a:p>
        </p:txBody>
      </p:sp>
      <p:sp>
        <p:nvSpPr>
          <p:cNvPr id="22" name="Text 19"/>
          <p:cNvSpPr txBox="1"/>
          <p:nvPr/>
        </p:nvSpPr>
        <p:spPr>
          <a:xfrm>
            <a:off x="7882128" y="2267712"/>
            <a:ext cx="731520" cy="682142"/>
          </a:xfrm>
          <a:prstGeom prst="rect">
            <a:avLst/>
          </a:prstGeom>
          <a:noFill/>
          <a:ln/>
        </p:spPr>
        <p:txBody>
          <a:bodyPr wrap="square" lIns="0" tIns="0" rIns="0" bIns="0" rtlCol="0" anchor="ctr"/>
          <a:lstStyle/>
          <a:p>
            <a:pPr algn="l" indent="0" marL="0">
              <a:buNone/>
            </a:pPr>
            <a:endParaRPr lang="en-US" sz="1100" dirty="0"/>
          </a:p>
        </p:txBody>
      </p:sp>
      <p:sp>
        <p:nvSpPr>
          <p:cNvPr id="23" name="Text 20"/>
          <p:cNvSpPr txBox="1"/>
          <p:nvPr/>
        </p:nvSpPr>
        <p:spPr>
          <a:xfrm>
            <a:off x="6601968" y="2267712"/>
            <a:ext cx="1097280" cy="682142"/>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Core</a:t>
            </a:r>
            <a:endParaRPr lang="en-US" sz="1100" dirty="0"/>
          </a:p>
        </p:txBody>
      </p:sp>
      <p:sp>
        <p:nvSpPr>
          <p:cNvPr id="24" name="Text 21"/>
          <p:cNvSpPr txBox="1"/>
          <p:nvPr/>
        </p:nvSpPr>
        <p:spPr>
          <a:xfrm>
            <a:off x="566928" y="2267712"/>
            <a:ext cx="5852160" cy="682142"/>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answer EVERY bullet point?</a:t>
            </a:r>
            <a:endParaRPr lang="en-US" sz="1100" dirty="0"/>
          </a:p>
        </p:txBody>
      </p:sp>
      <p:sp>
        <p:nvSpPr>
          <p:cNvPr id="25" name="Shape 22"/>
          <p:cNvSpPr/>
          <p:nvPr/>
        </p:nvSpPr>
        <p:spPr>
          <a:xfrm>
            <a:off x="11091672" y="2313432"/>
            <a:ext cx="548640" cy="182880"/>
          </a:xfrm>
          <a:prstGeom prst="roundRect">
            <a:avLst>
              <a:gd name="adj" fmla="val 50000"/>
            </a:avLst>
          </a:prstGeom>
          <a:solidFill>
            <a:srgbClr val="2E8B57"/>
          </a:solidFill>
          <a:ln w="12700">
            <a:solidFill>
              <a:srgbClr val="2E8B57"/>
            </a:solidFill>
            <a:prstDash val="solid"/>
          </a:ln>
        </p:spPr>
      </p:sp>
      <p:sp>
        <p:nvSpPr>
          <p:cNvPr id="26" name="Text 23"/>
          <p:cNvSpPr txBox="1"/>
          <p:nvPr/>
        </p:nvSpPr>
        <p:spPr>
          <a:xfrm>
            <a:off x="11091672" y="2313432"/>
            <a:ext cx="548640" cy="182880"/>
          </a:xfrm>
          <a:prstGeom prst="rect">
            <a:avLst/>
          </a:prstGeom>
          <a:noFill/>
          <a:ln/>
        </p:spPr>
        <p:txBody>
          <a:bodyPr wrap="square" lIns="0" tIns="0" rIns="0" bIns="0" rtlCol="0" anchor="ctr"/>
          <a:lstStyle/>
          <a:p>
            <a:pPr algn="ctr" indent="0" marL="0">
              <a:buNone/>
            </a:pPr>
            <a:r>
              <a:rPr lang="en-US" sz="650" b="1" spc="100" kern="0" dirty="0">
                <a:solidFill>
                  <a:srgbClr val="FFFFFF"/>
                </a:solidFill>
                <a:latin typeface="Calibri" pitchFamily="34" charset="0"/>
                <a:cs typeface="Amiri" pitchFamily="2" charset="-78"/>
              </a:rPr>
              <a:t>CORE</a:t>
            </a:r>
            <a:endParaRPr lang="en-US" sz="650" dirty="0"/>
          </a:p>
        </p:txBody>
      </p:sp>
      <p:sp>
        <p:nvSpPr>
          <p:cNvPr id="27" name="Shape 24"/>
          <p:cNvSpPr/>
          <p:nvPr/>
        </p:nvSpPr>
        <p:spPr>
          <a:xfrm>
            <a:off x="457200" y="3004718"/>
            <a:ext cx="11274552" cy="682142"/>
          </a:xfrm>
          <a:prstGeom prst="roundRect">
            <a:avLst>
              <a:gd name="adj" fmla="val 6702"/>
            </a:avLst>
          </a:prstGeom>
          <a:solidFill>
            <a:srgbClr val="F4F1EA"/>
          </a:solidFill>
          <a:ln w="9525">
            <a:solidFill>
              <a:srgbClr val="D8D0BF"/>
            </a:solidFill>
            <a:prstDash val="solid"/>
          </a:ln>
        </p:spPr>
      </p:sp>
      <p:sp>
        <p:nvSpPr>
          <p:cNvPr id="28" name="Text 25"/>
          <p:cNvSpPr txBox="1"/>
          <p:nvPr/>
        </p:nvSpPr>
        <p:spPr>
          <a:xfrm>
            <a:off x="8796528" y="3004718"/>
            <a:ext cx="2862072" cy="682142"/>
          </a:xfrm>
          <a:prstGeom prst="rect">
            <a:avLst/>
          </a:prstGeom>
          <a:noFill/>
          <a:ln/>
        </p:spPr>
        <p:txBody>
          <a:bodyPr wrap="square" lIns="0" tIns="0" rIns="0" bIns="0" rtlCol="0" anchor="ctr"/>
          <a:lstStyle/>
          <a:p>
            <a:pPr algn="l" indent="0" marL="0">
              <a:buNone/>
            </a:pPr>
            <a:endParaRPr lang="en-US" sz="1100" dirty="0"/>
          </a:p>
        </p:txBody>
      </p:sp>
      <p:sp>
        <p:nvSpPr>
          <p:cNvPr id="29" name="Text 26"/>
          <p:cNvSpPr txBox="1"/>
          <p:nvPr/>
        </p:nvSpPr>
        <p:spPr>
          <a:xfrm>
            <a:off x="7882128" y="3004718"/>
            <a:ext cx="731520" cy="682142"/>
          </a:xfrm>
          <a:prstGeom prst="rect">
            <a:avLst/>
          </a:prstGeom>
          <a:noFill/>
          <a:ln/>
        </p:spPr>
        <p:txBody>
          <a:bodyPr wrap="square" lIns="0" tIns="0" rIns="0" bIns="0" rtlCol="0" anchor="ctr"/>
          <a:lstStyle/>
          <a:p>
            <a:pPr algn="l" indent="0" marL="0">
              <a:buNone/>
            </a:pPr>
            <a:endParaRPr lang="en-US" sz="1100" dirty="0"/>
          </a:p>
        </p:txBody>
      </p:sp>
      <p:sp>
        <p:nvSpPr>
          <p:cNvPr id="30" name="Text 27"/>
          <p:cNvSpPr txBox="1"/>
          <p:nvPr/>
        </p:nvSpPr>
        <p:spPr>
          <a:xfrm>
            <a:off x="6601968" y="3004718"/>
            <a:ext cx="1097280" cy="682142"/>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Core</a:t>
            </a:r>
            <a:endParaRPr lang="en-US" sz="1100" dirty="0"/>
          </a:p>
        </p:txBody>
      </p:sp>
      <p:sp>
        <p:nvSpPr>
          <p:cNvPr id="31" name="Text 28"/>
          <p:cNvSpPr txBox="1"/>
          <p:nvPr/>
        </p:nvSpPr>
        <p:spPr>
          <a:xfrm>
            <a:off x="566928" y="3004718"/>
            <a:ext cx="5852160" cy="682142"/>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use </a:t>
            </a:r>
            <a:pPr algn="l" indent="0" marL="0">
              <a:buNone/>
            </a:pPr>
            <a:r>
              <a:rPr lang="ar-SA" altLang="en-US" sz="1450" dirty="0">
                <a:solidFill>
                  <a:srgbClr val="5A6472"/>
                </a:solidFill>
                <a:latin typeface="Amiri" pitchFamily="2" charset="-78"/>
                <a:ea typeface="Amiri" pitchFamily="2" charset="-78"/>
                <a:cs typeface="Amiri" pitchFamily="2" charset="-78"/>
              </a:rPr>
              <a:t>هٰذَا</a:t>
            </a:r>
            <a:pPr algn="l" indent="0" marL="0">
              <a:buNone/>
            </a:pPr>
            <a:r>
              <a:rPr lang="en-US" sz="1100" dirty="0">
                <a:solidFill>
                  <a:srgbClr val="5A6472"/>
                </a:solidFill>
                <a:latin typeface="Calibri" pitchFamily="34" charset="0"/>
                <a:cs typeface="Amiri" pitchFamily="2" charset="-78"/>
              </a:rPr>
              <a:t> for a man and </a:t>
            </a:r>
            <a:pPr algn="l" indent="0" marL="0">
              <a:buNone/>
            </a:pPr>
            <a:r>
              <a:rPr lang="ar-SA" altLang="en-US" sz="1450" dirty="0">
                <a:solidFill>
                  <a:srgbClr val="5A6472"/>
                </a:solidFill>
                <a:latin typeface="Amiri" pitchFamily="2" charset="-78"/>
                <a:ea typeface="Amiri" pitchFamily="2" charset="-78"/>
                <a:cs typeface="Amiri" pitchFamily="2" charset="-78"/>
              </a:rPr>
              <a:t>هٰذِهِ</a:t>
            </a:r>
            <a:pPr algn="l" indent="0" marL="0">
              <a:buNone/>
            </a:pPr>
            <a:r>
              <a:rPr lang="en-US" sz="1100" dirty="0">
                <a:solidFill>
                  <a:srgbClr val="5A6472"/>
                </a:solidFill>
                <a:latin typeface="Calibri" pitchFamily="34" charset="0"/>
                <a:cs typeface="Amiri" pitchFamily="2" charset="-78"/>
              </a:rPr>
              <a:t> for a woman?</a:t>
            </a:r>
            <a:endParaRPr lang="en-US" sz="1100" dirty="0"/>
          </a:p>
        </p:txBody>
      </p:sp>
      <p:sp>
        <p:nvSpPr>
          <p:cNvPr id="32" name="Shape 29"/>
          <p:cNvSpPr/>
          <p:nvPr/>
        </p:nvSpPr>
        <p:spPr>
          <a:xfrm>
            <a:off x="11091672" y="3050438"/>
            <a:ext cx="548640" cy="182880"/>
          </a:xfrm>
          <a:prstGeom prst="roundRect">
            <a:avLst>
              <a:gd name="adj" fmla="val 50000"/>
            </a:avLst>
          </a:prstGeom>
          <a:solidFill>
            <a:srgbClr val="2E8B57"/>
          </a:solidFill>
          <a:ln w="12700">
            <a:solidFill>
              <a:srgbClr val="2E8B57"/>
            </a:solidFill>
            <a:prstDash val="solid"/>
          </a:ln>
        </p:spPr>
      </p:sp>
      <p:sp>
        <p:nvSpPr>
          <p:cNvPr id="33" name="Text 30"/>
          <p:cNvSpPr txBox="1"/>
          <p:nvPr/>
        </p:nvSpPr>
        <p:spPr>
          <a:xfrm>
            <a:off x="11091672" y="3050438"/>
            <a:ext cx="548640" cy="182880"/>
          </a:xfrm>
          <a:prstGeom prst="rect">
            <a:avLst/>
          </a:prstGeom>
          <a:noFill/>
          <a:ln/>
        </p:spPr>
        <p:txBody>
          <a:bodyPr wrap="square" lIns="0" tIns="0" rIns="0" bIns="0" rtlCol="0" anchor="ctr"/>
          <a:lstStyle/>
          <a:p>
            <a:pPr algn="ctr" indent="0" marL="0">
              <a:buNone/>
            </a:pPr>
            <a:r>
              <a:rPr lang="en-US" sz="650" b="1" spc="100" kern="0" dirty="0">
                <a:solidFill>
                  <a:srgbClr val="FFFFFF"/>
                </a:solidFill>
                <a:latin typeface="Calibri" pitchFamily="34" charset="0"/>
                <a:cs typeface="Amiri" pitchFamily="2" charset="-78"/>
              </a:rPr>
              <a:t>CORE</a:t>
            </a:r>
            <a:endParaRPr lang="en-US" sz="650" dirty="0"/>
          </a:p>
        </p:txBody>
      </p:sp>
      <p:sp>
        <p:nvSpPr>
          <p:cNvPr id="34" name="Shape 31"/>
          <p:cNvSpPr/>
          <p:nvPr/>
        </p:nvSpPr>
        <p:spPr>
          <a:xfrm>
            <a:off x="457200" y="3741725"/>
            <a:ext cx="11274552" cy="682142"/>
          </a:xfrm>
          <a:prstGeom prst="roundRect">
            <a:avLst>
              <a:gd name="adj" fmla="val 6702"/>
            </a:avLst>
          </a:prstGeom>
          <a:solidFill>
            <a:srgbClr val="FFFFFF"/>
          </a:solidFill>
          <a:ln w="9525">
            <a:solidFill>
              <a:srgbClr val="D8D0BF"/>
            </a:solidFill>
            <a:prstDash val="solid"/>
          </a:ln>
        </p:spPr>
      </p:sp>
      <p:sp>
        <p:nvSpPr>
          <p:cNvPr id="35" name="Text 32"/>
          <p:cNvSpPr txBox="1"/>
          <p:nvPr/>
        </p:nvSpPr>
        <p:spPr>
          <a:xfrm>
            <a:off x="8796528" y="3741725"/>
            <a:ext cx="2862072" cy="682142"/>
          </a:xfrm>
          <a:prstGeom prst="rect">
            <a:avLst/>
          </a:prstGeom>
          <a:noFill/>
          <a:ln/>
        </p:spPr>
        <p:txBody>
          <a:bodyPr wrap="square" lIns="0" tIns="0" rIns="0" bIns="0" rtlCol="0" anchor="ctr"/>
          <a:lstStyle/>
          <a:p>
            <a:pPr algn="l" indent="0" marL="0">
              <a:buNone/>
            </a:pPr>
            <a:endParaRPr lang="en-US" sz="1100" dirty="0"/>
          </a:p>
        </p:txBody>
      </p:sp>
      <p:sp>
        <p:nvSpPr>
          <p:cNvPr id="36" name="Text 33"/>
          <p:cNvSpPr txBox="1"/>
          <p:nvPr/>
        </p:nvSpPr>
        <p:spPr>
          <a:xfrm>
            <a:off x="7882128" y="3741725"/>
            <a:ext cx="731520" cy="682142"/>
          </a:xfrm>
          <a:prstGeom prst="rect">
            <a:avLst/>
          </a:prstGeom>
          <a:noFill/>
          <a:ln/>
        </p:spPr>
        <p:txBody>
          <a:bodyPr wrap="square" lIns="0" tIns="0" rIns="0" bIns="0" rtlCol="0" anchor="ctr"/>
          <a:lstStyle/>
          <a:p>
            <a:pPr algn="l" indent="0" marL="0">
              <a:buNone/>
            </a:pPr>
            <a:endParaRPr lang="en-US" sz="1100" dirty="0"/>
          </a:p>
        </p:txBody>
      </p:sp>
      <p:sp>
        <p:nvSpPr>
          <p:cNvPr id="37" name="Text 34"/>
          <p:cNvSpPr txBox="1"/>
          <p:nvPr/>
        </p:nvSpPr>
        <p:spPr>
          <a:xfrm>
            <a:off x="6601968" y="3741725"/>
            <a:ext cx="1097280" cy="682142"/>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Develop</a:t>
            </a:r>
            <a:endParaRPr lang="en-US" sz="1100" dirty="0"/>
          </a:p>
        </p:txBody>
      </p:sp>
      <p:sp>
        <p:nvSpPr>
          <p:cNvPr id="38" name="Text 35"/>
          <p:cNvSpPr txBox="1"/>
          <p:nvPr/>
        </p:nvSpPr>
        <p:spPr>
          <a:xfrm>
            <a:off x="566928" y="3741725"/>
            <a:ext cx="5852160" cy="682142"/>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use </a:t>
            </a:r>
            <a:pPr algn="l" indent="0" marL="0">
              <a:buNone/>
            </a:pPr>
            <a:r>
              <a:rPr lang="ar-SA" altLang="en-US" sz="1450" dirty="0">
                <a:solidFill>
                  <a:srgbClr val="5A6472"/>
                </a:solidFill>
                <a:latin typeface="Amiri" pitchFamily="2" charset="-78"/>
                <a:ea typeface="Amiri" pitchFamily="2" charset="-78"/>
                <a:cs typeface="Amiri" pitchFamily="2" charset="-78"/>
              </a:rPr>
              <a:t>شَعْرُهُ / شَعْرُهَا</a:t>
            </a:r>
            <a:pPr algn="l" indent="0" marL="0">
              <a:buNone/>
            </a:pPr>
            <a:r>
              <a:rPr lang="en-US" sz="1100" dirty="0">
                <a:solidFill>
                  <a:srgbClr val="5A6472"/>
                </a:solidFill>
                <a:latin typeface="Calibri" pitchFamily="34" charset="0"/>
                <a:cs typeface="Amiri" pitchFamily="2" charset="-78"/>
              </a:rPr>
              <a:t> with a masculine colour?</a:t>
            </a:r>
            <a:endParaRPr lang="en-US" sz="1100" dirty="0"/>
          </a:p>
        </p:txBody>
      </p:sp>
      <p:sp>
        <p:nvSpPr>
          <p:cNvPr id="39" name="Shape 36"/>
          <p:cNvSpPr/>
          <p:nvPr/>
        </p:nvSpPr>
        <p:spPr>
          <a:xfrm>
            <a:off x="457200" y="4478731"/>
            <a:ext cx="11274552" cy="682142"/>
          </a:xfrm>
          <a:prstGeom prst="roundRect">
            <a:avLst>
              <a:gd name="adj" fmla="val 6702"/>
            </a:avLst>
          </a:prstGeom>
          <a:solidFill>
            <a:srgbClr val="F4F1EA"/>
          </a:solidFill>
          <a:ln w="9525">
            <a:solidFill>
              <a:srgbClr val="D8D0BF"/>
            </a:solidFill>
            <a:prstDash val="solid"/>
          </a:ln>
        </p:spPr>
      </p:sp>
      <p:sp>
        <p:nvSpPr>
          <p:cNvPr id="40" name="Text 37"/>
          <p:cNvSpPr txBox="1"/>
          <p:nvPr/>
        </p:nvSpPr>
        <p:spPr>
          <a:xfrm>
            <a:off x="8796528" y="4478731"/>
            <a:ext cx="2862072" cy="682142"/>
          </a:xfrm>
          <a:prstGeom prst="rect">
            <a:avLst/>
          </a:prstGeom>
          <a:noFill/>
          <a:ln/>
        </p:spPr>
        <p:txBody>
          <a:bodyPr wrap="square" lIns="0" tIns="0" rIns="0" bIns="0" rtlCol="0" anchor="ctr"/>
          <a:lstStyle/>
          <a:p>
            <a:pPr algn="l" indent="0" marL="0">
              <a:buNone/>
            </a:pPr>
            <a:endParaRPr lang="en-US" sz="1100" dirty="0"/>
          </a:p>
        </p:txBody>
      </p:sp>
      <p:sp>
        <p:nvSpPr>
          <p:cNvPr id="41" name="Text 38"/>
          <p:cNvSpPr txBox="1"/>
          <p:nvPr/>
        </p:nvSpPr>
        <p:spPr>
          <a:xfrm>
            <a:off x="7882128" y="4478731"/>
            <a:ext cx="731520" cy="682142"/>
          </a:xfrm>
          <a:prstGeom prst="rect">
            <a:avLst/>
          </a:prstGeom>
          <a:noFill/>
          <a:ln/>
        </p:spPr>
        <p:txBody>
          <a:bodyPr wrap="square" lIns="0" tIns="0" rIns="0" bIns="0" rtlCol="0" anchor="ctr"/>
          <a:lstStyle/>
          <a:p>
            <a:pPr algn="l" indent="0" marL="0">
              <a:buNone/>
            </a:pPr>
            <a:endParaRPr lang="en-US" sz="1100" dirty="0"/>
          </a:p>
        </p:txBody>
      </p:sp>
      <p:sp>
        <p:nvSpPr>
          <p:cNvPr id="42" name="Text 39"/>
          <p:cNvSpPr txBox="1"/>
          <p:nvPr/>
        </p:nvSpPr>
        <p:spPr>
          <a:xfrm>
            <a:off x="6601968" y="4478731"/>
            <a:ext cx="1097280" cy="682142"/>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Develop</a:t>
            </a:r>
            <a:endParaRPr lang="en-US" sz="1100" dirty="0"/>
          </a:p>
        </p:txBody>
      </p:sp>
      <p:sp>
        <p:nvSpPr>
          <p:cNvPr id="43" name="Text 40"/>
          <p:cNvSpPr txBox="1"/>
          <p:nvPr/>
        </p:nvSpPr>
        <p:spPr>
          <a:xfrm>
            <a:off x="566928" y="4478731"/>
            <a:ext cx="5852160" cy="682142"/>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use linking words (</a:t>
            </a:r>
            <a:pPr algn="l" indent="0" marL="0">
              <a:buNone/>
            </a:pPr>
            <a:r>
              <a:rPr lang="ar-SA" altLang="en-US" sz="1450" dirty="0">
                <a:solidFill>
                  <a:srgbClr val="5A6472"/>
                </a:solidFill>
                <a:latin typeface="Amiri" pitchFamily="2" charset="-78"/>
                <a:ea typeface="Amiri" pitchFamily="2" charset="-78"/>
                <a:cs typeface="Amiri" pitchFamily="2" charset="-78"/>
              </a:rPr>
              <a:t>وَ</a:t>
            </a:r>
            <a:pPr algn="l" indent="0" marL="0">
              <a:buNone/>
            </a:pPr>
            <a:r>
              <a:rPr lang="en-US" sz="1100" dirty="0">
                <a:solidFill>
                  <a:srgbClr val="5A6472"/>
                </a:solidFill>
                <a:latin typeface="Calibri" pitchFamily="34" charset="0"/>
                <a:cs typeface="Amiri" pitchFamily="2" charset="-78"/>
              </a:rPr>
              <a:t> · </a:t>
            </a:r>
            <a:pPr algn="l" indent="0" marL="0">
              <a:buNone/>
            </a:pPr>
            <a:r>
              <a:rPr lang="ar-SA" altLang="en-US" sz="1450" dirty="0">
                <a:solidFill>
                  <a:srgbClr val="5A6472"/>
                </a:solidFill>
                <a:latin typeface="Amiri" pitchFamily="2" charset="-78"/>
                <a:ea typeface="Amiri" pitchFamily="2" charset="-78"/>
                <a:cs typeface="Amiri" pitchFamily="2" charset="-78"/>
              </a:rPr>
              <a:t>ثُمَّ</a:t>
            </a:r>
            <a:pPr algn="l" indent="0" marL="0">
              <a:buNone/>
            </a:pPr>
            <a:r>
              <a:rPr lang="en-US" sz="1100" dirty="0">
                <a:solidFill>
                  <a:srgbClr val="5A6472"/>
                </a:solidFill>
                <a:latin typeface="Calibri" pitchFamily="34" charset="0"/>
                <a:cs typeface="Amiri" pitchFamily="2" charset="-78"/>
              </a:rPr>
              <a:t> · </a:t>
            </a:r>
            <a:pPr algn="l" indent="0" marL="0">
              <a:buNone/>
            </a:pPr>
            <a:r>
              <a:rPr lang="ar-SA" altLang="en-US" sz="1450" dirty="0">
                <a:solidFill>
                  <a:srgbClr val="5A6472"/>
                </a:solidFill>
                <a:latin typeface="Amiri" pitchFamily="2" charset="-78"/>
                <a:ea typeface="Amiri" pitchFamily="2" charset="-78"/>
                <a:cs typeface="Amiri" pitchFamily="2" charset="-78"/>
              </a:rPr>
              <a:t>لِأَنَّ</a:t>
            </a:r>
            <a:pPr algn="l" indent="0" marL="0">
              <a:buNone/>
            </a:pPr>
            <a:r>
              <a:rPr lang="en-US" sz="1100" dirty="0">
                <a:solidFill>
                  <a:srgbClr val="5A6472"/>
                </a:solidFill>
                <a:latin typeface="Calibri" pitchFamily="34" charset="0"/>
                <a:cs typeface="Amiri" pitchFamily="2" charset="-78"/>
              </a:rPr>
              <a:t> · </a:t>
            </a:r>
            <a:pPr algn="l" indent="0" marL="0">
              <a:buNone/>
            </a:pPr>
            <a:r>
              <a:rPr lang="ar-SA" altLang="en-US" sz="1450" dirty="0">
                <a:solidFill>
                  <a:srgbClr val="5A6472"/>
                </a:solidFill>
                <a:latin typeface="Amiri" pitchFamily="2" charset="-78"/>
                <a:ea typeface="Amiri" pitchFamily="2" charset="-78"/>
                <a:cs typeface="Amiri" pitchFamily="2" charset="-78"/>
              </a:rPr>
              <a:t>لٰكِنَّ</a:t>
            </a:r>
            <a:pPr algn="l" indent="0" marL="0">
              <a:buNone/>
            </a:pPr>
            <a:r>
              <a:rPr lang="en-US" sz="1100" dirty="0">
                <a:solidFill>
                  <a:srgbClr val="5A6472"/>
                </a:solidFill>
                <a:latin typeface="Calibri" pitchFamily="34" charset="0"/>
                <a:cs typeface="Amiri" pitchFamily="2" charset="-78"/>
              </a:rPr>
              <a:t>)?</a:t>
            </a:r>
            <a:endParaRPr lang="en-US" sz="1100" dirty="0"/>
          </a:p>
        </p:txBody>
      </p:sp>
      <p:sp>
        <p:nvSpPr>
          <p:cNvPr id="44" name="Shape 41"/>
          <p:cNvSpPr/>
          <p:nvPr/>
        </p:nvSpPr>
        <p:spPr>
          <a:xfrm>
            <a:off x="457200" y="5215738"/>
            <a:ext cx="11274552" cy="682142"/>
          </a:xfrm>
          <a:prstGeom prst="roundRect">
            <a:avLst>
              <a:gd name="adj" fmla="val 6702"/>
            </a:avLst>
          </a:prstGeom>
          <a:solidFill>
            <a:srgbClr val="FFFFFF"/>
          </a:solidFill>
          <a:ln w="9525">
            <a:solidFill>
              <a:srgbClr val="D8D0BF"/>
            </a:solidFill>
            <a:prstDash val="solid"/>
          </a:ln>
        </p:spPr>
      </p:sp>
      <p:sp>
        <p:nvSpPr>
          <p:cNvPr id="45" name="Text 42"/>
          <p:cNvSpPr txBox="1"/>
          <p:nvPr/>
        </p:nvSpPr>
        <p:spPr>
          <a:xfrm>
            <a:off x="8796528" y="5215738"/>
            <a:ext cx="2862072" cy="682142"/>
          </a:xfrm>
          <a:prstGeom prst="rect">
            <a:avLst/>
          </a:prstGeom>
          <a:noFill/>
          <a:ln/>
        </p:spPr>
        <p:txBody>
          <a:bodyPr wrap="square" lIns="0" tIns="0" rIns="0" bIns="0" rtlCol="0" anchor="ctr"/>
          <a:lstStyle/>
          <a:p>
            <a:pPr algn="l" indent="0" marL="0">
              <a:buNone/>
            </a:pPr>
            <a:endParaRPr lang="en-US" sz="1100" dirty="0"/>
          </a:p>
        </p:txBody>
      </p:sp>
      <p:sp>
        <p:nvSpPr>
          <p:cNvPr id="46" name="Text 43"/>
          <p:cNvSpPr txBox="1"/>
          <p:nvPr/>
        </p:nvSpPr>
        <p:spPr>
          <a:xfrm>
            <a:off x="7882128" y="5215738"/>
            <a:ext cx="731520" cy="682142"/>
          </a:xfrm>
          <a:prstGeom prst="rect">
            <a:avLst/>
          </a:prstGeom>
          <a:noFill/>
          <a:ln/>
        </p:spPr>
        <p:txBody>
          <a:bodyPr wrap="square" lIns="0" tIns="0" rIns="0" bIns="0" rtlCol="0" anchor="ctr"/>
          <a:lstStyle/>
          <a:p>
            <a:pPr algn="l" indent="0" marL="0">
              <a:buNone/>
            </a:pPr>
            <a:endParaRPr lang="en-US" sz="1100" dirty="0"/>
          </a:p>
        </p:txBody>
      </p:sp>
      <p:sp>
        <p:nvSpPr>
          <p:cNvPr id="47" name="Text 44"/>
          <p:cNvSpPr txBox="1"/>
          <p:nvPr/>
        </p:nvSpPr>
        <p:spPr>
          <a:xfrm>
            <a:off x="6601968" y="5215738"/>
            <a:ext cx="1097280" cy="682142"/>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Stretch</a:t>
            </a:r>
            <a:endParaRPr lang="en-US" sz="1100" dirty="0"/>
          </a:p>
        </p:txBody>
      </p:sp>
      <p:sp>
        <p:nvSpPr>
          <p:cNvPr id="48" name="Text 45"/>
          <p:cNvSpPr txBox="1"/>
          <p:nvPr/>
        </p:nvSpPr>
        <p:spPr>
          <a:xfrm>
            <a:off x="566928" y="5215738"/>
            <a:ext cx="5852160" cy="682142"/>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add a reason, a time phrase or an opinion?</a:t>
            </a:r>
            <a:endParaRPr lang="en-US" sz="1100" dirty="0"/>
          </a:p>
        </p:txBody>
      </p:sp>
      <p:sp>
        <p:nvSpPr>
          <p:cNvPr id="49" name="Text 46"/>
          <p:cNvSpPr txBox="1"/>
          <p:nvPr/>
        </p:nvSpPr>
        <p:spPr>
          <a:xfrm>
            <a:off x="457200" y="5943600"/>
            <a:ext cx="11274552" cy="365760"/>
          </a:xfrm>
          <a:prstGeom prst="rect">
            <a:avLst/>
          </a:prstGeom>
          <a:noFill/>
          <a:ln/>
        </p:spPr>
        <p:txBody>
          <a:bodyPr wrap="square" lIns="0" tIns="0" rIns="0" bIns="0" rtlCol="0" anchor="ctr"/>
          <a:lstStyle/>
          <a:p>
            <a:pPr algn="l" indent="0" marL="0">
              <a:buNone/>
            </a:pPr>
            <a:r>
              <a:rPr lang="en-US" sz="1150" b="1" dirty="0">
                <a:solidFill>
                  <a:srgbClr val="1B3B6F"/>
                </a:solidFill>
                <a:latin typeface="Calibri" pitchFamily="34" charset="0"/>
                <a:cs typeface="Amiri" pitchFamily="2" charset="-78"/>
              </a:rPr>
              <a:t>Give back: one thing that went well + one thing to improve. The writer fixes ONE thing straight away.</a:t>
            </a:r>
            <a:endParaRPr lang="en-US" sz="1150" dirty="0"/>
          </a:p>
        </p:txBody>
      </p:sp>
      <p:sp>
        <p:nvSpPr>
          <p:cNvPr id="50" name="Text 47"/>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20 / 24</a:t>
            </a:r>
            <a:endParaRPr lang="en-US" sz="850" dirty="0"/>
          </a:p>
        </p:txBody>
      </p:sp>
    </p:spTree>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name="Slide 21">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F3-W01 · Apply workshop</a:t>
            </a:r>
            <a:endParaRPr lang="en-US" sz="950" dirty="0"/>
          </a:p>
        </p:txBody>
      </p:sp>
      <p:sp>
        <p:nvSpPr>
          <p:cNvPr id="8" name="Shape 6"/>
          <p:cNvSpPr/>
          <p:nvPr/>
        </p:nvSpPr>
        <p:spPr>
          <a:xfrm>
            <a:off x="7143293" y="274320"/>
            <a:ext cx="1616659" cy="329184"/>
          </a:xfrm>
          <a:prstGeom prst="roundRect">
            <a:avLst>
              <a:gd name="adj" fmla="val 50000"/>
            </a:avLst>
          </a:prstGeom>
          <a:solidFill>
            <a:srgbClr val="8A6D1E"/>
          </a:solidFill>
          <a:ln w="12700">
            <a:solidFill>
              <a:srgbClr val="8A6D1E"/>
            </a:solidFill>
            <a:prstDash val="solid"/>
          </a:ln>
        </p:spPr>
      </p:sp>
      <p:sp>
        <p:nvSpPr>
          <p:cNvPr id="9" name="Text 7"/>
          <p:cNvSpPr txBox="1"/>
          <p:nvPr/>
        </p:nvSpPr>
        <p:spPr>
          <a:xfrm>
            <a:off x="7143293" y="274320"/>
            <a:ext cx="1616659"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FEEDBACK · 2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8A6D1E"/>
                </a:solidFill>
                <a:latin typeface="Calibri" pitchFamily="34" charset="0"/>
                <a:cs typeface="Amiri" pitchFamily="2" charset="-78"/>
              </a:rPr>
              <a:t>CHECK YOURSELF · ROLE-PLAY CARD</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050" b="1" dirty="0">
                <a:solidFill>
                  <a:srgbClr val="1B3B6F"/>
                </a:solidFill>
                <a:latin typeface="Cambria" pitchFamily="34" charset="0"/>
                <a:cs typeface="Amiri" pitchFamily="2" charset="-78"/>
              </a:rPr>
              <a:t>Role-play card: compare with a strong answer</a:t>
            </a:r>
            <a:endParaRPr lang="en-US" sz="205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قَارِنْ إِجَابَتَكَ</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Foundation F3 · My Family &amp; Home · F3-W01 · Apply workshop (F3-L01 + F3-L02)</a:t>
            </a:r>
            <a:endParaRPr lang="en-US" sz="850" dirty="0"/>
          </a:p>
        </p:txBody>
      </p:sp>
      <p:sp>
        <p:nvSpPr>
          <p:cNvPr id="15" name="Shape 12"/>
          <p:cNvSpPr/>
          <p:nvPr/>
        </p:nvSpPr>
        <p:spPr>
          <a:xfrm>
            <a:off x="457200" y="1810512"/>
            <a:ext cx="11274552" cy="384048"/>
          </a:xfrm>
          <a:prstGeom prst="rect">
            <a:avLst/>
          </a:prstGeom>
          <a:solidFill>
            <a:srgbClr val="1B3B6F"/>
          </a:solidFill>
          <a:ln w="12700">
            <a:solidFill>
              <a:srgbClr val="1B3B6F"/>
            </a:solidFill>
            <a:prstDash val="solid"/>
          </a:ln>
        </p:spPr>
      </p:sp>
      <p:sp>
        <p:nvSpPr>
          <p:cNvPr id="16" name="Text 13"/>
          <p:cNvSpPr txBox="1"/>
          <p:nvPr/>
        </p:nvSpPr>
        <p:spPr>
          <a:xfrm>
            <a:off x="4782312" y="1810512"/>
            <a:ext cx="6876288" cy="384048"/>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A strong answer (with English)</a:t>
            </a:r>
            <a:endParaRPr lang="en-US" sz="1100" dirty="0"/>
          </a:p>
        </p:txBody>
      </p:sp>
      <p:sp>
        <p:nvSpPr>
          <p:cNvPr id="17" name="Text 14"/>
          <p:cNvSpPr txBox="1"/>
          <p:nvPr/>
        </p:nvSpPr>
        <p:spPr>
          <a:xfrm>
            <a:off x="1033272" y="1810512"/>
            <a:ext cx="3602736" cy="384048"/>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Partner A reads</a:t>
            </a:r>
            <a:endParaRPr lang="en-US" sz="1100" dirty="0"/>
          </a:p>
        </p:txBody>
      </p:sp>
      <p:sp>
        <p:nvSpPr>
          <p:cNvPr id="18" name="Text 15"/>
          <p:cNvSpPr txBox="1"/>
          <p:nvPr/>
        </p:nvSpPr>
        <p:spPr>
          <a:xfrm>
            <a:off x="530352" y="1810512"/>
            <a:ext cx="356616" cy="384048"/>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a:t>
            </a:r>
            <a:endParaRPr lang="en-US" sz="1100" dirty="0"/>
          </a:p>
        </p:txBody>
      </p:sp>
      <p:sp>
        <p:nvSpPr>
          <p:cNvPr id="19" name="Shape 16"/>
          <p:cNvSpPr/>
          <p:nvPr/>
        </p:nvSpPr>
        <p:spPr>
          <a:xfrm>
            <a:off x="457200" y="2267712"/>
            <a:ext cx="11274552" cy="682142"/>
          </a:xfrm>
          <a:prstGeom prst="roundRect">
            <a:avLst>
              <a:gd name="adj" fmla="val 6702"/>
            </a:avLst>
          </a:prstGeom>
          <a:solidFill>
            <a:srgbClr val="FFFFFF"/>
          </a:solidFill>
          <a:ln w="9525">
            <a:solidFill>
              <a:srgbClr val="D8D0BF"/>
            </a:solidFill>
            <a:prstDash val="solid"/>
          </a:ln>
        </p:spPr>
      </p:sp>
      <p:sp>
        <p:nvSpPr>
          <p:cNvPr id="20" name="Text 17"/>
          <p:cNvSpPr txBox="1"/>
          <p:nvPr/>
        </p:nvSpPr>
        <p:spPr>
          <a:xfrm>
            <a:off x="4800600" y="2286000"/>
            <a:ext cx="6839712" cy="422928"/>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2" charset="-78"/>
                <a:ea typeface="Amiri" pitchFamily="2" charset="-78"/>
                <a:cs typeface="Amiri" pitchFamily="2" charset="-78"/>
              </a:rPr>
              <a:t>فِي عَائِلَتِي خَمْسَةُ أَشْخَاصٍ: أَبِي وَأُمِّي وَأَخِي وَأُخْتِي وَأَنَا.</a:t>
            </a:r>
            <a:endParaRPr lang="ar-SA" sz="1800" dirty="0"/>
          </a:p>
        </p:txBody>
      </p:sp>
      <p:sp>
        <p:nvSpPr>
          <p:cNvPr id="21" name="Text 18"/>
          <p:cNvSpPr txBox="1"/>
          <p:nvPr/>
        </p:nvSpPr>
        <p:spPr>
          <a:xfrm>
            <a:off x="4754880" y="2676997"/>
            <a:ext cx="6931152" cy="259214"/>
          </a:xfrm>
          <a:prstGeom prst="rect">
            <a:avLst/>
          </a:prstGeom>
          <a:noFill/>
          <a:ln/>
        </p:spPr>
        <p:txBody>
          <a:bodyPr wrap="square" lIns="0" tIns="0" rIns="0" bIns="0" rtlCol="0" anchor="ctr"/>
          <a:lstStyle/>
          <a:p>
            <a:pPr algn="ctr" indent="0" marL="0">
              <a:buNone/>
            </a:pPr>
            <a:r>
              <a:rPr lang="en-US" sz="950" i="1" dirty="0">
                <a:solidFill>
                  <a:srgbClr val="5A6472"/>
                </a:solidFill>
                <a:latin typeface="Calibri" pitchFamily="34" charset="0"/>
                <a:cs typeface="Amiri" pitchFamily="2" charset="-78"/>
              </a:rPr>
              <a:t>There are five people in my family: my father, my mother, my brother, my sister and me.</a:t>
            </a:r>
            <a:endParaRPr lang="en-US" sz="950" dirty="0"/>
          </a:p>
        </p:txBody>
      </p:sp>
      <p:sp>
        <p:nvSpPr>
          <p:cNvPr id="22" name="Text 19"/>
          <p:cNvSpPr txBox="1"/>
          <p:nvPr/>
        </p:nvSpPr>
        <p:spPr>
          <a:xfrm>
            <a:off x="1051560" y="2267712"/>
            <a:ext cx="3566160" cy="682142"/>
          </a:xfrm>
          <a:prstGeom prst="rect">
            <a:avLst/>
          </a:prstGeom>
          <a:noFill/>
          <a:ln/>
        </p:spPr>
        <p:txBody>
          <a:bodyPr wrap="square" lIns="0" tIns="0" rIns="0" bIns="0" rtlCol="0" anchor="ctr"/>
          <a:lstStyle/>
          <a:p>
            <a:pPr rtl="1" algn="ctr" indent="0" marL="0">
              <a:buNone/>
            </a:pPr>
            <a:r>
              <a:rPr lang="ar-SA" altLang="en-US" sz="1600" b="1" dirty="0">
                <a:solidFill>
                  <a:srgbClr val="1B3B6F"/>
                </a:solidFill>
                <a:latin typeface="Amiri" pitchFamily="2" charset="-78"/>
                <a:ea typeface="Amiri" pitchFamily="2" charset="-78"/>
                <a:cs typeface="Amiri" pitchFamily="2" charset="-78"/>
              </a:rPr>
              <a:t>كَمْ شَخْصًا فِي عَائِلَتِكَ؟</a:t>
            </a:r>
            <a:endParaRPr lang="ar-SA" sz="1600" dirty="0"/>
          </a:p>
        </p:txBody>
      </p:sp>
      <p:sp>
        <p:nvSpPr>
          <p:cNvPr id="23" name="Text 20"/>
          <p:cNvSpPr txBox="1"/>
          <p:nvPr/>
        </p:nvSpPr>
        <p:spPr>
          <a:xfrm>
            <a:off x="566928" y="2267712"/>
            <a:ext cx="320040" cy="682142"/>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1</a:t>
            </a:r>
            <a:endParaRPr lang="en-US" sz="1100" dirty="0"/>
          </a:p>
        </p:txBody>
      </p:sp>
      <p:sp>
        <p:nvSpPr>
          <p:cNvPr id="24" name="Shape 21"/>
          <p:cNvSpPr/>
          <p:nvPr/>
        </p:nvSpPr>
        <p:spPr>
          <a:xfrm>
            <a:off x="457200" y="3004718"/>
            <a:ext cx="11274552" cy="682142"/>
          </a:xfrm>
          <a:prstGeom prst="roundRect">
            <a:avLst>
              <a:gd name="adj" fmla="val 6702"/>
            </a:avLst>
          </a:prstGeom>
          <a:solidFill>
            <a:srgbClr val="F4F1EA"/>
          </a:solidFill>
          <a:ln w="9525">
            <a:solidFill>
              <a:srgbClr val="D8D0BF"/>
            </a:solidFill>
            <a:prstDash val="solid"/>
          </a:ln>
        </p:spPr>
      </p:sp>
      <p:sp>
        <p:nvSpPr>
          <p:cNvPr id="25" name="Text 22"/>
          <p:cNvSpPr txBox="1"/>
          <p:nvPr/>
        </p:nvSpPr>
        <p:spPr>
          <a:xfrm>
            <a:off x="4800600" y="3023006"/>
            <a:ext cx="6839712" cy="422928"/>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2" charset="-78"/>
                <a:ea typeface="Amiri" pitchFamily="2" charset="-78"/>
                <a:cs typeface="Amiri" pitchFamily="2" charset="-78"/>
              </a:rPr>
              <a:t>هٰذَا أَخِي الأَكْبَرُ، اسْمُهُ طَارِقٌ.</a:t>
            </a:r>
            <a:endParaRPr lang="ar-SA" sz="1800" dirty="0"/>
          </a:p>
        </p:txBody>
      </p:sp>
      <p:sp>
        <p:nvSpPr>
          <p:cNvPr id="26" name="Text 23"/>
          <p:cNvSpPr txBox="1"/>
          <p:nvPr/>
        </p:nvSpPr>
        <p:spPr>
          <a:xfrm>
            <a:off x="4754880" y="3414004"/>
            <a:ext cx="6931152" cy="259214"/>
          </a:xfrm>
          <a:prstGeom prst="rect">
            <a:avLst/>
          </a:prstGeom>
          <a:noFill/>
          <a:ln/>
        </p:spPr>
        <p:txBody>
          <a:bodyPr wrap="square" lIns="0" tIns="0" rIns="0" bIns="0" rtlCol="0" anchor="ctr"/>
          <a:lstStyle/>
          <a:p>
            <a:pPr algn="ctr" indent="0" marL="0">
              <a:buNone/>
            </a:pPr>
            <a:r>
              <a:rPr lang="en-US" sz="950" i="1" dirty="0">
                <a:solidFill>
                  <a:srgbClr val="5A6472"/>
                </a:solidFill>
                <a:latin typeface="Calibri" pitchFamily="34" charset="0"/>
                <a:cs typeface="Amiri" pitchFamily="2" charset="-78"/>
              </a:rPr>
              <a:t>This is my older brother; his name is Tariq.</a:t>
            </a:r>
            <a:endParaRPr lang="en-US" sz="950" dirty="0"/>
          </a:p>
        </p:txBody>
      </p:sp>
      <p:sp>
        <p:nvSpPr>
          <p:cNvPr id="27" name="Text 24"/>
          <p:cNvSpPr txBox="1"/>
          <p:nvPr/>
        </p:nvSpPr>
        <p:spPr>
          <a:xfrm>
            <a:off x="1051560" y="3004718"/>
            <a:ext cx="3566160" cy="682142"/>
          </a:xfrm>
          <a:prstGeom prst="rect">
            <a:avLst/>
          </a:prstGeom>
          <a:noFill/>
          <a:ln/>
        </p:spPr>
        <p:txBody>
          <a:bodyPr wrap="square" lIns="0" tIns="0" rIns="0" bIns="0" rtlCol="0" anchor="ctr"/>
          <a:lstStyle/>
          <a:p>
            <a:pPr rtl="1" algn="ctr" indent="0" marL="0">
              <a:buNone/>
            </a:pPr>
            <a:r>
              <a:rPr lang="ar-SA" altLang="en-US" sz="1600" b="1" dirty="0">
                <a:solidFill>
                  <a:srgbClr val="1B3B6F"/>
                </a:solidFill>
                <a:latin typeface="Amiri" pitchFamily="2" charset="-78"/>
                <a:ea typeface="Amiri" pitchFamily="2" charset="-78"/>
                <a:cs typeface="Amiri" pitchFamily="2" charset="-78"/>
              </a:rPr>
              <a:t>مَنْ هٰذَا؟</a:t>
            </a:r>
            <a:endParaRPr lang="ar-SA" sz="1600" dirty="0"/>
          </a:p>
        </p:txBody>
      </p:sp>
      <p:sp>
        <p:nvSpPr>
          <p:cNvPr id="28" name="Text 25"/>
          <p:cNvSpPr txBox="1"/>
          <p:nvPr/>
        </p:nvSpPr>
        <p:spPr>
          <a:xfrm>
            <a:off x="566928" y="3004718"/>
            <a:ext cx="320040" cy="682142"/>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2</a:t>
            </a:r>
            <a:endParaRPr lang="en-US" sz="1100" dirty="0"/>
          </a:p>
        </p:txBody>
      </p:sp>
      <p:sp>
        <p:nvSpPr>
          <p:cNvPr id="29" name="Shape 26"/>
          <p:cNvSpPr/>
          <p:nvPr/>
        </p:nvSpPr>
        <p:spPr>
          <a:xfrm>
            <a:off x="457200" y="3741725"/>
            <a:ext cx="11274552" cy="682142"/>
          </a:xfrm>
          <a:prstGeom prst="roundRect">
            <a:avLst>
              <a:gd name="adj" fmla="val 6702"/>
            </a:avLst>
          </a:prstGeom>
          <a:solidFill>
            <a:srgbClr val="FFFFFF"/>
          </a:solidFill>
          <a:ln w="9525">
            <a:solidFill>
              <a:srgbClr val="D8D0BF"/>
            </a:solidFill>
            <a:prstDash val="solid"/>
          </a:ln>
        </p:spPr>
      </p:sp>
      <p:sp>
        <p:nvSpPr>
          <p:cNvPr id="30" name="Text 27"/>
          <p:cNvSpPr txBox="1"/>
          <p:nvPr/>
        </p:nvSpPr>
        <p:spPr>
          <a:xfrm>
            <a:off x="4800600" y="3760013"/>
            <a:ext cx="6839712" cy="422928"/>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2" charset="-78"/>
                <a:ea typeface="Amiri" pitchFamily="2" charset="-78"/>
                <a:cs typeface="Amiri" pitchFamily="2" charset="-78"/>
              </a:rPr>
              <a:t>هُوَ طَوِيلٌ وَنَحِيفٌ، وَشَعْرُهُ أَسْوَدُ.</a:t>
            </a:r>
            <a:endParaRPr lang="ar-SA" sz="1800" dirty="0"/>
          </a:p>
        </p:txBody>
      </p:sp>
      <p:sp>
        <p:nvSpPr>
          <p:cNvPr id="31" name="Text 28"/>
          <p:cNvSpPr txBox="1"/>
          <p:nvPr/>
        </p:nvSpPr>
        <p:spPr>
          <a:xfrm>
            <a:off x="4754880" y="4151010"/>
            <a:ext cx="6931152" cy="259214"/>
          </a:xfrm>
          <a:prstGeom prst="rect">
            <a:avLst/>
          </a:prstGeom>
          <a:noFill/>
          <a:ln/>
        </p:spPr>
        <p:txBody>
          <a:bodyPr wrap="square" lIns="0" tIns="0" rIns="0" bIns="0" rtlCol="0" anchor="ctr"/>
          <a:lstStyle/>
          <a:p>
            <a:pPr algn="ctr" indent="0" marL="0">
              <a:buNone/>
            </a:pPr>
            <a:r>
              <a:rPr lang="en-US" sz="950" i="1" dirty="0">
                <a:solidFill>
                  <a:srgbClr val="5A6472"/>
                </a:solidFill>
                <a:latin typeface="Calibri" pitchFamily="34" charset="0"/>
                <a:cs typeface="Amiri" pitchFamily="2" charset="-78"/>
              </a:rPr>
              <a:t>He is tall and slim, and his hair is black.</a:t>
            </a:r>
            <a:endParaRPr lang="en-US" sz="950" dirty="0"/>
          </a:p>
        </p:txBody>
      </p:sp>
      <p:sp>
        <p:nvSpPr>
          <p:cNvPr id="32" name="Text 29"/>
          <p:cNvSpPr txBox="1"/>
          <p:nvPr/>
        </p:nvSpPr>
        <p:spPr>
          <a:xfrm>
            <a:off x="1051560" y="3741725"/>
            <a:ext cx="3566160" cy="682142"/>
          </a:xfrm>
          <a:prstGeom prst="rect">
            <a:avLst/>
          </a:prstGeom>
          <a:noFill/>
          <a:ln/>
        </p:spPr>
        <p:txBody>
          <a:bodyPr wrap="square" lIns="0" tIns="0" rIns="0" bIns="0" rtlCol="0" anchor="ctr"/>
          <a:lstStyle/>
          <a:p>
            <a:pPr rtl="1" algn="ctr" indent="0" marL="0">
              <a:buNone/>
            </a:pPr>
            <a:r>
              <a:rPr lang="ar-SA" altLang="en-US" sz="1600" b="1" dirty="0">
                <a:solidFill>
                  <a:srgbClr val="1B3B6F"/>
                </a:solidFill>
                <a:latin typeface="Amiri" pitchFamily="2" charset="-78"/>
                <a:ea typeface="Amiri" pitchFamily="2" charset="-78"/>
                <a:cs typeface="Amiri" pitchFamily="2" charset="-78"/>
              </a:rPr>
              <a:t>كَيْفَ يَبْدُو أَخُوكَ؟</a:t>
            </a:r>
            <a:endParaRPr lang="ar-SA" sz="1600" dirty="0"/>
          </a:p>
        </p:txBody>
      </p:sp>
      <p:sp>
        <p:nvSpPr>
          <p:cNvPr id="33" name="Text 30"/>
          <p:cNvSpPr txBox="1"/>
          <p:nvPr/>
        </p:nvSpPr>
        <p:spPr>
          <a:xfrm>
            <a:off x="566928" y="3741725"/>
            <a:ext cx="320040" cy="682142"/>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3</a:t>
            </a:r>
            <a:endParaRPr lang="en-US" sz="1100" dirty="0"/>
          </a:p>
        </p:txBody>
      </p:sp>
      <p:sp>
        <p:nvSpPr>
          <p:cNvPr id="34" name="Shape 31"/>
          <p:cNvSpPr/>
          <p:nvPr/>
        </p:nvSpPr>
        <p:spPr>
          <a:xfrm>
            <a:off x="457200" y="4478731"/>
            <a:ext cx="11274552" cy="682142"/>
          </a:xfrm>
          <a:prstGeom prst="roundRect">
            <a:avLst>
              <a:gd name="adj" fmla="val 6702"/>
            </a:avLst>
          </a:prstGeom>
          <a:solidFill>
            <a:srgbClr val="F4F1EA"/>
          </a:solidFill>
          <a:ln w="9525">
            <a:solidFill>
              <a:srgbClr val="D8D0BF"/>
            </a:solidFill>
            <a:prstDash val="solid"/>
          </a:ln>
        </p:spPr>
      </p:sp>
      <p:sp>
        <p:nvSpPr>
          <p:cNvPr id="35" name="Text 32"/>
          <p:cNvSpPr txBox="1"/>
          <p:nvPr/>
        </p:nvSpPr>
        <p:spPr>
          <a:xfrm>
            <a:off x="4800600" y="4497019"/>
            <a:ext cx="6839712" cy="422928"/>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2" charset="-78"/>
                <a:ea typeface="Amiri" pitchFamily="2" charset="-78"/>
                <a:cs typeface="Amiri" pitchFamily="2" charset="-78"/>
              </a:rPr>
              <a:t>هٰذِهِ خَالَتِي مَرْيَمُ، هِيَ لَطِيفَةٌ وَهَادِئَةٌ.</a:t>
            </a:r>
            <a:endParaRPr lang="ar-SA" sz="1800" dirty="0"/>
          </a:p>
        </p:txBody>
      </p:sp>
      <p:sp>
        <p:nvSpPr>
          <p:cNvPr id="36" name="Text 33"/>
          <p:cNvSpPr txBox="1"/>
          <p:nvPr/>
        </p:nvSpPr>
        <p:spPr>
          <a:xfrm>
            <a:off x="4754880" y="4888017"/>
            <a:ext cx="6931152" cy="259214"/>
          </a:xfrm>
          <a:prstGeom prst="rect">
            <a:avLst/>
          </a:prstGeom>
          <a:noFill/>
          <a:ln/>
        </p:spPr>
        <p:txBody>
          <a:bodyPr wrap="square" lIns="0" tIns="0" rIns="0" bIns="0" rtlCol="0" anchor="ctr"/>
          <a:lstStyle/>
          <a:p>
            <a:pPr algn="ctr" indent="0" marL="0">
              <a:buNone/>
            </a:pPr>
            <a:r>
              <a:rPr lang="en-US" sz="950" i="1" dirty="0">
                <a:solidFill>
                  <a:srgbClr val="5A6472"/>
                </a:solidFill>
                <a:latin typeface="Calibri" pitchFamily="34" charset="0"/>
                <a:cs typeface="Amiri" pitchFamily="2" charset="-78"/>
              </a:rPr>
              <a:t>This is my aunt Maryam; she is kind and calm.</a:t>
            </a:r>
            <a:endParaRPr lang="en-US" sz="950" dirty="0"/>
          </a:p>
        </p:txBody>
      </p:sp>
      <p:sp>
        <p:nvSpPr>
          <p:cNvPr id="37" name="Text 34"/>
          <p:cNvSpPr txBox="1"/>
          <p:nvPr/>
        </p:nvSpPr>
        <p:spPr>
          <a:xfrm>
            <a:off x="1051560" y="4478731"/>
            <a:ext cx="3566160" cy="682142"/>
          </a:xfrm>
          <a:prstGeom prst="rect">
            <a:avLst/>
          </a:prstGeom>
          <a:noFill/>
          <a:ln/>
        </p:spPr>
        <p:txBody>
          <a:bodyPr wrap="square" lIns="0" tIns="0" rIns="0" bIns="0" rtlCol="0" anchor="ctr"/>
          <a:lstStyle/>
          <a:p>
            <a:pPr rtl="1" algn="ctr" indent="0" marL="0">
              <a:buNone/>
            </a:pPr>
            <a:r>
              <a:rPr lang="ar-SA" altLang="en-US" sz="1600" b="1" dirty="0">
                <a:solidFill>
                  <a:srgbClr val="1B3B6F"/>
                </a:solidFill>
                <a:latin typeface="Amiri" pitchFamily="2" charset="-78"/>
                <a:ea typeface="Amiri" pitchFamily="2" charset="-78"/>
                <a:cs typeface="Amiri" pitchFamily="2" charset="-78"/>
              </a:rPr>
              <a:t>وَمَنْ هٰذِهِ؟ كَيْفَ شَخْصِيَّتُهَا؟</a:t>
            </a:r>
            <a:endParaRPr lang="ar-SA" sz="1600" dirty="0"/>
          </a:p>
        </p:txBody>
      </p:sp>
      <p:sp>
        <p:nvSpPr>
          <p:cNvPr id="38" name="Text 35"/>
          <p:cNvSpPr txBox="1"/>
          <p:nvPr/>
        </p:nvSpPr>
        <p:spPr>
          <a:xfrm>
            <a:off x="566928" y="4478731"/>
            <a:ext cx="320040" cy="682142"/>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4</a:t>
            </a:r>
            <a:endParaRPr lang="en-US" sz="1100" dirty="0"/>
          </a:p>
        </p:txBody>
      </p:sp>
      <p:sp>
        <p:nvSpPr>
          <p:cNvPr id="39" name="Shape 36"/>
          <p:cNvSpPr/>
          <p:nvPr/>
        </p:nvSpPr>
        <p:spPr>
          <a:xfrm>
            <a:off x="457200" y="5215738"/>
            <a:ext cx="11274552" cy="682142"/>
          </a:xfrm>
          <a:prstGeom prst="roundRect">
            <a:avLst>
              <a:gd name="adj" fmla="val 6702"/>
            </a:avLst>
          </a:prstGeom>
          <a:solidFill>
            <a:srgbClr val="FFFFFF"/>
          </a:solidFill>
          <a:ln w="9525">
            <a:solidFill>
              <a:srgbClr val="D8D0BF"/>
            </a:solidFill>
            <a:prstDash val="solid"/>
          </a:ln>
        </p:spPr>
      </p:sp>
      <p:sp>
        <p:nvSpPr>
          <p:cNvPr id="40" name="Text 37"/>
          <p:cNvSpPr txBox="1"/>
          <p:nvPr/>
        </p:nvSpPr>
        <p:spPr>
          <a:xfrm>
            <a:off x="4800600" y="5234026"/>
            <a:ext cx="6839712" cy="422928"/>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2" charset="-78"/>
                <a:ea typeface="Amiri" pitchFamily="2" charset="-78"/>
                <a:cs typeface="Amiri" pitchFamily="2" charset="-78"/>
              </a:rPr>
              <a:t>أُحِبُّ جَدَّتِي كَثِيرًا لِأَنَّهَا كَرِيمَةٌ وَمُضْحِكَةٌ.</a:t>
            </a:r>
            <a:endParaRPr lang="ar-SA" sz="1800" dirty="0"/>
          </a:p>
        </p:txBody>
      </p:sp>
      <p:sp>
        <p:nvSpPr>
          <p:cNvPr id="41" name="Text 38"/>
          <p:cNvSpPr txBox="1"/>
          <p:nvPr/>
        </p:nvSpPr>
        <p:spPr>
          <a:xfrm>
            <a:off x="4754880" y="5625023"/>
            <a:ext cx="6931152" cy="259214"/>
          </a:xfrm>
          <a:prstGeom prst="rect">
            <a:avLst/>
          </a:prstGeom>
          <a:noFill/>
          <a:ln/>
        </p:spPr>
        <p:txBody>
          <a:bodyPr wrap="square" lIns="0" tIns="0" rIns="0" bIns="0" rtlCol="0" anchor="ctr"/>
          <a:lstStyle/>
          <a:p>
            <a:pPr algn="ctr" indent="0" marL="0">
              <a:buNone/>
            </a:pPr>
            <a:r>
              <a:rPr lang="en-US" sz="950" i="1" dirty="0">
                <a:solidFill>
                  <a:srgbClr val="5A6472"/>
                </a:solidFill>
                <a:latin typeface="Calibri" pitchFamily="34" charset="0"/>
                <a:cs typeface="Amiri" pitchFamily="2" charset="-78"/>
              </a:rPr>
              <a:t>I love my grandmother a lot because she is generous and funny.</a:t>
            </a:r>
            <a:endParaRPr lang="en-US" sz="950" dirty="0"/>
          </a:p>
        </p:txBody>
      </p:sp>
      <p:sp>
        <p:nvSpPr>
          <p:cNvPr id="42" name="Text 39"/>
          <p:cNvSpPr txBox="1"/>
          <p:nvPr/>
        </p:nvSpPr>
        <p:spPr>
          <a:xfrm>
            <a:off x="1051560" y="5215738"/>
            <a:ext cx="3566160" cy="682142"/>
          </a:xfrm>
          <a:prstGeom prst="rect">
            <a:avLst/>
          </a:prstGeom>
          <a:noFill/>
          <a:ln/>
        </p:spPr>
        <p:txBody>
          <a:bodyPr wrap="square" lIns="0" tIns="0" rIns="0" bIns="0" rtlCol="0" anchor="ctr"/>
          <a:lstStyle/>
          <a:p>
            <a:pPr rtl="1" algn="ctr" indent="0" marL="0">
              <a:buNone/>
            </a:pPr>
            <a:r>
              <a:rPr lang="ar-SA" altLang="en-US" sz="1600" b="1" dirty="0">
                <a:solidFill>
                  <a:srgbClr val="1B3B6F"/>
                </a:solidFill>
                <a:latin typeface="Amiri" pitchFamily="2" charset="-78"/>
                <a:ea typeface="Amiri" pitchFamily="2" charset="-78"/>
                <a:cs typeface="Amiri" pitchFamily="2" charset="-78"/>
              </a:rPr>
              <a:t>مَنْ تُحِبُّ كَثِيرًا فِي عَائِلَتِكَ؟ لِمَاذَا؟</a:t>
            </a:r>
            <a:endParaRPr lang="ar-SA" sz="1600" dirty="0"/>
          </a:p>
        </p:txBody>
      </p:sp>
      <p:sp>
        <p:nvSpPr>
          <p:cNvPr id="43" name="Text 40"/>
          <p:cNvSpPr txBox="1"/>
          <p:nvPr/>
        </p:nvSpPr>
        <p:spPr>
          <a:xfrm>
            <a:off x="566928" y="5215738"/>
            <a:ext cx="320040" cy="682142"/>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5</a:t>
            </a:r>
            <a:endParaRPr lang="en-US" sz="1100" dirty="0"/>
          </a:p>
        </p:txBody>
      </p:sp>
      <p:sp>
        <p:nvSpPr>
          <p:cNvPr id="44" name="Text 41"/>
          <p:cNvSpPr txBox="1"/>
          <p:nvPr/>
        </p:nvSpPr>
        <p:spPr>
          <a:xfrm>
            <a:off x="457200" y="5943600"/>
            <a:ext cx="11274552" cy="365760"/>
          </a:xfrm>
          <a:prstGeom prst="rect">
            <a:avLst/>
          </a:prstGeom>
          <a:noFill/>
          <a:ln/>
        </p:spPr>
        <p:txBody>
          <a:bodyPr wrap="square" lIns="0" tIns="0" rIns="0" bIns="0" rtlCol="0" anchor="ctr"/>
          <a:lstStyle/>
          <a:p>
            <a:pPr algn="l" indent="0" marL="0">
              <a:buNone/>
            </a:pPr>
            <a:r>
              <a:rPr lang="en-US" sz="1150" b="1" dirty="0">
                <a:solidFill>
                  <a:srgbClr val="1B3B6F"/>
                </a:solidFill>
                <a:latin typeface="Calibri" pitchFamily="34" charset="0"/>
                <a:cs typeface="Amiri" pitchFamily="2" charset="-78"/>
              </a:rPr>
              <a:t>Did you answer every task in a full sentence? Find one phrase from each lesson in the models and say it aloud.</a:t>
            </a:r>
            <a:endParaRPr lang="en-US" sz="1150" dirty="0"/>
          </a:p>
        </p:txBody>
      </p:sp>
      <p:sp>
        <p:nvSpPr>
          <p:cNvPr id="45" name="Text 42"/>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21 / 24</a:t>
            </a:r>
            <a:endParaRPr lang="en-US" sz="850" dirty="0"/>
          </a:p>
        </p:txBody>
      </p:sp>
    </p:spTree>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name="Slide 22">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F3-W01 · Apply workshop</a:t>
            </a:r>
            <a:endParaRPr lang="en-US" sz="950" dirty="0"/>
          </a:p>
        </p:txBody>
      </p:sp>
      <p:sp>
        <p:nvSpPr>
          <p:cNvPr id="8" name="Shape 6"/>
          <p:cNvSpPr/>
          <p:nvPr/>
        </p:nvSpPr>
        <p:spPr>
          <a:xfrm>
            <a:off x="7143293" y="274320"/>
            <a:ext cx="1616659" cy="329184"/>
          </a:xfrm>
          <a:prstGeom prst="roundRect">
            <a:avLst>
              <a:gd name="adj" fmla="val 50000"/>
            </a:avLst>
          </a:prstGeom>
          <a:solidFill>
            <a:srgbClr val="8A6D1E"/>
          </a:solidFill>
          <a:ln w="12700">
            <a:solidFill>
              <a:srgbClr val="8A6D1E"/>
            </a:solidFill>
            <a:prstDash val="solid"/>
          </a:ln>
        </p:spPr>
      </p:sp>
      <p:sp>
        <p:nvSpPr>
          <p:cNvPr id="9" name="Text 7"/>
          <p:cNvSpPr txBox="1"/>
          <p:nvPr/>
        </p:nvSpPr>
        <p:spPr>
          <a:xfrm>
            <a:off x="7143293" y="274320"/>
            <a:ext cx="1616659"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FEEDBACK · 2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8A6D1E"/>
                </a:solidFill>
                <a:latin typeface="Calibri" pitchFamily="34" charset="0"/>
                <a:cs typeface="Amiri" pitchFamily="2" charset="-78"/>
              </a:rPr>
              <a:t>CHECK YOURSELF · WRITE YOUR TEXT · A STRONG ANSWER</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400" b="1" dirty="0">
                <a:solidFill>
                  <a:srgbClr val="1B3B6F"/>
                </a:solidFill>
                <a:latin typeface="Cambria" pitchFamily="34" charset="0"/>
                <a:cs typeface="Amiri" pitchFamily="2" charset="-78"/>
              </a:rPr>
              <a:t>Writing: compare with a strong answer</a:t>
            </a:r>
            <a:endParaRPr lang="en-US" sz="24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قَارِنْ إِجَابَتَكَ</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Foundation F3 · My Family &amp; Home · F3-W01 · Apply workshop (F3-L01 + F3-L02)</a:t>
            </a:r>
            <a:endParaRPr lang="en-US" sz="850" dirty="0"/>
          </a:p>
        </p:txBody>
      </p:sp>
      <p:sp>
        <p:nvSpPr>
          <p:cNvPr id="15" name="Shape 12"/>
          <p:cNvSpPr/>
          <p:nvPr/>
        </p:nvSpPr>
        <p:spPr>
          <a:xfrm>
            <a:off x="457200" y="1810512"/>
            <a:ext cx="11274552" cy="3246120"/>
          </a:xfrm>
          <a:prstGeom prst="roundRect">
            <a:avLst>
              <a:gd name="adj" fmla="val 2254"/>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Text 13"/>
          <p:cNvSpPr txBox="1"/>
          <p:nvPr/>
        </p:nvSpPr>
        <p:spPr>
          <a:xfrm>
            <a:off x="685800" y="1938528"/>
            <a:ext cx="10817352" cy="2990088"/>
          </a:xfrm>
          <a:prstGeom prst="rect">
            <a:avLst/>
          </a:prstGeom>
          <a:noFill/>
          <a:ln/>
        </p:spPr>
        <p:txBody>
          <a:bodyPr wrap="square" lIns="0" tIns="0" rIns="0" bIns="0" rtlCol="0" anchor="ctr"/>
          <a:lstStyle/>
          <a:p>
            <a:pPr rtl="1" algn="r" indent="0" marL="0">
              <a:lnSpc>
                <a:spcPct val="120000"/>
              </a:lnSpc>
              <a:buNone/>
            </a:pPr>
            <a:r>
              <a:rPr lang="ar-SA" altLang="en-US" sz="2600" dirty="0">
                <a:solidFill>
                  <a:srgbClr val="1F2A37"/>
                </a:solidFill>
                <a:latin typeface="Amiri" pitchFamily="2" charset="-78"/>
                <a:ea typeface="Amiri" pitchFamily="2" charset="-78"/>
                <a:cs typeface="Amiri" pitchFamily="2" charset="-78"/>
              </a:rPr>
              <a:t>فِي عَائِلَتِي سِتَّةُ أَشْخَاصٍ. هٰذَا جَدِّي، اسْمُهُ إِبْرَاهِيمُ. هُوَ طَوِيلٌ، وَشَعْرُهُ أَبْيَضُ، وَهُوَ هَادِئٌ وَكَرِيمٌ. وَهٰذِهِ عَمَّتِي، اسْمُهَا سُعَادُ. هِيَ قَصِيرَةٌ، وَشَعْرُهَا أَسْوَدُ، وَهِيَ مُضْحِكَةٌ جِدًّا. وَهٰذَا أَخِي الأَكْبَرُ طَارِقٌ، هُوَ مُجْتَهِدٌ. أُحِبُّ جَدِّي كَثِيرًا لِأَنَّهُ لَطِيفٌ، وَيَحْكِي قِصَصًا جَمِيلَةً.</a:t>
            </a:r>
            <a:endParaRPr lang="ar-SA" sz="2600" dirty="0"/>
          </a:p>
        </p:txBody>
      </p:sp>
      <p:sp>
        <p:nvSpPr>
          <p:cNvPr id="17" name="Shape 14"/>
          <p:cNvSpPr/>
          <p:nvPr/>
        </p:nvSpPr>
        <p:spPr>
          <a:xfrm>
            <a:off x="457200" y="5166360"/>
            <a:ext cx="11274552" cy="1024128"/>
          </a:xfrm>
          <a:prstGeom prst="roundRect">
            <a:avLst>
              <a:gd name="adj" fmla="val 7143"/>
            </a:avLst>
          </a:prstGeom>
          <a:solidFill>
            <a:srgbClr val="F4F1EA"/>
          </a:solidFill>
          <a:ln w="9525">
            <a:solidFill>
              <a:srgbClr val="F4F1EA"/>
            </a:solidFill>
            <a:prstDash val="solid"/>
          </a:ln>
        </p:spPr>
      </p:sp>
      <p:sp>
        <p:nvSpPr>
          <p:cNvPr id="18" name="Text 15"/>
          <p:cNvSpPr txBox="1"/>
          <p:nvPr/>
        </p:nvSpPr>
        <p:spPr>
          <a:xfrm>
            <a:off x="640080" y="5202936"/>
            <a:ext cx="10908792" cy="950976"/>
          </a:xfrm>
          <a:prstGeom prst="rect">
            <a:avLst/>
          </a:prstGeom>
          <a:noFill/>
          <a:ln/>
        </p:spPr>
        <p:txBody>
          <a:bodyPr wrap="square" lIns="0" tIns="0" rIns="0" bIns="0" rtlCol="0" anchor="t"/>
          <a:lstStyle/>
          <a:p>
            <a:pPr algn="l" indent="0" marL="0">
              <a:buNone/>
            </a:pPr>
            <a:r>
              <a:rPr lang="en-US" sz="1150" i="1" dirty="0">
                <a:solidFill>
                  <a:srgbClr val="5A6472"/>
                </a:solidFill>
                <a:latin typeface="Calibri" pitchFamily="34" charset="0"/>
                <a:cs typeface="Amiri" pitchFamily="2" charset="-78"/>
              </a:rPr>
              <a:t>“There are six people in my family. This is my grandfather; his name is Ibrahim. He is tall, his hair is white, and he is calm and generous. And this is my aunt; her name is Suad. She is short, her hair is black, and she is very funny. And this is my older brother Tariq; he is hard-working. I love my grandfather a lot because he is kind and tells lovely stories.”</a:t>
            </a:r>
            <a:endParaRPr lang="en-US" sz="1150" dirty="0"/>
          </a:p>
        </p:txBody>
      </p:sp>
      <p:sp>
        <p:nvSpPr>
          <p:cNvPr id="19" name="Text 16"/>
          <p:cNvSpPr txBox="1"/>
          <p:nvPr/>
        </p:nvSpPr>
        <p:spPr>
          <a:xfrm>
            <a:off x="457200" y="6053328"/>
            <a:ext cx="2194560" cy="256032"/>
          </a:xfrm>
          <a:prstGeom prst="rect">
            <a:avLst/>
          </a:prstGeom>
          <a:noFill/>
          <a:ln/>
        </p:spPr>
        <p:txBody>
          <a:bodyPr wrap="square" lIns="0" tIns="0" rIns="0" bIns="0" rtlCol="0" anchor="ctr"/>
          <a:lstStyle/>
          <a:p>
            <a:pPr algn="l" indent="0" marL="0">
              <a:buNone/>
            </a:pPr>
            <a:r>
              <a:rPr lang="en-US" sz="950" b="1" spc="200" kern="0" dirty="0">
                <a:solidFill>
                  <a:srgbClr val="8A6D1E"/>
                </a:solidFill>
                <a:latin typeface="Calibri" pitchFamily="34" charset="0"/>
                <a:cs typeface="Amiri" pitchFamily="2" charset="-78"/>
              </a:rPr>
              <a:t>FIND IN THE MODEL:</a:t>
            </a:r>
            <a:endParaRPr lang="en-US" sz="950" dirty="0"/>
          </a:p>
        </p:txBody>
      </p:sp>
      <p:sp>
        <p:nvSpPr>
          <p:cNvPr id="20" name="Shape 17"/>
          <p:cNvSpPr/>
          <p:nvPr/>
        </p:nvSpPr>
        <p:spPr>
          <a:xfrm>
            <a:off x="2697480" y="6035040"/>
            <a:ext cx="2148840" cy="274320"/>
          </a:xfrm>
          <a:prstGeom prst="roundRect">
            <a:avLst>
              <a:gd name="adj" fmla="val 50000"/>
            </a:avLst>
          </a:prstGeom>
          <a:solidFill>
            <a:srgbClr val="1D5FBF"/>
          </a:solidFill>
          <a:ln w="12700">
            <a:solidFill>
              <a:srgbClr val="1D5FBF"/>
            </a:solidFill>
            <a:prstDash val="solid"/>
          </a:ln>
        </p:spPr>
      </p:sp>
      <p:sp>
        <p:nvSpPr>
          <p:cNvPr id="21" name="Text 18"/>
          <p:cNvSpPr txBox="1"/>
          <p:nvPr/>
        </p:nvSpPr>
        <p:spPr>
          <a:xfrm>
            <a:off x="2697480" y="6035040"/>
            <a:ext cx="2148840" cy="274320"/>
          </a:xfrm>
          <a:prstGeom prst="rect">
            <a:avLst/>
          </a:prstGeom>
          <a:noFill/>
          <a:ln/>
        </p:spPr>
        <p:txBody>
          <a:bodyPr wrap="square" lIns="0" tIns="0" rIns="0" bIns="0" rtlCol="0" anchor="ctr"/>
          <a:lstStyle/>
          <a:p>
            <a:pPr algn="ctr" indent="0" marL="0">
              <a:buNone/>
            </a:pPr>
            <a:r>
              <a:rPr lang="ar-SA" sz="950" b="1" dirty="0">
                <a:solidFill>
                  <a:srgbClr val="FFFFFF"/>
                </a:solidFill>
                <a:latin typeface="Amiri" pitchFamily="2" charset="-78"/>
                <a:ea typeface="Amiri" pitchFamily="2" charset="-78"/>
                <a:cs typeface="Amiri" pitchFamily="2" charset="-78"/>
              </a:rPr>
              <a:t>هٰذَا جَدِّي</a:t>
            </a:r>
            <a:endParaRPr lang="en-US" sz="950" dirty="0"/>
          </a:p>
        </p:txBody>
      </p:sp>
      <p:sp>
        <p:nvSpPr>
          <p:cNvPr id="22" name="Shape 19"/>
          <p:cNvSpPr/>
          <p:nvPr/>
        </p:nvSpPr>
        <p:spPr>
          <a:xfrm>
            <a:off x="4983480" y="6035040"/>
            <a:ext cx="2148840" cy="274320"/>
          </a:xfrm>
          <a:prstGeom prst="roundRect">
            <a:avLst>
              <a:gd name="adj" fmla="val 50000"/>
            </a:avLst>
          </a:prstGeom>
          <a:solidFill>
            <a:srgbClr val="1B3B6F"/>
          </a:solidFill>
          <a:ln w="12700">
            <a:solidFill>
              <a:srgbClr val="1B3B6F"/>
            </a:solidFill>
            <a:prstDash val="solid"/>
          </a:ln>
        </p:spPr>
      </p:sp>
      <p:sp>
        <p:nvSpPr>
          <p:cNvPr id="23" name="Text 20"/>
          <p:cNvSpPr txBox="1"/>
          <p:nvPr/>
        </p:nvSpPr>
        <p:spPr>
          <a:xfrm>
            <a:off x="4983480" y="6035040"/>
            <a:ext cx="2148840" cy="274320"/>
          </a:xfrm>
          <a:prstGeom prst="rect">
            <a:avLst/>
          </a:prstGeom>
          <a:noFill/>
          <a:ln/>
        </p:spPr>
        <p:txBody>
          <a:bodyPr wrap="square" lIns="0" tIns="0" rIns="0" bIns="0" rtlCol="0" anchor="ctr"/>
          <a:lstStyle/>
          <a:p>
            <a:pPr algn="ctr" indent="0" marL="0">
              <a:buNone/>
            </a:pPr>
            <a:r>
              <a:rPr lang="ar-SA" sz="950" b="1" dirty="0">
                <a:solidFill>
                  <a:srgbClr val="FFFFFF"/>
                </a:solidFill>
                <a:latin typeface="Amiri" pitchFamily="2" charset="-78"/>
                <a:ea typeface="Amiri" pitchFamily="2" charset="-78"/>
                <a:cs typeface="Amiri" pitchFamily="2" charset="-78"/>
              </a:rPr>
              <a:t>شَعْرُهُ أَبْيَضُ</a:t>
            </a:r>
            <a:endParaRPr lang="en-US" sz="950" dirty="0"/>
          </a:p>
        </p:txBody>
      </p:sp>
      <p:sp>
        <p:nvSpPr>
          <p:cNvPr id="24" name="Shape 21"/>
          <p:cNvSpPr/>
          <p:nvPr/>
        </p:nvSpPr>
        <p:spPr>
          <a:xfrm>
            <a:off x="7269480" y="6035040"/>
            <a:ext cx="2148840" cy="274320"/>
          </a:xfrm>
          <a:prstGeom prst="roundRect">
            <a:avLst>
              <a:gd name="adj" fmla="val 50000"/>
            </a:avLst>
          </a:prstGeom>
          <a:solidFill>
            <a:srgbClr val="C77700"/>
          </a:solidFill>
          <a:ln w="12700">
            <a:solidFill>
              <a:srgbClr val="C77700"/>
            </a:solidFill>
            <a:prstDash val="solid"/>
          </a:ln>
        </p:spPr>
      </p:sp>
      <p:sp>
        <p:nvSpPr>
          <p:cNvPr id="25" name="Text 22"/>
          <p:cNvSpPr txBox="1"/>
          <p:nvPr/>
        </p:nvSpPr>
        <p:spPr>
          <a:xfrm>
            <a:off x="7269480" y="6035040"/>
            <a:ext cx="2148840" cy="274320"/>
          </a:xfrm>
          <a:prstGeom prst="rect">
            <a:avLst/>
          </a:prstGeom>
          <a:noFill/>
          <a:ln/>
        </p:spPr>
        <p:txBody>
          <a:bodyPr wrap="square" lIns="0" tIns="0" rIns="0" bIns="0" rtlCol="0" anchor="ctr"/>
          <a:lstStyle/>
          <a:p>
            <a:pPr algn="ctr" indent="0" marL="0">
              <a:buNone/>
            </a:pPr>
            <a:r>
              <a:rPr lang="ar-SA" sz="950" b="1" dirty="0">
                <a:solidFill>
                  <a:srgbClr val="FFFFFF"/>
                </a:solidFill>
                <a:latin typeface="Amiri" pitchFamily="2" charset="-78"/>
                <a:ea typeface="Amiri" pitchFamily="2" charset="-78"/>
                <a:cs typeface="Amiri" pitchFamily="2" charset="-78"/>
              </a:rPr>
              <a:t>هِيَ مُضْحِكَةٌ جِدًّا</a:t>
            </a:r>
            <a:endParaRPr lang="en-US" sz="950" dirty="0"/>
          </a:p>
        </p:txBody>
      </p:sp>
      <p:sp>
        <p:nvSpPr>
          <p:cNvPr id="26" name="Shape 23"/>
          <p:cNvSpPr/>
          <p:nvPr/>
        </p:nvSpPr>
        <p:spPr>
          <a:xfrm>
            <a:off x="9555480" y="6035040"/>
            <a:ext cx="2148840" cy="274320"/>
          </a:xfrm>
          <a:prstGeom prst="roundRect">
            <a:avLst>
              <a:gd name="adj" fmla="val 50000"/>
            </a:avLst>
          </a:prstGeom>
          <a:solidFill>
            <a:srgbClr val="7B3FA0"/>
          </a:solidFill>
          <a:ln w="12700">
            <a:solidFill>
              <a:srgbClr val="7B3FA0"/>
            </a:solidFill>
            <a:prstDash val="solid"/>
          </a:ln>
        </p:spPr>
      </p:sp>
      <p:sp>
        <p:nvSpPr>
          <p:cNvPr id="27" name="Text 24"/>
          <p:cNvSpPr txBox="1"/>
          <p:nvPr/>
        </p:nvSpPr>
        <p:spPr>
          <a:xfrm>
            <a:off x="9555480" y="6035040"/>
            <a:ext cx="2148840" cy="274320"/>
          </a:xfrm>
          <a:prstGeom prst="rect">
            <a:avLst/>
          </a:prstGeom>
          <a:noFill/>
          <a:ln/>
        </p:spPr>
        <p:txBody>
          <a:bodyPr wrap="square" lIns="0" tIns="0" rIns="0" bIns="0" rtlCol="0" anchor="ctr"/>
          <a:lstStyle/>
          <a:p>
            <a:pPr algn="ctr" indent="0" marL="0">
              <a:buNone/>
            </a:pPr>
            <a:r>
              <a:rPr lang="ar-SA" sz="950" b="1" dirty="0">
                <a:solidFill>
                  <a:srgbClr val="FFFFFF"/>
                </a:solidFill>
                <a:latin typeface="Amiri" pitchFamily="2" charset="-78"/>
                <a:ea typeface="Amiri" pitchFamily="2" charset="-78"/>
                <a:cs typeface="Amiri" pitchFamily="2" charset="-78"/>
              </a:rPr>
              <a:t>لِأَنَّهُ لَطِيفٌ</a:t>
            </a:r>
            <a:endParaRPr lang="en-US" sz="950" dirty="0"/>
          </a:p>
        </p:txBody>
      </p:sp>
      <p:sp>
        <p:nvSpPr>
          <p:cNvPr id="28" name="Text 25"/>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22 / 24</a:t>
            </a:r>
            <a:endParaRPr lang="en-US" sz="850" dirty="0"/>
          </a:p>
        </p:txBody>
      </p:sp>
    </p:spTree>
  </p:cSld>
  <p:clrMapOvr>
    <a:masterClrMapping/>
  </p:clrMapOvr>
</p:sld>
</file>

<file path=ppt/slides/slide23.xml><?xml version="1.0" encoding="utf-8"?>
<p:sld xmlns:a="http://schemas.openxmlformats.org/drawingml/2006/main" xmlns:r="http://schemas.openxmlformats.org/officeDocument/2006/relationships" xmlns:p="http://schemas.openxmlformats.org/presentationml/2006/main">
  <p:cSld name="Slide 23">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F3-W01 · Apply workshop</a:t>
            </a:r>
            <a:endParaRPr lang="en-US" sz="950" dirty="0"/>
          </a:p>
        </p:txBody>
      </p:sp>
      <p:sp>
        <p:nvSpPr>
          <p:cNvPr id="8" name="Shape 6"/>
          <p:cNvSpPr/>
          <p:nvPr/>
        </p:nvSpPr>
        <p:spPr>
          <a:xfrm>
            <a:off x="7143293" y="274320"/>
            <a:ext cx="1616659" cy="329184"/>
          </a:xfrm>
          <a:prstGeom prst="roundRect">
            <a:avLst>
              <a:gd name="adj" fmla="val 50000"/>
            </a:avLst>
          </a:prstGeom>
          <a:solidFill>
            <a:srgbClr val="8A6D1E"/>
          </a:solidFill>
          <a:ln w="12700">
            <a:solidFill>
              <a:srgbClr val="8A6D1E"/>
            </a:solidFill>
            <a:prstDash val="solid"/>
          </a:ln>
        </p:spPr>
      </p:sp>
      <p:sp>
        <p:nvSpPr>
          <p:cNvPr id="9" name="Text 7"/>
          <p:cNvSpPr txBox="1"/>
          <p:nvPr/>
        </p:nvSpPr>
        <p:spPr>
          <a:xfrm>
            <a:off x="7143293" y="274320"/>
            <a:ext cx="1616659"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FEEDBACK · 1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8A6D1E"/>
                </a:solidFill>
                <a:latin typeface="Calibri" pitchFamily="34" charset="0"/>
                <a:cs typeface="Amiri" pitchFamily="2" charset="-78"/>
              </a:rPr>
              <a:t>FEEDBACK · SUCCESS CRITERIA</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Check your work</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قَيِّمْ عَمَلَكَ</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Foundation F3 · My Family &amp; Home · F3-W01 · Apply workshop (F3-L01 + F3-L02)</a:t>
            </a:r>
            <a:endParaRPr lang="en-US" sz="850" dirty="0"/>
          </a:p>
        </p:txBody>
      </p:sp>
      <p:sp>
        <p:nvSpPr>
          <p:cNvPr id="15" name="Shape 12"/>
          <p:cNvSpPr/>
          <p:nvPr/>
        </p:nvSpPr>
        <p:spPr>
          <a:xfrm>
            <a:off x="457200" y="1810512"/>
            <a:ext cx="7406640" cy="771754"/>
          </a:xfrm>
          <a:prstGeom prst="roundRect">
            <a:avLst>
              <a:gd name="adj" fmla="val 9479"/>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685800" y="2086661"/>
            <a:ext cx="219456" cy="219456"/>
          </a:xfrm>
          <a:prstGeom prst="rect">
            <a:avLst/>
          </a:prstGeom>
          <a:solidFill>
            <a:srgbClr val="FFFFFF"/>
          </a:solidFill>
          <a:ln w="19050">
            <a:solidFill>
              <a:srgbClr val="2E8B57"/>
            </a:solidFill>
            <a:prstDash val="solid"/>
          </a:ln>
        </p:spPr>
      </p:sp>
      <p:sp>
        <p:nvSpPr>
          <p:cNvPr id="17" name="Text 14"/>
          <p:cNvSpPr txBox="1"/>
          <p:nvPr/>
        </p:nvSpPr>
        <p:spPr>
          <a:xfrm>
            <a:off x="1097280" y="1810512"/>
            <a:ext cx="5394960" cy="771754"/>
          </a:xfrm>
          <a:prstGeom prst="rect">
            <a:avLst/>
          </a:prstGeom>
          <a:noFill/>
          <a:ln/>
        </p:spPr>
        <p:txBody>
          <a:bodyPr wrap="square" lIns="0" tIns="0" rIns="0" bIns="0" rtlCol="0" anchor="ctr"/>
          <a:lstStyle/>
          <a:p>
            <a:pPr algn="l" indent="0" marL="0">
              <a:buNone/>
            </a:pPr>
            <a:r>
              <a:rPr lang="en-US" sz="1300" dirty="0">
                <a:solidFill>
                  <a:srgbClr val="1F2A37"/>
                </a:solidFill>
                <a:latin typeface="Calibri" pitchFamily="34" charset="0"/>
                <a:cs typeface="Amiri" pitchFamily="2" charset="-78"/>
              </a:rPr>
              <a:t>I answered questions from F3-L01 and F3-L02 in full sentences.</a:t>
            </a:r>
            <a:endParaRPr lang="en-US" sz="1300" dirty="0"/>
          </a:p>
        </p:txBody>
      </p:sp>
      <p:sp>
        <p:nvSpPr>
          <p:cNvPr id="18" name="Shape 15"/>
          <p:cNvSpPr/>
          <p:nvPr/>
        </p:nvSpPr>
        <p:spPr>
          <a:xfrm>
            <a:off x="6583680" y="2068373"/>
            <a:ext cx="1097280" cy="256032"/>
          </a:xfrm>
          <a:prstGeom prst="roundRect">
            <a:avLst>
              <a:gd name="adj" fmla="val 50000"/>
            </a:avLst>
          </a:prstGeom>
          <a:solidFill>
            <a:srgbClr val="2E8B57"/>
          </a:solidFill>
          <a:ln w="12700">
            <a:solidFill>
              <a:srgbClr val="2E8B57"/>
            </a:solidFill>
            <a:prstDash val="solid"/>
          </a:ln>
        </p:spPr>
      </p:sp>
      <p:sp>
        <p:nvSpPr>
          <p:cNvPr id="19" name="Text 16"/>
          <p:cNvSpPr txBox="1"/>
          <p:nvPr/>
        </p:nvSpPr>
        <p:spPr>
          <a:xfrm>
            <a:off x="6583680" y="2068373"/>
            <a:ext cx="109728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cs typeface="Amiri" pitchFamily="2" charset="-78"/>
              </a:rPr>
              <a:t>CORE</a:t>
            </a:r>
            <a:endParaRPr lang="en-US" sz="800" dirty="0"/>
          </a:p>
        </p:txBody>
      </p:sp>
      <p:sp>
        <p:nvSpPr>
          <p:cNvPr id="20" name="Shape 17"/>
          <p:cNvSpPr/>
          <p:nvPr/>
        </p:nvSpPr>
        <p:spPr>
          <a:xfrm>
            <a:off x="457200" y="2710282"/>
            <a:ext cx="7406640" cy="771754"/>
          </a:xfrm>
          <a:prstGeom prst="roundRect">
            <a:avLst>
              <a:gd name="adj" fmla="val 9479"/>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1" name="Shape 18"/>
          <p:cNvSpPr/>
          <p:nvPr/>
        </p:nvSpPr>
        <p:spPr>
          <a:xfrm>
            <a:off x="685800" y="2986430"/>
            <a:ext cx="219456" cy="219456"/>
          </a:xfrm>
          <a:prstGeom prst="rect">
            <a:avLst/>
          </a:prstGeom>
          <a:solidFill>
            <a:srgbClr val="FFFFFF"/>
          </a:solidFill>
          <a:ln w="19050">
            <a:solidFill>
              <a:srgbClr val="2E8B57"/>
            </a:solidFill>
            <a:prstDash val="solid"/>
          </a:ln>
        </p:spPr>
      </p:sp>
      <p:sp>
        <p:nvSpPr>
          <p:cNvPr id="22" name="Text 19"/>
          <p:cNvSpPr txBox="1"/>
          <p:nvPr/>
        </p:nvSpPr>
        <p:spPr>
          <a:xfrm>
            <a:off x="1097280" y="2710282"/>
            <a:ext cx="5394960" cy="771754"/>
          </a:xfrm>
          <a:prstGeom prst="rect">
            <a:avLst/>
          </a:prstGeom>
          <a:noFill/>
          <a:ln/>
        </p:spPr>
        <p:txBody>
          <a:bodyPr wrap="square" lIns="0" tIns="0" rIns="0" bIns="0" rtlCol="0" anchor="ctr"/>
          <a:lstStyle/>
          <a:p>
            <a:pPr algn="l" indent="0" marL="0">
              <a:buNone/>
            </a:pPr>
            <a:r>
              <a:rPr lang="en-US" sz="1300" dirty="0">
                <a:solidFill>
                  <a:srgbClr val="1F2A37"/>
                </a:solidFill>
                <a:latin typeface="Calibri" pitchFamily="34" charset="0"/>
                <a:cs typeface="Amiri" pitchFamily="2" charset="-78"/>
              </a:rPr>
              <a:t>I wrote a sentence for every bullet point.</a:t>
            </a:r>
            <a:endParaRPr lang="en-US" sz="1300" dirty="0"/>
          </a:p>
        </p:txBody>
      </p:sp>
      <p:sp>
        <p:nvSpPr>
          <p:cNvPr id="23" name="Shape 20"/>
          <p:cNvSpPr/>
          <p:nvPr/>
        </p:nvSpPr>
        <p:spPr>
          <a:xfrm>
            <a:off x="6583680" y="2968142"/>
            <a:ext cx="1097280" cy="256032"/>
          </a:xfrm>
          <a:prstGeom prst="roundRect">
            <a:avLst>
              <a:gd name="adj" fmla="val 50000"/>
            </a:avLst>
          </a:prstGeom>
          <a:solidFill>
            <a:srgbClr val="2E8B57"/>
          </a:solidFill>
          <a:ln w="12700">
            <a:solidFill>
              <a:srgbClr val="2E8B57"/>
            </a:solidFill>
            <a:prstDash val="solid"/>
          </a:ln>
        </p:spPr>
      </p:sp>
      <p:sp>
        <p:nvSpPr>
          <p:cNvPr id="24" name="Text 21"/>
          <p:cNvSpPr txBox="1"/>
          <p:nvPr/>
        </p:nvSpPr>
        <p:spPr>
          <a:xfrm>
            <a:off x="6583680" y="2968142"/>
            <a:ext cx="109728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cs typeface="Amiri" pitchFamily="2" charset="-78"/>
              </a:rPr>
              <a:t>CORE</a:t>
            </a:r>
            <a:endParaRPr lang="en-US" sz="800" dirty="0"/>
          </a:p>
        </p:txBody>
      </p:sp>
      <p:sp>
        <p:nvSpPr>
          <p:cNvPr id="25" name="Shape 22"/>
          <p:cNvSpPr/>
          <p:nvPr/>
        </p:nvSpPr>
        <p:spPr>
          <a:xfrm>
            <a:off x="457200" y="3610051"/>
            <a:ext cx="7406640" cy="771754"/>
          </a:xfrm>
          <a:prstGeom prst="roundRect">
            <a:avLst>
              <a:gd name="adj" fmla="val 9479"/>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6" name="Shape 23"/>
          <p:cNvSpPr/>
          <p:nvPr/>
        </p:nvSpPr>
        <p:spPr>
          <a:xfrm>
            <a:off x="685800" y="3886200"/>
            <a:ext cx="219456" cy="219456"/>
          </a:xfrm>
          <a:prstGeom prst="rect">
            <a:avLst/>
          </a:prstGeom>
          <a:solidFill>
            <a:srgbClr val="FFFFFF"/>
          </a:solidFill>
          <a:ln w="19050">
            <a:solidFill>
              <a:srgbClr val="C9780A"/>
            </a:solidFill>
            <a:prstDash val="solid"/>
          </a:ln>
        </p:spPr>
      </p:sp>
      <p:sp>
        <p:nvSpPr>
          <p:cNvPr id="27" name="Text 24"/>
          <p:cNvSpPr txBox="1"/>
          <p:nvPr/>
        </p:nvSpPr>
        <p:spPr>
          <a:xfrm>
            <a:off x="1097280" y="3610051"/>
            <a:ext cx="5394960" cy="771754"/>
          </a:xfrm>
          <a:prstGeom prst="rect">
            <a:avLst/>
          </a:prstGeom>
          <a:noFill/>
          <a:ln/>
        </p:spPr>
        <p:txBody>
          <a:bodyPr wrap="square" lIns="0" tIns="0" rIns="0" bIns="0" rtlCol="0" anchor="ctr"/>
          <a:lstStyle/>
          <a:p>
            <a:pPr algn="l" indent="0" marL="0">
              <a:buNone/>
            </a:pPr>
            <a:r>
              <a:rPr lang="en-US" sz="1300" dirty="0">
                <a:solidFill>
                  <a:srgbClr val="1F2A37"/>
                </a:solidFill>
                <a:latin typeface="Calibri" pitchFamily="34" charset="0"/>
                <a:cs typeface="Amiri" pitchFamily="2" charset="-78"/>
              </a:rPr>
              <a:t>I used language from BOTH lessons when I spoke and when I wrote.</a:t>
            </a:r>
            <a:endParaRPr lang="en-US" sz="1300" dirty="0"/>
          </a:p>
        </p:txBody>
      </p:sp>
      <p:sp>
        <p:nvSpPr>
          <p:cNvPr id="28" name="Shape 25"/>
          <p:cNvSpPr/>
          <p:nvPr/>
        </p:nvSpPr>
        <p:spPr>
          <a:xfrm>
            <a:off x="6583680" y="3867912"/>
            <a:ext cx="1097280" cy="256032"/>
          </a:xfrm>
          <a:prstGeom prst="roundRect">
            <a:avLst>
              <a:gd name="adj" fmla="val 50000"/>
            </a:avLst>
          </a:prstGeom>
          <a:solidFill>
            <a:srgbClr val="C9780A"/>
          </a:solidFill>
          <a:ln w="12700">
            <a:solidFill>
              <a:srgbClr val="C9780A"/>
            </a:solidFill>
            <a:prstDash val="solid"/>
          </a:ln>
        </p:spPr>
      </p:sp>
      <p:sp>
        <p:nvSpPr>
          <p:cNvPr id="29" name="Text 26"/>
          <p:cNvSpPr txBox="1"/>
          <p:nvPr/>
        </p:nvSpPr>
        <p:spPr>
          <a:xfrm>
            <a:off x="6583680" y="3867912"/>
            <a:ext cx="109728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cs typeface="Amiri" pitchFamily="2" charset="-78"/>
              </a:rPr>
              <a:t>DEVELOP</a:t>
            </a:r>
            <a:endParaRPr lang="en-US" sz="800" dirty="0"/>
          </a:p>
        </p:txBody>
      </p:sp>
      <p:sp>
        <p:nvSpPr>
          <p:cNvPr id="30" name="Shape 27"/>
          <p:cNvSpPr/>
          <p:nvPr/>
        </p:nvSpPr>
        <p:spPr>
          <a:xfrm>
            <a:off x="457200" y="4509821"/>
            <a:ext cx="7406640" cy="771754"/>
          </a:xfrm>
          <a:prstGeom prst="roundRect">
            <a:avLst>
              <a:gd name="adj" fmla="val 9479"/>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1" name="Shape 28"/>
          <p:cNvSpPr/>
          <p:nvPr/>
        </p:nvSpPr>
        <p:spPr>
          <a:xfrm>
            <a:off x="685800" y="4785970"/>
            <a:ext cx="219456" cy="219456"/>
          </a:xfrm>
          <a:prstGeom prst="rect">
            <a:avLst/>
          </a:prstGeom>
          <a:solidFill>
            <a:srgbClr val="FFFFFF"/>
          </a:solidFill>
          <a:ln w="19050">
            <a:solidFill>
              <a:srgbClr val="C9780A"/>
            </a:solidFill>
            <a:prstDash val="solid"/>
          </a:ln>
        </p:spPr>
      </p:sp>
      <p:sp>
        <p:nvSpPr>
          <p:cNvPr id="32" name="Text 29"/>
          <p:cNvSpPr txBox="1"/>
          <p:nvPr/>
        </p:nvSpPr>
        <p:spPr>
          <a:xfrm>
            <a:off x="1097280" y="4509821"/>
            <a:ext cx="5394960" cy="771754"/>
          </a:xfrm>
          <a:prstGeom prst="rect">
            <a:avLst/>
          </a:prstGeom>
          <a:noFill/>
          <a:ln/>
        </p:spPr>
        <p:txBody>
          <a:bodyPr wrap="square" lIns="0" tIns="0" rIns="0" bIns="0" rtlCol="0" anchor="ctr"/>
          <a:lstStyle/>
          <a:p>
            <a:pPr algn="l" indent="0" marL="0">
              <a:buNone/>
            </a:pPr>
            <a:r>
              <a:rPr lang="en-US" sz="1300" dirty="0">
                <a:solidFill>
                  <a:srgbClr val="1F2A37"/>
                </a:solidFill>
                <a:latin typeface="Calibri" pitchFamily="34" charset="0"/>
                <a:cs typeface="Amiri" pitchFamily="2" charset="-78"/>
              </a:rPr>
              <a:t>My buddy checked my text and I fixed one mistake.</a:t>
            </a:r>
            <a:endParaRPr lang="en-US" sz="1300" dirty="0"/>
          </a:p>
        </p:txBody>
      </p:sp>
      <p:sp>
        <p:nvSpPr>
          <p:cNvPr id="33" name="Shape 30"/>
          <p:cNvSpPr/>
          <p:nvPr/>
        </p:nvSpPr>
        <p:spPr>
          <a:xfrm>
            <a:off x="6583680" y="4767682"/>
            <a:ext cx="1097280" cy="256032"/>
          </a:xfrm>
          <a:prstGeom prst="roundRect">
            <a:avLst>
              <a:gd name="adj" fmla="val 50000"/>
            </a:avLst>
          </a:prstGeom>
          <a:solidFill>
            <a:srgbClr val="C9780A"/>
          </a:solidFill>
          <a:ln w="12700">
            <a:solidFill>
              <a:srgbClr val="C9780A"/>
            </a:solidFill>
            <a:prstDash val="solid"/>
          </a:ln>
        </p:spPr>
      </p:sp>
      <p:sp>
        <p:nvSpPr>
          <p:cNvPr id="34" name="Text 31"/>
          <p:cNvSpPr txBox="1"/>
          <p:nvPr/>
        </p:nvSpPr>
        <p:spPr>
          <a:xfrm>
            <a:off x="6583680" y="4767682"/>
            <a:ext cx="109728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cs typeface="Amiri" pitchFamily="2" charset="-78"/>
              </a:rPr>
              <a:t>DEVELOP</a:t>
            </a:r>
            <a:endParaRPr lang="en-US" sz="800" dirty="0"/>
          </a:p>
        </p:txBody>
      </p:sp>
      <p:sp>
        <p:nvSpPr>
          <p:cNvPr id="35" name="Shape 32"/>
          <p:cNvSpPr/>
          <p:nvPr/>
        </p:nvSpPr>
        <p:spPr>
          <a:xfrm>
            <a:off x="457200" y="5409590"/>
            <a:ext cx="7406640" cy="771754"/>
          </a:xfrm>
          <a:prstGeom prst="roundRect">
            <a:avLst>
              <a:gd name="adj" fmla="val 9479"/>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6" name="Shape 33"/>
          <p:cNvSpPr/>
          <p:nvPr/>
        </p:nvSpPr>
        <p:spPr>
          <a:xfrm>
            <a:off x="685800" y="5685739"/>
            <a:ext cx="219456" cy="219456"/>
          </a:xfrm>
          <a:prstGeom prst="rect">
            <a:avLst/>
          </a:prstGeom>
          <a:solidFill>
            <a:srgbClr val="FFFFFF"/>
          </a:solidFill>
          <a:ln w="19050">
            <a:solidFill>
              <a:srgbClr val="B83227"/>
            </a:solidFill>
            <a:prstDash val="solid"/>
          </a:ln>
        </p:spPr>
      </p:sp>
      <p:sp>
        <p:nvSpPr>
          <p:cNvPr id="37" name="Text 34"/>
          <p:cNvSpPr txBox="1"/>
          <p:nvPr/>
        </p:nvSpPr>
        <p:spPr>
          <a:xfrm>
            <a:off x="1097280" y="5409590"/>
            <a:ext cx="5394960" cy="771754"/>
          </a:xfrm>
          <a:prstGeom prst="rect">
            <a:avLst/>
          </a:prstGeom>
          <a:noFill/>
          <a:ln/>
        </p:spPr>
        <p:txBody>
          <a:bodyPr wrap="square" lIns="0" tIns="0" rIns="0" bIns="0" rtlCol="0" anchor="ctr"/>
          <a:lstStyle/>
          <a:p>
            <a:pPr algn="l" indent="0" marL="0">
              <a:buNone/>
            </a:pPr>
            <a:r>
              <a:rPr lang="en-US" sz="1300" dirty="0">
                <a:solidFill>
                  <a:srgbClr val="1F2A37"/>
                </a:solidFill>
                <a:latin typeface="Calibri" pitchFamily="34" charset="0"/>
                <a:cs typeface="Amiri" pitchFamily="2" charset="-78"/>
              </a:rPr>
              <a:t>I added reasons (</a:t>
            </a:r>
            <a:pPr algn="l" indent="0" marL="0">
              <a:buNone/>
            </a:pPr>
            <a:r>
              <a:rPr lang="ar-SA" altLang="en-US" sz="1700" dirty="0">
                <a:solidFill>
                  <a:srgbClr val="1F2A37"/>
                </a:solidFill>
                <a:latin typeface="Amiri" pitchFamily="2" charset="-78"/>
                <a:ea typeface="Amiri" pitchFamily="2" charset="-78"/>
                <a:cs typeface="Amiri" pitchFamily="2" charset="-78"/>
              </a:rPr>
              <a:t>لِأَنَّ</a:t>
            </a:r>
            <a:pPr algn="l" indent="0" marL="0">
              <a:buNone/>
            </a:pPr>
            <a:r>
              <a:rPr lang="en-US" sz="1300" dirty="0">
                <a:solidFill>
                  <a:srgbClr val="1F2A37"/>
                </a:solidFill>
                <a:latin typeface="Calibri" pitchFamily="34" charset="0"/>
                <a:cs typeface="Amiri" pitchFamily="2" charset="-78"/>
              </a:rPr>
              <a:t>) and extra details without frames.</a:t>
            </a:r>
            <a:endParaRPr lang="en-US" sz="1300" dirty="0"/>
          </a:p>
        </p:txBody>
      </p:sp>
      <p:sp>
        <p:nvSpPr>
          <p:cNvPr id="38" name="Shape 35"/>
          <p:cNvSpPr/>
          <p:nvPr/>
        </p:nvSpPr>
        <p:spPr>
          <a:xfrm>
            <a:off x="6583680" y="5667451"/>
            <a:ext cx="1097280" cy="256032"/>
          </a:xfrm>
          <a:prstGeom prst="roundRect">
            <a:avLst>
              <a:gd name="adj" fmla="val 50000"/>
            </a:avLst>
          </a:prstGeom>
          <a:solidFill>
            <a:srgbClr val="B83227"/>
          </a:solidFill>
          <a:ln w="12700">
            <a:solidFill>
              <a:srgbClr val="B83227"/>
            </a:solidFill>
            <a:prstDash val="solid"/>
          </a:ln>
        </p:spPr>
      </p:sp>
      <p:sp>
        <p:nvSpPr>
          <p:cNvPr id="39" name="Text 36"/>
          <p:cNvSpPr txBox="1"/>
          <p:nvPr/>
        </p:nvSpPr>
        <p:spPr>
          <a:xfrm>
            <a:off x="6583680" y="5667451"/>
            <a:ext cx="109728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cs typeface="Amiri" pitchFamily="2" charset="-78"/>
              </a:rPr>
              <a:t>STRETCH</a:t>
            </a:r>
            <a:endParaRPr lang="en-US" sz="800" dirty="0"/>
          </a:p>
        </p:txBody>
      </p:sp>
      <p:sp>
        <p:nvSpPr>
          <p:cNvPr id="40" name="Shape 37"/>
          <p:cNvSpPr/>
          <p:nvPr/>
        </p:nvSpPr>
        <p:spPr>
          <a:xfrm>
            <a:off x="8092440" y="1810512"/>
            <a:ext cx="3639312" cy="2084832"/>
          </a:xfrm>
          <a:prstGeom prst="roundRect">
            <a:avLst>
              <a:gd name="adj" fmla="val 3509"/>
            </a:avLst>
          </a:prstGeom>
          <a:solidFill>
            <a:srgbClr val="E9F5EE"/>
          </a:solidFill>
          <a:ln w="9525">
            <a:solidFill>
              <a:srgbClr val="9CCFB0"/>
            </a:solidFill>
            <a:prstDash val="solid"/>
          </a:ln>
          <a:effectLst>
            <a:outerShdw sx="100000" sy="100000" kx="0" ky="0" algn="bl" rotWithShape="0" blurRad="50800" dist="19050" dir="5400000">
              <a:srgbClr val="000000">
                <a:alpha val="10000"/>
              </a:srgbClr>
            </a:outerShdw>
          </a:effectLst>
        </p:spPr>
      </p:sp>
      <p:sp>
        <p:nvSpPr>
          <p:cNvPr id="41" name="Text 38"/>
          <p:cNvSpPr txBox="1"/>
          <p:nvPr/>
        </p:nvSpPr>
        <p:spPr>
          <a:xfrm>
            <a:off x="8275320" y="1920240"/>
            <a:ext cx="3273552" cy="1828800"/>
          </a:xfrm>
          <a:prstGeom prst="rect">
            <a:avLst/>
          </a:prstGeom>
          <a:noFill/>
          <a:ln/>
        </p:spPr>
        <p:txBody>
          <a:bodyPr wrap="square" lIns="0" tIns="0" rIns="0" bIns="0" rtlCol="0" anchor="ctr"/>
          <a:lstStyle/>
          <a:p>
            <a:pPr indent="0" marL="0">
              <a:buNone/>
            </a:pPr>
            <a:r>
              <a:rPr lang="en-US" sz="1800" b="1" dirty="0">
                <a:solidFill>
                  <a:srgbClr val="2E8B57"/>
                </a:solidFill>
                <a:latin typeface="Calibri" pitchFamily="34" charset="0"/>
                <a:cs typeface="Amiri" pitchFamily="2" charset="-78"/>
              </a:rPr>
              <a:t>WWW</a:t>
            </a:r>
            <a:endParaRPr lang="en-US" sz="1800" dirty="0"/>
          </a:p>
          <a:p>
            <a:pPr indent="0" marL="0">
              <a:buNone/>
            </a:pPr>
            <a:r>
              <a:rPr lang="en-US" sz="1200" dirty="0">
                <a:solidFill>
                  <a:srgbClr val="1F2A37"/>
                </a:solidFill>
                <a:latin typeface="Calibri" pitchFamily="34" charset="0"/>
                <a:cs typeface="Amiri" pitchFamily="2" charset="-78"/>
              </a:rPr>
              <a:t>What went well? One thing you did accurately.</a:t>
            </a:r>
            <a:endParaRPr lang="en-US" sz="1800" dirty="0"/>
          </a:p>
        </p:txBody>
      </p:sp>
      <p:sp>
        <p:nvSpPr>
          <p:cNvPr id="42" name="Shape 39"/>
          <p:cNvSpPr/>
          <p:nvPr/>
        </p:nvSpPr>
        <p:spPr>
          <a:xfrm>
            <a:off x="8092440" y="4041648"/>
            <a:ext cx="3639312" cy="2084832"/>
          </a:xfrm>
          <a:prstGeom prst="roundRect">
            <a:avLst>
              <a:gd name="adj" fmla="val 3509"/>
            </a:avLst>
          </a:prstGeom>
          <a:solidFill>
            <a:srgbClr val="FFF4E0"/>
          </a:solidFill>
          <a:ln w="9525">
            <a:solidFill>
              <a:srgbClr val="E8D49A"/>
            </a:solidFill>
            <a:prstDash val="solid"/>
          </a:ln>
          <a:effectLst>
            <a:outerShdw sx="100000" sy="100000" kx="0" ky="0" algn="bl" rotWithShape="0" blurRad="50800" dist="19050" dir="5400000">
              <a:srgbClr val="000000">
                <a:alpha val="10000"/>
              </a:srgbClr>
            </a:outerShdw>
          </a:effectLst>
        </p:spPr>
      </p:sp>
      <p:sp>
        <p:nvSpPr>
          <p:cNvPr id="43" name="Text 40"/>
          <p:cNvSpPr txBox="1"/>
          <p:nvPr/>
        </p:nvSpPr>
        <p:spPr>
          <a:xfrm>
            <a:off x="8275320" y="4151376"/>
            <a:ext cx="3273552" cy="1828800"/>
          </a:xfrm>
          <a:prstGeom prst="rect">
            <a:avLst/>
          </a:prstGeom>
          <a:noFill/>
          <a:ln/>
        </p:spPr>
        <p:txBody>
          <a:bodyPr wrap="square" lIns="0" tIns="0" rIns="0" bIns="0" rtlCol="0" anchor="ctr"/>
          <a:lstStyle/>
          <a:p>
            <a:pPr indent="0" marL="0">
              <a:buNone/>
            </a:pPr>
            <a:r>
              <a:rPr lang="en-US" sz="1800" b="1" dirty="0">
                <a:solidFill>
                  <a:srgbClr val="C9780A"/>
                </a:solidFill>
                <a:latin typeface="Calibri" pitchFamily="34" charset="0"/>
                <a:cs typeface="Amiri" pitchFamily="2" charset="-78"/>
              </a:rPr>
              <a:t>EBI</a:t>
            </a:r>
            <a:endParaRPr lang="en-US" sz="1800" dirty="0"/>
          </a:p>
          <a:p>
            <a:pPr indent="0" marL="0">
              <a:buNone/>
            </a:pPr>
            <a:r>
              <a:rPr lang="en-US" sz="1200" dirty="0">
                <a:solidFill>
                  <a:srgbClr val="1F2A37"/>
                </a:solidFill>
                <a:latin typeface="Calibri" pitchFamily="34" charset="0"/>
                <a:cs typeface="Amiri" pitchFamily="2" charset="-78"/>
              </a:rPr>
              <a:t>Even better if… One thing you will fix or add.</a:t>
            </a:r>
            <a:endParaRPr lang="en-US" sz="1800" dirty="0"/>
          </a:p>
        </p:txBody>
      </p:sp>
      <p:sp>
        <p:nvSpPr>
          <p:cNvPr id="44" name="Text 41"/>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23 / 24</a:t>
            </a:r>
            <a:endParaRPr lang="en-US" sz="850" dirty="0"/>
          </a:p>
        </p:txBody>
      </p:sp>
    </p:spTree>
  </p:cSld>
  <p:clrMapOvr>
    <a:masterClrMapping/>
  </p:clrMapOvr>
</p:sld>
</file>

<file path=ppt/slides/slide24.xml><?xml version="1.0" encoding="utf-8"?>
<p:sld xmlns:a="http://schemas.openxmlformats.org/drawingml/2006/main" xmlns:r="http://schemas.openxmlformats.org/officeDocument/2006/relationships" xmlns:p="http://schemas.openxmlformats.org/presentationml/2006/main">
  <p:cSld name="Slide 24">
    <p:bg>
      <p:bgPr>
        <a:solidFill>
          <a:srgbClr val="0D1F3C"/>
        </a:solidFill>
      </p:bgPr>
    </p:bg>
    <p:spTree>
      <p:nvGrpSpPr>
        <p:cNvPr id="1" name=""/>
        <p:cNvGrpSpPr/>
        <p:nvPr/>
      </p:nvGrpSpPr>
      <p:grpSpPr>
        <a:xfrm>
          <a:off x="0" y="0"/>
          <a:ext cx="0" cy="0"/>
          <a:chOff x="0" y="0"/>
          <a:chExt cx="0" cy="0"/>
        </a:xfrm>
      </p:grpSpPr>
      <p:sp>
        <p:nvSpPr>
          <p:cNvPr id="2" name="Shape 0"/>
          <p:cNvSpPr/>
          <p:nvPr/>
        </p:nvSpPr>
        <p:spPr>
          <a:xfrm>
            <a:off x="7863840" y="1097280"/>
            <a:ext cx="5852160" cy="5852160"/>
          </a:xfrm>
          <a:prstGeom prst="ellipse">
            <a:avLst/>
          </a:prstGeom>
          <a:solidFill>
            <a:srgbClr val="14315C"/>
          </a:solidFill>
          <a:ln w="12700">
            <a:solidFill>
              <a:srgbClr val="14315C"/>
            </a:solidFill>
            <a:prstDash val="solid"/>
          </a:ln>
        </p:spPr>
      </p:sp>
      <p:sp>
        <p:nvSpPr>
          <p:cNvPr id="3" name="Shape 1"/>
          <p:cNvSpPr/>
          <p:nvPr/>
        </p:nvSpPr>
        <p:spPr>
          <a:xfrm>
            <a:off x="9372600" y="2606040"/>
            <a:ext cx="1737360" cy="1737360"/>
          </a:xfrm>
          <a:prstGeom prst="ellipse">
            <a:avLst/>
          </a:prstGeom>
          <a:solidFill>
            <a:srgbClr val="D4AF37"/>
          </a:solidFill>
          <a:ln w="12700">
            <a:solidFill>
              <a:srgbClr val="D4AF37"/>
            </a:solidFill>
            <a:prstDash val="solid"/>
          </a:ln>
        </p:spPr>
      </p:sp>
      <p:pic>
        <p:nvPicPr>
          <p:cNvPr id="4" name="Image 0" descr="preencoded.png">    </p:cNvPr>
          <p:cNvPicPr>
            <a:picLocks noChangeAspect="1"/>
          </p:cNvPicPr>
          <p:nvPr/>
        </p:nvPicPr>
        <p:blipFill>
          <a:blip r:embed="rId1"/>
          <a:stretch>
            <a:fillRect/>
          </a:stretch>
        </p:blipFill>
        <p:spPr>
          <a:xfrm>
            <a:off x="9710928" y="2944368"/>
            <a:ext cx="1060704" cy="1060704"/>
          </a:xfrm>
          <a:prstGeom prst="rect">
            <a:avLst/>
          </a:prstGeom>
        </p:spPr>
      </p:pic>
      <p:sp>
        <p:nvSpPr>
          <p:cNvPr id="5" name="Text 2"/>
          <p:cNvSpPr txBox="1"/>
          <p:nvPr/>
        </p:nvSpPr>
        <p:spPr>
          <a:xfrm>
            <a:off x="457200" y="1280160"/>
            <a:ext cx="5486400" cy="274320"/>
          </a:xfrm>
          <a:prstGeom prst="rect">
            <a:avLst/>
          </a:prstGeom>
          <a:noFill/>
          <a:ln/>
        </p:spPr>
        <p:txBody>
          <a:bodyPr wrap="square" lIns="0" tIns="0" rIns="0" bIns="0" rtlCol="0" anchor="ctr"/>
          <a:lstStyle/>
          <a:p>
            <a:pPr algn="l" indent="0" marL="0">
              <a:buNone/>
            </a:pPr>
            <a:r>
              <a:rPr lang="en-US" sz="1100" b="1" spc="300" kern="0" dirty="0">
                <a:solidFill>
                  <a:srgbClr val="D4AF37"/>
                </a:solidFill>
                <a:latin typeface="Calibri" pitchFamily="34" charset="0"/>
                <a:cs typeface="Amiri" pitchFamily="2" charset="-78"/>
              </a:rPr>
              <a:t>F3-W01 COMPLETE</a:t>
            </a:r>
            <a:endParaRPr lang="en-US" sz="1100" dirty="0"/>
          </a:p>
        </p:txBody>
      </p:sp>
      <p:sp>
        <p:nvSpPr>
          <p:cNvPr id="6" name="Text 3"/>
          <p:cNvSpPr txBox="1"/>
          <p:nvPr/>
        </p:nvSpPr>
        <p:spPr>
          <a:xfrm>
            <a:off x="457200" y="1691640"/>
            <a:ext cx="7315200" cy="914400"/>
          </a:xfrm>
          <a:prstGeom prst="rect">
            <a:avLst/>
          </a:prstGeom>
          <a:noFill/>
          <a:ln/>
        </p:spPr>
        <p:txBody>
          <a:bodyPr wrap="square" lIns="0" tIns="0" rIns="0" bIns="0" rtlCol="0" anchor="ctr"/>
          <a:lstStyle/>
          <a:p>
            <a:pPr rtl="1" algn="l" indent="0" marL="0">
              <a:buNone/>
            </a:pPr>
            <a:r>
              <a:rPr lang="ar-SA" altLang="en-US" sz="4000" b="1" dirty="0">
                <a:solidFill>
                  <a:srgbClr val="FFFFFF"/>
                </a:solidFill>
                <a:latin typeface="Amiri" pitchFamily="2" charset="-78"/>
                <a:ea typeface="Amiri" pitchFamily="2" charset="-78"/>
                <a:cs typeface="Amiri" pitchFamily="2" charset="-78"/>
              </a:rPr>
              <a:t>أَحْسَنْتُمْ! إِلَى اللِّقَاءِ</a:t>
            </a:r>
            <a:endParaRPr lang="ar-SA" sz="4000" dirty="0"/>
          </a:p>
        </p:txBody>
      </p:sp>
      <p:sp>
        <p:nvSpPr>
          <p:cNvPr id="7" name="Text 4"/>
          <p:cNvSpPr txBox="1"/>
          <p:nvPr/>
        </p:nvSpPr>
        <p:spPr>
          <a:xfrm>
            <a:off x="457200" y="2606040"/>
            <a:ext cx="7315200" cy="411480"/>
          </a:xfrm>
          <a:prstGeom prst="rect">
            <a:avLst/>
          </a:prstGeom>
          <a:noFill/>
          <a:ln/>
        </p:spPr>
        <p:txBody>
          <a:bodyPr wrap="square" lIns="0" tIns="0" rIns="0" bIns="0" rtlCol="0" anchor="ctr"/>
          <a:lstStyle/>
          <a:p>
            <a:pPr algn="l" indent="0" marL="0">
              <a:buNone/>
            </a:pPr>
            <a:r>
              <a:rPr lang="en-US" sz="1600" i="1" dirty="0">
                <a:solidFill>
                  <a:srgbClr val="C6D2E6"/>
                </a:solidFill>
                <a:latin typeface="Calibri" pitchFamily="34" charset="0"/>
                <a:cs typeface="Amiri" pitchFamily="2" charset="-78"/>
              </a:rPr>
              <a:t>Well done — you used two lessons together!</a:t>
            </a:r>
            <a:endParaRPr lang="en-US" sz="1600" dirty="0"/>
          </a:p>
        </p:txBody>
      </p:sp>
      <p:sp>
        <p:nvSpPr>
          <p:cNvPr id="8" name="Text 5"/>
          <p:cNvSpPr txBox="1"/>
          <p:nvPr/>
        </p:nvSpPr>
        <p:spPr>
          <a:xfrm>
            <a:off x="457200" y="3566160"/>
            <a:ext cx="5486400" cy="274320"/>
          </a:xfrm>
          <a:prstGeom prst="rect">
            <a:avLst/>
          </a:prstGeom>
          <a:noFill/>
          <a:ln/>
        </p:spPr>
        <p:txBody>
          <a:bodyPr wrap="square" lIns="0" tIns="0" rIns="0" bIns="0" rtlCol="0" anchor="ctr"/>
          <a:lstStyle/>
          <a:p>
            <a:pPr algn="l" indent="0" marL="0">
              <a:buNone/>
            </a:pPr>
            <a:r>
              <a:rPr lang="en-US" sz="1100" b="1" spc="300" kern="0" dirty="0">
                <a:solidFill>
                  <a:srgbClr val="D4AF37"/>
                </a:solidFill>
                <a:latin typeface="Calibri" pitchFamily="34" charset="0"/>
                <a:cs typeface="Amiri" pitchFamily="2" charset="-78"/>
              </a:rPr>
              <a:t>NEXT LESSON</a:t>
            </a:r>
            <a:endParaRPr lang="en-US" sz="1100" dirty="0"/>
          </a:p>
        </p:txBody>
      </p:sp>
      <p:sp>
        <p:nvSpPr>
          <p:cNvPr id="9" name="Text 6"/>
          <p:cNvSpPr txBox="1"/>
          <p:nvPr/>
        </p:nvSpPr>
        <p:spPr>
          <a:xfrm>
            <a:off x="457200" y="3886200"/>
            <a:ext cx="7315200" cy="548640"/>
          </a:xfrm>
          <a:prstGeom prst="rect">
            <a:avLst/>
          </a:prstGeom>
          <a:noFill/>
          <a:ln/>
        </p:spPr>
        <p:txBody>
          <a:bodyPr wrap="square" lIns="0" tIns="0" rIns="0" bIns="0" rtlCol="0" anchor="ctr"/>
          <a:lstStyle/>
          <a:p>
            <a:pPr algn="l" indent="0" marL="0">
              <a:buNone/>
            </a:pPr>
            <a:r>
              <a:rPr lang="en-US" sz="1950" b="1" dirty="0">
                <a:solidFill>
                  <a:srgbClr val="FFFFFF"/>
                </a:solidFill>
                <a:latin typeface="Cambria" pitchFamily="34" charset="0"/>
                <a:cs typeface="Amiri" pitchFamily="2" charset="-78"/>
              </a:rPr>
              <a:t>F3-L03 · My Home — Rooms and Parts of the House</a:t>
            </a:r>
            <a:endParaRPr lang="en-US" sz="1950" dirty="0"/>
          </a:p>
        </p:txBody>
      </p:sp>
      <p:sp>
        <p:nvSpPr>
          <p:cNvPr id="10" name="Text 7"/>
          <p:cNvSpPr txBox="1"/>
          <p:nvPr/>
        </p:nvSpPr>
        <p:spPr>
          <a:xfrm>
            <a:off x="457200" y="4434840"/>
            <a:ext cx="7315200" cy="548640"/>
          </a:xfrm>
          <a:prstGeom prst="rect">
            <a:avLst/>
          </a:prstGeom>
          <a:noFill/>
          <a:ln/>
        </p:spPr>
        <p:txBody>
          <a:bodyPr wrap="square" lIns="0" tIns="0" rIns="0" bIns="0" rtlCol="0" anchor="ctr"/>
          <a:lstStyle/>
          <a:p>
            <a:pPr rtl="1" algn="l" indent="0" marL="0">
              <a:buNone/>
            </a:pPr>
            <a:r>
              <a:rPr lang="ar-SA" altLang="en-US" sz="2400" b="1" dirty="0">
                <a:solidFill>
                  <a:srgbClr val="D4AF37"/>
                </a:solidFill>
                <a:latin typeface="Amiri" pitchFamily="2" charset="-78"/>
                <a:ea typeface="Amiri" pitchFamily="2" charset="-78"/>
                <a:cs typeface="Amiri" pitchFamily="2" charset="-78"/>
              </a:rPr>
              <a:t>بَيْتِي — الغُرَفُ وَأَجْزَاءُ المَنْزِلِ</a:t>
            </a:r>
            <a:endParaRPr lang="ar-SA" sz="2400" dirty="0"/>
          </a:p>
        </p:txBody>
      </p:sp>
      <p:sp>
        <p:nvSpPr>
          <p:cNvPr id="11" name="Text 8"/>
          <p:cNvSpPr txBox="1"/>
          <p:nvPr/>
        </p:nvSpPr>
        <p:spPr>
          <a:xfrm>
            <a:off x="457200" y="5303520"/>
            <a:ext cx="7315200" cy="365760"/>
          </a:xfrm>
          <a:prstGeom prst="rect">
            <a:avLst/>
          </a:prstGeom>
          <a:noFill/>
          <a:ln/>
        </p:spPr>
        <p:txBody>
          <a:bodyPr wrap="square" lIns="0" tIns="0" rIns="0" bIns="0" rtlCol="0" anchor="ctr"/>
          <a:lstStyle/>
          <a:p>
            <a:pPr algn="l" indent="0" marL="0">
              <a:buNone/>
            </a:pPr>
            <a:r>
              <a:rPr lang="en-US" sz="1300" b="1" dirty="0">
                <a:solidFill>
                  <a:srgbClr val="FFFFFF"/>
                </a:solidFill>
                <a:latin typeface="Calibri" pitchFamily="34" charset="0"/>
                <a:cs typeface="Amiri" pitchFamily="2" charset="-78"/>
              </a:rPr>
              <a:t>Remember: keep using this week’s language — say it, then write it.</a:t>
            </a:r>
            <a:endParaRPr lang="en-US" sz="1300" dirty="0"/>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Amiri" pitchFamily="2" charset="-78"/>
        <a:cs typeface="Amiri" pitchFamily="2" charset="-78"/>
        <a:font script="Arab" typeface="Amiri"/>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Amiri" pitchFamily="2" charset="-78"/>
        <a:cs typeface="Amiri" pitchFamily="2" charset="-78"/>
        <a:font script="Arab" typeface="Amiri"/>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24</Slides>
  <Notes>24</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24</vt:i4>
      </vt:variant>
    </vt:vector>
  </HeadingPairs>
  <TitlesOfParts>
    <vt:vector size="27"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lpstr>Slide 14</vt:lpstr>
      <vt:lpstr>Slide 15</vt:lpstr>
      <vt:lpstr>Slide 16</vt:lpstr>
      <vt:lpstr>Slide 17</vt:lpstr>
      <vt:lpstr>Slide 18</vt:lpstr>
      <vt:lpstr>Slide 19</vt:lpstr>
      <vt:lpstr>Slide 20</vt:lpstr>
      <vt:lpstr>Slide 21</vt:lpstr>
      <vt:lpstr>Slide 22</vt:lpstr>
      <vt:lpstr>Slide 23</vt:lpstr>
      <vt:lpstr>Slide 24</vt:lpstr>
    </vt:vector>
  </TitlesOfParts>
  <Company>Al Madina Online School</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F3-W01 · Apply Workshop — Our Family Photo Album</dc:title>
  <dc:subject>PptxGenJS Presentation</dc:subject>
  <dc:creator>Al Madina Online School · Arabic Department</dc:creator>
  <cp:lastModifiedBy>Al Madina Online School · Arabic Department</cp:lastModifiedBy>
  <cp:revision>1</cp:revision>
  <dcterms:created xsi:type="dcterms:W3CDTF">2026-10-26T14:59:43Z</dcterms:created>
  <dcterms:modified xsi:type="dcterms:W3CDTF">2026-10-26T14:59:43Z</dcterms:modified>
</cp:coreProperties>
</file>