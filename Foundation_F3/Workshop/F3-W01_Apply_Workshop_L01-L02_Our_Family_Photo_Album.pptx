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F3-L01 · Learn F3-L02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F3-L01 (My Family — Members and Relationships) and F3-L02 (Describing Family Members).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F3-L01 and F3-L02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F3-L01? After F3-L02?” Take two answers in the chat for each lesson (one word or one sentence is enough). Then read objective 3 — today’s new situation that needs BOTH lessons. Students tick their route goals at the end of the lesson.
F3-L01 language: family words; possessive endings (-ī · -ka · -ki · -hu · -hā); hādhā / hādhihi; ismuhu / ismuhā
F3-L02 language: adjective agreement (m. / f.); shaʿruhu / shaʿruhā + colour; ʿaynāhu / ʿaynāhā; huwa / hiya + two adjectives; jiddan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F3-L01 and F3-L02. Teacher reads it once with a confident student; then pairs. Ask: “Which lines are from F3-L01? Which from F3-L02?” Family words and هٰذَا / هٰذِهِ come from F3-L01; appearance and personality adjectives that agree from F3-L02. Ask: why مُضْحِكَةٌ but 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family members and possessive endings (F3-L01) with descriptions that agree, hair and personality (F3-L02). SUPPORTED: the plan column gives the first words, not the full answer. To a girl Partner A says: كَمْ شَخْصًا فِي عَائِلَتِكِ؟ · كَيْفَ يَبْدُو أَخُوكِ؟ · مَنْ تُحِبِّينَ؟.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F3-L01 and F3-L02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F3-L01 and F3-L02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(40 words). CHECK YOURSELF (2 min). Find each bullet point in the model, and one phrase from F3-L01 and one from F3-L02.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F3-L01 + F3-L02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Our Family Photo Album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أَلْبُومُ صُوَرِ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family words and descriptions: they show a family photo, say who each person is and describe them (appearance and personality), give a short talk about two relatives and write a photo-album page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F3-L01 + F3-L02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F3-L01 and F3-L02.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F3-L01 + F3-L02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F3-L01: My Family — Members and Relationships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F3-L02: Describing Family Members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showing photos to a new friend · A page in our family photo album</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F3-L01 and F3-L02.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F3-L01 · My Family — Members and Relationships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this: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 / وَالِدٌ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father</a:t>
            </a:r>
            <a:endParaRPr lang="en-US" sz="1350" dirty="0"/>
          </a:p>
          <a:p>
            <a:pPr indent="0" marL="0">
              <a:buNone/>
            </a:pPr>
            <a:r>
              <a:rPr lang="en-US" sz="1100" i="1" dirty="0">
                <a:solidFill>
                  <a:srgbClr val="5A6472"/>
                </a:solidFill>
                <a:latin typeface="Calibri" pitchFamily="34" charset="0"/>
                <a:cs typeface="Amiri" pitchFamily="2" charset="-78"/>
              </a:rPr>
              <a:t>ab / wā-lid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sister</a:t>
            </a:r>
            <a:endParaRPr lang="en-US" sz="1350" dirty="0"/>
          </a:p>
          <a:p>
            <a:pPr indent="0" marL="0">
              <a:buNone/>
            </a:pPr>
            <a:r>
              <a:rPr lang="en-US" sz="1100" i="1" dirty="0">
                <a:solidFill>
                  <a:srgbClr val="5A6472"/>
                </a:solidFill>
                <a:latin typeface="Calibri" pitchFamily="34" charset="0"/>
                <a:cs typeface="Amiri" pitchFamily="2" charset="-78"/>
              </a:rPr>
              <a:t>ukht</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أَخَوَاتٌ</a:t>
            </a:r>
            <a:endParaRPr lang="ar-SA" sz="150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4" name="Text 4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أُخْتُهُ</a:t>
            </a:r>
            <a:endParaRPr lang="ar-SA" sz="150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أُخْتِي</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a:t>
            </a:r>
            <a:endParaRPr lang="en-US" sz="1350" dirty="0"/>
          </a:p>
          <a:p>
            <a:pPr indent="0" marL="0">
              <a:buNone/>
            </a:pPr>
            <a:r>
              <a:rPr lang="en-US" sz="1100" i="1" dirty="0">
                <a:solidFill>
                  <a:srgbClr val="5A6472"/>
                </a:solidFill>
                <a:latin typeface="Calibri" pitchFamily="34" charset="0"/>
                <a:cs typeface="Amiri" pitchFamily="2" charset="-78"/>
              </a:rPr>
              <a:t>jadd</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6" name="Shape 6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(father’s side)</a:t>
            </a:r>
            <a:endParaRPr lang="en-US" sz="1350" dirty="0"/>
          </a:p>
          <a:p>
            <a:pPr indent="0" marL="0">
              <a:buNone/>
            </a:pPr>
            <a:r>
              <a:rPr lang="en-US" sz="1100" i="1" dirty="0">
                <a:solidFill>
                  <a:srgbClr val="5A6472"/>
                </a:solidFill>
                <a:latin typeface="Calibri" pitchFamily="34" charset="0"/>
                <a:cs typeface="Amiri" pitchFamily="2" charset="-78"/>
              </a:rPr>
              <a:t>‘am-ma</a:t>
            </a:r>
            <a:endParaRPr lang="en-US" sz="1350" dirty="0"/>
          </a:p>
        </p:txBody>
      </p:sp>
      <p:sp>
        <p:nvSpPr>
          <p:cNvPr id="70" name="Shape 6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عَمَّاتٌ</a:t>
            </a:r>
            <a:endParaRPr lang="ar-SA" sz="1500" dirty="0"/>
          </a:p>
        </p:txBody>
      </p:sp>
      <p:sp>
        <p:nvSpPr>
          <p:cNvPr id="73" name="Shape 7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5" name="Text 7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عَمَّتِي</a:t>
            </a:r>
            <a:endParaRPr lang="ar-SA" sz="150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9" name="Shape 76"/>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paternal</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عَمٍّ</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(father’s side) m. / f.</a:t>
            </a:r>
            <a:endParaRPr lang="en-US" sz="1350" dirty="0"/>
          </a:p>
          <a:p>
            <a:pPr indent="0" marL="0">
              <a:buNone/>
            </a:pPr>
            <a:r>
              <a:rPr lang="en-US" sz="1100" i="1" dirty="0">
                <a:solidFill>
                  <a:srgbClr val="5A6472"/>
                </a:solidFill>
                <a:latin typeface="Calibri" pitchFamily="34" charset="0"/>
                <a:cs typeface="Amiri" pitchFamily="2" charset="-78"/>
              </a:rPr>
              <a:t>ib-nu ‘amm / bin-tu ‘amm</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960120" y="4279392"/>
            <a:ext cx="1082650"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الأُخْتُ الكُبْرَى</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sister</a:t>
            </a:r>
            <a:endParaRPr lang="en-US" sz="1350" dirty="0"/>
          </a:p>
          <a:p>
            <a:pPr indent="0" marL="0">
              <a:buNone/>
            </a:pPr>
            <a:r>
              <a:rPr lang="en-US" sz="1100" i="1" dirty="0">
                <a:solidFill>
                  <a:srgbClr val="5A6472"/>
                </a:solidFill>
                <a:latin typeface="Calibri" pitchFamily="34" charset="0"/>
                <a:cs typeface="Amiri" pitchFamily="2" charset="-78"/>
              </a:rPr>
              <a:t>al-ukh-tu l-kub-rā</a:t>
            </a:r>
            <a:endParaRPr lang="en-US" sz="1350" dirty="0"/>
          </a:p>
        </p:txBody>
      </p:sp>
      <p:sp>
        <p:nvSpPr>
          <p:cNvPr id="90" name="Shape 8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92" name="Text 89"/>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الأُخْتُ الصُّغْرَى</a:t>
            </a:r>
            <a:endParaRPr lang="ar-SA" sz="13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F3-L02 · Describing Family Members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 long</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نَحِيفٌ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slim</a:t>
            </a:r>
            <a:endParaRPr lang="en-US" sz="1350" dirty="0"/>
          </a:p>
          <a:p>
            <a:pPr indent="0" marL="0">
              <a:buNone/>
            </a:pPr>
            <a:r>
              <a:rPr lang="en-US" sz="1100" i="1" dirty="0">
                <a:solidFill>
                  <a:srgbClr val="5A6472"/>
                </a:solidFill>
                <a:latin typeface="Calibri" pitchFamily="34" charset="0"/>
                <a:cs typeface="Amiri" pitchFamily="2" charset="-78"/>
              </a:rPr>
              <a:t>na-ḥīf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صَغِيرٌ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younger</a:t>
            </a:r>
            <a:endParaRPr lang="en-US" sz="1350" dirty="0"/>
          </a:p>
          <a:p>
            <a:pPr indent="0" marL="0">
              <a:buNone/>
            </a:pPr>
            <a:r>
              <a:rPr lang="en-US" sz="1100" i="1" dirty="0">
                <a:solidFill>
                  <a:srgbClr val="5A6472"/>
                </a:solidFill>
                <a:latin typeface="Calibri" pitchFamily="34" charset="0"/>
                <a:cs typeface="Amiri" pitchFamily="2" charset="-78"/>
              </a:rPr>
              <a:t>ṣa-ghīr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 pleasant</a:t>
            </a:r>
            <a:endParaRPr lang="en-US" sz="1350" dirty="0"/>
          </a:p>
          <a:p>
            <a:pPr indent="0" marL="0">
              <a:buNone/>
            </a:pPr>
            <a:r>
              <a:rPr lang="en-US" sz="1100" i="1" dirty="0">
                <a:solidFill>
                  <a:srgbClr val="5A6472"/>
                </a:solidFill>
                <a:latin typeface="Calibri" pitchFamily="34" charset="0"/>
                <a:cs typeface="Amiri" pitchFamily="2" charset="-78"/>
              </a:rPr>
              <a:t>la-ṭīf</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 calm</a:t>
            </a:r>
            <a:endParaRPr lang="en-US" sz="1350" dirty="0"/>
          </a:p>
          <a:p>
            <a:pPr indent="0" marL="0">
              <a:buNone/>
            </a:pPr>
            <a:r>
              <a:rPr lang="en-US" sz="1100" i="1" dirty="0">
                <a:solidFill>
                  <a:srgbClr val="5A6472"/>
                </a:solidFill>
                <a:latin typeface="Calibri" pitchFamily="34" charset="0"/>
                <a:cs typeface="Amiri" pitchFamily="2" charset="-78"/>
              </a:rPr>
              <a:t>hā-di’</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خَالِي … طَوِيلٌ 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 أَبِي … وَاسْمُ أُمِّي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عِنْدِي أَخٌ اسْمُهُ … / أُخْتٌ اسْمُهَا …</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لَطِيفَةٌ وَ… جِدًّا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F3-L01 · My Family — Members and Relationships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F3-L02 · Describing Family Members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F3-L01 · My Family — Members and Relationships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 أَبِي … وَاسْمُ أُمِّي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أُخْتٌ اسْمُهَا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F3-L02 · Describing Family Members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خَالِي … طَوِيلٌ وَ…</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لَطِيفَةٌ وَ… جِدًّا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in the photo?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فِي الصُّورَةِ؟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in the photo?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هٰذَا فِي الصُّورَةِ؟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grandfather; his name is Ibrahim.</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جَدِّي، اسْمُهُ إِبْرَاهِيمُ.</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هُوَ؟</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tall, and his hair is white. He is very generous.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هُوَ طَوِيلٌ، وَشَعْرُهُ أَبْيَضُ. هُوَ كَرِيمٌ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who is this?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وَمَنْ هٰذِهِ؟</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aunt Suad. She is short and funny, and I love her a lot.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عَمَّتِي سُعَادُ. هِيَ قَصِيرَةٌ وَمُضْحِكَةٌ، وَأُحِبُّهَا كَثِيرًا.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أَبِي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father’s name?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أَبِيكَ؟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your father tall or short?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أَبُوكَ طَوِيلٌ أَمْ قَصِيرٌ؟</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أُمِّي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mother’s name?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أُمِّكَ؟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mother look like?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تَبْدُو أُمُّكَ؟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brothers and sisters do you have?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أَخًا وَأُخْتًا عِنْدَكَ؟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 أَخِي / خَالِي … مُضْحِكٌ جِدًّا</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funniest person in your family?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أَكْثَرُ شَخْصٍ مُضْحِكٍ فِي عَائِلَتِكَ؟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F3-L01, even numbers from F3-L02.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showing photos to a new friend</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عَائِلَتِي … أَشْخَاصٍ: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many people and who they are.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شَخْصًا فِي عَائِلَتِكَ؟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هٰذَا … ، اسْمُهُ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he is and give his name.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هُوَ … ، وَشَعْرُهُ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his appearance: height and hair.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يَبْدُو أَخُوكَ؟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كَيْفَ ← هٰذِهِ … ، هِيَ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woman and give two personality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هٰذِهِ؟ كَيْفَ شَخْصِيَّتُهَا؟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أُحِبُّ … لِأَنَّهُ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one person and give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تُحِبُّ كَثِيرًا فِي عَائِلَتِكَ؟ 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photo owner · Partner A = a new friend.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in my family photo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شَخْصَانِ فِي صُورَتِي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two people in your family (or an imaginary photo): who they are, their names, what they look like and what they are like. Finish with who you love most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اسْمُهُ … هُوَ … · هٰذِهِ … اسْمُهَا … هِيَ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hair and two personality adjectives for each person.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a:t>
            </a:r>
            <a:pPr algn="l" indent="0" marL="0">
              <a:buNone/>
            </a:pPr>
            <a:r>
              <a:rPr lang="ar-SA" altLang="en-US" sz="1500" dirty="0">
                <a:solidFill>
                  <a:srgbClr val="1F2A37"/>
                </a:solidFill>
                <a:latin typeface="Amiri" pitchFamily="2" charset="-78"/>
                <a:ea typeface="Amiri" pitchFamily="2" charset="-78"/>
                <a:cs typeface="Amiri" pitchFamily="2" charset="-78"/>
              </a:rPr>
              <a:t>أَخِي أَطْوَلُ مِنِّي</a:t>
            </a:r>
            <a:pPr algn="l" indent="0" marL="0">
              <a:buNone/>
            </a:pPr>
            <a:r>
              <a:rPr lang="en-US" sz="1150" dirty="0">
                <a:solidFill>
                  <a:srgbClr val="1F2A37"/>
                </a:solidFill>
                <a:latin typeface="Calibri" pitchFamily="34" charset="0"/>
                <a:cs typeface="Amiri" pitchFamily="2" charset="-78"/>
              </a:rPr>
              <a:t> … and give a reason with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جَدِّي · هٰذِهِ عَمَّتِي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my grandfather · my aunt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طَوِيلٌ · هِيَ قَصِيرَةٌ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is tall · she is short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شَعْرُهُ / شَعْرُهَا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hair is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أُحِبُّهُ / أُحِبُّهَا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love him / her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kind mother.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tall and clever.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وَذَكِيَّةٌ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وَذَكِيٌّ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His name is Ali, and he is tall.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وَهُوَ طَوِيلٌ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وَهِيَ طَوِيلَةٌ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kind mother.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mother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اللَّطِيفَةُ</a:t>
            </a:r>
            <a:pPr algn="l" indent="0" marL="0">
              <a:buNone/>
            </a:pPr>
            <a:r>
              <a:rPr lang="en-US" sz="1050" i="1" dirty="0">
                <a:solidFill>
                  <a:srgbClr val="5A6472"/>
                </a:solidFill>
                <a:latin typeface="Calibri" pitchFamily="34" charset="0"/>
                <a:cs typeface="Amiri" pitchFamily="2" charset="-78"/>
              </a:rPr>
              <a:t>; my mother = </a:t>
            </a:r>
            <a:pPr algn="l" indent="0" marL="0">
              <a:buNone/>
            </a:pPr>
            <a:r>
              <a:rPr lang="ar-SA" altLang="en-US" sz="1350" dirty="0">
                <a:solidFill>
                  <a:srgbClr val="5A6472"/>
                </a:solidFill>
                <a:latin typeface="Amiri" pitchFamily="2" charset="-78"/>
                <a:ea typeface="Amiri" pitchFamily="2" charset="-78"/>
                <a:cs typeface="Amiri" pitchFamily="2" charset="-78"/>
              </a:rPr>
              <a:t>أُمِّي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أُمِّي اللَّطِيفَةُ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tall and clever.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sister → every adjective feminine: </a:t>
            </a:r>
            <a:pPr algn="l" indent="0" marL="0">
              <a:buNone/>
            </a:pPr>
            <a:r>
              <a:rPr lang="ar-SA" altLang="en-US" sz="1350" dirty="0">
                <a:solidFill>
                  <a:srgbClr val="5A6472"/>
                </a:solidFill>
                <a:latin typeface="Amiri" pitchFamily="2" charset="-78"/>
                <a:ea typeface="Amiri" pitchFamily="2" charset="-78"/>
                <a:cs typeface="Amiri" pitchFamily="2" charset="-78"/>
              </a:rPr>
              <a:t>طَوِيلَةٌ وَذَكِيَّةٌ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طَوِيلَةٌ وَذَكِيَّةٌ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His name is Ali, and he is tall.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name → </a:t>
            </a:r>
            <a:pPr algn="l" indent="0" marL="0">
              <a:buNone/>
            </a:pPr>
            <a:r>
              <a:rPr lang="ar-SA" altLang="en-US" sz="1350" dirty="0">
                <a:solidFill>
                  <a:srgbClr val="5A6472"/>
                </a:solidFill>
                <a:latin typeface="Amiri" pitchFamily="2" charset="-78"/>
                <a:ea typeface="Amiri" pitchFamily="2" charset="-78"/>
                <a:cs typeface="Amiri" pitchFamily="2" charset="-78"/>
              </a:rPr>
              <a:t>اسْمُهُ</a:t>
            </a:r>
            <a:pPr algn="l" indent="0" marL="0">
              <a:buNone/>
            </a:pPr>
            <a:r>
              <a:rPr lang="en-US" sz="1050" i="1" dirty="0">
                <a:solidFill>
                  <a:srgbClr val="5A6472"/>
                </a:solidFill>
                <a:latin typeface="Calibri" pitchFamily="34" charset="0"/>
                <a:cs typeface="Amiri" pitchFamily="2" charset="-78"/>
              </a:rPr>
              <a:t> (-hu); a man → </a:t>
            </a:r>
            <a:pPr algn="l" indent="0" marL="0">
              <a:buNone/>
            </a:pPr>
            <a:r>
              <a:rPr lang="ar-SA" altLang="en-US" sz="1350" dirty="0">
                <a:solidFill>
                  <a:srgbClr val="5A6472"/>
                </a:solidFill>
                <a:latin typeface="Amiri" pitchFamily="2" charset="-78"/>
                <a:ea typeface="Amiri" pitchFamily="2" charset="-78"/>
                <a:cs typeface="Amiri" pitchFamily="2" charset="-78"/>
              </a:rPr>
              <a:t>هُوَ 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 عَلِيٌّ وَهُوَ طَوِيلٌ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sister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طَوِيلٌ وَلَطِيفٌ.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mother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عَمِّي، اسْمُهُ خَالِدٌ.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uncle is a man.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sister is 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طَوِيلٌ وَلَطِيفٌ.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طَوِيلَةٌ وَلَطِيفَةٌ.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adjectives need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for a woman.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عَمِّي، اسْمُهُ خَالِدٌ.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عَمِّي، اسْمُهُ خَالِدٌ.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uncle is masculine → </a:t>
            </a:r>
            <a:pPr algn="l" indent="0" marL="0">
              <a:buNone/>
            </a:pPr>
            <a:r>
              <a:rPr lang="ar-SA" altLang="en-US" sz="1500" b="1" dirty="0">
                <a:solidFill>
                  <a:srgbClr val="1B3B6F"/>
                </a:solidFill>
                <a:latin typeface="Amiri" pitchFamily="2" charset="-78"/>
                <a:ea typeface="Amiri" pitchFamily="2" charset="-78"/>
                <a:cs typeface="Amiri" pitchFamily="2" charset="-78"/>
              </a:rPr>
              <a:t>هٰذَا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أُحِبُّ ______ كَثِيرًا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a lot because he / she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______ أَشْخَاصٍ.</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 اسْمُهُ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 his name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______ وَ ______ ، وَشَعْرُهُ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 and …, and his hair is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 اسْمُهَا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 her name is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وَ ______ جِدًّا.</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 and very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جَدِّي · جَدَّتِي  ·  عَمِّي · عَمَّتِي · خَالَتِي  ·  طَوِيلٌ · قَصِيرَةٌ  ·  شَعْرُهُ · شَعْرُهَا  ·  لَطِيفٌ · لَطِيفَةٌ  ·  مُضْحِكٌ · مُضْحِكَةٌ  ·  كَرِيمٌ · كَرِيمَةٌ  ·  لِأَنَّهُ · لِأَنَّهَا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page in our family photo album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صَفْحَةٌ مِنْ أَلْبُومِ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page (about 45–65 words) for your family photo album. Include: • who is in your family • one man (relation, name, appearance, personality) • one woman (relation, name, appearance, personality) • one person you love a lot,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F3-L01 AND F3-L02.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 ، اسْمُهُ … ، هُوَ …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 his name is …; he is …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 ، اسْمُهَا … ، شَعْرُهَا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 her name is …; her hair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him / her because he / she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a:t>
            </a:r>
            <a:pPr algn="l" indent="0" marL="0">
              <a:buNone/>
            </a:pPr>
            <a:r>
              <a:rPr lang="en-US" sz="1100" dirty="0">
                <a:solidFill>
                  <a:srgbClr val="5A6472"/>
                </a:solidFill>
                <a:latin typeface="Calibri" pitchFamily="34" charset="0"/>
                <a:cs typeface="Amiri" pitchFamily="2" charset="-78"/>
              </a:rPr>
              <a:t> for a man and </a:t>
            </a:r>
            <a:pPr algn="l" indent="0" marL="0">
              <a:buNone/>
            </a:pPr>
            <a:r>
              <a:rPr lang="ar-SA" altLang="en-US" sz="1450" dirty="0">
                <a:solidFill>
                  <a:srgbClr val="5A6472"/>
                </a:solidFill>
                <a:latin typeface="Amiri" pitchFamily="2" charset="-78"/>
                <a:ea typeface="Amiri" pitchFamily="2" charset="-78"/>
                <a:cs typeface="Amiri" pitchFamily="2" charset="-78"/>
              </a:rPr>
              <a:t>هٰذِهِ</a:t>
            </a:r>
            <a:pPr algn="l" indent="0" marL="0">
              <a:buNone/>
            </a:pPr>
            <a:r>
              <a:rPr lang="en-US" sz="1100" dirty="0">
                <a:solidFill>
                  <a:srgbClr val="5A6472"/>
                </a:solidFill>
                <a:latin typeface="Calibri" pitchFamily="34" charset="0"/>
                <a:cs typeface="Amiri" pitchFamily="2" charset="-78"/>
              </a:rPr>
              <a:t> for a woman?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شَعْرُهُ / شَعْرُهَا</a:t>
            </a:r>
            <a:pPr algn="l" indent="0" marL="0">
              <a:buNone/>
            </a:pPr>
            <a:r>
              <a:rPr lang="en-US" sz="1100" dirty="0">
                <a:solidFill>
                  <a:srgbClr val="5A6472"/>
                </a:solidFill>
                <a:latin typeface="Calibri" pitchFamily="34" charset="0"/>
                <a:cs typeface="Amiri" pitchFamily="2" charset="-78"/>
              </a:rPr>
              <a:t> with a masculine colour?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خَمْسَةُ أَشْخَاصٍ: أَبِي وَأُمِّي وَأَخِي وَأُخْتِي وَأَنَا.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people in my family: my father, my mother, my brother, my sister and me.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شَخْصًا فِي عَائِلَتِكَ؟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أَخِي الأَكْبَرُ، اسْمُهُ طَارِقٌ.</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older brother; his name is Tariq.</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هٰذَا؟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وَنَحِيفٌ، وَشَعْرُهُ أَسْوَدُ.</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tall and slim, and his hair is black.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يَبْدُو أَخُوكَ؟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خَالَتِي مَرْيَمُ، هِيَ لَطِيفَةٌ وَهَادِئَةٌ.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aunt Maryam; she is kind and calm.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هٰذِهِ؟ كَيْفَ شَخْصِيَّتُهَا؟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جَدَّتِي كَثِيرًا لِأَنَّهَا كَرِيمَةٌ وَمُضْحِكَةٌ.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love my grandmother a lot because she is generous and funny.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تُحِبُّ كَثِيرًا فِي عَائِلَتِكَ؟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سِتَّةُ أَشْخَاصٍ. هٰذَا جَدِّي، اسْمُهُ إِبْرَاهِيمُ. هُوَ طَوِيلٌ، وَشَعْرُهُ أَبْيَضُ، وَهُوَ هَادِئٌ وَكَرِيمٌ. وَهٰذِهِ عَمَّتِي، اسْمُهَا سُعَادُ. هِيَ قَصِيرَةٌ، وَشَعْرُهَا أَسْوَدُ، وَهِيَ مُضْحِكَةٌ جِدًّا. وَهٰذَا أَخِي الأَكْبَرُ طَارِقٌ، هُوَ مُجْتَهِدٌ. أُحِبُّ جَدِّي كَثِيرًا لِأَنَّهُ لَطِيفٌ، وَيَحْكِي قِصَصًا 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six people in my family. This is my grandfather; his name is Ibrahim. He is tall, his hair is white, and he is calm and generous. And this is my aunt; her name is Suad. She is short, her hair is black, and she is very funny. And this is my older brother Tariq; he is hard-working. I love my grandfather a lot because he is kind and tells lovely stories.”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هٰذَا جَدِّي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شَعْرُهُ أَبْيَضُ</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هِيَ مُضْحِكَةٌ جِدًّا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 لَطِيفٌ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F3-L01 and F3-L02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F3-L03 · My Home — Rooms and Parts of the House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بَيْتِي — الغُرَفُ وَأَجْزَاءُ المَنْزِلِ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F3-W01 · Apply Workshop — Our Family Photo Album</dc:title>
  <dc:subject>PptxGenJS Presentation</dc:subject>
  <dc:creator>Al Madina Online School · Arabic Department</dc:creator>
  <cp:lastModifiedBy>Al Madina Online School · Arabic Department</cp:lastModifiedBy>
  <cp:revision>1</cp:revision>
  <dcterms:created xsi:type="dcterms:W3CDTF">2026-10-26T15:17:22Z</dcterms:created>
  <dcterms:modified xsi:type="dcterms:W3CDTF">2026-10-26T15:17:22Z</dcterms:modified>
</cp:coreProperties>
</file>