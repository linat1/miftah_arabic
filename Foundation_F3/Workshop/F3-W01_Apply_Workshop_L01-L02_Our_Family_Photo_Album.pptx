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F3-L01 · Learn F3-L02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F3-L01 (My Family — Members and Relationships) and F3-L02 (Describing Family Members).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F3-L01 and F3-L02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F3-L01? After F3-L02?” Take two answers in the chat for each lesson (one word or one sentence is enough). Then read objective 3 — today’s new situation that needs BOTH lessons. Students tick their route goals at the end of the lesson.
F3-L01 language: family words; possessive endings (-ī · -ka · -ki · -hu · -hā); hādhā / hādhihi; ismuhu / ismuhā
F3-L02 language: adjective agreement (m. / f.); shaʿruhu / shaʿruhā + colour; ʿaynāhu / ʿaynāhā; huwa / hiya + two adjectives; jiddan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F3-L01.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F3-L02.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F3-L01 and F3-L02. Teacher reads it once with a confident student; then pairs. Ask: “Which lines are from F3-L01? Which from F3-L02?” Family words and هٰذَا / هٰذِهِ come from F3-L01; appearance and personality adjectives that agree from F3-L02. Ask: why مُضْحِكَةٌ but كَرِيمٌ?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family members and possessive endings (F3-L01) with descriptions that agree, hair and personality (F3-L02). SUPPORTED: the plan column gives the first words, not the full answer. To a girl Partner A says: كَمْ شَخْصًا فِي عَائِلَتِكِ؟ · كَيْفَ يَبْدُو أَخُوكِ؟ · مَنْ تُحِبِّينَ؟.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F3-L01 and F3-L02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F3-L01 and F3-L02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(40 words). CHECK YOURSELF (2 min). Find each bullet point in the model, and one phrase from F3-L01 and one from F3-L02.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F3-L01 + F3-L02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F3-W01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Our Family Photo Album</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أَلْبُومُ صُوَرِ العَائِلَةِ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join family words and descriptions: they show a family photo, say who each person is and describe them (appearance and personality), give a short talk about two relatives and write a photo-album page that uses both lessons.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F3-L01 + F3-L02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F3-W01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F3-W01 · Apply workshop (F3-L01 + F3-L02)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F3-W01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F3-W01 · Apply workshop (F3-L01 + F3-L02)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F3-L01 and F3-L02.</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F3-L01 + F3-L02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F3-W01 · Apply workshop (F3-L01 + F3-L02)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F3-L01: My Family — Members and Relationships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F3-L02: Describing Family Members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showing photos to a new friend · A page in our family photo album</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F3-W01 · Apply workshop (F3-L01 + F3-L02)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F3-L01 and F3-L02.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F3-L01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F3-L01 · My Family — Members and Relationships</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F3-W01 · Apply workshop (F3-L01 + F3-L02)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this: hādhā</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أَبٌ / وَالِدٌ</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father</a:t>
            </a:r>
            <a:endParaRPr lang="en-US" sz="1350" dirty="0"/>
          </a:p>
          <a:p>
            <a:pPr indent="0" marL="0">
              <a:buNone/>
            </a:pPr>
            <a:r>
              <a:rPr lang="en-US" sz="1100" i="1" dirty="0">
                <a:solidFill>
                  <a:srgbClr val="5A6472"/>
                </a:solidFill>
                <a:latin typeface="Calibri" pitchFamily="34" charset="0"/>
                <a:cs typeface="Amiri" pitchFamily="2" charset="-78"/>
              </a:rPr>
              <a:t>ab / wā-lid</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أَبُوهُ</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أَبِي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أُخْتٌ</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sister</a:t>
            </a:r>
            <a:endParaRPr lang="en-US" sz="1350" dirty="0"/>
          </a:p>
          <a:p>
            <a:pPr indent="0" marL="0">
              <a:buNone/>
            </a:pPr>
            <a:r>
              <a:rPr lang="en-US" sz="1100" i="1" dirty="0">
                <a:solidFill>
                  <a:srgbClr val="5A6472"/>
                </a:solidFill>
                <a:latin typeface="Calibri" pitchFamily="34" charset="0"/>
                <a:cs typeface="Amiri" pitchFamily="2" charset="-78"/>
              </a:rPr>
              <a:t>ukht</a:t>
            </a:r>
            <a:endParaRPr lang="en-US" sz="1350" dirty="0"/>
          </a:p>
        </p:txBody>
      </p:sp>
      <p:sp>
        <p:nvSpPr>
          <p:cNvPr id="39" name="Shape 36"/>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أَخَوَاتٌ</a:t>
            </a:r>
            <a:endParaRPr lang="ar-SA" sz="1500" dirty="0"/>
          </a:p>
        </p:txBody>
      </p:sp>
      <p:sp>
        <p:nvSpPr>
          <p:cNvPr id="42" name="Shape 39"/>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44" name="Text 41"/>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أُخْتُهُ</a:t>
            </a:r>
            <a:endParaRPr lang="ar-SA" sz="1500" dirty="0"/>
          </a:p>
        </p:txBody>
      </p:sp>
      <p:sp>
        <p:nvSpPr>
          <p:cNvPr id="45" name="Shape 42"/>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47" name="Text 44"/>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أُخْتِي</a:t>
            </a:r>
            <a:endParaRPr lang="ar-SA" sz="1500" dirty="0"/>
          </a:p>
        </p:txBody>
      </p:sp>
      <p:sp>
        <p:nvSpPr>
          <p:cNvPr id="48" name="Shape 4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1920240"/>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1" name="Shape 48"/>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pl</a:t>
            </a:r>
            <a:endParaRPr lang="en-US" sz="800" dirty="0"/>
          </a:p>
        </p:txBody>
      </p:sp>
      <p:sp>
        <p:nvSpPr>
          <p:cNvPr id="53" name="Shape 5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جَدٌّ</a:t>
            </a:r>
            <a:endParaRPr lang="ar-SA" sz="3000" dirty="0"/>
          </a:p>
        </p:txBody>
      </p:sp>
      <p:sp>
        <p:nvSpPr>
          <p:cNvPr id="56" name="Text 5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grandfather</a:t>
            </a:r>
            <a:endParaRPr lang="en-US" sz="1350" dirty="0"/>
          </a:p>
          <a:p>
            <a:pPr indent="0" marL="0">
              <a:buNone/>
            </a:pPr>
            <a:r>
              <a:rPr lang="en-US" sz="1100" i="1" dirty="0">
                <a:solidFill>
                  <a:srgbClr val="5A6472"/>
                </a:solidFill>
                <a:latin typeface="Calibri" pitchFamily="34" charset="0"/>
                <a:cs typeface="Amiri" pitchFamily="2" charset="-78"/>
              </a:rPr>
              <a:t>jadd</a:t>
            </a:r>
            <a:endParaRPr lang="en-US" sz="1350" dirty="0"/>
          </a:p>
        </p:txBody>
      </p:sp>
      <p:sp>
        <p:nvSpPr>
          <p:cNvPr id="57" name="Shape 54"/>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أَجْدَادٌ</a:t>
            </a:r>
            <a:endParaRPr lang="ar-SA" sz="1500" dirty="0"/>
          </a:p>
        </p:txBody>
      </p:sp>
      <p:sp>
        <p:nvSpPr>
          <p:cNvPr id="60" name="Shape 57"/>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62" name="Text 59"/>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جَدِّي</a:t>
            </a:r>
            <a:endParaRPr lang="ar-SA" sz="1500" dirty="0"/>
          </a:p>
        </p:txBody>
      </p:sp>
      <p:sp>
        <p:nvSpPr>
          <p:cNvPr id="63" name="Shape 6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8211312"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6" name="Shape 63"/>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pl</a:t>
            </a:r>
            <a:endParaRPr lang="en-US" sz="800" dirty="0"/>
          </a:p>
        </p:txBody>
      </p:sp>
      <p:sp>
        <p:nvSpPr>
          <p:cNvPr id="68" name="Text 6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عَمَّةٌ</a:t>
            </a:r>
            <a:endParaRPr lang="ar-SA" sz="3000" dirty="0"/>
          </a:p>
        </p:txBody>
      </p:sp>
      <p:sp>
        <p:nvSpPr>
          <p:cNvPr id="69" name="Text 6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aunt (father’s side)</a:t>
            </a:r>
            <a:endParaRPr lang="en-US" sz="1350" dirty="0"/>
          </a:p>
          <a:p>
            <a:pPr indent="0" marL="0">
              <a:buNone/>
            </a:pPr>
            <a:r>
              <a:rPr lang="en-US" sz="1100" i="1" dirty="0">
                <a:solidFill>
                  <a:srgbClr val="5A6472"/>
                </a:solidFill>
                <a:latin typeface="Calibri" pitchFamily="34" charset="0"/>
                <a:cs typeface="Amiri" pitchFamily="2" charset="-78"/>
              </a:rPr>
              <a:t>‘am-ma</a:t>
            </a:r>
            <a:endParaRPr lang="en-US" sz="1350" dirty="0"/>
          </a:p>
        </p:txBody>
      </p:sp>
      <p:sp>
        <p:nvSpPr>
          <p:cNvPr id="70" name="Shape 67"/>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2" name="Text 69"/>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عَمَّاتٌ</a:t>
            </a:r>
            <a:endParaRPr lang="ar-SA" sz="1500" dirty="0"/>
          </a:p>
        </p:txBody>
      </p:sp>
      <p:sp>
        <p:nvSpPr>
          <p:cNvPr id="73" name="Shape 70"/>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75" name="Text 72"/>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عَمَّتِي</a:t>
            </a:r>
            <a:endParaRPr lang="ar-SA" sz="1500" dirty="0"/>
          </a:p>
        </p:txBody>
      </p:sp>
      <p:sp>
        <p:nvSpPr>
          <p:cNvPr id="76" name="Shape 7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389120" y="4261104"/>
            <a:ext cx="310896" cy="310896"/>
          </a:xfrm>
          <a:prstGeom prst="ellipse">
            <a:avLst/>
          </a:prstGeom>
          <a:solidFill>
            <a:srgbClr val="F4F1EA"/>
          </a:solidFill>
          <a:ln w="12700">
            <a:solidFill>
              <a:srgbClr val="F4F1EA"/>
            </a:solidFill>
            <a:prstDash val="solid"/>
          </a:ln>
        </p:spPr>
      </p:sp>
      <p:sp>
        <p:nvSpPr>
          <p:cNvPr id="78" name="Text 7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9" name="Shape 76"/>
          <p:cNvSpPr/>
          <p:nvPr/>
        </p:nvSpPr>
        <p:spPr>
          <a:xfrm>
            <a:off x="4782312" y="4279392"/>
            <a:ext cx="771754" cy="256032"/>
          </a:xfrm>
          <a:prstGeom prst="roundRect">
            <a:avLst>
              <a:gd name="adj" fmla="val 50000"/>
            </a:avLst>
          </a:prstGeom>
          <a:solidFill>
            <a:srgbClr val="EFE7D2"/>
          </a:solidFill>
          <a:ln w="12700">
            <a:solidFill>
              <a:srgbClr val="EFE7D2"/>
            </a:solidFill>
            <a:prstDash val="solid"/>
          </a:ln>
        </p:spPr>
      </p:sp>
      <p:sp>
        <p:nvSpPr>
          <p:cNvPr id="80" name="Text 77"/>
          <p:cNvSpPr txBox="1"/>
          <p:nvPr/>
        </p:nvSpPr>
        <p:spPr>
          <a:xfrm>
            <a:off x="4782312"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paternal</a:t>
            </a:r>
            <a:endParaRPr lang="en-US" sz="800" dirty="0"/>
          </a:p>
        </p:txBody>
      </p:sp>
      <p:sp>
        <p:nvSpPr>
          <p:cNvPr id="81" name="Text 7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اِبْنُ عَمٍّ / بِنْتُ عَمٍّ</a:t>
            </a:r>
            <a:endParaRPr lang="ar-SA" sz="3000" dirty="0"/>
          </a:p>
        </p:txBody>
      </p:sp>
      <p:sp>
        <p:nvSpPr>
          <p:cNvPr id="82" name="Text 7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cousin (father’s side) m. / f.</a:t>
            </a:r>
            <a:endParaRPr lang="en-US" sz="1350" dirty="0"/>
          </a:p>
          <a:p>
            <a:pPr indent="0" marL="0">
              <a:buNone/>
            </a:pPr>
            <a:r>
              <a:rPr lang="en-US" sz="1100" i="1" dirty="0">
                <a:solidFill>
                  <a:srgbClr val="5A6472"/>
                </a:solidFill>
                <a:latin typeface="Calibri" pitchFamily="34" charset="0"/>
                <a:cs typeface="Amiri" pitchFamily="2" charset="-78"/>
              </a:rPr>
              <a:t>ib-nu ‘amm / bin-tu ‘amm</a:t>
            </a:r>
            <a:endParaRPr lang="en-US" sz="1350" dirty="0"/>
          </a:p>
        </p:txBody>
      </p:sp>
      <p:sp>
        <p:nvSpPr>
          <p:cNvPr id="83" name="Shape 8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566928"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6" name="Shape 83"/>
          <p:cNvSpPr/>
          <p:nvPr/>
        </p:nvSpPr>
        <p:spPr>
          <a:xfrm>
            <a:off x="960120" y="4279392"/>
            <a:ext cx="1082650"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960120"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sibling order</a:t>
            </a:r>
            <a:endParaRPr lang="en-US" sz="800" dirty="0"/>
          </a:p>
        </p:txBody>
      </p:sp>
      <p:sp>
        <p:nvSpPr>
          <p:cNvPr id="88" name="Text 8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الأُخْتُ الكُبْرَى</a:t>
            </a:r>
            <a:endParaRPr lang="ar-SA" sz="3000" dirty="0"/>
          </a:p>
        </p:txBody>
      </p:sp>
      <p:sp>
        <p:nvSpPr>
          <p:cNvPr id="89" name="Text 8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older sister</a:t>
            </a:r>
            <a:endParaRPr lang="en-US" sz="1350" dirty="0"/>
          </a:p>
          <a:p>
            <a:pPr indent="0" marL="0">
              <a:buNone/>
            </a:pPr>
            <a:r>
              <a:rPr lang="en-US" sz="1100" i="1" dirty="0">
                <a:solidFill>
                  <a:srgbClr val="5A6472"/>
                </a:solidFill>
                <a:latin typeface="Calibri" pitchFamily="34" charset="0"/>
                <a:cs typeface="Amiri" pitchFamily="2" charset="-78"/>
              </a:rPr>
              <a:t>al-ukh-tu l-kub-rā</a:t>
            </a:r>
            <a:endParaRPr lang="en-US" sz="1350" dirty="0"/>
          </a:p>
        </p:txBody>
      </p:sp>
      <p:sp>
        <p:nvSpPr>
          <p:cNvPr id="90" name="Shape 87"/>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younger</a:t>
            </a:r>
            <a:endParaRPr lang="en-US" sz="700" dirty="0"/>
          </a:p>
        </p:txBody>
      </p:sp>
      <p:sp>
        <p:nvSpPr>
          <p:cNvPr id="92" name="Text 89"/>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الأُخْتُ الصُّغْرَى</a:t>
            </a:r>
            <a:endParaRPr lang="ar-SA" sz="13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F3-L02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F3-L02 · Describing Family Members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F3-W01 · Apply workshop (F3-L01 + F3-L02)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طَوِيلٌ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tall / long</a:t>
            </a:r>
            <a:endParaRPr lang="en-US" sz="1350" dirty="0"/>
          </a:p>
          <a:p>
            <a:pPr indent="0" marL="0">
              <a:buNone/>
            </a:pPr>
            <a:r>
              <a:rPr lang="en-US" sz="1100" i="1" dirty="0">
                <a:solidFill>
                  <a:srgbClr val="5A6472"/>
                </a:solidFill>
                <a:latin typeface="Calibri" pitchFamily="34" charset="0"/>
                <a:cs typeface="Amiri" pitchFamily="2" charset="-78"/>
              </a:rPr>
              <a:t>ṭa-wīl</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نَحِيفٌ</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slim</a:t>
            </a:r>
            <a:endParaRPr lang="en-US" sz="1350" dirty="0"/>
          </a:p>
          <a:p>
            <a:pPr indent="0" marL="0">
              <a:buNone/>
            </a:pPr>
            <a:r>
              <a:rPr lang="en-US" sz="1100" i="1" dirty="0">
                <a:solidFill>
                  <a:srgbClr val="5A6472"/>
                </a:solidFill>
                <a:latin typeface="Calibri" pitchFamily="34" charset="0"/>
                <a:cs typeface="Amiri" pitchFamily="2" charset="-78"/>
              </a:rPr>
              <a:t>na-ḥīf</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نَحِيفَةٌ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نَحِيفٌ</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صَغِيرٌ</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small / younger</a:t>
            </a:r>
            <a:endParaRPr lang="en-US" sz="1350" dirty="0"/>
          </a:p>
          <a:p>
            <a:pPr indent="0" marL="0">
              <a:buNone/>
            </a:pPr>
            <a:r>
              <a:rPr lang="en-US" sz="1100" i="1" dirty="0">
                <a:solidFill>
                  <a:srgbClr val="5A6472"/>
                </a:solidFill>
                <a:latin typeface="Calibri" pitchFamily="34" charset="0"/>
                <a:cs typeface="Amiri" pitchFamily="2" charset="-78"/>
              </a:rPr>
              <a:t>ṣa-ghīr</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صَغِيرَةٌ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صَغِيرٌ</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لَطِيفٌ</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kind / pleasant</a:t>
            </a:r>
            <a:endParaRPr lang="en-US" sz="1350" dirty="0"/>
          </a:p>
          <a:p>
            <a:pPr indent="0" marL="0">
              <a:buNone/>
            </a:pPr>
            <a:r>
              <a:rPr lang="en-US" sz="1100" i="1" dirty="0">
                <a:solidFill>
                  <a:srgbClr val="5A6472"/>
                </a:solidFill>
                <a:latin typeface="Calibri" pitchFamily="34" charset="0"/>
                <a:cs typeface="Amiri" pitchFamily="2" charset="-78"/>
              </a:rPr>
              <a:t>la-ṭīf</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لَطِيفَةٌ</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لَطِيفٌ</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هَادِئٌ</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quiet / calm</a:t>
            </a:r>
            <a:endParaRPr lang="en-US" sz="1350" dirty="0"/>
          </a:p>
          <a:p>
            <a:pPr indent="0" marL="0">
              <a:buNone/>
            </a:pPr>
            <a:r>
              <a:rPr lang="en-US" sz="1100" i="1" dirty="0">
                <a:solidFill>
                  <a:srgbClr val="5A6472"/>
                </a:solidFill>
                <a:latin typeface="Calibri" pitchFamily="34" charset="0"/>
                <a:cs typeface="Amiri" pitchFamily="2" charset="-78"/>
              </a:rPr>
              <a:t>hā-di’</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هَادِئَةٌ</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93" name="Shape 9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مُجْتَهِدٌ</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hard-working</a:t>
            </a:r>
            <a:endParaRPr lang="en-US" sz="1350" dirty="0"/>
          </a:p>
          <a:p>
            <a:pPr indent="0" marL="0">
              <a:buNone/>
            </a:pPr>
            <a:r>
              <a:rPr lang="en-US" sz="1100" i="1" dirty="0">
                <a:solidFill>
                  <a:srgbClr val="5A6472"/>
                </a:solidFill>
                <a:latin typeface="Calibri" pitchFamily="34" charset="0"/>
                <a:cs typeface="Amiri" pitchFamily="2" charset="-78"/>
              </a:rPr>
              <a:t>muj-ta-hid</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1" name="Text 98"/>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مُجْتَهِدَةٌ</a:t>
            </a:r>
            <a:endParaRPr lang="ar-SA" sz="150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4" name="Text 101"/>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a:t>
            </a:r>
            <a:endParaRPr lang="ar-SA" sz="150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F3-W01 · Apply workshop (F3-L01 + F3-L02)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عَائِلَتِي … أَشْخَاصٍ</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أَبِي / خَالِي … طَوِيلٌ وَ…</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شَعْرُهُ / شَعْرُهَا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 أَبِي … وَاسْمُ أُمِّي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عِنْدِي أَخٌ اسْمُهُ … / أُخْتٌ اسْمُهَا …</a:t>
            </a:r>
            <a:endParaRPr lang="ar-SA" sz="175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لَطِيفَةٌ وَ… جِدًّا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أُحِبُّهُ / أُحِبُّهَا لِأَنَّهُ / لِأَنَّهَا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 لِأَنَّهُ / لِأَنَّهَا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F3-L01 · My Family — Members and Relationships</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F3-L02 · Describing Family Members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F3-W01 · Apply workshop (F3-L01 + F3-L02)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F3-L01 · My Family — Members and Relationships</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عَائِلَتِي … أَشْخَاصٍ</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 أَبِي … وَاسْمُ أُمِّي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عِنْدِي أَخٌ اسْمُهُ … / أُخْتٌ اسْمُهَا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 لِأَنَّهُ / لِأَنَّهَا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F3-L02 · Describing Family Members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أَبِي / خَالِي … طَوِيلٌ وَ…</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شَعْرُهُ / شَعْرُهَا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لَطِيفَةٌ وَ… جِدًّا</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أُحِبُّهُ / أُحِبُّهَا لِأَنَّهُ / لِأَنَّهَا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is in the photo?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فِي الصُّورَةِ؟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F3-W01 · Apply workshop (F3-L01 + F3-L02)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this in the photo?</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مَنْ هٰذَا فِي الصُّورَةِ؟</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my grandfather; his name is Ibrahim.</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هٰذَا جَدِّي، اسْمُهُ إِبْرَاهِيمُ.</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he like?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كَيْفَ هُوَ؟</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is tall, and his hair is white. He is very generous.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هُوَ طَوِيلٌ، وَشَعْرُهُ أَبْيَضُ. هُوَ كَرِيمٌ جِدًّا.</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who is this?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وَمَنْ هٰذِهِ؟</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my aunt Suad. She is short and funny, and I love her a lot.</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هٰذِهِ عَمَّتِي سُعَادُ. هِيَ قَصِيرَةٌ وَمُضْحِكَةٌ، وَأُحِبُّهَا كَثِيرًا.</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F3-W01 · Apply workshop (F3-L01 + F3-L02)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وَهُوَ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 أَبِي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father’s name?</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اسْمُ أَبِيكَ؟</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وَشَعْرُهُ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أَبِي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your father tall or short?</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أَبُوكَ طَوِيلٌ أَمْ قَصِيرٌ؟</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وَهِيَ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 أُمِّي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mother’s name?</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اسْمُ أُمِّكَ؟</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وَعَيْنَاهَا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أُمِّي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your mother look like?</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تَبْدُو أُمُّكَ؟</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اسْمُهُ / اسْمُهَا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عِنْدِي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brothers and sisters do you have?</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أَخًا وَأُخْتًا عِنْدَكَ؟</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 أَخِي / خَالِي … مُضْحِكٌ جِدًّا</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the funniest person in your family?</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أَكْثَرُ شَخْصٍ مُضْحِكٍ فِي عَائِلَتِكَ؟</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F3-L01, even numbers from F3-L02.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Role-play card — showing photos to a new friend</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صُوَرُ عَائِلَتِي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F3-W01 · Apply workshop (F3-L01 + F3-L02)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فِي عَائِلَتِي … أَشْخَاصٍ: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how many people and who they are.</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شَخْصًا فِي عَائِلَتِكَ؟</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هٰذَا … ، اسْمُهُ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who he is and give his name.</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هٰذَا؟</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هُوَ … ، وَشَعْرُهُ …</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his appearance: height and hair.</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يَبْدُو أَخُوكَ؟</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كَيْفَ ← هٰذِهِ … ، هِيَ … وَ…</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Introduce a woman and give two personality adjectives.</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وَمَنْ هٰذِهِ؟ كَيْفَ شَخْصِيَّتُهَا؟</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أُحِبُّ … لِأَنَّهُ / لِأَنَّهَا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one person and give a reason.</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تُحِبُّ كَثِيرًا فِي عَائِلَتِكَ؟ لِمَاذَا؟</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photo owner · Partner A = a new friend. Read the plan for 1 minute, then hide it and speak. Task ! is a surprise.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people in my family photo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شَخْصَانِ فِي صُورَتِي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F3-W01 · Apply workshop (F3-L01 + F3-L02)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30–45 seconds about two people in your family (or an imaginary photo): who they are, their names, what they look like and what they are like. Finish with who you love most and why.</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هٰذَا … اسْمُهُ … هُوَ … · هٰذِهِ … اسْمُهَا … هِيَ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hair and two personality adjectives for each person.</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Compare: ‏</a:t>
            </a:r>
            <a:pPr algn="l" indent="0" marL="0">
              <a:buNone/>
            </a:pPr>
            <a:r>
              <a:rPr lang="ar-SA" altLang="en-US" sz="1500" dirty="0">
                <a:solidFill>
                  <a:srgbClr val="1F2A37"/>
                </a:solidFill>
                <a:latin typeface="Amiri" pitchFamily="2" charset="-78"/>
                <a:ea typeface="Amiri" pitchFamily="2" charset="-78"/>
                <a:cs typeface="Amiri" pitchFamily="2" charset="-78"/>
              </a:rPr>
              <a:t>أَخِي أَطْوَلُ مِنِّي</a:t>
            </a:r>
            <a:pPr algn="l" indent="0" marL="0">
              <a:buNone/>
            </a:pPr>
            <a:r>
              <a:rPr lang="en-US" sz="1150" dirty="0">
                <a:solidFill>
                  <a:srgbClr val="1F2A37"/>
                </a:solidFill>
                <a:latin typeface="Calibri" pitchFamily="34" charset="0"/>
                <a:cs typeface="Amiri" pitchFamily="2" charset="-78"/>
              </a:rPr>
              <a:t> …‏ and give a reason with ‏</a:t>
            </a:r>
            <a:pPr algn="l" indent="0" marL="0">
              <a:buNone/>
            </a:pPr>
            <a:r>
              <a:rPr lang="ar-SA" altLang="en-US" sz="1500" dirty="0">
                <a:solidFill>
                  <a:srgbClr val="1F2A37"/>
                </a:solidFill>
                <a:latin typeface="Amiri" pitchFamily="2" charset="-78"/>
                <a:ea typeface="Amiri" pitchFamily="2" charset="-78"/>
                <a:cs typeface="Amiri" pitchFamily="2" charset="-78"/>
              </a:rPr>
              <a:t>لِأَنَّهُ / لِأَنَّهَا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هٰذَا جَدِّي · هٰذِهِ عَمَّتِي</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this is my grandfather · my aunt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هُوَ طَوِيلٌ · هِيَ قَصِيرَةٌ</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he is tall · she is short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شَعْرُهُ / شَعْرُهَا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his / her hair is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أُحِبُّهُ / أُحِبُّهَا لِأَنَّ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love him / her because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F3-W01 · Apply workshop (F3-L01 + F3-L02)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This is my kind mother.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أُمُّكَ</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اللَّطِيفَةُ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اللَّطِيفُ</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sister is tall and clever.</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طَوِيلَةٌ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طَوِيلٌ</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وَذَكِيَّةٌ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وَذَكِيٌّ</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His name is Ali, and he is tall.</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اسْمُهُ</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اسْمُهَا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عَلِيًّا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وَهُوَ طَوِيلٌ</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وَهِيَ طَوِيلَةٌ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F3-W01 · Apply workshop (F3-L01 + F3-L02)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This is my kind mother.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mother is feminine → </a:t>
            </a:r>
            <a:pPr algn="l" indent="0" marL="0">
              <a:buNone/>
            </a:pPr>
            <a:r>
              <a:rPr lang="ar-SA" altLang="en-US" sz="1350" dirty="0">
                <a:solidFill>
                  <a:srgbClr val="5A6472"/>
                </a:solidFill>
                <a:latin typeface="Amiri" pitchFamily="2" charset="-78"/>
                <a:ea typeface="Amiri" pitchFamily="2" charset="-78"/>
                <a:cs typeface="Amiri" pitchFamily="2" charset="-78"/>
              </a:rPr>
              <a:t>هٰذِهِ … اللَّطِيفَةُ</a:t>
            </a:r>
            <a:pPr algn="l" indent="0" marL="0">
              <a:buNone/>
            </a:pPr>
            <a:r>
              <a:rPr lang="en-US" sz="1050" i="1" dirty="0">
                <a:solidFill>
                  <a:srgbClr val="5A6472"/>
                </a:solidFill>
                <a:latin typeface="Calibri" pitchFamily="34" charset="0"/>
                <a:cs typeface="Amiri" pitchFamily="2" charset="-78"/>
              </a:rPr>
              <a:t>; my mother = </a:t>
            </a:r>
            <a:pPr algn="l" indent="0" marL="0">
              <a:buNone/>
            </a:pPr>
            <a:r>
              <a:rPr lang="ar-SA" altLang="en-US" sz="1350" dirty="0">
                <a:solidFill>
                  <a:srgbClr val="5A6472"/>
                </a:solidFill>
                <a:latin typeface="Amiri" pitchFamily="2" charset="-78"/>
                <a:ea typeface="Amiri" pitchFamily="2" charset="-78"/>
                <a:cs typeface="Amiri" pitchFamily="2" charset="-78"/>
              </a:rPr>
              <a:t>أُمِّي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هٰذِهِ أُمِّي اللَّطِيفَةُ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sister is tall and clever.</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sister → every adjective feminine: </a:t>
            </a:r>
            <a:pPr algn="l" indent="0" marL="0">
              <a:buNone/>
            </a:pPr>
            <a:r>
              <a:rPr lang="ar-SA" altLang="en-US" sz="1350" dirty="0">
                <a:solidFill>
                  <a:srgbClr val="5A6472"/>
                </a:solidFill>
                <a:latin typeface="Amiri" pitchFamily="2" charset="-78"/>
                <a:ea typeface="Amiri" pitchFamily="2" charset="-78"/>
                <a:cs typeface="Amiri" pitchFamily="2" charset="-78"/>
              </a:rPr>
              <a:t>طَوِيلَةٌ وَذَكِيَّةٌ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أُخْتِي طَوِيلَةٌ وَذَكِيَّةٌ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His name is Ali, and he is tall.</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name → </a:t>
            </a:r>
            <a:pPr algn="l" indent="0" marL="0">
              <a:buNone/>
            </a:pPr>
            <a:r>
              <a:rPr lang="ar-SA" altLang="en-US" sz="1350" dirty="0">
                <a:solidFill>
                  <a:srgbClr val="5A6472"/>
                </a:solidFill>
                <a:latin typeface="Amiri" pitchFamily="2" charset="-78"/>
                <a:ea typeface="Amiri" pitchFamily="2" charset="-78"/>
                <a:cs typeface="Amiri" pitchFamily="2" charset="-78"/>
              </a:rPr>
              <a:t>اسْمُهُ</a:t>
            </a:r>
            <a:pPr algn="l" indent="0" marL="0">
              <a:buNone/>
            </a:pPr>
            <a:r>
              <a:rPr lang="en-US" sz="1050" i="1" dirty="0">
                <a:solidFill>
                  <a:srgbClr val="5A6472"/>
                </a:solidFill>
                <a:latin typeface="Calibri" pitchFamily="34" charset="0"/>
                <a:cs typeface="Amiri" pitchFamily="2" charset="-78"/>
              </a:rPr>
              <a:t> (-hu); a man → </a:t>
            </a:r>
            <a:pPr algn="l" indent="0" marL="0">
              <a:buNone/>
            </a:pPr>
            <a:r>
              <a:rPr lang="ar-SA" altLang="en-US" sz="1350" dirty="0">
                <a:solidFill>
                  <a:srgbClr val="5A6472"/>
                </a:solidFill>
                <a:latin typeface="Amiri" pitchFamily="2" charset="-78"/>
                <a:ea typeface="Amiri" pitchFamily="2" charset="-78"/>
                <a:cs typeface="Amiri" pitchFamily="2" charset="-78"/>
              </a:rPr>
              <a:t>هُوَ طَوِيلٌ</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اسْمُهُ عَلِيٌّ وَهُوَ طَوِيلٌ</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F3-W01 · Apply workshop (F3-L01 + F3-L02)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أُخْتِي.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 sister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أُمِّي طَوِيلٌ وَلَطِيفٌ.</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mother is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هٰذِهِ عَمِّي، اسْمُهُ خَالِدٌ.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uncle is a man.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F3-W01 · Apply workshop (F3-L01 + F3-L02)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أُخْتِي.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أُخْتِي.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sister is feminine → ‏</a:t>
            </a:r>
            <a:pPr algn="l" indent="0" marL="0">
              <a:buNone/>
            </a:pPr>
            <a:r>
              <a:rPr lang="ar-SA" altLang="en-US" sz="1500" b="1" dirty="0">
                <a:solidFill>
                  <a:srgbClr val="1B3B6F"/>
                </a:solidFill>
                <a:latin typeface="Amiri" pitchFamily="2" charset="-78"/>
                <a:ea typeface="Amiri" pitchFamily="2" charset="-78"/>
                <a:cs typeface="Amiri" pitchFamily="2" charset="-78"/>
              </a:rPr>
              <a:t>هٰذِهِ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أُمِّي طَوِيلٌ وَلَطِيفٌ.</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أُمِّي طَوِيلَةٌ وَلَطِيفَةٌ.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Both adjectives need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 for a woman.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هٰذِهِ عَمِّي، اسْمُهُ خَالِدٌ.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هٰذَا عَمِّي، اسْمُهُ خَالِدٌ.</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 uncle is masculine → ‏</a:t>
            </a:r>
            <a:pPr algn="l" indent="0" marL="0">
              <a:buNone/>
            </a:pPr>
            <a:r>
              <a:rPr lang="ar-SA" altLang="en-US" sz="1500" b="1" dirty="0">
                <a:solidFill>
                  <a:srgbClr val="1B3B6F"/>
                </a:solidFill>
                <a:latin typeface="Amiri" pitchFamily="2" charset="-78"/>
                <a:ea typeface="Amiri" pitchFamily="2" charset="-78"/>
                <a:cs typeface="Amiri" pitchFamily="2" charset="-78"/>
              </a:rPr>
              <a:t>هٰذَا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F3-W01 · Apply workshop (F3-L01 + F3-L02)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أُحِبُّ ______ كَثِيرًا لِأَنَّهُ / لِأَنَّهَا ______ .</a:t>
            </a:r>
            <a:endParaRPr lang="ar-SA" sz="17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 a lot because he / she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عَيْنَاهُ / عَيْنَاهَا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 her eyes are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عَائِلَتِي ______ أَشْخَاصٍ.</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are … people in my family.</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______ ، اسْمُهُ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 his name is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______ وَ ______ ، وَشَعْرُهُ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is … and …, and his hair is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______ ، اسْمُهَا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 her name is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______ وَ ______ جِدًّا.</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is … and very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جَدِّي · جَدَّتِي  ·  عَمِّي · عَمَّتِي · خَالَتِي  ·  طَوِيلٌ · قَصِيرَةٌ  ·  شَعْرُهُ · شَعْرُهَا  ·  لَطِيفٌ · لَطِيفَةٌ  ·  مُضْحِكٌ · مُضْحِكَةٌ  ·  كَرِيمٌ · كَرِيمَةٌ  ·  لِأَنَّهُ · لِأَنَّهَا</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F3-W01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45–65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page in our family photo album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صَفْحَةٌ مِنْ أَلْبُومِ العَائِلَةِ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F3-W01 · Apply workshop (F3-L01 + F3-L02)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page (about 45–65 words) for your family photo album. Include: • who is in your family • one man (relation, name, appearance, personality) • one woman (relation, name, appearance, personality) • one person you love a lot, and why.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F3-L01 AND F3-L02.</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عَائِلَتِي … أَشْخَاصٍ</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are … people in my family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 ، اسْمُهُ … ، هُوَ … وَ…</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is …; his name is …; he is … and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 ، اسْمُهَا … ، شَعْرُهَا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is …; her name is …; her hair is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أُحِبُّهُ / أُحِبُّهَا لِأَنَّهُ / لِأَنَّهَا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love him / her because he / she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F3-W01 · Apply workshop (F3-L01 + F3-L02)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هٰذَا</a:t>
            </a:r>
            <a:pPr algn="l" indent="0" marL="0">
              <a:buNone/>
            </a:pPr>
            <a:r>
              <a:rPr lang="en-US" sz="1100" dirty="0">
                <a:solidFill>
                  <a:srgbClr val="5A6472"/>
                </a:solidFill>
                <a:latin typeface="Calibri" pitchFamily="34" charset="0"/>
                <a:cs typeface="Amiri" pitchFamily="2" charset="-78"/>
              </a:rPr>
              <a:t>‏ for a man and ‏</a:t>
            </a:r>
            <a:pPr algn="l" indent="0" marL="0">
              <a:buNone/>
            </a:pPr>
            <a:r>
              <a:rPr lang="ar-SA" altLang="en-US" sz="1450" dirty="0">
                <a:solidFill>
                  <a:srgbClr val="5A6472"/>
                </a:solidFill>
                <a:latin typeface="Amiri" pitchFamily="2" charset="-78"/>
                <a:ea typeface="Amiri" pitchFamily="2" charset="-78"/>
                <a:cs typeface="Amiri" pitchFamily="2" charset="-78"/>
              </a:rPr>
              <a:t>هٰذِهِ</a:t>
            </a:r>
            <a:pPr algn="l" indent="0" marL="0">
              <a:buNone/>
            </a:pPr>
            <a:r>
              <a:rPr lang="en-US" sz="1100" dirty="0">
                <a:solidFill>
                  <a:srgbClr val="5A6472"/>
                </a:solidFill>
                <a:latin typeface="Calibri" pitchFamily="34" charset="0"/>
                <a:cs typeface="Amiri" pitchFamily="2" charset="-78"/>
              </a:rPr>
              <a:t>‏ for a woman?</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شَعْرُهُ / شَعْرُهَا</a:t>
            </a:r>
            <a:pPr algn="l" indent="0" marL="0">
              <a:buNone/>
            </a:pPr>
            <a:r>
              <a:rPr lang="en-US" sz="1100" dirty="0">
                <a:solidFill>
                  <a:srgbClr val="5A6472"/>
                </a:solidFill>
                <a:latin typeface="Calibri" pitchFamily="34" charset="0"/>
                <a:cs typeface="Amiri" pitchFamily="2" charset="-78"/>
              </a:rPr>
              <a:t>‏ with a masculine colour?</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F3-W01 · Apply workshop (F3-L01 + F3-L02)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عَائِلَتِي خَمْسَةُ أَشْخَاصٍ: أَبِي وَأُمِّي وَأَخِي وَأُخْتِي وَأَنَا.</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are five people in my family: my father, my mother, my brother, my sister and me.</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شَخْصًا فِي عَائِلَتِكَ؟</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أَخِي الأَكْبَرُ، اسْمُهُ طَارِقٌ.</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my older brother; his name is Tariq.</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هٰذَا؟</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طَوِيلٌ وَنَحِيفٌ، وَشَعْرُهُ أَسْوَدُ.</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is tall and slim, and his hair is black.</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يَبْدُو أَخُوكَ؟</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هٰذِهِ خَالَتِي مَرْيَمُ، هِيَ لَطِيفَةٌ وَهَادِئَةٌ.</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my aunt Maryam; she is kind and calm.</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وَمَنْ هٰذِهِ؟ كَيْفَ شَخْصِيَّتُهَا؟</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جَدَّتِي كَثِيرًا لِأَنَّهَا كَرِيمَةٌ وَمُضْحِكَةٌ.</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love my grandmother a lot because she is generous and funny.</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تُحِبُّ كَثِيرًا فِي عَائِلَتِكَ؟ لِمَاذَا؟</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F3-W01 · Apply workshop (F3-L01 + F3-L02)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عَائِلَتِي سِتَّةُ أَشْخَاصٍ. هٰذَا جَدِّي، اسْمُهُ إِبْرَاهِيمُ. هُوَ طَوِيلٌ، وَشَعْرُهُ أَبْيَضُ، وَهُوَ هَادِئٌ وَكَرِيمٌ. وَهٰذِهِ عَمَّتِي، اسْمُهَا سُعَادُ. هِيَ قَصِيرَةٌ، وَشَعْرُهَا أَسْوَدُ، وَهِيَ مُضْحِكَةٌ جِدًّا. وَهٰذَا أَخِي الأَكْبَرُ طَارِقٌ، هُوَ مُجْتَهِدٌ. أُحِبُّ جَدِّي كَثِيرًا لِأَنَّهُ لَطِيفٌ، وَيَحْكِي قِصَصًا جَمِيلَةً.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“There are six people in my family. This is my grandfather; his name is Ibrahim. He is tall, his hair is white, and he is calm and generous. And this is my aunt; her name is Suad. She is short, her hair is black, and she is very funny. And this is my older brother Tariq; he is hard-working. I love my grandfather a lot because he is kind and tells lovely stories.”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هٰذَا جَدِّي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شَعْرُهُ أَبْيَضُ</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هِيَ مُضْحِكَةٌ جِدًّا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 لَطِيفٌ</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F3-W01 · Apply workshop (F3-L01 + F3-L02)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F3-L01 and F3-L02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F3-W01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F3-L03 · My Home — Rooms and Parts of the House</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بَيْتِي — الغُرَفُ وَأَجْزَاءُ المَنْزِلِ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F3-W01 · Apply Workshop — Our Family Photo Album</dc:title>
  <dc:subject>PptxGenJS Presentation</dc:subject>
  <dc:creator>Al Madina Online School · Arabic Department</dc:creator>
  <cp:lastModifiedBy>Al Madina Online School · Arabic Department</cp:lastModifiedBy>
  <cp:revision>1</cp:revision>
  <dcterms:created xsi:type="dcterms:W3CDTF">2026-10-26T15:47:27Z</dcterms:created>
  <dcterms:modified xsi:type="dcterms:W3CDTF">2026-10-26T15:47:27Z</dcterms:modified>
</cp:coreProperties>
</file>