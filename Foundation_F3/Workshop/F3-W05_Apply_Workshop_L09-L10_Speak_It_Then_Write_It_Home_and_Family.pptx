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APPLY WORKSHOP AT A GLANCE — the third lesson of the week (Learn F3-L09 · Learn F3-L10 · Apply). 60 minutes on Teams: teacher-led in the main room for the short whole-class steps, pairs or breakout rooms of two or three for speaking, individual writing.
0–3 Welcome + plan · 3–6 What we learnt this week · PART 1 REMEMBER: word race (4) · which lesson? sort (4) · PART 2 SPEAK: new dialogue (5) · mixed question cards (6) · role-play card (7) · 30–45 seconds talk (4) · PART 3 WRITE: sentence builder (3) · spot and fix (3) · connected writing (12) + buddy check (3) · CHECK YOURSELF: models + self-check (5).
PURPOSE: students APPLY the language of BOTH lessons in new contexts — the question cards, builder and common mistakes come from the two practice rooms; the dialogue, role-play, talk and writing task are new and join the lessons together.
CONTENT: F3-L09 (Extended Writing: My Home and Family) and F3-L10 (Speaking: My Family and Home).
SET-UP: share this deck or its PDF in the chat. Pairs or breakout rooms for Part 2 (same-level rooms keep the routes simple). Everyone writes in their own book or document in Part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min). Apply = use what you learnt in F3-L09 and F3-L10 in a NEW situation. Point out the step number in the top-left of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WE LEARNT (3 min, main room). Ask: “What can you say after F3-L09? After F3-L10?” Take two answers in the chat for each lesson (one word or one sentence is enough). Then read objective 3 — today’s new situation that needs BOTH lessons. Students tick their route goals at the end of the lesson.
F3-L09 language: planning three paragraphs (family · home · opinion); connectors wa · ayḍan · lākinna · li-anna · li-dhālika; reviewing endings and agreement
F3-L10 language: decoding the question word (man · maʿa man · ayna · kam · li-mādhā · ṣif); two connected sentences per answer; repair phrases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 (4 min). Quick, energetic retrieval. Model one round with a student, then pairs race. Collect the best score in the chat. Listen for words students hesitate over and revisit them in Part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 reference — six words from F3-L09.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 reference — six words from F3-L10.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2 (4 min). Students read each card ALOUD (by invitation), then type its number in the chat with 1 or 2 (for example “card 3 → 2”). Then check the answer slide. Ask: “Which card could you use in BOTH lessons?” — this links the two lessons before Part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2 (4 min). Students read each card ALOUD (by invitation), then type its number in the chat with 1 or 2 (for example “card 3 → 2”). Then check the answer slide. Ask: “Which card could you use in BOTH lessons?” — this links the two lessons before Part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STEP 3 (5 min). A NEW dialogue that joins F3-L09 and F3-L10. Teacher reads it once with a confident student; then pairs. Ask: “Which lines are from F3-L09? Which from F3-L10?” The question words and “two sentences per answer” come from F3-L10; the connectors (لِأَنَّ · لٰكِنَّ · لِذٰلِكَ) from F3-L09. Line 6 shows a speaking answer that is already a written paragraph.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4 (6 min, pairs or rooms). The questions come from the two practice rooms, now mixed so students switch between the lessons. Teacher: visit rooms and ask one Stretch follow-up question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STEP 5 (7 min). One NEW situation that needs both lessons: decoding question words and two connected sentences (F3-L10) with connectors and opinions from the three-paragraph plan (F3-L09). SUPPORTED: the plan column gives the first words, not the full answer. To a girl Partner A says: كَمْ شَخْصًا فِي عَائِلَتِكِ؟ · صِفِي · أَيْنَ تَسْكُنِينَ؟ · مَا رَأْيُكِ؟ · مَعَ مَنْ تُشَارِكِينَ غُرْفَتَكِ؟.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6 (4 min). Fluency: one talk that uses BOTH lessons. Two volunteers speak to the whole class at the end (open mic).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7 (3 min). Rows come from the F3-L09 and F3-L10 practice rooms. Read the English, choose the correct part from each column (start on the RIGHT). Pairs agree, then check. Students copy the correct sentences — they help in Step 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7 (3 min). Rows come from the F3-L09 and F3-L10 practice rooms. Read the English, choose the correct part from each column (start on the RIGHT). Pairs agree, then check. Students copy the correct sentences — they help in Step 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8 (3 min). Common mistakes from both lessons. Students type the corrected version in the chat before the answer slide. These are the mistakes to look for in the buddy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8 (3 min). Common mistakes from both lessons. Students type the corrected version in the chat before the answer slide. These are the mistakes to look for in the buddy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9 support. Core: use the Core frames for every bullet. Develop: use the Develop frames only if stuck. Stretch: no frames — add reasons, a time phrase and an extra detail.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9 (10 min writing, everyone on their own). Core: frames for every bullet (30–40 words). Develop: 40–70 words, frames only if stuck. Stretch: no frames, add reasons. Teacher reads ONE sentence per student (in the chat or the shared document) and gives one live correction.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BUDDY CHECK (3 min). Pairs swap texts (or share screens). Then everyone returns to the main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YOURSELF (2 min, main room). Each student finds one task they answered less fully and says it again using the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 (46 words). CHECK YOURSELF (2 min). Find each bullet point in the model, and one phrase from F3-L09 and one from F3-L10. Then each student copies ONE phrase from the model into their own 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YEAR 7  ·  FOUNDATION F3  ·  F3-L09 + F3-L10 · APPLY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F3-W05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Apply Workshop — Speak It, Then Write It: Home and Family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التَّطْبِيقِ — تَكَلَّمْ ثُمَّ اكْتُبْ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Students turn speaking into writing: they decode question words, give two connected sentences per answer in a family-and-home conversation, then plan and write three short paragraphs with connectors — the same ideas, spoken first and written second.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Apply workshop · F3-L09 + F3-L10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Foundation · A1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Pathways › Foundation › F3 › F3-L10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F3-W05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F3 · My Family &amp; Home · F3-W05 · Apply workshop (F3-L09 + F3-L10)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24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F3-W05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PLAN · LEARN, LEARN, APPLY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Two lessons — now use them together</a:t>
            </a:r>
            <a:endParaRPr lang="en-US" sz="25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خُطُوَاتُ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F3 · My Family &amp; Home · F3-W05 · Apply workshop (F3-L09 + F3-L10)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6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 learnt: F3-L09 and F3-L10.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تَعَلَّمْنَا؟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Part 1 · Remember: word race and “which lesson?” sort.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2F6FB0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تَذَكَّرْ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22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Part 2 · Speak: say the model dialogue · question cards · role-play card · short talk.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تَكَلَّمْ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19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Part 3 · Write: sentence builder · spot and fix · write your text · buddy check.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اكْتُبْ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5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Check yourself with the models.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HOW THE WORKSHOP RUNS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Today there is no new language: you USE the words and structures of the last two lessons together. Everybody speaks in every step and everybody writes their own text. Choose your route — Core, Develop or Stretch — and move up when you are ready.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24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F3-W05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WHAT WE LEARNT THIS WEEK · F3-L09 + F3-L10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This week’s two lessons — and today’s goal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نُطَبِّقُ مَا تَعَلَّمْنَا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F3 · My Family &amp; Home · F3-W05 · Apply workshop (F3-L09 + F3-L10)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4663440" cy="4315968"/>
          </a:xfrm>
          <a:prstGeom prst="roundRect">
            <a:avLst>
              <a:gd name="adj" fmla="val 1695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85800" y="192024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TODAY YOU WILL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2834640" y="18745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سَتَتَعَلَّمُ اليَوْمَ</a:t>
            </a:r>
            <a:endParaRPr lang="ar-SA" sz="1600" dirty="0"/>
          </a:p>
        </p:txBody>
      </p:sp>
      <p:sp>
        <p:nvSpPr>
          <p:cNvPr id="18" name="Shape 15"/>
          <p:cNvSpPr/>
          <p:nvPr/>
        </p:nvSpPr>
        <p:spPr>
          <a:xfrm>
            <a:off x="685800" y="2395728"/>
            <a:ext cx="365760" cy="3657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85800" y="23957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1188720" y="2286000"/>
            <a:ext cx="3749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F3-L09: Extended Writing: My Home and Family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685800" y="3291840"/>
            <a:ext cx="365760" cy="3657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85800" y="3291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1188720" y="3182112"/>
            <a:ext cx="3749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F3-L10: Speaking: My Family and Home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685800" y="4187952"/>
            <a:ext cx="365760" cy="3657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85800" y="4187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1188720" y="4078224"/>
            <a:ext cx="3749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Apply both: the practice speaking test · My home and family: three paragraphs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349240" y="1810512"/>
            <a:ext cx="6382512" cy="1353312"/>
          </a:xfrm>
          <a:prstGeom prst="roundRect">
            <a:avLst>
              <a:gd name="adj" fmla="val 5405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532120" y="194767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532120" y="1947672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6766560" y="194767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i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Everyone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5532120" y="228600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☐  Answer questions from BOTH lessons in full sentences.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5532120" y="269748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☐  Write the text using the frames.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5349240" y="3273552"/>
            <a:ext cx="6382512" cy="1353312"/>
          </a:xfrm>
          <a:prstGeom prst="roundRect">
            <a:avLst>
              <a:gd name="adj" fmla="val 5405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532120" y="341071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532120" y="3410712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950" dirty="0"/>
          </a:p>
        </p:txBody>
      </p:sp>
      <p:sp>
        <p:nvSpPr>
          <p:cNvPr id="36" name="Text 33"/>
          <p:cNvSpPr txBox="1"/>
          <p:nvPr/>
        </p:nvSpPr>
        <p:spPr>
          <a:xfrm>
            <a:off x="6766560" y="341071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i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Most of us</a:t>
            </a:r>
            <a:endParaRPr lang="en-US" sz="1050" dirty="0"/>
          </a:p>
        </p:txBody>
      </p:sp>
      <p:sp>
        <p:nvSpPr>
          <p:cNvPr id="37" name="Text 34"/>
          <p:cNvSpPr txBox="1"/>
          <p:nvPr/>
        </p:nvSpPr>
        <p:spPr>
          <a:xfrm>
            <a:off x="5532120" y="374904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☐  Join both lessons in one conversation and a 30–45 seconds talk.</a:t>
            </a:r>
            <a:endParaRPr lang="en-US" sz="1300" dirty="0"/>
          </a:p>
        </p:txBody>
      </p:sp>
      <p:sp>
        <p:nvSpPr>
          <p:cNvPr id="38" name="Text 35"/>
          <p:cNvSpPr txBox="1"/>
          <p:nvPr/>
        </p:nvSpPr>
        <p:spPr>
          <a:xfrm>
            <a:off x="5532120" y="416052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☐  Write the text, frames only if stuck.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5349240" y="4736592"/>
            <a:ext cx="6382512" cy="1353312"/>
          </a:xfrm>
          <a:prstGeom prst="roundRect">
            <a:avLst>
              <a:gd name="adj" fmla="val 5405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532120" y="487375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532120" y="4873752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6766560" y="48737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i="1" dirty="0">
                <a:solidFill>
                  <a:srgbClr val="B83227"/>
                </a:solidFill>
                <a:latin typeface="Calibri" pitchFamily="34" charset="0"/>
                <a:cs typeface="Amiri" pitchFamily="2" charset="-78"/>
              </a:rPr>
              <a:t>Aim high</a:t>
            </a:r>
            <a:endParaRPr lang="en-US" sz="1050" dirty="0"/>
          </a:p>
        </p:txBody>
      </p:sp>
      <p:sp>
        <p:nvSpPr>
          <p:cNvPr id="43" name="Text 40"/>
          <p:cNvSpPr txBox="1"/>
          <p:nvPr/>
        </p:nvSpPr>
        <p:spPr>
          <a:xfrm>
            <a:off x="5532120" y="521208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83227"/>
                </a:solidFill>
                <a:latin typeface="Calibri" pitchFamily="34" charset="0"/>
                <a:cs typeface="Amiri" pitchFamily="2" charset="-78"/>
              </a:rPr>
              <a:t>☐  Speak without notes; add reasons and opinions.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5532120" y="562356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83227"/>
                </a:solidFill>
                <a:latin typeface="Calibri" pitchFamily="34" charset="0"/>
                <a:cs typeface="Amiri" pitchFamily="2" charset="-78"/>
              </a:rPr>
              <a:t>☐  Add a reason (‏</a:t>
            </a:r>
            <a:pPr algn="l" indent="0" marL="0">
              <a:buNone/>
            </a:pPr>
            <a:r>
              <a:rPr lang="ar-SA" altLang="en-US" sz="17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300" b="1" dirty="0">
                <a:solidFill>
                  <a:srgbClr val="B83227"/>
                </a:solidFill>
                <a:latin typeface="Calibri" pitchFamily="34" charset="0"/>
                <a:cs typeface="Amiri" pitchFamily="2" charset="-78"/>
              </a:rPr>
              <a:t>‏) and an extra detail to every point.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F3-W05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4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1 · STEP 1 · WORD RACE · 4 MINUTES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Word race: two lessons, one race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سِبَاقُ الكَلِمَاتِ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F3 · My Family &amp; Home · F3-W05 · Apply workshop (F3-L09 + F3-L10)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STEP 1 · PAIRS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🏁  English → Arabic, from both lessons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 next two slides show words from F3-L09 and F3-L10. Partner A says a word in ENGLISH; Partner B says it in ARABIC. One point for every correct answer in 90 seconds — then swap.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Teacher: first round together (3 words from each slide).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Pairs: 90 seconds each, as many as you can.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Mix the lessons: one word from slide 1, one from slide 2.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Last round: use two words — one from each lesson — in ONE sentence.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Say the Arabic word clearly.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Say the word, then a short sentence with it.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Join a word from each lesson in one sentence with ‏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‏ or ‏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‏.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دَوْرُكَ! / دَوْرُكِ!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 (m. / f.)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correct!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حَاوِلْ مَرَّةً أُخْرَى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try again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نُقْطَةٌ لَكَ / لَكِ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point for you (m. / f.)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24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F3-W05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STEP 1 · WORDS FROM F3-L09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F3-L09 · Extended Writing: My Home and Family</a:t>
            </a:r>
            <a:endParaRPr lang="en-US" sz="19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كَلِمَاتُ الدَّرْسِ الأَوَّلِ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F3 · My Family &amp; Home · F3-W05 · Apply workshop (F3-L09 + F3-L10)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فِكْرَةٌ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idea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fik-ra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8238744" y="3438144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293608" y="3447288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26" name="Text 23"/>
          <p:cNvSpPr txBox="1"/>
          <p:nvPr/>
        </p:nvSpPr>
        <p:spPr>
          <a:xfrm>
            <a:off x="8284464" y="3483864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أَفْكَارٌ</a:t>
            </a:r>
            <a:endParaRPr lang="ar-SA" sz="1500" dirty="0"/>
          </a:p>
        </p:txBody>
      </p:sp>
      <p:sp>
        <p:nvSpPr>
          <p:cNvPr id="27" name="Shape 24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4782312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4782312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4" name="Text 31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مُسَوَّدَةٌ</a:t>
            </a:r>
            <a:endParaRPr lang="ar-SA" sz="3000" dirty="0"/>
          </a:p>
        </p:txBody>
      </p:sp>
      <p:sp>
        <p:nvSpPr>
          <p:cNvPr id="35" name="Text 32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draft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mu-saw-wa-da</a:t>
            </a:r>
            <a:endParaRPr lang="en-US" sz="1350" dirty="0"/>
          </a:p>
        </p:txBody>
      </p:sp>
      <p:sp>
        <p:nvSpPr>
          <p:cNvPr id="36" name="Shape 33"/>
          <p:cNvSpPr/>
          <p:nvPr/>
        </p:nvSpPr>
        <p:spPr>
          <a:xfrm>
            <a:off x="4416552" y="3438144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471416" y="3447288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38" name="Text 35"/>
          <p:cNvSpPr txBox="1"/>
          <p:nvPr/>
        </p:nvSpPr>
        <p:spPr>
          <a:xfrm>
            <a:off x="4462272" y="3483864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مُسَوَّدَاتٌ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960120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960120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8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جُمْلَةٌ</a:t>
            </a:r>
            <a:endParaRPr lang="ar-SA" sz="3000" dirty="0"/>
          </a:p>
        </p:txBody>
      </p:sp>
      <p:sp>
        <p:nvSpPr>
          <p:cNvPr id="45" name="Text 42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sentence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jum-la</a:t>
            </a:r>
            <a:endParaRPr lang="en-US" sz="1350" dirty="0"/>
          </a:p>
        </p:txBody>
      </p:sp>
      <p:sp>
        <p:nvSpPr>
          <p:cNvPr id="46" name="Shape 43"/>
          <p:cNvSpPr/>
          <p:nvPr/>
        </p:nvSpPr>
        <p:spPr>
          <a:xfrm>
            <a:off x="594360" y="3438144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649224" y="3447288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48" name="Text 45"/>
          <p:cNvSpPr txBox="1"/>
          <p:nvPr/>
        </p:nvSpPr>
        <p:spPr>
          <a:xfrm>
            <a:off x="640080" y="3483864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جُمَلٌ</a:t>
            </a:r>
            <a:endParaRPr lang="ar-SA" sz="1500" dirty="0"/>
          </a:p>
        </p:txBody>
      </p:sp>
      <p:sp>
        <p:nvSpPr>
          <p:cNvPr id="49" name="Shape 46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0" name="Shape 47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4" name="Text 51"/>
          <p:cNvSpPr txBox="1"/>
          <p:nvPr/>
        </p:nvSpPr>
        <p:spPr>
          <a:xfrm>
            <a:off x="8211312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 · أَيْضًا</a:t>
            </a:r>
            <a:endParaRPr lang="ar-SA" sz="3000" dirty="0"/>
          </a:p>
        </p:txBody>
      </p:sp>
      <p:sp>
        <p:nvSpPr>
          <p:cNvPr id="55" name="Text 52"/>
          <p:cNvSpPr txBox="1"/>
          <p:nvPr/>
        </p:nvSpPr>
        <p:spPr>
          <a:xfrm>
            <a:off x="8238744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and · also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wa · ay-ḍan</a:t>
            </a:r>
            <a:endParaRPr lang="en-US" sz="1350" dirty="0"/>
          </a:p>
        </p:txBody>
      </p:sp>
      <p:sp>
        <p:nvSpPr>
          <p:cNvPr id="56" name="Shape 53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7" name="Shape 54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59" name="Shape 56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1" name="Text 58"/>
          <p:cNvSpPr txBox="1"/>
          <p:nvPr/>
        </p:nvSpPr>
        <p:spPr>
          <a:xfrm>
            <a:off x="4389120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endParaRPr lang="ar-SA" sz="3000" dirty="0"/>
          </a:p>
        </p:txBody>
      </p:sp>
      <p:sp>
        <p:nvSpPr>
          <p:cNvPr id="62" name="Text 59"/>
          <p:cNvSpPr txBox="1"/>
          <p:nvPr/>
        </p:nvSpPr>
        <p:spPr>
          <a:xfrm>
            <a:off x="4416552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because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li-ʾan-na</a:t>
            </a:r>
            <a:endParaRPr lang="en-US" sz="1350" dirty="0"/>
          </a:p>
        </p:txBody>
      </p:sp>
      <p:sp>
        <p:nvSpPr>
          <p:cNvPr id="63" name="Shape 60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4" name="Shape 61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66" name="Shape 63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8" name="Text 65"/>
          <p:cNvSpPr txBox="1"/>
          <p:nvPr/>
        </p:nvSpPr>
        <p:spPr>
          <a:xfrm>
            <a:off x="566928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 · ثُمَّ</a:t>
            </a:r>
            <a:endParaRPr lang="ar-SA" sz="3000" dirty="0"/>
          </a:p>
        </p:txBody>
      </p:sp>
      <p:sp>
        <p:nvSpPr>
          <p:cNvPr id="69" name="Text 66"/>
          <p:cNvSpPr txBox="1"/>
          <p:nvPr/>
        </p:nvSpPr>
        <p:spPr>
          <a:xfrm>
            <a:off x="594360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first · then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aw-wa-lan · thum-ma</a:t>
            </a:r>
            <a:endParaRPr lang="en-US" sz="1350" dirty="0"/>
          </a:p>
        </p:txBody>
      </p:sp>
      <p:sp>
        <p:nvSpPr>
          <p:cNvPr id="70" name="Text 6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24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F3-W05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STEP 1 · WORDS FROM F3-L10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F3-L10 · Speaking: My Family and Home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كَلِمَاتُ الدَّرْسِ الثَّانِي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F3 · My Family &amp; Home · F3-W05 · Apply workshop (F3-L09 + F3-L10)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→ person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مَنْ؟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who?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8238744" y="3438144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293608" y="3447288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e.g.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8284464" y="3575304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مَنْ فِي عَائِلَتِكَ؟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4782312" y="1938528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4782312" y="1938528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→ place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4" name="Text 31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أَيْنَ؟</a:t>
            </a:r>
            <a:endParaRPr lang="ar-SA" sz="3000" dirty="0"/>
          </a:p>
        </p:txBody>
      </p:sp>
      <p:sp>
        <p:nvSpPr>
          <p:cNvPr id="35" name="Text 32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where?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ayna</a:t>
            </a:r>
            <a:endParaRPr lang="en-US" sz="1350" dirty="0"/>
          </a:p>
        </p:txBody>
      </p:sp>
      <p:sp>
        <p:nvSpPr>
          <p:cNvPr id="36" name="Shape 33"/>
          <p:cNvSpPr/>
          <p:nvPr/>
        </p:nvSpPr>
        <p:spPr>
          <a:xfrm>
            <a:off x="4416552" y="3438144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471416" y="3447288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e.g.</a:t>
            </a:r>
            <a:endParaRPr lang="en-US" sz="700" dirty="0"/>
          </a:p>
        </p:txBody>
      </p:sp>
      <p:sp>
        <p:nvSpPr>
          <p:cNvPr id="38" name="Text 35"/>
          <p:cNvSpPr txBox="1"/>
          <p:nvPr/>
        </p:nvSpPr>
        <p:spPr>
          <a:xfrm>
            <a:off x="4462272" y="3575304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تَسْكُنُ؟</a:t>
            </a:r>
            <a:endParaRPr lang="ar-SA" sz="1350" dirty="0"/>
          </a:p>
        </p:txBody>
      </p:sp>
      <p:sp>
        <p:nvSpPr>
          <p:cNvPr id="39" name="Shape 36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960120" y="1938528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960120" y="1938528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→ لِأَنَّ</a:t>
            </a:r>
            <a:endParaRPr lang="en-US" sz="800" dirty="0"/>
          </a:p>
        </p:txBody>
      </p:sp>
      <p:sp>
        <p:nvSpPr>
          <p:cNvPr id="44" name="Shape 41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6" name="Text 43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لِمَاذَا؟</a:t>
            </a:r>
            <a:endParaRPr lang="ar-SA" sz="3000" dirty="0"/>
          </a:p>
        </p:txBody>
      </p:sp>
      <p:sp>
        <p:nvSpPr>
          <p:cNvPr id="47" name="Text 44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li-mādhā</a:t>
            </a:r>
            <a:endParaRPr lang="en-US" sz="1350" dirty="0"/>
          </a:p>
        </p:txBody>
      </p:sp>
      <p:sp>
        <p:nvSpPr>
          <p:cNvPr id="48" name="Shape 45"/>
          <p:cNvSpPr/>
          <p:nvPr/>
        </p:nvSpPr>
        <p:spPr>
          <a:xfrm>
            <a:off x="594360" y="3438144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649224" y="3447288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e.g.</a:t>
            </a:r>
            <a:endParaRPr lang="en-US" sz="700" dirty="0"/>
          </a:p>
        </p:txBody>
      </p:sp>
      <p:sp>
        <p:nvSpPr>
          <p:cNvPr id="50" name="Text 47"/>
          <p:cNvSpPr txBox="1"/>
          <p:nvPr/>
        </p:nvSpPr>
        <p:spPr>
          <a:xfrm>
            <a:off x="640080" y="3575304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تُحِبُّ بَيْتَكَ؟</a:t>
            </a:r>
            <a:endParaRPr lang="ar-SA" sz="1350" dirty="0"/>
          </a:p>
        </p:txBody>
      </p:sp>
      <p:sp>
        <p:nvSpPr>
          <p:cNvPr id="51" name="Shape 48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8604504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8604504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800" dirty="0"/>
          </a:p>
        </p:txBody>
      </p:sp>
      <p:sp>
        <p:nvSpPr>
          <p:cNvPr id="56" name="Text 53"/>
          <p:cNvSpPr txBox="1"/>
          <p:nvPr/>
        </p:nvSpPr>
        <p:spPr>
          <a:xfrm>
            <a:off x="8211312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طَلَاقَةٌ</a:t>
            </a:r>
            <a:endParaRPr lang="ar-SA" sz="3000" dirty="0"/>
          </a:p>
        </p:txBody>
      </p:sp>
      <p:sp>
        <p:nvSpPr>
          <p:cNvPr id="57" name="Text 54"/>
          <p:cNvSpPr txBox="1"/>
          <p:nvPr/>
        </p:nvSpPr>
        <p:spPr>
          <a:xfrm>
            <a:off x="8238744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fluency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ṭa-lā-qa</a:t>
            </a:r>
            <a:endParaRPr lang="en-US" sz="1350" dirty="0"/>
          </a:p>
        </p:txBody>
      </p:sp>
      <p:sp>
        <p:nvSpPr>
          <p:cNvPr id="58" name="Shape 55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9" name="Shape 56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4782312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4782312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800" dirty="0"/>
          </a:p>
        </p:txBody>
      </p:sp>
      <p:sp>
        <p:nvSpPr>
          <p:cNvPr id="63" name="Text 60"/>
          <p:cNvSpPr txBox="1"/>
          <p:nvPr/>
        </p:nvSpPr>
        <p:spPr>
          <a:xfrm>
            <a:off x="4389120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نُطْقٌ</a:t>
            </a:r>
            <a:endParaRPr lang="ar-SA" sz="3000" dirty="0"/>
          </a:p>
        </p:txBody>
      </p:sp>
      <p:sp>
        <p:nvSpPr>
          <p:cNvPr id="64" name="Text 61"/>
          <p:cNvSpPr txBox="1"/>
          <p:nvPr/>
        </p:nvSpPr>
        <p:spPr>
          <a:xfrm>
            <a:off x="4416552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pronunciation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nuṭq</a:t>
            </a:r>
            <a:endParaRPr lang="en-US" sz="1350" dirty="0"/>
          </a:p>
        </p:txBody>
      </p:sp>
      <p:sp>
        <p:nvSpPr>
          <p:cNvPr id="65" name="Shape 62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6" name="Shape 63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68" name="Shape 65"/>
          <p:cNvSpPr/>
          <p:nvPr/>
        </p:nvSpPr>
        <p:spPr>
          <a:xfrm>
            <a:off x="960120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9" name="Text 66"/>
          <p:cNvSpPr txBox="1"/>
          <p:nvPr/>
        </p:nvSpPr>
        <p:spPr>
          <a:xfrm>
            <a:off x="960120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phrase</a:t>
            </a:r>
            <a:endParaRPr lang="en-US" sz="800" dirty="0"/>
          </a:p>
        </p:txBody>
      </p:sp>
      <p:sp>
        <p:nvSpPr>
          <p:cNvPr id="70" name="Shape 67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2" name="Text 69"/>
          <p:cNvSpPr txBox="1"/>
          <p:nvPr/>
        </p:nvSpPr>
        <p:spPr>
          <a:xfrm>
            <a:off x="566928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تَكَلَّمْ بِبُطْءٍ، مِنْ فَضْلِكَ.</a:t>
            </a:r>
            <a:endParaRPr lang="ar-SA" sz="3000" dirty="0"/>
          </a:p>
        </p:txBody>
      </p:sp>
      <p:sp>
        <p:nvSpPr>
          <p:cNvPr id="73" name="Text 70"/>
          <p:cNvSpPr txBox="1"/>
          <p:nvPr/>
        </p:nvSpPr>
        <p:spPr>
          <a:xfrm>
            <a:off x="594360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Speak slowly, please.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ta-kal-lam bi-buṭ’</a:t>
            </a:r>
            <a:endParaRPr lang="en-US" sz="1350" dirty="0"/>
          </a:p>
        </p:txBody>
      </p:sp>
      <p:sp>
        <p:nvSpPr>
          <p:cNvPr id="74" name="Text 7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F3-W05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4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1 · STEP 2 · SORT IT · READ EACH CARD, THEN SORT IT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Question word or connector?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صَنِّفِ البِطَاقَاتِ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F3 · My Family &amp; Home · F3-W05 · Apply workshop (F3-L09 + F3-L10)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9015984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9107424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</a:t>
            </a:r>
            <a:endParaRPr lang="ar-SA" sz="1800" dirty="0"/>
          </a:p>
        </p:txBody>
      </p:sp>
      <p:sp>
        <p:nvSpPr>
          <p:cNvPr id="17" name="Shape 14"/>
          <p:cNvSpPr/>
          <p:nvPr/>
        </p:nvSpPr>
        <p:spPr>
          <a:xfrm>
            <a:off x="6163056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6254496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مَعَ مَنْ؟</a:t>
            </a:r>
            <a:endParaRPr lang="ar-SA" sz="1800" dirty="0"/>
          </a:p>
        </p:txBody>
      </p:sp>
      <p:sp>
        <p:nvSpPr>
          <p:cNvPr id="19" name="Shape 16"/>
          <p:cNvSpPr/>
          <p:nvPr/>
        </p:nvSpPr>
        <p:spPr>
          <a:xfrm>
            <a:off x="3310128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3401568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كَمْ؟</a:t>
            </a:r>
            <a:endParaRPr lang="ar-SA" sz="1800" dirty="0"/>
          </a:p>
        </p:txBody>
      </p:sp>
      <p:sp>
        <p:nvSpPr>
          <p:cNvPr id="21" name="Shape 18"/>
          <p:cNvSpPr/>
          <p:nvPr/>
        </p:nvSpPr>
        <p:spPr>
          <a:xfrm>
            <a:off x="457200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548640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endParaRPr lang="ar-SA" sz="1800" dirty="0"/>
          </a:p>
        </p:txBody>
      </p:sp>
      <p:sp>
        <p:nvSpPr>
          <p:cNvPr id="23" name="Shape 20"/>
          <p:cNvSpPr/>
          <p:nvPr/>
        </p:nvSpPr>
        <p:spPr>
          <a:xfrm>
            <a:off x="9015984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9107424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لِذٰلِكَ</a:t>
            </a:r>
            <a:endParaRPr lang="ar-SA" sz="1800" dirty="0"/>
          </a:p>
        </p:txBody>
      </p:sp>
      <p:sp>
        <p:nvSpPr>
          <p:cNvPr id="25" name="Shape 22"/>
          <p:cNvSpPr/>
          <p:nvPr/>
        </p:nvSpPr>
        <p:spPr>
          <a:xfrm>
            <a:off x="6163056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6254496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لِمَاذَا؟</a:t>
            </a:r>
            <a:endParaRPr lang="ar-SA" sz="1800" dirty="0"/>
          </a:p>
        </p:txBody>
      </p:sp>
      <p:sp>
        <p:nvSpPr>
          <p:cNvPr id="27" name="Shape 24"/>
          <p:cNvSpPr/>
          <p:nvPr/>
        </p:nvSpPr>
        <p:spPr>
          <a:xfrm>
            <a:off x="3310128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3401568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أَيْنَ؟</a:t>
            </a:r>
            <a:endParaRPr lang="ar-SA" sz="1800" dirty="0"/>
          </a:p>
        </p:txBody>
      </p:sp>
      <p:sp>
        <p:nvSpPr>
          <p:cNvPr id="29" name="Shape 26"/>
          <p:cNvSpPr/>
          <p:nvPr/>
        </p:nvSpPr>
        <p:spPr>
          <a:xfrm>
            <a:off x="457200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548640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أَيْضًا</a:t>
            </a:r>
            <a:endParaRPr lang="ar-SA" sz="1800" dirty="0"/>
          </a:p>
        </p:txBody>
      </p:sp>
      <p:sp>
        <p:nvSpPr>
          <p:cNvPr id="31" name="Shape 28"/>
          <p:cNvSpPr/>
          <p:nvPr/>
        </p:nvSpPr>
        <p:spPr>
          <a:xfrm>
            <a:off x="6185916" y="3017520"/>
            <a:ext cx="5545836" cy="3291840"/>
          </a:xfrm>
          <a:prstGeom prst="roundRect">
            <a:avLst>
              <a:gd name="adj" fmla="val 2222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323076" y="3127248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323076" y="3127248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 · Connectors · F3-L09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457200" y="3017520"/>
            <a:ext cx="5545836" cy="3291840"/>
          </a:xfrm>
          <a:prstGeom prst="roundRect">
            <a:avLst>
              <a:gd name="adj" fmla="val 2222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94360" y="3127248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94360" y="3127248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 · Question words · F3-L10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24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F3-W05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STEP 2 · ANSWERS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Sort: answers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صَنِّفِ البِطَاقَاتِ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F3 · My Family &amp; Home · F3-W05 · Apply workshop (F3-L09 + F3-L10)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6185916" y="1810512"/>
            <a:ext cx="5545836" cy="4498848"/>
          </a:xfrm>
          <a:prstGeom prst="roundRect">
            <a:avLst>
              <a:gd name="adj" fmla="val 1626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323076" y="1920240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323076" y="1920240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 · Connectors · F3-L09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323076" y="2377440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414516" y="2377440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</a:t>
            </a:r>
            <a:endParaRPr lang="ar-SA" sz="1800" dirty="0"/>
          </a:p>
        </p:txBody>
      </p:sp>
      <p:sp>
        <p:nvSpPr>
          <p:cNvPr id="20" name="Shape 17"/>
          <p:cNvSpPr/>
          <p:nvPr/>
        </p:nvSpPr>
        <p:spPr>
          <a:xfrm>
            <a:off x="6323076" y="2889504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414516" y="2889504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endParaRPr lang="ar-SA" sz="1800" dirty="0"/>
          </a:p>
        </p:txBody>
      </p:sp>
      <p:sp>
        <p:nvSpPr>
          <p:cNvPr id="22" name="Shape 19"/>
          <p:cNvSpPr/>
          <p:nvPr/>
        </p:nvSpPr>
        <p:spPr>
          <a:xfrm>
            <a:off x="6323076" y="3401568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414516" y="3401568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لِذٰلِكَ</a:t>
            </a:r>
            <a:endParaRPr lang="ar-SA" sz="1800" dirty="0"/>
          </a:p>
        </p:txBody>
      </p:sp>
      <p:sp>
        <p:nvSpPr>
          <p:cNvPr id="24" name="Shape 21"/>
          <p:cNvSpPr/>
          <p:nvPr/>
        </p:nvSpPr>
        <p:spPr>
          <a:xfrm>
            <a:off x="6323076" y="3913632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414516" y="3913632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أَيْضًا</a:t>
            </a:r>
            <a:endParaRPr lang="ar-SA" sz="1800" dirty="0"/>
          </a:p>
        </p:txBody>
      </p:sp>
      <p:sp>
        <p:nvSpPr>
          <p:cNvPr id="26" name="Shape 23"/>
          <p:cNvSpPr/>
          <p:nvPr/>
        </p:nvSpPr>
        <p:spPr>
          <a:xfrm>
            <a:off x="457200" y="1810512"/>
            <a:ext cx="5545836" cy="4498848"/>
          </a:xfrm>
          <a:prstGeom prst="roundRect">
            <a:avLst>
              <a:gd name="adj" fmla="val 1626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94360" y="1920240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94360" y="1920240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 · Question words · F3-L10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94360" y="2377440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85800" y="2377440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مَعَ مَنْ؟</a:t>
            </a:r>
            <a:endParaRPr lang="ar-SA" sz="1800" dirty="0"/>
          </a:p>
        </p:txBody>
      </p:sp>
      <p:sp>
        <p:nvSpPr>
          <p:cNvPr id="31" name="Shape 28"/>
          <p:cNvSpPr/>
          <p:nvPr/>
        </p:nvSpPr>
        <p:spPr>
          <a:xfrm>
            <a:off x="594360" y="2889504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85800" y="2889504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كَمْ؟</a:t>
            </a:r>
            <a:endParaRPr lang="ar-SA" sz="1800" dirty="0"/>
          </a:p>
        </p:txBody>
      </p:sp>
      <p:sp>
        <p:nvSpPr>
          <p:cNvPr id="33" name="Shape 30"/>
          <p:cNvSpPr/>
          <p:nvPr/>
        </p:nvSpPr>
        <p:spPr>
          <a:xfrm>
            <a:off x="594360" y="3401568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85800" y="3401568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لِمَاذَا؟</a:t>
            </a:r>
            <a:endParaRPr lang="ar-SA" sz="1800" dirty="0"/>
          </a:p>
        </p:txBody>
      </p:sp>
      <p:sp>
        <p:nvSpPr>
          <p:cNvPr id="35" name="Shape 32"/>
          <p:cNvSpPr/>
          <p:nvPr/>
        </p:nvSpPr>
        <p:spPr>
          <a:xfrm>
            <a:off x="594360" y="3913632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85800" y="3913632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أَيْنَ؟</a:t>
            </a:r>
            <a:endParaRPr lang="ar-SA" sz="1800" dirty="0"/>
          </a:p>
        </p:txBody>
      </p:sp>
      <p:sp>
        <p:nvSpPr>
          <p:cNvPr id="37" name="Text 34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24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F3-W05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34" b="1" spc="15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2 · STEP 3 · SAY THE MODEL DIALOGUE · BOTH LESSONS IN ONE CONVERSATION</a:t>
            </a:r>
            <a:endParaRPr lang="en-US" sz="934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 conversation in two sentences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جُمْلَتَانِ فِي كُلِّ جَوَابٍ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F3 · My Family &amp; Home · F3-W05 · Apply workshop (F3-L09 + F3-L10)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754112" y="1810512"/>
            <a:ext cx="3904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444752" y="1810512"/>
            <a:ext cx="6163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Say it in Arabic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Who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90688" y="2267712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Who do you live with?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1463040" y="2267712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مَعَ مَنْ تَسْكُنُ؟</a:t>
            </a:r>
            <a:endParaRPr lang="ar-SA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2267712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790688" y="2881884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live with my father, my mother and my sister. My older sister is clever and funny.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463040" y="2881884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أَسْكُنُ مَعَ أَبِي وَأُمِّي وَأُخْتِي. أُخْتِي الكُبْرَى ذَكِيَّةٌ وَمُضْحِكَةٌ.</a:t>
            </a:r>
            <a:endParaRPr lang="ar-SA" sz="190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2881884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790688" y="3496056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do you live?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1463040" y="3496056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تَسْكُنُ؟</a:t>
            </a:r>
            <a:endParaRPr lang="ar-SA" sz="190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3496056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790688" y="4110228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live in a flat in London. It has three rooms and a small balcony.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463040" y="4110228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نَسْكُنُ فِي شَقَّةٍ فِي لَنْدَنَ. فِيهَا ثَلَاثُ غُرَفٍ وَشُرْفَةٌ صَغِيرَةٌ.</a:t>
            </a:r>
            <a:endParaRPr lang="ar-SA" sz="19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4110228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790688" y="4724400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 do you like your home?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463040" y="4724400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تُحِبُّ بَيْتَكَ؟</a:t>
            </a:r>
            <a:endParaRPr lang="ar-SA" sz="19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724400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790688" y="5338572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like it because it is comfortable, but my room is small, so I study in the library.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1463040" y="5338572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أُحِبُّهُ لِأَنَّهُ مُرِيحٌ، لٰكِنَّ غُرْفَتِي صَغِيرَةٌ، لِذٰلِكَ أَدْرُسُ فِي المَكْتَبَةِ.</a:t>
            </a:r>
            <a:endParaRPr lang="ar-SA" sz="1900" dirty="0"/>
          </a:p>
        </p:txBody>
      </p:sp>
      <p:sp>
        <p:nvSpPr>
          <p:cNvPr id="42" name="Text 39"/>
          <p:cNvSpPr txBox="1"/>
          <p:nvPr/>
        </p:nvSpPr>
        <p:spPr>
          <a:xfrm>
            <a:off x="566928" y="5338572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Round 1: read it in pairs. Round 2: swap letters. Round 3: answer with YOUR facts — always two sentences, always one connector.</a:t>
            </a:r>
            <a:endParaRPr lang="en-US" sz="115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24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F3-W05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4 · QUESTION CARDS · QUESTIONS FROM BOTH LESSONS, MIXED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Mixed questions — answer, then add more</a:t>
            </a:r>
            <a:endParaRPr lang="en-US" sz="23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أَسْئِلَةٌ مِنَ الدَّرْسَيْنِ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F3 · My Family &amp; Home · F3-W05 · Apply workshop (F3-L09 + F3-L10)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720072" y="1810512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Add more (Develop · Stretch)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6976872" y="1810512"/>
            <a:ext cx="2596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your answer (Core)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599432" y="1810512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3327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Partner A asks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738360" y="2267712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وَ… أَيْضًا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6995160" y="2267712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عَائِلَتِي …</a:t>
            </a:r>
            <a:endParaRPr lang="ar-SA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4636008" y="2267712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Who is in your family? (paragraph 1)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51560" y="2267712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مَنْ فِي عَائِلَتِكَ؟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2267712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9" name="Shape 26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756648" y="2881884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+ sentence 2: … ‏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هُوَ / هِيَ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…‏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6995160" y="2881884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عَائِلَتِي …</a:t>
            </a:r>
            <a:endParaRPr lang="ar-SA" sz="1600" dirty="0"/>
          </a:p>
        </p:txBody>
      </p:sp>
      <p:sp>
        <p:nvSpPr>
          <p:cNvPr id="32" name="Text 29"/>
          <p:cNvSpPr txBox="1"/>
          <p:nvPr/>
        </p:nvSpPr>
        <p:spPr>
          <a:xfrm>
            <a:off x="4636008" y="2881884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many people are in your family?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2881884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شَخْصًا فِي عَائِلَتِكَ؟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2881884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7" name="Shape 34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9738360" y="3496056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وَشَعْرُهُ / وَشَعْرُهَا …</a:t>
            </a:r>
            <a:endParaRPr lang="ar-SA" sz="1500" dirty="0"/>
          </a:p>
        </p:txBody>
      </p:sp>
      <p:sp>
        <p:nvSpPr>
          <p:cNvPr id="39" name="Text 36"/>
          <p:cNvSpPr txBox="1"/>
          <p:nvPr/>
        </p:nvSpPr>
        <p:spPr>
          <a:xfrm>
            <a:off x="6995160" y="3496056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أَبِي / أُمِّي / أَخِي … هُوَ / هِيَ …</a:t>
            </a:r>
            <a:endParaRPr lang="ar-SA" sz="1600" dirty="0"/>
          </a:p>
        </p:txBody>
      </p:sp>
      <p:sp>
        <p:nvSpPr>
          <p:cNvPr id="40" name="Text 37"/>
          <p:cNvSpPr txBox="1"/>
          <p:nvPr/>
        </p:nvSpPr>
        <p:spPr>
          <a:xfrm>
            <a:off x="4636008" y="3496056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one person. (paragraph 1)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1051560" y="3496056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شَخْصًا وَاحِدًا.</a:t>
            </a:r>
            <a:endParaRPr lang="ar-SA" sz="1700" dirty="0"/>
          </a:p>
        </p:txBody>
      </p:sp>
      <p:sp>
        <p:nvSpPr>
          <p:cNvPr id="42" name="Text 39"/>
          <p:cNvSpPr txBox="1"/>
          <p:nvPr/>
        </p:nvSpPr>
        <p:spPr>
          <a:xfrm>
            <a:off x="566928" y="3496056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11091672" y="3541776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11091672" y="354177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5" name="Shape 42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9738360" y="4110228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+ عُمْرُهُ … وَهُوَ …</a:t>
            </a:r>
            <a:endParaRPr lang="ar-SA" sz="1500" dirty="0"/>
          </a:p>
        </p:txBody>
      </p:sp>
      <p:sp>
        <p:nvSpPr>
          <p:cNvPr id="47" name="Text 44"/>
          <p:cNvSpPr txBox="1"/>
          <p:nvPr/>
        </p:nvSpPr>
        <p:spPr>
          <a:xfrm>
            <a:off x="6995160" y="4110228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أَكْبَرُ شَخْصٍ … ← جَدِّي</a:t>
            </a:r>
            <a:endParaRPr lang="ar-SA" sz="1600" dirty="0"/>
          </a:p>
        </p:txBody>
      </p:sp>
      <p:sp>
        <p:nvSpPr>
          <p:cNvPr id="48" name="Text 45"/>
          <p:cNvSpPr txBox="1"/>
          <p:nvPr/>
        </p:nvSpPr>
        <p:spPr>
          <a:xfrm>
            <a:off x="4636008" y="4110228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Who is the oldest person in your family?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1051560" y="4110228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مَنْ أَكْبَرُ شَخْصٍ فِي عَائِلَتِكَ؟</a:t>
            </a:r>
            <a:endParaRPr lang="ar-SA" sz="1700" dirty="0"/>
          </a:p>
        </p:txBody>
      </p:sp>
      <p:sp>
        <p:nvSpPr>
          <p:cNvPr id="50" name="Text 47"/>
          <p:cNvSpPr txBox="1"/>
          <p:nvPr/>
        </p:nvSpPr>
        <p:spPr>
          <a:xfrm>
            <a:off x="566928" y="4110228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11091672" y="415594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1091672" y="415594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3" name="Shape 50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9738360" y="4724400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فِيهِ … وَعِنْدَنَا …</a:t>
            </a:r>
            <a:endParaRPr lang="ar-SA" sz="1500" dirty="0"/>
          </a:p>
        </p:txBody>
      </p:sp>
      <p:sp>
        <p:nvSpPr>
          <p:cNvPr id="55" name="Text 52"/>
          <p:cNvSpPr txBox="1"/>
          <p:nvPr/>
        </p:nvSpPr>
        <p:spPr>
          <a:xfrm>
            <a:off x="6995160" y="4724400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نَسْكُنُ فِي …</a:t>
            </a:r>
            <a:endParaRPr lang="ar-SA" sz="1600" dirty="0"/>
          </a:p>
        </p:txBody>
      </p:sp>
      <p:sp>
        <p:nvSpPr>
          <p:cNvPr id="56" name="Text 53"/>
          <p:cNvSpPr txBox="1"/>
          <p:nvPr/>
        </p:nvSpPr>
        <p:spPr>
          <a:xfrm>
            <a:off x="4636008" y="4724400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do you live? Describe it. (paragraph 2)</a:t>
            </a:r>
            <a:endParaRPr lang="en-US" sz="1100" dirty="0"/>
          </a:p>
        </p:txBody>
      </p:sp>
      <p:sp>
        <p:nvSpPr>
          <p:cNvPr id="57" name="Text 54"/>
          <p:cNvSpPr txBox="1"/>
          <p:nvPr/>
        </p:nvSpPr>
        <p:spPr>
          <a:xfrm>
            <a:off x="1051560" y="4724400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تَسْكُنُ؟ صِفْ بَيْتَكَ.</a:t>
            </a:r>
            <a:endParaRPr lang="ar-SA" sz="1700" dirty="0"/>
          </a:p>
        </p:txBody>
      </p:sp>
      <p:sp>
        <p:nvSpPr>
          <p:cNvPr id="58" name="Text 55"/>
          <p:cNvSpPr txBox="1"/>
          <p:nvPr/>
        </p:nvSpPr>
        <p:spPr>
          <a:xfrm>
            <a:off x="566928" y="4724400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9" name="Shape 5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9738360" y="5338572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+ فِيهِ / فِيهَا …</a:t>
            </a:r>
            <a:endParaRPr lang="ar-SA" sz="1500" dirty="0"/>
          </a:p>
        </p:txBody>
      </p:sp>
      <p:sp>
        <p:nvSpPr>
          <p:cNvPr id="61" name="Text 58"/>
          <p:cNvSpPr txBox="1"/>
          <p:nvPr/>
        </p:nvSpPr>
        <p:spPr>
          <a:xfrm>
            <a:off x="6995160" y="5338572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أَسْكُنُ فِي …</a:t>
            </a:r>
            <a:endParaRPr lang="ar-SA" sz="1600" dirty="0"/>
          </a:p>
        </p:txBody>
      </p:sp>
      <p:sp>
        <p:nvSpPr>
          <p:cNvPr id="62" name="Text 59"/>
          <p:cNvSpPr txBox="1"/>
          <p:nvPr/>
        </p:nvSpPr>
        <p:spPr>
          <a:xfrm>
            <a:off x="4636008" y="5338572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do you live?</a:t>
            </a:r>
            <a:endParaRPr lang="en-US" sz="1100" dirty="0"/>
          </a:p>
        </p:txBody>
      </p:sp>
      <p:sp>
        <p:nvSpPr>
          <p:cNvPr id="63" name="Text 60"/>
          <p:cNvSpPr txBox="1"/>
          <p:nvPr/>
        </p:nvSpPr>
        <p:spPr>
          <a:xfrm>
            <a:off x="1051560" y="5338572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تَسْكُنُ؟</a:t>
            </a:r>
            <a:endParaRPr lang="ar-SA" sz="1700" dirty="0"/>
          </a:p>
        </p:txBody>
      </p:sp>
      <p:sp>
        <p:nvSpPr>
          <p:cNvPr id="64" name="Text 61"/>
          <p:cNvSpPr txBox="1"/>
          <p:nvPr/>
        </p:nvSpPr>
        <p:spPr>
          <a:xfrm>
            <a:off x="566928" y="5338572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100" dirty="0"/>
          </a:p>
        </p:txBody>
      </p:sp>
      <p:sp>
        <p:nvSpPr>
          <p:cNvPr id="65" name="Text 6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Odd numbers come from F3-L09, even numbers from F3-L10. Core: a full sentence from the starter. Develop: add the “more” part. Stretch: link two answers with ‏</a:t>
            </a:r>
            <a:pPr algn="l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</a:t>
            </a:r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‏, ‏</a:t>
            </a:r>
            <a:pPr algn="l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‏ or ‏</a:t>
            </a:r>
            <a:pPr algn="l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</a:t>
            </a:r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‏. Swap after each question.</a:t>
            </a:r>
            <a:endParaRPr lang="en-US" sz="1100" dirty="0"/>
          </a:p>
        </p:txBody>
      </p:sp>
      <p:sp>
        <p:nvSpPr>
          <p:cNvPr id="66" name="Text 6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24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F3-W05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7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5 · ROLE-PLAY CARD · USE THE PLAN, THEN HIDE IT AND SPEAK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Role-play card — the practice speaking test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اخْتِبَارُ المُحَادَثَةِ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F3 · My Family &amp; Home · F3-W05 · Apply workshop (F3-L09 + F3-L10)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57032" y="1810512"/>
            <a:ext cx="3401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Plan: first words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496519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Speaker’s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785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Partner A reads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75320" y="2267712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← فِي عَائِلَتِي … أَشْخَاصٍ. …</a:t>
            </a:r>
            <a:endParaRPr lang="ar-SA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5001768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Number + who (two sentences).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شَخْصًا فِي عَائِلَتِكَ؟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75320" y="3004718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← … هُوَ / هِيَ … وَ…</a:t>
            </a:r>
            <a:endParaRPr lang="ar-SA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5001768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Appearance + personality.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شَخْصًا فِي عَائِلَتِكَ.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275320" y="3741725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/ صِفْ ← نَسْكُنُ فِي … ، فِيهِ …</a:t>
            </a:r>
            <a:endParaRPr lang="ar-SA" sz="1600" dirty="0"/>
          </a:p>
        </p:txBody>
      </p:sp>
      <p:sp>
        <p:nvSpPr>
          <p:cNvPr id="36" name="Text 33"/>
          <p:cNvSpPr txBox="1"/>
          <p:nvPr/>
        </p:nvSpPr>
        <p:spPr>
          <a:xfrm>
            <a:off x="5001768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+ two rooms or features.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تَسْكُنُ؟ صِفْ بَيْتَكَ.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275320" y="4478731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← أُحِبُّهُ لِأَنَّ … ، لٰكِنَّ …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001768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Opinion + reason + a “but”.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رَأْيُكَ فِي بَيْتِكَ؟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275320" y="5215738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مَعَ مَنْ ← مَرَّةً أُخْرَى … / أُشَارِكُهَا مَعَ …</a:t>
            </a:r>
            <a:endParaRPr lang="ar-SA" sz="1600" dirty="0"/>
          </a:p>
        </p:txBody>
      </p:sp>
      <p:sp>
        <p:nvSpPr>
          <p:cNvPr id="50" name="Text 47"/>
          <p:cNvSpPr txBox="1"/>
          <p:nvPr/>
        </p:nvSpPr>
        <p:spPr>
          <a:xfrm>
            <a:off x="5001768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Answer; if unsure, use a repair phrase first.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مَعَ مَنْ تُشَارِكُ غُرْفَتَكَ؟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Speaker = the candidate · Partner A = the examiner. Read the plan for 1 minute, then hide it and speak. Task ! is a surprise. Then swap roles.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24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F3-W05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4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6 · SHORT TALK · 30–45 SECONDS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One minute: my family and my home</a:t>
            </a:r>
            <a:endParaRPr lang="en-US" sz="26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دَقِيقَةٌ عَنْ عَائِلَتِي وَبَيْتِي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F3 · My Family &amp; Home · F3-W05 · Apply workshop (F3-L09 + F3-L10)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STEP 6 · PAIRS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⏱  Talk for 30–45 seconds — use both lessons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Talk for 30–45 seconds without stopping, in three parts — like the three paragraphs you will write: (1) your family and one person described, (2) your home and your room, (3) your opinion with a reason and a “but”.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Think for 30 seconds: 2 key words from EACH lesson, no sentences.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Speaker talks; the partner times it.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Partner: one thing that went well + one thing to improve.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— then the teacher invites two volunteers.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45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عَائِلَتِي … · نَسْكُنُ فِي … · أُحِبُّ بَيْتِي لِأَنَّ …</a:t>
            </a:r>
            <a:endParaRPr lang="ar-SA" sz="14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Two sentences in each part, joined with ‏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أَيْضًا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‏.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Use ‏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‏ and ‏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لِذٰلِكَ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‏, and a repair phrase if you need time: ‏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دَعْنِي أُفَكِّرُ قَلِيلًا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…‏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 … ثُمَّ …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first … then …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 … · لٰكِنَّ …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because … · but …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لِذٰلِكَ …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so, that is why …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دَعْنِي أُفَكِّرُ قَلِيلًا …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let me think a little …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24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F3-W05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3 · STEP 7 · SENTENCE BUILDER · FROM BOTH LESSONS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Build three correct sentences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ابْنِ الجُمْلَةَ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F3 · My Family &amp; Home · F3-W05 · Apply workshop (F3-L09 + F3-L10)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9180576" y="1700784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Column 1 · start here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624828" y="1700784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Column 2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4069080" y="1700784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Column 3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57200" y="2011680"/>
            <a:ext cx="11274552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594360" y="2148840"/>
            <a:ext cx="365760" cy="365760"/>
          </a:xfrm>
          <a:prstGeom prst="ellipse">
            <a:avLst/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94360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051560" y="2121408"/>
            <a:ext cx="28346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I love my house because it is big, but my room is small.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9180576" y="2103120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235440" y="2103120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9500616" y="2103120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بَيْتِي لِأَنَّهُ كَبِيرٌ،</a:t>
            </a:r>
            <a:endParaRPr lang="ar-SA" sz="1800" dirty="0"/>
          </a:p>
        </p:txBody>
      </p:sp>
      <p:sp>
        <p:nvSpPr>
          <p:cNvPr id="25" name="Shape 22"/>
          <p:cNvSpPr/>
          <p:nvPr/>
        </p:nvSpPr>
        <p:spPr>
          <a:xfrm>
            <a:off x="9180576" y="267004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235440" y="267004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9500616" y="267004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بَيْتِي لِأَنَّهَا كَبِيرَةٌ،</a:t>
            </a:r>
            <a:endParaRPr lang="ar-SA" sz="1800" dirty="0"/>
          </a:p>
        </p:txBody>
      </p:sp>
      <p:sp>
        <p:nvSpPr>
          <p:cNvPr id="28" name="Shape 25"/>
          <p:cNvSpPr/>
          <p:nvPr/>
        </p:nvSpPr>
        <p:spPr>
          <a:xfrm>
            <a:off x="6624828" y="2103120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679692" y="2103120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6944868" y="2103120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</a:t>
            </a:r>
            <a:endParaRPr lang="ar-SA" sz="1800" dirty="0"/>
          </a:p>
        </p:txBody>
      </p:sp>
      <p:sp>
        <p:nvSpPr>
          <p:cNvPr id="31" name="Shape 28"/>
          <p:cNvSpPr/>
          <p:nvPr/>
        </p:nvSpPr>
        <p:spPr>
          <a:xfrm>
            <a:off x="6624828" y="267004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679692" y="267004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6944868" y="267004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لِذٰلِكَ</a:t>
            </a:r>
            <a:endParaRPr lang="ar-SA" sz="1800" dirty="0"/>
          </a:p>
        </p:txBody>
      </p:sp>
      <p:sp>
        <p:nvSpPr>
          <p:cNvPr id="34" name="Shape 31"/>
          <p:cNvSpPr/>
          <p:nvPr/>
        </p:nvSpPr>
        <p:spPr>
          <a:xfrm>
            <a:off x="4069080" y="2103120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123944" y="2103120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4389120" y="2103120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غُرْفَتِي صَغِيرَةٌ.</a:t>
            </a:r>
            <a:endParaRPr lang="ar-SA" sz="1800" dirty="0"/>
          </a:p>
        </p:txBody>
      </p:sp>
      <p:sp>
        <p:nvSpPr>
          <p:cNvPr id="37" name="Shape 34"/>
          <p:cNvSpPr/>
          <p:nvPr/>
        </p:nvSpPr>
        <p:spPr>
          <a:xfrm>
            <a:off x="4069080" y="267004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123944" y="267004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39" name="Text 36"/>
          <p:cNvSpPr txBox="1"/>
          <p:nvPr/>
        </p:nvSpPr>
        <p:spPr>
          <a:xfrm>
            <a:off x="4389120" y="267004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غُرْفَتِي صَغِيرٌ.</a:t>
            </a:r>
            <a:endParaRPr lang="ar-SA" sz="1800" dirty="0"/>
          </a:p>
        </p:txBody>
      </p:sp>
      <p:sp>
        <p:nvSpPr>
          <p:cNvPr id="40" name="Shape 37"/>
          <p:cNvSpPr/>
          <p:nvPr/>
        </p:nvSpPr>
        <p:spPr>
          <a:xfrm>
            <a:off x="457200" y="3392424"/>
            <a:ext cx="11274552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594360" y="3529584"/>
            <a:ext cx="365760" cy="365760"/>
          </a:xfrm>
          <a:prstGeom prst="ellipse">
            <a:avLst/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94360" y="35295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2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3502152"/>
            <a:ext cx="28346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I live with my grandmother. She is calm and kind.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9180576" y="3483864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9235440" y="3483864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46" name="Text 43"/>
          <p:cNvSpPr txBox="1"/>
          <p:nvPr/>
        </p:nvSpPr>
        <p:spPr>
          <a:xfrm>
            <a:off x="9500616" y="3483864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أَسْكُنُ مَعَ جَدَّتِي.</a:t>
            </a:r>
            <a:endParaRPr lang="ar-SA" sz="1800" dirty="0"/>
          </a:p>
        </p:txBody>
      </p:sp>
      <p:sp>
        <p:nvSpPr>
          <p:cNvPr id="47" name="Shape 44"/>
          <p:cNvSpPr/>
          <p:nvPr/>
        </p:nvSpPr>
        <p:spPr>
          <a:xfrm>
            <a:off x="9180576" y="4050792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9235440" y="4050792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9500616" y="4050792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تَسْكُنُ مَعَ جَدَّتِي.</a:t>
            </a:r>
            <a:endParaRPr lang="ar-SA" sz="1800" dirty="0"/>
          </a:p>
        </p:txBody>
      </p:sp>
      <p:sp>
        <p:nvSpPr>
          <p:cNvPr id="50" name="Shape 47"/>
          <p:cNvSpPr/>
          <p:nvPr/>
        </p:nvSpPr>
        <p:spPr>
          <a:xfrm>
            <a:off x="6624828" y="3483864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6679692" y="3483864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52" name="Text 49"/>
          <p:cNvSpPr txBox="1"/>
          <p:nvPr/>
        </p:nvSpPr>
        <p:spPr>
          <a:xfrm>
            <a:off x="6944868" y="3483864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هِيَ</a:t>
            </a:r>
            <a:endParaRPr lang="ar-SA" sz="1800" dirty="0"/>
          </a:p>
        </p:txBody>
      </p:sp>
      <p:sp>
        <p:nvSpPr>
          <p:cNvPr id="53" name="Shape 50"/>
          <p:cNvSpPr/>
          <p:nvPr/>
        </p:nvSpPr>
        <p:spPr>
          <a:xfrm>
            <a:off x="6624828" y="4050792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6679692" y="4050792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6944868" y="4050792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هُوَ</a:t>
            </a:r>
            <a:endParaRPr lang="ar-SA" sz="1800" dirty="0"/>
          </a:p>
        </p:txBody>
      </p:sp>
      <p:sp>
        <p:nvSpPr>
          <p:cNvPr id="56" name="Shape 53"/>
          <p:cNvSpPr/>
          <p:nvPr/>
        </p:nvSpPr>
        <p:spPr>
          <a:xfrm>
            <a:off x="4069080" y="3483864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4123944" y="3483864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58" name="Text 55"/>
          <p:cNvSpPr txBox="1"/>
          <p:nvPr/>
        </p:nvSpPr>
        <p:spPr>
          <a:xfrm>
            <a:off x="4389120" y="3483864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هَادِئَةٌ وَلَطِيفَةٌ.</a:t>
            </a:r>
            <a:endParaRPr lang="ar-SA" sz="1800" dirty="0"/>
          </a:p>
        </p:txBody>
      </p:sp>
      <p:sp>
        <p:nvSpPr>
          <p:cNvPr id="59" name="Shape 56"/>
          <p:cNvSpPr/>
          <p:nvPr/>
        </p:nvSpPr>
        <p:spPr>
          <a:xfrm>
            <a:off x="4069080" y="4050792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4123944" y="4050792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61" name="Text 58"/>
          <p:cNvSpPr txBox="1"/>
          <p:nvPr/>
        </p:nvSpPr>
        <p:spPr>
          <a:xfrm>
            <a:off x="4389120" y="4050792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هَادِئٌ وَلَطِيفٌ.</a:t>
            </a:r>
            <a:endParaRPr lang="ar-SA" sz="1800" dirty="0"/>
          </a:p>
        </p:txBody>
      </p:sp>
      <p:sp>
        <p:nvSpPr>
          <p:cNvPr id="62" name="Shape 59"/>
          <p:cNvSpPr/>
          <p:nvPr/>
        </p:nvSpPr>
        <p:spPr>
          <a:xfrm>
            <a:off x="457200" y="4773168"/>
            <a:ext cx="11274552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3" name="Shape 60"/>
          <p:cNvSpPr/>
          <p:nvPr/>
        </p:nvSpPr>
        <p:spPr>
          <a:xfrm>
            <a:off x="594360" y="4910328"/>
            <a:ext cx="365760" cy="365760"/>
          </a:xfrm>
          <a:prstGeom prst="ellipse">
            <a:avLst/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594360" y="4910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1051560" y="4882896"/>
            <a:ext cx="28346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My grandmother lives with us, so the house is busy.</a:t>
            </a:r>
            <a:endParaRPr lang="en-US" sz="1400" dirty="0"/>
          </a:p>
        </p:txBody>
      </p:sp>
      <p:sp>
        <p:nvSpPr>
          <p:cNvPr id="66" name="Shape 63"/>
          <p:cNvSpPr/>
          <p:nvPr/>
        </p:nvSpPr>
        <p:spPr>
          <a:xfrm>
            <a:off x="9180576" y="486460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9235440" y="486460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68" name="Text 65"/>
          <p:cNvSpPr txBox="1"/>
          <p:nvPr/>
        </p:nvSpPr>
        <p:spPr>
          <a:xfrm>
            <a:off x="9500616" y="486460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جَدَّتِي تَسْكُنُ مَعَنَا،</a:t>
            </a:r>
            <a:endParaRPr lang="ar-SA" sz="1800" dirty="0"/>
          </a:p>
        </p:txBody>
      </p:sp>
      <p:sp>
        <p:nvSpPr>
          <p:cNvPr id="69" name="Shape 66"/>
          <p:cNvSpPr/>
          <p:nvPr/>
        </p:nvSpPr>
        <p:spPr>
          <a:xfrm>
            <a:off x="9180576" y="5431536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9235440" y="5431536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71" name="Text 68"/>
          <p:cNvSpPr txBox="1"/>
          <p:nvPr/>
        </p:nvSpPr>
        <p:spPr>
          <a:xfrm>
            <a:off x="9500616" y="5431536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جَدَّتِي يَسْكُنُ مَعَنَا،</a:t>
            </a:r>
            <a:endParaRPr lang="ar-SA" sz="1800" dirty="0"/>
          </a:p>
        </p:txBody>
      </p:sp>
      <p:sp>
        <p:nvSpPr>
          <p:cNvPr id="72" name="Shape 69"/>
          <p:cNvSpPr/>
          <p:nvPr/>
        </p:nvSpPr>
        <p:spPr>
          <a:xfrm>
            <a:off x="6624828" y="486460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6679692" y="486460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74" name="Text 71"/>
          <p:cNvSpPr txBox="1"/>
          <p:nvPr/>
        </p:nvSpPr>
        <p:spPr>
          <a:xfrm>
            <a:off x="6944868" y="486460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لِذٰلِكَ</a:t>
            </a:r>
            <a:endParaRPr lang="ar-SA" sz="1800" dirty="0"/>
          </a:p>
        </p:txBody>
      </p:sp>
      <p:sp>
        <p:nvSpPr>
          <p:cNvPr id="75" name="Shape 72"/>
          <p:cNvSpPr/>
          <p:nvPr/>
        </p:nvSpPr>
        <p:spPr>
          <a:xfrm>
            <a:off x="6624828" y="5431536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6679692" y="5431536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77" name="Text 74"/>
          <p:cNvSpPr txBox="1"/>
          <p:nvPr/>
        </p:nvSpPr>
        <p:spPr>
          <a:xfrm>
            <a:off x="6944868" y="5431536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endParaRPr lang="ar-SA" sz="1800" dirty="0"/>
          </a:p>
        </p:txBody>
      </p:sp>
      <p:sp>
        <p:nvSpPr>
          <p:cNvPr id="78" name="Shape 75"/>
          <p:cNvSpPr/>
          <p:nvPr/>
        </p:nvSpPr>
        <p:spPr>
          <a:xfrm>
            <a:off x="4069080" y="486460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123944" y="486460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80" name="Text 77"/>
          <p:cNvSpPr txBox="1"/>
          <p:nvPr/>
        </p:nvSpPr>
        <p:spPr>
          <a:xfrm>
            <a:off x="4389120" y="486460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البَيْتُ مُزْدَحِمٌ.</a:t>
            </a:r>
            <a:endParaRPr lang="ar-SA" sz="1800" dirty="0"/>
          </a:p>
        </p:txBody>
      </p:sp>
      <p:sp>
        <p:nvSpPr>
          <p:cNvPr id="81" name="Shape 78"/>
          <p:cNvSpPr/>
          <p:nvPr/>
        </p:nvSpPr>
        <p:spPr>
          <a:xfrm>
            <a:off x="4069080" y="5431536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4123944" y="5431536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83" name="Text 80"/>
          <p:cNvSpPr txBox="1"/>
          <p:nvPr/>
        </p:nvSpPr>
        <p:spPr>
          <a:xfrm>
            <a:off x="4389120" y="5431536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البَيْتُ مُزْدَحِمَةٌ.</a:t>
            </a:r>
            <a:endParaRPr lang="ar-SA" sz="1800" dirty="0"/>
          </a:p>
        </p:txBody>
      </p:sp>
      <p:sp>
        <p:nvSpPr>
          <p:cNvPr id="84" name="Text 8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24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F3-W05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STEP 7 · CHECK YOUR SENTENCES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Sentence builder: answers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ابْنِ الجُمْلَةَ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F3 · My Family &amp; Home · F3-W05 · Apply workshop (F3-L09 + F3-L10)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1353312"/>
          </a:xfrm>
          <a:prstGeom prst="roundRect">
            <a:avLst>
              <a:gd name="adj" fmla="val 5405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47672"/>
            <a:ext cx="365760" cy="36576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476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143000" y="190195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I love my house because it is big, but my room is small.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1143000" y="235915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Columns = A · A · A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1143000" y="2633472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بَيْتٌ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(m.) → 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لِأَنَّهُ كَبِيرٌ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; but = 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; 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غُرْفَةٌ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(f.) → 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صَغِيرَةٌ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.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4572000" y="1901952"/>
            <a:ext cx="6949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بَيْتِي لِأَنَّهُ كَبِيرٌ، لٰكِنَّ غُرْفَتِي صَغِيرَةٌ.</a:t>
            </a:r>
            <a:endParaRPr lang="ar-SA" sz="2800" dirty="0"/>
          </a:p>
        </p:txBody>
      </p:sp>
      <p:sp>
        <p:nvSpPr>
          <p:cNvPr id="22" name="Shape 19"/>
          <p:cNvSpPr/>
          <p:nvPr/>
        </p:nvSpPr>
        <p:spPr>
          <a:xfrm>
            <a:off x="457200" y="3291840"/>
            <a:ext cx="11274552" cy="1353312"/>
          </a:xfrm>
          <a:prstGeom prst="roundRect">
            <a:avLst>
              <a:gd name="adj" fmla="val 5405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640080" y="3429000"/>
            <a:ext cx="365760" cy="36576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40080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1143000" y="33832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I live with my grandmother. She is calm and kind.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1143000" y="38404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Columns = A · A · A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1143000" y="4114800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→ 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أَسْكُنُ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; grandmother → 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هِيَ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+ feminine adjectives.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4572000" y="3383280"/>
            <a:ext cx="6949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أَسْكُنُ مَعَ جَدَّتِي. هِيَ هَادِئَةٌ وَلَطِيفَةٌ.</a:t>
            </a:r>
            <a:endParaRPr lang="ar-SA" sz="2800" dirty="0"/>
          </a:p>
        </p:txBody>
      </p:sp>
      <p:sp>
        <p:nvSpPr>
          <p:cNvPr id="29" name="Shape 26"/>
          <p:cNvSpPr/>
          <p:nvPr/>
        </p:nvSpPr>
        <p:spPr>
          <a:xfrm>
            <a:off x="457200" y="4773168"/>
            <a:ext cx="11274552" cy="1353312"/>
          </a:xfrm>
          <a:prstGeom prst="roundRect">
            <a:avLst>
              <a:gd name="adj" fmla="val 5405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640080" y="4910328"/>
            <a:ext cx="365760" cy="36576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40080" y="4910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1143000" y="486460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My grandmother lives with us, so the house is busy.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1143000" y="532180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Columns = A · A · A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1143000" y="5596128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She → 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تَسْكُنُ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; so = 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لِذٰلِكَ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; 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بَيْتٌ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is masculine.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4572000" y="4864608"/>
            <a:ext cx="6949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جَدَّتِي تَسْكُنُ مَعَنَا، لِذٰلِكَ البَيْتُ مُزْدَحِمٌ.</a:t>
            </a:r>
            <a:endParaRPr lang="ar-SA" sz="2800" dirty="0"/>
          </a:p>
        </p:txBody>
      </p:sp>
      <p:sp>
        <p:nvSpPr>
          <p:cNvPr id="36" name="Text 3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24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F3-W05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STEP 8 · SPOT AND FIX · MISTAKES FROM BOTH LESSONS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Find the mistake, fix it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اكْتَشِفِ الخَطَأَ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F3 · My Family &amp; Home · F3-W05 · Apply workshop (F3-L09 + F3-L10)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FBEAEA"/>
          </a:solidFill>
          <a:ln w="9525">
            <a:solidFill>
              <a:srgbClr val="E3B4A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11183112" y="2249424"/>
            <a:ext cx="402336" cy="402336"/>
          </a:xfrm>
          <a:prstGeom prst="ellipse">
            <a:avLst/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1183112" y="22494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4023360" y="1901952"/>
            <a:ext cx="6976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بَيْتِي لِأَنَّ كَبِيرٌ.</a:t>
            </a:r>
            <a:endParaRPr lang="ar-SA" sz="30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1901952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70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3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needs a pronoun.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57200" y="3255264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FBEAEA"/>
          </a:solidFill>
          <a:ln w="9525">
            <a:solidFill>
              <a:srgbClr val="E3B4A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11183112" y="3694176"/>
            <a:ext cx="402336" cy="402336"/>
          </a:xfrm>
          <a:prstGeom prst="ellipse">
            <a:avLst/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1183112" y="36941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4023360" y="3346704"/>
            <a:ext cx="6976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غُرْفَةً فِي بَيْتِكَ؟ — بَيْتِي جَمِيلٌ.</a:t>
            </a:r>
            <a:endParaRPr lang="ar-SA" sz="3000" dirty="0"/>
          </a:p>
        </p:txBody>
      </p:sp>
      <p:sp>
        <p:nvSpPr>
          <p:cNvPr id="24" name="Text 21"/>
          <p:cNvSpPr txBox="1"/>
          <p:nvPr/>
        </p:nvSpPr>
        <p:spPr>
          <a:xfrm>
            <a:off x="731520" y="3346704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Did it answer the question word?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457200" y="4700016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FBEAEA"/>
          </a:solidFill>
          <a:ln w="9525">
            <a:solidFill>
              <a:srgbClr val="E3B4A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11183112" y="5138928"/>
            <a:ext cx="402336" cy="402336"/>
          </a:xfrm>
          <a:prstGeom prst="ellipse">
            <a:avLst/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1183112" y="51389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4023360" y="4791456"/>
            <a:ext cx="6976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عَائِلَتِي خَمْسُ شَخْصٍ.</a:t>
            </a:r>
            <a:endParaRPr lang="ar-SA" sz="3000" dirty="0"/>
          </a:p>
        </p:txBody>
      </p:sp>
      <p:sp>
        <p:nvSpPr>
          <p:cNvPr id="29" name="Text 26"/>
          <p:cNvSpPr txBox="1"/>
          <p:nvPr/>
        </p:nvSpPr>
        <p:spPr>
          <a:xfrm>
            <a:off x="731520" y="4791456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3–10 + plural.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24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F3-W05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STEP 8 · CORRECTIONS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Spot and fix: corrections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اكْتَشِفِ الخَطَأَ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F3 · My Family &amp; Home · F3-W05 · Apply workshop (F3-L09 + F3-L10)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8503920" y="1901952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بَيْتِي لِأَنَّ كَبِيرٌ.</a:t>
            </a:r>
            <a:endParaRPr lang="ar-SA" sz="1800" dirty="0"/>
          </a:p>
        </p:txBody>
      </p:sp>
      <p:sp>
        <p:nvSpPr>
          <p:cNvPr id="17" name="Shape 14"/>
          <p:cNvSpPr/>
          <p:nvPr/>
        </p:nvSpPr>
        <p:spPr>
          <a:xfrm>
            <a:off x="8641080" y="2459736"/>
            <a:ext cx="2834640" cy="0"/>
          </a:xfrm>
          <a:prstGeom prst="line">
            <a:avLst/>
          </a:prstGeom>
          <a:noFill/>
          <a:ln w="15875">
            <a:solidFill>
              <a:srgbClr val="B8322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138160" y="1901952"/>
            <a:ext cx="365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←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3566160" y="1901952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بَيْتِي لِأَنَّهُ كَبِيرٌ.</a:t>
            </a:r>
            <a:endParaRPr lang="ar-SA" sz="24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" y="1901952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‏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‏ + pronoun: ‏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لِأَنَّهُ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‏ (it, m.).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457200" y="3255264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8503920" y="3346704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غُرْفَةً فِي بَيْتِكَ؟ — بَيْتِي جَمِيلٌ.</a:t>
            </a:r>
            <a:endParaRPr lang="ar-SA" sz="1800" dirty="0"/>
          </a:p>
        </p:txBody>
      </p:sp>
      <p:sp>
        <p:nvSpPr>
          <p:cNvPr id="23" name="Shape 20"/>
          <p:cNvSpPr/>
          <p:nvPr/>
        </p:nvSpPr>
        <p:spPr>
          <a:xfrm>
            <a:off x="8641080" y="3904488"/>
            <a:ext cx="2834640" cy="0"/>
          </a:xfrm>
          <a:prstGeom prst="line">
            <a:avLst/>
          </a:prstGeom>
          <a:noFill/>
          <a:ln w="15875">
            <a:solidFill>
              <a:srgbClr val="B8322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138160" y="3346704"/>
            <a:ext cx="365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←</a:t>
            </a:r>
            <a:endParaRPr lang="en-US" sz="2000" dirty="0"/>
          </a:p>
        </p:txBody>
      </p:sp>
      <p:sp>
        <p:nvSpPr>
          <p:cNvPr id="25" name="Text 22"/>
          <p:cNvSpPr txBox="1"/>
          <p:nvPr/>
        </p:nvSpPr>
        <p:spPr>
          <a:xfrm>
            <a:off x="3566160" y="3346704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بَيْتِي خَمْسُ غُرَفٍ.</a:t>
            </a:r>
            <a:endParaRPr lang="ar-SA" sz="2400" dirty="0"/>
          </a:p>
        </p:txBody>
      </p:sp>
      <p:sp>
        <p:nvSpPr>
          <p:cNvPr id="26" name="Text 23"/>
          <p:cNvSpPr txBox="1"/>
          <p:nvPr/>
        </p:nvSpPr>
        <p:spPr>
          <a:xfrm>
            <a:off x="685800" y="3346704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‏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‏ = how many → answer with a number.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457200" y="4700016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8503920" y="4791456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عَائِلَتِي خَمْسُ شَخْصٍ.</a:t>
            </a:r>
            <a:endParaRPr lang="ar-SA" sz="1800" dirty="0"/>
          </a:p>
        </p:txBody>
      </p:sp>
      <p:sp>
        <p:nvSpPr>
          <p:cNvPr id="29" name="Shape 26"/>
          <p:cNvSpPr/>
          <p:nvPr/>
        </p:nvSpPr>
        <p:spPr>
          <a:xfrm>
            <a:off x="8641080" y="5349240"/>
            <a:ext cx="2834640" cy="0"/>
          </a:xfrm>
          <a:prstGeom prst="line">
            <a:avLst/>
          </a:prstGeom>
          <a:noFill/>
          <a:ln w="15875">
            <a:solidFill>
              <a:srgbClr val="B8322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138160" y="4791456"/>
            <a:ext cx="365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←</a:t>
            </a:r>
            <a:endParaRPr lang="en-US" sz="2000" dirty="0"/>
          </a:p>
        </p:txBody>
      </p:sp>
      <p:sp>
        <p:nvSpPr>
          <p:cNvPr id="31" name="Text 28"/>
          <p:cNvSpPr txBox="1"/>
          <p:nvPr/>
        </p:nvSpPr>
        <p:spPr>
          <a:xfrm>
            <a:off x="3566160" y="4791456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عَائِلَتِي خَمْسَةُ أَشْخَاصٍ.</a:t>
            </a:r>
            <a:endParaRPr lang="ar-SA" sz="2400" dirty="0"/>
          </a:p>
        </p:txBody>
      </p:sp>
      <p:sp>
        <p:nvSpPr>
          <p:cNvPr id="32" name="Text 29"/>
          <p:cNvSpPr txBox="1"/>
          <p:nvPr/>
        </p:nvSpPr>
        <p:spPr>
          <a:xfrm>
            <a:off x="685800" y="4791456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Plural ‏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أَشْخَاصٍ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‏; ‏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شَخْصٌ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‏ is masculine → ‏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خَمْسَةُ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‏.</a:t>
            </a:r>
            <a:endParaRPr lang="en-US" sz="1150" dirty="0"/>
          </a:p>
        </p:txBody>
      </p:sp>
      <p:sp>
        <p:nvSpPr>
          <p:cNvPr id="33" name="Text 30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24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F3-W05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9 · WRITE YOUR TEXT · FRAMES IF YOU NEED THEM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Your writing frames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قَوَالِبُ الكِتَابَةِ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F3 · My Family &amp; Home · F3-W05 · Apply workshop (F3-L09 + F3-L10)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541264" cy="3566160"/>
          </a:xfrm>
          <a:prstGeom prst="roundRect">
            <a:avLst>
              <a:gd name="adj" fmla="val 2051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94360" y="1901952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94360" y="190195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2468880" y="2249424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 ______ ، لِذٰلِكَ ______ .</a:t>
            </a:r>
            <a:endParaRPr lang="ar-SA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94360" y="2249424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¶3 But …, so …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2468880" y="2816352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رَأْيِي ______ 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594360" y="2816352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¶3 In my opinion …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2468880" y="3383280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 ______ أَيْضًا.</a:t>
            </a:r>
            <a:endParaRPr lang="ar-SA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594360" y="3383280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And … too.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6190488" y="1810512"/>
            <a:ext cx="5541264" cy="3566160"/>
          </a:xfrm>
          <a:prstGeom prst="roundRect">
            <a:avLst>
              <a:gd name="adj" fmla="val 2051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10543032" y="1901952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0543032" y="190195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27" name="Text 24"/>
          <p:cNvSpPr txBox="1"/>
          <p:nvPr/>
        </p:nvSpPr>
        <p:spPr>
          <a:xfrm>
            <a:off x="8202168" y="2249424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عَائِلَتِي ______ أَشْخَاصٍ: ______ .</a:t>
            </a:r>
            <a:endParaRPr lang="ar-SA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6327648" y="2249424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¶1 There are … people in my family: …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8202168" y="2816352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______ هُوَ / هِيَ ______ وَ ______ .</a:t>
            </a:r>
            <a:endParaRPr lang="ar-SA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6327648" y="2816352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¶1 (person) is … and …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8202168" y="3383280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نَسْكُنُ فِي ______ فِي ______ .</a:t>
            </a:r>
            <a:endParaRPr lang="ar-SA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6327648" y="3383280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¶2 We live in a … in …</a:t>
            </a:r>
            <a:endParaRPr lang="en-US" sz="1050" dirty="0"/>
          </a:p>
        </p:txBody>
      </p:sp>
      <p:sp>
        <p:nvSpPr>
          <p:cNvPr id="33" name="Text 30"/>
          <p:cNvSpPr txBox="1"/>
          <p:nvPr/>
        </p:nvSpPr>
        <p:spPr>
          <a:xfrm>
            <a:off x="8202168" y="3950208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غُرْفَتِي ______ وَ ______ .</a:t>
            </a:r>
            <a:endParaRPr lang="ar-SA" sz="1800" dirty="0"/>
          </a:p>
        </p:txBody>
      </p:sp>
      <p:sp>
        <p:nvSpPr>
          <p:cNvPr id="34" name="Text 31"/>
          <p:cNvSpPr txBox="1"/>
          <p:nvPr/>
        </p:nvSpPr>
        <p:spPr>
          <a:xfrm>
            <a:off x="6327648" y="3950208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¶2 In my room there is … and …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8202168" y="4517136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بَيْتِي لِأَنَّ ______ 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6327648" y="4517136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¶3 I like my home because …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457200" y="5504688"/>
            <a:ext cx="11274552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Text 35"/>
          <p:cNvSpPr txBox="1"/>
          <p:nvPr/>
        </p:nvSpPr>
        <p:spPr>
          <a:xfrm>
            <a:off x="640080" y="554126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WORD BANK</a:t>
            </a:r>
            <a:endParaRPr lang="en-US" sz="950" dirty="0"/>
          </a:p>
        </p:txBody>
      </p:sp>
      <p:sp>
        <p:nvSpPr>
          <p:cNvPr id="39" name="Text 36"/>
          <p:cNvSpPr txBox="1"/>
          <p:nvPr/>
        </p:nvSpPr>
        <p:spPr>
          <a:xfrm>
            <a:off x="640080" y="5760720"/>
            <a:ext cx="109087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 · أَيْضًا  ·  ثُمَّ  ·  لِأَنَّ  ·  لٰكِنَّ  ·  لِذٰلِكَ  ·  فِي رَأْيِي  ·  فِيهِ · فِيهَا  ·  هُوَ · هِيَ</a:t>
            </a:r>
            <a:endParaRPr lang="ar-SA" sz="1600" dirty="0"/>
          </a:p>
        </p:txBody>
      </p:sp>
      <p:sp>
        <p:nvSpPr>
          <p:cNvPr id="40" name="Text 3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24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F3-W05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10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9 · WRITE YOUR TEXT · ABOUT 45–65 WORDS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My home and family: three paragraphs</a:t>
            </a:r>
            <a:endParaRPr lang="en-US" sz="24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بَيْتِي وَعَائِلَتِي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F3 · My Family &amp; Home · F3-W05 · Apply workshop (F3-L09 + F3-L10)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57784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38528"/>
            <a:ext cx="1984248" cy="292608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38528"/>
            <a:ext cx="1984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WRITING · BOTH LESSONS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33172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Write three short paragraphs (about 45–65 words) using what you SAID today as your plan. Paragraph 1: your family — who, and one person described. Paragraph 2: your home and your room. Paragraph 3: your opinion — what you like and don’t like, and why. Use at least four connectors.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685800" y="3310128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Every bullet point has at least one sentence.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" y="3840480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Language from F3-L09 AND F3-L10.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685800" y="4370832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Full sentences with the right ending (I · my · he · she).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685800" y="4901184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At least one ‏</a:t>
            </a:r>
            <a:pPr algn="l" indent="0" marL="0">
              <a:buNone/>
            </a:pPr>
            <a:r>
              <a:rPr lang="ar-SA" altLang="en-US" sz="155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</a:t>
            </a:r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‏ and one ‏</a:t>
            </a:r>
            <a:pPr algn="l" indent="0" marL="0">
              <a:buNone/>
            </a:pPr>
            <a:r>
              <a:rPr lang="ar-SA" altLang="en-US" sz="155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‏ (Develop).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85800" y="5431536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Buddy check, then fix one thing.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217920" y="1810512"/>
            <a:ext cx="551383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6400800" y="190195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8412480" y="2231136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عَائِلَتِي … أَشْخَاصٍ</a:t>
            </a:r>
            <a:endParaRPr lang="ar-SA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6400800" y="2560320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there are … people in my family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8412480" y="2889504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نَسْكُنُ فِي … ، فِيهِ / فِيهَا …</a:t>
            </a:r>
            <a:endParaRPr lang="ar-SA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6400800" y="3218688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live in …; it has …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8412480" y="3547872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… لِأَنَّ …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6400800" y="3877056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like … because …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8412480" y="4206240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 … ، لِذٰلِكَ …</a:t>
            </a:r>
            <a:endParaRPr lang="ar-SA" sz="1800" dirty="0"/>
          </a:p>
        </p:txBody>
      </p:sp>
      <p:sp>
        <p:nvSpPr>
          <p:cNvPr id="33" name="Text 30"/>
          <p:cNvSpPr txBox="1"/>
          <p:nvPr/>
        </p:nvSpPr>
        <p:spPr>
          <a:xfrm>
            <a:off x="6400800" y="4535424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but …, so …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24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F3-W05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9 · BUDDY CHECK · SWAP AND READ YOUR BUDDY’S TEXT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Buddy check: five points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رَاجِعْ مَعَ زَمِيلِكَ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F3 · My Family &amp; Home · F3-W05 · Apply workshop (F3-L09 + F3-L10)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Line / example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845552" y="181051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565392" y="1810512"/>
            <a:ext cx="1133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888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Did the writer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882128" y="2267712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601968" y="2267712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EVERY bullet point?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3004718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882128" y="3004718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601968" y="3004718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write three paragraphs: family · home · opinion?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741725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882128" y="3741725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601968" y="3741725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two connected sentences for every answer?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478731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882128" y="4478731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601968" y="4478731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linking words (‏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ثُمَّ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‏)?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5215738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882128" y="5215738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601968" y="5215738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reason, a time phrase or an opinion?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Give back: one thing that went well + one thing to improve. The writer fixes ONE thing straight away.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24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F3-W05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CHECK YOURSELF · ROLE-PLAY CARD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Role-play card: compare with a strong answer</a:t>
            </a:r>
            <a:endParaRPr lang="en-US" sz="20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 إِجَابَتَكَ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F3 · My Family &amp; Home · F3-W05 · Apply workshop (F3-L09 + F3-L10)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 strong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Partner A reads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عَائِلَتِي أَرْبَعَةُ أَشْخَاصٍ. أَبِي وَأُمِّي وَأَخِي الصَّغِيرُ وَأَنَا.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There are four people in my family. My father, my mother, my little brother and me.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شَخْصًا فِي عَائِلَتِكَ؟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أُمِّي قَصِيرَةٌ، وَشَعْرُهَا بُنِّيٌّ. هِيَ لَطِيفَةٌ وَمُجْتَهِدَةٌ جِدًّا.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mother is short, and her hair is brown. She is very kind and hard-working.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شَخْصًا فِي عَائِلَتِكَ.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نَسْكُنُ فِي بَيْتٍ فِي لُوتِن. فِيهِ مَطْبَخٌ كَبِيرٌ وَحَدِيقَةٌ جَمِيلَةٌ.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live in a house in Luton. It has a big kitchen and a lovely garden.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تَسْكُنُ؟ صِفْ بَيْتَكَ.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أُحِبُّهُ لِأَنَّ الحَدِيقَةَ كَبِيرَةٌ، لٰكِنَّ البَيْتَ بَعِيدٌ عَنِ المَدْرَسَةِ.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like it because the garden is big, but the house is far from school.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رَأْيُكَ فِي بَيْتِكَ؟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مَرَّةً أُخْرَى، مِنْ فَضْلِكَ؟ … أُشَارِكُ غُرْفَتِي مَعَ أَخِي، لِذٰلِكَ هِيَ مُزْدَحِمَةٌ قَلِيلًا!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Once more, please? … I share my room with my brother, so it is a little crowded!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مَعَ مَنْ تُشَارِكُ غُرْفَتَكَ؟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Did you answer every task in a full sentence? Find one phrase from each lesson in the models and say it aloud.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24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F3-W05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CHECK YOURSELF · WRITE YOUR TEXT · A STRONG ANSWER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Writing: compare with a strong answer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 إِجَابَتَكَ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F3 · My Family &amp; Home · F3-W05 · Apply workshop (F3-L09 + F3-L10)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85800" y="1938528"/>
            <a:ext cx="10817352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6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عَائِلَتِي خَمْسَةُ أَشْخَاصٍ: أَبِي وَأُمِّي وَأُخْتَايَ وَأَنَا. أُخْتِي الكُبْرَى طَوِيلَةٌ، وَهِيَ ذَكِيَّةٌ وَمُضْحِكَةٌ.</a:t>
            </a:r>
            <a:endParaRPr lang="ar-SA" sz="2600" dirty="0"/>
          </a:p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6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نَسْكُنُ فِي شَقَّةٍ فِي لَنْدَنَ، فِيهَا ثَلَاثُ غُرَفٍ وَشُرْفَةٌ. فِي غُرْفَتِي سَرِيرٌ أَزْرَقُ وَمَكْتَبٌ صَغِيرٌ.</a:t>
            </a:r>
            <a:endParaRPr lang="ar-SA" sz="2600" dirty="0"/>
          </a:p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6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رَأْيِي شَقَّتُنَا مُرِيحَةٌ، وَأُحِبُّهَا لِأَنَّهَا قَرِيبَةٌ مِنَ المَدْرَسَةِ. لٰكِنَّ غُرْفَتِي صَغِيرَةٌ، لِذٰلِكَ أَدْرُسُ فِي المَكْتَبَةِ أَحْيَانًا.</a:t>
            </a:r>
            <a:endParaRPr lang="ar-SA" sz="2600" dirty="0"/>
          </a:p>
        </p:txBody>
      </p:sp>
      <p:sp>
        <p:nvSpPr>
          <p:cNvPr id="17" name="Shape 14"/>
          <p:cNvSpPr/>
          <p:nvPr/>
        </p:nvSpPr>
        <p:spPr>
          <a:xfrm>
            <a:off x="457200" y="5166360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0080" y="5202936"/>
            <a:ext cx="1090879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“There are five people in my family: my father, my mother, my two sisters and me. My older sister is tall, and she is clever and funny. / We live in a flat in London; it has three rooms and a balcony. In my room there is a blue bed and a small desk. / In my opinion our flat is comfortable, and I like it because it is near the school. But my room is small, so sometimes I study in the library.”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457200" y="605332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FIND IN THE MODEL: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2697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1D5FBF"/>
          </a:solidFill>
          <a:ln w="12700">
            <a:solidFill>
              <a:srgbClr val="1D5F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697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ذَكِيَّةٌ وَمُضْحِكَةٌ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4983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983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فِيهَا ثَلَاثُ غُرَفٍ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7269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C77700"/>
          </a:solidFill>
          <a:ln w="12700">
            <a:solidFill>
              <a:srgbClr val="C7770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269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لِأَنَّهَا قَرِيبَةٌ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9555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7B3FA0"/>
          </a:solidFill>
          <a:ln w="12700">
            <a:solidFill>
              <a:srgbClr val="7B3FA0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555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لِذٰلِكَ أَدْرُسُ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24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F3-W05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F3 · My Family &amp; Home · F3-W05 · Apply workshop (F3-L09 + F3-L10)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answered questions from F3-L09 and F3-L10 in full sentences.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wrote a sentence for every bullet point.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language from BOTH lessons when I spoke and when I wrote.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My buddy checked my text and I fixed one mistake.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added reasons (‏</a:t>
            </a:r>
            <a:pPr algn="l" indent="0" marL="0">
              <a:buNone/>
            </a:pPr>
            <a:r>
              <a:rPr lang="ar-SA" altLang="en-US" sz="17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‏) and extra details without frames.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24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F3-W05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you used two lessons together!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LESSON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F3-L11 · F3 Consolidation — Integrated Skills Review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مُرَاجَعَةُ الوَحْدَةِ الثَّالِثَةِ — المَهَارَاتُ المُتَكَامِلَةُ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keep using this week’s language — say it, then write it.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Amiri" pitchFamily="2" charset="-78"/>
        <a:cs typeface="Amiri" pitchFamily="2" charset="-78"/>
        <a:font script="Arab" typeface="Amiri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Amiri" pitchFamily="2" charset="-78"/>
        <a:cs typeface="Amiri" pitchFamily="2" charset="-78"/>
        <a:font script="Arab" typeface="Amir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F3-W05 · Apply Workshop — Speak It, Then Write It: Home and Family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2026-10-26T15:47:31Z</dcterms:created>
  <dcterms:modified xsi:type="dcterms:W3CDTF">2026-10-26T15:47:31Z</dcterms:modified>
</cp:coreProperties>
</file>