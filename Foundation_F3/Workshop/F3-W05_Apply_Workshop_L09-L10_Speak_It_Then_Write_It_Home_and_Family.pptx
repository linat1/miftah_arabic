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F3-L09 · Learn F3-L10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30–45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F3-L09 (Extended Writing: My Home and Family) and F3-L10 (Speaking: My Family and Home).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F3-L09 and F3-L10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LEARNT (3 min, main room). Ask: “What can you say after F3-L09? After F3-L10?” Take two answers in the chat for each lesson (one word or one sentence is enough). Then read objective 3 — today’s new situation that needs BOTH lessons. Students tick their route goals at the end of the lesson.
F3-L09 language: planning three paragraphs (family · home · opinion); connectors wa · ayḍan · lākinna · li-anna · li-dhālika; reviewing endings and agreement
F3-L10 language: decoding the question word (man · maʿa man · ayna · kam · li-mādhā · ṣif); two connected sentences per answer; repair phrases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F3-L09.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F3-L10.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3 (5 min). A NEW dialogue that joins F3-L09 and F3-L10. Teacher reads it once with a confident student; then pairs. Ask: “Which lines are from F3-L09? Which from F3-L10?” The question words and “two sentences per answer” come from F3-L10; the connectors (لِأَنَّ · لٰكِنَّ · لِذٰلِكَ) from F3-L09. Line 6 shows a speaking answer that is already a written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STEP 5 (7 min). One NEW situation that needs both lessons: decoding question words and two connected sentences (F3-L10) with connectors and opinions from the three-paragraph plan (F3-L09). SUPPORTED: the plan column gives the first words, not the full answer. To a girl Partner A says: كَمْ شَخْصًا فِي عَائِلَتِكِ؟ · صِفِي · أَيْنَ تَسْكُنِينَ؟ · مَا رَأْيُكِ؟ · مَعَ مَنْ تُشَارِكِينَ غُرْفَتَكِ؟.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F3-L09 and F3-L10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F3-L09 and F3-L10 practice rooms. Read the English, choose the correct part from each column (start on the RIGHT). Pairs agree, then check. Students copy the correct sentences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(46 words). CHECK YOURSELF (2 min). Find each bullet point in the model, and one phrase from F3-L09 and one from F3-L10.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F3  ·  F3-L09 + F3-L10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F3-W05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Speak It, Then Write It: Home and Family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تَكَلَّمْ ثُمَّ اكْتُبْ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turn speaking into writing: they decode question words, give two connected sentences per answer in a family-and-home conversation, then plan and write three short paragraphs with connectors — the same ideas, spoken first and written second.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F3-L09 + F3-L10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A1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F3 › F3-L10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F3-L09 and F3-L10.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model dialogue · question cards · role-play card · short talk.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sentence builder · spot and fix · write your text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F3-L09 + F3-L10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F3-L09: Extended Writing: My Home and Family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F3-L10: Speaking: My Family and Home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the practice speaking test · My home and family: three paragraphs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Answer questions from BOTH lessons in full sentences.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Write the text using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Join both lessons in one conversation and a 30–45 seconds talk.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text, frames only if stuck.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Speak without notes; add reasons and opinions.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Add a reason (</a:t>
            </a:r>
            <a:pPr algn="l" indent="0" marL="0">
              <a:buNone/>
            </a:pPr>
            <a:r>
              <a:rPr lang="ar-SA" altLang="en-US" sz="17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) and an extra detail to every point.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Word race: two lessons, one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English → Arabic,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words from F3-L09 and F3-L10. Partner A says a word in ENGLISH; Partner B says it in ARABIC.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word, then a short sentence with 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Join a word from each lesson in one sentence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F3-L09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F3-L09 · Extended Writing: My Home and Family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الأَوَّلِ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فِكْرَةٌ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idea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fik-ra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أَفْكَارٌ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مُسَوَّدَةٌ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draft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mu-saw-wa-da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مُسَوَّدَاتٌ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جُمْلَةٌ</a:t>
            </a:r>
            <a:endParaRPr lang="ar-SA" sz="3000" dirty="0"/>
          </a:p>
        </p:txBody>
      </p:sp>
      <p:sp>
        <p:nvSpPr>
          <p:cNvPr id="45" name="Text 42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sentence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jum-la</a:t>
            </a:r>
            <a:endParaRPr lang="en-US" sz="1350" dirty="0"/>
          </a:p>
        </p:txBody>
      </p:sp>
      <p:sp>
        <p:nvSpPr>
          <p:cNvPr id="46" name="Shape 43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640080" y="34838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جُمَلٌ</a:t>
            </a:r>
            <a:endParaRPr lang="ar-SA" sz="1500" dirty="0"/>
          </a:p>
        </p:txBody>
      </p:sp>
      <p:sp>
        <p:nvSpPr>
          <p:cNvPr id="49" name="Shape 4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4" name="Text 51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 · أَيْضًا</a:t>
            </a:r>
            <a:endParaRPr lang="ar-SA" sz="3000" dirty="0"/>
          </a:p>
        </p:txBody>
      </p:sp>
      <p:sp>
        <p:nvSpPr>
          <p:cNvPr id="55" name="Text 52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and · also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 · ay-ḍan</a:t>
            </a:r>
            <a:endParaRPr lang="en-US" sz="1350" dirty="0"/>
          </a:p>
        </p:txBody>
      </p:sp>
      <p:sp>
        <p:nvSpPr>
          <p:cNvPr id="56" name="Shape 53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3000" dirty="0"/>
          </a:p>
        </p:txBody>
      </p:sp>
      <p:sp>
        <p:nvSpPr>
          <p:cNvPr id="62" name="Text 59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li-ʾan-na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8" name="Text 65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ثُمَّ</a:t>
            </a:r>
            <a:endParaRPr lang="ar-SA" sz="3000" dirty="0"/>
          </a:p>
        </p:txBody>
      </p:sp>
      <p:sp>
        <p:nvSpPr>
          <p:cNvPr id="69" name="Text 66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 · then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thum-ma</a:t>
            </a:r>
            <a:endParaRPr lang="en-US" sz="1350" dirty="0"/>
          </a:p>
        </p:txBody>
      </p:sp>
      <p:sp>
        <p:nvSpPr>
          <p:cNvPr id="70" name="Text 6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F3-L10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F3-L10 · Speaking: My Family and Home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كَلِمَاتُ الدَّرْسِ الثَّانِي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→ person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مَنْ؟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e.g.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فِي عَائِلَتِكَ؟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→ place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أَيْنَ؟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where?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ayna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416552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471416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e.g.</a:t>
            </a:r>
            <a:endParaRPr lang="en-US" sz="700" dirty="0"/>
          </a:p>
        </p:txBody>
      </p:sp>
      <p:sp>
        <p:nvSpPr>
          <p:cNvPr id="38" name="Text 35"/>
          <p:cNvSpPr txBox="1"/>
          <p:nvPr/>
        </p:nvSpPr>
        <p:spPr>
          <a:xfrm>
            <a:off x="4462272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1350" dirty="0"/>
          </a:p>
        </p:txBody>
      </p:sp>
      <p:sp>
        <p:nvSpPr>
          <p:cNvPr id="39" name="Shape 36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60120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0120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→ لِأَنَّ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6" name="Text 43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30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li-mādhā</a:t>
            </a:r>
            <a:endParaRPr lang="en-US" sz="1350" dirty="0"/>
          </a:p>
        </p:txBody>
      </p:sp>
      <p:sp>
        <p:nvSpPr>
          <p:cNvPr id="48" name="Shape 45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e.g.</a:t>
            </a:r>
            <a:endParaRPr lang="en-US" sz="700" dirty="0"/>
          </a:p>
        </p:txBody>
      </p:sp>
      <p:sp>
        <p:nvSpPr>
          <p:cNvPr id="50" name="Text 47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تُحِبُّ بَيْتَكَ؟</a:t>
            </a:r>
            <a:endParaRPr lang="ar-SA" sz="1350" dirty="0"/>
          </a:p>
        </p:txBody>
      </p:sp>
      <p:sp>
        <p:nvSpPr>
          <p:cNvPr id="51" name="Shape 48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56" name="Text 53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طَلَاقَةٌ</a:t>
            </a:r>
            <a:endParaRPr lang="ar-SA" sz="3000" dirty="0"/>
          </a:p>
        </p:txBody>
      </p:sp>
      <p:sp>
        <p:nvSpPr>
          <p:cNvPr id="57" name="Text 54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fluency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ṭa-lā-qa</a:t>
            </a:r>
            <a:endParaRPr lang="en-US" sz="1350" dirty="0"/>
          </a:p>
        </p:txBody>
      </p:sp>
      <p:sp>
        <p:nvSpPr>
          <p:cNvPr id="58" name="Shape 5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نُطْقٌ</a:t>
            </a:r>
            <a:endParaRPr lang="ar-SA" sz="3000" dirty="0"/>
          </a:p>
        </p:txBody>
      </p:sp>
      <p:sp>
        <p:nvSpPr>
          <p:cNvPr id="64" name="Text 61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pronunciation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nuṭq</a:t>
            </a:r>
            <a:endParaRPr lang="en-US" sz="1350" dirty="0"/>
          </a:p>
        </p:txBody>
      </p:sp>
      <p:sp>
        <p:nvSpPr>
          <p:cNvPr id="65" name="Shape 62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phrase</a:t>
            </a:r>
            <a:endParaRPr lang="en-US" sz="800" dirty="0"/>
          </a:p>
        </p:txBody>
      </p:sp>
      <p:sp>
        <p:nvSpPr>
          <p:cNvPr id="70" name="Shape 67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2" name="Text 69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بِبُطْءٍ، مِنْ فَضْلِكَ.</a:t>
            </a:r>
            <a:endParaRPr lang="ar-SA" sz="3000" dirty="0"/>
          </a:p>
        </p:txBody>
      </p:sp>
      <p:sp>
        <p:nvSpPr>
          <p:cNvPr id="73" name="Text 70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 slowly, please.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ta-kal-lam bi-buṭ’</a:t>
            </a:r>
            <a:endParaRPr lang="en-US" sz="1350" dirty="0"/>
          </a:p>
        </p:txBody>
      </p:sp>
      <p:sp>
        <p:nvSpPr>
          <p:cNvPr id="74" name="Text 7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SORT IT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Question word or connector?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مَنْ؟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كَمْ؟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أَيْنَ؟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أَيْضًا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Connectors · F3-L09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Question words · F3-L10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Sort: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صَنِّفِ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Connectors · F3-L09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أَيْضًا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Question words · F3-L10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مَنْ؟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كَمْ؟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أَيْنَ؟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4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MODEL DIALOGUE · BOTH LESSONS IN ONE CONVERSATION</a:t>
            </a:r>
            <a:endParaRPr lang="en-US" sz="934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 conversation in two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جُمْلَتَانِ فِي كُلِّ جَوَابٍ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do you live with?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تَسْكُنُ؟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live with my father, my mother and my sister. My older sister is clever and funny.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مَعَ أَبِي وَأُمِّي وَأُخْتِي. أُخْتِي الكُبْرَى ذَكِيَّةٌ وَمُضْحِكَةٌ.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live?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live in a flat in London. It has three rooms and a small balcony.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 فِي شَقَّةٍ فِي لَنْدَنَ. فِيهَا ثَلَاثُ غُرَفٍ وَشُرْفَةٌ صَغِيرَةٌ.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 you like your home?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تُحِبُّ بَيْتَكَ؟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it because it is comfortable, but my room is small, so I study in the library.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أُحِبُّهُ لِأَنَّهُ مُرِيحٌ، لٰكِنَّ غُرْفَتِي صَغِيرَةٌ، لِذٰلِكَ أَدْرُسُ فِي المَكْتَبَةِ.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pairs. Round 2: swap letters. Round 3: answer with YOUR facts — always two sentences, always one connector.</a:t>
            </a:r>
            <a:endParaRPr lang="en-US" sz="115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QUESTION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Mixed questions — answer, then add more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Add more (Develop · Stretch)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your answer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وَ… أَيْضًا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…</a:t>
            </a:r>
            <a:endParaRPr lang="ar-SA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636008" y="226771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in your family? (paragraph 1)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فِي عَائِلَتِكَ؟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56648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+ sentence 2: …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 / هِيَ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…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4636008" y="2881884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people are in your family?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شَخْصًا فِي عَائِلَتِكَ؟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وَشَعْرُهُ / وَشَعْرُهَا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أَبِي / أُمِّي / أَخِي … هُوَ / هِيَ …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4636008" y="3496056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one person. (paragraph 1)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شَخْصًا وَاحِدًا.</a:t>
            </a:r>
            <a:endParaRPr lang="ar-SA" sz="17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+ عُمْرُهُ … وَهُوَ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شَخْصٍ … ← جَدِّي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4636008" y="4110228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Who is the oldest person in your family?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مَنْ أَكْبَرُ شَخْصٍ فِي عَائِلَتِكَ؟</a:t>
            </a:r>
            <a:endParaRPr lang="ar-SA" sz="17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فِيهِ … وَعِنْدَنَا …</a:t>
            </a:r>
            <a:endParaRPr lang="ar-SA" sz="15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 فِي …</a:t>
            </a:r>
            <a:endParaRPr lang="ar-SA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4636008" y="4724400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live? Describe it. (paragraph 2)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 صِفْ بَيْتَكَ.</a:t>
            </a:r>
            <a:endParaRPr lang="ar-SA" sz="17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+ فِيهِ / فِيهَا …</a:t>
            </a:r>
            <a:endParaRPr lang="ar-SA" sz="15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فِي …</a:t>
            </a:r>
            <a:endParaRPr lang="ar-SA" sz="1600" dirty="0"/>
          </a:p>
        </p:txBody>
      </p:sp>
      <p:sp>
        <p:nvSpPr>
          <p:cNvPr id="62" name="Text 59"/>
          <p:cNvSpPr txBox="1"/>
          <p:nvPr/>
        </p:nvSpPr>
        <p:spPr>
          <a:xfrm>
            <a:off x="4636008" y="5338572"/>
            <a:ext cx="21945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live?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383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</a:t>
            </a:r>
            <a:endParaRPr lang="ar-SA" sz="17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F3-L09, even numbers from F3-L10. Core: a full sentence from the starter. Develop: add the “more” part. Stretch: link two answers with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,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or </a:t>
            </a:r>
            <a:pPr algn="l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 Swap after each question.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ROLE-PLAY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 — the practice speaking test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اخْتِبَارُ المُحَادَثَةِ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← فِي عَائِلَتِي … أَشْخَاصٍ. …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Number + who (two sentences).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شَخْصًا فِي عَائِلَتِكَ؟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← … هُوَ / هِيَ … وَ…</a:t>
            </a:r>
            <a:endParaRPr lang="ar-SA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Appearance + personality.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شَخْصًا فِي عَائِلَتِكَ.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/ صِفْ ← نَسْكُنُ فِي … ، فِيهِ …</a:t>
            </a:r>
            <a:endParaRPr lang="ar-SA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+ two rooms or features.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 صِفْ بَيْتَكَ.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← أُحِبُّهُ لِأَنَّ … ، لٰكِنَّ …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 + reason + a “but”.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بَيْتِكَ؟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← مَرَّةً أُخْرَى … / أُشَارِكُهَا مَعَ …</a:t>
            </a:r>
            <a:endParaRPr lang="ar-SA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Answer; if unsure, use a repair phrase first.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تُشَارِكُ غُرْفَتَكَ؟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candidate · Partner A = the examiner. Read the plan for 1 minute, then hide it and speak. Task ! is a surprise.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SHORT TALK · 30–45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my family and my home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عَنْ عَائِلَتِي وَبَيْتِي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30–45 seconds — use both lessons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30–45 seconds without stopping, in three parts — like the three paragraphs you will write: (1) your family and one person described, (2) your home and your room, (3) your opinion with a reason and a “but”.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Think for 30 seconds: 2 key words from EACH lesson,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partner times it.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Partner: one thing that went well + one thing to improve.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then the teacher invites two volunteers.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4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… · نَسْكُنُ فِي … · أُحِبُّ بَيْتِي لِأَنَّ …</a:t>
            </a:r>
            <a:endParaRPr lang="ar-SA" sz="14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Two sentences in each part, joined with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أَيْضًا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, and a repair phrase if you need time: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دَعْنِي أُفَكِّرُ قَلِيلًا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· لٰكِنَّ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… · but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so, that is why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دَعْنِي أُفَكِّرُ قَلِيلًا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let me think a little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SENTENCE BUILDER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three correct sentences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love my house because it is big, but my room is small.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بَيْتِي لِأَنَّهُ كَبِيرٌ،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بَيْتِي لِأَنَّهَا كَبِيرَةٌ،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صَغِيرَةٌ.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غُرْفَتِي صَغِيرٌ.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live with my grandmother. She is calm and kind.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مَعَ جَدَّتِي.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تَسْكُنُ مَعَ جَدَّتِي.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هُوَ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هَادِئَةٌ وَلَطِيفَةٌ.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هَادِئٌ وَلَطِيفٌ.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My grandmother lives with us, so the house is busy.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جَدَّتِي تَسْكُنُ مَعَنَا،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جَدَّتِي يَسْكُنُ مَعَنَا،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البَيْتُ مُزْدَحِمٌ.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البَيْتُ مُزْدَحِمَةٌ.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SENTENCES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Sentence builder: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الجُمْلَةَ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love my house because it is big, but my room is small.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(m.)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 كَبِيرٌ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but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(f.)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صَغِيرَةٌ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بَيْتِي لِأَنَّهُ كَبِيرٌ، لٰكِنَّ غُرْفَتِي صَغِيرَةٌ.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I live with my grandmother. She is calm and kind.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grandmother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هِيَ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+ feminine adjectives.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أَسْكُنُ مَعَ جَدَّتِي. هِيَ هَادِئَةٌ وَلَطِيفَةٌ.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My grandmother lives with us, so the house is busy.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She →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تَسْكُنُ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so =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;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بَيْتٌ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is masculine.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جَدَّتِي تَسْكُنُ مَعَنَا، لِذٰلِكَ البَيْتُ مُزْدَحِمٌ.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AND FIX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بَيْتِي لِأَنَّ كَبِيرٌ.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needs a pronoun.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غُرْفَةً فِي بَيْتِكَ؟ — بَيْتِي جَمِيلٌ.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Did it answer the question word?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خَمْسُ شَخْصٍ.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3–10 + plural.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بَيْتِي لِأَنَّ كَبِيرٌ.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بَيْتِي لِأَنَّهُ كَبِيرٌ.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+ pronoun: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(it, m.).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غُرْفَةً فِي بَيْتِكَ؟ — بَيْتِي جَمِيلٌ.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بَيْتِي خَمْسُ غُرَفٍ.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= how many → answer with a number.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خَمْسُ شَخْصٍ.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خَمْسَةُ أَشْخَاصٍ.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Plural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أَشْخَاصٍ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;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شَخْصٌ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is masculine →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خَمْسَةُ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______ ، لِذٰلِكَ ______ .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But …, so …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______ 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In my opinion …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 ______ أَيْضًا.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594360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… too.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______ أَشْخَاصٍ: ______ .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There are … people in my family: …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______ هُوَ / هِيَ ______ وَ ______ .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¶1 (person) is … and …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 فِي ______ فِي ______ .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We live in a … in …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202168" y="3950208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غُرْفَتِي ______ وَ ______ .</a:t>
            </a:r>
            <a:endParaRPr lang="ar-SA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6327648" y="3950208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¶2 In my room there is … and …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8202168" y="4517136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بَيْتِي لِأَنَّ ______ 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6327648" y="4517136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¶3 I like my home because …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 · أَيْضًا  ·  ثُمَّ  ·  لِأَنَّ  ·  لٰكِنَّ  ·  لِذٰلِكَ  ·  فِي رَأْيِي  ·  فِيهِ · فِيهَا  ·  هُوَ · هِيَ</a:t>
            </a:r>
            <a:endParaRPr lang="ar-SA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WRITE YOUR TEXT · ABOUT 45–65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My home and family: three paragraphs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بَيْتِي وَعَائِلَتِي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984248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BOTH LESSONS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Write three short paragraphs (about 45–65 words) using what you SAID today as your plan. Paragraph 1: your family — who, and one person described. Paragraph 2: your home and your room. Paragraph 3: your opinion — what you like and don’t like, and why. Use at least four connectors.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Every bullet point has at least one sentence.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Language from F3-L09 AND F3-L10.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Full sentences with the right ending (I · my · he · she).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At least one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and one </a:t>
            </a:r>
            <a:pPr algn="l" indent="0" marL="0">
              <a:buNone/>
            </a:pPr>
            <a:r>
              <a:rPr lang="ar-SA" altLang="en-US" sz="15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(Develop).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… أَشْخَاصٍ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are … people in my family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 فِي … ، فِيهِ / فِيهَا …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live in …; it has …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 … لِأَنَّ …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… because …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 … ، لِذٰلِكَ …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but …, so …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EVERY bullet point?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three paragraphs: family · home · opinion?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connected sentences for every answer?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linking words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ثُمَّ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reason, a time phrase or an opinion?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ROLE-PLAY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Role-play card: compare with a strong answer</a:t>
            </a:r>
            <a:endParaRPr lang="en-US" sz="2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أَرْبَعَةُ أَشْخَاصٍ. أَبِي وَأُمِّي وَأَخِي الصَّغِيرُ وَأَنَا.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are four people in my family. My father, my mother, my little brother and me.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شَخْصًا فِي عَائِلَتِكَ؟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قَصِيرَةٌ، وَشَعْرُهَا بُنِّيٌّ. هِيَ لَطِيفَةٌ وَمُجْتَهِدَةٌ جِدًّا.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mother is short, and her hair is brown. She is very kind and hard-working.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شَخْصًا فِي عَائِلَتِكَ.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 فِي بَيْتٍ فِي لُوتِن. فِيهِ مَطْبَخٌ كَبِيرٌ وَحَدِيقَةٌ جَمِيلَةٌ.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live in a house in Luton. It has a big kitchen and a lovely garden.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تَسْكُنُ؟ صِفْ بَيْتَكَ.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أُحِبُّهُ لِأَنَّ الحَدِيقَةَ كَبِيرَةٌ، لٰكِنَّ البَيْتَ بَعِيدٌ عَنِ المَدْرَسَةِ.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like it because the garden is big, but the house is far from school.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بَيْتِكَ؟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أُخْرَى، مِنْ فَضْلِكَ؟ … أُشَارِكُ غُرْفَتِي مَعَ أَخِي، لِذٰلِكَ هِيَ مُزْدَحِمَةٌ قَلِيلًا!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Once more, please? … I share my room with my brother, so it is a little crowded!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تُشَارِكُ غُرْفَتَكَ؟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WRITE YOUR TEXT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عَائِلَتِي خَمْسَةُ أَشْخَاصٍ: أَبِي وَأُمِّي وَأُخْتَايَ وَأَنَا. أُخْتِي الكُبْرَى طَوِيلَةٌ، وَهِيَ ذَكِيَّةٌ وَمُضْحِكَةٌ.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نَسْكُنُ فِي شَقَّةٍ فِي لَنْدَنَ، فِيهَا ثَلَاثُ غُرَفٍ وَشُرْفَةٌ. فِي غُرْفَتِي سَرِيرٌ أَزْرَقُ وَمَكْتَبٌ صَغِيرٌ.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شَقَّتُنَا مُرِيحَةٌ، وَأُحِبُّهَا لِأَنَّهَا قَرِيبَةٌ مِنَ المَدْرَسَةِ. لٰكِنَّ غُرْفَتِي صَغِيرَةٌ، لِذٰلِكَ أَدْرُسُ فِي المَكْتَبَةِ أَحْيَانًا.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“There are five people in my family: my father, my mother, my two sisters and me. My older sister is tall, and she is clever and funny. / We live in a flat in London; it has three rooms and a balcony. In my room there is a blue bed and a small desk. / In my opinion our flat is comfortable, and I like it because it is near the school. But my room is small, so sometimes I study in the library.”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ذَكِيَّةٌ وَمُضْحِكَةٌ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فِيهَا ثَلَاثُ غُرَفٍ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قَرِيبَةٌ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 أَدْرُسُ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F3-W05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F3 · My Family &amp; Home · F3-W05 · Apply workshop (F3-L09 + F3-L10)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questions from F3-L09 and F3-L10 in full sentences.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a sentence for every bullet point.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language from BOTH lessons when I spoke and when I wrote.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text and I fixed one mistake.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added reasons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extra details without frames.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F3-W05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F3-L11 · F3 Consolidation — Integrated Skills Review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مُرَاجَعَةُ الوَحْدَةِ الثَّالِثَةِ — المَهَارَاتُ المُتَكَامِلَةُ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F3-W05 · Apply Workshop — Speak It, Then Write It: Home and Family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2026-10-26T15:17:25Z</dcterms:created>
  <dcterms:modified xsi:type="dcterms:W3CDTF">2026-10-26T15:17:25Z</dcterms:modified>
</cp:coreProperties>
</file>