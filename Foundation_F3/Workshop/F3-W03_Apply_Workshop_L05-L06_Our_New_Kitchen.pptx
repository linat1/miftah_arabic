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F3-L05 · Learn F3-L06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F3-L05 (Colours — Full System and Agreement) and F3-L06 (Household Appliances and Daily Routines).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F3-L05 and F3-L06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F3-L05? After F3-L06?” Take two answers in the chat for each lesson (one word or one sentence is enough). Then read objective 3 — today’s new situation that needs BOTH lessons. Students tick their route goals at the end of the lesson.
F3-L05 language: colour agreement: afʿalu → faʿlāʾu (aḥmaru · ḥamrāʾu); -iyyun → -iyyatun (bunniyyun · bunniyyatun); fātiḥ / ghāmiq; mā lawnu …?
F3-L06 language: nastaʿmilu … li- (we use … for); ushghilu / uṭfiʾu (switch on / off); frequency (kulla yawmin · marratan fī al-usbūʿi · aḥyānan); awwalan · thumma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F3-L05 and F3-L06. Teacher reads it once with a confident student; then pairs. Ask: “Which lines are from F3-L05? Which from F3-L06?” Colours that agree (صَفْرَاءُ · بَيْضَاءُ · أَسْوَدُ) come from F3-L05; appliances, use and frequency from F3-L06. Remind: الجُدْرَانُ (non-human plural) → صَفْرَاءُ (feminine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colours that agree with masculine and feminine nouns (F3-L05) with appliances, what they are for and how often we use them (F3-L06). SUPPORTED: the plan column gives the first words, not the full answer. To a girl Partner A says: أَيَّ لَوْنٍ تُرِيدِينَ؟ · مَا لَوْنُكِ المُفَضَّلُ؟. Watch the object forms: ثَلَّاجَةً بَيْضَاءَ · فُرْنًا أَسْوَدَ (accusative after أُرِيدُ). Accept the nominative from Core students — the colour agreement is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F3-L05 and F3-L06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F3-L05 and F3-L06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(45 words). CHECK YOURSELF (2 min). Find each bullet point in the model, and one phrase from F3-L05 and one from F3-L06.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F3-L05 + F3-L06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F3-W03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50" b="1" dirty="0">
                <a:solidFill>
                  <a:srgbClr val="FFFFFF"/>
                </a:solidFill>
                <a:latin typeface="Cambria" pitchFamily="34" charset="0"/>
                <a:cs typeface="Amiri" pitchFamily="2" charset="-78"/>
              </a:rPr>
              <a:t>Apply Workshop — Our New Kitchen</a:t>
            </a:r>
            <a:endParaRPr lang="en-US" sz="31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مَطْبَخُنَا الجَدِيدُ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colours that agree with appliances and household routines: they plan a new kitchen, choose colours for the walls and appliances, say what each appliance is for and who uses it, and write a description of the kitchen and the family’s routine.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F3-L05 + F3-L06</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F3-L05 and F3-L06.</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F3-L05 + F3-L06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F3-L05: Colours — Full System and Agreement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F3-L06: Household Appliances and Daily Routines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at the kitchen showroom · Our kitchen and who does what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F3-L05 and F3-L06.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F3-L05 · Colours — Full System and Agreement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أَحْمَرُ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a:t>
            </a:r>
            <a:endParaRPr lang="en-US" sz="1350" dirty="0"/>
          </a:p>
          <a:p>
            <a:pPr indent="0" marL="0">
              <a:buNone/>
            </a:pPr>
            <a:r>
              <a:rPr lang="en-US" sz="1100" i="1" dirty="0">
                <a:solidFill>
                  <a:srgbClr val="5A6472"/>
                </a:solidFill>
                <a:latin typeface="Calibri" pitchFamily="34" charset="0"/>
                <a:cs typeface="Amiri" pitchFamily="2" charset="-78"/>
              </a:rPr>
              <a:t>aḥ-mar · ḥam-rā’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حَمْرَاءُ</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حَمْرَاءُ</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أَحْمَرُ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أَصْفَرُ</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yellow</a:t>
            </a:r>
            <a:endParaRPr lang="en-US" sz="1350" dirty="0"/>
          </a:p>
          <a:p>
            <a:pPr indent="0" marL="0">
              <a:buNone/>
            </a:pPr>
            <a:r>
              <a:rPr lang="en-US" sz="1100" i="1" dirty="0">
                <a:solidFill>
                  <a:srgbClr val="5A6472"/>
                </a:solidFill>
                <a:latin typeface="Calibri" pitchFamily="34" charset="0"/>
                <a:cs typeface="Amiri" pitchFamily="2" charset="-78"/>
              </a:rPr>
              <a:t>aṣ-far · ṣaf-rā’</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صَفْرَاءُ</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صَفْرَاءُ</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أَصْفَرُ</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بُرْتُقَالِيٌّ</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orange</a:t>
            </a:r>
            <a:endParaRPr lang="en-US" sz="1350" dirty="0"/>
          </a:p>
          <a:p>
            <a:pPr indent="0" marL="0">
              <a:buNone/>
            </a:pPr>
            <a:r>
              <a:rPr lang="en-US" sz="1100" i="1" dirty="0">
                <a:solidFill>
                  <a:srgbClr val="5A6472"/>
                </a:solidFill>
                <a:latin typeface="Calibri" pitchFamily="34" charset="0"/>
                <a:cs typeface="Amiri" pitchFamily="2" charset="-78"/>
              </a:rPr>
              <a:t>bur-tu-qā-lī</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60" name="Text 57"/>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بُرْتُقَالِيَّةٌ</a:t>
            </a:r>
            <a:endParaRPr lang="ar-SA" sz="135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بُرْتُقَالِيَّةٌ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بُرْتُقَالِيٌّ</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0" name="Shape 67"/>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رَمَادِيٌّ</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grey</a:t>
            </a:r>
            <a:endParaRPr lang="en-US" sz="1350" dirty="0"/>
          </a:p>
          <a:p>
            <a:pPr indent="0" marL="0">
              <a:buNone/>
            </a:pPr>
            <a:r>
              <a:rPr lang="en-US" sz="1100" i="1" dirty="0">
                <a:solidFill>
                  <a:srgbClr val="5A6472"/>
                </a:solidFill>
                <a:latin typeface="Calibri" pitchFamily="34" charset="0"/>
                <a:cs typeface="Amiri" pitchFamily="2" charset="-78"/>
              </a:rPr>
              <a:t>ra-mā-dī</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76" name="Text 7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رَمَادِيَّةٌ</a:t>
            </a:r>
            <a:endParaRPr lang="ar-SA" sz="135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رَمَادِيَّةٌ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رَمَادِيٌّ</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6" name="Shape 83"/>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فَاتِحٌ</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light (shade)</a:t>
            </a:r>
            <a:endParaRPr lang="en-US" sz="1350" dirty="0"/>
          </a:p>
          <a:p>
            <a:pPr indent="0" marL="0">
              <a:buNone/>
            </a:pPr>
            <a:r>
              <a:rPr lang="en-US" sz="1100" i="1" dirty="0">
                <a:solidFill>
                  <a:srgbClr val="5A6472"/>
                </a:solidFill>
                <a:latin typeface="Calibri" pitchFamily="34" charset="0"/>
                <a:cs typeface="Amiri" pitchFamily="2" charset="-78"/>
              </a:rPr>
              <a:t>fā-tiḥ</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92" name="Text 89"/>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فَاتِحَةٌ</a:t>
            </a:r>
            <a:endParaRPr lang="ar-SA" sz="135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فَاتِحَةٌ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فَاتِحٌ</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2" name="Shape 99"/>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104" name="Text 10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فِضِّيٌّ</a:t>
            </a:r>
            <a:endParaRPr lang="ar-SA" sz="3000" dirty="0"/>
          </a:p>
        </p:txBody>
      </p:sp>
      <p:sp>
        <p:nvSpPr>
          <p:cNvPr id="105" name="Text 10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silver</a:t>
            </a:r>
            <a:endParaRPr lang="en-US" sz="1350" dirty="0"/>
          </a:p>
          <a:p>
            <a:pPr indent="0" marL="0">
              <a:buNone/>
            </a:pPr>
            <a:r>
              <a:rPr lang="en-US" sz="1100" i="1" dirty="0">
                <a:solidFill>
                  <a:srgbClr val="5A6472"/>
                </a:solidFill>
                <a:latin typeface="Calibri" pitchFamily="34" charset="0"/>
                <a:cs typeface="Amiri" pitchFamily="2" charset="-78"/>
              </a:rPr>
              <a:t>fiḍ-ḍī</a:t>
            </a:r>
            <a:endParaRPr lang="en-US" sz="1350" dirty="0"/>
          </a:p>
        </p:txBody>
      </p:sp>
      <p:sp>
        <p:nvSpPr>
          <p:cNvPr id="106" name="Shape 103"/>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7" name="Text 104"/>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108" name="Text 105"/>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فِضِّيَّةٌ</a:t>
            </a:r>
            <a:endParaRPr lang="ar-SA" sz="1350" dirty="0"/>
          </a:p>
        </p:txBody>
      </p:sp>
      <p:sp>
        <p:nvSpPr>
          <p:cNvPr id="109" name="Shape 106"/>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0" name="Text 107"/>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1" name="Text 108"/>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فِضِّيَّةٌ</a:t>
            </a:r>
            <a:endParaRPr lang="ar-SA" sz="1500" dirty="0"/>
          </a:p>
        </p:txBody>
      </p:sp>
      <p:sp>
        <p:nvSpPr>
          <p:cNvPr id="112" name="Shape 109"/>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4" name="Text 111"/>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فِضِّيٌّ</a:t>
            </a:r>
            <a:endParaRPr lang="ar-SA" sz="1500" dirty="0"/>
          </a:p>
        </p:txBody>
      </p:sp>
      <p:sp>
        <p:nvSpPr>
          <p:cNvPr id="115" name="Text 11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F3-L06 · Household Appliances and Daily Routines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ثَلَّاجَةٌ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fridge</a:t>
            </a:r>
            <a:endParaRPr lang="en-US" sz="1350" dirty="0"/>
          </a:p>
          <a:p>
            <a:pPr indent="0" marL="0">
              <a:buNone/>
            </a:pPr>
            <a:r>
              <a:rPr lang="en-US" sz="1100" i="1" dirty="0">
                <a:solidFill>
                  <a:srgbClr val="5A6472"/>
                </a:solidFill>
                <a:latin typeface="Calibri" pitchFamily="34" charset="0"/>
                <a:cs typeface="Amiri" pitchFamily="2" charset="-78"/>
              </a:rPr>
              <a:t>thal-lā-ja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ثَلَّاجَاتٌ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أَحْفَظُ الطَّعَامَ فِيهَا.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مِيكْرُوويفٌ</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microwave</a:t>
            </a:r>
            <a:endParaRPr lang="en-US" sz="1350" dirty="0"/>
          </a:p>
          <a:p>
            <a:pPr indent="0" marL="0">
              <a:buNone/>
            </a:pPr>
            <a:r>
              <a:rPr lang="en-US" sz="1100" i="1" dirty="0">
                <a:solidFill>
                  <a:srgbClr val="5A6472"/>
                </a:solidFill>
                <a:latin typeface="Calibri" pitchFamily="34" charset="0"/>
                <a:cs typeface="Amiri" pitchFamily="2" charset="-78"/>
              </a:rPr>
              <a:t>mīk-rū-wayf</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مِيكْرُوويفَاتٌ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أُسَخِّنُ الطَّعَامَ بِهِ.</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غَلَّايَةٌ</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kettle</a:t>
            </a:r>
            <a:endParaRPr lang="en-US" sz="1350" dirty="0"/>
          </a:p>
          <a:p>
            <a:pPr indent="0" marL="0">
              <a:buNone/>
            </a:pPr>
            <a:r>
              <a:rPr lang="en-US" sz="1100" i="1" dirty="0">
                <a:solidFill>
                  <a:srgbClr val="5A6472"/>
                </a:solidFill>
                <a:latin typeface="Calibri" pitchFamily="34" charset="0"/>
                <a:cs typeface="Amiri" pitchFamily="2" charset="-78"/>
              </a:rPr>
              <a:t>ghal-lā-ya</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غَلَّايَاتٌ</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أُشَغِّلُهَا فِي الصَّبَاحِ.</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1" name="Shape 58"/>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غَسَّالَةُ المَلَابِسِ</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washing machine</a:t>
            </a:r>
            <a:endParaRPr lang="en-US" sz="1350" dirty="0"/>
          </a:p>
          <a:p>
            <a:pPr indent="0" marL="0">
              <a:buNone/>
            </a:pPr>
            <a:r>
              <a:rPr lang="en-US" sz="1100" i="1" dirty="0">
                <a:solidFill>
                  <a:srgbClr val="5A6472"/>
                </a:solidFill>
                <a:latin typeface="Calibri" pitchFamily="34" charset="0"/>
                <a:cs typeface="Amiri" pitchFamily="2" charset="-78"/>
              </a:rPr>
              <a:t>ghas-sā-lat al-ma-lā-bis</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غَسَّالَاتٌ</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أَغْسِلُ المَلَابِسَ بِهَا.</a:t>
            </a:r>
            <a:endParaRPr lang="ar-SA" sz="150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6" name="Shape 7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مِكْنَسَةٌ كَهْرَبَائِيَّةٌ</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vacuum cleaner</a:t>
            </a:r>
            <a:endParaRPr lang="en-US" sz="1350" dirty="0"/>
          </a:p>
          <a:p>
            <a:pPr indent="0" marL="0">
              <a:buNone/>
            </a:pPr>
            <a:r>
              <a:rPr lang="en-US" sz="1100" i="1" dirty="0">
                <a:solidFill>
                  <a:srgbClr val="5A6472"/>
                </a:solidFill>
                <a:latin typeface="Calibri" pitchFamily="34" charset="0"/>
                <a:cs typeface="Amiri" pitchFamily="2" charset="-78"/>
              </a:rPr>
              <a:t>mik-na-sa kah-ra-bā-’iy-ya</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2" name="Text 7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مَكَانِسُ</a:t>
            </a:r>
            <a:endParaRPr lang="ar-SA" sz="150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85" name="Text 8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أُنَظِّفُ الأَرْضِيَّةَ بِهَا.</a:t>
            </a:r>
            <a:endParaRPr lang="ar-SA" sz="150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9" name="Shape 8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91" name="Shape 8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حَاسُوبٌ</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a:t>
            </a:r>
            <a:endParaRPr lang="en-US" sz="1350" dirty="0"/>
          </a:p>
          <a:p>
            <a:pPr indent="0" marL="0">
              <a:buNone/>
            </a:pPr>
            <a:r>
              <a:rPr lang="en-US" sz="1100" i="1" dirty="0">
                <a:solidFill>
                  <a:srgbClr val="5A6472"/>
                </a:solidFill>
                <a:latin typeface="Calibri" pitchFamily="34" charset="0"/>
                <a:cs typeface="Amiri" pitchFamily="2" charset="-78"/>
              </a:rPr>
              <a:t>ḥā-sūb</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حَوَاسِيبُ</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أَسْتَخْدِمُهُ لِلدِّرَاسَةِ.</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الجُدْرَانُ … فَاتِحَةٌ / غَامِقَةٌ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بَيْتِنَا … ، نَسْتَعْمِلُهَا 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أُشَغِّلُ … كُلَّ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سَرِيرٌ أَبْيَضُ</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سَجَّادَةٌ حَمْرَاءُ</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 أُمِّي يَسْتَعْمِلُ / تَسْتَعْمِلُ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العَمَلُ فِي البَيْتِ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لَوْنِي المُفَضَّلُ … لِأَنَّهُ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F3-L05 · Colours — Full System and Agreement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F3-L06 · Household Appliances and Daily Routines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F3-L05 · Colours — Full System and Agreement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الجُدْرَانُ … فَاتِحَةٌ / غَامِقَةٌ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سَرِيرٌ أَبْيَضُ</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سَجَّادَةٌ حَمْرَاءُ</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لَوْنِي المُفَضَّلُ … لِأَنَّهُ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F3-L06 · Household Appliances and Daily Routines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بَيْتِنَا … ، نَسْتَعْمِلُهَا 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أُشَغِّلُ … كُلَّ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 أُمِّي يَسْتَعْمِلُ / تَسْتَعْمِلُ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العَمَلُ فِي البَيْتِ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Planning the new kitchen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نُخَطِّطُ لِلْمَطْبَخِ</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colour are the walls in the new kitchen?</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لَوْنُ الجُدْرَانِ فِي المَطْبَخِ الجَدِيدِ؟</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walls are light yellow.</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الجُدْرَانُ صَفْرَاءُ فَاتِحَةٌ.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the fridge?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وَالثَّلَّاجَةُ؟</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fridge is white, and the oven is black.</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الثَّلَّاجَةُ بَيْضَاءُ، وَالفُرْنُ أَسْوَدُ.</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uses the oven?</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 يَسْتَعْمِلُ الفُرْنَ؟</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mother uses it every day, and I switch on the kettle in the morning.</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أُمِّي تَسْتَعْمِلُهُ كُلَّ يَوْمٍ، وَأَنَا أُشَغِّلُ الغَلَّايَةَ فِي الصَّبَاحِ.</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لَوْنِي المُفَضَّلُ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favourite colour?</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لَوْنُكَ المُفَضَّلُ؟</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وَلَا يُوجَدُ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تُوجَدُ … وَيُوجَدُ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appliances are in your kitchen?</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مَطْبَخِكُمْ؟</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 أَيْضًا</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حَقِيبَتِي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colour is your bag?</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لَوْنُ حَقِيبَتِكَ؟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بَارِدًا</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نَسْتَعْمِلُهَا لِحِفْظِ الطَّعَامِ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we use the fridge?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نَسْتَعْمِلُ الثَّلَّاجَةَ؟</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وَبِنْطَالِي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قَمِيصِي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colour is your shirt today?</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لَوْنُ قَمِيصِكَ اليَوْمَ؟</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أُشَغِّلُهَا فِي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you switch on the kettle?</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تُشَغِّلُ الغَلَّايَةَ؟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F3-L05, even numbers from F3-L06.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Role-play card — at the kitchen showroom</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مَعْرِضِ المَطَابِخِ</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 أُرِيدُ ثَلَّاجَةً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a colour for the fridge (feminine).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أَيَّ لَوْنٍ تُرِيدُ لِلثَّلَّاجَةِ؟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 ← أُرِيدُ فُرْنًا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a colour for the oven (masculine).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وَالفُرْنُ؟</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نَسْتَعْمِلُهُ لِتَسْخِينِ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use it for.</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تَسْتَعْمِلُونَ المِيكْرُوويفَ؟</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نُشَغِّلُهَا كُلَّ … / مَرَّةً فِي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frequency.</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مَرَّةً تُشَغِّلُونَ غَسَّالَةَ الصُّحُونِ؟</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أُحِبُّ … لِأَنَّهُ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colour and a reason.</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لَوْنُكَ المُفَضَّلُ لِلْجُدْرَانِ؟ وَلِمَاذَا؟</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customer · Partner A = the shop assistant.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dream kitchen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مَطْبَخُ أَحْلَامِي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your dream kitchen: the colour of the walls, three appliances with colours, what you use two of them for, and who does what at home and how often.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الجُدْرَانُ … · الثَّلَّاجَةُ … · الفُرْنُ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use and frequency: ‏</a:t>
            </a:r>
            <a:pPr algn="l" indent="0" marL="0">
              <a:buNone/>
            </a:pPr>
            <a:r>
              <a:rPr lang="ar-SA" altLang="en-US" sz="1500" dirty="0">
                <a:solidFill>
                  <a:srgbClr val="1F2A37"/>
                </a:solidFill>
                <a:latin typeface="Amiri" pitchFamily="2" charset="-78"/>
                <a:ea typeface="Amiri" pitchFamily="2" charset="-78"/>
                <a:cs typeface="Amiri" pitchFamily="2" charset="-78"/>
              </a:rPr>
              <a:t>نَسْتَعْمِلُهُ لِلطَّبْخِ</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كُلَّ يَوْمٍ</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أَحْيَانًا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shade (‏</a:t>
            </a:r>
            <a:pPr algn="l" indent="0" marL="0">
              <a:buNone/>
            </a:pPr>
            <a:r>
              <a:rPr lang="ar-SA" altLang="en-US" sz="1500" dirty="0">
                <a:solidFill>
                  <a:srgbClr val="1F2A37"/>
                </a:solidFill>
                <a:latin typeface="Amiri" pitchFamily="2" charset="-78"/>
                <a:ea typeface="Amiri" pitchFamily="2" charset="-78"/>
                <a:cs typeface="Amiri" pitchFamily="2" charset="-78"/>
              </a:rPr>
              <a:t>فَاتِحٌ / غَامِقٌ</a:t>
            </a:r>
            <a:pPr algn="l" indent="0" marL="0">
              <a:buNone/>
            </a:pPr>
            <a:r>
              <a:rPr lang="en-US" sz="1150" dirty="0">
                <a:solidFill>
                  <a:srgbClr val="1F2A37"/>
                </a:solidFill>
                <a:latin typeface="Calibri" pitchFamily="34" charset="0"/>
                <a:cs typeface="Amiri" pitchFamily="2" charset="-78"/>
              </a:rPr>
              <a:t>‏) and your opinion of housework with a reason.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الجُدْرَانُ صَفْرَاءُ / زَرْقَاءُ</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walls are yellow / blue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ثَلَّاجَةٌ بَيْضَاءُ · فُرْنٌ أَسْوَدُ</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white fridge · a black oven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نَسْتَعْمِلُهُ لِلطَّبْخِ</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use it for cooking</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كُلَّ يَوْمٍ · أَحْيَانًا · مَرَّةً فِي الأُسْبُوعِ</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every day · sometimes · once a week</a:t>
            </a:r>
            <a:endParaRPr lang="en-US" sz="9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car is red.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السَّيَّارَةُ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السَّيَّارَةَ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حَمْرَاءُ</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أَحْمَرُ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algn="l" indent="0" marL="0">
              <a:buNone/>
            </a:pPr>
            <a:r>
              <a:rPr lang="en-US" sz="1800" dirty="0">
                <a:solidFill>
                  <a:srgbClr val="1F2A37"/>
                </a:solidFill>
                <a:latin typeface="Calibri" pitchFamily="34" charset="0"/>
                <a:cs typeface="Amiri" pitchFamily="2" charset="-78"/>
              </a:rPr>
              <a:t>.</a:t>
            </a:r>
            <a:endParaRPr lang="en-US"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جِدًّا.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switch on the kettle every morning.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أُشَغِّلُ</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تُشَغِّلُ</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الغَلَّايَةَ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الغَلَّايَةُ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صَبَاحٍ.</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أَمْسِ.</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have a brown bag.</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عِنْدَهُ</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حَقِيبَةٌ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حَقِيبَةً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بُنِّيَّةٌ.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بُنِّيٌّ.</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car is red.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feminine noun → </a:t>
            </a:r>
            <a:pPr algn="l" indent="0" marL="0">
              <a:buNone/>
            </a:pPr>
            <a:r>
              <a:rPr lang="ar-SA" altLang="en-US" sz="1350" dirty="0">
                <a:solidFill>
                  <a:srgbClr val="5A6472"/>
                </a:solidFill>
                <a:latin typeface="Amiri" pitchFamily="2" charset="-78"/>
                <a:ea typeface="Amiri" pitchFamily="2" charset="-78"/>
                <a:cs typeface="Amiri" pitchFamily="2" charset="-78"/>
              </a:rPr>
              <a:t>حَمْرَاءُ</a:t>
            </a:r>
            <a:pPr algn="l" indent="0" marL="0">
              <a:buNone/>
            </a:pPr>
            <a:r>
              <a:rPr lang="en-US" sz="1050" i="1" dirty="0">
                <a:solidFill>
                  <a:srgbClr val="5A6472"/>
                </a:solidFill>
                <a:latin typeface="Calibri" pitchFamily="34" charset="0"/>
                <a:cs typeface="Amiri" pitchFamily="2" charset="-78"/>
              </a:rPr>
              <a:t> (afʿalu → faʿlāʾu).</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السَّيَّارَةُ حَمْرَاءُ .</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switch on the kettle every morning.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 u- (</a:t>
            </a:r>
            <a:pPr algn="l" indent="0" marL="0">
              <a:buNone/>
            </a:pPr>
            <a:r>
              <a:rPr lang="ar-SA" altLang="en-US" sz="1350" dirty="0">
                <a:solidFill>
                  <a:srgbClr val="5A6472"/>
                </a:solidFill>
                <a:latin typeface="Amiri" pitchFamily="2" charset="-78"/>
                <a:ea typeface="Amiri" pitchFamily="2" charset="-78"/>
                <a:cs typeface="Amiri" pitchFamily="2" charset="-78"/>
              </a:rPr>
              <a:t>أُشَغِّلُ</a:t>
            </a:r>
            <a:pPr algn="l" indent="0" marL="0">
              <a:buNone/>
            </a:pPr>
            <a:r>
              <a:rPr lang="en-US" sz="1050" i="1" dirty="0">
                <a:solidFill>
                  <a:srgbClr val="5A6472"/>
                </a:solidFill>
                <a:latin typeface="Calibri" pitchFamily="34" charset="0"/>
                <a:cs typeface="Amiri" pitchFamily="2" charset="-78"/>
              </a:rPr>
              <a:t>); the object takes -a; a habit → </a:t>
            </a:r>
            <a:pPr algn="l" indent="0" marL="0">
              <a:buNone/>
            </a:pPr>
            <a:r>
              <a:rPr lang="ar-SA" altLang="en-US" sz="1350" dirty="0">
                <a:solidFill>
                  <a:srgbClr val="5A6472"/>
                </a:solidFill>
                <a:latin typeface="Amiri" pitchFamily="2" charset="-78"/>
                <a:ea typeface="Amiri" pitchFamily="2" charset="-78"/>
                <a:cs typeface="Amiri" pitchFamily="2" charset="-78"/>
              </a:rPr>
              <a:t>كُلَّ صَبَاحٍ</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أُشَغِّلُ الغَلَّايَةَ كُلَّ صَبَاحٍ.</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have a brown bag.</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-iyy colours add </a:t>
            </a:r>
            <a:pPr algn="l" indent="0" marL="0">
              <a:buNone/>
            </a:pPr>
            <a:r>
              <a:rPr lang="ar-SA" altLang="en-US" sz="1350" dirty="0">
                <a:solidFill>
                  <a:srgbClr val="5A6472"/>
                </a:solidFill>
                <a:latin typeface="Amiri" pitchFamily="2" charset="-78"/>
                <a:ea typeface="Amiri" pitchFamily="2" charset="-78"/>
                <a:cs typeface="Amiri" pitchFamily="2" charset="-78"/>
              </a:rPr>
              <a:t>ة</a:t>
            </a:r>
            <a:pPr algn="l" indent="0" marL="0">
              <a:buNone/>
            </a:pPr>
            <a:r>
              <a:rPr lang="en-US" sz="1050" i="1" dirty="0">
                <a:solidFill>
                  <a:srgbClr val="5A6472"/>
                </a:solidFill>
                <a:latin typeface="Calibri" pitchFamily="34" charset="0"/>
                <a:cs typeface="Amiri" pitchFamily="2" charset="-78"/>
              </a:rPr>
              <a:t> for feminine: </a:t>
            </a:r>
            <a:pPr algn="l" indent="0" marL="0">
              <a:buNone/>
            </a:pPr>
            <a:r>
              <a:rPr lang="ar-SA" altLang="en-US" sz="1350" dirty="0">
                <a:solidFill>
                  <a:srgbClr val="5A6472"/>
                </a:solidFill>
                <a:latin typeface="Amiri" pitchFamily="2" charset="-78"/>
                <a:ea typeface="Amiri" pitchFamily="2" charset="-78"/>
                <a:cs typeface="Amiri" pitchFamily="2" charset="-78"/>
              </a:rPr>
              <a:t>بُنِّيَّةٌ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عِنْدِي حَقِيبَةٌ بُنِّيَّةٌ.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الوَرْدَةُ أَصْفَرُ.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الوَرْدَةُ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يَسْتَعْمِلُ الفُرْنَ.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My mother = she.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السَّجَّادَةُ رَمَادِيٌّ.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-iyy colour with a feminine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الوَرْدَةُ أَصْفَرُ.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الوَرْدَةُ صَفْرَاءُ.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أَصْفَرُ</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صَفْرَاءُ</a:t>
            </a:r>
            <a:pPr algn="l" indent="0" marL="0">
              <a:buNone/>
            </a:pPr>
            <a:r>
              <a:rPr lang="en-US" sz="1150" b="1" dirty="0">
                <a:solidFill>
                  <a:srgbClr val="1B3B6F"/>
                </a:solidFill>
                <a:latin typeface="Calibri" pitchFamily="34" charset="0"/>
                <a:cs typeface="Amiri" pitchFamily="2" charset="-78"/>
              </a:rPr>
              <a:t>‏ for a feminine noun.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يَسْتَعْمِلُ الفُرْنَ.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تَسْتَعْمِلُ الفُرْنَ.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 ta-: ‏</a:t>
            </a:r>
            <a:pPr algn="l" indent="0" marL="0">
              <a:buNone/>
            </a:pPr>
            <a:r>
              <a:rPr lang="ar-SA" altLang="en-US" sz="1500" b="1" dirty="0">
                <a:solidFill>
                  <a:srgbClr val="1B3B6F"/>
                </a:solidFill>
                <a:latin typeface="Amiri" pitchFamily="2" charset="-78"/>
                <a:ea typeface="Amiri" pitchFamily="2" charset="-78"/>
                <a:cs typeface="Amiri" pitchFamily="2" charset="-78"/>
              </a:rPr>
              <a:t>تَسْتَعْمِلُ</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السَّجَّادَةُ رَمَادِيٌّ.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السَّجَّادَةُ رَمَادِيَّةٌ.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-iyyun → -iyyatun.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وَتُوجَدُ غَلَّايَةٌ ______ أَيْضًا.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there is a … kettle too.</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فِي رَأْيِي العَمَلُ فِي البَيْتِ ______ لِأَنَّ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housework is … because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مَطْبَخِنَا الجُدْرَانُ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our kitchen the walls are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يُوجَدُ فُرْنٌ ______ ، وَتُوجَدُ ثَلَّاجَةٌ ______ .</a:t>
            </a:r>
            <a:endParaRPr lang="ar-SA" sz="17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 oven and a … fridge.</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نَسْتَعْمِلُ الثَّلَّاجَةَ لِحِفْظِ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use the fridge to keep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 / أَبِي ______ كُلَّ يَوْمٍ.</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 father … every day.</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أُشَغِّلُ ______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switch on … (how often).</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أَبْيَضُ · بَيْضَاءُ  ·  أَسْوَدُ · سَوْدَاءُ  ·  أَحْمَرُ · حَمْرَاءُ  ·  رَمَادِيٌّ · رَمَادِيَّةٌ  ·  فَاتِحٌ · غَامِقٌ  ·  لِلطَّبْخِ · لِحِفْظِ الطَّعَامِ  ·  أُشَغِّلُ · أُطْفِئُ  ·  كُلَّ يَوْمٍ · أَحْيَانًا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kitchen and who does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مَطْبَخُنَا وَأَعْمَالُ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 description (about 45–65 words) of your kitchen (real or dream) for a home magazine. Include: • the colour of the walls • four appliances or items, each with a colour that agrees • what two appliances are for • who uses them and how often • your opinion of housework, with a reason.</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F3-L05 AND F3-L06.</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الجُدْرَانُ … فَاتِحَةٌ / غَامِقَةٌ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walls are light / dark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يُوجَدُ فُرْنٌ أَسْوَدُ · تُوجَدُ ثَلَّاجَةٌ بَيْضَاءُ</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a black oven · a white fridge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نَسْتَعْمِلُ الثَّلَّاجَةَ لِحِفْظِ الطَّعَامِ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use the fridge to keep food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العَمَلُ فِي البَيْتِ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opinion housework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make every colour agree with its noun?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how often (‏</a:t>
            </a:r>
            <a:pPr algn="l" indent="0" marL="0">
              <a:buNone/>
            </a:pPr>
            <a:r>
              <a:rPr lang="ar-SA" altLang="en-US" sz="1450" dirty="0">
                <a:solidFill>
                  <a:srgbClr val="5A6472"/>
                </a:solidFill>
                <a:latin typeface="Amiri" pitchFamily="2" charset="-78"/>
                <a:ea typeface="Amiri" pitchFamily="2" charset="-78"/>
                <a:cs typeface="Amiri" pitchFamily="2" charset="-78"/>
              </a:rPr>
              <a:t>كُلَّ</a:t>
            </a:r>
            <a:pPr algn="l" indent="0" marL="0">
              <a:buNone/>
            </a:pPr>
            <a:r>
              <a:rPr lang="en-US" sz="1100" dirty="0">
                <a:solidFill>
                  <a:srgbClr val="5A6472"/>
                </a:solidFill>
                <a:latin typeface="Calibri" pitchFamily="34" charset="0"/>
                <a:cs typeface="Amiri" pitchFamily="2" charset="-78"/>
              </a:rPr>
              <a:t> … · </a:t>
            </a:r>
            <a:pPr algn="l" indent="0" marL="0">
              <a:buNone/>
            </a:pPr>
            <a:r>
              <a:rPr lang="ar-SA" altLang="en-US" sz="1450" dirty="0">
                <a:solidFill>
                  <a:srgbClr val="5A6472"/>
                </a:solidFill>
                <a:latin typeface="Amiri" pitchFamily="2" charset="-78"/>
                <a:ea typeface="Amiri" pitchFamily="2" charset="-78"/>
                <a:cs typeface="Amiri" pitchFamily="2" charset="-78"/>
              </a:rPr>
              <a:t>مَرَّةً فِي الأُسْبُوعِ</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ثَلَّاجَةً بَيْضَاءَ، مِنْ فَضْلِكَ.</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would like a white fridge, please.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أَيَّ لَوْنٍ تُرِيدُ لِلثَّلَّاجَةِ؟</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فُرْنًا أَسْوَدَ.</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would like a black oven.</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وَالفُرْنُ؟</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نَسْتَعْمِلُهُ لِتَسْخِينِ الطَّعَامِ.</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use it to heat up food.</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تَسْتَعْمِلُونَ المِيكْرُوويفَ؟</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نُشَغِّلُهَا كُلَّ يَوْمٍ فِي المَسَاءِ.</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switch it on every day in the evening.</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مَرَّةً تُشَغِّلُونَ غَسَّالَةَ الصُّحُونِ؟</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الأَخْضَرَ الفَاتِحَ لِأَنَّهُ هَادِئٌ.</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like light green because it is calm.</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لَوْنُكَ المُفَضَّلُ لِلْجُدْرَانِ؟ وَلِمَاذَا؟</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مَطْبَخِنَا الجُدْرَانُ صَفْرَاءُ فَاتِحَةٌ. يُوجَدُ فُرْنٌ أَسْوَدُ، وَتُوجَدُ ثَلَّاجَةٌ بَيْضَاءُ وَغَسَّالَةُ صُحُونٍ رَمَادِيَّةٌ. نَسْتَعْمِلُ الثَّلَّاجَةَ لِحِفْظِ الطَّعَامِ، وَنَسْتَعْمِلُ الفُرْنَ لِلطَّبْخِ. أُمِّي تَطْبُخُ كُلَّ يَوْمٍ، وَأَبِي يُشَغِّلُ غَسَّالَةَ الصُّحُونِ فِي المَسَاءِ. أَنَا أُشَغِّلُ الغَلَّايَةَ فِي الصَّبَاحِ. فِي رَأْيِي العَمَلُ فِي البَيْتِ مُهِمٌّ لِأَنَّنَا عَائِلَةٌ وَاحِدَةٌ.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our kitchen the walls are light yellow. There is a black oven, and there is a white fridge and a grey dishwasher. We use the fridge to keep food, and we use the oven for cooking. My mother cooks every day, and my father switches on the dishwasher in the evening. I switch on the kettle in the morning. In my opinion housework is important because we are one family.”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صَفْرَاءُ فَاتِحَةٌ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ثَلَّاجَةٌ بَيْضَاءُ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لِحِفْظِ الطَّعَامِ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كُلَّ يَوْمٍ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F3-L05 and F3-L06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F3-W03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F3-L07 · My Neighbourhood — Places Near My Home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حَيِّي — الأَمَاكِنُ القَرِيبَةُ مِنْ بَيْتِي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F3-W03 · Apply Workshop — Our New Kitchen</dc:title>
  <dc:subject>PptxGenJS Presentation</dc:subject>
  <dc:creator>Al Madina Online School · Arabic Department</dc:creator>
  <cp:lastModifiedBy>Al Madina Online School · Arabic Department</cp:lastModifiedBy>
  <cp:revision>1</cp:revision>
  <dcterms:created xsi:type="dcterms:W3CDTF">2026-10-26T15:47:29Z</dcterms:created>
  <dcterms:modified xsi:type="dcterms:W3CDTF">2026-10-26T15:47:29Z</dcterms:modified>
</cp:coreProperties>
</file>