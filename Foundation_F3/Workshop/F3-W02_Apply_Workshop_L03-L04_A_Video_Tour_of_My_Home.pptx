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F3-L03 · Learn F3-L04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F3-L03 (My Home — Rooms and Parts of the House) and F3-L04 (Furniture and Household Items).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F3-L03 and F3-L04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F3-L03? After F3-L04?” Take two answers in the chat for each lesson (one word or one sentence is enough). Then read objective 3 — today’s new situation that needs BOTH lessons. Students tick their route goals at the end of the lesson.
F3-L03 language: room names as iḍāfa (ghurfatu al-nawm · ghurfatu al-julūs); fī baytī …; hunāka; ʿindanā; numbers + rooms; fawqa / taḥta (upstairs / downstairs)
F3-L04 language: yūjadu (m.) / tūjadu (f.) + item; fī + room; positions (ʿalā · taḥta · bi-jānibi · amāma); useful plurals (karāsī · ṭāwilāt)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F3-L03 and F3-L04. Teacher reads it once with a confident student; then pairs. Ask: “Which lines are from F3-L03? Which from F3-L04?” Rooms and floors (غُرْفَةُ الجُلُوسِ · الطَّابِقُ الأَرْضِيُّ) come from F3-L03; يُوجَدُ / تُوجَدُ + furniture and positions from F3-L04.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house or flat, rooms and floors (F3-L03) with furniture, يُوجَدُ / تُوجَدُ and positions (F3-L04). SUPPORTED: the plan column gives the first words, not the full answer. To a girl Partner A says: هَلْ تَسْكُنِينَ فِي بَيْتٍ أَمْ فِي شَقَّةٍ؟ · مَا غُرْفَتُكِ المُفَضَّلَةُ؟.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F3-L03 and F3-L04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F3-L03 and F3-L04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(44 words). CHECK YOURSELF (2 min). Find each bullet point in the model, and one phrase from F3-L03 and one from F3-L04.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F3-L03 + F3-L04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Video Tour of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جَوْلَةٌ فِي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rooms and furniture: they give a pen-friend a video tour of their home, say what is on each floor, what is in each room and where things are, give a short talk and write a home-tour script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F3-L03 + F3-L04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F3-L03 and F3-L04.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F3-L03 + F3-L04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F3-L03: My Home — Rooms and Parts of the House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F3-L04: Furniture and Household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home tour · My home-tour script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F3-L03 and F3-L04.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F3-L03 · My Home — Rooms and Parts of the House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نَافِذَةٌ / شَبَّاكٌ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نَوَافِذُ / شَبَابِيكُ</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مَدَاخِلُ</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سَقْفٌ · سَطْحٌ</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9" name="Text 5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ea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ea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60" name="Shape 5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4389120"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3" name="Shape 60"/>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65" name="Shape 6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68" name="Text 6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69" name="Shape 6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النَّوْمِ</a:t>
            </a:r>
            <a:endParaRPr lang="ar-SA" sz="1500" dirty="0"/>
          </a:p>
        </p:txBody>
      </p:sp>
      <p:sp>
        <p:nvSpPr>
          <p:cNvPr id="72" name="Shape 6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4" name="Text 7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غُرْفَةُ نَوْمِي</a:t>
            </a:r>
            <a:endParaRPr lang="ar-SA" sz="15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الحَمَّامُ</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حَمَّامَاتٌ</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F3-L04 · Furniture and Household Items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سَجَّادَةٌ</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سَجَّادَاتٌ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رُفُوفٌ</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0" name="Text 67"/>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3" name="Text 8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7" name="Shape 8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غُرْفَةِ … يُوجَدُ … وَتُوجَدُ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عِنْدَنَا … وَهُنَاكَ … أَيْضًا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 كَبِيرَةٌ / صَغِيرَةٌ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F3-L03 · My Home — Rooms and Parts of the House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F3-L04 · Furniture and Household Items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F3-L03 · My Home — Rooms and Parts of the House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عِنْدَنَا … وَهُنَاكَ … أَيْضًا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F3-L04 · Furniture and Household Items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غُرْفَةِ … يُوجَدُ … وَتُوجَدُ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 كَبِيرَةٌ / صَغِيرَةٌ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a video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مُكَالَمَةِ 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now?</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أَنْتَ الآنَ؟</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in the living room. It is on the ground floor.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فِي غُرْفَةِ الجُلُوسِ. هِيَ فِي الطَّابِقِ الأَرْضِيِّ.</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the room?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يُوجَدُ فِي الغُرْفَةِ؟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 big television, and there is a beautiful rug.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يُوجَدُ تِلْفَازٌ كَبِيرٌ، وَتُوجَدُ سَجَّادَةٌ جَمِيلَةٌ.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where is your bedroom?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وَأَيْنَ غُرْفَةُ نَوْمِكَ؟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first floor. In it there is a bed, and next to the bed there is a lamp.</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الطَّابِقِ الأَوَّلِ. فِيهَا سَرِيرٌ، وَبِجَانِبِ السَّرِيرِ مِصْبَاحٌ.</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مَدِينَةِ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أَسْكُنُ فِي بَيْتٍ / شَقَّةٍ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live?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 تُوجَدُ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bedroom?</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غُرْفَةِ نَوْمِكَ؟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وَغُرْفَتِي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بَيْتِي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bedrooms are in your home?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غُرْفَةَ نَوْمٍ فِي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المِصْبَاحُ عَلَى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lamp?</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المِصْبَاحُ؟</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الطَّابِقِ الأَوَّلِ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الطَّابِقِ الأَرْضِيِّ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on the ground floor?</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الطَّابِقِ الأَرْضِيِّ؟</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حَوْلَ الطَّاوِلَةِ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المَطْبَخِ … كَرَاسٍ</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chairs are in the kitchen?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كُرْسِيًّا فِي المَطْبَخِ؟</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F3-L03, even numbers from F3-L04.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home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جَوْلَةٌ فِي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أَسْكُنُ فِي …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house or flat, and where.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تَسْكُنُ فِي بَيْتٍ أَمْ فِي شَقَّةٍ؟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فِي الطَّابِقِ الأَرْضِيِّ … وَ…</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or three rooms.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الطَّابِقِ الأَرْضِيِّ؟</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items with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المَطْبَخِ؟</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المِرْآةُ عَلَى / بِجَانِبِ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it is.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المِرْآةُ؟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غُرْفَتِي المُفَضَّلَةُ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favourite room and give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غُرْفَتُكَ المُفَضَّلَةُ؟ وَلِمَاذَا؟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host · Partner A = a visiting pen-friend.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by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غُرْفَةً 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walking through your home with a camera: start at the door, name the rooms on each floor, say two things in one room and where they are, and finish in your favourite room.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المَطْبَخُ · فِيهِ … · هٰذِهِ غُرْفَةُ النَّوْمِ · فِيهَا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t>
            </a:r>
            <a:pPr algn="l" indent="0" marL="0">
              <a:buNone/>
            </a:pPr>
            <a:r>
              <a:rPr lang="ar-SA" altLang="en-US" sz="1500" dirty="0">
                <a:solidFill>
                  <a:srgbClr val="1F2A37"/>
                </a:solidFill>
                <a:latin typeface="Amiri" pitchFamily="2" charset="-78"/>
                <a:ea typeface="Amiri" pitchFamily="2" charset="-78"/>
                <a:cs typeface="Amiri" pitchFamily="2" charset="-78"/>
              </a:rPr>
              <a:t>يُوجَدُ / تُوجَدُ</a:t>
            </a:r>
            <a:pPr algn="l" indent="0" marL="0">
              <a:buNone/>
            </a:pPr>
            <a:r>
              <a:rPr lang="en-US" sz="1150" dirty="0">
                <a:solidFill>
                  <a:srgbClr val="1F2A37"/>
                </a:solidFill>
                <a:latin typeface="Calibri" pitchFamily="34" charset="0"/>
                <a:cs typeface="Amiri" pitchFamily="2" charset="-78"/>
              </a:rPr>
              <a:t> and one position: </a:t>
            </a:r>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تَحْتَ</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أَمَامَ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floors (</a:t>
            </a:r>
            <a:pPr algn="l" indent="0" marL="0">
              <a:buNone/>
            </a:pPr>
            <a:r>
              <a:rPr lang="ar-SA" altLang="en-US" sz="1500" dirty="0">
                <a:solidFill>
                  <a:srgbClr val="1F2A37"/>
                </a:solidFill>
                <a:latin typeface="Amiri" pitchFamily="2" charset="-78"/>
                <a:ea typeface="Amiri" pitchFamily="2" charset="-78"/>
                <a:cs typeface="Amiri" pitchFamily="2" charset="-78"/>
              </a:rPr>
              <a:t>فِي الطَّابِقِ الأَوَّلِ</a:t>
            </a:r>
            <a:pPr algn="l" indent="0" marL="0">
              <a:buNone/>
            </a:pPr>
            <a:r>
              <a:rPr lang="en-US" sz="1150" dirty="0">
                <a:solidFill>
                  <a:srgbClr val="1F2A37"/>
                </a:solidFill>
                <a:latin typeface="Calibri" pitchFamily="34" charset="0"/>
                <a:cs typeface="Amiri" pitchFamily="2" charset="-78"/>
              </a:rPr>
              <a:t> …) and a reason for your favourite room.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الطَّابِقِ الأَرْضِيِّ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the ground floor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 تُوجَدُ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عَلَى · تَحْتَ · بِجَانِبِ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on · under · next to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غُرْفَتِي المُفَضَّلَةُ … لِأَنَّهَا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favourite room … because it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my house there is a big kitchen.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بَيْتِي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بَيْتِي فِي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مَطْبَخٌ</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المَطْبَخُ</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table in the kitchen.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طَاوِلَةٌ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طَاوِلَةً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المَطْبَخِ.</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المَطْبَخُ.</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bedroom is next to the bathroom.</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غُرْفَةُ نَوْمِي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غُرْفَةٌ نَوْمِي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الحَمَّامِ.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الحَمَّامُ.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my house there is a big kitchen.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place + indefinite noun; </a:t>
            </a:r>
            <a:pPr algn="l" indent="0" marL="0">
              <a:buNone/>
            </a:pPr>
            <a:r>
              <a:rPr lang="ar-SA" altLang="en-US" sz="1350" dirty="0">
                <a:solidFill>
                  <a:srgbClr val="5A6472"/>
                </a:solidFill>
                <a:latin typeface="Amiri" pitchFamily="2" charset="-78"/>
                <a:ea typeface="Amiri" pitchFamily="2" charset="-78"/>
                <a:cs typeface="Amiri" pitchFamily="2" charset="-78"/>
              </a:rPr>
              <a:t>مَطْبَخٌ</a:t>
            </a:r>
            <a:pPr algn="l" indent="0" marL="0">
              <a:buNone/>
            </a:pPr>
            <a:r>
              <a:rPr lang="en-US" sz="1050" i="1" dirty="0">
                <a:solidFill>
                  <a:srgbClr val="5A6472"/>
                </a:solidFill>
                <a:latin typeface="Calibri" pitchFamily="34" charset="0"/>
                <a:cs typeface="Amiri" pitchFamily="2" charset="-78"/>
              </a:rPr>
              <a:t> is masculine.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بَيْتِي مَطْبَخٌ كَبِيرٌ.</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table in the kitchen.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طَاوِلَةٌ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تُوجَدُ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طَاوِلَةٌ فِي المَطْبَخِ.</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bedroom is next to the bathroom.</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bedroom = </a:t>
            </a:r>
            <a:pPr algn="l" indent="0" marL="0">
              <a:buNone/>
            </a:pPr>
            <a:r>
              <a:rPr lang="ar-SA" altLang="en-US" sz="1350" dirty="0">
                <a:solidFill>
                  <a:srgbClr val="5A6472"/>
                </a:solidFill>
                <a:latin typeface="Amiri" pitchFamily="2" charset="-78"/>
                <a:ea typeface="Amiri" pitchFamily="2" charset="-78"/>
                <a:cs typeface="Amiri" pitchFamily="2" charset="-78"/>
              </a:rPr>
              <a:t>غُرْفَةُ نَوْمِي</a:t>
            </a:r>
            <a:pPr algn="l" indent="0" marL="0">
              <a:buNone/>
            </a:pPr>
            <a:r>
              <a:rPr lang="en-US" sz="1050" i="1" dirty="0">
                <a:solidFill>
                  <a:srgbClr val="5A6472"/>
                </a:solidFill>
                <a:latin typeface="Calibri" pitchFamily="34" charset="0"/>
                <a:cs typeface="Amiri" pitchFamily="2" charset="-78"/>
              </a:rPr>
              <a:t> (iḍāfa); </a:t>
            </a:r>
            <a:pPr algn="l" indent="0" marL="0">
              <a:buNone/>
            </a:pPr>
            <a:r>
              <a:rPr lang="ar-SA" altLang="en-US" sz="1350" dirty="0">
                <a:solidFill>
                  <a:srgbClr val="5A6472"/>
                </a:solidFill>
                <a:latin typeface="Amiri" pitchFamily="2" charset="-78"/>
                <a:ea typeface="Amiri" pitchFamily="2" charset="-78"/>
                <a:cs typeface="Amiri" pitchFamily="2" charset="-78"/>
              </a:rPr>
              <a:t>بِجَانِبِ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غُرْفَةُ نَوْمِي بِجَانِبِ الحَمَّامِ.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بَيْتِي غُرْفَةُ الجُلُوسِ كَبِيرٌ.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غُرْفَةٌ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ثَلَّاجَةٌ فِي المَطْبَخِ.</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ثَلَّاجَةٌ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عِنْدَنَا ثَلَاثُ غُرْفَةٍ.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بَيْتِي غُرْفَةُ الجُلُوسِ كَبِيرٌ.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بَيْتِي غُرْفَةُ جُلُوسٍ كَبِيرَةٌ.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room is feminine → </a:t>
            </a:r>
            <a:pPr algn="l" indent="0" marL="0">
              <a:buNone/>
            </a:pPr>
            <a:r>
              <a:rPr lang="ar-SA" altLang="en-US" sz="1500" b="1" dirty="0">
                <a:solidFill>
                  <a:srgbClr val="1B3B6F"/>
                </a:solidFill>
                <a:latin typeface="Amiri" pitchFamily="2" charset="-78"/>
                <a:ea typeface="Amiri" pitchFamily="2" charset="-78"/>
                <a:cs typeface="Amiri" pitchFamily="2" charset="-78"/>
              </a:rPr>
              <a:t>كَبِيرَةٌ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ثَلَّاجَةٌ فِي المَطْبَخِ.</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ثَلَّاجَةٌ فِي المَطْبَخِ.</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عِنْدَنَا ثَلَاثُ غُرْفَةٍ.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عِنْدَنَا ثَلَاثُ غُرَفٍ.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3–10 use the plural: </a:t>
            </a:r>
            <a:pPr algn="l" indent="0" marL="0">
              <a:buNone/>
            </a:pPr>
            <a:r>
              <a:rPr lang="ar-SA" altLang="en-US" sz="1500" b="1" dirty="0">
                <a:solidFill>
                  <a:srgbClr val="1B3B6F"/>
                </a:solidFill>
                <a:latin typeface="Amiri" pitchFamily="2" charset="-78"/>
                <a:ea typeface="Amiri" pitchFamily="2" charset="-78"/>
                <a:cs typeface="Amiri" pitchFamily="2" charset="-78"/>
              </a:rPr>
              <a:t>غُرَفٍ</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الطَّابِقِ الأَوَّلِ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on the first floor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المُفَضَّلَةُ ______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room is … because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عِنْدَنَا ______ أَيْضًا.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also have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فِي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in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______ 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are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المَطْبَخِ يُوجَدُ ______ وَتُوجَدُ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kitchen there is … and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غُرْفَةِ نَوْمِي يُوجَدُ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bedroom there is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غُرْفَةُ النَّوْمِ  ·  غُرْفَةُ الجُلُوسِ  ·  المَطْبَخُ · الحَمَّامُ  ·  يُوجَدُ · تُوجَدُ  ·  سَرِيرٌ · طَاوِلَةٌ  ·  مِصْبَاحٌ · مِرْآةٌ  ·  عَلَى · تَحْتَ · بِجَانِبِ  ·  لِأَنَّهَا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home-tour script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الجَوْلَةِ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the script for a short video tour of your home (about 45–65 words). Include: • house or flat, and where • the rooms on each floor • four items in two rooms with </a:t>
            </a:r>
            <a:pPr algn="l" indent="0" marL="0">
              <a:buNone/>
            </a:pPr>
            <a:r>
              <a:rPr lang="ar-SA" altLang="en-US" sz="1750" b="1" dirty="0">
                <a:solidFill>
                  <a:srgbClr val="1F2A37"/>
                </a:solidFill>
                <a:latin typeface="Amiri" pitchFamily="2" charset="-78"/>
                <a:ea typeface="Amiri" pitchFamily="2" charset="-78"/>
                <a:cs typeface="Amiri" pitchFamily="2" charset="-78"/>
              </a:rPr>
              <a:t>يُوجَدُ / تُوجَدُ</a:t>
            </a:r>
            <a:pPr algn="l" indent="0" marL="0">
              <a:buNone/>
            </a:pPr>
            <a:r>
              <a:rPr lang="en-US" sz="1350" b="1" dirty="0">
                <a:solidFill>
                  <a:srgbClr val="1F2A37"/>
                </a:solidFill>
                <a:latin typeface="Calibri" pitchFamily="34" charset="0"/>
                <a:cs typeface="Amiri" pitchFamily="2" charset="-78"/>
              </a:rPr>
              <a:t> • where two items are • your favourite room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F3-L03 AND F3-L04.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in a house / flat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الطَّابِقِ الأَرْضِيِّ … ، وَفِي الطَّابِقِ الأَوَّلِ …</a:t>
            </a:r>
            <a:endParaRPr lang="ar-SA" sz="15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ground floor … and on the first floor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 يُوجَدُ … وَتُوجَدُ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 there is … and there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room is … because 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at least five rooms or parts of the house?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positions with the genitive (</a:t>
            </a:r>
            <a:pPr algn="l" indent="0" marL="0">
              <a:buNone/>
            </a:pPr>
            <a:r>
              <a:rPr lang="ar-SA" altLang="en-US" sz="1450" dirty="0">
                <a:solidFill>
                  <a:srgbClr val="5A6472"/>
                </a:solidFill>
                <a:latin typeface="Amiri" pitchFamily="2" charset="-78"/>
                <a:ea typeface="Amiri" pitchFamily="2" charset="-78"/>
                <a:cs typeface="Amiri" pitchFamily="2" charset="-78"/>
              </a:rPr>
              <a:t>عَلَى الطَّاوِلَةِ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صَغِيرٍ فِي لِيسْتَر.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live in a small house in Leicester.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تَسْكُنُ فِي بَيْتٍ أَمْ فِي شَقَّةٍ؟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المَطْبَخُ وَغُرْفَةُ الجُلُوسِ وَالحَمَّامُ.</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the ground floor there are the kitchen, the living room and the bathroom.</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الطَّابِقِ الأَرْضِيِّ؟</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فُرْنٌ، وَتُوجَدُ ثَلَّاجَةٌ كَبِيرَةٌ وَطَاوِلَةٌ.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an oven, and there is a big fridge and a table.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المَطْبَخِ؟</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المِرْآةُ عَلَى الحَائِطِ، بِجَانِبِ البَابِ.</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mirror is on the wall, next to the door.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المِرْآةُ؟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غُرْفَةُ الجُلُوسِ لِأَنَّهَا وَاسِعَةٌ وَفِيهَا تِلْفَازٌ.</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favourite room is the living room because it is spacious and has a television.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غُرْفَتُكَ المُفَضَّلَةُ؟ وَلِمَاذَا؟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أَسْكُنُ فِي بَيْتٍ فِي لِيسْتَر. فِي الطَّابِقِ الأَرْضِيِّ المَطْبَخُ وَغُرْفَةُ الجُلُوسِ. فِي المَطْبَخِ يُوجَدُ فُرْنٌ، وَتُوجَدُ ثَلَّاجَةٌ وَطَاوِلَةٌ. وَفِي الطَّابِقِ الأَوَّلِ ثَلَاثُ غُرَفِ نَوْمٍ وَحَمَّامٌ. فِي غُرْفَةِ نَوْمِي يُوجَدُ سَرِيرٌ، وَبِجَانِبِ السَّرِيرِ مِصْبَاحٌ. المِرْآةُ عَلَى الحَائِطِ. غُرْفَتِي المُفَضَّلَةُ غُرْفَةُ الجُلُوسِ لِأَنَّهَا وَاسِعَةٌ وَمُرِيحَةٌ.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I live in a house in Leicester. On the ground floor there are the kitchen and the living room. In the kitchen there is an oven, and there is a fridge and a table. And on the first floor there are three bedrooms and a bathroom. In my bedroom there is a bed, and next to the bed there is a lamp. The mirror is on the wall. My favourite room is the living room because it is spacious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الطَّابِقِ الأَرْضِيِّ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وَتُوجَدُ ثَلَّاجَةٌ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بِجَانِبِ السَّرِيرِ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وَاسِعَةٌ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F3-L03 and F3-L04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F3-L05 · Colours — Full System and Agreement</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الأَلْوَانُ — النِّظَامُ الكَامِلُ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F3-W02 · Apply Workshop — A Video Tour of My Home</dc:title>
  <dc:subject>PptxGenJS Presentation</dc:subject>
  <dc:creator>Al Madina Online School · Arabic Department</dc:creator>
  <cp:lastModifiedBy>Al Madina Online School · Arabic Department</cp:lastModifiedBy>
  <cp:revision>1</cp:revision>
  <dcterms:created xsi:type="dcterms:W3CDTF">2026-10-26T14:59:43Z</dcterms:created>
  <dcterms:modified xsi:type="dcterms:W3CDTF">2026-10-26T14:59:43Z</dcterms:modified>
</cp:coreProperties>
</file>