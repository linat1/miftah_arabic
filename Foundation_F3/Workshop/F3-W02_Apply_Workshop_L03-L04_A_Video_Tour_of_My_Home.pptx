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F3-L03 · Learn F3-L04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F3-L03 (My Home — Rooms and Parts of the House) and F3-L04 (Furniture and Household Items).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F3-L03 and F3-L04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F3-L03? After F3-L04?” Take two answers in the chat for each lesson (one word or one sentence is enough). Then read objective 3 — today’s new situation that needs BOTH lessons. Students tick their route goals at the end of the lesson.
F3-L03 language: room names as iḍāfa (ghurfatu al-nawm · ghurfatu al-julūs); fī baytī …; hunāka; ʿindanā; numbers + rooms; fawqa / taḥta (upstairs / downstairs)
F3-L04 language: yūjadu (m.) / tūjadu (f.) + item; fī + room; positions (ʿalā · taḥta · bi-jānibi · amāma); useful plurals (karāsī · ṭāwilāt)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F3-L03.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F3-L04.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F3-L03 and F3-L04. Teacher reads it once with a confident student; then pairs. Ask: “Which lines are from F3-L03? Which from F3-L04?” Rooms and floors (غُرْفَةُ الجُلُوسِ · الطَّابِقُ الأَرْضِيُّ) come from F3-L03; يُوجَدُ / تُوجَدُ + furniture and positions from F3-L04.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house or flat, rooms and floors (F3-L03) with furniture, يُوجَدُ / تُوجَدُ and positions (F3-L04). SUPPORTED: the plan column gives the first words, not the full answer. To a girl Partner A says: هَلْ تَسْكُنِينَ فِي بَيْتٍ أَمْ فِي شَقَّةٍ؟ · مَا غُرْفَتُكِ المُفَضَّلَةُ؟.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F3-L03 and F3-L04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F3-L03 and F3-L04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(44 words). CHECK YOURSELF (2 min). Find each bullet point in the model, and one phrase from F3-L03 and one from F3-L04.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F3-L03 + F3-L04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F3-W02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A Video Tour of My Home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جَوْلَةٌ فِي بَيْتِي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join rooms and furniture: they give a pen-friend a video tour of their home, say what is on each floor, what is in each room and where things are, give a short talk and write a home-tour script that uses both lessons.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F3-L03 + F3-L04</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F3-L03 and F3-L04.</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F3-L03 + F3-L04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F3-L03: My Home — Rooms and Parts of the House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F3-L04: Furniture and Household Items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home tour · My home-tour script</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F3-L03 and F3-L04.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F3-L03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F3-L03 · My Home — Rooms and Parts of the House</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my</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بَيْتٌ</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house / home</a:t>
            </a:r>
            <a:endParaRPr lang="en-US" sz="1350" dirty="0"/>
          </a:p>
          <a:p>
            <a:pPr indent="0" marL="0">
              <a:buNone/>
            </a:pPr>
            <a:r>
              <a:rPr lang="en-US" sz="1100" i="1" dirty="0">
                <a:solidFill>
                  <a:srgbClr val="5A6472"/>
                </a:solidFill>
                <a:latin typeface="Calibri" pitchFamily="34" charset="0"/>
                <a:cs typeface="Amiri" pitchFamily="2" charset="-78"/>
              </a:rPr>
              <a:t>bayt</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بُيُوتٌ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بَيْتِي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نَافِذَةٌ / شَبَّاكٌ</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window</a:t>
            </a:r>
            <a:endParaRPr lang="en-US" sz="1350" dirty="0"/>
          </a:p>
          <a:p>
            <a:pPr indent="0" marL="0">
              <a:buNone/>
            </a:pPr>
            <a:r>
              <a:rPr lang="en-US" sz="1100" i="1" dirty="0">
                <a:solidFill>
                  <a:srgbClr val="5A6472"/>
                </a:solidFill>
                <a:latin typeface="Calibri" pitchFamily="34" charset="0"/>
                <a:cs typeface="Amiri" pitchFamily="2" charset="-78"/>
              </a:rPr>
              <a:t>nā-fi-dha / shub-bāk</a:t>
            </a:r>
            <a:endParaRPr lang="en-US" sz="1350" dirty="0"/>
          </a:p>
        </p:txBody>
      </p:sp>
      <p:sp>
        <p:nvSpPr>
          <p:cNvPr id="39" name="Shape 3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نَوَافِذُ / شَبَابِيكُ</a:t>
            </a:r>
            <a:endParaRPr lang="ar-SA" sz="1500" dirty="0"/>
          </a:p>
        </p:txBody>
      </p:sp>
      <p:sp>
        <p:nvSpPr>
          <p:cNvPr id="42" name="Shape 3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1920240"/>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5" name="Shape 42"/>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مَدْخَلٌ</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entrance / hall</a:t>
            </a:r>
            <a:endParaRPr lang="en-US" sz="1350" dirty="0"/>
          </a:p>
          <a:p>
            <a:pPr indent="0" marL="0">
              <a:buNone/>
            </a:pPr>
            <a:r>
              <a:rPr lang="en-US" sz="1100" i="1" dirty="0">
                <a:solidFill>
                  <a:srgbClr val="5A6472"/>
                </a:solidFill>
                <a:latin typeface="Calibri" pitchFamily="34" charset="0"/>
                <a:cs typeface="Amiri" pitchFamily="2" charset="-78"/>
              </a:rPr>
              <a:t>mad-khal</a:t>
            </a:r>
            <a:endParaRPr lang="en-US" sz="1350" dirty="0"/>
          </a:p>
        </p:txBody>
      </p:sp>
      <p:sp>
        <p:nvSpPr>
          <p:cNvPr id="49" name="Shape 46"/>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1" name="Text 48"/>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مَدَاخِلُ</a:t>
            </a:r>
            <a:endParaRPr lang="ar-SA" sz="150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5" name="Shape 5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7" name="Text 5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سَقْفٌ · سَطْحٌ</a:t>
            </a:r>
            <a:endParaRPr lang="ar-SA" sz="3000" dirty="0"/>
          </a:p>
        </p:txBody>
      </p:sp>
      <p:sp>
        <p:nvSpPr>
          <p:cNvPr id="58" name="Text 5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ceiling · rooftop</a:t>
            </a:r>
            <a:endParaRPr lang="en-US" sz="1350" dirty="0"/>
          </a:p>
          <a:p>
            <a:pPr indent="0" marL="0">
              <a:buNone/>
            </a:pPr>
            <a:r>
              <a:rPr lang="en-US" sz="1100" i="1" dirty="0">
                <a:solidFill>
                  <a:srgbClr val="5A6472"/>
                </a:solidFill>
                <a:latin typeface="Calibri" pitchFamily="34" charset="0"/>
                <a:cs typeface="Amiri" pitchFamily="2" charset="-78"/>
              </a:rPr>
              <a:t>saqf · saṭḥ</a:t>
            </a:r>
            <a:endParaRPr lang="en-US" sz="1350" dirty="0"/>
          </a:p>
        </p:txBody>
      </p:sp>
      <p:sp>
        <p:nvSpPr>
          <p:cNvPr id="59" name="Text 56"/>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900" i="1" dirty="0">
                <a:solidFill>
                  <a:srgbClr val="8A6D1E"/>
                </a:solidFill>
                <a:latin typeface="Calibri" pitchFamily="34" charset="0"/>
                <a:cs typeface="Amiri" pitchFamily="2" charset="-78"/>
              </a:rPr>
              <a:t>Do not confuse (website): </a:t>
            </a:r>
            <a:pPr algn="l" indent="0" marL="0">
              <a:buNone/>
            </a:pPr>
            <a:r>
              <a:rPr lang="ar-SA" altLang="en-US" sz="1150" dirty="0">
                <a:solidFill>
                  <a:srgbClr val="8A6D1E"/>
                </a:solidFill>
                <a:latin typeface="Amiri" pitchFamily="2" charset="-78"/>
                <a:ea typeface="Amiri" pitchFamily="2" charset="-78"/>
                <a:cs typeface="Amiri" pitchFamily="2" charset="-78"/>
              </a:rPr>
              <a:t>سَقْفٌ</a:t>
            </a:r>
            <a:pPr algn="l" indent="0" marL="0">
              <a:buNone/>
            </a:pPr>
            <a:r>
              <a:rPr lang="en-US" sz="900" i="1" dirty="0">
                <a:solidFill>
                  <a:srgbClr val="8A6D1E"/>
                </a:solidFill>
                <a:latin typeface="Calibri" pitchFamily="34" charset="0"/>
                <a:cs typeface="Amiri" pitchFamily="2" charset="-78"/>
              </a:rPr>
              <a:t> = ceiling / roof covering; </a:t>
            </a:r>
            <a:pPr algn="l" indent="0" marL="0">
              <a:buNone/>
            </a:pPr>
            <a:r>
              <a:rPr lang="ar-SA" altLang="en-US" sz="1150" dirty="0">
                <a:solidFill>
                  <a:srgbClr val="8A6D1E"/>
                </a:solidFill>
                <a:latin typeface="Amiri" pitchFamily="2" charset="-78"/>
                <a:ea typeface="Amiri" pitchFamily="2" charset="-78"/>
                <a:cs typeface="Amiri" pitchFamily="2" charset="-78"/>
              </a:rPr>
              <a:t>سَطْحٌ</a:t>
            </a:r>
            <a:pPr algn="l" indent="0" marL="0">
              <a:buNone/>
            </a:pPr>
            <a:r>
              <a:rPr lang="en-US" sz="900" i="1" dirty="0">
                <a:solidFill>
                  <a:srgbClr val="8A6D1E"/>
                </a:solidFill>
                <a:latin typeface="Calibri" pitchFamily="34" charset="0"/>
                <a:cs typeface="Amiri" pitchFamily="2" charset="-78"/>
              </a:rPr>
              <a:t> = flat rooftop.</a:t>
            </a:r>
            <a:endParaRPr lang="en-US" sz="900" dirty="0"/>
          </a:p>
        </p:txBody>
      </p:sp>
      <p:sp>
        <p:nvSpPr>
          <p:cNvPr id="60" name="Shape 5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4389120"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3" name="Shape 60"/>
          <p:cNvSpPr/>
          <p:nvPr/>
        </p:nvSpPr>
        <p:spPr>
          <a:xfrm>
            <a:off x="4782312" y="4279392"/>
            <a:ext cx="1269187"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4782312"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room of sleeping</a:t>
            </a:r>
            <a:endParaRPr lang="en-US" sz="800" dirty="0"/>
          </a:p>
        </p:txBody>
      </p:sp>
      <p:sp>
        <p:nvSpPr>
          <p:cNvPr id="65" name="Shape 6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غُرْفَةُ النَّوْمِ</a:t>
            </a:r>
            <a:endParaRPr lang="ar-SA" sz="3000" dirty="0"/>
          </a:p>
        </p:txBody>
      </p:sp>
      <p:sp>
        <p:nvSpPr>
          <p:cNvPr id="68" name="Text 6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bedroom</a:t>
            </a:r>
            <a:endParaRPr lang="en-US" sz="1350" dirty="0"/>
          </a:p>
          <a:p>
            <a:pPr indent="0" marL="0">
              <a:buNone/>
            </a:pPr>
            <a:r>
              <a:rPr lang="en-US" sz="1100" i="1" dirty="0">
                <a:solidFill>
                  <a:srgbClr val="5A6472"/>
                </a:solidFill>
                <a:latin typeface="Calibri" pitchFamily="34" charset="0"/>
                <a:cs typeface="Amiri" pitchFamily="2" charset="-78"/>
              </a:rPr>
              <a:t>ghur-fa-tu n-nawm</a:t>
            </a:r>
            <a:endParaRPr lang="en-US" sz="1350" dirty="0"/>
          </a:p>
        </p:txBody>
      </p:sp>
      <p:sp>
        <p:nvSpPr>
          <p:cNvPr id="69" name="Shape 66"/>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1" name="Text 68"/>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غُرَفُ النَّوْمِ</a:t>
            </a:r>
            <a:endParaRPr lang="ar-SA" sz="1500" dirty="0"/>
          </a:p>
        </p:txBody>
      </p:sp>
      <p:sp>
        <p:nvSpPr>
          <p:cNvPr id="72" name="Shape 69"/>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74" name="Text 71"/>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غُرْفَةُ نَوْمِي</a:t>
            </a:r>
            <a:endParaRPr lang="ar-SA" sz="150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8" name="Shape 7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الحَمَّامُ</a:t>
            </a:r>
            <a:endParaRPr lang="ar-SA" sz="3000" dirty="0"/>
          </a:p>
        </p:txBody>
      </p:sp>
      <p:sp>
        <p:nvSpPr>
          <p:cNvPr id="83" name="Text 8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bathroom</a:t>
            </a:r>
            <a:endParaRPr lang="en-US" sz="1350" dirty="0"/>
          </a:p>
          <a:p>
            <a:pPr indent="0" marL="0">
              <a:buNone/>
            </a:pPr>
            <a:r>
              <a:rPr lang="en-US" sz="1100" i="1" dirty="0">
                <a:solidFill>
                  <a:srgbClr val="5A6472"/>
                </a:solidFill>
                <a:latin typeface="Calibri" pitchFamily="34" charset="0"/>
                <a:cs typeface="Amiri" pitchFamily="2" charset="-78"/>
              </a:rPr>
              <a:t>al-ḥam-mām</a:t>
            </a:r>
            <a:endParaRPr lang="en-US" sz="1350" dirty="0"/>
          </a:p>
        </p:txBody>
      </p:sp>
      <p:sp>
        <p:nvSpPr>
          <p:cNvPr id="84" name="Shape 81"/>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6" name="Text 83"/>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حَمَّامَاتٌ</a:t>
            </a:r>
            <a:endParaRPr lang="ar-SA" sz="15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F3-L04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F3-L04 · Furniture and Household Items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سَرِيرٌ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bed</a:t>
            </a:r>
            <a:endParaRPr lang="en-US" sz="1350" dirty="0"/>
          </a:p>
          <a:p>
            <a:pPr indent="0" marL="0">
              <a:buNone/>
            </a:pPr>
            <a:r>
              <a:rPr lang="en-US" sz="1100" i="1" dirty="0">
                <a:solidFill>
                  <a:srgbClr val="5A6472"/>
                </a:solidFill>
                <a:latin typeface="Calibri" pitchFamily="34" charset="0"/>
                <a:cs typeface="Amiri" pitchFamily="2" charset="-78"/>
              </a:rPr>
              <a:t>sa-rīr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أَسِرَّةٌ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كُرْسِيٌّ</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chair</a:t>
            </a:r>
            <a:endParaRPr lang="en-US" sz="1350" dirty="0"/>
          </a:p>
          <a:p>
            <a:pPr indent="0" marL="0">
              <a:buNone/>
            </a:pPr>
            <a:r>
              <a:rPr lang="en-US" sz="1100" i="1" dirty="0">
                <a:solidFill>
                  <a:srgbClr val="5A6472"/>
                </a:solidFill>
                <a:latin typeface="Calibri" pitchFamily="34" charset="0"/>
                <a:cs typeface="Amiri" pitchFamily="2" charset="-78"/>
              </a:rPr>
              <a:t>kur-siyy</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كَرَاسِي</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سَجَّادَةٌ</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rug / carpet</a:t>
            </a:r>
            <a:endParaRPr lang="en-US" sz="1350" dirty="0"/>
          </a:p>
          <a:p>
            <a:pPr indent="0" marL="0">
              <a:buNone/>
            </a:pPr>
            <a:r>
              <a:rPr lang="en-US" sz="1100" i="1" dirty="0">
                <a:solidFill>
                  <a:srgbClr val="5A6472"/>
                </a:solidFill>
                <a:latin typeface="Calibri" pitchFamily="34" charset="0"/>
                <a:cs typeface="Amiri" pitchFamily="2" charset="-78"/>
              </a:rPr>
              <a:t>saj-jā-da</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4" name="Text 5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سَجَّادَاتٌ</a:t>
            </a:r>
            <a:endParaRPr lang="ar-SA" sz="150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57" name="Text 54"/>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تُوجَدُ</a:t>
            </a:r>
            <a:endParaRPr lang="ar-SA" sz="135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1" name="Shape 58"/>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رَفٌّ</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shelf</a:t>
            </a:r>
            <a:endParaRPr lang="en-US" sz="1350" dirty="0"/>
          </a:p>
          <a:p>
            <a:pPr indent="0" marL="0">
              <a:buNone/>
            </a:pPr>
            <a:r>
              <a:rPr lang="en-US" sz="1100" i="1" dirty="0">
                <a:solidFill>
                  <a:srgbClr val="5A6472"/>
                </a:solidFill>
                <a:latin typeface="Calibri" pitchFamily="34" charset="0"/>
                <a:cs typeface="Amiri" pitchFamily="2" charset="-78"/>
              </a:rPr>
              <a:t>raff</a:t>
            </a:r>
            <a:endParaRPr lang="en-US" sz="1350" dirty="0"/>
          </a:p>
        </p:txBody>
      </p:sp>
      <p:sp>
        <p:nvSpPr>
          <p:cNvPr id="65" name="Shape 6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7" name="Text 6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رُفُوفٌ</a:t>
            </a:r>
            <a:endParaRPr lang="ar-SA" sz="1500" dirty="0"/>
          </a:p>
        </p:txBody>
      </p:sp>
      <p:sp>
        <p:nvSpPr>
          <p:cNvPr id="68" name="Shape 6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70" name="Text 67"/>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يُوجَدُ</a:t>
            </a:r>
            <a:endParaRPr lang="ar-SA" sz="1350" dirty="0"/>
          </a:p>
        </p:txBody>
      </p:sp>
      <p:sp>
        <p:nvSpPr>
          <p:cNvPr id="71" name="Shape 6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389120"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4" name="Shape 7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76" name="Text 7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ثَلَّاجَةٌ</a:t>
            </a:r>
            <a:endParaRPr lang="ar-SA" sz="3000" dirty="0"/>
          </a:p>
        </p:txBody>
      </p:sp>
      <p:sp>
        <p:nvSpPr>
          <p:cNvPr id="77" name="Text 7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fridge</a:t>
            </a:r>
            <a:endParaRPr lang="en-US" sz="1350" dirty="0"/>
          </a:p>
          <a:p>
            <a:pPr indent="0" marL="0">
              <a:buNone/>
            </a:pPr>
            <a:r>
              <a:rPr lang="en-US" sz="1100" i="1" dirty="0">
                <a:solidFill>
                  <a:srgbClr val="5A6472"/>
                </a:solidFill>
                <a:latin typeface="Calibri" pitchFamily="34" charset="0"/>
                <a:cs typeface="Amiri" pitchFamily="2" charset="-78"/>
              </a:rPr>
              <a:t>thal-lā-ja</a:t>
            </a:r>
            <a:endParaRPr lang="en-US" sz="1350" dirty="0"/>
          </a:p>
        </p:txBody>
      </p:sp>
      <p:sp>
        <p:nvSpPr>
          <p:cNvPr id="78" name="Shape 75"/>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ثَلَّاجَاتٌ</a:t>
            </a:r>
            <a:endParaRPr lang="ar-SA" sz="1500" dirty="0"/>
          </a:p>
        </p:txBody>
      </p:sp>
      <p:sp>
        <p:nvSpPr>
          <p:cNvPr id="81" name="Shape 78"/>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there is</a:t>
            </a:r>
            <a:endParaRPr lang="en-US" sz="700" dirty="0"/>
          </a:p>
        </p:txBody>
      </p:sp>
      <p:sp>
        <p:nvSpPr>
          <p:cNvPr id="83" name="Text 80"/>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تُوجَدُ</a:t>
            </a:r>
            <a:endParaRPr lang="ar-SA" sz="1350" dirty="0"/>
          </a:p>
        </p:txBody>
      </p:sp>
      <p:sp>
        <p:nvSpPr>
          <p:cNvPr id="84" name="Shape 8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566928" y="4261104"/>
            <a:ext cx="310896" cy="310896"/>
          </a:xfrm>
          <a:prstGeom prst="ellipse">
            <a:avLst/>
          </a:prstGeom>
          <a:solidFill>
            <a:srgbClr val="F4F1EA"/>
          </a:solidFill>
          <a:ln w="12700">
            <a:solidFill>
              <a:srgbClr val="F4F1EA"/>
            </a:solidFill>
            <a:prstDash val="solid"/>
          </a:ln>
        </p:spPr>
      </p:sp>
      <p:sp>
        <p:nvSpPr>
          <p:cNvPr id="86" name="Text 8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7" name="Shape 84"/>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8" name="Text 85"/>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9" name="Text 8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مِكْنَسَةٌ كَهْرَبَائِيَّةٌ</a:t>
            </a:r>
            <a:endParaRPr lang="ar-SA" sz="3000" dirty="0"/>
          </a:p>
        </p:txBody>
      </p:sp>
      <p:sp>
        <p:nvSpPr>
          <p:cNvPr id="90" name="Text 8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vacuum cleaner</a:t>
            </a:r>
            <a:endParaRPr lang="en-US" sz="1350" dirty="0"/>
          </a:p>
          <a:p>
            <a:pPr indent="0" marL="0">
              <a:buNone/>
            </a:pPr>
            <a:r>
              <a:rPr lang="en-US" sz="1100" i="1" dirty="0">
                <a:solidFill>
                  <a:srgbClr val="5A6472"/>
                </a:solidFill>
                <a:latin typeface="Calibri" pitchFamily="34" charset="0"/>
                <a:cs typeface="Amiri" pitchFamily="2" charset="-78"/>
              </a:rPr>
              <a:t>mik-na-sa kah-ra-bā-ʾiy-ya</a:t>
            </a:r>
            <a:endParaRPr lang="en-US" sz="135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أَسْكُنُ فِي بَيْتٍ / شَقَّةٍ فِي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غُرْفَةِ … يُوجَدُ … وَتُوجَدُ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عَلَى / تَحْتَ / بِجَانِبِ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الطَّابِقِ الأَرْضِيِّ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عِنْدَنَا … وَهُنَاكَ … أَيْضًا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لِأَنَّهُ / لِأَنَّهَا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الغُرْفَةُ كَبِيرَةٌ / صَغِيرَةٌ</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غُرْفَتِي المُفَضَّلَةُ … لِأَنَّهَا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F3-L03 · My Home — Rooms and Parts of the House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F3-L04 · Furniture and Household Items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F3-L03 · My Home — Rooms and Parts of the House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أَسْكُنُ فِي بَيْتٍ / شَقَّةٍ فِي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الطَّابِقِ الأَرْضِيِّ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عِنْدَنَا … وَهُنَاكَ … أَيْضًا</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غُرْفَتِي المُفَضَّلَةُ … لِأَنَّهَا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F3-L04 · Furniture and Household Items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غُرْفَةِ … يُوجَدُ … وَتُوجَدُ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عَلَى / تَحْتَ / بِجَانِبِ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أُحِبُّ … لِأَنَّهُ / لِأَنَّهَا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الغُرْفَةُ كَبِيرَةٌ / صَغِيرَةٌ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 a video call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مُكَالَمَةِ فِيدْيُو</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are you now?</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أَيْنَ أَنْتَ الآنَ؟</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in the living room. It is on the ground floor.</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أَنَا فِي غُرْفَةِ الجُلُوسِ. هِيَ فِي الطَّابِقِ الأَرْضِيِّ.</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there in the room?</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مَاذَا يُوجَدُ فِي الغُرْفَةِ؟</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 is a big television, and there is a beautiful rug.</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يُوجَدُ تِلْفَازٌ كَبِيرٌ، وَتُوجَدُ سَجَّادَةٌ جَمِيلَةٌ.</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where is your bedroom?</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وَأَيْنَ غُرْفَةُ نَوْمِكَ؟</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 the first floor. In it there is a bed, and next to the bed there is a lamp.</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فِي الطَّابِقِ الأَوَّلِ. فِيهَا سَرِيرٌ، وَبِجَانِبِ السَّرِيرِ مِصْبَاحٌ.</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مَدِينَةِ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أَسْكُنُ فِي بَيْتٍ / شَقَّةٍ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live?</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تَسْكُنُ؟</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يُوجَدُ … / تُوجَدُ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your bedroom?</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غُرْفَةِ نَوْمِكَ؟</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وَغُرْفَتِي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بَيْتِي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bedrooms are in your home?</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غُرْفَةَ نَوْمٍ فِي بَيْتِكَ؟</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بِجَانِبِ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المِصْبَاحُ عَلَى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the lamp?</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المِصْبَاحُ؟</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وَفِي الطَّابِقِ الأَوَّلِ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الطَّابِقِ الأَرْضِيِّ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on the ground floor?</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الطَّابِقِ الأَرْضِيِّ؟</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حَوْلَ الطَّاوِلَةِ</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المَطْبَخِ … كَرَاسٍ</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chairs are in the kitchen?</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كُرْسِيًّا فِي المَطْبَخِ؟</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F3-L03, even numbers from F3-L04.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Role-play card — the home tour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جَوْلَةٌ فِي البَيْتِ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أَسْكُنُ فِي … فِي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house or flat, and where.</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تَسْكُنُ فِي بَيْتٍ أَمْ فِي شَقَّةٍ؟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فِي الطَّابِقِ الأَرْضِيِّ … وَ…</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two or three rooms.</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الطَّابِقِ الأَرْضِيِّ؟</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يُوجَدُ … وَتُوجَدُ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two items with </a:t>
            </a:r>
            <a:pPr algn="l" indent="0" marL="0">
              <a:buNone/>
            </a:pPr>
            <a:r>
              <a:rPr lang="ar-SA" altLang="en-US" sz="1450" dirty="0">
                <a:solidFill>
                  <a:srgbClr val="5A6472"/>
                </a:solidFill>
                <a:latin typeface="Amiri" pitchFamily="2" charset="-78"/>
                <a:ea typeface="Amiri" pitchFamily="2" charset="-78"/>
                <a:cs typeface="Amiri" pitchFamily="2" charset="-78"/>
              </a:rPr>
              <a:t>يُوجَدُ / تُوجَدُ</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المَطْبَخِ؟</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المِرْآةُ عَلَى / بِجَانِبِ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where it is.</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المِرْآةُ؟</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غُرْفَتِي المُفَضَّلَةُ … لِأَنَّهَا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your favourite room and give a reason.</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غُرْفَتُكَ المُفَضَّلَةُ؟ وَلِمَاذَا؟</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host · Partner A = a visiting pen-friend.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Room by 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غُرْفَةً 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30–45 seconds as if you are walking through your home with a camera: start at the door, name the rooms on each floor, say two things in one room and where they are, and finish in your favourite room.</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هٰذَا المَطْبَخُ · فِيهِ … · هٰذِهِ غُرْفَةُ النَّوْمِ · فِيهَا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a:r>
            <a:pPr algn="l" indent="0" marL="0">
              <a:buNone/>
            </a:pPr>
            <a:r>
              <a:rPr lang="ar-SA" altLang="en-US" sz="1500" dirty="0">
                <a:solidFill>
                  <a:srgbClr val="1F2A37"/>
                </a:solidFill>
                <a:latin typeface="Amiri" pitchFamily="2" charset="-78"/>
                <a:ea typeface="Amiri" pitchFamily="2" charset="-78"/>
                <a:cs typeface="Amiri" pitchFamily="2" charset="-78"/>
              </a:rPr>
              <a:t>يُوجَدُ / تُوجَدُ</a:t>
            </a:r>
            <a:pPr algn="l" indent="0" marL="0">
              <a:buNone/>
            </a:pPr>
            <a:r>
              <a:rPr lang="en-US" sz="1150" dirty="0">
                <a:solidFill>
                  <a:srgbClr val="1F2A37"/>
                </a:solidFill>
                <a:latin typeface="Calibri" pitchFamily="34" charset="0"/>
                <a:cs typeface="Amiri" pitchFamily="2" charset="-78"/>
              </a:rPr>
              <a:t> and one position: </a:t>
            </a:r>
            <a:pPr algn="l" indent="0" marL="0">
              <a:buNone/>
            </a:pPr>
            <a:r>
              <a:rPr lang="ar-SA" altLang="en-US" sz="1500" dirty="0">
                <a:solidFill>
                  <a:srgbClr val="1F2A37"/>
                </a:solidFill>
                <a:latin typeface="Amiri" pitchFamily="2" charset="-78"/>
                <a:ea typeface="Amiri" pitchFamily="2" charset="-78"/>
                <a:cs typeface="Amiri" pitchFamily="2" charset="-78"/>
              </a:rPr>
              <a:t>عَلَى</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تَحْتَ</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بِجَانِبِ</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أَمَامَ</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floors (</a:t>
            </a:r>
            <a:pPr algn="l" indent="0" marL="0">
              <a:buNone/>
            </a:pPr>
            <a:r>
              <a:rPr lang="ar-SA" altLang="en-US" sz="1500" dirty="0">
                <a:solidFill>
                  <a:srgbClr val="1F2A37"/>
                </a:solidFill>
                <a:latin typeface="Amiri" pitchFamily="2" charset="-78"/>
                <a:ea typeface="Amiri" pitchFamily="2" charset="-78"/>
                <a:cs typeface="Amiri" pitchFamily="2" charset="-78"/>
              </a:rPr>
              <a:t>فِي الطَّابِقِ الأَوَّلِ</a:t>
            </a:r>
            <a:pPr algn="l" indent="0" marL="0">
              <a:buNone/>
            </a:pPr>
            <a:r>
              <a:rPr lang="en-US" sz="1150" dirty="0">
                <a:solidFill>
                  <a:srgbClr val="1F2A37"/>
                </a:solidFill>
                <a:latin typeface="Calibri" pitchFamily="34" charset="0"/>
                <a:cs typeface="Amiri" pitchFamily="2" charset="-78"/>
              </a:rPr>
              <a:t> …) and a reason for your favourite room.</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الطَّابِقِ الأَرْضِيِّ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 the ground floor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يُوجَدُ … · تُوجَدُ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there is …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 عَلَى · تَحْتَ · بِجَانِبِ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 on · under · next to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غُرْفَتِي المُفَضَّلَةُ … لِأَنَّهَا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my favourite room … because it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In my house there is a big kitchen.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بَيْتِي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بَيْتِي فِي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مَطْبَخٌ</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المَطْبَخُ</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كَبِيرٌ.</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كَبِيرَةٌ.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a table in the kitchen.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طَاوِلَةٌ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طَاوِلَةً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المَطْبَخِ.</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المَطْبَخُ.</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bedroom is next to the bathroom.</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غُرْفَةُ نَوْمِي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غُرْفَةٌ نَوْمِي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بِجَانِبِ</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الحَمَّامِ.</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الحَمَّامُ.</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In my house there is a big kitchen.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a …” = </a:t>
            </a:r>
            <a:pPr algn="l" indent="0" marL="0">
              <a:buNone/>
            </a:pPr>
            <a:r>
              <a:rPr lang="ar-SA" altLang="en-US" sz="1350" dirty="0">
                <a:solidFill>
                  <a:srgbClr val="5A6472"/>
                </a:solidFill>
                <a:latin typeface="Amiri" pitchFamily="2" charset="-78"/>
                <a:ea typeface="Amiri" pitchFamily="2" charset="-78"/>
                <a:cs typeface="Amiri" pitchFamily="2" charset="-78"/>
              </a:rPr>
              <a:t>فِي</a:t>
            </a:r>
            <a:pPr algn="l" indent="0" marL="0">
              <a:buNone/>
            </a:pPr>
            <a:r>
              <a:rPr lang="en-US" sz="1050" i="1" dirty="0">
                <a:solidFill>
                  <a:srgbClr val="5A6472"/>
                </a:solidFill>
                <a:latin typeface="Calibri" pitchFamily="34" charset="0"/>
                <a:cs typeface="Amiri" pitchFamily="2" charset="-78"/>
              </a:rPr>
              <a:t> + place + indefinite noun; </a:t>
            </a:r>
            <a:pPr algn="l" indent="0" marL="0">
              <a:buNone/>
            </a:pPr>
            <a:r>
              <a:rPr lang="ar-SA" altLang="en-US" sz="1350" dirty="0">
                <a:solidFill>
                  <a:srgbClr val="5A6472"/>
                </a:solidFill>
                <a:latin typeface="Amiri" pitchFamily="2" charset="-78"/>
                <a:ea typeface="Amiri" pitchFamily="2" charset="-78"/>
                <a:cs typeface="Amiri" pitchFamily="2" charset="-78"/>
              </a:rPr>
              <a:t>مَطْبَخٌ</a:t>
            </a:r>
            <a:pPr algn="l" indent="0" marL="0">
              <a:buNone/>
            </a:pPr>
            <a:r>
              <a:rPr lang="en-US" sz="1050" i="1" dirty="0">
                <a:solidFill>
                  <a:srgbClr val="5A6472"/>
                </a:solidFill>
                <a:latin typeface="Calibri" pitchFamily="34" charset="0"/>
                <a:cs typeface="Amiri" pitchFamily="2" charset="-78"/>
              </a:rPr>
              <a:t> is masculine.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بَيْتِي مَطْبَخٌ كَبِيرٌ.</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a table in the kitchen.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طَاوِلَةٌ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تُوجَدُ</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تُوجَدُ طَاوِلَةٌ فِي المَطْبَخِ.</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bedroom is next to the bathroom.</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bedroom = </a:t>
            </a:r>
            <a:pPr algn="l" indent="0" marL="0">
              <a:buNone/>
            </a:pPr>
            <a:r>
              <a:rPr lang="ar-SA" altLang="en-US" sz="1350" dirty="0">
                <a:solidFill>
                  <a:srgbClr val="5A6472"/>
                </a:solidFill>
                <a:latin typeface="Amiri" pitchFamily="2" charset="-78"/>
                <a:ea typeface="Amiri" pitchFamily="2" charset="-78"/>
                <a:cs typeface="Amiri" pitchFamily="2" charset="-78"/>
              </a:rPr>
              <a:t>غُرْفَةُ نَوْمِي</a:t>
            </a:r>
            <a:pPr algn="l" indent="0" marL="0">
              <a:buNone/>
            </a:pPr>
            <a:r>
              <a:rPr lang="en-US" sz="1050" i="1" dirty="0">
                <a:solidFill>
                  <a:srgbClr val="5A6472"/>
                </a:solidFill>
                <a:latin typeface="Calibri" pitchFamily="34" charset="0"/>
                <a:cs typeface="Amiri" pitchFamily="2" charset="-78"/>
              </a:rPr>
              <a:t> (iḍāfa); </a:t>
            </a:r>
            <a:pPr algn="l" indent="0" marL="0">
              <a:buNone/>
            </a:pPr>
            <a:r>
              <a:rPr lang="ar-SA" altLang="en-US" sz="1350" dirty="0">
                <a:solidFill>
                  <a:srgbClr val="5A6472"/>
                </a:solidFill>
                <a:latin typeface="Amiri" pitchFamily="2" charset="-78"/>
                <a:ea typeface="Amiri" pitchFamily="2" charset="-78"/>
                <a:cs typeface="Amiri" pitchFamily="2" charset="-78"/>
              </a:rPr>
              <a:t>بِجَانِبِ</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غُرْفَةُ نَوْمِي بِجَانِبِ الحَمَّامِ.</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بَيْتِي غُرْفَةُ الجُلُوسِ كَبِيرٌ.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غُرْفَةٌ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يُوجَدُ ثَلَّاجَةٌ فِي المَطْبَخِ.</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ثَلَّاجَةٌ</a:t>
            </a:r>
            <a:pPr algn="l" indent="0" marL="0">
              <a:buNone/>
            </a:pPr>
            <a:r>
              <a:rPr lang="en-US" sz="1300" i="1" dirty="0">
                <a:solidFill>
                  <a:srgbClr val="5A6472"/>
                </a:solidFill>
                <a:latin typeface="Calibri" pitchFamily="34" charset="0"/>
                <a:cs typeface="Amiri" pitchFamily="2" charset="-78"/>
              </a:rPr>
              <a:t> ends in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عِنْدَنَا ثَلَاثُ غُرْفَةٍ.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3–10 + plural.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بَيْتِي غُرْفَةُ الجُلُوسِ كَبِيرٌ.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بَيْتِي غُرْفَةُ جُلُوسٍ كَبِيرَةٌ.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room is feminine → </a:t>
            </a:r>
            <a:pPr algn="l" indent="0" marL="0">
              <a:buNone/>
            </a:pPr>
            <a:r>
              <a:rPr lang="ar-SA" altLang="en-US" sz="1500" b="1" dirty="0">
                <a:solidFill>
                  <a:srgbClr val="1B3B6F"/>
                </a:solidFill>
                <a:latin typeface="Amiri" pitchFamily="2" charset="-78"/>
                <a:ea typeface="Amiri" pitchFamily="2" charset="-78"/>
                <a:cs typeface="Amiri" pitchFamily="2" charset="-78"/>
              </a:rPr>
              <a:t>كَبِيرَةٌ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يُوجَدُ ثَلَّاجَةٌ فِي المَطْبَخِ.</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تُوجَدُ ثَلَّاجَةٌ فِي المَطْبَخِ.</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item → </a:t>
            </a:r>
            <a:pPr algn="l" indent="0" marL="0">
              <a:buNone/>
            </a:pPr>
            <a:r>
              <a:rPr lang="ar-SA" altLang="en-US" sz="1500" b="1" dirty="0">
                <a:solidFill>
                  <a:srgbClr val="1B3B6F"/>
                </a:solidFill>
                <a:latin typeface="Amiri" pitchFamily="2" charset="-78"/>
                <a:ea typeface="Amiri" pitchFamily="2" charset="-78"/>
                <a:cs typeface="Amiri" pitchFamily="2" charset="-78"/>
              </a:rPr>
              <a:t>تُوجَدُ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عِنْدَنَا ثَلَاثُ غُرْفَةٍ.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عِنْدَنَا ثَلَاثُ غُرَفٍ.</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3–10 use the plural: </a:t>
            </a:r>
            <a:pPr algn="l" indent="0" marL="0">
              <a:buNone/>
            </a:pPr>
            <a:r>
              <a:rPr lang="ar-SA" altLang="en-US" sz="1500" b="1" dirty="0">
                <a:solidFill>
                  <a:srgbClr val="1B3B6F"/>
                </a:solidFill>
                <a:latin typeface="Amiri" pitchFamily="2" charset="-78"/>
                <a:ea typeface="Amiri" pitchFamily="2" charset="-78"/>
                <a:cs typeface="Amiri" pitchFamily="2" charset="-78"/>
              </a:rPr>
              <a:t>غُرَفٍ</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وَفِي الطَّابِقِ الأَوَّلِ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on the first floor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المُفَضَّلَةُ ______ لِأَنَّهَا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room is … because it is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عِنْدَنَا ______ أَيْضًا.</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also have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______ فِي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in a … in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الطَّابِقِ الأَرْضِيِّ ______ وَ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the ground floor there are … and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المَطْبَخِ يُوجَدُ ______ وَتُوجَدُ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kitchen there is … and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غُرْفَةِ نَوْمِي يُوجَدُ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bedroom there is …</a:t>
            </a:r>
            <a:endParaRPr lang="en-US" sz="1050" dirty="0"/>
          </a:p>
        </p:txBody>
      </p:sp>
      <p:sp>
        <p:nvSpPr>
          <p:cNvPr id="35" name="Text 32"/>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بِجَانِبِ ______ .</a:t>
            </a:r>
            <a:endParaRPr lang="ar-SA" sz="1800" dirty="0"/>
          </a:p>
        </p:txBody>
      </p:sp>
      <p:sp>
        <p:nvSpPr>
          <p:cNvPr id="36" name="Text 33"/>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next to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غُرْفَةُ النَّوْمِ  ·  غُرْفَةُ الجُلُوسِ  ·  المَطْبَخُ · الحَمَّامُ  ·  يُوجَدُ · تُوجَدُ  ·  سَرِيرٌ · طَاوِلَةٌ  ·  مِصْبَاحٌ · مِرْآةٌ  ·  عَلَى · تَحْتَ · بِجَانِبِ  ·  لِأَنَّهَا</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45–65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home-tour script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الجَوْلَةِ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the script for a short video tour of your home (about 45–65 words). Include: • house or flat, and where • the rooms on each floor • four items in two rooms with </a:t>
            </a:r>
            <a:pPr algn="l" indent="0" marL="0">
              <a:buNone/>
            </a:pPr>
            <a:r>
              <a:rPr lang="ar-SA" altLang="en-US" sz="1750" b="1" dirty="0">
                <a:solidFill>
                  <a:srgbClr val="1F2A37"/>
                </a:solidFill>
                <a:latin typeface="Amiri" pitchFamily="2" charset="-78"/>
                <a:ea typeface="Amiri" pitchFamily="2" charset="-78"/>
                <a:cs typeface="Amiri" pitchFamily="2" charset="-78"/>
              </a:rPr>
              <a:t>يُوجَدُ / تُوجَدُ</a:t>
            </a:r>
            <a:pPr algn="l" indent="0" marL="0">
              <a:buNone/>
            </a:pPr>
            <a:r>
              <a:rPr lang="en-US" sz="1350" b="1" dirty="0">
                <a:solidFill>
                  <a:srgbClr val="1F2A37"/>
                </a:solidFill>
                <a:latin typeface="Calibri" pitchFamily="34" charset="0"/>
                <a:cs typeface="Amiri" pitchFamily="2" charset="-78"/>
              </a:rPr>
              <a:t> • where two items are • your favourite room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F3-L03 AND F3-L04.</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بَيْتٍ / شَقَّةٍ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live in a house / flat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الطَّابِقِ الأَرْضِيِّ … ، وَفِي الطَّابِقِ الأَوَّلِ …</a:t>
            </a:r>
            <a:endParaRPr lang="ar-SA" sz="155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the ground floor … and on the first floor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 يُوجَدُ … وَتُوجَدُ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 there is … and there is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غُرْفَتِي المُفَضَّلَةُ … لِأَنَّهَا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favourite room is … because it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at least five rooms or parts of the house?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positions with the genitive (</a:t>
            </a:r>
            <a:pPr algn="l" indent="0" marL="0">
              <a:buNone/>
            </a:pPr>
            <a:r>
              <a:rPr lang="ar-SA" altLang="en-US" sz="1450" dirty="0">
                <a:solidFill>
                  <a:srgbClr val="5A6472"/>
                </a:solidFill>
                <a:latin typeface="Amiri" pitchFamily="2" charset="-78"/>
                <a:ea typeface="Amiri" pitchFamily="2" charset="-78"/>
                <a:cs typeface="Amiri" pitchFamily="2" charset="-78"/>
              </a:rPr>
              <a:t>عَلَى الطَّاوِلَةِ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أَسْكُنُ فِي بَيْتٍ صَغِيرٍ فِي لِيسْتَر.</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live in a small house in Leicester.</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تَسْكُنُ فِي بَيْتٍ أَمْ فِي شَقَّةٍ؟</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الطَّابِقِ الأَرْضِيِّ المَطْبَخُ وَغُرْفَةُ الجُلُوسِ وَالحَمَّامُ.</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On the ground floor there are the kitchen, the living room and the bathroom.</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يُوجَدُ فِي الطَّابِقِ الأَرْضِيِّ؟</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يُوجَدُ فُرْنٌ، وَتُوجَدُ ثَلَّاجَةٌ كَبِيرَةٌ وَطَاوِلَةٌ.</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is an oven, and there is a big fridge and a table.</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يُوجَدُ فِي المَطْبَخِ؟</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المِرْآةُ عَلَى الحَائِطِ، بِجَانِبِ البَابِ.</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mirror is on the wall, next to the door.</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المِرْآةُ؟</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غُرْفَتِي المُفَضَّلَةُ غُرْفَةُ الجُلُوسِ لِأَنَّهَا وَاسِعَةٌ وَفِيهَا تِلْفَازٌ.</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favourite room is the living room because it is spacious and has a television.</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غُرْفَتُكَ المُفَضَّلَةُ؟ وَلِمَاذَا؟</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أَهْلًا! أَسْكُنُ فِي بَيْتٍ فِي لِيسْتَر. فِي الطَّابِقِ الأَرْضِيِّ المَطْبَخُ وَغُرْفَةُ الجُلُوسِ. فِي المَطْبَخِ يُوجَدُ فُرْنٌ، وَتُوجَدُ ثَلَّاجَةٌ وَطَاوِلَةٌ. وَفِي الطَّابِقِ الأَوَّلِ ثَلَاثُ غُرَفِ نَوْمٍ وَحَمَّامٌ. فِي غُرْفَةِ نَوْمِي يُوجَدُ سَرِيرٌ، وَبِجَانِبِ السَّرِيرِ مِصْبَاحٌ. المِرْآةُ عَلَى الحَائِطِ. غُرْفَتِي المُفَضَّلَةُ غُرْفَةُ الجُلُوسِ لِأَنَّهَا وَاسِعَةٌ وَمُرِيحَةٌ.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I live in a house in Leicester. On the ground floor there are the kitchen and the living room. In the kitchen there is an oven, and there is a fridge and a table. And on the first floor there are three bedrooms and a bathroom. In my bedroom there is a bed, and next to the bed there is a lamp. The mirror is on the wall. My favourite room is the living room because it is spacious and comfortable.”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الطَّابِقِ الأَرْضِيِّ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وَتُوجَدُ ثَلَّاجَةٌ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بِجَانِبِ السَّرِيرِ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وَاسِعَةٌ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F3-W02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F3-W02 · Apply workshop (F3-L03 + F3-L04)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F3-L03 and F3-L04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F3-W02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F3-L05 · Colours — Full System and Agreement</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الأَلْوَانُ — النِّظَامُ الكَامِلُ وَالمُطَابَقَةُ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F3-W02 · Apply Workshop — A Video Tour of My Home</dc:title>
  <dc:subject>PptxGenJS Presentation</dc:subject>
  <dc:creator>Al Madina Online School · Arabic Department</dc:creator>
  <cp:lastModifiedBy>Al Madina Online School · Arabic Department</cp:lastModifiedBy>
  <cp:revision>1</cp:revision>
  <dcterms:created xsi:type="dcterms:W3CDTF">2026-10-26T15:17:23Z</dcterms:created>
  <dcterms:modified xsi:type="dcterms:W3CDTF">2026-10-26T15:17:23Z</dcterms:modified>
</cp:coreProperties>
</file>