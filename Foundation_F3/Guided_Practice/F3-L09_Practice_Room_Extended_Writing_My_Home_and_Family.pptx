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F3-L09 (Extended Writing: My Home and Family) — new practice tasks built on the lesson’s own word bank and grammar (planning three paragraphs (family · home · opinion); connectors wa · ayḍan · lākinna · li-anna · li-dhālika; reviewing endings and agreement).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Speaking the plan before writing it is the key move today: oral rehearsal makes the written draft faster and more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عَائِلَتِكِ · بَيْتِكِ · تُحِبِّينَ. Peer interview generates ideas for the extended writing; the notes become each writer’s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Extended Writing: My Home and Family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بَيْتِي وَعَائِلَتِي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to prepare an extended text: say the process words, rehearse a model plan aloud, answer planning questions, do a “buddy interview” card to collect ideas, give a 30-second oral draft, then build, fix and write a three-paragraph text about their home and family.</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F3-L09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writing process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فِكْرَةٌ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idea</a:t>
            </a:r>
            <a:endParaRPr lang="en-US" sz="1350" dirty="0"/>
          </a:p>
          <a:p>
            <a:pPr indent="0" marL="0">
              <a:buNone/>
            </a:pPr>
            <a:r>
              <a:rPr lang="en-US" sz="1100" i="1" dirty="0">
                <a:solidFill>
                  <a:srgbClr val="5A6472"/>
                </a:solidFill>
                <a:latin typeface="Calibri" pitchFamily="34" charset="0"/>
                <a:cs typeface="Amiri" pitchFamily="2" charset="-78"/>
              </a:rPr>
              <a:t>fik-ra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أَفْكَارٌ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plan</a:t>
            </a:r>
            <a:endParaRPr lang="en-US" sz="1350" dirty="0"/>
          </a:p>
          <a:p>
            <a:pPr indent="0" marL="0">
              <a:buNone/>
            </a:pPr>
            <a:r>
              <a:rPr lang="en-US" sz="1100" i="1" dirty="0">
                <a:solidFill>
                  <a:srgbClr val="5A6472"/>
                </a:solidFill>
                <a:latin typeface="Calibri" pitchFamily="34" charset="0"/>
                <a:cs typeface="Amiri" pitchFamily="2" charset="-78"/>
              </a:rPr>
              <a:t>khuṭ-ṭa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خُطَطٌ</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مُسَوَّدَةٌ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draft</a:t>
            </a:r>
            <a:endParaRPr lang="en-US" sz="1350" dirty="0"/>
          </a:p>
          <a:p>
            <a:pPr indent="0" marL="0">
              <a:buNone/>
            </a:pPr>
            <a:r>
              <a:rPr lang="en-US" sz="1100" i="1" dirty="0">
                <a:solidFill>
                  <a:srgbClr val="5A6472"/>
                </a:solidFill>
                <a:latin typeface="Calibri" pitchFamily="34" charset="0"/>
                <a:cs typeface="Amiri" pitchFamily="2" charset="-78"/>
              </a:rPr>
              <a:t>mu-saw-wa-da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مُسَوَّدَاتٌ</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فِقْرَاتٌ / فِقَرٌ</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جُمْلَةٌ</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sentence</a:t>
            </a:r>
            <a:endParaRPr lang="en-US" sz="1350" dirty="0"/>
          </a:p>
          <a:p>
            <a:pPr indent="0" marL="0">
              <a:buNone/>
            </a:pPr>
            <a:r>
              <a:rPr lang="en-US" sz="1100" i="1" dirty="0">
                <a:solidFill>
                  <a:srgbClr val="5A6472"/>
                </a:solidFill>
                <a:latin typeface="Calibri" pitchFamily="34" charset="0"/>
                <a:cs typeface="Amiri" pitchFamily="2" charset="-78"/>
              </a:rPr>
              <a:t>jum-la</a:t>
            </a:r>
            <a:endParaRPr lang="en-US" sz="1350" dirty="0"/>
          </a:p>
        </p:txBody>
      </p:sp>
      <p:sp>
        <p:nvSpPr>
          <p:cNvPr id="70" name="Shape 6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جُمَلٌ</a:t>
            </a:r>
            <a:endParaRPr lang="ar-SA" sz="15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رَابِطٌ</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connector</a:t>
            </a:r>
            <a:endParaRPr lang="en-US" sz="1350" dirty="0"/>
          </a:p>
          <a:p>
            <a:pPr indent="0" marL="0">
              <a:buNone/>
            </a:pPr>
            <a:r>
              <a:rPr lang="en-US" sz="1100" i="1" dirty="0">
                <a:solidFill>
                  <a:srgbClr val="5A6472"/>
                </a:solidFill>
                <a:latin typeface="Calibri" pitchFamily="34" charset="0"/>
                <a:cs typeface="Amiri" pitchFamily="2" charset="-78"/>
              </a:rPr>
              <a:t>rā-biṭ</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رَوَابِطُ</a:t>
            </a:r>
            <a:endParaRPr lang="ar-SA" sz="15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 · أَيْضًا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 also</a:t>
            </a:r>
            <a:endParaRPr lang="en-US" sz="1350" dirty="0"/>
          </a:p>
          <a:p>
            <a:pPr indent="0" marL="0">
              <a:buNone/>
            </a:pPr>
            <a:r>
              <a:rPr lang="en-US" sz="1100" i="1" dirty="0">
                <a:solidFill>
                  <a:srgbClr val="5A6472"/>
                </a:solidFill>
                <a:latin typeface="Calibri" pitchFamily="34" charset="0"/>
                <a:cs typeface="Amiri" pitchFamily="2" charset="-78"/>
              </a:rPr>
              <a:t>wa · ay-ḍan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lā-kin-na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is why</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 · ثُمَّ</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 then</a:t>
            </a:r>
            <a:endParaRPr lang="en-US" sz="1350" dirty="0"/>
          </a:p>
          <a:p>
            <a:pPr indent="0" marL="0">
              <a:buNone/>
            </a:pPr>
            <a:r>
              <a:rPr lang="en-US" sz="1100" i="1" dirty="0">
                <a:solidFill>
                  <a:srgbClr val="5A6472"/>
                </a:solidFill>
                <a:latin typeface="Calibri" pitchFamily="34" charset="0"/>
                <a:cs typeface="Amiri" pitchFamily="2" charset="-78"/>
              </a:rPr>
              <a:t>aw-wa-lan · thum-ma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the plan out 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 الخُطَّةَ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1: my family.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الفِقْرَةُ الأُولَى: عَائِلَتِي.</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are five people in my family. My dad is tall and funny, and my mum is very kind.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عَائِلَتِي خَمْسَةُ أَشْخَاصٍ. أَبِي طَوِيلٌ وَمُضْحِكٌ، وَأُمِّي لَطِيفَةٌ جِدًّا.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2: my home.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الفِقْرَةُ الثَّانِيَةُ: بَيْتِي.</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live in a big house with four rooms, and we have a beautiful garden.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نَسْكُنُ فِي بَيْتٍ كَبِيرٍ فِيهِ أَرْبَعُ غُرَفٍ، وَعِنْدَنَا حَدِيقَةٌ جَمِيلَةٌ.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3: my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الفِقْرَةُ الثَّالِثَةُ: رَأْيِي.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my home because it is near my school, but my room is small.</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بَيْتِي لِأَنَّهُ قَرِيبٌ مِنْ مَدْرَسَتِي، لٰكِنَّ غُرْفَتِي صَغِيرَةٌ.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Take turns reading one paragraph each. Then each Speaker says THEIR OWN three-paragraph plan aloud in 30 seconds — one sentence per paragraph.</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Plan by speaking: one question per paragraph</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عَائِلَتِي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in your family? (paragraph 1)</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فِي عَائِلَتِكَ؟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 / وَشَعْرُهَا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 أُمِّي / أَخِي … هُوَ / هِيَ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person. (paragraph 1)</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شَخْصًا وَاحِدًا.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فِيهِ … وَعِنْدَنَا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نَسْكُنُ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live? Describe it. (paragraph 2)</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 صِفْ بَيْتَكَ.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فِيهَا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room. (paragraph 2)</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غُرْفَتَكَ.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 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بَيْتِي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your home? (paragraph 3)</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بَيْتِكَ؟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Card — interview your buddy, then swap plans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أُقَابِلُ 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فِي عَائِلَتِي … أَشْخَاصٍ</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answers; you note the number.</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شَخْصًا فِي عَائِلَتِكَ؟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 هُوَ / هِيَ … جِدًّا</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describes one person.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شَخْصٍ مُضْحِكٍ فِيهَا؟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أَجْمَلُ غُرْفَةٍ … لِأَنَّ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names a room + why.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غُرْفَةٍ فِي بَيْتِكَ؟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لَا أُحِبُّ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gives a “but”.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تُحِبُّ فِي بَيْتِكَ؟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Interviewer = asks and notes the answers in English keywords. Writer = answers in full Arabic sentences. Then give the notes to the writer — that is their plan for Step 8. Swap roles.</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text, said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نَصِّي بِصَوْتٍ عَالٍ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Say your whole text aloud in 30 seconds BEFORE you write it: one or two sentences for family, home and opinion.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 one per paragraph.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paragraph,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لِذٰلِكَ</a:t>
            </a:r>
            <a:pPr algn="l" indent="0" marL="0">
              <a:buNone/>
            </a:pPr>
            <a:r>
              <a:rPr lang="en-US" sz="1150" dirty="0">
                <a:solidFill>
                  <a:srgbClr val="1F2A37"/>
                </a:solidFill>
                <a:latin typeface="Calibri" pitchFamily="34" charset="0"/>
                <a:cs typeface="Amiri" pitchFamily="2" charset="-78"/>
              </a:rPr>
              <a:t>, and one detail with a colour or a number.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love my house because it is big, but my room is small.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بَيْتِي لِأَنَّهُ كَبِيرٌ،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بَيْتِي لِأَنَّهَا كَبِيرَةٌ،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غُرْفَتِي صَغِيرَةٌ.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غُرْفَتِي صَغِيرٌ.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grandmother lives with us, so the house is busy.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جَدَّتِي تَسْكُنُ مَعَنَا،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جَدَّتِي يَسْكُنُ مَعَنَا،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البَيْتُ مُزْدَحِمٌ.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البَيْتُ مُزْدَحِمَةٌ.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also have a garden.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وَعِنْدَنَا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وَعِنْدِي هُمْ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love my house because it is big, but my room is small.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بَيْتٌ</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لِأَنَّهُ كَبِيرٌ</a:t>
            </a:r>
            <a:pPr algn="l" indent="0" marL="0">
              <a:buNone/>
            </a:pPr>
            <a:r>
              <a:rPr lang="en-US" sz="1050" i="1" dirty="0">
                <a:solidFill>
                  <a:srgbClr val="5A6472"/>
                </a:solidFill>
                <a:latin typeface="Calibri" pitchFamily="34" charset="0"/>
                <a:cs typeface="Amiri" pitchFamily="2" charset="-78"/>
              </a:rPr>
              <a:t>; but = </a:t>
            </a:r>
            <a:pPr algn="l" indent="0" marL="0">
              <a:buNone/>
            </a:pPr>
            <a:r>
              <a:rPr lang="ar-SA" altLang="en-US" sz="1350" dirty="0">
                <a:solidFill>
                  <a:srgbClr val="5A6472"/>
                </a:solidFill>
                <a:latin typeface="Amiri" pitchFamily="2" charset="-78"/>
                <a:ea typeface="Amiri" pitchFamily="2" charset="-78"/>
                <a:cs typeface="Amiri" pitchFamily="2" charset="-78"/>
              </a:rPr>
              <a:t>لٰكِنَّ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غُرْفَةٌ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صَغِيرَةٌ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بَيْتِي لِأَنَّهُ كَبِيرٌ، لٰكِنَّ غُرْفَتِي صَغِيرَةٌ.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grandmother lives with us, so the house is busy.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تَسْكُنُ</a:t>
            </a:r>
            <a:pPr algn="l" indent="0" marL="0">
              <a:buNone/>
            </a:pPr>
            <a:r>
              <a:rPr lang="en-US" sz="1050" i="1" dirty="0">
                <a:solidFill>
                  <a:srgbClr val="5A6472"/>
                </a:solidFill>
                <a:latin typeface="Calibri" pitchFamily="34" charset="0"/>
                <a:cs typeface="Amiri" pitchFamily="2" charset="-78"/>
              </a:rPr>
              <a:t>;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بَيْتٌ</a:t>
            </a:r>
            <a:pPr algn="l" indent="0" marL="0">
              <a:buNone/>
            </a:pPr>
            <a:r>
              <a:rPr lang="en-US" sz="1050" i="1" dirty="0">
                <a:solidFill>
                  <a:srgbClr val="5A6472"/>
                </a:solidFill>
                <a:latin typeface="Calibri" pitchFamily="34" charset="0"/>
                <a:cs typeface="Amiri" pitchFamily="2" charset="-78"/>
              </a:rPr>
              <a:t> is masculine.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جَدَّتِي تَسْكُنُ مَعَنَا، لِذٰلِكَ البَيْتُ مُزْدَحِمٌ.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also have a garden.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have = </a:t>
            </a:r>
            <a:pPr algn="l" indent="0" marL="0">
              <a:buNone/>
            </a:pPr>
            <a:r>
              <a:rPr lang="ar-SA" altLang="en-US" sz="1350" dirty="0">
                <a:solidFill>
                  <a:srgbClr val="5A6472"/>
                </a:solidFill>
                <a:latin typeface="Amiri" pitchFamily="2" charset="-78"/>
                <a:ea typeface="Amiri" pitchFamily="2" charset="-78"/>
                <a:cs typeface="Amiri" pitchFamily="2" charset="-78"/>
              </a:rPr>
              <a:t>عِنْدَنَا</a:t>
            </a:r>
            <a:pPr algn="l" indent="0" marL="0">
              <a:buNone/>
            </a:pPr>
            <a:r>
              <a:rPr lang="en-US" sz="1050" i="1" dirty="0">
                <a:solidFill>
                  <a:srgbClr val="5A6472"/>
                </a:solidFill>
                <a:latin typeface="Calibri" pitchFamily="34" charset="0"/>
                <a:cs typeface="Amiri" pitchFamily="2" charset="-78"/>
              </a:rPr>
              <a:t>; also = </a:t>
            </a:r>
            <a:pPr algn="l" indent="0" marL="0">
              <a:buNone/>
            </a:pPr>
            <a:r>
              <a:rPr lang="ar-SA" altLang="en-US" sz="1350" dirty="0">
                <a:solidFill>
                  <a:srgbClr val="5A6472"/>
                </a:solidFill>
                <a:latin typeface="Amiri" pitchFamily="2" charset="-78"/>
                <a:ea typeface="Amiri" pitchFamily="2" charset="-78"/>
                <a:cs typeface="Amiri" pitchFamily="2" charset="-78"/>
              </a:rPr>
              <a:t>أَيْضًا</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وَعِنْدَنَا حَدِيقَةٌ أَيْضًا.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بَيْتِي لِأَنَّ كَبِيرٌ.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لِأَنَّ</a:t>
            </a:r>
            <a:pPr algn="l" indent="0" marL="0">
              <a:buNone/>
            </a:pPr>
            <a:r>
              <a:rPr lang="en-US" sz="1300" i="1" dirty="0">
                <a:solidFill>
                  <a:srgbClr val="5A6472"/>
                </a:solidFill>
                <a:latin typeface="Calibri" pitchFamily="34" charset="0"/>
                <a:cs typeface="Amiri" pitchFamily="2" charset="-78"/>
              </a:rPr>
              <a:t> needs a pronoun.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عَائِلَتِي خَمْسُ شَخْصٍ.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طَوِيلَةٌ، لِأَنَّ أَبِي قَصِيرٌ.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a reason or a contrast?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بَيْتِي لِأَنَّ كَبِيرٌ.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بَيْتِي لِأَنَّهُ كَبِيرٌ.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 + pronoun: </a:t>
            </a:r>
            <a:pPr algn="l" indent="0" marL="0">
              <a:buNone/>
            </a:pPr>
            <a:r>
              <a:rPr lang="ar-SA" altLang="en-US" sz="1500" b="1" dirty="0">
                <a:solidFill>
                  <a:srgbClr val="1B3B6F"/>
                </a:solidFill>
                <a:latin typeface="Amiri" pitchFamily="2" charset="-78"/>
                <a:ea typeface="Amiri" pitchFamily="2" charset="-78"/>
                <a:cs typeface="Amiri" pitchFamily="2" charset="-78"/>
              </a:rPr>
              <a:t>لِأَنَّهُ</a:t>
            </a:r>
            <a:pPr algn="l" indent="0" marL="0">
              <a:buNone/>
            </a:pPr>
            <a:r>
              <a:rPr lang="en-US" sz="1150" b="1" dirty="0">
                <a:solidFill>
                  <a:srgbClr val="1B3B6F"/>
                </a:solidFill>
                <a:latin typeface="Calibri" pitchFamily="34" charset="0"/>
                <a:cs typeface="Amiri" pitchFamily="2" charset="-78"/>
              </a:rPr>
              <a:t> (it, 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عَائِلَتِي خَمْسُ شَخْصٍ.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عَائِلَتِي خَمْسَةُ أَشْخَاصٍ.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a:t>
            </a:r>
            <a:pPr algn="l" indent="0" marL="0">
              <a:buNone/>
            </a:pPr>
            <a:r>
              <a:rPr lang="ar-SA" altLang="en-US" sz="1500" b="1" dirty="0">
                <a:solidFill>
                  <a:srgbClr val="1B3B6F"/>
                </a:solidFill>
                <a:latin typeface="Amiri" pitchFamily="2" charset="-78"/>
                <a:ea typeface="Amiri" pitchFamily="2" charset="-78"/>
                <a:cs typeface="Amiri" pitchFamily="2" charset="-78"/>
              </a:rPr>
              <a:t>أَشْخَاصٍ</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شَخْصٌ</a:t>
            </a:r>
            <a:pPr algn="l" indent="0" marL="0">
              <a:buNone/>
            </a:pPr>
            <a:r>
              <a:rPr lang="en-US" sz="1150" b="1" dirty="0">
                <a:solidFill>
                  <a:srgbClr val="1B3B6F"/>
                </a:solidFill>
                <a:latin typeface="Calibri" pitchFamily="34" charset="0"/>
                <a:cs typeface="Amiri" pitchFamily="2" charset="-78"/>
              </a:rPr>
              <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خَمْسَةُ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طَوِيلَةٌ، لِأَنَّ أَبِي قَصِيرٌ.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طَوِيلَةٌ، لٰكِنَّ أَبِي قَصِيرٌ.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contrast needs </a:t>
            </a:r>
            <a:pPr algn="l" indent="0" marL="0">
              <a:buNone/>
            </a:pPr>
            <a:r>
              <a:rPr lang="ar-SA" altLang="en-US" sz="1500" b="1" dirty="0">
                <a:solidFill>
                  <a:srgbClr val="1B3B6F"/>
                </a:solidFill>
                <a:latin typeface="Amiri" pitchFamily="2" charset="-78"/>
                <a:ea typeface="Amiri" pitchFamily="2" charset="-78"/>
                <a:cs typeface="Amiri" pitchFamily="2" charset="-78"/>
              </a:rPr>
              <a:t>لٰكِنَّ</a:t>
            </a:r>
            <a:pPr algn="l" indent="0" marL="0">
              <a:buNone/>
            </a:pPr>
            <a:r>
              <a:rPr lang="en-US" sz="1150" b="1" dirty="0">
                <a:solidFill>
                  <a:srgbClr val="1B3B6F"/>
                </a:solidFill>
                <a:latin typeface="Calibri" pitchFamily="34" charset="0"/>
                <a:cs typeface="Amiri" pitchFamily="2" charset="-78"/>
              </a:rPr>
              <a:t> (but), not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______ يَسْكُنُ / تَسْكُنُ مَعَنَا، لِذٰلِكَ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lives with us, so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أَجْمَلُ غُرْفَةٍ فِي بَيْتِنَا ______ لِأَنَّهَا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nicest room in our home is … because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فِي عَائِلَتِي ______ أَشْخَاصٍ. ______ اسْمُهُ / اسْمُهَا ______ ، وَهُوَ / وَهِيَ ______ .</a:t>
            </a:r>
            <a:endParaRPr lang="ar-SA" sz="10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people in my family. My … is called …, and he / she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نَسْكُنُ فِي ______ ، وَفِيهِ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live in a …, and it has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______ ، وَفِيهَا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 and it has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بَيْتِي لِأَنَّهُ ______ ، لٰكِنَّ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my home because it is …, but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عَائِلَتِي  ·  نَسْكُنُ فِي  ·  عِنْدَنَا · فِيهِ · فِيهَا  ·  هُوَ · هِيَ  ·  وَ · أَيْضًا  ·  لٰكِنَّ  ·  لِأَنَّهُ · لِأَنَّهَا  ·  لِذٰلِكَ</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My home and family — three paragraphs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بَيْتِي وَعَائِلَتِي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text of three short paragraphs (about 55–75 words) using your buddy’s notes as your plan. Paragraph 1: your family (who, and a description of one person). Paragraph 2: your home and your room. Paragraph 3: your opinion — what you like and don’t like, and why. Use at least four connectors.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نَسْكُنُ فِي … فِيهِ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live in … which has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because it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 · لِذٰلِكَ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 · so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three paragraphs: family · home · opinion?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four connectors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أَيْضًا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لِذٰلِكَ</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سِتَّةُ أَشْخَاصٍ.</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six people in my family.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شَخْصًا فِي عَائِلَتِكَ؟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أَخِي الصَّغِيرُ، هُوَ مُضْحِكٌ جِدًّا.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little brother — he is very funny.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أَكْثَرُ شَخْصٍ مُضْحِكٍ فِيهَا؟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أَجْمَلُ غُرْفَةٍ غُرْفَةُ الجُلُوسِ، لِأَنَّهَا وَاسِعَةٌ.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nicest room is the living room, because it is spacious.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غُرْفَةٍ فِي بَيْتِكَ؟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المَطْبَخَ، لِأَنَّهُ صَغِيرٌ جِدًّا.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the kitchen, because it is very small.</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لَا تُحِبُّ فِي بَيْتِكَ؟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فِي عَائِلَتِي سِتَّةُ أَشْخَاصٍ: أَبِي وَأُمِّي وَأَخَوَايَ وَأُخْتِي وَأَنَا. أَخِي الصَّغِيرُ اسْمُهُ آدَمُ، وَهُوَ مُضْحِكٌ جِدًّا، وَشَعْرُهُ أَسْوَدُ قَصِيرٌ.</a:t>
            </a:r>
            <a:endParaRPr lang="ar-SA" sz="2400" dirty="0"/>
          </a:p>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نَسْكُنُ فِي بَيْتٍ كَبِيرٍ فِي لِيسْتَرَ، وَفِيهِ أَرْبَعُ غُرَفِ نَوْمٍ وَمَطْبَخٌ وَاسِعٌ. غُرْفَتِي صَغِيرَةٌ، وَفِيهَا سَرِيرٌ أَزْرَقُ وَمَكْتَبٌ.</a:t>
            </a:r>
            <a:endParaRPr lang="ar-SA" sz="2400" dirty="0"/>
          </a:p>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أُحِبُّ بَيْتِي لِأَنَّهُ قَرِيبٌ مِنَ المَسْجِدِ، وَعِنْدَنَا حَدِيقَةٌ أَيْضًا. لٰكِنَّ جَدَّتِي تَسْكُنُ بَعِيدًا، لِذٰلِكَ نَزُورُهَا مَرَّةً فِي الشَّهْرِ.</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six people in my family: my father, mother, two brothers, sister and me. My little brother is called Adam; he is very funny, and his hair is short and black. / We live in a big house in Leicester, with four bedrooms and a spacious kitchen. My room is small, with a blue bed and a desk. / I love my home because it is near the mosque, and we have a garden too. But my grandmother lives far away, so we visit her once a month.”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عَائِلَتِي سِتَّةُ أَشْخَاصٍ</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نَسْكُنُ فِي بَيْتٍ كَبِيرٍ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قَرِيبٌ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نَزُورُهَا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F3-L10 · Speaking: My Family and Home</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عَنْ عَائِلَتِي وَبَيْتِي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F3-L09 · Practice Room — Extended Writing: My Home and Family</dc:title>
  <dc:subject>PptxGenJS Presentation</dc:subject>
  <dc:creator>Al Madina Online School · Arabic Department</dc:creator>
  <cp:lastModifiedBy>Al Madina Online School · Arabic Department</cp:lastModifiedBy>
  <cp:revision>1</cp:revision>
  <dcterms:created xsi:type="dcterms:W3CDTF">2026-10-25T17:22:20Z</dcterms:created>
  <dcterms:modified xsi:type="dcterms:W3CDTF">2026-10-25T17:22:20Z</dcterms:modified>
</cp:coreProperties>
</file>