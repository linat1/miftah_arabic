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F3-L12 (Unit Assessment: My Family and Home) — new practice tasks built on the lesson’s own word bank and grammar (all of F3 under assessment conditions: family words + possessives; describing people; rooms, furniture and colours; neighbourhood positions; connectors).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F3-L12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غُرْفَتُكِ. Task ! is unexpected — the Leader reads it without warning, as in the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(44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F3  ·  F3-L12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F3-L12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Unit Assessment: My Family and Home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تَدْرِيبٌ لِلتَّقْيِيمِ</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50" dirty="0">
                <a:solidFill>
                  <a:srgbClr val="C6D2E6"/>
                </a:solidFill>
                <a:latin typeface="Calibri" pitchFamily="34" charset="0"/>
                <a:cs typeface="Amiri" pitchFamily="2" charset="-78"/>
              </a:rPr>
              <a:t>Assessment practice for F3: students run their own speaking and writing rehearsal in breakout rooms — a quick word check, a model exchange, exam-style question cards, a role-play card, a 45-second talk, then build, fix and write a timed 60-word text about their family and home.</a:t>
            </a:r>
            <a:endParaRPr lang="en-US" sz="13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F3-L12 · Foundation F3 · My Family &amp; Home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end of unit F3</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F3 › F3-L12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F3-L12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F3-L12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F3-L12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F3-L12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F3-L12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F3 check: family and people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جَدٌّ · جَدَّةٌ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grandfather · grandmother</a:t>
            </a:r>
            <a:endParaRPr lang="en-US" sz="1350" dirty="0"/>
          </a:p>
          <a:p>
            <a:pPr indent="0" marL="0">
              <a:buNone/>
            </a:pPr>
            <a:r>
              <a:rPr lang="en-US" sz="1100" i="1" dirty="0">
                <a:solidFill>
                  <a:srgbClr val="5A6472"/>
                </a:solidFill>
                <a:latin typeface="Calibri" pitchFamily="34" charset="0"/>
                <a:cs typeface="Amiri" pitchFamily="2" charset="-78"/>
              </a:rPr>
              <a:t>jad-dun · jad-da-tun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عَمٌّ · خَالَةٌ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uncle · aunt</a:t>
            </a:r>
            <a:endParaRPr lang="en-US" sz="1350" dirty="0"/>
          </a:p>
          <a:p>
            <a:pPr indent="0" marL="0">
              <a:buNone/>
            </a:pPr>
            <a:r>
              <a:rPr lang="en-US" sz="1100" i="1" dirty="0">
                <a:solidFill>
                  <a:srgbClr val="5A6472"/>
                </a:solidFill>
                <a:latin typeface="Calibri" pitchFamily="34" charset="0"/>
                <a:cs typeface="Amiri" pitchFamily="2" charset="-78"/>
              </a:rPr>
              <a:t>ʿam-mun · khā-la-tun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ابْنُ عَمٍّ · بِنْتُ خَالٍ</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cousin (m. · f.)</a:t>
            </a:r>
            <a:endParaRPr lang="en-US" sz="1350" dirty="0"/>
          </a:p>
          <a:p>
            <a:pPr indent="0" marL="0">
              <a:buNone/>
            </a:pPr>
            <a:r>
              <a:rPr lang="en-US" sz="1100" i="1" dirty="0">
                <a:solidFill>
                  <a:srgbClr val="5A6472"/>
                </a:solidFill>
                <a:latin typeface="Calibri" pitchFamily="34" charset="0"/>
                <a:cs typeface="Amiri" pitchFamily="2" charset="-78"/>
              </a:rPr>
              <a:t>ab-nu ʿam-min · bin-tu khā-lin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طَوِيلٌ · قَصِيرَةٌ</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tall (m.) · short (f.)</a:t>
            </a:r>
            <a:endParaRPr lang="en-US" sz="1350" dirty="0"/>
          </a:p>
          <a:p>
            <a:pPr indent="0" marL="0">
              <a:buNone/>
            </a:pPr>
            <a:r>
              <a:rPr lang="en-US" sz="1100" i="1" dirty="0">
                <a:solidFill>
                  <a:srgbClr val="5A6472"/>
                </a:solidFill>
                <a:latin typeface="Calibri" pitchFamily="34" charset="0"/>
                <a:cs typeface="Amiri" pitchFamily="2" charset="-78"/>
              </a:rPr>
              <a:t>ṭa-wī-lun · qa-ṣī-ra-tun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لَطِيفٌ · مُضْحِكَةٌ</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kind (m.) · funny (f.)</a:t>
            </a:r>
            <a:endParaRPr lang="en-US" sz="1350" dirty="0"/>
          </a:p>
          <a:p>
            <a:pPr indent="0" marL="0">
              <a:buNone/>
            </a:pPr>
            <a:r>
              <a:rPr lang="en-US" sz="1100" i="1" dirty="0">
                <a:solidFill>
                  <a:srgbClr val="5A6472"/>
                </a:solidFill>
                <a:latin typeface="Calibri" pitchFamily="34" charset="0"/>
                <a:cs typeface="Amiri" pitchFamily="2" charset="-78"/>
              </a:rPr>
              <a:t>la-ṭī-fun · muḍ-ḥi-ka-tun</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شَعْرُهُ · عَيْنَاهَا</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his hair · her eyes</a:t>
            </a:r>
            <a:endParaRPr lang="en-US" sz="1350" dirty="0"/>
          </a:p>
          <a:p>
            <a:pPr indent="0" marL="0">
              <a:buNone/>
            </a:pPr>
            <a:r>
              <a:rPr lang="en-US" sz="1100" i="1" dirty="0">
                <a:solidFill>
                  <a:srgbClr val="5A6472"/>
                </a:solidFill>
                <a:latin typeface="Calibri" pitchFamily="34" charset="0"/>
                <a:cs typeface="Amiri" pitchFamily="2" charset="-78"/>
              </a:rPr>
              <a:t>shaʿ-ru-hu · ʿay-nā-hā</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F3 check: home and area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غُرْفَةُ النَّوْمِ</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bedroom</a:t>
            </a:r>
            <a:endParaRPr lang="en-US" sz="1350" dirty="0"/>
          </a:p>
          <a:p>
            <a:pPr indent="0" marL="0">
              <a:buNone/>
            </a:pPr>
            <a:r>
              <a:rPr lang="en-US" sz="1100" i="1" dirty="0">
                <a:solidFill>
                  <a:srgbClr val="5A6472"/>
                </a:solidFill>
                <a:latin typeface="Calibri" pitchFamily="34" charset="0"/>
                <a:cs typeface="Amiri" pitchFamily="2" charset="-78"/>
              </a:rPr>
              <a:t>ghur-fa-tu an-naw-mi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غُرْفَةُ الجُلُوسِ</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living room</a:t>
            </a:r>
            <a:endParaRPr lang="en-US" sz="1350" dirty="0"/>
          </a:p>
          <a:p>
            <a:pPr indent="0" marL="0">
              <a:buNone/>
            </a:pPr>
            <a:r>
              <a:rPr lang="en-US" sz="1100" i="1" dirty="0">
                <a:solidFill>
                  <a:srgbClr val="5A6472"/>
                </a:solidFill>
                <a:latin typeface="Calibri" pitchFamily="34" charset="0"/>
                <a:cs typeface="Amiri" pitchFamily="2" charset="-78"/>
              </a:rPr>
              <a:t>ghur-fa-tu al-ju-lū-si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يُوجَدُ · تُوجَدُ</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there is (m. · f.)</a:t>
            </a:r>
            <a:endParaRPr lang="en-US" sz="1350" dirty="0"/>
          </a:p>
          <a:p>
            <a:pPr indent="0" marL="0">
              <a:buNone/>
            </a:pPr>
            <a:r>
              <a:rPr lang="en-US" sz="1100" i="1" dirty="0">
                <a:solidFill>
                  <a:srgbClr val="5A6472"/>
                </a:solidFill>
                <a:latin typeface="Calibri" pitchFamily="34" charset="0"/>
                <a:cs typeface="Amiri" pitchFamily="2" charset="-78"/>
              </a:rPr>
              <a:t>yū-ja-du · tū-ja-du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أَزْرَقُ · زَرْقَاءُ</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blue (m. · f.)</a:t>
            </a:r>
            <a:endParaRPr lang="en-US" sz="1350" dirty="0"/>
          </a:p>
          <a:p>
            <a:pPr indent="0" marL="0">
              <a:buNone/>
            </a:pPr>
            <a:r>
              <a:rPr lang="en-US" sz="1100" i="1" dirty="0">
                <a:solidFill>
                  <a:srgbClr val="5A6472"/>
                </a:solidFill>
                <a:latin typeface="Calibri" pitchFamily="34" charset="0"/>
                <a:cs typeface="Amiri" pitchFamily="2" charset="-78"/>
              </a:rPr>
              <a:t>az-ra-qu · zar-qā-ʾu</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بِجَانِبِ · مُقَابِلَ</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next to · opposite</a:t>
            </a:r>
            <a:endParaRPr lang="en-US" sz="1350" dirty="0"/>
          </a:p>
          <a:p>
            <a:pPr indent="0" marL="0">
              <a:buNone/>
            </a:pPr>
            <a:r>
              <a:rPr lang="en-US" sz="1100" i="1" dirty="0">
                <a:solidFill>
                  <a:srgbClr val="5A6472"/>
                </a:solidFill>
                <a:latin typeface="Calibri" pitchFamily="34" charset="0"/>
                <a:cs typeface="Amiri" pitchFamily="2" charset="-78"/>
              </a:rPr>
              <a:t>bi-jā-ni-bi · mu-qā-bi-la</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قَرِيبٌ مِنْ · بَعِيدٌ عَنْ</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near · far from</a:t>
            </a:r>
            <a:endParaRPr lang="en-US" sz="1350" dirty="0"/>
          </a:p>
          <a:p>
            <a:pPr indent="0" marL="0">
              <a:buNone/>
            </a:pPr>
            <a:r>
              <a:rPr lang="en-US" sz="1100" i="1" dirty="0">
                <a:solidFill>
                  <a:srgbClr val="5A6472"/>
                </a:solidFill>
                <a:latin typeface="Calibri" pitchFamily="34" charset="0"/>
                <a:cs typeface="Amiri" pitchFamily="2" charset="-78"/>
              </a:rPr>
              <a:t>qa-rī-bun min · ba-ʿī-dun ʿan</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 exam-style exchange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حِوَارٌ مِثْلَ الامْتِحَانِ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someone in your family.</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صِفْ شَخْصًا فِي عَائِلَتِكَ.</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grandfather is old and tall, and his hair is white. He is calm and generous.</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جَدِّي كَبِيرٌ وَطَوِيلٌ، وَشَعْرُهُ أَبْيَضُ. هُوَ هَادِئٌ وَكَرِيمٌ.</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do you live?</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أَيْنَ تَسْكُنُ؟</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live in a flat in Birmingham. It has two bedrooms and a small kitchen.</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أَسْكُنُ فِي شَقَّةٍ فِي بِرْمِنْغْهَامَ. فِيهَا غُرْفَتَا نَوْمٍ وَمَطْبَخٌ صَغِيرٌ.</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near your home?</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مَاذَا يُوجَدُ قُرْبَ بَيْتِكَ؟</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There is a library next to my home, and the mosque is opposite the school.</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تُوجَدُ مَكْتَبَةٌ بِجَانِبِ بَيْتِي، وَالمَسْجِدُ مُقَابِلَ المَدْرَسَةِ.</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Round 3: answer with your own facts under exam conditions — no slide, two sentences each.</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وَعِنْدِي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عَائِلَتِي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is in your family?</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فِي عَائِلَتِكَ؟</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وَشَعْرُهَا / وَشَعْرُهُ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أُمِّي … / أَبِي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your mother or father.</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أُمَّكَ أَوْ أَبَاكَ.</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لَوْنُهُ / لَوْنُهَا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غُرْفَتِي … ؛ فِيهَا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your room.</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غُرْفَتَكَ.</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بِجَانِبِ / مُقَابِلَ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يُوجَدُ … وَتُوجَدُ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in your area?</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يُوجَدُ فِي حَيِّكَ؟</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 لٰكِنَّ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رَأْيِي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think of your home?</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رَأْيُكَ فِي بَيْتِكَ؟</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 a new friend visits your home</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صَدِيقٌ جَدِيدٌ فِي بَيْتِي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 هٰذِهِ … ، اسْمُهَا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Introduce your sister / aunt.</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هٰذِهِ؟</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 هِيَ … وَ…</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adjectives.</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هِيَ؟</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 غُرْفَتِي … بِجَانِبِ …</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the location.</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غُرْفَتُكَ؟</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أَجْمَلُ شَيْءٍ … لِأَنَّ …</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the surprise question.</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أَجْمَلُ شَيْءٍ فِي غُرْفَتِكَ؟</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the host · Leader = a new friend.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45 seconds: my family and home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عَائِلَتِي وَبَيْتِي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45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Speak for 45 seconds without stopping about your family, your home and your area — as in the assessment.</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30 seconds: three sentences about family, three about home.</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45 seconds: with descriptions, colours and positions.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45 seconds + opinions with </a:t>
            </a:r>
            <a:pPr algn="l" indent="0" marL="0">
              <a:buNone/>
            </a:pPr>
            <a:r>
              <a:rPr lang="ar-SA" altLang="en-US" sz="1500" dirty="0">
                <a:solidFill>
                  <a:srgbClr val="1F2A37"/>
                </a:solidFill>
                <a:latin typeface="Amiri" pitchFamily="2" charset="-78"/>
                <a:ea typeface="Amiri" pitchFamily="2" charset="-78"/>
                <a:cs typeface="Amiri" pitchFamily="2" charset="-78"/>
              </a:rPr>
              <a:t>لِأَنَّ / لٰكِنَّ</a:t>
            </a:r>
            <a:pPr algn="l" indent="0" marL="0">
              <a:buNone/>
            </a:pPr>
            <a:r>
              <a:rPr lang="en-US" sz="1150" dirty="0">
                <a:solidFill>
                  <a:srgbClr val="1F2A37"/>
                </a:solidFill>
                <a:latin typeface="Calibri" pitchFamily="34" charset="0"/>
                <a:cs typeface="Amiri" pitchFamily="2" charset="-78"/>
              </a:rPr>
              <a:t> and no errors in agreement.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F3-L12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aunt has two daughters; they are young.</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 خَالَتِي بِنْتَانِ،</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 خَالَتِي بِنْتٌ،</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هُمَا</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هِيَ</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صَغِيرَتَانِ.</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صَغِيرَةٌ.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There is a green sofa opposite the TV.</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تُوجَدُ كَنَبَةٌ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يُوجَدُ كَنَبَةٌ</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خَضْرَاءُ</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أَخْضَرُ</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مُقَابِلَ التِّلْفَازِ.</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مُقَابِلَ التِّلْفَازُ.</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love my home because it is near the park.</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أُحِبُّ بَيْتِي</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تُحِبُّ بَيْتِي</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لِأَنَّهُ قَرِيبٌ</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لِأَنَّهَا قَرِيبَةٌ</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الحَدِيقَةِ.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 الحَدِيقَةِ.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F3-L12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aunt has two daughters; they are young.</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Two daughters = dual </a:t>
            </a:r>
            <a:pPr algn="l" indent="0" marL="0">
              <a:buNone/>
            </a:pPr>
            <a:r>
              <a:rPr lang="ar-SA" altLang="en-US" sz="1350" dirty="0">
                <a:solidFill>
                  <a:srgbClr val="5A6472"/>
                </a:solidFill>
                <a:latin typeface="Amiri" pitchFamily="2" charset="-78"/>
                <a:ea typeface="Amiri" pitchFamily="2" charset="-78"/>
                <a:cs typeface="Amiri" pitchFamily="2" charset="-78"/>
              </a:rPr>
              <a:t>بِنْتَانِ</a:t>
            </a:r>
            <a:pPr algn="l" indent="0" marL="0">
              <a:buNone/>
            </a:pPr>
            <a:r>
              <a:rPr lang="en-US" sz="1050" i="1" dirty="0">
                <a:solidFill>
                  <a:srgbClr val="5A6472"/>
                </a:solidFill>
                <a:latin typeface="Calibri" pitchFamily="34" charset="0"/>
                <a:cs typeface="Amiri" pitchFamily="2" charset="-78"/>
              </a:rPr>
              <a:t>; they two = </a:t>
            </a:r>
            <a:pPr algn="l" indent="0" marL="0">
              <a:buNone/>
            </a:pPr>
            <a:r>
              <a:rPr lang="ar-SA" altLang="en-US" sz="1350" dirty="0">
                <a:solidFill>
                  <a:srgbClr val="5A6472"/>
                </a:solidFill>
                <a:latin typeface="Amiri" pitchFamily="2" charset="-78"/>
                <a:ea typeface="Amiri" pitchFamily="2" charset="-78"/>
                <a:cs typeface="Amiri" pitchFamily="2" charset="-78"/>
              </a:rPr>
              <a:t>هُمَا … صَغِيرَتَانِ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عِنْدَ خَالَتِي بِنْتَانِ، هُمَا صَغِيرَتَانِ.</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There is a green sofa opposite the TV.</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Sofa (f.) → </a:t>
            </a:r>
            <a:pPr algn="l" indent="0" marL="0">
              <a:buNone/>
            </a:pPr>
            <a:r>
              <a:rPr lang="ar-SA" altLang="en-US" sz="1350" dirty="0">
                <a:solidFill>
                  <a:srgbClr val="5A6472"/>
                </a:solidFill>
                <a:latin typeface="Amiri" pitchFamily="2" charset="-78"/>
                <a:ea typeface="Amiri" pitchFamily="2" charset="-78"/>
                <a:cs typeface="Amiri" pitchFamily="2" charset="-78"/>
              </a:rPr>
              <a:t>تُوجَدُ … خَضْرَاءُ</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مُقَابِلَ</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تُوجَدُ كَنَبَةٌ خَضْرَاءُ مُقَابِلَ التِّلْفَازِ.</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love my home because it is near the park.</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Home (m.) → </a:t>
            </a:r>
            <a:pPr algn="l" indent="0" marL="0">
              <a:buNone/>
            </a:pPr>
            <a:r>
              <a:rPr lang="ar-SA" altLang="en-US" sz="1350" dirty="0">
                <a:solidFill>
                  <a:srgbClr val="5A6472"/>
                </a:solidFill>
                <a:latin typeface="Amiri" pitchFamily="2" charset="-78"/>
                <a:ea typeface="Amiri" pitchFamily="2" charset="-78"/>
                <a:cs typeface="Amiri" pitchFamily="2" charset="-78"/>
              </a:rPr>
              <a:t>لِأَنَّهُ قَرِيبٌ مِنْ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أُحِبُّ بَيْتِي لِأَنَّهُ قَرِيبٌ مِنَ الحَدِيقَةِ.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أَبِي شَعْرُهُ سَوْدَاءُ.</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Hair is masculine.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فِي بَيْتِي أَرْبَعُ غُرْفَةٍ.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3–10 + plural.</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هٰذِهِ أَخِي، اسْمُهَا عَلِيٌّ.</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Ali is a boy.</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أَبِي شَعْرُهُ سَوْدَاءُ.</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أَبِي شَعْرُهُ أَسْوَدُ.</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شَعْرٌ</a:t>
            </a:r>
            <a:pPr algn="l" indent="0" marL="0">
              <a:buNone/>
            </a:pPr>
            <a:r>
              <a:rPr lang="en-US" sz="1150" b="1" dirty="0">
                <a:solidFill>
                  <a:srgbClr val="1B3B6F"/>
                </a:solidFill>
                <a:latin typeface="Calibri" pitchFamily="34" charset="0"/>
                <a:cs typeface="Amiri" pitchFamily="2" charset="-78"/>
              </a:rPr>
              <a:t> (m.) → </a:t>
            </a:r>
            <a:pPr algn="l" indent="0" marL="0">
              <a:buNone/>
            </a:pPr>
            <a:r>
              <a:rPr lang="ar-SA" altLang="en-US" sz="1500" b="1" dirty="0">
                <a:solidFill>
                  <a:srgbClr val="1B3B6F"/>
                </a:solidFill>
                <a:latin typeface="Amiri" pitchFamily="2" charset="-78"/>
                <a:ea typeface="Amiri" pitchFamily="2" charset="-78"/>
                <a:cs typeface="Amiri" pitchFamily="2" charset="-78"/>
              </a:rPr>
              <a:t>أَسْوَدُ</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فِي بَيْتِي أَرْبَعُ غُرْفَةٍ.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فِي بَيْتِي أَرْبَعُ غُرَفٍ.</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Plural </a:t>
            </a:r>
            <a:pPr algn="l" indent="0" marL="0">
              <a:buNone/>
            </a:pPr>
            <a:r>
              <a:rPr lang="ar-SA" altLang="en-US" sz="1500" b="1" dirty="0">
                <a:solidFill>
                  <a:srgbClr val="1B3B6F"/>
                </a:solidFill>
                <a:latin typeface="Amiri" pitchFamily="2" charset="-78"/>
                <a:ea typeface="Amiri" pitchFamily="2" charset="-78"/>
                <a:cs typeface="Amiri" pitchFamily="2" charset="-78"/>
              </a:rPr>
              <a:t>غُرَفٍ</a:t>
            </a:r>
            <a:pPr algn="l" indent="0" marL="0">
              <a:buNone/>
            </a:pPr>
            <a:r>
              <a:rPr lang="en-US" sz="1150" b="1" dirty="0">
                <a:solidFill>
                  <a:srgbClr val="1B3B6F"/>
                </a:solidFill>
                <a:latin typeface="Calibri" pitchFamily="34" charset="0"/>
                <a:cs typeface="Amiri" pitchFamily="2" charset="-78"/>
              </a:rPr>
              <a:t> after 3–10.</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هٰذِهِ أَخِي، اسْمُهَا عَلِيٌّ.</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هٰذَا أَخِي، اسْمُهُ عَلِيٌّ.</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boy → </a:t>
            </a:r>
            <a:pPr algn="l" indent="0" marL="0">
              <a:buNone/>
            </a:pPr>
            <a:r>
              <a:rPr lang="ar-SA" altLang="en-US" sz="1500" b="1" dirty="0">
                <a:solidFill>
                  <a:srgbClr val="1B3B6F"/>
                </a:solidFill>
                <a:latin typeface="Amiri" pitchFamily="2" charset="-78"/>
                <a:ea typeface="Amiri" pitchFamily="2" charset="-78"/>
                <a:cs typeface="Amiri" pitchFamily="2" charset="-78"/>
              </a:rPr>
              <a:t>هٰذَا … اسْمُهُ</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F3-L12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غُرْفَتِي يُوجَدُ ______ ، وَتُوجَدُ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room there is … and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______ لِأَنَّ ______ ، لٰكِنَّ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love … because …, but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عَائِلَتِي ______ أَشْخَاصٍ.</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are … people in my family.</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______ هُوَ ______ ، وَ ______ هِيَ ______ .</a:t>
            </a:r>
            <a:endParaRPr lang="ar-SA" sz="17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 is …, and my … is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نَسْكُنُ فِي ______ ، وَغُرْفَتِي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live in …, and my room is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قَرِيبٌ مِنْ بَيْتِي.</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near my home.</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فِي عَائِلَتِي  ·  هُوَ · هِيَ  ·  شَعْرُهُ · شَعْرُهَا  ·  يُوجَدُ · تُوجَدُ  ·  أَبْيَضُ · بَيْضَاءُ  ·  بِجَانِبِ · مُقَابِلَ  ·  قَرِيبٌ مِنْ · بَعِيدٌ عَنْ  ·  لِأَنَّ · لٰكِنَّ</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F3-L12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Timed writing: my family and my home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كِتَابَةٌ مُؤَقَّتَةٌ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F3-L12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Timed practice (10 minutes). Write about 50–70 words for an e-pal. Include: • who is in your family • a description of two people (a man and a woman) • your home and your room, with colours • your area: one place near and one place far • your opinion with a reason.</a:t>
            </a:r>
            <a:endParaRPr lang="en-US" sz="12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عَائِلَتِي … أَشْخَاصٍ</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there are … people in my family</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هُوَ … · … هِيَ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he is … · … she is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غُرْفَتِي … أَزْرَقُ / زَرْقَاءُ</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my room … blue</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قَرِيبٌ مِنْ … ، وَ… بَعِيدٌ عَنْ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near …, and … far from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cover every bullet point in full sentences within the time?</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get the agreements right (people, colours, </a:t>
            </a:r>
            <a:pPr algn="l" indent="0" marL="0">
              <a:buNone/>
            </a:pPr>
            <a:r>
              <a:rPr lang="ar-SA" altLang="en-US" sz="1450" dirty="0">
                <a:solidFill>
                  <a:srgbClr val="5A6472"/>
                </a:solidFill>
                <a:latin typeface="Amiri" pitchFamily="2" charset="-78"/>
                <a:ea typeface="Amiri" pitchFamily="2" charset="-78"/>
                <a:cs typeface="Amiri" pitchFamily="2" charset="-78"/>
              </a:rPr>
              <a:t>يُوجَدُ / تُوجَدُ</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هٰذِهِ أُخْتِي الكَبِيرَةُ، اسْمُهَا أَمَلُ.</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This is my older sister; her name is Amal.</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هٰذِهِ؟</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هِيَ ذَكِيَّةٌ وَمُضْحِكَةٌ جِدًّا.</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She is very clever and funny.</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هِيَ؟</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غُرْفَتِي فِي الطَّابِقِ الأَوَّلِ، بِجَانِبِ الحَمَّامِ.</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room is on the first floor, next to the bathroom.</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غُرْفَتُكَ؟</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أَجْمَلُ شَيْءٍ السَّجَّادَةُ الزَّرْقَاءُ، لِأَنَّهَا هَدِيَّةٌ مِنْ جَدَّتِي.</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nicest thing is the blue rug, because it is a present from my grandmother.</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أَجْمَلُ شَيْءٍ فِي غُرْفَتِكَ؟</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F3-L12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مَرْحَبًا! فِي عَائِلَتِي خَمْسَةُ أَشْخَاصٍ. أَبِي طَوِيلٌ وَهَادِئٌ، وَشَعْرُهُ رَمَادِيٌّ. أُمِّي قَصِيرَةٌ وَلَطِيفَةٌ جِدًّا. نَسْكُنُ فِي بَيْتٍ فِي لُوتُنَ، وَفِيهِ ثَلَاثُ غُرَفِ نَوْمٍ. غُرْفَتِي صَغِيرَةٌ وَمُرَتَّبَةٌ؛ فِيهَا سَرِيرٌ أَبْيَضُ وَخِزَانَةٌ بُنِّيَّةٌ. المَسْجِدُ قَرِيبٌ مِنْ بَيْتِي، لٰكِنَّ المَدْرَسَةَ بَعِيدَةٌ عَنْهُ. أُحِبُّ حَيِّي لِأَنَّ جِيرَانَنَا لُطَفَاءُ.</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There are five people in my family. My father is tall and calm, and his hair is grey. My mother is short and very kind. We live in a house in Luton with three bedrooms. My room is small and tidy; it has a white bed and a brown wardrobe. The mosque is near my home, but the school is far from it. I love my area because our neighbours are kind.”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وَشَعْرُهُ رَمَادِيٌّ</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أُمِّي قَصِيرَةٌ وَلَطِيفَةٌ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سَرِيرٌ أَبْيَضُ وَخِزَانَةٌ بُنِّيَّةٌ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قَرِيبٌ مِنْ … بَعِيدَةٌ عَنْهُ</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F3-L12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F3-L12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300" b="1" dirty="0">
                <a:solidFill>
                  <a:srgbClr val="FFFFFF"/>
                </a:solidFill>
                <a:latin typeface="Cambria" pitchFamily="34" charset="0"/>
                <a:cs typeface="Amiri" pitchFamily="2" charset="-78"/>
              </a:rPr>
              <a:t>F3 review · Well done — the unit is complete</a:t>
            </a:r>
            <a:endParaRPr lang="en-US" sz="23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أَحْسَنْتُمْ</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decode the question word, answer in full sentences, check every agreement.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F3-L12 · Practice Room — Unit Assessment: My Family and Home</dc:title>
  <dc:subject>PptxGenJS Presentation</dc:subject>
  <dc:creator>Al Madina Online School · Arabic Department</dc:creator>
  <cp:lastModifiedBy>Al Madina Online School · Arabic Department</cp:lastModifiedBy>
  <cp:revision>1</cp:revision>
  <dcterms:created xsi:type="dcterms:W3CDTF">2026-10-25T17:24:31Z</dcterms:created>
  <dcterms:modified xsi:type="dcterms:W3CDTF">2026-10-25T17:24:31Z</dcterms:modified>
</cp:coreProperties>
</file>