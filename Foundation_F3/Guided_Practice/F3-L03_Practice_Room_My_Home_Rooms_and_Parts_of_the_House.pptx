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F3-L03 (My Home — Rooms and Parts of the House) — new practice tasks built on the lesson’s own word bank and grammar (room names as iḍāfa (ghurfatu al-nawm · ghurfatu al-julūs); fī baytī …; hunāka; ʿindanā; numbers + rooms; fawqa / taḥta (upstairs / downstairs)).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to a female guest: تَفَضَّلِي. Language: iḍāfa room names (ghurfatu al-julūs) · bi-jānibi / amāma + genitive · numbers 3–10 + plural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My Home — Rooms and Parts of the House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بَيْتِي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about their home: say the rooms and house parts, act a short dialogue, answer question cards, do a role-play card showing a guest around, give a 30-second home tour, then build, fix and write a short description of their home.</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F3-L03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house and its parts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my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بَيْتٌ</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house / home</a:t>
            </a:r>
            <a:endParaRPr lang="en-US" sz="1350" dirty="0"/>
          </a:p>
          <a:p>
            <a:pPr indent="0" marL="0">
              <a:buNone/>
            </a:pPr>
            <a:r>
              <a:rPr lang="en-US" sz="1100" i="1" dirty="0">
                <a:solidFill>
                  <a:srgbClr val="5A6472"/>
                </a:solidFill>
                <a:latin typeface="Calibri" pitchFamily="34" charset="0"/>
                <a:cs typeface="Amiri" pitchFamily="2" charset="-78"/>
              </a:rPr>
              <a:t>bayt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بُيُوتٌ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بَيْتِي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door</a:t>
            </a:r>
            <a:endParaRPr lang="en-US" sz="1350" dirty="0"/>
          </a:p>
          <a:p>
            <a:pPr indent="0" marL="0">
              <a:buNone/>
            </a:pPr>
            <a:r>
              <a:rPr lang="en-US" sz="1100" i="1" dirty="0">
                <a:solidFill>
                  <a:srgbClr val="5A6472"/>
                </a:solidFill>
                <a:latin typeface="Calibri" pitchFamily="34" charset="0"/>
                <a:cs typeface="Amiri" pitchFamily="2" charset="-78"/>
              </a:rPr>
              <a:t>bāb</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أَبْوَابٌ</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5" name="Shape 4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m.</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نَافِذَةٌ / شَبَّاكٌ</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window</a:t>
            </a:r>
            <a:endParaRPr lang="en-US" sz="1350" dirty="0"/>
          </a:p>
          <a:p>
            <a:pPr indent="0" marL="0">
              <a:buNone/>
            </a:pPr>
            <a:r>
              <a:rPr lang="en-US" sz="1100" i="1" dirty="0">
                <a:solidFill>
                  <a:srgbClr val="5A6472"/>
                </a:solidFill>
                <a:latin typeface="Calibri" pitchFamily="34" charset="0"/>
                <a:cs typeface="Amiri" pitchFamily="2" charset="-78"/>
              </a:rPr>
              <a:t>nā-fi-dha / shub-bāk</a:t>
            </a:r>
            <a:endParaRPr lang="en-US" sz="1350" dirty="0"/>
          </a:p>
        </p:txBody>
      </p:sp>
      <p:sp>
        <p:nvSpPr>
          <p:cNvPr id="51" name="Shape 4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نَوَافِذُ / شَبَابِيكُ</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7" name="Shape 5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مَرْآبٌ</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garage</a:t>
            </a:r>
            <a:endParaRPr lang="en-US" sz="1350" dirty="0"/>
          </a:p>
          <a:p>
            <a:pPr indent="0" marL="0">
              <a:buNone/>
            </a:pPr>
            <a:r>
              <a:rPr lang="en-US" sz="1100" i="1" dirty="0">
                <a:solidFill>
                  <a:srgbClr val="5A6472"/>
                </a:solidFill>
                <a:latin typeface="Calibri" pitchFamily="34" charset="0"/>
                <a:cs typeface="Amiri" pitchFamily="2" charset="-78"/>
              </a:rPr>
              <a:t>mar-ʾāb</a:t>
            </a:r>
            <a:endParaRPr lang="en-US" sz="1350" dirty="0"/>
          </a:p>
        </p:txBody>
      </p:sp>
      <p:sp>
        <p:nvSpPr>
          <p:cNvPr id="61" name="Shape 5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3" name="Text 6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مَرَائِبُ</a:t>
            </a:r>
            <a:endParaRPr lang="ar-SA" sz="150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7" name="Shape 64"/>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9" name="Text 6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مَدْخَلٌ</a:t>
            </a:r>
            <a:endParaRPr lang="ar-SA" sz="3000" dirty="0"/>
          </a:p>
        </p:txBody>
      </p:sp>
      <p:sp>
        <p:nvSpPr>
          <p:cNvPr id="70" name="Text 6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entrance / hall</a:t>
            </a:r>
            <a:endParaRPr lang="en-US" sz="1350" dirty="0"/>
          </a:p>
          <a:p>
            <a:pPr indent="0" marL="0">
              <a:buNone/>
            </a:pPr>
            <a:r>
              <a:rPr lang="en-US" sz="1100" i="1" dirty="0">
                <a:solidFill>
                  <a:srgbClr val="5A6472"/>
                </a:solidFill>
                <a:latin typeface="Calibri" pitchFamily="34" charset="0"/>
                <a:cs typeface="Amiri" pitchFamily="2" charset="-78"/>
              </a:rPr>
              <a:t>mad-khal</a:t>
            </a:r>
            <a:endParaRPr lang="en-US" sz="1350" dirty="0"/>
          </a:p>
        </p:txBody>
      </p:sp>
      <p:sp>
        <p:nvSpPr>
          <p:cNvPr id="71" name="Shape 68"/>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3" name="Text 70"/>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مَدَاخِلُ</a:t>
            </a:r>
            <a:endParaRPr lang="ar-SA" sz="150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حَائِطٌ</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wall</a:t>
            </a:r>
            <a:endParaRPr lang="en-US" sz="1350" dirty="0"/>
          </a:p>
          <a:p>
            <a:pPr indent="0" marL="0">
              <a:buNone/>
            </a:pPr>
            <a:r>
              <a:rPr lang="en-US" sz="1100" i="1" dirty="0">
                <a:solidFill>
                  <a:srgbClr val="5A6472"/>
                </a:solidFill>
                <a:latin typeface="Calibri" pitchFamily="34" charset="0"/>
                <a:cs typeface="Amiri" pitchFamily="2" charset="-78"/>
              </a:rPr>
              <a:t>ḥā-ʾiṭ</a:t>
            </a:r>
            <a:endParaRPr lang="en-US" sz="1350" dirty="0"/>
          </a:p>
        </p:txBody>
      </p:sp>
      <p:sp>
        <p:nvSpPr>
          <p:cNvPr id="81" name="Shape 78"/>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3" name="Text 80"/>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حِيطَانٌ</a:t>
            </a:r>
            <a:endParaRPr lang="ar-SA" sz="15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rooms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سَقْفٌ · سَطْحٌ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ceiling · rooftop</a:t>
            </a:r>
            <a:endParaRPr lang="en-US" sz="1350" dirty="0"/>
          </a:p>
          <a:p>
            <a:pPr indent="0" marL="0">
              <a:buNone/>
            </a:pPr>
            <a:r>
              <a:rPr lang="en-US" sz="1100" i="1" dirty="0">
                <a:solidFill>
                  <a:srgbClr val="5A6472"/>
                </a:solidFill>
                <a:latin typeface="Calibri" pitchFamily="34" charset="0"/>
                <a:cs typeface="Amiri" pitchFamily="2" charset="-78"/>
              </a:rPr>
              <a:t>saqf · saṭḥ</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Do not confuse (website): </a:t>
            </a:r>
            <a:pPr algn="l" indent="0" marL="0">
              <a:buNone/>
            </a:pPr>
            <a:r>
              <a:rPr lang="ar-SA" altLang="en-US" sz="1150" dirty="0">
                <a:solidFill>
                  <a:srgbClr val="8A6D1E"/>
                </a:solidFill>
                <a:latin typeface="Amiri" pitchFamily="2" charset="-78"/>
                <a:ea typeface="Amiri" pitchFamily="2" charset="-78"/>
                <a:cs typeface="Amiri" pitchFamily="2" charset="-78"/>
              </a:rPr>
              <a:t>سَقْفٌ</a:t>
            </a:r>
            <a:pPr algn="l" indent="0" marL="0">
              <a:buNone/>
            </a:pPr>
            <a:r>
              <a:rPr lang="en-US" sz="900" i="1" dirty="0">
                <a:solidFill>
                  <a:srgbClr val="8A6D1E"/>
                </a:solidFill>
                <a:latin typeface="Calibri" pitchFamily="34" charset="0"/>
                <a:cs typeface="Amiri" pitchFamily="2" charset="-78"/>
              </a:rPr>
              <a:t> = ceiling / roof covering; </a:t>
            </a:r>
            <a:pPr algn="l" indent="0" marL="0">
              <a:buNone/>
            </a:pPr>
            <a:r>
              <a:rPr lang="ar-SA" altLang="en-US" sz="1150" dirty="0">
                <a:solidFill>
                  <a:srgbClr val="8A6D1E"/>
                </a:solidFill>
                <a:latin typeface="Amiri" pitchFamily="2" charset="-78"/>
                <a:ea typeface="Amiri" pitchFamily="2" charset="-78"/>
                <a:cs typeface="Amiri" pitchFamily="2" charset="-78"/>
              </a:rPr>
              <a:t>سَطْحٌ</a:t>
            </a:r>
            <a:pPr algn="l" indent="0" marL="0">
              <a:buNone/>
            </a:pPr>
            <a:r>
              <a:rPr lang="en-US" sz="900" i="1" dirty="0">
                <a:solidFill>
                  <a:srgbClr val="8A6D1E"/>
                </a:solidFill>
                <a:latin typeface="Calibri" pitchFamily="34" charset="0"/>
                <a:cs typeface="Amiri" pitchFamily="2" charset="-78"/>
              </a:rPr>
              <a:t> = flat rooftop.</a:t>
            </a:r>
            <a:endParaRPr lang="en-US" sz="9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8" name="Text 2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شُرْفَةٌ</a:t>
            </a:r>
            <a:endParaRPr lang="ar-SA" sz="3000" dirty="0"/>
          </a:p>
        </p:txBody>
      </p:sp>
      <p:sp>
        <p:nvSpPr>
          <p:cNvPr id="29" name="Text 2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balcony</a:t>
            </a:r>
            <a:endParaRPr lang="en-US" sz="1350" dirty="0"/>
          </a:p>
          <a:p>
            <a:pPr indent="0" marL="0">
              <a:buNone/>
            </a:pPr>
            <a:r>
              <a:rPr lang="en-US" sz="1100" i="1" dirty="0">
                <a:solidFill>
                  <a:srgbClr val="5A6472"/>
                </a:solidFill>
                <a:latin typeface="Calibri" pitchFamily="34" charset="0"/>
                <a:cs typeface="Amiri" pitchFamily="2" charset="-78"/>
              </a:rPr>
              <a:t>shur-fa</a:t>
            </a:r>
            <a:endParaRPr lang="en-US" sz="1350" dirty="0"/>
          </a:p>
        </p:txBody>
      </p:sp>
      <p:sp>
        <p:nvSpPr>
          <p:cNvPr id="30" name="Shape 27"/>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شُرُفَاتٌ</a:t>
            </a:r>
            <a:endParaRPr lang="ar-SA" sz="15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room of sleeping</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النَّوْمِ</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bedroom</a:t>
            </a:r>
            <a:endParaRPr lang="en-US" sz="1350" dirty="0"/>
          </a:p>
          <a:p>
            <a:pPr indent="0" marL="0">
              <a:buNone/>
            </a:pPr>
            <a:r>
              <a:rPr lang="en-US" sz="1100" i="1" dirty="0">
                <a:solidFill>
                  <a:srgbClr val="5A6472"/>
                </a:solidFill>
                <a:latin typeface="Calibri" pitchFamily="34" charset="0"/>
                <a:cs typeface="Amiri" pitchFamily="2" charset="-78"/>
              </a:rPr>
              <a:t>ghur-fa-tu n-nawm</a:t>
            </a:r>
            <a:endParaRPr lang="en-US" sz="1350" dirty="0"/>
          </a:p>
        </p:txBody>
      </p:sp>
      <p:sp>
        <p:nvSpPr>
          <p:cNvPr id="42" name="Shape 3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غُرَفُ النَّوْمِ</a:t>
            </a:r>
            <a:endParaRPr lang="ar-SA" sz="1500" dirty="0"/>
          </a:p>
        </p:txBody>
      </p:sp>
      <p:sp>
        <p:nvSpPr>
          <p:cNvPr id="45" name="Shape 4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7" name="Text 4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غُرْفَةُ نَوْمِي</a:t>
            </a:r>
            <a:endParaRPr lang="ar-SA" sz="150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1" name="Shape 4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3" name="Shape 5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المَطْبَخُ</a:t>
            </a:r>
            <a:endParaRPr lang="ar-SA" sz="3000" dirty="0"/>
          </a:p>
        </p:txBody>
      </p:sp>
      <p:sp>
        <p:nvSpPr>
          <p:cNvPr id="56" name="Text 5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kitchen</a:t>
            </a:r>
            <a:endParaRPr lang="en-US" sz="1350" dirty="0"/>
          </a:p>
          <a:p>
            <a:pPr indent="0" marL="0">
              <a:buNone/>
            </a:pPr>
            <a:r>
              <a:rPr lang="en-US" sz="1100" i="1" dirty="0">
                <a:solidFill>
                  <a:srgbClr val="5A6472"/>
                </a:solidFill>
                <a:latin typeface="Calibri" pitchFamily="34" charset="0"/>
                <a:cs typeface="Amiri" pitchFamily="2" charset="-78"/>
              </a:rPr>
              <a:t>al-maṭ-bakh</a:t>
            </a:r>
            <a:endParaRPr lang="en-US" sz="1350" dirty="0"/>
          </a:p>
        </p:txBody>
      </p:sp>
      <p:sp>
        <p:nvSpPr>
          <p:cNvPr id="57" name="Shape 54"/>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مَطَابِخُ</a:t>
            </a:r>
            <a:endParaRPr lang="ar-SA" sz="1500" dirty="0"/>
          </a:p>
        </p:txBody>
      </p:sp>
      <p:sp>
        <p:nvSpPr>
          <p:cNvPr id="60" name="Shape 5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4389120"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3" name="Shape 60"/>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5" name="Shape 6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الحَمَّامُ</a:t>
            </a:r>
            <a:endParaRPr lang="ar-SA" sz="3000" dirty="0"/>
          </a:p>
        </p:txBody>
      </p:sp>
      <p:sp>
        <p:nvSpPr>
          <p:cNvPr id="68" name="Text 6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bathroom</a:t>
            </a:r>
            <a:endParaRPr lang="en-US" sz="1350" dirty="0"/>
          </a:p>
          <a:p>
            <a:pPr indent="0" marL="0">
              <a:buNone/>
            </a:pPr>
            <a:r>
              <a:rPr lang="en-US" sz="1100" i="1" dirty="0">
                <a:solidFill>
                  <a:srgbClr val="5A6472"/>
                </a:solidFill>
                <a:latin typeface="Calibri" pitchFamily="34" charset="0"/>
                <a:cs typeface="Amiri" pitchFamily="2" charset="-78"/>
              </a:rPr>
              <a:t>al-ḥam-mām</a:t>
            </a:r>
            <a:endParaRPr lang="en-US" sz="1350" dirty="0"/>
          </a:p>
        </p:txBody>
      </p:sp>
      <p:sp>
        <p:nvSpPr>
          <p:cNvPr id="69" name="Shape 66"/>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حَمَّامَاتٌ</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المَكْتَبُ</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study / office</a:t>
            </a:r>
            <a:endParaRPr lang="en-US" sz="1350" dirty="0"/>
          </a:p>
          <a:p>
            <a:pPr indent="0" marL="0">
              <a:buNone/>
            </a:pPr>
            <a:r>
              <a:rPr lang="en-US" sz="1100" i="1" dirty="0">
                <a:solidFill>
                  <a:srgbClr val="5A6472"/>
                </a:solidFill>
                <a:latin typeface="Calibri" pitchFamily="34" charset="0"/>
                <a:cs typeface="Amiri" pitchFamily="2" charset="-78"/>
              </a:rPr>
              <a:t>al-mak-tab</a:t>
            </a:r>
            <a:endParaRPr lang="en-US" sz="1350" dirty="0"/>
          </a:p>
        </p:txBody>
      </p:sp>
      <p:sp>
        <p:nvSpPr>
          <p:cNvPr id="79" name="Text 76"/>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 desk” — context decides (website).</a:t>
            </a:r>
            <a:endParaRPr lang="en-US" sz="100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in your house?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فِي بَيْتِكَ؟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live in a house or a flat?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تَسْكُنُ فِي بَيْتٍ أَمْ فِي شَقَّةٍ؟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live in a big house.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أَسْكُنُ فِي بَيْتٍ كَبِيرٍ.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rooms are there in your house?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غُرْفَةً فِي بَيْتِكَ؟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house there are three bedrooms, a kitchen and two bathrooms.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بَيْتِي ثَلَاثُ غُرَفِ نَوْمٍ، وَمَطْبَخٌ، وَحَمَّامَانِ.</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garden?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عِنْدَكُمْ حَدِيقَةٌ؟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we have a small garden, and there is a garage too.</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عِنْدَنَا حَدِيقَةٌ صَغِيرَةٌ، وَهُنَاكَ مَرْآبٌ أَيْضًا.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YOUR real home — change the numbers and rooms.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مَدِينَةِ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أَسْكُنُ فِي بَيْتٍ / شَقَّةٍ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live?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تَسْكُنُ؟</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وَغُرْفَتِي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بَيْتِي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bedrooms are in your home?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غُرْفَةَ نَوْمٍ فِي بَيْتِكَ؟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الطَّابِقِ الأَوَّلِ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الطَّابِقِ الأَرْضِيِّ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on the ground floor?</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الطَّابِقِ الأَرْضِيِّ؟</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لِأَنَّهَا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غُرْفَتِي المُفَضَّلَةُ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room?</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غُرْفَتُكَ المُفَضَّلَةُ؟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وَهُنَاكَ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عِنْدَنَا … / لَا،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garden or a balcony?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عِنْدَكُمْ حَدِيقَةٌ أَوْ شُرْفَةٌ؟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showing a guest around your home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أُرِي الضَّيْفَ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 لَا، بَيْتُنَا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if it is big or small.</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بَيْتُكُمْ جَمِيلٌ! هَلْ هُوَ كَبِيرٌ؟</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المَطْبَخُ هُنَاكَ ، بِجَانِبِ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the kitchen is.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المَطْبَخُ؟</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عِنْدَنَا … غُرَفِ نَوْمٍ</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number of bedrooms.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غُرْفَةَ نَوْمٍ عِنْدَكُمْ؟</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تَفَضَّلْ ، الحَمَّامُ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bathroom location politely.</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وَأَيْنَ الحَمَّامُ، مِنْ فَضْلِكَ؟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host · Leader = a guest visiting for the first time.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a tour of my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جَوْلَةٌ فِي بَيْتِي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a 30-second tour of your home: house or flat, how many rooms, what is on each floor, your favourite room — and why.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أَسْكُنُ فِي … · فِي بَيْتِي … · عِنْدَنَا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floors (</a:t>
            </a:r>
            <a:pPr algn="l" indent="0" marL="0">
              <a:buNone/>
            </a:pPr>
            <a:r>
              <a:rPr lang="ar-SA" altLang="en-US" sz="1500" dirty="0">
                <a:solidFill>
                  <a:srgbClr val="1F2A37"/>
                </a:solidFill>
                <a:latin typeface="Amiri" pitchFamily="2" charset="-78"/>
                <a:ea typeface="Amiri" pitchFamily="2" charset="-78"/>
                <a:cs typeface="Amiri" pitchFamily="2" charset="-78"/>
              </a:rPr>
              <a:t>الطَّابِقُ الأَرْضِيُّ / الأَوَّلُ</a:t>
            </a:r>
            <a:pPr algn="l" indent="0" marL="0">
              <a:buNone/>
            </a:pPr>
            <a:r>
              <a:rPr lang="en-US" sz="1150" dirty="0">
                <a:solidFill>
                  <a:srgbClr val="1F2A37"/>
                </a:solidFill>
                <a:latin typeface="Calibri" pitchFamily="34" charset="0"/>
                <a:cs typeface="Amiri" pitchFamily="2" charset="-78"/>
              </a:rPr>
              <a:t>) and your favourite room.</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positions (</a:t>
            </a:r>
            <a:pPr algn="l" indent="0" marL="0">
              <a:buNone/>
            </a:pPr>
            <a:r>
              <a:rPr lang="ar-SA" altLang="en-US" sz="1500" dirty="0">
                <a:solidFill>
                  <a:srgbClr val="1F2A37"/>
                </a:solidFill>
                <a:latin typeface="Amiri" pitchFamily="2" charset="-78"/>
                <a:ea typeface="Amiri" pitchFamily="2" charset="-78"/>
                <a:cs typeface="Amiri" pitchFamily="2" charset="-78"/>
              </a:rPr>
              <a:t>بِجَانِبِ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أَمَامَ</a:t>
            </a:r>
            <a:pPr algn="l" indent="0" marL="0">
              <a:buNone/>
            </a:pPr>
            <a:r>
              <a:rPr lang="en-US" sz="1150" dirty="0">
                <a:solidFill>
                  <a:srgbClr val="1F2A37"/>
                </a:solidFill>
                <a:latin typeface="Calibri" pitchFamily="34" charset="0"/>
                <a:cs typeface="Amiri" pitchFamily="2" charset="-78"/>
              </a:rPr>
              <a:t>) and a reason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my house there is a big kitchen.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بَيْتِي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بَيْتِي فِي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مَطْبَخٌ</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المَطْبَخُ</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bedroom is next to the bathroom.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غُرْفَةُ نَوْمِي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غُرْفَةٌ نَوْمِي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بِجَانِبِ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الحَمَّامِ.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الحَمَّامُ.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have a small garden.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عِنْدَنَا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 هُمْ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حَدِيقَةٌ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حَدِيقَةً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my house there is a big kitchen.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 =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 place + indefinite noun; </a:t>
            </a:r>
            <a:pPr algn="l" indent="0" marL="0">
              <a:buNone/>
            </a:pPr>
            <a:r>
              <a:rPr lang="ar-SA" altLang="en-US" sz="1350" dirty="0">
                <a:solidFill>
                  <a:srgbClr val="5A6472"/>
                </a:solidFill>
                <a:latin typeface="Amiri" pitchFamily="2" charset="-78"/>
                <a:ea typeface="Amiri" pitchFamily="2" charset="-78"/>
                <a:cs typeface="Amiri" pitchFamily="2" charset="-78"/>
              </a:rPr>
              <a:t>مَطْبَخٌ</a:t>
            </a:r>
            <a:pPr algn="l" indent="0" marL="0">
              <a:buNone/>
            </a:pPr>
            <a:r>
              <a:rPr lang="en-US" sz="1050" i="1" dirty="0">
                <a:solidFill>
                  <a:srgbClr val="5A6472"/>
                </a:solidFill>
                <a:latin typeface="Calibri" pitchFamily="34" charset="0"/>
                <a:cs typeface="Amiri" pitchFamily="2" charset="-78"/>
              </a:rPr>
              <a:t> is masculine.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بَيْتِي مَطْبَخٌ كَبِيرٌ.</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bedroom is next to the bathroom.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bedroom = </a:t>
            </a:r>
            <a:pPr algn="l" indent="0" marL="0">
              <a:buNone/>
            </a:pPr>
            <a:r>
              <a:rPr lang="ar-SA" altLang="en-US" sz="1350" dirty="0">
                <a:solidFill>
                  <a:srgbClr val="5A6472"/>
                </a:solidFill>
                <a:latin typeface="Amiri" pitchFamily="2" charset="-78"/>
                <a:ea typeface="Amiri" pitchFamily="2" charset="-78"/>
                <a:cs typeface="Amiri" pitchFamily="2" charset="-78"/>
              </a:rPr>
              <a:t>غُرْفَةُ نَوْمِي</a:t>
            </a:r>
            <a:pPr algn="l" indent="0" marL="0">
              <a:buNone/>
            </a:pPr>
            <a:r>
              <a:rPr lang="en-US" sz="1050" i="1" dirty="0">
                <a:solidFill>
                  <a:srgbClr val="5A6472"/>
                </a:solidFill>
                <a:latin typeface="Calibri" pitchFamily="34" charset="0"/>
                <a:cs typeface="Amiri" pitchFamily="2" charset="-78"/>
              </a:rPr>
              <a:t> (iḍāfa); </a:t>
            </a:r>
            <a:pPr algn="l" indent="0" marL="0">
              <a:buNone/>
            </a:pPr>
            <a:r>
              <a:rPr lang="ar-SA" altLang="en-US" sz="1350" dirty="0">
                <a:solidFill>
                  <a:srgbClr val="5A6472"/>
                </a:solidFill>
                <a:latin typeface="Amiri" pitchFamily="2" charset="-78"/>
                <a:ea typeface="Amiri" pitchFamily="2" charset="-78"/>
                <a:cs typeface="Amiri" pitchFamily="2" charset="-78"/>
              </a:rPr>
              <a:t>بِجَانِبِ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غُرْفَةُ نَوْمِي بِجَانِبِ الحَمَّامِ.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have a small garden.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have = </a:t>
            </a:r>
            <a:pPr algn="l" indent="0" marL="0">
              <a:buNone/>
            </a:pPr>
            <a:r>
              <a:rPr lang="ar-SA" altLang="en-US" sz="1350" dirty="0">
                <a:solidFill>
                  <a:srgbClr val="5A6472"/>
                </a:solidFill>
                <a:latin typeface="Amiri" pitchFamily="2" charset="-78"/>
                <a:ea typeface="Amiri" pitchFamily="2" charset="-78"/>
                <a:cs typeface="Amiri" pitchFamily="2" charset="-78"/>
              </a:rPr>
              <a:t>عِنْدَنَا</a:t>
            </a:r>
            <a:pPr algn="l" indent="0" marL="0">
              <a:buNone/>
            </a:pPr>
            <a:r>
              <a:rPr lang="en-US" sz="1050" i="1" dirty="0">
                <a:solidFill>
                  <a:srgbClr val="5A6472"/>
                </a:solidFill>
                <a:latin typeface="Calibri" pitchFamily="34" charset="0"/>
                <a:cs typeface="Amiri" pitchFamily="2" charset="-78"/>
              </a:rPr>
              <a:t>; a garden is feminine → </a:t>
            </a:r>
            <a:pPr algn="l" indent="0" marL="0">
              <a:buNone/>
            </a:pPr>
            <a:r>
              <a:rPr lang="ar-SA" altLang="en-US" sz="1350" dirty="0">
                <a:solidFill>
                  <a:srgbClr val="5A6472"/>
                </a:solidFill>
                <a:latin typeface="Amiri" pitchFamily="2" charset="-78"/>
                <a:ea typeface="Amiri" pitchFamily="2" charset="-78"/>
                <a:cs typeface="Amiri" pitchFamily="2" charset="-78"/>
              </a:rPr>
              <a:t>صَغِيرَةٌ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عِنْدَنَا حَدِيقَةٌ صَغِيرَةٌ.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بَيْتِي غُرْفَةُ الجُلُوسِ كَبِيرٌ.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غُرْفَةٌ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عِنْدَنَا ثَلَاثُ غُرْفَةٍ.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3–10 +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المَطْبَخُ بِجَانِبِ الحَدِيقَةُ.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بِجَانِبِ</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بَيْتِي غُرْفَةُ الجُلُوسِ كَبِيرٌ.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بَيْتِي غُرْفَةُ جُلُوسٍ كَبِيرَةٌ.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room is feminine → </a:t>
            </a:r>
            <a:pPr algn="l" indent="0" marL="0">
              <a:buNone/>
            </a:pPr>
            <a:r>
              <a:rPr lang="ar-SA" altLang="en-US" sz="1500" b="1" dirty="0">
                <a:solidFill>
                  <a:srgbClr val="1B3B6F"/>
                </a:solidFill>
                <a:latin typeface="Amiri" pitchFamily="2" charset="-78"/>
                <a:ea typeface="Amiri" pitchFamily="2" charset="-78"/>
                <a:cs typeface="Amiri" pitchFamily="2" charset="-78"/>
              </a:rPr>
              <a:t>كَبِيرَةٌ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عِنْدَنَا ثَلَاثُ غُرْفَةٍ.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عِنْدَنَا ثَلَاثُ غُرَفٍ.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3–10 use the plural: </a:t>
            </a:r>
            <a:pPr algn="l" indent="0" marL="0">
              <a:buNone/>
            </a:pPr>
            <a:r>
              <a:rPr lang="ar-SA" altLang="en-US" sz="1500" b="1" dirty="0">
                <a:solidFill>
                  <a:srgbClr val="1B3B6F"/>
                </a:solidFill>
                <a:latin typeface="Amiri" pitchFamily="2" charset="-78"/>
                <a:ea typeface="Amiri" pitchFamily="2" charset="-78"/>
                <a:cs typeface="Amiri" pitchFamily="2" charset="-78"/>
              </a:rPr>
              <a:t>غُرَفٍ</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المَطْبَخُ بِجَانِبِ الحَدِيقَةُ.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المَطْبَخُ بِجَانِبِ الحَدِيقَةِ.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Place words + genitive (-i).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الطَّابِقِ الأَرْضِيِّ ______ ، وَفِي الطَّابِقِ الأَوَّلِ ______ .</a:t>
            </a:r>
            <a:endParaRPr lang="ar-SA" sz="13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ground floor …, and on the first floor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the … because it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______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بَيْتِي ______ غُرَفٍ.</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home there are … rooms.</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عِنْدَنَا ______ وَ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have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المُفَضَّلَةُ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room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بَيْتٌ · شَقَّةٌ  ·  غُرْفَةُ النَّوْمِ  ·  غُرْفَةُ الجُلُوسِ  ·  المَطْبَخُ · الحَمَّامُ  ·  حَدِيقَةٌ · شُرْفَةٌ  ·  الطَّابِقُ الأَرْضِيُّ  ·  عِنْدَنَا · هُنَاكَ  ·  كَبِيرٌ · صَغِيرٌ</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description of your home (about 40–60 words) for a pen-friend. Include: • house or flat, and where • the rooms on each floor • the garden, balcony or garage • your favourite room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بَيْتٍ / شَقَّةٍ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live in a house / flat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الطَّابِقِ الأَرْضِيِّ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ground floor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عِنْدَنَا … وَهُنَاكَ … أَيْضًا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have … and there is … too</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المُفَضَّلَةُ … لِأَنَّهَا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room is … because 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at least five rooms or parts of the house?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the adjectives match the room (</a:t>
            </a:r>
            <a:pPr algn="l" indent="0" marL="0">
              <a:buNone/>
            </a:pPr>
            <a:r>
              <a:rPr lang="ar-SA" altLang="en-US" sz="1450" dirty="0">
                <a:solidFill>
                  <a:srgbClr val="5A6472"/>
                </a:solidFill>
                <a:latin typeface="Amiri" pitchFamily="2" charset="-78"/>
                <a:ea typeface="Amiri" pitchFamily="2" charset="-78"/>
                <a:cs typeface="Amiri" pitchFamily="2" charset="-78"/>
              </a:rPr>
              <a:t>غُرْفَةٌ كَبِيرَةٌ</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مَطْبَخٌ كَبِيرٌ</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لَا، بَيْتُنَا صَغِيرٌ، لٰكِنَّهُ مُرِيحٌ.</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 you! No, our house is small, but it is comfortable.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بَيْتُكُمْ جَمِيلٌ! هَلْ هُوَ كَبِيرٌ؟</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المَطْبَخُ هُنَاكَ، بِجَانِبِ غُرْفَةِ الجُلُوسِ.</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kitchen is there, next to the living room.</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المَطْبَخُ؟</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عِنْدَنَا ثَلَاثُ غُرَفِ نَوْمٍ فِي الطَّابِقِ الأَوَّلِ.</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have three bedrooms on the first floor.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غُرْفَةَ نَوْمٍ عِنْدَكُمْ؟</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تَفَضَّلْ، الحَمَّامُ فَوْقُ، أَمَامَ غُرْفَتِي.</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Here you are — the bathroom is upstairs, opposite my room.</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وَأَيْنَ الحَمَّامُ، مِنْ فَضْلِكَ؟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بَيْتٍ مُتَوَسِّطٍ فِي مَدِينَةِ بِرْمِنْغْهَامَ. فِي الطَّابِقِ الأَرْضِيِّ مَطْبَخٌ كَبِيرٌ، وَغُرْفَةُ جُلُوسٍ، وَحَمَّامٌ صَغِيرٌ. وَفِي الطَّابِقِ الأَوَّلِ ثَلَاثُ غُرَفِ نَوْمٍ وَحَمَّامٌ. عِنْدَنَا حَدِيقَةٌ خَلْفَ البَيْتِ، وَهُنَاكَ مَرْآبٌ أَيْضًا. غُرْفَتِي المُفَضَّلَةُ المَطْبَخُ، لِأَنَّهُ وَاسِعٌ، وَنَأْكُلُ فِيهِ مَعًا.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medium-sized house in Birmingham. On the ground floor there is a big kitchen, a living room and a small bathroom. On the first floor there are three bedrooms and a bathroom. We have a garden behind the house, and there is a garage too. My favourite room is the kitchen, because it is spacious and we eat there together.”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الطَّابِقِ الأَرْضِيِّ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ثَلَاثُ غُرَفِ نَوْمٍ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وَهُنَاكَ مَرْآبٌ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وَاسِعٌ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F3-L04 · Furniture and Household Items</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الأَثَاثُ وَالأَغْرَاضُ المَنْزِلِيَّةُ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F3-L03 · Practice Room — My Home — Rooms and Parts of the House</dc:title>
  <dc:subject>PptxGenJS Presentation</dc:subject>
  <dc:creator>Al Madina Online School · Arabic Department</dc:creator>
  <cp:lastModifiedBy>Al Madina Online School · Arabic Department</cp:lastModifiedBy>
  <cp:revision>1</cp:revision>
  <dcterms:created xsi:type="dcterms:W3CDTF">2026-10-25T17:19:31Z</dcterms:created>
  <dcterms:modified xsi:type="dcterms:W3CDTF">2026-10-25T17:19:31Z</dcterms:modified>
</cp:coreProperties>
</file>