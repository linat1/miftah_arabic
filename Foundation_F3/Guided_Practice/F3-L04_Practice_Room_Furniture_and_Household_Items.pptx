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F3-L04 (Furniture and Household Items) — new practice tasks built on the lesson’s own word bank and grammar (yūjadu (m.) / tūjadu (f.) + item; fī + room; positions (ʿalā · taḥta · bi-jānibi · amāma); useful plurals (karāsī · ṭāwilāt)).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F3-L04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تُرِيدِينَ · غُرْفَتُكِ · تَضَعِينَهُ. Language: urīdu + accusative (sarīran, khizānatan) · positions + genitive · li-dhālika.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(40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F3-L04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Furniture and Household Items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الأَثَاثُ</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00" dirty="0">
                <a:solidFill>
                  <a:srgbClr val="C6D2E6"/>
                </a:solidFill>
                <a:latin typeface="Calibri" pitchFamily="34" charset="0"/>
                <a:cs typeface="Amiri" pitchFamily="2" charset="-78"/>
              </a:rPr>
              <a:t>Students run their own speaking and writing practice about furniture: say the furniture words, act a short dialogue, answer question cards, do a role-play card buying furniture for a new room, give a 30-second room description, then build, fix and write a description of one room.</a:t>
            </a:r>
            <a:endParaRPr lang="en-US" sz="13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F3-L04 · Foundation F3 · My Family &amp; Home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Furniture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سَرِيرٌ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bed</a:t>
            </a:r>
            <a:endParaRPr lang="en-US" sz="1350" dirty="0"/>
          </a:p>
          <a:p>
            <a:pPr indent="0" marL="0">
              <a:buNone/>
            </a:pPr>
            <a:r>
              <a:rPr lang="en-US" sz="1100" i="1" dirty="0">
                <a:solidFill>
                  <a:srgbClr val="5A6472"/>
                </a:solidFill>
                <a:latin typeface="Calibri" pitchFamily="34" charset="0"/>
                <a:cs typeface="Amiri" pitchFamily="2" charset="-78"/>
              </a:rPr>
              <a:t>sa-rīr</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أَسِرَّةٌ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يُوجَدُ</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طَاوِلَةٌ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table</a:t>
            </a:r>
            <a:endParaRPr lang="en-US" sz="1350" dirty="0"/>
          </a:p>
          <a:p>
            <a:pPr indent="0" marL="0">
              <a:buNone/>
            </a:pPr>
            <a:r>
              <a:rPr lang="en-US" sz="1100" i="1" dirty="0">
                <a:solidFill>
                  <a:srgbClr val="5A6472"/>
                </a:solidFill>
                <a:latin typeface="Calibri" pitchFamily="34" charset="0"/>
                <a:cs typeface="Amiri" pitchFamily="2" charset="-78"/>
              </a:rPr>
              <a:t>ṭā-wi-la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طَاوِلَاتٌ</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تُوجَدُ</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كُرْسِيٌّ</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chair</a:t>
            </a:r>
            <a:endParaRPr lang="en-US" sz="1350" dirty="0"/>
          </a:p>
          <a:p>
            <a:pPr indent="0" marL="0">
              <a:buNone/>
            </a:pPr>
            <a:r>
              <a:rPr lang="en-US" sz="1100" i="1" dirty="0">
                <a:solidFill>
                  <a:srgbClr val="5A6472"/>
                </a:solidFill>
                <a:latin typeface="Calibri" pitchFamily="34" charset="0"/>
                <a:cs typeface="Amiri" pitchFamily="2" charset="-78"/>
              </a:rPr>
              <a:t>kur-siyy</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كَرَاسِي</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59" name="Text 5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يُوجَدُ</a:t>
            </a:r>
            <a:endParaRPr lang="ar-SA" sz="135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تِلْفَازٌ</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television</a:t>
            </a:r>
            <a:endParaRPr lang="en-US" sz="1350" dirty="0"/>
          </a:p>
          <a:p>
            <a:pPr indent="0" marL="0">
              <a:buNone/>
            </a:pPr>
            <a:r>
              <a:rPr lang="en-US" sz="1100" i="1" dirty="0">
                <a:solidFill>
                  <a:srgbClr val="5A6472"/>
                </a:solidFill>
                <a:latin typeface="Calibri" pitchFamily="34" charset="0"/>
                <a:cs typeface="Amiri" pitchFamily="2" charset="-78"/>
              </a:rPr>
              <a:t>til-fāz</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تِلْفَازَاتٌ</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74" name="Text 71"/>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يُوجَدُ</a:t>
            </a:r>
            <a:endParaRPr lang="ar-SA" sz="135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80" name="Text 7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سَجَّادَةٌ</a:t>
            </a:r>
            <a:endParaRPr lang="ar-SA" sz="3000" dirty="0"/>
          </a:p>
        </p:txBody>
      </p:sp>
      <p:sp>
        <p:nvSpPr>
          <p:cNvPr id="81" name="Text 7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rug / carpet</a:t>
            </a:r>
            <a:endParaRPr lang="en-US" sz="1350" dirty="0"/>
          </a:p>
          <a:p>
            <a:pPr indent="0" marL="0">
              <a:buNone/>
            </a:pPr>
            <a:r>
              <a:rPr lang="en-US" sz="1100" i="1" dirty="0">
                <a:solidFill>
                  <a:srgbClr val="5A6472"/>
                </a:solidFill>
                <a:latin typeface="Calibri" pitchFamily="34" charset="0"/>
                <a:cs typeface="Amiri" pitchFamily="2" charset="-78"/>
              </a:rPr>
              <a:t>saj-jā-da</a:t>
            </a:r>
            <a:endParaRPr lang="en-US" sz="1350" dirty="0"/>
          </a:p>
        </p:txBody>
      </p:sp>
      <p:sp>
        <p:nvSpPr>
          <p:cNvPr id="82" name="Shape 7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4" name="Text 81"/>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سَجَّادَاتٌ</a:t>
            </a:r>
            <a:endParaRPr lang="ar-SA" sz="1500" dirty="0"/>
          </a:p>
        </p:txBody>
      </p:sp>
      <p:sp>
        <p:nvSpPr>
          <p:cNvPr id="85" name="Shape 8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87" name="Text 84"/>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تُوجَدُ</a:t>
            </a:r>
            <a:endParaRPr lang="ar-SA" sz="1350" dirty="0"/>
          </a:p>
        </p:txBody>
      </p:sp>
      <p:sp>
        <p:nvSpPr>
          <p:cNvPr id="88" name="Shape 8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9" name="Shape 86"/>
          <p:cNvSpPr/>
          <p:nvPr/>
        </p:nvSpPr>
        <p:spPr>
          <a:xfrm>
            <a:off x="566928" y="4261104"/>
            <a:ext cx="310896" cy="310896"/>
          </a:xfrm>
          <a:prstGeom prst="ellipse">
            <a:avLst/>
          </a:prstGeom>
          <a:solidFill>
            <a:srgbClr val="F4F1EA"/>
          </a:solidFill>
          <a:ln w="12700">
            <a:solidFill>
              <a:srgbClr val="F4F1EA"/>
            </a:solidFill>
            <a:prstDash val="solid"/>
          </a:ln>
        </p:spPr>
      </p:sp>
      <p:sp>
        <p:nvSpPr>
          <p:cNvPr id="90" name="Text 8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1" name="Shape 88"/>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2" name="Text 89"/>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93" name="Shape 9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4" name="Text 9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5" name="Text 92"/>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مِصْبَاحٌ</a:t>
            </a:r>
            <a:endParaRPr lang="ar-SA" sz="3000" dirty="0"/>
          </a:p>
        </p:txBody>
      </p:sp>
      <p:sp>
        <p:nvSpPr>
          <p:cNvPr id="96" name="Text 93"/>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lamp</a:t>
            </a:r>
            <a:endParaRPr lang="en-US" sz="1350" dirty="0"/>
          </a:p>
          <a:p>
            <a:pPr indent="0" marL="0">
              <a:buNone/>
            </a:pPr>
            <a:r>
              <a:rPr lang="en-US" sz="1100" i="1" dirty="0">
                <a:solidFill>
                  <a:srgbClr val="5A6472"/>
                </a:solidFill>
                <a:latin typeface="Calibri" pitchFamily="34" charset="0"/>
                <a:cs typeface="Amiri" pitchFamily="2" charset="-78"/>
              </a:rPr>
              <a:t>miṣ-bāḥ</a:t>
            </a:r>
            <a:endParaRPr lang="en-US" sz="1350" dirty="0"/>
          </a:p>
        </p:txBody>
      </p:sp>
      <p:sp>
        <p:nvSpPr>
          <p:cNvPr id="97" name="Shape 94"/>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8" name="Text 95"/>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9" name="Text 96"/>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مَصَابِيحُ</a:t>
            </a:r>
            <a:endParaRPr lang="ar-SA" sz="1500" dirty="0"/>
          </a:p>
        </p:txBody>
      </p:sp>
      <p:sp>
        <p:nvSpPr>
          <p:cNvPr id="100" name="Shape 97"/>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1" name="Text 98"/>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102" name="Text 99"/>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يُوجَدُ</a:t>
            </a:r>
            <a:endParaRPr lang="ar-SA" sz="1350" dirty="0"/>
          </a:p>
        </p:txBody>
      </p:sp>
      <p:sp>
        <p:nvSpPr>
          <p:cNvPr id="103" name="Text 10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Household items and appliances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رَفٌّ</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shelf</a:t>
            </a:r>
            <a:endParaRPr lang="en-US" sz="1350" dirty="0"/>
          </a:p>
          <a:p>
            <a:pPr indent="0" marL="0">
              <a:buNone/>
            </a:pPr>
            <a:r>
              <a:rPr lang="en-US" sz="1100" i="1" dirty="0">
                <a:solidFill>
                  <a:srgbClr val="5A6472"/>
                </a:solidFill>
                <a:latin typeface="Calibri" pitchFamily="34" charset="0"/>
                <a:cs typeface="Amiri" pitchFamily="2" charset="-78"/>
              </a:rPr>
              <a:t>raff</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رُفُوفٌ</a:t>
            </a:r>
            <a:endParaRPr lang="ar-SA" sz="150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27" name="Text 24"/>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يُوجَدُ</a:t>
            </a:r>
            <a:endParaRPr lang="ar-SA" sz="135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1" name="Shape 28"/>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3" name="Shape 3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مِرْآةٌ</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mirror</a:t>
            </a:r>
            <a:endParaRPr lang="en-US" sz="1350" dirty="0"/>
          </a:p>
          <a:p>
            <a:pPr indent="0" marL="0">
              <a:buNone/>
            </a:pPr>
            <a:r>
              <a:rPr lang="en-US" sz="1100" i="1" dirty="0">
                <a:solidFill>
                  <a:srgbClr val="5A6472"/>
                </a:solidFill>
                <a:latin typeface="Calibri" pitchFamily="34" charset="0"/>
                <a:cs typeface="Amiri" pitchFamily="2" charset="-78"/>
              </a:rPr>
              <a:t>mir-ʾā</a:t>
            </a:r>
            <a:endParaRPr lang="en-US" sz="1350" dirty="0"/>
          </a:p>
        </p:txBody>
      </p:sp>
      <p:sp>
        <p:nvSpPr>
          <p:cNvPr id="37" name="Shape 34"/>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9" name="Text 36"/>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مَرَايَا</a:t>
            </a:r>
            <a:endParaRPr lang="ar-SA" sz="1500" dirty="0"/>
          </a:p>
        </p:txBody>
      </p:sp>
      <p:sp>
        <p:nvSpPr>
          <p:cNvPr id="40" name="Shape 37"/>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42" name="Text 39"/>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تُوجَدُ</a:t>
            </a:r>
            <a:endParaRPr lang="ar-SA" sz="135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6" name="Shape 4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48" name="Text 4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ثَلَّاجَةٌ</a:t>
            </a:r>
            <a:endParaRPr lang="ar-SA" sz="3000" dirty="0"/>
          </a:p>
        </p:txBody>
      </p:sp>
      <p:sp>
        <p:nvSpPr>
          <p:cNvPr id="49" name="Text 4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fridge</a:t>
            </a:r>
            <a:endParaRPr lang="en-US" sz="1350" dirty="0"/>
          </a:p>
          <a:p>
            <a:pPr indent="0" marL="0">
              <a:buNone/>
            </a:pPr>
            <a:r>
              <a:rPr lang="en-US" sz="1100" i="1" dirty="0">
                <a:solidFill>
                  <a:srgbClr val="5A6472"/>
                </a:solidFill>
                <a:latin typeface="Calibri" pitchFamily="34" charset="0"/>
                <a:cs typeface="Amiri" pitchFamily="2" charset="-78"/>
              </a:rPr>
              <a:t>thal-lā-ja</a:t>
            </a:r>
            <a:endParaRPr lang="en-US" sz="1350" dirty="0"/>
          </a:p>
        </p:txBody>
      </p:sp>
      <p:sp>
        <p:nvSpPr>
          <p:cNvPr id="50" name="Shape 47"/>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2" name="Text 49"/>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ثَلَّاجَاتٌ</a:t>
            </a:r>
            <a:endParaRPr lang="ar-SA" sz="1500" dirty="0"/>
          </a:p>
        </p:txBody>
      </p:sp>
      <p:sp>
        <p:nvSpPr>
          <p:cNvPr id="53" name="Shape 50"/>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55" name="Text 52"/>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تُوجَدُ</a:t>
            </a:r>
            <a:endParaRPr lang="ar-SA" sz="135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9" name="Shape 56"/>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61" name="Text 5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غَسَّالَةٌ</a:t>
            </a:r>
            <a:endParaRPr lang="ar-SA" sz="3000" dirty="0"/>
          </a:p>
        </p:txBody>
      </p:sp>
      <p:sp>
        <p:nvSpPr>
          <p:cNvPr id="62" name="Text 5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washing machine</a:t>
            </a:r>
            <a:endParaRPr lang="en-US" sz="1350" dirty="0"/>
          </a:p>
          <a:p>
            <a:pPr indent="0" marL="0">
              <a:buNone/>
            </a:pPr>
            <a:r>
              <a:rPr lang="en-US" sz="1100" i="1" dirty="0">
                <a:solidFill>
                  <a:srgbClr val="5A6472"/>
                </a:solidFill>
                <a:latin typeface="Calibri" pitchFamily="34" charset="0"/>
                <a:cs typeface="Amiri" pitchFamily="2" charset="-78"/>
              </a:rPr>
              <a:t>ghas-sā-la</a:t>
            </a:r>
            <a:endParaRPr lang="en-US" sz="1350" dirty="0"/>
          </a:p>
        </p:txBody>
      </p:sp>
      <p:sp>
        <p:nvSpPr>
          <p:cNvPr id="63" name="Shape 60"/>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5" name="Text 62"/>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غَسَّالَاتٌ</a:t>
            </a:r>
            <a:endParaRPr lang="ar-SA" sz="1500" dirty="0"/>
          </a:p>
        </p:txBody>
      </p:sp>
      <p:sp>
        <p:nvSpPr>
          <p:cNvPr id="66" name="Shape 63"/>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68" name="Text 65"/>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تُوجَدُ</a:t>
            </a:r>
            <a:endParaRPr lang="ar-SA" sz="1350" dirty="0"/>
          </a:p>
        </p:txBody>
      </p:sp>
      <p:sp>
        <p:nvSpPr>
          <p:cNvPr id="69" name="Shape 6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389120"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2" name="Shape 69"/>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74" name="Text 7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مِكْنَسَةٌ كَهْرَبَائِيَّةٌ</a:t>
            </a:r>
            <a:endParaRPr lang="ar-SA" sz="3000" dirty="0"/>
          </a:p>
        </p:txBody>
      </p:sp>
      <p:sp>
        <p:nvSpPr>
          <p:cNvPr id="75" name="Text 7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vacuum cleaner</a:t>
            </a:r>
            <a:endParaRPr lang="en-US" sz="1350" dirty="0"/>
          </a:p>
          <a:p>
            <a:pPr indent="0" marL="0">
              <a:buNone/>
            </a:pPr>
            <a:r>
              <a:rPr lang="en-US" sz="1100" i="1" dirty="0">
                <a:solidFill>
                  <a:srgbClr val="5A6472"/>
                </a:solidFill>
                <a:latin typeface="Calibri" pitchFamily="34" charset="0"/>
                <a:cs typeface="Amiri" pitchFamily="2" charset="-78"/>
              </a:rPr>
              <a:t>mik-na-sa kah-ra-bā-ʾiy-ya</a:t>
            </a:r>
            <a:endParaRPr lang="en-US" sz="1350" dirty="0"/>
          </a:p>
        </p:txBody>
      </p:sp>
      <p:sp>
        <p:nvSpPr>
          <p:cNvPr id="76" name="Shape 7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566928" y="4261104"/>
            <a:ext cx="310896" cy="310896"/>
          </a:xfrm>
          <a:prstGeom prst="ellipse">
            <a:avLst/>
          </a:prstGeom>
          <a:solidFill>
            <a:srgbClr val="F4F1EA"/>
          </a:solidFill>
          <a:ln w="12700">
            <a:solidFill>
              <a:srgbClr val="F4F1EA"/>
            </a:solidFill>
            <a:prstDash val="solid"/>
          </a:ln>
        </p:spPr>
      </p:sp>
      <p:sp>
        <p:nvSpPr>
          <p:cNvPr id="78" name="Text 7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9" name="Shape 76"/>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0" name="Text 77"/>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81" name="Text 78"/>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دُشٌّ</a:t>
            </a:r>
            <a:endParaRPr lang="ar-SA" sz="3000" dirty="0"/>
          </a:p>
        </p:txBody>
      </p:sp>
      <p:sp>
        <p:nvSpPr>
          <p:cNvPr id="82" name="Text 79"/>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shower</a:t>
            </a:r>
            <a:endParaRPr lang="en-US" sz="1350" dirty="0"/>
          </a:p>
          <a:p>
            <a:pPr indent="0" marL="0">
              <a:buNone/>
            </a:pPr>
            <a:r>
              <a:rPr lang="en-US" sz="1100" i="1" dirty="0">
                <a:solidFill>
                  <a:srgbClr val="5A6472"/>
                </a:solidFill>
                <a:latin typeface="Calibri" pitchFamily="34" charset="0"/>
                <a:cs typeface="Amiri" pitchFamily="2" charset="-78"/>
              </a:rPr>
              <a:t>dushsh</a:t>
            </a:r>
            <a:endParaRPr lang="en-US" sz="1350" dirty="0"/>
          </a:p>
        </p:txBody>
      </p:sp>
      <p:sp>
        <p:nvSpPr>
          <p:cNvPr id="83" name="Shape 80"/>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5" name="Text 82"/>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دُشُوشٌ</a:t>
            </a:r>
            <a:endParaRPr lang="ar-SA" sz="1500" dirty="0"/>
          </a:p>
        </p:txBody>
      </p:sp>
      <p:sp>
        <p:nvSpPr>
          <p:cNvPr id="86" name="Shape 83"/>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87" name="Text 84"/>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88" name="Text 85"/>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يُوجَدُ</a:t>
            </a:r>
            <a:endParaRPr lang="ar-SA" sz="135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is in the living 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يُوجَدُ فِي غُرْفَةِ الجُلُوسِ؟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there in the living room?</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مَاذَا يُوجَدُ فِي غُرْفَةِ الجُلُوسِ؟</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There is a big TV, and there is a red rug.</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يُوجَدُ تِلْفَازٌ كَبِيرٌ، وَتُوجَدُ سَجَّادَةٌ حَمْرَاءُ.</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where is the TV?</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وَأَيْنَ التِّلْفَازُ؟</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TV is on the table, in front of the sofa.</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التِّلْفَازُ عَلَى الطَّاوِلَةِ، أَمَامَ الكَنَبَةِ.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is there in the kitchen?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وَمَاذَا يُوجَدُ فِي المَطْبَخِ؟</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There is a fridge and a washing machine, and there is an oven.</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تُوجَدُ ثَلَّاجَةٌ وَغَسَّالَةٌ، وَيُوجَدُ فُرْنٌ.</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describe a room in YOUR home — check </a:t>
            </a:r>
            <a:pPr algn="l" indent="0" marL="0">
              <a:buNone/>
            </a:pPr>
            <a:r>
              <a:rPr lang="ar-SA" altLang="en-US" sz="1500" b="1" dirty="0">
                <a:solidFill>
                  <a:srgbClr val="1B3B6F"/>
                </a:solidFill>
                <a:latin typeface="Amiri" pitchFamily="2" charset="-78"/>
                <a:ea typeface="Amiri" pitchFamily="2" charset="-78"/>
                <a:cs typeface="Amiri" pitchFamily="2" charset="-78"/>
              </a:rPr>
              <a:t>يُوجَدُ / تُوجَدُ</a:t>
            </a:r>
            <a:pPr algn="l" indent="0" marL="0">
              <a:buNone/>
            </a:pPr>
            <a:r>
              <a:rPr lang="en-US" sz="1150" b="1" dirty="0">
                <a:solidFill>
                  <a:srgbClr val="1B3B6F"/>
                </a:solidFill>
                <a:latin typeface="Calibri" pitchFamily="34" charset="0"/>
                <a:cs typeface="Amiri" pitchFamily="2" charset="-78"/>
              </a:rPr>
              <a:t> for every item.</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يُوجَدُ … / تُوجَدُ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in your bedroom?</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فِي غُرْفَةِ نَوْمِكَ؟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بِجَانِبِ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المِصْبَاحُ عَلَى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the lamp?</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المِصْبَاحُ؟</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حَوْلَ الطَّاوِلَةِ</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المَطْبَخِ … كَرَاسٍ</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chairs are in the kitchen?</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كُرْسِيًّا فِي المَطْبَخِ؟</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فَوْقَ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تُوجَدُ … / لَا،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there a mirror in the bathroom?</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تُوجَدُ مِرْآةٌ فِي الحَمَّامِ؟</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 لِأَنَّهَا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أُحِبُّ … كَثِيرًا</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favourite piece of furniture?</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قِطْعَةُ الأَثَاثِ المُفَضَّلَةُ عِنْدَكَ؟</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Role-play card — buying furniture for a new room</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مَحَلِّ الأَثَاثِ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أُرِيدُ … لِغُرْفَتِي</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you want for your room.</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أَهْلًا! مَاذَا تُرِيدُ؟</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لَا، غُرْفَتِي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room’s size.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غُرْفَتُكَ كَبِيرَةٌ؟</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أَضَعُهُ بِجَانِبِ / تَحْتَ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where you will put it.</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عِنْدَنَا هٰذَا المَكْتَبُ. أَيْنَ تَضَعُهُ؟</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شَيْئًا آخَرَ ← نَعَمْ، أُرِيدُ … ، مِنْ فَضْلِكَ</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for one more item.</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تُرِيدُ شَيْئًا آخَرَ؟</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customer · Leader = a shop assistant.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one room in my home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غُرْفَةٌ فِي بَيْتِي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Choose one room. In 30 seconds, say what is in it (at least five things) and where three of them are.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Five items with </a:t>
            </a:r>
            <a:pPr algn="l" indent="0" marL="0">
              <a:buNone/>
            </a:pPr>
            <a:r>
              <a:rPr lang="ar-SA" altLang="en-US" sz="1500" dirty="0">
                <a:solidFill>
                  <a:srgbClr val="1F2A37"/>
                </a:solidFill>
                <a:latin typeface="Amiri" pitchFamily="2" charset="-78"/>
                <a:ea typeface="Amiri" pitchFamily="2" charset="-78"/>
                <a:cs typeface="Amiri" pitchFamily="2" charset="-78"/>
              </a:rPr>
              <a:t>يُوجَدُ / تُوجَدُ</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positions: </a:t>
            </a:r>
            <a:pPr algn="l" indent="0" marL="0">
              <a:buNone/>
            </a:pPr>
            <a:r>
              <a:rPr lang="ar-SA" altLang="en-US" sz="1500" dirty="0">
                <a:solidFill>
                  <a:srgbClr val="1F2A37"/>
                </a:solidFill>
                <a:latin typeface="Amiri" pitchFamily="2" charset="-78"/>
                <a:ea typeface="Amiri" pitchFamily="2" charset="-78"/>
                <a:cs typeface="Amiri" pitchFamily="2" charset="-78"/>
              </a:rPr>
              <a:t>عَلَى</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تَحْتَ</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بِجَانِبِ</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أَمَامَ</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colours and sizes that agree (</a:t>
            </a:r>
            <a:pPr algn="l" indent="0" marL="0">
              <a:buNone/>
            </a:pPr>
            <a:r>
              <a:rPr lang="ar-SA" altLang="en-US" sz="1500" dirty="0">
                <a:solidFill>
                  <a:srgbClr val="1F2A37"/>
                </a:solidFill>
                <a:latin typeface="Amiri" pitchFamily="2" charset="-78"/>
                <a:ea typeface="Amiri" pitchFamily="2" charset="-78"/>
                <a:cs typeface="Amiri" pitchFamily="2" charset="-78"/>
              </a:rPr>
              <a:t>سَجَّادَةٌ زَرْقَاءُ كَبِيرَةٌ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There is a table in the kitchen.</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تُوجَدُ</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يُوجَدُ</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طَاوِلَةٌ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طَاوِلَةً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المَطْبَخِ.</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المَطْبَخُ.</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There is a big bed in my room.</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يُوجَدُ</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تُوجَدُ</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سَرِيرٌ كَبِيرٌ</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سَرِيرٌ كَبِيرَةٌ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غُرْفَتِي.</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غُرْفَتِي فِي.</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lamp is on the shelf.</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المِصْبَاحُ</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مِصْبَاحٌ</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تَحْتَ</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الرَّفِّ.</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الرَّفُّ.</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There is a table in the kitchen.</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طَاوِلَةٌ</a:t>
            </a:r>
            <a:pPr algn="l" indent="0" marL="0">
              <a:buNone/>
            </a:pPr>
            <a:r>
              <a:rPr lang="en-US" sz="1050" i="1" dirty="0">
                <a:solidFill>
                  <a:srgbClr val="5A6472"/>
                </a:solidFill>
                <a:latin typeface="Calibri" pitchFamily="34" charset="0"/>
                <a:cs typeface="Amiri" pitchFamily="2" charset="-78"/>
              </a:rPr>
              <a:t> is feminine → </a:t>
            </a:r>
            <a:pPr algn="l" indent="0" marL="0">
              <a:buNone/>
            </a:pPr>
            <a:r>
              <a:rPr lang="ar-SA" altLang="en-US" sz="1350" dirty="0">
                <a:solidFill>
                  <a:srgbClr val="5A6472"/>
                </a:solidFill>
                <a:latin typeface="Amiri" pitchFamily="2" charset="-78"/>
                <a:ea typeface="Amiri" pitchFamily="2" charset="-78"/>
                <a:cs typeface="Amiri" pitchFamily="2" charset="-78"/>
              </a:rPr>
              <a:t>تُوجَدُ</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تُوجَدُ طَاوِلَةٌ فِي المَطْبَخِ.</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There is a big bed in my room.</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سَرِيرٌ</a:t>
            </a:r>
            <a:pPr algn="l" indent="0" marL="0">
              <a:buNone/>
            </a:pPr>
            <a:r>
              <a:rPr lang="en-US" sz="1050" i="1" dirty="0">
                <a:solidFill>
                  <a:srgbClr val="5A6472"/>
                </a:solidFill>
                <a:latin typeface="Calibri" pitchFamily="34" charset="0"/>
                <a:cs typeface="Amiri" pitchFamily="2" charset="-78"/>
              </a:rPr>
              <a:t> is masculine → </a:t>
            </a:r>
            <a:pPr algn="l" indent="0" marL="0">
              <a:buNone/>
            </a:pPr>
            <a:r>
              <a:rPr lang="ar-SA" altLang="en-US" sz="1350" dirty="0">
                <a:solidFill>
                  <a:srgbClr val="5A6472"/>
                </a:solidFill>
                <a:latin typeface="Amiri" pitchFamily="2" charset="-78"/>
                <a:ea typeface="Amiri" pitchFamily="2" charset="-78"/>
                <a:cs typeface="Amiri" pitchFamily="2" charset="-78"/>
              </a:rPr>
              <a:t>يُوجَدُ … كَبِيرٌ</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يُوجَدُ سَرِيرٌ كَبِيرٌ فِي غُرْفَتِي.</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lamp is on the shelf.</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 </a:t>
            </a:r>
            <a:pPr algn="l" indent="0" marL="0">
              <a:buNone/>
            </a:pPr>
            <a:r>
              <a:rPr lang="ar-SA" altLang="en-US" sz="1350" dirty="0">
                <a:solidFill>
                  <a:srgbClr val="5A6472"/>
                </a:solidFill>
                <a:latin typeface="Amiri" pitchFamily="2" charset="-78"/>
                <a:ea typeface="Amiri" pitchFamily="2" charset="-78"/>
                <a:cs typeface="Amiri" pitchFamily="2" charset="-78"/>
              </a:rPr>
              <a:t>عَلَى</a:t>
            </a:r>
            <a:pPr algn="l" indent="0" marL="0">
              <a:buNone/>
            </a:pPr>
            <a:r>
              <a:rPr lang="en-US" sz="1050" i="1" dirty="0">
                <a:solidFill>
                  <a:srgbClr val="5A6472"/>
                </a:solidFill>
                <a:latin typeface="Calibri" pitchFamily="34" charset="0"/>
                <a:cs typeface="Amiri" pitchFamily="2" charset="-78"/>
              </a:rPr>
              <a:t> + genitive (</a:t>
            </a:r>
            <a:pPr algn="l" indent="0" marL="0">
              <a:buNone/>
            </a:pPr>
            <a:r>
              <a:rPr lang="ar-SA" altLang="en-US" sz="1350" dirty="0">
                <a:solidFill>
                  <a:srgbClr val="5A6472"/>
                </a:solidFill>
                <a:latin typeface="Amiri" pitchFamily="2" charset="-78"/>
                <a:ea typeface="Amiri" pitchFamily="2" charset="-78"/>
                <a:cs typeface="Amiri" pitchFamily="2" charset="-78"/>
              </a:rPr>
              <a:t>الرَّفِّ</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المِصْبَاحُ عَلَى الرَّفِّ.</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يُوجَدُ ثَلَّاجَةٌ فِي المَطْبَخِ.</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ثَلَّاجَةٌ</a:t>
            </a:r>
            <a:pPr algn="l" indent="0" marL="0">
              <a:buNone/>
            </a:pPr>
            <a:r>
              <a:rPr lang="en-US" sz="1300" i="1" dirty="0">
                <a:solidFill>
                  <a:srgbClr val="5A6472"/>
                </a:solidFill>
                <a:latin typeface="Calibri" pitchFamily="34" charset="0"/>
                <a:cs typeface="Amiri" pitchFamily="2" charset="-78"/>
              </a:rPr>
              <a:t> ends in </a:t>
            </a:r>
            <a:pPr algn="l" indent="0" marL="0">
              <a:buNone/>
            </a:pPr>
            <a:r>
              <a:rPr lang="ar-SA" altLang="en-US" sz="1700" dirty="0">
                <a:solidFill>
                  <a:srgbClr val="5A6472"/>
                </a:solidFill>
                <a:latin typeface="Amiri" pitchFamily="2" charset="-78"/>
                <a:ea typeface="Amiri" pitchFamily="2" charset="-78"/>
                <a:cs typeface="Amiri" pitchFamily="2" charset="-78"/>
              </a:rPr>
              <a:t>ة</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الكِتَابُ تَحْتَ السَّرِيرُ.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after </a:t>
            </a:r>
            <a:pPr algn="l" indent="0" marL="0">
              <a:buNone/>
            </a:pPr>
            <a:r>
              <a:rPr lang="ar-SA" altLang="en-US" sz="1700" dirty="0">
                <a:solidFill>
                  <a:srgbClr val="5A6472"/>
                </a:solidFill>
                <a:latin typeface="Amiri" pitchFamily="2" charset="-78"/>
                <a:ea typeface="Amiri" pitchFamily="2" charset="-78"/>
                <a:cs typeface="Amiri" pitchFamily="2" charset="-78"/>
              </a:rPr>
              <a:t>تَحْتَ</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فِي المَطْبَخِ أَرْبَعُ كُرْسِيٍّ.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3–10 + plural.</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يُوجَدُ ثَلَّاجَةٌ فِي المَطْبَخِ.</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تُوجَدُ ثَلَّاجَةٌ فِي المَطْبَخِ.</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item → </a:t>
            </a:r>
            <a:pPr algn="l" indent="0" marL="0">
              <a:buNone/>
            </a:pPr>
            <a:r>
              <a:rPr lang="ar-SA" altLang="en-US" sz="1500" b="1" dirty="0">
                <a:solidFill>
                  <a:srgbClr val="1B3B6F"/>
                </a:solidFill>
                <a:latin typeface="Amiri" pitchFamily="2" charset="-78"/>
                <a:ea typeface="Amiri" pitchFamily="2" charset="-78"/>
                <a:cs typeface="Amiri" pitchFamily="2" charset="-78"/>
              </a:rPr>
              <a:t>تُوجَدُ</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الكِتَابُ تَحْتَ السَّرِيرُ.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الكِتَابُ تَحْتَ السَّرِيرِ.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تَحْتَ</a:t>
            </a:r>
            <a:pPr algn="l" indent="0" marL="0">
              <a:buNone/>
            </a:pPr>
            <a:r>
              <a:rPr lang="en-US" sz="1150" b="1" dirty="0">
                <a:solidFill>
                  <a:srgbClr val="1B3B6F"/>
                </a:solidFill>
                <a:latin typeface="Calibri" pitchFamily="34" charset="0"/>
                <a:cs typeface="Amiri" pitchFamily="2" charset="-78"/>
              </a:rPr>
              <a:t> + genitive (-i).</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فِي المَطْبَخِ أَرْبَعُ كُرْسِيٍّ.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فِي المَطْبَخِ أَرْبَعَةُ كَرَاسٍ.</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Plural </a:t>
            </a:r>
            <a:pPr algn="l" indent="0" marL="0">
              <a:buNone/>
            </a:pPr>
            <a:r>
              <a:rPr lang="ar-SA" altLang="en-US" sz="1500" b="1" dirty="0">
                <a:solidFill>
                  <a:srgbClr val="1B3B6F"/>
                </a:solidFill>
                <a:latin typeface="Amiri" pitchFamily="2" charset="-78"/>
                <a:ea typeface="Amiri" pitchFamily="2" charset="-78"/>
                <a:cs typeface="Amiri" pitchFamily="2" charset="-78"/>
              </a:rPr>
              <a:t>كَرَاسٍ</a:t>
            </a:r>
            <a:pPr algn="l" indent="0" marL="0">
              <a:buNone/>
            </a:pPr>
            <a:r>
              <a:rPr lang="en-US" sz="1150" b="1" dirty="0">
                <a:solidFill>
                  <a:srgbClr val="1B3B6F"/>
                </a:solidFill>
                <a:latin typeface="Calibri" pitchFamily="34" charset="0"/>
                <a:cs typeface="Amiri" pitchFamily="2" charset="-78"/>
              </a:rPr>
              <a:t>; </a:t>
            </a:r>
            <a:pPr algn="l" indent="0" marL="0">
              <a:buNone/>
            </a:pPr>
            <a:r>
              <a:rPr lang="ar-SA" altLang="en-US" sz="1500" b="1" dirty="0">
                <a:solidFill>
                  <a:srgbClr val="1B3B6F"/>
                </a:solidFill>
                <a:latin typeface="Amiri" pitchFamily="2" charset="-78"/>
                <a:ea typeface="Amiri" pitchFamily="2" charset="-78"/>
                <a:cs typeface="Amiri" pitchFamily="2" charset="-78"/>
              </a:rPr>
              <a:t>كُرْسِيٌّ</a:t>
            </a:r>
            <a:pPr algn="l" indent="0" marL="0">
              <a:buNone/>
            </a:pPr>
            <a:r>
              <a:rPr lang="en-US" sz="1150" b="1" dirty="0">
                <a:solidFill>
                  <a:srgbClr val="1B3B6F"/>
                </a:solidFill>
                <a:latin typeface="Calibri" pitchFamily="34" charset="0"/>
                <a:cs typeface="Amiri" pitchFamily="2" charset="-78"/>
              </a:rPr>
              <a:t> is masculine → </a:t>
            </a:r>
            <a:pPr algn="l" indent="0" marL="0">
              <a:buNone/>
            </a:pPr>
            <a:r>
              <a:rPr lang="ar-SA" altLang="en-US" sz="1500" b="1" dirty="0">
                <a:solidFill>
                  <a:srgbClr val="1B3B6F"/>
                </a:solidFill>
                <a:latin typeface="Amiri" pitchFamily="2" charset="-78"/>
                <a:ea typeface="Amiri" pitchFamily="2" charset="-78"/>
                <a:cs typeface="Amiri" pitchFamily="2" charset="-78"/>
              </a:rPr>
              <a:t>أَرْبَعَةُ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______ بِجَانِبِ ______ ، وَ ______ تَحْتَ ______ .</a:t>
            </a:r>
            <a:endParaRPr lang="ar-SA" sz="15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next to …, and … is under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هٰذِهِ الغُرْفَةَ لِأَنَّ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this room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______ ، وَهِيَ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the …, and it is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فِي الغُرْفَةِ يُوجَدُ ______ ، وَتُوجَدُ ______ .</a:t>
            </a:r>
            <a:endParaRPr lang="ar-SA" sz="17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room there is … and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عَلَى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on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يُوجَدُ · تُوجَدُ  ·  سَرِيرٌ · كُرْسِيٌّ  ·  طَاوِلَةٌ · خِزَانَةٌ  ·  مِصْبَاحٌ · رَفٌّ  ·  سَجَّادَةٌ · مِرْآةٌ  ·  عَلَى · تَحْتَ  ·  بِجَانِبِ · أَمَامَ  ·  لِأَنَّ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Describe one 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أَصِفُ 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description (about 40–60 words) of one room in your home for an online “my home” project. Include: • which room and its size • at least five items with </a:t>
            </a:r>
            <a:pPr algn="l" indent="0" marL="0">
              <a:buNone/>
            </a:pPr>
            <a:r>
              <a:rPr lang="ar-SA" altLang="en-US" sz="1750" b="1" dirty="0">
                <a:solidFill>
                  <a:srgbClr val="1F2A37"/>
                </a:solidFill>
                <a:latin typeface="Amiri" pitchFamily="2" charset="-78"/>
                <a:ea typeface="Amiri" pitchFamily="2" charset="-78"/>
                <a:cs typeface="Amiri" pitchFamily="2" charset="-78"/>
              </a:rPr>
              <a:t>يُوجَدُ / تُوجَدُ</a:t>
            </a:r>
            <a:pPr algn="l" indent="0" marL="0">
              <a:buNone/>
            </a:pPr>
            <a:r>
              <a:rPr lang="en-US" sz="1350" b="1" dirty="0">
                <a:solidFill>
                  <a:srgbClr val="1F2A37"/>
                </a:solidFill>
                <a:latin typeface="Calibri" pitchFamily="34" charset="0"/>
                <a:cs typeface="Amiri" pitchFamily="2" charset="-78"/>
              </a:rPr>
              <a:t> • where three items are • what you like in the room and why.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غُرْفَةِ … يُوجَدُ … وَتُوجَدُ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 room there is … and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عَلَى / تَحْتَ / بِجَانِبِ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on / under / next to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 لِأَنَّهُ / لِأَنَّهَا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like … because it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الغُرْفَةُ كَبِيرَةٌ / صَغِيرَةٌ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room is big / small</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choose </a:t>
            </a:r>
            <a:pPr algn="l" indent="0" marL="0">
              <a:buNone/>
            </a:pPr>
            <a:r>
              <a:rPr lang="ar-SA" altLang="en-US" sz="1450" dirty="0">
                <a:solidFill>
                  <a:srgbClr val="5A6472"/>
                </a:solidFill>
                <a:latin typeface="Amiri" pitchFamily="2" charset="-78"/>
                <a:ea typeface="Amiri" pitchFamily="2" charset="-78"/>
                <a:cs typeface="Amiri" pitchFamily="2" charset="-78"/>
              </a:rPr>
              <a:t>يُوجَدُ</a:t>
            </a:r>
            <a:pPr algn="l" indent="0" marL="0">
              <a:buNone/>
            </a:pPr>
            <a:r>
              <a:rPr lang="en-US" sz="1100" dirty="0">
                <a:solidFill>
                  <a:srgbClr val="5A6472"/>
                </a:solidFill>
                <a:latin typeface="Calibri" pitchFamily="34" charset="0"/>
                <a:cs typeface="Amiri" pitchFamily="2" charset="-78"/>
              </a:rPr>
              <a:t> for masculine and </a:t>
            </a:r>
            <a:pPr algn="l" indent="0" marL="0">
              <a:buNone/>
            </a:pPr>
            <a:r>
              <a:rPr lang="ar-SA" altLang="en-US" sz="1450" dirty="0">
                <a:solidFill>
                  <a:srgbClr val="5A6472"/>
                </a:solidFill>
                <a:latin typeface="Amiri" pitchFamily="2" charset="-78"/>
                <a:ea typeface="Amiri" pitchFamily="2" charset="-78"/>
                <a:cs typeface="Amiri" pitchFamily="2" charset="-78"/>
              </a:rPr>
              <a:t>تُوجَدُ</a:t>
            </a:r>
            <a:pPr algn="l" indent="0" marL="0">
              <a:buNone/>
            </a:pPr>
            <a:r>
              <a:rPr lang="en-US" sz="1100" dirty="0">
                <a:solidFill>
                  <a:srgbClr val="5A6472"/>
                </a:solidFill>
                <a:latin typeface="Calibri" pitchFamily="34" charset="0"/>
                <a:cs typeface="Amiri" pitchFamily="2" charset="-78"/>
              </a:rPr>
              <a:t> for feminine items?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positions with the genitive (</a:t>
            </a:r>
            <a:pPr algn="l" indent="0" marL="0">
              <a:buNone/>
            </a:pPr>
            <a:r>
              <a:rPr lang="ar-SA" altLang="en-US" sz="1450" dirty="0">
                <a:solidFill>
                  <a:srgbClr val="5A6472"/>
                </a:solidFill>
                <a:latin typeface="Amiri" pitchFamily="2" charset="-78"/>
                <a:ea typeface="Amiri" pitchFamily="2" charset="-78"/>
                <a:cs typeface="Amiri" pitchFamily="2" charset="-78"/>
              </a:rPr>
              <a:t>عَلَى الطَّاوِلَةِ</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سَرِيرًا وَخِزَانَةً لِغُرْفَتِي.</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want a bed and a wardrobe for my room.</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أَهْلًا! مَاذَا تُرِيدُ؟</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غُرْفَتِي صَغِيرَةٌ، لِذٰلِكَ أُرِيدُ سَرِيرًا صَغِيرًا.</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 my room is small, so I want a small bed.</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غُرْفَتُكَ كَبِيرَةٌ؟</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أَضَعُهُ تَحْتَ النَّافِذَةِ، بِجَانِبِ السَّرِيرِ.</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I’ll put it under the window, next to the bed.</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عِنْدَنَا هٰذَا المَكْتَبُ. أَيْنَ تَضَعُهُ؟</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أُرِيدُ مِصْبَاحًا وَرَفًّا لِلْكُتُبِ، مِنْ فَضْلِكَ.</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I want a lamp and a bookshelf, please.</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تُرِيدُ شَيْئًا آخَرَ؟</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هٰذِهِ غُرْفَةُ الجُلُوسِ، وَهِيَ كَبِيرَةٌ وَمُرِيحَةٌ. فِي الغُرْفَةِ تُوجَدُ كَنَبَةٌ رَمَادِيَّةٌ، وَيُوجَدُ تِلْفَازٌ كَبِيرٌ، وَتُوجَدُ سَجَّادَةٌ حَمْرَاءُ عَلَى الأَرْضِ. التِّلْفَازُ عَلَى طَاوِلَةٍ صَغِيرَةٍ، وَالمِصْبَاحُ بِجَانِبِ الكَنَبَةِ، وَهُنَاكَ رَفٌّ لِلْكُتُبِ تَحْتَ النَّافِذَةِ. أُحِبُّ هٰذِهِ الغُرْفَةَ لِأَنَّنَا نَجْلِسُ فِيهَا مَعًا كُلَّ مَسَاءٍ.</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“This is the living room, and it is big and comfortable. In the room there is a grey sofa, a big TV and a red rug on the floor. The TV is on a small table, the lamp is next to the sofa, and there is a bookshelf under the window. I like this room because we sit in it together every evening.”</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تُوجَدُ كَنَبَةٌ رَمَادِيَّةٌ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وَيُوجَدُ تِلْفَازٌ</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بِجَانِبِ الكَنَبَةِ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تَحْتَ النَّافِذَةِ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00" b="1" dirty="0">
                <a:solidFill>
                  <a:srgbClr val="FFFFFF"/>
                </a:solidFill>
                <a:latin typeface="Cambria" pitchFamily="34" charset="0"/>
                <a:cs typeface="Amiri" pitchFamily="2" charset="-78"/>
              </a:rPr>
              <a:t>F3-L05 · Colours — Full System and Agreement</a:t>
            </a:r>
            <a:endParaRPr lang="en-US" sz="21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الأَلْوَانُ — النِّظَامُ الكَامِلُ وَالمُطَابَقَةُ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F3-L04 · Practice Room — Furniture and Household Items</dc:title>
  <dc:subject>PptxGenJS Presentation</dc:subject>
  <dc:creator>Al Madina Online School · Arabic Department</dc:creator>
  <cp:lastModifiedBy>Al Madina Online School · Arabic Department</cp:lastModifiedBy>
  <cp:revision>1</cp:revision>
  <dcterms:created xsi:type="dcterms:W3CDTF">2026-10-25T17:19:32Z</dcterms:created>
  <dcterms:modified xsi:type="dcterms:W3CDTF">2026-10-25T17:19:32Z</dcterms:modified>
</cp:coreProperties>
</file>