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F3-L08 (Describing My Bedroom) — new practice tasks built on the lesson’s own word bank and grammar (ghurfatī + feminine adjectives (wāsiʿa · murattaba · muḍīʾa); colours and sizes that agree; positions; simple actions (anāmu · adrusu · aqraʾu fī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F3-L08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أَنْتِ · غُرْفَتُكِ · تُحِبِّينَ. Language: ghurfatī + feminine adjectives · ʿalā al-ḥāʾiṭi · uḥibbuhā li-annahā.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(42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F3-L08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Practice Room — Describing My Bedroom</a:t>
            </a:r>
            <a:endParaRPr lang="en-US" sz="27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غُرْفَتِي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run their own speaking and writing practice describing their bedroom: say the bedroom words, act a short dialogue, answer question cards, do a role-play card on a video call with a cousin, give a 30-second bedroom tour, then build, fix and write a connected description of their room.</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F3-L08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Bedroom objects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سَرِيرٌ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bed</a:t>
            </a:r>
            <a:endParaRPr lang="en-US" sz="1350" dirty="0"/>
          </a:p>
          <a:p>
            <a:pPr indent="0" marL="0">
              <a:buNone/>
            </a:pPr>
            <a:r>
              <a:rPr lang="en-US" sz="1100" i="1" dirty="0">
                <a:solidFill>
                  <a:srgbClr val="5A6472"/>
                </a:solidFill>
                <a:latin typeface="Calibri" pitchFamily="34" charset="0"/>
                <a:cs typeface="Amiri" pitchFamily="2" charset="-78"/>
              </a:rPr>
              <a:t>sa-rīr</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أَسِرَّةٌ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خِزَانَةٌ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wardrobe</a:t>
            </a:r>
            <a:endParaRPr lang="en-US" sz="1350" dirty="0"/>
          </a:p>
          <a:p>
            <a:pPr indent="0" marL="0">
              <a:buNone/>
            </a:pPr>
            <a:r>
              <a:rPr lang="en-US" sz="1100" i="1" dirty="0">
                <a:solidFill>
                  <a:srgbClr val="5A6472"/>
                </a:solidFill>
                <a:latin typeface="Calibri" pitchFamily="34" charset="0"/>
                <a:cs typeface="Amiri" pitchFamily="2" charset="-78"/>
              </a:rPr>
              <a:t>khi-zā-na</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خَزَائِنُ</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مِرْآةٌ</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mirror</a:t>
            </a:r>
            <a:endParaRPr lang="en-US" sz="1350" dirty="0"/>
          </a:p>
          <a:p>
            <a:pPr indent="0" marL="0">
              <a:buNone/>
            </a:pPr>
            <a:r>
              <a:rPr lang="en-US" sz="1100" i="1" dirty="0">
                <a:solidFill>
                  <a:srgbClr val="5A6472"/>
                </a:solidFill>
                <a:latin typeface="Calibri" pitchFamily="34" charset="0"/>
                <a:cs typeface="Amiri" pitchFamily="2" charset="-78"/>
              </a:rPr>
              <a:t>mir-’ā</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مَرَايَا</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مِخَدَّةٌ / وِسَادَةٌ</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pillow</a:t>
            </a:r>
            <a:endParaRPr lang="en-US" sz="1350" dirty="0"/>
          </a:p>
          <a:p>
            <a:pPr indent="0" marL="0">
              <a:buNone/>
            </a:pPr>
            <a:r>
              <a:rPr lang="en-US" sz="1100" i="1" dirty="0">
                <a:solidFill>
                  <a:srgbClr val="5A6472"/>
                </a:solidFill>
                <a:latin typeface="Calibri" pitchFamily="34" charset="0"/>
                <a:cs typeface="Amiri" pitchFamily="2" charset="-78"/>
              </a:rPr>
              <a:t>mi-khad-da / wi-sā-da</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مِخَدَّاتٌ / وَسَائِدُ</a:t>
            </a:r>
            <a:endParaRPr lang="ar-SA" sz="15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8" name="Text 6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بِطَّانِيَّةٌ</a:t>
            </a:r>
            <a:endParaRPr lang="ar-SA" sz="3000" dirty="0"/>
          </a:p>
        </p:txBody>
      </p:sp>
      <p:sp>
        <p:nvSpPr>
          <p:cNvPr id="69" name="Text 6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blanket</a:t>
            </a:r>
            <a:endParaRPr lang="en-US" sz="1350" dirty="0"/>
          </a:p>
          <a:p>
            <a:pPr indent="0" marL="0">
              <a:buNone/>
            </a:pPr>
            <a:r>
              <a:rPr lang="en-US" sz="1100" i="1" dirty="0">
                <a:solidFill>
                  <a:srgbClr val="5A6472"/>
                </a:solidFill>
                <a:latin typeface="Calibri" pitchFamily="34" charset="0"/>
                <a:cs typeface="Amiri" pitchFamily="2" charset="-78"/>
              </a:rPr>
              <a:t>biṭ-ṭā-niy-ya</a:t>
            </a:r>
            <a:endParaRPr lang="en-US" sz="1350" dirty="0"/>
          </a:p>
        </p:txBody>
      </p:sp>
      <p:sp>
        <p:nvSpPr>
          <p:cNvPr id="70" name="Shape 67"/>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2" name="Text 69"/>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بِطَّانِيَّاتٌ</a:t>
            </a:r>
            <a:endParaRPr lang="ar-SA" sz="1500" dirty="0"/>
          </a:p>
        </p:txBody>
      </p:sp>
      <p:sp>
        <p:nvSpPr>
          <p:cNvPr id="73" name="Shape 7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566928"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6" name="Shape 73"/>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78" name="Text 7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لِحَافٌ</a:t>
            </a:r>
            <a:endParaRPr lang="ar-SA" sz="3000" dirty="0"/>
          </a:p>
        </p:txBody>
      </p:sp>
      <p:sp>
        <p:nvSpPr>
          <p:cNvPr id="79" name="Text 7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duvet / quilt</a:t>
            </a:r>
            <a:endParaRPr lang="en-US" sz="1350" dirty="0"/>
          </a:p>
          <a:p>
            <a:pPr indent="0" marL="0">
              <a:buNone/>
            </a:pPr>
            <a:r>
              <a:rPr lang="en-US" sz="1100" i="1" dirty="0">
                <a:solidFill>
                  <a:srgbClr val="5A6472"/>
                </a:solidFill>
                <a:latin typeface="Calibri" pitchFamily="34" charset="0"/>
                <a:cs typeface="Amiri" pitchFamily="2" charset="-78"/>
              </a:rPr>
              <a:t>li-ḥāf</a:t>
            </a:r>
            <a:endParaRPr lang="en-US" sz="1350" dirty="0"/>
          </a:p>
        </p:txBody>
      </p:sp>
      <p:sp>
        <p:nvSpPr>
          <p:cNvPr id="80" name="Shape 77"/>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2" name="Text 79"/>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أَلْحِفَةٌ</a:t>
            </a:r>
            <a:endParaRPr lang="ar-SA" sz="150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Describing a 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مُرَتَّبَةٌ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tidy</a:t>
            </a:r>
            <a:endParaRPr lang="en-US" sz="1350" dirty="0"/>
          </a:p>
          <a:p>
            <a:pPr indent="0" marL="0">
              <a:buNone/>
            </a:pPr>
            <a:r>
              <a:rPr lang="en-US" sz="1100" i="1" dirty="0">
                <a:solidFill>
                  <a:srgbClr val="5A6472"/>
                </a:solidFill>
                <a:latin typeface="Calibri" pitchFamily="34" charset="0"/>
                <a:cs typeface="Amiri" pitchFamily="2" charset="-78"/>
              </a:rPr>
              <a:t>mu-rat-ta-ba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مُرَتَّبَةٌ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مُرَتَّبٌ</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نَظِيفَةٌ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clean</a:t>
            </a:r>
            <a:endParaRPr lang="en-US" sz="1350" dirty="0"/>
          </a:p>
          <a:p>
            <a:pPr indent="0" marL="0">
              <a:buNone/>
            </a:pPr>
            <a:r>
              <a:rPr lang="en-US" sz="1100" i="1" dirty="0">
                <a:solidFill>
                  <a:srgbClr val="5A6472"/>
                </a:solidFill>
                <a:latin typeface="Calibri" pitchFamily="34" charset="0"/>
                <a:cs typeface="Amiri" pitchFamily="2" charset="-78"/>
              </a:rPr>
              <a:t>na-ẓī-fa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نَظِيفَةٌ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نَظِيفٌ</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وَاسِعَةٌ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spacious</a:t>
            </a:r>
            <a:endParaRPr lang="en-US" sz="1350" dirty="0"/>
          </a:p>
          <a:p>
            <a:pPr indent="0" marL="0">
              <a:buNone/>
            </a:pPr>
            <a:r>
              <a:rPr lang="en-US" sz="1100" i="1" dirty="0">
                <a:solidFill>
                  <a:srgbClr val="5A6472"/>
                </a:solidFill>
                <a:latin typeface="Calibri" pitchFamily="34" charset="0"/>
                <a:cs typeface="Amiri" pitchFamily="2" charset="-78"/>
              </a:rPr>
              <a:t>wā-si-‘a</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وَاسِعَةٌ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وَاسِعٌ</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5" name="Text 6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ضَيِّقَةٌ</a:t>
            </a:r>
            <a:endParaRPr lang="ar-SA" sz="3000" dirty="0"/>
          </a:p>
        </p:txBody>
      </p:sp>
      <p:sp>
        <p:nvSpPr>
          <p:cNvPr id="66" name="Text 6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narrow / cramped</a:t>
            </a:r>
            <a:endParaRPr lang="en-US" sz="1350" dirty="0"/>
          </a:p>
          <a:p>
            <a:pPr indent="0" marL="0">
              <a:buNone/>
            </a:pPr>
            <a:r>
              <a:rPr lang="en-US" sz="1100" i="1" dirty="0">
                <a:solidFill>
                  <a:srgbClr val="5A6472"/>
                </a:solidFill>
                <a:latin typeface="Calibri" pitchFamily="34" charset="0"/>
                <a:cs typeface="Amiri" pitchFamily="2" charset="-78"/>
              </a:rPr>
              <a:t>ḍay-yi-qa</a:t>
            </a:r>
            <a:endParaRPr lang="en-US" sz="1350" dirty="0"/>
          </a:p>
        </p:txBody>
      </p:sp>
      <p:sp>
        <p:nvSpPr>
          <p:cNvPr id="67" name="Shape 64"/>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9" name="Text 66"/>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ضَيِّقَةٌ</a:t>
            </a:r>
            <a:endParaRPr lang="ar-SA" sz="1500" dirty="0"/>
          </a:p>
        </p:txBody>
      </p:sp>
      <p:sp>
        <p:nvSpPr>
          <p:cNvPr id="70" name="Shape 67"/>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2" name="Text 69"/>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ضَيِّقٌ</a:t>
            </a:r>
            <a:endParaRPr lang="ar-SA" sz="1500" dirty="0"/>
          </a:p>
        </p:txBody>
      </p:sp>
      <p:sp>
        <p:nvSpPr>
          <p:cNvPr id="73" name="Shape 7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4389120"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6" name="Shape 7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78" name="Shape 7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9" name="Text 7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مُرِيحَةٌ</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comfortable</a:t>
            </a:r>
            <a:endParaRPr lang="en-US" sz="1350" dirty="0"/>
          </a:p>
          <a:p>
            <a:pPr indent="0" marL="0">
              <a:buNone/>
            </a:pPr>
            <a:r>
              <a:rPr lang="en-US" sz="1100" i="1" dirty="0">
                <a:solidFill>
                  <a:srgbClr val="5A6472"/>
                </a:solidFill>
                <a:latin typeface="Calibri" pitchFamily="34" charset="0"/>
                <a:cs typeface="Amiri" pitchFamily="2" charset="-78"/>
              </a:rPr>
              <a:t>mu-rī-ḥa</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4" name="Text 8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مُرِيحَةٌ</a:t>
            </a:r>
            <a:endParaRPr lang="ar-SA" sz="150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a:t>
            </a:r>
            <a:endParaRPr lang="ar-SA" sz="150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91" name="Shape 8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2" name="Text 8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93" name="Text 9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مُضِيئَةٌ</a:t>
            </a:r>
            <a:endParaRPr lang="ar-SA" sz="3000" dirty="0"/>
          </a:p>
        </p:txBody>
      </p:sp>
      <p:sp>
        <p:nvSpPr>
          <p:cNvPr id="94" name="Text 9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bright / well-lit</a:t>
            </a:r>
            <a:endParaRPr lang="en-US" sz="1350" dirty="0"/>
          </a:p>
          <a:p>
            <a:pPr indent="0" marL="0">
              <a:buNone/>
            </a:pPr>
            <a:r>
              <a:rPr lang="en-US" sz="1100" i="1" dirty="0">
                <a:solidFill>
                  <a:srgbClr val="5A6472"/>
                </a:solidFill>
                <a:latin typeface="Calibri" pitchFamily="34" charset="0"/>
                <a:cs typeface="Amiri" pitchFamily="2" charset="-78"/>
              </a:rPr>
              <a:t>mu-ḍī-’a</a:t>
            </a:r>
            <a:endParaRPr lang="en-US" sz="1350" dirty="0"/>
          </a:p>
        </p:txBody>
      </p:sp>
      <p:sp>
        <p:nvSpPr>
          <p:cNvPr id="95" name="Shape 9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7" name="Text 9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مُضِيئَةٌ</a:t>
            </a:r>
            <a:endParaRPr lang="ar-SA" sz="1500" dirty="0"/>
          </a:p>
        </p:txBody>
      </p:sp>
      <p:sp>
        <p:nvSpPr>
          <p:cNvPr id="98" name="Shape 9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0" name="Text 9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مُضِيءٌ</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Show me your 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أَرِنِي غُرْفَتَكَ!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Show me your room! Is it big?</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أَرِنِي غُرْفَتَكَ! هَلْ هِيَ كَبِيرَةٌ؟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my room is small, but it is comfortable and bright.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غُرْفَتِي صَغِيرَةٌ، لٰكِنَّهَا مُرِيحَةٌ وَمُضِيئَةٌ.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it?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يُوجَدُ فِيهَا؟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There is a blue bed, and a white wardrobe next to the door.</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يُوجَدُ سَرِيرٌ أَزْرَقُ، وَتُوجَدُ خِزَانَةٌ بَيْضَاءُ بِجَانِبِ البَابِ.</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your room tidy?</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غُرْفَتُكَ مُرَتَّبَةٌ؟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Sometimes! I tidy it every Saturday.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أَحْيَانًا! أُرَتِّبُهَا كُلَّ يَوْمِ سَبْتٍ.</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describe YOUR real bedroom — size, two objects with colours, tidy or not.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لٰكِنَّهَا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غُرْفَتِي … وَ…</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room like?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غُرْفَتُكَ؟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وَالبِطَّانِيَّةُ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سَرِيرِي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colour is your bed?</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لَوْنُ سَرِيرِكَ؟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بِجَانِبِ / فَوْقَ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المِرْآةُ … ← عَلَى الحَائِطِ</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the mirror in your room?</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المِرْآةُ فِي غُرْفَتِكَ؟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كُلَّ مَسَاءٍ</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أَنَامُ / أَدْرُسُ / أَقْرَأُ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in your room?</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فِي غُرْفَتِكَ؟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وَهٰذَا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مَعَ … / لَا،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share your room with someone?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تُشَارِكُ غُرْفَتَكَ مَعَ أَحَدٍ؟</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Role-play card — a video call with your cousin abroad</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مُكَالَمَةُ فِيدْيُو</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أَنَا فِي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you are in your room.</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أَنْتَ الآنَ؟</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غُرْفَتِي … وَ…</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size + one more adjective.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غُرْفَتُكَ كَبِيرَةٌ؟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عَلَى الحَائِطِ … وَ…</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two things on the wall.</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عَلَى الحَائِطِ؟</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أُحِبُّهَا لِأَنَّهَا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 reason.</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تُحِبُّ غُرْفَتَكَ؟</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yourself, in your room · Leader = your cousin in Egypt.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a tour of my bedroom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جَوْلَةٌ فِي غُرْفَتِي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Give a 30-second tour of your bedroom: its size and feel, five objects with colours and positions, what you do there — and whether it is tidy!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غُرْفَتِي … · يُوجَدُ … · تُوجَدُ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colours that agree and two positions.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what you do there (</a:t>
            </a:r>
            <a:pPr algn="l" indent="0" marL="0">
              <a:buNone/>
            </a:pPr>
            <a:r>
              <a:rPr lang="ar-SA" altLang="en-US" sz="1500" dirty="0">
                <a:solidFill>
                  <a:srgbClr val="1F2A37"/>
                </a:solidFill>
                <a:latin typeface="Amiri" pitchFamily="2" charset="-78"/>
                <a:ea typeface="Amiri" pitchFamily="2" charset="-78"/>
                <a:cs typeface="Amiri" pitchFamily="2" charset="-78"/>
              </a:rPr>
              <a:t>أَدْرُسُ</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أَقْرَأُ</a:t>
            </a:r>
            <a:pPr algn="l" indent="0" marL="0">
              <a:buNone/>
            </a:pPr>
            <a:r>
              <a:rPr lang="en-US" sz="1150" dirty="0">
                <a:solidFill>
                  <a:srgbClr val="1F2A37"/>
                </a:solidFill>
                <a:latin typeface="Calibri" pitchFamily="34" charset="0"/>
                <a:cs typeface="Amiri" pitchFamily="2" charset="-78"/>
              </a:rPr>
              <a:t>) and what you would like to change.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room is spacious and bright.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غُرْفَتِي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غُرْفَتُكَ</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وَاسِعَةٌ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وَاسِعٌ</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وَمُضِيئَةٌ.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وَمُضِيءٌ.</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is a white pillow on the bed.</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تُوجَدُ</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يُوجَدُ</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وِسَادَةٌ بَيْضَاءُ</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وِسَادَةٌ أَبْيَضُ</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السَّرِيرِ.</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السَّرِيرُ.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study at my desk every evening.</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أَدْرُسُ</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يَدْرُسُ</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مَكْتَبِي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مَكْتَبُ</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مَسَاءٍ.</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 مَسَاءً.</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room is spacious and bright.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غُرْفَةٌ</a:t>
            </a:r>
            <a:pPr algn="l" indent="0" marL="0">
              <a:buNone/>
            </a:pPr>
            <a:r>
              <a:rPr lang="en-US" sz="1050" i="1" dirty="0">
                <a:solidFill>
                  <a:srgbClr val="5A6472"/>
                </a:solidFill>
                <a:latin typeface="Calibri" pitchFamily="34" charset="0"/>
                <a:cs typeface="Amiri" pitchFamily="2" charset="-78"/>
              </a:rPr>
              <a:t> is feminine → both adjectives with </a:t>
            </a:r>
            <a:pPr algn="l" indent="0" marL="0">
              <a:buNone/>
            </a:pPr>
            <a:r>
              <a:rPr lang="ar-SA" altLang="en-US" sz="1350" dirty="0">
                <a:solidFill>
                  <a:srgbClr val="5A6472"/>
                </a:solidFill>
                <a:latin typeface="Amiri" pitchFamily="2" charset="-78"/>
                <a:ea typeface="Amiri" pitchFamily="2" charset="-78"/>
                <a:cs typeface="Amiri" pitchFamily="2" charset="-78"/>
              </a:rPr>
              <a:t>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غُرْفَتِي وَاسِعَةٌ وَمُضِيئَةٌ.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is a white pillow on the bed.</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وِسَادَةٌ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تُوجَدُ … بَيْضَاءُ</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تُوجَدُ وِسَادَةٌ بَيْضَاءُ عَلَى السَّرِيرِ.</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study at my desk every evening.</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 </a:t>
            </a:r>
            <a:pPr algn="l" indent="0" marL="0">
              <a:buNone/>
            </a:pPr>
            <a:r>
              <a:rPr lang="ar-SA" altLang="en-US" sz="1350" dirty="0">
                <a:solidFill>
                  <a:srgbClr val="5A6472"/>
                </a:solidFill>
                <a:latin typeface="Amiri" pitchFamily="2" charset="-78"/>
                <a:ea typeface="Amiri" pitchFamily="2" charset="-78"/>
                <a:cs typeface="Amiri" pitchFamily="2" charset="-78"/>
              </a:rPr>
              <a:t>أَدْرُسُ</a:t>
            </a:r>
            <a:pPr algn="l" indent="0" marL="0">
              <a:buNone/>
            </a:pPr>
            <a:r>
              <a:rPr lang="en-US" sz="1050" i="1" dirty="0">
                <a:solidFill>
                  <a:srgbClr val="5A6472"/>
                </a:solidFill>
                <a:latin typeface="Calibri" pitchFamily="34" charset="0"/>
                <a:cs typeface="Amiri" pitchFamily="2" charset="-78"/>
              </a:rPr>
              <a:t>; a habit → </a:t>
            </a:r>
            <a:pPr algn="l" indent="0" marL="0">
              <a:buNone/>
            </a:pPr>
            <a:r>
              <a:rPr lang="ar-SA" altLang="en-US" sz="1350" dirty="0">
                <a:solidFill>
                  <a:srgbClr val="5A6472"/>
                </a:solidFill>
                <a:latin typeface="Amiri" pitchFamily="2" charset="-78"/>
                <a:ea typeface="Amiri" pitchFamily="2" charset="-78"/>
                <a:cs typeface="Amiri" pitchFamily="2" charset="-78"/>
              </a:rPr>
              <a:t>كُلَّ مَسَاءٍ</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أَدْرُسُ عَلَى مَكْتَبِي كُلَّ مَسَاءٍ.</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غُرْفَتِي مُرَتَّبٌ.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غُرْفَةٌ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الخِزَانَةُ أَبْيَضُ.</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Colour agreement.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غُرْفَتِي لِأَنَّهُ هَادِئٌ.</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It = the room (f.).</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غُرْفَتِي مُرَتَّبٌ.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غُرْفَتِي مُرَتَّبَةٌ.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a:t>
            </a:r>
            <a:pPr algn="l" indent="0" marL="0">
              <a:buNone/>
            </a:pPr>
            <a:r>
              <a:rPr lang="ar-SA" altLang="en-US" sz="1500" b="1" dirty="0">
                <a:solidFill>
                  <a:srgbClr val="1B3B6F"/>
                </a:solidFill>
                <a:latin typeface="Amiri" pitchFamily="2" charset="-78"/>
                <a:ea typeface="Amiri" pitchFamily="2" charset="-78"/>
                <a:cs typeface="Amiri" pitchFamily="2" charset="-78"/>
              </a:rPr>
              <a:t>مُرَتَّبَةٌ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الخِزَانَةُ أَبْيَضُ.</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الخِزَانَةُ بَيْضَاءُ.</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بَيْضَاءُ</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غُرْفَتِي لِأَنَّهُ هَادِئٌ.</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غُرْفَتِي لِأَنَّهَا هَادِئَةٌ.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Room is feminine → </a:t>
            </a:r>
            <a:pPr algn="l" indent="0" marL="0">
              <a:buNone/>
            </a:pPr>
            <a:r>
              <a:rPr lang="ar-SA" altLang="en-US" sz="1500" b="1" dirty="0">
                <a:solidFill>
                  <a:srgbClr val="1B3B6F"/>
                </a:solidFill>
                <a:latin typeface="Amiri" pitchFamily="2" charset="-78"/>
                <a:ea typeface="Amiri" pitchFamily="2" charset="-78"/>
                <a:cs typeface="Amiri" pitchFamily="2" charset="-78"/>
              </a:rPr>
              <a:t>لِأَنَّهَا هَادِئَةٌ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غُرْفَتِي أَنَامُ وَ ______ 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room I sleep, …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أُغَيِّرَ ______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want to change …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غُرْفَتِي ______ 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room is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فِيهَا سَرِيرٌ ______ وَخِزَانَةٌ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has a … bed and a … wardrobe.</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عَلَى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on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غُرْفَتِي لِأَنَّهَا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my room because it is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سَرِيرٌ · خِزَانَةٌ  ·  مِرْآةٌ · وِسَادَةٌ  ·  بِطَّانِيَّةٌ · لِحَافٌ  ·  مُرَتَّبَةٌ · نَظِيفَةٌ  ·  وَاسِعَةٌ · ضَيِّقَةٌ  ·  مُرِيحَةٌ · مُضِيئَةٌ  ·  بِجَانِبِ · تَحْتَ · فَوْقَ  ·  لِأَنَّهَا</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bedroom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غُرْفَتِي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a description of your bedroom (about 45–65 words) for a “my space” display. Include: • size and three adjectives • at least five objects with colours • where three objects are • what you do there • why you like it (or what you would change).</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غُرْفَتِي … وَ… ، لٰكِنَّهَا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room is … and …, but it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يُوجَدُ … أَزْرَقُ · تُوجَدُ … زَرْقَاءُ</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is a blue … (m. / f.)</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بِجَانِبِ / تَحْتَ / فَوْقَ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next to / under / above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أُحِبُّهَا لِأَنَّهَا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love it because it is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feminine adjectives for the room (</a:t>
            </a:r>
            <a:pPr algn="l" indent="0" marL="0">
              <a:buNone/>
            </a:pPr>
            <a:r>
              <a:rPr lang="ar-SA" altLang="en-US" sz="1450" dirty="0">
                <a:solidFill>
                  <a:srgbClr val="5A6472"/>
                </a:solidFill>
                <a:latin typeface="Amiri" pitchFamily="2" charset="-78"/>
                <a:ea typeface="Amiri" pitchFamily="2" charset="-78"/>
                <a:cs typeface="Amiri" pitchFamily="2" charset="-78"/>
              </a:rPr>
              <a:t>غُرْفَتِي … 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colours that agree and at least two positions?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فِي غُرْفَتِي الآنَ.</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in my room now.</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أَنْتَ الآنَ؟</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غُرْفَتِي مُتَوَسِّطَةٌ وَمُرِيحَةٌ.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room is medium-sized and comfortable.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غُرْفَتُكَ كَبِيرَةٌ؟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الحَائِطِ مِرْآةٌ وَصُورَةٌ لِعَائِلَتِي.</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On the wall there is a mirror and a photo of my family.</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يُوجَدُ عَلَى الحَائِطِ؟</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أُحِبُّهَا لِأَنَّهَا هَادِئَةٌ وَمُضِيئَةٌ.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 love it because it is quiet and bright.</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تُحِبُّ غُرْفَتَكَ؟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غُرْفَتِي صَغِيرَةٌ، لٰكِنَّهَا مُرِيحَةٌ وَمُضِيئَةٌ، لِأَنَّ فِيهَا نَافِذَةً كَبِيرَةً. فِيهَا سَرِيرٌ رَمَادِيٌّ وَبِطَّانِيَّةٌ زَرْقَاءُ، وَخِزَانَةٌ بَيْضَاءُ بِجَانِبِ البَابِ. مَكْتَبِي تَحْتَ النَّافِذَةِ، وَعَلَى الحَائِطِ مِرْآةٌ وَصُوَرٌ لِأَصْدِقَائِي. فِي غُرْفَتِي أَنَامُ وَأَدْرُسُ وَأَقْرَأُ القِصَصَ. أُحِبُّ غُرْفَتِي، لٰكِنِّي أُرِيدُ أَنْ أُغَيِّرَ لَوْنَ الجُدْرَانِ، لِأَنَّهَا قَدِيمَةٌ.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room is small, but comfortable and bright, because it has a big window. It has a grey bed and a blue blanket, and a white wardrobe next to the door. My desk is under the window, and on the wall there is a mirror and photos of my friends. In my room I sleep, study and read stories. I love my room, but I want to change the colour of the walls, because they are old.”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لٰكِنَّهَا مُرِيحَةٌ وَمُضِيئَةٌ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بِطَّانِيَّةٌ زَرْقَاءُ</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تَحْتَ النَّافِذَةِ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أُرِيدُ أَنْ أُغَيِّرَ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F3-L08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F3-L09 · Extended Writing: My Home and Family</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المُطَوَّلَةُ — بَيْتِي وَعَائِلَتِي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F3-L08 · Practice Room — Describing My Bedroom</dc:title>
  <dc:subject>PptxGenJS Presentation</dc:subject>
  <dc:creator>Al Madina Online School · Arabic Department</dc:creator>
  <cp:lastModifiedBy>Al Madina Online School · Arabic Department</cp:lastModifiedBy>
  <cp:revision>1</cp:revision>
  <dcterms:created xsi:type="dcterms:W3CDTF">2026-10-25T17:22:20Z</dcterms:created>
  <dcterms:modified xsi:type="dcterms:W3CDTF">2026-10-25T17:22:20Z</dcterms:modified>
</cp:coreProperties>
</file>