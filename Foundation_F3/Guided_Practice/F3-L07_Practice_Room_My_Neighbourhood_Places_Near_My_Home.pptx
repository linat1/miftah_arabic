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F3-L07 (My Neighbourhood — Places Near My Home) — new practice tasks built on the lesson’s own word bank and grammar (places + positions: qarībun min · baʿīdun ʿan · bi-jānibi · amāma · khalfa · muqābila; directions (imshi · khudh · ʿalā al-yamīni / al-yasāri); yūjadu / tūjadu).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F3-L07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to a female visitor: امْشِي · خُذِي. Language: muqābila / bi-jānibi + genitive · imperatives imshi / khudh · ʿashru daqāʾiqa mashyan.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(50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F3-L07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My Neighbourhood — Places Near My Home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حَيِّي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about their neighbourhood: say the place words, act a short dialogue, answer question cards, do a role-play card giving directions to a visitor, give a 30-second neighbourhood talk, then build, fix and write a short description of their area.</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F3-L07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Places near my home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neighbourhood</a:t>
            </a:r>
            <a:endParaRPr lang="en-US" sz="1350" dirty="0"/>
          </a:p>
          <a:p>
            <a:pPr indent="0" marL="0">
              <a:buNone/>
            </a:pPr>
            <a:r>
              <a:rPr lang="en-US" sz="1100" i="1" dirty="0">
                <a:solidFill>
                  <a:srgbClr val="5A6472"/>
                </a:solidFill>
                <a:latin typeface="Calibri" pitchFamily="34" charset="0"/>
                <a:cs typeface="Amiri" pitchFamily="2" charset="-78"/>
              </a:rPr>
              <a:t>ḥayy</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أَحْيَاءٌ</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حَيِّي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شَارِعٌ</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street</a:t>
            </a:r>
            <a:endParaRPr lang="en-US" sz="1350" dirty="0"/>
          </a:p>
          <a:p>
            <a:pPr indent="0" marL="0">
              <a:buNone/>
            </a:pPr>
            <a:r>
              <a:rPr lang="en-US" sz="1100" i="1" dirty="0">
                <a:solidFill>
                  <a:srgbClr val="5A6472"/>
                </a:solidFill>
                <a:latin typeface="Calibri" pitchFamily="34" charset="0"/>
                <a:cs typeface="Amiri" pitchFamily="2" charset="-78"/>
              </a:rPr>
              <a:t>shā-ri‘</a:t>
            </a:r>
            <a:endParaRPr lang="en-US" sz="1350" dirty="0"/>
          </a:p>
        </p:txBody>
      </p:sp>
      <p:sp>
        <p:nvSpPr>
          <p:cNvPr id="39" name="Shape 3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شَوَارِعُ</a:t>
            </a:r>
            <a:endParaRPr lang="ar-SA" sz="1500" dirty="0"/>
          </a:p>
        </p:txBody>
      </p:sp>
      <p:sp>
        <p:nvSpPr>
          <p:cNvPr id="42" name="Shape 3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1920240"/>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5" name="Shape 42"/>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7" name="Shape 4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مَدْرَسَةٌ</a:t>
            </a:r>
            <a:endParaRPr lang="ar-SA" sz="3000" dirty="0"/>
          </a:p>
        </p:txBody>
      </p:sp>
      <p:sp>
        <p:nvSpPr>
          <p:cNvPr id="50" name="Text 4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a:t>
            </a:r>
            <a:endParaRPr lang="en-US" sz="1350" dirty="0"/>
          </a:p>
          <a:p>
            <a:pPr indent="0" marL="0">
              <a:buNone/>
            </a:pPr>
            <a:r>
              <a:rPr lang="en-US" sz="1100" i="1" dirty="0">
                <a:solidFill>
                  <a:srgbClr val="5A6472"/>
                </a:solidFill>
                <a:latin typeface="Calibri" pitchFamily="34" charset="0"/>
                <a:cs typeface="Amiri" pitchFamily="2" charset="-78"/>
              </a:rPr>
              <a:t>mad-ra-sa</a:t>
            </a:r>
            <a:endParaRPr lang="en-US" sz="1350" dirty="0"/>
          </a:p>
        </p:txBody>
      </p:sp>
      <p:sp>
        <p:nvSpPr>
          <p:cNvPr id="51" name="Shape 4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3" name="Text 5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مَدَارِسُ</a:t>
            </a:r>
            <a:endParaRPr lang="ar-SA" sz="150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7" name="Shape 54"/>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9" name="Shape 5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مَسْجِدٌ</a:t>
            </a:r>
            <a:endParaRPr lang="ar-SA" sz="3000" dirty="0"/>
          </a:p>
        </p:txBody>
      </p:sp>
      <p:sp>
        <p:nvSpPr>
          <p:cNvPr id="62" name="Text 5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mosque</a:t>
            </a:r>
            <a:endParaRPr lang="en-US" sz="1350" dirty="0"/>
          </a:p>
          <a:p>
            <a:pPr indent="0" marL="0">
              <a:buNone/>
            </a:pPr>
            <a:r>
              <a:rPr lang="en-US" sz="1100" i="1" dirty="0">
                <a:solidFill>
                  <a:srgbClr val="5A6472"/>
                </a:solidFill>
                <a:latin typeface="Calibri" pitchFamily="34" charset="0"/>
                <a:cs typeface="Amiri" pitchFamily="2" charset="-78"/>
              </a:rPr>
              <a:t>mas-jid</a:t>
            </a:r>
            <a:endParaRPr lang="en-US" sz="1350" dirty="0"/>
          </a:p>
        </p:txBody>
      </p:sp>
      <p:sp>
        <p:nvSpPr>
          <p:cNvPr id="63" name="Shape 60"/>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5" name="Text 62"/>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مَسَاجِدُ</a:t>
            </a:r>
            <a:endParaRPr lang="ar-SA" sz="1500" dirty="0"/>
          </a:p>
        </p:txBody>
      </p:sp>
      <p:sp>
        <p:nvSpPr>
          <p:cNvPr id="66" name="Shape 6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4389120"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9" name="Shape 66"/>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71" name="Shape 6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2" name="Text 6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3" name="Text 70"/>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مُسْتَشْفًى</a:t>
            </a:r>
            <a:endParaRPr lang="ar-SA" sz="3000" dirty="0"/>
          </a:p>
        </p:txBody>
      </p:sp>
      <p:sp>
        <p:nvSpPr>
          <p:cNvPr id="74" name="Text 71"/>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a:t>
            </a:r>
            <a:endParaRPr lang="en-US" sz="1350" dirty="0"/>
          </a:p>
          <a:p>
            <a:pPr indent="0" marL="0">
              <a:buNone/>
            </a:pPr>
            <a:r>
              <a:rPr lang="en-US" sz="1100" i="1" dirty="0">
                <a:solidFill>
                  <a:srgbClr val="5A6472"/>
                </a:solidFill>
                <a:latin typeface="Calibri" pitchFamily="34" charset="0"/>
                <a:cs typeface="Amiri" pitchFamily="2" charset="-78"/>
              </a:rPr>
              <a:t>mus-tash-fā</a:t>
            </a:r>
            <a:endParaRPr lang="en-US" sz="1350" dirty="0"/>
          </a:p>
        </p:txBody>
      </p:sp>
      <p:sp>
        <p:nvSpPr>
          <p:cNvPr id="75" name="Shape 72"/>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7" name="Text 74"/>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مُسْتَشْفَيَاتٌ</a:t>
            </a:r>
            <a:endParaRPr lang="ar-SA" sz="1500" dirty="0"/>
          </a:p>
        </p:txBody>
      </p:sp>
      <p:sp>
        <p:nvSpPr>
          <p:cNvPr id="78" name="Shape 7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6"/>
          <p:cNvSpPr/>
          <p:nvPr/>
        </p:nvSpPr>
        <p:spPr>
          <a:xfrm>
            <a:off x="566928" y="4261104"/>
            <a:ext cx="310896" cy="310896"/>
          </a:xfrm>
          <a:prstGeom prst="ellipse">
            <a:avLst/>
          </a:prstGeom>
          <a:solidFill>
            <a:srgbClr val="F4F1EA"/>
          </a:solidFill>
          <a:ln w="12700">
            <a:solidFill>
              <a:srgbClr val="F4F1EA"/>
            </a:solidFill>
            <a:prstDash val="solid"/>
          </a:ln>
        </p:spPr>
      </p:sp>
      <p:sp>
        <p:nvSpPr>
          <p:cNvPr id="80" name="Text 7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1" name="Shape 7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2" name="Text 7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83" name="Shape 8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4" name="Text 8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5" name="Text 8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صَيْدَلِيَّةٌ</a:t>
            </a:r>
            <a:endParaRPr lang="ar-SA" sz="3000" dirty="0"/>
          </a:p>
        </p:txBody>
      </p:sp>
      <p:sp>
        <p:nvSpPr>
          <p:cNvPr id="86" name="Text 8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pharmacy</a:t>
            </a:r>
            <a:endParaRPr lang="en-US" sz="1350" dirty="0"/>
          </a:p>
          <a:p>
            <a:pPr indent="0" marL="0">
              <a:buNone/>
            </a:pPr>
            <a:r>
              <a:rPr lang="en-US" sz="1100" i="1" dirty="0">
                <a:solidFill>
                  <a:srgbClr val="5A6472"/>
                </a:solidFill>
                <a:latin typeface="Calibri" pitchFamily="34" charset="0"/>
                <a:cs typeface="Amiri" pitchFamily="2" charset="-78"/>
              </a:rPr>
              <a:t>ṣay-da-liy-ya</a:t>
            </a:r>
            <a:endParaRPr lang="en-US" sz="1350" dirty="0"/>
          </a:p>
        </p:txBody>
      </p:sp>
      <p:sp>
        <p:nvSpPr>
          <p:cNvPr id="87" name="Shape 84"/>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9" name="Text 86"/>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صَيْدَلِيَّاتٌ</a:t>
            </a:r>
            <a:endParaRPr lang="ar-SA" sz="150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Places near my home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مَتْجَرٌ / دُكَّانٌ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shop</a:t>
            </a:r>
            <a:endParaRPr lang="en-US" sz="1350" dirty="0"/>
          </a:p>
          <a:p>
            <a:pPr indent="0" marL="0">
              <a:buNone/>
            </a:pPr>
            <a:r>
              <a:rPr lang="en-US" sz="1100" i="1" dirty="0">
                <a:solidFill>
                  <a:srgbClr val="5A6472"/>
                </a:solidFill>
                <a:latin typeface="Calibri" pitchFamily="34" charset="0"/>
                <a:cs typeface="Amiri" pitchFamily="2" charset="-78"/>
              </a:rPr>
              <a:t>mat-jar / duk-kān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مَتَاجِرُ</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مَكْتَبَةٌ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library / bookshop</a:t>
            </a:r>
            <a:endParaRPr lang="en-US" sz="1350" dirty="0"/>
          </a:p>
          <a:p>
            <a:pPr indent="0" marL="0">
              <a:buNone/>
            </a:pPr>
            <a:r>
              <a:rPr lang="en-US" sz="1100" i="1" dirty="0">
                <a:solidFill>
                  <a:srgbClr val="5A6472"/>
                </a:solidFill>
                <a:latin typeface="Calibri" pitchFamily="34" charset="0"/>
                <a:cs typeface="Amiri" pitchFamily="2" charset="-78"/>
              </a:rPr>
              <a:t>mak-ta-ba</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مَكْتَبَاتٌ</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حَدِيقَةٌ عَامَّةٌ</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public park</a:t>
            </a:r>
            <a:endParaRPr lang="en-US" sz="1350" dirty="0"/>
          </a:p>
          <a:p>
            <a:pPr indent="0" marL="0">
              <a:buNone/>
            </a:pPr>
            <a:r>
              <a:rPr lang="en-US" sz="1100" i="1" dirty="0">
                <a:solidFill>
                  <a:srgbClr val="5A6472"/>
                </a:solidFill>
                <a:latin typeface="Calibri" pitchFamily="34" charset="0"/>
                <a:cs typeface="Amiri" pitchFamily="2" charset="-78"/>
              </a:rPr>
              <a:t>ḥa-dī-qa ‘ām-ma</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حَدَائِقُ عَامَّةٌ</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مَطْعَمٌ</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restaurant</a:t>
            </a:r>
            <a:endParaRPr lang="en-US" sz="1350" dirty="0"/>
          </a:p>
          <a:p>
            <a:pPr indent="0" marL="0">
              <a:buNone/>
            </a:pPr>
            <a:r>
              <a:rPr lang="en-US" sz="1100" i="1" dirty="0">
                <a:solidFill>
                  <a:srgbClr val="5A6472"/>
                </a:solidFill>
                <a:latin typeface="Calibri" pitchFamily="34" charset="0"/>
                <a:cs typeface="Amiri" pitchFamily="2" charset="-78"/>
              </a:rPr>
              <a:t>maṭ-‘am</a:t>
            </a:r>
            <a:endParaRPr lang="en-US" sz="1350" dirty="0"/>
          </a:p>
        </p:txBody>
      </p:sp>
      <p:sp>
        <p:nvSpPr>
          <p:cNvPr id="58" name="Shape 5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مَطَاعِمُ</a:t>
            </a:r>
            <a:endParaRPr lang="ar-SA" sz="15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4" name="Shape 6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6" name="Text 6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مَحَطَّةٌ</a:t>
            </a:r>
            <a:endParaRPr lang="ar-SA" sz="3000" dirty="0"/>
          </a:p>
        </p:txBody>
      </p:sp>
      <p:sp>
        <p:nvSpPr>
          <p:cNvPr id="67" name="Text 6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station</a:t>
            </a:r>
            <a:endParaRPr lang="en-US" sz="1350" dirty="0"/>
          </a:p>
          <a:p>
            <a:pPr indent="0" marL="0">
              <a:buNone/>
            </a:pPr>
            <a:r>
              <a:rPr lang="en-US" sz="1100" i="1" dirty="0">
                <a:solidFill>
                  <a:srgbClr val="5A6472"/>
                </a:solidFill>
                <a:latin typeface="Calibri" pitchFamily="34" charset="0"/>
                <a:cs typeface="Amiri" pitchFamily="2" charset="-78"/>
              </a:rPr>
              <a:t>ma-ḥaṭ-ṭa</a:t>
            </a:r>
            <a:endParaRPr lang="en-US" sz="1350" dirty="0"/>
          </a:p>
        </p:txBody>
      </p:sp>
      <p:sp>
        <p:nvSpPr>
          <p:cNvPr id="68" name="Shape 65"/>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0" name="Text 67"/>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مَحَطَّاتٌ</a:t>
            </a:r>
            <a:endParaRPr lang="ar-SA" sz="1500" dirty="0"/>
          </a:p>
        </p:txBody>
      </p:sp>
      <p:sp>
        <p:nvSpPr>
          <p:cNvPr id="71" name="Shape 6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566928"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4" name="Shape 71"/>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76" name="Text 7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بَنْكٌ</a:t>
            </a:r>
            <a:endParaRPr lang="ar-SA" sz="3000" dirty="0"/>
          </a:p>
        </p:txBody>
      </p:sp>
      <p:sp>
        <p:nvSpPr>
          <p:cNvPr id="77" name="Text 7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bank</a:t>
            </a:r>
            <a:endParaRPr lang="en-US" sz="1350" dirty="0"/>
          </a:p>
          <a:p>
            <a:pPr indent="0" marL="0">
              <a:buNone/>
            </a:pPr>
            <a:r>
              <a:rPr lang="en-US" sz="1100" i="1" dirty="0">
                <a:solidFill>
                  <a:srgbClr val="5A6472"/>
                </a:solidFill>
                <a:latin typeface="Calibri" pitchFamily="34" charset="0"/>
                <a:cs typeface="Amiri" pitchFamily="2" charset="-78"/>
              </a:rPr>
              <a:t>bank</a:t>
            </a:r>
            <a:endParaRPr lang="en-US" sz="1350" dirty="0"/>
          </a:p>
        </p:txBody>
      </p:sp>
      <p:sp>
        <p:nvSpPr>
          <p:cNvPr id="78" name="Shape 75"/>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also</a:t>
            </a:r>
            <a:endParaRPr lang="en-US" sz="700" dirty="0"/>
          </a:p>
        </p:txBody>
      </p:sp>
      <p:sp>
        <p:nvSpPr>
          <p:cNvPr id="80" name="Text 77"/>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مَصْرِفٌ</a:t>
            </a:r>
            <a:endParaRPr lang="ar-SA" sz="135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Is there a pharmacy near here?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هَلْ تُوجَدُ صَيْدَلِيَّةٌ قَرِيبَةٌ؟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Excuse me, is there a pharmacy near here?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عَفْوًا، هَلْ تُوجَدُ صَيْدَلِيَّةٌ قَرِيبَةٌ مِنْ هُنَا؟</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the pharmacy is next to the mosque.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الصَّيْدَلِيَّةُ بِجَانِبِ المَسْجِدِ.</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where is the mosque?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وَأَيْنَ المَسْجِدُ؟</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Walk straight on, then take the first street on the right.</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امْشِ مُسْتَقِيمًا، ثُمَّ خُذِ الشَّارِعَ الأَوَّلَ عَلَى اليَمِينِ.</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it far?</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هُوَ بَعِيدٌ؟</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only five minutes’ walk.</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خَمْسُ دَقَائِقَ مَشْيًا فَقَطْ.</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ask for a different place (</a:t>
            </a:r>
            <a:pPr algn="l" indent="0" marL="0">
              <a:buNone/>
            </a:pPr>
            <a:r>
              <a:rPr lang="ar-SA" altLang="en-US" sz="1500" b="1" dirty="0">
                <a:solidFill>
                  <a:srgbClr val="1B3B6F"/>
                </a:solidFill>
                <a:latin typeface="Amiri" pitchFamily="2" charset="-78"/>
                <a:ea typeface="Amiri" pitchFamily="2" charset="-78"/>
                <a:cs typeface="Amiri" pitchFamily="2" charset="-78"/>
              </a:rPr>
              <a:t>المَكْتَبَةُ</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البَنْكُ</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المَحَطَّةُ</a:t>
            </a:r>
            <a:pPr algn="l" indent="0" marL="0">
              <a:buNone/>
            </a:pPr>
            <a:r>
              <a:rPr lang="en-US" sz="1150" b="1" dirty="0">
                <a:solidFill>
                  <a:srgbClr val="1B3B6F"/>
                </a:solidFill>
                <a:latin typeface="Calibri" pitchFamily="34" charset="0"/>
                <a:cs typeface="Amiri" pitchFamily="2" charset="-78"/>
              </a:rPr>
              <a:t>) and change the directions.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 لَا يُوجَدُ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حَيِّي يُوجَدُ … وَتُوجَدُ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there in your neighbourhood?</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فِي حَيِّكَ؟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عَشْرُ دَقَائِقَ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نَعَمْ، قَرِيبَةٌ مِنْ … / لَا، بَعِيدَةٌ عَنْ …</a:t>
            </a:r>
            <a:endParaRPr lang="ar-SA" sz="155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the school near your home?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المَدْرَسَةُ قَرِيبَةٌ مِنْ بَيْتِكَ؟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وَخَلْفَهُ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أَمَامَ بَيْتِي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in front of your house?</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أَمَامَ بَيْتِكَ؟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الَّذِي بِجَانِبِ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أَشْتَرِي الخُبْزَ مِنْ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buy bread?</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تَشْتَرِي الخُبْزَ؟</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مَكَانِي المُفَضَّلُ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place in your area?</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مَكَانُكَ المُفَضَّلُ فِي حَيِّكَ؟</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Role-play card — helping a visitor find the library</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أُسَاعِدُ زَائِرًا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المَكْتَبَةُ مُقَابِلَ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where it is (one position).</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عَفْوًا، أَيْنَ المَكْتَبَةُ؟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امْشِ … ثُمَّ خُذْ … عَلَى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two directions.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أَذْهَبُ إِلَى هُنَاكَ؟</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لَا، … دَقَائِقَ مَشْيًا</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how far.</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هِيَ بَعِيدَةٌ؟</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يُوجَدُ مَطْعَمٌ … بِجَانِبِ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and say where.</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وَهَلْ يُوجَدُ مَطْعَمٌ قَرِيبٌ؟</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local student · Leader = a visitor to your town.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my neighbourhood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حَيِّي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about your neighbourhood: what there is, where places are, what is near or far — and your favourite place.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places with </a:t>
            </a:r>
            <a:pPr algn="l" indent="0" marL="0">
              <a:buNone/>
            </a:pPr>
            <a:r>
              <a:rPr lang="ar-SA" altLang="en-US" sz="1500" dirty="0">
                <a:solidFill>
                  <a:srgbClr val="1F2A37"/>
                </a:solidFill>
                <a:latin typeface="Amiri" pitchFamily="2" charset="-78"/>
                <a:ea typeface="Amiri" pitchFamily="2" charset="-78"/>
                <a:cs typeface="Amiri" pitchFamily="2" charset="-78"/>
              </a:rPr>
              <a:t>يُوجَدُ / تُوجَدُ</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positions (</a:t>
            </a:r>
            <a:pPr algn="l" indent="0" marL="0">
              <a:buNone/>
            </a:pPr>
            <a:r>
              <a:rPr lang="ar-SA" altLang="en-US" sz="1500" dirty="0">
                <a:solidFill>
                  <a:srgbClr val="1F2A37"/>
                </a:solidFill>
                <a:latin typeface="Amiri" pitchFamily="2" charset="-78"/>
                <a:ea typeface="Amiri" pitchFamily="2" charset="-78"/>
                <a:cs typeface="Amiri" pitchFamily="2" charset="-78"/>
              </a:rPr>
              <a:t>بِجَانِبِ</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أَمَامَ</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مُقَابِلَ</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قَرِيبٌ مِنْ / بَعِيدٌ عَنْ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what is missing (</a:t>
            </a:r>
            <a:pPr algn="l" indent="0" marL="0">
              <a:buNone/>
            </a:pPr>
            <a:r>
              <a:rPr lang="ar-SA" altLang="en-US" sz="1500" dirty="0">
                <a:solidFill>
                  <a:srgbClr val="1F2A37"/>
                </a:solidFill>
                <a:latin typeface="Amiri" pitchFamily="2" charset="-78"/>
                <a:ea typeface="Amiri" pitchFamily="2" charset="-78"/>
                <a:cs typeface="Amiri" pitchFamily="2" charset="-78"/>
              </a:rPr>
              <a:t>لَا يُوجَدُ</a:t>
            </a:r>
            <a:pPr algn="l" indent="0" marL="0">
              <a:buNone/>
            </a:pPr>
            <a:r>
              <a:rPr lang="en-US" sz="1150" dirty="0">
                <a:solidFill>
                  <a:srgbClr val="1F2A37"/>
                </a:solidFill>
                <a:latin typeface="Calibri" pitchFamily="34" charset="0"/>
                <a:cs typeface="Amiri" pitchFamily="2" charset="-78"/>
              </a:rPr>
              <a:t> …) and give a route from your home to one place.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bank is opposite the station.</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البَنْكُ</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بَنْكٌ</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مُقَابِلَ</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مُقَابِلُ</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المَحَطَّةِ.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المَحَطَّةُ.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school is far from my home.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المَدْرَسَةُ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المَدْرَسَةَ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بَعِيدَةٌ عَنْ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بَعِيدٌ مِنْ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بَيْتِي.</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بَيْتُ.</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Take the first street on the right.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خُذِ</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تَأْخُذُ</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الشَّارِعَ الأَوَّلَ</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الشَّارِعُ الأَوَّلُ</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اليَمِينِ.</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اليَسَارِ.</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bank is opposite the station.</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مُقَابِلَ</a:t>
            </a:r>
            <a:pPr algn="l" indent="0" marL="0">
              <a:buNone/>
            </a:pPr>
            <a:r>
              <a:rPr lang="en-US" sz="1050" i="1" dirty="0">
                <a:solidFill>
                  <a:srgbClr val="5A6472"/>
                </a:solidFill>
                <a:latin typeface="Calibri" pitchFamily="34" charset="0"/>
                <a:cs typeface="Amiri" pitchFamily="2" charset="-78"/>
              </a:rPr>
              <a:t> + genitive: </a:t>
            </a:r>
            <a:pPr algn="l" indent="0" marL="0">
              <a:buNone/>
            </a:pPr>
            <a:r>
              <a:rPr lang="ar-SA" altLang="en-US" sz="1350" dirty="0">
                <a:solidFill>
                  <a:srgbClr val="5A6472"/>
                </a:solidFill>
                <a:latin typeface="Amiri" pitchFamily="2" charset="-78"/>
                <a:ea typeface="Amiri" pitchFamily="2" charset="-78"/>
                <a:cs typeface="Amiri" pitchFamily="2" charset="-78"/>
              </a:rPr>
              <a:t>المَحَطَّةِ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البَنْكُ مُقَابِلَ المَحَطَّةِ.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school is far from my home.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school is feminine → </a:t>
            </a:r>
            <a:pPr algn="l" indent="0" marL="0">
              <a:buNone/>
            </a:pPr>
            <a:r>
              <a:rPr lang="ar-SA" altLang="en-US" sz="1350" dirty="0">
                <a:solidFill>
                  <a:srgbClr val="5A6472"/>
                </a:solidFill>
                <a:latin typeface="Amiri" pitchFamily="2" charset="-78"/>
                <a:ea typeface="Amiri" pitchFamily="2" charset="-78"/>
                <a:cs typeface="Amiri" pitchFamily="2" charset="-78"/>
              </a:rPr>
              <a:t>بَعِيدَةٌ</a:t>
            </a:r>
            <a:pPr algn="l" indent="0" marL="0">
              <a:buNone/>
            </a:pPr>
            <a:r>
              <a:rPr lang="en-US" sz="1050" i="1" dirty="0">
                <a:solidFill>
                  <a:srgbClr val="5A6472"/>
                </a:solidFill>
                <a:latin typeface="Calibri" pitchFamily="34" charset="0"/>
                <a:cs typeface="Amiri" pitchFamily="2" charset="-78"/>
              </a:rPr>
              <a:t>; far FROM = </a:t>
            </a:r>
            <a:pPr algn="l" indent="0" marL="0">
              <a:buNone/>
            </a:pPr>
            <a:r>
              <a:rPr lang="ar-SA" altLang="en-US" sz="1350" dirty="0">
                <a:solidFill>
                  <a:srgbClr val="5A6472"/>
                </a:solidFill>
                <a:latin typeface="Amiri" pitchFamily="2" charset="-78"/>
                <a:ea typeface="Amiri" pitchFamily="2" charset="-78"/>
                <a:cs typeface="Amiri" pitchFamily="2" charset="-78"/>
              </a:rPr>
              <a:t>عَنْ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المَدْرَسَةُ بَعِيدَةٌ عَنْ بَيْتِي.</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Take the first street on the right.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direction = imperative </a:t>
            </a:r>
            <a:pPr algn="l" indent="0" marL="0">
              <a:buNone/>
            </a:pPr>
            <a:r>
              <a:rPr lang="ar-SA" altLang="en-US" sz="1350" dirty="0">
                <a:solidFill>
                  <a:srgbClr val="5A6472"/>
                </a:solidFill>
                <a:latin typeface="Amiri" pitchFamily="2" charset="-78"/>
                <a:ea typeface="Amiri" pitchFamily="2" charset="-78"/>
                <a:cs typeface="Amiri" pitchFamily="2" charset="-78"/>
              </a:rPr>
              <a:t>خُذْ</a:t>
            </a:r>
            <a:pPr algn="l" indent="0" marL="0">
              <a:buNone/>
            </a:pPr>
            <a:r>
              <a:rPr lang="en-US" sz="1050" i="1" dirty="0">
                <a:solidFill>
                  <a:srgbClr val="5A6472"/>
                </a:solidFill>
                <a:latin typeface="Calibri" pitchFamily="34" charset="0"/>
                <a:cs typeface="Amiri" pitchFamily="2" charset="-78"/>
              </a:rPr>
              <a:t>; right = </a:t>
            </a:r>
            <a:pPr algn="l" indent="0" marL="0">
              <a:buNone/>
            </a:pPr>
            <a:r>
              <a:rPr lang="ar-SA" altLang="en-US" sz="1350" dirty="0">
                <a:solidFill>
                  <a:srgbClr val="5A6472"/>
                </a:solidFill>
                <a:latin typeface="Amiri" pitchFamily="2" charset="-78"/>
                <a:ea typeface="Amiri" pitchFamily="2" charset="-78"/>
                <a:cs typeface="Amiri" pitchFamily="2" charset="-78"/>
              </a:rPr>
              <a:t>اليَمِينِ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خُذِ الشَّارِعَ الأَوَّلَ عَلَى اليَمِينِ.</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المَسْجِدُ قَرِيبٌ عَنْ بَيْتِي.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near … which little word?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يُوجَدُ صَيْدَلِيَّةٌ فِي شَارِعِي.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صَيْدَلِيَّةٌ</a:t>
            </a:r>
            <a:pPr algn="l" indent="0" marL="0">
              <a:buNone/>
            </a:pPr>
            <a:r>
              <a:rPr lang="en-US" sz="1300" i="1" dirty="0">
                <a:solidFill>
                  <a:srgbClr val="5A6472"/>
                </a:solidFill>
                <a:latin typeface="Calibri" pitchFamily="34" charset="0"/>
                <a:cs typeface="Amiri" pitchFamily="2" charset="-78"/>
              </a:rPr>
              <a:t> ends in </a:t>
            </a:r>
            <a:pPr algn="l" indent="0" marL="0">
              <a:buNone/>
            </a:pPr>
            <a:r>
              <a:rPr lang="ar-SA" altLang="en-US" sz="1700" dirty="0">
                <a:solidFill>
                  <a:srgbClr val="5A6472"/>
                </a:solidFill>
                <a:latin typeface="Amiri" pitchFamily="2" charset="-78"/>
                <a:ea typeface="Amiri" pitchFamily="2" charset="-78"/>
                <a:cs typeface="Amiri" pitchFamily="2" charset="-78"/>
              </a:rPr>
              <a:t>ة</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الحَدِيقَةُ أَمَامَ المَدْرَسَةُ.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after </a:t>
            </a:r>
            <a:pPr algn="l" indent="0" marL="0">
              <a:buNone/>
            </a:pPr>
            <a:r>
              <a:rPr lang="ar-SA" altLang="en-US" sz="1700" dirty="0">
                <a:solidFill>
                  <a:srgbClr val="5A6472"/>
                </a:solidFill>
                <a:latin typeface="Amiri" pitchFamily="2" charset="-78"/>
                <a:ea typeface="Amiri" pitchFamily="2" charset="-78"/>
                <a:cs typeface="Amiri" pitchFamily="2" charset="-78"/>
              </a:rPr>
              <a:t>أَمَامَ</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المَسْجِدُ قَرِيبٌ عَنْ بَيْتِي.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المَسْجِدُ قَرِيبٌ مِنْ بَيْتِي.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near = </a:t>
            </a:r>
            <a:pPr algn="l" indent="0" marL="0">
              <a:buNone/>
            </a:pPr>
            <a:r>
              <a:rPr lang="ar-SA" altLang="en-US" sz="1500" b="1" dirty="0">
                <a:solidFill>
                  <a:srgbClr val="1B3B6F"/>
                </a:solidFill>
                <a:latin typeface="Amiri" pitchFamily="2" charset="-78"/>
                <a:ea typeface="Amiri" pitchFamily="2" charset="-78"/>
                <a:cs typeface="Amiri" pitchFamily="2" charset="-78"/>
              </a:rPr>
              <a:t>قَرِيبٌ مِنْ</a:t>
            </a:r>
            <a:pPr algn="l" indent="0" marL="0">
              <a:buNone/>
            </a:pPr>
            <a:r>
              <a:rPr lang="en-US" sz="1150" b="1" dirty="0">
                <a:solidFill>
                  <a:srgbClr val="1B3B6F"/>
                </a:solidFill>
                <a:latin typeface="Calibri" pitchFamily="34" charset="0"/>
                <a:cs typeface="Amiri" pitchFamily="2" charset="-78"/>
              </a:rPr>
              <a:t>; far = </a:t>
            </a:r>
            <a:pPr algn="l" indent="0" marL="0">
              <a:buNone/>
            </a:pPr>
            <a:r>
              <a:rPr lang="ar-SA" altLang="en-US" sz="1500" b="1" dirty="0">
                <a:solidFill>
                  <a:srgbClr val="1B3B6F"/>
                </a:solidFill>
                <a:latin typeface="Amiri" pitchFamily="2" charset="-78"/>
                <a:ea typeface="Amiri" pitchFamily="2" charset="-78"/>
                <a:cs typeface="Amiri" pitchFamily="2" charset="-78"/>
              </a:rPr>
              <a:t>بَعِيدٌ عَنْ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يُوجَدُ صَيْدَلِيَّةٌ فِي شَارِعِي.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تُوجَدُ صَيْدَلِيَّةٌ فِي شَارِعِي.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place → </a:t>
            </a:r>
            <a:pPr algn="l" indent="0" marL="0">
              <a:buNone/>
            </a:pPr>
            <a:r>
              <a:rPr lang="ar-SA" altLang="en-US" sz="1500" b="1" dirty="0">
                <a:solidFill>
                  <a:srgbClr val="1B3B6F"/>
                </a:solidFill>
                <a:latin typeface="Amiri" pitchFamily="2" charset="-78"/>
                <a:ea typeface="Amiri" pitchFamily="2" charset="-78"/>
                <a:cs typeface="Amiri" pitchFamily="2" charset="-78"/>
              </a:rPr>
              <a:t>تُوجَدُ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الحَدِيقَةُ أَمَامَ المَدْرَسَةُ.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الحَدِيقَةُ أَمَامَ المَدْرَسَةِ.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أَمَامَ</a:t>
            </a:r>
            <a:pPr algn="l" indent="0" marL="0">
              <a:buNone/>
            </a:pPr>
            <a:r>
              <a:rPr lang="en-US" sz="1150" b="1" dirty="0">
                <a:solidFill>
                  <a:srgbClr val="1B3B6F"/>
                </a:solidFill>
                <a:latin typeface="Calibri" pitchFamily="34" charset="0"/>
                <a:cs typeface="Amiri" pitchFamily="2" charset="-78"/>
              </a:rPr>
              <a:t> + genitive (-i).</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بَيْتِي امْشِ ______ ، ثُمَّ خُذِ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From my house walk …, then take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يُوجَدُ ______ ، وَهٰذَا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no …, and that is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حَيِّي يُوجَدُ ______ ، وَتُوجَدُ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area there is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بِجَانِبِ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next to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قَرِيبٌ مِنْ بَيْتِي.</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near my house.</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مَكَانِي المُفَضَّلُ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place is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حَيٌّ · شَارِعٌ  ·  مَسْجِدٌ · مَدْرَسَةٌ  ·  صَيْدَلِيَّةٌ · مَكْتَبَةٌ  ·  حَدِيقَةٌ عَامَّةٌ  ·  بِجَانِبِ · أَمَامَ · خَلْفَ  ·  مُقَابِلَ  ·  قَرِيبٌ مِنْ · بَعِيدٌ عَنْ  ·  امْشِ · خُذْ</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neighbourhood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حَيِّي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description of your neighbourhood (about 40–60 words) for a new neighbour. Include: • four places and where they are • what is near and what is far • the way from your home to one place • your favourite place and why.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حَيِّي يُوجَدُ … وَتُوجَدُ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area there is … and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بِجَانِبِ / مُقَابِلَ / أَمَامَ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next to / opposite / in front of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قَرِيبٌ مِنْ … · بَعِيدٌ عَنْ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near … · far from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بَيْتِي: امْشِ … ثُمَّ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from my house: walk … then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four places and say where they are?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place words with the genitive and </a:t>
            </a:r>
            <a:pPr algn="l" indent="0" marL="0">
              <a:buNone/>
            </a:pPr>
            <a:r>
              <a:rPr lang="ar-SA" altLang="en-US" sz="1450" dirty="0">
                <a:solidFill>
                  <a:srgbClr val="5A6472"/>
                </a:solidFill>
                <a:latin typeface="Amiri" pitchFamily="2" charset="-78"/>
                <a:ea typeface="Amiri" pitchFamily="2" charset="-78"/>
                <a:cs typeface="Amiri" pitchFamily="2" charset="-78"/>
              </a:rPr>
              <a:t>قَرِيبٌ مِنْ / بَعِيدٌ عَنْ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المَكْتَبَةُ مُقَابِلَ الحَدِيقَةِ العَامَّةِ.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library is opposite the public park.</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عَفْوًا، أَيْنَ المَكْتَبَةُ؟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امْشِ مُسْتَقِيمًا، ثُمَّ خُذِ الشَّارِعَ الثَّانِيَ عَلَى اليَسَارِ.</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Walk straight on, then take the second street on the left.</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أَذْهَبُ إِلَى هُنَاكَ؟</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هِيَ قَرِيبَةٌ، عَشْرُ دَقَائِقَ مَشْيًا.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it is near — ten minutes’ walk.</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هِيَ بَعِيدَةٌ؟</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يُوجَدُ مَطْعَمٌ صَغِيرٌ بِجَانِبِ المَكْتَبَةِ.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there is a small restaurant next to the library.</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وَهَلْ يُوجَدُ مَطْعَمٌ قَرِيبٌ؟</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أَسْكُنُ فِي حَيٍّ هَادِئٍ فِي شَرْقِ لَنْدَنَ. فِي حَيِّي يُوجَدُ مَسْجِدٌ كَبِيرٌ، وَتُوجَدُ مَدْرَسَةٌ ابْتِدَائِيَّةٌ وَصَيْدَلِيَّةٌ. الصَّيْدَلِيَّةُ بِجَانِبِ المَسْجِدِ، وَالحَدِيقَةُ العَامَّةُ مُقَابِلَ المَدْرَسَةِ. المَكْتَبَةُ قَرِيبَةٌ مِنْ بَيْتِي، لٰكِنَّ المَحَطَّةَ بَعِيدَةٌ. مِنْ بَيْتِي إِلَى الحَدِيقَةِ: امْشِ مُسْتَقِيمًا، ثُمَّ خُذِ الشَّارِعَ الأَوَّلَ عَلَى اليَسَارِ. مَكَانِي المُفَضَّلُ الحَدِيقَةُ، لِأَنَّنِي أَلْعَبُ فِيهَا كُرَةَ القَدَمِ.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live in a quiet area in east London. In my area there is a big mosque, a primary school and a pharmacy. The pharmacy is next to the mosque, and the public park is opposite the school. The library is near my house, but the station is far. From my house to the park: walk straight on, then take the first street on the left. My favourite place is the park, because I play football there.”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يُوجَدُ مَسْجِدٌ</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بِجَانِبِ المَسْجِدِ</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قَرِيبَةٌ مِنْ بَيْتِي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خُذِ الشَّارِعَ الأَوَّلَ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F3-L07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F3-L08 · Describing My Bedroom</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وَصْفُ غُرْفَتِي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F3-L07 · Practice Room — My Neighbourhood — Places Near My Home</dc:title>
  <dc:subject>PptxGenJS Presentation</dc:subject>
  <dc:creator>Al Madina Online School · Arabic Department</dc:creator>
  <cp:lastModifiedBy>Al Madina Online School · Arabic Department</cp:lastModifiedBy>
  <cp:revision>1</cp:revision>
  <dcterms:created xsi:type="dcterms:W3CDTF">2026-10-25T17:22:19Z</dcterms:created>
  <dcterms:modified xsi:type="dcterms:W3CDTF">2026-10-25T17:22:19Z</dcterms:modified>
</cp:coreProperties>
</file>