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PRACTICE ROOM AT A GLANCE — one combined lesson (speaking, then writing), 55–60 minutes: about 6 minutes in the main room, about 45 minutes in breakout rooms of two or three, about 6 minutes back together.
0–2 Welcome · 2–5 How the room works · ROOMS, Part A Speaking: Step 1 Word warm-up (5) · Step 2 Say the model dialogue (5) · Step 3 Question cards (7) · Step 4 Role-play card (7) · Step 5 Short talk (4) · Part B Writing: Step 6 Sentence builder (4) · Step 7 Spot and fix (3) · Step 8 Write your text (12) + buddy check (3) · back in the main room: Check yourself (4) · Self-check + close (2).
PURPOSE: students practise the lesson’s language ON THEIR OWN with a clear structure. The teacher visits each room (about 3 minutes per room), listens, reads one piece of writing per student and gives one live correction.
CONTENT: F3-L10 (Speaking: My Family and Home) — new practice tasks built on the lesson’s own word bank and grammar (decoding the question word (man · maʿa man · ayna · kam · li-mādhā · ṣif); two connected sentences per answer; repair phrases).
SET-UP: rooms of two or three (same-level rooms keep the routes simple). Share this deck or its PDF in the chat so every room can follow the steps. Each student writes in their own book or document.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(1 min) — Part A is speaking, Part B is writing. The step number is always in the top-left of each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THE ROOM WORKS (3 min, main room). Model the roles quickly with two volunteers using one question from Step 3. Stress: the Coach is kind and specific. Then open the breakout rooms.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(5 min in rooms). The two word slides that follow come from the F3-L10 lesson. Teacher: visit the first room straight away to model the pace.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 — the Leader picks the English, the Speaker gives the Arabic.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(5 min). The dialogue models today’s language in a real exchange.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3 (7 min). The starter column is support, not the answer: students finish it with their OWN information. Coach listens for the key structure of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STEP 4 (7 min). SUPPORTED: the plan column models the thinking (first words), not the full answer. Everyone is Speaker once. To a girl the Leader says: عَائِلَتِكِ · تَقْضِينَ · صِفِي بَيْتَكِ · تُحِبِّينَ. Exam-style: the examiner asks; the candidate gives two connected sentences per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5 (4 min). A short talk builds fluency and confidence.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(4 min). Read the English, then choose the correct part from each column (start on the RIGHT, column 1). Buddies agree before checking the answer slide. Students copy the three correct sentences into their book — they are useful for Step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(4 min). Read the English, then choose the correct part from each column (start on the RIGHT, column 1). Buddies agree before checking the answer slide. Students copy the three correct sentences into their book — they are useful for Step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Pairs agree on each correction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Pairs agree on each correction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support. Core: use the Core frames for every sentence. Develop: use the Develop frames only if stuck. Stretch: no frames — add a reason, a time phrase and one extra detail.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(10 min writing). Core: frames for every bullet (25–35 words). Develop: 40–60 words, frames only if stuck. Stretch: no frames, add reasons and another time frame. Teacher visits rooms and reads ONE sentence per student.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BUDDY CHECK (3 min). Then everyone returns to the main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YOURSELF (2 min, main room). Each student finds one task they answered less fully and says it again using the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(41 words). CHECK YOURSELF (2 min). Find each bullet point in the model. Then each student copies ONE phrase from the model into their own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7  ·  FOUNDATION F3  ·  F3-L10 · PRACTICE ROOM</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F3-L10</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Practice Room — Speaking: My Family and Home</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غُرْفَةُ التَّدَرُّبِ — أَتَحَدَّثُ عَنْ عَائِلَتِي وَبَيْتِي</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300" dirty="0">
                <a:solidFill>
                  <a:srgbClr val="C6D2E6"/>
                </a:solidFill>
                <a:latin typeface="Calibri" pitchFamily="34" charset="0"/>
                <a:cs typeface="Amiri" pitchFamily="2" charset="-78"/>
              </a:rPr>
              <a:t>Students run their own speaking practice for the family-and-home conversation: decode question words, act a model exchange, answer two-sentence question cards with follow-ups, do an interview card, speak for 45–60 seconds, then write their best spoken answers as a short text.</a:t>
            </a:r>
            <a:endParaRPr lang="en-US" sz="13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F3-L10 · Foundation F3 · My Family &amp; Home</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Foundation · A1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Foundation › F3 › F3-L10</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F3-L10 · Speaking + writing practice room</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F3-L10 · practice room</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22</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F3-L10 · Speaking + writing practice room</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ROOM PLAN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Speak first, then write — you run it yourselves</a:t>
            </a:r>
            <a:endParaRPr lang="en-US" sz="20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خُطُوَاتُ الغُرْفَةِ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F3-L10 · practice room</a:t>
            </a:r>
            <a:endParaRPr lang="en-US" sz="850" dirty="0"/>
          </a:p>
        </p:txBody>
      </p:sp>
      <p:sp>
        <p:nvSpPr>
          <p:cNvPr id="15" name="Shape 12"/>
          <p:cNvSpPr/>
          <p:nvPr/>
        </p:nvSpPr>
        <p:spPr>
          <a:xfrm>
            <a:off x="457200"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933042" cy="566928"/>
          </a:xfrm>
          <a:prstGeom prst="roundRect">
            <a:avLst>
              <a:gd name="adj" fmla="val 9677"/>
            </a:avLst>
          </a:prstGeom>
          <a:solidFill>
            <a:srgbClr val="2F6FB0"/>
          </a:solidFill>
          <a:ln w="12700">
            <a:solidFill>
              <a:srgbClr val="2F6FB0"/>
            </a:solidFill>
            <a:prstDash val="solid"/>
          </a:ln>
        </p:spPr>
      </p:sp>
      <p:sp>
        <p:nvSpPr>
          <p:cNvPr id="17" name="Text 14"/>
          <p:cNvSpPr txBox="1"/>
          <p:nvPr/>
        </p:nvSpPr>
        <p:spPr>
          <a:xfrm>
            <a:off x="603504"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18" name="Text 15"/>
          <p:cNvSpPr txBox="1"/>
          <p:nvPr/>
        </p:nvSpPr>
        <p:spPr>
          <a:xfrm>
            <a:off x="603504"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10 min</a:t>
            </a:r>
            <a:endParaRPr lang="en-US" sz="1000" dirty="0"/>
          </a:p>
        </p:txBody>
      </p:sp>
      <p:sp>
        <p:nvSpPr>
          <p:cNvPr id="19" name="Shape 16"/>
          <p:cNvSpPr/>
          <p:nvPr/>
        </p:nvSpPr>
        <p:spPr>
          <a:xfrm>
            <a:off x="1332281"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33228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1–2: word warm-up · say the model dialogue.</a:t>
            </a:r>
            <a:endParaRPr lang="en-US" sz="1200" dirty="0"/>
          </a:p>
        </p:txBody>
      </p:sp>
      <p:sp>
        <p:nvSpPr>
          <p:cNvPr id="22" name="Text 19"/>
          <p:cNvSpPr txBox="1"/>
          <p:nvPr/>
        </p:nvSpPr>
        <p:spPr>
          <a:xfrm>
            <a:off x="548640"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الكَلِمَاتُ وَالحِوَارُ</a:t>
            </a:r>
            <a:endParaRPr lang="ar-SA" sz="1500" dirty="0"/>
          </a:p>
        </p:txBody>
      </p:sp>
      <p:sp>
        <p:nvSpPr>
          <p:cNvPr id="23" name="Shape 20"/>
          <p:cNvSpPr/>
          <p:nvPr/>
        </p:nvSpPr>
        <p:spPr>
          <a:xfrm>
            <a:off x="273771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847442" y="1938528"/>
            <a:ext cx="1933042" cy="566928"/>
          </a:xfrm>
          <a:prstGeom prst="roundRect">
            <a:avLst>
              <a:gd name="adj" fmla="val 9677"/>
            </a:avLst>
          </a:prstGeom>
          <a:solidFill>
            <a:srgbClr val="1E6B52"/>
          </a:solidFill>
          <a:ln w="12700">
            <a:solidFill>
              <a:srgbClr val="1E6B52"/>
            </a:solidFill>
            <a:prstDash val="solid"/>
          </a:ln>
        </p:spPr>
      </p:sp>
      <p:sp>
        <p:nvSpPr>
          <p:cNvPr id="25" name="Text 22"/>
          <p:cNvSpPr txBox="1"/>
          <p:nvPr/>
        </p:nvSpPr>
        <p:spPr>
          <a:xfrm>
            <a:off x="288401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26" name="Text 23"/>
          <p:cNvSpPr txBox="1"/>
          <p:nvPr/>
        </p:nvSpPr>
        <p:spPr>
          <a:xfrm>
            <a:off x="288401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18 min</a:t>
            </a:r>
            <a:endParaRPr lang="en-US" sz="1000" dirty="0"/>
          </a:p>
        </p:txBody>
      </p:sp>
      <p:sp>
        <p:nvSpPr>
          <p:cNvPr id="27" name="Shape 24"/>
          <p:cNvSpPr/>
          <p:nvPr/>
        </p:nvSpPr>
        <p:spPr>
          <a:xfrm>
            <a:off x="3612794"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3612794"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86573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3–5: question cards · role-play card · short talk.</a:t>
            </a:r>
            <a:endParaRPr lang="en-US" sz="1200" dirty="0"/>
          </a:p>
        </p:txBody>
      </p:sp>
      <p:sp>
        <p:nvSpPr>
          <p:cNvPr id="30" name="Text 27"/>
          <p:cNvSpPr txBox="1"/>
          <p:nvPr/>
        </p:nvSpPr>
        <p:spPr>
          <a:xfrm>
            <a:off x="282915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تَكَلَّمْ</a:t>
            </a:r>
            <a:endParaRPr lang="ar-SA" sz="1500" dirty="0"/>
          </a:p>
        </p:txBody>
      </p:sp>
      <p:sp>
        <p:nvSpPr>
          <p:cNvPr id="31" name="Shape 28"/>
          <p:cNvSpPr/>
          <p:nvPr/>
        </p:nvSpPr>
        <p:spPr>
          <a:xfrm>
            <a:off x="5018227"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127955" y="1938528"/>
            <a:ext cx="1933042" cy="566928"/>
          </a:xfrm>
          <a:prstGeom prst="roundRect">
            <a:avLst>
              <a:gd name="adj" fmla="val 9677"/>
            </a:avLst>
          </a:prstGeom>
          <a:solidFill>
            <a:srgbClr val="2F6FB0"/>
          </a:solidFill>
          <a:ln w="12700">
            <a:solidFill>
              <a:srgbClr val="2F6FB0"/>
            </a:solidFill>
            <a:prstDash val="solid"/>
          </a:ln>
        </p:spPr>
      </p:sp>
      <p:sp>
        <p:nvSpPr>
          <p:cNvPr id="33" name="Text 30"/>
          <p:cNvSpPr txBox="1"/>
          <p:nvPr/>
        </p:nvSpPr>
        <p:spPr>
          <a:xfrm>
            <a:off x="5164531"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34" name="Text 31"/>
          <p:cNvSpPr txBox="1"/>
          <p:nvPr/>
        </p:nvSpPr>
        <p:spPr>
          <a:xfrm>
            <a:off x="5164531"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35" name="Shape 32"/>
          <p:cNvSpPr/>
          <p:nvPr/>
        </p:nvSpPr>
        <p:spPr>
          <a:xfrm>
            <a:off x="5893308"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5146243"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6–7: sentence builder · spot and fix.</a:t>
            </a:r>
            <a:endParaRPr lang="en-US" sz="1200" dirty="0"/>
          </a:p>
        </p:txBody>
      </p:sp>
      <p:sp>
        <p:nvSpPr>
          <p:cNvPr id="38" name="Text 35"/>
          <p:cNvSpPr txBox="1"/>
          <p:nvPr/>
        </p:nvSpPr>
        <p:spPr>
          <a:xfrm>
            <a:off x="5109667"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ابْنِ وَصَحِّحْ</a:t>
            </a:r>
            <a:endParaRPr lang="ar-SA" sz="1500" dirty="0"/>
          </a:p>
        </p:txBody>
      </p:sp>
      <p:sp>
        <p:nvSpPr>
          <p:cNvPr id="39" name="Shape 36"/>
          <p:cNvSpPr/>
          <p:nvPr/>
        </p:nvSpPr>
        <p:spPr>
          <a:xfrm>
            <a:off x="7298741"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7408469" y="1938528"/>
            <a:ext cx="1933042" cy="566928"/>
          </a:xfrm>
          <a:prstGeom prst="roundRect">
            <a:avLst>
              <a:gd name="adj" fmla="val 9677"/>
            </a:avLst>
          </a:prstGeom>
          <a:solidFill>
            <a:srgbClr val="1E6B52"/>
          </a:solidFill>
          <a:ln w="12700">
            <a:solidFill>
              <a:srgbClr val="1E6B52"/>
            </a:solidFill>
            <a:prstDash val="solid"/>
          </a:ln>
        </p:spPr>
      </p:sp>
      <p:sp>
        <p:nvSpPr>
          <p:cNvPr id="41" name="Text 38"/>
          <p:cNvSpPr txBox="1"/>
          <p:nvPr/>
        </p:nvSpPr>
        <p:spPr>
          <a:xfrm>
            <a:off x="7445045"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42" name="Text 39"/>
          <p:cNvSpPr txBox="1"/>
          <p:nvPr/>
        </p:nvSpPr>
        <p:spPr>
          <a:xfrm>
            <a:off x="7445045"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15 min</a:t>
            </a:r>
            <a:endParaRPr lang="en-US" sz="1000" dirty="0"/>
          </a:p>
        </p:txBody>
      </p:sp>
      <p:sp>
        <p:nvSpPr>
          <p:cNvPr id="43" name="Shape 40"/>
          <p:cNvSpPr/>
          <p:nvPr/>
        </p:nvSpPr>
        <p:spPr>
          <a:xfrm>
            <a:off x="8173822"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8173822"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7426757"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8: write your text · buddy check.</a:t>
            </a:r>
            <a:endParaRPr lang="en-US" sz="1200" dirty="0"/>
          </a:p>
        </p:txBody>
      </p:sp>
      <p:sp>
        <p:nvSpPr>
          <p:cNvPr id="46" name="Text 43"/>
          <p:cNvSpPr txBox="1"/>
          <p:nvPr/>
        </p:nvSpPr>
        <p:spPr>
          <a:xfrm>
            <a:off x="7390181"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اكْتُبْ</a:t>
            </a:r>
            <a:endParaRPr lang="ar-SA" sz="1500" dirty="0"/>
          </a:p>
        </p:txBody>
      </p:sp>
      <p:sp>
        <p:nvSpPr>
          <p:cNvPr id="47" name="Shape 44"/>
          <p:cNvSpPr/>
          <p:nvPr/>
        </p:nvSpPr>
        <p:spPr>
          <a:xfrm>
            <a:off x="957925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9688982" y="1938528"/>
            <a:ext cx="1933042" cy="566928"/>
          </a:xfrm>
          <a:prstGeom prst="roundRect">
            <a:avLst>
              <a:gd name="adj" fmla="val 9677"/>
            </a:avLst>
          </a:prstGeom>
          <a:solidFill>
            <a:srgbClr val="8A6D1E"/>
          </a:solidFill>
          <a:ln w="12700">
            <a:solidFill>
              <a:srgbClr val="8A6D1E"/>
            </a:solidFill>
            <a:prstDash val="solid"/>
          </a:ln>
        </p:spPr>
      </p:sp>
      <p:sp>
        <p:nvSpPr>
          <p:cNvPr id="49" name="Text 46"/>
          <p:cNvSpPr txBox="1"/>
          <p:nvPr/>
        </p:nvSpPr>
        <p:spPr>
          <a:xfrm>
            <a:off x="972555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0" name="Text 47"/>
          <p:cNvSpPr txBox="1"/>
          <p:nvPr/>
        </p:nvSpPr>
        <p:spPr>
          <a:xfrm>
            <a:off x="972555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4 min</a:t>
            </a:r>
            <a:endParaRPr lang="en-US" sz="1000" dirty="0"/>
          </a:p>
        </p:txBody>
      </p:sp>
      <p:sp>
        <p:nvSpPr>
          <p:cNvPr id="51" name="Shape 48"/>
          <p:cNvSpPr/>
          <p:nvPr/>
        </p:nvSpPr>
        <p:spPr>
          <a:xfrm>
            <a:off x="10454335"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1045433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970727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Check yourself with the models.</a:t>
            </a:r>
            <a:endParaRPr lang="en-US" sz="1200" dirty="0"/>
          </a:p>
        </p:txBody>
      </p:sp>
      <p:sp>
        <p:nvSpPr>
          <p:cNvPr id="54" name="Text 51"/>
          <p:cNvSpPr txBox="1"/>
          <p:nvPr/>
        </p:nvSpPr>
        <p:spPr>
          <a:xfrm>
            <a:off x="967069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قَارِنْ</a:t>
            </a:r>
            <a:endParaRPr lang="ar-SA" sz="1500" dirty="0"/>
          </a:p>
        </p:txBody>
      </p:sp>
      <p:sp>
        <p:nvSpPr>
          <p:cNvPr id="55" name="Shape 52"/>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6" name="Text 53"/>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HOW THE ROOM RUNS</a:t>
            </a:r>
            <a:endParaRPr lang="en-US" sz="1000" dirty="0"/>
          </a:p>
        </p:txBody>
      </p:sp>
      <p:sp>
        <p:nvSpPr>
          <p:cNvPr id="57" name="Text 54"/>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Everybody speaks in every step and everybody writes their own text. Swap roles after each task. If you finish early, do the step again with the Stretch route.</a:t>
            </a:r>
            <a:endParaRPr lang="en-US" sz="125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22</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F3-L10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BEFORE THE ROOMS · HOW YOUR ROOM WORKS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Three roles — then write alone, check together</a:t>
            </a:r>
            <a:endParaRPr lang="en-US" sz="20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كَيْفَ نَعْمَلُ فِي الغُرْفَةِ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F3-L10 · practice room</a:t>
            </a:r>
            <a:endParaRPr lang="en-US" sz="850" dirty="0"/>
          </a:p>
        </p:txBody>
      </p:sp>
      <p:sp>
        <p:nvSpPr>
          <p:cNvPr id="15" name="Shape 12"/>
          <p:cNvSpPr/>
          <p:nvPr/>
        </p:nvSpPr>
        <p:spPr>
          <a:xfrm>
            <a:off x="457200" y="1810512"/>
            <a:ext cx="617220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ROLES (SWAP AFTER EVERY TASK)</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LEADER — opens the next step, keeps the time and reads the questions.</a:t>
            </a:r>
            <a:endParaRPr lang="en-US" sz="1300" dirty="0"/>
          </a:p>
        </p:txBody>
      </p:sp>
      <p:sp>
        <p:nvSpPr>
          <p:cNvPr id="20" name="Shape 17"/>
          <p:cNvSpPr/>
          <p:nvPr/>
        </p:nvSpPr>
        <p:spPr>
          <a:xfrm>
            <a:off x="658368" y="3296412"/>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296412"/>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3186684"/>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SPEAKER — answers in Arabic, in a full sentence. Think for a few seconds, then speak.</a:t>
            </a:r>
            <a:endParaRPr lang="en-US" sz="1300" dirty="0"/>
          </a:p>
        </p:txBody>
      </p:sp>
      <p:sp>
        <p:nvSpPr>
          <p:cNvPr id="23" name="Shape 20"/>
          <p:cNvSpPr/>
          <p:nvPr/>
        </p:nvSpPr>
        <p:spPr>
          <a:xfrm>
            <a:off x="658368" y="4306824"/>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43068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4197096"/>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COACH — listens, checks with the slide, then says one thing that went well and one thing to improve. (In a pair, the Leader is also the Coach.)</a:t>
            </a:r>
            <a:endParaRPr lang="en-US" sz="1300" dirty="0"/>
          </a:p>
        </p:txBody>
      </p:sp>
      <p:sp>
        <p:nvSpPr>
          <p:cNvPr id="26" name="Shape 23"/>
          <p:cNvSpPr/>
          <p:nvPr/>
        </p:nvSpPr>
        <p:spPr>
          <a:xfrm>
            <a:off x="658368" y="5317236"/>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531723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5207508"/>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WRITING (Part B): everyone writes their OWN text; then swap with a buddy and check.</a:t>
            </a:r>
            <a:endParaRPr lang="en-US" sz="1300" dirty="0"/>
          </a:p>
        </p:txBody>
      </p:sp>
      <p:sp>
        <p:nvSpPr>
          <p:cNvPr id="29" name="Shape 26"/>
          <p:cNvSpPr/>
          <p:nvPr/>
        </p:nvSpPr>
        <p:spPr>
          <a:xfrm>
            <a:off x="6812280" y="1810512"/>
            <a:ext cx="491947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USEFUL ROOM PHRASES</a:t>
            </a:r>
            <a:endParaRPr lang="en-US" sz="1000" dirty="0"/>
          </a:p>
        </p:txBody>
      </p:sp>
      <p:sp>
        <p:nvSpPr>
          <p:cNvPr id="31" name="Text 28"/>
          <p:cNvSpPr txBox="1"/>
          <p:nvPr/>
        </p:nvSpPr>
        <p:spPr>
          <a:xfrm>
            <a:off x="6949440" y="2194560"/>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دَوْرُكَ! / دَوْرُكِ!</a:t>
            </a:r>
            <a:endParaRPr lang="ar-SA" sz="2800" dirty="0"/>
          </a:p>
        </p:txBody>
      </p:sp>
      <p:sp>
        <p:nvSpPr>
          <p:cNvPr id="32" name="Text 29"/>
          <p:cNvSpPr txBox="1"/>
          <p:nvPr/>
        </p:nvSpPr>
        <p:spPr>
          <a:xfrm>
            <a:off x="6949440" y="2955828"/>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Your turn! (m. / f.)</a:t>
            </a:r>
            <a:endParaRPr lang="en-US" sz="1100" dirty="0"/>
          </a:p>
        </p:txBody>
      </p:sp>
      <p:sp>
        <p:nvSpPr>
          <p:cNvPr id="33" name="Shape 30"/>
          <p:cNvSpPr/>
          <p:nvPr/>
        </p:nvSpPr>
        <p:spPr>
          <a:xfrm>
            <a:off x="6995160" y="3535680"/>
            <a:ext cx="4553712" cy="0"/>
          </a:xfrm>
          <a:prstGeom prst="line">
            <a:avLst/>
          </a:prstGeom>
          <a:noFill/>
          <a:ln w="9525">
            <a:solidFill>
              <a:srgbClr val="E4DCCB"/>
            </a:solidFill>
            <a:prstDash val="dash"/>
          </a:ln>
        </p:spPr>
      </p:sp>
      <p:sp>
        <p:nvSpPr>
          <p:cNvPr id="34" name="Text 31"/>
          <p:cNvSpPr txBox="1"/>
          <p:nvPr/>
        </p:nvSpPr>
        <p:spPr>
          <a:xfrm>
            <a:off x="6949440" y="3553968"/>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عَفْوًا، أَعِدْ مِنْ فَضْلِكَ.</a:t>
            </a:r>
            <a:endParaRPr lang="ar-SA" sz="2800" dirty="0"/>
          </a:p>
        </p:txBody>
      </p:sp>
      <p:sp>
        <p:nvSpPr>
          <p:cNvPr id="35" name="Text 32"/>
          <p:cNvSpPr txBox="1"/>
          <p:nvPr/>
        </p:nvSpPr>
        <p:spPr>
          <a:xfrm>
            <a:off x="6949440" y="4315236"/>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Sorry, repeat please.</a:t>
            </a:r>
            <a:endParaRPr lang="en-US" sz="1100" dirty="0"/>
          </a:p>
        </p:txBody>
      </p:sp>
      <p:sp>
        <p:nvSpPr>
          <p:cNvPr id="36" name="Shape 33"/>
          <p:cNvSpPr/>
          <p:nvPr/>
        </p:nvSpPr>
        <p:spPr>
          <a:xfrm>
            <a:off x="6995160" y="4895088"/>
            <a:ext cx="4553712" cy="0"/>
          </a:xfrm>
          <a:prstGeom prst="line">
            <a:avLst/>
          </a:prstGeom>
          <a:noFill/>
          <a:ln w="9525">
            <a:solidFill>
              <a:srgbClr val="E4DCCB"/>
            </a:solidFill>
            <a:prstDash val="dash"/>
          </a:ln>
        </p:spPr>
      </p:sp>
      <p:sp>
        <p:nvSpPr>
          <p:cNvPr id="37" name="Text 34"/>
          <p:cNvSpPr txBox="1"/>
          <p:nvPr/>
        </p:nvSpPr>
        <p:spPr>
          <a:xfrm>
            <a:off x="6949440" y="4913376"/>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لَحْظَةً، أُفَكِّرُ …</a:t>
            </a:r>
            <a:endParaRPr lang="ar-SA" sz="2800" dirty="0"/>
          </a:p>
        </p:txBody>
      </p:sp>
      <p:sp>
        <p:nvSpPr>
          <p:cNvPr id="38" name="Text 35"/>
          <p:cNvSpPr txBox="1"/>
          <p:nvPr/>
        </p:nvSpPr>
        <p:spPr>
          <a:xfrm>
            <a:off x="6949440" y="5674644"/>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One moment, I’m thinking …</a:t>
            </a:r>
            <a:endParaRPr lang="en-US" sz="11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22</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F3-L10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PART A · STEP 1 · WORD WARM-UP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Say it — then use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قُلْهَا وَاسْتَعْمِلْهَا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F3-L10 · practice room</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1 · IN YOUR ROOM</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Word ping-pong</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The Leader says a word in ENGLISH from the next two slides. The Speaker says it in ARABIC. The Coach checks the Arabic (and the ending) on the slide.</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Leader: say 4 English words; Speaker answers in Arabic.</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Coach checks the word on the slide.</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Swap roles — new words each time.</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Last round: use each word in a short sentence.</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Arabic word clearly.</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word, then a short sentence: </a:t>
            </a:r>
            <a:pPr algn="l" indent="0" marL="0">
              <a:buNone/>
            </a:pPr>
            <a:r>
              <a:rPr lang="ar-SA" altLang="en-US" sz="1500" dirty="0">
                <a:solidFill>
                  <a:srgbClr val="1F2A37"/>
                </a:solidFill>
                <a:latin typeface="Amiri" pitchFamily="2" charset="-78"/>
                <a:ea typeface="Amiri" pitchFamily="2" charset="-78"/>
                <a:cs typeface="Amiri" pitchFamily="2" charset="-78"/>
              </a:rPr>
              <a:t>أَنَا … / عِنْدِي … / هٰذَا</a:t>
            </a:r>
            <a:pPr algn="l" indent="0" marL="0">
              <a:buNone/>
            </a:pPr>
            <a:r>
              <a:rPr lang="en-US" sz="1150" dirty="0">
                <a:solidFill>
                  <a:srgbClr val="1F2A37"/>
                </a:solidFill>
                <a:latin typeface="Calibri" pitchFamily="34" charset="0"/>
                <a:cs typeface="Amiri" pitchFamily="2" charset="-78"/>
              </a:rPr>
              <a:t> …</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Give the feminine or plural form too, then a sentence with two words.</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دَوْرُكَ! / دَوْرُكِ!</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your turn! (m. / f.)</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أَعِدْ مِنْ فَضْلِكَ / أَعِيدِي</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repeat please (m. / f.)</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أَحْسَنْتَ! / أَحْسَنْتِ!</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well done! (m. / f.)</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بِبُطْءٍ مِنْ فَضْلِكَ</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slowly, please</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22</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F3-L10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 BANK (1) · FROM THE LESSON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Question words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F3-L10 · practice room</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8604504" y="1938528"/>
            <a:ext cx="771754"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77175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 person</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مَنْ؟</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who?</a:t>
            </a:r>
            <a:endParaRPr lang="en-US" sz="1350" dirty="0"/>
          </a:p>
          <a:p>
            <a:pPr indent="0" marL="0">
              <a:buNone/>
            </a:pPr>
            <a:r>
              <a:rPr lang="en-US" sz="1100" i="1" dirty="0">
                <a:solidFill>
                  <a:srgbClr val="5A6472"/>
                </a:solidFill>
                <a:latin typeface="Calibri" pitchFamily="34" charset="0"/>
                <a:cs typeface="Amiri" pitchFamily="2" charset="-78"/>
              </a:rPr>
              <a:t>man</a:t>
            </a:r>
            <a:endParaRPr lang="en-US" sz="1350" dirty="0"/>
          </a:p>
        </p:txBody>
      </p:sp>
      <p:sp>
        <p:nvSpPr>
          <p:cNvPr id="24" name="Shape 21"/>
          <p:cNvSpPr/>
          <p:nvPr/>
        </p:nvSpPr>
        <p:spPr>
          <a:xfrm>
            <a:off x="8238744" y="3438144"/>
            <a:ext cx="3364992"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8293608" y="3447288"/>
            <a:ext cx="3255264"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e.g.</a:t>
            </a:r>
            <a:endParaRPr lang="en-US" sz="700" dirty="0"/>
          </a:p>
        </p:txBody>
      </p:sp>
      <p:sp>
        <p:nvSpPr>
          <p:cNvPr id="26" name="Text 23"/>
          <p:cNvSpPr txBox="1"/>
          <p:nvPr/>
        </p:nvSpPr>
        <p:spPr>
          <a:xfrm>
            <a:off x="8284464" y="3575304"/>
            <a:ext cx="3273552"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مَنْ فِي عَائِلَتِكَ؟</a:t>
            </a:r>
            <a:endParaRPr lang="ar-SA" sz="1350" dirty="0"/>
          </a:p>
        </p:txBody>
      </p:sp>
      <p:sp>
        <p:nvSpPr>
          <p:cNvPr id="27" name="Shape 24"/>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4389120"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30" name="Shape 27"/>
          <p:cNvSpPr/>
          <p:nvPr/>
        </p:nvSpPr>
        <p:spPr>
          <a:xfrm>
            <a:off x="4782312" y="1938528"/>
            <a:ext cx="896112" cy="256032"/>
          </a:xfrm>
          <a:prstGeom prst="roundRect">
            <a:avLst>
              <a:gd name="adj" fmla="val 50000"/>
            </a:avLst>
          </a:prstGeom>
          <a:solidFill>
            <a:srgbClr val="EFE7D2"/>
          </a:solidFill>
          <a:ln w="12700">
            <a:solidFill>
              <a:srgbClr val="EFE7D2"/>
            </a:solidFill>
            <a:prstDash val="solid"/>
          </a:ln>
        </p:spPr>
      </p:sp>
      <p:sp>
        <p:nvSpPr>
          <p:cNvPr id="31" name="Text 28"/>
          <p:cNvSpPr txBox="1"/>
          <p:nvPr/>
        </p:nvSpPr>
        <p:spPr>
          <a:xfrm>
            <a:off x="4782312" y="1938528"/>
            <a:ext cx="896112" cy="256032"/>
          </a:xfrm>
          <a:prstGeom prst="rect">
            <a:avLst/>
          </a:prstGeom>
          <a:noFill/>
          <a:ln/>
        </p:spPr>
        <p:txBody>
          <a:bodyPr wrap="square" lIns="0" tIns="0" rIns="0" bIns="0" rtlCol="0" anchor="ctr"/>
          <a:lstStyle/>
          <a:p>
            <a:pPr algn="ctr" indent="0" marL="0">
              <a:buNone/>
            </a:pPr>
            <a:r>
              <a:rPr lang="ar-SA" sz="800" b="1" dirty="0">
                <a:solidFill>
                  <a:srgbClr val="8A6D1E"/>
                </a:solidFill>
                <a:latin typeface="Amiri" pitchFamily="2" charset="-78"/>
                <a:ea typeface="Amiri" pitchFamily="2" charset="-78"/>
                <a:cs typeface="Amiri" pitchFamily="2" charset="-78"/>
              </a:rPr>
              <a:t>→ مَعَ + …</a:t>
            </a:r>
            <a:endParaRPr lang="en-US" sz="800" dirty="0"/>
          </a:p>
        </p:txBody>
      </p:sp>
      <p:sp>
        <p:nvSpPr>
          <p:cNvPr id="32" name="Text 29"/>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مَعَ مَنْ؟</a:t>
            </a:r>
            <a:endParaRPr lang="ar-SA" sz="3000" dirty="0"/>
          </a:p>
        </p:txBody>
      </p:sp>
      <p:sp>
        <p:nvSpPr>
          <p:cNvPr id="33" name="Text 30"/>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with whom?</a:t>
            </a:r>
            <a:endParaRPr lang="en-US" sz="1350" dirty="0"/>
          </a:p>
          <a:p>
            <a:pPr indent="0" marL="0">
              <a:buNone/>
            </a:pPr>
            <a:r>
              <a:rPr lang="en-US" sz="1100" i="1" dirty="0">
                <a:solidFill>
                  <a:srgbClr val="5A6472"/>
                </a:solidFill>
                <a:latin typeface="Calibri" pitchFamily="34" charset="0"/>
                <a:cs typeface="Amiri" pitchFamily="2" charset="-78"/>
              </a:rPr>
              <a:t>ma‘a man</a:t>
            </a:r>
            <a:endParaRPr lang="en-US" sz="1350" dirty="0"/>
          </a:p>
        </p:txBody>
      </p:sp>
      <p:sp>
        <p:nvSpPr>
          <p:cNvPr id="34" name="Shape 31"/>
          <p:cNvSpPr/>
          <p:nvPr/>
        </p:nvSpPr>
        <p:spPr>
          <a:xfrm>
            <a:off x="4416552" y="3438144"/>
            <a:ext cx="3364992" cy="438912"/>
          </a:xfrm>
          <a:prstGeom prst="roundRect">
            <a:avLst>
              <a:gd name="adj" fmla="val 10417"/>
            </a:avLst>
          </a:prstGeom>
          <a:solidFill>
            <a:srgbClr val="F4F1EA"/>
          </a:solidFill>
          <a:ln w="9525">
            <a:solidFill>
              <a:srgbClr val="F4F1EA"/>
            </a:solidFill>
            <a:prstDash val="solid"/>
          </a:ln>
        </p:spPr>
      </p:sp>
      <p:sp>
        <p:nvSpPr>
          <p:cNvPr id="35" name="Text 32"/>
          <p:cNvSpPr txBox="1"/>
          <p:nvPr/>
        </p:nvSpPr>
        <p:spPr>
          <a:xfrm>
            <a:off x="4471416" y="3447288"/>
            <a:ext cx="3255264"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e.g.</a:t>
            </a:r>
            <a:endParaRPr lang="en-US" sz="700" dirty="0"/>
          </a:p>
        </p:txBody>
      </p:sp>
      <p:sp>
        <p:nvSpPr>
          <p:cNvPr id="36" name="Text 33"/>
          <p:cNvSpPr txBox="1"/>
          <p:nvPr/>
        </p:nvSpPr>
        <p:spPr>
          <a:xfrm>
            <a:off x="4462272" y="3575304"/>
            <a:ext cx="3273552"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مَعَ مَنْ تَعِيشُ؟</a:t>
            </a:r>
            <a:endParaRPr lang="ar-SA" sz="1350" dirty="0"/>
          </a:p>
        </p:txBody>
      </p:sp>
      <p:sp>
        <p:nvSpPr>
          <p:cNvPr id="37" name="Shape 3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566928" y="1920240"/>
            <a:ext cx="310896" cy="310896"/>
          </a:xfrm>
          <a:prstGeom prst="ellipse">
            <a:avLst/>
          </a:prstGeom>
          <a:solidFill>
            <a:srgbClr val="F4F1EA"/>
          </a:solidFill>
          <a:ln w="12700">
            <a:solidFill>
              <a:srgbClr val="F4F1EA"/>
            </a:solidFill>
            <a:prstDash val="solid"/>
          </a:ln>
        </p:spPr>
      </p:sp>
      <p:sp>
        <p:nvSpPr>
          <p:cNvPr id="39" name="Text 3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40" name="Shape 37"/>
          <p:cNvSpPr/>
          <p:nvPr/>
        </p:nvSpPr>
        <p:spPr>
          <a:xfrm>
            <a:off x="960120" y="1938528"/>
            <a:ext cx="709574" cy="256032"/>
          </a:xfrm>
          <a:prstGeom prst="roundRect">
            <a:avLst>
              <a:gd name="adj" fmla="val 50000"/>
            </a:avLst>
          </a:prstGeom>
          <a:solidFill>
            <a:srgbClr val="EFE7D2"/>
          </a:solidFill>
          <a:ln w="12700">
            <a:solidFill>
              <a:srgbClr val="EFE7D2"/>
            </a:solidFill>
            <a:prstDash val="solid"/>
          </a:ln>
        </p:spPr>
      </p:sp>
      <p:sp>
        <p:nvSpPr>
          <p:cNvPr id="41" name="Text 38"/>
          <p:cNvSpPr txBox="1"/>
          <p:nvPr/>
        </p:nvSpPr>
        <p:spPr>
          <a:xfrm>
            <a:off x="960120"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 place</a:t>
            </a:r>
            <a:endParaRPr lang="en-US" sz="800" dirty="0"/>
          </a:p>
        </p:txBody>
      </p:sp>
      <p:sp>
        <p:nvSpPr>
          <p:cNvPr id="42" name="Shape 39"/>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43" name="Text 40"/>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4" name="Text 41"/>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أَيْنَ؟</a:t>
            </a:r>
            <a:endParaRPr lang="ar-SA" sz="3000" dirty="0"/>
          </a:p>
        </p:txBody>
      </p:sp>
      <p:sp>
        <p:nvSpPr>
          <p:cNvPr id="45" name="Text 42"/>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where?</a:t>
            </a:r>
            <a:endParaRPr lang="en-US" sz="1350" dirty="0"/>
          </a:p>
          <a:p>
            <a:pPr indent="0" marL="0">
              <a:buNone/>
            </a:pPr>
            <a:r>
              <a:rPr lang="en-US" sz="1100" i="1" dirty="0">
                <a:solidFill>
                  <a:srgbClr val="5A6472"/>
                </a:solidFill>
                <a:latin typeface="Calibri" pitchFamily="34" charset="0"/>
                <a:cs typeface="Amiri" pitchFamily="2" charset="-78"/>
              </a:rPr>
              <a:t>ayna</a:t>
            </a:r>
            <a:endParaRPr lang="en-US" sz="1350" dirty="0"/>
          </a:p>
        </p:txBody>
      </p:sp>
      <p:sp>
        <p:nvSpPr>
          <p:cNvPr id="46" name="Shape 43"/>
          <p:cNvSpPr/>
          <p:nvPr/>
        </p:nvSpPr>
        <p:spPr>
          <a:xfrm>
            <a:off x="594360" y="3438144"/>
            <a:ext cx="3364992" cy="438912"/>
          </a:xfrm>
          <a:prstGeom prst="roundRect">
            <a:avLst>
              <a:gd name="adj" fmla="val 10417"/>
            </a:avLst>
          </a:prstGeom>
          <a:solidFill>
            <a:srgbClr val="F4F1EA"/>
          </a:solidFill>
          <a:ln w="9525">
            <a:solidFill>
              <a:srgbClr val="F4F1EA"/>
            </a:solidFill>
            <a:prstDash val="solid"/>
          </a:ln>
        </p:spPr>
      </p:sp>
      <p:sp>
        <p:nvSpPr>
          <p:cNvPr id="47" name="Text 44"/>
          <p:cNvSpPr txBox="1"/>
          <p:nvPr/>
        </p:nvSpPr>
        <p:spPr>
          <a:xfrm>
            <a:off x="649224" y="3447288"/>
            <a:ext cx="3255264"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e.g.</a:t>
            </a:r>
            <a:endParaRPr lang="en-US" sz="700" dirty="0"/>
          </a:p>
        </p:txBody>
      </p:sp>
      <p:sp>
        <p:nvSpPr>
          <p:cNvPr id="48" name="Text 45"/>
          <p:cNvSpPr txBox="1"/>
          <p:nvPr/>
        </p:nvSpPr>
        <p:spPr>
          <a:xfrm>
            <a:off x="640080" y="3575304"/>
            <a:ext cx="3273552"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أَيْنَ تَسْكُنُ؟</a:t>
            </a:r>
            <a:endParaRPr lang="ar-SA" sz="1350" dirty="0"/>
          </a:p>
        </p:txBody>
      </p:sp>
      <p:sp>
        <p:nvSpPr>
          <p:cNvPr id="49" name="Shape 46"/>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0" name="Shape 47"/>
          <p:cNvSpPr/>
          <p:nvPr/>
        </p:nvSpPr>
        <p:spPr>
          <a:xfrm>
            <a:off x="8211312" y="4261104"/>
            <a:ext cx="310896" cy="310896"/>
          </a:xfrm>
          <a:prstGeom prst="ellipse">
            <a:avLst/>
          </a:prstGeom>
          <a:solidFill>
            <a:srgbClr val="F4F1EA"/>
          </a:solidFill>
          <a:ln w="12700">
            <a:solidFill>
              <a:srgbClr val="F4F1EA"/>
            </a:solidFill>
            <a:prstDash val="solid"/>
          </a:ln>
        </p:spPr>
      </p:sp>
      <p:sp>
        <p:nvSpPr>
          <p:cNvPr id="51" name="Text 48"/>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52" name="Shape 49"/>
          <p:cNvSpPr/>
          <p:nvPr/>
        </p:nvSpPr>
        <p:spPr>
          <a:xfrm>
            <a:off x="8604504" y="4279392"/>
            <a:ext cx="771754" cy="256032"/>
          </a:xfrm>
          <a:prstGeom prst="roundRect">
            <a:avLst>
              <a:gd name="adj" fmla="val 50000"/>
            </a:avLst>
          </a:prstGeom>
          <a:solidFill>
            <a:srgbClr val="EFE7D2"/>
          </a:solidFill>
          <a:ln w="12700">
            <a:solidFill>
              <a:srgbClr val="EFE7D2"/>
            </a:solidFill>
            <a:prstDash val="solid"/>
          </a:ln>
        </p:spPr>
      </p:sp>
      <p:sp>
        <p:nvSpPr>
          <p:cNvPr id="53" name="Text 50"/>
          <p:cNvSpPr txBox="1"/>
          <p:nvPr/>
        </p:nvSpPr>
        <p:spPr>
          <a:xfrm>
            <a:off x="8604504" y="4279392"/>
            <a:ext cx="77175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 number</a:t>
            </a:r>
            <a:endParaRPr lang="en-US" sz="800" dirty="0"/>
          </a:p>
        </p:txBody>
      </p:sp>
      <p:sp>
        <p:nvSpPr>
          <p:cNvPr id="54" name="Shape 51"/>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55" name="Text 52"/>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6" name="Text 53"/>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كَمْ؟</a:t>
            </a:r>
            <a:endParaRPr lang="ar-SA" sz="3000" dirty="0"/>
          </a:p>
        </p:txBody>
      </p:sp>
      <p:sp>
        <p:nvSpPr>
          <p:cNvPr id="57" name="Text 54"/>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how many?</a:t>
            </a:r>
            <a:endParaRPr lang="en-US" sz="1350" dirty="0"/>
          </a:p>
          <a:p>
            <a:pPr indent="0" marL="0">
              <a:buNone/>
            </a:pPr>
            <a:r>
              <a:rPr lang="en-US" sz="1100" i="1" dirty="0">
                <a:solidFill>
                  <a:srgbClr val="5A6472"/>
                </a:solidFill>
                <a:latin typeface="Calibri" pitchFamily="34" charset="0"/>
                <a:cs typeface="Amiri" pitchFamily="2" charset="-78"/>
              </a:rPr>
              <a:t>kam</a:t>
            </a:r>
            <a:endParaRPr lang="en-US" sz="1350" dirty="0"/>
          </a:p>
        </p:txBody>
      </p:sp>
      <p:sp>
        <p:nvSpPr>
          <p:cNvPr id="58" name="Shape 55"/>
          <p:cNvSpPr/>
          <p:nvPr/>
        </p:nvSpPr>
        <p:spPr>
          <a:xfrm>
            <a:off x="8238744" y="5779008"/>
            <a:ext cx="3364992" cy="438912"/>
          </a:xfrm>
          <a:prstGeom prst="roundRect">
            <a:avLst>
              <a:gd name="adj" fmla="val 10417"/>
            </a:avLst>
          </a:prstGeom>
          <a:solidFill>
            <a:srgbClr val="F4F1EA"/>
          </a:solidFill>
          <a:ln w="9525">
            <a:solidFill>
              <a:srgbClr val="F4F1EA"/>
            </a:solidFill>
            <a:prstDash val="solid"/>
          </a:ln>
        </p:spPr>
      </p:sp>
      <p:sp>
        <p:nvSpPr>
          <p:cNvPr id="59" name="Text 56"/>
          <p:cNvSpPr txBox="1"/>
          <p:nvPr/>
        </p:nvSpPr>
        <p:spPr>
          <a:xfrm>
            <a:off x="8293608" y="5788152"/>
            <a:ext cx="3255264"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e.g.</a:t>
            </a:r>
            <a:endParaRPr lang="en-US" sz="700" dirty="0"/>
          </a:p>
        </p:txBody>
      </p:sp>
      <p:sp>
        <p:nvSpPr>
          <p:cNvPr id="60" name="Text 57"/>
          <p:cNvSpPr txBox="1"/>
          <p:nvPr/>
        </p:nvSpPr>
        <p:spPr>
          <a:xfrm>
            <a:off x="8284464" y="5916168"/>
            <a:ext cx="3273552"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كَمْ غُرْفَةً فِي بَيْتِكَ؟</a:t>
            </a:r>
            <a:endParaRPr lang="ar-SA" sz="1350" dirty="0"/>
          </a:p>
        </p:txBody>
      </p:sp>
      <p:sp>
        <p:nvSpPr>
          <p:cNvPr id="61" name="Shape 58"/>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2" name="Shape 59"/>
          <p:cNvSpPr/>
          <p:nvPr/>
        </p:nvSpPr>
        <p:spPr>
          <a:xfrm>
            <a:off x="4389120" y="4261104"/>
            <a:ext cx="310896" cy="310896"/>
          </a:xfrm>
          <a:prstGeom prst="ellipse">
            <a:avLst/>
          </a:prstGeom>
          <a:solidFill>
            <a:srgbClr val="F4F1EA"/>
          </a:solidFill>
          <a:ln w="12700">
            <a:solidFill>
              <a:srgbClr val="F4F1EA"/>
            </a:solidFill>
            <a:prstDash val="solid"/>
          </a:ln>
        </p:spPr>
      </p:sp>
      <p:sp>
        <p:nvSpPr>
          <p:cNvPr id="63" name="Text 60"/>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64" name="Shape 61"/>
          <p:cNvSpPr/>
          <p:nvPr/>
        </p:nvSpPr>
        <p:spPr>
          <a:xfrm>
            <a:off x="4782312" y="4279392"/>
            <a:ext cx="833933" cy="256032"/>
          </a:xfrm>
          <a:prstGeom prst="roundRect">
            <a:avLst>
              <a:gd name="adj" fmla="val 50000"/>
            </a:avLst>
          </a:prstGeom>
          <a:solidFill>
            <a:srgbClr val="EFE7D2"/>
          </a:solidFill>
          <a:ln w="12700">
            <a:solidFill>
              <a:srgbClr val="EFE7D2"/>
            </a:solidFill>
            <a:prstDash val="solid"/>
          </a:ln>
        </p:spPr>
      </p:sp>
      <p:sp>
        <p:nvSpPr>
          <p:cNvPr id="65" name="Text 62"/>
          <p:cNvSpPr txBox="1"/>
          <p:nvPr/>
        </p:nvSpPr>
        <p:spPr>
          <a:xfrm>
            <a:off x="4782312" y="4279392"/>
            <a:ext cx="833933" cy="256032"/>
          </a:xfrm>
          <a:prstGeom prst="rect">
            <a:avLst/>
          </a:prstGeom>
          <a:noFill/>
          <a:ln/>
        </p:spPr>
        <p:txBody>
          <a:bodyPr wrap="square" lIns="0" tIns="0" rIns="0" bIns="0" rtlCol="0" anchor="ctr"/>
          <a:lstStyle/>
          <a:p>
            <a:pPr algn="ctr" indent="0" marL="0">
              <a:buNone/>
            </a:pPr>
            <a:r>
              <a:rPr lang="ar-SA" sz="800" b="1" dirty="0">
                <a:solidFill>
                  <a:srgbClr val="8A6D1E"/>
                </a:solidFill>
                <a:latin typeface="Amiri" pitchFamily="2" charset="-78"/>
                <a:ea typeface="Amiri" pitchFamily="2" charset="-78"/>
                <a:cs typeface="Amiri" pitchFamily="2" charset="-78"/>
              </a:rPr>
              <a:t>→ لِأَنَّ</a:t>
            </a:r>
            <a:endParaRPr lang="en-US" sz="800" dirty="0"/>
          </a:p>
        </p:txBody>
      </p:sp>
      <p:sp>
        <p:nvSpPr>
          <p:cNvPr id="66" name="Shape 63"/>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67" name="Text 64"/>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68" name="Text 65"/>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لِمَاذَا؟</a:t>
            </a:r>
            <a:endParaRPr lang="ar-SA" sz="3000" dirty="0"/>
          </a:p>
        </p:txBody>
      </p:sp>
      <p:sp>
        <p:nvSpPr>
          <p:cNvPr id="69" name="Text 66"/>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why?</a:t>
            </a:r>
            <a:endParaRPr lang="en-US" sz="1350" dirty="0"/>
          </a:p>
          <a:p>
            <a:pPr indent="0" marL="0">
              <a:buNone/>
            </a:pPr>
            <a:r>
              <a:rPr lang="en-US" sz="1100" i="1" dirty="0">
                <a:solidFill>
                  <a:srgbClr val="5A6472"/>
                </a:solidFill>
                <a:latin typeface="Calibri" pitchFamily="34" charset="0"/>
                <a:cs typeface="Amiri" pitchFamily="2" charset="-78"/>
              </a:rPr>
              <a:t>li-mādhā</a:t>
            </a:r>
            <a:endParaRPr lang="en-US" sz="1350" dirty="0"/>
          </a:p>
        </p:txBody>
      </p:sp>
      <p:sp>
        <p:nvSpPr>
          <p:cNvPr id="70" name="Shape 67"/>
          <p:cNvSpPr/>
          <p:nvPr/>
        </p:nvSpPr>
        <p:spPr>
          <a:xfrm>
            <a:off x="4416552" y="5779008"/>
            <a:ext cx="3364992" cy="438912"/>
          </a:xfrm>
          <a:prstGeom prst="roundRect">
            <a:avLst>
              <a:gd name="adj" fmla="val 10417"/>
            </a:avLst>
          </a:prstGeom>
          <a:solidFill>
            <a:srgbClr val="F4F1EA"/>
          </a:solidFill>
          <a:ln w="9525">
            <a:solidFill>
              <a:srgbClr val="F4F1EA"/>
            </a:solidFill>
            <a:prstDash val="solid"/>
          </a:ln>
        </p:spPr>
      </p:sp>
      <p:sp>
        <p:nvSpPr>
          <p:cNvPr id="71" name="Text 68"/>
          <p:cNvSpPr txBox="1"/>
          <p:nvPr/>
        </p:nvSpPr>
        <p:spPr>
          <a:xfrm>
            <a:off x="4471416" y="5788152"/>
            <a:ext cx="3255264"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e.g.</a:t>
            </a:r>
            <a:endParaRPr lang="en-US" sz="700" dirty="0"/>
          </a:p>
        </p:txBody>
      </p:sp>
      <p:sp>
        <p:nvSpPr>
          <p:cNvPr id="72" name="Text 69"/>
          <p:cNvSpPr txBox="1"/>
          <p:nvPr/>
        </p:nvSpPr>
        <p:spPr>
          <a:xfrm>
            <a:off x="4462272" y="5916168"/>
            <a:ext cx="3273552"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لِمَاذَا تُحِبُّ بَيْتَكَ؟</a:t>
            </a:r>
            <a:endParaRPr lang="ar-SA" sz="1350" dirty="0"/>
          </a:p>
        </p:txBody>
      </p:sp>
      <p:sp>
        <p:nvSpPr>
          <p:cNvPr id="73" name="Shape 70"/>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4" name="Shape 71"/>
          <p:cNvSpPr/>
          <p:nvPr/>
        </p:nvSpPr>
        <p:spPr>
          <a:xfrm>
            <a:off x="566928" y="4261104"/>
            <a:ext cx="310896" cy="310896"/>
          </a:xfrm>
          <a:prstGeom prst="ellipse">
            <a:avLst/>
          </a:prstGeom>
          <a:solidFill>
            <a:srgbClr val="F4F1EA"/>
          </a:solidFill>
          <a:ln w="12700">
            <a:solidFill>
              <a:srgbClr val="F4F1EA"/>
            </a:solidFill>
            <a:prstDash val="solid"/>
          </a:ln>
        </p:spPr>
      </p:sp>
      <p:sp>
        <p:nvSpPr>
          <p:cNvPr id="75" name="Text 72"/>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76" name="Shape 73"/>
          <p:cNvSpPr/>
          <p:nvPr/>
        </p:nvSpPr>
        <p:spPr>
          <a:xfrm>
            <a:off x="960120" y="4279392"/>
            <a:ext cx="833933" cy="256032"/>
          </a:xfrm>
          <a:prstGeom prst="roundRect">
            <a:avLst>
              <a:gd name="adj" fmla="val 50000"/>
            </a:avLst>
          </a:prstGeom>
          <a:solidFill>
            <a:srgbClr val="EFE7D2"/>
          </a:solidFill>
          <a:ln w="12700">
            <a:solidFill>
              <a:srgbClr val="EFE7D2"/>
            </a:solidFill>
            <a:prstDash val="solid"/>
          </a:ln>
        </p:spPr>
      </p:sp>
      <p:sp>
        <p:nvSpPr>
          <p:cNvPr id="77" name="Text 74"/>
          <p:cNvSpPr txBox="1"/>
          <p:nvPr/>
        </p:nvSpPr>
        <p:spPr>
          <a:xfrm>
            <a:off x="960120" y="4279392"/>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 details</a:t>
            </a:r>
            <a:endParaRPr lang="en-US" sz="800" dirty="0"/>
          </a:p>
        </p:txBody>
      </p:sp>
      <p:sp>
        <p:nvSpPr>
          <p:cNvPr id="78" name="Text 75"/>
          <p:cNvSpPr txBox="1"/>
          <p:nvPr/>
        </p:nvSpPr>
        <p:spPr>
          <a:xfrm>
            <a:off x="566928"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صِفْ / صِفِي</a:t>
            </a:r>
            <a:endParaRPr lang="ar-SA" sz="3000" dirty="0"/>
          </a:p>
        </p:txBody>
      </p:sp>
      <p:sp>
        <p:nvSpPr>
          <p:cNvPr id="79" name="Text 76"/>
          <p:cNvSpPr txBox="1"/>
          <p:nvPr/>
        </p:nvSpPr>
        <p:spPr>
          <a:xfrm>
            <a:off x="594360"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describe (m. / f.)</a:t>
            </a:r>
            <a:endParaRPr lang="en-US" sz="1350" dirty="0"/>
          </a:p>
          <a:p>
            <a:pPr indent="0" marL="0">
              <a:buNone/>
            </a:pPr>
            <a:r>
              <a:rPr lang="en-US" sz="1100" i="1" dirty="0">
                <a:solidFill>
                  <a:srgbClr val="5A6472"/>
                </a:solidFill>
                <a:latin typeface="Calibri" pitchFamily="34" charset="0"/>
                <a:cs typeface="Amiri" pitchFamily="2" charset="-78"/>
              </a:rPr>
              <a:t>ṣif / ṣifī</a:t>
            </a:r>
            <a:endParaRPr lang="en-US" sz="1350" dirty="0"/>
          </a:p>
        </p:txBody>
      </p:sp>
      <p:sp>
        <p:nvSpPr>
          <p:cNvPr id="80" name="Shape 77"/>
          <p:cNvSpPr/>
          <p:nvPr/>
        </p:nvSpPr>
        <p:spPr>
          <a:xfrm>
            <a:off x="594360" y="5779008"/>
            <a:ext cx="3364992" cy="438912"/>
          </a:xfrm>
          <a:prstGeom prst="roundRect">
            <a:avLst>
              <a:gd name="adj" fmla="val 10417"/>
            </a:avLst>
          </a:prstGeom>
          <a:solidFill>
            <a:srgbClr val="F4F1EA"/>
          </a:solidFill>
          <a:ln w="9525">
            <a:solidFill>
              <a:srgbClr val="F4F1EA"/>
            </a:solidFill>
            <a:prstDash val="solid"/>
          </a:ln>
        </p:spPr>
      </p:sp>
      <p:sp>
        <p:nvSpPr>
          <p:cNvPr id="81" name="Text 78"/>
          <p:cNvSpPr txBox="1"/>
          <p:nvPr/>
        </p:nvSpPr>
        <p:spPr>
          <a:xfrm>
            <a:off x="649224" y="5788152"/>
            <a:ext cx="3255264"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e.g.</a:t>
            </a:r>
            <a:endParaRPr lang="en-US" sz="700" dirty="0"/>
          </a:p>
        </p:txBody>
      </p:sp>
      <p:sp>
        <p:nvSpPr>
          <p:cNvPr id="82" name="Text 79"/>
          <p:cNvSpPr txBox="1"/>
          <p:nvPr/>
        </p:nvSpPr>
        <p:spPr>
          <a:xfrm>
            <a:off x="640080" y="5916168"/>
            <a:ext cx="3273552"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صِفْ بَيْتَكَ.</a:t>
            </a:r>
            <a:endParaRPr lang="ar-SA" sz="1350" dirty="0"/>
          </a:p>
        </p:txBody>
      </p:sp>
      <p:sp>
        <p:nvSpPr>
          <p:cNvPr id="83" name="Text 8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22</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F3-L10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 BANK (2) · FROM THE LESSON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Speaking skills and repair phrases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F3-L10 · practice room</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18" name="Shape 15"/>
          <p:cNvSpPr/>
          <p:nvPr/>
        </p:nvSpPr>
        <p:spPr>
          <a:xfrm>
            <a:off x="8604504" y="1938528"/>
            <a:ext cx="704088"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طَلَاقَةٌ</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fluency</a:t>
            </a:r>
            <a:endParaRPr lang="en-US" sz="1350" dirty="0"/>
          </a:p>
          <a:p>
            <a:pPr indent="0" marL="0">
              <a:buNone/>
            </a:pPr>
            <a:r>
              <a:rPr lang="en-US" sz="1100" i="1" dirty="0">
                <a:solidFill>
                  <a:srgbClr val="5A6472"/>
                </a:solidFill>
                <a:latin typeface="Calibri" pitchFamily="34" charset="0"/>
                <a:cs typeface="Amiri" pitchFamily="2" charset="-78"/>
              </a:rPr>
              <a:t>ṭa-lā-qa</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25" name="Shape 22"/>
          <p:cNvSpPr/>
          <p:nvPr/>
        </p:nvSpPr>
        <p:spPr>
          <a:xfrm>
            <a:off x="4782312" y="1938528"/>
            <a:ext cx="704088" cy="256032"/>
          </a:xfrm>
          <a:prstGeom prst="roundRect">
            <a:avLst>
              <a:gd name="adj" fmla="val 50000"/>
            </a:avLst>
          </a:prstGeom>
          <a:solidFill>
            <a:srgbClr val="EFE7D2"/>
          </a:solidFill>
          <a:ln w="12700">
            <a:solidFill>
              <a:srgbClr val="EFE7D2"/>
            </a:solidFill>
            <a:prstDash val="solid"/>
          </a:ln>
        </p:spPr>
      </p:sp>
      <p:sp>
        <p:nvSpPr>
          <p:cNvPr id="26" name="Text 23"/>
          <p:cNvSpPr txBox="1"/>
          <p:nvPr/>
        </p:nvSpPr>
        <p:spPr>
          <a:xfrm>
            <a:off x="4782312"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a:t>
            </a:r>
            <a:endParaRPr lang="en-US" sz="800" dirty="0"/>
          </a:p>
        </p:txBody>
      </p:sp>
      <p:sp>
        <p:nvSpPr>
          <p:cNvPr id="27" name="Text 24"/>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دِقَّةٌ</a:t>
            </a:r>
            <a:endParaRPr lang="ar-SA" sz="3000" dirty="0"/>
          </a:p>
        </p:txBody>
      </p:sp>
      <p:sp>
        <p:nvSpPr>
          <p:cNvPr id="28" name="Text 25"/>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accuracy</a:t>
            </a:r>
            <a:endParaRPr lang="en-US" sz="1350" dirty="0"/>
          </a:p>
          <a:p>
            <a:pPr indent="0" marL="0">
              <a:buNone/>
            </a:pPr>
            <a:r>
              <a:rPr lang="en-US" sz="1100" i="1" dirty="0">
                <a:solidFill>
                  <a:srgbClr val="5A6472"/>
                </a:solidFill>
                <a:latin typeface="Calibri" pitchFamily="34" charset="0"/>
                <a:cs typeface="Amiri" pitchFamily="2" charset="-78"/>
              </a:rPr>
              <a:t>diq-qa</a:t>
            </a:r>
            <a:endParaRPr lang="en-US" sz="1350" dirty="0"/>
          </a:p>
        </p:txBody>
      </p:sp>
      <p:sp>
        <p:nvSpPr>
          <p:cNvPr id="29" name="Shape 2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66928"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32" name="Shape 29"/>
          <p:cNvSpPr/>
          <p:nvPr/>
        </p:nvSpPr>
        <p:spPr>
          <a:xfrm>
            <a:off x="960120" y="1938528"/>
            <a:ext cx="704088" cy="256032"/>
          </a:xfrm>
          <a:prstGeom prst="roundRect">
            <a:avLst>
              <a:gd name="adj" fmla="val 50000"/>
            </a:avLst>
          </a:prstGeom>
          <a:solidFill>
            <a:srgbClr val="EFE7D2"/>
          </a:solidFill>
          <a:ln w="12700">
            <a:solidFill>
              <a:srgbClr val="EFE7D2"/>
            </a:solidFill>
            <a:prstDash val="solid"/>
          </a:ln>
        </p:spPr>
      </p:sp>
      <p:sp>
        <p:nvSpPr>
          <p:cNvPr id="33" name="Text 30"/>
          <p:cNvSpPr txBox="1"/>
          <p:nvPr/>
        </p:nvSpPr>
        <p:spPr>
          <a:xfrm>
            <a:off x="960120"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a:t>
            </a:r>
            <a:endParaRPr lang="en-US" sz="800" dirty="0"/>
          </a:p>
        </p:txBody>
      </p:sp>
      <p:sp>
        <p:nvSpPr>
          <p:cNvPr id="34" name="Text 31"/>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نُطْقٌ</a:t>
            </a:r>
            <a:endParaRPr lang="ar-SA" sz="3000" dirty="0"/>
          </a:p>
        </p:txBody>
      </p:sp>
      <p:sp>
        <p:nvSpPr>
          <p:cNvPr id="35" name="Text 32"/>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pronunciation</a:t>
            </a:r>
            <a:endParaRPr lang="en-US" sz="1350" dirty="0"/>
          </a:p>
          <a:p>
            <a:pPr indent="0" marL="0">
              <a:buNone/>
            </a:pPr>
            <a:r>
              <a:rPr lang="en-US" sz="1100" i="1" dirty="0">
                <a:solidFill>
                  <a:srgbClr val="5A6472"/>
                </a:solidFill>
                <a:latin typeface="Calibri" pitchFamily="34" charset="0"/>
                <a:cs typeface="Amiri" pitchFamily="2" charset="-78"/>
              </a:rPr>
              <a:t>nuṭq</a:t>
            </a:r>
            <a:endParaRPr lang="en-US" sz="1350" dirty="0"/>
          </a:p>
        </p:txBody>
      </p:sp>
      <p:sp>
        <p:nvSpPr>
          <p:cNvPr id="36" name="Shape 33"/>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8211312" y="4261104"/>
            <a:ext cx="310896" cy="310896"/>
          </a:xfrm>
          <a:prstGeom prst="ellipse">
            <a:avLst/>
          </a:prstGeom>
          <a:solidFill>
            <a:srgbClr val="F4F1EA"/>
          </a:solidFill>
          <a:ln w="12700">
            <a:solidFill>
              <a:srgbClr val="F4F1EA"/>
            </a:solidFill>
            <a:prstDash val="solid"/>
          </a:ln>
        </p:spPr>
      </p:sp>
      <p:sp>
        <p:nvSpPr>
          <p:cNvPr id="38" name="Text 35"/>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39" name="Shape 36"/>
          <p:cNvSpPr/>
          <p:nvPr/>
        </p:nvSpPr>
        <p:spPr>
          <a:xfrm>
            <a:off x="8604504" y="4279392"/>
            <a:ext cx="704088" cy="256032"/>
          </a:xfrm>
          <a:prstGeom prst="roundRect">
            <a:avLst>
              <a:gd name="adj" fmla="val 50000"/>
            </a:avLst>
          </a:prstGeom>
          <a:solidFill>
            <a:srgbClr val="EFE7D2"/>
          </a:solidFill>
          <a:ln w="12700">
            <a:solidFill>
              <a:srgbClr val="EFE7D2"/>
            </a:solidFill>
            <a:prstDash val="solid"/>
          </a:ln>
        </p:spPr>
      </p:sp>
      <p:sp>
        <p:nvSpPr>
          <p:cNvPr id="40" name="Text 37"/>
          <p:cNvSpPr txBox="1"/>
          <p:nvPr/>
        </p:nvSpPr>
        <p:spPr>
          <a:xfrm>
            <a:off x="8604504"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phrase</a:t>
            </a:r>
            <a:endParaRPr lang="en-US" sz="800" dirty="0"/>
          </a:p>
        </p:txBody>
      </p:sp>
      <p:sp>
        <p:nvSpPr>
          <p:cNvPr id="41" name="Shape 38"/>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2" name="Text 39"/>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3" name="Text 40"/>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مَرَّةً أُخْرَى، مِنْ فَضْلِكَ.</a:t>
            </a:r>
            <a:endParaRPr lang="ar-SA" sz="3000" dirty="0"/>
          </a:p>
        </p:txBody>
      </p:sp>
      <p:sp>
        <p:nvSpPr>
          <p:cNvPr id="44" name="Text 41"/>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Once more, please.</a:t>
            </a:r>
            <a:endParaRPr lang="en-US" sz="1350" dirty="0"/>
          </a:p>
          <a:p>
            <a:pPr indent="0" marL="0">
              <a:buNone/>
            </a:pPr>
            <a:r>
              <a:rPr lang="en-US" sz="1100" i="1" dirty="0">
                <a:solidFill>
                  <a:srgbClr val="5A6472"/>
                </a:solidFill>
                <a:latin typeface="Calibri" pitchFamily="34" charset="0"/>
                <a:cs typeface="Amiri" pitchFamily="2" charset="-78"/>
              </a:rPr>
              <a:t>mar-ra-tan ukh-rā</a:t>
            </a:r>
            <a:endParaRPr lang="en-US" sz="1350" dirty="0"/>
          </a:p>
        </p:txBody>
      </p:sp>
      <p:sp>
        <p:nvSpPr>
          <p:cNvPr id="45" name="Shape 42"/>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4389120" y="4261104"/>
            <a:ext cx="310896" cy="310896"/>
          </a:xfrm>
          <a:prstGeom prst="ellipse">
            <a:avLst/>
          </a:prstGeom>
          <a:solidFill>
            <a:srgbClr val="F4F1EA"/>
          </a:solidFill>
          <a:ln w="12700">
            <a:solidFill>
              <a:srgbClr val="F4F1EA"/>
            </a:solidFill>
            <a:prstDash val="solid"/>
          </a:ln>
        </p:spPr>
      </p:sp>
      <p:sp>
        <p:nvSpPr>
          <p:cNvPr id="47" name="Text 44"/>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48" name="Shape 45"/>
          <p:cNvSpPr/>
          <p:nvPr/>
        </p:nvSpPr>
        <p:spPr>
          <a:xfrm>
            <a:off x="4782312" y="4279392"/>
            <a:ext cx="704088" cy="256032"/>
          </a:xfrm>
          <a:prstGeom prst="roundRect">
            <a:avLst>
              <a:gd name="adj" fmla="val 50000"/>
            </a:avLst>
          </a:prstGeom>
          <a:solidFill>
            <a:srgbClr val="EFE7D2"/>
          </a:solidFill>
          <a:ln w="12700">
            <a:solidFill>
              <a:srgbClr val="EFE7D2"/>
            </a:solidFill>
            <a:prstDash val="solid"/>
          </a:ln>
        </p:spPr>
      </p:sp>
      <p:sp>
        <p:nvSpPr>
          <p:cNvPr id="49" name="Text 46"/>
          <p:cNvSpPr txBox="1"/>
          <p:nvPr/>
        </p:nvSpPr>
        <p:spPr>
          <a:xfrm>
            <a:off x="4782312"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phrase</a:t>
            </a:r>
            <a:endParaRPr lang="en-US" sz="800" dirty="0"/>
          </a:p>
        </p:txBody>
      </p:sp>
      <p:sp>
        <p:nvSpPr>
          <p:cNvPr id="50" name="Shape 47"/>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51" name="Text 48"/>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2" name="Text 49"/>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تَكَلَّمْ بِبُطْءٍ، مِنْ فَضْلِكَ.</a:t>
            </a:r>
            <a:endParaRPr lang="ar-SA" sz="3000" dirty="0"/>
          </a:p>
        </p:txBody>
      </p:sp>
      <p:sp>
        <p:nvSpPr>
          <p:cNvPr id="53" name="Text 50"/>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Speak slowly, please.</a:t>
            </a:r>
            <a:endParaRPr lang="en-US" sz="1350" dirty="0"/>
          </a:p>
          <a:p>
            <a:pPr indent="0" marL="0">
              <a:buNone/>
            </a:pPr>
            <a:r>
              <a:rPr lang="en-US" sz="1100" i="1" dirty="0">
                <a:solidFill>
                  <a:srgbClr val="5A6472"/>
                </a:solidFill>
                <a:latin typeface="Calibri" pitchFamily="34" charset="0"/>
                <a:cs typeface="Amiri" pitchFamily="2" charset="-78"/>
              </a:rPr>
              <a:t>ta-kal-lam bi-buṭ’</a:t>
            </a:r>
            <a:endParaRPr lang="en-US" sz="1350" dirty="0"/>
          </a:p>
        </p:txBody>
      </p:sp>
      <p:sp>
        <p:nvSpPr>
          <p:cNvPr id="54" name="Shape 51"/>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66928" y="4261104"/>
            <a:ext cx="310896" cy="310896"/>
          </a:xfrm>
          <a:prstGeom prst="ellipse">
            <a:avLst/>
          </a:prstGeom>
          <a:solidFill>
            <a:srgbClr val="F4F1EA"/>
          </a:solidFill>
          <a:ln w="12700">
            <a:solidFill>
              <a:srgbClr val="F4F1EA"/>
            </a:solidFill>
            <a:prstDash val="solid"/>
          </a:ln>
        </p:spPr>
      </p:sp>
      <p:sp>
        <p:nvSpPr>
          <p:cNvPr id="56" name="Text 53"/>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57" name="Shape 54"/>
          <p:cNvSpPr/>
          <p:nvPr/>
        </p:nvSpPr>
        <p:spPr>
          <a:xfrm>
            <a:off x="960120" y="4279392"/>
            <a:ext cx="704088" cy="256032"/>
          </a:xfrm>
          <a:prstGeom prst="roundRect">
            <a:avLst>
              <a:gd name="adj" fmla="val 50000"/>
            </a:avLst>
          </a:prstGeom>
          <a:solidFill>
            <a:srgbClr val="EFE7D2"/>
          </a:solidFill>
          <a:ln w="12700">
            <a:solidFill>
              <a:srgbClr val="EFE7D2"/>
            </a:solidFill>
            <a:prstDash val="solid"/>
          </a:ln>
        </p:spPr>
      </p:sp>
      <p:sp>
        <p:nvSpPr>
          <p:cNvPr id="58" name="Text 55"/>
          <p:cNvSpPr txBox="1"/>
          <p:nvPr/>
        </p:nvSpPr>
        <p:spPr>
          <a:xfrm>
            <a:off x="960120"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phrase</a:t>
            </a:r>
            <a:endParaRPr lang="en-US" sz="800" dirty="0"/>
          </a:p>
        </p:txBody>
      </p:sp>
      <p:sp>
        <p:nvSpPr>
          <p:cNvPr id="59" name="Shape 56"/>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60" name="Text 57"/>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61" name="Text 58"/>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دَعْنِي أُفَكِّرُ قَلِيلًا …</a:t>
            </a:r>
            <a:endParaRPr lang="ar-SA" sz="3000" dirty="0"/>
          </a:p>
        </p:txBody>
      </p:sp>
      <p:sp>
        <p:nvSpPr>
          <p:cNvPr id="62" name="Text 59"/>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Let me think a little …</a:t>
            </a:r>
            <a:endParaRPr lang="en-US" sz="1350" dirty="0"/>
          </a:p>
          <a:p>
            <a:pPr indent="0" marL="0">
              <a:buNone/>
            </a:pPr>
            <a:r>
              <a:rPr lang="en-US" sz="1100" i="1" dirty="0">
                <a:solidFill>
                  <a:srgbClr val="5A6472"/>
                </a:solidFill>
                <a:latin typeface="Calibri" pitchFamily="34" charset="0"/>
                <a:cs typeface="Amiri" pitchFamily="2" charset="-78"/>
              </a:rPr>
              <a:t>da‘-nī u-fak-ki-ru qa-lī-lan</a:t>
            </a:r>
            <a:endParaRPr lang="en-US" sz="13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22</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F3-L10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STEP 2 · SAY THE MODEL DIALOGUE · READ IT, THEN SAY IT WITHOUT LOOKING</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Two sentences for every answer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جُمْلَتَانِ لِكُلِّ جَوَابٍ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F3-L10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754112" y="1810512"/>
            <a:ext cx="39044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7" name="Text 14"/>
          <p:cNvSpPr txBox="1"/>
          <p:nvPr/>
        </p:nvSpPr>
        <p:spPr>
          <a:xfrm>
            <a:off x="1444752" y="1810512"/>
            <a:ext cx="6163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Say it in Arabic</a:t>
            </a:r>
            <a:endParaRPr lang="en-US" sz="1100" dirty="0"/>
          </a:p>
        </p:txBody>
      </p:sp>
      <p:sp>
        <p:nvSpPr>
          <p:cNvPr id="18" name="Text 15"/>
          <p:cNvSpPr txBox="1"/>
          <p:nvPr/>
        </p:nvSpPr>
        <p:spPr>
          <a:xfrm>
            <a:off x="5303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Who</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7790688" y="226771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Who do you live with?</a:t>
            </a:r>
            <a:endParaRPr lang="en-US" sz="1100" dirty="0"/>
          </a:p>
        </p:txBody>
      </p:sp>
      <p:sp>
        <p:nvSpPr>
          <p:cNvPr id="21" name="Text 18"/>
          <p:cNvSpPr txBox="1"/>
          <p:nvPr/>
        </p:nvSpPr>
        <p:spPr>
          <a:xfrm>
            <a:off x="1463040" y="2267712"/>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مَعَ مَنْ تَسْكُنُ؟</a:t>
            </a:r>
            <a:endParaRPr lang="ar-SA" sz="2000" dirty="0"/>
          </a:p>
        </p:txBody>
      </p:sp>
      <p:sp>
        <p:nvSpPr>
          <p:cNvPr id="22" name="Text 19"/>
          <p:cNvSpPr txBox="1"/>
          <p:nvPr/>
        </p:nvSpPr>
        <p:spPr>
          <a:xfrm>
            <a:off x="566928" y="226771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23" name="Shape 20"/>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4" name="Text 21"/>
          <p:cNvSpPr txBox="1"/>
          <p:nvPr/>
        </p:nvSpPr>
        <p:spPr>
          <a:xfrm>
            <a:off x="7790688" y="2881884"/>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 live with my father, mother and sister. My sister is small and funny.</a:t>
            </a:r>
            <a:endParaRPr lang="en-US" sz="1100" dirty="0"/>
          </a:p>
        </p:txBody>
      </p:sp>
      <p:sp>
        <p:nvSpPr>
          <p:cNvPr id="25" name="Text 22"/>
          <p:cNvSpPr txBox="1"/>
          <p:nvPr/>
        </p:nvSpPr>
        <p:spPr>
          <a:xfrm>
            <a:off x="1463040" y="2881884"/>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أَسْكُنُ مَعَ أَبِي وَأُمِّي وَأُخْتِي. أُخْتِي صَغِيرَةٌ وَمُضْحِكَةٌ.</a:t>
            </a:r>
            <a:endParaRPr lang="ar-SA" sz="2000" dirty="0"/>
          </a:p>
        </p:txBody>
      </p:sp>
      <p:sp>
        <p:nvSpPr>
          <p:cNvPr id="26" name="Text 23"/>
          <p:cNvSpPr txBox="1"/>
          <p:nvPr/>
        </p:nvSpPr>
        <p:spPr>
          <a:xfrm>
            <a:off x="566928" y="2881884"/>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27" name="Shape 24"/>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28" name="Text 25"/>
          <p:cNvSpPr txBox="1"/>
          <p:nvPr/>
        </p:nvSpPr>
        <p:spPr>
          <a:xfrm>
            <a:off x="7790688" y="3496056"/>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Describe your home.</a:t>
            </a:r>
            <a:endParaRPr lang="en-US" sz="1100" dirty="0"/>
          </a:p>
        </p:txBody>
      </p:sp>
      <p:sp>
        <p:nvSpPr>
          <p:cNvPr id="29" name="Text 26"/>
          <p:cNvSpPr txBox="1"/>
          <p:nvPr/>
        </p:nvSpPr>
        <p:spPr>
          <a:xfrm>
            <a:off x="1463040" y="3496056"/>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صِفْ بَيْتَكَ.</a:t>
            </a:r>
            <a:endParaRPr lang="ar-SA" sz="2000" dirty="0"/>
          </a:p>
        </p:txBody>
      </p:sp>
      <p:sp>
        <p:nvSpPr>
          <p:cNvPr id="30" name="Text 27"/>
          <p:cNvSpPr txBox="1"/>
          <p:nvPr/>
        </p:nvSpPr>
        <p:spPr>
          <a:xfrm>
            <a:off x="566928" y="3496056"/>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1" name="Shape 28"/>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2" name="Text 29"/>
          <p:cNvSpPr txBox="1"/>
          <p:nvPr/>
        </p:nvSpPr>
        <p:spPr>
          <a:xfrm>
            <a:off x="7790688" y="4110228"/>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We live in a flat on the third floor. It has three rooms and a small balcony.</a:t>
            </a:r>
            <a:endParaRPr lang="en-US" sz="1100" dirty="0"/>
          </a:p>
        </p:txBody>
      </p:sp>
      <p:sp>
        <p:nvSpPr>
          <p:cNvPr id="33" name="Text 30"/>
          <p:cNvSpPr txBox="1"/>
          <p:nvPr/>
        </p:nvSpPr>
        <p:spPr>
          <a:xfrm>
            <a:off x="1463040" y="4110228"/>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نَسْكُنُ فِي شَقَّةٍ فِي الطَّابِقِ الثَّالِثِ. فِيهَا ثَلَاثُ غُرَفٍ وَشُرْفَةٌ صَغِيرَةٌ.</a:t>
            </a:r>
            <a:endParaRPr lang="ar-SA" sz="2000" dirty="0"/>
          </a:p>
        </p:txBody>
      </p:sp>
      <p:sp>
        <p:nvSpPr>
          <p:cNvPr id="34" name="Text 31"/>
          <p:cNvSpPr txBox="1"/>
          <p:nvPr/>
        </p:nvSpPr>
        <p:spPr>
          <a:xfrm>
            <a:off x="566928" y="4110228"/>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35" name="Shape 32"/>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36" name="Text 33"/>
          <p:cNvSpPr txBox="1"/>
          <p:nvPr/>
        </p:nvSpPr>
        <p:spPr>
          <a:xfrm>
            <a:off x="7790688" y="4724400"/>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Why do you like your room?</a:t>
            </a:r>
            <a:endParaRPr lang="en-US" sz="1100" dirty="0"/>
          </a:p>
        </p:txBody>
      </p:sp>
      <p:sp>
        <p:nvSpPr>
          <p:cNvPr id="37" name="Text 34"/>
          <p:cNvSpPr txBox="1"/>
          <p:nvPr/>
        </p:nvSpPr>
        <p:spPr>
          <a:xfrm>
            <a:off x="1463040" y="4724400"/>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لِمَاذَا تُحِبُّ غُرْفَتَكَ؟</a:t>
            </a:r>
            <a:endParaRPr lang="ar-SA" sz="2000" dirty="0"/>
          </a:p>
        </p:txBody>
      </p:sp>
      <p:sp>
        <p:nvSpPr>
          <p:cNvPr id="38" name="Text 35"/>
          <p:cNvSpPr txBox="1"/>
          <p:nvPr/>
        </p:nvSpPr>
        <p:spPr>
          <a:xfrm>
            <a:off x="566928" y="4724400"/>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9" name="Shape 36"/>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40" name="Text 37"/>
          <p:cNvSpPr txBox="1"/>
          <p:nvPr/>
        </p:nvSpPr>
        <p:spPr>
          <a:xfrm>
            <a:off x="7790688" y="533857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Let me think a little … I like it because it is quiet. I study there every evening.</a:t>
            </a:r>
            <a:endParaRPr lang="en-US" sz="1100" dirty="0"/>
          </a:p>
        </p:txBody>
      </p:sp>
      <p:sp>
        <p:nvSpPr>
          <p:cNvPr id="41" name="Text 38"/>
          <p:cNvSpPr txBox="1"/>
          <p:nvPr/>
        </p:nvSpPr>
        <p:spPr>
          <a:xfrm>
            <a:off x="1463040" y="5338572"/>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دَعْنِي أُفَكِّرُ قَلِيلًا … أُحِبُّهَا لِأَنَّهَا هَادِئَةٌ. أَدْرُسُ فِيهَا كُلَّ مَسَاءٍ.</a:t>
            </a:r>
            <a:endParaRPr lang="ar-SA" sz="2000" dirty="0"/>
          </a:p>
        </p:txBody>
      </p:sp>
      <p:sp>
        <p:nvSpPr>
          <p:cNvPr id="42" name="Text 39"/>
          <p:cNvSpPr txBox="1"/>
          <p:nvPr/>
        </p:nvSpPr>
        <p:spPr>
          <a:xfrm>
            <a:off x="566928" y="533857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43" name="Text 4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Round 1: read it in pairs. Round 2: swap letters. Round 3: answer with YOUR facts — always TWO sentences. Use a repair phrase if you need time.</a:t>
            </a:r>
            <a:endParaRPr lang="en-US" sz="115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22</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F3-L10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3 · QUESTION CARDS · THE LEADER ASKS, THE SPEAKER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750" b="1" dirty="0">
                <a:solidFill>
                  <a:srgbClr val="1B3B6F"/>
                </a:solidFill>
                <a:latin typeface="Cambria" pitchFamily="34" charset="0"/>
                <a:cs typeface="Amiri" pitchFamily="2" charset="-78"/>
              </a:rPr>
              <a:t>Decode the question word — answer in TWO sentences</a:t>
            </a:r>
            <a:endParaRPr lang="en-US" sz="1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وَأَجْوِبَةٌ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F3-L10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720072" y="1810512"/>
            <a:ext cx="19385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Add more (Develop · Stretch)</a:t>
            </a:r>
            <a:endParaRPr lang="en-US" sz="1100" dirty="0"/>
          </a:p>
        </p:txBody>
      </p:sp>
      <p:sp>
        <p:nvSpPr>
          <p:cNvPr id="17" name="Text 14"/>
          <p:cNvSpPr txBox="1"/>
          <p:nvPr/>
        </p:nvSpPr>
        <p:spPr>
          <a:xfrm>
            <a:off x="6976872"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Start your answer (Core)</a:t>
            </a:r>
            <a:endParaRPr lang="en-US" sz="1100" dirty="0"/>
          </a:p>
        </p:txBody>
      </p:sp>
      <p:sp>
        <p:nvSpPr>
          <p:cNvPr id="18" name="Text 15"/>
          <p:cNvSpPr txBox="1"/>
          <p:nvPr/>
        </p:nvSpPr>
        <p:spPr>
          <a:xfrm>
            <a:off x="4599432"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9" name="Text 16"/>
          <p:cNvSpPr txBox="1"/>
          <p:nvPr/>
        </p:nvSpPr>
        <p:spPr>
          <a:xfrm>
            <a:off x="1033272" y="1810512"/>
            <a:ext cx="3419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asks</a:t>
            </a:r>
            <a:endParaRPr lang="en-US" sz="1100" dirty="0"/>
          </a:p>
        </p:txBody>
      </p:sp>
      <p:sp>
        <p:nvSpPr>
          <p:cNvPr id="20" name="Text 17"/>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1" name="Shape 18"/>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2" name="Text 19"/>
          <p:cNvSpPr txBox="1"/>
          <p:nvPr/>
        </p:nvSpPr>
        <p:spPr>
          <a:xfrm>
            <a:off x="9756648" y="2267712"/>
            <a:ext cx="190195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 sentence 2: … </a:t>
            </a:r>
            <a:pPr algn="l" indent="0" marL="0">
              <a:buNone/>
            </a:pPr>
            <a:r>
              <a:rPr lang="ar-SA" altLang="en-US" sz="1450" dirty="0">
                <a:solidFill>
                  <a:srgbClr val="5A6472"/>
                </a:solidFill>
                <a:latin typeface="Amiri" pitchFamily="2" charset="-78"/>
                <a:ea typeface="Amiri" pitchFamily="2" charset="-78"/>
                <a:cs typeface="Amiri" pitchFamily="2" charset="-78"/>
              </a:rPr>
              <a:t>هُوَ / هِيَ</a:t>
            </a:r>
            <a:pPr algn="l" indent="0" marL="0">
              <a:buNone/>
            </a:pPr>
            <a:r>
              <a:rPr lang="en-US" sz="1100" dirty="0">
                <a:solidFill>
                  <a:srgbClr val="5A6472"/>
                </a:solidFill>
                <a:latin typeface="Calibri" pitchFamily="34" charset="0"/>
                <a:cs typeface="Amiri" pitchFamily="2" charset="-78"/>
              </a:rPr>
              <a:t> …</a:t>
            </a:r>
            <a:endParaRPr lang="en-US" sz="1100" dirty="0"/>
          </a:p>
        </p:txBody>
      </p:sp>
      <p:sp>
        <p:nvSpPr>
          <p:cNvPr id="23" name="Text 20"/>
          <p:cNvSpPr txBox="1"/>
          <p:nvPr/>
        </p:nvSpPr>
        <p:spPr>
          <a:xfrm>
            <a:off x="6995160" y="2267712"/>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فِي عَائِلَتِي …</a:t>
            </a:r>
            <a:endParaRPr lang="ar-SA" sz="1600" dirty="0"/>
          </a:p>
        </p:txBody>
      </p:sp>
      <p:sp>
        <p:nvSpPr>
          <p:cNvPr id="24" name="Text 21"/>
          <p:cNvSpPr txBox="1"/>
          <p:nvPr/>
        </p:nvSpPr>
        <p:spPr>
          <a:xfrm>
            <a:off x="4636008" y="2267712"/>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How many people are in your family?</a:t>
            </a:r>
            <a:endParaRPr lang="en-US" sz="1100" dirty="0"/>
          </a:p>
        </p:txBody>
      </p:sp>
      <p:sp>
        <p:nvSpPr>
          <p:cNvPr id="25" name="Text 22"/>
          <p:cNvSpPr txBox="1"/>
          <p:nvPr/>
        </p:nvSpPr>
        <p:spPr>
          <a:xfrm>
            <a:off x="1051560" y="2267712"/>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كَمْ شَخْصًا فِي عَائِلَتِكَ؟</a:t>
            </a:r>
            <a:endParaRPr lang="ar-SA" sz="1700" dirty="0"/>
          </a:p>
        </p:txBody>
      </p:sp>
      <p:sp>
        <p:nvSpPr>
          <p:cNvPr id="26" name="Text 23"/>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7" name="Shape 24"/>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9" name="Shape 26"/>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30" name="Text 27"/>
          <p:cNvSpPr txBox="1"/>
          <p:nvPr/>
        </p:nvSpPr>
        <p:spPr>
          <a:xfrm>
            <a:off x="9738360" y="3004718"/>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عُمْرُهُ … وَهُوَ …</a:t>
            </a:r>
            <a:endParaRPr lang="ar-SA" sz="1500" dirty="0"/>
          </a:p>
        </p:txBody>
      </p:sp>
      <p:sp>
        <p:nvSpPr>
          <p:cNvPr id="31" name="Text 28"/>
          <p:cNvSpPr txBox="1"/>
          <p:nvPr/>
        </p:nvSpPr>
        <p:spPr>
          <a:xfrm>
            <a:off x="6995160" y="3004718"/>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أَكْبَرُ شَخْصٍ … ← جَدِّي</a:t>
            </a:r>
            <a:endParaRPr lang="ar-SA" sz="1600" dirty="0"/>
          </a:p>
        </p:txBody>
      </p:sp>
      <p:sp>
        <p:nvSpPr>
          <p:cNvPr id="32" name="Text 29"/>
          <p:cNvSpPr txBox="1"/>
          <p:nvPr/>
        </p:nvSpPr>
        <p:spPr>
          <a:xfrm>
            <a:off x="4636008" y="3004718"/>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Who is the oldest person in your family?</a:t>
            </a:r>
            <a:endParaRPr lang="en-US" sz="1100" dirty="0"/>
          </a:p>
        </p:txBody>
      </p:sp>
      <p:sp>
        <p:nvSpPr>
          <p:cNvPr id="33" name="Text 30"/>
          <p:cNvSpPr txBox="1"/>
          <p:nvPr/>
        </p:nvSpPr>
        <p:spPr>
          <a:xfrm>
            <a:off x="1051560" y="3004718"/>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مَنْ أَكْبَرُ شَخْصٍ فِي عَائِلَتِكَ؟</a:t>
            </a:r>
            <a:endParaRPr lang="ar-SA" sz="1700" dirty="0"/>
          </a:p>
        </p:txBody>
      </p:sp>
      <p:sp>
        <p:nvSpPr>
          <p:cNvPr id="34" name="Text 31"/>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5" name="Shape 32"/>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8" name="Text 35"/>
          <p:cNvSpPr txBox="1"/>
          <p:nvPr/>
        </p:nvSpPr>
        <p:spPr>
          <a:xfrm>
            <a:off x="9738360" y="3741725"/>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فِيهِ / فِيهَا …</a:t>
            </a:r>
            <a:endParaRPr lang="ar-SA" sz="1500" dirty="0"/>
          </a:p>
        </p:txBody>
      </p:sp>
      <p:sp>
        <p:nvSpPr>
          <p:cNvPr id="39" name="Text 36"/>
          <p:cNvSpPr txBox="1"/>
          <p:nvPr/>
        </p:nvSpPr>
        <p:spPr>
          <a:xfrm>
            <a:off x="6995160" y="3741725"/>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أَسْكُنُ فِي …</a:t>
            </a:r>
            <a:endParaRPr lang="ar-SA" sz="1600" dirty="0"/>
          </a:p>
        </p:txBody>
      </p:sp>
      <p:sp>
        <p:nvSpPr>
          <p:cNvPr id="40" name="Text 37"/>
          <p:cNvSpPr txBox="1"/>
          <p:nvPr/>
        </p:nvSpPr>
        <p:spPr>
          <a:xfrm>
            <a:off x="4636008" y="3741725"/>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Where do you live?</a:t>
            </a:r>
            <a:endParaRPr lang="en-US" sz="1100" dirty="0"/>
          </a:p>
        </p:txBody>
      </p:sp>
      <p:sp>
        <p:nvSpPr>
          <p:cNvPr id="41" name="Text 38"/>
          <p:cNvSpPr txBox="1"/>
          <p:nvPr/>
        </p:nvSpPr>
        <p:spPr>
          <a:xfrm>
            <a:off x="1051560" y="3741725"/>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أَيْنَ تَسْكُنُ؟</a:t>
            </a:r>
            <a:endParaRPr lang="ar-SA" sz="1700" dirty="0"/>
          </a:p>
        </p:txBody>
      </p:sp>
      <p:sp>
        <p:nvSpPr>
          <p:cNvPr id="42" name="Text 39"/>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43" name="Shape 40"/>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44" name="Text 41"/>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5" name="Shape 42"/>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6" name="Text 43"/>
          <p:cNvSpPr txBox="1"/>
          <p:nvPr/>
        </p:nvSpPr>
        <p:spPr>
          <a:xfrm>
            <a:off x="9738360" y="4478731"/>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يُوجَدُ … وَتُوجَدُ …</a:t>
            </a:r>
            <a:endParaRPr lang="ar-SA" sz="1500" dirty="0"/>
          </a:p>
        </p:txBody>
      </p:sp>
      <p:sp>
        <p:nvSpPr>
          <p:cNvPr id="47" name="Text 44"/>
          <p:cNvSpPr txBox="1"/>
          <p:nvPr/>
        </p:nvSpPr>
        <p:spPr>
          <a:xfrm>
            <a:off x="6995160" y="4478731"/>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غُرْفَةُ الجُلُوسِ …</a:t>
            </a:r>
            <a:endParaRPr lang="ar-SA" sz="1600" dirty="0"/>
          </a:p>
        </p:txBody>
      </p:sp>
      <p:sp>
        <p:nvSpPr>
          <p:cNvPr id="48" name="Text 45"/>
          <p:cNvSpPr txBox="1"/>
          <p:nvPr/>
        </p:nvSpPr>
        <p:spPr>
          <a:xfrm>
            <a:off x="4636008" y="4478731"/>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Describe the living room.</a:t>
            </a:r>
            <a:endParaRPr lang="en-US" sz="1100" dirty="0"/>
          </a:p>
        </p:txBody>
      </p:sp>
      <p:sp>
        <p:nvSpPr>
          <p:cNvPr id="49" name="Text 46"/>
          <p:cNvSpPr txBox="1"/>
          <p:nvPr/>
        </p:nvSpPr>
        <p:spPr>
          <a:xfrm>
            <a:off x="1051560" y="4478731"/>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صِفْ غُرْفَةَ الجُلُوسِ.</a:t>
            </a:r>
            <a:endParaRPr lang="ar-SA" sz="1700" dirty="0"/>
          </a:p>
        </p:txBody>
      </p:sp>
      <p:sp>
        <p:nvSpPr>
          <p:cNvPr id="50" name="Text 47"/>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51" name="Shape 48"/>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52" name="Text 49"/>
          <p:cNvSpPr txBox="1"/>
          <p:nvPr/>
        </p:nvSpPr>
        <p:spPr>
          <a:xfrm>
            <a:off x="9738360" y="5215738"/>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لٰكِنَّ …</a:t>
            </a:r>
            <a:endParaRPr lang="ar-SA" sz="1500" dirty="0"/>
          </a:p>
        </p:txBody>
      </p:sp>
      <p:sp>
        <p:nvSpPr>
          <p:cNvPr id="53" name="Text 50"/>
          <p:cNvSpPr txBox="1"/>
          <p:nvPr/>
        </p:nvSpPr>
        <p:spPr>
          <a:xfrm>
            <a:off x="6995160" y="5215738"/>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أُحِبُّ حَيِّي لِأَنَّ …</a:t>
            </a:r>
            <a:endParaRPr lang="ar-SA" sz="1600" dirty="0"/>
          </a:p>
        </p:txBody>
      </p:sp>
      <p:sp>
        <p:nvSpPr>
          <p:cNvPr id="54" name="Text 51"/>
          <p:cNvSpPr txBox="1"/>
          <p:nvPr/>
        </p:nvSpPr>
        <p:spPr>
          <a:xfrm>
            <a:off x="4636008" y="5215738"/>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Why do you like your area?</a:t>
            </a:r>
            <a:endParaRPr lang="en-US" sz="1100" dirty="0"/>
          </a:p>
        </p:txBody>
      </p:sp>
      <p:sp>
        <p:nvSpPr>
          <p:cNvPr id="55" name="Text 52"/>
          <p:cNvSpPr txBox="1"/>
          <p:nvPr/>
        </p:nvSpPr>
        <p:spPr>
          <a:xfrm>
            <a:off x="1051560" y="5215738"/>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لِمَاذَا تُحِبُّ حَيَّكَ؟</a:t>
            </a:r>
            <a:endParaRPr lang="ar-SA" sz="1700" dirty="0"/>
          </a:p>
        </p:txBody>
      </p:sp>
      <p:sp>
        <p:nvSpPr>
          <p:cNvPr id="56" name="Text 53"/>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57" name="Text 54"/>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Each Speaker answers every question. Core: a full sentence from the starter. Develop: add the “more” part. Stretch: add a reason with </a:t>
            </a:r>
            <a:pPr algn="l" indent="0" marL="0">
              <a:buNone/>
            </a:pPr>
            <a:r>
              <a:rPr lang="ar-SA" altLang="en-US" sz="1450" b="1" dirty="0">
                <a:solidFill>
                  <a:srgbClr val="1B3B6F"/>
                </a:solidFill>
                <a:latin typeface="Amiri" pitchFamily="2" charset="-78"/>
                <a:ea typeface="Amiri" pitchFamily="2" charset="-78"/>
                <a:cs typeface="Amiri" pitchFamily="2" charset="-78"/>
              </a:rPr>
              <a:t>لِأَنَّ</a:t>
            </a:r>
            <a:pPr algn="l" indent="0" marL="0">
              <a:buNone/>
            </a:pPr>
            <a:r>
              <a:rPr lang="en-US" sz="1100" b="1" dirty="0">
                <a:solidFill>
                  <a:srgbClr val="1B3B6F"/>
                </a:solidFill>
                <a:latin typeface="Calibri" pitchFamily="34" charset="0"/>
                <a:cs typeface="Amiri" pitchFamily="2" charset="-78"/>
              </a:rPr>
              <a:t> or a second detail. Swap after each question.</a:t>
            </a:r>
            <a:endParaRPr lang="en-US" sz="110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22</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F3-L10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4 · ROLE-PLAY CARD · USE THE PLAN, THEN HIDE IT AND SPEAK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00" b="1" dirty="0">
                <a:solidFill>
                  <a:srgbClr val="1B3B6F"/>
                </a:solidFill>
                <a:latin typeface="Cambria" pitchFamily="34" charset="0"/>
                <a:cs typeface="Amiri" pitchFamily="2" charset="-78"/>
              </a:rPr>
              <a:t>Card — the speaking test: a short interview</a:t>
            </a:r>
            <a:endParaRPr lang="en-US" sz="22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اخْتِبَارُ التَّحَدُّثِ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F3-L10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257032" y="1810512"/>
            <a:ext cx="34015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Plan: first words</a:t>
            </a:r>
            <a:endParaRPr lang="en-US" sz="1100" dirty="0"/>
          </a:p>
        </p:txBody>
      </p:sp>
      <p:sp>
        <p:nvSpPr>
          <p:cNvPr id="17" name="Text 14"/>
          <p:cNvSpPr txBox="1"/>
          <p:nvPr/>
        </p:nvSpPr>
        <p:spPr>
          <a:xfrm>
            <a:off x="496519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Speaker’s task</a:t>
            </a:r>
            <a:endParaRPr lang="en-US" sz="1100" dirty="0"/>
          </a:p>
        </p:txBody>
      </p:sp>
      <p:sp>
        <p:nvSpPr>
          <p:cNvPr id="18" name="Text 15"/>
          <p:cNvSpPr txBox="1"/>
          <p:nvPr/>
        </p:nvSpPr>
        <p:spPr>
          <a:xfrm>
            <a:off x="1033272" y="1810512"/>
            <a:ext cx="3785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reads</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1" name="Text 18"/>
          <p:cNvSpPr txBox="1"/>
          <p:nvPr/>
        </p:nvSpPr>
        <p:spPr>
          <a:xfrm>
            <a:off x="8275320" y="2267712"/>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حَدِّثْنِي ← فِي عَائِلَتِي … + هُوَ / هِيَ …</a:t>
            </a:r>
            <a:endParaRPr lang="ar-SA" sz="1600" dirty="0"/>
          </a:p>
        </p:txBody>
      </p:sp>
      <p:sp>
        <p:nvSpPr>
          <p:cNvPr id="22" name="Text 19"/>
          <p:cNvSpPr txBox="1"/>
          <p:nvPr/>
        </p:nvSpPr>
        <p:spPr>
          <a:xfrm>
            <a:off x="5001768" y="2267712"/>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Two sentences about your family.</a:t>
            </a:r>
            <a:endParaRPr lang="en-US" sz="1100" dirty="0"/>
          </a:p>
        </p:txBody>
      </p:sp>
      <p:sp>
        <p:nvSpPr>
          <p:cNvPr id="23" name="Text 20"/>
          <p:cNvSpPr txBox="1"/>
          <p:nvPr/>
        </p:nvSpPr>
        <p:spPr>
          <a:xfrm>
            <a:off x="1051560" y="2267712"/>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حَدِّثْنِي عَنْ عَائِلَتِكَ.</a:t>
            </a:r>
            <a:endParaRPr lang="ar-SA" sz="1700" dirty="0"/>
          </a:p>
        </p:txBody>
      </p:sp>
      <p:sp>
        <p:nvSpPr>
          <p:cNvPr id="24" name="Text 21"/>
          <p:cNvSpPr txBox="1"/>
          <p:nvPr/>
        </p:nvSpPr>
        <p:spPr>
          <a:xfrm>
            <a:off x="566928" y="2267712"/>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8" name="Text 25"/>
          <p:cNvSpPr txBox="1"/>
          <p:nvPr/>
        </p:nvSpPr>
        <p:spPr>
          <a:xfrm>
            <a:off x="8275320" y="3054096"/>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مَعَ مَنْ ← مَعَ … + نَلْعَبُ / نَقْرَأُ …</a:t>
            </a:r>
            <a:endParaRPr lang="ar-SA" sz="1600" dirty="0"/>
          </a:p>
        </p:txBody>
      </p:sp>
      <p:sp>
        <p:nvSpPr>
          <p:cNvPr id="29" name="Text 26"/>
          <p:cNvSpPr txBox="1"/>
          <p:nvPr/>
        </p:nvSpPr>
        <p:spPr>
          <a:xfrm>
            <a:off x="5001768" y="3054096"/>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Who + what you do together.</a:t>
            </a:r>
            <a:endParaRPr lang="en-US" sz="1100" dirty="0"/>
          </a:p>
        </p:txBody>
      </p:sp>
      <p:sp>
        <p:nvSpPr>
          <p:cNvPr id="30" name="Text 27"/>
          <p:cNvSpPr txBox="1"/>
          <p:nvPr/>
        </p:nvSpPr>
        <p:spPr>
          <a:xfrm>
            <a:off x="1051560" y="3054096"/>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مَعَ مَنْ تَقْضِي وَقْتًا كَثِيرًا؟</a:t>
            </a:r>
            <a:endParaRPr lang="ar-SA" sz="1700" dirty="0"/>
          </a:p>
        </p:txBody>
      </p:sp>
      <p:sp>
        <p:nvSpPr>
          <p:cNvPr id="31" name="Text 28"/>
          <p:cNvSpPr txBox="1"/>
          <p:nvPr/>
        </p:nvSpPr>
        <p:spPr>
          <a:xfrm>
            <a:off x="566928" y="3054096"/>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2" name="Shape 29"/>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5" name="Text 32"/>
          <p:cNvSpPr txBox="1"/>
          <p:nvPr/>
        </p:nvSpPr>
        <p:spPr>
          <a:xfrm>
            <a:off x="8275320" y="3840480"/>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صِفْ ← نَسْكُنُ فِي … + فِيهِ …</a:t>
            </a:r>
            <a:endParaRPr lang="ar-SA" sz="1600" dirty="0"/>
          </a:p>
        </p:txBody>
      </p:sp>
      <p:sp>
        <p:nvSpPr>
          <p:cNvPr id="36" name="Text 33"/>
          <p:cNvSpPr txBox="1"/>
          <p:nvPr/>
        </p:nvSpPr>
        <p:spPr>
          <a:xfrm>
            <a:off x="5001768" y="3840480"/>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Two sentences about your home.</a:t>
            </a:r>
            <a:endParaRPr lang="en-US" sz="1100" dirty="0"/>
          </a:p>
        </p:txBody>
      </p:sp>
      <p:sp>
        <p:nvSpPr>
          <p:cNvPr id="37" name="Text 34"/>
          <p:cNvSpPr txBox="1"/>
          <p:nvPr/>
        </p:nvSpPr>
        <p:spPr>
          <a:xfrm>
            <a:off x="1051560" y="3840480"/>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صِفْ بَيْتَكَ.</a:t>
            </a:r>
            <a:endParaRPr lang="ar-SA" sz="1700" dirty="0"/>
          </a:p>
        </p:txBody>
      </p:sp>
      <p:sp>
        <p:nvSpPr>
          <p:cNvPr id="38" name="Text 35"/>
          <p:cNvSpPr txBox="1"/>
          <p:nvPr/>
        </p:nvSpPr>
        <p:spPr>
          <a:xfrm>
            <a:off x="566928" y="3840480"/>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9" name="Shape 36"/>
          <p:cNvSpPr/>
          <p:nvPr/>
        </p:nvSpPr>
        <p:spPr>
          <a:xfrm>
            <a:off x="11091672" y="3886200"/>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388620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1" name="Shape 38"/>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42" name="Text 39"/>
          <p:cNvSpPr txBox="1"/>
          <p:nvPr/>
        </p:nvSpPr>
        <p:spPr>
          <a:xfrm>
            <a:off x="8275320" y="4626864"/>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لِمَاذَا ← نَعَمْ، لِأَنَّهُ … + لٰكِنَّ …</a:t>
            </a:r>
            <a:endParaRPr lang="ar-SA" sz="1600" dirty="0"/>
          </a:p>
        </p:txBody>
      </p:sp>
      <p:sp>
        <p:nvSpPr>
          <p:cNvPr id="43" name="Text 40"/>
          <p:cNvSpPr txBox="1"/>
          <p:nvPr/>
        </p:nvSpPr>
        <p:spPr>
          <a:xfrm>
            <a:off x="5001768" y="4626864"/>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Opinion + reason.</a:t>
            </a:r>
            <a:endParaRPr lang="en-US" sz="1100" dirty="0"/>
          </a:p>
        </p:txBody>
      </p:sp>
      <p:sp>
        <p:nvSpPr>
          <p:cNvPr id="44" name="Text 41"/>
          <p:cNvSpPr txBox="1"/>
          <p:nvPr/>
        </p:nvSpPr>
        <p:spPr>
          <a:xfrm>
            <a:off x="1051560" y="4626864"/>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هَلْ تُحِبُّ بَيْتَكَ؟ لِمَاذَا؟</a:t>
            </a:r>
            <a:endParaRPr lang="ar-SA" sz="1700" dirty="0"/>
          </a:p>
        </p:txBody>
      </p:sp>
      <p:sp>
        <p:nvSpPr>
          <p:cNvPr id="45" name="Text 42"/>
          <p:cNvSpPr txBox="1"/>
          <p:nvPr/>
        </p:nvSpPr>
        <p:spPr>
          <a:xfrm>
            <a:off x="566928" y="4626864"/>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6" name="Shape 43"/>
          <p:cNvSpPr/>
          <p:nvPr/>
        </p:nvSpPr>
        <p:spPr>
          <a:xfrm>
            <a:off x="11091672" y="4672584"/>
            <a:ext cx="548640" cy="182880"/>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11091672" y="467258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8" name="Text 45"/>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Speaker = the candidate · Leader = the examiner. Read the plan for 1 minute, then hide it and speak. Then swap roles.</a:t>
            </a:r>
            <a:endParaRPr lang="en-US" sz="1150" dirty="0"/>
          </a:p>
        </p:txBody>
      </p:sp>
      <p:sp>
        <p:nvSpPr>
          <p:cNvPr id="49" name="Text 4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22</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F3-L10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5 · SHORT TALK · 30 SECONDS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50" b="1" dirty="0">
                <a:solidFill>
                  <a:srgbClr val="1B3B6F"/>
                </a:solidFill>
                <a:latin typeface="Cambria" pitchFamily="34" charset="0"/>
                <a:cs typeface="Amiri" pitchFamily="2" charset="-78"/>
              </a:rPr>
              <a:t>45–60 seconds: my family and my home</a:t>
            </a:r>
            <a:endParaRPr lang="en-US" sz="24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عَائِلَتِي وَبَيْتِي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F3-L10 · practice room</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5 · IN YOUR ROOM</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1850" b="1" dirty="0">
                <a:solidFill>
                  <a:srgbClr val="1B3B6F"/>
                </a:solidFill>
                <a:latin typeface="Calibri" pitchFamily="34" charset="0"/>
                <a:cs typeface="Amiri" pitchFamily="2" charset="-78"/>
              </a:rPr>
              <a:t>⏱  Talk for 45–60 seconds — then two follow-ups</a:t>
            </a:r>
            <a:endParaRPr lang="en-US" sz="185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Speak for 45–60 seconds about your family and your home, then answer two follow-up questions from the Leader (</a:t>
            </a:r>
            <a:pPr algn="l" indent="0" marL="0">
              <a:buNone/>
            </a:pPr>
            <a:r>
              <a:rPr lang="ar-SA" altLang="en-US" sz="1750" dirty="0">
                <a:solidFill>
                  <a:srgbClr val="1F2A37"/>
                </a:solidFill>
                <a:latin typeface="Amiri" pitchFamily="2" charset="-78"/>
                <a:ea typeface="Amiri" pitchFamily="2" charset="-78"/>
                <a:cs typeface="Amiri" pitchFamily="2" charset="-78"/>
              </a:rPr>
              <a:t>لِمَاذَا؟</a:t>
            </a:r>
            <a:pPr algn="l" indent="0" marL="0">
              <a:buNone/>
            </a:pPr>
            <a:r>
              <a:rPr lang="en-US" sz="1350" dirty="0">
                <a:solidFill>
                  <a:srgbClr val="1F2A37"/>
                </a:solidFill>
                <a:latin typeface="Calibri" pitchFamily="34" charset="0"/>
                <a:cs typeface="Amiri" pitchFamily="2" charset="-78"/>
              </a:rPr>
              <a:t> · </a:t>
            </a:r>
            <a:pPr algn="l" indent="0" marL="0">
              <a:buNone/>
            </a:pPr>
            <a:r>
              <a:rPr lang="ar-SA" altLang="en-US" sz="1750" dirty="0">
                <a:solidFill>
                  <a:srgbClr val="1F2A37"/>
                </a:solidFill>
                <a:latin typeface="Amiri" pitchFamily="2" charset="-78"/>
                <a:ea typeface="Amiri" pitchFamily="2" charset="-78"/>
                <a:cs typeface="Amiri" pitchFamily="2" charset="-78"/>
              </a:rPr>
              <a:t>مَعَ مَنْ؟</a:t>
            </a:r>
            <a:pPr algn="l" indent="0" marL="0">
              <a:buNone/>
            </a:pPr>
            <a:r>
              <a:rPr lang="en-US" sz="1350" dirty="0">
                <a:solidFill>
                  <a:srgbClr val="1F2A37"/>
                </a:solidFill>
                <a:latin typeface="Calibri" pitchFamily="34" charset="0"/>
                <a:cs typeface="Amiri" pitchFamily="2" charset="-78"/>
              </a:rPr>
              <a:t>).</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Think for 30 seconds: 3–4 key words, no sentences.</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Speaker talks; the Leader times it.</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Coach: one thing that went well + one thing to improve.</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Swap until everyone has spoken.</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30 seconds: family (2 sentences) + home (2 sentences).</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45 seconds: add descriptions with agreement and </a:t>
            </a:r>
            <a:pPr algn="l" indent="0" marL="0">
              <a:buNone/>
            </a:pPr>
            <a:r>
              <a:rPr lang="ar-SA" altLang="en-US" sz="1500" dirty="0">
                <a:solidFill>
                  <a:srgbClr val="1F2A37"/>
                </a:solidFill>
                <a:latin typeface="Amiri" pitchFamily="2" charset="-78"/>
                <a:ea typeface="Amiri" pitchFamily="2" charset="-78"/>
                <a:cs typeface="Amiri" pitchFamily="2" charset="-78"/>
              </a:rPr>
              <a:t>لِأَنَّ</a:t>
            </a:r>
            <a:pPr algn="l" indent="0" marL="0">
              <a:buNone/>
            </a:pPr>
            <a:r>
              <a:rPr lang="en-US" sz="1150" dirty="0">
                <a:solidFill>
                  <a:srgbClr val="1F2A37"/>
                </a:solidFill>
                <a:latin typeface="Calibri" pitchFamily="34" charset="0"/>
                <a:cs typeface="Amiri" pitchFamily="2" charset="-78"/>
              </a:rPr>
              <a:t>.</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60 seconds: add </a:t>
            </a:r>
            <a:pPr algn="l" indent="0" marL="0">
              <a:buNone/>
            </a:pPr>
            <a:r>
              <a:rPr lang="ar-SA" altLang="en-US" sz="1500" dirty="0">
                <a:solidFill>
                  <a:srgbClr val="1F2A37"/>
                </a:solidFill>
                <a:latin typeface="Amiri" pitchFamily="2" charset="-78"/>
                <a:ea typeface="Amiri" pitchFamily="2" charset="-78"/>
                <a:cs typeface="Amiri" pitchFamily="2" charset="-78"/>
              </a:rPr>
              <a:t>لٰكِنَّ</a:t>
            </a:r>
            <a:pPr algn="l" indent="0" marL="0">
              <a:buNone/>
            </a:pPr>
            <a:r>
              <a:rPr lang="en-US" sz="1150" dirty="0">
                <a:solidFill>
                  <a:srgbClr val="1F2A37"/>
                </a:solidFill>
                <a:latin typeface="Calibri" pitchFamily="34" charset="0"/>
                <a:cs typeface="Amiri" pitchFamily="2" charset="-78"/>
              </a:rPr>
              <a:t>, positions and an opinion — and answer both follow-ups in two sentences.</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أَنَا … وَ…</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I am … and …</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عِنْدِي …</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I have …</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أُحِبُّ … لِأَنَّ …</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I like … because …</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وَأَيْضًا …</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and also …</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22</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F3-L10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PART B · STEP 6 · SENTENCE BUILDER · CHOOSE A OR B IN EACH COLUMN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Build three correct sentences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F3-L10 · practice room</a:t>
            </a:r>
            <a:endParaRPr lang="en-US" sz="850" dirty="0"/>
          </a:p>
        </p:txBody>
      </p:sp>
      <p:sp>
        <p:nvSpPr>
          <p:cNvPr id="15" name="Text 12"/>
          <p:cNvSpPr txBox="1"/>
          <p:nvPr/>
        </p:nvSpPr>
        <p:spPr>
          <a:xfrm>
            <a:off x="9180576"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1 · start here</a:t>
            </a:r>
            <a:endParaRPr lang="en-US" sz="1000" dirty="0"/>
          </a:p>
        </p:txBody>
      </p:sp>
      <p:sp>
        <p:nvSpPr>
          <p:cNvPr id="16" name="Text 13"/>
          <p:cNvSpPr txBox="1"/>
          <p:nvPr/>
        </p:nvSpPr>
        <p:spPr>
          <a:xfrm>
            <a:off x="6624828"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2</a:t>
            </a:r>
            <a:endParaRPr lang="en-US" sz="1000" dirty="0"/>
          </a:p>
        </p:txBody>
      </p:sp>
      <p:sp>
        <p:nvSpPr>
          <p:cNvPr id="17" name="Text 14"/>
          <p:cNvSpPr txBox="1"/>
          <p:nvPr/>
        </p:nvSpPr>
        <p:spPr>
          <a:xfrm>
            <a:off x="4069080"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3</a:t>
            </a:r>
            <a:endParaRPr lang="en-US" sz="1000" dirty="0"/>
          </a:p>
        </p:txBody>
      </p:sp>
      <p:sp>
        <p:nvSpPr>
          <p:cNvPr id="18" name="Shape 15"/>
          <p:cNvSpPr/>
          <p:nvPr/>
        </p:nvSpPr>
        <p:spPr>
          <a:xfrm>
            <a:off x="457200" y="2011680"/>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9" name="Shape 16"/>
          <p:cNvSpPr/>
          <p:nvPr/>
        </p:nvSpPr>
        <p:spPr>
          <a:xfrm>
            <a:off x="594360" y="2148840"/>
            <a:ext cx="365760" cy="365760"/>
          </a:xfrm>
          <a:prstGeom prst="ellipse">
            <a:avLst/>
          </a:prstGeom>
          <a:solidFill>
            <a:srgbClr val="2F6FB0"/>
          </a:solidFill>
          <a:ln w="12700">
            <a:solidFill>
              <a:srgbClr val="2F6FB0"/>
            </a:solidFill>
            <a:prstDash val="solid"/>
          </a:ln>
        </p:spPr>
      </p:sp>
      <p:sp>
        <p:nvSpPr>
          <p:cNvPr id="20" name="Text 17"/>
          <p:cNvSpPr txBox="1"/>
          <p:nvPr/>
        </p:nvSpPr>
        <p:spPr>
          <a:xfrm>
            <a:off x="594360" y="214884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21" name="Text 18"/>
          <p:cNvSpPr txBox="1"/>
          <p:nvPr/>
        </p:nvSpPr>
        <p:spPr>
          <a:xfrm>
            <a:off x="1051560" y="2121408"/>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I live with my grandmother. She is calm and kind.</a:t>
            </a:r>
            <a:endParaRPr lang="en-US" sz="1400" dirty="0"/>
          </a:p>
        </p:txBody>
      </p:sp>
      <p:sp>
        <p:nvSpPr>
          <p:cNvPr id="22" name="Shape 19"/>
          <p:cNvSpPr/>
          <p:nvPr/>
        </p:nvSpPr>
        <p:spPr>
          <a:xfrm>
            <a:off x="9180576" y="2103120"/>
            <a:ext cx="2414016" cy="512064"/>
          </a:xfrm>
          <a:prstGeom prst="roundRect">
            <a:avLst>
              <a:gd name="adj" fmla="val 10714"/>
            </a:avLst>
          </a:prstGeom>
          <a:solidFill>
            <a:srgbClr val="EEF3FA"/>
          </a:solidFill>
          <a:ln w="9525">
            <a:solidFill>
              <a:srgbClr val="C9D6EA"/>
            </a:solidFill>
            <a:prstDash val="solid"/>
          </a:ln>
        </p:spPr>
      </p:sp>
      <p:sp>
        <p:nvSpPr>
          <p:cNvPr id="23" name="Text 20"/>
          <p:cNvSpPr txBox="1"/>
          <p:nvPr/>
        </p:nvSpPr>
        <p:spPr>
          <a:xfrm>
            <a:off x="9235440"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24" name="Text 21"/>
          <p:cNvSpPr txBox="1"/>
          <p:nvPr/>
        </p:nvSpPr>
        <p:spPr>
          <a:xfrm>
            <a:off x="9500616"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أَسْكُنُ مَعَ جَدَّتِي.</a:t>
            </a:r>
            <a:endParaRPr lang="ar-SA" sz="1800" dirty="0"/>
          </a:p>
        </p:txBody>
      </p:sp>
      <p:sp>
        <p:nvSpPr>
          <p:cNvPr id="25" name="Shape 22"/>
          <p:cNvSpPr/>
          <p:nvPr/>
        </p:nvSpPr>
        <p:spPr>
          <a:xfrm>
            <a:off x="9180576" y="2670048"/>
            <a:ext cx="2414016" cy="512064"/>
          </a:xfrm>
          <a:prstGeom prst="roundRect">
            <a:avLst>
              <a:gd name="adj" fmla="val 10714"/>
            </a:avLst>
          </a:prstGeom>
          <a:solidFill>
            <a:srgbClr val="EEF3FA"/>
          </a:solidFill>
          <a:ln w="9525">
            <a:solidFill>
              <a:srgbClr val="C9D6EA"/>
            </a:solidFill>
            <a:prstDash val="solid"/>
          </a:ln>
        </p:spPr>
      </p:sp>
      <p:sp>
        <p:nvSpPr>
          <p:cNvPr id="26" name="Text 23"/>
          <p:cNvSpPr txBox="1"/>
          <p:nvPr/>
        </p:nvSpPr>
        <p:spPr>
          <a:xfrm>
            <a:off x="9235440"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27" name="Text 24"/>
          <p:cNvSpPr txBox="1"/>
          <p:nvPr/>
        </p:nvSpPr>
        <p:spPr>
          <a:xfrm>
            <a:off x="9500616"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تَسْكُنُ مَعَ جَدَّتِي.</a:t>
            </a:r>
            <a:endParaRPr lang="ar-SA" sz="1800" dirty="0"/>
          </a:p>
        </p:txBody>
      </p:sp>
      <p:sp>
        <p:nvSpPr>
          <p:cNvPr id="28" name="Shape 25"/>
          <p:cNvSpPr/>
          <p:nvPr/>
        </p:nvSpPr>
        <p:spPr>
          <a:xfrm>
            <a:off x="6624828" y="2103120"/>
            <a:ext cx="2414016" cy="512064"/>
          </a:xfrm>
          <a:prstGeom prst="roundRect">
            <a:avLst>
              <a:gd name="adj" fmla="val 10714"/>
            </a:avLst>
          </a:prstGeom>
          <a:solidFill>
            <a:srgbClr val="EEF3FA"/>
          </a:solidFill>
          <a:ln w="9525">
            <a:solidFill>
              <a:srgbClr val="C9D6EA"/>
            </a:solidFill>
            <a:prstDash val="solid"/>
          </a:ln>
        </p:spPr>
      </p:sp>
      <p:sp>
        <p:nvSpPr>
          <p:cNvPr id="29" name="Text 26"/>
          <p:cNvSpPr txBox="1"/>
          <p:nvPr/>
        </p:nvSpPr>
        <p:spPr>
          <a:xfrm>
            <a:off x="6679692"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0" name="Text 27"/>
          <p:cNvSpPr txBox="1"/>
          <p:nvPr/>
        </p:nvSpPr>
        <p:spPr>
          <a:xfrm>
            <a:off x="6944868"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هِيَ</a:t>
            </a:r>
            <a:endParaRPr lang="ar-SA" sz="1800" dirty="0"/>
          </a:p>
        </p:txBody>
      </p:sp>
      <p:sp>
        <p:nvSpPr>
          <p:cNvPr id="31" name="Shape 28"/>
          <p:cNvSpPr/>
          <p:nvPr/>
        </p:nvSpPr>
        <p:spPr>
          <a:xfrm>
            <a:off x="6624828" y="2670048"/>
            <a:ext cx="2414016" cy="512064"/>
          </a:xfrm>
          <a:prstGeom prst="roundRect">
            <a:avLst>
              <a:gd name="adj" fmla="val 10714"/>
            </a:avLst>
          </a:prstGeom>
          <a:solidFill>
            <a:srgbClr val="EEF3FA"/>
          </a:solidFill>
          <a:ln w="9525">
            <a:solidFill>
              <a:srgbClr val="C9D6EA"/>
            </a:solidFill>
            <a:prstDash val="solid"/>
          </a:ln>
        </p:spPr>
      </p:sp>
      <p:sp>
        <p:nvSpPr>
          <p:cNvPr id="32" name="Text 29"/>
          <p:cNvSpPr txBox="1"/>
          <p:nvPr/>
        </p:nvSpPr>
        <p:spPr>
          <a:xfrm>
            <a:off x="6679692"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3" name="Text 30"/>
          <p:cNvSpPr txBox="1"/>
          <p:nvPr/>
        </p:nvSpPr>
        <p:spPr>
          <a:xfrm>
            <a:off x="6944868"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هُوَ</a:t>
            </a:r>
            <a:endParaRPr lang="ar-SA" sz="1800" dirty="0"/>
          </a:p>
        </p:txBody>
      </p:sp>
      <p:sp>
        <p:nvSpPr>
          <p:cNvPr id="34" name="Shape 31"/>
          <p:cNvSpPr/>
          <p:nvPr/>
        </p:nvSpPr>
        <p:spPr>
          <a:xfrm>
            <a:off x="4069080" y="2103120"/>
            <a:ext cx="2414016" cy="512064"/>
          </a:xfrm>
          <a:prstGeom prst="roundRect">
            <a:avLst>
              <a:gd name="adj" fmla="val 10714"/>
            </a:avLst>
          </a:prstGeom>
          <a:solidFill>
            <a:srgbClr val="EEF3FA"/>
          </a:solidFill>
          <a:ln w="9525">
            <a:solidFill>
              <a:srgbClr val="C9D6EA"/>
            </a:solidFill>
            <a:prstDash val="solid"/>
          </a:ln>
        </p:spPr>
      </p:sp>
      <p:sp>
        <p:nvSpPr>
          <p:cNvPr id="35" name="Text 32"/>
          <p:cNvSpPr txBox="1"/>
          <p:nvPr/>
        </p:nvSpPr>
        <p:spPr>
          <a:xfrm>
            <a:off x="4123944"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6" name="Text 33"/>
          <p:cNvSpPr txBox="1"/>
          <p:nvPr/>
        </p:nvSpPr>
        <p:spPr>
          <a:xfrm>
            <a:off x="4389120"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هَادِئَةٌ وَلَطِيفَةٌ.</a:t>
            </a:r>
            <a:endParaRPr lang="ar-SA" sz="1800" dirty="0"/>
          </a:p>
        </p:txBody>
      </p:sp>
      <p:sp>
        <p:nvSpPr>
          <p:cNvPr id="37" name="Shape 34"/>
          <p:cNvSpPr/>
          <p:nvPr/>
        </p:nvSpPr>
        <p:spPr>
          <a:xfrm>
            <a:off x="4069080" y="2670048"/>
            <a:ext cx="2414016" cy="512064"/>
          </a:xfrm>
          <a:prstGeom prst="roundRect">
            <a:avLst>
              <a:gd name="adj" fmla="val 10714"/>
            </a:avLst>
          </a:prstGeom>
          <a:solidFill>
            <a:srgbClr val="EEF3FA"/>
          </a:solidFill>
          <a:ln w="9525">
            <a:solidFill>
              <a:srgbClr val="C9D6EA"/>
            </a:solidFill>
            <a:prstDash val="solid"/>
          </a:ln>
        </p:spPr>
      </p:sp>
      <p:sp>
        <p:nvSpPr>
          <p:cNvPr id="38" name="Text 35"/>
          <p:cNvSpPr txBox="1"/>
          <p:nvPr/>
        </p:nvSpPr>
        <p:spPr>
          <a:xfrm>
            <a:off x="4123944"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9" name="Text 36"/>
          <p:cNvSpPr txBox="1"/>
          <p:nvPr/>
        </p:nvSpPr>
        <p:spPr>
          <a:xfrm>
            <a:off x="4389120"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هَادِئٌ وَلَطِيفٌ.</a:t>
            </a:r>
            <a:endParaRPr lang="ar-SA" sz="1800" dirty="0"/>
          </a:p>
        </p:txBody>
      </p:sp>
      <p:sp>
        <p:nvSpPr>
          <p:cNvPr id="40" name="Shape 37"/>
          <p:cNvSpPr/>
          <p:nvPr/>
        </p:nvSpPr>
        <p:spPr>
          <a:xfrm>
            <a:off x="457200" y="3392424"/>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594360" y="3529584"/>
            <a:ext cx="365760" cy="365760"/>
          </a:xfrm>
          <a:prstGeom prst="ellipse">
            <a:avLst/>
          </a:prstGeom>
          <a:solidFill>
            <a:srgbClr val="2F6FB0"/>
          </a:solidFill>
          <a:ln w="12700">
            <a:solidFill>
              <a:srgbClr val="2F6FB0"/>
            </a:solidFill>
            <a:prstDash val="solid"/>
          </a:ln>
        </p:spPr>
      </p:sp>
      <p:sp>
        <p:nvSpPr>
          <p:cNvPr id="42" name="Text 39"/>
          <p:cNvSpPr txBox="1"/>
          <p:nvPr/>
        </p:nvSpPr>
        <p:spPr>
          <a:xfrm>
            <a:off x="594360" y="352958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43" name="Text 40"/>
          <p:cNvSpPr txBox="1"/>
          <p:nvPr/>
        </p:nvSpPr>
        <p:spPr>
          <a:xfrm>
            <a:off x="1051560" y="3502152"/>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Our flat is small, but it is comfortable.</a:t>
            </a:r>
            <a:endParaRPr lang="en-US" sz="1400" dirty="0"/>
          </a:p>
        </p:txBody>
      </p:sp>
      <p:sp>
        <p:nvSpPr>
          <p:cNvPr id="44" name="Shape 41"/>
          <p:cNvSpPr/>
          <p:nvPr/>
        </p:nvSpPr>
        <p:spPr>
          <a:xfrm>
            <a:off x="9180576" y="3483864"/>
            <a:ext cx="2414016" cy="512064"/>
          </a:xfrm>
          <a:prstGeom prst="roundRect">
            <a:avLst>
              <a:gd name="adj" fmla="val 10714"/>
            </a:avLst>
          </a:prstGeom>
          <a:solidFill>
            <a:srgbClr val="EEF3FA"/>
          </a:solidFill>
          <a:ln w="9525">
            <a:solidFill>
              <a:srgbClr val="C9D6EA"/>
            </a:solidFill>
            <a:prstDash val="solid"/>
          </a:ln>
        </p:spPr>
      </p:sp>
      <p:sp>
        <p:nvSpPr>
          <p:cNvPr id="45" name="Text 42"/>
          <p:cNvSpPr txBox="1"/>
          <p:nvPr/>
        </p:nvSpPr>
        <p:spPr>
          <a:xfrm>
            <a:off x="9235440"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46" name="Text 43"/>
          <p:cNvSpPr txBox="1"/>
          <p:nvPr/>
        </p:nvSpPr>
        <p:spPr>
          <a:xfrm>
            <a:off x="9500616"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شَقَّتُنَا</a:t>
            </a:r>
            <a:endParaRPr lang="ar-SA" sz="1800" dirty="0"/>
          </a:p>
        </p:txBody>
      </p:sp>
      <p:sp>
        <p:nvSpPr>
          <p:cNvPr id="47" name="Shape 44"/>
          <p:cNvSpPr/>
          <p:nvPr/>
        </p:nvSpPr>
        <p:spPr>
          <a:xfrm>
            <a:off x="9180576" y="4050792"/>
            <a:ext cx="2414016" cy="512064"/>
          </a:xfrm>
          <a:prstGeom prst="roundRect">
            <a:avLst>
              <a:gd name="adj" fmla="val 10714"/>
            </a:avLst>
          </a:prstGeom>
          <a:solidFill>
            <a:srgbClr val="EEF3FA"/>
          </a:solidFill>
          <a:ln w="9525">
            <a:solidFill>
              <a:srgbClr val="C9D6EA"/>
            </a:solidFill>
            <a:prstDash val="solid"/>
          </a:ln>
        </p:spPr>
      </p:sp>
      <p:sp>
        <p:nvSpPr>
          <p:cNvPr id="48" name="Text 45"/>
          <p:cNvSpPr txBox="1"/>
          <p:nvPr/>
        </p:nvSpPr>
        <p:spPr>
          <a:xfrm>
            <a:off x="9235440"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49" name="Text 46"/>
          <p:cNvSpPr txBox="1"/>
          <p:nvPr/>
        </p:nvSpPr>
        <p:spPr>
          <a:xfrm>
            <a:off x="9500616"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شَقَّتِي هُمْ</a:t>
            </a:r>
            <a:endParaRPr lang="ar-SA" sz="1800" dirty="0"/>
          </a:p>
        </p:txBody>
      </p:sp>
      <p:sp>
        <p:nvSpPr>
          <p:cNvPr id="50" name="Shape 47"/>
          <p:cNvSpPr/>
          <p:nvPr/>
        </p:nvSpPr>
        <p:spPr>
          <a:xfrm>
            <a:off x="6624828" y="3483864"/>
            <a:ext cx="2414016" cy="512064"/>
          </a:xfrm>
          <a:prstGeom prst="roundRect">
            <a:avLst>
              <a:gd name="adj" fmla="val 10714"/>
            </a:avLst>
          </a:prstGeom>
          <a:solidFill>
            <a:srgbClr val="EEF3FA"/>
          </a:solidFill>
          <a:ln w="9525">
            <a:solidFill>
              <a:srgbClr val="C9D6EA"/>
            </a:solidFill>
            <a:prstDash val="solid"/>
          </a:ln>
        </p:spPr>
      </p:sp>
      <p:sp>
        <p:nvSpPr>
          <p:cNvPr id="51" name="Text 48"/>
          <p:cNvSpPr txBox="1"/>
          <p:nvPr/>
        </p:nvSpPr>
        <p:spPr>
          <a:xfrm>
            <a:off x="6679692"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2" name="Text 49"/>
          <p:cNvSpPr txBox="1"/>
          <p:nvPr/>
        </p:nvSpPr>
        <p:spPr>
          <a:xfrm>
            <a:off x="6944868"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صَغِيرَةٌ،</a:t>
            </a:r>
            <a:endParaRPr lang="ar-SA" sz="1800" dirty="0"/>
          </a:p>
        </p:txBody>
      </p:sp>
      <p:sp>
        <p:nvSpPr>
          <p:cNvPr id="53" name="Shape 50"/>
          <p:cNvSpPr/>
          <p:nvPr/>
        </p:nvSpPr>
        <p:spPr>
          <a:xfrm>
            <a:off x="6624828" y="4050792"/>
            <a:ext cx="2414016" cy="512064"/>
          </a:xfrm>
          <a:prstGeom prst="roundRect">
            <a:avLst>
              <a:gd name="adj" fmla="val 10714"/>
            </a:avLst>
          </a:prstGeom>
          <a:solidFill>
            <a:srgbClr val="EEF3FA"/>
          </a:solidFill>
          <a:ln w="9525">
            <a:solidFill>
              <a:srgbClr val="C9D6EA"/>
            </a:solidFill>
            <a:prstDash val="solid"/>
          </a:ln>
        </p:spPr>
      </p:sp>
      <p:sp>
        <p:nvSpPr>
          <p:cNvPr id="54" name="Text 51"/>
          <p:cNvSpPr txBox="1"/>
          <p:nvPr/>
        </p:nvSpPr>
        <p:spPr>
          <a:xfrm>
            <a:off x="6679692"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55" name="Text 52"/>
          <p:cNvSpPr txBox="1"/>
          <p:nvPr/>
        </p:nvSpPr>
        <p:spPr>
          <a:xfrm>
            <a:off x="6944868"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صَغِيرٌ،</a:t>
            </a:r>
            <a:endParaRPr lang="ar-SA" sz="1800" dirty="0"/>
          </a:p>
        </p:txBody>
      </p:sp>
      <p:sp>
        <p:nvSpPr>
          <p:cNvPr id="56" name="Shape 53"/>
          <p:cNvSpPr/>
          <p:nvPr/>
        </p:nvSpPr>
        <p:spPr>
          <a:xfrm>
            <a:off x="4069080" y="3483864"/>
            <a:ext cx="2414016" cy="512064"/>
          </a:xfrm>
          <a:prstGeom prst="roundRect">
            <a:avLst>
              <a:gd name="adj" fmla="val 10714"/>
            </a:avLst>
          </a:prstGeom>
          <a:solidFill>
            <a:srgbClr val="EEF3FA"/>
          </a:solidFill>
          <a:ln w="9525">
            <a:solidFill>
              <a:srgbClr val="C9D6EA"/>
            </a:solidFill>
            <a:prstDash val="solid"/>
          </a:ln>
        </p:spPr>
      </p:sp>
      <p:sp>
        <p:nvSpPr>
          <p:cNvPr id="57" name="Text 54"/>
          <p:cNvSpPr txBox="1"/>
          <p:nvPr/>
        </p:nvSpPr>
        <p:spPr>
          <a:xfrm>
            <a:off x="4123944"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8" name="Text 55"/>
          <p:cNvSpPr txBox="1"/>
          <p:nvPr/>
        </p:nvSpPr>
        <p:spPr>
          <a:xfrm>
            <a:off x="4389120"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لٰكِنَّهَا مُرِيحَةٌ.</a:t>
            </a:r>
            <a:endParaRPr lang="ar-SA" sz="1800" dirty="0"/>
          </a:p>
        </p:txBody>
      </p:sp>
      <p:sp>
        <p:nvSpPr>
          <p:cNvPr id="59" name="Shape 56"/>
          <p:cNvSpPr/>
          <p:nvPr/>
        </p:nvSpPr>
        <p:spPr>
          <a:xfrm>
            <a:off x="4069080" y="4050792"/>
            <a:ext cx="2414016" cy="512064"/>
          </a:xfrm>
          <a:prstGeom prst="roundRect">
            <a:avLst>
              <a:gd name="adj" fmla="val 10714"/>
            </a:avLst>
          </a:prstGeom>
          <a:solidFill>
            <a:srgbClr val="EEF3FA"/>
          </a:solidFill>
          <a:ln w="9525">
            <a:solidFill>
              <a:srgbClr val="C9D6EA"/>
            </a:solidFill>
            <a:prstDash val="solid"/>
          </a:ln>
        </p:spPr>
      </p:sp>
      <p:sp>
        <p:nvSpPr>
          <p:cNvPr id="60" name="Text 57"/>
          <p:cNvSpPr txBox="1"/>
          <p:nvPr/>
        </p:nvSpPr>
        <p:spPr>
          <a:xfrm>
            <a:off x="4123944"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61" name="Text 58"/>
          <p:cNvSpPr txBox="1"/>
          <p:nvPr/>
        </p:nvSpPr>
        <p:spPr>
          <a:xfrm>
            <a:off x="4389120"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لِأَنَّهُ مُرِيحٌ.</a:t>
            </a:r>
            <a:endParaRPr lang="ar-SA" sz="1800" dirty="0"/>
          </a:p>
        </p:txBody>
      </p:sp>
      <p:sp>
        <p:nvSpPr>
          <p:cNvPr id="62" name="Shape 59"/>
          <p:cNvSpPr/>
          <p:nvPr/>
        </p:nvSpPr>
        <p:spPr>
          <a:xfrm>
            <a:off x="457200" y="4773168"/>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94360" y="4910328"/>
            <a:ext cx="365760" cy="365760"/>
          </a:xfrm>
          <a:prstGeom prst="ellipse">
            <a:avLst/>
          </a:prstGeom>
          <a:solidFill>
            <a:srgbClr val="2F6FB0"/>
          </a:solidFill>
          <a:ln w="12700">
            <a:solidFill>
              <a:srgbClr val="2F6FB0"/>
            </a:solidFill>
            <a:prstDash val="solid"/>
          </a:ln>
        </p:spPr>
      </p:sp>
      <p:sp>
        <p:nvSpPr>
          <p:cNvPr id="64" name="Text 61"/>
          <p:cNvSpPr txBox="1"/>
          <p:nvPr/>
        </p:nvSpPr>
        <p:spPr>
          <a:xfrm>
            <a:off x="59436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65" name="Text 62"/>
          <p:cNvSpPr txBox="1"/>
          <p:nvPr/>
        </p:nvSpPr>
        <p:spPr>
          <a:xfrm>
            <a:off x="1051560" y="4882896"/>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With whom? — With my cousins.</a:t>
            </a:r>
            <a:endParaRPr lang="en-US" sz="1400" dirty="0"/>
          </a:p>
        </p:txBody>
      </p:sp>
      <p:sp>
        <p:nvSpPr>
          <p:cNvPr id="66" name="Shape 63"/>
          <p:cNvSpPr/>
          <p:nvPr/>
        </p:nvSpPr>
        <p:spPr>
          <a:xfrm>
            <a:off x="9180576" y="4864608"/>
            <a:ext cx="2414016" cy="512064"/>
          </a:xfrm>
          <a:prstGeom prst="roundRect">
            <a:avLst>
              <a:gd name="adj" fmla="val 10714"/>
            </a:avLst>
          </a:prstGeom>
          <a:solidFill>
            <a:srgbClr val="EEF3FA"/>
          </a:solidFill>
          <a:ln w="9525">
            <a:solidFill>
              <a:srgbClr val="C9D6EA"/>
            </a:solidFill>
            <a:prstDash val="solid"/>
          </a:ln>
        </p:spPr>
      </p:sp>
      <p:sp>
        <p:nvSpPr>
          <p:cNvPr id="67" name="Text 64"/>
          <p:cNvSpPr txBox="1"/>
          <p:nvPr/>
        </p:nvSpPr>
        <p:spPr>
          <a:xfrm>
            <a:off x="9235440"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68" name="Text 65"/>
          <p:cNvSpPr txBox="1"/>
          <p:nvPr/>
        </p:nvSpPr>
        <p:spPr>
          <a:xfrm>
            <a:off x="9500616"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مَعَ مَنْ؟</a:t>
            </a:r>
            <a:endParaRPr lang="ar-SA" sz="1800" dirty="0"/>
          </a:p>
        </p:txBody>
      </p:sp>
      <p:sp>
        <p:nvSpPr>
          <p:cNvPr id="69" name="Shape 66"/>
          <p:cNvSpPr/>
          <p:nvPr/>
        </p:nvSpPr>
        <p:spPr>
          <a:xfrm>
            <a:off x="9180576" y="5431536"/>
            <a:ext cx="2414016" cy="512064"/>
          </a:xfrm>
          <a:prstGeom prst="roundRect">
            <a:avLst>
              <a:gd name="adj" fmla="val 10714"/>
            </a:avLst>
          </a:prstGeom>
          <a:solidFill>
            <a:srgbClr val="EEF3FA"/>
          </a:solidFill>
          <a:ln w="9525">
            <a:solidFill>
              <a:srgbClr val="C9D6EA"/>
            </a:solidFill>
            <a:prstDash val="solid"/>
          </a:ln>
        </p:spPr>
      </p:sp>
      <p:sp>
        <p:nvSpPr>
          <p:cNvPr id="70" name="Text 67"/>
          <p:cNvSpPr txBox="1"/>
          <p:nvPr/>
        </p:nvSpPr>
        <p:spPr>
          <a:xfrm>
            <a:off x="9235440"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1" name="Text 68"/>
          <p:cNvSpPr txBox="1"/>
          <p:nvPr/>
        </p:nvSpPr>
        <p:spPr>
          <a:xfrm>
            <a:off x="9500616"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مَنْ مَعَ؟</a:t>
            </a:r>
            <a:endParaRPr lang="ar-SA" sz="1800" dirty="0"/>
          </a:p>
        </p:txBody>
      </p:sp>
      <p:sp>
        <p:nvSpPr>
          <p:cNvPr id="72" name="Shape 69"/>
          <p:cNvSpPr/>
          <p:nvPr/>
        </p:nvSpPr>
        <p:spPr>
          <a:xfrm>
            <a:off x="6624828" y="4864608"/>
            <a:ext cx="2414016" cy="512064"/>
          </a:xfrm>
          <a:prstGeom prst="roundRect">
            <a:avLst>
              <a:gd name="adj" fmla="val 10714"/>
            </a:avLst>
          </a:prstGeom>
          <a:solidFill>
            <a:srgbClr val="EEF3FA"/>
          </a:solidFill>
          <a:ln w="9525">
            <a:solidFill>
              <a:srgbClr val="C9D6EA"/>
            </a:solidFill>
            <a:prstDash val="solid"/>
          </a:ln>
        </p:spPr>
      </p:sp>
      <p:sp>
        <p:nvSpPr>
          <p:cNvPr id="73" name="Text 70"/>
          <p:cNvSpPr txBox="1"/>
          <p:nvPr/>
        </p:nvSpPr>
        <p:spPr>
          <a:xfrm>
            <a:off x="6679692"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74" name="Text 71"/>
          <p:cNvSpPr txBox="1"/>
          <p:nvPr/>
        </p:nvSpPr>
        <p:spPr>
          <a:xfrm>
            <a:off x="6944868" y="4864608"/>
            <a:ext cx="2002536" cy="512064"/>
          </a:xfrm>
          <a:prstGeom prst="rect">
            <a:avLst/>
          </a:prstGeom>
          <a:noFill/>
          <a:ln/>
        </p:spPr>
        <p:txBody>
          <a:bodyPr wrap="square" lIns="0" tIns="0" rIns="0" bIns="0" rtlCol="0" anchor="ctr"/>
          <a:lstStyle/>
          <a:p>
            <a:pPr algn="l" indent="0" marL="0">
              <a:buNone/>
            </a:pPr>
            <a:r>
              <a:rPr lang="en-US" sz="1800" dirty="0">
                <a:solidFill>
                  <a:srgbClr val="1F2A37"/>
                </a:solidFill>
                <a:latin typeface="Calibri" pitchFamily="34" charset="0"/>
                <a:cs typeface="Amiri" pitchFamily="2" charset="-78"/>
              </a:rPr>
              <a:t>—</a:t>
            </a:r>
            <a:endParaRPr lang="en-US" sz="1800" dirty="0"/>
          </a:p>
        </p:txBody>
      </p:sp>
      <p:sp>
        <p:nvSpPr>
          <p:cNvPr id="75" name="Shape 72"/>
          <p:cNvSpPr/>
          <p:nvPr/>
        </p:nvSpPr>
        <p:spPr>
          <a:xfrm>
            <a:off x="6624828" y="5431536"/>
            <a:ext cx="2414016" cy="512064"/>
          </a:xfrm>
          <a:prstGeom prst="roundRect">
            <a:avLst>
              <a:gd name="adj" fmla="val 10714"/>
            </a:avLst>
          </a:prstGeom>
          <a:solidFill>
            <a:srgbClr val="EEF3FA"/>
          </a:solidFill>
          <a:ln w="9525">
            <a:solidFill>
              <a:srgbClr val="C9D6EA"/>
            </a:solidFill>
            <a:prstDash val="solid"/>
          </a:ln>
        </p:spPr>
      </p:sp>
      <p:sp>
        <p:nvSpPr>
          <p:cNvPr id="76" name="Text 73"/>
          <p:cNvSpPr txBox="1"/>
          <p:nvPr/>
        </p:nvSpPr>
        <p:spPr>
          <a:xfrm>
            <a:off x="6679692"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7" name="Text 74"/>
          <p:cNvSpPr txBox="1"/>
          <p:nvPr/>
        </p:nvSpPr>
        <p:spPr>
          <a:xfrm>
            <a:off x="6944868" y="5431536"/>
            <a:ext cx="2002536" cy="512064"/>
          </a:xfrm>
          <a:prstGeom prst="rect">
            <a:avLst/>
          </a:prstGeom>
          <a:noFill/>
          <a:ln/>
        </p:spPr>
        <p:txBody>
          <a:bodyPr wrap="square" lIns="0" tIns="0" rIns="0" bIns="0" rtlCol="0" anchor="ctr"/>
          <a:lstStyle/>
          <a:p>
            <a:pPr algn="l" indent="0" marL="0">
              <a:buNone/>
            </a:pPr>
            <a:r>
              <a:rPr lang="en-US" sz="1800" dirty="0">
                <a:solidFill>
                  <a:srgbClr val="1F2A37"/>
                </a:solidFill>
                <a:latin typeface="Calibri" pitchFamily="34" charset="0"/>
                <a:cs typeface="Amiri" pitchFamily="2" charset="-78"/>
              </a:rPr>
              <a:t>—</a:t>
            </a:r>
            <a:endParaRPr lang="en-US" sz="1800" dirty="0"/>
          </a:p>
        </p:txBody>
      </p:sp>
      <p:sp>
        <p:nvSpPr>
          <p:cNvPr id="78" name="Shape 75"/>
          <p:cNvSpPr/>
          <p:nvPr/>
        </p:nvSpPr>
        <p:spPr>
          <a:xfrm>
            <a:off x="4069080" y="4864608"/>
            <a:ext cx="2414016" cy="512064"/>
          </a:xfrm>
          <a:prstGeom prst="roundRect">
            <a:avLst>
              <a:gd name="adj" fmla="val 10714"/>
            </a:avLst>
          </a:prstGeom>
          <a:solidFill>
            <a:srgbClr val="EEF3FA"/>
          </a:solidFill>
          <a:ln w="9525">
            <a:solidFill>
              <a:srgbClr val="C9D6EA"/>
            </a:solidFill>
            <a:prstDash val="solid"/>
          </a:ln>
        </p:spPr>
      </p:sp>
      <p:sp>
        <p:nvSpPr>
          <p:cNvPr id="79" name="Text 76"/>
          <p:cNvSpPr txBox="1"/>
          <p:nvPr/>
        </p:nvSpPr>
        <p:spPr>
          <a:xfrm>
            <a:off x="4123944"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80" name="Text 77"/>
          <p:cNvSpPr txBox="1"/>
          <p:nvPr/>
        </p:nvSpPr>
        <p:spPr>
          <a:xfrm>
            <a:off x="4389120"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مَعَ أَبْنَاءِ عَمِّي.</a:t>
            </a:r>
            <a:endParaRPr lang="ar-SA" sz="1800" dirty="0"/>
          </a:p>
        </p:txBody>
      </p:sp>
      <p:sp>
        <p:nvSpPr>
          <p:cNvPr id="81" name="Shape 78"/>
          <p:cNvSpPr/>
          <p:nvPr/>
        </p:nvSpPr>
        <p:spPr>
          <a:xfrm>
            <a:off x="4069080" y="5431536"/>
            <a:ext cx="2414016" cy="512064"/>
          </a:xfrm>
          <a:prstGeom prst="roundRect">
            <a:avLst>
              <a:gd name="adj" fmla="val 10714"/>
            </a:avLst>
          </a:prstGeom>
          <a:solidFill>
            <a:srgbClr val="EEF3FA"/>
          </a:solidFill>
          <a:ln w="9525">
            <a:solidFill>
              <a:srgbClr val="C9D6EA"/>
            </a:solidFill>
            <a:prstDash val="solid"/>
          </a:ln>
        </p:spPr>
      </p:sp>
      <p:sp>
        <p:nvSpPr>
          <p:cNvPr id="82" name="Text 79"/>
          <p:cNvSpPr txBox="1"/>
          <p:nvPr/>
        </p:nvSpPr>
        <p:spPr>
          <a:xfrm>
            <a:off x="4123944"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83" name="Text 80"/>
          <p:cNvSpPr txBox="1"/>
          <p:nvPr/>
        </p:nvSpPr>
        <p:spPr>
          <a:xfrm>
            <a:off x="4389120"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أَبْنَاءُ عَمِّي مَعَ.</a:t>
            </a:r>
            <a:endParaRPr lang="ar-SA" sz="180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22</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F3-L10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6 · CHECK YOUR SENTENCES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builder: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F3-L10 · practice room</a:t>
            </a:r>
            <a:endParaRPr lang="en-US" sz="850" dirty="0"/>
          </a:p>
        </p:txBody>
      </p:sp>
      <p:sp>
        <p:nvSpPr>
          <p:cNvPr id="15" name="Shape 12"/>
          <p:cNvSpPr/>
          <p:nvPr/>
        </p:nvSpPr>
        <p:spPr>
          <a:xfrm>
            <a:off x="457200" y="1810512"/>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47672"/>
            <a:ext cx="365760" cy="365760"/>
          </a:xfrm>
          <a:prstGeom prst="ellipse">
            <a:avLst/>
          </a:prstGeom>
          <a:solidFill>
            <a:srgbClr val="2E8B57"/>
          </a:solidFill>
          <a:ln w="12700">
            <a:solidFill>
              <a:srgbClr val="2E8B57"/>
            </a:solidFill>
            <a:prstDash val="solid"/>
          </a:ln>
        </p:spPr>
      </p:sp>
      <p:sp>
        <p:nvSpPr>
          <p:cNvPr id="17" name="Text 14"/>
          <p:cNvSpPr txBox="1"/>
          <p:nvPr/>
        </p:nvSpPr>
        <p:spPr>
          <a:xfrm>
            <a:off x="640080" y="1947672"/>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Text 15"/>
          <p:cNvSpPr txBox="1"/>
          <p:nvPr/>
        </p:nvSpPr>
        <p:spPr>
          <a:xfrm>
            <a:off x="1143000" y="1901952"/>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I live with my grandmother. She is calm and kind.</a:t>
            </a:r>
            <a:endParaRPr lang="en-US" sz="1300" dirty="0"/>
          </a:p>
        </p:txBody>
      </p:sp>
      <p:sp>
        <p:nvSpPr>
          <p:cNvPr id="19" name="Text 16"/>
          <p:cNvSpPr txBox="1"/>
          <p:nvPr/>
        </p:nvSpPr>
        <p:spPr>
          <a:xfrm>
            <a:off x="1143000" y="2359152"/>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0" name="Text 17"/>
          <p:cNvSpPr txBox="1"/>
          <p:nvPr/>
        </p:nvSpPr>
        <p:spPr>
          <a:xfrm>
            <a:off x="1143000" y="2633472"/>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 </a:t>
            </a:r>
            <a:pPr algn="l" indent="0" marL="0">
              <a:buNone/>
            </a:pPr>
            <a:r>
              <a:rPr lang="ar-SA" altLang="en-US" sz="1350" dirty="0">
                <a:solidFill>
                  <a:srgbClr val="5A6472"/>
                </a:solidFill>
                <a:latin typeface="Amiri" pitchFamily="2" charset="-78"/>
                <a:ea typeface="Amiri" pitchFamily="2" charset="-78"/>
                <a:cs typeface="Amiri" pitchFamily="2" charset="-78"/>
              </a:rPr>
              <a:t>أَسْكُنُ</a:t>
            </a:r>
            <a:pPr algn="l" indent="0" marL="0">
              <a:buNone/>
            </a:pPr>
            <a:r>
              <a:rPr lang="en-US" sz="1050" i="1" dirty="0">
                <a:solidFill>
                  <a:srgbClr val="5A6472"/>
                </a:solidFill>
                <a:latin typeface="Calibri" pitchFamily="34" charset="0"/>
                <a:cs typeface="Amiri" pitchFamily="2" charset="-78"/>
              </a:rPr>
              <a:t>; grandmother → </a:t>
            </a:r>
            <a:pPr algn="l" indent="0" marL="0">
              <a:buNone/>
            </a:pPr>
            <a:r>
              <a:rPr lang="ar-SA" altLang="en-US" sz="1350" dirty="0">
                <a:solidFill>
                  <a:srgbClr val="5A6472"/>
                </a:solidFill>
                <a:latin typeface="Amiri" pitchFamily="2" charset="-78"/>
                <a:ea typeface="Amiri" pitchFamily="2" charset="-78"/>
                <a:cs typeface="Amiri" pitchFamily="2" charset="-78"/>
              </a:rPr>
              <a:t>هِيَ</a:t>
            </a:r>
            <a:pPr algn="l" indent="0" marL="0">
              <a:buNone/>
            </a:pPr>
            <a:r>
              <a:rPr lang="en-US" sz="1050" i="1" dirty="0">
                <a:solidFill>
                  <a:srgbClr val="5A6472"/>
                </a:solidFill>
                <a:latin typeface="Calibri" pitchFamily="34" charset="0"/>
                <a:cs typeface="Amiri" pitchFamily="2" charset="-78"/>
              </a:rPr>
              <a:t> + feminine adjectives.</a:t>
            </a:r>
            <a:endParaRPr lang="en-US" sz="1050" dirty="0"/>
          </a:p>
        </p:txBody>
      </p:sp>
      <p:sp>
        <p:nvSpPr>
          <p:cNvPr id="21" name="Text 18"/>
          <p:cNvSpPr txBox="1"/>
          <p:nvPr/>
        </p:nvSpPr>
        <p:spPr>
          <a:xfrm>
            <a:off x="4572000" y="1901952"/>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أَسْكُنُ مَعَ جَدَّتِي. هِيَ هَادِئَةٌ وَلَطِيفَةٌ.</a:t>
            </a:r>
            <a:endParaRPr lang="ar-SA" sz="2800" dirty="0"/>
          </a:p>
        </p:txBody>
      </p:sp>
      <p:sp>
        <p:nvSpPr>
          <p:cNvPr id="22" name="Shape 19"/>
          <p:cNvSpPr/>
          <p:nvPr/>
        </p:nvSpPr>
        <p:spPr>
          <a:xfrm>
            <a:off x="457200" y="3291840"/>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640080" y="3429000"/>
            <a:ext cx="365760" cy="365760"/>
          </a:xfrm>
          <a:prstGeom prst="ellipse">
            <a:avLst/>
          </a:prstGeom>
          <a:solidFill>
            <a:srgbClr val="2E8B57"/>
          </a:solidFill>
          <a:ln w="12700">
            <a:solidFill>
              <a:srgbClr val="2E8B57"/>
            </a:solidFill>
            <a:prstDash val="solid"/>
          </a:ln>
        </p:spPr>
      </p:sp>
      <p:sp>
        <p:nvSpPr>
          <p:cNvPr id="24" name="Text 21"/>
          <p:cNvSpPr txBox="1"/>
          <p:nvPr/>
        </p:nvSpPr>
        <p:spPr>
          <a:xfrm>
            <a:off x="640080" y="342900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5" name="Text 22"/>
          <p:cNvSpPr txBox="1"/>
          <p:nvPr/>
        </p:nvSpPr>
        <p:spPr>
          <a:xfrm>
            <a:off x="1143000" y="3383280"/>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Our flat is small, but it is comfortable.</a:t>
            </a:r>
            <a:endParaRPr lang="en-US" sz="1300" dirty="0"/>
          </a:p>
        </p:txBody>
      </p:sp>
      <p:sp>
        <p:nvSpPr>
          <p:cNvPr id="26" name="Text 23"/>
          <p:cNvSpPr txBox="1"/>
          <p:nvPr/>
        </p:nvSpPr>
        <p:spPr>
          <a:xfrm>
            <a:off x="1143000" y="3840480"/>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7" name="Text 24"/>
          <p:cNvSpPr txBox="1"/>
          <p:nvPr/>
        </p:nvSpPr>
        <p:spPr>
          <a:xfrm>
            <a:off x="1143000" y="4114800"/>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Flat (f.) → </a:t>
            </a:r>
            <a:pPr algn="l" indent="0" marL="0">
              <a:buNone/>
            </a:pPr>
            <a:r>
              <a:rPr lang="ar-SA" altLang="en-US" sz="1350" dirty="0">
                <a:solidFill>
                  <a:srgbClr val="5A6472"/>
                </a:solidFill>
                <a:latin typeface="Amiri" pitchFamily="2" charset="-78"/>
                <a:ea typeface="Amiri" pitchFamily="2" charset="-78"/>
                <a:cs typeface="Amiri" pitchFamily="2" charset="-78"/>
              </a:rPr>
              <a:t>صَغِيرَةٌ … لٰكِنَّهَا مُرِيحَةٌ</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28" name="Text 25"/>
          <p:cNvSpPr txBox="1"/>
          <p:nvPr/>
        </p:nvSpPr>
        <p:spPr>
          <a:xfrm>
            <a:off x="4572000" y="3383280"/>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شَقَّتُنَا صَغِيرَةٌ، لٰكِنَّهَا مُرِيحَةٌ.</a:t>
            </a:r>
            <a:endParaRPr lang="ar-SA" sz="2800" dirty="0"/>
          </a:p>
        </p:txBody>
      </p:sp>
      <p:sp>
        <p:nvSpPr>
          <p:cNvPr id="29" name="Shape 26"/>
          <p:cNvSpPr/>
          <p:nvPr/>
        </p:nvSpPr>
        <p:spPr>
          <a:xfrm>
            <a:off x="457200" y="4773168"/>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640080" y="4910328"/>
            <a:ext cx="365760" cy="365760"/>
          </a:xfrm>
          <a:prstGeom prst="ellipse">
            <a:avLst/>
          </a:prstGeom>
          <a:solidFill>
            <a:srgbClr val="2E8B57"/>
          </a:solidFill>
          <a:ln w="12700">
            <a:solidFill>
              <a:srgbClr val="2E8B57"/>
            </a:solidFill>
            <a:prstDash val="solid"/>
          </a:ln>
        </p:spPr>
      </p:sp>
      <p:sp>
        <p:nvSpPr>
          <p:cNvPr id="31" name="Text 28"/>
          <p:cNvSpPr txBox="1"/>
          <p:nvPr/>
        </p:nvSpPr>
        <p:spPr>
          <a:xfrm>
            <a:off x="64008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2" name="Text 29"/>
          <p:cNvSpPr txBox="1"/>
          <p:nvPr/>
        </p:nvSpPr>
        <p:spPr>
          <a:xfrm>
            <a:off x="1143000" y="4864608"/>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With whom? — With my cousins.</a:t>
            </a:r>
            <a:endParaRPr lang="en-US" sz="1300" dirty="0"/>
          </a:p>
        </p:txBody>
      </p:sp>
      <p:sp>
        <p:nvSpPr>
          <p:cNvPr id="33" name="Text 30"/>
          <p:cNvSpPr txBox="1"/>
          <p:nvPr/>
        </p:nvSpPr>
        <p:spPr>
          <a:xfrm>
            <a:off x="1143000" y="5321808"/>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34" name="Text 31"/>
          <p:cNvSpPr txBox="1"/>
          <p:nvPr/>
        </p:nvSpPr>
        <p:spPr>
          <a:xfrm>
            <a:off x="1143000" y="5596128"/>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Answer the question word: </a:t>
            </a:r>
            <a:pPr algn="l" indent="0" marL="0">
              <a:buNone/>
            </a:pPr>
            <a:r>
              <a:rPr lang="ar-SA" altLang="en-US" sz="1350" dirty="0">
                <a:solidFill>
                  <a:srgbClr val="5A6472"/>
                </a:solidFill>
                <a:latin typeface="Amiri" pitchFamily="2" charset="-78"/>
                <a:ea typeface="Amiri" pitchFamily="2" charset="-78"/>
                <a:cs typeface="Amiri" pitchFamily="2" charset="-78"/>
              </a:rPr>
              <a:t>مَعَ مَنْ؟</a:t>
            </a:r>
            <a:pPr algn="l" indent="0" marL="0">
              <a:buNone/>
            </a:pPr>
            <a:r>
              <a:rPr lang="en-US" sz="1050" i="1" dirty="0">
                <a:solidFill>
                  <a:srgbClr val="5A6472"/>
                </a:solidFill>
                <a:latin typeface="Calibri" pitchFamily="34" charset="0"/>
                <a:cs typeface="Amiri" pitchFamily="2" charset="-78"/>
              </a:rPr>
              <a:t> → </a:t>
            </a:r>
            <a:pPr algn="l" indent="0" marL="0">
              <a:buNone/>
            </a:pPr>
            <a:r>
              <a:rPr lang="ar-SA" altLang="en-US" sz="1350" dirty="0">
                <a:solidFill>
                  <a:srgbClr val="5A6472"/>
                </a:solidFill>
                <a:latin typeface="Amiri" pitchFamily="2" charset="-78"/>
                <a:ea typeface="Amiri" pitchFamily="2" charset="-78"/>
                <a:cs typeface="Amiri" pitchFamily="2" charset="-78"/>
              </a:rPr>
              <a:t>مَعَ</a:t>
            </a:r>
            <a:pPr algn="l" indent="0" marL="0">
              <a:buNone/>
            </a:pPr>
            <a:r>
              <a:rPr lang="en-US" sz="1050" i="1" dirty="0">
                <a:solidFill>
                  <a:srgbClr val="5A6472"/>
                </a:solidFill>
                <a:latin typeface="Calibri" pitchFamily="34" charset="0"/>
                <a:cs typeface="Amiri" pitchFamily="2" charset="-78"/>
              </a:rPr>
              <a:t> + person.</a:t>
            </a:r>
            <a:endParaRPr lang="en-US" sz="1050" dirty="0"/>
          </a:p>
        </p:txBody>
      </p:sp>
      <p:sp>
        <p:nvSpPr>
          <p:cNvPr id="35" name="Text 32"/>
          <p:cNvSpPr txBox="1"/>
          <p:nvPr/>
        </p:nvSpPr>
        <p:spPr>
          <a:xfrm>
            <a:off x="4572000" y="4864608"/>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مَعَ مَنْ؟ — مَعَ أَبْنَاءِ عَمِّي.</a:t>
            </a:r>
            <a:endParaRPr lang="ar-SA" sz="28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22</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F3-L10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STEP 7 · SPOT AND FIX · MISTAKES STUDENTS OFTEN MAKE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Find the mistake, fix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F3-L10 · practice room</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كَمْ غُرْفَةً فِي بَيْتِكَ؟ — بَيْتِي جَمِيلٌ.</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Did it answer the question word?</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أَيْنَ تَسْكُنُ؟ — أَسْكُنُ مَعَ أُمِّي.</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ar-SA" altLang="en-US" sz="1700" dirty="0">
                <a:solidFill>
                  <a:srgbClr val="5A6472"/>
                </a:solidFill>
                <a:latin typeface="Amiri" pitchFamily="2" charset="-78"/>
                <a:ea typeface="Amiri" pitchFamily="2" charset="-78"/>
                <a:cs typeface="Amiri" pitchFamily="2" charset="-78"/>
              </a:rPr>
              <a:t>أَيْنَ</a:t>
            </a:r>
            <a:pPr algn="l" indent="0" marL="0">
              <a:buNone/>
            </a:pPr>
            <a:r>
              <a:rPr lang="en-US" sz="1300" i="1" dirty="0">
                <a:solidFill>
                  <a:srgbClr val="5A6472"/>
                </a:solidFill>
                <a:latin typeface="Calibri" pitchFamily="34" charset="0"/>
                <a:cs typeface="Amiri" pitchFamily="2" charset="-78"/>
              </a:rPr>
              <a:t> = where.</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لِمَاذَا تُحِبُّ حَيَّكَ؟ — نَعَمْ.</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ar-SA" altLang="en-US" sz="1700" dirty="0">
                <a:solidFill>
                  <a:srgbClr val="5A6472"/>
                </a:solidFill>
                <a:latin typeface="Amiri" pitchFamily="2" charset="-78"/>
                <a:ea typeface="Amiri" pitchFamily="2" charset="-78"/>
                <a:cs typeface="Amiri" pitchFamily="2" charset="-78"/>
              </a:rPr>
              <a:t>لِمَاذَا</a:t>
            </a:r>
            <a:pPr algn="l" indent="0" marL="0">
              <a:buNone/>
            </a:pPr>
            <a:r>
              <a:rPr lang="en-US" sz="1300" i="1" dirty="0">
                <a:solidFill>
                  <a:srgbClr val="5A6472"/>
                </a:solidFill>
                <a:latin typeface="Calibri" pitchFamily="34" charset="0"/>
                <a:cs typeface="Amiri" pitchFamily="2" charset="-78"/>
              </a:rPr>
              <a:t> = why.</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22</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F3-L10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7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Spot and fix: corrections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F3-L10 · practice room</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كَمْ غُرْفَةً فِي بَيْتِكَ؟ — بَيْتِي جَمِيلٌ.</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فِي بَيْتِي خَمْسُ غُرَفٍ.</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2" charset="-78"/>
                <a:ea typeface="Amiri" pitchFamily="2" charset="-78"/>
                <a:cs typeface="Amiri" pitchFamily="2" charset="-78"/>
              </a:rPr>
              <a:t>كَمْ</a:t>
            </a:r>
            <a:pPr algn="l" indent="0" marL="0">
              <a:buNone/>
            </a:pPr>
            <a:r>
              <a:rPr lang="en-US" sz="1150" b="1" dirty="0">
                <a:solidFill>
                  <a:srgbClr val="1B3B6F"/>
                </a:solidFill>
                <a:latin typeface="Calibri" pitchFamily="34" charset="0"/>
                <a:cs typeface="Amiri" pitchFamily="2" charset="-78"/>
              </a:rPr>
              <a:t> = how many → answer with a number.</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أَيْنَ تَسْكُنُ؟ — أَسْكُنُ مَعَ أُمِّي.</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أَسْكُنُ فِي مَانْشِسْتَرَ.</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2" charset="-78"/>
                <a:ea typeface="Amiri" pitchFamily="2" charset="-78"/>
                <a:cs typeface="Amiri" pitchFamily="2" charset="-78"/>
              </a:rPr>
              <a:t>أَيْنَ</a:t>
            </a:r>
            <a:pPr algn="l" indent="0" marL="0">
              <a:buNone/>
            </a:pPr>
            <a:r>
              <a:rPr lang="en-US" sz="1150" b="1" dirty="0">
                <a:solidFill>
                  <a:srgbClr val="1B3B6F"/>
                </a:solidFill>
                <a:latin typeface="Calibri" pitchFamily="34" charset="0"/>
                <a:cs typeface="Amiri" pitchFamily="2" charset="-78"/>
              </a:rPr>
              <a:t> → a place (</a:t>
            </a:r>
            <a:pPr algn="l" indent="0" marL="0">
              <a:buNone/>
            </a:pPr>
            <a:r>
              <a:rPr lang="ar-SA" altLang="en-US" sz="1500" b="1" dirty="0">
                <a:solidFill>
                  <a:srgbClr val="1B3B6F"/>
                </a:solidFill>
                <a:latin typeface="Amiri" pitchFamily="2" charset="-78"/>
                <a:ea typeface="Amiri" pitchFamily="2" charset="-78"/>
                <a:cs typeface="Amiri" pitchFamily="2" charset="-78"/>
              </a:rPr>
              <a:t>فِي</a:t>
            </a:r>
            <a:pPr algn="l" indent="0" marL="0">
              <a:buNone/>
            </a:pPr>
            <a:r>
              <a:rPr lang="en-US" sz="1150" b="1" dirty="0">
                <a:solidFill>
                  <a:srgbClr val="1B3B6F"/>
                </a:solidFill>
                <a:latin typeface="Calibri" pitchFamily="34" charset="0"/>
                <a:cs typeface="Amiri" pitchFamily="2" charset="-78"/>
              </a:rPr>
              <a:t> …), not a person.</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لِمَاذَا تُحِبُّ حَيَّكَ؟ — نَعَمْ.</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أُحِبُّهُ لِأَنَّهُ هَادِئٌ.</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2" charset="-78"/>
                <a:ea typeface="Amiri" pitchFamily="2" charset="-78"/>
                <a:cs typeface="Amiri" pitchFamily="2" charset="-78"/>
              </a:rPr>
              <a:t>لِمَاذَا</a:t>
            </a:r>
            <a:pPr algn="l" indent="0" marL="0">
              <a:buNone/>
            </a:pPr>
            <a:r>
              <a:rPr lang="en-US" sz="1150" b="1" dirty="0">
                <a:solidFill>
                  <a:srgbClr val="1B3B6F"/>
                </a:solidFill>
                <a:latin typeface="Calibri" pitchFamily="34" charset="0"/>
                <a:cs typeface="Amiri" pitchFamily="2" charset="-78"/>
              </a:rPr>
              <a:t> → a reason with </a:t>
            </a:r>
            <a:pPr algn="l" indent="0" marL="0">
              <a:buNone/>
            </a:pPr>
            <a:r>
              <a:rPr lang="ar-SA" altLang="en-US" sz="1500" b="1" dirty="0">
                <a:solidFill>
                  <a:srgbClr val="1B3B6F"/>
                </a:solidFill>
                <a:latin typeface="Amiri" pitchFamily="2" charset="-78"/>
                <a:ea typeface="Amiri" pitchFamily="2" charset="-78"/>
                <a:cs typeface="Amiri" pitchFamily="2" charset="-78"/>
              </a:rPr>
              <a:t>لِأَنَّ</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22</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F3-L10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WRITE YOUR TEXT · FRAMES IF YOU NEED THEM</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Your writing frames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F3-L10 · practice room</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 لٰكِنَّ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 but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نَقْضِي وَقْتًا مَعًا فِي ______ ، وَ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We spend time together in …, and …</a:t>
            </a:r>
            <a:endParaRPr lang="en-US" sz="1050" dirty="0"/>
          </a:p>
        </p:txBody>
      </p:sp>
      <p:sp>
        <p:nvSpPr>
          <p:cNvPr id="22" name="Shape 19"/>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5" name="Text 22"/>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عَائِلَتِي ______ أَشْخَاصٍ. ______ .</a:t>
            </a:r>
            <a:endParaRPr lang="ar-SA" sz="1800" dirty="0"/>
          </a:p>
        </p:txBody>
      </p:sp>
      <p:sp>
        <p:nvSpPr>
          <p:cNvPr id="26" name="Text 23"/>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There are … people in my family. …</a:t>
            </a:r>
            <a:endParaRPr lang="en-US" sz="1050" dirty="0"/>
          </a:p>
        </p:txBody>
      </p:sp>
      <p:sp>
        <p:nvSpPr>
          <p:cNvPr id="27" name="Text 24"/>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______ ، هُوَ / هِيَ ______ وَ ______ .</a:t>
            </a:r>
            <a:endParaRPr lang="ar-SA" sz="1800" dirty="0"/>
          </a:p>
        </p:txBody>
      </p:sp>
      <p:sp>
        <p:nvSpPr>
          <p:cNvPr id="28" name="Text 25"/>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My …: he / she is … and …</a:t>
            </a:r>
            <a:endParaRPr lang="en-US" sz="1050" dirty="0"/>
          </a:p>
        </p:txBody>
      </p:sp>
      <p:sp>
        <p:nvSpPr>
          <p:cNvPr id="29" name="Text 26"/>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نَسْكُنُ فِي ______ . فِيهِ / فِيهَا ______ .</a:t>
            </a:r>
            <a:endParaRPr lang="ar-SA" sz="1800" dirty="0"/>
          </a:p>
        </p:txBody>
      </p:sp>
      <p:sp>
        <p:nvSpPr>
          <p:cNvPr id="30" name="Text 27"/>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We live in … It has …</a:t>
            </a:r>
            <a:endParaRPr lang="en-US" sz="1050" dirty="0"/>
          </a:p>
        </p:txBody>
      </p:sp>
      <p:sp>
        <p:nvSpPr>
          <p:cNvPr id="31" name="Text 28"/>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أُحِبُّ بَيْتِي لِأَنَّهُ ______ .</a:t>
            </a:r>
            <a:endParaRPr lang="ar-SA" sz="1800" dirty="0"/>
          </a:p>
        </p:txBody>
      </p:sp>
      <p:sp>
        <p:nvSpPr>
          <p:cNvPr id="32" name="Text 29"/>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like my home because it …</a:t>
            </a:r>
            <a:endParaRPr lang="en-US" sz="1050" dirty="0"/>
          </a:p>
        </p:txBody>
      </p:sp>
      <p:sp>
        <p:nvSpPr>
          <p:cNvPr id="33" name="Shape 30"/>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Text 31"/>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5" name="Text 32"/>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مَنْ · مَعَ مَنْ  ·  أَيْنَ · كَمْ  ·  لِمَاذَا · صِفْ  ·  فِي عَائِلَتِي  ·  نَسْكُنُ فِي  ·  فِيهِ · فِيهَا  ·  لِأَنَّ  ·  لٰكِنَّ</a:t>
            </a:r>
            <a:endParaRPr lang="ar-SA" sz="16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22</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F3-L10 · Speaking + writing practice room</a:t>
            </a:r>
            <a:endParaRPr lang="en-US" sz="950" dirty="0"/>
          </a:p>
        </p:txBody>
      </p:sp>
      <p:sp>
        <p:nvSpPr>
          <p:cNvPr id="8" name="Shape 6"/>
          <p:cNvSpPr/>
          <p:nvPr/>
        </p:nvSpPr>
        <p:spPr>
          <a:xfrm>
            <a:off x="7219188" y="274320"/>
            <a:ext cx="1540764"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10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WRITE YOUR TEXT · ABOUT 40–60 WORDS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300" b="1" dirty="0">
                <a:solidFill>
                  <a:srgbClr val="1B3B6F"/>
                </a:solidFill>
                <a:latin typeface="Cambria" pitchFamily="34" charset="0"/>
                <a:cs typeface="Amiri" pitchFamily="2" charset="-78"/>
              </a:rPr>
              <a:t>My best spoken answers — written down</a:t>
            </a:r>
            <a:endParaRPr lang="en-US" sz="23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أَفْضَلُ أَجْوِبَتِي مَكْتُوبَةً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F3-L10 · practice room</a:t>
            </a:r>
            <a:endParaRPr lang="en-US" sz="850" dirty="0"/>
          </a:p>
        </p:txBody>
      </p:sp>
      <p:sp>
        <p:nvSpPr>
          <p:cNvPr id="15" name="Shape 12"/>
          <p:cNvSpPr/>
          <p:nvPr/>
        </p:nvSpPr>
        <p:spPr>
          <a:xfrm>
            <a:off x="457200" y="1810512"/>
            <a:ext cx="557784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828800" cy="292608"/>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640080" y="1938528"/>
            <a:ext cx="18288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WRITING · SHORT TEXT</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cs typeface="Amiri" pitchFamily="2" charset="-78"/>
              </a:rPr>
              <a:t>Write your answers to four questions from today (about 45–65 words), two sentences each: • </a:t>
            </a:r>
            <a:pPr algn="l" indent="0" marL="0">
              <a:buNone/>
            </a:pPr>
            <a:r>
              <a:rPr lang="ar-SA" altLang="en-US" sz="1750" b="1" dirty="0">
                <a:solidFill>
                  <a:srgbClr val="1F2A37"/>
                </a:solidFill>
                <a:latin typeface="Amiri" pitchFamily="2" charset="-78"/>
                <a:ea typeface="Amiri" pitchFamily="2" charset="-78"/>
                <a:cs typeface="Amiri" pitchFamily="2" charset="-78"/>
              </a:rPr>
              <a:t>كَمْ شَخْصًا فِي عَائِلَتِكَ؟</a:t>
            </a:r>
            <a:pPr algn="l" indent="0" marL="0">
              <a:buNone/>
            </a:pPr>
            <a:r>
              <a:rPr lang="en-US" sz="1350" b="1" dirty="0">
                <a:solidFill>
                  <a:srgbClr val="1F2A37"/>
                </a:solidFill>
                <a:latin typeface="Calibri" pitchFamily="34" charset="0"/>
                <a:cs typeface="Amiri" pitchFamily="2" charset="-78"/>
              </a:rPr>
              <a:t> • </a:t>
            </a:r>
            <a:pPr algn="l" indent="0" marL="0">
              <a:buNone/>
            </a:pPr>
            <a:r>
              <a:rPr lang="ar-SA" altLang="en-US" sz="1750" b="1" dirty="0">
                <a:solidFill>
                  <a:srgbClr val="1F2A37"/>
                </a:solidFill>
                <a:latin typeface="Amiri" pitchFamily="2" charset="-78"/>
                <a:ea typeface="Amiri" pitchFamily="2" charset="-78"/>
                <a:cs typeface="Amiri" pitchFamily="2" charset="-78"/>
              </a:rPr>
              <a:t>صِفْ شَخْصًا فِي عَائِلَتِكَ</a:t>
            </a:r>
            <a:pPr algn="l" indent="0" marL="0">
              <a:buNone/>
            </a:pPr>
            <a:r>
              <a:rPr lang="en-US" sz="1350" b="1" dirty="0">
                <a:solidFill>
                  <a:srgbClr val="1F2A37"/>
                </a:solidFill>
                <a:latin typeface="Calibri" pitchFamily="34" charset="0"/>
                <a:cs typeface="Amiri" pitchFamily="2" charset="-78"/>
              </a:rPr>
              <a:t>. • </a:t>
            </a:r>
            <a:pPr algn="l" indent="0" marL="0">
              <a:buNone/>
            </a:pPr>
            <a:r>
              <a:rPr lang="ar-SA" altLang="en-US" sz="1750" b="1" dirty="0">
                <a:solidFill>
                  <a:srgbClr val="1F2A37"/>
                </a:solidFill>
                <a:latin typeface="Amiri" pitchFamily="2" charset="-78"/>
                <a:ea typeface="Amiri" pitchFamily="2" charset="-78"/>
                <a:cs typeface="Amiri" pitchFamily="2" charset="-78"/>
              </a:rPr>
              <a:t>أَيْنَ تَسْكُنُ؟ صِفْ بَيْتَكَ</a:t>
            </a:r>
            <a:pPr algn="l" indent="0" marL="0">
              <a:buNone/>
            </a:pPr>
            <a:r>
              <a:rPr lang="en-US" sz="1350" b="1" dirty="0">
                <a:solidFill>
                  <a:srgbClr val="1F2A37"/>
                </a:solidFill>
                <a:latin typeface="Calibri" pitchFamily="34" charset="0"/>
                <a:cs typeface="Amiri" pitchFamily="2" charset="-78"/>
              </a:rPr>
              <a:t>. • </a:t>
            </a:r>
            <a:pPr algn="l" indent="0" marL="0">
              <a:buNone/>
            </a:pPr>
            <a:r>
              <a:rPr lang="ar-SA" altLang="en-US" sz="1750" b="1" dirty="0">
                <a:solidFill>
                  <a:srgbClr val="1F2A37"/>
                </a:solidFill>
                <a:latin typeface="Amiri" pitchFamily="2" charset="-78"/>
                <a:ea typeface="Amiri" pitchFamily="2" charset="-78"/>
                <a:cs typeface="Amiri" pitchFamily="2" charset="-78"/>
              </a:rPr>
              <a:t>هَلْ تُحِبُّ بَيْتَكَ؟ لِمَاذَا؟</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Every bullet point has at least one sentence.</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Full sentences with the right ending (I · my · he · she).</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Words from today’s word bank.</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At least one </a:t>
            </a:r>
            <a:pPr algn="l" indent="0" marL="0">
              <a:buNone/>
            </a:pPr>
            <a:r>
              <a:rPr lang="ar-SA" altLang="en-US" sz="1550" dirty="0">
                <a:solidFill>
                  <a:srgbClr val="1F2A37"/>
                </a:solidFill>
                <a:latin typeface="Amiri" pitchFamily="2" charset="-78"/>
                <a:ea typeface="Amiri" pitchFamily="2" charset="-78"/>
                <a:cs typeface="Amiri" pitchFamily="2" charset="-78"/>
              </a:rPr>
              <a:t>و</a:t>
            </a:r>
            <a:pPr algn="l" indent="0" marL="0">
              <a:buNone/>
            </a:pPr>
            <a:r>
              <a:rPr lang="en-US" sz="1200" dirty="0">
                <a:solidFill>
                  <a:srgbClr val="1F2A37"/>
                </a:solidFill>
                <a:latin typeface="Calibri" pitchFamily="34" charset="0"/>
                <a:cs typeface="Amiri" pitchFamily="2" charset="-78"/>
              </a:rPr>
              <a:t> and one </a:t>
            </a:r>
            <a:pPr algn="l" indent="0" marL="0">
              <a:buNone/>
            </a:pPr>
            <a:r>
              <a:rPr lang="ar-SA" altLang="en-US" sz="1550" dirty="0">
                <a:solidFill>
                  <a:srgbClr val="1F2A37"/>
                </a:solidFill>
                <a:latin typeface="Amiri" pitchFamily="2" charset="-78"/>
                <a:ea typeface="Amiri" pitchFamily="2" charset="-78"/>
                <a:cs typeface="Amiri" pitchFamily="2" charset="-78"/>
              </a:rPr>
              <a:t>لِأَنَّ</a:t>
            </a:r>
            <a:pPr algn="l" indent="0" marL="0">
              <a:buNone/>
            </a:pPr>
            <a:r>
              <a:rPr lang="en-US" sz="1200" dirty="0">
                <a:solidFill>
                  <a:srgbClr val="1F2A37"/>
                </a:solidFill>
                <a:latin typeface="Calibri" pitchFamily="34" charset="0"/>
                <a:cs typeface="Amiri" pitchFamily="2" charset="-78"/>
              </a:rPr>
              <a:t> (Develop).</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Buddy check, then fix one thing.</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USEFUL LANGUAGE</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عَائِلَتِي … أَشْخَاصٍ</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there are … people in my family</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 هُوَ / هِيَ … وَ…</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 he / she is … and …</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نَسْكُنُ فِي … ، فِيهِ / فِيهَا …</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we live in …, it has …</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أُحِبُّهُ لِأَنَّهُ … ، لٰكِنَّ …</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like it because …, but …</a:t>
            </a:r>
            <a:endParaRPr lang="en-US" sz="1050" dirty="0"/>
          </a:p>
        </p:txBody>
      </p:sp>
      <p:sp>
        <p:nvSpPr>
          <p:cNvPr id="34" name="Text 3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22</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F3-L10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BUDDY CHECK · SWAP AND READ YOUR BUDDY’S TEXT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Buddy check: five points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رَاجِعْ مَعَ زَمِيلِكَ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F3-L10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759952" y="1810512"/>
            <a:ext cx="28986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Line / example</a:t>
            </a:r>
            <a:endParaRPr lang="en-US" sz="1100" dirty="0"/>
          </a:p>
        </p:txBody>
      </p:sp>
      <p:sp>
        <p:nvSpPr>
          <p:cNvPr id="17" name="Text 14"/>
          <p:cNvSpPr txBox="1"/>
          <p:nvPr/>
        </p:nvSpPr>
        <p:spPr>
          <a:xfrm>
            <a:off x="78455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 / ✗</a:t>
            </a:r>
            <a:endParaRPr lang="en-US" sz="1100" dirty="0"/>
          </a:p>
        </p:txBody>
      </p:sp>
      <p:sp>
        <p:nvSpPr>
          <p:cNvPr id="18" name="Text 15"/>
          <p:cNvSpPr txBox="1"/>
          <p:nvPr/>
        </p:nvSpPr>
        <p:spPr>
          <a:xfrm>
            <a:off x="6565392" y="1810512"/>
            <a:ext cx="1133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Route</a:t>
            </a:r>
            <a:endParaRPr lang="en-US" sz="1100" dirty="0"/>
          </a:p>
        </p:txBody>
      </p:sp>
      <p:sp>
        <p:nvSpPr>
          <p:cNvPr id="19" name="Text 16"/>
          <p:cNvSpPr txBox="1"/>
          <p:nvPr/>
        </p:nvSpPr>
        <p:spPr>
          <a:xfrm>
            <a:off x="530352" y="1810512"/>
            <a:ext cx="5888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Did the writer …</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796528" y="2267712"/>
            <a:ext cx="2862072" cy="682142"/>
          </a:xfrm>
          <a:prstGeom prst="rect">
            <a:avLst/>
          </a:prstGeom>
          <a:noFill/>
          <a:ln/>
        </p:spPr>
        <p:txBody>
          <a:bodyPr wrap="square" lIns="0" tIns="0" rIns="0" bIns="0" rtlCol="0" anchor="ctr"/>
          <a:lstStyle/>
          <a:p>
            <a:pPr algn="l" indent="0" marL="0">
              <a:buNone/>
            </a:pPr>
            <a:endParaRPr lang="en-US" sz="1100" dirty="0"/>
          </a:p>
        </p:txBody>
      </p:sp>
      <p:sp>
        <p:nvSpPr>
          <p:cNvPr id="22" name="Text 19"/>
          <p:cNvSpPr txBox="1"/>
          <p:nvPr/>
        </p:nvSpPr>
        <p:spPr>
          <a:xfrm>
            <a:off x="7882128" y="2267712"/>
            <a:ext cx="731520" cy="682142"/>
          </a:xfrm>
          <a:prstGeom prst="rect">
            <a:avLst/>
          </a:prstGeom>
          <a:noFill/>
          <a:ln/>
        </p:spPr>
        <p:txBody>
          <a:bodyPr wrap="square" lIns="0" tIns="0" rIns="0" bIns="0" rtlCol="0" anchor="ctr"/>
          <a:lstStyle/>
          <a:p>
            <a:pPr algn="l" indent="0" marL="0">
              <a:buNone/>
            </a:pPr>
            <a:endParaRPr lang="en-US" sz="1100" dirty="0"/>
          </a:p>
        </p:txBody>
      </p:sp>
      <p:sp>
        <p:nvSpPr>
          <p:cNvPr id="23" name="Text 20"/>
          <p:cNvSpPr txBox="1"/>
          <p:nvPr/>
        </p:nvSpPr>
        <p:spPr>
          <a:xfrm>
            <a:off x="6601968" y="2267712"/>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24" name="Text 21"/>
          <p:cNvSpPr txBox="1"/>
          <p:nvPr/>
        </p:nvSpPr>
        <p:spPr>
          <a:xfrm>
            <a:off x="566928" y="2267712"/>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answer EVERY bullet point?</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796528" y="3004718"/>
            <a:ext cx="2862072" cy="682142"/>
          </a:xfrm>
          <a:prstGeom prst="rect">
            <a:avLst/>
          </a:prstGeom>
          <a:noFill/>
          <a:ln/>
        </p:spPr>
        <p:txBody>
          <a:bodyPr wrap="square" lIns="0" tIns="0" rIns="0" bIns="0" rtlCol="0" anchor="ctr"/>
          <a:lstStyle/>
          <a:p>
            <a:pPr algn="l" indent="0" marL="0">
              <a:buNone/>
            </a:pPr>
            <a:endParaRPr lang="en-US" sz="1100" dirty="0"/>
          </a:p>
        </p:txBody>
      </p:sp>
      <p:sp>
        <p:nvSpPr>
          <p:cNvPr id="29" name="Text 26"/>
          <p:cNvSpPr txBox="1"/>
          <p:nvPr/>
        </p:nvSpPr>
        <p:spPr>
          <a:xfrm>
            <a:off x="7882128" y="3004718"/>
            <a:ext cx="731520" cy="682142"/>
          </a:xfrm>
          <a:prstGeom prst="rect">
            <a:avLst/>
          </a:prstGeom>
          <a:noFill/>
          <a:ln/>
        </p:spPr>
        <p:txBody>
          <a:bodyPr wrap="square" lIns="0" tIns="0" rIns="0" bIns="0" rtlCol="0" anchor="ctr"/>
          <a:lstStyle/>
          <a:p>
            <a:pPr algn="l" indent="0" marL="0">
              <a:buNone/>
            </a:pPr>
            <a:endParaRPr lang="en-US" sz="1100" dirty="0"/>
          </a:p>
        </p:txBody>
      </p:sp>
      <p:sp>
        <p:nvSpPr>
          <p:cNvPr id="30" name="Text 27"/>
          <p:cNvSpPr txBox="1"/>
          <p:nvPr/>
        </p:nvSpPr>
        <p:spPr>
          <a:xfrm>
            <a:off x="6601968" y="300471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31" name="Text 28"/>
          <p:cNvSpPr txBox="1"/>
          <p:nvPr/>
        </p:nvSpPr>
        <p:spPr>
          <a:xfrm>
            <a:off x="566928" y="300471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answer the question word that was asked (</a:t>
            </a:r>
            <a:pPr algn="l" indent="0" marL="0">
              <a:buNone/>
            </a:pPr>
            <a:r>
              <a:rPr lang="ar-SA" altLang="en-US" sz="1450" dirty="0">
                <a:solidFill>
                  <a:srgbClr val="5A6472"/>
                </a:solidFill>
                <a:latin typeface="Amiri" pitchFamily="2" charset="-78"/>
                <a:ea typeface="Amiri" pitchFamily="2" charset="-78"/>
                <a:cs typeface="Amiri" pitchFamily="2" charset="-78"/>
              </a:rPr>
              <a:t>كَمْ</a:t>
            </a:r>
            <a:pPr algn="l" indent="0" marL="0">
              <a:buNone/>
            </a:pPr>
            <a:r>
              <a:rPr lang="en-US" sz="1100" dirty="0">
                <a:solidFill>
                  <a:srgbClr val="5A6472"/>
                </a:solidFill>
                <a:latin typeface="Calibri" pitchFamily="34" charset="0"/>
                <a:cs typeface="Amiri" pitchFamily="2" charset="-78"/>
              </a:rPr>
              <a:t> → number · </a:t>
            </a:r>
            <a:pPr algn="l" indent="0" marL="0">
              <a:buNone/>
            </a:pPr>
            <a:r>
              <a:rPr lang="ar-SA" altLang="en-US" sz="1450" dirty="0">
                <a:solidFill>
                  <a:srgbClr val="5A6472"/>
                </a:solidFill>
                <a:latin typeface="Amiri" pitchFamily="2" charset="-78"/>
                <a:ea typeface="Amiri" pitchFamily="2" charset="-78"/>
                <a:cs typeface="Amiri" pitchFamily="2" charset="-78"/>
              </a:rPr>
              <a:t>أَيْنَ</a:t>
            </a:r>
            <a:pPr algn="l" indent="0" marL="0">
              <a:buNone/>
            </a:pPr>
            <a:r>
              <a:rPr lang="en-US" sz="1100" dirty="0">
                <a:solidFill>
                  <a:srgbClr val="5A6472"/>
                </a:solidFill>
                <a:latin typeface="Calibri" pitchFamily="34" charset="0"/>
                <a:cs typeface="Amiri" pitchFamily="2" charset="-78"/>
              </a:rPr>
              <a:t> → place)?</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796528" y="3741725"/>
            <a:ext cx="2862072" cy="682142"/>
          </a:xfrm>
          <a:prstGeom prst="rect">
            <a:avLst/>
          </a:prstGeom>
          <a:noFill/>
          <a:ln/>
        </p:spPr>
        <p:txBody>
          <a:bodyPr wrap="square" lIns="0" tIns="0" rIns="0" bIns="0" rtlCol="0" anchor="ctr"/>
          <a:lstStyle/>
          <a:p>
            <a:pPr algn="l" indent="0" marL="0">
              <a:buNone/>
            </a:pPr>
            <a:endParaRPr lang="en-US" sz="1100" dirty="0"/>
          </a:p>
        </p:txBody>
      </p:sp>
      <p:sp>
        <p:nvSpPr>
          <p:cNvPr id="36" name="Text 33"/>
          <p:cNvSpPr txBox="1"/>
          <p:nvPr/>
        </p:nvSpPr>
        <p:spPr>
          <a:xfrm>
            <a:off x="7882128" y="3741725"/>
            <a:ext cx="731520" cy="682142"/>
          </a:xfrm>
          <a:prstGeom prst="rect">
            <a:avLst/>
          </a:prstGeom>
          <a:noFill/>
          <a:ln/>
        </p:spPr>
        <p:txBody>
          <a:bodyPr wrap="square" lIns="0" tIns="0" rIns="0" bIns="0" rtlCol="0" anchor="ctr"/>
          <a:lstStyle/>
          <a:p>
            <a:pPr algn="l" indent="0" marL="0">
              <a:buNone/>
            </a:pPr>
            <a:endParaRPr lang="en-US" sz="1100" dirty="0"/>
          </a:p>
        </p:txBody>
      </p:sp>
      <p:sp>
        <p:nvSpPr>
          <p:cNvPr id="37" name="Text 34"/>
          <p:cNvSpPr txBox="1"/>
          <p:nvPr/>
        </p:nvSpPr>
        <p:spPr>
          <a:xfrm>
            <a:off x="6601968" y="3741725"/>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38" name="Text 35"/>
          <p:cNvSpPr txBox="1"/>
          <p:nvPr/>
        </p:nvSpPr>
        <p:spPr>
          <a:xfrm>
            <a:off x="566928" y="3741725"/>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give two connected sentences for every answer?</a:t>
            </a:r>
            <a:endParaRPr lang="en-US" sz="110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8796528" y="4478731"/>
            <a:ext cx="2862072" cy="682142"/>
          </a:xfrm>
          <a:prstGeom prst="rect">
            <a:avLst/>
          </a:prstGeom>
          <a:noFill/>
          <a:ln/>
        </p:spPr>
        <p:txBody>
          <a:bodyPr wrap="square" lIns="0" tIns="0" rIns="0" bIns="0" rtlCol="0" anchor="ctr"/>
          <a:lstStyle/>
          <a:p>
            <a:pPr algn="l" indent="0" marL="0">
              <a:buNone/>
            </a:pPr>
            <a:endParaRPr lang="en-US" sz="1100" dirty="0"/>
          </a:p>
        </p:txBody>
      </p:sp>
      <p:sp>
        <p:nvSpPr>
          <p:cNvPr id="41" name="Text 38"/>
          <p:cNvSpPr txBox="1"/>
          <p:nvPr/>
        </p:nvSpPr>
        <p:spPr>
          <a:xfrm>
            <a:off x="7882128" y="4478731"/>
            <a:ext cx="731520" cy="682142"/>
          </a:xfrm>
          <a:prstGeom prst="rect">
            <a:avLst/>
          </a:prstGeom>
          <a:noFill/>
          <a:ln/>
        </p:spPr>
        <p:txBody>
          <a:bodyPr wrap="square" lIns="0" tIns="0" rIns="0" bIns="0" rtlCol="0" anchor="ctr"/>
          <a:lstStyle/>
          <a:p>
            <a:pPr algn="l" indent="0" marL="0">
              <a:buNone/>
            </a:pPr>
            <a:endParaRPr lang="en-US" sz="1100" dirty="0"/>
          </a:p>
        </p:txBody>
      </p:sp>
      <p:sp>
        <p:nvSpPr>
          <p:cNvPr id="42" name="Text 39"/>
          <p:cNvSpPr txBox="1"/>
          <p:nvPr/>
        </p:nvSpPr>
        <p:spPr>
          <a:xfrm>
            <a:off x="6601968" y="4478731"/>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43" name="Text 40"/>
          <p:cNvSpPr txBox="1"/>
          <p:nvPr/>
        </p:nvSpPr>
        <p:spPr>
          <a:xfrm>
            <a:off x="566928" y="4478731"/>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linking words (</a:t>
            </a:r>
            <a:pPr algn="l" indent="0" marL="0">
              <a:buNone/>
            </a:pPr>
            <a:r>
              <a:rPr lang="ar-SA" altLang="en-US" sz="1450" dirty="0">
                <a:solidFill>
                  <a:srgbClr val="5A6472"/>
                </a:solidFill>
                <a:latin typeface="Amiri" pitchFamily="2" charset="-78"/>
                <a:ea typeface="Amiri" pitchFamily="2" charset="-78"/>
                <a:cs typeface="Amiri" pitchFamily="2" charset="-78"/>
              </a:rPr>
              <a:t>وَ</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ثُمَّ</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لِأَنَّ</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لٰكِنَّ</a:t>
            </a:r>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44" name="Shape 41"/>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5" name="Text 42"/>
          <p:cNvSpPr txBox="1"/>
          <p:nvPr/>
        </p:nvSpPr>
        <p:spPr>
          <a:xfrm>
            <a:off x="8796528" y="5215738"/>
            <a:ext cx="2862072" cy="682142"/>
          </a:xfrm>
          <a:prstGeom prst="rect">
            <a:avLst/>
          </a:prstGeom>
          <a:noFill/>
          <a:ln/>
        </p:spPr>
        <p:txBody>
          <a:bodyPr wrap="square" lIns="0" tIns="0" rIns="0" bIns="0" rtlCol="0" anchor="ctr"/>
          <a:lstStyle/>
          <a:p>
            <a:pPr algn="l" indent="0" marL="0">
              <a:buNone/>
            </a:pPr>
            <a:endParaRPr lang="en-US" sz="1100" dirty="0"/>
          </a:p>
        </p:txBody>
      </p:sp>
      <p:sp>
        <p:nvSpPr>
          <p:cNvPr id="46" name="Text 43"/>
          <p:cNvSpPr txBox="1"/>
          <p:nvPr/>
        </p:nvSpPr>
        <p:spPr>
          <a:xfrm>
            <a:off x="7882128" y="5215738"/>
            <a:ext cx="731520" cy="682142"/>
          </a:xfrm>
          <a:prstGeom prst="rect">
            <a:avLst/>
          </a:prstGeom>
          <a:noFill/>
          <a:ln/>
        </p:spPr>
        <p:txBody>
          <a:bodyPr wrap="square" lIns="0" tIns="0" rIns="0" bIns="0" rtlCol="0" anchor="ctr"/>
          <a:lstStyle/>
          <a:p>
            <a:pPr algn="l" indent="0" marL="0">
              <a:buNone/>
            </a:pPr>
            <a:endParaRPr lang="en-US" sz="1100" dirty="0"/>
          </a:p>
        </p:txBody>
      </p:sp>
      <p:sp>
        <p:nvSpPr>
          <p:cNvPr id="47" name="Text 44"/>
          <p:cNvSpPr txBox="1"/>
          <p:nvPr/>
        </p:nvSpPr>
        <p:spPr>
          <a:xfrm>
            <a:off x="6601968" y="521573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Stretch</a:t>
            </a:r>
            <a:endParaRPr lang="en-US" sz="1100" dirty="0"/>
          </a:p>
        </p:txBody>
      </p:sp>
      <p:sp>
        <p:nvSpPr>
          <p:cNvPr id="48" name="Text 45"/>
          <p:cNvSpPr txBox="1"/>
          <p:nvPr/>
        </p:nvSpPr>
        <p:spPr>
          <a:xfrm>
            <a:off x="566928" y="521573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add a reason, a time phrase or an opinion?</a:t>
            </a:r>
            <a:endParaRPr lang="en-US" sz="11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Give back: one thing that went well + one thing to improve. The writer fixes ONE thing straight away.</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22</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F3-L10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ROLE-PLAY CARD</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50" b="1" dirty="0">
                <a:solidFill>
                  <a:srgbClr val="1B3B6F"/>
                </a:solidFill>
                <a:latin typeface="Cambria" pitchFamily="34" charset="0"/>
                <a:cs typeface="Amiri" pitchFamily="2" charset="-78"/>
              </a:rPr>
              <a:t>Role-play card: compare with a strong answer</a:t>
            </a:r>
            <a:endParaRPr lang="en-US" sz="20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F3-L10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4782312" y="1810512"/>
            <a:ext cx="68762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 strong answer (with English)</a:t>
            </a:r>
            <a:endParaRPr lang="en-US" sz="1100" dirty="0"/>
          </a:p>
        </p:txBody>
      </p:sp>
      <p:sp>
        <p:nvSpPr>
          <p:cNvPr id="17" name="Text 14"/>
          <p:cNvSpPr txBox="1"/>
          <p:nvPr/>
        </p:nvSpPr>
        <p:spPr>
          <a:xfrm>
            <a:off x="1033272" y="1810512"/>
            <a:ext cx="3602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reads</a:t>
            </a:r>
            <a:endParaRPr lang="en-US" sz="1100" dirty="0"/>
          </a:p>
        </p:txBody>
      </p:sp>
      <p:sp>
        <p:nvSpPr>
          <p:cNvPr id="18" name="Text 15"/>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4800600" y="2286000"/>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فِي عَائِلَتِي أَرْبَعَةُ أَشْخَاصٍ. أُمِّي مُعَلِّمَةٌ، وَهِيَ لَطِيفَةٌ جِدًّا.</a:t>
            </a:r>
            <a:endParaRPr lang="ar-SA" sz="1800" dirty="0"/>
          </a:p>
        </p:txBody>
      </p:sp>
      <p:sp>
        <p:nvSpPr>
          <p:cNvPr id="21" name="Text 18"/>
          <p:cNvSpPr txBox="1"/>
          <p:nvPr/>
        </p:nvSpPr>
        <p:spPr>
          <a:xfrm>
            <a:off x="4754880" y="2706624"/>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There are four people in my family. My mum is a teacher, and she is very kind.</a:t>
            </a:r>
            <a:endParaRPr lang="en-US" sz="950" dirty="0"/>
          </a:p>
        </p:txBody>
      </p:sp>
      <p:sp>
        <p:nvSpPr>
          <p:cNvPr id="22" name="Text 19"/>
          <p:cNvSpPr txBox="1"/>
          <p:nvPr/>
        </p:nvSpPr>
        <p:spPr>
          <a:xfrm>
            <a:off x="1051560" y="2267712"/>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حَدِّثْنِي عَنْ عَائِلَتِكَ.</a:t>
            </a:r>
            <a:endParaRPr lang="ar-SA" sz="1600" dirty="0"/>
          </a:p>
        </p:txBody>
      </p:sp>
      <p:sp>
        <p:nvSpPr>
          <p:cNvPr id="23" name="Text 20"/>
          <p:cNvSpPr txBox="1"/>
          <p:nvPr/>
        </p:nvSpPr>
        <p:spPr>
          <a:xfrm>
            <a:off x="566928" y="2267712"/>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4" name="Shape 21"/>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5" name="Text 22"/>
          <p:cNvSpPr txBox="1"/>
          <p:nvPr/>
        </p:nvSpPr>
        <p:spPr>
          <a:xfrm>
            <a:off x="4800600" y="3072384"/>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مَعَ أَخِي الكَبِيرِ. نَلْعَبُ كُرَةَ القَدَمِ فِي الحَدِيقَةِ.</a:t>
            </a:r>
            <a:endParaRPr lang="ar-SA" sz="1800" dirty="0"/>
          </a:p>
        </p:txBody>
      </p:sp>
      <p:sp>
        <p:nvSpPr>
          <p:cNvPr id="26" name="Text 23"/>
          <p:cNvSpPr txBox="1"/>
          <p:nvPr/>
        </p:nvSpPr>
        <p:spPr>
          <a:xfrm>
            <a:off x="4754880" y="3493008"/>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With my older brother. We play football in the garden.</a:t>
            </a:r>
            <a:endParaRPr lang="en-US" sz="950" dirty="0"/>
          </a:p>
        </p:txBody>
      </p:sp>
      <p:sp>
        <p:nvSpPr>
          <p:cNvPr id="27" name="Text 24"/>
          <p:cNvSpPr txBox="1"/>
          <p:nvPr/>
        </p:nvSpPr>
        <p:spPr>
          <a:xfrm>
            <a:off x="1051560" y="3054096"/>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مَعَ مَنْ تَقْضِي وَقْتًا كَثِيرًا؟</a:t>
            </a:r>
            <a:endParaRPr lang="ar-SA" sz="1600" dirty="0"/>
          </a:p>
        </p:txBody>
      </p:sp>
      <p:sp>
        <p:nvSpPr>
          <p:cNvPr id="28" name="Text 25"/>
          <p:cNvSpPr txBox="1"/>
          <p:nvPr/>
        </p:nvSpPr>
        <p:spPr>
          <a:xfrm>
            <a:off x="566928" y="3054096"/>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29" name="Shape 26"/>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0" name="Text 27"/>
          <p:cNvSpPr txBox="1"/>
          <p:nvPr/>
        </p:nvSpPr>
        <p:spPr>
          <a:xfrm>
            <a:off x="4800600" y="3858768"/>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نَسْكُنُ فِي بَيْتٍ صَغِيرٍ. فِيهِ ثَلَاثُ غُرَفٍ وَحَدِيقَةٌ.</a:t>
            </a:r>
            <a:endParaRPr lang="ar-SA" sz="1800" dirty="0"/>
          </a:p>
        </p:txBody>
      </p:sp>
      <p:sp>
        <p:nvSpPr>
          <p:cNvPr id="31" name="Text 28"/>
          <p:cNvSpPr txBox="1"/>
          <p:nvPr/>
        </p:nvSpPr>
        <p:spPr>
          <a:xfrm>
            <a:off x="4754880" y="4279392"/>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We live in a small house. It has three rooms and a garden.</a:t>
            </a:r>
            <a:endParaRPr lang="en-US" sz="950" dirty="0"/>
          </a:p>
        </p:txBody>
      </p:sp>
      <p:sp>
        <p:nvSpPr>
          <p:cNvPr id="32" name="Text 29"/>
          <p:cNvSpPr txBox="1"/>
          <p:nvPr/>
        </p:nvSpPr>
        <p:spPr>
          <a:xfrm>
            <a:off x="1051560" y="3840480"/>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صِفْ بَيْتَكَ.</a:t>
            </a:r>
            <a:endParaRPr lang="ar-SA" sz="1600" dirty="0"/>
          </a:p>
        </p:txBody>
      </p:sp>
      <p:sp>
        <p:nvSpPr>
          <p:cNvPr id="33" name="Text 30"/>
          <p:cNvSpPr txBox="1"/>
          <p:nvPr/>
        </p:nvSpPr>
        <p:spPr>
          <a:xfrm>
            <a:off x="566928" y="3840480"/>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4" name="Shape 31"/>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5" name="Text 32"/>
          <p:cNvSpPr txBox="1"/>
          <p:nvPr/>
        </p:nvSpPr>
        <p:spPr>
          <a:xfrm>
            <a:off x="4800600" y="4645152"/>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نَعَمْ، لِأَنَّهُ قَرِيبٌ مِنَ المَدْرَسَةِ، لٰكِنَّ غُرْفَتِي صَغِيرَةٌ.</a:t>
            </a:r>
            <a:endParaRPr lang="ar-SA" sz="1800" dirty="0"/>
          </a:p>
        </p:txBody>
      </p:sp>
      <p:sp>
        <p:nvSpPr>
          <p:cNvPr id="36" name="Text 33"/>
          <p:cNvSpPr txBox="1"/>
          <p:nvPr/>
        </p:nvSpPr>
        <p:spPr>
          <a:xfrm>
            <a:off x="4754880" y="5065776"/>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Yes, because it is near the school, but my room is small.</a:t>
            </a:r>
            <a:endParaRPr lang="en-US" sz="950" dirty="0"/>
          </a:p>
        </p:txBody>
      </p:sp>
      <p:sp>
        <p:nvSpPr>
          <p:cNvPr id="37" name="Text 34"/>
          <p:cNvSpPr txBox="1"/>
          <p:nvPr/>
        </p:nvSpPr>
        <p:spPr>
          <a:xfrm>
            <a:off x="1051560" y="4626864"/>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هَلْ تُحِبُّ بَيْتَكَ؟ لِمَاذَا؟</a:t>
            </a:r>
            <a:endParaRPr lang="ar-SA" sz="1600" dirty="0"/>
          </a:p>
        </p:txBody>
      </p:sp>
      <p:sp>
        <p:nvSpPr>
          <p:cNvPr id="38" name="Text 35"/>
          <p:cNvSpPr txBox="1"/>
          <p:nvPr/>
        </p:nvSpPr>
        <p:spPr>
          <a:xfrm>
            <a:off x="566928" y="4626864"/>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39" name="Text 3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Did you answer every task in a full sentence? Choose one phrase you did not use and say it aloud.</a:t>
            </a:r>
            <a:endParaRPr lang="en-US" sz="115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22</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F3-L10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WRITE YOUR TEXT · A STRONG ANSWER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00" b="1" dirty="0">
                <a:solidFill>
                  <a:srgbClr val="1B3B6F"/>
                </a:solidFill>
                <a:latin typeface="Cambria" pitchFamily="34" charset="0"/>
                <a:cs typeface="Amiri" pitchFamily="2" charset="-78"/>
              </a:rPr>
              <a:t>Writing: compare with a strong answer</a:t>
            </a:r>
            <a:endParaRPr lang="en-US" sz="24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F3-L10 · practice room</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فِي عَائِلَتِي خَمْسَةُ أَشْخَاصٍ. أَنَا الأَخُ الأَكْبَرُ. أَبِي طَبِيبٌ، وَهُوَ هَادِئٌ وَكَرِيمٌ جِدًّا. نَسْكُنُ فِي بَيْتٍ قَدِيمٍ فِي شِيفِيلْدَ. فِيهِ أَرْبَعُ غُرَفٍ، وَخَلْفَهُ حَدِيقَةٌ كَبِيرَةٌ. أُحِبُّ بَيْتِي لِأَنَّهُ قَرِيبٌ مِنْ أَصْدِقَائِي، وَالحَدِيقَةُ جَمِيلَةٌ. لٰكِنَّ المَطْبَخَ صَغِيرٌ، لِذٰلِكَ نَأْكُلُ فِي غُرْفَةِ الجُلُوسِ.</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“There are five people in my family. I am the oldest brother. My father is a doctor; he is very calm and generous. We live in an old house in Sheffield. It has four rooms, and behind it there is a big garden. I like my home because it is near my friends, and the garden is beautiful. But the kitchen is small, so we eat in the living room.”</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فِي عَائِلَتِي خَمْسَةُ أَشْخَاصٍ</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وَهُوَ هَادِئٌ وَكَرِيمٌ</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فِيهِ أَرْبَعُ غُرَفٍ</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لِأَنَّهُ قَرِيبٌ</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22</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F3-L10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F3-L10 · practice room</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answered the questions and the role-play tasks in full sentences.</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wrote a sentence for every bullet point.</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today’s key structure when I spoke AND when I wrote.</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buddy checked my text and I fixed one mistake.</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added reasons (</a:t>
            </a:r>
            <a:pPr algn="l" indent="0" marL="0">
              <a:buNone/>
            </a:pPr>
            <a:r>
              <a:rPr lang="ar-SA" altLang="en-US" sz="1700" dirty="0">
                <a:solidFill>
                  <a:srgbClr val="1F2A37"/>
                </a:solidFill>
                <a:latin typeface="Amiri" pitchFamily="2" charset="-78"/>
                <a:ea typeface="Amiri" pitchFamily="2" charset="-78"/>
                <a:cs typeface="Amiri" pitchFamily="2" charset="-78"/>
              </a:rPr>
              <a:t>لِأَنَّ</a:t>
            </a:r>
            <a:pPr algn="l" indent="0" marL="0">
              <a:buNone/>
            </a:pPr>
            <a:r>
              <a:rPr lang="en-US" sz="1300" dirty="0">
                <a:solidFill>
                  <a:srgbClr val="1F2A37"/>
                </a:solidFill>
                <a:latin typeface="Calibri" pitchFamily="34" charset="0"/>
                <a:cs typeface="Amiri" pitchFamily="2" charset="-78"/>
              </a:rPr>
              <a:t>) and extra details without frames.</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22</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F3-L10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you practised it yourselves!</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1900" b="1" dirty="0">
                <a:solidFill>
                  <a:srgbClr val="FFFFFF"/>
                </a:solidFill>
                <a:latin typeface="Cambria" pitchFamily="34" charset="0"/>
                <a:cs typeface="Amiri" pitchFamily="2" charset="-78"/>
              </a:rPr>
              <a:t>F3-L11 · F3 Consolidation — Integrated Skills Review</a:t>
            </a:r>
            <a:endParaRPr lang="en-US" sz="190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مُرَاجَعَةُ الوَحْدَةِ الثَّالِثَةِ — المَهَارَاتُ المُتَكَامِلَةُ</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say it, then write it — full sentences, every time.</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F3-L10 · Practice Room — Speaking: My Family and Home</dc:title>
  <dc:subject>PptxGenJS Presentation</dc:subject>
  <dc:creator>Al Madina Online School · Arabic Department</dc:creator>
  <cp:lastModifiedBy>Al Madina Online School · Arabic Department</cp:lastModifiedBy>
  <cp:revision>1</cp:revision>
  <dcterms:created xsi:type="dcterms:W3CDTF">2026-10-25T17:24:29Z</dcterms:created>
  <dcterms:modified xsi:type="dcterms:W3CDTF">2026-10-25T17:24:29Z</dcterms:modified>
</cp:coreProperties>
</file>