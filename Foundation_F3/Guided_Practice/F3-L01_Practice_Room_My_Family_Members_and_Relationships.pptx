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F3-L01 (My Family — Members and Relationships) — new practice tasks built on the lesson’s own word bank and grammar (family words; possessive endings (-ī · -ka · -ki · -hu · -hā); hādhā / hādhihi; ismuhu / ismuhā).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عَائِلَتِكِ · عِنْدَكِ. Language: hādhā (a man) / hādhihi (a woman) · ismuhu / ismuhā · kam + singular accusative · ʿindī.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My Family — Members and Relationships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عَائِلَتِي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their family: say the family words, act a short dialogue, answer question cards, do a role-play card about a family photo, give a 30-second talk, then build, fix and write a short text about their family.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F3-L01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Close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this: hādhā</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أَبٌ / وَالِدٌ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father</a:t>
            </a:r>
            <a:endParaRPr lang="en-US" sz="1350" dirty="0"/>
          </a:p>
          <a:p>
            <a:pPr indent="0" marL="0">
              <a:buNone/>
            </a:pPr>
            <a:r>
              <a:rPr lang="en-US" sz="1100" i="1" dirty="0">
                <a:solidFill>
                  <a:srgbClr val="5A6472"/>
                </a:solidFill>
                <a:latin typeface="Calibri" pitchFamily="34" charset="0"/>
                <a:cs typeface="Amiri" pitchFamily="2" charset="-78"/>
              </a:rPr>
              <a:t>ab / wā-lid</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أَبُوهُ</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brother</a:t>
            </a:r>
            <a:endParaRPr lang="en-US" sz="1350" dirty="0"/>
          </a:p>
          <a:p>
            <a:pPr indent="0" marL="0">
              <a:buNone/>
            </a:pPr>
            <a:r>
              <a:rPr lang="en-US" sz="1100" i="1" dirty="0">
                <a:solidFill>
                  <a:srgbClr val="5A6472"/>
                </a:solidFill>
                <a:latin typeface="Calibri" pitchFamily="34" charset="0"/>
                <a:cs typeface="Amiri" pitchFamily="2" charset="-78"/>
              </a:rPr>
              <a:t>akh</a:t>
            </a:r>
            <a:endParaRPr lang="en-US" sz="1350" dirty="0"/>
          </a:p>
        </p:txBody>
      </p:sp>
      <p:sp>
        <p:nvSpPr>
          <p:cNvPr id="39" name="Shape 3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إِخْوَةٌ</a:t>
            </a:r>
            <a:endParaRPr lang="ar-SA" sz="1500" dirty="0"/>
          </a:p>
        </p:txBody>
      </p:sp>
      <p:sp>
        <p:nvSpPr>
          <p:cNvPr id="42" name="Shape 3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44" name="Text 4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أَخُوهَا</a:t>
            </a:r>
            <a:endParaRPr lang="ar-SA" sz="1500" dirty="0"/>
          </a:p>
        </p:txBody>
      </p:sp>
      <p:sp>
        <p:nvSpPr>
          <p:cNvPr id="45" name="Shape 4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7" name="Text 4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أَخِي</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1" name="Shape 4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a:t>
            </a:r>
            <a:endParaRPr lang="ar-SA" sz="3000" dirty="0"/>
          </a:p>
        </p:txBody>
      </p:sp>
      <p:sp>
        <p:nvSpPr>
          <p:cNvPr id="56" name="Text 5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sister</a:t>
            </a:r>
            <a:endParaRPr lang="en-US" sz="1350" dirty="0"/>
          </a:p>
          <a:p>
            <a:pPr indent="0" marL="0">
              <a:buNone/>
            </a:pPr>
            <a:r>
              <a:rPr lang="en-US" sz="1100" i="1" dirty="0">
                <a:solidFill>
                  <a:srgbClr val="5A6472"/>
                </a:solidFill>
                <a:latin typeface="Calibri" pitchFamily="34" charset="0"/>
                <a:cs typeface="Amiri" pitchFamily="2" charset="-78"/>
              </a:rPr>
              <a:t>ukht</a:t>
            </a:r>
            <a:endParaRPr lang="en-US" sz="1350" dirty="0"/>
          </a:p>
        </p:txBody>
      </p:sp>
      <p:sp>
        <p:nvSpPr>
          <p:cNvPr id="57" name="Shape 5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أَخَوَاتٌ</a:t>
            </a:r>
            <a:endParaRPr lang="ar-SA" sz="1500" dirty="0"/>
          </a:p>
        </p:txBody>
      </p:sp>
      <p:sp>
        <p:nvSpPr>
          <p:cNvPr id="60" name="Shape 5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62" name="Text 5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أُخْتُهُ</a:t>
            </a:r>
            <a:endParaRPr lang="ar-SA" sz="1500" dirty="0"/>
          </a:p>
        </p:txBody>
      </p:sp>
      <p:sp>
        <p:nvSpPr>
          <p:cNvPr id="63" name="Shape 6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65" name="Text 6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أُخْتِي</a:t>
            </a:r>
            <a:endParaRPr lang="ar-SA" sz="1500" dirty="0"/>
          </a:p>
        </p:txBody>
      </p:sp>
      <p:sp>
        <p:nvSpPr>
          <p:cNvPr id="66" name="Shape 6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8211312"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9" name="Shape 6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71" name="Shape 6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بِنْتٌ / اِبْنَةٌ</a:t>
            </a:r>
            <a:endParaRPr lang="ar-SA" sz="3000" dirty="0"/>
          </a:p>
        </p:txBody>
      </p:sp>
      <p:sp>
        <p:nvSpPr>
          <p:cNvPr id="74" name="Text 7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daughter</a:t>
            </a:r>
            <a:endParaRPr lang="en-US" sz="1350" dirty="0"/>
          </a:p>
          <a:p>
            <a:pPr indent="0" marL="0">
              <a:buNone/>
            </a:pPr>
            <a:r>
              <a:rPr lang="en-US" sz="1100" i="1" dirty="0">
                <a:solidFill>
                  <a:srgbClr val="5A6472"/>
                </a:solidFill>
                <a:latin typeface="Calibri" pitchFamily="34" charset="0"/>
                <a:cs typeface="Amiri" pitchFamily="2" charset="-78"/>
              </a:rPr>
              <a:t>bint / ib-na</a:t>
            </a:r>
            <a:endParaRPr lang="en-US" sz="1350" dirty="0"/>
          </a:p>
        </p:txBody>
      </p:sp>
      <p:sp>
        <p:nvSpPr>
          <p:cNvPr id="75" name="Shape 7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بَنَاتٌ</a:t>
            </a:r>
            <a:endParaRPr lang="ar-SA" sz="1500" dirty="0"/>
          </a:p>
        </p:txBody>
      </p:sp>
      <p:sp>
        <p:nvSpPr>
          <p:cNvPr id="78" name="Shape 7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80" name="Text 7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بِنْتِي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4" name="Shape 8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86" name="Shape 8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a:t>
            </a:r>
            <a:endParaRPr lang="en-US" sz="1350" dirty="0"/>
          </a:p>
          <a:p>
            <a:pPr indent="0" marL="0">
              <a:buNone/>
            </a:pPr>
            <a:r>
              <a:rPr lang="en-US" sz="1100" i="1" dirty="0">
                <a:solidFill>
                  <a:srgbClr val="5A6472"/>
                </a:solidFill>
                <a:latin typeface="Calibri" pitchFamily="34" charset="0"/>
                <a:cs typeface="Amiri" pitchFamily="2" charset="-78"/>
              </a:rPr>
              <a:t>jadd</a:t>
            </a:r>
            <a:endParaRPr lang="en-US" sz="1350" dirty="0"/>
          </a:p>
        </p:txBody>
      </p:sp>
      <p:sp>
        <p:nvSpPr>
          <p:cNvPr id="90" name="Shape 8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أَجْدَادٌ</a:t>
            </a:r>
            <a:endParaRPr lang="ar-SA" sz="1500" dirty="0"/>
          </a:p>
        </p:txBody>
      </p:sp>
      <p:sp>
        <p:nvSpPr>
          <p:cNvPr id="93" name="Shape 9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95" name="Text 9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جَدِّي</a:t>
            </a:r>
            <a:endParaRPr lang="ar-SA" sz="1500" dirty="0"/>
          </a:p>
        </p:txBody>
      </p:sp>
      <p:sp>
        <p:nvSpPr>
          <p:cNvPr id="96" name="Shape 9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7" name="Shape 94"/>
          <p:cNvSpPr/>
          <p:nvPr/>
        </p:nvSpPr>
        <p:spPr>
          <a:xfrm>
            <a:off x="566928" y="4261104"/>
            <a:ext cx="310896" cy="310896"/>
          </a:xfrm>
          <a:prstGeom prst="ellipse">
            <a:avLst/>
          </a:prstGeom>
          <a:solidFill>
            <a:srgbClr val="F4F1EA"/>
          </a:solidFill>
          <a:ln w="12700">
            <a:solidFill>
              <a:srgbClr val="F4F1EA"/>
            </a:solidFill>
            <a:prstDash val="solid"/>
          </a:ln>
        </p:spPr>
      </p:sp>
      <p:sp>
        <p:nvSpPr>
          <p:cNvPr id="98" name="Text 9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9" name="Shape 96"/>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0" name="Text 97"/>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101" name="Text 9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a:t>
            </a:r>
            <a:endParaRPr lang="ar-SA" sz="3000" dirty="0"/>
          </a:p>
        </p:txBody>
      </p:sp>
      <p:sp>
        <p:nvSpPr>
          <p:cNvPr id="102" name="Text 9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uncle (father’s side)</a:t>
            </a:r>
            <a:endParaRPr lang="en-US" sz="1350" dirty="0"/>
          </a:p>
          <a:p>
            <a:pPr indent="0" marL="0">
              <a:buNone/>
            </a:pPr>
            <a:r>
              <a:rPr lang="en-US" sz="1100" i="1" dirty="0">
                <a:solidFill>
                  <a:srgbClr val="5A6472"/>
                </a:solidFill>
                <a:latin typeface="Calibri" pitchFamily="34" charset="0"/>
                <a:cs typeface="Amiri" pitchFamily="2" charset="-78"/>
              </a:rPr>
              <a:t>‘amm</a:t>
            </a:r>
            <a:endParaRPr lang="en-US" sz="1350" dirty="0"/>
          </a:p>
        </p:txBody>
      </p:sp>
      <p:sp>
        <p:nvSpPr>
          <p:cNvPr id="103" name="Shape 10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4" name="Text 10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5" name="Text 10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أَعْمَامٌ</a:t>
            </a:r>
            <a:endParaRPr lang="ar-SA" sz="1500" dirty="0"/>
          </a:p>
        </p:txBody>
      </p:sp>
      <p:sp>
        <p:nvSpPr>
          <p:cNvPr id="106" name="Shape 10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108" name="Text 10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عَمِّي</a:t>
            </a:r>
            <a:endParaRPr lang="ar-SA" sz="150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Grandparents, uncles and aunts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aunt (father’s side)</a:t>
            </a:r>
            <a:endParaRPr lang="en-US" sz="1350" dirty="0"/>
          </a:p>
          <a:p>
            <a:pPr indent="0" marL="0">
              <a:buNone/>
            </a:pPr>
            <a:r>
              <a:rPr lang="en-US" sz="1100" i="1" dirty="0">
                <a:solidFill>
                  <a:srgbClr val="5A6472"/>
                </a:solidFill>
                <a:latin typeface="Calibri" pitchFamily="34" charset="0"/>
                <a:cs typeface="Amiri" pitchFamily="2" charset="-78"/>
              </a:rPr>
              <a:t>‘am-ma</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عَمَّاتٌ</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عَمَّتِي</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خَالَةٌ</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aunt (mother’s side)</a:t>
            </a:r>
            <a:endParaRPr lang="en-US" sz="1350" dirty="0"/>
          </a:p>
          <a:p>
            <a:pPr indent="0" marL="0">
              <a:buNone/>
            </a:pPr>
            <a:r>
              <a:rPr lang="en-US" sz="1100" i="1" dirty="0">
                <a:solidFill>
                  <a:srgbClr val="5A6472"/>
                </a:solidFill>
                <a:latin typeface="Calibri" pitchFamily="34" charset="0"/>
                <a:cs typeface="Amiri" pitchFamily="2" charset="-78"/>
              </a:rPr>
              <a:t>khā-la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خَالَاتٌ</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خَالَتِي</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paternal</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اِبْنُ عَمٍّ / بِنْتُ عَمٍّ</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cousin (father’s side) m. / f.</a:t>
            </a:r>
            <a:endParaRPr lang="en-US" sz="1350" dirty="0"/>
          </a:p>
          <a:p>
            <a:pPr indent="0" marL="0">
              <a:buNone/>
            </a:pPr>
            <a:r>
              <a:rPr lang="en-US" sz="1100" i="1" dirty="0">
                <a:solidFill>
                  <a:srgbClr val="5A6472"/>
                </a:solidFill>
                <a:latin typeface="Calibri" pitchFamily="34" charset="0"/>
                <a:cs typeface="Amiri" pitchFamily="2" charset="-78"/>
              </a:rPr>
              <a:t>ib-nu ‘amm / bin-tu ‘amm</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1" name="Shape 48"/>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sibling order</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الأَخُ الأَكْبَرُ</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older brother</a:t>
            </a:r>
            <a:endParaRPr lang="en-US" sz="1350" dirty="0"/>
          </a:p>
          <a:p>
            <a:pPr indent="0" marL="0">
              <a:buNone/>
            </a:pPr>
            <a:r>
              <a:rPr lang="en-US" sz="1100" i="1" dirty="0">
                <a:solidFill>
                  <a:srgbClr val="5A6472"/>
                </a:solidFill>
                <a:latin typeface="Calibri" pitchFamily="34" charset="0"/>
                <a:cs typeface="Amiri" pitchFamily="2" charset="-78"/>
              </a:rPr>
              <a:t>al-a-khu l-ak-bar</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younger</a:t>
            </a:r>
            <a:endParaRPr lang="en-US" sz="700" dirty="0"/>
          </a:p>
        </p:txBody>
      </p:sp>
      <p:sp>
        <p:nvSpPr>
          <p:cNvPr id="57" name="Text 54"/>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الأَخُ الأَصْغَرُ</a:t>
            </a:r>
            <a:endParaRPr lang="ar-SA"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4782312" y="4279392"/>
            <a:ext cx="108265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sibling order</a:t>
            </a:r>
            <a:endParaRPr lang="en-US" sz="800" dirty="0"/>
          </a:p>
        </p:txBody>
      </p:sp>
      <p:sp>
        <p:nvSpPr>
          <p:cNvPr id="63" name="Text 6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الأُخْتُ الكُبْرَى</a:t>
            </a:r>
            <a:endParaRPr lang="ar-SA" sz="3000" dirty="0"/>
          </a:p>
        </p:txBody>
      </p:sp>
      <p:sp>
        <p:nvSpPr>
          <p:cNvPr id="64" name="Text 6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older sister</a:t>
            </a:r>
            <a:endParaRPr lang="en-US" sz="1350" dirty="0"/>
          </a:p>
          <a:p>
            <a:pPr indent="0" marL="0">
              <a:buNone/>
            </a:pPr>
            <a:r>
              <a:rPr lang="en-US" sz="1100" i="1" dirty="0">
                <a:solidFill>
                  <a:srgbClr val="5A6472"/>
                </a:solidFill>
                <a:latin typeface="Calibri" pitchFamily="34" charset="0"/>
                <a:cs typeface="Amiri" pitchFamily="2" charset="-78"/>
              </a:rPr>
              <a:t>al-ukh-tu l-kub-rā</a:t>
            </a:r>
            <a:endParaRPr lang="en-US" sz="1350" dirty="0"/>
          </a:p>
        </p:txBody>
      </p:sp>
      <p:sp>
        <p:nvSpPr>
          <p:cNvPr id="65" name="Shape 6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younger</a:t>
            </a:r>
            <a:endParaRPr lang="en-US" sz="700" dirty="0"/>
          </a:p>
        </p:txBody>
      </p:sp>
      <p:sp>
        <p:nvSpPr>
          <p:cNvPr id="67" name="Text 64"/>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الأُخْتُ الصُّغْرَى</a:t>
            </a:r>
            <a:endParaRPr lang="ar-SA"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1" name="Shape 6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3" name="Text 7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عَائِلَةٌ / أُسْرَةٌ</a:t>
            </a:r>
            <a:endParaRPr lang="ar-SA" sz="3000" dirty="0"/>
          </a:p>
        </p:txBody>
      </p:sp>
      <p:sp>
        <p:nvSpPr>
          <p:cNvPr id="74" name="Text 7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family</a:t>
            </a:r>
            <a:endParaRPr lang="en-US" sz="1350" dirty="0"/>
          </a:p>
          <a:p>
            <a:pPr indent="0" marL="0">
              <a:buNone/>
            </a:pPr>
            <a:r>
              <a:rPr lang="en-US" sz="1100" i="1" dirty="0">
                <a:solidFill>
                  <a:srgbClr val="5A6472"/>
                </a:solidFill>
                <a:latin typeface="Calibri" pitchFamily="34" charset="0"/>
                <a:cs typeface="Amiri" pitchFamily="2" charset="-78"/>
              </a:rPr>
              <a:t>‘ā-ʾi-la / us-ra</a:t>
            </a:r>
            <a:endParaRPr lang="en-US" sz="1350" dirty="0"/>
          </a:p>
        </p:txBody>
      </p:sp>
      <p:sp>
        <p:nvSpPr>
          <p:cNvPr id="75" name="Shape 72"/>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77" name="Text 74"/>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عَائِلَتِي</a:t>
            </a:r>
            <a:endParaRPr lang="ar-SA" sz="150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this in the photo?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هٰذَا فِي الصُّورَةِ؟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(m.) in the photo?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هٰذَا فِي الصُّورَةِ؟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father; his name is Omar.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أَبِي، اسْمُهُ عُمَرُ.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is this (f.)?</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وَمَنْ هٰذِهِ؟</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little sister; her name is Maryam.</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أُخْتِي الصَّغِيرَةُ، اسْمُهَا مَرْيَمُ.</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brothers do you have?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أَخًا عِنْدَكَ؟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one brother, and he is older.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عِنْدِي أَخٌ وَاحِدٌ، وَهُوَ كَبِيرٌ.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ONE detail (a name, a number, a place)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أَبِي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father’s name?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أَبِيكَ؟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أُمِّي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mother’s name?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أُمِّكَ؟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 / اسْمُهَا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brothers and sisters do you have?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أَخًا وَأُخْتًا عِنْدَكَ؟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وَجَدَّتِي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يَسْكُنُ جَدِّي فِي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your grandfather live?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يَسْكُنُ جَدُّكَ؟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love in your family?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تُحِبُّ فِي عَائِلَتِكَ؟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Role-play card — showing a family photo</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هٰذَا … ، اسْمُهُ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the man is.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هٰذِهِ صُورَةٌ جَمِيلَةٌ! مَنْ هٰذَا؟</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هٰذِهِ … ، اسْمُهَا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the woman is.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هٰذِهِ؟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فِي عَائِلَتِي … أَشْخَاصٍ</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many people.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شَخْصًا فِي عَائِلَتِكَ؟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عِنْدِي … اسْمُهُ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yes or no + a name.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ابْنُ عَمٍّ؟</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showing a photo · Leader = a new friend at school.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family: who is in it, their names, and one person you love — and why.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a:t>
            </a:r>
            <a:pPr algn="l" indent="0" marL="0">
              <a:buNone/>
            </a:pPr>
            <a:r>
              <a:rPr lang="ar-SA" altLang="en-US" sz="1500" dirty="0">
                <a:solidFill>
                  <a:srgbClr val="1F2A37"/>
                </a:solidFill>
                <a:latin typeface="Amiri" pitchFamily="2" charset="-78"/>
                <a:ea typeface="Amiri" pitchFamily="2" charset="-78"/>
                <a:cs typeface="Amiri" pitchFamily="2" charset="-78"/>
              </a:rPr>
              <a:t>عِنْدِي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اسْمُ أَبِي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اسْمُ أُمِّي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grandparents or an uncle / aunt with </a:t>
            </a:r>
            <a:pPr algn="l" indent="0" marL="0">
              <a:buNone/>
            </a:pPr>
            <a:r>
              <a:rPr lang="ar-SA" altLang="en-US" sz="1500" dirty="0">
                <a:solidFill>
                  <a:srgbClr val="1F2A37"/>
                </a:solidFill>
                <a:latin typeface="Amiri" pitchFamily="2" charset="-78"/>
                <a:ea typeface="Amiri" pitchFamily="2" charset="-78"/>
                <a:cs typeface="Amiri" pitchFamily="2" charset="-78"/>
              </a:rPr>
              <a:t>اسْمُهُ / اسْمُهَا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who you love most and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kind mother.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اللَّطِيفَةُ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اللَّطِيفُ</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name is Ali, and he is tall.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عَلِيًّا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وَهُوَ طَوِيلٌ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وَهِيَ طَوِيلَةٌ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two little sisters.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أُخْتَانِ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صَغِيرَتَانِ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kind mother.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mother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 … اللَّطِيفَةُ</a:t>
            </a:r>
            <a:pPr algn="l" indent="0" marL="0">
              <a:buNone/>
            </a:pPr>
            <a:r>
              <a:rPr lang="en-US" sz="1050" i="1" dirty="0">
                <a:solidFill>
                  <a:srgbClr val="5A6472"/>
                </a:solidFill>
                <a:latin typeface="Calibri" pitchFamily="34" charset="0"/>
                <a:cs typeface="Amiri" pitchFamily="2" charset="-78"/>
              </a:rPr>
              <a:t>; my mother = </a:t>
            </a:r>
            <a:pPr algn="l" indent="0" marL="0">
              <a:buNone/>
            </a:pPr>
            <a:r>
              <a:rPr lang="ar-SA" altLang="en-US" sz="1350" dirty="0">
                <a:solidFill>
                  <a:srgbClr val="5A6472"/>
                </a:solidFill>
                <a:latin typeface="Amiri" pitchFamily="2" charset="-78"/>
                <a:ea typeface="Amiri" pitchFamily="2" charset="-78"/>
                <a:cs typeface="Amiri" pitchFamily="2" charset="-78"/>
              </a:rPr>
              <a:t>أُمِّي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أُمِّي اللَّطِيفَةُ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name is Ali, and he is tall.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name → </a:t>
            </a:r>
            <a:pPr algn="l" indent="0" marL="0">
              <a:buNone/>
            </a:pPr>
            <a:r>
              <a:rPr lang="ar-SA" altLang="en-US" sz="1350" dirty="0">
                <a:solidFill>
                  <a:srgbClr val="5A6472"/>
                </a:solidFill>
                <a:latin typeface="Amiri" pitchFamily="2" charset="-78"/>
                <a:ea typeface="Amiri" pitchFamily="2" charset="-78"/>
                <a:cs typeface="Amiri" pitchFamily="2" charset="-78"/>
              </a:rPr>
              <a:t>اسْمُهُ</a:t>
            </a:r>
            <a:pPr algn="l" indent="0" marL="0">
              <a:buNone/>
            </a:pPr>
            <a:r>
              <a:rPr lang="en-US" sz="1050" i="1" dirty="0">
                <a:solidFill>
                  <a:srgbClr val="5A6472"/>
                </a:solidFill>
                <a:latin typeface="Calibri" pitchFamily="34" charset="0"/>
                <a:cs typeface="Amiri" pitchFamily="2" charset="-78"/>
              </a:rPr>
              <a:t> (-hu); a man → </a:t>
            </a:r>
            <a:pPr algn="l" indent="0" marL="0">
              <a:buNone/>
            </a:pPr>
            <a:r>
              <a:rPr lang="ar-SA" altLang="en-US" sz="1350" dirty="0">
                <a:solidFill>
                  <a:srgbClr val="5A6472"/>
                </a:solidFill>
                <a:latin typeface="Amiri" pitchFamily="2" charset="-78"/>
                <a:ea typeface="Amiri" pitchFamily="2" charset="-78"/>
                <a:cs typeface="Amiri" pitchFamily="2" charset="-78"/>
              </a:rPr>
              <a:t>هُوَ طَوِيلٌ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اسْمُهُ عَلِيٌّ وَهُوَ طَوِيلٌ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two little sisters.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t>
            </a:r>
            <a:pPr algn="l" indent="0" marL="0">
              <a:buNone/>
            </a:pPr>
            <a:r>
              <a:rPr lang="ar-SA" altLang="en-US" sz="1350" dirty="0">
                <a:solidFill>
                  <a:srgbClr val="5A6472"/>
                </a:solidFill>
                <a:latin typeface="Amiri" pitchFamily="2" charset="-78"/>
                <a:ea typeface="Amiri" pitchFamily="2" charset="-78"/>
                <a:cs typeface="Amiri" pitchFamily="2" charset="-78"/>
              </a:rPr>
              <a:t>عِنْدِي</a:t>
            </a:r>
            <a:pPr algn="l" indent="0" marL="0">
              <a:buNone/>
            </a:pPr>
            <a:r>
              <a:rPr lang="en-US" sz="1050" i="1" dirty="0">
                <a:solidFill>
                  <a:srgbClr val="5A6472"/>
                </a:solidFill>
                <a:latin typeface="Calibri" pitchFamily="34" charset="0"/>
                <a:cs typeface="Amiri" pitchFamily="2" charset="-78"/>
              </a:rPr>
              <a:t>; two sisters = the dual </a:t>
            </a:r>
            <a:pPr algn="l" indent="0" marL="0">
              <a:buNone/>
            </a:pPr>
            <a:r>
              <a:rPr lang="ar-SA" altLang="en-US" sz="1350" dirty="0">
                <a:solidFill>
                  <a:srgbClr val="5A6472"/>
                </a:solidFill>
                <a:latin typeface="Amiri" pitchFamily="2" charset="-78"/>
                <a:ea typeface="Amiri" pitchFamily="2" charset="-78"/>
                <a:cs typeface="Amiri" pitchFamily="2" charset="-78"/>
              </a:rPr>
              <a:t>أُخْتَانِ</a:t>
            </a:r>
            <a:pPr algn="l" indent="0" marL="0">
              <a:buNone/>
            </a:pPr>
            <a:r>
              <a:rPr lang="en-US" sz="1050" i="1" dirty="0">
                <a:solidFill>
                  <a:srgbClr val="5A6472"/>
                </a:solidFill>
                <a:latin typeface="Calibri" pitchFamily="34" charset="0"/>
                <a:cs typeface="Amiri" pitchFamily="2" charset="-78"/>
              </a:rPr>
              <a:t>, and the adjective is dual too.</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أُخْتَانِ صَغِيرَتَانِ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أُخْتِي.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sister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عَمِّي، اسْمُهُ خَالِدٌ.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uncle is a man.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جَدَّتِي اسْمُهُ نُورٌ.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name?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أُخْتِي.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أُخْتِي.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sister is 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عَمِّي، اسْمُهُ خَالِدٌ.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عَمِّي، اسْمُهُ خَالِدٌ.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uncle is masculine → </a:t>
            </a:r>
            <a:pPr algn="l" indent="0" marL="0">
              <a:buNone/>
            </a:pPr>
            <a:r>
              <a:rPr lang="ar-SA" altLang="en-US" sz="1500" b="1" dirty="0">
                <a:solidFill>
                  <a:srgbClr val="1B3B6F"/>
                </a:solidFill>
                <a:latin typeface="Amiri" pitchFamily="2" charset="-78"/>
                <a:ea typeface="Amiri" pitchFamily="2" charset="-78"/>
                <a:cs typeface="Amiri" pitchFamily="2" charset="-78"/>
              </a:rPr>
              <a:t>هٰذَا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جَدَّتِي اسْمُهُ نُورٌ.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جَدَّتِي اسْمُهَا نُورٌ.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name → </a:t>
            </a:r>
            <a:pPr algn="l" indent="0" marL="0">
              <a:buNone/>
            </a:pPr>
            <a:r>
              <a:rPr lang="ar-SA" altLang="en-US" sz="1500" b="1" dirty="0">
                <a:solidFill>
                  <a:srgbClr val="1B3B6F"/>
                </a:solidFill>
                <a:latin typeface="Amiri" pitchFamily="2" charset="-78"/>
                <a:ea typeface="Amiri" pitchFamily="2" charset="-78"/>
                <a:cs typeface="Amiri" pitchFamily="2" charset="-78"/>
              </a:rPr>
              <a:t>اسْمُهَا</a:t>
            </a:r>
            <a:pPr algn="l" indent="0" marL="0">
              <a:buNone/>
            </a:pPr>
            <a:r>
              <a:rPr lang="en-US" sz="1150" b="1" dirty="0">
                <a:solidFill>
                  <a:srgbClr val="1B3B6F"/>
                </a:solidFill>
                <a:latin typeface="Calibri" pitchFamily="34" charset="0"/>
                <a:cs typeface="Amiri" pitchFamily="2" charset="-78"/>
              </a:rPr>
              <a:t> (-hā).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يَسْكُنُ جَدِّي وَجَدَّتِي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grandfather and grandmother live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عِنْدِي عَمٌّ اسْمُهُ ______ ، وَخَالَةٌ اسْمُهَا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an uncle called … and an aunt called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he / she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______ أَشْخَاصٍ.</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 أَبِي ______ ، وَاسْمُ أُمِّي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father’s name is …, and my mother’s name is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 اسْمُهُ / اسْمُهَا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 his / her name is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كَثِيرًا.</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a lot.</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أَبِي · أُمِّي  ·  أَخِي · أُخْتِي  ·  جَدِّي · جَدَّتِي  ·  عَمِّي · خَالَتِي  ·  هٰذَا · هٰذِهِ  ·  اسْمُهُ · اسْمُهَا  ·  عِنْدِي  ·  لِأَنَّ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about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عَنْ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40–60 words) about your family, for a new pen-friend. Include: • who is in your family • the names of two people (</a:t>
            </a:r>
            <a:pPr algn="l" indent="0" marL="0">
              <a:buNone/>
            </a:pPr>
            <a:r>
              <a:rPr lang="ar-SA" altLang="en-US" sz="1750" b="1" dirty="0">
                <a:solidFill>
                  <a:srgbClr val="1F2A37"/>
                </a:solidFill>
                <a:latin typeface="Amiri" pitchFamily="2" charset="-78"/>
                <a:ea typeface="Amiri" pitchFamily="2" charset="-78"/>
                <a:cs typeface="Amiri" pitchFamily="2" charset="-78"/>
              </a:rPr>
              <a:t>اسْمُهُ / اسْمُهَا</a:t>
            </a:r>
            <a:pPr algn="l" indent="0" marL="0">
              <a:buNone/>
            </a:pPr>
            <a:r>
              <a:rPr lang="en-US" sz="1350" b="1" dirty="0">
                <a:solidFill>
                  <a:srgbClr val="1F2A37"/>
                </a:solidFill>
                <a:latin typeface="Calibri" pitchFamily="34" charset="0"/>
                <a:cs typeface="Amiri" pitchFamily="2" charset="-78"/>
              </a:rPr>
              <a:t>) • your grandparents or an uncle / aunt • one person you love,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 أَبِي … وَاسْمُ أُمِّي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father’s name is … and my mother’s name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أَخٌ اسْمُهُ … / أُخْتٌ اسْمُهَا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 brother called … / a sister called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because he / she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a:t>
            </a:r>
            <a:pPr algn="l" indent="0" marL="0">
              <a:buNone/>
            </a:pPr>
            <a:r>
              <a:rPr lang="en-US" sz="1100" dirty="0">
                <a:solidFill>
                  <a:srgbClr val="5A6472"/>
                </a:solidFill>
                <a:latin typeface="Calibri" pitchFamily="34" charset="0"/>
                <a:cs typeface="Amiri" pitchFamily="2" charset="-78"/>
              </a:rPr>
              <a:t> for a man and </a:t>
            </a:r>
            <a:pPr algn="l" indent="0" marL="0">
              <a:buNone/>
            </a:pPr>
            <a:r>
              <a:rPr lang="ar-SA" altLang="en-US" sz="1450" dirty="0">
                <a:solidFill>
                  <a:srgbClr val="5A6472"/>
                </a:solidFill>
                <a:latin typeface="Amiri" pitchFamily="2" charset="-78"/>
                <a:ea typeface="Amiri" pitchFamily="2" charset="-78"/>
                <a:cs typeface="Amiri" pitchFamily="2" charset="-78"/>
              </a:rPr>
              <a:t>هٰذِهِ</a:t>
            </a:r>
            <a:pPr algn="l" indent="0" marL="0">
              <a:buNone/>
            </a:pPr>
            <a:r>
              <a:rPr lang="en-US" sz="1100" dirty="0">
                <a:solidFill>
                  <a:srgbClr val="5A6472"/>
                </a:solidFill>
                <a:latin typeface="Calibri" pitchFamily="34" charset="0"/>
                <a:cs typeface="Amiri" pitchFamily="2" charset="-78"/>
              </a:rPr>
              <a:t> for a woman?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اسْمُهُ / اسْمُهَا</a:t>
            </a:r>
            <a:pPr algn="l" indent="0" marL="0">
              <a:buNone/>
            </a:pPr>
            <a:r>
              <a:rPr lang="en-US" sz="1100" dirty="0">
                <a:solidFill>
                  <a:srgbClr val="5A6472"/>
                </a:solidFill>
                <a:latin typeface="Calibri" pitchFamily="34" charset="0"/>
                <a:cs typeface="Amiri" pitchFamily="2" charset="-78"/>
              </a:rPr>
              <a:t> and my-endings (</a:t>
            </a:r>
            <a:pPr algn="l" indent="0" marL="0">
              <a:buNone/>
            </a:pPr>
            <a:r>
              <a:rPr lang="ar-SA" altLang="en-US" sz="1450" dirty="0">
                <a:solidFill>
                  <a:srgbClr val="5A6472"/>
                </a:solidFill>
                <a:latin typeface="Amiri" pitchFamily="2" charset="-78"/>
                <a:ea typeface="Amiri" pitchFamily="2" charset="-78"/>
                <a:cs typeface="Amiri" pitchFamily="2" charset="-78"/>
              </a:rPr>
              <a:t>أَبِي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أُمِّي</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جَدِّي، اسْمُهُ حَسَنٌ.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grandfather; his name is Hassan.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هٰذِهِ صُورَةٌ جَمِيلَةٌ! مَنْ هٰذَا؟</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عَمَّتِي، اسْمُهَا فَاطِمَةُ.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aunt; her name is Fatima.</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هٰذِهِ؟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خَمْسَةُ أَشْخَاصٍ.</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five people in my family.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شَخْصًا فِي عَائِلَتِكَ؟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عِنْدِي ابْنُ عَمٍّ، اسْمُهُ يُوسُفُ.</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have a cousin; his name is Yusuf.</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ابْنُ عَمٍّ؟</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اسْمِي سَارَةُ، وَفِي عَائِلَتِي خَمْسَةُ أَشْخَاصٍ. اسْمُ أَبِي أَحْمَدُ، وَاسْمُ أُمِّي هِنْدٌ. عِنْدِي أَخٌ كَبِيرٌ اسْمُهُ عَلِيٌّ، وَأُخْتٌ صَغِيرَةٌ اسْمُهَا لَيْلَى. يَسْكُنُ جَدِّي وَجَدَّتِي فِي مِصْرَ، وَعِنْدِي عَمٌّ فِي لَنْدَنَ اسْمُهُ خَالِدٌ. أُحِبُّ جَدَّتِي كَثِيرًا لِأَنَّهَا لَطِيفَةٌ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My name is Sara, and there are five people in my family. My father’s name is Ahmed and my mother’s name is Hind. I have an older brother called Ali and a little sister called Layla. My grandfather and grandmother live in Egypt, and I have an uncle in London called Khalid. I love my grandmother a lot because she is very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عَائِلَتِي خَمْسَةُ أَشْخَاصٍ</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أَخٌ كَبِيرٌ اسْمُهُ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أُخْتٌ صَغِيرَةٌ اسْمُهَا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لَطِيفَةٌ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F3-L02 · Describing Family Members</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وَصْفُ أَفْرَادِ العَائِلَةِ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F3-L01 · Practice Room — My Family — Members and Relationships</dc:title>
  <dc:subject>PptxGenJS Presentation</dc:subject>
  <dc:creator>Al Madina Online School · Arabic Department</dc:creator>
  <cp:lastModifiedBy>Al Madina Online School · Arabic Department</cp:lastModifiedBy>
  <cp:revision>1</cp:revision>
  <dcterms:created xsi:type="dcterms:W3CDTF">2026-10-25T15:33:21Z</dcterms:created>
  <dcterms:modified xsi:type="dcterms:W3CDTF">2026-10-25T15:33:21Z</dcterms:modified>
</cp:coreProperties>
</file>