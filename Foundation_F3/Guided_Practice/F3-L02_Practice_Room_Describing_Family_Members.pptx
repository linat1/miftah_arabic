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F3-L02 (Describing Family Members) — new practice tasks built on the lesson’s own word bank and grammar (adjective agreement (m. / f.); shaʿruhu / shaʿruhā + colour; ʿaynāhu / ʿaynāhā; huwa / hiya + two adjectives; jiddan).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F3-L02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تَنْتَظِرِينَ. Language: every adjective about the aunt ends in -a (ة); shaʿruhā + masculine colour (hair is masculine).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(37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F3-L02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Describing Family Members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وَصْفُ العَائِلَةِ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50" dirty="0">
                <a:solidFill>
                  <a:srgbClr val="C6D2E6"/>
                </a:solidFill>
                <a:latin typeface="Calibri" pitchFamily="34" charset="0"/>
                <a:cs typeface="Amiri" pitchFamily="2" charset="-78"/>
              </a:rPr>
              <a:t>Students run their own speaking and writing practice describing family members: say the description words, act a short dialogue, answer question cards, do a role-play card describing a relative you are meeting at the airport, give a 30-second description, then build, fix and write a short description of two family members.</a:t>
            </a:r>
            <a:endParaRPr lang="en-US" sz="11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F3-L02 · Foundation F3 · My Family &amp; Home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Appearance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طَوِيلٌ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tall / long</a:t>
            </a:r>
            <a:endParaRPr lang="en-US" sz="1350" dirty="0"/>
          </a:p>
          <a:p>
            <a:pPr indent="0" marL="0">
              <a:buNone/>
            </a:pPr>
            <a:r>
              <a:rPr lang="en-US" sz="1100" i="1" dirty="0">
                <a:solidFill>
                  <a:srgbClr val="5A6472"/>
                </a:solidFill>
                <a:latin typeface="Calibri" pitchFamily="34" charset="0"/>
                <a:cs typeface="Amiri" pitchFamily="2" charset="-78"/>
              </a:rPr>
              <a:t>ṭa-wīl</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قَصِيرٌ</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short</a:t>
            </a:r>
            <a:endParaRPr lang="en-US" sz="1350" dirty="0"/>
          </a:p>
          <a:p>
            <a:pPr indent="0" marL="0">
              <a:buNone/>
            </a:pPr>
            <a:r>
              <a:rPr lang="en-US" sz="1100" i="1" dirty="0">
                <a:solidFill>
                  <a:srgbClr val="5A6472"/>
                </a:solidFill>
                <a:latin typeface="Calibri" pitchFamily="34" charset="0"/>
                <a:cs typeface="Amiri" pitchFamily="2" charset="-78"/>
              </a:rPr>
              <a:t>qa-ṣīr</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قَصِيرَةٌ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قَصِيرٌ</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نَحِيفٌ</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slim</a:t>
            </a:r>
            <a:endParaRPr lang="en-US" sz="1350" dirty="0"/>
          </a:p>
          <a:p>
            <a:pPr indent="0" marL="0">
              <a:buNone/>
            </a:pPr>
            <a:r>
              <a:rPr lang="en-US" sz="1100" i="1" dirty="0">
                <a:solidFill>
                  <a:srgbClr val="5A6472"/>
                </a:solidFill>
                <a:latin typeface="Calibri" pitchFamily="34" charset="0"/>
                <a:cs typeface="Amiri" pitchFamily="2" charset="-78"/>
              </a:rPr>
              <a:t>na-ḥīf</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نَحِيفَةٌ</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نَحِيفٌ</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كَبِيرٌ</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big / older</a:t>
            </a:r>
            <a:endParaRPr lang="en-US" sz="1350" dirty="0"/>
          </a:p>
          <a:p>
            <a:pPr indent="0" marL="0">
              <a:buNone/>
            </a:pPr>
            <a:r>
              <a:rPr lang="en-US" sz="1100" i="1" dirty="0">
                <a:solidFill>
                  <a:srgbClr val="5A6472"/>
                </a:solidFill>
                <a:latin typeface="Calibri" pitchFamily="34" charset="0"/>
                <a:cs typeface="Amiri" pitchFamily="2" charset="-78"/>
              </a:rPr>
              <a:t>ka-bīr</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كَبِيرَةٌ</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كَبِيرٌ</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صَغِيرٌ</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small / younger</a:t>
            </a:r>
            <a:endParaRPr lang="en-US" sz="1350" dirty="0"/>
          </a:p>
          <a:p>
            <a:pPr indent="0" marL="0">
              <a:buNone/>
            </a:pPr>
            <a:r>
              <a:rPr lang="en-US" sz="1100" i="1" dirty="0">
                <a:solidFill>
                  <a:srgbClr val="5A6472"/>
                </a:solidFill>
                <a:latin typeface="Calibri" pitchFamily="34" charset="0"/>
                <a:cs typeface="Amiri" pitchFamily="2" charset="-78"/>
              </a:rPr>
              <a:t>ṣa-ghīr</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صَغِيرَةٌ</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صَغِيرٌ</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3" name="Shape 90"/>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hair = m.</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شَعْرُهُ / شَعْرُهَا</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 hair / her hair</a:t>
            </a:r>
            <a:endParaRPr lang="en-US" sz="1350" dirty="0"/>
          </a:p>
          <a:p>
            <a:pPr indent="0" marL="0">
              <a:buNone/>
            </a:pPr>
            <a:r>
              <a:rPr lang="en-US" sz="1100" i="1" dirty="0">
                <a:solidFill>
                  <a:srgbClr val="5A6472"/>
                </a:solidFill>
                <a:latin typeface="Calibri" pitchFamily="34" charset="0"/>
                <a:cs typeface="Amiri" pitchFamily="2" charset="-78"/>
              </a:rPr>
              <a:t>sha‘-ru-hu / sha‘-ru-hā</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short hair</a:t>
            </a:r>
            <a:endParaRPr lang="en-US" sz="700" dirty="0"/>
          </a:p>
        </p:txBody>
      </p:sp>
      <p:sp>
        <p:nvSpPr>
          <p:cNvPr id="101" name="Text 98"/>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شَعْرٌ قَصِيرٌ</a:t>
            </a:r>
            <a:endParaRPr lang="ar-SA" sz="135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long hair</a:t>
            </a:r>
            <a:endParaRPr lang="en-US" sz="700" dirty="0"/>
          </a:p>
        </p:txBody>
      </p:sp>
      <p:sp>
        <p:nvSpPr>
          <p:cNvPr id="104" name="Text 101"/>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شَعْرٌ طَوِيلٌ</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Personality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لَطِيفٌ</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kind / pleasant</a:t>
            </a:r>
            <a:endParaRPr lang="en-US" sz="1350" dirty="0"/>
          </a:p>
          <a:p>
            <a:pPr indent="0" marL="0">
              <a:buNone/>
            </a:pPr>
            <a:r>
              <a:rPr lang="en-US" sz="1100" i="1" dirty="0">
                <a:solidFill>
                  <a:srgbClr val="5A6472"/>
                </a:solidFill>
                <a:latin typeface="Calibri" pitchFamily="34" charset="0"/>
                <a:cs typeface="Amiri" pitchFamily="2" charset="-78"/>
              </a:rPr>
              <a:t>la-ṭīf</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لَطِيفَةٌ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لَطِيفٌ</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مُضْحِكٌ</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funny</a:t>
            </a:r>
            <a:endParaRPr lang="en-US" sz="1350" dirty="0"/>
          </a:p>
          <a:p>
            <a:pPr indent="0" marL="0">
              <a:buNone/>
            </a:pPr>
            <a:r>
              <a:rPr lang="en-US" sz="1100" i="1" dirty="0">
                <a:solidFill>
                  <a:srgbClr val="5A6472"/>
                </a:solidFill>
                <a:latin typeface="Calibri" pitchFamily="34" charset="0"/>
                <a:cs typeface="Amiri" pitchFamily="2" charset="-78"/>
              </a:rPr>
              <a:t>muḍ-ḥik</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مُضْحِكَةٌ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مُضْحِكٌ</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هَادِئٌ</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quiet / calm</a:t>
            </a:r>
            <a:endParaRPr lang="en-US" sz="1350" dirty="0"/>
          </a:p>
          <a:p>
            <a:pPr indent="0" marL="0">
              <a:buNone/>
            </a:pPr>
            <a:r>
              <a:rPr lang="en-US" sz="1100" i="1" dirty="0">
                <a:solidFill>
                  <a:srgbClr val="5A6472"/>
                </a:solidFill>
                <a:latin typeface="Calibri" pitchFamily="34" charset="0"/>
                <a:cs typeface="Amiri" pitchFamily="2" charset="-78"/>
              </a:rPr>
              <a:t>hā-di’</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هَادِئَةٌ</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كَرِيمٌ</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generous</a:t>
            </a:r>
            <a:endParaRPr lang="en-US" sz="1350" dirty="0"/>
          </a:p>
          <a:p>
            <a:pPr indent="0" marL="0">
              <a:buNone/>
            </a:pPr>
            <a:r>
              <a:rPr lang="en-US" sz="1100" i="1" dirty="0">
                <a:solidFill>
                  <a:srgbClr val="5A6472"/>
                </a:solidFill>
                <a:latin typeface="Calibri" pitchFamily="34" charset="0"/>
                <a:cs typeface="Amiri" pitchFamily="2" charset="-78"/>
              </a:rPr>
              <a:t>ka-rīm</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كَرِيمَةٌ</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كَرِيمٌ</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مُجْتَهِدٌ</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hard-working</a:t>
            </a:r>
            <a:endParaRPr lang="en-US" sz="1350" dirty="0"/>
          </a:p>
          <a:p>
            <a:pPr indent="0" marL="0">
              <a:buNone/>
            </a:pPr>
            <a:r>
              <a:rPr lang="en-US" sz="1100" i="1" dirty="0">
                <a:solidFill>
                  <a:srgbClr val="5A6472"/>
                </a:solidFill>
                <a:latin typeface="Calibri" pitchFamily="34" charset="0"/>
                <a:cs typeface="Amiri" pitchFamily="2" charset="-78"/>
              </a:rPr>
              <a:t>muj-ta-hid</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مُجْتَهِدَةٌ</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93" name="Shape 90"/>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ذَكِيٌّ</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intelligent</a:t>
            </a:r>
            <a:endParaRPr lang="en-US" sz="1350" dirty="0"/>
          </a:p>
          <a:p>
            <a:pPr indent="0" marL="0">
              <a:buNone/>
            </a:pPr>
            <a:r>
              <a:rPr lang="en-US" sz="1100" i="1" dirty="0">
                <a:solidFill>
                  <a:srgbClr val="5A6472"/>
                </a:solidFill>
                <a:latin typeface="Calibri" pitchFamily="34" charset="0"/>
                <a:cs typeface="Amiri" pitchFamily="2" charset="-78"/>
              </a:rPr>
              <a:t>dha-kiyy</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1" name="Text 98"/>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ذَكِيَّةٌ</a:t>
            </a:r>
            <a:endParaRPr lang="ar-SA" sz="150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4" name="Text 101"/>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ذَكِيٌّ</a:t>
            </a:r>
            <a:endParaRPr lang="ar-SA" sz="150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does your brother look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يَبْدُو أَخُوكَ؟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your brother look like?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كَيْفَ يَبْدُو أَخُوكَ؟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is tall and slim, and his hair is short and black.</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هُوَ طَوِيلٌ وَنَحِيفٌ، وَشَعْرُهُ أَسْوَدُ قَصِيرٌ.</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is his personality like?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وَكَيْفَ شَخْصِيَّتُهُ؟</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is very funny and generous.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هُوَ مُضْحِكٌ وَكَرِيمٌ جِدًّا.</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your sister?</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وَأُخْتُكَ؟</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is short and calm, and her hair is long and brown.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هِيَ قَصِيرَةٌ وَهَادِئَةٌ، وَشَعْرُهَا بُنِّيٌّ طَوِيلٌ.</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describe a REAL brother, sister or cousin — change every adjective.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وَشَعْرُهُ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أَبِي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your father tall or short?</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أَبُوكَ طَوِيلٌ أَمْ قَصِيرٌ؟</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وَعَيْنَاهَا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أُمِّي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your mother look like?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تَبْدُو أُمُّكَ؟</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 ← أَخِي / خَالِي … مُضْحِكٌ جِدًّا</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the funniest person in your family?</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أَكْثَرُ شَخْصٍ مُضْحِكٍ فِي عَائِلَتِكَ؟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وَهُوَ / وَهِيَ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جَدِّي … / جَدَّتِي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grandfather or grandmother.</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جَدَّكَ أَوْ جَدَّتَكَ.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لٰكِنِّي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personality like?</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شَخْصِيَّتُكَ أَنْتَ؟</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Role-play card — meeting your aunt at the airport</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المَطَارِ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أَنْتَظِرُ … اسْمُهَا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who you are waiting for.</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تَنْتَظِرُ؟</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 لَا، هِيَ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her height and build.</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هِيَ طَوِيلَةٌ؟</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شَعْرُهَا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her hair.</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لَوْنُ شَعْرِهَا؟</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هِيَ … وَ… جِدًّا</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her personality.</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شَخْصِيَّتُهَا؟</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student waiting for your aunt · Leader = an airport helper.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the person I love most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أَحَبُّ شَخْصٍ إِلَيَّ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Describe one family member for 30 seconds: who they are, what they look like (height, hair, eyes) and what they are like.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sentences: who · one appearance adjective · one personality adjective.</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hair or eye colour (</a:t>
            </a:r>
            <a:pPr algn="l" indent="0" marL="0">
              <a:buNone/>
            </a:pPr>
            <a:r>
              <a:rPr lang="ar-SA" altLang="en-US" sz="1500" dirty="0">
                <a:solidFill>
                  <a:srgbClr val="1F2A37"/>
                </a:solidFill>
                <a:latin typeface="Amiri" pitchFamily="2" charset="-78"/>
                <a:ea typeface="Amiri" pitchFamily="2" charset="-78"/>
                <a:cs typeface="Amiri" pitchFamily="2" charset="-78"/>
              </a:rPr>
              <a:t>شَعْرُهُ / شَعْرُهَا</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جِدًّا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Describe two people (a man and a woman) and compare them: </a:t>
            </a:r>
            <a:pPr algn="l" indent="0" marL="0">
              <a:buNone/>
            </a:pPr>
            <a:r>
              <a:rPr lang="ar-SA" altLang="en-US" sz="1500" dirty="0">
                <a:solidFill>
                  <a:srgbClr val="1F2A37"/>
                </a:solidFill>
                <a:latin typeface="Amiri" pitchFamily="2" charset="-78"/>
                <a:ea typeface="Amiri" pitchFamily="2" charset="-78"/>
                <a:cs typeface="Amiri" pitchFamily="2" charset="-78"/>
              </a:rPr>
              <a:t>هُوَ … ، أَمَّا هِيَ فَهِيَ</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sister is tall and clever.</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طَوِيلَةٌ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طَوِيلٌ</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وَذَكِيَّةٌ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وَذَكِيٌّ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His hair is short and brown.</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شَعْرُهُ</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شَعْرُهَا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قَصِيرٌ</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قَصِيرَةٌ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وَبُنِّيٌّ</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وَبُنِّيَّةٌ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grandfather is very generous.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جَدَّتِي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كَرِيمٌ</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كَرِيمَةٌ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أَيْضًا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sister is tall and clever.</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sister → every adjective feminine: </a:t>
            </a:r>
            <a:pPr algn="l" indent="0" marL="0">
              <a:buNone/>
            </a:pPr>
            <a:r>
              <a:rPr lang="ar-SA" altLang="en-US" sz="1350" dirty="0">
                <a:solidFill>
                  <a:srgbClr val="5A6472"/>
                </a:solidFill>
                <a:latin typeface="Amiri" pitchFamily="2" charset="-78"/>
                <a:ea typeface="Amiri" pitchFamily="2" charset="-78"/>
                <a:cs typeface="Amiri" pitchFamily="2" charset="-78"/>
              </a:rPr>
              <a:t>طَوِيلَةٌ وَذَكِيَّةٌ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أُخْتِي طَوِيلَةٌ وَذَكِيَّةٌ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His hair is short and brown.</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 -hu; hair (</a:t>
            </a:r>
            <a:pPr algn="l" indent="0" marL="0">
              <a:buNone/>
            </a:pPr>
            <a:r>
              <a:rPr lang="ar-SA" altLang="en-US" sz="1350" dirty="0">
                <a:solidFill>
                  <a:srgbClr val="5A6472"/>
                </a:solidFill>
                <a:latin typeface="Amiri" pitchFamily="2" charset="-78"/>
                <a:ea typeface="Amiri" pitchFamily="2" charset="-78"/>
                <a:cs typeface="Amiri" pitchFamily="2" charset="-78"/>
              </a:rPr>
              <a:t>شَعْرٌ</a:t>
            </a:r>
            <a:pPr algn="l" indent="0" marL="0">
              <a:buNone/>
            </a:pPr>
            <a:r>
              <a:rPr lang="en-US" sz="1050" i="1" dirty="0">
                <a:solidFill>
                  <a:srgbClr val="5A6472"/>
                </a:solidFill>
                <a:latin typeface="Calibri" pitchFamily="34" charset="0"/>
                <a:cs typeface="Amiri" pitchFamily="2" charset="-78"/>
              </a:rPr>
              <a:t>) is masculine → </a:t>
            </a:r>
            <a:pPr algn="l" indent="0" marL="0">
              <a:buNone/>
            </a:pPr>
            <a:r>
              <a:rPr lang="ar-SA" altLang="en-US" sz="1350" dirty="0">
                <a:solidFill>
                  <a:srgbClr val="5A6472"/>
                </a:solidFill>
                <a:latin typeface="Amiri" pitchFamily="2" charset="-78"/>
                <a:ea typeface="Amiri" pitchFamily="2" charset="-78"/>
                <a:cs typeface="Amiri" pitchFamily="2" charset="-78"/>
              </a:rPr>
              <a:t>قَصِيرٌ وَبُنِّيٌّ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شَعْرُهُ قَصِيرٌ وَبُنِّيٌّ</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grandfather is very generous.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man → </a:t>
            </a:r>
            <a:pPr algn="l" indent="0" marL="0">
              <a:buNone/>
            </a:pPr>
            <a:r>
              <a:rPr lang="ar-SA" altLang="en-US" sz="1350" dirty="0">
                <a:solidFill>
                  <a:srgbClr val="5A6472"/>
                </a:solidFill>
                <a:latin typeface="Amiri" pitchFamily="2" charset="-78"/>
                <a:ea typeface="Amiri" pitchFamily="2" charset="-78"/>
                <a:cs typeface="Amiri" pitchFamily="2" charset="-78"/>
              </a:rPr>
              <a:t>كَرِيمٌ</a:t>
            </a:r>
            <a:pPr algn="l" indent="0" marL="0">
              <a:buNone/>
            </a:pPr>
            <a:r>
              <a:rPr lang="en-US" sz="1050" i="1" dirty="0">
                <a:solidFill>
                  <a:srgbClr val="5A6472"/>
                </a:solidFill>
                <a:latin typeface="Calibri" pitchFamily="34" charset="0"/>
                <a:cs typeface="Amiri" pitchFamily="2" charset="-78"/>
              </a:rPr>
              <a:t>; very = </a:t>
            </a:r>
            <a:pPr algn="l" indent="0" marL="0">
              <a:buNone/>
            </a:pPr>
            <a:r>
              <a:rPr lang="ar-SA" altLang="en-US" sz="1350" dirty="0">
                <a:solidFill>
                  <a:srgbClr val="5A6472"/>
                </a:solidFill>
                <a:latin typeface="Amiri" pitchFamily="2" charset="-78"/>
                <a:ea typeface="Amiri" pitchFamily="2" charset="-78"/>
                <a:cs typeface="Amiri" pitchFamily="2" charset="-78"/>
              </a:rPr>
              <a:t>جِدًّا</a:t>
            </a:r>
            <a:pPr algn="l" indent="0" marL="0">
              <a:buNone/>
            </a:pPr>
            <a:r>
              <a:rPr lang="en-US" sz="1050" i="1" dirty="0">
                <a:solidFill>
                  <a:srgbClr val="5A6472"/>
                </a:solidFill>
                <a:latin typeface="Calibri" pitchFamily="34" charset="0"/>
                <a:cs typeface="Amiri" pitchFamily="2" charset="-78"/>
              </a:rPr>
              <a:t> (after the adjective).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جَدِّي كَرِيمٌ جِدًّا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أُمِّي طَوِيلٌ وَلَطِيفٌ.</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mother is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شَعْرُهَا طَوِيلَةٌ.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hair is the subject — is </a:t>
            </a:r>
            <a:pPr algn="l" indent="0" marL="0">
              <a:buNone/>
            </a:pPr>
            <a:r>
              <a:rPr lang="ar-SA" altLang="en-US" sz="1700" dirty="0">
                <a:solidFill>
                  <a:srgbClr val="5A6472"/>
                </a:solidFill>
                <a:latin typeface="Amiri" pitchFamily="2" charset="-78"/>
                <a:ea typeface="Amiri" pitchFamily="2" charset="-78"/>
                <a:cs typeface="Amiri" pitchFamily="2" charset="-78"/>
              </a:rPr>
              <a:t>شَعْرٌ</a:t>
            </a:r>
            <a:pPr algn="l" indent="0" marL="0">
              <a:buNone/>
            </a:pPr>
            <a:r>
              <a:rPr lang="en-US" sz="1300" i="1" dirty="0">
                <a:solidFill>
                  <a:srgbClr val="5A6472"/>
                </a:solidFill>
                <a:latin typeface="Calibri" pitchFamily="34" charset="0"/>
                <a:cs typeface="Amiri" pitchFamily="2" charset="-78"/>
              </a:rPr>
              <a:t> masculine or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أَخِي جِدًّا مُضْحِكٌ.</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Where does </a:t>
            </a:r>
            <a:pPr algn="l" indent="0" marL="0">
              <a:buNone/>
            </a:pPr>
            <a:r>
              <a:rPr lang="ar-SA" altLang="en-US" sz="1700" dirty="0">
                <a:solidFill>
                  <a:srgbClr val="5A6472"/>
                </a:solidFill>
                <a:latin typeface="Amiri" pitchFamily="2" charset="-78"/>
                <a:ea typeface="Amiri" pitchFamily="2" charset="-78"/>
                <a:cs typeface="Amiri" pitchFamily="2" charset="-78"/>
              </a:rPr>
              <a:t>جِدًّا</a:t>
            </a:r>
            <a:pPr algn="l" indent="0" marL="0">
              <a:buNone/>
            </a:pPr>
            <a:r>
              <a:rPr lang="en-US" sz="1300" i="1" dirty="0">
                <a:solidFill>
                  <a:srgbClr val="5A6472"/>
                </a:solidFill>
                <a:latin typeface="Calibri" pitchFamily="34" charset="0"/>
                <a:cs typeface="Amiri" pitchFamily="2" charset="-78"/>
              </a:rPr>
              <a:t> go?</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أُمِّي طَوِيلٌ وَلَطِيفٌ.</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أُمِّي طَوِيلَةٌ وَلَطِيفَةٌ.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Both adjectives need </a:t>
            </a:r>
            <a:pPr algn="l" indent="0" marL="0">
              <a:buNone/>
            </a:pPr>
            <a:r>
              <a:rPr lang="ar-SA" altLang="en-US" sz="1500" b="1" dirty="0">
                <a:solidFill>
                  <a:srgbClr val="1B3B6F"/>
                </a:solidFill>
                <a:latin typeface="Amiri" pitchFamily="2" charset="-78"/>
                <a:ea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 for a woman.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شَعْرُهَا طَوِيلَةٌ.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شَعْرُهَا طَوِيلٌ.</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شَعْرٌ</a:t>
            </a:r>
            <a:pPr algn="l" indent="0" marL="0">
              <a:buNone/>
            </a:pPr>
            <a:r>
              <a:rPr lang="en-US" sz="1150" b="1" dirty="0">
                <a:solidFill>
                  <a:srgbClr val="1B3B6F"/>
                </a:solidFill>
                <a:latin typeface="Calibri" pitchFamily="34" charset="0"/>
                <a:cs typeface="Amiri" pitchFamily="2" charset="-78"/>
              </a:rPr>
              <a:t> is masculine → </a:t>
            </a:r>
            <a:pPr algn="l" indent="0" marL="0">
              <a:buNone/>
            </a:pPr>
            <a:r>
              <a:rPr lang="ar-SA" altLang="en-US" sz="1500" b="1" dirty="0">
                <a:solidFill>
                  <a:srgbClr val="1B3B6F"/>
                </a:solidFill>
                <a:latin typeface="Amiri" pitchFamily="2" charset="-78"/>
                <a:ea typeface="Amiri" pitchFamily="2" charset="-78"/>
                <a:cs typeface="Amiri" pitchFamily="2" charset="-78"/>
              </a:rPr>
              <a:t>طَوِيلٌ</a:t>
            </a:r>
            <a:pPr algn="l" indent="0" marL="0">
              <a:buNone/>
            </a:pPr>
            <a:r>
              <a:rPr lang="en-US" sz="1150" b="1" dirty="0">
                <a:solidFill>
                  <a:srgbClr val="1B3B6F"/>
                </a:solidFill>
                <a:latin typeface="Calibri" pitchFamily="34" charset="0"/>
                <a:cs typeface="Amiri" pitchFamily="2" charset="-78"/>
              </a:rPr>
              <a:t>, even for a woman’s hair.</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أَخِي جِدًّا مُضْحِكٌ.</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أَخِي مُضْحِكٌ جِدًّا.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جِدًّا</a:t>
            </a:r>
            <a:pPr algn="l" indent="0" marL="0">
              <a:buNone/>
            </a:pPr>
            <a:r>
              <a:rPr lang="en-US" sz="1150" b="1" dirty="0">
                <a:solidFill>
                  <a:srgbClr val="1B3B6F"/>
                </a:solidFill>
                <a:latin typeface="Calibri" pitchFamily="34" charset="0"/>
                <a:cs typeface="Amiri" pitchFamily="2" charset="-78"/>
              </a:rPr>
              <a:t> comes AFTER the adjective.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عَيْنَاهُ / عَيْنَاهَا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 her eyes are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أُحِبُّهُ / أُحِبُّهَا لِأَنَّهُ / لِأَنَّهَا ______ جِدًّا.</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him / her because he / she is very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______ اسْمُهُ ______ . هُوَ ______ وَ ______ .</a:t>
            </a:r>
            <a:endParaRPr lang="ar-SA" sz="16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 is called … He is … and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شَعْرُهُ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hair is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______ اسْمُهَا ______ . هِيَ ______ وَ ______ .</a:t>
            </a:r>
            <a:endParaRPr lang="ar-SA" sz="155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 is called … She is … and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شَعْرُهَا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Her hair is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طَوِيلٌ · طَوِيلَةٌ  ·  قَصِيرٌ · قَصِيرَةٌ  ·  نَحِيفٌ · نَحِيفَةٌ  ·  شَعْرُهُ · شَعْرُهَا  ·  لَطِيفٌ · لَطِيفَةٌ  ·  مُضْحِكٌ · مُضْحِكَةٌ  ·  هَادِئٌ · هَادِئَةٌ  ·  جِدًّا</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people in my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شَخْصَانِ مِنْ عَائِلَتِي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short description (about 40–60 words) of two family members — a man and a woman. For each: • who they are and their name • appearance (height, hair, eyes) • personality (two adjectives) • one reason you like them.</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أَبِي / خَالِي … طَوِيلٌ وَ…</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father / uncle … is tall and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شَعْرُهُ / شَعْرُهَا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his / her hair is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لَطِيفَةٌ وَ… جِدًّا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she is very kind and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أُحِبُّهُ / أُحِبُّهَا لِأَنَّهُ / لِأَنَّهَا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love him / her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every adjective match the person (</a:t>
            </a:r>
            <a:pPr algn="l" indent="0" marL="0">
              <a:buNone/>
            </a:pPr>
            <a:r>
              <a:rPr lang="ar-SA" altLang="en-US" sz="1450" dirty="0">
                <a:solidFill>
                  <a:srgbClr val="5A6472"/>
                </a:solidFill>
                <a:latin typeface="Amiri" pitchFamily="2" charset="-78"/>
                <a:ea typeface="Amiri" pitchFamily="2" charset="-78"/>
                <a:cs typeface="Amiri" pitchFamily="2" charset="-78"/>
              </a:rPr>
              <a:t>ة</a:t>
            </a:r>
            <a:pPr algn="l" indent="0" marL="0">
              <a:buNone/>
            </a:pPr>
            <a:r>
              <a:rPr lang="en-US" sz="1100" dirty="0">
                <a:solidFill>
                  <a:srgbClr val="5A6472"/>
                </a:solidFill>
                <a:latin typeface="Calibri" pitchFamily="34" charset="0"/>
                <a:cs typeface="Amiri" pitchFamily="2" charset="-78"/>
              </a:rPr>
              <a:t> for a woman)?</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شَعْرُهُ / شَعْرُهَا</a:t>
            </a:r>
            <a:pPr algn="l" indent="0" marL="0">
              <a:buNone/>
            </a:pPr>
            <a:r>
              <a:rPr lang="en-US" sz="1100" dirty="0">
                <a:solidFill>
                  <a:srgbClr val="5A6472"/>
                </a:solidFill>
                <a:latin typeface="Calibri" pitchFamily="34" charset="0"/>
                <a:cs typeface="Amiri" pitchFamily="2" charset="-78"/>
              </a:rPr>
              <a:t> with a masculine colour?</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أَنْتَظِرُ عَمَّتِي، اسْمُهَا سُعَادُ.</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waiting for my aunt; her name is Suad.</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تَنْتَظِرُ؟</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هِيَ قَصِيرَةٌ وَنَحِيفَةٌ.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 she is short and slim.</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هِيَ طَوِيلَةٌ؟</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شَعْرُهَا أَسْوَدُ، وَهِيَ تَلْبَسُ حِجَابًا أَزْرَقَ.</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Her hair is black, and she wears a blue hijab.</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لَوْنُ شَعْرِهَا؟</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لَطِيفَةٌ وَمُضْحِكَةٌ جِدًّا.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She is very kind and funny.</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شَخْصِيَّتُهَا؟</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خَالِي اسْمُهُ مَحْمُودٌ. هُوَ طَوِيلٌ وَقَوِيٌّ، وَشَعْرُهُ أَسْوَدُ قَصِيرٌ. هُوَ مُضْحِكٌ وَكَرِيمٌ جِدًّا، وَأُحِبُّهُ لِأَنَّهُ يَلْعَبُ مَعِي. جَدَّتِي اسْمُهَا عَائِشَةُ. هِيَ قَصِيرَةٌ وَنَحِيفَةٌ، وَشَعْرُهَا أَبْيَضُ، وَعَيْنَاهَا بُنِّيَّتَانِ. هِيَ هَادِئَةٌ وَلَطِيفَةٌ جِدًّا، وَأُحِبُّهَا لِأَنَّهَا تَحْكِي لِي قِصَصًا جَمِيلَةً.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uncle is called Mahmoud. He is tall and strong, and his hair is short and black. He is very funny and generous, and I love him because he plays with me. My grandmother is called Aisha. She is short and slim, her hair is white, and her eyes are brown. She is very calm and kind, and I love her because she tells me beautiful stories.”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هُوَ طَوِيلٌ وَقَوِيٌّ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شَعْرُهُ أَسْوَدُ</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هِيَ قَصِيرَةٌ وَنَحِيفَةٌ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لِأَنَّهَا تَحْكِي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F3-L02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F3-L03 · My Home — Rooms and Parts of the House</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بَيْتِي — الغُرَفُ وَأَجْزَاءُ المَنْزِلِ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F3-L02 · Practice Room — Describing Family Members</dc:title>
  <dc:subject>PptxGenJS Presentation</dc:subject>
  <dc:creator>Al Madina Online School · Arabic Department</dc:creator>
  <cp:lastModifiedBy>Al Madina Online School · Arabic Department</cp:lastModifiedBy>
  <cp:revision>1</cp:revision>
  <dcterms:created xsi:type="dcterms:W3CDTF">2026-10-25T17:19:40Z</dcterms:created>
  <dcterms:modified xsi:type="dcterms:W3CDTF">2026-10-25T17:19:40Z</dcterms:modified>
</cp:coreProperties>
</file>