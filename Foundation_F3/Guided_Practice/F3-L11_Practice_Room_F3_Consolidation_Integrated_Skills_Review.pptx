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F3-L11 (F3 Consolidation — Integrated Skills Review) — new practice tasks built on the lesson’s own word bank and grammar (F3 key decisions: hādhā / hādhihi; m. / f. adjectives; colour agreement; yūjadu / tūjadu; possessive endings; positions + genitive; qarībun min / baʿīdun ʿan).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F3-L11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عَائِلَتِكِ. Uses the whole unit: family members · numbers + rooms · reasons · qarīb min / baʿīd ʿan.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F3 Consolidation — Integrated Skills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across F3: retrieve the key words, act a model exchange, answer mixed question cards, do an estate-agent role-play card, give a 30-second talk, then build, fix (the most common F3 errors) and write a short text that shows every key decision.</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F3-L11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F3 review: family and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 / جَدَّةٌ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 / grandmother</a:t>
            </a:r>
            <a:endParaRPr lang="en-US" sz="1350" dirty="0"/>
          </a:p>
          <a:p>
            <a:pPr indent="0" marL="0">
              <a:buNone/>
            </a:pPr>
            <a:r>
              <a:rPr lang="en-US" sz="1100" i="1" dirty="0">
                <a:solidFill>
                  <a:srgbClr val="5A6472"/>
                </a:solidFill>
                <a:latin typeface="Calibri" pitchFamily="34" charset="0"/>
                <a:cs typeface="Amiri" pitchFamily="2" charset="-78"/>
              </a:rPr>
              <a:t>jadd / jad-da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أَجْدَادٌ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خَالٌ / خَالَةٌ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maternal uncle / aunt</a:t>
            </a:r>
            <a:endParaRPr lang="en-US" sz="1350" dirty="0"/>
          </a:p>
          <a:p>
            <a:pPr indent="0" marL="0">
              <a:buNone/>
            </a:pPr>
            <a:r>
              <a:rPr lang="en-US" sz="1100" i="1" dirty="0">
                <a:solidFill>
                  <a:srgbClr val="5A6472"/>
                </a:solidFill>
                <a:latin typeface="Calibri" pitchFamily="34" charset="0"/>
                <a:cs typeface="Amiri" pitchFamily="2" charset="-78"/>
              </a:rPr>
              <a:t>khāl / khā-la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أَخْوَالٌ / خَالَاتٌ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 / أُخْتٌ</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 / sister</a:t>
            </a:r>
            <a:endParaRPr lang="en-US" sz="1350" dirty="0"/>
          </a:p>
          <a:p>
            <a:pPr indent="0" marL="0">
              <a:buNone/>
            </a:pPr>
            <a:r>
              <a:rPr lang="en-US" sz="1100" i="1" dirty="0">
                <a:solidFill>
                  <a:srgbClr val="5A6472"/>
                </a:solidFill>
                <a:latin typeface="Calibri" pitchFamily="34" charset="0"/>
                <a:cs typeface="Amiri" pitchFamily="2" charset="-78"/>
              </a:rPr>
              <a:t>akh / ukht</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إِخْوَةٌ / أَخَوَاتٌ</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لَطِيفٌ</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a:t>
            </a:r>
            <a:endParaRPr lang="en-US" sz="1350" dirty="0"/>
          </a:p>
          <a:p>
            <a:pPr indent="0" marL="0">
              <a:buNone/>
            </a:pPr>
            <a:r>
              <a:rPr lang="en-US" sz="1100" i="1" dirty="0">
                <a:solidFill>
                  <a:srgbClr val="5A6472"/>
                </a:solidFill>
                <a:latin typeface="Calibri" pitchFamily="34" charset="0"/>
                <a:cs typeface="Amiri" pitchFamily="2" charset="-78"/>
              </a:rPr>
              <a:t>la-ṭīf</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لَطِيفَةٌ</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لَطِيفٌ</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مُتَعَاوِنٌ</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 / co-operative</a:t>
            </a:r>
            <a:endParaRPr lang="en-US" sz="1350" dirty="0"/>
          </a:p>
          <a:p>
            <a:pPr indent="0" marL="0">
              <a:buNone/>
            </a:pPr>
            <a:r>
              <a:rPr lang="en-US" sz="1100" i="1" dirty="0">
                <a:solidFill>
                  <a:srgbClr val="5A6472"/>
                </a:solidFill>
                <a:latin typeface="Calibri" pitchFamily="34" charset="0"/>
                <a:cs typeface="Amiri" pitchFamily="2" charset="-78"/>
              </a:rPr>
              <a:t>mu-ta-‘ā-win</a:t>
            </a:r>
            <a:endParaRPr lang="en-US" sz="1350" dirty="0"/>
          </a:p>
        </p:txBody>
      </p:sp>
      <p:sp>
        <p:nvSpPr>
          <p:cNvPr id="71" name="Shape 68"/>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مُتَعَاوِنَةٌ</a:t>
            </a:r>
            <a:endParaRPr lang="ar-SA" sz="1500" dirty="0"/>
          </a:p>
        </p:txBody>
      </p:sp>
      <p:sp>
        <p:nvSpPr>
          <p:cNvPr id="74" name="Shape 71"/>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6" name="Text 73"/>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مُتَعَاوِنٌ</a:t>
            </a:r>
            <a:endParaRPr lang="ar-SA" sz="15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2" name="Shape 7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4" name="Text 8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مُجْتَهِدٌ</a:t>
            </a:r>
            <a:endParaRPr lang="ar-SA" sz="3000" dirty="0"/>
          </a:p>
        </p:txBody>
      </p:sp>
      <p:sp>
        <p:nvSpPr>
          <p:cNvPr id="85" name="Text 8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a:t>
            </a:r>
            <a:endParaRPr lang="en-US" sz="1350" dirty="0"/>
          </a:p>
        </p:txBody>
      </p:sp>
      <p:sp>
        <p:nvSpPr>
          <p:cNvPr id="86" name="Shape 83"/>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8" name="Text 85"/>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مُجْتَهِدَةٌ</a:t>
            </a:r>
            <a:endParaRPr lang="ar-SA" sz="1500" dirty="0"/>
          </a:p>
        </p:txBody>
      </p:sp>
      <p:sp>
        <p:nvSpPr>
          <p:cNvPr id="89" name="Shape 86"/>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1" name="Text 88"/>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مُجْتَهِدٌ</a:t>
            </a:r>
            <a:endParaRPr lang="ar-SA" sz="150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F3 review: home and neighbourhood</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الجُلُوسِ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 al-ju-lūs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 الجُلُوسِ</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خِزَانَةٌ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خَزَائِنُ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كُرْسِيٌّ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كَرَاسِي</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غَسَّالَةُ الصُّحُونِ</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dishwasher</a:t>
            </a:r>
            <a:endParaRPr lang="en-US" sz="1350" dirty="0"/>
          </a:p>
          <a:p>
            <a:pPr indent="0" marL="0">
              <a:buNone/>
            </a:pPr>
            <a:r>
              <a:rPr lang="en-US" sz="1100" i="1" dirty="0">
                <a:solidFill>
                  <a:srgbClr val="5A6472"/>
                </a:solidFill>
                <a:latin typeface="Calibri" pitchFamily="34" charset="0"/>
                <a:cs typeface="Amiri" pitchFamily="2" charset="-78"/>
              </a:rPr>
              <a:t>ghas-sā-lat aṣ-ṣu-ḥūn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غَسَّالَاتُ الصُّحُونِ</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location</a:t>
            </a:r>
            <a:endParaRPr lang="en-US" sz="800" dirty="0"/>
          </a:p>
        </p:txBody>
      </p:sp>
      <p:sp>
        <p:nvSpPr>
          <p:cNvPr id="76" name="Shape 7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قَرِيبٌ مِنْ · بَعِيدٌ عَنْ</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 from</a:t>
            </a:r>
            <a:endParaRPr lang="en-US" sz="1350" dirty="0"/>
          </a:p>
          <a:p>
            <a:pPr indent="0" marL="0">
              <a:buNone/>
            </a:pPr>
            <a:r>
              <a:rPr lang="en-US" sz="1100" i="1" dirty="0">
                <a:solidFill>
                  <a:srgbClr val="5A6472"/>
                </a:solidFill>
                <a:latin typeface="Calibri" pitchFamily="34" charset="0"/>
                <a:cs typeface="Amiri" pitchFamily="2" charset="-78"/>
              </a:rPr>
              <a:t>qa-rīb min · ba-‘īd ‘an</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قَرِيبَةٌ · بَعِيدَةٌ</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visit to a new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زِيَارَةُ عَائِلَةٍ 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this your new house? How lovely!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بَيْتُكُمُ الجَدِيدُ؟ مَا شَاءَ اللّٰهُ!</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it has four rooms, and there is a garden behind it.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فِيهِ أَرْبَعُ غُرَفٍ، وَتُوجَدُ حَدِيقَةٌ خَلْفَهُ.</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this (f.) in the photo?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وَمَنْ هٰذِهِ فِي الصُّورَةِ؟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my aunt; she is very hard-working and helpful.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خَالَتِي، هِيَ مُجْتَهِدَةٌ وَمُتَعَاوِنَةٌ جِدًّا.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 house near the public park?</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البَيْتُ قَرِيبٌ مِنَ الحَدِيقَةِ العَامَّةِ؟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very near, but it is far from the school.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قَرِيبٌ جِدًّا، لٰكِنَّهُ بَعِيدٌ عَنِ المَدْرَسَةِ.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YOUR home and one relative — check every agreement.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 / اسْمُهَا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هٰذَا … / هٰذِهِ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this? (show a real or imagined photo)</a:t>
            </a:r>
            <a:endParaRPr lang="en-US" sz="1100" dirty="0"/>
          </a:p>
        </p:txBody>
      </p:sp>
      <p:sp>
        <p:nvSpPr>
          <p:cNvPr id="25" name="Text 22"/>
          <p:cNvSpPr txBox="1"/>
          <p:nvPr/>
        </p:nvSpPr>
        <p:spPr>
          <a:xfrm>
            <a:off x="1069848" y="2267712"/>
            <a:ext cx="33832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هٰذَا؟ / مَنْ هٰذِهِ؟</a:t>
            </a:r>
            <a:pPr algn="l" indent="0" marL="0">
              <a:buNone/>
            </a:pPr>
            <a:r>
              <a:rPr lang="en-US" sz="1100" dirty="0">
                <a:solidFill>
                  <a:srgbClr val="5A6472"/>
                </a:solidFill>
                <a:latin typeface="Calibri" pitchFamily="34" charset="0"/>
                <a:cs typeface="Amiri" pitchFamily="2" charset="-78"/>
              </a:rPr>
              <a:t> (show a photo)</a:t>
            </a:r>
            <a:endParaRPr lang="en-US" sz="11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وَشَعْرُهُ / وَشَعْرُهَا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خَالِي / خَالَتِي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one of your relatives.</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أَحَدَ أَقَارِبِكَ.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لَوْنُهَا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kitchen?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مَطْبَخِكُمْ؟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فَاتِحٌ / غَامِقٌ</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خِزَانَتِي … وَسَرِيرِي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are your wardrobe and bed?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خِزَانَتِكَ وَسَرِيرِكَ؟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لٰكِنَّهُ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قَرِيبٌ مِنْ … / لَا، بَعِيدٌ عَنْ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your home near the mosque?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بَيْتُكَ قَرِيبٌ مِنَ المَسْجِدِ؟</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finding a new home with an estate agent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عِنْدَ الوَكِيلِ العَقَارِيِّ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عَائِلَتِي … :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how many + who.</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شَخْصًا فِي عَائِلَتِكَ؟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نُرِيدُ … غُرَفِ نَوْمٍ</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number of bedrooms.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غُرْفَةَ نَوْمٍ تُرِيدُونَ؟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 why.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تُرِيدُونَ حَدِيقَةً؟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قَرِيبًا مِنْ … وَ…</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near / far from places.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تُرِيدُونَ البَيْتَ؟</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family member looking for a home · Leader = the estate agent.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F3 in one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الوَحْدَةُ كُلُّهَا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one family member (appearance + personality), your home (rooms + one colour), and one place near your home.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each: person · home · place.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each, with agreement checked.</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positions, colours and an opinion with </a:t>
            </a:r>
            <a:pPr algn="l" indent="0" marL="0">
              <a:buNone/>
            </a:pPr>
            <a:r>
              <a:rPr lang="ar-SA" altLang="en-US" sz="1500" dirty="0">
                <a:solidFill>
                  <a:srgbClr val="1F2A37"/>
                </a:solidFill>
                <a:latin typeface="Amiri" pitchFamily="2" charset="-78"/>
                <a:ea typeface="Amiri" pitchFamily="2" charset="-78"/>
                <a:cs typeface="Amiri" pitchFamily="2" charset="-78"/>
              </a:rPr>
              <a:t>لِأَنَّ / لٰكِنَّ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my cousin (f.); her hair is long.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بِنْتُ عَمِّي،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بِنْتُ عَمِّي،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شَعْرُهُ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yellow lamp next to the bed.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 مِصْبَاحٌ</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 مِصْبَاحٌ</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أَصْفَرُ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صَفْرَاءُ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 السَّرِيرِ.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 السَّرِيرُ.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library is far from our home.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المَكْتَبَةَ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بَعِيدَةٌ عَنْ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بَعِيدٌ مِنْ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بَيْتِنَا.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بَيْتُنَا.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my cousin (f.); her hair is long.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هٰذِهِ … شَعْرُهَا</a:t>
            </a:r>
            <a:pPr algn="l" indent="0" marL="0">
              <a:buNone/>
            </a:pPr>
            <a:r>
              <a:rPr lang="en-US" sz="1050" i="1" dirty="0">
                <a:solidFill>
                  <a:srgbClr val="5A6472"/>
                </a:solidFill>
                <a:latin typeface="Calibri" pitchFamily="34" charset="0"/>
                <a:cs typeface="Amiri" pitchFamily="2" charset="-78"/>
              </a:rPr>
              <a:t>; hair is masculine → </a:t>
            </a:r>
            <a:pPr algn="l" indent="0" marL="0">
              <a:buNone/>
            </a:pPr>
            <a:r>
              <a:rPr lang="ar-SA" altLang="en-US" sz="1350" dirty="0">
                <a:solidFill>
                  <a:srgbClr val="5A6472"/>
                </a:solidFill>
                <a:latin typeface="Amiri" pitchFamily="2" charset="-78"/>
                <a:ea typeface="Amiri" pitchFamily="2" charset="-78"/>
                <a:cs typeface="Amiri" pitchFamily="2" charset="-78"/>
              </a:rPr>
              <a:t>طَوِيلٌ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بِنْتُ عَمِّي، شَعْرُهَا طَوِيلٌ.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yellow lamp next to the bed.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مِصْبَاحٌ</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يُوجَدُ … أَصْفَرُ</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بِجَانِبِ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مِصْبَاحٌ أَصْفَرُ بِجَانِبِ السَّرِيرِ.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library is far from our home.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Library (f.) → </a:t>
            </a:r>
            <a:pPr algn="l" indent="0" marL="0">
              <a:buNone/>
            </a:pPr>
            <a:r>
              <a:rPr lang="ar-SA" altLang="en-US" sz="1350" dirty="0">
                <a:solidFill>
                  <a:srgbClr val="5A6472"/>
                </a:solidFill>
                <a:latin typeface="Amiri" pitchFamily="2" charset="-78"/>
                <a:ea typeface="Amiri" pitchFamily="2" charset="-78"/>
                <a:cs typeface="Amiri" pitchFamily="2" charset="-78"/>
              </a:rPr>
              <a:t>بَعِيدَةٌ</a:t>
            </a:r>
            <a:pPr algn="l" indent="0" marL="0">
              <a:buNone/>
            </a:pPr>
            <a:r>
              <a:rPr lang="en-US" sz="1050" i="1" dirty="0">
                <a:solidFill>
                  <a:srgbClr val="5A6472"/>
                </a:solidFill>
                <a:latin typeface="Calibri" pitchFamily="34" charset="0"/>
                <a:cs typeface="Amiri" pitchFamily="2" charset="-78"/>
              </a:rPr>
              <a:t>; far from = </a:t>
            </a:r>
            <a:pPr algn="l" indent="0" marL="0">
              <a:buNone/>
            </a:pPr>
            <a:r>
              <a:rPr lang="ar-SA" altLang="en-US" sz="1350" dirty="0">
                <a:solidFill>
                  <a:srgbClr val="5A6472"/>
                </a:solidFill>
                <a:latin typeface="Amiri" pitchFamily="2" charset="-78"/>
                <a:ea typeface="Amiri" pitchFamily="2" charset="-78"/>
                <a:cs typeface="Amiri" pitchFamily="2" charset="-78"/>
              </a:rPr>
              <a:t>عَنْ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المَكْتَبَةُ بَعِيدَةٌ عَنْ بَيْتِنَا.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جَدَّتِي، هِيَ كَرِيمٌ.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words don’t match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السَّجَّادَةُ أَحْمَرُ.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ثَلَّاجَةٌ فِي المَطْبَخُ.</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mistakes.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جَدَّتِي، هِيَ كَرِيمٌ.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جَدَّتِي، هِيَ كَرِيمَةٌ.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Woman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كَرِيمَةٌ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السَّجَّادَةُ أَحْمَرُ.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السَّجَّادَةُ حَمْرَاءُ.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حَمْرَاءُ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ثَلَّاجَةٌ فِي المَطْبَخُ.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ثَلَّاجَةٌ فِي المَطْبَخِ.</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الكَنَبَةُ ______ ، وَالسَّرِيرُ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sofa is … (colour), and the bed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عَمِّي ______ ، وَهُوَ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uncle is …, and he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عَمَّتِي ______ ، وَهِيَ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aunt is …, and she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يُوجَدُ ______ ، وَتُوجَدُ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home there is … and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______ قَرِيبٌ مِنْ بَيْتِنَا، وَ ______ بَعِيدَةٌ عَنْهُ.</a:t>
            </a:r>
            <a:endParaRPr lang="ar-SA" sz="16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near our home, and … is far from it.</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 هٰذِهِ  ·  هُوَ · هِيَ  ·  يُوجَدُ · تُوجَدُ  ·  أَحْمَرُ · حَمْرَاءُ  ·  بُنِّيٌّ · بُنِّيَّةٌ  ·  قَرِيبٌ مِنْ  ·  بَعِيدٌ عَنْ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F3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مَا عِنْدِي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short text (about 45–65 words) that shows all the key F3 decisions. Include: • one male and one female relative, described • your home: rooms, with </a:t>
            </a:r>
            <a:pPr algn="l" indent="0" marL="0">
              <a:buNone/>
            </a:pPr>
            <a:r>
              <a:rPr lang="ar-SA" altLang="en-US" sz="1550" b="1" dirty="0">
                <a:solidFill>
                  <a:srgbClr val="1F2A37"/>
                </a:solidFill>
                <a:latin typeface="Amiri" pitchFamily="2" charset="-78"/>
                <a:ea typeface="Amiri" pitchFamily="2" charset="-78"/>
                <a:cs typeface="Amiri" pitchFamily="2" charset="-78"/>
              </a:rPr>
              <a:t>يُوجَدُ / تُوجَدُ</a:t>
            </a:r>
            <a:pPr algn="l" indent="0" marL="0">
              <a:buNone/>
            </a:pPr>
            <a:r>
              <a:rPr lang="en-US" sz="1200" b="1" dirty="0">
                <a:solidFill>
                  <a:srgbClr val="1F2A37"/>
                </a:solidFill>
                <a:latin typeface="Calibri" pitchFamily="34" charset="0"/>
                <a:cs typeface="Amiri" pitchFamily="2" charset="-78"/>
              </a:rPr>
              <a:t> • two objects with colours • one place near and one place far from your home • a reason with </a:t>
            </a:r>
            <a:pPr algn="l" indent="0" marL="0">
              <a:buNone/>
            </a:pPr>
            <a:r>
              <a:rPr lang="ar-SA" altLang="en-US" sz="1550" b="1" dirty="0">
                <a:solidFill>
                  <a:srgbClr val="1F2A37"/>
                </a:solidFill>
                <a:latin typeface="Amiri" pitchFamily="2" charset="-78"/>
                <a:ea typeface="Amiri" pitchFamily="2" charset="-78"/>
                <a:cs typeface="Amiri" pitchFamily="2" charset="-78"/>
              </a:rPr>
              <a:t>لِأَنَّ</a:t>
            </a:r>
            <a:pPr algn="l" indent="0" marL="0">
              <a:buNone/>
            </a:pPr>
            <a:r>
              <a:rPr lang="en-US" sz="1200" b="1" dirty="0">
                <a:solidFill>
                  <a:srgbClr val="1F2A37"/>
                </a:solidFill>
                <a:latin typeface="Calibri" pitchFamily="34" charset="0"/>
                <a:cs typeface="Amiri" pitchFamily="2" charset="-78"/>
              </a:rPr>
              <a:t>.</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 وَهٰذِهِ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(m.) is … and this (f.)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 (m. / f.)</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قَرِيبٌ مِنْ … · بَعِيدٌ عَنْ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near … · far from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he / she /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right every time?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and colour agree?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سِتَّةُ أَشْخَاصٍ: وَالِدَايَ وَإِخْوَتِي وَجَدَّتِي.</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six of us: my parents, my brothers and my grandmother.</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شَخْصًا فِي عَائِلَتِكَ؟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نُرِيدُ أَرْبَعَ غُرَفِ نَوْمٍ.</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want four bedrooms.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غُرْفَةَ نَوْمٍ تُرِيدُونَ؟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لِأَنَّ أَخِي الصَّغِيرَ يُحِبُّ اللَّعِبَ.</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because my little brother loves playing.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تُرِيدُونَ حَدِيقَةً؟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قَرِيبًا مِنَ المَدْرَسَةِ وَالمَسْجِدِ، وَبَعِيدًا عَنِ الشَّارِعِ الكَبِيرِ.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Near the school and the mosque, and far from the main road.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تُرِيدُونَ البَيْتَ؟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عَمِّي يُوسُفُ طَوِيلٌ، وَهُوَ مُجْتَهِدٌ وَمُضْحِكٌ. عَمَّتِي هِنْدُ قَصِيرَةٌ، وَهِيَ مُتَعَاوِنَةٌ جِدًّا. فِي بَيْتِنَا ثَلَاثُ غُرَفِ نَوْمٍ؛ يُوجَدُ مَطْبَخٌ وَاسِعٌ، وَتُوجَدُ غُرْفَةُ جُلُوسٍ مُرِيحَةٌ. الكَنَبَةُ رَمَادِيَّةٌ، وَالسَّجَّادَةُ حَمْرَاءُ. المَسْجِدُ قَرِيبٌ مِنْ بَيْتِنَا، وَالمَحَطَّةُ بَعِيدَةٌ عَنْهُ. أُحِبُّ حَيِّي لِأَنَّهُ هَادِئٌ وَنَظِيفٌ.</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uncle Yusuf is tall; he is hard-working and funny. My aunt Hind is short; she is very helpful. In our home there are three bedrooms; there is a spacious kitchen and a comfortable living room. The sofa is grey and the rug is red. The mosque is near our home, and the station is far from it. I love my area because it is quiet and clean.”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وَهِيَ مُتَعَاوِنَةٌ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مَطْبَخٌ … وَتُوجَدُ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السَّجَّادَةُ حَمْرَاءُ</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بَعِيدَةٌ عَنْهُ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F3-L12 · Unit Assessment: My Family and Home</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تَقْيِيمُ الوَحْدَةِ — عَائِلَتِي وَبَيْتِي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F3-L11 · Practice Room — F3 Consolidation — Integrated Skills Review</dc:title>
  <dc:subject>PptxGenJS Presentation</dc:subject>
  <dc:creator>Al Madina Online School · Arabic Department</dc:creator>
  <cp:lastModifiedBy>Al Madina Online School · Arabic Department</cp:lastModifiedBy>
  <cp:revision>1</cp:revision>
  <dcterms:created xsi:type="dcterms:W3CDTF">2026-10-25T17:24:30Z</dcterms:created>
  <dcterms:modified xsi:type="dcterms:W3CDTF">2026-10-25T17:24:30Z</dcterms:modified>
</cp:coreProperties>
</file>