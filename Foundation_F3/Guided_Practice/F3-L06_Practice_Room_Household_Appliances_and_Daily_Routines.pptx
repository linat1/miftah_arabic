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F3-L06 (Household Appliances and Daily Routines) — new practice tasks built on the lesson’s own word bank and grammar (nastaʿmilu … li- (we use … for); ushghilu / uṭfiʾu (switch on / off); frequency (kulla yawmin · marratan fī al-usbūʿi · aḥyānan); awwalan · thumma).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F3-L06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if your cousin is a girl, the commands change: ضَعِي · اضْغَطِي · أَطْفِئِيهِ. Language: imperatives (ḍaʿ · iḍghaṭ · aṭfiʾhu) · fī + genitive · frequency phrases.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(41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F3  ·  F3-L06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F3-L06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Household Appliances and Daily Routines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الأَجْهِزَةُ وَالرُّوتِينُ</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00" dirty="0">
                <a:solidFill>
                  <a:srgbClr val="C6D2E6"/>
                </a:solidFill>
                <a:latin typeface="Calibri" pitchFamily="34" charset="0"/>
                <a:cs typeface="Amiri" pitchFamily="2" charset="-78"/>
              </a:rPr>
              <a:t>Students run their own speaking and writing practice about appliances and routines at home: say the appliance words, act a short dialogue, answer question cards, do a role-play card helping a younger cousin with chores, give a 30-second routine talk, then build, fix and write about who does what at home.</a:t>
            </a:r>
            <a:endParaRPr lang="en-US" sz="12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F3-L06 · Foundation F3 · My Family &amp; Home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F3 › F3-L06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Kitchen appliances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ثَلَّاجَةٌ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fridge</a:t>
            </a:r>
            <a:endParaRPr lang="en-US" sz="1350" dirty="0"/>
          </a:p>
          <a:p>
            <a:pPr indent="0" marL="0">
              <a:buNone/>
            </a:pPr>
            <a:r>
              <a:rPr lang="en-US" sz="1100" i="1" dirty="0">
                <a:solidFill>
                  <a:srgbClr val="5A6472"/>
                </a:solidFill>
                <a:latin typeface="Calibri" pitchFamily="34" charset="0"/>
                <a:cs typeface="Amiri" pitchFamily="2" charset="-78"/>
              </a:rPr>
              <a:t>thal-lā-ja</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ثَلَّاجَاتٌ</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use</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أَحْفَظُ الطَّعَامَ فِيهَا.</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فُرْنٌ</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oven</a:t>
            </a:r>
            <a:endParaRPr lang="en-US" sz="1350" dirty="0"/>
          </a:p>
          <a:p>
            <a:pPr indent="0" marL="0">
              <a:buNone/>
            </a:pPr>
            <a:r>
              <a:rPr lang="en-US" sz="1100" i="1" dirty="0">
                <a:solidFill>
                  <a:srgbClr val="5A6472"/>
                </a:solidFill>
                <a:latin typeface="Calibri" pitchFamily="34" charset="0"/>
                <a:cs typeface="Amiri" pitchFamily="2" charset="-78"/>
              </a:rPr>
              <a:t>furn</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أَفْرَانٌ</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use</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أَطْبُخُ الطَّعَامَ فِيهِ.</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مِيكْرُوويفٌ</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microwave</a:t>
            </a:r>
            <a:endParaRPr lang="en-US" sz="1350" dirty="0"/>
          </a:p>
          <a:p>
            <a:pPr indent="0" marL="0">
              <a:buNone/>
            </a:pPr>
            <a:r>
              <a:rPr lang="en-US" sz="1100" i="1" dirty="0">
                <a:solidFill>
                  <a:srgbClr val="5A6472"/>
                </a:solidFill>
                <a:latin typeface="Calibri" pitchFamily="34" charset="0"/>
                <a:cs typeface="Amiri" pitchFamily="2" charset="-78"/>
              </a:rPr>
              <a:t>mīk-rū-wayf</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مِيكْرُوويفَاتٌ</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use</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أُسَخِّنُ الطَّعَامَ بِهِ.</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غَسَّالَةُ الصُّحُونِ</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dishwasher</a:t>
            </a:r>
            <a:endParaRPr lang="en-US" sz="1350" dirty="0"/>
          </a:p>
          <a:p>
            <a:pPr indent="0" marL="0">
              <a:buNone/>
            </a:pPr>
            <a:r>
              <a:rPr lang="en-US" sz="1100" i="1" dirty="0">
                <a:solidFill>
                  <a:srgbClr val="5A6472"/>
                </a:solidFill>
                <a:latin typeface="Calibri" pitchFamily="34" charset="0"/>
                <a:cs typeface="Amiri" pitchFamily="2" charset="-78"/>
              </a:rPr>
              <a:t>ghas-sā-lat aṣ-ṣu-ḥūn</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غَسَّالَاتُ الصُّحُونِ</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use</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أَغْسِلُ الصُّحُونَ بِهَا.</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8" name="Shape 75"/>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80" name="Text 7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غَلَّايَةٌ</a:t>
            </a:r>
            <a:endParaRPr lang="ar-SA" sz="3000" dirty="0"/>
          </a:p>
        </p:txBody>
      </p:sp>
      <p:sp>
        <p:nvSpPr>
          <p:cNvPr id="81" name="Text 7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kettle</a:t>
            </a:r>
            <a:endParaRPr lang="en-US" sz="1350" dirty="0"/>
          </a:p>
          <a:p>
            <a:pPr indent="0" marL="0">
              <a:buNone/>
            </a:pPr>
            <a:r>
              <a:rPr lang="en-US" sz="1100" i="1" dirty="0">
                <a:solidFill>
                  <a:srgbClr val="5A6472"/>
                </a:solidFill>
                <a:latin typeface="Calibri" pitchFamily="34" charset="0"/>
                <a:cs typeface="Amiri" pitchFamily="2" charset="-78"/>
              </a:rPr>
              <a:t>ghal-lā-ya</a:t>
            </a:r>
            <a:endParaRPr lang="en-US" sz="1350" dirty="0"/>
          </a:p>
        </p:txBody>
      </p:sp>
      <p:sp>
        <p:nvSpPr>
          <p:cNvPr id="82" name="Shape 7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4" name="Text 81"/>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غَلَّايَاتٌ</a:t>
            </a:r>
            <a:endParaRPr lang="ar-SA" sz="1500" dirty="0"/>
          </a:p>
        </p:txBody>
      </p:sp>
      <p:sp>
        <p:nvSpPr>
          <p:cNvPr id="85" name="Shape 8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6" name="Text 83"/>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use</a:t>
            </a:r>
            <a:endParaRPr lang="en-US" sz="750" dirty="0"/>
          </a:p>
        </p:txBody>
      </p:sp>
      <p:sp>
        <p:nvSpPr>
          <p:cNvPr id="87" name="Text 84"/>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أُشَغِّلُهَا فِي الصَّبَاحِ.</a:t>
            </a:r>
            <a:endParaRPr lang="ar-SA" sz="1500" dirty="0"/>
          </a:p>
        </p:txBody>
      </p:sp>
      <p:sp>
        <p:nvSpPr>
          <p:cNvPr id="88" name="Shape 8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9" name="Shape 86"/>
          <p:cNvSpPr/>
          <p:nvPr/>
        </p:nvSpPr>
        <p:spPr>
          <a:xfrm>
            <a:off x="566928" y="4261104"/>
            <a:ext cx="310896" cy="310896"/>
          </a:xfrm>
          <a:prstGeom prst="ellipse">
            <a:avLst/>
          </a:prstGeom>
          <a:solidFill>
            <a:srgbClr val="F4F1EA"/>
          </a:solidFill>
          <a:ln w="12700">
            <a:solidFill>
              <a:srgbClr val="F4F1EA"/>
            </a:solidFill>
            <a:prstDash val="solid"/>
          </a:ln>
        </p:spPr>
      </p:sp>
      <p:sp>
        <p:nvSpPr>
          <p:cNvPr id="90" name="Text 8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1" name="Shape 88"/>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2" name="Text 89"/>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93" name="Text 90"/>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مُكَيِّفُ هَوَاءٍ</a:t>
            </a:r>
            <a:endParaRPr lang="ar-SA" sz="3000" dirty="0"/>
          </a:p>
        </p:txBody>
      </p:sp>
      <p:sp>
        <p:nvSpPr>
          <p:cNvPr id="94" name="Text 91"/>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air conditioner</a:t>
            </a:r>
            <a:endParaRPr lang="en-US" sz="1350" dirty="0"/>
          </a:p>
          <a:p>
            <a:pPr indent="0" marL="0">
              <a:buNone/>
            </a:pPr>
            <a:r>
              <a:rPr lang="en-US" sz="1100" i="1" dirty="0">
                <a:solidFill>
                  <a:srgbClr val="5A6472"/>
                </a:solidFill>
                <a:latin typeface="Calibri" pitchFamily="34" charset="0"/>
                <a:cs typeface="Amiri" pitchFamily="2" charset="-78"/>
              </a:rPr>
              <a:t>mu-kay-yif ha-wā’</a:t>
            </a:r>
            <a:endParaRPr lang="en-US" sz="1350" dirty="0"/>
          </a:p>
        </p:txBody>
      </p:sp>
      <p:sp>
        <p:nvSpPr>
          <p:cNvPr id="95" name="Shape 92"/>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6" name="Text 93"/>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7" name="Text 94"/>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مُكَيِّفَاتٌ</a:t>
            </a:r>
            <a:endParaRPr lang="ar-SA" sz="1500" dirty="0"/>
          </a:p>
        </p:txBody>
      </p:sp>
      <p:sp>
        <p:nvSpPr>
          <p:cNvPr id="98" name="Shape 95"/>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9" name="Text 96"/>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use</a:t>
            </a:r>
            <a:endParaRPr lang="en-US" sz="750" dirty="0"/>
          </a:p>
        </p:txBody>
      </p:sp>
      <p:sp>
        <p:nvSpPr>
          <p:cNvPr id="100" name="Text 97"/>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أُبَرِّدُ الغُرْفَةَ بِهِ.</a:t>
            </a:r>
            <a:endParaRPr lang="ar-SA" sz="1500" dirty="0"/>
          </a:p>
        </p:txBody>
      </p:sp>
      <p:sp>
        <p:nvSpPr>
          <p:cNvPr id="101" name="Text 9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Other appliances at home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غَسَّالَةُ المَلَابِسِ</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washing machine</a:t>
            </a:r>
            <a:endParaRPr lang="en-US" sz="1350" dirty="0"/>
          </a:p>
          <a:p>
            <a:pPr indent="0" marL="0">
              <a:buNone/>
            </a:pPr>
            <a:r>
              <a:rPr lang="en-US" sz="1100" i="1" dirty="0">
                <a:solidFill>
                  <a:srgbClr val="5A6472"/>
                </a:solidFill>
                <a:latin typeface="Calibri" pitchFamily="34" charset="0"/>
                <a:cs typeface="Amiri" pitchFamily="2" charset="-78"/>
              </a:rPr>
              <a:t>ghas-sā-lat al-ma-lā-bis</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غَسَّالَاتٌ</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use</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أَغْسِلُ المَلَابِسَ بِهَا.</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35" name="Text 3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مُجَفِّفَةُ المَلَابِسِ</a:t>
            </a:r>
            <a:endParaRPr lang="ar-SA" sz="3000" dirty="0"/>
          </a:p>
        </p:txBody>
      </p:sp>
      <p:sp>
        <p:nvSpPr>
          <p:cNvPr id="36" name="Text 3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tumble dryer</a:t>
            </a:r>
            <a:endParaRPr lang="en-US" sz="1350" dirty="0"/>
          </a:p>
          <a:p>
            <a:pPr indent="0" marL="0">
              <a:buNone/>
            </a:pPr>
            <a:r>
              <a:rPr lang="en-US" sz="1100" i="1" dirty="0">
                <a:solidFill>
                  <a:srgbClr val="5A6472"/>
                </a:solidFill>
                <a:latin typeface="Calibri" pitchFamily="34" charset="0"/>
                <a:cs typeface="Amiri" pitchFamily="2" charset="-78"/>
              </a:rPr>
              <a:t>mu-jaf-fi-fat al-ma-lā-bis</a:t>
            </a:r>
            <a:endParaRPr lang="en-US" sz="1350" dirty="0"/>
          </a:p>
        </p:txBody>
      </p:sp>
      <p:sp>
        <p:nvSpPr>
          <p:cNvPr id="37" name="Shape 34"/>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9" name="Text 36"/>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مُجَفِّفَاتٌ</a:t>
            </a:r>
            <a:endParaRPr lang="ar-SA" sz="1500" dirty="0"/>
          </a:p>
        </p:txBody>
      </p:sp>
      <p:sp>
        <p:nvSpPr>
          <p:cNvPr id="40" name="Shape 37"/>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use</a:t>
            </a:r>
            <a:endParaRPr lang="en-US" sz="750" dirty="0"/>
          </a:p>
        </p:txBody>
      </p:sp>
      <p:sp>
        <p:nvSpPr>
          <p:cNvPr id="42" name="Text 39"/>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أُجَفِّفُ المَلَابِسَ بِهَا.</a:t>
            </a:r>
            <a:endParaRPr lang="ar-SA" sz="15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6" name="Shape 43"/>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48" name="Text 4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مِكْنَسَةٌ كَهْرَبَائِيَّةٌ</a:t>
            </a:r>
            <a:endParaRPr lang="ar-SA" sz="3000" dirty="0"/>
          </a:p>
        </p:txBody>
      </p:sp>
      <p:sp>
        <p:nvSpPr>
          <p:cNvPr id="49" name="Text 4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vacuum cleaner</a:t>
            </a:r>
            <a:endParaRPr lang="en-US" sz="1350" dirty="0"/>
          </a:p>
          <a:p>
            <a:pPr indent="0" marL="0">
              <a:buNone/>
            </a:pPr>
            <a:r>
              <a:rPr lang="en-US" sz="1100" i="1" dirty="0">
                <a:solidFill>
                  <a:srgbClr val="5A6472"/>
                </a:solidFill>
                <a:latin typeface="Calibri" pitchFamily="34" charset="0"/>
                <a:cs typeface="Amiri" pitchFamily="2" charset="-78"/>
              </a:rPr>
              <a:t>mik-na-sa kah-ra-bā-’iy-ya</a:t>
            </a:r>
            <a:endParaRPr lang="en-US" sz="1350" dirty="0"/>
          </a:p>
        </p:txBody>
      </p:sp>
      <p:sp>
        <p:nvSpPr>
          <p:cNvPr id="50" name="Shape 47"/>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2" name="Text 49"/>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مَكَانِسُ</a:t>
            </a:r>
            <a:endParaRPr lang="ar-SA" sz="1500" dirty="0"/>
          </a:p>
        </p:txBody>
      </p:sp>
      <p:sp>
        <p:nvSpPr>
          <p:cNvPr id="53" name="Shape 50"/>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use</a:t>
            </a:r>
            <a:endParaRPr lang="en-US" sz="750" dirty="0"/>
          </a:p>
        </p:txBody>
      </p:sp>
      <p:sp>
        <p:nvSpPr>
          <p:cNvPr id="55" name="Text 52"/>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أُنَظِّفُ الأَرْضِيَّةَ بِهَا.</a:t>
            </a:r>
            <a:endParaRPr lang="ar-SA" sz="1500" dirty="0"/>
          </a:p>
        </p:txBody>
      </p:sp>
      <p:sp>
        <p:nvSpPr>
          <p:cNvPr id="56" name="Shape 5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8211312"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9" name="Shape 56"/>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61" name="Shape 5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تِلْفَازٌ</a:t>
            </a:r>
            <a:endParaRPr lang="ar-SA" sz="3000" dirty="0"/>
          </a:p>
        </p:txBody>
      </p:sp>
      <p:sp>
        <p:nvSpPr>
          <p:cNvPr id="64" name="Text 6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television</a:t>
            </a:r>
            <a:endParaRPr lang="en-US" sz="1350" dirty="0"/>
          </a:p>
          <a:p>
            <a:pPr indent="0" marL="0">
              <a:buNone/>
            </a:pPr>
            <a:r>
              <a:rPr lang="en-US" sz="1100" i="1" dirty="0">
                <a:solidFill>
                  <a:srgbClr val="5A6472"/>
                </a:solidFill>
                <a:latin typeface="Calibri" pitchFamily="34" charset="0"/>
                <a:cs typeface="Amiri" pitchFamily="2" charset="-78"/>
              </a:rPr>
              <a:t>til-fāz</a:t>
            </a:r>
            <a:endParaRPr lang="en-US" sz="1350" dirty="0"/>
          </a:p>
        </p:txBody>
      </p:sp>
      <p:sp>
        <p:nvSpPr>
          <p:cNvPr id="65" name="Shape 62"/>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7" name="Text 64"/>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تِلْفَازَاتٌ</a:t>
            </a:r>
            <a:endParaRPr lang="ar-SA" sz="1500" dirty="0"/>
          </a:p>
        </p:txBody>
      </p:sp>
      <p:sp>
        <p:nvSpPr>
          <p:cNvPr id="68" name="Shape 65"/>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use</a:t>
            </a:r>
            <a:endParaRPr lang="en-US" sz="750" dirty="0"/>
          </a:p>
        </p:txBody>
      </p:sp>
      <p:sp>
        <p:nvSpPr>
          <p:cNvPr id="70" name="Text 67"/>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أُشَاهِدُ البَرَامِجَ عَلَيْهِ.</a:t>
            </a:r>
            <a:endParaRPr lang="ar-SA" sz="1500" dirty="0"/>
          </a:p>
        </p:txBody>
      </p:sp>
      <p:sp>
        <p:nvSpPr>
          <p:cNvPr id="71" name="Shape 6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389120" y="4261104"/>
            <a:ext cx="310896" cy="310896"/>
          </a:xfrm>
          <a:prstGeom prst="ellipse">
            <a:avLst/>
          </a:prstGeom>
          <a:solidFill>
            <a:srgbClr val="F4F1EA"/>
          </a:solidFill>
          <a:ln w="12700">
            <a:solidFill>
              <a:srgbClr val="F4F1EA"/>
            </a:solidFill>
            <a:prstDash val="solid"/>
          </a:ln>
        </p:spPr>
      </p:sp>
      <p:sp>
        <p:nvSpPr>
          <p:cNvPr id="73" name="Text 7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4" name="Shape 71"/>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5" name="Text 72"/>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76" name="Shape 7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8" name="Text 7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حَاسُوبٌ</a:t>
            </a:r>
            <a:endParaRPr lang="ar-SA" sz="3000" dirty="0"/>
          </a:p>
        </p:txBody>
      </p:sp>
      <p:sp>
        <p:nvSpPr>
          <p:cNvPr id="79" name="Text 7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computer</a:t>
            </a:r>
            <a:endParaRPr lang="en-US" sz="1350" dirty="0"/>
          </a:p>
          <a:p>
            <a:pPr indent="0" marL="0">
              <a:buNone/>
            </a:pPr>
            <a:r>
              <a:rPr lang="en-US" sz="1100" i="1" dirty="0">
                <a:solidFill>
                  <a:srgbClr val="5A6472"/>
                </a:solidFill>
                <a:latin typeface="Calibri" pitchFamily="34" charset="0"/>
                <a:cs typeface="Amiri" pitchFamily="2" charset="-78"/>
              </a:rPr>
              <a:t>ḥā-sūb</a:t>
            </a:r>
            <a:endParaRPr lang="en-US" sz="1350" dirty="0"/>
          </a:p>
        </p:txBody>
      </p:sp>
      <p:sp>
        <p:nvSpPr>
          <p:cNvPr id="80" name="Shape 77"/>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2" name="Text 79"/>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حَوَاسِيبُ</a:t>
            </a:r>
            <a:endParaRPr lang="ar-SA" sz="1500" dirty="0"/>
          </a:p>
        </p:txBody>
      </p:sp>
      <p:sp>
        <p:nvSpPr>
          <p:cNvPr id="83" name="Shape 80"/>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4" name="Text 81"/>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use</a:t>
            </a:r>
            <a:endParaRPr lang="en-US" sz="750" dirty="0"/>
          </a:p>
        </p:txBody>
      </p:sp>
      <p:sp>
        <p:nvSpPr>
          <p:cNvPr id="85" name="Text 82"/>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أَسْتَخْدِمُهُ لِلدِّرَاسَةِ.</a:t>
            </a:r>
            <a:endParaRPr lang="ar-SA" sz="1500" dirty="0"/>
          </a:p>
        </p:txBody>
      </p:sp>
      <p:sp>
        <p:nvSpPr>
          <p:cNvPr id="86" name="Shape 8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7" name="Shape 84"/>
          <p:cNvSpPr/>
          <p:nvPr/>
        </p:nvSpPr>
        <p:spPr>
          <a:xfrm>
            <a:off x="566928" y="4261104"/>
            <a:ext cx="310896" cy="310896"/>
          </a:xfrm>
          <a:prstGeom prst="ellipse">
            <a:avLst/>
          </a:prstGeom>
          <a:solidFill>
            <a:srgbClr val="F4F1EA"/>
          </a:solidFill>
          <a:ln w="12700">
            <a:solidFill>
              <a:srgbClr val="F4F1EA"/>
            </a:solidFill>
            <a:prstDash val="solid"/>
          </a:ln>
        </p:spPr>
      </p:sp>
      <p:sp>
        <p:nvSpPr>
          <p:cNvPr id="88" name="Text 8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9" name="Shape 86"/>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0" name="Text 87"/>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91" name="Text 88"/>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مِكْوَاةٌ</a:t>
            </a:r>
            <a:endParaRPr lang="ar-SA" sz="3000" dirty="0"/>
          </a:p>
        </p:txBody>
      </p:sp>
      <p:sp>
        <p:nvSpPr>
          <p:cNvPr id="92" name="Text 89"/>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iron</a:t>
            </a:r>
            <a:endParaRPr lang="en-US" sz="1350" dirty="0"/>
          </a:p>
          <a:p>
            <a:pPr indent="0" marL="0">
              <a:buNone/>
            </a:pPr>
            <a:r>
              <a:rPr lang="en-US" sz="1100" i="1" dirty="0">
                <a:solidFill>
                  <a:srgbClr val="5A6472"/>
                </a:solidFill>
                <a:latin typeface="Calibri" pitchFamily="34" charset="0"/>
                <a:cs typeface="Amiri" pitchFamily="2" charset="-78"/>
              </a:rPr>
              <a:t>mik-wā</a:t>
            </a:r>
            <a:endParaRPr lang="en-US" sz="1350" dirty="0"/>
          </a:p>
        </p:txBody>
      </p:sp>
      <p:sp>
        <p:nvSpPr>
          <p:cNvPr id="93" name="Shape 90"/>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4" name="Text 91"/>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5" name="Text 92"/>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مَكَاوٍ</a:t>
            </a:r>
            <a:endParaRPr lang="ar-SA" sz="1500" dirty="0"/>
          </a:p>
        </p:txBody>
      </p:sp>
      <p:sp>
        <p:nvSpPr>
          <p:cNvPr id="96" name="Shape 93"/>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use</a:t>
            </a:r>
            <a:endParaRPr lang="en-US" sz="750" dirty="0"/>
          </a:p>
        </p:txBody>
      </p:sp>
      <p:sp>
        <p:nvSpPr>
          <p:cNvPr id="98" name="Text 95"/>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أَكْوِي المَلَابِسَ بِهَا.</a:t>
            </a:r>
            <a:endParaRPr lang="ar-SA" sz="1500" dirty="0"/>
          </a:p>
        </p:txBody>
      </p:sp>
      <p:sp>
        <p:nvSpPr>
          <p:cNvPr id="99" name="Text 9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uses the washing machine?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يَسْتَعْمِلُ الغَسَّالَةَ؟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uses the washing machine in your house?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 يَسْتَعْمِلُ غَسَّالَةَ المَلَابِسِ فِي بَيْتِكُمْ؟</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mum uses it twice a week.</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أُمِّي تَسْتَعْمِلُهَا مَرَّتَيْنِ فِي الأُسْبُوعِ.</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 What do you do?</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وَأَنْتَ؟ مَاذَا تَفْعَلُ؟</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switch on the dishwasher every evening.</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أُشَغِّلُ غَسَّالَةَ الصُّحُونِ كُلَّ مَسَاءٍ.</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when do you use the vacuum cleaner?</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وَمَتَى تَسْتَعْمِلُ المِكْنَسَةَ الكَهْرَبَائِيَّةَ؟</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 Saturday: first I tidy my room, then I clean it with the vacuum.</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يَوْمَ السَّبْتِ: أَوَّلًا أُرَتِّبُ غُرْفَتِي، ثُمَّ أُنَظِّفُهَا بِالمِكْنَسَةِ.</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say what really happens in YOUR home — who, which appliance, how often.</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وَلَا يُوجَدُ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تُوجَدُ … وَيُوجَدُ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appliances are in your kitchen?</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يُوجَدُ فِي مَطْبَخِكُمْ؟</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بَارِدًا</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نَسْتَعْمِلُهَا لِحِفْظِ الطَّعَامِ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do we use the fridge?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نَسْتَعْمِلُ الثَّلَّاجَةَ؟</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أُشَغِّلُهَا فِي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 you switch on the kettle?</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تُشَغِّلُ الغَلَّايَةَ؟</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مَرَّةً فِي الأُسْبُوعِ</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أُمِّي / أَبِي / أَنَا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cleans the house in your family?</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يُنَظِّفُ البَيْتَ فِي عَائِلَتِكَ؟</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كُلَّ يَوْمٍ لِأَنَّ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أَسْتَعْمِلُ … كَثِيرًا</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device do you use a lot?</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الجِهَازُ الَّذِي تَسْتَعْمِلُهُ كَثِيرًا؟</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helping your little cousin with chores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أُسَاعِدُ ابْنَ عَمِّي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أَوَّلًا … ثُمَّ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Explain: first … then …</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أُشَغِّلُ غَسَّالَةَ الصُّحُونِ؟</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 فِي الثَّلَّاجَةِ</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in the fridge.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نَضَعُ الحَلِيبَ؟</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نَعَمْ، أَطْفِئْهُ لِأَنَّ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yes + why.</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أُطْفِئُ التِّلْفَازَ؟</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مَرَّةً ← … فِي الأُسْبُوعِ</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the frequency.</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مَرَّةً تُنَظِّفُ غُرْفَتَكَ؟</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an older cousin · Leader = your younger cousin.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my jobs at home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مَهَامِّي فِي البَيْتِ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 seconds about the appliances you use and your jobs at home: what, when and how often.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sentences: </a:t>
            </a:r>
            <a:pPr algn="l" indent="0" marL="0">
              <a:buNone/>
            </a:pPr>
            <a:r>
              <a:rPr lang="ar-SA" altLang="en-US" sz="1500" dirty="0">
                <a:solidFill>
                  <a:srgbClr val="1F2A37"/>
                </a:solidFill>
                <a:latin typeface="Amiri" pitchFamily="2" charset="-78"/>
                <a:ea typeface="Amiri" pitchFamily="2" charset="-78"/>
                <a:cs typeface="Amiri" pitchFamily="2" charset="-78"/>
              </a:rPr>
              <a:t>أَسْتَعْمِلُ</a:t>
            </a:r>
            <a:pPr algn="l" indent="0" marL="0">
              <a:buNone/>
            </a:pPr>
            <a:r>
              <a:rPr lang="en-US" sz="1150" dirty="0">
                <a:solidFill>
                  <a:srgbClr val="1F2A37"/>
                </a:solidFill>
                <a:latin typeface="Calibri" pitchFamily="34" charset="0"/>
                <a:cs typeface="Amiri" pitchFamily="2" charset="-78"/>
              </a:rPr>
              <a:t> … · </a:t>
            </a:r>
            <a:pPr algn="l" indent="0" marL="0">
              <a:buNone/>
            </a:pPr>
            <a:r>
              <a:rPr lang="ar-SA" altLang="en-US" sz="1500" dirty="0">
                <a:solidFill>
                  <a:srgbClr val="1F2A37"/>
                </a:solidFill>
                <a:latin typeface="Amiri" pitchFamily="2" charset="-78"/>
                <a:ea typeface="Amiri" pitchFamily="2" charset="-78"/>
                <a:cs typeface="Amiri" pitchFamily="2" charset="-78"/>
              </a:rPr>
              <a:t>أُشَغِّلُ</a:t>
            </a:r>
            <a:pPr algn="l" indent="0" marL="0">
              <a:buNone/>
            </a:pPr>
            <a:r>
              <a:rPr lang="en-US" sz="1150" dirty="0">
                <a:solidFill>
                  <a:srgbClr val="1F2A37"/>
                </a:solidFill>
                <a:latin typeface="Calibri" pitchFamily="34" charset="0"/>
                <a:cs typeface="Amiri" pitchFamily="2" charset="-78"/>
              </a:rPr>
              <a:t> … · </a:t>
            </a:r>
            <a:pPr algn="l" indent="0" marL="0">
              <a:buNone/>
            </a:pPr>
            <a:r>
              <a:rPr lang="ar-SA" altLang="en-US" sz="1500" dirty="0">
                <a:solidFill>
                  <a:srgbClr val="1F2A37"/>
                </a:solidFill>
                <a:latin typeface="Amiri" pitchFamily="2" charset="-78"/>
                <a:ea typeface="Amiri" pitchFamily="2" charset="-78"/>
                <a:cs typeface="Amiri" pitchFamily="2" charset="-78"/>
              </a:rPr>
              <a:t>أُنَظِّفُ</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frequency (</a:t>
            </a:r>
            <a:pPr algn="l" indent="0" marL="0">
              <a:buNone/>
            </a:pPr>
            <a:r>
              <a:rPr lang="ar-SA" altLang="en-US" sz="1500" dirty="0">
                <a:solidFill>
                  <a:srgbClr val="1F2A37"/>
                </a:solidFill>
                <a:latin typeface="Amiri" pitchFamily="2" charset="-78"/>
                <a:ea typeface="Amiri" pitchFamily="2" charset="-78"/>
                <a:cs typeface="Amiri" pitchFamily="2" charset="-78"/>
              </a:rPr>
              <a:t>كُلَّ يَوْمٍ</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مَرَّةً فِي الأُسْبُوعِ</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أَوَّلًا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ثُمَّ</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what another family member does (</a:t>
            </a:r>
            <a:pPr algn="l" indent="0" marL="0">
              <a:buNone/>
            </a:pPr>
            <a:r>
              <a:rPr lang="ar-SA" altLang="en-US" sz="1500" dirty="0">
                <a:solidFill>
                  <a:srgbClr val="1F2A37"/>
                </a:solidFill>
                <a:latin typeface="Amiri" pitchFamily="2" charset="-78"/>
                <a:ea typeface="Amiri" pitchFamily="2" charset="-78"/>
                <a:cs typeface="Amiri" pitchFamily="2" charset="-78"/>
              </a:rPr>
              <a:t>أُمِّي تَسْتَعْمِلُ</a:t>
            </a:r>
            <a:pPr algn="l" indent="0" marL="0">
              <a:buNone/>
            </a:pPr>
            <a:r>
              <a:rPr lang="en-US" sz="1150" dirty="0">
                <a:solidFill>
                  <a:srgbClr val="1F2A37"/>
                </a:solidFill>
                <a:latin typeface="Calibri" pitchFamily="34" charset="0"/>
                <a:cs typeface="Amiri" pitchFamily="2" charset="-78"/>
              </a:rPr>
              <a:t> …) and an opinion.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switch on the kettle every morning.</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أُشَغِّلُ</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تُشَغِّلُ</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الغَلَّايَةَ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الغَلَّايَةُ</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كُلَّ صَبَاحٍ.</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أَمْسِ.</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dad uses the iron once a week.</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أَبِي يَسْتَعْمِلُ</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أَبِي تَسْتَعْمِلُ</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المِكْوَاةَ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المِكْوَاةُ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مَرَّةً فِي الأُسْبُوعِ.</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مَرَّةً الأُسْبُوعُ.</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First I tidy my room, then I clean it.</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أَوَّلًا أُرَتِّبُ غُرْفَتِي،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أَوَّلًا يُرَتِّبُ غُرْفَتِي،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ثُمَّ</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أُنَظِّفُهَا.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أُنَظِّفُهُ.</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switch on the kettle every morning.</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 u- (</a:t>
            </a:r>
            <a:pPr algn="l" indent="0" marL="0">
              <a:buNone/>
            </a:pPr>
            <a:r>
              <a:rPr lang="ar-SA" altLang="en-US" sz="1350" dirty="0">
                <a:solidFill>
                  <a:srgbClr val="5A6472"/>
                </a:solidFill>
                <a:latin typeface="Amiri" pitchFamily="2" charset="-78"/>
                <a:ea typeface="Amiri" pitchFamily="2" charset="-78"/>
                <a:cs typeface="Amiri" pitchFamily="2" charset="-78"/>
              </a:rPr>
              <a:t>أُشَغِّلُ</a:t>
            </a:r>
            <a:pPr algn="l" indent="0" marL="0">
              <a:buNone/>
            </a:pPr>
            <a:r>
              <a:rPr lang="en-US" sz="1050" i="1" dirty="0">
                <a:solidFill>
                  <a:srgbClr val="5A6472"/>
                </a:solidFill>
                <a:latin typeface="Calibri" pitchFamily="34" charset="0"/>
                <a:cs typeface="Amiri" pitchFamily="2" charset="-78"/>
              </a:rPr>
              <a:t>); the object takes -a; a habit → </a:t>
            </a:r>
            <a:pPr algn="l" indent="0" marL="0">
              <a:buNone/>
            </a:pPr>
            <a:r>
              <a:rPr lang="ar-SA" altLang="en-US" sz="1350" dirty="0">
                <a:solidFill>
                  <a:srgbClr val="5A6472"/>
                </a:solidFill>
                <a:latin typeface="Amiri" pitchFamily="2" charset="-78"/>
                <a:ea typeface="Amiri" pitchFamily="2" charset="-78"/>
                <a:cs typeface="Amiri" pitchFamily="2" charset="-78"/>
              </a:rPr>
              <a:t>كُلَّ صَبَاحٍ</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أُشَغِّلُ الغَلَّايَةَ كُلَّ صَبَاحٍ.</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dad uses the iron once a week.</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ya- (</a:t>
            </a:r>
            <a:pPr algn="l" indent="0" marL="0">
              <a:buNone/>
            </a:pPr>
            <a:r>
              <a:rPr lang="ar-SA" altLang="en-US" sz="1350" dirty="0">
                <a:solidFill>
                  <a:srgbClr val="5A6472"/>
                </a:solidFill>
                <a:latin typeface="Amiri" pitchFamily="2" charset="-78"/>
                <a:ea typeface="Amiri" pitchFamily="2" charset="-78"/>
                <a:cs typeface="Amiri" pitchFamily="2" charset="-78"/>
              </a:rPr>
              <a:t>يَسْتَعْمِلُ</a:t>
            </a:r>
            <a:pPr algn="l" indent="0" marL="0">
              <a:buNone/>
            </a:pPr>
            <a:r>
              <a:rPr lang="en-US" sz="1050" i="1" dirty="0">
                <a:solidFill>
                  <a:srgbClr val="5A6472"/>
                </a:solidFill>
                <a:latin typeface="Calibri" pitchFamily="34" charset="0"/>
                <a:cs typeface="Amiri" pitchFamily="2" charset="-78"/>
              </a:rPr>
              <a:t>); once a week = </a:t>
            </a:r>
            <a:pPr algn="l" indent="0" marL="0">
              <a:buNone/>
            </a:pPr>
            <a:r>
              <a:rPr lang="ar-SA" altLang="en-US" sz="1350" dirty="0">
                <a:solidFill>
                  <a:srgbClr val="5A6472"/>
                </a:solidFill>
                <a:latin typeface="Amiri" pitchFamily="2" charset="-78"/>
                <a:ea typeface="Amiri" pitchFamily="2" charset="-78"/>
                <a:cs typeface="Amiri" pitchFamily="2" charset="-78"/>
              </a:rPr>
              <a:t>مَرَّةً فِي الأُسْبُوعِ</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أَبِي يَسْتَعْمِلُ المِكْوَاةَ مَرَّةً فِي الأُسْبُوعِ.</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First I tidy my room, then I clean it.</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Then = </a:t>
            </a:r>
            <a:pPr algn="l" indent="0" marL="0">
              <a:buNone/>
            </a:pPr>
            <a:r>
              <a:rPr lang="ar-SA" altLang="en-US" sz="1350" dirty="0">
                <a:solidFill>
                  <a:srgbClr val="5A6472"/>
                </a:solidFill>
                <a:latin typeface="Amiri" pitchFamily="2" charset="-78"/>
                <a:ea typeface="Amiri" pitchFamily="2" charset="-78"/>
                <a:cs typeface="Amiri" pitchFamily="2" charset="-78"/>
              </a:rPr>
              <a:t>ثُمَّ</a:t>
            </a:r>
            <a:pPr algn="l" indent="0" marL="0">
              <a:buNone/>
            </a:pPr>
            <a:r>
              <a:rPr lang="en-US" sz="1050" i="1" dirty="0">
                <a:solidFill>
                  <a:srgbClr val="5A6472"/>
                </a:solidFill>
                <a:latin typeface="Calibri" pitchFamily="34" charset="0"/>
                <a:cs typeface="Amiri" pitchFamily="2" charset="-78"/>
              </a:rPr>
              <a:t>; a room is feminine → </a:t>
            </a:r>
            <a:pPr algn="l" indent="0" marL="0">
              <a:buNone/>
            </a:pPr>
            <a:r>
              <a:rPr lang="ar-SA" altLang="en-US" sz="1350" dirty="0">
                <a:solidFill>
                  <a:srgbClr val="5A6472"/>
                </a:solidFill>
                <a:latin typeface="Amiri" pitchFamily="2" charset="-78"/>
                <a:ea typeface="Amiri" pitchFamily="2" charset="-78"/>
                <a:cs typeface="Amiri" pitchFamily="2" charset="-78"/>
              </a:rPr>
              <a:t>أُنَظِّفُهَا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أَوَّلًا أُرَتِّبُ غُرْفَتِي، ثُمَّ أُنَظِّفُهَا.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أُمِّي يَسْتَعْمِلُ الفُرْنَ.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My mother = she.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نَضَعُ الطَّعَامَ فِي الثَّلَّاجَةُ.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after </a:t>
            </a:r>
            <a:pPr algn="l" indent="0" marL="0">
              <a:buNone/>
            </a:pPr>
            <a:r>
              <a:rPr lang="ar-SA" altLang="en-US" sz="1700" dirty="0">
                <a:solidFill>
                  <a:srgbClr val="5A6472"/>
                </a:solidFill>
                <a:latin typeface="Amiri" pitchFamily="2" charset="-78"/>
                <a:ea typeface="Amiri" pitchFamily="2" charset="-78"/>
                <a:cs typeface="Amiri" pitchFamily="2" charset="-78"/>
              </a:rPr>
              <a:t>فِي</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أُنَظِّفُ غُرْفَتِي مَرَّةً الأُسْبُوعَ.</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Once a week…</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أُمِّي يَسْتَعْمِلُ الفُرْنَ.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أُمِّي تَسْتَعْمِلُ الفُرْنَ.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She → ta-: </a:t>
            </a:r>
            <a:pPr algn="l" indent="0" marL="0">
              <a:buNone/>
            </a:pPr>
            <a:r>
              <a:rPr lang="ar-SA" altLang="en-US" sz="1500" b="1" dirty="0">
                <a:solidFill>
                  <a:srgbClr val="1B3B6F"/>
                </a:solidFill>
                <a:latin typeface="Amiri" pitchFamily="2" charset="-78"/>
                <a:ea typeface="Amiri" pitchFamily="2" charset="-78"/>
                <a:cs typeface="Amiri" pitchFamily="2" charset="-78"/>
              </a:rPr>
              <a:t>تَسْتَعْمِلُ</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نَضَعُ الطَّعَامَ فِي الثَّلَّاجَةُ.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نَضَعُ الطَّعَامَ فِي الثَّلَّاجَةِ.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فِي</a:t>
            </a:r>
            <a:pPr algn="l" indent="0" marL="0">
              <a:buNone/>
            </a:pPr>
            <a:r>
              <a:rPr lang="en-US" sz="1150" b="1" dirty="0">
                <a:solidFill>
                  <a:srgbClr val="1B3B6F"/>
                </a:solidFill>
                <a:latin typeface="Calibri" pitchFamily="34" charset="0"/>
                <a:cs typeface="Amiri" pitchFamily="2" charset="-78"/>
              </a:rPr>
              <a:t> + genitive (-i).</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أُنَظِّفُ غُرْفَتِي مَرَّةً الأُسْبُوعَ.</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أُنَظِّفُ غُرْفَتِي مَرَّةً فِي الأُسْبُوعِ.</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Frequency: </a:t>
            </a:r>
            <a:pPr algn="l" indent="0" marL="0">
              <a:buNone/>
            </a:pPr>
            <a:r>
              <a:rPr lang="ar-SA" altLang="en-US" sz="1500" b="1" dirty="0">
                <a:solidFill>
                  <a:srgbClr val="1B3B6F"/>
                </a:solidFill>
                <a:latin typeface="Amiri" pitchFamily="2" charset="-78"/>
                <a:ea typeface="Amiri" pitchFamily="2" charset="-78"/>
                <a:cs typeface="Amiri" pitchFamily="2" charset="-78"/>
              </a:rPr>
              <a:t>مَرَّةً فِي الأُسْبُوعِ</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نَسْتَعْمِلُ ______ لِ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use … for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فِي رَأْيِي العَمَلُ فِي البَيْتِ ______ لِأَنَّ ______ .</a:t>
            </a:r>
            <a:endParaRPr lang="ar-SA" sz="15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housework is … because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بَيْتِنَا ______ وَ ______ وَ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our house there is …, … and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أُشَغِّلُ ______ كُلَّ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switch on … every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أُنَظِّفُ ______ مَرَّةً فِي الأُسْبُوعِ.</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clean … once a week.</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أُمِّي / أَبِي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mum / dad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ثَلَّاجَةٌ · فُرْنٌ  ·  غَسَّالَةُ الصُّحُونِ  ·  غَسَّالَةُ المَلَابِسِ  ·  مِكْنَسَةٌ كَهْرَبَائِيَّةٌ  ·  أُشَغِّلُ · أُطْفِئُ  ·  أُنَظِّفُ · أُرَتِّبُ  ·  كُلَّ يَوْمٍ  ·  مَرَّةً فِي الأُسْبُوعِ</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does what at home?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يَفْعَلُ مَاذَا فِي البَيْتِ؟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short text (about 40–60 words) for a class survey. Include: • three appliances in your home and what they are for • what you do at home and how often • what one family member does • your opinion of housework.</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بَيْتِنَا … ، نَسْتَعْمِلُهَا لِ…</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our house there is …; we use it for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أُشَغِّلُ … كُلَّ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switch on … every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أَبِي / أُمِّي يَسْتَعْمِلُ / تَسْتَعْمِلُ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dad / mum uses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العَمَلُ فِي البَيْتِ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my opinion housework is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what you do with the right “I” verb (</a:t>
            </a:r>
            <a:pPr algn="l" indent="0" marL="0">
              <a:buNone/>
            </a:pPr>
            <a:r>
              <a:rPr lang="ar-SA" altLang="en-US" sz="1450" dirty="0">
                <a:solidFill>
                  <a:srgbClr val="5A6472"/>
                </a:solidFill>
                <a:latin typeface="Amiri" pitchFamily="2" charset="-78"/>
                <a:ea typeface="Amiri" pitchFamily="2" charset="-78"/>
                <a:cs typeface="Amiri" pitchFamily="2" charset="-78"/>
              </a:rPr>
              <a:t>أُشَغِّلُ</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أُنَظِّفُ</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how often (</a:t>
            </a:r>
            <a:pPr algn="l" indent="0" marL="0">
              <a:buNone/>
            </a:pPr>
            <a:r>
              <a:rPr lang="ar-SA" altLang="en-US" sz="1450" dirty="0">
                <a:solidFill>
                  <a:srgbClr val="5A6472"/>
                </a:solidFill>
                <a:latin typeface="Amiri" pitchFamily="2" charset="-78"/>
                <a:ea typeface="Amiri" pitchFamily="2" charset="-78"/>
                <a:cs typeface="Amiri" pitchFamily="2" charset="-78"/>
              </a:rPr>
              <a:t>كُلَّ</a:t>
            </a:r>
            <a:pPr algn="l" indent="0" marL="0">
              <a:buNone/>
            </a:pPr>
            <a:r>
              <a:rPr lang="en-US" sz="1100" dirty="0">
                <a:solidFill>
                  <a:srgbClr val="5A6472"/>
                </a:solidFill>
                <a:latin typeface="Calibri" pitchFamily="34" charset="0"/>
                <a:cs typeface="Amiri" pitchFamily="2" charset="-78"/>
              </a:rPr>
              <a:t> … · </a:t>
            </a:r>
            <a:pPr algn="l" indent="0" marL="0">
              <a:buNone/>
            </a:pPr>
            <a:r>
              <a:rPr lang="ar-SA" altLang="en-US" sz="1450" dirty="0">
                <a:solidFill>
                  <a:srgbClr val="5A6472"/>
                </a:solidFill>
                <a:latin typeface="Amiri" pitchFamily="2" charset="-78"/>
                <a:ea typeface="Amiri" pitchFamily="2" charset="-78"/>
                <a:cs typeface="Amiri" pitchFamily="2" charset="-78"/>
              </a:rPr>
              <a:t>مَرَّةً فِي الأُسْبُوعِ</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أَوَّلًا ضَعِ الصُّحُونَ، ثُمَّ اضْغَطْ عَلَى هٰذَا الزِّرِّ.</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First put the dishes in, then press this button.</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أُشَغِّلُ غَسَّالَةَ الصُّحُونِ؟</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نَضَعُ الحَلِيبَ فِي الثَّلَّاجَةِ.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put the milk in the fridge.</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نَضَعُ الحَلِيبَ؟</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أَطْفِئْهُ، لِأَنَّنَا لَا نُشَاهِدُهُ.</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switch it off, because we are not watching it.</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أُطْفِئُ التِّلْفَازَ؟</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أُنَظِّفُ غُرْفَتِي مَرَّةً فِي الأُسْبُوعِ، يَوْمَ السَّبْتِ.</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clean my room once a week, on Saturday.</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مَرَّةً تُنَظِّفُ غُرْفَتَكَ؟</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بَيْتِنَا ثَلَّاجَةٌ كَبِيرَةٌ وَفُرْنٌ وَغَسَّالَةٌ لِلصُّحُونِ. نَسْتَعْمِلُ الثَّلَّاجَةَ لِحِفْظِ الطَّعَامِ. أَنَا أُشَغِّلُ غَسَّالَةَ الصُّحُونِ كُلَّ مَسَاءٍ، وَأُنَظِّفُ غُرْفَتِي بِالمِكْنَسَةِ مَرَّةً فِي الأُسْبُوعِ. أُخْتِي الكَبِيرَةُ تَسْتَعْمِلُ المِكْوَاةَ يَوْمَ الأَحَدِ. فِي رَأْيِي العَمَلُ فِي البَيْتِ مُمِلٌّ قَلِيلًا، لٰكِنَّهُ مُهِمٌّ لِأَنَّنَا عَائِلَةٌ وَاحِدَةٌ.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our house there is a big fridge, an oven and a dishwasher. We use the fridge to keep food. I switch on the dishwasher every evening, and I vacuum my room once a week. My big sister uses the iron on Sunday. In my opinion housework is a bit boring, but it is important because we are one family.”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نَسْتَعْمِلُ الثَّلَّاجَةَ لِحِفْظِ</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كُلَّ مَسَاءٍ</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مَرَّةً فِي الأُسْبُوعِ</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رَأْيِي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F3-L06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50" b="1" dirty="0">
                <a:solidFill>
                  <a:srgbClr val="FFFFFF"/>
                </a:solidFill>
                <a:latin typeface="Cambria" pitchFamily="34" charset="0"/>
                <a:cs typeface="Amiri" pitchFamily="2" charset="-78"/>
              </a:rPr>
              <a:t>F3-L07 · My Neighbourhood — Places Near My Home</a:t>
            </a:r>
            <a:endParaRPr lang="en-US" sz="19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حَيِّي — الأَمَاكِنُ القَرِيبَةُ مِنْ بَيْتِي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F3-L06 · Practice Room — Household Appliances and Daily Routines</dc:title>
  <dc:subject>PptxGenJS Presentation</dc:subject>
  <dc:creator>Al Madina Online School · Arabic Department</dc:creator>
  <cp:lastModifiedBy>Al Madina Online School · Arabic Department</cp:lastModifiedBy>
  <cp:revision>1</cp:revision>
  <dcterms:created xsi:type="dcterms:W3CDTF">2026-10-25T17:22:28Z</dcterms:created>
  <dcterms:modified xsi:type="dcterms:W3CDTF">2026-10-25T17:22:28Z</dcterms:modified>
</cp:coreProperties>
</file>