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F3-L05 (Colours — Full System and Agreement) — new practice tasks built on the lesson’s own word bank and grammar (colour agreement: afʿalu → faʿlāʾu (aḥmaru · ḥamrāʾu); -iyyun → -iyyatun (bunniyyun · bunniyyatun); fātiḥ / ghāmiq; mā lawnu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 تُحِبِّينَ. Language: colour after a feminine noun → the feminine colour; after urīdu the colour is accusative (zarqāʾa · abyaḍa).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Colours — Full System and Agreement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الأَلْوَانُ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with colours: say the colours in both forms, act a short dialogue, answer question cards, do a role-play card choosing colours for a bedroom makeover, give a 30-second colour description, then build, fix and write a description with every colour agreeing.</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F3-L05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Basic colours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أَحْمَرُ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a:t>
            </a:r>
            <a:endParaRPr lang="en-US" sz="1350" dirty="0"/>
          </a:p>
          <a:p>
            <a:pPr indent="0" marL="0">
              <a:buNone/>
            </a:pPr>
            <a:r>
              <a:rPr lang="en-US" sz="1100" i="1" dirty="0">
                <a:solidFill>
                  <a:srgbClr val="5A6472"/>
                </a:solidFill>
                <a:latin typeface="Calibri" pitchFamily="34" charset="0"/>
                <a:cs typeface="Amiri" pitchFamily="2" charset="-78"/>
              </a:rPr>
              <a:t>aḥ-mar · ḥam-rā’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حَمْرَاءُ</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حَمْرَاءُ</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أَحْمَرُ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أَخْضَرُ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a:t>
            </a:r>
            <a:endParaRPr lang="en-US" sz="1350" dirty="0"/>
          </a:p>
          <a:p>
            <a:pPr indent="0" marL="0">
              <a:buNone/>
            </a:pPr>
            <a:r>
              <a:rPr lang="en-US" sz="1100" i="1" dirty="0">
                <a:solidFill>
                  <a:srgbClr val="5A6472"/>
                </a:solidFill>
                <a:latin typeface="Calibri" pitchFamily="34" charset="0"/>
                <a:cs typeface="Amiri" pitchFamily="2" charset="-78"/>
              </a:rPr>
              <a:t>akh-ḍar · khaḍ-rā’</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خَضْرَاءُ</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خَضْرَاءُ</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أَخْضَرُ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أَصْفَرُ</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yellow</a:t>
            </a:r>
            <a:endParaRPr lang="en-US" sz="1350" dirty="0"/>
          </a:p>
          <a:p>
            <a:pPr indent="0" marL="0">
              <a:buNone/>
            </a:pPr>
            <a:r>
              <a:rPr lang="en-US" sz="1100" i="1" dirty="0">
                <a:solidFill>
                  <a:srgbClr val="5A6472"/>
                </a:solidFill>
                <a:latin typeface="Calibri" pitchFamily="34" charset="0"/>
                <a:cs typeface="Amiri" pitchFamily="2" charset="-78"/>
              </a:rPr>
              <a:t>aṣ-far · ṣaf-rā’</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صَفْرَاءُ</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صَفْرَاءُ</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أَصْفَرُ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أَسْوَدُ</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black</a:t>
            </a:r>
            <a:endParaRPr lang="en-US" sz="1350" dirty="0"/>
          </a:p>
          <a:p>
            <a:pPr indent="0" marL="0">
              <a:buNone/>
            </a:pPr>
            <a:r>
              <a:rPr lang="en-US" sz="1100" i="1" dirty="0">
                <a:solidFill>
                  <a:srgbClr val="5A6472"/>
                </a:solidFill>
                <a:latin typeface="Calibri" pitchFamily="34" charset="0"/>
                <a:cs typeface="Amiri" pitchFamily="2" charset="-78"/>
              </a:rPr>
              <a:t>as-wad · saw-dā’</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سَوْدَاءُ</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سَوْدَاءُ</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أَسْوَدُ</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بُرْتُقَالِيٌّ</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a:t>
            </a:r>
            <a:endParaRPr lang="en-US" sz="1350" dirty="0"/>
          </a:p>
          <a:p>
            <a:pPr indent="0" marL="0">
              <a:buNone/>
            </a:pPr>
            <a:r>
              <a:rPr lang="en-US" sz="1100" i="1" dirty="0">
                <a:solidFill>
                  <a:srgbClr val="5A6472"/>
                </a:solidFill>
                <a:latin typeface="Calibri" pitchFamily="34" charset="0"/>
                <a:cs typeface="Amiri" pitchFamily="2" charset="-78"/>
              </a:rPr>
              <a:t>bur-tu-qā-lī</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6" name="Text 93"/>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بُرْتُقَالِيَّةٌ</a:t>
            </a:r>
            <a:endParaRPr lang="ar-SA" sz="135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a:t>
            </a:r>
            <a:endParaRPr lang="en-US" sz="1350" dirty="0"/>
          </a:p>
          <a:p>
            <a:pPr indent="0" marL="0">
              <a:buNone/>
            </a:pPr>
            <a:r>
              <a:rPr lang="en-US" sz="1100" i="1" dirty="0">
                <a:solidFill>
                  <a:srgbClr val="5A6472"/>
                </a:solidFill>
                <a:latin typeface="Calibri" pitchFamily="34" charset="0"/>
                <a:cs typeface="Amiri" pitchFamily="2" charset="-78"/>
              </a:rPr>
              <a:t>bun-nī</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14" name="Text 111"/>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بُنِّيَّةٌ</a:t>
            </a:r>
            <a:endParaRPr lang="ar-SA" sz="135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7" name="Text 11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بُنِّيَّةٌ</a:t>
            </a:r>
            <a:endParaRPr lang="ar-SA" sz="150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colours and shades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رَمَادِيٌّ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grey</a:t>
            </a:r>
            <a:endParaRPr lang="en-US" sz="1350" dirty="0"/>
          </a:p>
          <a:p>
            <a:pPr indent="0" marL="0">
              <a:buNone/>
            </a:pPr>
            <a:r>
              <a:rPr lang="en-US" sz="1100" i="1" dirty="0">
                <a:solidFill>
                  <a:srgbClr val="5A6472"/>
                </a:solidFill>
                <a:latin typeface="Calibri" pitchFamily="34" charset="0"/>
                <a:cs typeface="Amiri" pitchFamily="2" charset="-78"/>
              </a:rPr>
              <a:t>ra-mā-dī</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رَمَادِيَّةٌ</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a:t>
            </a:r>
            <a:endParaRPr lang="en-US" sz="1350" dirty="0"/>
          </a:p>
          <a:p>
            <a:pPr indent="0" marL="0">
              <a:buNone/>
            </a:pPr>
            <a:r>
              <a:rPr lang="en-US" sz="1100" i="1" dirty="0">
                <a:solidFill>
                  <a:srgbClr val="5A6472"/>
                </a:solidFill>
                <a:latin typeface="Calibri" pitchFamily="34" charset="0"/>
                <a:cs typeface="Amiri" pitchFamily="2" charset="-78"/>
              </a:rPr>
              <a:t>lawn · al-wān</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أَلْوَانٌ</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فَاتِحٌ</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 (shade)</a:t>
            </a:r>
            <a:endParaRPr lang="en-US" sz="1350" dirty="0"/>
          </a:p>
          <a:p>
            <a:pPr indent="0" marL="0">
              <a:buNone/>
            </a:pPr>
            <a:r>
              <a:rPr lang="en-US" sz="1100" i="1" dirty="0">
                <a:solidFill>
                  <a:srgbClr val="5A6472"/>
                </a:solidFill>
                <a:latin typeface="Calibri" pitchFamily="34" charset="0"/>
                <a:cs typeface="Amiri" pitchFamily="2" charset="-78"/>
              </a:rPr>
              <a:t>fā-tiḥ</a:t>
            </a:r>
            <a:endParaRPr lang="en-US" sz="1350" dirty="0"/>
          </a:p>
        </p:txBody>
      </p:sp>
      <p:sp>
        <p:nvSpPr>
          <p:cNvPr id="48" name="Shape 4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50" name="Text 47"/>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فَاتِحَةٌ</a:t>
            </a:r>
            <a:endParaRPr lang="ar-SA" sz="1350" dirty="0"/>
          </a:p>
        </p:txBody>
      </p:sp>
      <p:sp>
        <p:nvSpPr>
          <p:cNvPr id="51" name="Shape 4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3" name="Text 5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فَاتِحَةٌ</a:t>
            </a:r>
            <a:endParaRPr lang="ar-SA" sz="1500" dirty="0"/>
          </a:p>
        </p:txBody>
      </p:sp>
      <p:sp>
        <p:nvSpPr>
          <p:cNvPr id="54" name="Shape 5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0" name="Shape 57"/>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ذَهَبِيٌّ</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gold / golden</a:t>
            </a:r>
            <a:endParaRPr lang="en-US" sz="1350" dirty="0"/>
          </a:p>
          <a:p>
            <a:pPr indent="0" marL="0">
              <a:buNone/>
            </a:pPr>
            <a:r>
              <a:rPr lang="en-US" sz="1100" i="1" dirty="0">
                <a:solidFill>
                  <a:srgbClr val="5A6472"/>
                </a:solidFill>
                <a:latin typeface="Calibri" pitchFamily="34" charset="0"/>
                <a:cs typeface="Amiri" pitchFamily="2" charset="-78"/>
              </a:rPr>
              <a:t>dha-ha-bī</a:t>
            </a:r>
            <a:endParaRPr lang="en-US" sz="1350" dirty="0"/>
          </a:p>
        </p:txBody>
      </p:sp>
      <p:sp>
        <p:nvSpPr>
          <p:cNvPr id="64" name="Shape 6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66" name="Text 6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ذَهَبِيَّةٌ</a:t>
            </a:r>
            <a:endParaRPr lang="ar-SA" sz="1350" dirty="0"/>
          </a:p>
        </p:txBody>
      </p:sp>
      <p:sp>
        <p:nvSpPr>
          <p:cNvPr id="67" name="Shape 6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9" name="Text 6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ذَهَبِيَّةٌ</a:t>
            </a:r>
            <a:endParaRPr lang="ar-SA" sz="1500" dirty="0"/>
          </a:p>
        </p:txBody>
      </p:sp>
      <p:sp>
        <p:nvSpPr>
          <p:cNvPr id="70" name="Shape 6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Shape 73"/>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فِضِّيٌّ</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silver</a:t>
            </a:r>
            <a:endParaRPr lang="en-US" sz="1350" dirty="0"/>
          </a:p>
          <a:p>
            <a:pPr indent="0" marL="0">
              <a:buNone/>
            </a:pPr>
            <a:r>
              <a:rPr lang="en-US" sz="1100" i="1" dirty="0">
                <a:solidFill>
                  <a:srgbClr val="5A6472"/>
                </a:solidFill>
                <a:latin typeface="Calibri" pitchFamily="34" charset="0"/>
                <a:cs typeface="Amiri" pitchFamily="2" charset="-78"/>
              </a:rPr>
              <a:t>fiḍ-ḍī</a:t>
            </a:r>
            <a:endParaRPr lang="en-US" sz="1350" dirty="0"/>
          </a:p>
        </p:txBody>
      </p:sp>
      <p:sp>
        <p:nvSpPr>
          <p:cNvPr id="80" name="Shape 7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82" name="Text 7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فِضِّيَّةٌ</a:t>
            </a:r>
            <a:endParaRPr lang="ar-SA" sz="1350" dirty="0"/>
          </a:p>
        </p:txBody>
      </p:sp>
      <p:sp>
        <p:nvSpPr>
          <p:cNvPr id="83" name="Shape 8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5" name="Text 8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فِضِّيَّةٌ</a:t>
            </a:r>
            <a:endParaRPr lang="ar-SA" sz="1500" dirty="0"/>
          </a:p>
        </p:txBody>
      </p:sp>
      <p:sp>
        <p:nvSpPr>
          <p:cNvPr id="86" name="Shape 8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8" name="Text 8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a:t>
            </a:r>
            <a:endParaRPr lang="ar-SA" sz="1500" dirty="0"/>
          </a:p>
        </p:txBody>
      </p:sp>
      <p:sp>
        <p:nvSpPr>
          <p:cNvPr id="89" name="Shape 8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0" name="Shape 87"/>
          <p:cNvSpPr/>
          <p:nvPr/>
        </p:nvSpPr>
        <p:spPr>
          <a:xfrm>
            <a:off x="566928" y="4261104"/>
            <a:ext cx="310896" cy="310896"/>
          </a:xfrm>
          <a:prstGeom prst="ellipse">
            <a:avLst/>
          </a:prstGeom>
          <a:solidFill>
            <a:srgbClr val="F4F1EA"/>
          </a:solidFill>
          <a:ln w="12700">
            <a:solidFill>
              <a:srgbClr val="F4F1EA"/>
            </a:solidFill>
            <a:prstDash val="solid"/>
          </a:ln>
        </p:spPr>
      </p:sp>
      <p:sp>
        <p:nvSpPr>
          <p:cNvPr id="91" name="Text 8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2" name="Shape 89"/>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93" name="Text 90"/>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94" name="Text 9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مُخَطَّطٌ</a:t>
            </a:r>
            <a:endParaRPr lang="ar-SA" sz="3000" dirty="0"/>
          </a:p>
        </p:txBody>
      </p:sp>
      <p:sp>
        <p:nvSpPr>
          <p:cNvPr id="95" name="Text 9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striped</a:t>
            </a:r>
            <a:endParaRPr lang="en-US" sz="1350" dirty="0"/>
          </a:p>
          <a:p>
            <a:pPr indent="0" marL="0">
              <a:buNone/>
            </a:pPr>
            <a:r>
              <a:rPr lang="en-US" sz="1100" i="1" dirty="0">
                <a:solidFill>
                  <a:srgbClr val="5A6472"/>
                </a:solidFill>
                <a:latin typeface="Calibri" pitchFamily="34" charset="0"/>
                <a:cs typeface="Amiri" pitchFamily="2" charset="-78"/>
              </a:rPr>
              <a:t>mu-khaṭ-ṭaṭ</a:t>
            </a:r>
            <a:endParaRPr lang="en-US" sz="1350" dirty="0"/>
          </a:p>
        </p:txBody>
      </p:sp>
      <p:sp>
        <p:nvSpPr>
          <p:cNvPr id="96" name="Shape 9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8" name="Text 95"/>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مُخَطَّطَةٌ</a:t>
            </a:r>
            <a:endParaRPr lang="ar-SA" sz="1350" dirty="0"/>
          </a:p>
        </p:txBody>
      </p:sp>
      <p:sp>
        <p:nvSpPr>
          <p:cNvPr id="99" name="Shape 9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مُخَطَّطَةٌ</a:t>
            </a:r>
            <a:endParaRPr lang="ar-SA" sz="1500" dirty="0"/>
          </a:p>
        </p:txBody>
      </p:sp>
      <p:sp>
        <p:nvSpPr>
          <p:cNvPr id="102" name="Shape 9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colour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لَوْنُهُ؟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car?</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لَوْنُ سَيَّارَتِكُمْ؟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car is white.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سَيَّارَتُنَا بَيْضَاءُ.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colour is the front door?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لَوْنُ بَابِ البَيْتِ؟</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is dark green.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البَابُ أَخْضَرُ غَامِقٌ.</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room? What colour is it?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وَغُرْفَتُكَ؟ مَا لَوْنُهَا؟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room is light blue, and my bed is grey.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غُرْفَتِي زَرْقَاءُ فَاتِحَةٌ، وَسَرِيرِي رَمَادِيٌّ.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REAL things from your home — every colour must agree.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لَوْنِي المُفَضَّلُ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colour?</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لَوْنُكَ المُفَضَّلُ؟</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bag?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حَقِيبَتِكَ؟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وَبِنْطَالِي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قَمِيصِي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shirt today?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قَمِيصِكَ اليَوْمَ؟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فَاتِحَةٌ / غَامِقَةٌ</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الجُدْرَانُ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are your bedroom walls?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جُدْرَانِ غُرْفَتِكَ؟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اللَّوْنَ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colour don’t you like?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اللَّوْنُ الَّذِي لَا تُحِبُّهُ؟</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a bedroom makeover</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أُرِيدُ الجُدْرَانَ … فَاتِحَةً</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wall colour (+ light / dark).</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لَوْنٍ تُرِيدُ لِلْجُدْرَانِ؟</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السَّجَّادَةُ ← سَجَّادَةٌ … ← رَمَادِيَّةٌ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colour for the rug.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وَالسَّجَّادَةُ؟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السَّرِيرُ ← سَرِيرٌ … ← أَبْيَضُ</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colour for the bed.</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لَوْنُ السَّرِيرِ؟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لِأَنَّهَا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هٰذِهِ الأَلْوَانَ؟</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teenager · Leader = the decorator.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colours around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الأَلْوَانُ حَوْلِي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describe the colours around you now: your clothes, your room, things on your desk. Every colour must agree with its noun.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items: </a:t>
            </a:r>
            <a:pPr algn="l" indent="0" marL="0">
              <a:buNone/>
            </a:pPr>
            <a:r>
              <a:rPr lang="ar-SA" altLang="en-US" sz="1500" dirty="0">
                <a:solidFill>
                  <a:srgbClr val="1F2A37"/>
                </a:solidFill>
                <a:latin typeface="Amiri" pitchFamily="2" charset="-78"/>
                <a:ea typeface="Amiri" pitchFamily="2" charset="-78"/>
                <a:cs typeface="Amiri" pitchFamily="2" charset="-78"/>
              </a:rPr>
              <a:t>قَمِيصِي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حَقِيبَتِي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fātiḥ / ghāmiq: </a:t>
            </a:r>
            <a:pPr algn="l" indent="0" marL="0">
              <a:buNone/>
            </a:pPr>
            <a:r>
              <a:rPr lang="ar-SA" altLang="en-US" sz="1500" dirty="0">
                <a:solidFill>
                  <a:srgbClr val="1F2A37"/>
                </a:solidFill>
                <a:latin typeface="Amiri" pitchFamily="2" charset="-78"/>
                <a:ea typeface="Amiri" pitchFamily="2" charset="-78"/>
                <a:cs typeface="Amiri" pitchFamily="2" charset="-78"/>
              </a:rPr>
              <a:t>أَزْرَقُ فَاتِحٌ</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زَرْقَاءُ فَاتِحَةٌ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patterns or materials (</a:t>
            </a:r>
            <a:pPr algn="l" indent="0" marL="0">
              <a:buNone/>
            </a:pPr>
            <a:r>
              <a:rPr lang="ar-SA" altLang="en-US" sz="1500" dirty="0">
                <a:solidFill>
                  <a:srgbClr val="1F2A37"/>
                </a:solidFill>
                <a:latin typeface="Amiri" pitchFamily="2" charset="-78"/>
                <a:ea typeface="Amiri" pitchFamily="2" charset="-78"/>
                <a:cs typeface="Amiri" pitchFamily="2" charset="-78"/>
              </a:rPr>
              <a:t>مُخَطَّطٌ</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ذَهَبِيٌّ</a:t>
            </a:r>
            <a:pPr algn="l" indent="0" marL="0">
              <a:buNone/>
            </a:pPr>
            <a:r>
              <a:rPr lang="en-US" sz="1150" dirty="0">
                <a:solidFill>
                  <a:srgbClr val="1F2A37"/>
                </a:solidFill>
                <a:latin typeface="Calibri" pitchFamily="34" charset="0"/>
                <a:cs typeface="Amiri" pitchFamily="2" charset="-78"/>
              </a:rPr>
              <a:t>) and your favourite colour with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car is red.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حَمْرَاءُ</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أَحْمَرُ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a brown bag.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shirt is dark blue.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قَمِيصُهُ</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قَمِيصُهَا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أَزْرَقُ</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زَرْقَاءُ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غَامِقٌ.</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غَامِقَةٌ.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car is red.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feminine noun → </a:t>
            </a:r>
            <a:pPr algn="l" indent="0" marL="0">
              <a:buNone/>
            </a:pPr>
            <a:r>
              <a:rPr lang="ar-SA" altLang="en-US" sz="1350" dirty="0">
                <a:solidFill>
                  <a:srgbClr val="5A6472"/>
                </a:solidFill>
                <a:latin typeface="Amiri" pitchFamily="2" charset="-78"/>
                <a:ea typeface="Amiri" pitchFamily="2" charset="-78"/>
                <a:cs typeface="Amiri" pitchFamily="2" charset="-78"/>
              </a:rPr>
              <a:t>حَمْرَاءُ</a:t>
            </a:r>
            <a:pPr algn="l" indent="0" marL="0">
              <a:buNone/>
            </a:pPr>
            <a:r>
              <a:rPr lang="en-US" sz="1050" i="1" dirty="0">
                <a:solidFill>
                  <a:srgbClr val="5A6472"/>
                </a:solidFill>
                <a:latin typeface="Calibri" pitchFamily="34" charset="0"/>
                <a:cs typeface="Amiri" pitchFamily="2" charset="-78"/>
              </a:rPr>
              <a:t> (afʿalu → faʿlāʾu).</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السَّيَّارَةُ حَمْرَاءُ .</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a brown bag.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-iyy colours add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for feminine: </a:t>
            </a:r>
            <a:pPr algn="l" indent="0" marL="0">
              <a:buNone/>
            </a:pPr>
            <a:r>
              <a:rPr lang="ar-SA" altLang="en-US" sz="1350" dirty="0">
                <a:solidFill>
                  <a:srgbClr val="5A6472"/>
                </a:solidFill>
                <a:latin typeface="Amiri" pitchFamily="2" charset="-78"/>
                <a:ea typeface="Amiri" pitchFamily="2" charset="-78"/>
                <a:cs typeface="Amiri" pitchFamily="2" charset="-78"/>
              </a:rPr>
              <a:t>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حَقِيبَةٌ بُنِّيَّةٌ.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shirt is dark blue.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قَمِيصٌ</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أَزْرَقُ غَامِقٌ</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قَمِيصُهُ أَزْرَقُ غَامِقٌ.</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الوَرْدَةُ أَصْفَرُ.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الوَرْدَةُ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السَّجَّادَةُ رَمَادِيٌّ.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-iyy colour with a feminine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البَابُ خَضْرَاءُ.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بَابٌ</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الوَرْدَةُ أَصْفَرُ.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الوَرْدَةُ صَفْرَاءُ.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أَصْفَرُ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صَفْرَاءُ</a:t>
            </a:r>
            <a:pPr algn="l" indent="0" marL="0">
              <a:buNone/>
            </a:pPr>
            <a:r>
              <a:rPr lang="en-US" sz="1150" b="1" dirty="0">
                <a:solidFill>
                  <a:srgbClr val="1B3B6F"/>
                </a:solidFill>
                <a:latin typeface="Calibri" pitchFamily="34" charset="0"/>
                <a:cs typeface="Amiri" pitchFamily="2" charset="-78"/>
              </a:rPr>
              <a:t> for a feminine noun.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السَّجَّادَةُ رَمَادِيٌّ.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السَّجَّادَةُ رَمَادِيَّةٌ.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-iyyun → -iyyatun.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البَابُ خَضْرَاءُ.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البَابُ أَخْضَرُ.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noun → </a:t>
            </a:r>
            <a:pPr algn="l" indent="0" marL="0">
              <a:buNone/>
            </a:pPr>
            <a:r>
              <a:rPr lang="ar-SA" altLang="en-US" sz="1500" b="1" dirty="0">
                <a:solidFill>
                  <a:srgbClr val="1B3B6F"/>
                </a:solidFill>
                <a:latin typeface="Amiri" pitchFamily="2" charset="-78"/>
                <a:ea typeface="Amiri" pitchFamily="2" charset="-78"/>
                <a:cs typeface="Amiri" pitchFamily="2" charset="-78"/>
              </a:rPr>
              <a:t>أَخْضَرُ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السَّتَائِرُ ______ فَاتِحَةٌ / غَامِقَةٌ.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curtains are light / dark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اللَّوْنَ ______ لِأَنَّهُ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غُرْفَةِ أَحْلَامِي، الجُدْرَانُ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dream room, the walls are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يُوجَدُ سَرِيرٌ ______ ، وَتُوجَدُ خِزَانَةٌ ______ .</a:t>
            </a:r>
            <a:endParaRPr lang="ar-SA" sz="17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bed and a … wardrobe.</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السَّجَّادَةُ ______ ، وَالمِصْبَاحُ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rug is …, and the lamp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لَوْنِي المُفَضَّلُ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colour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أَحْمَرُ · حَمْرَاءُ  ·  أَزْرَقُ · زَرْقَاءُ  ·  أَبْيَضُ · بَيْضَاءُ  ·  أَخْضَرُ · خَضْرَاءُ  ·  بُنِّيٌّ · بُنِّيَّةٌ  ·  رَمَادِيٌّ · رَمَادِيَّةٌ  ·  فَاتِحٌ · غَامِقٌ  ·  لَوْنٌ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dream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غُرْفَةُ أَحْلَامِي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description (about 40–60 words) of your dream bedroom. Include: • the colour of the walls • at least five items, each with a colour that agrees • one light or dark shade • your favourite colour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الجُدْرَانُ … فَاتِحَةٌ / غَامِقَةٌ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walls are light / dark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سَرِيرٌ أَبْيَضُ</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 white bed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سَجَّادَةٌ حَمْرَاءُ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 red rug</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لَوْنِي المُفَضَّلُ … لِأَنَّهُ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colour is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colour agree with its noun?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both feminine patterns (</a:t>
            </a:r>
            <a:pPr algn="l" indent="0" marL="0">
              <a:buNone/>
            </a:pPr>
            <a:r>
              <a:rPr lang="ar-SA" altLang="en-US" sz="1450" dirty="0">
                <a:solidFill>
                  <a:srgbClr val="5A6472"/>
                </a:solidFill>
                <a:latin typeface="Amiri" pitchFamily="2" charset="-78"/>
                <a:ea typeface="Amiri" pitchFamily="2" charset="-78"/>
                <a:cs typeface="Amiri" pitchFamily="2" charset="-78"/>
              </a:rPr>
              <a:t>حَمْرَاءُ</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بُنِّيَّةٌ</a:t>
            </a:r>
            <a:pPr algn="l" indent="0" marL="0">
              <a:buNone/>
            </a:pPr>
            <a:r>
              <a:rPr lang="en-US" sz="1100" dirty="0">
                <a:solidFill>
                  <a:srgbClr val="5A6472"/>
                </a:solidFill>
                <a:latin typeface="Calibri" pitchFamily="34" charset="0"/>
                <a:cs typeface="Amiri" pitchFamily="2" charset="-78"/>
              </a:rPr>
              <a:t>) and a shade (</a:t>
            </a:r>
            <a:pPr algn="l" indent="0" marL="0">
              <a:buNone/>
            </a:pPr>
            <a:r>
              <a:rPr lang="ar-SA" altLang="en-US" sz="1450" dirty="0">
                <a:solidFill>
                  <a:srgbClr val="5A6472"/>
                </a:solidFill>
                <a:latin typeface="Amiri" pitchFamily="2" charset="-78"/>
                <a:ea typeface="Amiri" pitchFamily="2" charset="-78"/>
                <a:cs typeface="Amiri" pitchFamily="2" charset="-78"/>
              </a:rPr>
              <a:t>فَاتِحٌ / غَامِقٌ</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الجُدْرَانَ زَرْقَاءَ فَاتِحَةً.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the walls light blue.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لَوْنٍ تُرِيدُ لِلْجُدْرَانِ؟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سَجَّادَةً رَمَادِيَّةً.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a grey rug.</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وَالسَّجَّادَةُ؟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سَرِيرًا أَبْيَضَ.</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a white bed.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لَوْنُ السَّرِيرِ؟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هَادِئَةٌ وَجَمِيلَةٌ.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they are calm and beautiful.</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تُحِبُّ هٰذِهِ الأَلْوَانَ؟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غُرْفَةِ أَحْلَامِي، الجُدْرَانُ خَضْرَاءُ فَاتِحَةٌ. يُوجَدُ سَرِيرٌ أَبْيَضُ كَبِيرٌ، وَتُوجَدُ خِزَانَةٌ بُنِّيَّةٌ. السَّجَّادَةُ رَمَادِيَّةٌ، وَالمِصْبَاحُ ذَهَبِيٌّ، وَالسَّتَائِرُ زَرْقَاءُ غَامِقَةٌ. عَلَى المَكْتَبِ حَاسُوبٌ فِضِّيٌّ. لَوْنِي المُفَضَّلُ الأَخْضَرُ، لِأَنَّهُ لَوْنُ الطَّبِيعَةِ، وَهُوَ هَادِئٌ.</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dream room, the walls are light green. There is a big white bed and a brown wardrobe. The rug is grey, the lamp is gold and the curtains are dark blue. On the desk there is a silver computer. My favourite colour is green, because it is the colour of nature and it is calm.”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خَضْرَاءُ فَاتِحَةٌ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سَرِيرٌ أَبْيَضُ</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خِزَانَةٌ بُنِّيَّةٌ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زَرْقَاءُ غَامِقَةٌ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F3-L06 · Household Appliances and Daily Routines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الأَجْهِزَةُ المَنْزِلِيَّةُ وَالرُّوتِينُ اليَوْمِيُّ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F3-L05 · Practice Room — Colours — Full System and Agreement</dc:title>
  <dc:subject>PptxGenJS Presentation</dc:subject>
  <dc:creator>Al Madina Online School · Arabic Department</dc:creator>
  <cp:lastModifiedBy>Al Madina Online School · Arabic Department</cp:lastModifiedBy>
  <cp:revision>1</cp:revision>
  <dcterms:created xsi:type="dcterms:W3CDTF">2026-10-25T17:19:41Z</dcterms:created>
  <dcterms:modified xsi:type="dcterms:W3CDTF">2026-10-25T17:19:41Z</dcterms:modified>
</cp:coreProperties>
</file>