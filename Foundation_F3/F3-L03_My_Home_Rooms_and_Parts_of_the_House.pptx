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3 (F3-L03). Website sections used: the eight-question F3 bridge, types and parts of a home (16 words + three floors) and its 16-question check, the complete room bank (8) and its 12-question check, the room-name iḍāfa laboratory (10), the house plan, the three home frames with room counting and the 12-question grammar check, the House Tour Mission (14), Salma’s listening (10 questions), Omar’s flat and Huda’s house (12 questions), the house-tour speaking studio (4 prompts), the 6–8-sentence writing task and the 16-question checkpoint. Picture match: website visual game “My Home — Rooms and Parts of the House”.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From people (F3-L01–L02) to places. Core: 5 rooms + فِي بَيْتِي … and عِنْدِي …. Develop: floors, room counting (غُرْفَتَانِ، ثَلَاثُ غُرَفٍ) and agreement (بَيْتٌ كَبِيرٌ / غُرْفَةٌ كَبِيرَةٌ). Stretch: compare two rooms with وَلَكِنْ and لِأَنَّ.
• Privacy (website): students may describe their own home, a fictional home or the model house — no addresses or identifying details.
• Two big patterns only: room names are two nouns (غُرْفَةُ + النَّوْمِ), and the adjective follows the gender of the room (غُرْفَةٌ is feminine, بَيْتٌ is masculine).
• Urdu bridge: مکان (not Arabic for house!), کمرہ (Persian), باورچی خانہ (not Arabic), حمام، باغ / حدیقہ، دروازہ (Persian) / بَابٌ.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home words prepared at home at the end of F3-L02. Questions 3–5 are the website “F3 bridge” (my house, her room, room + adjective).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room is feminine (ghurfa), a house is masculine (bayt): the adjective follows. And “my” is -ī: baytī, ghurfatī.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حمام، باب and منزل are Arabic words already in Urdu (منزل in Urdu is also a storey — useful for الطَّابِقُ!). CAREFUL: Urdu مکان means a house, but Arabic مَكَانٌ just means a place — the Arabic for house is بَيْتٌ. کمرہ and باورچی خانہ are Persian; Arabic has غُرْفَةٌ and مَطْبَخٌ.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HOUSE PARTS 1 (website “Types and parts of a home”). Every card shows the plural or “my”: ة becomes ت before an ending (شَقَّةٌ → شَقَّتِي — F3-L01 possessives).
Hear → say → see → use: “fī baytī bābun kabīrun.”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HOUSE PARTS 2 (FLEX). Also on the website: مَنْزِلٌ (home), أَرْضِيَّةٌ (floor surface — not a storey!), زُجَاجٌ (glass). All appear in the House Tour Mission and the reading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ROOMS (website “complete room bank”). Three rooms are “room of …” phrases — the grammar focus in a moment. Extension on the website: غُرْفَةُ الأَطْفَالِ (children’s room).
FLOORS (Group 3): الطَّابِقُ الأَرْضِيُّ (ground floor) · الطَّابِقُ الأَوَّلُ (first floor) · الطَّابِقُ الثَّانِي (second floor) — on the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“Build ‘the room of…’ phrases”: غُرْفَةُ (room of) + النَّوْمِ (the sleeping) = غُرْفَةُ النَّوْمِ (the bedroom).
Website “Repair these”: الغُرْفَةُ النَّوْمِ ✗ · غُرْفَةُ نَوْمٌ ✗ → غُرْفَةُ النَّوْمِ ✓.
Teacher note (Stretch): the adjective after a room name follows the FIRST noun: غُرْفَةُ الجُلُوسِ كَبِيرَةٌ (website idafa question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6 “Say what your home contains”: فِي بَيْتِي (list), عِنْدِي (possession), هُنَاكَ (what exists).
Room counting (website): غُرْفَةٌ وَاحِدَةٌ · غُرْفَتَانِ · ثَلَاثُ غُرَفٍ · أَرْبَعُ غُرَفٍ · خَمْسُ غُرَفٍ · سِتُّ غُرَفٍ — “غُرْفَةٌ is feminine, so numbers 3–10 use the opposite, masculine form”.
Question bank (website): مَاذَا فِي بَيْتِكَ / بَيْتِكِ؟ · هَلْ عِنْدَكَ / عِنْدَكِ حَدِيقَةٌ؟ · كَمْ غُرْفَةً فِي بَيْتِكَ؟
Floors: الطَّابِقُ الأَرْضِيُّ / الأَوَّلُ / الثَّانِي.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“Twelve-question home grammar check” questions 1, 2, 3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prompt “City flat” (second floor · two bedrooms · balcony · no garden) as a think-aloud. Then ask: “Now a HOUSE (بَيْتٌ) — what changes?” → صَغِيرٌ، جَمِيلٌ، فِيهِ، لِأَنَّهُ.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Home — Rooms and Parts of the House”)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bedroom but هٰذَا for the kitchen? (غُرْفَةٌ is feminine; مَطْبَخٌ is masculine.) Other cards for homework: هٰذِهِ غُرْفَةُ الجُلُوسِ، هٰذَا الحَمَّامُ، لِلْبَيْتِ 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Home — Rooms and Parts of the House”)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bedroom but هٰذَا for the kitchen? (غُرْفَةٌ is feminine; مَطْبَخٌ is masculine.) Other cards for homework: هٰذِهِ غُرْفَةُ الجُلُوسِ، هٰذَا الحَمَّامُ، لِلْبَيْتِ 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House Tour rounds (home type, iḍāfa, room count, agreement,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rule did you use — room name, gender or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اِسْمِي سَلْمَى. أَسْكُنُ مَعَ عَائِلَتِي فِي بَيْتٍ كَبِيرٍ وَجَدِيدٍ. بَيْتُنَا فِيهِ طَابِقَانِ وَسِتُّ غُرَفٍ وَحَمَّامَانِ. فِي الطَّابِقِ الأَرْضِيِّ مَدْخَلٌ وَغُرْفَةُ جُلُوسٍ وَمَطْبَخٌ وَغُرْفَةُ طَعَامٍ وَحَمَّامٌ. فِي الطَّابِقِ الأَوَّلِ ثَلَاثُ غُرَفِ نَوْمٍ وَحَمَّامٌ آخَرُ. عِنْدَنَا حَدِيقَةٌ صَغِيرَةٌ وَمَرْآبٌ. غُرْفَتِي فِي الطَّابِقِ الأَوَّلِ، وَفِيهَا نَافِذَةٌ كَبِيرَةٌ. أُحِبُّ بَيْتِي لِأَنَّهُ مُرِيحٌ وَهَادِئٌ.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The English column gives the CATEGORY. Website strategy: find exact evidence about house type, rooms, floors and opinions. Note غُرْفَتَا نَوْمٍ = two bedrooms (the dual in a room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Stretch: compare with Text A — flat vs house, balcony vs garden, masculine لَكِنَّهُ (house) vs feminine لَكِنَّهَا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5 (Omar) and 7, 9 (Huda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connected house tour” (45–60 seconds). Prompt cards (website):
• Family house: two floors · six rooms · garden · garage
• City flat: second floor · two bedrooms · balcony · no garden
• Old country home: ground floor · four rooms · roof · quiet garden
• Dream home: three floors · study · dining room · roof terrace
Website checklist (listener ticks 1–6): home type · at least five areas · فِي بَيْتِي / عِنْدِي / هُنَاكَ · adjectives match · two connectors · clear delivery.
Privacy: a fictional or dream home is always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five rooms and use fī baytī (in my house) in five sentences. · Develop — Add floors, six or more rooms and accurate adjectives (50–70 words). · Stretch — Compare two rooms and justify a favourite using wa-lākin (but) and li-anna (because).
Website writing task (Stretch): Website writing task: 6–8 connected sentences describing your own home, the fictional Al-Nour home or a dream home — home type and size, floors, main rooms, other parts, favourite room and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(speaking prompt “Family house”). Develop: add one agreeing adjective to a room (غُرْفَةُ جُلُوسٍ كَبِيرَةٌ).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(F3-L04 · Furniture and Household Items) will spend class time USING this language, so students prepare it tonight — short, simple, easy to access (school guidance: “Simple, Short, Interesting, Relevant, Easy to access”). The five words come from the website F3-L04 core furniture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My Home — Rooms and Parts of the House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بَيْتِي — الغُرَفُ وَأَجْزَاءُ المَنْزِلِ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Tour a complete Arabic home: name every essential room and house part, build room-name phrases (</a:t>
            </a:r>
            <a:pPr algn="l" indent="0" marL="0">
              <a:buNone/>
            </a:pPr>
            <a:r>
              <a:rPr lang="ar-SA" altLang="en-US" sz="1800" dirty="0">
                <a:solidFill>
                  <a:srgbClr val="C6D2E6"/>
                </a:solidFill>
                <a:latin typeface="Amiri" pitchFamily="34" charset="0"/>
                <a:ea typeface="Amiri" pitchFamily="34" charset="-122"/>
                <a:cs typeface="Amiri" pitchFamily="34" charset="-120"/>
              </a:rPr>
              <a:t>غُرْفَةُ النَّوْمِ</a:t>
            </a:r>
            <a:pPr algn="l" indent="0" marL="0">
              <a:buNone/>
            </a:pPr>
            <a:r>
              <a:rPr lang="en-US" sz="1400" dirty="0">
                <a:solidFill>
                  <a:srgbClr val="C6D2E6"/>
                </a:solidFill>
                <a:latin typeface="Calibri" pitchFamily="34" charset="0"/>
                <a:ea typeface="Calibri" pitchFamily="34" charset="-122"/>
                <a:cs typeface="Calibri" pitchFamily="34" charset="-120"/>
              </a:rPr>
              <a:t>), and describe a home with </a:t>
            </a:r>
            <a:pPr algn="l" indent="0" marL="0">
              <a:buNone/>
            </a:pPr>
            <a:r>
              <a:rPr lang="ar-SA" altLang="en-US" sz="1800" dirty="0">
                <a:solidFill>
                  <a:srgbClr val="C6D2E6"/>
                </a:solidFill>
                <a:latin typeface="Amiri" pitchFamily="34" charset="0"/>
                <a:ea typeface="Amiri" pitchFamily="34" charset="-122"/>
                <a:cs typeface="Amiri" pitchFamily="34" charset="-120"/>
              </a:rPr>
              <a:t>فِي بَيْتِي، عِنْدِي، هُنَاكَ</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F3-L03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House parts and rooms, then “the room of …” and in my house / I have.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House Tour Mission, listen to Salma, read two homes.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room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garden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غُرْفَةٌ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room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kitchen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house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room”.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غُرْفَةٌ ___.</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كِبَارٌ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room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garden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غُرْفَةٌ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room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kitchen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house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house”.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 </a:t>
            </a:r>
            <a:pPr algn="l" indent="0" marL="0">
              <a:buNone/>
            </a:pPr>
            <a:r>
              <a:rPr lang="ar-SA" altLang="en-US" sz="1350" dirty="0">
                <a:solidFill>
                  <a:srgbClr val="8A6D1E"/>
                </a:solidFill>
                <a:latin typeface="Amiri" pitchFamily="34" charset="0"/>
                <a:ea typeface="Amiri" pitchFamily="34" charset="-122"/>
                <a:cs typeface="Amiri" pitchFamily="34" charset="-120"/>
              </a:rPr>
              <a:t>بَيْتِي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room”.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غُرْفَتُهَا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 and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becomes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before the suffix.</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غُرْفَةٌ ___.</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كَبِيرَةٌ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كَبِيرٌ</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كِبَارٌ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كَبِيرَةٌ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room is feminine (ghurfa), a house is masculine (bayt): the adjective follows. And “my” is -ī: baytī, ghurfatī.</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كَبِيرٌ · غُرْفَتِ</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كَبِيرَ</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full lesson bank of rooms and house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room-name iḍāfa phrases.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فِي بَيْتِي، عِنْدِي، هُنَاكَ</a:t>
            </a:r>
            <a:pPr algn="l" indent="0" marL="0">
              <a:buNone/>
            </a:pPr>
            <a:r>
              <a:rPr lang="en-US" sz="1300" dirty="0">
                <a:solidFill>
                  <a:srgbClr val="1F2A37"/>
                </a:solidFill>
                <a:latin typeface="Calibri" pitchFamily="34" charset="0"/>
                <a:ea typeface="Calibri" pitchFamily="34" charset="-122"/>
                <a:cs typeface="Calibri" pitchFamily="34" charset="-120"/>
              </a:rPr>
              <a:t> and room-counting patterns.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real, fictional or dream home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five rooms.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is in my house (fī baytī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count rooms and floors.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adjectives agree with house / room.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rooms.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justify my favourite room with because.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House parts, rooms and floors — all from the website. Core: the six rooms, house, flat and garden.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Types and parts of a home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Rooms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Floors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حَمَّامٌ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‎حمام‎ </a:t>
            </a:r>
            <a:pPr indent="0" marL="0">
              <a:buNone/>
            </a:pPr>
            <a:r>
              <a:rPr lang="en-US" sz="950" b="1" dirty="0">
                <a:solidFill>
                  <a:srgbClr val="2E8B57"/>
                </a:solidFill>
                <a:latin typeface="Calibri" pitchFamily="34" charset="0"/>
                <a:ea typeface="Calibri" pitchFamily="34" charset="-122"/>
                <a:cs typeface="Calibri" pitchFamily="34" charset="-120"/>
              </a:rPr>
              <a:t> ḥammām · bathroom (Urdu: bath-house)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‎باب‎ </a:t>
            </a:r>
            <a:pPr indent="0" marL="0">
              <a:buNone/>
            </a:pPr>
            <a:r>
              <a:rPr lang="en-US" sz="950" b="1" dirty="0">
                <a:solidFill>
                  <a:srgbClr val="2E8B57"/>
                </a:solidFill>
                <a:latin typeface="Calibri" pitchFamily="34" charset="0"/>
                <a:ea typeface="Calibri" pitchFamily="34" charset="-122"/>
                <a:cs typeface="Calibri" pitchFamily="34" charset="-120"/>
              </a:rPr>
              <a:t> bāb · door (Urdu: chapter / gate)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مَنْزِلٌ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‎منزل‎ </a:t>
            </a:r>
            <a:pPr indent="0" marL="0">
              <a:buNone/>
            </a:pPr>
            <a:r>
              <a:rPr lang="en-US" sz="950" b="1" dirty="0">
                <a:solidFill>
                  <a:srgbClr val="2E8B57"/>
                </a:solidFill>
                <a:latin typeface="Calibri" pitchFamily="34" charset="0"/>
                <a:ea typeface="Calibri" pitchFamily="34" charset="-122"/>
                <a:cs typeface="Calibri" pitchFamily="34" charset="-120"/>
              </a:rPr>
              <a:t> manzil · home (Urdu: destination, storey)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حَدِيقَةٌ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‎حدیقہ‎ </a:t>
            </a:r>
            <a:pPr indent="0" marL="0">
              <a:buNone/>
            </a:pPr>
            <a:r>
              <a:rPr lang="en-US" sz="950" b="1" dirty="0">
                <a:solidFill>
                  <a:srgbClr val="2E8B57"/>
                </a:solidFill>
                <a:latin typeface="Calibri" pitchFamily="34" charset="0"/>
                <a:ea typeface="Calibri" pitchFamily="34" charset="-122"/>
                <a:cs typeface="Calibri" pitchFamily="34" charset="-120"/>
              </a:rPr>
              <a:t> ḥadīqa · garden (Urdu: باغ)</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مَكَانٌ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‎مکان‎ </a:t>
            </a:r>
            <a:pPr indent="0" marL="0">
              <a:buNone/>
            </a:pPr>
            <a:r>
              <a:rPr lang="en-US" sz="950" b="1" dirty="0">
                <a:solidFill>
                  <a:srgbClr val="2E8B57"/>
                </a:solidFill>
                <a:latin typeface="Calibri" pitchFamily="34" charset="0"/>
                <a:ea typeface="Calibri" pitchFamily="34" charset="-122"/>
                <a:cs typeface="Calibri" pitchFamily="34" charset="-120"/>
              </a:rPr>
              <a:t> makān · Arabic: place · Urdu: house!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TYPES AND PARTS OF A HOME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Home, flat, door, window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أَنْوَاعُ المَسَاكِنِ وَأَجْزَاؤُهَا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my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house /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بُيُوتٌ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بَيْتِي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my</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شَقَّةٌ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flat / apartment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shaq-qa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شُقَقٌ</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شَقَّتِي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بَابٌ</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bāb</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أَبْوَابٌ</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0" name="Shape 5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m.</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نَافِذَةٌ / شَبَّاكٌ</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nā-fi-dha / shub-bāk</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8" name="Text 6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نَوَافِذُ / شَبَابِيكُ</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حَدِيقَةٌ</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garden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ḥa-dī-qa</a:t>
            </a:r>
            <a:endParaRPr lang="en-US" sz="1350" dirty="0"/>
          </a:p>
        </p:txBody>
      </p:sp>
      <p:sp>
        <p:nvSpPr>
          <p:cNvPr id="78" name="Shape 7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حَدَائِقُ</a:t>
            </a:r>
            <a:endParaRPr lang="ar-SA" sz="150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4" name="Shape 8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مَرْآبٌ</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garage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mar-ʾāb</a:t>
            </a:r>
            <a:endParaRPr lang="en-US" sz="1350" dirty="0"/>
          </a:p>
        </p:txBody>
      </p:sp>
      <p:sp>
        <p:nvSpPr>
          <p:cNvPr id="88" name="Shape 85"/>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مَرَائِبُ</a:t>
            </a:r>
            <a:endParaRPr lang="ar-SA" sz="15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MORE HOUSE PARTS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Stairs, walls, roof, balcony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أَجْزَاءُ البَيْتِ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مَدْخَلٌ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entrance / hall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mad-khal</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مَدَاخِلُ</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 / سُلَّمٌ</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stairs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 / sul-lam</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Shape 34"/>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حَائِطٌ</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ḥā-ʾiṭ</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حِيطَانٌ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7" name="Shape 4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سَقْفٌ · سَطْحٌ</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ceiling · rooftop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saqf · saṭḥ</a:t>
            </a:r>
            <a:endParaRPr lang="en-US" sz="1350" dirty="0"/>
          </a:p>
        </p:txBody>
      </p:sp>
      <p:sp>
        <p:nvSpPr>
          <p:cNvPr id="51" name="Text 4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ea typeface="Calibri" pitchFamily="34" charset="-122"/>
                <a:cs typeface="Calibri" pitchFamily="34" charset="-120"/>
              </a:rPr>
              <a:t>Do not confuse (website): </a:t>
            </a:r>
            <a:pPr algn="l" indent="0" marL="0">
              <a:buNone/>
            </a:pPr>
            <a:r>
              <a:rPr lang="ar-SA" altLang="en-US" sz="1150" dirty="0">
                <a:solidFill>
                  <a:srgbClr val="8A6D1E"/>
                </a:solidFill>
                <a:latin typeface="Amiri" pitchFamily="34" charset="0"/>
                <a:ea typeface="Amiri" pitchFamily="34" charset="-122"/>
                <a:cs typeface="Amiri" pitchFamily="34" charset="-120"/>
              </a:rPr>
              <a:t>سَقْفٌ</a:t>
            </a:r>
            <a:pPr algn="l" indent="0" marL="0">
              <a:buNone/>
            </a:pPr>
            <a:r>
              <a:rPr lang="en-US" sz="900" i="1" dirty="0">
                <a:solidFill>
                  <a:srgbClr val="8A6D1E"/>
                </a:solidFill>
                <a:latin typeface="Calibri" pitchFamily="34" charset="0"/>
                <a:ea typeface="Calibri" pitchFamily="34" charset="-122"/>
                <a:cs typeface="Calibri" pitchFamily="34" charset="-120"/>
              </a:rPr>
              <a:t> = ceiling / roof covering; </a:t>
            </a:r>
            <a:pPr algn="l" indent="0" marL="0">
              <a:buNone/>
            </a:pPr>
            <a:r>
              <a:rPr lang="ar-SA" altLang="en-US" sz="1150" dirty="0">
                <a:solidFill>
                  <a:srgbClr val="8A6D1E"/>
                </a:solidFill>
                <a:latin typeface="Amiri" pitchFamily="34" charset="0"/>
                <a:ea typeface="Amiri" pitchFamily="34" charset="-122"/>
                <a:cs typeface="Amiri" pitchFamily="34" charset="-120"/>
              </a:rPr>
              <a:t>سَطْحٌ</a:t>
            </a:r>
            <a:pPr algn="l" indent="0" marL="0">
              <a:buNone/>
            </a:pPr>
            <a:r>
              <a:rPr lang="en-US" sz="900" i="1" dirty="0">
                <a:solidFill>
                  <a:srgbClr val="8A6D1E"/>
                </a:solidFill>
                <a:latin typeface="Calibri" pitchFamily="34" charset="0"/>
                <a:ea typeface="Calibri" pitchFamily="34" charset="-122"/>
                <a:cs typeface="Calibri" pitchFamily="34" charset="-120"/>
              </a:rPr>
              <a:t> = flat rooftop.</a:t>
            </a:r>
            <a:endParaRPr lang="en-US" sz="9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5" name="Shape 52"/>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مَمَرٌّ</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corridor / hallway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ma-marr</a:t>
            </a:r>
            <a:endParaRPr lang="en-US" sz="1350" dirty="0"/>
          </a:p>
        </p:txBody>
      </p:sp>
      <p:sp>
        <p:nvSpPr>
          <p:cNvPr id="59" name="Shape 56"/>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مَمَرَّاتٌ</a:t>
            </a:r>
            <a:endParaRPr lang="ar-SA" sz="150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5" name="Shape 62"/>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7" name="Text 6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شُرْفَةٌ</a:t>
            </a:r>
            <a:endParaRPr lang="ar-SA" sz="3000" dirty="0"/>
          </a:p>
        </p:txBody>
      </p:sp>
      <p:sp>
        <p:nvSpPr>
          <p:cNvPr id="68" name="Text 6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balcony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shur-fa</a:t>
            </a:r>
            <a:endParaRPr lang="en-US" sz="1350" dirty="0"/>
          </a:p>
        </p:txBody>
      </p:sp>
      <p:sp>
        <p:nvSpPr>
          <p:cNvPr id="69" name="Shape 66"/>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شُرُفَاتٌ</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THE COMPLETE ROOM BANK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rooms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غُرَفُ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room of sleeping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غُرْفَةُ النَّوْمِ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bedroom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ghur-fa-tu n-nawm</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غُرَفُ النَّوْمِ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غُرْفَةُ نَوْمِي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room of sitting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غُرْفَةُ الجُلُوسِ</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living 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ghur-fa-tu l-ju-lūs</a:t>
            </a:r>
            <a:endParaRPr lang="en-US" sz="1350" dirty="0"/>
          </a:p>
        </p:txBody>
      </p:sp>
      <p:sp>
        <p:nvSpPr>
          <p:cNvPr id="39" name="Text 3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a:t>
            </a:r>
            <a:pPr algn="l" indent="0" marL="0">
              <a:buNone/>
            </a:pPr>
            <a:r>
              <a:rPr lang="ar-SA" altLang="en-US" sz="1300" dirty="0">
                <a:solidFill>
                  <a:srgbClr val="8A6D1E"/>
                </a:solidFill>
                <a:latin typeface="Amiri" pitchFamily="34" charset="0"/>
                <a:ea typeface="Amiri" pitchFamily="34" charset="-122"/>
                <a:cs typeface="Amiri" pitchFamily="34" charset="-120"/>
              </a:rPr>
              <a:t>الصَّالَةُ</a:t>
            </a:r>
            <a:pPr algn="l" indent="0" marL="0">
              <a:buNone/>
            </a:pPr>
            <a:r>
              <a:rPr lang="en-US" sz="1000" i="1" dirty="0">
                <a:solidFill>
                  <a:srgbClr val="8A6D1E"/>
                </a:solidFill>
                <a:latin typeface="Calibri" pitchFamily="34" charset="0"/>
                <a:ea typeface="Calibri" pitchFamily="34" charset="-122"/>
                <a:cs typeface="Calibri" pitchFamily="34" charset="-120"/>
              </a:rPr>
              <a:t> (lounge).</a:t>
            </a:r>
            <a:endParaRPr lang="en-US" sz="10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3" name="Shape 40"/>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المَطْبَخُ</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kitchen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al-maṭ-bakh</a:t>
            </a:r>
            <a:endParaRPr lang="en-US" sz="1350" dirty="0"/>
          </a:p>
        </p:txBody>
      </p:sp>
      <p:sp>
        <p:nvSpPr>
          <p:cNvPr id="49" name="Shape 4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1" name="Text 4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مَطَابِخُ</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الحَمَّامُ</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bathroom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al-ḥam-mām</a:t>
            </a:r>
            <a:endParaRPr lang="en-US" sz="1350" dirty="0"/>
          </a:p>
        </p:txBody>
      </p:sp>
      <p:sp>
        <p:nvSpPr>
          <p:cNvPr id="61" name="Shape 5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3" name="Text 6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حَمَّامَاتٌ</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67" name="Shape 6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room of food</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غُرْفَةُ الطَّعَامِ</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dining 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ghur-fa-tu ṭ-ṭa-ʿām</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76" name="Shape 7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8" name="Text 7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المَكْتَبُ</a:t>
            </a:r>
            <a:endParaRPr lang="ar-SA" sz="3000" dirty="0"/>
          </a:p>
        </p:txBody>
      </p:sp>
      <p:sp>
        <p:nvSpPr>
          <p:cNvPr id="79" name="Text 7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study / 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al-mak-tab</a:t>
            </a:r>
            <a:endParaRPr lang="en-US" sz="1350" dirty="0"/>
          </a:p>
        </p:txBody>
      </p:sp>
      <p:sp>
        <p:nvSpPr>
          <p:cNvPr id="80" name="Text 7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“a desk” — context decides (website).</a:t>
            </a:r>
            <a:endParaRPr lang="en-US" sz="10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ROOM OF …” (WEBSITE IḌĀFA)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Room + the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إِضَافَةُ أَسْمَاءِ 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room of (no </a:t>
            </a:r>
            <a:pPr algn="ctr" indent="0" marL="0">
              <a:buNone/>
            </a:pPr>
            <a:r>
              <a:rPr lang="ar-SA" altLang="en-US" sz="1450" b="1" dirty="0">
                <a:solidFill>
                  <a:srgbClr val="FFFFFF"/>
                </a:solidFill>
                <a:latin typeface="Amiri" pitchFamily="34" charset="0"/>
                <a:ea typeface="Amiri" pitchFamily="34" charset="-122"/>
                <a:cs typeface="Amiri" pitchFamily="34" charset="-120"/>
              </a:rPr>
              <a:t>الـ</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7" name="Text 14"/>
          <p:cNvSpPr txBox="1"/>
          <p:nvPr/>
        </p:nvSpPr>
        <p:spPr>
          <a:xfrm>
            <a:off x="70500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the …</a:t>
            </a:r>
            <a:endParaRPr lang="en-US" sz="1100" dirty="0"/>
          </a:p>
        </p:txBody>
      </p:sp>
      <p:sp>
        <p:nvSpPr>
          <p:cNvPr id="18" name="Text 15"/>
          <p:cNvSpPr txBox="1"/>
          <p:nvPr/>
        </p:nvSpPr>
        <p:spPr>
          <a:xfrm>
            <a:off x="357530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the room name</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غُرْفَةُ</a:t>
            </a:r>
            <a:endParaRPr lang="ar-SA" sz="2600" dirty="0"/>
          </a:p>
        </p:txBody>
      </p:sp>
      <p:sp>
        <p:nvSpPr>
          <p:cNvPr id="22" name="Text 19"/>
          <p:cNvSpPr txBox="1"/>
          <p:nvPr/>
        </p:nvSpPr>
        <p:spPr>
          <a:xfrm>
            <a:off x="7068312"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34" charset="0"/>
                <a:ea typeface="Amiri" pitchFamily="34" charset="-122"/>
                <a:cs typeface="Amiri" pitchFamily="34" charset="-120"/>
              </a:rPr>
              <a:t>النَّوْمِ</a:t>
            </a:r>
            <a:endParaRPr lang="ar-SA" sz="2600" dirty="0"/>
          </a:p>
        </p:txBody>
      </p:sp>
      <p:sp>
        <p:nvSpPr>
          <p:cNvPr id="23" name="Text 20"/>
          <p:cNvSpPr txBox="1"/>
          <p:nvPr/>
        </p:nvSpPr>
        <p:spPr>
          <a:xfrm>
            <a:off x="3593592" y="2267712"/>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غُرْفَةُ</a:t>
            </a:r>
            <a:pPr rtl="1" algn="ctr" indent="0" marL="0">
              <a:buNone/>
            </a:pPr>
            <a:r>
              <a:rPr lang="ar-SA" altLang="en-US" sz="2600" b="1" dirty="0">
                <a:solidFill>
                  <a:srgbClr val="1B3B6F"/>
                </a:solidFill>
                <a:latin typeface="Amiri" pitchFamily="34" charset="0"/>
                <a:ea typeface="Amiri" pitchFamily="34" charset="-122"/>
                <a:cs typeface="Amiri" pitchFamily="34" charset="-120"/>
              </a:rPr>
              <a:t> </a:t>
            </a:r>
            <a:pPr rtl="1" algn="ctr" indent="0" marL="0">
              <a:buNone/>
            </a:pPr>
            <a:r>
              <a:rPr lang="ar-SA" altLang="en-US" sz="2600" b="1" dirty="0">
                <a:solidFill>
                  <a:srgbClr val="C77700"/>
                </a:solidFill>
                <a:latin typeface="Amiri" pitchFamily="34" charset="0"/>
                <a:ea typeface="Amiri" pitchFamily="34" charset="-122"/>
                <a:cs typeface="Amiri" pitchFamily="34" charset="-120"/>
              </a:rPr>
              <a:t>النَّوْمِ</a:t>
            </a:r>
            <a:endParaRPr lang="ar-SA" sz="2600" dirty="0"/>
          </a:p>
        </p:txBody>
      </p:sp>
      <p:sp>
        <p:nvSpPr>
          <p:cNvPr id="24" name="Text 21"/>
          <p:cNvSpPr txBox="1"/>
          <p:nvPr/>
        </p:nvSpPr>
        <p:spPr>
          <a:xfrm>
            <a:off x="5669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bedroom (room of the sleeping)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غُرْفَةُ</a:t>
            </a:r>
            <a:endParaRPr lang="ar-SA" sz="2600" dirty="0"/>
          </a:p>
        </p:txBody>
      </p:sp>
      <p:sp>
        <p:nvSpPr>
          <p:cNvPr id="29" name="Text 26"/>
          <p:cNvSpPr txBox="1"/>
          <p:nvPr/>
        </p:nvSpPr>
        <p:spPr>
          <a:xfrm>
            <a:off x="7068312"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34" charset="0"/>
                <a:ea typeface="Amiri" pitchFamily="34" charset="-122"/>
                <a:cs typeface="Amiri" pitchFamily="34" charset="-120"/>
              </a:rPr>
              <a:t>الجُلُوسِ</a:t>
            </a:r>
            <a:endParaRPr lang="ar-SA" sz="2600" dirty="0"/>
          </a:p>
        </p:txBody>
      </p:sp>
      <p:sp>
        <p:nvSpPr>
          <p:cNvPr id="30" name="Text 27"/>
          <p:cNvSpPr txBox="1"/>
          <p:nvPr/>
        </p:nvSpPr>
        <p:spPr>
          <a:xfrm>
            <a:off x="3593592" y="3004718"/>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غُرْفَةُ</a:t>
            </a:r>
            <a:pPr rtl="1" algn="ctr" indent="0" marL="0">
              <a:buNone/>
            </a:pPr>
            <a:r>
              <a:rPr lang="ar-SA" altLang="en-US" sz="2600" b="1" dirty="0">
                <a:solidFill>
                  <a:srgbClr val="1B3B6F"/>
                </a:solidFill>
                <a:latin typeface="Amiri" pitchFamily="34" charset="0"/>
                <a:ea typeface="Amiri" pitchFamily="34" charset="-122"/>
                <a:cs typeface="Amiri" pitchFamily="34" charset="-120"/>
              </a:rPr>
              <a:t> </a:t>
            </a:r>
            <a:pPr rtl="1" algn="ctr" indent="0" marL="0">
              <a:buNone/>
            </a:pPr>
            <a:r>
              <a:rPr lang="ar-SA" altLang="en-US" sz="2600" b="1" dirty="0">
                <a:solidFill>
                  <a:srgbClr val="C77700"/>
                </a:solidFill>
                <a:latin typeface="Amiri" pitchFamily="34" charset="0"/>
                <a:ea typeface="Amiri" pitchFamily="34" charset="-122"/>
                <a:cs typeface="Amiri" pitchFamily="34" charset="-120"/>
              </a:rPr>
              <a:t>الجُلُوسِ</a:t>
            </a:r>
            <a:endParaRPr lang="ar-SA" sz="2600" dirty="0"/>
          </a:p>
        </p:txBody>
      </p:sp>
      <p:sp>
        <p:nvSpPr>
          <p:cNvPr id="31" name="Text 28"/>
          <p:cNvSpPr txBox="1"/>
          <p:nvPr/>
        </p:nvSpPr>
        <p:spPr>
          <a:xfrm>
            <a:off x="5669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living room</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غُرْفَةُ</a:t>
            </a:r>
            <a:endParaRPr lang="ar-SA" sz="2600" dirty="0"/>
          </a:p>
        </p:txBody>
      </p:sp>
      <p:sp>
        <p:nvSpPr>
          <p:cNvPr id="36" name="Text 33"/>
          <p:cNvSpPr txBox="1"/>
          <p:nvPr/>
        </p:nvSpPr>
        <p:spPr>
          <a:xfrm>
            <a:off x="7068312"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34" charset="0"/>
                <a:ea typeface="Amiri" pitchFamily="34" charset="-122"/>
                <a:cs typeface="Amiri" pitchFamily="34" charset="-120"/>
              </a:rPr>
              <a:t>الطَّعَامِ</a:t>
            </a:r>
            <a:endParaRPr lang="ar-SA" sz="2600" dirty="0"/>
          </a:p>
        </p:txBody>
      </p:sp>
      <p:sp>
        <p:nvSpPr>
          <p:cNvPr id="37" name="Text 34"/>
          <p:cNvSpPr txBox="1"/>
          <p:nvPr/>
        </p:nvSpPr>
        <p:spPr>
          <a:xfrm>
            <a:off x="3593592" y="3741725"/>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غُرْفَةُ</a:t>
            </a:r>
            <a:pPr rtl="1" algn="ctr" indent="0" marL="0">
              <a:buNone/>
            </a:pPr>
            <a:r>
              <a:rPr lang="ar-SA" altLang="en-US" sz="2600" b="1" dirty="0">
                <a:solidFill>
                  <a:srgbClr val="1B3B6F"/>
                </a:solidFill>
                <a:latin typeface="Amiri" pitchFamily="34" charset="0"/>
                <a:ea typeface="Amiri" pitchFamily="34" charset="-122"/>
                <a:cs typeface="Amiri" pitchFamily="34" charset="-120"/>
              </a:rPr>
              <a:t> </a:t>
            </a:r>
            <a:pPr rtl="1" algn="ctr" indent="0" marL="0">
              <a:buNone/>
            </a:pPr>
            <a:r>
              <a:rPr lang="ar-SA" altLang="en-US" sz="2600" b="1" dirty="0">
                <a:solidFill>
                  <a:srgbClr val="C77700"/>
                </a:solidFill>
                <a:latin typeface="Amiri" pitchFamily="34" charset="0"/>
                <a:ea typeface="Amiri" pitchFamily="34" charset="-122"/>
                <a:cs typeface="Amiri" pitchFamily="34" charset="-120"/>
              </a:rPr>
              <a:t>الطَّعَامِ</a:t>
            </a:r>
            <a:endParaRPr lang="ar-SA" sz="2600" dirty="0"/>
          </a:p>
        </p:txBody>
      </p:sp>
      <p:sp>
        <p:nvSpPr>
          <p:cNvPr id="38" name="Text 35"/>
          <p:cNvSpPr txBox="1"/>
          <p:nvPr/>
        </p:nvSpPr>
        <p:spPr>
          <a:xfrm>
            <a:off x="5669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dining room</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بَابُ</a:t>
            </a:r>
            <a:endParaRPr lang="ar-SA" sz="2600" dirty="0"/>
          </a:p>
        </p:txBody>
      </p:sp>
      <p:sp>
        <p:nvSpPr>
          <p:cNvPr id="43" name="Text 40"/>
          <p:cNvSpPr txBox="1"/>
          <p:nvPr/>
        </p:nvSpPr>
        <p:spPr>
          <a:xfrm>
            <a:off x="7068312"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34" charset="0"/>
                <a:ea typeface="Amiri" pitchFamily="34" charset="-122"/>
                <a:cs typeface="Amiri" pitchFamily="34" charset="-120"/>
              </a:rPr>
              <a:t>البَيْتِ</a:t>
            </a:r>
            <a:endParaRPr lang="ar-SA" sz="2600" dirty="0"/>
          </a:p>
        </p:txBody>
      </p:sp>
      <p:sp>
        <p:nvSpPr>
          <p:cNvPr id="44" name="Text 41"/>
          <p:cNvSpPr txBox="1"/>
          <p:nvPr/>
        </p:nvSpPr>
        <p:spPr>
          <a:xfrm>
            <a:off x="3593592" y="4478731"/>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بَابُ</a:t>
            </a:r>
            <a:pPr rtl="1" algn="ctr" indent="0" marL="0">
              <a:buNone/>
            </a:pPr>
            <a:r>
              <a:rPr lang="ar-SA" altLang="en-US" sz="2600" b="1" dirty="0">
                <a:solidFill>
                  <a:srgbClr val="1B3B6F"/>
                </a:solidFill>
                <a:latin typeface="Amiri" pitchFamily="34" charset="0"/>
                <a:ea typeface="Amiri" pitchFamily="34" charset="-122"/>
                <a:cs typeface="Amiri" pitchFamily="34" charset="-120"/>
              </a:rPr>
              <a:t> </a:t>
            </a:r>
            <a:pPr rtl="1" algn="ctr" indent="0" marL="0">
              <a:buNone/>
            </a:pPr>
            <a:r>
              <a:rPr lang="ar-SA" altLang="en-US" sz="2600" b="1" dirty="0">
                <a:solidFill>
                  <a:srgbClr val="C77700"/>
                </a:solidFill>
                <a:latin typeface="Amiri" pitchFamily="34" charset="0"/>
                <a:ea typeface="Amiri" pitchFamily="34" charset="-122"/>
                <a:cs typeface="Amiri" pitchFamily="34" charset="-120"/>
              </a:rPr>
              <a:t>البَيْتِ</a:t>
            </a:r>
            <a:endParaRPr lang="ar-SA" sz="2600" dirty="0"/>
          </a:p>
        </p:txBody>
      </p:sp>
      <p:sp>
        <p:nvSpPr>
          <p:cNvPr id="45" name="Text 42"/>
          <p:cNvSpPr txBox="1"/>
          <p:nvPr/>
        </p:nvSpPr>
        <p:spPr>
          <a:xfrm>
            <a:off x="5669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house door</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نَافِذَةُ</a:t>
            </a:r>
            <a:endParaRPr lang="ar-SA" sz="2600" dirty="0"/>
          </a:p>
        </p:txBody>
      </p:sp>
      <p:sp>
        <p:nvSpPr>
          <p:cNvPr id="48" name="Text 45"/>
          <p:cNvSpPr txBox="1"/>
          <p:nvPr/>
        </p:nvSpPr>
        <p:spPr>
          <a:xfrm>
            <a:off x="7068312"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34" charset="0"/>
                <a:ea typeface="Amiri" pitchFamily="34" charset="-122"/>
                <a:cs typeface="Amiri" pitchFamily="34" charset="-120"/>
              </a:rPr>
              <a:t>المَطْبَخِ</a:t>
            </a:r>
            <a:endParaRPr lang="ar-SA" sz="2600" dirty="0"/>
          </a:p>
        </p:txBody>
      </p:sp>
      <p:sp>
        <p:nvSpPr>
          <p:cNvPr id="49" name="Text 46"/>
          <p:cNvSpPr txBox="1"/>
          <p:nvPr/>
        </p:nvSpPr>
        <p:spPr>
          <a:xfrm>
            <a:off x="3593592" y="5215738"/>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نَافِذَةُ</a:t>
            </a:r>
            <a:pPr rtl="1" algn="ctr" indent="0" marL="0">
              <a:buNone/>
            </a:pPr>
            <a:r>
              <a:rPr lang="ar-SA" altLang="en-US" sz="2600" b="1" dirty="0">
                <a:solidFill>
                  <a:srgbClr val="1B3B6F"/>
                </a:solidFill>
                <a:latin typeface="Amiri" pitchFamily="34" charset="0"/>
                <a:ea typeface="Amiri" pitchFamily="34" charset="-122"/>
                <a:cs typeface="Amiri" pitchFamily="34" charset="-120"/>
              </a:rPr>
              <a:t> </a:t>
            </a:r>
            <a:pPr rtl="1" algn="ctr" indent="0" marL="0">
              <a:buNone/>
            </a:pPr>
            <a:r>
              <a:rPr lang="ar-SA" altLang="en-US" sz="2600" b="1" dirty="0">
                <a:solidFill>
                  <a:srgbClr val="C77700"/>
                </a:solidFill>
                <a:latin typeface="Amiri" pitchFamily="34" charset="0"/>
                <a:ea typeface="Amiri" pitchFamily="34" charset="-122"/>
                <a:cs typeface="Amiri" pitchFamily="34" charset="-120"/>
              </a:rPr>
              <a:t>المَطْبَخِ</a:t>
            </a:r>
            <a:endParaRPr lang="ar-SA" sz="2600" dirty="0"/>
          </a:p>
        </p:txBody>
      </p:sp>
      <p:sp>
        <p:nvSpPr>
          <p:cNvPr id="50" name="Text 47"/>
          <p:cNvSpPr txBox="1"/>
          <p:nvPr/>
        </p:nvSpPr>
        <p:spPr>
          <a:xfrm>
            <a:off x="5669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kitchen window</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nouns side by side: the first has no al- (and no -un); the second carries “the”.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THREE HOME FRAMES + COUNTING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 my house · I have · there are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بَيْتِي · عِنْدِي · هُنَاكَ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LIST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بَيْتِي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فِي بَيْتِي مَطْبَخٌ وَحَمَّامٌ.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my house there is a kitchen and a bathroom.</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What the home contains.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HAVE · CORE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عِنْدِي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عِنْدِي غُرْفَةُ نَوْمٍ كَبِيرَةٌ.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big bedroom.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Possession: ‘indī.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COUNT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هُنَاكَ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هُنَاكَ ثَلَاثُ غُرَفٍ.</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are three rooms.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Room f. → thalāthu (not thalāthatu).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House m. · room f. — the adjective follows (website).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غُرْفَةٌ كَبِيرَةٌ وَجَدِيدَةٌ</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34" charset="0"/>
                <a:ea typeface="Amiri" pitchFamily="34" charset="-122"/>
                <a:cs typeface="Amiri" pitchFamily="34" charset="-120"/>
              </a:rPr>
              <a:t>غُرْفَةٌ كَبِيرٌ وَجَدِيدٌ</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my house there is a kitchen.”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بَيْتِي مَطْبَخٌ.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فِي مَطْبَخٌ.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مَطْبَخٌ.</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garden.”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حَدِيقَةٌ.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حَدِيقَتِي.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عِنْدِي.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are three rooms.”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ثَلَاثَةُ غُرَفٍ.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ثَلَاثُ غُرَفٍ.</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ثَلَاثُ غُرْفَةٍ.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شَقَّتِي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my house there is a kitchen.”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بَيْتِي مَطْبَخٌ.</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فِي مَطْبَخٌ.</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بَيْتِي مَطْبَخٌ.</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بَيْتِي</a:t>
            </a:r>
            <a:pPr algn="l" indent="0" marL="0">
              <a:buNone/>
            </a:pPr>
            <a:r>
              <a:rPr lang="en-US" sz="1050" i="1" dirty="0">
                <a:solidFill>
                  <a:srgbClr val="8A6D1E"/>
                </a:solidFill>
                <a:latin typeface="Calibri" pitchFamily="34" charset="0"/>
                <a:ea typeface="Calibri" pitchFamily="34" charset="-122"/>
                <a:cs typeface="Calibri" pitchFamily="34" charset="-120"/>
              </a:rPr>
              <a:t> introduces what is in the home.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garden.”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 حَدِيقَةٌ.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حَدِيقَتِي.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 عِنْدِي.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عِنْدِي</a:t>
            </a:r>
            <a:pPr algn="l" indent="0" marL="0">
              <a:buNone/>
            </a:pPr>
            <a:r>
              <a:rPr lang="en-US" sz="1050" i="1" dirty="0">
                <a:solidFill>
                  <a:srgbClr val="8A6D1E"/>
                </a:solidFill>
                <a:latin typeface="Calibri" pitchFamily="34" charset="0"/>
                <a:ea typeface="Calibri" pitchFamily="34" charset="-122"/>
                <a:cs typeface="Calibri" pitchFamily="34" charset="-120"/>
              </a:rPr>
              <a:t> expresses possession.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are three rooms.”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 ثَلَاثَةُ غُرَفٍ.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هُنَاكَ ثَلَاثُ غُرَفٍ.</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 ثَلَاثُ غُرْفَةٍ.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masculine </a:t>
            </a:r>
            <a:pPr algn="l" indent="0" marL="0">
              <a:buNone/>
            </a:pPr>
            <a:r>
              <a:rPr lang="ar-SA" altLang="en-US" sz="1350" dirty="0">
                <a:solidFill>
                  <a:srgbClr val="8A6D1E"/>
                </a:solidFill>
                <a:latin typeface="Amiri" pitchFamily="34" charset="0"/>
                <a:ea typeface="Amiri" pitchFamily="34" charset="-122"/>
                <a:cs typeface="Amiri" pitchFamily="34" charset="-120"/>
              </a:rPr>
              <a:t>ثَلَاثُ</a:t>
            </a:r>
            <a:pPr algn="l" indent="0" marL="0">
              <a:buNone/>
            </a:pPr>
            <a:r>
              <a:rPr lang="en-US" sz="1050" i="1" dirty="0">
                <a:solidFill>
                  <a:srgbClr val="8A6D1E"/>
                </a:solidFill>
                <a:latin typeface="Calibri" pitchFamily="34" charset="0"/>
                <a:ea typeface="Calibri" pitchFamily="34" charset="-122"/>
                <a:cs typeface="Calibri" pitchFamily="34" charset="-120"/>
              </a:rPr>
              <a:t> with plural </a:t>
            </a:r>
            <a:pPr algn="l" indent="0" marL="0">
              <a:buNone/>
            </a:pPr>
            <a:r>
              <a:rPr lang="ar-SA" altLang="en-US" sz="1350" dirty="0">
                <a:solidFill>
                  <a:srgbClr val="8A6D1E"/>
                </a:solidFill>
                <a:latin typeface="Amiri" pitchFamily="34" charset="0"/>
                <a:ea typeface="Amiri" pitchFamily="34" charset="-122"/>
                <a:cs typeface="Amiri" pitchFamily="34" charset="-120"/>
              </a:rPr>
              <a:t>غُرَفٍ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شَقَّتِي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جَدِيدَةٌ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شَقَّةٌ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tour a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Type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أَسْكُنُ فِي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شَقَّةٍ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الطَّابِقِ الثَّانِي.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Flat, on the 2nd floor.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Size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شَقَّتِي صَغِيرَ</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وَلَكِنَّهَا جَمِيلَ</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Flat is f. → -a on both adjectives.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Rooms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فِيهَا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غُرْفَتَا نَوْمٍ وَ</a:t>
            </a:r>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غُرْفَةُ جُلُوسٍ</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وَمَطْبَخٌ.</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bedrooms, living room, kitchen.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Extra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عِنْدَنَا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شُرْفَةٌ. أُحِبُّ شَقَّتِي لِأَنَّهَا مُرِيحَةٌ.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 we have + because.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HOME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FRAME</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ROOM NAME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أَسْكُنُ فِي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شَقَّةٍ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الطَّابِقِ الثَّانِي. شَقَّتِي صَغِيرَ</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وَلَكِنَّهَا جَمِيلَ</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فِيهَا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غُرْفَتَا نَوْمٍ وَ</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غُرْفَةُ جُلُوسٍ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وَمَطْبَخٌ وَحَمَّامٌ.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عِنْدَنَا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شُرْفَةٌ، وَلَكِنْ لَيْسَ عِنْدَنَا حَدِيقَةٌ. أُحِبُّ شَقَّتِي لِأَنَّهَا مُرِيحَةٌ.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live in a flat on the second floor. My flat is small but beautiful. It has two bedrooms, a living room, a kitchen and a bathroom. We have a balcony, but we don’t have a garden. I like my flat because it is comfortable.</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MY HOME — ROOMS AND PARTS OF THE HOUSE”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room?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kitchen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block of flats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شَقَّةٍ.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غُرْفَةُ النَّوْمِ.</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المَطْبَخُ.</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kitchen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المَطْبَخُ.</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kitchen.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block of flats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شَقَّةٍ.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live in a flat.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“HOUSE TOUR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Tour the house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جَوْلَةِ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flat/apartment. (one home inside a building)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مَرْآبٌ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 (the dining room)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الطَّعَامِ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طَعَامٌ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الطَّعَامِ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number phrase. (three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غُرْفَةٍ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غُرَفٍ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 (a large old house)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كَبِيرٌ وَقَدِيمٌ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كَبِيرَةٌ وَقَدِيمَةٌ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كَبِيرٌ وَقَدِيمٌ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(favourite room)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غُرْفَتِي لِأَنَّهُ مُرِيحٌ.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غُرْفَتِي لِأَنَّهَا مُرِيحَةٌ.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بَيْتِي لِأَنَّهَا مُرِيحَةٌ.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Room of + the …</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room → -a adjective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3 rooms = thalāthu ghuraf</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flat/apartment. (one home inside a building)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شَقَّةٌ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مَرْآبٌ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شَقَّةٌ</a:t>
            </a:r>
            <a:pPr algn="l" indent="0" marL="0">
              <a:buNone/>
            </a:pPr>
            <a:r>
              <a:rPr lang="en-US" sz="1050" i="1" dirty="0">
                <a:solidFill>
                  <a:srgbClr val="8A6D1E"/>
                </a:solidFill>
                <a:latin typeface="Calibri" pitchFamily="34" charset="0"/>
                <a:ea typeface="Calibri" pitchFamily="34" charset="-122"/>
                <a:cs typeface="Calibri" pitchFamily="34" charset="-120"/>
              </a:rPr>
              <a:t> is a flat/apartment.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 (the dining room)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الغُرْفَةُ الطَّعَامِ</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طَعَامٌ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غُرْفَةُ الطَّعَامِ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noun has no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number phrase. (three rooms)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ثَلَاثَةُ غُرَفٍ</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 غُرْفَةٍ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غُرَفٍ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masculine </a:t>
            </a:r>
            <a:pPr algn="l" indent="0" marL="0">
              <a:buNone/>
            </a:pPr>
            <a:r>
              <a:rPr lang="ar-SA" altLang="en-US" sz="1350" dirty="0">
                <a:solidFill>
                  <a:srgbClr val="8A6D1E"/>
                </a:solidFill>
                <a:latin typeface="Amiri" pitchFamily="34" charset="0"/>
                <a:ea typeface="Amiri" pitchFamily="34" charset="-122"/>
                <a:cs typeface="Amiri" pitchFamily="34" charset="-120"/>
              </a:rPr>
              <a:t>ثَلَاثُ</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 (a large old house)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 كَبِيرٌ وَقَدِيمٌ</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 كَبِيرَةٌ وَقَدِيمَةٌ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كَبِيرٌ وَقَدِيمٌ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 adjectives agree with masculine </a:t>
            </a:r>
            <a:pPr algn="l" indent="0" marL="0">
              <a:buNone/>
            </a:pPr>
            <a:r>
              <a:rPr lang="ar-SA" altLang="en-US" sz="1350" dirty="0">
                <a:solidFill>
                  <a:srgbClr val="8A6D1E"/>
                </a:solidFill>
                <a:latin typeface="Amiri" pitchFamily="34" charset="0"/>
                <a:ea typeface="Amiri" pitchFamily="34" charset="-122"/>
                <a:cs typeface="Amiri" pitchFamily="34" charset="-120"/>
              </a:rPr>
              <a:t>بَيْتٌ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(favourite room)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غُرْفَتِي لِأَنَّهُ مُرِيحٌ.</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 غُرْفَتِي لِأَنَّهَا مُرِيحَةٌ.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بَيْتِي لِأَنَّهَا مُرِيحَةٌ.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room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مُرِيحَةٌ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Room of + the …</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room → -a adjective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3 rooms = thalāthu ghuraf</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الغُرْفَةُ النَّوْمِ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Room name: which noun loses al-?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هُنَاكَ ثَلَاثَةُ غُرَفٍ.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Room is feminine — which number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غُرْفَتِي كَبِيرٌ.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Room is feminine — which adjective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الغُرْفَةُ النَّوْمِ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غُرْفَةُ النَّوْمِ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a room name the first noun has no al- (website “Repair these”).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هُنَاكَ ثَلَاثَةُ غُرَفٍ.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هُنَاكَ ثَلَاثُ غُرَفٍ.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Ghurfa (room) is feminine, so 3–10 take the opposite (masculine) form.</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غُرْفَتِي كَبِيرٌ.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غُرْفَتِي كَبِيرَةٌ.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Ghurfa (room) is feminine: the adjective ends in -a.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Salma’s two-floor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type of home does Salma live 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 new house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old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 old house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floors are in the house?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are on the first floor?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outside/additional to the main rooms?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garden and garage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balcony and roof</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 garden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the house?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 school.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comfortable and quiet.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a large roof.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Notes grid: home type · floors · rooms · garden / garage · opinion.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سَلْمَى. أَسْكُنُ مَعَ عَائِلَتِي فِي بَيْتٍ كَبِيرٍ وَجَدِيدٍ.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Salma. I live with my family in a big, new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بَيْتُنَا فِيهِ طَابِقَانِ وَسِتُّ غُرَفٍ وَحَمَّامَانِ.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 house has two floors, six rooms and two bathrooms.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الطَّابِقِ الأَرْضِيِّ مَدْخَلٌ وَغُرْفَةُ جُلُوسٍ وَمَطْبَخٌ وَغُرْفَةُ طَعَامٍ وَحَمَّامٌ.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ground floor: a hall, a living room, a kitchen, a dining room and a bathroom.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الطَّابِقِ الأَوَّلِ ثَلَاثُ غُرَفِ نَوْمٍ وَحَمَّامٌ آخَرُ. عِنْدَنَا حَدِيقَةٌ صَغِيرَةٌ وَمَرْآبٌ.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first floor: three bedrooms and another bathroom. We have a small garden and a garage.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غُرْفَتِي فِي الطَّابِقِ الأَوَّلِ، وَفِيهَا نَافِذَةٌ كَبِيرَةٌ. أُحِبُّ بَيْتِي لِأَنَّهُ مُرِيحٌ وَهَادِئٌ.</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room is on the first floor and has a big window. I love my house because it is comfortable and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type of home does Salma live 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large new house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small old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large old house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فِي بَيْتٍ كَبِيرٍ وَجَدِيدٍ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floors are in the house?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بَيْتُنَا فِيهِ طَابِقَانِ.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are on the first floor?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الطَّابِقِ الأَوَّلِ ثَلَاثُ غُرَفِ نَوْمٍ.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outside/additional to the main rooms?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garden and garage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balcony and roof</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 garden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عِنْدَنَا حَدِيقَةٌ صَغِيرَةٌ وَمَرْآبٌ.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the house?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 school.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comfortable and quiet.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a large roof.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مُرِيحٌ وَهَادِئٌ.</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Notes grid: home type · floors · rooms · garden / garage · opinion.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Omar’s flat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عُمَرُ. أَسْكُنُ مَعَ أُسْرَتِي فِي شَقَّةٍ فِي الطَّابِقِ الثَّانِي.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 floor: a flat on the second floor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شَقَّتُنَا صَغِيرَةٌ وَلَكِنَّهَا جَمِيلَةٌ وَنَظِيفَةٌ.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small but beautiful and clean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فِيهَا غُرْفَةُ جُلُوسٍ وَغُرْفَتَا نَوْمٍ وَمَطْبَخٌ وَحَمَّامٌ وَمَمَرٌّ صَغِيرٌ.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Rooms: living room · two bedrooms · kitchen · bathroom · hallway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عِنْدَنَا حَدِيقَةٌ وَلَا مَرْآبٌ، وَلَكِنْ عِنْدَنَا شُرْفَةٌ.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garden, garage · but: a balcony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غُرْفَةَ الجُلُوسِ لِأَنَّهَا وَاسِعَةٌ وَمُرِيحَةٌ.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the living room — spacious and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Huda’s house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هُدَى. بَيْتُنَا قَدِيمٌ وَلَكِنَّهُ كَبِيرٌ.</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old but big</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 طَابِقٌ أَرْضِيٌّ وَطَابِقٌ أَوَّلُ.</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Floors: ground + first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الطَّابِقِ الأَرْضِيِّ مَطْبَخٌ وَغُرْفَةُ طَعَامٍ وَغُرْفَةُ جُلُوسٍ كَبِيرَةٌ.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Ground floor: kitchen · dining room · big living room</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الطَّابِقِ الأَوَّلِ أَرْبَعُ غُرَفِ نَوْمٍ وَحَمَّامَانِ.</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floor: four bedrooms · two bathrooms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عِنْدَنَا حَدِيقَةٌ وَمَرْآبٌ وَسَطْحٌ. أُحِبُّ الحَدِيقَةَ لِأَنَّهَا جَمِيلَةٌ وَهَادِئَةٌ.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Extras: garden · garage · rooftop — opinion: the garden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READING QUESTIONS · USE EVIDENCE FROM BOTH TEXTS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Omar’s flat?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ground floor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second floor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first floor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does Omar’s flat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not have?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garden or garage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kitchen or bathroom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living room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Huda’s house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 but 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but 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and narrow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are upstairs?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Question → key word → the exact Arabic phrase.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Omar’s flat?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ground floor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the second floor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first floor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شَقَّةٍ فِي الطَّابِقِ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does Omar’s flat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غُرْفَتَا نَوْمٍ</a:t>
            </a:r>
            <a:pPr algn="l" indent="0" marL="0">
              <a:buNone/>
            </a:pPr>
            <a:r>
              <a:rPr lang="en-US" sz="1050" i="1" dirty="0">
                <a:solidFill>
                  <a:srgbClr val="8A6D1E"/>
                </a:solidFill>
                <a:latin typeface="Calibri" pitchFamily="34" charset="0"/>
                <a:ea typeface="Calibri" pitchFamily="34" charset="-122"/>
                <a:cs typeface="Calibri" pitchFamily="34" charset="-120"/>
              </a:rPr>
              <a:t> means two bedrooms.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not have?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garden or garage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kitchen or bathroom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living room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عِنْدَنَا حَدِيقَةٌ وَلَا مَرْآبٌ.</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Huda’s house described?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new but small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old but 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old and narrow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بَيْتُنَا قَدِيمٌ وَلَكِنَّهُ كَبِيرٌ.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are upstairs?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وَفِي الطَّابِقِ الأَوَّلِ أَرْبَعُ غُرَفِ نَوْمٍ.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Question → key word → the exact Arabic phrase.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 connected house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بَيْتِكَ؟ / مَاذَا فِي بَيْتِكِ؟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غُرْفَةً فِي بَيْتِكَ؟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 حَدِيقَةٌ؟ / هَلْ عِنْدَكِ حَدِيقَةٌ؟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غُرْفَتُكَ المُفَضَّلَةُ؟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بَيْتِي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بَيْتِي ___ غُرَفٍ. / غُرْفَتَانِ.</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نَعَمْ، عِنْدِي ___ . / لَا، لَيْسَ عِنْدِي ___ .</a:t>
            </a:r>
            <a:endParaRPr lang="ar-SA" sz="14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أُحِبُّ ___ لِأَنَّهَا ___ ، وَلَكِنَّ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فِي بَيْتِكَ؟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in your house?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أَسْكُنُ فِي بَيْتٍ كَبِيرٍ مَعَ عَائِلَتِي. فِي بَيْتِي طَابِقَانِ وَسِتُّ غُرَفٍ.</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I live in a big house with my family. In my house there are two floors and six rooms.</a:t>
            </a:r>
            <a:endParaRPr lang="en-US" sz="8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Name five rooms and use fī baytī (in my house) in five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Model + word bank: home type, three rooms with fī baytī, one thing you have (‘indī).</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floors, six or more rooms and accurate adjectives (50–70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Floors, six rooms with a number, two agreeing adjectives, a favourite room.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50–70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rooms and justify a favourite using wa-lākin (but) and li-anna (because).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rooms (wa-lākin) and justify your favourite (li-annahā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هُنَاكَ ______ غُرَفٍ.</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are … rooms.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الطَّابِقِ الأَرْضِيِّ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ground floor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الطَّابِقِ الأَوَّلِ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first floor there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لَيْسَ عِنْدَنَا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we don’t have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love … because it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بَيْتٍ / شَقَّةٍ.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in a house / a flat.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بَيْتِي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house there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بَيْتِي كَبِيرٌ / صَغِيرٌ.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house is big / small.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غُرْفَتِي كَبِيرَةٌ / صَغِيرَةٌ.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room is big / small.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بَيْتٌ  ·  شَقَّةٌ  ·  غُرْفَةُ النَّوْمِ  ·  غُرْفَةُ الجُلُوسِ  ·  المَطْبَخُ  ·  الحَمَّامُ  ·  غُرْفَةُ الطَّعَامِ  ·  حَدِيقَةٌ  ·  فِي بَيْتِي  ·  عِنْدِي  ·  هُنَاكَ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بَيْتٍ كَبِيرٍ مَعَ عَائِلَتِي. فِي بَيْتِي طَابِقَانِ وَسِتُّ غُرَفٍ. فِي الطَّابِقِ الأَرْضِيِّ مَطْبَخٌ وَغُرْفَةُ جُلُوسٍ وَحَمَّامٌ. وَفِي الطَّابِقِ الأَوَّلِ ثَلَاثُ غُرَفِ نَوْمٍ. عِنْدَنَا حَدِيقَةٌ وَمَرْآبٌ. أُحِبُّ بَيْتِي لِأَنَّهُ مُرِيحٌ.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big house with my family. In my house there are two floors and six rooms. On the ground floor there is a kitchen, a living room and a bathroom. And on the first floor there are three bedrooms. We have a garden and a garage. I love my house because it is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فِي بَيْتِي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room count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room name (iḍāfa)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لِأَنَّهُ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five rooms or parts.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fī baytī or ‘indī.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Room names: the first noun has no 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Room (f.) → -a adjective; house (m.) → no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rooms and gave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“bedroom”.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النَّوْمِ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الطَّعَامِ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iḍāfa.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الجُلُوسِ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غُرَفٍ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غُرْفَةٍ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“bedroom”.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غُرْفَةُ النَّوْمِ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غُرْفَةُ الطَّعَامِ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غُرْفَةُ الجُلُوسِ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 النَّوْمِ</a:t>
            </a:r>
            <a:pPr algn="l" indent="0" marL="0">
              <a:buNone/>
            </a:pPr>
            <a:r>
              <a:rPr lang="en-US" sz="1050" i="1" dirty="0">
                <a:solidFill>
                  <a:srgbClr val="8A6D1E"/>
                </a:solidFill>
                <a:latin typeface="Calibri" pitchFamily="34" charset="0"/>
                <a:ea typeface="Calibri" pitchFamily="34" charset="-122"/>
                <a:cs typeface="Calibri" pitchFamily="34" charset="-120"/>
              </a:rPr>
              <a:t> is bedroom.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iḍāfa.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الغُرْفَةُ الجُلُوسِ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غُرْفَةٌ الجُلُوسُ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noun has no definite article.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 rooms”.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ثَلَاثُ غُرَفٍ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ثَلَاثَةُ غُرَفٍ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ثَلَاثُ غُرْفَةٍ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number has opposite gender and the noun is 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F3-L03 · My Home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F3-L04 · Furniture and Household Items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سَرِيرٌ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bed</a:t>
            </a:r>
            <a:pPr indent="0" marL="0">
              <a:buNone/>
            </a:pPr>
            <a:r>
              <a:rPr lang="en-US" sz="1000" i="1" dirty="0">
                <a:solidFill>
                  <a:srgbClr val="5A6472"/>
                </a:solidFill>
                <a:latin typeface="Calibri" pitchFamily="34" charset="0"/>
                <a:ea typeface="Calibri" pitchFamily="34" charset="-122"/>
                <a:cs typeface="Calibri" pitchFamily="34" charset="-120"/>
              </a:rPr>
              <a:t>  pl. أَسِرَّةٌ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خِزَانَةٌ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wardrobe / cupboard</a:t>
            </a:r>
            <a:pPr indent="0" marL="0">
              <a:buNone/>
            </a:pPr>
            <a:r>
              <a:rPr lang="en-US" sz="1000" i="1" dirty="0">
                <a:solidFill>
                  <a:srgbClr val="5A6472"/>
                </a:solidFill>
                <a:latin typeface="Calibri" pitchFamily="34" charset="0"/>
                <a:ea typeface="Calibri" pitchFamily="34" charset="-122"/>
                <a:cs typeface="Calibri" pitchFamily="34" charset="-120"/>
              </a:rPr>
              <a:t>  pl. خَزَائِنُ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طَاوِلَةٌ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table</a:t>
            </a:r>
            <a:pPr indent="0" marL="0">
              <a:buNone/>
            </a:pPr>
            <a:r>
              <a:rPr lang="en-US" sz="1000" i="1" dirty="0">
                <a:solidFill>
                  <a:srgbClr val="5A6472"/>
                </a:solidFill>
                <a:latin typeface="Calibri" pitchFamily="34" charset="0"/>
                <a:ea typeface="Calibri" pitchFamily="34" charset="-122"/>
                <a:cs typeface="Calibri" pitchFamily="34" charset="-120"/>
              </a:rPr>
              <a:t>  pl. طَاوِلَاتٌ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كُرْسِيٌّ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chair</a:t>
            </a:r>
            <a:pPr indent="0" marL="0">
              <a:buNone/>
            </a:pPr>
            <a:r>
              <a:rPr lang="en-US" sz="1000" i="1" dirty="0">
                <a:solidFill>
                  <a:srgbClr val="5A6472"/>
                </a:solidFill>
                <a:latin typeface="Calibri" pitchFamily="34" charset="0"/>
                <a:ea typeface="Calibri" pitchFamily="34" charset="-122"/>
                <a:cs typeface="Calibri" pitchFamily="34" charset="-120"/>
              </a:rPr>
              <a:t>  pl. كَرَاسِي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أَرِيكَةٌ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sofa</a:t>
            </a:r>
            <a:pPr indent="0" marL="0">
              <a:buNone/>
            </a:pPr>
            <a:r>
              <a:rPr lang="en-US" sz="1000" i="1" dirty="0">
                <a:solidFill>
                  <a:srgbClr val="5A6472"/>
                </a:solidFill>
                <a:latin typeface="Calibri" pitchFamily="34" charset="0"/>
                <a:ea typeface="Calibri" pitchFamily="34" charset="-122"/>
                <a:cs typeface="Calibri" pitchFamily="34" charset="-120"/>
              </a:rPr>
              <a:t>  pl. أَرَائِكُ</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room do you like most at home, and what is in it? Two items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فِي غُرْفَتِكَ؟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F3-L03: the House Tour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6–8 sentences describing a home (your own, the Al-Nour home or a dream home).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Label a floor plan with eight rooms and parts, and write 50–70 words comparing two rooms.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ea typeface="Cambria" pitchFamily="34" charset="-122"/>
                <a:cs typeface="Cambria" pitchFamily="34" charset="-120"/>
              </a:rPr>
              <a:t>F3-L04 · Furniture and Household Items</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الأَثَاثُ وَالأَغْرَاضُ المَنْزِلِيَّةُ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room of + the … · room (f.) → -a adjective.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F3-L03 · My Home — Rooms and Parts of the House</dc:title>
  <dc:subject>PptxGenJS Presentation</dc:subject>
  <dc:creator>Al Madina Online School · Arabic Department</dc:creator>
  <cp:lastModifiedBy>Al Madina Online School · Arabic Department</cp:lastModifiedBy>
  <cp:revision>1</cp:revision>
  <dcterms:created xsi:type="dcterms:W3CDTF">2026-09-27T12:48:46Z</dcterms:created>
  <dcterms:modified xsi:type="dcterms:W3CDTF">2026-09-27T12:48:46Z</dcterms:modified>
</cp:coreProperties>
</file>