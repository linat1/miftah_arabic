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F3 My Family &amp; Home › Lesson 11 (F3-L11). Website sections used: the F3 review pathway (retrieve · repair · rehearse · refine) and the three routes, the complete F3 language vault, the fifteen-word vocabulary self-test, the grammar repair laboratory (agreement, existence, possession, counting, location, reason) and the twelve-round Error Detective, Rania’s profile (listening, 10), Samir’s and Huda’s review notes (reading, 12), topic-conversation preparation (5 questions, 2-minute timer), portfolio polish, the F3 vocabulary map, the assessment-readiness dashboard and the 16-question final checkpoint. Picture match: website visual game (family scene).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This is a REVIEW lesson: no new language. Use the website language vault “after your first attempt” — open only the category needed, then close it and retrieve again.
• Core: retrieve accurately (vocabulary self-test, complete sentences). Develop: repair precisely (name the system, then fix). Stretch: perform independently (topic conversation, portfolio polish, a targeted priority).
• Website readiness dashboard: “rate the evidence, not your mood” — students choose ONE priority skill for the final review before F3-L12.
• Multi-session: the vocabulary map (website section 9) and the portfolio polish can be finished at home.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review words prepared at home at the end of F3-L10. Questions 3–5 come from the website “fifteen-word vocabulary self-test” (grandmother, blue (f.), chairs).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Retrieve first, then check the vault. Every error belongs to a system — name it, then repair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review pathway (left) and the website Core / Develop / Stretch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خطا، تصحیح and ہدف are shared words; مُرَاجَعَةٌ shares the root of رجوع (to return); تَقْيِيمٌ shares the root of قیمت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RETRIEVE FIRST (website): students cover the English, say each item, then check. Full website vault: family and relationships (22), people (22). Useful review items: أَخِي الأَكْبَرُ / أُخْتِي الكُبْرَى, تَوْأَمٌ / تَوْأَمَانِ, اِبْنُ عَمٍّ / بِنْتُ عَمٍّ.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RETRIEVE FIRST. Website vault: home, rooms and building parts (24), furniture and bedroom details (23), colours and room qualities, neighbourhood and location, appliances, actions and routines. Website F3 vocabulary map: البَيْتُ وَالعَائِلَةُ in the centre with seven branches — family, rooms, furniture, colours, neighbourhood, appliances, actions (five words + one sentence per branch).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REPAIR — website section 4 “Grammar repair laboratory” (six systems). Develop students must NAME the system before repairing (“This is an agreement error because …”).
Extra review point from the Error Detective: a non-human plural takes feminine singular agreement — السَّتَائِرُ زَرْقَاءُ وَمُخَطَّطَةٌ; noun and adjective match in definiteness — شَقَّةٍ كَبِيرَةٍ.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REHEARSE — strategies taken from the website final checkpoint: best first listening strategy (main idea before every word), best reading habit (locate the exact supporting phrase), a cue card contains keywords and short phrases, a strong speaking answer begins with a direct relevant response, a useful portfolio improvement corrects one repeated agreement error, and the best record of progress is original draft + feedback + improved version.
Best final revision choice (website): practise the lowest-evidence skill, then recheck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vocabulary self-test questions 5, 7, 9 and 13.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the website “portfolio polish”: keep the original, make three deliberate improvements and write the reason for each (existence · detail · reason). Students then do the same to their F3-L09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Family scene”)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FLEX — website visual game (family). Review extension: add one description to each (هٰذِهِ جَدَّتِي. هِيَ كَرِيمَةٌ وَمُضْحِكَةٌ).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Family scene”)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FLEX — website visual game (family). Review extension: add one description to each (هٰذِهِ جَدَّتِي. هِيَ كَرِيمَةٌ وَمُضْحِكَةٌ).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5 of the website’s 12 Error Detective rounds (agreement, existence, counting, reason, non-human plural). The other 7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 before revealing, a student names the system (agreement / existence / counting /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2 and 3. Develop / Stretch: all 5.
Listen 1: just listen. Listen 2: note answers. Then chat the letters.
Support: after the second listening, show the read-along slide (Arabic + English, line by line) for Core students.
SCRIPT (read aloud):
اِسْمِي رَانِيَا، وَأَعِيشُ مَعَ أَبِي وَأُمِّي وَأَخِي الصَّغِيرِ. أَسْكُنُ فِي شَقَّةٍ مُتَوَسِّطَةِ الحَجْمِ فِي حَيٍّ هَادِئٍ. فِي شَقَّتِنَا أَرْبَعُ غُرَفٍ، وَغُرْفَتِي المُفَضَّلَةُ غُرْفَةُ الجُلُوسِ لِأَنَّهَا مُضِيئَةٌ وَمُرِيحَةٌ. فِيهَا أَرِيكَةٌ زَرْقَاءُ وَتِلْفَازٌ كَبِيرٌ، وَالسَّجَّادَةُ أَمَامَ الأَرِيكَةِ. بَيْتُنَا قَرِيبٌ مِنْ مَكْتَبَةٍ وَحَدِيقَةٍ عَامَّةٍ، وَلَكِنَّهُ بَعِيدٌ عَنِ المَدْرَسَةِ. فِي المَسَاءِ أَدْرُسُ أَوَّلًا، ثُمَّ أَجْلِسُ مَعَ عَائِلَتِي. أُحِبُّ بَيْتِي لِأَنَّهُ هَادِئٌ وَقَرِيبٌ مِنْ أَمَاكِنَ مُفِيدَةٍ.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 A (website, complete). The text combines F3-L01 (family), L02 (description), L03 (floors, rooms), L06 (appliance for a purpose), L07 (near / far) and L08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 B (website, complete). Stretch: compare A and B — house vs flat, big vs small family, near / far. Duals to notice: غُرْفَتَانِ، سَرِيرَانِ، أُخْتَيْنِ.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2, 4, 6, 9 and 11 (9 and 11 are Profile B). The other 7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phrase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TOPIC-CONVERSATION PREPARATION (5 questions, 2-minute timer): prepare keywords, not a full script — a direct answer followed by one or two relevant details. The five website questions are exactly the four prompts above (the Stretch card joins questions 4 and 5).
This rehearses the F3-L12 speaking section (five family-and-home questions,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Retrieve accurately: essential F3 words in complete sentences. · Develop — Repair precisely: name the reason for each error, then fix it. · Stretch — Perform independently: polish the portfolio and set a target.
Website writing task (Stretch): Website portfolio polish: return to your F3-L09 text (or write a fresh 70–90-word family-and-home paragraph) and make at least three deliberate improvements. Keep the original so you can see what changed.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listening profile (Rania) used as the polished model — every one of the six systems appears.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(F3-L12 · Unit Assessment: My Family and Home) will spend class time USING this language, so students prepare it tonight — short, simple, easy to access (school guidance: “Simple, Short, Interesting, Relevant, Easy to access”). Four of the five words come from the website F3-L12 “assessment vocabulary” (نَتِيجَةٌ is teacher-added).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F3  ·  F3-L11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F3-L11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F3 Consolidation — Integrated Skills Review</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مُرَاجَعَةُ الوَحْدَةِ الثَّالِثَةِ — المَهَارَاتُ المُتَكَامِلَةُ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Retrieve, repair, rehearse and refine: secure the key F3 words and grammar decisions, practise all four skills and set one precise revision priority before the assessment.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F3-L11 · Foundation F3 · My Family &amp; Home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F3 › F3-L11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Retrieve the key words, then six grammar systems.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Error Detective, Rania’s profile, Samir and Huda’s notes.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F3-L12.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خَطَأٌ</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target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mistake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unit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هَدَفٌ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target / goal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correction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review</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Arabic word means ‘grandmother’?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خَالَةٌ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زَوْجَةٌ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جَدَّةٌ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form of blue.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أَزْرَقُ</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زَرْقَةٌ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زَرْقَاءُ</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plural means ‘chairs’?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كَرَاسِي</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خَزَائِنُ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أَسِرَّةٌ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خَطَأٌ</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target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mistake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unit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(F3-L10).</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هَدَفٌ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target / goal</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correction</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review</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(F3-L10).</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Arabic word means ‘grandmother’?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خَالَةٌ</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زَوْجَةٌ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جَدَّةٌ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جَدَّةٌ</a:t>
            </a:r>
            <a:pPr algn="l" indent="0" marL="0">
              <a:buNone/>
            </a:pPr>
            <a:r>
              <a:rPr lang="en-US" sz="1050" i="1" dirty="0">
                <a:solidFill>
                  <a:srgbClr val="8A6D1E"/>
                </a:solidFill>
                <a:latin typeface="Calibri" pitchFamily="34" charset="0"/>
                <a:cs typeface="Amiri" pitchFamily="2" charset="-78"/>
              </a:rPr>
              <a:t> means grandmother.</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form of blue.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أَزْرَقُ</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زَرْقَةٌ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زَرْقَاءُ</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broken feminine colour form is </a:t>
            </a:r>
            <a:pPr algn="l" indent="0" marL="0">
              <a:buNone/>
            </a:pPr>
            <a:r>
              <a:rPr lang="ar-SA" altLang="en-US" sz="1350" dirty="0">
                <a:solidFill>
                  <a:srgbClr val="8A6D1E"/>
                </a:solidFill>
                <a:latin typeface="Amiri" pitchFamily="2" charset="-78"/>
                <a:cs typeface="Amiri" pitchFamily="2" charset="-78"/>
              </a:rPr>
              <a:t>زَرْقَاءُ</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plural means ‘chairs’?</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كَرَاسِي</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خَزَائِنُ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أَسِرَّةٌ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كَرَاسِي</a:t>
            </a:r>
            <a:pPr algn="l" indent="0" marL="0">
              <a:buNone/>
            </a:pPr>
            <a:r>
              <a:rPr lang="en-US" sz="1050" i="1" dirty="0">
                <a:solidFill>
                  <a:srgbClr val="8A6D1E"/>
                </a:solidFill>
                <a:latin typeface="Calibri" pitchFamily="34" charset="0"/>
                <a:cs typeface="Amiri" pitchFamily="2" charset="-78"/>
              </a:rPr>
              <a:t> is the broken plural of </a:t>
            </a:r>
            <a:pPr algn="l" indent="0" marL="0">
              <a:buNone/>
            </a:pPr>
            <a:r>
              <a:rPr lang="ar-SA" altLang="en-US" sz="1350" dirty="0">
                <a:solidFill>
                  <a:srgbClr val="8A6D1E"/>
                </a:solidFill>
                <a:latin typeface="Amiri" pitchFamily="2" charset="-78"/>
                <a:cs typeface="Amiri" pitchFamily="2" charset="-78"/>
              </a:rPr>
              <a:t>كُرْسِيٌّ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Retrieve first, then check the vault. Every error belongs to a system — name it, then repair it.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اِسْتَرْجِعْ · صَحِّحْ · تَدَرَّبْ · حَسِّنْ</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Recall essential F3 words in complete sentences.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Identify the exact reason for an error and repair it.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Practise listening, reading and speaking on the whole unit.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Improve a portfolio paragraph and set one revision priority.</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F3 words in full sentences.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answer a question with one detail.</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name the system behind an error.</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find exact evidence in a text.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make three portfolio improvements.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choose my revision priority.</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The whole F3 unit: family, people, home, furniture, colours, neighbourhood, appliances and routines.</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VAULT 1</a:t>
            </a:r>
            <a:endParaRPr lang="en-US" sz="900" dirty="0"/>
          </a:p>
          <a:p>
            <a:pPr indent="0" marL="0">
              <a:buNone/>
            </a:pPr>
            <a:r>
              <a:rPr lang="en-US" sz="1200" b="1" dirty="0">
                <a:solidFill>
                  <a:srgbClr val="FFFFFF"/>
                </a:solidFill>
                <a:latin typeface="Calibri" pitchFamily="34" charset="0"/>
                <a:cs typeface="Amiri" pitchFamily="2" charset="-78"/>
              </a:rPr>
              <a:t>Family and people · 44</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VAULT 2</a:t>
            </a:r>
            <a:endParaRPr lang="en-US" sz="900" dirty="0"/>
          </a:p>
          <a:p>
            <a:pPr indent="0" marL="0">
              <a:buNone/>
            </a:pPr>
            <a:r>
              <a:rPr lang="en-US" sz="1200" b="1" dirty="0">
                <a:solidFill>
                  <a:srgbClr val="FFFFFF"/>
                </a:solidFill>
                <a:latin typeface="Calibri" pitchFamily="34" charset="0"/>
                <a:cs typeface="Amiri" pitchFamily="2" charset="-78"/>
              </a:rPr>
              <a:t>Home, furniture, colours · 70+</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VAULT 3</a:t>
            </a:r>
            <a:endParaRPr lang="en-US" sz="900" dirty="0"/>
          </a:p>
          <a:p>
            <a:pPr indent="0" marL="0">
              <a:buNone/>
            </a:pPr>
            <a:r>
              <a:rPr lang="en-US" sz="1200" b="1" dirty="0">
                <a:solidFill>
                  <a:srgbClr val="FFFFFF"/>
                </a:solidFill>
                <a:latin typeface="Calibri" pitchFamily="34" charset="0"/>
                <a:cs typeface="Amiri" pitchFamily="2" charset="-78"/>
              </a:rPr>
              <a:t>Neighbourhood and routines</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مُرَاجَعَةٌ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‎مراجعت (رجوع)‎ </a:t>
            </a:r>
            <a:pPr indent="0" marL="0">
              <a:buNone/>
            </a:pPr>
            <a:r>
              <a:rPr lang="en-US" sz="950" b="1" dirty="0">
                <a:solidFill>
                  <a:srgbClr val="2E8B57"/>
                </a:solidFill>
                <a:latin typeface="Calibri" pitchFamily="34" charset="0"/>
                <a:cs typeface="Amiri" pitchFamily="2" charset="-78"/>
              </a:rPr>
              <a:t> murāja‘a · review (root: return)</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خَطَأٌ</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‎خطا‎ </a:t>
            </a:r>
            <a:pPr indent="0" marL="0">
              <a:buNone/>
            </a:pPr>
            <a:r>
              <a:rPr lang="en-US" sz="950" b="1" dirty="0">
                <a:solidFill>
                  <a:srgbClr val="2E8B57"/>
                </a:solidFill>
                <a:latin typeface="Calibri" pitchFamily="34" charset="0"/>
                <a:cs typeface="Amiri" pitchFamily="2" charset="-78"/>
              </a:rPr>
              <a:t> khaṭa’ · mistake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تَصْحِيحٌ</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‎تصحیح‎ </a:t>
            </a:r>
            <a:pPr indent="0" marL="0">
              <a:buNone/>
            </a:pPr>
            <a:r>
              <a:rPr lang="en-US" sz="950" b="1" dirty="0">
                <a:solidFill>
                  <a:srgbClr val="2E8B57"/>
                </a:solidFill>
                <a:latin typeface="Calibri" pitchFamily="34" charset="0"/>
                <a:cs typeface="Amiri" pitchFamily="2" charset="-78"/>
              </a:rPr>
              <a:t> taṣḥīḥ · correction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هَدَفٌ</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‎ہدف‎ </a:t>
            </a:r>
            <a:pPr indent="0" marL="0">
              <a:buNone/>
            </a:pPr>
            <a:r>
              <a:rPr lang="en-US" sz="950" b="1" dirty="0">
                <a:solidFill>
                  <a:srgbClr val="2E8B57"/>
                </a:solidFill>
                <a:latin typeface="Calibri" pitchFamily="34" charset="0"/>
                <a:cs typeface="Amiri" pitchFamily="2" charset="-78"/>
              </a:rPr>
              <a:t> hadaf · target</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تَقْيِيمٌ</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‎قیمت‎ </a:t>
            </a:r>
            <a:pPr indent="0" marL="0">
              <a:buNone/>
            </a:pPr>
            <a:r>
              <a:rPr lang="en-US" sz="950" b="1" dirty="0">
                <a:solidFill>
                  <a:srgbClr val="2E8B57"/>
                </a:solidFill>
                <a:latin typeface="Calibri" pitchFamily="34" charset="0"/>
                <a:cs typeface="Amiri" pitchFamily="2" charset="-78"/>
              </a:rPr>
              <a:t> taqyīm · assessment (root: value)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RETRIEVE · LANGUAGE VAULT · PEOPLE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Family and description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العَائِلَةُ وَالصِّفَاتُ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جَدٌّ / جَدَّةٌ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grandfather / grandmother</a:t>
            </a:r>
            <a:endParaRPr lang="en-US" sz="1350" dirty="0"/>
          </a:p>
          <a:p>
            <a:pPr indent="0" marL="0">
              <a:buNone/>
            </a:pPr>
            <a:r>
              <a:rPr lang="en-US" sz="1100" i="1" dirty="0">
                <a:solidFill>
                  <a:srgbClr val="5A6472"/>
                </a:solidFill>
                <a:latin typeface="Calibri" pitchFamily="34" charset="0"/>
                <a:cs typeface="Amiri" pitchFamily="2" charset="-78"/>
              </a:rPr>
              <a:t>jadd / jad-da</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أَجْدَادٌ</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خَالٌ / خَالَةٌ</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maternal uncle / aunt</a:t>
            </a:r>
            <a:endParaRPr lang="en-US" sz="1350" dirty="0"/>
          </a:p>
          <a:p>
            <a:pPr indent="0" marL="0">
              <a:buNone/>
            </a:pPr>
            <a:r>
              <a:rPr lang="en-US" sz="1100" i="1" dirty="0">
                <a:solidFill>
                  <a:srgbClr val="5A6472"/>
                </a:solidFill>
                <a:latin typeface="Calibri" pitchFamily="34" charset="0"/>
                <a:cs typeface="Amiri" pitchFamily="2" charset="-78"/>
              </a:rPr>
              <a:t>khāl / khā-la</a:t>
            </a:r>
            <a:endParaRPr lang="en-US" sz="1350" dirty="0"/>
          </a:p>
        </p:txBody>
      </p:sp>
      <p:sp>
        <p:nvSpPr>
          <p:cNvPr id="34" name="Shape 31"/>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6" name="Text 33"/>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أَخْوَالٌ / خَالَاتٌ</a:t>
            </a:r>
            <a:endParaRPr lang="ar-SA" sz="150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0" name="Shape 37"/>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42" name="Shape 3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أَخٌ / أُخْتٌ</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brother / sister</a:t>
            </a:r>
            <a:endParaRPr lang="en-US" sz="1350" dirty="0"/>
          </a:p>
          <a:p>
            <a:pPr indent="0" marL="0">
              <a:buNone/>
            </a:pPr>
            <a:r>
              <a:rPr lang="en-US" sz="1100" i="1" dirty="0">
                <a:solidFill>
                  <a:srgbClr val="5A6472"/>
                </a:solidFill>
                <a:latin typeface="Calibri" pitchFamily="34" charset="0"/>
                <a:cs typeface="Amiri" pitchFamily="2" charset="-78"/>
              </a:rPr>
              <a:t>akh / ukht</a:t>
            </a:r>
            <a:endParaRPr lang="en-US" sz="1350" dirty="0"/>
          </a:p>
        </p:txBody>
      </p:sp>
      <p:sp>
        <p:nvSpPr>
          <p:cNvPr id="46" name="Shape 4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8" name="Text 45"/>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إِخْوَةٌ / أَخَوَاتٌ</a:t>
            </a:r>
            <a:endParaRPr lang="ar-SA" sz="1500" dirty="0"/>
          </a:p>
        </p:txBody>
      </p:sp>
      <p:sp>
        <p:nvSpPr>
          <p:cNvPr id="49" name="Shape 4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8211312"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2" name="Shape 49"/>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54" name="Shape 5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لَطِيفٌ</a:t>
            </a:r>
            <a:endParaRPr lang="ar-SA" sz="3000" dirty="0"/>
          </a:p>
        </p:txBody>
      </p:sp>
      <p:sp>
        <p:nvSpPr>
          <p:cNvPr id="57" name="Text 5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kind</a:t>
            </a:r>
            <a:endParaRPr lang="en-US" sz="1350" dirty="0"/>
          </a:p>
          <a:p>
            <a:pPr indent="0" marL="0">
              <a:buNone/>
            </a:pPr>
            <a:r>
              <a:rPr lang="en-US" sz="1100" i="1" dirty="0">
                <a:solidFill>
                  <a:srgbClr val="5A6472"/>
                </a:solidFill>
                <a:latin typeface="Calibri" pitchFamily="34" charset="0"/>
                <a:cs typeface="Amiri" pitchFamily="2" charset="-78"/>
              </a:rPr>
              <a:t>la-ṭīf</a:t>
            </a:r>
            <a:endParaRPr lang="en-US" sz="1350" dirty="0"/>
          </a:p>
        </p:txBody>
      </p:sp>
      <p:sp>
        <p:nvSpPr>
          <p:cNvPr id="58" name="Shape 55"/>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0" name="Text 57"/>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لَطِيفَةٌ</a:t>
            </a:r>
            <a:endParaRPr lang="ar-SA" sz="1500" dirty="0"/>
          </a:p>
        </p:txBody>
      </p:sp>
      <p:sp>
        <p:nvSpPr>
          <p:cNvPr id="61" name="Shape 58"/>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3" name="Text 60"/>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لَطِيفٌ</a:t>
            </a:r>
            <a:endParaRPr lang="ar-SA" sz="1500" dirty="0"/>
          </a:p>
        </p:txBody>
      </p:sp>
      <p:sp>
        <p:nvSpPr>
          <p:cNvPr id="64" name="Shape 6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4389120" y="4261104"/>
            <a:ext cx="310896" cy="310896"/>
          </a:xfrm>
          <a:prstGeom prst="ellipse">
            <a:avLst/>
          </a:prstGeom>
          <a:solidFill>
            <a:srgbClr val="F4F1EA"/>
          </a:solidFill>
          <a:ln w="12700">
            <a:solidFill>
              <a:srgbClr val="F4F1EA"/>
            </a:solidFill>
            <a:prstDash val="solid"/>
          </a:ln>
        </p:spPr>
      </p:sp>
      <p:sp>
        <p:nvSpPr>
          <p:cNvPr id="66" name="Text 6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7" name="Shape 64"/>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8" name="Text 65"/>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69" name="Text 66"/>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مُتَعَاوِنٌ</a:t>
            </a:r>
            <a:endParaRPr lang="ar-SA" sz="3000" dirty="0"/>
          </a:p>
        </p:txBody>
      </p:sp>
      <p:sp>
        <p:nvSpPr>
          <p:cNvPr id="70" name="Text 67"/>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helpful / co-operative</a:t>
            </a:r>
            <a:endParaRPr lang="en-US" sz="1350" dirty="0"/>
          </a:p>
          <a:p>
            <a:pPr indent="0" marL="0">
              <a:buNone/>
            </a:pPr>
            <a:r>
              <a:rPr lang="en-US" sz="1100" i="1" dirty="0">
                <a:solidFill>
                  <a:srgbClr val="5A6472"/>
                </a:solidFill>
                <a:latin typeface="Calibri" pitchFamily="34" charset="0"/>
                <a:cs typeface="Amiri" pitchFamily="2" charset="-78"/>
              </a:rPr>
              <a:t>mu-ta-‘ā-win</a:t>
            </a:r>
            <a:endParaRPr lang="en-US" sz="1350" dirty="0"/>
          </a:p>
        </p:txBody>
      </p:sp>
      <p:sp>
        <p:nvSpPr>
          <p:cNvPr id="71" name="Shape 68"/>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2" name="Text 69"/>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3" name="Text 70"/>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مُتَعَاوِنَةٌ</a:t>
            </a:r>
            <a:endParaRPr lang="ar-SA" sz="1500" dirty="0"/>
          </a:p>
        </p:txBody>
      </p:sp>
      <p:sp>
        <p:nvSpPr>
          <p:cNvPr id="74" name="Shape 71"/>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6" name="Text 73"/>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مُتَعَاوِنٌ</a:t>
            </a:r>
            <a:endParaRPr lang="ar-SA" sz="1500" dirty="0"/>
          </a:p>
        </p:txBody>
      </p:sp>
      <p:sp>
        <p:nvSpPr>
          <p:cNvPr id="77" name="Shape 7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66928" y="4261104"/>
            <a:ext cx="310896" cy="310896"/>
          </a:xfrm>
          <a:prstGeom prst="ellipse">
            <a:avLst/>
          </a:prstGeom>
          <a:solidFill>
            <a:srgbClr val="F4F1EA"/>
          </a:solidFill>
          <a:ln w="12700">
            <a:solidFill>
              <a:srgbClr val="F4F1EA"/>
            </a:solidFill>
            <a:prstDash val="solid"/>
          </a:ln>
        </p:spPr>
      </p:sp>
      <p:sp>
        <p:nvSpPr>
          <p:cNvPr id="79" name="Text 7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0" name="Shape 77"/>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1" name="Text 78"/>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82" name="Shape 79"/>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3" name="Text 80"/>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4" name="Text 81"/>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مُجْتَهِدٌ</a:t>
            </a:r>
            <a:endParaRPr lang="ar-SA" sz="3000" dirty="0"/>
          </a:p>
        </p:txBody>
      </p:sp>
      <p:sp>
        <p:nvSpPr>
          <p:cNvPr id="85" name="Text 82"/>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hard-working</a:t>
            </a:r>
            <a:endParaRPr lang="en-US" sz="1350" dirty="0"/>
          </a:p>
          <a:p>
            <a:pPr indent="0" marL="0">
              <a:buNone/>
            </a:pPr>
            <a:r>
              <a:rPr lang="en-US" sz="1100" i="1" dirty="0">
                <a:solidFill>
                  <a:srgbClr val="5A6472"/>
                </a:solidFill>
                <a:latin typeface="Calibri" pitchFamily="34" charset="0"/>
                <a:cs typeface="Amiri" pitchFamily="2" charset="-78"/>
              </a:rPr>
              <a:t>muj-ta-hid</a:t>
            </a:r>
            <a:endParaRPr lang="en-US" sz="1350" dirty="0"/>
          </a:p>
        </p:txBody>
      </p:sp>
      <p:sp>
        <p:nvSpPr>
          <p:cNvPr id="86" name="Shape 83"/>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87" name="Text 84"/>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8" name="Text 85"/>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مُجْتَهِدَةٌ</a:t>
            </a:r>
            <a:endParaRPr lang="ar-SA" sz="1500" dirty="0"/>
          </a:p>
        </p:txBody>
      </p:sp>
      <p:sp>
        <p:nvSpPr>
          <p:cNvPr id="89" name="Shape 86"/>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0" name="Text 87"/>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1" name="Text 88"/>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مُجْتَهِدٌ</a:t>
            </a:r>
            <a:endParaRPr lang="ar-SA" sz="1500" dirty="0"/>
          </a:p>
        </p:txBody>
      </p:sp>
      <p:sp>
        <p:nvSpPr>
          <p:cNvPr id="92" name="Text 8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RETRIEVE · LANGUAGE VAULT · HOME AND AREA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Home, furniture and places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البَيْتُ وَالحَيُّ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غُرْفَةُ الجُلُوسِ</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living room</a:t>
            </a:r>
            <a:endParaRPr lang="en-US" sz="1350" dirty="0"/>
          </a:p>
          <a:p>
            <a:pPr indent="0" marL="0">
              <a:buNone/>
            </a:pPr>
            <a:r>
              <a:rPr lang="en-US" sz="1100" i="1" dirty="0">
                <a:solidFill>
                  <a:srgbClr val="5A6472"/>
                </a:solidFill>
                <a:latin typeface="Calibri" pitchFamily="34" charset="0"/>
                <a:cs typeface="Amiri" pitchFamily="2" charset="-78"/>
              </a:rPr>
              <a:t>ghur-fat al-ju-lūs</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غُرَفُ الجُلُوسِ</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خِزَانَةٌ</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wardrobe</a:t>
            </a:r>
            <a:endParaRPr lang="en-US" sz="1350" dirty="0"/>
          </a:p>
          <a:p>
            <a:pPr indent="0" marL="0">
              <a:buNone/>
            </a:pPr>
            <a:r>
              <a:rPr lang="en-US" sz="1100" i="1" dirty="0">
                <a:solidFill>
                  <a:srgbClr val="5A6472"/>
                </a:solidFill>
                <a:latin typeface="Calibri" pitchFamily="34" charset="0"/>
                <a:cs typeface="Amiri" pitchFamily="2" charset="-78"/>
              </a:rPr>
              <a:t>khi-zā-na</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خَزَائِنُ</a:t>
            </a:r>
            <a:endParaRPr lang="ar-SA" sz="150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2" name="Shape 39"/>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كُرْسِيٌّ</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chair</a:t>
            </a:r>
            <a:endParaRPr lang="en-US" sz="1350" dirty="0"/>
          </a:p>
          <a:p>
            <a:pPr indent="0" marL="0">
              <a:buNone/>
            </a:pPr>
            <a:r>
              <a:rPr lang="en-US" sz="1100" i="1" dirty="0">
                <a:solidFill>
                  <a:srgbClr val="5A6472"/>
                </a:solidFill>
                <a:latin typeface="Calibri" pitchFamily="34" charset="0"/>
                <a:cs typeface="Amiri" pitchFamily="2" charset="-78"/>
              </a:rPr>
              <a:t>kur-siyy</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0" name="Text 47"/>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كَرَاسِي</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4" name="Shape 51"/>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56" name="Text 5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غَسَّالَةُ الصُّحُونِ</a:t>
            </a:r>
            <a:endParaRPr lang="ar-SA" sz="3000" dirty="0"/>
          </a:p>
        </p:txBody>
      </p:sp>
      <p:sp>
        <p:nvSpPr>
          <p:cNvPr id="57" name="Text 5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dishwasher</a:t>
            </a:r>
            <a:endParaRPr lang="en-US" sz="1350" dirty="0"/>
          </a:p>
          <a:p>
            <a:pPr indent="0" marL="0">
              <a:buNone/>
            </a:pPr>
            <a:r>
              <a:rPr lang="en-US" sz="1100" i="1" dirty="0">
                <a:solidFill>
                  <a:srgbClr val="5A6472"/>
                </a:solidFill>
                <a:latin typeface="Calibri" pitchFamily="34" charset="0"/>
                <a:cs typeface="Amiri" pitchFamily="2" charset="-78"/>
              </a:rPr>
              <a:t>ghas-sā-lat aṣ-ṣu-ḥūn</a:t>
            </a:r>
            <a:endParaRPr lang="en-US" sz="1350" dirty="0"/>
          </a:p>
        </p:txBody>
      </p:sp>
      <p:sp>
        <p:nvSpPr>
          <p:cNvPr id="58" name="Shape 55"/>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0" name="Text 57"/>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غَسَّالَاتُ الصُّحُونِ</a:t>
            </a:r>
            <a:endParaRPr lang="ar-SA" sz="1500" dirty="0"/>
          </a:p>
        </p:txBody>
      </p:sp>
      <p:sp>
        <p:nvSpPr>
          <p:cNvPr id="61" name="Shape 5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389120"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4" name="Shape 61"/>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66" name="Text 6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حَدِيقَةٌ عَامَّةٌ</a:t>
            </a:r>
            <a:endParaRPr lang="ar-SA" sz="3000" dirty="0"/>
          </a:p>
        </p:txBody>
      </p:sp>
      <p:sp>
        <p:nvSpPr>
          <p:cNvPr id="67" name="Text 6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public park</a:t>
            </a:r>
            <a:endParaRPr lang="en-US" sz="1350" dirty="0"/>
          </a:p>
          <a:p>
            <a:pPr indent="0" marL="0">
              <a:buNone/>
            </a:pPr>
            <a:r>
              <a:rPr lang="en-US" sz="1100" i="1" dirty="0">
                <a:solidFill>
                  <a:srgbClr val="5A6472"/>
                </a:solidFill>
                <a:latin typeface="Calibri" pitchFamily="34" charset="0"/>
                <a:cs typeface="Amiri" pitchFamily="2" charset="-78"/>
              </a:rPr>
              <a:t>ḥa-dī-qa ‘ām-ma</a:t>
            </a:r>
            <a:endParaRPr lang="en-US" sz="1350" dirty="0"/>
          </a:p>
        </p:txBody>
      </p:sp>
      <p:sp>
        <p:nvSpPr>
          <p:cNvPr id="68" name="Shape 65"/>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0" name="Text 67"/>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حَدَائِقُ عَامَّةٌ</a:t>
            </a:r>
            <a:endParaRPr lang="ar-SA" sz="1500" dirty="0"/>
          </a:p>
        </p:txBody>
      </p:sp>
      <p:sp>
        <p:nvSpPr>
          <p:cNvPr id="71" name="Shape 6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566928" y="4261104"/>
            <a:ext cx="310896" cy="310896"/>
          </a:xfrm>
          <a:prstGeom prst="ellipse">
            <a:avLst/>
          </a:prstGeom>
          <a:solidFill>
            <a:srgbClr val="F4F1EA"/>
          </a:solidFill>
          <a:ln w="12700">
            <a:solidFill>
              <a:srgbClr val="F4F1EA"/>
            </a:solidFill>
            <a:prstDash val="solid"/>
          </a:ln>
        </p:spPr>
      </p:sp>
      <p:sp>
        <p:nvSpPr>
          <p:cNvPr id="73" name="Text 7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4" name="Shape 71"/>
          <p:cNvSpPr/>
          <p:nvPr/>
        </p:nvSpPr>
        <p:spPr>
          <a:xfrm>
            <a:off x="960120" y="4279392"/>
            <a:ext cx="771754" cy="256032"/>
          </a:xfrm>
          <a:prstGeom prst="roundRect">
            <a:avLst>
              <a:gd name="adj" fmla="val 50000"/>
            </a:avLst>
          </a:prstGeom>
          <a:solidFill>
            <a:srgbClr val="EFE7D2"/>
          </a:solidFill>
          <a:ln w="12700">
            <a:solidFill>
              <a:srgbClr val="EFE7D2"/>
            </a:solidFill>
            <a:prstDash val="solid"/>
          </a:ln>
        </p:spPr>
      </p:sp>
      <p:sp>
        <p:nvSpPr>
          <p:cNvPr id="75" name="Text 72"/>
          <p:cNvSpPr txBox="1"/>
          <p:nvPr/>
        </p:nvSpPr>
        <p:spPr>
          <a:xfrm>
            <a:off x="960120"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location</a:t>
            </a:r>
            <a:endParaRPr lang="en-US" sz="800" dirty="0"/>
          </a:p>
        </p:txBody>
      </p:sp>
      <p:sp>
        <p:nvSpPr>
          <p:cNvPr id="76" name="Shape 73"/>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7" name="Text 74"/>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8" name="Text 75"/>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قَرِيبٌ مِنْ · بَعِيدٌ عَنْ</a:t>
            </a:r>
            <a:endParaRPr lang="ar-SA" sz="3000" dirty="0"/>
          </a:p>
        </p:txBody>
      </p:sp>
      <p:sp>
        <p:nvSpPr>
          <p:cNvPr id="79" name="Text 76"/>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near · far from</a:t>
            </a:r>
            <a:endParaRPr lang="en-US" sz="1350" dirty="0"/>
          </a:p>
          <a:p>
            <a:pPr indent="0" marL="0">
              <a:buNone/>
            </a:pPr>
            <a:r>
              <a:rPr lang="en-US" sz="1100" i="1" dirty="0">
                <a:solidFill>
                  <a:srgbClr val="5A6472"/>
                </a:solidFill>
                <a:latin typeface="Calibri" pitchFamily="34" charset="0"/>
                <a:cs typeface="Amiri" pitchFamily="2" charset="-78"/>
              </a:rPr>
              <a:t>qa-rīb min · ba-‘īd ‘an</a:t>
            </a:r>
            <a:endParaRPr lang="en-US" sz="1350" dirty="0"/>
          </a:p>
        </p:txBody>
      </p:sp>
      <p:sp>
        <p:nvSpPr>
          <p:cNvPr id="80" name="Shape 77"/>
          <p:cNvSpPr/>
          <p:nvPr/>
        </p:nvSpPr>
        <p:spPr>
          <a:xfrm>
            <a:off x="594360" y="5779008"/>
            <a:ext cx="3364992" cy="438912"/>
          </a:xfrm>
          <a:prstGeom prst="roundRect">
            <a:avLst>
              <a:gd name="adj" fmla="val 10417"/>
            </a:avLst>
          </a:prstGeom>
          <a:solidFill>
            <a:srgbClr val="F4F1EA"/>
          </a:solidFill>
          <a:ln w="9525">
            <a:solidFill>
              <a:srgbClr val="F4F1EA"/>
            </a:solidFill>
            <a:prstDash val="solid"/>
          </a:ln>
        </p:spPr>
      </p:sp>
      <p:sp>
        <p:nvSpPr>
          <p:cNvPr id="81" name="Text 78"/>
          <p:cNvSpPr txBox="1"/>
          <p:nvPr/>
        </p:nvSpPr>
        <p:spPr>
          <a:xfrm>
            <a:off x="649224"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2" name="Text 79"/>
          <p:cNvSpPr txBox="1"/>
          <p:nvPr/>
        </p:nvSpPr>
        <p:spPr>
          <a:xfrm>
            <a:off x="640080"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قَرِيبَةٌ · بَعِيدَةٌ</a:t>
            </a:r>
            <a:endParaRPr lang="ar-SA" sz="150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REPAIR · THE GRAMMAR REPAIR LABORATORY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F3 decisions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مُخْتَبَرُ تَصْحِيحِ الأَخْطَاءِ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1034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System</a:t>
            </a:r>
            <a:endParaRPr lang="en-US" sz="1100" dirty="0"/>
          </a:p>
        </p:txBody>
      </p:sp>
      <p:sp>
        <p:nvSpPr>
          <p:cNvPr id="17" name="Text 14"/>
          <p:cNvSpPr txBox="1"/>
          <p:nvPr/>
        </p:nvSpPr>
        <p:spPr>
          <a:xfrm>
            <a:off x="3300984"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Accurate models</a:t>
            </a:r>
            <a:endParaRPr lang="en-US" sz="1100" dirty="0"/>
          </a:p>
        </p:txBody>
      </p:sp>
      <p:sp>
        <p:nvSpPr>
          <p:cNvPr id="18" name="Text 15"/>
          <p:cNvSpPr txBox="1"/>
          <p:nvPr/>
        </p:nvSpPr>
        <p:spPr>
          <a:xfrm>
            <a:off x="530352" y="1810512"/>
            <a:ext cx="26243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Ask yourself</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9628632" y="2267712"/>
            <a:ext cx="20116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المُطَابَقَةُ</a:t>
            </a:r>
            <a:endParaRPr lang="ar-SA" sz="2000" dirty="0"/>
          </a:p>
        </p:txBody>
      </p:sp>
      <p:sp>
        <p:nvSpPr>
          <p:cNvPr id="21" name="Text 18"/>
          <p:cNvSpPr txBox="1"/>
          <p:nvPr/>
        </p:nvSpPr>
        <p:spPr>
          <a:xfrm>
            <a:off x="3319272" y="2267712"/>
            <a:ext cx="6126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غُرْفَةٌ قَرِيبَةٌ · سِتَارَةٌ زَرْقَاءُ · بَيْتٌ كَبِيرٌ</a:t>
            </a:r>
            <a:endParaRPr lang="ar-SA" sz="2200" dirty="0"/>
          </a:p>
        </p:txBody>
      </p:sp>
      <p:sp>
        <p:nvSpPr>
          <p:cNvPr id="22" name="Text 19"/>
          <p:cNvSpPr txBox="1"/>
          <p:nvPr/>
        </p:nvSpPr>
        <p:spPr>
          <a:xfrm>
            <a:off x="566928" y="2267712"/>
            <a:ext cx="25877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Agreement: m. or f.?</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9628632" y="2881884"/>
            <a:ext cx="20116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الوُجُودُ</a:t>
            </a:r>
            <a:endParaRPr lang="ar-SA" sz="2000" dirty="0"/>
          </a:p>
        </p:txBody>
      </p:sp>
      <p:sp>
        <p:nvSpPr>
          <p:cNvPr id="27" name="Text 24"/>
          <p:cNvSpPr txBox="1"/>
          <p:nvPr/>
        </p:nvSpPr>
        <p:spPr>
          <a:xfrm>
            <a:off x="3319272" y="2881884"/>
            <a:ext cx="6126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يُوجَدُ سَرِيرٌ · تُوجَدُ حَدِيقَةٌ</a:t>
            </a:r>
            <a:endParaRPr lang="ar-SA" sz="2200" dirty="0"/>
          </a:p>
        </p:txBody>
      </p:sp>
      <p:sp>
        <p:nvSpPr>
          <p:cNvPr id="28" name="Text 25"/>
          <p:cNvSpPr txBox="1"/>
          <p:nvPr/>
        </p:nvSpPr>
        <p:spPr>
          <a:xfrm>
            <a:off x="566928" y="2881884"/>
            <a:ext cx="25877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Existence: the item’s gender?</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9628632" y="3496056"/>
            <a:ext cx="20116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المِلْكِيَّةُ</a:t>
            </a:r>
            <a:endParaRPr lang="ar-SA" sz="2000" dirty="0"/>
          </a:p>
        </p:txBody>
      </p:sp>
      <p:sp>
        <p:nvSpPr>
          <p:cNvPr id="33" name="Text 30"/>
          <p:cNvSpPr txBox="1"/>
          <p:nvPr/>
        </p:nvSpPr>
        <p:spPr>
          <a:xfrm>
            <a:off x="3319272" y="3496056"/>
            <a:ext cx="6126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اِسْمُهُ · اِسْمُهَا · غُرْفَتِي · بَيْتُهُمْ</a:t>
            </a:r>
            <a:endParaRPr lang="ar-SA" sz="2200" dirty="0"/>
          </a:p>
        </p:txBody>
      </p:sp>
      <p:sp>
        <p:nvSpPr>
          <p:cNvPr id="34" name="Text 31"/>
          <p:cNvSpPr txBox="1"/>
          <p:nvPr/>
        </p:nvSpPr>
        <p:spPr>
          <a:xfrm>
            <a:off x="566928" y="3496056"/>
            <a:ext cx="25877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Possession: whose?</a:t>
            </a:r>
            <a:endParaRPr lang="en-US" sz="1100" dirty="0"/>
          </a:p>
        </p:txBody>
      </p:sp>
      <p:sp>
        <p:nvSpPr>
          <p:cNvPr id="35" name="Shape 3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6" name="Text 33"/>
          <p:cNvSpPr txBox="1"/>
          <p:nvPr/>
        </p:nvSpPr>
        <p:spPr>
          <a:xfrm>
            <a:off x="9628632" y="4110228"/>
            <a:ext cx="20116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العَدَدُ</a:t>
            </a:r>
            <a:endParaRPr lang="ar-SA" sz="2000" dirty="0"/>
          </a:p>
        </p:txBody>
      </p:sp>
      <p:sp>
        <p:nvSpPr>
          <p:cNvPr id="37" name="Text 34"/>
          <p:cNvSpPr txBox="1"/>
          <p:nvPr/>
        </p:nvSpPr>
        <p:spPr>
          <a:xfrm>
            <a:off x="3319272" y="4110228"/>
            <a:ext cx="6126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ثَلَاثُ غُرَفٍ · أَرْبَعُ غُرَفٍ</a:t>
            </a:r>
            <a:endParaRPr lang="ar-SA" sz="2200" dirty="0"/>
          </a:p>
        </p:txBody>
      </p:sp>
      <p:sp>
        <p:nvSpPr>
          <p:cNvPr id="38" name="Text 35"/>
          <p:cNvSpPr txBox="1"/>
          <p:nvPr/>
        </p:nvSpPr>
        <p:spPr>
          <a:xfrm>
            <a:off x="566928" y="4110228"/>
            <a:ext cx="25877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Counting: f. noun → no </a:t>
            </a:r>
            <a:pPr algn="l" indent="0" marL="0">
              <a:buNone/>
            </a:pPr>
            <a:r>
              <a:rPr lang="ar-SA" altLang="en-US" sz="1450" dirty="0">
                <a:solidFill>
                  <a:srgbClr val="5A6472"/>
                </a:solidFill>
                <a:latin typeface="Amiri" pitchFamily="2" charset="-78"/>
                <a:cs typeface="Amiri" pitchFamily="2" charset="-78"/>
              </a:rPr>
              <a:t>ة</a:t>
            </a:r>
            <a:endParaRPr lang="en-US" sz="1100" dirty="0"/>
          </a:p>
        </p:txBody>
      </p:sp>
      <p:sp>
        <p:nvSpPr>
          <p:cNvPr id="39" name="Shape 36"/>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0" name="Text 37"/>
          <p:cNvSpPr txBox="1"/>
          <p:nvPr/>
        </p:nvSpPr>
        <p:spPr>
          <a:xfrm>
            <a:off x="9628632" y="4724400"/>
            <a:ext cx="20116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المَكَانُ</a:t>
            </a:r>
            <a:endParaRPr lang="ar-SA" sz="2000" dirty="0"/>
          </a:p>
        </p:txBody>
      </p:sp>
      <p:sp>
        <p:nvSpPr>
          <p:cNvPr id="41" name="Text 38"/>
          <p:cNvSpPr txBox="1"/>
          <p:nvPr/>
        </p:nvSpPr>
        <p:spPr>
          <a:xfrm>
            <a:off x="3319272" y="4724400"/>
            <a:ext cx="6126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قَرِيبٌ مِنْ · بَعِيدٌ عَنْ · بِجَانِبِ</a:t>
            </a:r>
            <a:endParaRPr lang="ar-SA" sz="2200" dirty="0"/>
          </a:p>
        </p:txBody>
      </p:sp>
      <p:sp>
        <p:nvSpPr>
          <p:cNvPr id="42" name="Text 39"/>
          <p:cNvSpPr txBox="1"/>
          <p:nvPr/>
        </p:nvSpPr>
        <p:spPr>
          <a:xfrm>
            <a:off x="566928" y="4724400"/>
            <a:ext cx="25877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Location: min or ‘an?</a:t>
            </a:r>
            <a:endParaRPr lang="en-US" sz="1100" dirty="0"/>
          </a:p>
        </p:txBody>
      </p:sp>
      <p:sp>
        <p:nvSpPr>
          <p:cNvPr id="43" name="Shape 4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628632" y="5338572"/>
            <a:ext cx="20116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cs typeface="Amiri" pitchFamily="2" charset="-78"/>
              </a:rPr>
              <a:t>السَّبَبُ</a:t>
            </a:r>
            <a:endParaRPr lang="ar-SA" sz="2000" dirty="0"/>
          </a:p>
        </p:txBody>
      </p:sp>
      <p:sp>
        <p:nvSpPr>
          <p:cNvPr id="47" name="Text 44"/>
          <p:cNvSpPr txBox="1"/>
          <p:nvPr/>
        </p:nvSpPr>
        <p:spPr>
          <a:xfrm>
            <a:off x="3319272" y="5338572"/>
            <a:ext cx="6126480" cy="55930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لِأَنَّهُ مُرِيحٌ · لِأَنَّهَا هَادِئَةٌ</a:t>
            </a:r>
            <a:endParaRPr lang="ar-SA" sz="2200" dirty="0"/>
          </a:p>
        </p:txBody>
      </p:sp>
      <p:sp>
        <p:nvSpPr>
          <p:cNvPr id="48" name="Text 45"/>
          <p:cNvSpPr txBox="1"/>
          <p:nvPr/>
        </p:nvSpPr>
        <p:spPr>
          <a:xfrm>
            <a:off x="566928" y="5338572"/>
            <a:ext cx="25877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Reason: -hu or -hā?</a:t>
            </a:r>
            <a:endParaRPr lang="en-US" sz="1100" dirty="0"/>
          </a:p>
        </p:txBody>
      </p:sp>
      <p:sp>
        <p:nvSpPr>
          <p:cNvPr id="49" name="Shape 46"/>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each item targets ONE familiar F3 decision — read the entire sentence before choosing the repair.</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REHEARSE · FOUR SKILL STRATEGIES (WEBSITE CHECKPOINT)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to earn the marks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اِسْتِرَاتِيجِيَّاتُ المَهَارَاتِ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16586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LISTEN · READ</a:t>
            </a:r>
            <a:endParaRPr lang="en-US" sz="850" dirty="0"/>
          </a:p>
        </p:txBody>
      </p:sp>
      <p:sp>
        <p:nvSpPr>
          <p:cNvPr id="18" name="Text 15"/>
          <p:cNvSpPr txBox="1"/>
          <p:nvPr/>
        </p:nvSpPr>
        <p:spPr>
          <a:xfrm>
            <a:off x="9444228"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اِسْتَمِعْ · اِقْرَأْ</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2" charset="-78"/>
                <a:cs typeface="Amiri" pitchFamily="2" charset="-78"/>
              </a:rPr>
              <a:t>الفِكْرَةُ أَوَّلًا، ثُمَّ الدَّلِيلُ.</a:t>
            </a:r>
            <a:endParaRPr lang="ar-SA" sz="28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Main idea first, then the exact phrase that proves the answer.</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Do not chase every word.</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61722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4413504" y="1920240"/>
            <a:ext cx="6172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SPEAK</a:t>
            </a:r>
            <a:endParaRPr lang="en-US" sz="850" dirty="0"/>
          </a:p>
        </p:txBody>
      </p:sp>
      <p:sp>
        <p:nvSpPr>
          <p:cNvPr id="26" name="Text 23"/>
          <p:cNvSpPr txBox="1"/>
          <p:nvPr/>
        </p:nvSpPr>
        <p:spPr>
          <a:xfrm>
            <a:off x="5076444" y="1874520"/>
            <a:ext cx="26990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تَكَلَّمْ</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جَوَابٌ + تَفْصِيلٌ + سَبَبٌ</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Direct answer, detail, reason. Cue cards: keywords, not a script.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Answer first, extend second.</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61722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6172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WRITE</a:t>
            </a:r>
            <a:endParaRPr lang="en-US" sz="850" dirty="0"/>
          </a:p>
        </p:txBody>
      </p:sp>
      <p:sp>
        <p:nvSpPr>
          <p:cNvPr id="34" name="Text 31"/>
          <p:cNvSpPr txBox="1"/>
          <p:nvPr/>
        </p:nvSpPr>
        <p:spPr>
          <a:xfrm>
            <a:off x="1257300" y="1874520"/>
            <a:ext cx="26990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اُكْتُبْ</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cs typeface="Amiri" pitchFamily="2" charset="-78"/>
              </a:rPr>
              <a:t>مُسَوَّدَةٌ + تَعْلِيقٌ + تَحْسِينٌ</a:t>
            </a:r>
            <a:endParaRPr lang="ar-SA" sz="31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Original, feedback, improved: fix one repeated error.</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Show visible progress.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Error Detective: sequence markers come before the action they organise.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أَدْرُسُ أَوَّلًا، ثُمَّ أَذْهَبُ إِلَى الحَدِيقَةِ.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cs typeface="Amiri" pitchFamily="2" charset="-78"/>
              </a:rPr>
              <a:t>أَذْهَبُ إِلَى الحَدِيقَةِ أَوَّلًا وَأَدْرُسُ ثُمَّ.</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‘near’?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بَعِيدٌ عَنْ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مُقَابِلَ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قَرِيبٌ مِنْ</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‘next to’.</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بِجَانِبِ</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أَمَامَ</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فَوْقَ</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‘I switch off’?</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أُشَغِّلُ</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أُطْفِئُ</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أَفْتَحُ</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form of ‘hardworking’.</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مُجْتَهِدَةٌ</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مُجْتَهِدٌ</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جِدًّا</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‘near’?</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بَعِيدٌ عَنْ</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مُقَابِلَ</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قَرِيبٌ مِنْ</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قَرِيبٌ مِنْ</a:t>
            </a:r>
            <a:pPr algn="l" indent="0" marL="0">
              <a:buNone/>
            </a:pPr>
            <a:r>
              <a:rPr lang="en-US" sz="1050" i="1" dirty="0">
                <a:solidFill>
                  <a:srgbClr val="8A6D1E"/>
                </a:solidFill>
                <a:latin typeface="Calibri" pitchFamily="34" charset="0"/>
                <a:cs typeface="Amiri" pitchFamily="2" charset="-78"/>
              </a:rPr>
              <a:t> means near.</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‘next to’.</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بِجَانِبِ</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أَمَامَ</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فَوْقَ</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بِجَانِبِ</a:t>
            </a:r>
            <a:pPr algn="l" indent="0" marL="0">
              <a:buNone/>
            </a:pPr>
            <a:r>
              <a:rPr lang="en-US" sz="1050" i="1" dirty="0">
                <a:solidFill>
                  <a:srgbClr val="8A6D1E"/>
                </a:solidFill>
                <a:latin typeface="Calibri" pitchFamily="34" charset="0"/>
                <a:cs typeface="Amiri" pitchFamily="2" charset="-78"/>
              </a:rPr>
              <a:t> means next to.</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‘I switch off’?</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أُشَغِّلُ</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أُطْفِئُ</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أَفْتَحُ</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أُطْفِئُ</a:t>
            </a:r>
            <a:pPr algn="l" indent="0" marL="0">
              <a:buNone/>
            </a:pPr>
            <a:r>
              <a:rPr lang="en-US" sz="1050" i="1" dirty="0">
                <a:solidFill>
                  <a:srgbClr val="8A6D1E"/>
                </a:solidFill>
                <a:latin typeface="Calibri" pitchFamily="34" charset="0"/>
                <a:cs typeface="Amiri" pitchFamily="2" charset="-78"/>
              </a:rPr>
              <a:t> means I switch off.</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form of ‘hardworking’.</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مُجْتَهِدَةٌ</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مُجْتَهِدٌ</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جِدًّا</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مُجْتَهِدَةٌ</a:t>
            </a:r>
            <a:pPr algn="l" indent="0" marL="0">
              <a:buNone/>
            </a:pPr>
            <a:r>
              <a:rPr lang="en-US" sz="1050" i="1" dirty="0">
                <a:solidFill>
                  <a:srgbClr val="8A6D1E"/>
                </a:solidFill>
                <a:latin typeface="Calibri" pitchFamily="34" charset="0"/>
                <a:cs typeface="Amiri" pitchFamily="2" charset="-78"/>
              </a:rPr>
              <a:t> agrees with a feminine person.</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REFINE · PORTFOLIO POLISH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Three deliberate improvements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تَحْسِينُ عَمَلِ المِلَفِّ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Original</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بَيْتِي كَبِيرٌ. فِي بَيْتِي يُوجَدُ حَدِيقَةٌ. أُحِبُّ بَيْتِي.</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Find the weak points.</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1 · Existence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cs typeface="Amiri" pitchFamily="2" charset="-78"/>
              </a:rPr>
              <a:t>فِي بَيْتِي </a:t>
            </a:r>
            <a:pPr rtl="1" algn="ctr" indent="0" marL="0">
              <a:buNone/>
            </a:pPr>
            <a:r>
              <a:rPr lang="ar-SA" altLang="en-US" sz="2550" b="1" dirty="0">
                <a:solidFill>
                  <a:srgbClr val="D6336C"/>
                </a:solidFill>
                <a:latin typeface="Amiri" pitchFamily="2" charset="-78"/>
                <a:cs typeface="Amiri" pitchFamily="2" charset="-78"/>
              </a:rPr>
              <a:t>تُوجَدُ</a:t>
            </a:r>
            <a:pPr rtl="1" algn="ctr" indent="0" marL="0">
              <a:buNone/>
            </a:pPr>
            <a:r>
              <a:rPr lang="ar-SA" altLang="en-US" sz="2550" b="1" dirty="0">
                <a:solidFill>
                  <a:srgbClr val="1B3B6F"/>
                </a:solidFill>
                <a:latin typeface="Amiri" pitchFamily="2" charset="-78"/>
                <a:cs typeface="Amiri" pitchFamily="2" charset="-78"/>
              </a:rPr>
              <a:t> حَدِيقَةٌ.</a:t>
            </a:r>
            <a:endParaRPr lang="ar-SA" sz="25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Garden (f.) → tūjadu.</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 · Detail</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cs typeface="Amiri" pitchFamily="2" charset="-78"/>
              </a:rPr>
              <a:t>بَيْتِي كَبِيرٌ وَقَرِيبٌ </a:t>
            </a:r>
            <a:pPr rtl="1" algn="ctr" indent="0" marL="0">
              <a:lnSpc>
                <a:spcPct val="120000"/>
              </a:lnSpc>
              <a:buNone/>
            </a:pPr>
            <a:r>
              <a:rPr lang="ar-SA" altLang="en-US" sz="1900" b="1" dirty="0">
                <a:solidFill>
                  <a:srgbClr val="1D5FBF"/>
                </a:solidFill>
                <a:latin typeface="Amiri" pitchFamily="2" charset="-78"/>
                <a:cs typeface="Amiri" pitchFamily="2" charset="-78"/>
              </a:rPr>
              <a:t>مِنْ</a:t>
            </a:r>
            <a:pPr rtl="1" algn="ctr" indent="0" marL="0">
              <a:lnSpc>
                <a:spcPct val="120000"/>
              </a:lnSpc>
              <a:buNone/>
            </a:pPr>
            <a:r>
              <a:rPr lang="ar-SA" altLang="en-US" sz="1900" b="1" dirty="0">
                <a:solidFill>
                  <a:srgbClr val="1B3B6F"/>
                </a:solidFill>
                <a:latin typeface="Amiri" pitchFamily="2" charset="-78"/>
                <a:cs typeface="Amiri" pitchFamily="2" charset="-78"/>
              </a:rPr>
              <a:t> مَكْتَبَةٍ.</a:t>
            </a:r>
            <a:endParaRPr lang="ar-SA" sz="19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precise location.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3 · Reason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cs typeface="Amiri" pitchFamily="2" charset="-78"/>
              </a:rPr>
              <a:t>أُحِبُّ بَيْتِي </a:t>
            </a:r>
            <a:pPr rtl="1" algn="ctr" indent="0" marL="0">
              <a:buNone/>
            </a:pPr>
            <a:r>
              <a:rPr lang="ar-SA" altLang="en-US" sz="2550" b="1" dirty="0">
                <a:solidFill>
                  <a:srgbClr val="1D5FBF"/>
                </a:solidFill>
                <a:latin typeface="Amiri" pitchFamily="2" charset="-78"/>
                <a:cs typeface="Amiri" pitchFamily="2" charset="-78"/>
              </a:rPr>
              <a:t>لِأَنَّهُ</a:t>
            </a:r>
            <a:pPr rtl="1" algn="ctr" indent="0" marL="0">
              <a:buNone/>
            </a:pPr>
            <a:r>
              <a:rPr lang="ar-SA" altLang="en-US" sz="2550" b="1" dirty="0">
                <a:solidFill>
                  <a:srgbClr val="1B3B6F"/>
                </a:solidFill>
                <a:latin typeface="Amiri" pitchFamily="2" charset="-78"/>
                <a:cs typeface="Amiri" pitchFamily="2" charset="-78"/>
              </a:rPr>
              <a:t> هَادِئٌ.</a:t>
            </a:r>
            <a:endParaRPr lang="ar-SA" sz="25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House (m.) → -hu.</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MASCULINE</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FEMININE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بَيْتِي كَبِيرٌ وَقَرِيبٌ </a:t>
            </a:r>
            <a:pPr rtl="1" algn="r" indent="0" marL="0">
              <a:buNone/>
            </a:pPr>
            <a:r>
              <a:rPr lang="ar-SA" altLang="en-US" sz="2600" b="1" dirty="0">
                <a:solidFill>
                  <a:srgbClr val="1D5FBF"/>
                </a:solidFill>
                <a:latin typeface="Amiri" pitchFamily="2" charset="-78"/>
                <a:cs typeface="Amiri" pitchFamily="2" charset="-78"/>
              </a:rPr>
              <a:t>مِنْ</a:t>
            </a:r>
            <a:pPr rtl="1" algn="r" indent="0" marL="0">
              <a:buNone/>
            </a:pPr>
            <a:r>
              <a:rPr lang="ar-SA" altLang="en-US" sz="2600" b="1" dirty="0">
                <a:solidFill>
                  <a:srgbClr val="1B3B6F"/>
                </a:solidFill>
                <a:latin typeface="Amiri" pitchFamily="2" charset="-78"/>
                <a:cs typeface="Amiri" pitchFamily="2" charset="-78"/>
              </a:rPr>
              <a:t> مَكْتَبَةٍ. فِي بَيْتِي </a:t>
            </a:r>
            <a:pPr rtl="1" algn="r" indent="0" marL="0">
              <a:buNone/>
            </a:pPr>
            <a:r>
              <a:rPr lang="ar-SA" altLang="en-US" sz="2600" b="1" dirty="0">
                <a:solidFill>
                  <a:srgbClr val="D6336C"/>
                </a:solidFill>
                <a:latin typeface="Amiri" pitchFamily="2" charset="-78"/>
                <a:cs typeface="Amiri" pitchFamily="2" charset="-78"/>
              </a:rPr>
              <a:t>تُوجَدُ</a:t>
            </a:r>
            <a:pPr rtl="1" algn="r" indent="0" marL="0">
              <a:buNone/>
            </a:pPr>
            <a:r>
              <a:rPr lang="ar-SA" altLang="en-US" sz="2600" b="1" dirty="0">
                <a:solidFill>
                  <a:srgbClr val="1B3B6F"/>
                </a:solidFill>
                <a:latin typeface="Amiri" pitchFamily="2" charset="-78"/>
                <a:cs typeface="Amiri" pitchFamily="2" charset="-78"/>
              </a:rPr>
              <a:t> حَدِيقَةٌ جَمِيلَةٌ. أُحِبُّ بَيْتِي </a:t>
            </a:r>
            <a:pPr rtl="1" algn="r" indent="0" marL="0">
              <a:buNone/>
            </a:pPr>
            <a:r>
              <a:rPr lang="ar-SA" altLang="en-US" sz="2600" b="1" dirty="0">
                <a:solidFill>
                  <a:srgbClr val="1D5FBF"/>
                </a:solidFill>
                <a:latin typeface="Amiri" pitchFamily="2" charset="-78"/>
                <a:cs typeface="Amiri" pitchFamily="2" charset="-78"/>
              </a:rPr>
              <a:t>لِأَنَّهُ</a:t>
            </a:r>
            <a:pPr rtl="1" algn="r" indent="0" marL="0">
              <a:buNone/>
            </a:pPr>
            <a:r>
              <a:rPr lang="ar-SA" altLang="en-US" sz="2600" b="1" dirty="0">
                <a:solidFill>
                  <a:srgbClr val="1B3B6F"/>
                </a:solidFill>
                <a:latin typeface="Amiri" pitchFamily="2" charset="-78"/>
                <a:cs typeface="Amiri" pitchFamily="2" charset="-78"/>
              </a:rPr>
              <a:t> هَادِئٌ وَمُرِيحٌ.</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My house is big and near a library. In my house there is a beautiful garden. I love my house because it is quiet and comfortable.</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PICTURE MATCH · WEBSITE GAME “VISUAL GAME — FAMILY SCENE”</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Warm-up: who is it?</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مَشْهَدُ العَائِلَةِ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father and son</a:t>
            </a:r>
            <a:endParaRPr lang="en-US" sz="1100" dirty="0"/>
          </a:p>
        </p:txBody>
      </p:sp>
      <p:sp>
        <p:nvSpPr>
          <p:cNvPr id="25" name="Shape 20"/>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4404360" y="1938528"/>
            <a:ext cx="365760" cy="365760"/>
          </a:xfrm>
          <a:prstGeom prst="ellipse">
            <a:avLst/>
          </a:prstGeom>
          <a:solidFill>
            <a:srgbClr val="1B3B6F"/>
          </a:solidFill>
          <a:ln w="12700">
            <a:solidFill>
              <a:srgbClr val="1B3B6F"/>
            </a:solidFill>
            <a:prstDash val="solid"/>
          </a:ln>
        </p:spPr>
      </p:sp>
      <p:sp>
        <p:nvSpPr>
          <p:cNvPr id="27" name="Text 22"/>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8" name="Shape 23"/>
          <p:cNvSpPr/>
          <p:nvPr/>
        </p:nvSpPr>
        <p:spPr>
          <a:xfrm>
            <a:off x="4992624" y="2066544"/>
            <a:ext cx="1014984" cy="1014984"/>
          </a:xfrm>
          <a:prstGeom prst="ellipse">
            <a:avLst/>
          </a:prstGeom>
          <a:solidFill>
            <a:srgbClr val="F4F1EA"/>
          </a:solidFill>
          <a:ln w="12700">
            <a:solidFill>
              <a:srgbClr val="F4F1EA"/>
            </a:solidFill>
            <a:prstDash val="solid"/>
          </a:ln>
        </p:spPr>
      </p:sp>
      <p:pic>
        <p:nvPicPr>
          <p:cNvPr id="29"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0" name="Shape 24"/>
          <p:cNvSpPr/>
          <p:nvPr/>
        </p:nvSpPr>
        <p:spPr>
          <a:xfrm>
            <a:off x="6181344" y="2066544"/>
            <a:ext cx="1014984" cy="1014984"/>
          </a:xfrm>
          <a:prstGeom prst="ellipse">
            <a:avLst/>
          </a:prstGeom>
          <a:solidFill>
            <a:srgbClr val="F4F1EA"/>
          </a:solidFill>
          <a:ln w="12700">
            <a:solidFill>
              <a:srgbClr val="F4F1EA"/>
            </a:solidFill>
            <a:prstDash val="solid"/>
          </a:ln>
        </p:spPr>
      </p:sp>
      <p:pic>
        <p:nvPicPr>
          <p:cNvPr id="31"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2" name="Text 25"/>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two girls</a:t>
            </a:r>
            <a:endParaRPr lang="en-US" sz="1100" dirty="0"/>
          </a:p>
        </p:txBody>
      </p:sp>
      <p:sp>
        <p:nvSpPr>
          <p:cNvPr id="33" name="Shape 2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27"/>
          <p:cNvSpPr/>
          <p:nvPr/>
        </p:nvSpPr>
        <p:spPr>
          <a:xfrm>
            <a:off x="585216" y="1938528"/>
            <a:ext cx="365760" cy="365760"/>
          </a:xfrm>
          <a:prstGeom prst="ellipse">
            <a:avLst/>
          </a:prstGeom>
          <a:solidFill>
            <a:srgbClr val="1B3B6F"/>
          </a:solidFill>
          <a:ln w="12700">
            <a:solidFill>
              <a:srgbClr val="1B3B6F"/>
            </a:solidFill>
            <a:prstDash val="solid"/>
          </a:ln>
        </p:spPr>
      </p:sp>
      <p:sp>
        <p:nvSpPr>
          <p:cNvPr id="35" name="Text 2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6" name="Shape 29"/>
          <p:cNvSpPr/>
          <p:nvPr/>
        </p:nvSpPr>
        <p:spPr>
          <a:xfrm>
            <a:off x="1173480" y="2066544"/>
            <a:ext cx="1014984" cy="1014984"/>
          </a:xfrm>
          <a:prstGeom prst="ellipse">
            <a:avLst/>
          </a:prstGeom>
          <a:solidFill>
            <a:srgbClr val="F4F1EA"/>
          </a:solidFill>
          <a:ln w="12700">
            <a:solidFill>
              <a:srgbClr val="F4F1EA"/>
            </a:solidFill>
            <a:prstDash val="solid"/>
          </a:ln>
        </p:spPr>
      </p:sp>
      <p:pic>
        <p:nvPicPr>
          <p:cNvPr id="37"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8" name="Shape 30"/>
          <p:cNvSpPr/>
          <p:nvPr/>
        </p:nvSpPr>
        <p:spPr>
          <a:xfrm>
            <a:off x="2362200" y="2066544"/>
            <a:ext cx="1014984" cy="1014984"/>
          </a:xfrm>
          <a:prstGeom prst="ellipse">
            <a:avLst/>
          </a:prstGeom>
          <a:solidFill>
            <a:srgbClr val="F4F1EA"/>
          </a:solidFill>
          <a:ln w="12700">
            <a:solidFill>
              <a:srgbClr val="F4F1EA"/>
            </a:solidFill>
            <a:prstDash val="solid"/>
          </a:ln>
        </p:spPr>
      </p:sp>
      <p:pic>
        <p:nvPicPr>
          <p:cNvPr id="39"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0" name="Text 31"/>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grandmother and girl</a:t>
            </a:r>
            <a:endParaRPr lang="en-US" sz="1100" dirty="0"/>
          </a:p>
        </p:txBody>
      </p:sp>
      <p:sp>
        <p:nvSpPr>
          <p:cNvPr id="41" name="Shape 32"/>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2" name="Shape 33"/>
          <p:cNvSpPr/>
          <p:nvPr/>
        </p:nvSpPr>
        <p:spPr>
          <a:xfrm>
            <a:off x="11247120" y="3831336"/>
            <a:ext cx="292608" cy="292608"/>
          </a:xfrm>
          <a:prstGeom prst="ellipse">
            <a:avLst/>
          </a:prstGeom>
          <a:solidFill>
            <a:srgbClr val="2F6FB0"/>
          </a:solidFill>
          <a:ln w="12700">
            <a:solidFill>
              <a:srgbClr val="2F6FB0"/>
            </a:solidFill>
            <a:prstDash val="solid"/>
          </a:ln>
        </p:spPr>
      </p:sp>
      <p:sp>
        <p:nvSpPr>
          <p:cNvPr id="43" name="Text 34"/>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4" name="Text 35"/>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هٰذِهِ جَدَّتِي.</a:t>
            </a:r>
            <a:endParaRPr lang="ar-SA" sz="2000" dirty="0"/>
          </a:p>
        </p:txBody>
      </p:sp>
      <p:sp>
        <p:nvSpPr>
          <p:cNvPr id="45" name="Shape 36"/>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6" name="Shape 37"/>
          <p:cNvSpPr/>
          <p:nvPr/>
        </p:nvSpPr>
        <p:spPr>
          <a:xfrm>
            <a:off x="11247120" y="4398264"/>
            <a:ext cx="292608" cy="292608"/>
          </a:xfrm>
          <a:prstGeom prst="ellipse">
            <a:avLst/>
          </a:prstGeom>
          <a:solidFill>
            <a:srgbClr val="2F6FB0"/>
          </a:solidFill>
          <a:ln w="12700">
            <a:solidFill>
              <a:srgbClr val="2F6FB0"/>
            </a:solidFill>
            <a:prstDash val="solid"/>
          </a:ln>
        </p:spPr>
      </p:sp>
      <p:sp>
        <p:nvSpPr>
          <p:cNvPr id="47" name="Text 38"/>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8" name="Text 39"/>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هٰذَا أَبِي.</a:t>
            </a:r>
            <a:endParaRPr lang="ar-SA" sz="2000" dirty="0"/>
          </a:p>
        </p:txBody>
      </p:sp>
      <p:sp>
        <p:nvSpPr>
          <p:cNvPr id="49" name="Shape 40"/>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0" name="Shape 41"/>
          <p:cNvSpPr/>
          <p:nvPr/>
        </p:nvSpPr>
        <p:spPr>
          <a:xfrm>
            <a:off x="11247120" y="4965192"/>
            <a:ext cx="292608" cy="292608"/>
          </a:xfrm>
          <a:prstGeom prst="ellipse">
            <a:avLst/>
          </a:prstGeom>
          <a:solidFill>
            <a:srgbClr val="2F6FB0"/>
          </a:solidFill>
          <a:ln w="12700">
            <a:solidFill>
              <a:srgbClr val="2F6FB0"/>
            </a:solidFill>
            <a:prstDash val="solid"/>
          </a:ln>
        </p:spPr>
      </p:sp>
      <p:sp>
        <p:nvSpPr>
          <p:cNvPr id="51" name="Text 42"/>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2" name="Text 43"/>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هٰذِهِ أُخْتِي.</a:t>
            </a:r>
            <a:endParaRPr lang="ar-SA" sz="2000" dirty="0"/>
          </a:p>
        </p:txBody>
      </p:sp>
      <p:sp>
        <p:nvSpPr>
          <p:cNvPr id="53" name="Text 44"/>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4" name="Text 45"/>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5"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مَشْهَدُ العَائِلَةِ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father and son</a:t>
            </a:r>
            <a:endParaRPr lang="en-US" sz="1100" dirty="0"/>
          </a:p>
        </p:txBody>
      </p:sp>
      <p:sp>
        <p:nvSpPr>
          <p:cNvPr id="25" name="Shape 20"/>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11256264" y="3785616"/>
            <a:ext cx="329184" cy="329184"/>
          </a:xfrm>
          <a:prstGeom prst="ellipse">
            <a:avLst/>
          </a:prstGeom>
          <a:solidFill>
            <a:srgbClr val="2E8B57"/>
          </a:solidFill>
          <a:ln w="12700">
            <a:solidFill>
              <a:srgbClr val="2E8B57"/>
            </a:solidFill>
            <a:prstDash val="solid"/>
          </a:ln>
        </p:spPr>
      </p:sp>
      <p:sp>
        <p:nvSpPr>
          <p:cNvPr id="27" name="Text 22"/>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8" name="Text 23"/>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هٰذَا أَبِي.</a:t>
            </a:r>
            <a:endParaRPr lang="ar-SA" sz="2200" dirty="0"/>
          </a:p>
        </p:txBody>
      </p:sp>
      <p:sp>
        <p:nvSpPr>
          <p:cNvPr id="29" name="Text 24"/>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my father.</a:t>
            </a:r>
            <a:endParaRPr lang="en-US" sz="1200" dirty="0"/>
          </a:p>
        </p:txBody>
      </p:sp>
      <p:sp>
        <p:nvSpPr>
          <p:cNvPr id="30" name="Shape 25"/>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6"/>
          <p:cNvSpPr/>
          <p:nvPr/>
        </p:nvSpPr>
        <p:spPr>
          <a:xfrm>
            <a:off x="4404360" y="1938528"/>
            <a:ext cx="365760" cy="365760"/>
          </a:xfrm>
          <a:prstGeom prst="ellipse">
            <a:avLst/>
          </a:prstGeom>
          <a:solidFill>
            <a:srgbClr val="1B3B6F"/>
          </a:solidFill>
          <a:ln w="12700">
            <a:solidFill>
              <a:srgbClr val="1B3B6F"/>
            </a:solidFill>
            <a:prstDash val="solid"/>
          </a:ln>
        </p:spPr>
      </p:sp>
      <p:sp>
        <p:nvSpPr>
          <p:cNvPr id="32" name="Text 27"/>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3" name="Shape 28"/>
          <p:cNvSpPr/>
          <p:nvPr/>
        </p:nvSpPr>
        <p:spPr>
          <a:xfrm>
            <a:off x="4992624" y="2066544"/>
            <a:ext cx="1014984" cy="1014984"/>
          </a:xfrm>
          <a:prstGeom prst="ellipse">
            <a:avLst/>
          </a:prstGeom>
          <a:solidFill>
            <a:srgbClr val="F4F1EA"/>
          </a:solidFill>
          <a:ln w="12700">
            <a:solidFill>
              <a:srgbClr val="F4F1EA"/>
            </a:solidFill>
            <a:prstDash val="solid"/>
          </a:ln>
        </p:spPr>
      </p:sp>
      <p:pic>
        <p:nvPicPr>
          <p:cNvPr id="34"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5" name="Shape 29"/>
          <p:cNvSpPr/>
          <p:nvPr/>
        </p:nvSpPr>
        <p:spPr>
          <a:xfrm>
            <a:off x="6181344" y="2066544"/>
            <a:ext cx="1014984" cy="1014984"/>
          </a:xfrm>
          <a:prstGeom prst="ellipse">
            <a:avLst/>
          </a:prstGeom>
          <a:solidFill>
            <a:srgbClr val="F4F1EA"/>
          </a:solidFill>
          <a:ln w="12700">
            <a:solidFill>
              <a:srgbClr val="F4F1EA"/>
            </a:solidFill>
            <a:prstDash val="solid"/>
          </a:ln>
        </p:spPr>
      </p:sp>
      <p:pic>
        <p:nvPicPr>
          <p:cNvPr id="36"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7" name="Text 30"/>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two girls</a:t>
            </a:r>
            <a:endParaRPr lang="en-US" sz="1100" dirty="0"/>
          </a:p>
        </p:txBody>
      </p:sp>
      <p:sp>
        <p:nvSpPr>
          <p:cNvPr id="38" name="Shape 31"/>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9" name="Shape 32"/>
          <p:cNvSpPr/>
          <p:nvPr/>
        </p:nvSpPr>
        <p:spPr>
          <a:xfrm>
            <a:off x="7437120" y="3785616"/>
            <a:ext cx="329184" cy="329184"/>
          </a:xfrm>
          <a:prstGeom prst="ellipse">
            <a:avLst/>
          </a:prstGeom>
          <a:solidFill>
            <a:srgbClr val="2E8B57"/>
          </a:solidFill>
          <a:ln w="12700">
            <a:solidFill>
              <a:srgbClr val="2E8B57"/>
            </a:solidFill>
            <a:prstDash val="solid"/>
          </a:ln>
        </p:spPr>
      </p:sp>
      <p:sp>
        <p:nvSpPr>
          <p:cNvPr id="40" name="Text 33"/>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41" name="Text 34"/>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هٰذِهِ أُخْتِي.</a:t>
            </a:r>
            <a:endParaRPr lang="ar-SA" sz="2200" dirty="0"/>
          </a:p>
        </p:txBody>
      </p:sp>
      <p:sp>
        <p:nvSpPr>
          <p:cNvPr id="42" name="Text 35"/>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my sister.</a:t>
            </a:r>
            <a:endParaRPr lang="en-US" sz="1200" dirty="0"/>
          </a:p>
        </p:txBody>
      </p:sp>
      <p:sp>
        <p:nvSpPr>
          <p:cNvPr id="43" name="Shape 36"/>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37"/>
          <p:cNvSpPr/>
          <p:nvPr/>
        </p:nvSpPr>
        <p:spPr>
          <a:xfrm>
            <a:off x="585216" y="1938528"/>
            <a:ext cx="365760" cy="365760"/>
          </a:xfrm>
          <a:prstGeom prst="ellipse">
            <a:avLst/>
          </a:prstGeom>
          <a:solidFill>
            <a:srgbClr val="1B3B6F"/>
          </a:solidFill>
          <a:ln w="12700">
            <a:solidFill>
              <a:srgbClr val="1B3B6F"/>
            </a:solidFill>
            <a:prstDash val="solid"/>
          </a:ln>
        </p:spPr>
      </p:sp>
      <p:sp>
        <p:nvSpPr>
          <p:cNvPr id="45" name="Text 38"/>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6" name="Shape 39"/>
          <p:cNvSpPr/>
          <p:nvPr/>
        </p:nvSpPr>
        <p:spPr>
          <a:xfrm>
            <a:off x="1173480" y="2066544"/>
            <a:ext cx="1014984" cy="1014984"/>
          </a:xfrm>
          <a:prstGeom prst="ellipse">
            <a:avLst/>
          </a:prstGeom>
          <a:solidFill>
            <a:srgbClr val="F4F1EA"/>
          </a:solidFill>
          <a:ln w="12700">
            <a:solidFill>
              <a:srgbClr val="F4F1EA"/>
            </a:solidFill>
            <a:prstDash val="solid"/>
          </a:ln>
        </p:spPr>
      </p:sp>
      <p:pic>
        <p:nvPicPr>
          <p:cNvPr id="47"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8" name="Shape 40"/>
          <p:cNvSpPr/>
          <p:nvPr/>
        </p:nvSpPr>
        <p:spPr>
          <a:xfrm>
            <a:off x="2362200" y="2066544"/>
            <a:ext cx="1014984" cy="1014984"/>
          </a:xfrm>
          <a:prstGeom prst="ellipse">
            <a:avLst/>
          </a:prstGeom>
          <a:solidFill>
            <a:srgbClr val="F4F1EA"/>
          </a:solidFill>
          <a:ln w="12700">
            <a:solidFill>
              <a:srgbClr val="F4F1EA"/>
            </a:solidFill>
            <a:prstDash val="solid"/>
          </a:ln>
        </p:spPr>
      </p:sp>
      <p:pic>
        <p:nvPicPr>
          <p:cNvPr id="49"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50" name="Text 41"/>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grandmother and girl</a:t>
            </a:r>
            <a:endParaRPr lang="en-US" sz="1100" dirty="0"/>
          </a:p>
        </p:txBody>
      </p:sp>
      <p:sp>
        <p:nvSpPr>
          <p:cNvPr id="51" name="Shape 42"/>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2" name="Shape 43"/>
          <p:cNvSpPr/>
          <p:nvPr/>
        </p:nvSpPr>
        <p:spPr>
          <a:xfrm>
            <a:off x="3617976" y="3785616"/>
            <a:ext cx="329184" cy="329184"/>
          </a:xfrm>
          <a:prstGeom prst="ellipse">
            <a:avLst/>
          </a:prstGeom>
          <a:solidFill>
            <a:srgbClr val="2E8B57"/>
          </a:solidFill>
          <a:ln w="12700">
            <a:solidFill>
              <a:srgbClr val="2E8B57"/>
            </a:solidFill>
            <a:prstDash val="solid"/>
          </a:ln>
        </p:spPr>
      </p:sp>
      <p:sp>
        <p:nvSpPr>
          <p:cNvPr id="53" name="Text 44"/>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4" name="Text 45"/>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هٰذِهِ جَدَّتِي.</a:t>
            </a:r>
            <a:endParaRPr lang="ar-SA" sz="2200" dirty="0"/>
          </a:p>
        </p:txBody>
      </p:sp>
      <p:sp>
        <p:nvSpPr>
          <p:cNvPr id="55" name="Text 46"/>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my grandmother.</a:t>
            </a:r>
            <a:endParaRPr lang="en-US" sz="1200" dirty="0"/>
          </a:p>
        </p:txBody>
      </p:sp>
      <p:sp>
        <p:nvSpPr>
          <p:cNvPr id="56"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“ERROR DETECTIVE”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Detect and repair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مُحَقِّقُ الأَخْطَاءِ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150" b="1" dirty="0">
                <a:solidFill>
                  <a:srgbClr val="1B3B6F"/>
                </a:solidFill>
                <a:latin typeface="Amiri" pitchFamily="2" charset="-78"/>
                <a:cs typeface="Amiri" pitchFamily="2" charset="-78"/>
              </a:rPr>
              <a:t>غُرْفَةُ النَّوْمِ قَرِيبٌ مِنَ المَطْبَخِ.</a:t>
            </a:r>
            <a:endParaRPr lang="ar-SA" sz="115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غُرْفَةُ النَّوْمِ قَرِيبَةٌ مِنَ المَطْبَخِ.</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غُرْفَةُ النَّوْمِ قَرِيبُونَ مِنَ المَطْبَخِ.</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غُرْفَةُ النَّوْمِ قَرِيبٌ عَنِ المَطْبَخِ.</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فِي بَيْتِي يُوجَدُ حَدِيقَةٌ.</a:t>
            </a:r>
            <a:endParaRPr lang="ar-SA" sz="16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بَيْتِي يُوجَدُ حَدِيقَةٌ.</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بَيْتِي تُوجَدُ حَدِيقَةٌ.</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بَيْتِي تَكُونُ حَدِيقَةٌ.</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عِنْدِي ثَلَاثَةُ غُرَفِ نَوْمٍ.</a:t>
            </a:r>
            <a:endParaRPr lang="ar-SA" sz="16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عِنْدِي ثَلَاثُ غُرَفِ نَوْمٍ.</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عِنْدِي ثَلَاثَةٌ غُرْفَةُ نَوْمٍ.</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عِنْدِي ثَلَاثٌ غُرَفٌ نَوْمٌ.</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cs typeface="Amiri" pitchFamily="2" charset="-78"/>
              </a:rPr>
              <a:t>أُحِبُّ بَيْتِي لِأَنَّهَا مُرِيحَةٌ.</a:t>
            </a:r>
            <a:endParaRPr lang="ar-SA" sz="145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أُحِبُّ بَيْتِي لِأَنَّنِي مُرِيحٌ.</a:t>
            </a:r>
            <a:endParaRPr lang="ar-SA" sz="20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أُحِبُّ بَيْتِي ثُمَّ مُرِيحٌ.</a:t>
            </a:r>
            <a:endParaRPr lang="ar-SA" sz="20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أُحِبُّ بَيْتِي لِأَنَّهُ مُرِيحٌ.</a:t>
            </a:r>
            <a:endParaRPr lang="ar-SA" sz="20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4" name="Text 71"/>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75" name="Text 72"/>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cs typeface="Amiri" pitchFamily="2" charset="-78"/>
              </a:rPr>
              <a:t>السَّتَائِرُ أَزْرَقُ وَمُخَطَّطُونَ.</a:t>
            </a:r>
            <a:endParaRPr lang="ar-SA" sz="1450" dirty="0"/>
          </a:p>
        </p:txBody>
      </p:sp>
      <p:sp>
        <p:nvSpPr>
          <p:cNvPr id="76" name="Shape 73"/>
          <p:cNvSpPr/>
          <p:nvPr/>
        </p:nvSpPr>
        <p:spPr>
          <a:xfrm>
            <a:off x="4459224" y="48737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8" name="Text 75"/>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السَّتَائِرُ أَزْرَقُونَ وَمُخَطَّطُونَ.</a:t>
            </a:r>
            <a:endParaRPr lang="ar-SA" sz="2050" dirty="0"/>
          </a:p>
        </p:txBody>
      </p:sp>
      <p:sp>
        <p:nvSpPr>
          <p:cNvPr id="79" name="Shape 76"/>
          <p:cNvSpPr/>
          <p:nvPr/>
        </p:nvSpPr>
        <p:spPr>
          <a:xfrm>
            <a:off x="4459224" y="53309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1" name="Text 78"/>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السَّتَائِرُ زَرْقَاوَاتٌ وَمُخَطَّطَاتٌ.</a:t>
            </a:r>
            <a:endParaRPr lang="ar-SA" sz="2050" dirty="0"/>
          </a:p>
        </p:txBody>
      </p:sp>
      <p:sp>
        <p:nvSpPr>
          <p:cNvPr id="82" name="Shape 79"/>
          <p:cNvSpPr/>
          <p:nvPr/>
        </p:nvSpPr>
        <p:spPr>
          <a:xfrm>
            <a:off x="4459224" y="5788152"/>
            <a:ext cx="256032" cy="256032"/>
          </a:xfrm>
          <a:prstGeom prst="ellipse">
            <a:avLst/>
          </a:prstGeom>
          <a:solidFill>
            <a:srgbClr val="F4F1EA"/>
          </a:solidFill>
          <a:ln w="12700">
            <a:solidFill>
              <a:srgbClr val="F4F1EA"/>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السَّتَائِرُ زَرْقَاءُ وَمُخَطَّطَةٌ.</a:t>
            </a:r>
            <a:endParaRPr lang="ar-SA" sz="2050" dirty="0"/>
          </a:p>
        </p:txBody>
      </p:sp>
      <p:sp>
        <p:nvSpPr>
          <p:cNvPr id="85" name="Shape 8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8" name="Text 8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Read the WHOLE sentence.</a:t>
            </a:r>
            <a:endParaRPr lang="en-US" sz="1250" dirty="0"/>
          </a:p>
          <a:p>
            <a:pPr algn="l" indent="0" marL="0">
              <a:buNone/>
            </a:pPr>
            <a:r>
              <a:rPr lang="en-US" sz="1250" dirty="0">
                <a:solidFill>
                  <a:srgbClr val="1E6B52"/>
                </a:solidFill>
                <a:latin typeface="Calibri" pitchFamily="34" charset="0"/>
                <a:cs typeface="Amiri" pitchFamily="2" charset="-78"/>
              </a:rPr>
              <a:t>Name the system.</a:t>
            </a:r>
            <a:endParaRPr lang="en-US" sz="1250" dirty="0"/>
          </a:p>
          <a:p>
            <a:pPr algn="l" indent="0" marL="0">
              <a:buNone/>
            </a:pPr>
            <a:r>
              <a:rPr lang="en-US" sz="1250" dirty="0">
                <a:solidFill>
                  <a:srgbClr val="1E6B52"/>
                </a:solidFill>
                <a:latin typeface="Calibri" pitchFamily="34" charset="0"/>
                <a:cs typeface="Amiri" pitchFamily="2" charset="-78"/>
              </a:rPr>
              <a:t>Then choose the repair.</a:t>
            </a:r>
            <a:endParaRPr lang="en-US" sz="125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ERROR DETECTIVE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Detective: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1150" b="1" dirty="0">
                <a:solidFill>
                  <a:srgbClr val="1B3B6F"/>
                </a:solidFill>
                <a:latin typeface="Amiri" pitchFamily="2" charset="-78"/>
                <a:cs typeface="Amiri" pitchFamily="2" charset="-78"/>
              </a:rPr>
              <a:t>غُرْفَةُ النَّوْمِ قَرِيبٌ مِنَ المَطْبَخِ.</a:t>
            </a:r>
            <a:endParaRPr lang="ar-SA" sz="1150" dirty="0"/>
          </a:p>
        </p:txBody>
      </p:sp>
      <p:sp>
        <p:nvSpPr>
          <p:cNvPr id="20" name="Shape 17"/>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490216"/>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غُرْفَةُ النَّوْمِ قَرِيبَةٌ مِنَ المَطْبَخِ.</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غُرْفَةُ النَّوْمِ قَرِيبُونَ مِنَ المَطْبَخِ.</a:t>
            </a:r>
            <a:endParaRPr lang="ar-SA" sz="17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غُرْفَةُ النَّوْمِ قَرِيبٌ عَنِ المَطْبَخِ.</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غُرْفَةٌ</a:t>
            </a:r>
            <a:pPr algn="l" indent="0" marL="0">
              <a:buNone/>
            </a:pPr>
            <a:r>
              <a:rPr lang="en-US" sz="1050" i="1" dirty="0">
                <a:solidFill>
                  <a:srgbClr val="8A6D1E"/>
                </a:solidFill>
                <a:latin typeface="Calibri" pitchFamily="34" charset="0"/>
                <a:cs typeface="Amiri" pitchFamily="2" charset="-78"/>
              </a:rPr>
              <a:t> is feminine, so the adjective is </a:t>
            </a:r>
            <a:pPr algn="l" indent="0" marL="0">
              <a:buNone/>
            </a:pPr>
            <a:r>
              <a:rPr lang="ar-SA" altLang="en-US" sz="1350" dirty="0">
                <a:solidFill>
                  <a:srgbClr val="8A6D1E"/>
                </a:solidFill>
                <a:latin typeface="Amiri" pitchFamily="2" charset="-78"/>
                <a:cs typeface="Amiri" pitchFamily="2" charset="-78"/>
              </a:rPr>
              <a:t>قَرِيبَةٌ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فِي بَيْتِي يُوجَدُ حَدِيقَةٌ.</a:t>
            </a:r>
            <a:endParaRPr lang="ar-SA" sz="16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بَيْتِي يُوجَدُ حَدِيقَةٌ.</a:t>
            </a:r>
            <a:endParaRPr lang="ar-SA" sz="1700" dirty="0"/>
          </a:p>
        </p:txBody>
      </p:sp>
      <p:sp>
        <p:nvSpPr>
          <p:cNvPr id="39" name="Shape 36"/>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بَيْتِي تُوجَدُ حَدِيقَةٌ.</a:t>
            </a:r>
            <a:endParaRPr lang="ar-SA" sz="1700" dirty="0"/>
          </a:p>
        </p:txBody>
      </p:sp>
      <p:sp>
        <p:nvSpPr>
          <p:cNvPr id="43"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بَيْتِي تَكُونُ حَدِيقَةٌ.</a:t>
            </a:r>
            <a:endParaRPr lang="ar-SA" sz="17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تُوجَدُ</a:t>
            </a:r>
            <a:pPr algn="l" indent="0" marL="0">
              <a:buNone/>
            </a:pPr>
            <a:r>
              <a:rPr lang="en-US" sz="1050" i="1" dirty="0">
                <a:solidFill>
                  <a:srgbClr val="8A6D1E"/>
                </a:solidFill>
                <a:latin typeface="Calibri" pitchFamily="34" charset="0"/>
                <a:cs typeface="Amiri" pitchFamily="2" charset="-78"/>
              </a:rPr>
              <a:t> agrees with feminine </a:t>
            </a:r>
            <a:pPr algn="l" indent="0" marL="0">
              <a:buNone/>
            </a:pPr>
            <a:r>
              <a:rPr lang="ar-SA" altLang="en-US" sz="1350" dirty="0">
                <a:solidFill>
                  <a:srgbClr val="8A6D1E"/>
                </a:solidFill>
                <a:latin typeface="Amiri" pitchFamily="2" charset="-78"/>
                <a:cs typeface="Amiri" pitchFamily="2" charset="-78"/>
              </a:rPr>
              <a:t>حَدِيقَةٌ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عِنْدِي ثَلَاثَةُ غُرَفِ نَوْمٍ.</a:t>
            </a:r>
            <a:endParaRPr lang="ar-SA" sz="1600" dirty="0"/>
          </a:p>
        </p:txBody>
      </p:sp>
      <p:sp>
        <p:nvSpPr>
          <p:cNvPr id="52" name="Shape 49"/>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49021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5" name="Text 52"/>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عِنْدِي ثَلَاثُ غُرَفِ نَوْمٍ.</a:t>
            </a:r>
            <a:endParaRPr lang="ar-SA" sz="1700" dirty="0"/>
          </a:p>
        </p:txBody>
      </p:sp>
      <p:sp>
        <p:nvSpPr>
          <p:cNvPr id="56" name="Shape 53"/>
          <p:cNvSpPr/>
          <p:nvPr/>
        </p:nvSpPr>
        <p:spPr>
          <a:xfrm>
            <a:off x="8278368" y="286207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عِنْدِي ثَلَاثَةٌ غُرْفَةُ نَوْمٍ.</a:t>
            </a:r>
            <a:endParaRPr lang="ar-SA" sz="170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عِنْدِي ثَلَاثٌ غُرَفٌ نَوْمٌ.</a:t>
            </a:r>
            <a:endParaRPr lang="ar-SA" sz="170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غُرْفَةٌ</a:t>
            </a:r>
            <a:pPr algn="l" indent="0" marL="0">
              <a:buNone/>
            </a:pPr>
            <a:r>
              <a:rPr lang="en-US" sz="1050" i="1" dirty="0">
                <a:solidFill>
                  <a:srgbClr val="8A6D1E"/>
                </a:solidFill>
                <a:latin typeface="Calibri" pitchFamily="34" charset="0"/>
                <a:cs typeface="Amiri" pitchFamily="2" charset="-78"/>
              </a:rPr>
              <a:t> is feminine, so 3 uses </a:t>
            </a:r>
            <a:pPr algn="l" indent="0" marL="0">
              <a:buNone/>
            </a:pPr>
            <a:r>
              <a:rPr lang="ar-SA" altLang="en-US" sz="1350" dirty="0">
                <a:solidFill>
                  <a:srgbClr val="8A6D1E"/>
                </a:solidFill>
                <a:latin typeface="Amiri" pitchFamily="2" charset="-78"/>
                <a:cs typeface="Amiri" pitchFamily="2" charset="-78"/>
              </a:rPr>
              <a:t>ثَلَاثُ</a:t>
            </a:r>
            <a:pPr algn="l" indent="0" marL="0">
              <a:buNone/>
            </a:pPr>
            <a:r>
              <a:rPr lang="en-US" sz="1050" i="1" dirty="0">
                <a:solidFill>
                  <a:srgbClr val="8A6D1E"/>
                </a:solidFill>
                <a:latin typeface="Calibri" pitchFamily="34" charset="0"/>
                <a:cs typeface="Amiri" pitchFamily="2" charset="-78"/>
              </a:rPr>
              <a:t> and the counted noun is plural.</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cs typeface="Amiri" pitchFamily="2" charset="-78"/>
              </a:rPr>
              <a:t>أُحِبُّ بَيْتِي لِأَنَّهَا مُرِيحَةٌ.</a:t>
            </a:r>
            <a:endParaRPr lang="ar-SA" sz="1450" dirty="0"/>
          </a:p>
        </p:txBody>
      </p:sp>
      <p:sp>
        <p:nvSpPr>
          <p:cNvPr id="68"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أُحِبُّ بَيْتِي لِأَنَّنِي مُرِيحٌ.</a:t>
            </a:r>
            <a:endParaRPr lang="ar-SA" sz="1700" dirty="0"/>
          </a:p>
        </p:txBody>
      </p:sp>
      <p:sp>
        <p:nvSpPr>
          <p:cNvPr id="71" name="Shape 68"/>
          <p:cNvSpPr/>
          <p:nvPr/>
        </p:nvSpPr>
        <p:spPr>
          <a:xfrm>
            <a:off x="640080"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أُحِبُّ بَيْتِي ثُمَّ مُرِيحٌ.</a:t>
            </a:r>
            <a:endParaRPr lang="ar-SA" sz="1700" dirty="0"/>
          </a:p>
        </p:txBody>
      </p:sp>
      <p:sp>
        <p:nvSpPr>
          <p:cNvPr id="74" name="Shape 71"/>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40080"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أُحِبُّ بَيْتِي لِأَنَّهُ مُرِيحٌ.</a:t>
            </a:r>
            <a:endParaRPr lang="ar-SA" sz="170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بَيْتٌ</a:t>
            </a:r>
            <a:pPr algn="l" indent="0" marL="0">
              <a:buNone/>
            </a:pPr>
            <a:r>
              <a:rPr lang="en-US" sz="1050" i="1" dirty="0">
                <a:solidFill>
                  <a:srgbClr val="8A6D1E"/>
                </a:solidFill>
                <a:latin typeface="Calibri" pitchFamily="34" charset="0"/>
                <a:cs typeface="Amiri" pitchFamily="2" charset="-78"/>
              </a:rPr>
              <a:t> is masculine, so use </a:t>
            </a:r>
            <a:pPr algn="l" indent="0" marL="0">
              <a:buNone/>
            </a:pPr>
            <a:r>
              <a:rPr lang="ar-SA" altLang="en-US" sz="1350" dirty="0">
                <a:solidFill>
                  <a:srgbClr val="8A6D1E"/>
                </a:solidFill>
                <a:latin typeface="Amiri" pitchFamily="2" charset="-78"/>
                <a:cs typeface="Amiri" pitchFamily="2" charset="-78"/>
              </a:rPr>
              <a:t>لِأَنَّهُ مُرِيحٌ</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9"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2" name="Text 7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Repair:</a:t>
            </a:r>
            <a:endParaRPr lang="en-US" sz="1200" dirty="0"/>
          </a:p>
        </p:txBody>
      </p:sp>
      <p:sp>
        <p:nvSpPr>
          <p:cNvPr id="83" name="Text 80"/>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cs typeface="Amiri" pitchFamily="2" charset="-78"/>
              </a:rPr>
              <a:t>السَّتَائِرُ أَزْرَقُ وَمُخَطَّطُونَ.</a:t>
            </a:r>
            <a:endParaRPr lang="ar-SA" sz="1450" dirty="0"/>
          </a:p>
        </p:txBody>
      </p:sp>
      <p:sp>
        <p:nvSpPr>
          <p:cNvPr id="84" name="Shape 81"/>
          <p:cNvSpPr/>
          <p:nvPr/>
        </p:nvSpPr>
        <p:spPr>
          <a:xfrm>
            <a:off x="4459224" y="4831080"/>
            <a:ext cx="256032" cy="256032"/>
          </a:xfrm>
          <a:prstGeom prst="ellipse">
            <a:avLst/>
          </a:prstGeom>
          <a:solidFill>
            <a:srgbClr val="C9CED6"/>
          </a:solidFill>
          <a:ln w="12700">
            <a:solidFill>
              <a:srgbClr val="C9CED6"/>
            </a:solidFill>
            <a:prstDash val="solid"/>
          </a:ln>
        </p:spPr>
      </p:sp>
      <p:sp>
        <p:nvSpPr>
          <p:cNvPr id="85"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السَّتَائِرُ أَزْرَقُونَ وَمُخَطَّطُونَ.</a:t>
            </a:r>
            <a:endParaRPr lang="ar-SA" sz="1700" dirty="0"/>
          </a:p>
        </p:txBody>
      </p:sp>
      <p:sp>
        <p:nvSpPr>
          <p:cNvPr id="87" name="Shape 84"/>
          <p:cNvSpPr/>
          <p:nvPr/>
        </p:nvSpPr>
        <p:spPr>
          <a:xfrm>
            <a:off x="4459224" y="5202936"/>
            <a:ext cx="256032" cy="256032"/>
          </a:xfrm>
          <a:prstGeom prst="ellipse">
            <a:avLst/>
          </a:prstGeom>
          <a:solidFill>
            <a:srgbClr val="C9CED6"/>
          </a:solidFill>
          <a:ln w="12700">
            <a:solidFill>
              <a:srgbClr val="C9CED6"/>
            </a:solidFill>
            <a:prstDash val="solid"/>
          </a:ln>
        </p:spPr>
      </p:sp>
      <p:sp>
        <p:nvSpPr>
          <p:cNvPr id="88" name="Text 8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السَّتَائِرُ زَرْقَاوَاتٌ وَمُخَطَّطَاتٌ.</a:t>
            </a:r>
            <a:endParaRPr lang="ar-SA" sz="1700" dirty="0"/>
          </a:p>
        </p:txBody>
      </p:sp>
      <p:sp>
        <p:nvSpPr>
          <p:cNvPr id="90" name="Shape 87"/>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91" name="Shape 88"/>
          <p:cNvSpPr/>
          <p:nvPr/>
        </p:nvSpPr>
        <p:spPr>
          <a:xfrm>
            <a:off x="4459224" y="5574792"/>
            <a:ext cx="256032" cy="256032"/>
          </a:xfrm>
          <a:prstGeom prst="ellipse">
            <a:avLst/>
          </a:prstGeom>
          <a:solidFill>
            <a:srgbClr val="2E8B57"/>
          </a:solidFill>
          <a:ln w="12700">
            <a:solidFill>
              <a:srgbClr val="2E8B57"/>
            </a:solidFill>
            <a:prstDash val="solid"/>
          </a:ln>
        </p:spPr>
      </p:sp>
      <p:sp>
        <p:nvSpPr>
          <p:cNvPr id="92" name="Text 89"/>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93" name="Text 90"/>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السَّتَائِرُ زَرْقَاءُ وَمُخَطَّطَةٌ.</a:t>
            </a:r>
            <a:endParaRPr lang="ar-SA" sz="1700" dirty="0"/>
          </a:p>
        </p:txBody>
      </p:sp>
      <p:sp>
        <p:nvSpPr>
          <p:cNvPr id="94" name="Text 91"/>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non-human plural normally takes feminine singular adjective agreement.</a:t>
            </a:r>
            <a:endParaRPr lang="en-US" sz="1050" dirty="0"/>
          </a:p>
        </p:txBody>
      </p:sp>
      <p:sp>
        <p:nvSpPr>
          <p:cNvPr id="95" name="Shape 9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Shape 9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7" name="Text 9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8" name="Text 9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Read the WHOLE sentence.</a:t>
            </a:r>
            <a:endParaRPr lang="en-US" sz="1250" dirty="0"/>
          </a:p>
          <a:p>
            <a:pPr algn="l" indent="0" marL="0">
              <a:buNone/>
            </a:pPr>
            <a:r>
              <a:rPr lang="en-US" sz="1250" dirty="0">
                <a:solidFill>
                  <a:srgbClr val="1E6B52"/>
                </a:solidFill>
                <a:latin typeface="Calibri" pitchFamily="34" charset="0"/>
                <a:cs typeface="Amiri" pitchFamily="2" charset="-78"/>
              </a:rPr>
              <a:t>Name the system.</a:t>
            </a:r>
            <a:endParaRPr lang="en-US" sz="1250" dirty="0"/>
          </a:p>
          <a:p>
            <a:pPr algn="l" indent="0" marL="0">
              <a:buNone/>
            </a:pPr>
            <a:r>
              <a:rPr lang="en-US" sz="1250" dirty="0">
                <a:solidFill>
                  <a:srgbClr val="1E6B52"/>
                </a:solidFill>
                <a:latin typeface="Calibri" pitchFamily="34" charset="0"/>
                <a:cs typeface="Amiri" pitchFamily="2" charset="-78"/>
              </a:rPr>
              <a:t>Then choose the repair.</a:t>
            </a:r>
            <a:endParaRPr lang="en-US" sz="125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السَّتَائِرُ أَزْرَقُ.</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Curtains: which agreement?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أَسْكُنُ فِي شَقَّةٍ الكَبِيرَةِ.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Definite or not?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اِسْمُهُ أُمِّي كَرِيمَةٌ.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Whose name?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السَّتَائِرُ أَزْرَقُ.</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السَّتَائِرُ زَرْقَاءُ.</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non-human plural takes feminine singular agreement.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أَسْكُنُ فِي شَقَّةٍ الكَبِيرَةِ.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أَسْكُنُ فِي شَقَّةٍ كَبِيرَةٍ.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Noun and adjective match: both without al-.</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اِسْمُهُ أُمِّي كَرِيمَةٌ.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اِسْمُ أُمِّي كَرِيمَةٌ.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My mother’s name = ismu ummī.</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Rania’s family-and-home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lives with Rania?</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parents and younger brother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grandmother only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older sisters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rooms are in the flat?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Six</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favourite room?</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kitchen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bedroom</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living room</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rug?</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front of the sofa</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Behind the television</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Under the window</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places are near the home?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school and bank</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library and public park</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station and hospital</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Seven headings: family · home · room · objects · place · routine · opinion.</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2" charset="-78"/>
                <a:cs typeface="Amiri" pitchFamily="2" charset="-78"/>
              </a:rPr>
              <a:t>اِسْمِي رَانِيَا، وَأَعِيشُ مَعَ أَبِي وَأُمِّي وَأَخِي الصَّغِيرِ. أَسْكُنُ فِي شَقَّةٍ مُتَوَسِّطَةِ الحَجْمِ فِي حَيٍّ هَادِئٍ.</a:t>
            </a:r>
            <a:endParaRPr lang="ar-SA" sz="16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name is Rania; I live with my father, mother and younger brother, in a medium-sized flat in a quiet area.</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شَقَّتِنَا أَرْبَعُ غُرَفٍ، وَغُرْفَتِي المُفَضَّلَةُ غُرْفَةُ الجُلُوسِ لِأَنَّهَا مُضِيئَةٌ وَمُرِيحَةٌ.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Our flat has four rooms; my favourite is the living room because it is bright and comfortable.</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فِيهَا أَرِيكَةٌ زَرْقَاءُ وَتِلْفَازٌ كَبِيرٌ، وَالسَّجَّادَةُ أَمَامَ الأَرِيكَةِ.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has a blue sofa and a big TV, and the rug is in front of the sofa.</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بَيْتُنَا قَرِيبٌ مِنْ مَكْتَبَةٍ وَحَدِيقَةٍ عَامَّةٍ، وَلَكِنَّهُ بَعِيدٌ عَنِ المَدْرَسَةِ.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Our home is near a library and a public park, but it is far from the school.</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600" b="1" dirty="0">
                <a:solidFill>
                  <a:srgbClr val="1B3B6F"/>
                </a:solidFill>
                <a:latin typeface="Amiri" pitchFamily="2" charset="-78"/>
                <a:cs typeface="Amiri" pitchFamily="2" charset="-78"/>
              </a:rPr>
              <a:t>فِي المَسَاءِ أَدْرُسُ أَوَّلًا، ثُمَّ أَجْلِسُ مَعَ عَائِلَتِي. أُحِبُّ بَيْتِي لِأَنَّهُ هَادِئٌ وَقَرِيبٌ مِنْ أَمَاكِنَ مُفِيدَةٍ.</a:t>
            </a:r>
            <a:endParaRPr lang="ar-SA" sz="16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evening I study first, then sit with my family. I love my home because it is quiet and near useful places.</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lives with Rania?</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Her parents and younger brother</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grandmother only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 older sisters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أَبِي وَأُمِّي وَأَخِي الصَّغِيرِ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rooms are in the flat?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Six</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Four</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cs typeface="Amiri" pitchFamily="2" charset="-78"/>
              </a:rPr>
              <a:t>فِي شَقَّتِنَا أَرْبَعُ غُرَفٍ</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her favourite room?</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kitchen</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bedroom</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living room</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Her favourite room is </a:t>
            </a:r>
            <a:pPr algn="l" indent="0" marL="0">
              <a:buNone/>
            </a:pPr>
            <a:r>
              <a:rPr lang="ar-SA" altLang="en-US" sz="1350" dirty="0">
                <a:solidFill>
                  <a:srgbClr val="8A6D1E"/>
                </a:solidFill>
                <a:latin typeface="Amiri" pitchFamily="2" charset="-78"/>
                <a:cs typeface="Amiri" pitchFamily="2" charset="-78"/>
              </a:rPr>
              <a:t>غُرْفَةُ الجُلُوسِ</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the rug?</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front of the sofa</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Behind the television</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Under the window</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السَّجَّادَةُ أَمَامَ الأَرِيكَةِ.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places are near the home?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school and bank</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library and public park</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station and hospital</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flat is near </a:t>
            </a:r>
            <a:pPr algn="l" indent="0" marL="0">
              <a:buNone/>
            </a:pPr>
            <a:r>
              <a:rPr lang="ar-SA" altLang="en-US" sz="1350" dirty="0">
                <a:solidFill>
                  <a:srgbClr val="8A6D1E"/>
                </a:solidFill>
                <a:latin typeface="Amiri" pitchFamily="2" charset="-78"/>
                <a:cs typeface="Amiri" pitchFamily="2" charset="-78"/>
              </a:rPr>
              <a:t>مَكْتَبَةٍ وَحَدِيقَةٍ عَامَّةٍ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Seven headings: family · home · room · objects · place · routine · opinion.</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PROFILE A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Samir’s review notes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المَلَفُّ (أ) · سَمِيرٌ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أَعِيشُ مَعَ أُمِّي وَأَبِي وَأُخْتَيْنِ فِي بَيْتٍ مِنْ طَابِقَيْنِ.</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Parents + two sisters · a two-storey house</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أَبِي طَوِيلٌ وَهَادِئٌ، وَأُمِّي لَطِيفَةٌ وَمُتَعَاوِنَةٌ.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Father: tall, quiet · mother: kind, helpful</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الطَّابِقِ الأَرْضِيِّ مَطْبَخٌ وَغُرْفَةُ جُلُوسٍ وَاسِعَةٌ.</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Ground floor: kitchen + spacious living room</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أَمَّا غُرْفَتِي فَفِي الطَّابِقِ الأَوَّلِ، وَمَكْتَبِي بِجَانِبِ النَّافِذَةِ.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room: first floor · desk next to the window</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أَسْتَخْدِمُ الحَاسُوبَ لِلدِّرَاسَةِ، ثُمَّ أَلْعَبُ مَعَ أُخْتَيَّ فِي الحَدِيقَةِ. بَيْتُنَا قَرِيبٌ مِنْ مَلْعَبٍ وَلَكِنَّهُ بَعِيدٌ عَنِ المَحَطَّةِ.</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Computer for study, then garden · near a pitch, far from the station</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PROFILE B (WEBSITE)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Huda’s review notes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المَلَفُّ (ب) · هُدَى</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7" name="Shape 14"/>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8" name="Text 15"/>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أَسْكُنُ فِي شَقَّةٍ صَغِيرَةٍ مَعَ وَالِدَتِي وَجَدَّتِي.</a:t>
            </a:r>
            <a:endParaRPr lang="ar-SA" sz="2000" dirty="0"/>
          </a:p>
        </p:txBody>
      </p:sp>
      <p:sp>
        <p:nvSpPr>
          <p:cNvPr id="19" name="Text 16"/>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small flat · with mother + grandmother</a:t>
            </a:r>
            <a:endParaRPr lang="en-US" sz="1250" dirty="0"/>
          </a:p>
        </p:txBody>
      </p:sp>
      <p:sp>
        <p:nvSpPr>
          <p:cNvPr id="20" name="Shape 17"/>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21" name="Text 18"/>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جَدَّتِي كَرِيمَةٌ وَمُضْحِكَةٌ، وَهِيَ تُحِبُّ القِرَاءَةَ.</a:t>
            </a:r>
            <a:endParaRPr lang="ar-SA" sz="2000" dirty="0"/>
          </a:p>
        </p:txBody>
      </p:sp>
      <p:sp>
        <p:nvSpPr>
          <p:cNvPr id="22" name="Text 19"/>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Grandmother: generous, funny, loves reading</a:t>
            </a:r>
            <a:endParaRPr lang="en-US" sz="1250" dirty="0"/>
          </a:p>
        </p:txBody>
      </p:sp>
      <p:sp>
        <p:nvSpPr>
          <p:cNvPr id="23" name="Shape 20"/>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4" name="Text 21"/>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شَقَّتِنَا غُرْفَتَانِ وَمَطْبَخٌ وَحَمَّامٌ.</a:t>
            </a:r>
            <a:endParaRPr lang="ar-SA" sz="2000" dirty="0"/>
          </a:p>
        </p:txBody>
      </p:sp>
      <p:sp>
        <p:nvSpPr>
          <p:cNvPr id="25" name="Text 22"/>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rooms + kitchen + bathroom</a:t>
            </a:r>
            <a:endParaRPr lang="en-US" sz="1250" dirty="0"/>
          </a:p>
        </p:txBody>
      </p:sp>
      <p:sp>
        <p:nvSpPr>
          <p:cNvPr id="26" name="Shape 23"/>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7" name="Text 24"/>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غُرْفَةُ النَّوْمِ وَرْدِيَّةٌ وَمُرَتَّبَةٌ، وَفِيهَا سَرِيرَانِ وَخِزَانَةٌ بَيْضَاءُ.</a:t>
            </a:r>
            <a:endParaRPr lang="ar-SA" sz="2000" dirty="0"/>
          </a:p>
        </p:txBody>
      </p:sp>
      <p:sp>
        <p:nvSpPr>
          <p:cNvPr id="28" name="Text 25"/>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Bedroom: pink, tidy · two beds · white wardrobe</a:t>
            </a:r>
            <a:endParaRPr lang="en-US" sz="1250" dirty="0"/>
          </a:p>
        </p:txBody>
      </p:sp>
      <p:sp>
        <p:nvSpPr>
          <p:cNvPr id="29" name="Shape 26"/>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30" name="Text 27"/>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الشَّقَّةُ مُقَابِلَ مَكْتَبَةٍ وَبِجَانِبِ صَيْدَلِيَّةٍ. فِي نِهَايَةِ الأُسْبُوعِ نَذْهَبُ إِلَى الحَدِيقَةِ العَامَّةِ، وَأَحْيَانًا نَزُورُ خَالَتِي.</a:t>
            </a:r>
            <a:endParaRPr lang="ar-SA" sz="1550" dirty="0"/>
          </a:p>
        </p:txBody>
      </p:sp>
      <p:sp>
        <p:nvSpPr>
          <p:cNvPr id="31" name="Text 28"/>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Opposite a library, next to a pharmacy · weekend: park, sometimes visit aunt</a:t>
            </a:r>
            <a:endParaRPr lang="en-US" sz="1250" dirty="0"/>
          </a:p>
        </p:txBody>
      </p:sp>
      <p:sp>
        <p:nvSpPr>
          <p:cNvPr id="32" name="Text 2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QUESTIONS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Samir or Huda?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relative is described as quiet?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Samir’s mother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Huda’s grandmother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Samir’s father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Samir’s desk?</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Next to the window</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Under the bed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Between two chairs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place is far from Samir’s home?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sports ground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station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garden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Huda’s bedroom?</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Pink</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Blue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White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place is opposite Huda’s flat?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pharmacy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public park</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library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Locate the exact phrase</a:t>
            </a:r>
            <a:endParaRPr lang="en-US" sz="1250" dirty="0"/>
          </a:p>
          <a:p>
            <a:pPr algn="l" indent="0" marL="0">
              <a:buNone/>
            </a:pPr>
            <a:r>
              <a:rPr lang="en-US" sz="1250" dirty="0">
                <a:solidFill>
                  <a:srgbClr val="1F2A37"/>
                </a:solidFill>
                <a:latin typeface="Calibri" pitchFamily="34" charset="0"/>
                <a:cs typeface="Amiri" pitchFamily="2" charset="-78"/>
              </a:rPr>
              <a:t>before you choose.</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relative is described as quiet?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Samir’s mother</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Huda’s grandmother</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Samir’s father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أَبِي طَوِيلٌ وَهَادِئٌ.</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is Samir’s desk?</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Next to the window</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Under the bed</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Between two chairs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مَكْتَبِي بِجَانِبِ النَّافِذَةِ.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place is far from Samir’s home?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sports ground</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station</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garden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is </a:t>
            </a:r>
            <a:pPr algn="l" indent="0" marL="0">
              <a:buNone/>
            </a:pPr>
            <a:r>
              <a:rPr lang="ar-SA" altLang="en-US" sz="1350" dirty="0">
                <a:solidFill>
                  <a:srgbClr val="8A6D1E"/>
                </a:solidFill>
                <a:latin typeface="Amiri" pitchFamily="2" charset="-78"/>
                <a:cs typeface="Amiri" pitchFamily="2" charset="-78"/>
              </a:rPr>
              <a:t>بَعِيدٌ عَنِ المَحَطَّةِ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colour is Huda’s bedroom?</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Pink</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Blue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White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غُرْفَةُ النَّوْمِ وَرْدِيَّةٌ.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place is opposite Huda’s flat?</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pharmacy</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public park</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library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الشَّقَّةُ مُقَابِلَ مَكْتَبَةٍ.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Locate the exact phrase</a:t>
            </a:r>
            <a:endParaRPr lang="en-US" sz="1250" dirty="0"/>
          </a:p>
          <a:p>
            <a:pPr algn="l" indent="0" marL="0">
              <a:buNone/>
            </a:pPr>
            <a:r>
              <a:rPr lang="en-US" sz="1250" dirty="0">
                <a:solidFill>
                  <a:srgbClr val="1F2A37"/>
                </a:solidFill>
                <a:latin typeface="Calibri" pitchFamily="34" charset="0"/>
                <a:cs typeface="Amiri" pitchFamily="2" charset="-78"/>
              </a:rPr>
              <a:t>before you choose.</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Topic-conversation preparation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بَيْتَكَ. / صِفِي بَيْتَكِ.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هِيَ غُرْفَتُكَ المُفَضَّلَةُ؟ وَلِمَاذَا؟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صِفْ عَائِلَتَكَ. / صِفِي عَائِلَتَكِ.</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تُحِبُّ حَيَّكَ؟ وَلِمَاذَا؟ مَاذَا يُوجَدُ بِجَانِبِ بَيْتِكَ؟</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أَسْكُنُ فِي ___ . فِيهِ / فِيهَا ___ غُرَفٍ.</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غُرْفَتِي المُفَضَّلَةُ ___ لِأَنَّهَا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أَعِيشُ مَعَ ___ . أَمَّا ___ فَـ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400" b="1" dirty="0">
                <a:solidFill>
                  <a:srgbClr val="1F2A37"/>
                </a:solidFill>
                <a:latin typeface="Amiri" pitchFamily="2" charset="-78"/>
                <a:cs typeface="Amiri" pitchFamily="2" charset="-78"/>
              </a:rPr>
              <a:t>بَيْتِي قَرِيبٌ مِنْ ___ ، وَلَكِنَّهُ بَعِيدٌ عَنْ ___ .</a:t>
            </a:r>
            <a:endParaRPr lang="ar-SA" sz="14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هَلْ تُحِبُّ حَيَّكَ؟ وَلِمَاذَا؟</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Do you like your neighbourhood? Why?</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نَعَمْ، أُحِبُّ حَيِّي لِأَنَّهُ هَادِئٌ. بَيْتِي قَرِيبٌ مِنْ مَكْتَبَةٍ وَحَدِيقَةٍ عَامَّةٍ.</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Yes, I like my neighbourhood because it is quiet. My home is near a library and a public park.</a:t>
            </a:r>
            <a:endParaRPr lang="en-US" sz="7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3 fixes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Retrieve accurately: essential F3 words in complete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Correct three sentences in your F3-L09 text using the six systems.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3 fixes + notes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Repair precisely: name the reason for each error, then fix it.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Three improvements, each with a note naming the system.</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polished 70–90</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Perform independently: polish the portfolio and set a target.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 new improved version + your one revision priority.</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صَحَّحْتُ خَطَأً فِي المُطَابَقَةِ.</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corrected an agreement error.</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السَّتَائِرُ زَرْقَاءُ وَمُخَطَّطَةٌ.</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curtains are blue and striped.</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أَمَّا غُرْفَتِي فَفِي الطَّابِقِ الأَوَّلِ.</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my room, it is on the first floor.</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 وَلَكِنَّهُ بَعِيدٌ عَنِ المَدْرَسَةِ.</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but it is far from the school.</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هَدَفِي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target is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بَيْتِي تُوجَدُ حَدِيقَةٌ.</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house there is a garden.</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شَقَّتِنَا أَرْبَعُ غُرَفٍ.</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our flat there are four rooms.</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بَيْتِي قَرِيبٌ مِنْ مَكْتَبَةٍ.</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house is near a library.</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اِسْمُ أُمِّي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mother’s name is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أُحِبُّ بَيْتِي لِأَنَّهُ هَادِئٌ.</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love my house because it is quiet.</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يُوجَدُ  ·  تُوجَدُ  ·  ثَلَاثُ غُرَفٍ  ·  اِسْمُهُ  ·  اِسْمُهَا  ·  قَرِيبٌ مِنْ  ·  بَعِيدٌ عَنْ  ·  بِجَانِبِ  ·  لِأَنَّهُ  ·  لِأَنَّهَا  ·  أَمَّا … فَـ  ·  هَدَفِي</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اِسْمِي رَانِيَا، وَأَعِيشُ مَعَ أَبِي وَأُمِّي وَأَخِي الصَّغِيرِ. أَسْكُنُ فِي شَقَّةٍ مُتَوَسِّطَةِ الحَجْمِ فِي حَيٍّ هَادِئٍ. فِي شَقَّتِنَا أَرْبَعُ غُرَفٍ، وَغُرْفَتِي المُفَضَّلَةُ غُرْفَةُ الجُلُوسِ لِأَنَّهَا مُضِيئَةٌ وَمُرِيحَةٌ. فِيهَا أَرِيكَةٌ زَرْقَاءُ وَتِلْفَازٌ كَبِيرٌ. بَيْتُنَا قَرِيبٌ مِنْ مَكْتَبَةٍ، وَلَكِنَّهُ بَعِيدٌ عَنِ المَدْرَسَةِ. فِي المَسَاءِ أَدْرُسُ أَوَّلًا، ثُمَّ أَجْلِسُ مَعَ عَائِلَتِي. أُحِبُّ بَيْتِي لِأَنَّهُ هَادِئٌ.</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name is Rania and I live with my father, my mother and my younger brother. I live in a medium-sized flat in a quiet neighbourhood. Our flat has four rooms, and my favourite room is the living room because it is bright and comfortable. In it there is a blue sofa and a big TV. Our home is near a library, but it is far from the school. In the evening I study first, then I sit with my family. I love my home because it is quiet.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family</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home + room</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near / far</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reasons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Vocabulary: I retrieved before checking the vault.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Grammar: I can name the six systems.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Listening / reading: I found exact evidence.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Speaking: direct answer + detail + reason.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Writing: three visible improvements + my priority.</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existence sentence.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بَيْتِي تُوجَدُ حَدِيقَةٌ.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بَيْتِي يُوجَدُ حَدِيقَةٌ.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بَيْتِي تَجِدُ حَدِيقَةٌ.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أُحِبُّ غُرْفَتِي...</a:t>
            </a:r>
            <a:endParaRPr lang="ar-SA" sz="220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 هَادِئٌ</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لِأَنَّهَا هَادِئَةٌ</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لِأَنَّنِي هَادِئٌ</a:t>
            </a:r>
            <a:endParaRPr lang="ar-SA" sz="2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location phrase is complete?</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بَعِيدٌ عَنِ المَدْرَسَةِ</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بَعِيدٌ مِنَ المَدْرَسَةِ</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بَعِيدٌ فِي المَدْرَسَةِ</a:t>
            </a:r>
            <a:endParaRPr lang="ar-SA" sz="2050" dirty="0"/>
          </a:p>
        </p:txBody>
      </p:sp>
      <p:sp>
        <p:nvSpPr>
          <p:cNvPr id="55" name="Shape 52"/>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7" name="Text 54"/>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existence sentence.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فِي بَيْتِي تُوجَدُ حَدِيقَةٌ.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فِي بَيْتِي يُوجَدُ حَدِيقَةٌ.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فِي بَيْتِي تَجِدُ حَدِيقَةٌ.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تُوجَدُ</a:t>
            </a:r>
            <a:pPr algn="l" indent="0" marL="0">
              <a:buNone/>
            </a:pPr>
            <a:r>
              <a:rPr lang="en-US" sz="1050" i="1" dirty="0">
                <a:solidFill>
                  <a:srgbClr val="8A6D1E"/>
                </a:solidFill>
                <a:latin typeface="Calibri" pitchFamily="34" charset="0"/>
                <a:cs typeface="Amiri" pitchFamily="2" charset="-78"/>
              </a:rPr>
              <a:t> agrees with feminine </a:t>
            </a:r>
            <a:pPr algn="l" indent="0" marL="0">
              <a:buNone/>
            </a:pPr>
            <a:r>
              <a:rPr lang="ar-SA" altLang="en-US" sz="1350" dirty="0">
                <a:solidFill>
                  <a:srgbClr val="8A6D1E"/>
                </a:solidFill>
                <a:latin typeface="Amiri" pitchFamily="2" charset="-78"/>
                <a:cs typeface="Amiri" pitchFamily="2" charset="-78"/>
              </a:rPr>
              <a:t>حَدِيقَةٌ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cs typeface="Amiri" pitchFamily="2" charset="-78"/>
              </a:rPr>
              <a:t>أُحِبُّ غُرْفَتِي...</a:t>
            </a:r>
            <a:endParaRPr lang="ar-SA" sz="2200" dirty="0"/>
          </a:p>
        </p:txBody>
      </p:sp>
      <p:sp>
        <p:nvSpPr>
          <p:cNvPr id="35" name="Shape 32"/>
          <p:cNvSpPr/>
          <p:nvPr/>
        </p:nvSpPr>
        <p:spPr>
          <a:xfrm>
            <a:off x="4459224" y="25328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لِأَنَّهُ هَادِئٌ</a:t>
            </a:r>
            <a:endParaRPr lang="ar-SA" sz="2050" dirty="0"/>
          </a:p>
        </p:txBody>
      </p:sp>
      <p:sp>
        <p:nvSpPr>
          <p:cNvPr id="38" name="Shape 35"/>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90088"/>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لِأَنَّهَا هَادِئَةٌ</a:t>
            </a:r>
            <a:endParaRPr lang="ar-SA" sz="2050" dirty="0"/>
          </a:p>
        </p:txBody>
      </p:sp>
      <p:sp>
        <p:nvSpPr>
          <p:cNvPr id="42" name="Shape 39"/>
          <p:cNvSpPr/>
          <p:nvPr/>
        </p:nvSpPr>
        <p:spPr>
          <a:xfrm>
            <a:off x="4459224" y="344728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لِأَنَّنِي هَادِئٌ</a:t>
            </a:r>
            <a:endParaRPr lang="ar-SA" sz="2050" dirty="0"/>
          </a:p>
        </p:txBody>
      </p:sp>
      <p:sp>
        <p:nvSpPr>
          <p:cNvPr id="45" name="Text 42"/>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reason pronoun and adjective agree with feminine </a:t>
            </a:r>
            <a:pPr algn="l" indent="0" marL="0">
              <a:buNone/>
            </a:pPr>
            <a:r>
              <a:rPr lang="ar-SA" altLang="en-US" sz="1350" dirty="0">
                <a:solidFill>
                  <a:srgbClr val="8A6D1E"/>
                </a:solidFill>
                <a:latin typeface="Amiri" pitchFamily="2" charset="-78"/>
                <a:cs typeface="Amiri" pitchFamily="2" charset="-78"/>
              </a:rPr>
              <a:t>غُرْفَةٌ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3"/>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location phrase is complete?</a:t>
            </a:r>
            <a:endParaRPr lang="en-US" sz="1250" dirty="0"/>
          </a:p>
        </p:txBody>
      </p:sp>
      <p:sp>
        <p:nvSpPr>
          <p:cNvPr id="50" name="Shape 47"/>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532888"/>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بَعِيدٌ عَنِ المَدْرَسَةِ</a:t>
            </a:r>
            <a:endParaRPr lang="ar-SA" sz="2050" dirty="0"/>
          </a:p>
        </p:txBody>
      </p:sp>
      <p:sp>
        <p:nvSpPr>
          <p:cNvPr id="54" name="Shape 51"/>
          <p:cNvSpPr/>
          <p:nvPr/>
        </p:nvSpPr>
        <p:spPr>
          <a:xfrm>
            <a:off x="8278368" y="2990088"/>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3"/>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بَعِيدٌ مِنَ المَدْرَسَةِ</a:t>
            </a:r>
            <a:endParaRPr lang="ar-SA" sz="2050" dirty="0"/>
          </a:p>
        </p:txBody>
      </p:sp>
      <p:sp>
        <p:nvSpPr>
          <p:cNvPr id="57" name="Shape 54"/>
          <p:cNvSpPr/>
          <p:nvPr/>
        </p:nvSpPr>
        <p:spPr>
          <a:xfrm>
            <a:off x="8278368" y="344728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بَعِيدٌ فِي المَدْرَسَةِ</a:t>
            </a:r>
            <a:endParaRPr lang="ar-SA" sz="2050" dirty="0"/>
          </a:p>
        </p:txBody>
      </p:sp>
      <p:sp>
        <p:nvSpPr>
          <p:cNvPr id="60" name="Text 57"/>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بَعِيدٌ</a:t>
            </a:r>
            <a:pPr algn="l" indent="0" marL="0">
              <a:buNone/>
            </a:pPr>
            <a:r>
              <a:rPr lang="en-US" sz="1050" i="1" dirty="0">
                <a:solidFill>
                  <a:srgbClr val="8A6D1E"/>
                </a:solidFill>
                <a:latin typeface="Calibri" pitchFamily="34" charset="0"/>
                <a:cs typeface="Amiri" pitchFamily="2" charset="-78"/>
              </a:rPr>
              <a:t> is followed by </a:t>
            </a:r>
            <a:pPr algn="l" indent="0" marL="0">
              <a:buNone/>
            </a:pPr>
            <a:r>
              <a:rPr lang="ar-SA" altLang="en-US" sz="1350" dirty="0">
                <a:solidFill>
                  <a:srgbClr val="8A6D1E"/>
                </a:solidFill>
                <a:latin typeface="Amiri" pitchFamily="2" charset="-78"/>
                <a:cs typeface="Amiri" pitchFamily="2" charset="-78"/>
              </a:rPr>
              <a:t>عَنْ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8"/>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2" name="Text 59"/>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3" name="Text 60"/>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F3-L11 · F3 Review</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F3-L12: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F3 · My Family &amp; Home · F3-L11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F3-L12 · Unit Assessment: My Family and Home</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تَقْيِيمٌ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assessment</a:t>
            </a:r>
            <a:pPr indent="0" marL="0">
              <a:buNone/>
            </a:pPr>
            <a:r>
              <a:rPr lang="en-US" sz="1000" i="1" dirty="0">
                <a:solidFill>
                  <a:srgbClr val="5A6472"/>
                </a:solidFill>
                <a:latin typeface="Calibri" pitchFamily="34" charset="0"/>
                <a:cs typeface="Amiri" pitchFamily="2" charset="-78"/>
              </a:rPr>
              <a:t>  pl. تَقْيِيمَاتٌ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إِنْجَازٌ</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achievement</a:t>
            </a:r>
            <a:pPr indent="0" marL="0">
              <a:buNone/>
            </a:pPr>
            <a:r>
              <a:rPr lang="en-US" sz="1000" i="1" dirty="0">
                <a:solidFill>
                  <a:srgbClr val="5A6472"/>
                </a:solidFill>
                <a:latin typeface="Calibri" pitchFamily="34" charset="0"/>
                <a:cs typeface="Amiri" pitchFamily="2" charset="-78"/>
              </a:rPr>
              <a:t>  pl. إِنْجَازَاتٌ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تَقَدُّمٌ</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progress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ثِقَةٌ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confidence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نَتِيجَةٌ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result</a:t>
            </a:r>
            <a:pPr indent="0" marL="0">
              <a:buNone/>
            </a:pPr>
            <a:r>
              <a:rPr lang="en-US" sz="1000" i="1" dirty="0">
                <a:solidFill>
                  <a:srgbClr val="5A6472"/>
                </a:solidFill>
                <a:latin typeface="Calibri" pitchFamily="34" charset="0"/>
                <a:cs typeface="Amiri" pitchFamily="2" charset="-78"/>
              </a:rPr>
              <a:t>  pl. نَتَائِجُ</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skill is your priority before the assessment — and what will you practise?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مَا مَهَارَتُكَ الأَضْعَفُ؟</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F3-L11: the vocabulary self-test (15) and the Error Detective (12).</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vocabulary map: seven branches, five words and one sentence each.</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Finish the portfolio polish and complete the readiness dashboard with evidence.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F3-L11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00" b="1" dirty="0">
                <a:solidFill>
                  <a:srgbClr val="FFFFFF"/>
                </a:solidFill>
                <a:latin typeface="Cambria" pitchFamily="34" charset="0"/>
                <a:cs typeface="Amiri" pitchFamily="2" charset="-78"/>
              </a:rPr>
              <a:t>F3-L12 · Unit Assessment: My Family and Home</a:t>
            </a:r>
            <a:endParaRPr lang="en-US" sz="21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تَقْيِيمُ الوَحْدَةِ — عَائِلَتِي وَبَيْتِي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retrieve → repair → rehearse → refine · practise your lowest-evidence skill.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F3-L11 · F3 Consolidation — Integrated Skills Review</dc:title>
  <dc:subject>PptxGenJS Presentation</dc:subject>
  <dc:creator>Al Madina Online School · Arabic Department</dc:creator>
  <cp:lastModifiedBy>Al Madina Online School · Arabic Department</cp:lastModifiedBy>
  <cp:revision>1</cp:revision>
  <dcterms:created xsi:type="dcterms:W3CDTF">2026-10-11T06:41:35Z</dcterms:created>
  <dcterms:modified xsi:type="dcterms:W3CDTF">2026-10-11T06:41:35Z</dcterms:modified>
</cp:coreProperties>
</file>