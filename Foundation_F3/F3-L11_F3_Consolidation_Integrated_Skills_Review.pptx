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11 (F3-L11). Website sections used: the F3 review pathway (retrieve · repair · rehearse · refine) and the three routes, the complete F3 language vault, the fifteen-word vocabulary self-test, the grammar repair laboratory (agreement, existence, possession, counting, location, reason) and the twelve-round Error Detective, Rania’s profile (listening, 10), Samir’s and Huda’s review notes (reading, 12), topic-conversation preparation (5 questions, 2-minute timer), portfolio polish, the F3 vocabulary map, the assessment-readiness dashboard and the 16-question final checkpoint. Picture match: website visual game (family scene).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REVIEW lesson: no new language. Use the website language vault “after your first attempt” — open only the category needed, then close it and retrieve again.
• Core: retrieve accurately (vocabulary self-test, complete sentences). Develop: repair precisely (name the system, then fix). Stretch: perform independently (topic conversation, portfolio polish, a targeted priority).
• Website readiness dashboard: “rate the evidence, not your mood” — students choose ONE priority skill for the final review before F3-L12.
• Multi-session: the vocabulary map (website section 9) and the portfolio polish can be finished at home.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review words prepared at home at the end of F3-L10. Questions 3–5 come from the website “fifteen-word vocabulary self-test” (grandmother, blue (f.), chairs).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Retrieve first, then check the vault. Every error belongs to a system — name it, then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review pathway (left) and the website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خطا، تصحیح and ہدف are shared words; مُرَاجَعَةٌ shares the root of رجوع (to return); تَقْيِيمٌ shares the root of قیمت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RETRIEVE FIRST (website): students cover the English, say each item, then check. Full website vault: family and relationships (22), people (22). Useful review items: أَخِي الأَكْبَرُ / أُخْتِي الكُبْرَى, تَوْأَمٌ / تَوْأَمَانِ, اِبْنُ عَمٍّ / بِنْتُ عَمٍّ.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RETRIEVE FIRST. Website vault: home, rooms and building parts (24), furniture and bedroom details (23), colours and room qualities, neighbourhood and location, appliances, actions and routines. Website F3 vocabulary map: البَيْتُ وَالعَائِلَةُ in the centre with seven branches — family, rooms, furniture, colours, neighbourhood, appliances, actions (five words + one sentence per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REPAIR — website section 4 “Grammar repair laboratory” (six systems). Develop students must NAME the system before repairing (“This is an agreement error because …”).
Extra review point from the Error Detective: a non-human plural takes feminine singular agreement — السَّتَائِرُ زَرْقَاءُ وَمُخَطَّطَةٌ; noun and adjective match in definiteness — شَقَّةٍ كَبِيرَةٍ.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REHEARSE — strategies taken from the website final checkpoint: best first listening strategy (main idea before every word), best reading habit (locate the exact supporting phrase), a cue card contains keywords and short phrases, a strong speaking answer begins with a direct relevant response, a useful portfolio improvement corrects one repeated agreement error, and the best record of progress is original draft + feedback + improved version.
Best final revision choice (website): practise the lowest-evidence skill, then recheck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vocabulary self-test questions 5, 7, 9 and 13.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“portfolio polish”: keep the original, make three deliberate improvements and write the reason for each (existence · detail · reason). Students then do the same to their F3-L09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Review extension: add one description to each (هٰذِهِ جَدَّتِي. هِيَ كَرِيمَةٌ وَمُضْحِكَةٌ).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Family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(family). Review extension: add one description to each (هٰذِهِ جَدَّتِي. هِيَ كَرِيمَةٌ وَمُضْحِكَةٌ).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Error Detective rounds (agreement, existence, counting, reason, non-human plural).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 before revealing, a student names the system (agreement / existence / counting /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رَانِيَا، وَأَعِيشُ مَعَ أَبِي وَأُمِّي وَأَخِي الصَّغِيرِ. أَسْكُنُ فِي شَقَّةٍ مُتَوَسِّطَةِ الحَجْمِ فِي حَيٍّ هَادِئٍ. فِي شَقَّتِنَا أَرْبَعُ غُرَفٍ، وَغُرْفَتِي المُفَضَّلَةُ غُرْفَةُ الجُلُوسِ لِأَنَّهَا مُضِيئَةٌ وَمُرِيحَةٌ. فِيهَا أَرِيكَةٌ زَرْقَاءُ وَتِلْفَازٌ كَبِيرٌ، وَالسَّجَّادَةُ أَمَامَ الأَرِيكَةِ. بَيْتُنَا قَرِيبٌ مِنْ مَكْتَبَةٍ وَحَدِيقَةٍ عَامَّةٍ، وَلَكِنَّهُ بَعِيدٌ عَنِ المَدْرَسَةِ. فِي المَسَاءِ أَدْرُسُ أَوَّلًا، ثُمَّ أَجْلِسُ مَعَ عَائِلَتِي. أُحِبُّ بَيْتِي لِأَنَّهُ هَادِئٌ وَقَرِيبٌ مِنْ أَمَاكِنَ مُفِيدَةٍ.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The text combines F3-L01 (family), L02 (description), L03 (floors, rooms), L06 (appliance for a purpose), L07 (near / far) and L08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Stretch: compare A and B — house vs flat, big vs small family, near / far. Duals to notice: غُرْفَتَانِ، سَرِيرَانِ، أُخْتَيْنِ.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6, 9 and 11 (9 and 11 are Profile B).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TOPIC-CONVERSATION PREPARATION (5 questions, 2-minute timer): prepare keywords, not a full script — a direct answer followed by one or two relevant details. The five website questions are exactly the four prompts above (the Stretch card joins questions 4 and 5).
This rehearses the F3-L12 speaking section (five family-and-home questions,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Retrieve accurately: essential F3 words in complete sentences. · Develop — Repair precisely: name the reason for each error, then fix it. · Stretch — Perform independently: polish the portfolio and set a target.
Website writing task (Stretch): Website portfolio polish: return to your F3-L09 text (or write a fresh 70–90-word family-and-home paragraph) and make at least three deliberate improvements. Keep the original so you can see what changed.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listening profile (Rania) used as the polished model — every one of the six systems appears.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(F3-L12 · Unit Assessment: My Family and Home) will spend class time USING this language, so students prepare it tonight — short, simple, easy to access (school guidance: “Simple, Short, Interesting, Relevant, Easy to access”). Four of the five words come from the website F3-L12 “assessment vocabulary” (نَتِيجَةٌ is teacher-added).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F3 Consolidation — Integrated Skills Review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الوَحْدَةِ الثَّالِثَةِ — المَهَارَاتُ المُتَكَامِلَةُ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Retrieve, repair, rehearse and refine: secure the key F3 words and grammar decisions, practise all four skills and set one precise revision priority before the assessment.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F3-L11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Retrieve the key words, then six grammar systems.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Error Detective, Rania’s profile, Samir and Huda’s notes.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خَطَأٌ</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target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mistake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target / goal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correction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word means ‘grandmother’?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زَوْجَةٌ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form of blue.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plural means ‘chairs’?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خَزَائِنُ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خَطَأٌ</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target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mistake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target / goal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correction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word means ‘grandmother’?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زَوْجَةٌ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جَدَّةٌ</a:t>
            </a:r>
            <a:pPr algn="l" indent="0" marL="0">
              <a:buNone/>
            </a:pPr>
            <a:r>
              <a:rPr lang="en-US" sz="1050" i="1" dirty="0">
                <a:solidFill>
                  <a:srgbClr val="8A6D1E"/>
                </a:solidFill>
                <a:latin typeface="Calibri" pitchFamily="34" charset="0"/>
                <a:ea typeface="Calibri" pitchFamily="34" charset="-122"/>
                <a:cs typeface="Calibri" pitchFamily="34" charset="-120"/>
              </a:rPr>
              <a:t> means grandmother.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form of blue.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زَرْقَةٌ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زَرْقَاءُ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broken feminine colour form is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plural means ‘chairs’?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كَرَاسِي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خَزَائِنُ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كَرَاسِي</a:t>
            </a:r>
            <a:pPr algn="l" indent="0" marL="0">
              <a:buNone/>
            </a:pPr>
            <a:r>
              <a:rPr lang="en-US" sz="1050" i="1" dirty="0">
                <a:solidFill>
                  <a:srgbClr val="8A6D1E"/>
                </a:solidFill>
                <a:latin typeface="Calibri" pitchFamily="34" charset="0"/>
                <a:ea typeface="Calibri" pitchFamily="34" charset="-122"/>
                <a:cs typeface="Calibri" pitchFamily="34" charset="-120"/>
              </a:rPr>
              <a:t> is the broken plural of </a:t>
            </a:r>
            <a:pPr algn="l" indent="0" marL="0">
              <a:buNone/>
            </a:pPr>
            <a:r>
              <a:rPr lang="ar-SA" altLang="en-US" sz="1350" dirty="0">
                <a:solidFill>
                  <a:srgbClr val="8A6D1E"/>
                </a:solidFill>
                <a:latin typeface="Amiri" pitchFamily="34" charset="0"/>
                <a:ea typeface="Amiri" pitchFamily="34" charset="-122"/>
                <a:cs typeface="Amiri" pitchFamily="34" charset="-120"/>
              </a:rPr>
              <a:t>كُرْسِيٌّ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Retrieve first, then check the vault. Every error belongs to a system — name it, then repair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اِسْتَرْجِعْ · صَحِّحْ · تَدَرَّبْ · حَسِّنْ</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Recall essential F3 words in complete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the exact reason for an error and repair it.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Practise listening, reading and speaking on the whole unit.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Improve a portfolio paragraph and set one revision priority.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F3 words in full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a question with one detail.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the system behind an error.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find exact evidence in a text.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make three portfolio improvements.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choose my revision priority.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The whole F3 unit: family, people, home, furniture, colours, neighbourhood, appliances and routines.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VAULT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Family and people · 44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VAULT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Home, furniture, colours · 70+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VAULT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Neighbourhood and routines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مُرَاجَعَةٌ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‎مراجعت (رجوع)‎ </a:t>
            </a:r>
            <a:pPr indent="0" marL="0">
              <a:buNone/>
            </a:pPr>
            <a:r>
              <a:rPr lang="en-US" sz="950" b="1" dirty="0">
                <a:solidFill>
                  <a:srgbClr val="2E8B57"/>
                </a:solidFill>
                <a:latin typeface="Calibri" pitchFamily="34" charset="0"/>
                <a:ea typeface="Calibri" pitchFamily="34" charset="-122"/>
                <a:cs typeface="Calibri" pitchFamily="34" charset="-120"/>
              </a:rPr>
              <a:t> murāja‘a · review (root: return)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‎خطا‎ </a:t>
            </a:r>
            <a:pPr indent="0" marL="0">
              <a:buNone/>
            </a:pPr>
            <a:r>
              <a:rPr lang="en-US" sz="950" b="1" dirty="0">
                <a:solidFill>
                  <a:srgbClr val="2E8B57"/>
                </a:solidFill>
                <a:latin typeface="Calibri" pitchFamily="34" charset="0"/>
                <a:ea typeface="Calibri" pitchFamily="34" charset="-122"/>
                <a:cs typeface="Calibri" pitchFamily="34" charset="-120"/>
              </a:rPr>
              <a:t> khaṭa’ · mistake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‎تصحیح‎ </a:t>
            </a:r>
            <a:pPr indent="0" marL="0">
              <a:buNone/>
            </a:pPr>
            <a:r>
              <a:rPr lang="en-US" sz="950" b="1" dirty="0">
                <a:solidFill>
                  <a:srgbClr val="2E8B57"/>
                </a:solidFill>
                <a:latin typeface="Calibri" pitchFamily="34" charset="0"/>
                <a:ea typeface="Calibri" pitchFamily="34" charset="-122"/>
                <a:cs typeface="Calibri" pitchFamily="34" charset="-120"/>
              </a:rPr>
              <a:t> taṣḥīḥ · correction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هَدَفٌ</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‎ہدف‎ </a:t>
            </a:r>
            <a:pPr indent="0" marL="0">
              <a:buNone/>
            </a:pPr>
            <a:r>
              <a:rPr lang="en-US" sz="950" b="1" dirty="0">
                <a:solidFill>
                  <a:srgbClr val="2E8B57"/>
                </a:solidFill>
                <a:latin typeface="Calibri" pitchFamily="34" charset="0"/>
                <a:ea typeface="Calibri" pitchFamily="34" charset="-122"/>
                <a:cs typeface="Calibri" pitchFamily="34" charset="-120"/>
              </a:rPr>
              <a:t> hadaf · target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تَقْيِيمٌ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‎قیمت‎ </a:t>
            </a:r>
            <a:pPr indent="0" marL="0">
              <a:buNone/>
            </a:pPr>
            <a:r>
              <a:rPr lang="en-US" sz="950" b="1" dirty="0">
                <a:solidFill>
                  <a:srgbClr val="2E8B57"/>
                </a:solidFill>
                <a:latin typeface="Calibri" pitchFamily="34" charset="0"/>
                <a:ea typeface="Calibri" pitchFamily="34" charset="-122"/>
                <a:cs typeface="Calibri" pitchFamily="34" charset="-120"/>
              </a:rPr>
              <a:t> taqyīm · assessment (root: value)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RETRIEVE · LANGUAGE VAULT · PEOPLE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Family and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العَائِلَةُ وَالصِّفَاتُ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 / جَدَّةٌ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grandfather / grandmother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jadd / jad-da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أَجْدَادٌ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خَالٌ / خَالَةٌ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maternal uncle / aunt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khāl / khā-la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أَخْوَالٌ / خَالَاتٌ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0" name="Shape 3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 / أُخْتٌ</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brother / sister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 / ukht</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إِخْوَةٌ / أَخَوَاتٌ</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لَطِيفٌ</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kind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la-ṭīf</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لَطِيفَةٌ</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لَطِيفٌ</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7" name="Shape 6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9" name="Text 6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a:t>
            </a:r>
            <a:endParaRPr lang="ar-SA" sz="3000" dirty="0"/>
          </a:p>
        </p:txBody>
      </p:sp>
      <p:sp>
        <p:nvSpPr>
          <p:cNvPr id="70" name="Text 6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 / 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mu-ta-‘ā-win</a:t>
            </a:r>
            <a:endParaRPr lang="en-US" sz="1350" dirty="0"/>
          </a:p>
        </p:txBody>
      </p:sp>
      <p:sp>
        <p:nvSpPr>
          <p:cNvPr id="71" name="Shape 68"/>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74" name="Shape 71"/>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6" name="Text 73"/>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0" name="Shape 77"/>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82" name="Shape 7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4" name="Text 8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a:t>
            </a:r>
            <a:endParaRPr lang="ar-SA" sz="3000" dirty="0"/>
          </a:p>
        </p:txBody>
      </p:sp>
      <p:sp>
        <p:nvSpPr>
          <p:cNvPr id="85" name="Text 8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a:t>
            </a:r>
            <a:endParaRPr lang="en-US" sz="1350" dirty="0"/>
          </a:p>
        </p:txBody>
      </p:sp>
      <p:sp>
        <p:nvSpPr>
          <p:cNvPr id="86" name="Shape 83"/>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8" name="Text 85"/>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89" name="Shape 86"/>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1" name="Text 88"/>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RETRIEVE · LANGUAGE VAULT · HOME AND AREA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Home, furniture and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غُرْفَةُ الجُلُوسِ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living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ghur-fat al-ju-lūs</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غُرَفُ الجُلُوسِ</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خِزَانَةٌ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wardrobe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khi-zā-na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خَزَائِنُ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كُرْسِيٌّ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kur-siyy</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كَرَاسِي</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غَسَّالَةُ الصُّحُونِ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dishwasher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ghas-sā-lat aṣ-ṣu-ḥūn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غَسَّالَاتُ الصُّحُونِ</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حَدِيقَةٌ عَامَّةٌ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ḥa-dī-qa ‘ām-ma</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حَدَائِقُ عَامَّةٌ</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4" name="Shape 71"/>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location</a:t>
            </a:r>
            <a:endParaRPr lang="en-US" sz="800" dirty="0"/>
          </a:p>
        </p:txBody>
      </p:sp>
      <p:sp>
        <p:nvSpPr>
          <p:cNvPr id="76" name="Shape 7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قَرِيبٌ مِنْ · بَعِيدٌ عَنْ</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near · far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qa-rīb min · ba-‘īd ‘an</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2" name="Text 79"/>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قَرِيبَةٌ · بَعِيدَةٌ</a:t>
            </a:r>
            <a:endParaRPr lang="ar-SA" sz="15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REPAIR · THE GRAMMAR REPAIR LABORATORY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F3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تَصْحِيحِ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System</a:t>
            </a:r>
            <a:endParaRPr lang="en-US" sz="1100" dirty="0"/>
          </a:p>
        </p:txBody>
      </p:sp>
      <p:sp>
        <p:nvSpPr>
          <p:cNvPr id="17" name="Text 14"/>
          <p:cNvSpPr txBox="1"/>
          <p:nvPr/>
        </p:nvSpPr>
        <p:spPr>
          <a:xfrm>
            <a:off x="3300984"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Accurate models</a:t>
            </a:r>
            <a:endParaRPr lang="en-US" sz="1100" dirty="0"/>
          </a:p>
        </p:txBody>
      </p:sp>
      <p:sp>
        <p:nvSpPr>
          <p:cNvPr id="18" name="Text 15"/>
          <p:cNvSpPr txBox="1"/>
          <p:nvPr/>
        </p:nvSpPr>
        <p:spPr>
          <a:xfrm>
            <a:off x="53035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yourself</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المُطَابَقَةُ</a:t>
            </a:r>
            <a:endParaRPr lang="ar-SA" sz="2000" dirty="0"/>
          </a:p>
        </p:txBody>
      </p:sp>
      <p:sp>
        <p:nvSpPr>
          <p:cNvPr id="21" name="Text 18"/>
          <p:cNvSpPr txBox="1"/>
          <p:nvPr/>
        </p:nvSpPr>
        <p:spPr>
          <a:xfrm>
            <a:off x="3319272" y="2267712"/>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غُرْفَةٌ قَرِيبَةٌ · سِتَارَةٌ زَرْقَاءُ · بَيْتٌ كَبِيرٌ</a:t>
            </a:r>
            <a:endParaRPr lang="ar-SA" sz="2200" dirty="0"/>
          </a:p>
        </p:txBody>
      </p:sp>
      <p:sp>
        <p:nvSpPr>
          <p:cNvPr id="22" name="Text 19"/>
          <p:cNvSpPr txBox="1"/>
          <p:nvPr/>
        </p:nvSpPr>
        <p:spPr>
          <a:xfrm>
            <a:off x="566928" y="2267712"/>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 m. or 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الوُجُودُ</a:t>
            </a:r>
            <a:endParaRPr lang="ar-SA" sz="2000" dirty="0"/>
          </a:p>
        </p:txBody>
      </p:sp>
      <p:sp>
        <p:nvSpPr>
          <p:cNvPr id="27" name="Text 24"/>
          <p:cNvSpPr txBox="1"/>
          <p:nvPr/>
        </p:nvSpPr>
        <p:spPr>
          <a:xfrm>
            <a:off x="3319272" y="2881884"/>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يُوجَدُ سَرِيرٌ · تُوجَدُ حَدِيقَةٌ</a:t>
            </a:r>
            <a:endParaRPr lang="ar-SA" sz="2200" dirty="0"/>
          </a:p>
        </p:txBody>
      </p:sp>
      <p:sp>
        <p:nvSpPr>
          <p:cNvPr id="28" name="Text 25"/>
          <p:cNvSpPr txBox="1"/>
          <p:nvPr/>
        </p:nvSpPr>
        <p:spPr>
          <a:xfrm>
            <a:off x="566928" y="2881884"/>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Existence: the item’s gender?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المِلْكِيَّةُ</a:t>
            </a:r>
            <a:endParaRPr lang="ar-SA" sz="2000" dirty="0"/>
          </a:p>
        </p:txBody>
      </p:sp>
      <p:sp>
        <p:nvSpPr>
          <p:cNvPr id="33" name="Text 30"/>
          <p:cNvSpPr txBox="1"/>
          <p:nvPr/>
        </p:nvSpPr>
        <p:spPr>
          <a:xfrm>
            <a:off x="3319272" y="3496056"/>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اِسْمُهُ · اِسْمُهَا · غُرْفَتِي · بَيْتُهُمْ</a:t>
            </a:r>
            <a:endParaRPr lang="ar-SA" sz="2200" dirty="0"/>
          </a:p>
        </p:txBody>
      </p:sp>
      <p:sp>
        <p:nvSpPr>
          <p:cNvPr id="34" name="Text 31"/>
          <p:cNvSpPr txBox="1"/>
          <p:nvPr/>
        </p:nvSpPr>
        <p:spPr>
          <a:xfrm>
            <a:off x="566928" y="3496056"/>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Possession: whose?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العَدَدُ</a:t>
            </a:r>
            <a:endParaRPr lang="ar-SA" sz="2000" dirty="0"/>
          </a:p>
        </p:txBody>
      </p:sp>
      <p:sp>
        <p:nvSpPr>
          <p:cNvPr id="37" name="Text 34"/>
          <p:cNvSpPr txBox="1"/>
          <p:nvPr/>
        </p:nvSpPr>
        <p:spPr>
          <a:xfrm>
            <a:off x="3319272" y="4110228"/>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ثَلَاثُ غُرَفٍ · أَرْبَعُ غُرَفٍ</a:t>
            </a:r>
            <a:endParaRPr lang="ar-SA" sz="2200" dirty="0"/>
          </a:p>
        </p:txBody>
      </p:sp>
      <p:sp>
        <p:nvSpPr>
          <p:cNvPr id="38" name="Text 35"/>
          <p:cNvSpPr txBox="1"/>
          <p:nvPr/>
        </p:nvSpPr>
        <p:spPr>
          <a:xfrm>
            <a:off x="566928" y="4110228"/>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Counting: f. noun → no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المَكَانُ</a:t>
            </a:r>
            <a:endParaRPr lang="ar-SA" sz="2000" dirty="0"/>
          </a:p>
        </p:txBody>
      </p:sp>
      <p:sp>
        <p:nvSpPr>
          <p:cNvPr id="41" name="Text 38"/>
          <p:cNvSpPr txBox="1"/>
          <p:nvPr/>
        </p:nvSpPr>
        <p:spPr>
          <a:xfrm>
            <a:off x="3319272" y="4724400"/>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قَرِيبٌ مِنْ · بَعِيدٌ عَنْ · بِجَانِبِ</a:t>
            </a:r>
            <a:endParaRPr lang="ar-SA" sz="2200" dirty="0"/>
          </a:p>
        </p:txBody>
      </p:sp>
      <p:sp>
        <p:nvSpPr>
          <p:cNvPr id="42" name="Text 39"/>
          <p:cNvSpPr txBox="1"/>
          <p:nvPr/>
        </p:nvSpPr>
        <p:spPr>
          <a:xfrm>
            <a:off x="566928" y="4724400"/>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Location: min or ‘an?</a:t>
            </a:r>
            <a:endParaRPr lang="en-US" sz="11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السَّبَبُ</a:t>
            </a:r>
            <a:endParaRPr lang="ar-SA" sz="2000" dirty="0"/>
          </a:p>
        </p:txBody>
      </p:sp>
      <p:sp>
        <p:nvSpPr>
          <p:cNvPr id="47" name="Text 44"/>
          <p:cNvSpPr txBox="1"/>
          <p:nvPr/>
        </p:nvSpPr>
        <p:spPr>
          <a:xfrm>
            <a:off x="3319272" y="5338572"/>
            <a:ext cx="6126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لِأَنَّهُ مُرِيحٌ · لِأَنَّهَا هَادِئَةٌ</a:t>
            </a:r>
            <a:endParaRPr lang="ar-SA" sz="2200" dirty="0"/>
          </a:p>
        </p:txBody>
      </p:sp>
      <p:sp>
        <p:nvSpPr>
          <p:cNvPr id="48" name="Text 45"/>
          <p:cNvSpPr txBox="1"/>
          <p:nvPr/>
        </p:nvSpPr>
        <p:spPr>
          <a:xfrm>
            <a:off x="566928" y="5338572"/>
            <a:ext cx="25877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 -hu or -hā?</a:t>
            </a:r>
            <a:endParaRPr lang="en-US" sz="1100" dirty="0"/>
          </a:p>
        </p:txBody>
      </p:sp>
      <p:sp>
        <p:nvSpPr>
          <p:cNvPr id="49" name="Shape 46"/>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each item targets ONE familiar F3 decision — read the entire sentence before choosing the repair.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REHEARSE · FOUR SKILL STRATEGIES (WEBSITE CHECKPOINT)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to earn the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اِسْتِرَاتِيجِيَّاتُ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LISTEN · READ</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اِسْتَمِعْ · اِقْرَأْ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الفِكْرَةُ أَوَّلًا، ثُمَّ الدَّلِيلُ.</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Main idea first, then the exact phrase that proves the answer.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Do not chase every word.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SPEAK</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تَكَلَّمْ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جَوَابٌ + تَفْصِيلٌ + سَبَبٌ</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Direct answer, detail, reason. Cue cards: keywords, not a script.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Answer first, extend second.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WRITE</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اُكْتُبْ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مُسَوَّدَةٌ + تَعْلِيقٌ + تَحْسِينٌ</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Original, feedback, improved: fix one repeated error.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Show visible progress.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Error Detective: sequence markers come before the action they organise.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أَدْرُسُ أَوَّلًا، ثُمَّ أَذْهَبُ إِلَى الحَدِيقَةِ.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أَذْهَبُ إِلَى الحَدِيقَةِ أَوَّلًا وَأَدْرُسُ ثُمَّ.</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‘near’?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مُقَابِلَ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 مِنْ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‘next to’.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بِجَانِبِ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switch off’?</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أُطْفِئُ</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أَفْتَحُ</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form of ‘hardworking’.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‘near’?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بَعِيدٌ عَنْ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مُقَابِلَ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قَرِيبٌ مِنْ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قَرِيبٌ مِنْ</a:t>
            </a:r>
            <a:pPr algn="l" indent="0" marL="0">
              <a:buNone/>
            </a:pPr>
            <a:r>
              <a:rPr lang="en-US" sz="1050" i="1" dirty="0">
                <a:solidFill>
                  <a:srgbClr val="8A6D1E"/>
                </a:solidFill>
                <a:latin typeface="Calibri" pitchFamily="34" charset="0"/>
                <a:ea typeface="Calibri" pitchFamily="34" charset="-122"/>
                <a:cs typeface="Calibri" pitchFamily="34" charset="-120"/>
              </a:rPr>
              <a:t> means near.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‘next to’.</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بِجَانِبِ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فَوْقَ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بِجَانِبِ</a:t>
            </a:r>
            <a:pPr algn="l" indent="0" marL="0">
              <a:buNone/>
            </a:pPr>
            <a:r>
              <a:rPr lang="en-US" sz="1050" i="1" dirty="0">
                <a:solidFill>
                  <a:srgbClr val="8A6D1E"/>
                </a:solidFill>
                <a:latin typeface="Calibri" pitchFamily="34" charset="0"/>
                <a:ea typeface="Calibri" pitchFamily="34" charset="-122"/>
                <a:cs typeface="Calibri" pitchFamily="34" charset="-120"/>
              </a:rPr>
              <a:t> means next to.</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switch off’?</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أُشَغِّلُ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أُطْفِئُ</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أَفْتَحُ</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أُطْفِئُ</a:t>
            </a:r>
            <a:pPr algn="l" indent="0" marL="0">
              <a:buNone/>
            </a:pPr>
            <a:r>
              <a:rPr lang="en-US" sz="1050" i="1" dirty="0">
                <a:solidFill>
                  <a:srgbClr val="8A6D1E"/>
                </a:solidFill>
                <a:latin typeface="Calibri" pitchFamily="34" charset="0"/>
                <a:ea typeface="Calibri" pitchFamily="34" charset="-122"/>
                <a:cs typeface="Calibri" pitchFamily="34" charset="-120"/>
              </a:rPr>
              <a:t> means I switch off.</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form of ‘hardworking’.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مُجْتَهِدَةٌ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مُجْتَهِدَةٌ</a:t>
            </a:r>
            <a:pPr algn="l" indent="0" marL="0">
              <a:buNone/>
            </a:pPr>
            <a:r>
              <a:rPr lang="en-US" sz="1050" i="1" dirty="0">
                <a:solidFill>
                  <a:srgbClr val="8A6D1E"/>
                </a:solidFill>
                <a:latin typeface="Calibri" pitchFamily="34" charset="0"/>
                <a:ea typeface="Calibri" pitchFamily="34" charset="-122"/>
                <a:cs typeface="Calibri" pitchFamily="34" charset="-120"/>
              </a:rPr>
              <a:t> agrees with a feminine person.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REFINE · PORTFOLIO POLISH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deliberate improvements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تَحْسِينُ عَمَلِ المِلَفِّ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Original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بَيْتِي كَبِيرٌ. فِي بَيْتِي يُوجَدُ حَدِيقَةٌ. أُحِبُّ بَيْتِي.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Find the weak points.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Existence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فِي بَيْتِي </a:t>
            </a:r>
            <a:pPr rtl="1" algn="ctr" indent="0" marL="0">
              <a:buNone/>
            </a:pPr>
            <a:r>
              <a:rPr lang="ar-SA" altLang="en-US" sz="255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550" b="1" dirty="0">
                <a:solidFill>
                  <a:srgbClr val="1B3B6F"/>
                </a:solidFill>
                <a:latin typeface="Amiri" pitchFamily="34" charset="0"/>
                <a:ea typeface="Amiri" pitchFamily="34" charset="-122"/>
                <a:cs typeface="Amiri" pitchFamily="34" charset="-120"/>
              </a:rPr>
              <a:t> حَدِيقَةٌ.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Garden (f.) → tūjadu.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بَيْتِي كَبِيرٌ وَقَرِيبٌ </a:t>
            </a:r>
            <a:pPr rtl="1" algn="ctr" indent="0" marL="0">
              <a:lnSpc>
                <a:spcPct val="120000"/>
              </a:lnSpc>
              <a:buNone/>
            </a:pPr>
            <a:r>
              <a:rPr lang="ar-SA" altLang="en-US" sz="190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مَكْتَبَةٍ.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a precise location.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أُحِبُّ بَيْتِي </a:t>
            </a:r>
            <a:pPr rtl="1" algn="ctr" indent="0" marL="0">
              <a:buNone/>
            </a:pPr>
            <a:r>
              <a:rPr lang="ar-SA" altLang="en-US" sz="2550" b="1" dirty="0">
                <a:solidFill>
                  <a:srgbClr val="1D5FBF"/>
                </a:solidFill>
                <a:latin typeface="Amiri" pitchFamily="34" charset="0"/>
                <a:ea typeface="Amiri" pitchFamily="34" charset="-122"/>
                <a:cs typeface="Amiri" pitchFamily="34" charset="-120"/>
              </a:rPr>
              <a:t>لِأَنَّهُ</a:t>
            </a:r>
            <a:pPr rtl="1" algn="ctr" indent="0" marL="0">
              <a:buNone/>
            </a:pPr>
            <a:r>
              <a:rPr lang="ar-SA" altLang="en-US" sz="2550" b="1" dirty="0">
                <a:solidFill>
                  <a:srgbClr val="1B3B6F"/>
                </a:solidFill>
                <a:latin typeface="Amiri" pitchFamily="34" charset="0"/>
                <a:ea typeface="Amiri" pitchFamily="34" charset="-122"/>
                <a:cs typeface="Amiri" pitchFamily="34" charset="-120"/>
              </a:rPr>
              <a:t> هَادِئٌ.</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House (m.) →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بَيْتِي كَبِيرٌ وَقَرِيبٌ </a:t>
            </a:r>
            <a:pPr rtl="1" algn="r" indent="0" marL="0">
              <a:buNone/>
            </a:pPr>
            <a:r>
              <a:rPr lang="ar-SA" altLang="en-US" sz="2600" b="1" dirty="0">
                <a:solidFill>
                  <a:srgbClr val="1D5FBF"/>
                </a:solidFill>
                <a:latin typeface="Amiri" pitchFamily="34" charset="0"/>
                <a:ea typeface="Amiri" pitchFamily="34" charset="-122"/>
                <a:cs typeface="Amiri" pitchFamily="34" charset="-120"/>
              </a:rPr>
              <a:t>مِنْ</a:t>
            </a:r>
            <a:pPr rtl="1" algn="r" indent="0" marL="0">
              <a:buNone/>
            </a:pPr>
            <a:r>
              <a:rPr lang="ar-SA" altLang="en-US" sz="2600" b="1" dirty="0">
                <a:solidFill>
                  <a:srgbClr val="1B3B6F"/>
                </a:solidFill>
                <a:latin typeface="Amiri" pitchFamily="34" charset="0"/>
                <a:ea typeface="Amiri" pitchFamily="34" charset="-122"/>
                <a:cs typeface="Amiri" pitchFamily="34" charset="-120"/>
              </a:rPr>
              <a:t> مَكْتَبَةٍ. فِي بَيْتِي </a:t>
            </a:r>
            <a:pPr rtl="1" algn="r" indent="0" marL="0">
              <a:buNone/>
            </a:pPr>
            <a:r>
              <a:rPr lang="ar-SA" altLang="en-US" sz="2600" b="1" dirty="0">
                <a:solidFill>
                  <a:srgbClr val="D6336C"/>
                </a:solidFill>
                <a:latin typeface="Amiri" pitchFamily="34" charset="0"/>
                <a:ea typeface="Amiri" pitchFamily="34" charset="-122"/>
                <a:cs typeface="Amiri" pitchFamily="34" charset="-120"/>
              </a:rPr>
              <a:t>تُوجَدُ</a:t>
            </a:r>
            <a:pPr rtl="1" algn="r" indent="0" marL="0">
              <a:buNone/>
            </a:pPr>
            <a:r>
              <a:rPr lang="ar-SA" altLang="en-US" sz="2600" b="1" dirty="0">
                <a:solidFill>
                  <a:srgbClr val="1B3B6F"/>
                </a:solidFill>
                <a:latin typeface="Amiri" pitchFamily="34" charset="0"/>
                <a:ea typeface="Amiri" pitchFamily="34" charset="-122"/>
                <a:cs typeface="Amiri" pitchFamily="34" charset="-120"/>
              </a:rPr>
              <a:t> حَدِيقَةٌ جَمِيلَةٌ. أُحِبُّ بَيْتِي </a:t>
            </a:r>
            <a:pPr rtl="1" algn="r" indent="0" marL="0">
              <a:buNone/>
            </a:pPr>
            <a:r>
              <a:rPr lang="ar-SA" altLang="en-US" sz="2600" b="1" dirty="0">
                <a:solidFill>
                  <a:srgbClr val="1D5FBF"/>
                </a:solidFill>
                <a:latin typeface="Amiri" pitchFamily="34" charset="0"/>
                <a:ea typeface="Amiri" pitchFamily="34" charset="-122"/>
                <a:cs typeface="Amiri" pitchFamily="34" charset="-120"/>
              </a:rPr>
              <a:t>لِأَنَّهُ</a:t>
            </a:r>
            <a:pPr rtl="1" algn="r" indent="0" marL="0">
              <a:buNone/>
            </a:pPr>
            <a:r>
              <a:rPr lang="ar-SA" altLang="en-US" sz="2600" b="1" dirty="0">
                <a:solidFill>
                  <a:srgbClr val="1B3B6F"/>
                </a:solidFill>
                <a:latin typeface="Amiri" pitchFamily="34" charset="0"/>
                <a:ea typeface="Amiri" pitchFamily="34" charset="-122"/>
                <a:cs typeface="Amiri" pitchFamily="34" charset="-120"/>
              </a:rPr>
              <a:t> هَادِئٌ وَمُرِيحٌ.</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My house is big and near a library. In my house there is a beautiful garden. I love my house because it is quiet and comfortable.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FAMILY SCENE”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Warm-up: who is it?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father and son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girls</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grandmother and girl</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جَدَّتِي.</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أَبِي.</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أُخْتِي.</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العَائِلَةِ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father and son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أَبِي.</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father.</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girls</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أُخْتِي.</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sister.</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grandmother and girl</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جَدَّتِي.</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grandmother.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“ERROR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Detect and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غُرْفَةُ النَّوْمِ قَرِيبٌ مِنَ المَطْبَخِ.</a:t>
            </a:r>
            <a:endParaRPr lang="ar-SA" sz="11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النَّوْمِ قَرِيبَةٌ مِنَ المَطْبَخِ.</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النَّوْمِ قَرِيبُونَ مِنَ المَطْبَخِ.</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النَّوْمِ قَرِيبٌ عَنِ المَطْبَخِ.</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بَيْتِي يُوجَدُ حَدِيقَةٌ.</a:t>
            </a:r>
            <a:endParaRPr lang="ar-SA" sz="16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يُوجَدُ حَدِيقَةٌ.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تُوجَدُ حَدِيقَةٌ.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تَكُونُ حَدِيقَةٌ.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عِنْدِي ثَلَاثَةُ غُرَفِ نَوْمٍ.</a:t>
            </a:r>
            <a:endParaRPr lang="ar-SA" sz="16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ثَلَاثُ غُرَفِ نَوْمٍ.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ثَلَاثَةٌ غُرْفَةُ نَوْمٍ.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ثَلَاثٌ غُرَفٌ نَوْمٌ.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أُحِبُّ بَيْتِي لِأَنَّهَا مُرِيحَةٌ.</a:t>
            </a:r>
            <a:endParaRPr lang="ar-SA" sz="14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بَيْتِي لِأَنَّنِي مُرِيحٌ.</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بَيْتِي ثُمَّ مُرِيحٌ.</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بَيْتِي لِأَنَّهُ مُرِيحٌ.</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السَّتَائِرُ أَزْرَقُ وَمُخَطَّطُونَ.</a:t>
            </a:r>
            <a:endParaRPr lang="ar-SA" sz="14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السَّتَائِرُ أَزْرَقُونَ وَمُخَطَّطُونَ.</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السَّتَائِرُ زَرْقَاوَاتٌ وَمُخَطَّطَاتٌ.</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السَّتَائِرُ زَرْقَاءُ وَمُخَطَّطَةٌ.</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Read the WHOLE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Name the system.</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choose the repair.</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ERROR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غُرْفَةُ النَّوْمِ قَرِيبٌ مِنَ المَطْبَخِ.</a:t>
            </a:r>
            <a:endParaRPr lang="ar-SA" sz="11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النَّوْمِ قَرِيبَةٌ مِنَ المَطْبَخِ.</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النَّوْمِ قَرِيبُونَ مِنَ المَطْبَخِ.</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النَّوْمِ قَرِيبٌ عَنِ المَطْبَخِ.</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adjective is </a:t>
            </a:r>
            <a:pPr algn="l" indent="0" marL="0">
              <a:buNone/>
            </a:pPr>
            <a:r>
              <a:rPr lang="ar-SA" altLang="en-US" sz="1350" dirty="0">
                <a:solidFill>
                  <a:srgbClr val="8A6D1E"/>
                </a:solidFill>
                <a:latin typeface="Amiri" pitchFamily="34" charset="0"/>
                <a:ea typeface="Amiri" pitchFamily="34" charset="-122"/>
                <a:cs typeface="Amiri" pitchFamily="34" charset="-120"/>
              </a:rPr>
              <a:t>قَرِيبَةٌ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بَيْتِي يُوجَدُ حَدِيقَةٌ.</a:t>
            </a:r>
            <a:endParaRPr lang="ar-SA" sz="16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بَيْتِي يُوجَدُ حَدِيقَةٌ.</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بَيْتِي تُوجَدُ حَدِيقَةٌ.</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بَيْتِي تَكُونُ حَدِيقَةٌ.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 agrees with feminine </a:t>
            </a:r>
            <a:pPr algn="l" indent="0" marL="0">
              <a:buNone/>
            </a:pPr>
            <a:r>
              <a:rPr lang="ar-SA" altLang="en-US" sz="1350" dirty="0">
                <a:solidFill>
                  <a:srgbClr val="8A6D1E"/>
                </a:solidFill>
                <a:latin typeface="Amiri" pitchFamily="34" charset="0"/>
                <a:ea typeface="Amiri" pitchFamily="34" charset="-122"/>
                <a:cs typeface="Amiri" pitchFamily="34" charset="-120"/>
              </a:rPr>
              <a:t>حَدِيقَةٌ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عِنْدِي ثَلَاثَةُ غُرَفِ نَوْمٍ.</a:t>
            </a:r>
            <a:endParaRPr lang="ar-SA" sz="16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ثَلَاثُ غُرَفِ نَوْمٍ.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ثَلَاثَةٌ غُرْفَةُ نَوْمٍ.</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ثَلَاثٌ غُرَفٌ نَوْمٌ.</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3 uses </a:t>
            </a:r>
            <a:pPr algn="l" indent="0" marL="0">
              <a:buNone/>
            </a:pPr>
            <a:r>
              <a:rPr lang="ar-SA" altLang="en-US" sz="1350" dirty="0">
                <a:solidFill>
                  <a:srgbClr val="8A6D1E"/>
                </a:solidFill>
                <a:latin typeface="Amiri" pitchFamily="34" charset="0"/>
                <a:ea typeface="Amiri" pitchFamily="34" charset="-122"/>
                <a:cs typeface="Amiri" pitchFamily="34" charset="-120"/>
              </a:rPr>
              <a:t>ثَلَاثُ</a:t>
            </a:r>
            <a:pPr algn="l" indent="0" marL="0">
              <a:buNone/>
            </a:pPr>
            <a:r>
              <a:rPr lang="en-US" sz="1050" i="1" dirty="0">
                <a:solidFill>
                  <a:srgbClr val="8A6D1E"/>
                </a:solidFill>
                <a:latin typeface="Calibri" pitchFamily="34" charset="0"/>
                <a:ea typeface="Calibri" pitchFamily="34" charset="-122"/>
                <a:cs typeface="Calibri" pitchFamily="34" charset="-120"/>
              </a:rPr>
              <a:t> and the counted noun is plural.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أُحِبُّ بَيْتِي لِأَنَّهَا مُرِيحَةٌ.</a:t>
            </a:r>
            <a:endParaRPr lang="ar-SA" sz="145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بَيْتِي لِأَنَّنِي مُرِيحٌ.</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بَيْتِي ثُمَّ مُرِيحٌ.</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بَيْتِي لِأَنَّهُ مُرِيحٌ.</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بَيْتٌ</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لِأَنَّهُ مُرِيحٌ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السَّتَائِرُ أَزْرَقُ وَمُخَطَّطُونَ.</a:t>
            </a:r>
            <a:endParaRPr lang="ar-SA" sz="145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السَّتَائِرُ أَزْرَقُونَ وَمُخَطَّطُونَ.</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السَّتَائِرُ زَرْقَاوَاتٌ وَمُخَطَّطَاتٌ.</a:t>
            </a:r>
            <a:endParaRPr lang="ar-SA" sz="170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السَّتَائِرُ زَرْقَاءُ وَمُخَطَّطَةٌ.</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normally takes feminine singular adjective agreement.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Read the WHOLE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Name the system.</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choose the repair.</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السَّتَائِرُ أَزْرَقُ.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Curtains: which agreement?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أَسْكُنُ فِي شَقَّةٍ الكَبِيرَةِ.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Definite or not?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اِسْمُهُ أُمِّي كَرِيمَةٌ.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Whose name?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السَّتَائِرُ أَزْرَقُ.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السَّتَائِرُ زَرْقَاءُ.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non-human plural takes feminine singular agreement.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أَسْكُنُ فِي شَقَّةٍ الكَبِيرَةِ.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أَسْكُنُ فِي شَقَّةٍ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Noun and adjective match: both without 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اِسْمُهُ أُمِّي كَرِيمَةٌ.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اِسْمُ أُمِّي كَرِيمَةٌ.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My mother’s name = ismu ummī.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Rania’s family-and-home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with Rania?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parents and younger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grandmother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older sisters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rooms are in the flat?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room?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kitchen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bedroom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living room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rug?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front of the sofa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television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window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places are near the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and bank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 and public park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station and hospital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Seven headings: family · home · room · objects · place · routine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اِسْمِي رَانِيَا، وَأَعِيشُ مَعَ أَبِي وَأُمِّي وَأَخِي الصَّغِيرِ. أَسْكُنُ فِي شَقَّةٍ مُتَوَسِّطَةِ الحَجْمِ فِي حَيٍّ هَادِئٍ.</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Rania; I live with my father, mother and younger brother, in a medium-sized flat in a quiet area.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شَقَّتِنَا أَرْبَعُ غُرَفٍ، وَغُرْفَتِي المُفَضَّلَةُ غُرْفَةُ الجُلُوسِ لِأَنَّهَا مُضِيئَةٌ وَمُرِيحَةٌ.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flat has four rooms; my favourite is the living room because it is bright and comfortable.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أَرِيكَةٌ زَرْقَاءُ وَتِلْفَازٌ كَبِيرٌ، وَالسَّجَّادَةُ أَمَامَ الأَرِيكَةِ.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a blue sofa and a big TV, and the rug is in front of the sofa.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بَيْتُنَا قَرِيبٌ مِنْ مَكْتَبَةٍ وَحَدِيقَةٍ عَامَّةٍ، وَلَكِنَّهُ بَعِيدٌ عَنِ المَدْرَسَةِ.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home is near a library and a public park, but it is far from the school.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فِي المَسَاءِ أَدْرُسُ أَوَّلًا، ثُمَّ أَجْلِسُ مَعَ عَائِلَتِي. أُحِبُّ بَيْتِي لِأَنَّهُ هَادِئٌ وَقَرِيبٌ مِنْ أَمَاكِنَ مُفِيدَةٍ.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 I study first, then sit with my family. I love my home because it is quiet and near useful places.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with Rania?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parents and younger brother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grandmother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older sisters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أَبِي وَأُمِّي وَأَخِي الصَّغِيرِ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rooms are in the flat?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شَقَّتِنَا أَرْبَعُ غُرَفٍ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room?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kitchen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bedroom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living room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favourite room is </a:t>
            </a:r>
            <a:pPr algn="l" indent="0" marL="0">
              <a:buNone/>
            </a:pPr>
            <a:r>
              <a:rPr lang="ar-SA" altLang="en-US" sz="1350" dirty="0">
                <a:solidFill>
                  <a:srgbClr val="8A6D1E"/>
                </a:solidFill>
                <a:latin typeface="Amiri" pitchFamily="34" charset="0"/>
                <a:ea typeface="Amiri" pitchFamily="34" charset="-122"/>
                <a:cs typeface="Amiri" pitchFamily="34" charset="-120"/>
              </a:rPr>
              <a:t>غُرْفَةُ الجُلُوسِ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rug?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front of the sofa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television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window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السَّجَّادَةُ أَمَامَ الأَرِيكَةِ.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places are near the home?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and bank</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library and public park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station and hospital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flat is near </a:t>
            </a:r>
            <a:pPr algn="l" indent="0" marL="0">
              <a:buNone/>
            </a:pPr>
            <a:r>
              <a:rPr lang="ar-SA" altLang="en-US" sz="1350" dirty="0">
                <a:solidFill>
                  <a:srgbClr val="8A6D1E"/>
                </a:solidFill>
                <a:latin typeface="Amiri" pitchFamily="34" charset="0"/>
                <a:ea typeface="Amiri" pitchFamily="34" charset="-122"/>
                <a:cs typeface="Amiri" pitchFamily="34" charset="-120"/>
              </a:rPr>
              <a:t>مَكْتَبَةٍ وَحَدِيقَةٍ عَامَّةٍ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Seven headings: family · home · room · objects · place · routine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Samir’s review notes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 · سَمِيرٌ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أَعِيشُ مَعَ أُمِّي وَأَبِي وَأُخْتَيْنِ فِي بَيْتٍ مِنْ طَابِقَيْنِ.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Parents + two sisters · a two-storey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أَبِي طَوِيلٌ وَهَادِئٌ، وَأُمِّي لَطِيفَةٌ وَمُتَعَاوِنَةٌ.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Father: tall, quiet · mother: kind, helpful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الطَّابِقِ الأَرْضِيِّ مَطْبَخٌ وَغُرْفَةُ جُلُوسٍ وَاسِعَةٌ.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 floor: kitchen + spacious living 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غُرْفَتِي فَفِي الطَّابِقِ الأَوَّلِ، وَمَكْتَبِي بِجَانِبِ النَّافِذَةِ.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room: first floor · desk next to the window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أَسْتَخْدِمُ الحَاسُوبَ لِلدِّرَاسَةِ، ثُمَّ أَلْعَبُ مَعَ أُخْتَيَّ فِي الحَدِيقَةِ. بَيْتُنَا قَرِيبٌ مِنْ مَلْعَبٍ وَلَكِنَّهُ بَعِيدٌ عَنِ المَحَطَّةِ.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for study, then garden · near a pitch, far from the station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review notes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 · هُدَى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شَقَّةٍ صَغِيرَةٍ مَعَ وَالِدَتِي وَجَدَّتِي.</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flat · with mother + grandmother</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جَدَّتِي كَرِيمَةٌ وَمُضْحِكَةٌ، وَهِيَ تُحِبُّ القِرَاءَةَ.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Grandmother: generous, funny, loves reading</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شَقَّتِنَا غُرْفَتَانِ وَمَطْبَخٌ وَحَمَّامٌ.</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rooms + kitchen + bathroom</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غُرْفَةُ النَّوْمِ وَرْدِيَّةٌ وَمُرَتَّبَةٌ، وَفِيهَا سَرِيرَانِ وَخِزَانَةٌ بَيْضَاءُ.</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Bedroom: pink, tidy · two beds · white wardrobe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الشَّقَّةُ مُقَابِلَ مَكْتَبَةٍ وَبِجَانِبِ صَيْدَلِيَّةٍ. فِي نِهَايَةِ الأُسْبُوعِ نَذْهَبُ إِلَى الحَدِيقَةِ العَامَّةِ، وَأَحْيَانًا نَزُورُ خَالَتِي.</a:t>
            </a:r>
            <a:endParaRPr lang="ar-SA" sz="155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a library, next to a pharmacy · weekend: park, sometimes visit aunt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relative is described as quiet?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Samir’s mother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Huda’s grandmother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Samir’s father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Samir’s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window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bed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 two chairs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place is far from Samir’s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sports ground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garden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bedroom?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Pink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place is opposite Huda’s flat?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pharmacy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park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Locate the exact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before you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relative is described as quiet?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Samir’s mother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Huda’s grandmother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Samir’s father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أَبِي طَوِيلٌ وَهَادِئٌ.</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Samir’s desk?</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Next to the window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bed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Between two chairs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مَكْتَبِي بِجَانِبِ النَّافِذَةِ.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place is far from Samir’s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sports ground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garden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a:t>
            </a:r>
            <a:pPr algn="l" indent="0" marL="0">
              <a:buNone/>
            </a:pPr>
            <a:r>
              <a:rPr lang="ar-SA" altLang="en-US" sz="1350" dirty="0">
                <a:solidFill>
                  <a:srgbClr val="8A6D1E"/>
                </a:solidFill>
                <a:latin typeface="Amiri" pitchFamily="34" charset="0"/>
                <a:ea typeface="Amiri" pitchFamily="34" charset="-122"/>
                <a:cs typeface="Amiri" pitchFamily="34" charset="-120"/>
              </a:rPr>
              <a:t>بَعِيدٌ عَنِ المَحَطَّةِ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bedroom?</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Pink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غُرْفَةُ النَّوْمِ وَرْدِيَّةٌ.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place is opposite Huda’s flat?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pharmacy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public park</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library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الشَّقَّةُ مُقَابِلَ مَكْتَبَةٍ.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Locate the exact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before you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Topic-conversation preparation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بَيْتَكَ. / صِفِي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هِيَ غُرْفَتُكَ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عَائِلَتَكَ. / صِفِي عَائِلَتَكِ.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حَيَّكَ؟ وَلِمَاذَا؟ مَاذَا يُوجَدُ بِجَانِبِ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أَسْكُنُ فِي ___ . فِيهِ / فِيهَا ___ غُرَفٍ.</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غُرْفَتِي المُفَضَّلَةُ ___ لِأَنَّهَا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أَعِيشُ مَعَ ___ . أَمَّا ___ فَـ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بَيْتِي قَرِيبٌ مِنْ ___ ، وَلَكِنَّهُ بَعِيدٌ عَنْ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تُحِبُّ حَيَّكَ؟ وَلِمَاذَا؟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like your neighbourhood? Why?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أُحِبُّ حَيِّي لِأَنَّهُ هَادِئٌ. بَيْتِي قَرِيبٌ مِنْ مَكْتَبَةٍ وَحَدِيقَةٍ عَامَّةٍ.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Yes, I like my neighbourhood because it is quiet. My home is near a library and a public park.</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fixes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Retrieve accurately: essential F3 words in complete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Correct three sentences in your F3-L09 text using the six systems.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3 fixes + notes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Repair precisely: name the reason for each error, then fix it.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improvements, each with a note naming the system.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polished 70–90</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Perform independently: polish the portfolio and set a target.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new improved version + your one revision priority.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صَحَّحْتُ خَطَأً فِي المُطَابَقَةِ.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corrected an agreement error.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السَّتَائِرُ زَرْقَاءُ وَمُخَطَّطَةٌ.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curtains are blue and striped.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غُرْفَتِي فَفِي الطَّابِقِ الأَوَّلِ.</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my room, it is on the first floor.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وَلَكِنَّهُ بَعِيدٌ عَنِ المَدْرَسَةِ.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it is far from the school.</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target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بَيْتِي تُوجَدُ حَدِيقَةٌ.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house there is a garden.</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شَقَّتِنَا أَرْبَعُ غُرَفٍ.</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our flat there are four rooms.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بَيْتِي قَرِيبٌ مِنْ مَكْتَبَةٍ.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house is near a library.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 أُمِّي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mother’s name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بَيْتِي لِأَنَّهُ هَادِئٌ.</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my house because it is quiet.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يُوجَدُ  ·  تُوجَدُ  ·  ثَلَاثُ غُرَفٍ  ·  اِسْمُهُ  ·  اِسْمُهَا  ·  قَرِيبٌ مِنْ  ·  بَعِيدٌ عَنْ  ·  بِجَانِبِ  ·  لِأَنَّهُ  ·  لِأَنَّهَا  ·  أَمَّا … فَـ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رَانِيَا، وَأَعِيشُ مَعَ أَبِي وَأُمِّي وَأَخِي الصَّغِيرِ. أَسْكُنُ فِي شَقَّةٍ مُتَوَسِّطَةِ الحَجْمِ فِي حَيٍّ هَادِئٍ. فِي شَقَّتِنَا أَرْبَعُ غُرَفٍ، وَغُرْفَتِي المُفَضَّلَةُ غُرْفَةُ الجُلُوسِ لِأَنَّهَا مُضِيئَةٌ وَمُرِيحَةٌ. فِيهَا أَرِيكَةٌ زَرْقَاءُ وَتِلْفَازٌ كَبِيرٌ. بَيْتُنَا قَرِيبٌ مِنْ مَكْتَبَةٍ، وَلَكِنَّهُ بَعِيدٌ عَنِ المَدْرَسَةِ. فِي المَسَاءِ أَدْرُسُ أَوَّلًا، ثُمَّ أَجْلِسُ مَعَ عَائِلَتِي. أُحِبُّ بَيْتِي لِأَنَّهُ هَادِئٌ.</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name is Rania and I live with my father, my mother and my younger brother. I live in a medium-sized flat in a quiet neighbourhood. Our flat has four rooms, and my favourite room is the living room because it is bright and comfortable. In it there is a blue sofa and a big TV. Our home is near a library, but it is far from the school. In the evening I study first, then I sit with my family. I love my home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family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home + room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near / far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Vocabulary: I retrieved before checking the vault.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Grammar: I can name the six systems.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Listening / reading: I found exact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Speaking: direct answer + detail +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Writing: three visible improvements + my priority.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existence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تُوجَدُ حَدِيقَةٌ.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يُوجَدُ حَدِيقَةٌ.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تَجِدُ حَدِيقَةٌ.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هَادِئٌ</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هَادِئَةٌ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هَادِئٌ</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location phrase is complete?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عَنِ المَدْرَسَةِ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مِنَ المَدْرَسَةِ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فِي المَدْرَسَةِ</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existence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بَيْتِي تُوجَدُ حَدِيقَةٌ.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بَيْتِي يُوجَدُ حَدِيقَةٌ.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بَيْتِي تَجِدُ حَدِيقَةٌ.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 agrees with feminine </a:t>
            </a:r>
            <a:pPr algn="l" indent="0" marL="0">
              <a:buNone/>
            </a:pPr>
            <a:r>
              <a:rPr lang="ar-SA" altLang="en-US" sz="1350" dirty="0">
                <a:solidFill>
                  <a:srgbClr val="8A6D1E"/>
                </a:solidFill>
                <a:latin typeface="Amiri" pitchFamily="34" charset="0"/>
                <a:ea typeface="Amiri" pitchFamily="34" charset="-122"/>
                <a:cs typeface="Amiri" pitchFamily="34" charset="-120"/>
              </a:rPr>
              <a:t>حَدِيقَةٌ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غُرْفَتِي...</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 هَادِئٌ</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لِأَنَّهَا هَادِئَةٌ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لِأَنَّنِي هَادِئٌ</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reason pronoun and adjective agree with feminine </a:t>
            </a:r>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location phrase is complete?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بَعِيدٌ عَنِ المَدْرَسَةِ</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بَعِيدٌ مِنَ المَدْرَسَةِ</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بَعِيدٌ فِي المَدْرَسَةِ</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بَعِيدٌ</a:t>
            </a:r>
            <a:pPr algn="l" indent="0" marL="0">
              <a:buNone/>
            </a:pPr>
            <a:r>
              <a:rPr lang="en-US" sz="1050" i="1" dirty="0">
                <a:solidFill>
                  <a:srgbClr val="8A6D1E"/>
                </a:solidFill>
                <a:latin typeface="Calibri" pitchFamily="34" charset="0"/>
                <a:ea typeface="Calibri" pitchFamily="34" charset="-122"/>
                <a:cs typeface="Calibri" pitchFamily="34" charset="-120"/>
              </a:rPr>
              <a:t> is followed by </a:t>
            </a:r>
            <a:pPr algn="l" indent="0" marL="0">
              <a:buNone/>
            </a:pPr>
            <a:r>
              <a:rPr lang="ar-SA" altLang="en-US" sz="1350" dirty="0">
                <a:solidFill>
                  <a:srgbClr val="8A6D1E"/>
                </a:solidFill>
                <a:latin typeface="Amiri" pitchFamily="34" charset="0"/>
                <a:ea typeface="Amiri" pitchFamily="34" charset="-122"/>
                <a:cs typeface="Amiri" pitchFamily="34" charset="-120"/>
              </a:rPr>
              <a:t>عَنْ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F3-L11 · F3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F3-L12 · Unit Assessment: My Family and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إِنْجَازٌ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achievement</a:t>
            </a:r>
            <a:pPr indent="0" marL="0">
              <a:buNone/>
            </a:pPr>
            <a:r>
              <a:rPr lang="en-US" sz="1000" i="1" dirty="0">
                <a:solidFill>
                  <a:srgbClr val="5A6472"/>
                </a:solidFill>
                <a:latin typeface="Calibri" pitchFamily="34" charset="0"/>
                <a:ea typeface="Calibri" pitchFamily="34" charset="-122"/>
                <a:cs typeface="Calibri" pitchFamily="34" charset="-120"/>
              </a:rPr>
              <a:t>  pl. إِنْجَازَاتٌ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تَقَدُّمٌ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progress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confidence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نَتِيجَةٌ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result</a:t>
            </a:r>
            <a:pPr indent="0" marL="0">
              <a:buNone/>
            </a:pPr>
            <a:r>
              <a:rPr lang="en-US" sz="1000" i="1" dirty="0">
                <a:solidFill>
                  <a:srgbClr val="5A6472"/>
                </a:solidFill>
                <a:latin typeface="Calibri" pitchFamily="34" charset="0"/>
                <a:ea typeface="Calibri" pitchFamily="34" charset="-122"/>
                <a:cs typeface="Calibri" pitchFamily="34" charset="-120"/>
              </a:rPr>
              <a:t>  pl. نَتَائِجُ</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skill is your priority before the assessment — and what will you practise?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مَهَارَتُكَ الأَضْعَفُ؟</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F3-L11: the vocabulary self-test (15) and the Error Detective (12).</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vocabulary map: seven branches, five words and one sentence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portfolio polish and complete the readiness dashboard with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F3-L12 · Unit Assessment: My Family and Home</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تَقْيِيمُ الوَحْدَةِ — عَائِلَتِي وَبَيْتِي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retrieve → repair → rehearse → refine · practise your lowest-evidence skill.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F3-L11 · F3 Consolidation — Integrated Skills Review</dc:title>
  <dc:subject>PptxGenJS Presentation</dc:subject>
  <dc:creator>Al Madina Online School · Arabic Department</dc:creator>
  <cp:lastModifiedBy>Al Madina Online School · Arabic Department</cp:lastModifiedBy>
  <cp:revision>1</cp:revision>
  <dcterms:created xsi:type="dcterms:W3CDTF">2026-09-27T16:54:34Z</dcterms:created>
  <dcterms:modified xsi:type="dcterms:W3CDTF">2026-09-27T16:54:34Z</dcterms:modified>
</cp:coreProperties>
</file>