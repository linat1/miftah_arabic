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7 (F3-L07). Website sections used: the eight-question bridge (home → neighbourhood), the place vault (15 core places + wider recognition bank), “Locate places accurately” (near / far with agreement, eight fixed position expressions, the common mistake), “Build a short route” (commands for one male and one female listener, the route model), the Neighbourhood Map Studio and its model description, the Navigation Mission, directions to the library (listening), Text A quiet area and Text B busy area (reading), the neighbourhood tour, the 7–9-sentence guide and the checkpoint. Picture match: website visual game (in the city).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QUESTIONS: the website quiz file for this lesson publishes only the eight-question bridge. The quick check, mission, listening, reading and exit questions in this deck are teacher-written from the website page content.
• Core: 8 places + near / far + next to / opposite. Develop: all eight positions and a route with three commands. Stretch: male and female commands, and comparing two areas.
• Website “Foundation focus”: learn reliable direction CHUNKS for immediate communication — full imperative grammar returns later.
• Sensitivity: students may describe a real or an invented neighbourhood; do not ask anyone to reveal where they actually live.
• Urdu bridge: مسجد، مکتبہ، شارع (as in شاہراہ-style road names), قریب، دور / بعید، سامنے (Arabic أَمَامَ), مقابل (same word).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place words prepared at home at the end of F3-L06. Questions 3–5 are the website “eight-question bridge” (there is a garden, the white window, I live in a flat).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Near takes min, far takes ‘an — and both agree with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مسجد، مکتبہ، قریب and مقابل are the same words. مُسْتَشْفًى shares the root of شفا (healing). CAREFUL: Urdu دور = Arabic بَعِيدٌ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CORE PLACES (website vault). Gender matters today — it decides قَرِيبٌ / قَرِيبَةٌ. Also in the vault: كَنِيسَةٌ (church). Notice مُسْتَشْفًى is masculine despite the long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CORE PLACES (website vault). Also: سُوبَرْمَارْكِتٌ (supermarket), مَلْعَبٌ (pitch / playground). Wider recognition bank (website, for texts): مَخْبَزٌ (bakery), مَقْهًى (café), سُوقٌ (market), مَكْتَبُ البَرِيدِ (post office), مَرْكَزُ الشُّرْطَةِ (police station), مَوْقِفُ الحَافِلَاتِ (bus stop), إِشَارَةُ المُرُورِ (traffic lights), مَعْبَرُ المُشَاةِ (pedestrian crossing), دَوَّارٌ (roundabout).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“Locate places accurately”: agreement with near and far (masculine / feminine place), then the eight fixed expressions (أَمَامَ، خَلْفَ، بِجَانِبِ، مُقَابِلَ، عَلَى يَمِينِ، عَلَى يَسَارِ، بَيْنَ، عِنْدَ).
Positions do not change: they are fixed chunks followed by the place (… المَدْرَسَةِ with kasra — no need to teach the case 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4 “Build a short route”: the male and female command chunks — اِذْهَبْ / اِذْهَبِي (go), سِرْ مُسْتَقِيمًا / سِيرِي مُسْتَقِيمًا, اِنْعَطِفْ / اِنْعَطِفِي يَمِينًا · يَسَارًا, اِعْبُرِ / اِعْبُرِي الشَّارِعَ, تَوَقَّفْ / تَوَقَّفِي عِنْدَ …
Website route model: أَوَّلًا سِرْ مُسْتَقِيمًا، ثُمَّ اِنْعَطِفْ يَمِينًا عِنْدَ البَنْكِ. بَعْدَ ذَلِكَ اِعْبُرِ الشَّارِعَ، وَأَخِيرًا سَتَجِدُ المَكْتَبَةَ عَلَى يَسَارِكَ.
Core learns the male chunks; the female -ī is Develop / Stretch (and needed for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from the website location and route tables (no published bank for this section).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Text A and the route model. Think aloud at near / far: “min or ‘an?” and at every place: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In the city”)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hospital but هٰذِهِ for the park and the library? Other cards for homework: مَصْرِفٌ (= بَنْكٌ), مَكْتَبُ بَرِيدٍ, مَتْجَرٌ.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In the city”)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hospital but هٰذِهِ for the park and the library? Other cards for homework: مَصْرِفٌ (= بَنْكٌ), مَكْتَبُ بَرِيدٍ, مَتْجَرٌ.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rounds in the style of the website Navigation Mission (14 rounds; the round bank is not published in the site data, so these are teacher-written). Students play all 14 on the website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who is listening — a boy or a girl? Is the place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سَلْمَى: عُذْرًا، كَيْفَ أَذْهَبُ إِلَى المَكْتَبَةِ مِنَ المَدْرَسَةِ؟ عُمَرُ: سِيرِي مُسْتَقِيمًا فِي شَارِعِ النَّهْضَةِ. سَتَرَيْنَ بَنْكًا عَلَى يَسَارِكِ وَصَيْدَلِيَّةً عَلَى يَمِينِكِ. عِنْدَ إِشَارَةِ المُرُورِ، اِنْعَطِفِي يَمِينًا وَاعْبُرِي الشَّارِعَ عِنْدَ مَعْبَرِ المُشَاةِ. المَكْتَبَةُ بِجَانِبِ الحَدِيقَةِ العَامَّةِ وَمُقَابِلَ المَطْعَمِ. هِيَ قَرِيبَةٌ مِنَ المَحَطَّةِ. سَلْمَى: شُكْرًا جَزِيلًا. عُمَرُ: عَفْوًا.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complete). Find: two near / far phrases and four fixed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 uses the wider recognition bank. Stretch: compare with Text A (quiet vs busy, house vs flat) using وَلَكِنَّ / فِي المُقَابِلِ.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Teacher-written questions on the two website texts (the website has 12 — students answer them for homework). Core: questions 1–3 (Text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“Give a neighbourhood tour”: describe places, explain their positions and guide a listener to one destination. Website checklist (1–6): five places · near / far + two fixed expressions · three route commands · clear sequence · one opinion with a reason · clear delivery.
Real or invented neighbourhood — no one has to describe where they actually live. The prompts are teacher-made from the website studio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Seven accurate sentences using the place and position banks. · Develop — Add a four-step route and a reason for your opinion. · Stretch — Compare two areas with wa-lākinna, ayḍan and fī l-muqābil.
Website writing task (Stretch): Website writing task: a connected neighbourhood guide of 7–9 sentences — eight places, four location expressions, a route and an opinion (real or invented neighbourhood).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Text A as the model guide. Develop: add the website route model. Stretch: compare with Text B.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(F3-L08 · Describing My Bedroom) will spend class time USING this language, so students prepare it tonight — short, simple, easy to access (school guidance: “Simple, Short, Interesting, Relevant, Easy to access”). The five words come from the website F3-L08 bedroom and bedding vault.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My Neighbourhood — Places Near My Home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حَيِّي — الأَمَاكِنُ القَرِيبَةُ مِنْ 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the places around a neighbourhood, say where they are (near, far, next to, opposite …) and guide someone along a short route.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F3-L07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Places in a neighbourhood, then near, far, next to, opposite — and route commands.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Navigation mission, listen to Omar’s directions, read two areas.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مَسْجِدٌ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mosque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street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مُسْتَشْفًى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neighbourhood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garden in my house.”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يُوجَدُ حَدِيقَةٌ.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حَدِيقَةٌ مِنْ بَيْتِي.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تُوجَدُ حَدِيقَةٌ.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___.</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live in a flat.”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فِي شَقَّةٍ.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عَلَى شَقَّةٍ.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إِلَى شَقَّةٍ.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مَسْجِدٌ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mosque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street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مُسْتَشْفًى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hospital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library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neighbourhood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garden in my house.”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بَيْتِي يُوجَدُ حَدِيقَةٌ.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حَدِيقَةٌ مِنْ بَيْتِي.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بَيْتِي تُوجَدُ حَدِيقَةٌ.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حَدِيقَةٌ</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 is the matching form.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___.</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بَيْضَاءُ</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بَيْضَاءُ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live in a flat.”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أَسْكُنُ فِي شَقَّةٍ.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أَسْكُنُ عَلَى شَقَّةٍ.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إِلَى شَقَّةٍ.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أَسْكُنُ فِي</a:t>
            </a:r>
            <a:pPr algn="l" indent="0" marL="0">
              <a:buNone/>
            </a:pPr>
            <a:r>
              <a:rPr lang="en-US" sz="1050" i="1" dirty="0">
                <a:solidFill>
                  <a:srgbClr val="8A6D1E"/>
                </a:solidFill>
                <a:latin typeface="Calibri" pitchFamily="34" charset="0"/>
                <a:cs typeface="Amiri" pitchFamily="2" charset="-78"/>
              </a:rPr>
              <a:t> means I live in.</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Near takes min, far takes ‘an — and both agree with the place.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قَرِيبٌ </a:t>
            </a:r>
            <a:pPr rtl="1" algn="ctr" indent="0" marL="0">
              <a:buNone/>
            </a:pPr>
            <a:r>
              <a:rPr lang="ar-SA" altLang="en-US" sz="2400" b="1" dirty="0">
                <a:solidFill>
                  <a:srgbClr val="1D5FBF"/>
                </a:solidFill>
                <a:latin typeface="Amiri" pitchFamily="2" charset="-78"/>
                <a:ea typeface="Amiri" pitchFamily="2" charset="-78"/>
                <a:cs typeface="Amiri" pitchFamily="2" charset="-78"/>
              </a:rPr>
              <a:t>مِنْ</a:t>
            </a:r>
            <a:pPr rtl="1" algn="ctr" indent="0" marL="0">
              <a:buNone/>
            </a:pPr>
            <a:r>
              <a:rPr lang="ar-SA" altLang="en-US" sz="2400" b="1" dirty="0">
                <a:solidFill>
                  <a:srgbClr val="1B3B6F"/>
                </a:solidFill>
                <a:latin typeface="Amiri" pitchFamily="2" charset="-78"/>
                <a:ea typeface="Amiri" pitchFamily="2" charset="-78"/>
                <a:cs typeface="Amiri" pitchFamily="2" charset="-78"/>
              </a:rPr>
              <a:t> · بَعِيدٌ </a:t>
            </a:r>
            <a:pPr rtl="1" algn="ctr" indent="0" marL="0">
              <a:buNone/>
            </a:pPr>
            <a:r>
              <a:rPr lang="ar-SA" altLang="en-US" sz="2400" b="1" dirty="0">
                <a:solidFill>
                  <a:srgbClr val="D6336C"/>
                </a:solidFill>
                <a:latin typeface="Amiri" pitchFamily="2" charset="-78"/>
                <a:ea typeface="Amiri" pitchFamily="2" charset="-78"/>
                <a:cs typeface="Amiri" pitchFamily="2" charset="-78"/>
              </a:rPr>
              <a:t>عَنْ</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complete core neighbourhood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near, far and fixed location expressions.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Follow and give short directions.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Create a map and a connected neighbourhood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places.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near / far with the right word.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four position phrases.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route with three steps.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commands for a boy and a girl.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areas.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Places, positions and route commands. Core: eight places, near / far, next to, opposite.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Places · 15 + wider bank</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Near, far and 8 positions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Route commands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مَسْجِدٌ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‎مسجد‎ </a:t>
            </a:r>
            <a:pPr indent="0" marL="0">
              <a:buNone/>
            </a:pPr>
            <a:r>
              <a:rPr lang="en-US" sz="950" b="1" dirty="0">
                <a:solidFill>
                  <a:srgbClr val="2E8B57"/>
                </a:solidFill>
                <a:latin typeface="Calibri" pitchFamily="34" charset="0"/>
                <a:cs typeface="Amiri" pitchFamily="2" charset="-78"/>
              </a:rPr>
              <a:t> masjid · mosque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مَكْتَبَةٌ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‎مکتبہ‎ </a:t>
            </a:r>
            <a:pPr indent="0" marL="0">
              <a:buNone/>
            </a:pPr>
            <a:r>
              <a:rPr lang="en-US" sz="950" b="1" dirty="0">
                <a:solidFill>
                  <a:srgbClr val="2E8B57"/>
                </a:solidFill>
                <a:latin typeface="Calibri" pitchFamily="34" charset="0"/>
                <a:cs typeface="Amiri" pitchFamily="2" charset="-78"/>
              </a:rPr>
              <a:t> maktaba · library / bookshop</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قَرِيبٌ</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‎قریب‎ </a:t>
            </a:r>
            <a:pPr indent="0" marL="0">
              <a:buNone/>
            </a:pPr>
            <a:r>
              <a:rPr lang="en-US" sz="950" b="1" dirty="0">
                <a:solidFill>
                  <a:srgbClr val="2E8B57"/>
                </a:solidFill>
                <a:latin typeface="Calibri" pitchFamily="34" charset="0"/>
                <a:cs typeface="Amiri" pitchFamily="2" charset="-78"/>
              </a:rPr>
              <a:t> qarīb · near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مُقَابِلَ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 </a:t>
            </a:r>
            <a:pPr indent="0" marL="0">
              <a:buNone/>
            </a:pPr>
            <a:r>
              <a:rPr lang="en-US" sz="950" b="1" dirty="0">
                <a:solidFill>
                  <a:srgbClr val="2E8B57"/>
                </a:solidFill>
                <a:latin typeface="Calibri" pitchFamily="34" charset="0"/>
                <a:cs typeface="Amiri" pitchFamily="2" charset="-78"/>
              </a:rPr>
              <a:t> muqābila · opposite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مُسْتَشْفًى</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‎شفا خانہ‎ </a:t>
            </a:r>
            <a:pPr indent="0" marL="0">
              <a:buNone/>
            </a:pPr>
            <a:r>
              <a:rPr lang="en-US" sz="950" b="1" dirty="0">
                <a:solidFill>
                  <a:srgbClr val="2E8B57"/>
                </a:solidFill>
                <a:latin typeface="Calibri" pitchFamily="34" charset="0"/>
                <a:cs typeface="Amiri" pitchFamily="2" charset="-78"/>
              </a:rPr>
              <a:t> mustashfā · hospital (root: healing)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PLACES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Street, school, mosque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أَمَاكِنُ الحَيِّ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neighbourhood</a:t>
            </a:r>
            <a:endParaRPr lang="en-US" sz="1350" dirty="0"/>
          </a:p>
          <a:p>
            <a:pPr indent="0" marL="0">
              <a:buNone/>
            </a:pPr>
            <a:r>
              <a:rPr lang="en-US" sz="1100" i="1" dirty="0">
                <a:solidFill>
                  <a:srgbClr val="5A6472"/>
                </a:solidFill>
                <a:latin typeface="Calibri" pitchFamily="34" charset="0"/>
                <a:cs typeface="Amiri" pitchFamily="2" charset="-78"/>
              </a:rPr>
              <a:t>ḥayy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أَحْيَاءٌ</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شَارِعٌ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street</a:t>
            </a:r>
            <a:endParaRPr lang="en-US" sz="1350" dirty="0"/>
          </a:p>
          <a:p>
            <a:pPr indent="0" marL="0">
              <a:buNone/>
            </a:pPr>
            <a:r>
              <a:rPr lang="en-US" sz="1100" i="1" dirty="0">
                <a:solidFill>
                  <a:srgbClr val="5A6472"/>
                </a:solidFill>
                <a:latin typeface="Calibri" pitchFamily="34" charset="0"/>
                <a:cs typeface="Amiri" pitchFamily="2" charset="-78"/>
              </a:rPr>
              <a:t>shā-ri‘</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شَوَارِعُ</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مَسْجِدٌ</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mosque</a:t>
            </a:r>
            <a:endParaRPr lang="en-US" sz="1350" dirty="0"/>
          </a:p>
          <a:p>
            <a:pPr indent="0" marL="0">
              <a:buNone/>
            </a:pPr>
            <a:r>
              <a:rPr lang="en-US" sz="1100" i="1" dirty="0">
                <a:solidFill>
                  <a:srgbClr val="5A6472"/>
                </a:solidFill>
                <a:latin typeface="Calibri" pitchFamily="34" charset="0"/>
                <a:cs typeface="Amiri" pitchFamily="2" charset="-78"/>
              </a:rPr>
              <a:t>mas-jid</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مَسَاجِدُ</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74" name="Text 7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mus-tash-fā</a:t>
            </a:r>
            <a:endParaRPr lang="en-US" sz="1350" dirty="0"/>
          </a:p>
        </p:txBody>
      </p:sp>
      <p:sp>
        <p:nvSpPr>
          <p:cNvPr id="75" name="Shape 7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a:t>
            </a:r>
            <a:endParaRPr lang="en-US" sz="1350" dirty="0"/>
          </a:p>
        </p:txBody>
      </p:sp>
      <p:sp>
        <p:nvSpPr>
          <p:cNvPr id="87" name="Shape 84"/>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صَيْدَلِيَّاتٌ</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PLACES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 park, station, bank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أَمَاكِنُ الحَيِّ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مَتْجَرٌ / دُكَّانٌ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 / duk-kān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مَتَاجِرُ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 / bookshop</a:t>
            </a:r>
            <a:endParaRPr lang="en-US" sz="1350" dirty="0"/>
          </a:p>
          <a:p>
            <a:pPr indent="0" marL="0">
              <a:buNone/>
            </a:pPr>
            <a:r>
              <a:rPr lang="en-US" sz="1100" i="1" dirty="0">
                <a:solidFill>
                  <a:srgbClr val="5A6472"/>
                </a:solidFill>
                <a:latin typeface="Calibri" pitchFamily="34" charset="0"/>
                <a:cs typeface="Amiri" pitchFamily="2" charset="-78"/>
              </a:rPr>
              <a:t>mak-ta-ba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مَكْتَبَاتٌ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maṭ-‘am</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en-US" sz="1100" i="1" dirty="0">
                <a:solidFill>
                  <a:srgbClr val="5A6472"/>
                </a:solidFill>
                <a:latin typeface="Calibri" pitchFamily="34" charset="0"/>
                <a:cs typeface="Amiri" pitchFamily="2" charset="-78"/>
              </a:rPr>
              <a:t>ma-ḥaṭ-ṭa</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مَحَطَّاتٌ</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6" name="Text 7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بَنْكٌ</a:t>
            </a:r>
            <a:endParaRPr lang="ar-SA" sz="3000" dirty="0"/>
          </a:p>
        </p:txBody>
      </p:sp>
      <p:sp>
        <p:nvSpPr>
          <p:cNvPr id="77" name="Text 7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bank</a:t>
            </a:r>
            <a:endParaRPr lang="en-US" sz="1350" dirty="0"/>
          </a:p>
          <a:p>
            <a:pPr indent="0" marL="0">
              <a:buNone/>
            </a:pPr>
            <a:r>
              <a:rPr lang="en-US" sz="1100" i="1" dirty="0">
                <a:solidFill>
                  <a:srgbClr val="5A6472"/>
                </a:solidFill>
                <a:latin typeface="Calibri" pitchFamily="34" charset="0"/>
                <a:cs typeface="Amiri" pitchFamily="2" charset="-78"/>
              </a:rPr>
              <a:t>bank</a:t>
            </a:r>
            <a:endParaRPr lang="en-US" sz="1350" dirty="0"/>
          </a:p>
        </p:txBody>
      </p:sp>
      <p:sp>
        <p:nvSpPr>
          <p:cNvPr id="78" name="Shape 75"/>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also</a:t>
            </a:r>
            <a:endParaRPr lang="en-US" sz="700" dirty="0"/>
          </a:p>
        </p:txBody>
      </p:sp>
      <p:sp>
        <p:nvSpPr>
          <p:cNvPr id="80" name="Text 77"/>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مَصْرِفٌ</a:t>
            </a:r>
            <a:endParaRPr lang="ar-SA" sz="13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NEAR, FAR AND POSITIONS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17" name="Text 14"/>
          <p:cNvSpPr txBox="1"/>
          <p:nvPr/>
        </p:nvSpPr>
        <p:spPr>
          <a:xfrm>
            <a:off x="375818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445752"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قَرِيبٌ </a:t>
            </a:r>
            <a:pPr rtl="1" algn="ctr" indent="0" marL="0">
              <a:buNone/>
            </a:pPr>
            <a:r>
              <a:rPr lang="ar-SA" altLang="en-US" sz="2400" b="1" dirty="0">
                <a:solidFill>
                  <a:srgbClr val="1D5FBF"/>
                </a:solidFill>
                <a:latin typeface="Amiri" pitchFamily="2" charset="-78"/>
                <a:ea typeface="Amiri" pitchFamily="2" charset="-78"/>
                <a:cs typeface="Amiri" pitchFamily="2" charset="-78"/>
              </a:rPr>
              <a:t>مِنْ</a:t>
            </a:r>
            <a:endParaRPr lang="ar-SA" sz="2400" dirty="0"/>
          </a:p>
        </p:txBody>
      </p:sp>
      <p:sp>
        <p:nvSpPr>
          <p:cNvPr id="21" name="Text 18"/>
          <p:cNvSpPr txBox="1"/>
          <p:nvPr/>
        </p:nvSpPr>
        <p:spPr>
          <a:xfrm>
            <a:off x="3776472" y="226771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المَسْجِدُ قَرِيبٌ مِنَ البَيْتِ · الصَّيْدَلِيَّةُ قَرِيبَ</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ea typeface="Amiri" pitchFamily="2" charset="-78"/>
                <a:cs typeface="Amiri" pitchFamily="2" charset="-78"/>
              </a:rPr>
              <a:t> مِنَ البَيْتِ</a:t>
            </a:r>
            <a:endParaRPr lang="ar-SA" sz="2200" dirty="0"/>
          </a:p>
        </p:txBody>
      </p:sp>
      <p:sp>
        <p:nvSpPr>
          <p:cNvPr id="22" name="Text 19"/>
          <p:cNvSpPr txBox="1"/>
          <p:nvPr/>
        </p:nvSpPr>
        <p:spPr>
          <a:xfrm>
            <a:off x="56692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 (m. · f.)</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445752"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بَعِيدٌ </a:t>
            </a:r>
            <a:pPr rtl="1" algn="ctr" indent="0" marL="0">
              <a:buNone/>
            </a:pPr>
            <a:r>
              <a:rPr lang="ar-SA" altLang="en-US" sz="2400" b="1" dirty="0">
                <a:solidFill>
                  <a:srgbClr val="D6336C"/>
                </a:solidFill>
                <a:latin typeface="Amiri" pitchFamily="2" charset="-78"/>
                <a:ea typeface="Amiri" pitchFamily="2" charset="-78"/>
                <a:cs typeface="Amiri" pitchFamily="2" charset="-78"/>
              </a:rPr>
              <a:t>عَنْ</a:t>
            </a:r>
            <a:endParaRPr lang="ar-SA" sz="2400" dirty="0"/>
          </a:p>
        </p:txBody>
      </p:sp>
      <p:sp>
        <p:nvSpPr>
          <p:cNvPr id="27" name="Text 24"/>
          <p:cNvSpPr txBox="1"/>
          <p:nvPr/>
        </p:nvSpPr>
        <p:spPr>
          <a:xfrm>
            <a:off x="3776472" y="2881884"/>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البَنْكُ بَعِيدٌ عَنِ المَدْرَسَةِ · المَحَطَّةُ بَعِيدَ</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ea typeface="Amiri" pitchFamily="2" charset="-78"/>
                <a:cs typeface="Amiri" pitchFamily="2" charset="-78"/>
              </a:rPr>
              <a:t> عَنِ الحَدِيقَةِ</a:t>
            </a:r>
            <a:endParaRPr lang="ar-SA" sz="2200" dirty="0"/>
          </a:p>
        </p:txBody>
      </p:sp>
      <p:sp>
        <p:nvSpPr>
          <p:cNvPr id="28" name="Text 25"/>
          <p:cNvSpPr txBox="1"/>
          <p:nvPr/>
        </p:nvSpPr>
        <p:spPr>
          <a:xfrm>
            <a:off x="56692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far (m. · f.)</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445752"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بِجَانِبِ · مُقَابِلَ</a:t>
            </a:r>
            <a:endParaRPr lang="ar-SA" sz="2400" dirty="0"/>
          </a:p>
        </p:txBody>
      </p:sp>
      <p:sp>
        <p:nvSpPr>
          <p:cNvPr id="33" name="Text 30"/>
          <p:cNvSpPr txBox="1"/>
          <p:nvPr/>
        </p:nvSpPr>
        <p:spPr>
          <a:xfrm>
            <a:off x="3776472" y="3496056"/>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بَيْتِي بِجَانِبِ المَدْرَسَةِ · المَكْتَبَةُ مُقَابِلَ البَنْكِ</a:t>
            </a:r>
            <a:endParaRPr lang="ar-SA" sz="2200" dirty="0"/>
          </a:p>
        </p:txBody>
      </p:sp>
      <p:sp>
        <p:nvSpPr>
          <p:cNvPr id="34" name="Text 31"/>
          <p:cNvSpPr txBox="1"/>
          <p:nvPr/>
        </p:nvSpPr>
        <p:spPr>
          <a:xfrm>
            <a:off x="56692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to · opposite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445752"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أَمَامَ · خَلْفَ</a:t>
            </a:r>
            <a:endParaRPr lang="ar-SA" sz="2400" dirty="0"/>
          </a:p>
        </p:txBody>
      </p:sp>
      <p:sp>
        <p:nvSpPr>
          <p:cNvPr id="39" name="Text 36"/>
          <p:cNvSpPr txBox="1"/>
          <p:nvPr/>
        </p:nvSpPr>
        <p:spPr>
          <a:xfrm>
            <a:off x="3776472" y="4110228"/>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الحَدِيقَةُ أَمَامَ المَسْجِدِ · المَلْعَبُ خَلْفَ الحَدِيقَةِ</a:t>
            </a:r>
            <a:endParaRPr lang="ar-SA" sz="2200" dirty="0"/>
          </a:p>
        </p:txBody>
      </p:sp>
      <p:sp>
        <p:nvSpPr>
          <p:cNvPr id="40" name="Text 37"/>
          <p:cNvSpPr txBox="1"/>
          <p:nvPr/>
        </p:nvSpPr>
        <p:spPr>
          <a:xfrm>
            <a:off x="56692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front of · behind</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9445752"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 … وَ …</a:t>
            </a:r>
            <a:endParaRPr lang="ar-SA" sz="2400" dirty="0"/>
          </a:p>
        </p:txBody>
      </p:sp>
      <p:sp>
        <p:nvSpPr>
          <p:cNvPr id="43" name="Text 40"/>
          <p:cNvSpPr txBox="1"/>
          <p:nvPr/>
        </p:nvSpPr>
        <p:spPr>
          <a:xfrm>
            <a:off x="3776472" y="4724400"/>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الصَّيْدَلِيَّةُ بَيْنَ السُّوبَرْمَارْكِتِ وَالمَحَطَّةِ</a:t>
            </a:r>
            <a:endParaRPr lang="ar-SA" sz="2200" dirty="0"/>
          </a:p>
        </p:txBody>
      </p:sp>
      <p:sp>
        <p:nvSpPr>
          <p:cNvPr id="44" name="Text 41"/>
          <p:cNvSpPr txBox="1"/>
          <p:nvPr/>
        </p:nvSpPr>
        <p:spPr>
          <a:xfrm>
            <a:off x="56692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between … and …</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445752" y="5338572"/>
            <a:ext cx="2194560" cy="559308"/>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عَلَى يَمِينِ · عَلَى يَسَارِ</a:t>
            </a:r>
            <a:endParaRPr lang="ar-SA" sz="2250" dirty="0"/>
          </a:p>
        </p:txBody>
      </p:sp>
      <p:sp>
        <p:nvSpPr>
          <p:cNvPr id="47" name="Text 44"/>
          <p:cNvSpPr txBox="1"/>
          <p:nvPr/>
        </p:nvSpPr>
        <p:spPr>
          <a:xfrm>
            <a:off x="3776472" y="533857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المَقْهَى عَلَى يَسَارِ البِنَايَةِ</a:t>
            </a:r>
            <a:endParaRPr lang="ar-SA" sz="2200" dirty="0"/>
          </a:p>
        </p:txBody>
      </p:sp>
      <p:sp>
        <p:nvSpPr>
          <p:cNvPr id="48" name="Text 45"/>
          <p:cNvSpPr txBox="1"/>
          <p:nvPr/>
        </p:nvSpPr>
        <p:spPr>
          <a:xfrm>
            <a:off x="56692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right / left of</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mistake: qarīb MIN but ba‘īd ‘AN — do not swap the prepositions. Also: ‘inda = at / by.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A SHORT ROUTE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Walk, turn, cross, stop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طَرِيقًا قَصِيرًا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5486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WALK</a:t>
            </a:r>
            <a:endParaRPr lang="en-US" sz="850" dirty="0"/>
          </a:p>
        </p:txBody>
      </p:sp>
      <p:sp>
        <p:nvSpPr>
          <p:cNvPr id="18" name="Text 15"/>
          <p:cNvSpPr txBox="1"/>
          <p:nvPr/>
        </p:nvSpPr>
        <p:spPr>
          <a:xfrm>
            <a:off x="8827008"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سِرْ / سِيرِي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سِرْ مُسْتَقِيمًا.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Walk straight on (to a boy).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girl: sīrī.</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5486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TURN</a:t>
            </a:r>
            <a:endParaRPr lang="en-US" sz="850" dirty="0"/>
          </a:p>
        </p:txBody>
      </p:sp>
      <p:sp>
        <p:nvSpPr>
          <p:cNvPr id="26" name="Text 23"/>
          <p:cNvSpPr txBox="1"/>
          <p:nvPr/>
        </p:nvSpPr>
        <p:spPr>
          <a:xfrm>
            <a:off x="5007864"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اِنْعَطِفْ / اِنْعَطِفِي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اِنْعَطِفْ يَمِينًا / يَسَارًا.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Turn right / left.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girl: in‘aṭifī.</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CROSS · STOP</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اِعْبُرْ · تَوَقَّفْ</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اِعْبُرِ الشَّارِعَ، ثُمَّ تَوَقَّفْ عِنْدَ البَنْكِ.</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Cross the street, then stop at the bank.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girl: u‘burī, tawaqqafī.</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route model: sequence words from F3-L06 + commands.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أَوَّلًا سِرْ مُسْتَقِيمًا، ثُمَّ اِنْعَطِفْ يَمِينًا عِنْدَ البَنْكِ.</a:t>
            </a:r>
            <a:endParaRPr lang="ar-SA" sz="14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سِرْ ثُمَّ أَوَّلًا البَنْكِ يَمِينًا.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pharmacy is near the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قَرِيبٌ مِنَ البَيْتِ.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قَرِيبَةٌ عَنِ البَيْتِ.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قَرِيبَةٌ مِنَ البَيْتِ.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bank is far from the school.”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البَنْكُ بَعِيدٌ عَنِ المَدْرَسَةِ.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البَنْكُ بَعِيدٌ مِنَ المَدْرَسَةِ.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البَنْكُ بَعِيدَةٌ عَنِ المَدْرَسَةِ.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right” for a boy.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 يَمِينًا.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اِنْعَطِفِي يَمِينًا.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 يَسَارًا.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pharmacy is near the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الصَّيْدَلِيَّةُ قَرِيبٌ مِنَ البَيْتِ.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الصَّيْدَلِيَّةُ قَرِيبَةٌ عَنِ البَيْتِ.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الصَّيْدَلِيَّةُ قَرِيبَةٌ مِنَ البَيْتِ.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Pharmacy is feminine (qarība) and near takes min.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bank is far from the school.”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البَنْكُ بَعِيدٌ عَنِ المَدْرَسَةِ.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البَنْكُ بَعِيدٌ مِنَ المَدْرَسَةِ.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البَنْكُ بَعِيدَةٌ عَنِ المَدْرَسَةِ.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Far takes ‘an; bank is masculine.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opposite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between</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Urdu </a:t>
            </a:r>
            <a:pPr algn="l" indent="0" marL="0">
              <a:buNone/>
            </a:pPr>
            <a:r>
              <a:rPr lang="ar-SA" altLang="en-US" sz="1350" dirty="0">
                <a:solidFill>
                  <a:srgbClr val="8A6D1E"/>
                </a:solidFill>
                <a:latin typeface="Amiri" pitchFamily="2" charset="-78"/>
                <a:ea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 the same word.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right” for a boy.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اِنْعَطِفْ يَمِينًا.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اِنْعَطِفِي يَمِينًا.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 يَسَارًا.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-ī for a boy; yamīnan = right.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and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I live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أَسْكُنُ فِي حَيٍّ هَادِئٍ.</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Opening.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Near / far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بَيْتِي قَرِيبٌ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المَدْرَسَةِ وَبَعِيدٌ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عَنِ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المَحَطَّةِ.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 · ‘an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Positions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الصَّيْدَلِيَّةُ بِجَانِبِ السُّوبَرْمَارْكِتِ، وَالمَكْتَبَةُ مُقَابِلَ البَنْكِ.</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Fixed chunks.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Route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أَوَّلًا سِرْ مُسْتَقِيمًا، ثُمَّ اِنْعَطِفْ يَمِينًا عِنْدَ البَنْكِ.</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Sequence + command.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NEAR → MIN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FAR → ‘AN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أَسْكُنُ فِي حَيٍّ هَادِئٍ. بَيْتِي قَرِيبٌ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المَدْرَسَةِ وَبَعِيدٌ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عَنِ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المَحَطَّةِ. الصَّيْدَلِيَّةُ بِجَانِبِ السُّوبَرْمَارْكِتِ، وَالمَكْتَبَةُ مُقَابِلَ البَنْكِ. إِلَى المَكْتَبَةِ: أَوَّلًا سِرْ مُسْتَقِيمًا، ثُمَّ اِنْعَطِفْ يَمِينًا عِنْدَ البَنْكِ.</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live in a quiet neighbourhood. My house is near the school and far from the station. The pharmacy is next to the supermarket, and the library is opposite the bank. To the library: first walk straight on, then turn right at the bank.</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IN THE CITY”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place?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hospital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trees and a playground</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books</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مَكْتَبَةٌ.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مُسْتَشْفًى.</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حَدِيقَةٌ عَامَّةٌ.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hospital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مُسْتَشْفًى.</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hospital.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trees and a playground</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حَدِيقَةٌ عَامَّةٌ.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public park.</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books</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مَكْتَبَةٌ.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library.</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“NAVIGATION MISSION” (TEACHER-WRITTEN ROUNDS)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way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المَلَّاحِ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library is ___ the bank. (opposite)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مُقَابِلَ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المَحَطَّةُ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عَنِ البَيْتِ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قَرِيبَةٌ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means “cross the street”?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اِعْبُرِ الشَّارِعَ.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 مُسْتَقِيمًا.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تَوَقَّفْ عِنْدَ الشَّارِعِ.</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guiding a girl. Choose the command.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 مُسْتَقِيمًا.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سِيرُوا مُسْتَقِيمًا.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سِيرِي مُسْتَقِيمًا.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logical route.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أَخِيرًا سِرْ مُسْتَقِيمًا، أَوَّلًا تَوَقَّفْ عِنْدَ المَسْجِدِ.</a:t>
            </a:r>
            <a:endParaRPr lang="ar-SA" sz="1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ثُمَّ أَوَّلًا اِنْعَطِفْ المَسْجِدِ يَسَارًا.</a:t>
            </a:r>
            <a:endParaRPr lang="ar-SA" sz="1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أَوَّلًا سِرْ مُسْتَقِيمًا، ثُمَّ اِنْعَطِفْ يَسَارًا، وَأَخِيرًا تَوَقَّفْ عِنْدَ المَسْجِدِ.</a:t>
            </a:r>
            <a:endParaRPr lang="ar-SA" sz="1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near → min · far → ‘an</a:t>
            </a:r>
            <a:endParaRPr lang="en-US" sz="1250" dirty="0"/>
          </a:p>
          <a:p>
            <a:pPr algn="l" indent="0" marL="0">
              <a:buNone/>
            </a:pPr>
            <a:r>
              <a:rPr lang="en-US" sz="1250" dirty="0">
                <a:solidFill>
                  <a:srgbClr val="1E6B52"/>
                </a:solidFill>
                <a:latin typeface="Calibri" pitchFamily="34" charset="0"/>
                <a:cs typeface="Amiri" pitchFamily="2" charset="-78"/>
              </a:rPr>
              <a:t>place f. → qarība / ba‘īda</a:t>
            </a:r>
            <a:endParaRPr lang="en-US" sz="1250" dirty="0"/>
          </a:p>
          <a:p>
            <a:pPr algn="l" indent="0" marL="0">
              <a:buNone/>
            </a:pPr>
            <a:r>
              <a:rPr lang="en-US" sz="1250" dirty="0">
                <a:solidFill>
                  <a:srgbClr val="1E6B52"/>
                </a:solidFill>
                <a:latin typeface="Calibri" pitchFamily="34" charset="0"/>
                <a:cs typeface="Amiri" pitchFamily="2" charset="-78"/>
              </a:rPr>
              <a:t>girl → sīrī, in‘aṭifī</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library is ___ the bank. (opposite)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مُقَابِلَ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 opposite.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المَحَطَّةُ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عَنِ البَيْتِ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بَعِيدٌ</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بَعِيدَةٌ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قَرِيبَةٌ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Station is feminine, and ‘an goes with far.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means “cross the street”?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اِعْبُرِ الشَّارِعَ.</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 مُسْتَقِيمًا.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تَوَقَّفْ عِنْدَ الشَّارِعِ.</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u‘bur = cross.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guiding a girl. Choose the command.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 مُسْتَقِيمًا.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سِيرُوا مُسْتَقِيمًا.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سِيرِي مُسْتَقِيمًا.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listener → -ī.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logical route.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أَخِيرًا سِرْ مُسْتَقِيمًا، أَوَّلًا تَوَقَّفْ عِنْدَ المَسْجِدِ.</a:t>
            </a:r>
            <a:endParaRPr lang="ar-SA" sz="10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ثُمَّ أَوَّلًا اِنْعَطِفْ المَسْجِدِ يَسَارًا.</a:t>
            </a:r>
            <a:endParaRPr lang="ar-SA" sz="10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أَوَّلًا سِرْ مُسْتَقِيمًا، ثُمَّ اِنْعَطِفْ يَسَارًا، وَأَخِيرًا تَوَقَّفْ عِنْدَ المَسْجِدِ.</a:t>
            </a:r>
            <a:endParaRPr lang="ar-SA" sz="10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 then … finally, each with a command.</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near → min · far → ‘an</a:t>
            </a:r>
            <a:endParaRPr lang="en-US" sz="1250" dirty="0"/>
          </a:p>
          <a:p>
            <a:pPr algn="l" indent="0" marL="0">
              <a:buNone/>
            </a:pPr>
            <a:r>
              <a:rPr lang="en-US" sz="1250" dirty="0">
                <a:solidFill>
                  <a:srgbClr val="1E6B52"/>
                </a:solidFill>
                <a:latin typeface="Calibri" pitchFamily="34" charset="0"/>
                <a:cs typeface="Amiri" pitchFamily="2" charset="-78"/>
              </a:rPr>
              <a:t>place f. → qarība / ba‘īda</a:t>
            </a:r>
            <a:endParaRPr lang="en-US" sz="1250" dirty="0"/>
          </a:p>
          <a:p>
            <a:pPr algn="l" indent="0" marL="0">
              <a:buNone/>
            </a:pPr>
            <a:r>
              <a:rPr lang="en-US" sz="1250" dirty="0">
                <a:solidFill>
                  <a:srgbClr val="1E6B52"/>
                </a:solidFill>
                <a:latin typeface="Calibri" pitchFamily="34" charset="0"/>
                <a:cs typeface="Amiri" pitchFamily="2" charset="-78"/>
              </a:rPr>
              <a:t>girl → sīrī, in‘aṭifī</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البَنْكُ بَعِيدٌ مِنَ البَيْتِ.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Far: min or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الصَّيْدَلِيَّةُ قَرِيبٌ مِنَ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Pharmacy: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سَلْمَى، اِنْعَطِفْ يَمِينًا.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is a girl: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البَنْكُ بَعِيدٌ مِنَ البَيْتِ.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البَنْكُ بَعِيدٌ عَنِ البَيْتِ.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Near takes min, far takes ‘an: do not swap them.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الصَّيْدَلِيَّةُ قَرِيبٌ مِنَ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الصَّيْدَلِيَّةُ قَرِيبَةٌ مِنَ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pharmacy is feminine: qarība.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سَلْمَى، اِنْعَطِفْ يَمِينًا.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سَلْمَى، اِنْعَطِفِي يَمِينًا.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Talking to a girl: add -ī to the command.</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to the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Salma start?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station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park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her left?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pharmacy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restaurant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turn right?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bank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roundabout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traffic lights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library next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public park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restaurant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Omar say sīrī, not sir?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talking to a group.</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talking to a girl.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talking about himself.</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 start · 3 landmarks · the turn · the destination.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سَلْمَى: عُذْرًا، كَيْفَ أَذْهَبُ إِلَى المَكْتَبَةِ مِنَ المَدْرَسَةِ؟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Excuse me, how do I get to the library from the school?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عُمَرُ: سِيرِي مُسْتَقِيمًا فِي شَارِعِ النَّهْضَةِ. سَتَرَيْنَ بَنْكًا عَلَى يَسَارِكِ وَصَيْدَلِيَّةً عَلَى يَمِينِكِ.</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Walk straight along Nahda Street. You will see a bank on your left and a pharmacy on your right.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 إِشَارَةِ المُرُورِ، اِنْعَطِفِي يَمِينًا وَاعْبُرِي الشَّارِعَ عِنْدَ مَعْبَرِ المُشَاةِ.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traffic lights, turn right and cross the street at the pedestrian crossing.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المَكْتَبَةُ بِجَانِبِ الحَدِيقَةِ العَامَّةِ وَمُقَابِلَ المَطْعَمِ. هِيَ قَرِيبَةٌ مِنَ المَحَطَّةِ.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 is next to the public park and opposite the restaurant. It is near the station.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سَلْمَى: شُكْرًا جَزِيلًا. عُمَرُ: عَفْوًا.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Thank you very much. Omar: You’re welcome.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Salma start?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school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station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park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t>
            </a:r>
            <a:pPr algn="l" indent="0" marL="0">
              <a:buNone/>
            </a:pPr>
            <a:r>
              <a:rPr lang="ar-SA" altLang="en-US" sz="1350" dirty="0">
                <a:solidFill>
                  <a:srgbClr val="8A6D1E"/>
                </a:solidFill>
                <a:latin typeface="Amiri" pitchFamily="2" charset="-78"/>
                <a:ea typeface="Amiri" pitchFamily="2" charset="-78"/>
                <a:cs typeface="Amiri" pitchFamily="2" charset="-78"/>
              </a:rPr>
              <a:t>مِنَ المَدْرَسَةِ</a:t>
            </a:r>
            <a:pPr algn="l" indent="0" marL="0">
              <a:buNone/>
            </a:pPr>
            <a:r>
              <a:rPr lang="en-US" sz="1050" i="1" dirty="0">
                <a:solidFill>
                  <a:srgbClr val="8A6D1E"/>
                </a:solidFill>
                <a:latin typeface="Calibri" pitchFamily="34" charset="0"/>
                <a:cs typeface="Amiri" pitchFamily="2" charset="-78"/>
              </a:rPr>
              <a:t> (from the school).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her left?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pharmacy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restaurant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bank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بَنْكًا عَلَى يَسَارِكِ.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turn right?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bank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roundabout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traffic lights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 إِشَارَةِ المُرُورِ.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library next to?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public park</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restaurant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بِجَانِبِ الحَدِيقَةِ العَامَّةِ</a:t>
            </a:r>
            <a:pPr algn="l" indent="0" marL="0">
              <a:buNone/>
            </a:pPr>
            <a:r>
              <a:rPr lang="en-US" sz="1050" i="1" dirty="0">
                <a:solidFill>
                  <a:srgbClr val="8A6D1E"/>
                </a:solidFill>
                <a:latin typeface="Calibri" pitchFamily="34" charset="0"/>
                <a:cs typeface="Amiri" pitchFamily="2" charset="-78"/>
              </a:rPr>
              <a:t> — it is OPPOSITE the restaurant.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Omar say sīrī, not sir?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talking to a group.</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talking to a girl.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talking about himself.</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-ī ending is for one female listener.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 start · 3 landmarks · the turn · the destination.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A QUIET AREA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quiet neighbourhood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حَيٍّ هَادِئٍ.</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quiet neighbourhood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بَيْتِي قَرِيبٌ مِنَ المَدْرَسَةِ وَبَعِيدٌ عَنِ المَحَطَّةِ.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the school · far from the station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أَمَامَ بَيْتِي حَدِيقَةٌ عَامَّةٌ، وَخَلْفَ الحَدِيقَةِ مَلْعَبٌ كَبِيرٌ.</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a park · behind the park: a big pitch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الصَّيْدَلِيَّةُ بِجَانِبِ السُّوبَرْمَارْكِتِ، وَالمَكْتَبَةُ مُقَابِلَ البَنْكِ.</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Pharmacy next to the supermarket · library opposite the bank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حَيِّي لِأَنَّهُ جَمِيلٌ وَآمِنٌ.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beautiful and safe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TEXT B · A BUSY AREA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busy area</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تَعِيشُ لَيْلَى فِي شَقَّةٍ فِي حَيٍّ مُزْدَحِمٍ.</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flat in a busy neighbourhood</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 شَقَّتِهَا مَخْبَزٌ، وَعَلَى يَسَارِ البِنَايَةِ مَقْهًى صَغِيرٌ.</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flat: a bakery · left of the building: a small café</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المُسْتَشْفَى بَعِيدٌ عَنْ بَيْتِهَا، وَلَكِنَّ مَوْقِفَ الحَافِلَاتِ قَرِيبٌ جِدًّا.</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 far · bus stop: very near</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 الزَّاوِيَةِ مَكْتَبُ البَرِيدِ،</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corner: the post office</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وَمَرْكَزُ الشُّرْطَةِ بَيْنَ المَحَطَّةِ وَالسُّوقِ.</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Police station: between the station and the market</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Quiet or busy?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is in front of the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 pitch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park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Where is the library?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bank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pharmacy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park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Why does the writer like the area?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busy.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the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beautiful and safe.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under Layla’s flat?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café</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bakery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post office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very near?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hospital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stop</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position word,</a:t>
            </a:r>
            <a:endParaRPr lang="en-US" sz="1250" dirty="0"/>
          </a:p>
          <a:p>
            <a:pPr algn="l" indent="0" marL="0">
              <a:buNone/>
            </a:pPr>
            <a:r>
              <a:rPr lang="en-US" sz="1250" dirty="0">
                <a:solidFill>
                  <a:srgbClr val="1F2A37"/>
                </a:solidFill>
                <a:latin typeface="Calibri" pitchFamily="34" charset="0"/>
                <a:cs typeface="Amiri" pitchFamily="2" charset="-78"/>
              </a:rPr>
              <a:t>then read the place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is in front of the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big pitch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public park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أَمَامَ بَيْتِي حَدِيقَةٌ عَامَّةٌ.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Where is the library?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opposite the bank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pharmacy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park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المَكْتَبَةُ مُقَابِلَ البَنْكِ.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Why does the writer like the area?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busy.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the station.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beautiful and safe.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جَمِيلٌ وَآمِنٌ.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under Layla’s flat?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café</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bakery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post office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 شَقَّتِهَا مَخْبَزٌ.</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very near?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hospital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bus stop</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مَوْقِفَ الحَافِلَاتِ قَرِيبٌ جِدًّا.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position word,</a:t>
            </a:r>
            <a:endParaRPr lang="en-US" sz="1250" dirty="0"/>
          </a:p>
          <a:p>
            <a:pPr algn="l" indent="0" marL="0">
              <a:buNone/>
            </a:pPr>
            <a:r>
              <a:rPr lang="en-US" sz="1250" dirty="0">
                <a:solidFill>
                  <a:srgbClr val="1F2A37"/>
                </a:solidFill>
                <a:latin typeface="Calibri" pitchFamily="34" charset="0"/>
                <a:cs typeface="Amiri" pitchFamily="2" charset="-78"/>
              </a:rPr>
              <a:t>then read the place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neighbourhood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حَيِّكَ؟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القَرِيبُ مِنْ بَيْتِكَ؟ وَمَا البَعِيدُ عَنْهُ؟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المَكْتَبَةُ؟ صِفْ مَكَانَهَا.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أَذْهَبُ إِلَى المَسْجِدِ مِنْ بَيْتِكَ؟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حَيِّي ___ وَ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بَيْتِي قَرِيبٌ مِنَ ___ وَبَعِيدٌ عَنِ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المَكْتَبَةُ بِجَانِبِ ___ وَمُقَابِلَ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أَوَّلًا سِرْ مُسْتَقِيمًا، ثُمَّ اِنْعَطِفْ ___ عِنْدَ ___ .</a:t>
            </a:r>
            <a:endParaRPr lang="ar-SA" sz="13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عُذْرًا، كَيْفَ أَذْهَبُ إِلَى المَكْتَبَةِ؟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Excuse me, how do I get to the library?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سِرْ مُسْتَقِيمًا، ثُمَّ اِنْعَطِفْ يَمِينًا عِنْدَ البَنْكِ. المَكْتَبَةُ بِجَانِبِ الحَدِيقَةِ.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Walk straight on, then turn right at the bank. The library is next to the park.</a:t>
            </a:r>
            <a:endParaRPr lang="en-US" sz="8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accurate sentences using the place and position banks.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Eight places with near / far and next to / opposite.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four-step route and a reason for your opinion.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four-step route and a reason for your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areas with wa-lākinna, ayḍan and fī l-muqābil.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areas: wa-lākinna, ayḍan, fī l-muqābil.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سِرْ مُسْتَقِيمًا.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walk straight on.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اِنْعَطِفْ يَسَارًا عِنْدَ البَنْكِ.</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turn left at the bank.</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اِعْبُرِ الشَّارِعَ.</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cross the street.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الصَّيْدَلِيَّةُ بَيْنَ ______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pharmacy is between … and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حَيِّي لِأَنَّهُ آمِنٌ.</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area because it is safe.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حَيٍّ هَادِئٍ.</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quiet neighbourhood.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بَيْتِي قَرِيبٌ مِنَ المَدْرَسَةِ.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house is near the school.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المَحَطَّةُ بَعِيدَةٌ عَنِ البَيْتِ.</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station is far from the house.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المَسْجِدُ بِجَانِبِ الحَدِيقَةِ.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mosque is next to the park.</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المَكْتَبَةُ مُقَابِلَ البَنْكِ.</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is opposite the bank.</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مَدْرَسَةٌ  ·  مَسْجِدٌ  ·  مُسْتَشْفًى  ·  صَيْدَلِيَّةٌ  ·  مَكْتَبَةٌ  ·  مَحَطَّةٌ  ·  قَرِيبٌ مِنْ  ·  بَعِيدٌ عَنْ  ·  بِجَانِبِ  ·  مُقَابِلَ  ·  أَمَامَ  ·  خَلْفَ</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حَيٍّ هَادِئٍ. بَيْتِي قَرِيبٌ مِنَ المَدْرَسَةِ وَبَعِيدٌ عَنِ المَحَطَّةِ. أَمَامَ بَيْتِي حَدِيقَةٌ عَامَّةٌ، وَخَلْفَ الحَدِيقَةِ مَلْعَبٌ كَبِيرٌ. الصَّيْدَلِيَّةُ بِجَانِبِ السُّوبَرْمَارْكِتِ، وَالمَكْتَبَةُ مُقَابِلَ البَنْكِ. أُحِبُّ حَيِّي لِأَنَّهُ جَمِيلٌ وَآمِنٌ.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quiet neighbourhood. My house is near the school and far from the station. In front of my house there is a public park, and behind the park there is a big pitch. The pharmacy is next to the supermarket, and the library is opposite the bank. I love my neighbourhood because it is beautiful and safe.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places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near / far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fixed positions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eight places.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Near → min; far →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Near / far agree with the place (qarība for a feminine place).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route with three commands.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areas.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“far from”.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 عَنْ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 مِنْ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قَرِيبٌ عَنْ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بِجَانِبِ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command for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اِنْعَطِفِي يَسَارًا.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 يَسَارًا.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اِنْعَطِفُوا يَسَارًا.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“far from”.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بَعِيدٌ عَنْ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بَعِيدٌ مِنْ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قَرِيبٌ عَنْ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Far takes ‘an.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بِجَانِبِ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to</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opposite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bi-jānibi = next to.</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command for a girl.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اِنْعَطِفِي يَسَارًا.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اِنْعَطِفْ يَسَارًا.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اِنْعَطِفُوا يَسَارًا.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listener → -ī.</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Neighbourhood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F3-L08 · Describing My Bedroom</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مِرْآةٌ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mirror</a:t>
            </a:r>
            <a:pPr indent="0" marL="0">
              <a:buNone/>
            </a:pPr>
            <a:r>
              <a:rPr lang="ar-SA" sz="1000" i="1" dirty="0">
                <a:solidFill>
                  <a:srgbClr val="5A6472"/>
                </a:solidFill>
                <a:latin typeface="Calibri" pitchFamily="34" charset="0"/>
                <a:ea typeface="Amiri" pitchFamily="2" charset="-78"/>
                <a:cs typeface="Amiri" pitchFamily="2" charset="-78"/>
              </a:rPr>
              <a:t>  pl. مَرَايَا</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وِسَادَةٌ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pillow</a:t>
            </a:r>
            <a:pPr indent="0" marL="0">
              <a:buNone/>
            </a:pPr>
            <a:r>
              <a:rPr lang="ar-SA" sz="1000" i="1" dirty="0">
                <a:solidFill>
                  <a:srgbClr val="5A6472"/>
                </a:solidFill>
                <a:latin typeface="Calibri" pitchFamily="34" charset="0"/>
                <a:ea typeface="Amiri" pitchFamily="2" charset="-78"/>
                <a:cs typeface="Amiri" pitchFamily="2" charset="-78"/>
              </a:rPr>
              <a:t>  pl. وَسَائِدُ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بِطَّانِيَّةٌ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blanket</a:t>
            </a:r>
            <a:pPr indent="0" marL="0">
              <a:buNone/>
            </a:pPr>
            <a:r>
              <a:rPr lang="ar-SA" sz="1000" i="1" dirty="0">
                <a:solidFill>
                  <a:srgbClr val="5A6472"/>
                </a:solidFill>
                <a:latin typeface="Calibri" pitchFamily="34" charset="0"/>
                <a:ea typeface="Amiri" pitchFamily="2" charset="-78"/>
                <a:cs typeface="Amiri" pitchFamily="2" charset="-78"/>
              </a:rPr>
              <a:t>  pl. بِطَّانِيَّاتٌ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shelf</a:t>
            </a:r>
            <a:pPr indent="0" marL="0">
              <a:buNone/>
            </a:pPr>
            <a:r>
              <a:rPr lang="ar-SA" sz="1000" i="1" dirty="0">
                <a:solidFill>
                  <a:srgbClr val="5A6472"/>
                </a:solidFill>
                <a:latin typeface="Calibri" pitchFamily="34" charset="0"/>
                <a:ea typeface="Amiri" pitchFamily="2" charset="-78"/>
                <a:cs typeface="Amiri" pitchFamily="2" charset="-78"/>
              </a:rPr>
              <a:t>  pl. رُفُوفٌ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سِتَارَةٌ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curtain</a:t>
            </a:r>
            <a:pPr indent="0" marL="0">
              <a:buNone/>
            </a:pPr>
            <a:r>
              <a:rPr lang="ar-SA" sz="1000" i="1" dirty="0">
                <a:solidFill>
                  <a:srgbClr val="5A6472"/>
                </a:solidFill>
                <a:latin typeface="Calibri" pitchFamily="34" charset="0"/>
                <a:ea typeface="Amiri" pitchFamily="2" charset="-78"/>
                <a:cs typeface="Amiri" pitchFamily="2" charset="-78"/>
              </a:rPr>
              <a:t>  pl. سَتَائِرُ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colour is your bedroom? (A real or an invented room is fine.)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لَوْنُ غُرْفَتِكَ؟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F3-L07: the Navigation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Map Studio: draw a neighbourhood map with eight places and write six location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7–9-sentence neighbourhood guide with a four-step route and a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F3-L08 · Describing My Bedroom</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غُرْفَتِي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near → min · far → ‘an · a girl → sīrī, in‘aṭifī.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F3-L07 · My Neighbourhood — Places Near My Home</dc:title>
  <dc:subject>PptxGenJS Presentation</dc:subject>
  <dc:creator>Al Madina Online School · Arabic Department</dc:creator>
  <cp:lastModifiedBy>Al Madina Online School · Arabic Department</cp:lastModifiedBy>
  <cp:revision>1</cp:revision>
  <dcterms:created xsi:type="dcterms:W3CDTF">2026-10-11T06:41:32Z</dcterms:created>
  <dcterms:modified xsi:type="dcterms:W3CDTF">2026-10-11T06:41:32Z</dcterms:modified>
</cp:coreProperties>
</file>