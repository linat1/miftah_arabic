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2–6 Warm-up (not marked) · 6–7 Assessment map · 7–22 Listening (20) · 22–32 Reading (10) · 32–48 Writing (20) · 48–56 Speaking (10, one-to-one or trusted pairs) · 56–60 Results and F4 target.
FLEX slides are optional. Use them if the class is moving quickly; otherwise the same activities are on the website for homework.
Content source: Miftah Arabic website, Pathways › Foundation › F3 My Family &amp; Home › Lesson 12 (F3-L12). The website F3-L12 is a four-skill, 60-mark unit assessment: Part A listening 20 (Fatima’s home in Cairo · two siblings: 8 multiple-choice + 4 speaker matches + 4 true / false + two heard words /4) · Part B reading 10 (Samir’s partly vowelled text, six answers in complete Arabic sentences) · Part C writing 20 (label five room items /5 + 60–80 words /15: task completion, range, accuracy) · Part D speaking 10 (five questions: communication /5, accuracy and fluency /5). Every script, text, question, mark and the full-mark writing model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with the teacher listening (it can move to the next lesson).
• Website: “organise the assessment across manageable sessions” — if time is short, listening + reading in class; writing and speaking next lesson.
• Read each listening script twice at natural pace. Do NOT show scripts, model answers or the full-mark model until the section is finished.
• Privacy (website): own or fictional details are accepted in writing and speaking; “this webpage does not record or upload audio” — never ask students to share recordings.
• The language vault is for revision BEFORE the assessment — close it during each section.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four-step plan: 1 Prepare (review the vault, organise sessions) · 2 Listening + Reading (receptive tasks before opening scripts) · 3 Writing + Speaking (visible criteria) · 4 Reflect (four scores + one precise F4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assessment words prepared at home at the end of F3-L11 (website F3-L12 assessment vocabulary). Questions 3–5 are from the website F3-L11 final checkpoint (room agreement, room count,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Read every question fully — then look for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assessment vocabulary: تَقْيِيمٌ assessment · إِنْجَازٌ achievement · تَقَدُّمٌ progress · هَدَفٌ target · ثِقَةٌ confidence. Website “By the end”: understand two connected listening texts · read a partly vowelled description · label room items · write 60–80 connected words · answer five speaking questions · identify one evidence-based F4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Read twice at natural pace; students answer after the second reading.
SCRIPT: أَنَا فَاطِمَةُ، وَأَسْكُنُ مَعَ عَائِلَتِي فِي بَيْتٍ كَبِيرٍ فِي القَاهِرَةِ. فِي بَيْتِنَا سِتُّ غُرَفٍ، وَغُرْفَةُ الجُلُوسِ فِي الطَّابِقِ الأَرْضِيِّ. فِيهَا أَرِيكَةٌ بُنِّيَّةٌ، وَتِلْفَازٌ كَبِيرٌ، وَسَجَّادَةٌ زَرْقَاءُ. المَطْبَخُ أَبْيَضُ وَمُضِيءٌ. بِجَانِبِ بَيْتِنَا مَخْبَزٌ، وَمُقَابِلَهُ حَدِيقَةٌ عَامَّةٌ. أَسْكُنُ مَعَ أَبِي وَأُمِّي وَأَخِي وَأُخْتِي. أُحِبُّ حَيَّنَا لِأَنَّهُ هَادِئٌ، وَغُرْفَتِي المُفَضَّلَةُ هِيَ غُرْفَةُ النَّوْمِ لِأَنَّهَا مُرِيحَةٌ.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8 marks: 4 speaker matches + 4 true / false). Read twice — use two voices if possible (Yusuf / Maryam).
SCRIPT: يُوسُفُ: أَنَا الأَخُ الأَكْبَرُ. أَنَا طَوِيلٌ وَهَادِئٌ، وَأُحِبُّ القِرَاءَةَ فِي غُرْفَتِي. مَرْيَمُ: أَنَا الأُخْتُ الصُّغْرَى. أَنَا قَصِيرَةٌ وَمُضْحِكَةٌ، وَأُحِبُّ الجُلُوسَ فِي الحَدِيقَةِ. يُوسُفُ: غُرْفَتِي زَرْقَاءُ، وَفِيهَا مَكْتَبٌ وَحَاسُوبٌ. مَرْيَمُ: غُرْفَتِي وَرْدِيَّةٌ، وَفِيهَا سَرِيرٌ أَبْيَضُ وَخِزَانَةٌ كَبِيرَةٌ. كِلَانَا يُسَاعِدُ أُمَّنَا فِي البَيْتِ.
Private chat: 9_ 10_ … 16_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HEARD WORDS (website, 4 marks — 2 per word). The website accepts any word from the two scripts, written with or without vowels; it normalises ة/ه and hamza forms (e.g. فاطمه, حديقه, اريكه). Award the marks for a recognisable word from the texts even with a minor spelling slip.
Examples of accepted words (website list): بَيْتٌ، غُرْفَةٌ، أَرِيكَةٌ، سَجَّادَةٌ، زَرْقَاءُ، المَطْبَخُ، حَدِيقَةٌ، مَكْتَبٌ، حَاسُوبٌ، سَرِيرٌ، خِزَانَةٌ، أَبِي، أُمِّي، أَخِي، أُخْتِي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“Read · locate evidence · answer in Arabic.” No English support on the assessment text. Keep this slide on screen while students answer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10 marks). Questions 3–6 carry two marks: one for the correct information, one for a complete accurate sentence.
Access arrangement: the text is on the previous slide — flick back or share it in the chat.
Model answers are on the next slide — show ONLY after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MODEL ANSWERS. Notice the change from “I” in the text (أَدْرُسُ، أُحِبُّ) to “he” in the answers (يَدْرُسُ، يُحِبُّ، غُرْفَتَهُ) — reward it, but at Foundation accept correct information in the “I” form for the first mark.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“label five room items in Arabic”). The website shows a room picture; on this deck the five items are named in English. If you prefer a picture task, share a bedroom image in the chat and number five items.
ANSWERS: ١ سَرِيرٌ · ٢ خِزَانَةٌ · ٣ مَكْتَبٌ · ٤ نَافِذَةٌ · ٥ مِصْبَاحٌ.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completion 5 · range 5 · accuracy 5). Word count 60–80 Arabic words.
Guidance for marking each strand /5: 5 = consistently secure · 4 = secure with minor gaps · 3 = generally successful · 2 = partial · 1 = very limited · 0 = no creditable response.
Website full-mark model on the next slide — show ONLY after students have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FULL-MARK MODEL (as published it ends here; an opinion + reason — e.g. أُحِبُّ بَيْتِي لِأَنَّهُ مُرِيحٌ — completes point 5).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Communication /5 (relevant, understandable answers covering family and home) · Accuracy and fluency /5 (controlled gender and reference, manageable hesitation, intelligible pronunciation).
ORGANISATION: one-to-one with the teacher while others finish writing, or trusted pairs with the teacher listening. Website 3-minute preparation timer. Female forms: صِفِي، عَائِلَتِكِ، بَيْتِكِ.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(website “Results and F4 target”): total /60 and an evidence-based reflection — one achievement with evidence, one difficulty and one precise F4 target:
أَنَا فَخُورٌ / فَخُورَةٌ بِـ… · تَقَدَّمْتُ فِي… · هَدَفِي فِي F4 هُوَ…
The bands are a teacher guide in line with the F1 and F2 assessments (the website totals the four sections but does not print bands). Compare percentages across sections, as the sections have different totals (20 · 10 · 20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(F4-L01 · School Subjects — What Do You Study?) will spend class time USING this language, so students prepare it tonight — short, simple, easy to access (school guidance: “Simple, Short, Interesting, Relevant, Easy to access”). F4 begins with school subjects (website F4-L01 “School Subjects — What Do You Study?”); the لِأَنَّهُ / لِأَنَّهَا notes are the website’s.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Unit Assessment: My Family and Home</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تَقْيِيمُ الوَحْدَةِ — عَائِلَتِي وَبَيْتِي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family and home across listening, reading, writing and speaking — then set one precise, evidence-based target for F4.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F3-L12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unit F3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Warm-up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score and my F4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F4: school.</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warm-up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achievement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result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progress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target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غُرْفَةُ النَّوْمِ ___ مِنَ المَطْبَخِ.</a:t>
            </a:r>
            <a:endParaRPr lang="ar-SA" sz="1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قَرِيبَاتٌ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room count.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غُرَفٍ</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غُرَفٍ</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colour accurately?</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السِّتَارَةُ زَرْقَاءُ.</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السِّتَارَةُ أَزْرَقُ.</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السِّتَارَةُ زَرْقَةٌ.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achievement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result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ثِقَةٌ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confidence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progress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target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غُرْفَةُ النَّوْمِ ___ مِنَ المَطْبَخِ.</a:t>
            </a:r>
            <a:endParaRPr lang="ar-SA" sz="1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قَرِيبَاتٌ</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room count.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غُرَفٍ</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غُرْفَةٌ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غُرَفٍ</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Numbers 3–10 show polarity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colour accurately?</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السِّتَارَةُ زَرْقَاءُ.</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السِّتَارَةُ أَزْرَقُ.</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السِّتَارَةُ زَرْقَةٌ.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broken colour form is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Read every question fully — then look for the evidence.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اِقْرَأْ · اِبْحَثْ عَنِ الدَّلِيلِ · أَجِبْ</a:t>
            </a:r>
            <a:endParaRPr lang="ar-SA" sz="2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sections,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texts: 8 multiple-choice · 4 “who?” · 4 true / false · write 2 words you heard (4)</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Samir’s text · answer six questions in complete Arabic sentences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Label five room items (5) · write 60–80 words about home and family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five family-and-home questions: communication (5) · accuracy and fluency (5)</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LISTENING · TEXT 1 · FATIMA’S HOME IN CAIRO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Fatima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Riyadh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Cairo</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rooms are in the house?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living room?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first floor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ground floor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the garden</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sofa?</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rug?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Pink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opposite the house?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bakery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Fatima?</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parents, brother and sister</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grandmother only</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cousins</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her neighbourhood?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very busy</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the airport</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Fatima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Riyadh</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Cairo</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القَاهِرَةِ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rooms are in the house?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سِتُّ غُرَفٍ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living room?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first floor</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ground floor</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Beside the garden</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a:t>
            </a:r>
            <a:pPr algn="l" indent="0" marL="0">
              <a:buNone/>
            </a:pPr>
            <a:r>
              <a:rPr lang="ar-SA" altLang="en-US" sz="1350" dirty="0">
                <a:solidFill>
                  <a:srgbClr val="8A6D1E"/>
                </a:solidFill>
                <a:latin typeface="Amiri" pitchFamily="34" charset="0"/>
                <a:ea typeface="Amiri" pitchFamily="34" charset="-122"/>
                <a:cs typeface="Amiri" pitchFamily="34" charset="-120"/>
              </a:rPr>
              <a:t>فِي الطَّابِقِ الأَرْضِيِّ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sofa?</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sofa is </a:t>
            </a:r>
            <a:pPr algn="l" indent="0" marL="0">
              <a:buNone/>
            </a:pPr>
            <a:r>
              <a:rPr lang="ar-SA" altLang="en-US" sz="1350" dirty="0">
                <a:solidFill>
                  <a:srgbClr val="8A6D1E"/>
                </a:solidFill>
                <a:latin typeface="Amiri" pitchFamily="34" charset="0"/>
                <a:ea typeface="Amiri" pitchFamily="34" charset="-122"/>
                <a:cs typeface="Amiri" pitchFamily="34" charset="-120"/>
              </a:rPr>
              <a:t>أَرِيكَةٌ بُنِّيَّةٌ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rug?</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Pink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rug is </a:t>
            </a:r>
            <a:pPr algn="l" indent="0" marL="0">
              <a:buNone/>
            </a:pPr>
            <a:r>
              <a:rPr lang="ar-SA" altLang="en-US" sz="1350" dirty="0">
                <a:solidFill>
                  <a:srgbClr val="8A6D1E"/>
                </a:solidFill>
                <a:latin typeface="Amiri" pitchFamily="34" charset="0"/>
                <a:ea typeface="Amiri" pitchFamily="34" charset="-122"/>
                <a:cs typeface="Amiri" pitchFamily="34" charset="-120"/>
              </a:rPr>
              <a:t>سَجَّادَةٌ 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opposite the house?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bakery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public park is opposite the house.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with Fatima?</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Her parents, brother and sister</a:t>
            </a:r>
            <a:endParaRPr lang="en-US" sz="11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grandmother only</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cousins</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names her father, mother, brother and sister.</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her neighbourhood?</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very busy</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the airport</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quiet</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لِأَنَّهُ هَادِئٌ</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TWO SIBLINGS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 Text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 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older sibling?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reading in the bedroom?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 as funny?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a computer in the bedroom?</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Neither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Maryam's room is blue.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77" name="Shape 74"/>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3449574"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0" name="Text 77"/>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Maryam has a white bed.</a:t>
            </a:r>
            <a:endParaRPr lang="en-US" sz="1250" dirty="0"/>
          </a:p>
        </p:txBody>
      </p:sp>
      <p:sp>
        <p:nvSpPr>
          <p:cNvPr id="81" name="Shape 78"/>
          <p:cNvSpPr/>
          <p:nvPr/>
        </p:nvSpPr>
        <p:spPr>
          <a:xfrm>
            <a:off x="3504438" y="48737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84" name="Shape 81"/>
          <p:cNvSpPr/>
          <p:nvPr/>
        </p:nvSpPr>
        <p:spPr>
          <a:xfrm>
            <a:off x="3504438" y="53309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87" name="Shape 8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6313932"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0" name="Text 8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Both siblings help their mother.</a:t>
            </a:r>
            <a:endParaRPr lang="en-US" sz="1250" dirty="0"/>
          </a:p>
        </p:txBody>
      </p:sp>
      <p:sp>
        <p:nvSpPr>
          <p:cNvPr id="91" name="Shape 88"/>
          <p:cNvSpPr/>
          <p:nvPr/>
        </p:nvSpPr>
        <p:spPr>
          <a:xfrm>
            <a:off x="6368796"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3" name="Text 90"/>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94" name="Shape 91"/>
          <p:cNvSpPr/>
          <p:nvPr/>
        </p:nvSpPr>
        <p:spPr>
          <a:xfrm>
            <a:off x="6368796"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6" name="Text 93"/>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97" name="Shape 94"/>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9178290" y="4288536"/>
            <a:ext cx="310896" cy="310896"/>
          </a:xfrm>
          <a:prstGeom prst="ellipse">
            <a:avLst/>
          </a:prstGeom>
          <a:solidFill>
            <a:srgbClr val="1B3B6F"/>
          </a:solidFill>
          <a:ln w="12700">
            <a:solidFill>
              <a:srgbClr val="1B3B6F"/>
            </a:solidFill>
            <a:prstDash val="solid"/>
          </a:ln>
        </p:spPr>
      </p:sp>
      <p:sp>
        <p:nvSpPr>
          <p:cNvPr id="99" name="Text 96"/>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0" name="Text 97"/>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Yusuf is the younger sibling.</a:t>
            </a:r>
            <a:endParaRPr lang="en-US" sz="1250" dirty="0"/>
          </a:p>
        </p:txBody>
      </p:sp>
      <p:sp>
        <p:nvSpPr>
          <p:cNvPr id="101" name="Shape 98"/>
          <p:cNvSpPr/>
          <p:nvPr/>
        </p:nvSpPr>
        <p:spPr>
          <a:xfrm>
            <a:off x="9233154" y="4873752"/>
            <a:ext cx="256032" cy="256032"/>
          </a:xfrm>
          <a:prstGeom prst="ellipse">
            <a:avLst/>
          </a:prstGeom>
          <a:solidFill>
            <a:srgbClr val="F4F1EA"/>
          </a:solidFill>
          <a:ln w="12700">
            <a:solidFill>
              <a:srgbClr val="F4F1EA"/>
            </a:solidFill>
            <a:prstDash val="solid"/>
          </a:ln>
        </p:spPr>
      </p:sp>
      <p:sp>
        <p:nvSpPr>
          <p:cNvPr id="102" name="Text 99"/>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3" name="Text 100"/>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a:t>
            </a:r>
            <a:endParaRPr lang="en-US" sz="1250" dirty="0"/>
          </a:p>
        </p:txBody>
      </p:sp>
      <p:sp>
        <p:nvSpPr>
          <p:cNvPr id="104" name="Shape 101"/>
          <p:cNvSpPr/>
          <p:nvPr/>
        </p:nvSpPr>
        <p:spPr>
          <a:xfrm>
            <a:off x="9233154" y="5330952"/>
            <a:ext cx="256032" cy="256032"/>
          </a:xfrm>
          <a:prstGeom prst="ellipse">
            <a:avLst/>
          </a:prstGeom>
          <a:solidFill>
            <a:srgbClr val="F4F1EA"/>
          </a:solidFill>
          <a:ln w="12700">
            <a:solidFill>
              <a:srgbClr val="F4F1EA"/>
            </a:solidFill>
            <a:prstDash val="solid"/>
          </a:ln>
        </p:spPr>
      </p:sp>
      <p:sp>
        <p:nvSpPr>
          <p:cNvPr id="105" name="Text 102"/>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6" name="Text 103"/>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a:t>
            </a:r>
            <a:endParaRPr lang="en-US" sz="1250" dirty="0"/>
          </a:p>
        </p:txBody>
      </p:sp>
      <p:sp>
        <p:nvSpPr>
          <p:cNvPr id="107"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older sibling?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says </a:t>
            </a:r>
            <a:pPr algn="l" indent="0" marL="0">
              <a:buNone/>
            </a:pPr>
            <a:r>
              <a:rPr lang="ar-SA" altLang="en-US" sz="1350" dirty="0">
                <a:solidFill>
                  <a:srgbClr val="8A6D1E"/>
                </a:solidFill>
                <a:latin typeface="Amiri" pitchFamily="34" charset="0"/>
                <a:ea typeface="Amiri" pitchFamily="34" charset="-122"/>
                <a:cs typeface="Amiri" pitchFamily="34" charset="-120"/>
              </a:rPr>
              <a:t>أَنَا الأَخُ الأَكْبَرُ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reading in the bedroom?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القِرَاءَةَ فِي غُرْفَتِي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described as funny?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says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مُضْحِكَةٌ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a computer in the bedroom?</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Neither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says </a:t>
            </a:r>
            <a:pPr algn="l" indent="0" marL="0">
              <a:buNone/>
            </a:pPr>
            <a:r>
              <a:rPr lang="ar-SA" altLang="en-US" sz="1350" dirty="0">
                <a:solidFill>
                  <a:srgbClr val="8A6D1E"/>
                </a:solidFill>
                <a:latin typeface="Amiri" pitchFamily="34" charset="0"/>
                <a:ea typeface="Amiri" pitchFamily="34" charset="-122"/>
                <a:cs typeface="Amiri" pitchFamily="34" charset="-120"/>
              </a:rPr>
              <a:t>فِيهَا مَكْتَبٌ وَحَاسُوبٌ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Maryam's room is blue.</a:t>
            </a:r>
            <a:endParaRPr lang="en-US" sz="1250" dirty="0"/>
          </a:p>
        </p:txBody>
      </p:sp>
      <p:sp>
        <p:nvSpPr>
          <p:cNvPr id="79" name="Shape 76"/>
          <p:cNvSpPr/>
          <p:nvPr/>
        </p:nvSpPr>
        <p:spPr>
          <a:xfrm>
            <a:off x="548640" y="4837176"/>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83" name="Shape 80"/>
          <p:cNvSpPr/>
          <p:nvPr/>
        </p:nvSpPr>
        <p:spPr>
          <a:xfrm>
            <a:off x="640080"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86" name="Text 83"/>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room is pink: </a:t>
            </a:r>
            <a:pPr algn="l" indent="0" marL="0">
              <a:buNone/>
            </a:pPr>
            <a:r>
              <a:rPr lang="ar-SA" altLang="en-US" sz="1350" dirty="0">
                <a:solidFill>
                  <a:srgbClr val="8A6D1E"/>
                </a:solidFill>
                <a:latin typeface="Amiri" pitchFamily="34" charset="0"/>
                <a:ea typeface="Amiri" pitchFamily="34" charset="-122"/>
                <a:cs typeface="Amiri" pitchFamily="34" charset="-120"/>
              </a:rPr>
              <a:t>غُرْفَتِي وَرْدِيَّةٌ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87" name="Shape 84"/>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344957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Maryam has a white bed.</a:t>
            </a:r>
            <a:endParaRPr lang="en-US" sz="1250" dirty="0"/>
          </a:p>
        </p:txBody>
      </p:sp>
      <p:sp>
        <p:nvSpPr>
          <p:cNvPr id="91" name="Shape 88"/>
          <p:cNvSpPr/>
          <p:nvPr/>
        </p:nvSpPr>
        <p:spPr>
          <a:xfrm>
            <a:off x="3504438" y="487375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3" name="Text 90"/>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94" name="Shape 91"/>
          <p:cNvSpPr/>
          <p:nvPr/>
        </p:nvSpPr>
        <p:spPr>
          <a:xfrm>
            <a:off x="3412998" y="5294376"/>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5330952"/>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97" name="Text 94"/>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98" name="Text 95"/>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سَرِيرٌ أَبْيَضُ</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9" name="Shape 96"/>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6313932" y="4288536"/>
            <a:ext cx="310896" cy="310896"/>
          </a:xfrm>
          <a:prstGeom prst="ellipse">
            <a:avLst/>
          </a:prstGeom>
          <a:solidFill>
            <a:srgbClr val="1B3B6F"/>
          </a:solidFill>
          <a:ln w="12700">
            <a:solidFill>
              <a:srgbClr val="1B3B6F"/>
            </a:solidFill>
            <a:prstDash val="solid"/>
          </a:ln>
        </p:spPr>
      </p:sp>
      <p:sp>
        <p:nvSpPr>
          <p:cNvPr id="101" name="Text 9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2" name="Text 99"/>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Both siblings help their mother.</a:t>
            </a:r>
            <a:endParaRPr lang="en-US" sz="1250" dirty="0"/>
          </a:p>
        </p:txBody>
      </p:sp>
      <p:sp>
        <p:nvSpPr>
          <p:cNvPr id="103" name="Shape 100"/>
          <p:cNvSpPr/>
          <p:nvPr/>
        </p:nvSpPr>
        <p:spPr>
          <a:xfrm>
            <a:off x="6368796" y="4873752"/>
            <a:ext cx="256032" cy="256032"/>
          </a:xfrm>
          <a:prstGeom prst="ellipse">
            <a:avLst/>
          </a:prstGeom>
          <a:solidFill>
            <a:srgbClr val="C9CED6"/>
          </a:solidFill>
          <a:ln w="12700">
            <a:solidFill>
              <a:srgbClr val="C9CED6"/>
            </a:solidFill>
            <a:prstDash val="solid"/>
          </a:ln>
        </p:spPr>
      </p:sp>
      <p:sp>
        <p:nvSpPr>
          <p:cNvPr id="104" name="Text 10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5" name="Text 102"/>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a:t>
            </a:r>
            <a:endParaRPr lang="en-US" sz="1250" dirty="0"/>
          </a:p>
        </p:txBody>
      </p:sp>
      <p:sp>
        <p:nvSpPr>
          <p:cNvPr id="106" name="Shape 103"/>
          <p:cNvSpPr/>
          <p:nvPr/>
        </p:nvSpPr>
        <p:spPr>
          <a:xfrm>
            <a:off x="6277356" y="5294376"/>
            <a:ext cx="2498598" cy="347472"/>
          </a:xfrm>
          <a:prstGeom prst="roundRect">
            <a:avLst>
              <a:gd name="adj" fmla="val 15789"/>
            </a:avLst>
          </a:prstGeom>
          <a:solidFill>
            <a:srgbClr val="E6F4EC"/>
          </a:solidFill>
          <a:ln w="9525">
            <a:solidFill>
              <a:srgbClr val="2E8B57"/>
            </a:solidFill>
            <a:prstDash val="solid"/>
          </a:ln>
        </p:spPr>
      </p:sp>
      <p:sp>
        <p:nvSpPr>
          <p:cNvPr id="107" name="Shape 104"/>
          <p:cNvSpPr/>
          <p:nvPr/>
        </p:nvSpPr>
        <p:spPr>
          <a:xfrm>
            <a:off x="6368796" y="5330952"/>
            <a:ext cx="256032" cy="256032"/>
          </a:xfrm>
          <a:prstGeom prst="ellipse">
            <a:avLst/>
          </a:prstGeom>
          <a:solidFill>
            <a:srgbClr val="2E8B57"/>
          </a:solidFill>
          <a:ln w="12700">
            <a:solidFill>
              <a:srgbClr val="2E8B57"/>
            </a:solidFill>
            <a:prstDash val="solid"/>
          </a:ln>
        </p:spPr>
      </p:sp>
      <p:sp>
        <p:nvSpPr>
          <p:cNvPr id="108" name="Text 105"/>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9" name="Text 106"/>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a:t>
            </a:r>
            <a:endParaRPr lang="en-US" sz="1250" dirty="0"/>
          </a:p>
        </p:txBody>
      </p:sp>
      <p:sp>
        <p:nvSpPr>
          <p:cNvPr id="110" name="Text 107"/>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says </a:t>
            </a:r>
            <a:pPr algn="l" indent="0" marL="0">
              <a:buNone/>
            </a:pPr>
            <a:r>
              <a:rPr lang="ar-SA" altLang="en-US" sz="1350" dirty="0">
                <a:solidFill>
                  <a:srgbClr val="8A6D1E"/>
                </a:solidFill>
                <a:latin typeface="Amiri" pitchFamily="34" charset="0"/>
                <a:ea typeface="Amiri" pitchFamily="34" charset="-122"/>
                <a:cs typeface="Amiri" pitchFamily="34" charset="-120"/>
              </a:rPr>
              <a:t>كِلَانَا يُسَاعِدُ أُمَّنَا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11" name="Shape 108"/>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12" name="Shape 109"/>
          <p:cNvSpPr/>
          <p:nvPr/>
        </p:nvSpPr>
        <p:spPr>
          <a:xfrm>
            <a:off x="9178290" y="4288536"/>
            <a:ext cx="310896" cy="310896"/>
          </a:xfrm>
          <a:prstGeom prst="ellipse">
            <a:avLst/>
          </a:prstGeom>
          <a:solidFill>
            <a:srgbClr val="1B3B6F"/>
          </a:solidFill>
          <a:ln w="12700">
            <a:solidFill>
              <a:srgbClr val="1B3B6F"/>
            </a:solidFill>
            <a:prstDash val="solid"/>
          </a:ln>
        </p:spPr>
      </p:sp>
      <p:sp>
        <p:nvSpPr>
          <p:cNvPr id="113" name="Text 110"/>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14" name="Text 111"/>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True or false: Yusuf is the younger sibling.</a:t>
            </a:r>
            <a:endParaRPr lang="en-US" sz="1250" dirty="0"/>
          </a:p>
        </p:txBody>
      </p:sp>
      <p:sp>
        <p:nvSpPr>
          <p:cNvPr id="115" name="Shape 112"/>
          <p:cNvSpPr/>
          <p:nvPr/>
        </p:nvSpPr>
        <p:spPr>
          <a:xfrm>
            <a:off x="9141714" y="483717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9233154" y="487375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8" name="Text 115"/>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False</a:t>
            </a:r>
            <a:endParaRPr lang="en-US" sz="1250" dirty="0"/>
          </a:p>
        </p:txBody>
      </p:sp>
      <p:sp>
        <p:nvSpPr>
          <p:cNvPr id="119" name="Shape 116"/>
          <p:cNvSpPr/>
          <p:nvPr/>
        </p:nvSpPr>
        <p:spPr>
          <a:xfrm>
            <a:off x="9233154" y="5330952"/>
            <a:ext cx="256032" cy="256032"/>
          </a:xfrm>
          <a:prstGeom prst="ellipse">
            <a:avLst/>
          </a:prstGeom>
          <a:solidFill>
            <a:srgbClr val="C9CED6"/>
          </a:solidFill>
          <a:ln w="12700">
            <a:solidFill>
              <a:srgbClr val="C9CED6"/>
            </a:solidFill>
            <a:prstDash val="solid"/>
          </a:ln>
        </p:spPr>
      </p:sp>
      <p:sp>
        <p:nvSpPr>
          <p:cNvPr id="120" name="Text 117"/>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1" name="Text 118"/>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True</a:t>
            </a:r>
            <a:endParaRPr lang="en-US" sz="1250" dirty="0"/>
          </a:p>
        </p:txBody>
      </p:sp>
      <p:sp>
        <p:nvSpPr>
          <p:cNvPr id="122" name="Text 119"/>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is the older brother.</a:t>
            </a:r>
            <a:endParaRPr lang="en-US" sz="105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HEARD WORDS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Write two Arabic words you heard</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كَلِمَتَانِ سَمِعْتَهُمَا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993392" y="1810512"/>
            <a:ext cx="9665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write</a:t>
            </a:r>
            <a:endParaRPr lang="en-US" sz="1100" dirty="0"/>
          </a:p>
        </p:txBody>
      </p:sp>
      <p:sp>
        <p:nvSpPr>
          <p:cNvPr id="17" name="Text 14"/>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2029968" y="2267712"/>
            <a:ext cx="9628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Word 1: any Arabic word that appears in Text 1 or Text 2, spelt so it can be recognised.</a:t>
            </a:r>
            <a:endParaRPr lang="en-US" sz="1100" dirty="0"/>
          </a:p>
        </p:txBody>
      </p:sp>
      <p:sp>
        <p:nvSpPr>
          <p:cNvPr id="20" name="Text 17"/>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2029968" y="3054096"/>
            <a:ext cx="9628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Word 2: a different word from the texts (for example a room, a colour or a family member).</a:t>
            </a:r>
            <a:endParaRPr lang="en-US" sz="1100" dirty="0"/>
          </a:p>
        </p:txBody>
      </p:sp>
      <p:sp>
        <p:nvSpPr>
          <p:cNvPr id="25" name="Text 22"/>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Text 2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Type or write your two words now. Listening total: Text 1 (8) + Text 2 (8) + heard words (4) = 20.</a:t>
            </a:r>
            <a:endParaRPr lang="en-US" sz="11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PARTLY VOWELLED TEXT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Samir’s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سَامِرٌ، وَأَسْكُنُ مَعَ أُسْرَتِي فِي شَقَّةٍ وَاسِعَةٍ قَرِيبَةٍ مِنَ المَدْرَسَةِ. عِنْدِي أَخٌ أَصْغَرُ وَأُخْتٌ كُبْرَى. أَبِي مُعَلِّمٌ هَادِئٌ، وَأُمِّي طَبِيبَةٌ لَطِيفَةٌ. فِي شَقَّتِنَا ثَلَاثُ غُرَفِ نَوْمٍ وَغُرْفَةُ جُلُوسٍ كَبِيرَةٌ. فِي غُرْفَتِي سَرِيرٌ وَمَكْتَبٌ وَرُفُوفٌ. المَكْتَبُ تَحْتَ النَّافِذَةِ، وَالحَاسُوبُ عَلَيْهِ. أُحِبُّ غُرْفَتِي لِأَنَّهَا مُرَتَّبَةٌ وَمُضِيئَةٌ. فِي المَسَاءِ أَدْرُسُ أَوَّلًا، ثُمَّ أَجْلِسُ مَعَ عَائِلَتِي فِي غُرْفَةِ الجُلُوسِ.</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READING · 10 MARKS · ANSWER IN COMPLETE ARABIC SENTENCES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questions about Samir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English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10561320"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1" name="Text 18"/>
          <p:cNvSpPr txBox="1"/>
          <p:nvPr/>
        </p:nvSpPr>
        <p:spPr>
          <a:xfrm>
            <a:off x="3959352" y="2267712"/>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 مَعَ مَنْ يَسْكُنُ سَامِرٌ؟</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Samir live with?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10561320"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7" name="Text 24"/>
          <p:cNvSpPr txBox="1"/>
          <p:nvPr/>
        </p:nvSpPr>
        <p:spPr>
          <a:xfrm>
            <a:off x="3959352" y="2881884"/>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 مَا عَمَلُ أَبِيهِ؟</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his father’s job?</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10561320"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959352" y="3496056"/>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 كَمْ غُرْفَةَ نَوْمٍ فِي الشَّقَّةِ؟</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many bedrooms?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10561320"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9" name="Text 36"/>
          <p:cNvSpPr txBox="1"/>
          <p:nvPr/>
        </p:nvSpPr>
        <p:spPr>
          <a:xfrm>
            <a:off x="3959352" y="4110228"/>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 أَيْنَ المَكْتَبُ وَالحَاسُوبُ؟</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are the desk and computer?</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10561320"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43" name="Text 40"/>
          <p:cNvSpPr txBox="1"/>
          <p:nvPr/>
        </p:nvSpPr>
        <p:spPr>
          <a:xfrm>
            <a:off x="3959352" y="4724400"/>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 مَاذَا يُحِبُّ سَامِرٌ فِي بَيْتِهِ؟ وَلِمَاذَا؟</a:t>
            </a:r>
            <a:endParaRPr lang="ar-SA" sz="2200" dirty="0"/>
          </a:p>
        </p:txBody>
      </p:sp>
      <p:sp>
        <p:nvSpPr>
          <p:cNvPr id="44" name="Text 41"/>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he like, and why?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561320"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47" name="Text 44"/>
          <p:cNvSpPr txBox="1"/>
          <p:nvPr/>
        </p:nvSpPr>
        <p:spPr>
          <a:xfrm>
            <a:off x="3959352" y="5338572"/>
            <a:ext cx="6400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 مَاذَا يَفْعَلُ فِي المَسَاءِ؟</a:t>
            </a:r>
            <a:endParaRPr lang="ar-SA" sz="2200" dirty="0"/>
          </a:p>
        </p:txBody>
      </p:sp>
      <p:sp>
        <p:nvSpPr>
          <p:cNvPr id="48" name="Text 45"/>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he do in the evening?</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 your answers 1–6. Core: a short Arabic phrase from the text still earns the first mark.</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WEBSITE MODEL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model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النَّمُوذَجِيَّةُ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 يَسْكُنُ سَامِرٌ مَعَ أُسْرَتِهِ. · ٢ أَبُوهُ مُعَلِّمٌ.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 with his family · 2 a teacher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٣ فِي الشَّقَّةِ ثَلَاثُ غُرَفِ نَوْمٍ.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three bedrooms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٤ المَكْتَبُ تَحْتَ النَّافِذَةِ، وَالحَاسُوبُ عَلَى المَكْتَبِ.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 desk under the window, computer on the desk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٥ يُحِبُّ غُرْفَتَهُ لِأَنَّهَا مُرَتَّبَةٌ وَمُضِيئَةٌ.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his room — tidy and bright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٦ يَدْرُسُ أَوَّلًا، ثُمَّ يَجْلِسُ مَعَ عَائِلَتِهِ.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 studies first, then sits with his family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Label five room items in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Write the Arabic noun</a:t>
            </a:r>
            <a:endParaRPr lang="en-US" sz="1100" dirty="0"/>
          </a:p>
        </p:txBody>
      </p:sp>
      <p:sp>
        <p:nvSpPr>
          <p:cNvPr id="17" name="Text 14"/>
          <p:cNvSpPr txBox="1"/>
          <p:nvPr/>
        </p:nvSpPr>
        <p:spPr>
          <a:xfrm>
            <a:off x="18105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Item (English)</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53328" y="2267712"/>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84708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bed</a:t>
            </a:r>
            <a:endParaRPr lang="en-US" sz="1100" dirty="0"/>
          </a:p>
        </p:txBody>
      </p:sp>
      <p:sp>
        <p:nvSpPr>
          <p:cNvPr id="22" name="Text 19"/>
          <p:cNvSpPr txBox="1"/>
          <p:nvPr/>
        </p:nvSpPr>
        <p:spPr>
          <a:xfrm>
            <a:off x="56692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53328" y="300471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184708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wardrobe</a:t>
            </a:r>
            <a:endParaRPr lang="en-US" sz="1100" dirty="0"/>
          </a:p>
        </p:txBody>
      </p:sp>
      <p:sp>
        <p:nvSpPr>
          <p:cNvPr id="28" name="Text 25"/>
          <p:cNvSpPr txBox="1"/>
          <p:nvPr/>
        </p:nvSpPr>
        <p:spPr>
          <a:xfrm>
            <a:off x="56692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53328" y="3741725"/>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84708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desk</a:t>
            </a:r>
            <a:endParaRPr lang="en-US" sz="1100" dirty="0"/>
          </a:p>
        </p:txBody>
      </p:sp>
      <p:sp>
        <p:nvSpPr>
          <p:cNvPr id="34" name="Text 31"/>
          <p:cNvSpPr txBox="1"/>
          <p:nvPr/>
        </p:nvSpPr>
        <p:spPr>
          <a:xfrm>
            <a:off x="56692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053328" y="4478731"/>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184708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window</a:t>
            </a:r>
            <a:endParaRPr lang="en-US" sz="1100" dirty="0"/>
          </a:p>
        </p:txBody>
      </p:sp>
      <p:sp>
        <p:nvSpPr>
          <p:cNvPr id="40" name="Text 37"/>
          <p:cNvSpPr txBox="1"/>
          <p:nvPr/>
        </p:nvSpPr>
        <p:spPr>
          <a:xfrm>
            <a:off x="56692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6053328" y="5215738"/>
            <a:ext cx="5605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184708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lamp</a:t>
            </a:r>
            <a:endParaRPr lang="en-US" sz="1100" dirty="0"/>
          </a:p>
        </p:txBody>
      </p:sp>
      <p:sp>
        <p:nvSpPr>
          <p:cNvPr id="46" name="Text 43"/>
          <p:cNvSpPr txBox="1"/>
          <p:nvPr/>
        </p:nvSpPr>
        <p:spPr>
          <a:xfrm>
            <a:off x="56692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mark for each recognisable Arabic noun (with or without 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Write 60–80 words about your home and family</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 scheme (15)</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/5</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Describe your family and one person.</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five points, 60–80 words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Describe your home and the number of rooms.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connectors, adjectives,</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Describe one room: furniture, colours, positions.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positions, possessives, reasons</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Mention your neighbourhood or one routine.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-hu / -hā, spelling</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Give an opinion and a reason.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copy a model. Use your own or fictional details. Leave space to improve one sentence after feedback.</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WRITING · THE WEBSITE FULL-MARK MODEL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full-mark response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مَعَ عَائِلَتِي فِي بَيْتٍ مُتَوَسِّطٍ. عِنْدِي أَبٌ وَأُمٌّ وَأُخْتَانِ.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 +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أَبِي طَوِيلٌ وَهَادِئٌ، وَأُمِّي لَطِيفَةٌ وَمُتَعَاوِنَةٌ.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describe people (m. · 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بَيْتِنَا أَرْبَعُ غُرَفٍ وَمَطْبَخٌ وَحَمَّامَانِ. غُرْفَتِي المُفَضَّلَةُ هِيَ غُرْفَةُ النَّوْمِ.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rooms + number · favourite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سَرِيرٌ أَبْيَضُ وَمَكْتَبٌ بُنِّيٌّ بِجَانِبِ النَّافِذَةِ.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furniture · colours · position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حَيُّنَا هَادِئٌ، وَقُرْبَ بَيْتِنَا حَدِيقَةٌ عَامَّةٌ.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neighbourhood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 five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الرَّابِعُ —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855464"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7" name="Text 14"/>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English</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4873752" y="2267712"/>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 صِفْ عَائِلَتَكَ. / صِفِي عَائِلَتَكِ.</a:t>
            </a:r>
            <a:endParaRPr lang="ar-SA" sz="2200" dirty="0"/>
          </a:p>
        </p:txBody>
      </p:sp>
      <p:sp>
        <p:nvSpPr>
          <p:cNvPr id="20" name="Text 17"/>
          <p:cNvSpPr txBox="1"/>
          <p:nvPr/>
        </p:nvSpPr>
        <p:spPr>
          <a:xfrm>
            <a:off x="56692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family.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4873752" y="300471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 صِفْ شَخْصًا وَاحِدًا مِنْ عَائِلَتِكَ.</a:t>
            </a:r>
            <a:endParaRPr lang="ar-SA" sz="2200" dirty="0"/>
          </a:p>
        </p:txBody>
      </p:sp>
      <p:sp>
        <p:nvSpPr>
          <p:cNvPr id="25" name="Text 22"/>
          <p:cNvSpPr txBox="1"/>
          <p:nvPr/>
        </p:nvSpPr>
        <p:spPr>
          <a:xfrm>
            <a:off x="56692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one family member.</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4873752" y="3741725"/>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 صِفْ بَيْتَكَ. / صِفِي بَيْتَكِ.</a:t>
            </a:r>
            <a:endParaRPr lang="ar-SA" sz="2200" dirty="0"/>
          </a:p>
        </p:txBody>
      </p:sp>
      <p:sp>
        <p:nvSpPr>
          <p:cNvPr id="30" name="Text 27"/>
          <p:cNvSpPr txBox="1"/>
          <p:nvPr/>
        </p:nvSpPr>
        <p:spPr>
          <a:xfrm>
            <a:off x="56692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your home.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4873752" y="4478731"/>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 مَا هِيَ غُرْفَتُكَ المُفَضَّلَةُ؟ وَلِمَاذَا؟</a:t>
            </a:r>
            <a:endParaRPr lang="ar-SA" sz="2200" dirty="0"/>
          </a:p>
        </p:txBody>
      </p:sp>
      <p:sp>
        <p:nvSpPr>
          <p:cNvPr id="35" name="Text 32"/>
          <p:cNvSpPr txBox="1"/>
          <p:nvPr/>
        </p:nvSpPr>
        <p:spPr>
          <a:xfrm>
            <a:off x="56692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favourite room and why?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4873752" y="521573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 مَاذَا يُوجَدُ قُرْبَ بَيْتِكَ؟</a:t>
            </a:r>
            <a:endParaRPr lang="ar-SA" sz="2200" dirty="0"/>
          </a:p>
        </p:txBody>
      </p:sp>
      <p:sp>
        <p:nvSpPr>
          <p:cNvPr id="40" name="Text 37"/>
          <p:cNvSpPr txBox="1"/>
          <p:nvPr/>
        </p:nvSpPr>
        <p:spPr>
          <a:xfrm>
            <a:off x="56692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near your home?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Prepare cue words only (3 minutes): a direct answer, one detail, one opinion or reason — not a memorised script.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RECORD YOUR SCORE AND SET ONE F4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النَّتِيجَةُ وَهَدَفُ الوَحْدَةِ الرَّابِعَةِ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F3 foundation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for F4 with one practice target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F3 retrieval early in F4</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before F4</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frames: anā fakhūr(a) bi- … (I am proud of) · taqaddamtu fī … (I improved in) · hadafī fī F4 … (my F4 target).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family members, rooms and furniture.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is in my home and where it is.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people and rooms with accurate agreement.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find exact evidence in a text and answer in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60–80 connected words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F3-L12 · F3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F4-L01 · School Subjects — What Do You Study?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الرِّيَاضِيَّاتُ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mathematics</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العُلُومُ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science</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التَّارِيخُ</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history</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الجُغْرَافِيَا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geography</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F4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F3-L12 section with your lowest score; learn the five school subjects.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sentence of your assessed writing, then learn the five subjects.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I study … · I like … because … (using the five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F4-L01 · School Subjects — What Do You Study?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المَوَادُّ الدِّرَاسِيَّةُ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F3 complete — well done! Learn 5 school subjects for F4.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F3-L12 · Unit Assessment: My Family and Home</dc:title>
  <dc:subject>PptxGenJS Presentation</dc:subject>
  <dc:creator>Al Madina Online School · Arabic Department</dc:creator>
  <cp:lastModifiedBy>Al Madina Online School · Arabic Department</cp:lastModifiedBy>
  <cp:revision>1</cp:revision>
  <dcterms:created xsi:type="dcterms:W3CDTF">2026-09-27T16:57:55Z</dcterms:created>
  <dcterms:modified xsi:type="dcterms:W3CDTF">2026-09-27T16:57:55Z</dcterms:modified>
</cp:coreProperties>
</file>