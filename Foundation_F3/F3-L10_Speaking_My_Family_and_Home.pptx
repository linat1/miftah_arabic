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10 (F3-L10). Website sections used: the eight-question F3 bridge and the three routes, the speaking toolkit (16 terms, useful instructions, “keep the conversation moving”, 12 questions), “understand the question before building the answer” (8 question words, the two-sentence principle, 12 questions), the answer-expansion ladder and reference (12 questions), the examiner-prompt listening (8 prompts, 10 questions), the 14 prompt cards, the Talk Builder Mission (14), the 60-second carousel, follow-up questions and recovery language (10), the assessed talk and the /15 self-mark rubric, and the 16-question checkpoint. Picture match: website visual game (family scene).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Rubric (website, /15 — language performance, not personality): Communication /5 · Range /5 · Accuracy &amp; fluency /5.
• Core: four prompt cards, one clear sentence each. Develop: the two-sentence principle + one لِأَنَّ. Stretch: 60 seconds with varied openings (أَمَّا … فَـ) and unaided follow-ups.
• PRIVACY (website): “say the type of home and general location, not a private address”. Real, fictional or ideal family and home are all accepted. Recording is optional; never share a recording without permission.
• Online: camera on, mic muted until invited. Pairs rehearse in breakout rooms; the assessed talk can be one-to-one with the teacher while others work on the website carousel.
• Note: two website follow-up answers contain small errors (تَشْبَهُ → تُشْبِهُ, نَشَاهِدُ → نُشَاهِدُ); the forms on these slides are corrected.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speaking words prepared at home at the end of F3-L09. Questions 3–5 are the website “eight-question F3 bridge” (li’annahu, li’annahā, ammā … fa-).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Answer first. Extend second. Then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three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all five are shared words — سوال، جواب، تفصیل، رائے، سبب. Students who speak Urdu already know the “language of speaking”; today they use it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(website section 3). Also: مَاذَا؟ (what? → an object, feature or action) and هَلْ؟ (yes / no → answer, then extend). The female forms on the website cards: تَسْكُنِينَ، تَعِيشِينَ، عَائِلَتِكِ، صِفِي.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TOOLKIT (website, 16 terms): تَحَدُّثٌ، مُحَادَثَةٌ، بِطَاقَةُ تَحَدُّثٍ، سُؤَالٌ / أَسْئِلَةٌ، إِجَابَةٌ / إِجَابَاتٌ، تَفْصِيلٌ / تَفَاصِيلُ، رَأْيٌ، سَبَبٌ، نُطْقٌ، طَلَاقَةٌ، دِقَّةٌ، تَرَدُّدٌ، تَوَاصُلٌ، تَذَكُّرٌ، تَوْسِيعُ الإِجَابَةِ، مَرَّةً أُخْرَى. Also: هَلْ يُمْكِنُ أَنْ تُعِيدَ السُّؤَالَ؟ (could you repeat the question?), لَا أَفْهَمُ هَذِهِ الكَلِمَةَ (I don’t understand this word). For a female teacher: مِنْ فَضْلِكِ، تَكَلَّمِي.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“Climb the answer-expansion ladder”.
The two-sentence principle (website section 3): answer first, extend second — نَعَمْ، عِنْدِي أَخٌ وَأُخْتٌ. / أَخِي طَوِيلٌ وَمُضْحِكٌ، وَأُخْتِي ذَكِيَّةٌ وَهَادِئَةٌ.
Core stops at step 2; Develop reaches step 4 once; Stretch climbs the ladder for every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“Masculine reference / Feminine reference / Speaker reason”.
Stretch openings (website): أَمَّا أُمِّي فَهِيَ لَطِيفَةٌ وَمُجْتَهِدَةٌ · أَمَّا غُرْفَتِي فَهِيَ صَغِيرَةٌ وَلَكِنَّهَا مُرِيحَةٌ.
Website optional expression: مَا شَاءَ اللهُ، عَائِلَتِي مُحِبَّةٌ وَمُتَعَاوِنَةٌ — a respectful expression sometimes used when praising family; optional,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prompt-decoding questions 3–4 and answer-expansion questions 3–4.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ladder aloud on a website prompt card, then ask a student to “climb” the same prompt about their own (or an invented) favourite room. Stretch: لِأَنَّنَا = because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Speaking extension: after each match, a volunteer adds a second sentence (answer first, extend second): هٰذِهِ أُمِّي. هِيَ لَطِيفَةٌ وَكَرِيمَةٌ.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Speaking extension: after each match, a volunteer adds a second sentence (answer first, extend second): هٰذِهِ أُمِّي. هِيَ لَطِيفَةٌ وَكَرِيمَةٌ.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Talk Builder rounds (home detail, reason for a room, feminine agreement, develop yes / no, ask for repetition). The other 9 are homework. Say every correct answer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says the full two-sentence answer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then answer three prompts aloud.
Listen 1: just listen. Listen 2: note answers. Then chat the letters.
Support: after the second listening, show the read-along slide (Arabic + English, line by line) for Core students.
SCRIPT (read aloud):
مَنْ فِي عَائِلَتِكَ؟ صِفْ أَحَدَ أَفْرَادِ عَائِلَتِكَ. مَاذَا تَفْعَلُ مَعَ عَائِلَتِكَ فِي المَسَاءِ؟ أَيْنَ تَسْكُنُ؟ كَمْ غُرْفَةً فِي بَيْتِكَ؟ مَاذَا يُوجَدُ فِي غُرْفَتِكَ؟ أَيْنَ يَقَعُ مَكْتَبُكَ؟ لِمَاذَا تُحِبُّ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PROMPT CARDS (family, 5 of 6 — also مَاذَا تَفْعَلُ مَعَ عَائِلَتِكَ؟). Read silently first: identify the command, the topic and the evidence the answer needs. The female form after the slash is for a female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PROMPT CARDS (home, 5 of 8 — also مَاذَا يُوجَدُ فِي غُرْفَتِكَ؟، مَاذَا تَفْعَلُ فِي البَيْتِ؟، لِمَاذَا تُحِبُّ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follow-up drill questions 1, 5, 7, 8 and 9. Recovery language (website): دَعْنِي أُفَكِّرُ قَلِيلًا … · فِي رَأْيِي … · عَلَى سَبِيلِ المِثَالِ … — “use a brief thinking phrase, then answer; do not fill the pause with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say the correct answer aloud, then change one detail to make it true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ASSESSED TALK (section 10): plan five cue points — family structure, one family description, home overview, one room in detail, opinion and reason. Speak 45–60 s, then answer two follow-up questions.
Performance sequence (website): 1 read the card · 2 prepare from cue notes · 3 speak 45–60 s · 4 answer two questions · 5 self-mark with evidence.
Follow-up bank (website): مَنْ أَقْرَبُ شَخْصٍ إِلَيْكَ فِي العَائِلَةِ؟ وَلِمَاذَا؟ · مَاذَا تَفْعَلُونَ مَعًا فِي نِهَايَةِ الأُسْبُوعِ؟ · كَيْفَ تُسَاعِدُ أُسْرَتَكَ فِي البَيْتِ؟ · أَيُّ غُرْفَةٍ تَسْتَخْدِمُ أَكْثَرَ؟ · أَيْنَ تَدْرُسُ عَادَةً فِي البَيْتِ؟ · صِفْ بَيْتَكَ المِثَالِيَّ بِجُمْلَتَيْنِ.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prompts in clear sentences using a prompt card. · Develop — Two-sentence answers and at least one reason with li’anna. · Stretch — A full minute: varied openings, detail and an unaided opinion.
Website writing task (Stretch): Website assessed talk: plan FIVE cue points (not a full script) — family structure, one family description, home overview, one room in detail, opinion and reason. Speak for 45–60 seconds, then answer two follow-up questions.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Teacher-made 45–60-second talk covering the five website cue points (≈ 55 words spoken at Foundation pace).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(F3-L11 · F3 Consolidation — Integrated Skills Review) will spend class time USING this language, so students prepare it tonight — short, simple, easy to access (school guidance: “Simple, Short, Interesting, Relevant, Easy to access”). Teacher-chosen review words for the F3-L11 integrated review (retrieve · repair · rehearse · refine).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Speaking: My Family and Home</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التَّحَدُّثُ عَنْ عَائِلَتِي وَبَيْتِي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Decode the question, answer in two connected sentences, speak for 45–60 seconds about family and home, then answer two follow-up questions.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F3-L10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words, then the answer-expansion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Talk Builder mission, examiner prompts, prompt cards.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opinion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تَفْصِيلٌ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أُحِبُّ بَيْتِي ____ مُرِيحٌ.</a:t>
            </a:r>
            <a:endParaRPr lang="ar-SA" sz="16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أُحِبُّ غُرْفَتِي ____ مُرَتَّبَةٌ.</a:t>
            </a:r>
            <a:endParaRPr lang="ar-SA"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varies a family description?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 أُمِّي فَهِيَ...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غُرْفَةً...؟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reason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opinion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تَفْصِيلٌ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answer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sentence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أُحِبُّ بَيْتِي ____ مُرِيحٌ.</a:t>
            </a:r>
            <a:endParaRPr lang="ar-SA" sz="16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 so refer back with </a:t>
            </a:r>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in </a:t>
            </a:r>
            <a:pPr algn="l" indent="0" marL="0">
              <a:buNone/>
            </a:pPr>
            <a:r>
              <a:rPr lang="ar-SA" altLang="en-US" sz="1350" dirty="0">
                <a:solidFill>
                  <a:srgbClr val="8A6D1E"/>
                </a:solidFill>
                <a:latin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أُحِبُّ غُرْفَتِي ____ مُرَتَّبَةٌ.</a:t>
            </a:r>
            <a:endParaRPr lang="ar-SA" sz="14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refer back with </a:t>
            </a:r>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in </a:t>
            </a:r>
            <a:pPr algn="l" indent="0" marL="0">
              <a:buNone/>
            </a:pPr>
            <a:r>
              <a:rPr lang="ar-SA" altLang="en-US" sz="1350" dirty="0">
                <a:solidFill>
                  <a:srgbClr val="8A6D1E"/>
                </a:solidFill>
                <a:latin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varies a family description?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 أُمِّي فَهِيَ...</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بَيْتِي...</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غُرْفَةً...؟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changes focus smoothly to a new person or topic.</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Answer first. Extend second. Then give a reason.</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جَوَابٌ + تَفْصِيلٌ + سَبَبٌ</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common family-and-home speaking prompts.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Develop one-word answers into two or more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li’anna accurately to give reasons.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Deliver a 45–60-second talk and answer two follow-up questions.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four prompts in clear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for a question again.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two-sentence answers.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with li’anna.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speak for a full minute.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follow-ups without notes.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Question words, speaking toolkit and conversation phrases. Core: who, where, how many, why + “once more, please”.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Question words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Speaking toolkit · 16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Keep it moving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سُؤَالٌ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su’āl ·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جَوَابٌ / إِجَابَةٌ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رَأْيٌ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ra’y · opinion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سَبَبٌ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QUESTION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Where? How many?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الاِسْتِفْهَامِ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person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a:t>
            </a:r>
            <a:endParaRPr lang="en-US" sz="1350" dirty="0"/>
          </a:p>
          <a:p>
            <a:pPr indent="0" marL="0">
              <a:buNone/>
            </a:pPr>
            <a:r>
              <a:rPr lang="en-US" sz="1100" i="1" dirty="0">
                <a:solidFill>
                  <a:srgbClr val="5A6472"/>
                </a:solidFill>
                <a:latin typeface="Calibri" pitchFamily="34" charset="0"/>
                <a:cs typeface="Amiri" pitchFamily="2" charset="-78"/>
              </a:rPr>
              <a:t>man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مَنْ فِي عَائِلَتِكَ؟</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مَعَ + …</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 مَنْ؟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whom?</a:t>
            </a:r>
            <a:endParaRPr lang="en-US" sz="1350" dirty="0"/>
          </a:p>
          <a:p>
            <a:pPr indent="0" marL="0">
              <a:buNone/>
            </a:pPr>
            <a:r>
              <a:rPr lang="en-US" sz="1100" i="1" dirty="0">
                <a:solidFill>
                  <a:srgbClr val="5A6472"/>
                </a:solidFill>
                <a:latin typeface="Calibri" pitchFamily="34" charset="0"/>
                <a:cs typeface="Amiri" pitchFamily="2" charset="-78"/>
              </a:rPr>
              <a:t>ma‘a man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مَعَ مَنْ تَعِيشُ؟</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place</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أَيْنَ تَسْكُنُ؟</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2" name="Shape 49"/>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number</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a:t>
            </a:r>
            <a:endParaRPr lang="en-US" sz="1350" dirty="0"/>
          </a:p>
          <a:p>
            <a:pPr indent="0" marL="0">
              <a:buNone/>
            </a:pPr>
            <a:r>
              <a:rPr lang="en-US" sz="1100" i="1" dirty="0">
                <a:solidFill>
                  <a:srgbClr val="5A6472"/>
                </a:solidFill>
                <a:latin typeface="Calibri" pitchFamily="34" charset="0"/>
                <a:cs typeface="Amiri" pitchFamily="2" charset="-78"/>
              </a:rPr>
              <a:t>kam</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كَمْ غُرْفَةً فِي بَيْتِكَ؟</a:t>
            </a:r>
            <a:endParaRPr lang="ar-SA"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لِأَنَّ</a:t>
            </a:r>
            <a:endParaRPr lang="en-US" sz="8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لِمَاذَا؟</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72" name="Text 69"/>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لِمَاذَا تُحِبُّ بَيْتَكَ؟</a:t>
            </a:r>
            <a:endParaRPr lang="ar-SA"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details</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صِفْ / صِفِي</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describe (m. / f.)</a:t>
            </a:r>
            <a:endParaRPr lang="en-US" sz="1350" dirty="0"/>
          </a:p>
          <a:p>
            <a:pPr indent="0" marL="0">
              <a:buNone/>
            </a:pPr>
            <a:r>
              <a:rPr lang="en-US" sz="1100" i="1" dirty="0">
                <a:solidFill>
                  <a:srgbClr val="5A6472"/>
                </a:solidFill>
                <a:latin typeface="Calibri" pitchFamily="34" charset="0"/>
                <a:cs typeface="Amiri" pitchFamily="2" charset="-78"/>
              </a:rPr>
              <a:t>ṣif / ṣifī</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e.g.</a:t>
            </a:r>
            <a:endParaRPr lang="en-US" sz="700" dirty="0"/>
          </a:p>
        </p:txBody>
      </p:sp>
      <p:sp>
        <p:nvSpPr>
          <p:cNvPr id="82" name="Text 79"/>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صِفْ بَيْتَكَ.</a:t>
            </a:r>
            <a:endParaRPr lang="ar-SA"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SPEAKING TOOLKIT AND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Fluency, accuracy, once more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طَلَاقَةٌ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ṭa-lā-qa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diq-qa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نُطْقٌ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pronunciation</a:t>
            </a:r>
            <a:endParaRPr lang="en-US" sz="1350" dirty="0"/>
          </a:p>
          <a:p>
            <a:pPr indent="0" marL="0">
              <a:buNone/>
            </a:pPr>
            <a:r>
              <a:rPr lang="en-US" sz="1100" i="1" dirty="0">
                <a:solidFill>
                  <a:srgbClr val="5A6472"/>
                </a:solidFill>
                <a:latin typeface="Calibri" pitchFamily="34" charset="0"/>
                <a:cs typeface="Amiri" pitchFamily="2" charset="-78"/>
              </a:rPr>
              <a:t>nuṭq</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أُخْرَى، مِنْ فَضْلِكَ.</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more, please.</a:t>
            </a:r>
            <a:endParaRPr lang="en-US" sz="1350" dirty="0"/>
          </a:p>
          <a:p>
            <a:pPr indent="0" marL="0">
              <a:buNone/>
            </a:pPr>
            <a:r>
              <a:rPr lang="en-US" sz="1100" i="1" dirty="0">
                <a:solidFill>
                  <a:srgbClr val="5A6472"/>
                </a:solidFill>
                <a:latin typeface="Calibri" pitchFamily="34" charset="0"/>
                <a:cs typeface="Amiri" pitchFamily="2" charset="-78"/>
              </a:rPr>
              <a:t>mar-ra-tan ukh-rā</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8" name="Shape 4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تَكَلَّمْ بِبُطْءٍ، مِنْ فَضْلِكَ.</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 slowly, please.</a:t>
            </a:r>
            <a:endParaRPr lang="en-US" sz="1350" dirty="0"/>
          </a:p>
          <a:p>
            <a:pPr indent="0" marL="0">
              <a:buNone/>
            </a:pPr>
            <a:r>
              <a:rPr lang="en-US" sz="1100" i="1" dirty="0">
                <a:solidFill>
                  <a:srgbClr val="5A6472"/>
                </a:solidFill>
                <a:latin typeface="Calibri" pitchFamily="34" charset="0"/>
                <a:cs typeface="Amiri" pitchFamily="2" charset="-78"/>
              </a:rPr>
              <a:t>ta-kal-lam bi-buṭ’</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7" name="Shape 5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59" name="Shape 5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دَعْنِي أُفَكِّرُ قَلِيلًا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 a little …</a:t>
            </a:r>
            <a:endParaRPr lang="en-US" sz="1350" dirty="0"/>
          </a:p>
          <a:p>
            <a:pPr indent="0" marL="0">
              <a:buNone/>
            </a:pPr>
            <a:r>
              <a:rPr lang="en-US" sz="1100" i="1" dirty="0">
                <a:solidFill>
                  <a:srgbClr val="5A6472"/>
                </a:solidFill>
                <a:latin typeface="Calibri" pitchFamily="34" charset="0"/>
                <a:cs typeface="Amiri" pitchFamily="2" charset="-78"/>
              </a:rPr>
              <a:t>da‘-nī u-fak-ki-ru qa-lī-lan</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ANSWER-EXPANSION LADDER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Climb the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سُلَّمُ تَوْسِيعِ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320954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adds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11512" y="2267712"/>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١ حَقِيقَةٌ</a:t>
            </a:r>
            <a:endParaRPr lang="ar-SA" sz="2000" dirty="0"/>
          </a:p>
        </p:txBody>
      </p:sp>
      <p:sp>
        <p:nvSpPr>
          <p:cNvPr id="21" name="Text 18"/>
          <p:cNvSpPr txBox="1"/>
          <p:nvPr/>
        </p:nvSpPr>
        <p:spPr>
          <a:xfrm>
            <a:off x="3227832" y="2267712"/>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بَيْتٍ.</a:t>
            </a:r>
            <a:endParaRPr lang="ar-SA" sz="2200" dirty="0"/>
          </a:p>
        </p:txBody>
      </p:sp>
      <p:sp>
        <p:nvSpPr>
          <p:cNvPr id="22" name="Text 19"/>
          <p:cNvSpPr txBox="1"/>
          <p:nvPr/>
        </p:nvSpPr>
        <p:spPr>
          <a:xfrm>
            <a:off x="56692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11512" y="3054096"/>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٢ تَفْصِيلٌ</a:t>
            </a:r>
            <a:endParaRPr lang="ar-SA" sz="2000" dirty="0"/>
          </a:p>
        </p:txBody>
      </p:sp>
      <p:sp>
        <p:nvSpPr>
          <p:cNvPr id="27" name="Text 24"/>
          <p:cNvSpPr txBox="1"/>
          <p:nvPr/>
        </p:nvSpPr>
        <p:spPr>
          <a:xfrm>
            <a:off x="3227832" y="3054096"/>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بَيْتٍ كَبِيرٍ قَرِيبٍ مِنَ المَدْرَسَةِ.</a:t>
            </a:r>
            <a:endParaRPr lang="ar-SA" sz="2200" dirty="0"/>
          </a:p>
        </p:txBody>
      </p:sp>
      <p:sp>
        <p:nvSpPr>
          <p:cNvPr id="28" name="Text 25"/>
          <p:cNvSpPr txBox="1"/>
          <p:nvPr/>
        </p:nvSpPr>
        <p:spPr>
          <a:xfrm>
            <a:off x="56692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Detail</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811512" y="3840480"/>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٣ مِثَالٌ</a:t>
            </a:r>
            <a:endParaRPr lang="ar-SA" sz="2000" dirty="0"/>
          </a:p>
        </p:txBody>
      </p:sp>
      <p:sp>
        <p:nvSpPr>
          <p:cNvPr id="33" name="Text 30"/>
          <p:cNvSpPr txBox="1"/>
          <p:nvPr/>
        </p:nvSpPr>
        <p:spPr>
          <a:xfrm>
            <a:off x="3227832" y="3840480"/>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فِيهِ خَمْسُ غُرَفٍ، وَغُرْفَتِي فِي الطَّابِقِ الأَوَّلِ.</a:t>
            </a:r>
            <a:endParaRPr lang="ar-SA" sz="2200" dirty="0"/>
          </a:p>
        </p:txBody>
      </p:sp>
      <p:sp>
        <p:nvSpPr>
          <p:cNvPr id="34" name="Text 31"/>
          <p:cNvSpPr txBox="1"/>
          <p:nvPr/>
        </p:nvSpPr>
        <p:spPr>
          <a:xfrm>
            <a:off x="56692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Example or position</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811512" y="4626864"/>
            <a:ext cx="18288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٤ رَأْيٌ وَسَبَبٌ</a:t>
            </a:r>
            <a:endParaRPr lang="ar-SA" sz="2000" dirty="0"/>
          </a:p>
        </p:txBody>
      </p:sp>
      <p:sp>
        <p:nvSpPr>
          <p:cNvPr id="37" name="Text 34"/>
          <p:cNvSpPr txBox="1"/>
          <p:nvPr/>
        </p:nvSpPr>
        <p:spPr>
          <a:xfrm>
            <a:off x="3227832" y="4626864"/>
            <a:ext cx="64008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بَيْتِي </a:t>
            </a:r>
            <a:pPr rtl="1" algn="ctr" indent="0" marL="0">
              <a:buNone/>
            </a:pPr>
            <a:r>
              <a:rPr lang="ar-SA" altLang="en-US" sz="2200" b="1" dirty="0">
                <a:solidFill>
                  <a:srgbClr val="1D5FBF"/>
                </a:solidFill>
                <a:latin typeface="Amiri" pitchFamily="2" charset="-78"/>
                <a:cs typeface="Amiri" pitchFamily="2" charset="-78"/>
              </a:rPr>
              <a:t>لِأَنَّهُ</a:t>
            </a:r>
            <a:pPr rtl="1" algn="ctr" indent="0" marL="0">
              <a:buNone/>
            </a:pPr>
            <a:r>
              <a:rPr lang="ar-SA" altLang="en-US" sz="2200" b="1" dirty="0">
                <a:solidFill>
                  <a:srgbClr val="1B3B6F"/>
                </a:solidFill>
                <a:latin typeface="Amiri" pitchFamily="2" charset="-78"/>
                <a:cs typeface="Amiri" pitchFamily="2" charset="-78"/>
              </a:rPr>
              <a:t> مُرِيحٌ وَمُضِيءٌ.</a:t>
            </a:r>
            <a:endParaRPr lang="ar-SA" sz="2200" dirty="0"/>
          </a:p>
        </p:txBody>
      </p:sp>
      <p:sp>
        <p:nvSpPr>
          <p:cNvPr id="38" name="Text 35"/>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reason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 from one secure fact; stop at the level you can control accurately, then extend.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BECAUSE IT / BECAUSE I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li’annahu · li’annahā · li’annanī</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لِأَنَّهُ · لِأَنَّهَا · لِأَنَّنِي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HOUSE · M.</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أُحِبُّ بَيْتِي لِأَنَّهُ وَاسِعٌ.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my house because it is spacious.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بَيْتٌ</a:t>
            </a:r>
            <a:pPr algn="l" indent="0" marL="0">
              <a:buNone/>
            </a:pPr>
            <a:r>
              <a:rPr lang="en-US" sz="1100" dirty="0">
                <a:solidFill>
                  <a:srgbClr val="1F2A37"/>
                </a:solidFill>
                <a:latin typeface="Calibri" pitchFamily="34" charset="0"/>
                <a:cs typeface="Amiri" pitchFamily="2" charset="-78"/>
              </a:rPr>
              <a:t> is masculine.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ROOM · F.</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أُحِبُّ غُرْفَتِي لِأَنَّهَا مُرَتَّبَةٌ.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my room because it is tidy.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غُرْفَةٌ</a:t>
            </a:r>
            <a:pPr algn="l" indent="0" marL="0">
              <a:buNone/>
            </a:pPr>
            <a:r>
              <a:rPr lang="en-US" sz="1100" dirty="0">
                <a:solidFill>
                  <a:srgbClr val="1F2A37"/>
                </a:solidFill>
                <a:latin typeface="Calibri" pitchFamily="34" charset="0"/>
                <a:cs typeface="Amiri" pitchFamily="2" charset="-78"/>
              </a:rPr>
              <a:t> is feminine.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114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4114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ME</a:t>
            </a:r>
            <a:endParaRPr lang="en-US" sz="850" dirty="0"/>
          </a:p>
        </p:txBody>
      </p:sp>
      <p:sp>
        <p:nvSpPr>
          <p:cNvPr id="34" name="Text 31"/>
          <p:cNvSpPr txBox="1"/>
          <p:nvPr/>
        </p:nvSpPr>
        <p:spPr>
          <a:xfrm>
            <a:off x="1051560" y="1874520"/>
            <a:ext cx="29047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لِأَنَّنِي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أَقْرَأُ فِي غُرْفَتِي لِأَنَّنِي أُحِبُّ الهُدُوءَ.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read in my room because I like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“because I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Stretch opening (website): vary the start with ammā … fa-.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أَمَّا أُمِّي فَهِيَ لَطِيفَةٌ وَمُجْتَهِدَةٌ.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أُمِّي لَطِيفَةٌ. أُمِّي مُجْتَهِدَةٌ.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كَمْ غُرْفَةً فِي بَيْتِكَ؟</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family member</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 and rooms</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لِمَاذَا تُحِبُّ بَيْتَكَ؟</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yes/no answer only</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person’s age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مُضِيءٌ.</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مُضِيئَةٌ.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مُضِيئَةٌ.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‘because I like quiet’?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أُحِبُّ الهُدُوءَ.</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يُحِبُّ الهُدُوءَ.</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تُحِبُّ الهُدُوءَ.</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كَمْ غُرْفَةً فِي بَيْتِكَ؟</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family member</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number and rooms</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a:t>
            </a:r>
            <a:pPr algn="l" indent="0" marL="0">
              <a:buNone/>
            </a:pPr>
            <a:r>
              <a:rPr lang="en-US" sz="1050" i="1" dirty="0">
                <a:solidFill>
                  <a:srgbClr val="8A6D1E"/>
                </a:solidFill>
                <a:latin typeface="Calibri" pitchFamily="34" charset="0"/>
                <a:cs typeface="Amiri" pitchFamily="2" charset="-78"/>
              </a:rPr>
              <a:t> asks ‘how many’, so give a number and the counted item.</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must the answer give: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لِمَاذَا تُحِبُّ بَيْتَكَ؟</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reason</a:t>
            </a:r>
            <a:endParaRPr lang="en-US" sz="125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yes/no answer only</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person’s age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asks ‘why’; answer with a reason, usually using </a:t>
            </a:r>
            <a:pPr algn="l" indent="0" marL="0">
              <a:buNone/>
            </a:pPr>
            <a:r>
              <a:rPr lang="ar-SA" altLang="en-US" sz="1350" dirty="0">
                <a:solidFill>
                  <a:srgbClr val="8A6D1E"/>
                </a:solidFill>
                <a:latin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مُضِيءٌ.</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مُضِيئَةٌ.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 مُضِيئَةٌ.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 and a feminine adjective.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‘because I like quiet’?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لِأَنَّنِي أُحِبُّ الهُدُوءَ.</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يُحِبُّ الهُدُوءَ.</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تُحِبُّ الهُدُوءَ.</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لِأَنَّنِي</a:t>
            </a:r>
            <a:pPr algn="l" indent="0" marL="0">
              <a:buNone/>
            </a:pPr>
            <a:r>
              <a:rPr lang="en-US" sz="1050" i="1" dirty="0">
                <a:solidFill>
                  <a:srgbClr val="8A6D1E"/>
                </a:solidFill>
                <a:latin typeface="Calibri" pitchFamily="34" charset="0"/>
                <a:cs typeface="Amiri" pitchFamily="2" charset="-78"/>
              </a:rPr>
              <a:t> begins a reason with ‘because I...’.</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ANSWER AND EXTEND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prompt, four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تَكَلَّمْ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Decode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مَا غُرْفَتُكَ المُفَضَّلَةُ؟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 favourite room.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غُرْفَتِي المُفَضَّلَةُ غُرْفَةُ الجُلُوسِ.</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هِيَ وَاسِعَةٌ، وَفِيهَا أَرِيكَةٌ كَبِيرَةٌ مُقَابِلَ التِّلْفَازِ.</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Extend: object + position.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أُحِبُّهَا </a:t>
            </a:r>
            <a:pPr rtl="1" algn="ctr" indent="0" marL="0">
              <a:lnSpc>
                <a:spcPct val="120000"/>
              </a:lnSpc>
              <a:buNone/>
            </a:pPr>
            <a:r>
              <a:rPr lang="ar-SA" altLang="en-US" sz="1750" b="1" dirty="0">
                <a:solidFill>
                  <a:srgbClr val="D6336C"/>
                </a:solidFill>
                <a:latin typeface="Amiri" pitchFamily="2" charset="-78"/>
                <a:cs typeface="Amiri" pitchFamily="2" charset="-78"/>
              </a:rPr>
              <a:t>لِأَنَّنَا</a:t>
            </a:r>
            <a:pPr rtl="1" algn="ctr" indent="0" marL="0">
              <a:lnSpc>
                <a:spcPct val="120000"/>
              </a:lnSpc>
              <a:buNone/>
            </a:pPr>
            <a:r>
              <a:rPr lang="ar-SA" altLang="en-US" sz="1750" b="1" dirty="0">
                <a:solidFill>
                  <a:srgbClr val="1B3B6F"/>
                </a:solidFill>
                <a:latin typeface="Amiri" pitchFamily="2" charset="-78"/>
                <a:cs typeface="Amiri" pitchFamily="2" charset="-78"/>
              </a:rPr>
              <a:t> نَجْلِسُ فِيهَا مَعًا فِي المَسَاءِ.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we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غُرْفَتِي المُفَضَّلَةُ غُرْفَةُ الجُلُوسِ. هِيَ وَاسِعَةٌ، وَفِيهَا أَرِيكَةٌ كَبِيرَةٌ مُقَابِلَ التِّلْفَازِ. أُحِبُّهَا </a:t>
            </a:r>
            <a:pPr rtl="1" algn="r" indent="0" marL="0">
              <a:buNone/>
            </a:pPr>
            <a:r>
              <a:rPr lang="ar-SA" altLang="en-US" sz="2000" b="1" dirty="0">
                <a:solidFill>
                  <a:srgbClr val="D6336C"/>
                </a:solidFill>
                <a:latin typeface="Amiri" pitchFamily="2" charset="-78"/>
                <a:cs typeface="Amiri" pitchFamily="2" charset="-78"/>
              </a:rPr>
              <a:t>لِأَنَّنَا</a:t>
            </a:r>
            <a:pPr rtl="1" algn="r" indent="0" marL="0">
              <a:buNone/>
            </a:pPr>
            <a:r>
              <a:rPr lang="ar-SA" altLang="en-US" sz="2000" b="1" dirty="0">
                <a:solidFill>
                  <a:srgbClr val="1B3B6F"/>
                </a:solidFill>
                <a:latin typeface="Amiri" pitchFamily="2" charset="-78"/>
                <a:cs typeface="Amiri" pitchFamily="2" charset="-78"/>
              </a:rPr>
              <a:t> نَجْلِسُ فِيهَا مَعًا فِي المَسَاءِ.</a:t>
            </a:r>
            <a:endParaRPr lang="ar-SA" sz="20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My favourite room is the living room. It is spacious, and it has a big sofa opposite the TV. I love it because we sit in it together in the evening.</a:t>
            </a:r>
            <a:endParaRPr lang="en-US" sz="125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FAMILY SCENE”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Warm-up: who is it?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mother and girl</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boys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grandfather and boy</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أَخِي.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جَدِّي.</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أُمِّي.</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mother and girl</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أُمِّي.</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mother.</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boys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أَخِي.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brother.</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grandfather and boy</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جَدِّي.</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grandfather.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“TALK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بِنَاءِ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useful home detail:</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بَيْتٍ كَبِيرٍ.</a:t>
            </a:r>
            <a:endParaRPr lang="ar-SA" sz="18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هَادِئٌ.</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فِيهِ سِتُّ غُرَفٍ وَحَدِيقَةٌ.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أَتَكَلَّمُ العَرَبِيَّةَ.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Give the correct reason: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مُرَتَّبٌ.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مُرَتَّبَةٌ.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مُرَتَّبَةٌ.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Keep feminine agreement: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أُمِّي...</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لَطِيفَةٌ وَمُجْتَهِدَةٌ.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 وَمُجْتَهِدٌ.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 وَهَادِئَةٌ.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Develop the yes/no answer: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هَلْ عِنْدَكَ إِخْوَةٌ؟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عِنْدِي أَخَوَانِ وَأُخْتٌ.</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 ثَلَاثُ غُرَفٍ.</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for repetition politely: You did not understand the prompt.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 أَنْ تُعِيدَ السُّؤَالَ؟</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أُرِيدُ أَنْ أَتَكَلَّمَ.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السُّؤَالُ خَطَأٌ.</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answer → extend → reason</a:t>
            </a:r>
            <a:endParaRPr lang="en-US" sz="1250" dirty="0"/>
          </a:p>
          <a:p>
            <a:pPr algn="l" indent="0" marL="0">
              <a:buNone/>
            </a:pPr>
            <a:r>
              <a:rPr lang="en-US" sz="1250" dirty="0">
                <a:solidFill>
                  <a:srgbClr val="1E6B52"/>
                </a:solidFill>
                <a:latin typeface="Calibri" pitchFamily="34" charset="0"/>
                <a:cs typeface="Amiri" pitchFamily="2" charset="-78"/>
              </a:rPr>
              <a:t>house -hu · room -hā</a:t>
            </a:r>
            <a:endParaRPr lang="en-US" sz="1250" dirty="0"/>
          </a:p>
          <a:p>
            <a:pPr algn="l" indent="0" marL="0">
              <a:buNone/>
            </a:pPr>
            <a:r>
              <a:rPr lang="en-US" sz="1250" dirty="0">
                <a:solidFill>
                  <a:srgbClr val="1E6B52"/>
                </a:solidFill>
                <a:latin typeface="Calibri" pitchFamily="34" charset="0"/>
                <a:cs typeface="Amiri" pitchFamily="2" charset="-78"/>
              </a:rPr>
              <a:t>stay on the topic</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a useful home detail:</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بَيْتٍ كَبِيرٍ.</a:t>
            </a:r>
            <a:endParaRPr lang="ar-SA" sz="18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 هَادِئٌ.</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فِيهِ سِتُّ غُرَفٍ وَحَدِيقَةٌ.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أَتَكَلَّمُ العَرَبِيَّةَ.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Room count and garden detail develop the home description.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Give the correct reason: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مُرَتَّبٌ.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لِأَنَّنِي مُرَتَّبَةٌ.</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مُرَتَّبَةٌ.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Keep feminine agreement: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أُمِّي...</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لَطِيفَةٌ وَمُجْتَهِدَةٌ.</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لَطِيفٌ وَمُجْتَهِدٌ.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كَبِيرٌ وَهَادِئَةٌ.</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agree with feminine </a:t>
            </a:r>
            <a:pPr algn="l" indent="0" marL="0">
              <a:buNone/>
            </a:pPr>
            <a:r>
              <a:rPr lang="ar-SA" altLang="en-US" sz="1350" dirty="0">
                <a:solidFill>
                  <a:srgbClr val="8A6D1E"/>
                </a:solidFill>
                <a:latin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Develop the yes/no answer: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هَلْ عِنْدَكَ إِخْوَةٌ؟</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نَعَمْ، عِنْدِي أَخَوَانِ وَأُخْتٌ.</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بَيْتِي ثَلَاثُ غُرَفٍ.</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answer gives the requested family detail.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for repetition politely: You did not understand the prompt.</a:t>
            </a:r>
            <a:endParaRPr lang="en-US" sz="125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يُمْكِنُ أَنْ تُعِيدَ السُّؤَالَ؟</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أُرِيدُ أَنْ أَتَكَلَّمَ.</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السُّؤَالُ خَطَأٌ.</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phrase maintains interaction respectfully.</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7" name="Text 9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answer → extend → reason</a:t>
            </a:r>
            <a:endParaRPr lang="en-US" sz="1250" dirty="0"/>
          </a:p>
          <a:p>
            <a:pPr algn="l" indent="0" marL="0">
              <a:buNone/>
            </a:pPr>
            <a:r>
              <a:rPr lang="en-US" sz="1250" dirty="0">
                <a:solidFill>
                  <a:srgbClr val="1E6B52"/>
                </a:solidFill>
                <a:latin typeface="Calibri" pitchFamily="34" charset="0"/>
                <a:cs typeface="Amiri" pitchFamily="2" charset="-78"/>
              </a:rPr>
              <a:t>house -hu · room -hā</a:t>
            </a:r>
            <a:endParaRPr lang="en-US" sz="1250" dirty="0"/>
          </a:p>
          <a:p>
            <a:pPr algn="l" indent="0" marL="0">
              <a:buNone/>
            </a:pPr>
            <a:r>
              <a:rPr lang="en-US" sz="1250" dirty="0">
                <a:solidFill>
                  <a:srgbClr val="1E6B52"/>
                </a:solidFill>
                <a:latin typeface="Calibri" pitchFamily="34" charset="0"/>
                <a:cs typeface="Amiri" pitchFamily="2" charset="-78"/>
              </a:rPr>
              <a:t>stay on the topic</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غُرْفَتِي لِأَنَّهُ مُرِيحٌ.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كَمْ غُرْفَةً فِي بَيْتِكَ؟ — نَعَمْ.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Kam: what must the answer contain?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أَقْرَأُ فِي غُرْفَتِي لِأَنَّ أُحِبُّ الهُدُوءَ.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I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غُرْفَتِي لِأَنَّهُ مُرِيحٌ.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غُرْفَتِي لِأَنَّهَا مُرِيحَةٌ.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Room is feminine: li’annahā.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كَمْ غُرْفَةً فِي بَيْتِكَ؟ — نَعَمْ.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بَيْتِي خَمْسُ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Kam asks for a number: answer the exact question.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أَقْرَأُ فِي غُرْفَتِي لِأَنَّ أُحِبُّ الهُدُوءَ.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أَقْرَأُ فِي غُرْفَتِي لِأَنَّنِي أُحِبُّ الهُدُوءَ.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I … = li’annanī.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Examiner prompt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1 asks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members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room furniture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suitable answer to prompt 4 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عِنْدِي أُخْتٌ.</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المَكْتَبُ بُنِّيٌّ.</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أَسْكُنُ فِي شَقَّةٍ قَرِيبَةٍ مِنَ المَدْرَسَةِ.</a:t>
            </a:r>
            <a:endParaRPr lang="ar-SA" sz="20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5 asks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favourite relative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of rooms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7 requires...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position expression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 for liking family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full answer to prompt 8...</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بَيْتِي.</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أُحِبُّ بَيْتِي لِأَنَّهُ مُرِيحٌ وَقَرِيبٌ مِنَ الحَدِيقَةِ.</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نَعَمْ.</a:t>
            </a:r>
            <a:endParaRPr lang="ar-SA" sz="160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For each prompt write: the question word + the topic.</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فِي عَائِلَتِكَ؟ · صِفْ أَحَدَ أَفْرَادِ عَائِلَتِكَ.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is in your family? · Describe one family member.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مَاذَا تَفْعَلُ مَعَ عَائِلَتِكَ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do you do with your family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أَيْنَ تَسْكُنُ؟ · كَمْ غُرْفَةً فِي بَيْتِكَ؟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 · How many rooms are in your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مَاذَا يُوجَدُ فِي غُرْفَتِكَ؟ · أَيْنَ يَقَعُ مَكْتَبُكَ؟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in your room? · Where is your desk?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لِمَاذَا تُحِبُّ بَيْتَكَ؟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do you like your home?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1 asks for...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family members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room furniture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فِي عَائِلَتِكَ؟</a:t>
            </a:r>
            <a:pPr algn="l" indent="0" marL="0">
              <a:buNone/>
            </a:pPr>
            <a:r>
              <a:rPr lang="en-US" sz="1050" i="1" dirty="0">
                <a:solidFill>
                  <a:srgbClr val="8A6D1E"/>
                </a:solidFill>
                <a:latin typeface="Calibri" pitchFamily="34" charset="0"/>
                <a:cs typeface="Amiri" pitchFamily="2" charset="-78"/>
              </a:rPr>
              <a:t> asks who is in the family.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suitable answer to prompt 4 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عِنْدِي أُخْتٌ.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المَكْتَبُ بُنِّيٌّ.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أَسْكُنُ فِي شَقَّةٍ قَرِيبَةٍ مِنَ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Prompt 4 asks where the speaker lives.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5 asks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favourite relative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number of rooms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غُرْفَةً</a:t>
            </a:r>
            <a:pPr algn="l" indent="0" marL="0">
              <a:buNone/>
            </a:pPr>
            <a:r>
              <a:rPr lang="en-US" sz="1050" i="1" dirty="0">
                <a:solidFill>
                  <a:srgbClr val="8A6D1E"/>
                </a:solidFill>
                <a:latin typeface="Calibri" pitchFamily="34" charset="0"/>
                <a:cs typeface="Amiri" pitchFamily="2" charset="-78"/>
              </a:rPr>
              <a:t> asks how many rooms.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Prompt 7 requires...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position expression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 for liking family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أَيْنَ يَقَعُ مَكْتَبُكَ؟</a:t>
            </a:r>
            <a:pPr algn="l" indent="0" marL="0">
              <a:buNone/>
            </a:pPr>
            <a:r>
              <a:rPr lang="en-US" sz="1050" i="1" dirty="0">
                <a:solidFill>
                  <a:srgbClr val="8A6D1E"/>
                </a:solidFill>
                <a:latin typeface="Calibri" pitchFamily="34" charset="0"/>
                <a:cs typeface="Amiri" pitchFamily="2" charset="-78"/>
              </a:rPr>
              <a:t> asks where the desk is located.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full answer to prompt 8...</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بَيْتِي.</a:t>
            </a:r>
            <a:endParaRPr lang="ar-SA" sz="16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أُحِبُّ بَيْتِي لِأَنَّهُ مُرِيحٌ وَقَرِيبٌ مِنَ الحَدِيقَةِ.</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نَعَمْ.</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responds directly and extends with two relevant details.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For each prompt write: the question word + the topic.</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PROMPT CARDS ·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card, then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بِطَاقَاتُ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فِي عَائِلَتِكَ؟ / عَائِلَتِكِ؟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is in your family? — name people + one description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 مَنْ تَعِيشُ؟ / تَعِيشِينَ؟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do you live with? — ma‘a + possessives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 عِنْدَكَ إِخْوَةٌ؟ / عِنْدَكِ إِخْوَةٌ؟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you have siblings? — number or relationship + one detail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صِفْ أَحَدَ أَفْرَادِ عَائِلَتِكَ. / صِفِي …</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one family member — appearance + personality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لِمَاذَا تُحِبُّ عَائِلَتَكَ؟ / تُحِبِّينَ عَائِلَتَكِ؟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do you love your family? — opinion + li’anna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PROMPT CARDS · HOME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 cards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بِطَاقَاتُ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أَيْنَ تَسْكُنُ؟ / تَسْكُنِينَ؟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 — type of home + general area (NOT an address)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صِفْ بَيْتَكَ. / صِفِي بَيْتَكِ.</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your home — size, rooms, one feature</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 غُرْفَةً فِي بَيْتِكَ؟</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many rooms? — number + names of rooms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غُرْفَتُكَ المُفَضَّلَةُ؟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room? — name it, describe it, say why</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أَيْنَ يَقَعُ السَّرِيرُ أَوِ المَكْتَبُ؟</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is the bed or desk? — a precise position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FOLLOW-UP RESPONSE DRILL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the follow-up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الأَسْئِلَةُ الإِضَافِيَّةُ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مَنْ أَقْرَبُ شَخْصٍ إِلَيْكَ فِي العَائِلَةِ</a:t>
            </a:r>
            <a:endParaRPr lang="ar-SA" sz="11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أُخْتِي أَقْرَبُ شَخْصٍ إِلَيَّ لِأَنَّهَا تَفْهَمُنِي وَتُسَاعِدُنِي.</a:t>
            </a:r>
            <a:endParaRPr lang="ar-SA" sz="14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عِنْدِي أُخْتٌ.</a:t>
            </a:r>
            <a:endParaRPr lang="ar-SA" sz="14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بَيْتِي كَبِيرٌ.</a:t>
            </a:r>
            <a:endParaRPr lang="ar-SA" sz="14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أَيُّ غُرْفَةٍ تَسْتَخْدِمُ أَكْثَرَ</a:t>
            </a:r>
            <a:endParaRPr lang="ar-SA" sz="16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غُرْفَتِي صَغِيرَةٌ.</a:t>
            </a:r>
            <a:endParaRPr lang="ar-SA" sz="14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أَسْتَخْدِمُ غُرْفَتِي أَكْثَرَ لِأَنَّنِي أَدْرُسُ وَأَقْرَأُ فِيهَا.</a:t>
            </a:r>
            <a:endParaRPr lang="ar-SA" sz="14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عِنْدِي غُرْفَةٌ.</a:t>
            </a:r>
            <a:endParaRPr lang="ar-SA" sz="14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هَلْ بَيْتُكَ قَرِيبٌ مِنْ مَكَانٍ مُفِيدٍ؟</a:t>
            </a:r>
            <a:endParaRPr lang="ar-SA" sz="11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نَعَمْ، بَيْتِي قَرِيبٌ مِنَ المَكْتَبَةِ وَالمَتْجَرِ.</a:t>
            </a:r>
            <a:endParaRPr lang="ar-SA" sz="17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نَعَمْ فقط.</a:t>
            </a:r>
            <a:endParaRPr lang="ar-SA" sz="17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أُحِبُّ عَائِلَتِي.</a:t>
            </a:r>
            <a:endParaRPr lang="ar-SA" sz="17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أَيْنَ تَدْرُسُ عَادَةً؟</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أَدْرُسُ كَثِيرًا.</a:t>
            </a:r>
            <a:endParaRPr lang="ar-SA" sz="17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مَكْتَبِي بُنِّيٌّ.</a:t>
            </a:r>
            <a:endParaRPr lang="ar-SA" sz="17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أَدْرُسُ عَادَةً عَلَى مَكْتَبِي بِجَانِبِ النَّافِذَةِ.</a:t>
            </a:r>
            <a:endParaRPr lang="ar-SA" sz="170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appropriately gains brief thinking time?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أَعْرِفُ أَيَّ شَيْءٍ.</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دَعْنِي أُفَكِّرُ قَلِيلًا...</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السُّؤَالُ سَيِّئٌ.</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FOLLOW-UP</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Add, clarify or justify.</a:t>
            </a:r>
            <a:endParaRPr lang="en-US" sz="1250" dirty="0"/>
          </a:p>
          <a:p>
            <a:pPr algn="l" indent="0" marL="0">
              <a:buNone/>
            </a:pPr>
            <a:r>
              <a:rPr lang="en-US" sz="1250" dirty="0">
                <a:solidFill>
                  <a:srgbClr val="1F2A37"/>
                </a:solidFill>
                <a:latin typeface="Calibri" pitchFamily="34" charset="0"/>
                <a:cs typeface="Amiri" pitchFamily="2" charset="-78"/>
              </a:rPr>
              <a:t>Do not repeat the same sentence.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FOLLOW-UP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Follow-ups: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مَنْ أَقْرَبُ شَخْصٍ إِلَيْكَ فِي العَائِلَةِ</a:t>
            </a:r>
            <a:endParaRPr lang="ar-SA" sz="11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أُخْتِي أَقْرَبُ شَخْصٍ إِلَيَّ لِأَنَّهَا تَفْهَمُنِي وَتُسَاعِدُنِي.</a:t>
            </a:r>
            <a:endParaRPr lang="ar-SA" sz="14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عِنْدِي أُخْتٌ.</a:t>
            </a:r>
            <a:endParaRPr lang="ar-SA" sz="14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بَيْتِي كَبِيرٌ.</a:t>
            </a:r>
            <a:endParaRPr lang="ar-SA" sz="14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identifies the person and gives a developed reason.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أَيُّ غُرْفَةٍ تَسْتَخْدِمُ أَكْثَرَ</a:t>
            </a:r>
            <a:endParaRPr lang="ar-SA" sz="16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غُرْفَتِي صَغِيرَةٌ.</a:t>
            </a:r>
            <a:endParaRPr lang="ar-SA" sz="145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أَسْتَخْدِمُ غُرْفَتِي أَكْثَرَ لِأَنَّنِي أَدْرُسُ وَأَقْرَأُ فِيهَا.</a:t>
            </a:r>
            <a:endParaRPr lang="ar-SA" sz="14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عِنْدِي غُرْفَةٌ.</a:t>
            </a:r>
            <a:endParaRPr lang="ar-SA" sz="14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identifies the room and explains why.</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هَلْ بَيْتُكَ قَرِيبٌ مِنْ مَكَانٍ مُفِيدٍ؟</a:t>
            </a:r>
            <a:endParaRPr lang="ar-SA" sz="115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نَعَمْ، بَيْتِي قَرِيبٌ مِنَ المَكْتَبَةِ وَالمَتْجَرِ.</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 فقط.</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عَائِلَتِي.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answers yes and specifies useful nearby places.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Best response to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أَيْنَ تَدْرُسُ عَادَةً؟</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 كَثِيرًا.</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مَكْتَبِي بُنِّيٌّ.</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أَدْرُسُ عَادَةً عَلَى مَكْتَبِي بِجَانِبِ النَّافِذَةِ.</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the exact place and a precise position.</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appropriately gains brief thinking time?</a:t>
            </a:r>
            <a:endParaRPr lang="en-US" sz="1250" dirty="0"/>
          </a:p>
        </p:txBody>
      </p:sp>
      <p:sp>
        <p:nvSpPr>
          <p:cNvPr id="83" name="Shape 80"/>
          <p:cNvSpPr/>
          <p:nvPr/>
        </p:nvSpPr>
        <p:spPr>
          <a:xfrm>
            <a:off x="4459224" y="4831080"/>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أَعْرِفُ أَيَّ شَيْءٍ.</a:t>
            </a:r>
            <a:endParaRPr lang="ar-SA" sz="1700" dirty="0"/>
          </a:p>
        </p:txBody>
      </p:sp>
      <p:sp>
        <p:nvSpPr>
          <p:cNvPr id="86" name="Shape 83"/>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7" name="Shape 84"/>
          <p:cNvSpPr/>
          <p:nvPr/>
        </p:nvSpPr>
        <p:spPr>
          <a:xfrm>
            <a:off x="4459224" y="5202936"/>
            <a:ext cx="256032" cy="256032"/>
          </a:xfrm>
          <a:prstGeom prst="ellipse">
            <a:avLst/>
          </a:prstGeom>
          <a:solidFill>
            <a:srgbClr val="2E8B57"/>
          </a:solidFill>
          <a:ln w="12700">
            <a:solidFill>
              <a:srgbClr val="2E8B57"/>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دَعْنِي أُفَكِّرُ قَلِيلًا...</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السُّؤَالُ سَيِّئٌ.</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دَعْنِي أُفَكِّرُ قَلِيلًا</a:t>
            </a:r>
            <a:pPr algn="l" indent="0" marL="0">
              <a:buNone/>
            </a:pPr>
            <a:r>
              <a:rPr lang="en-US" sz="1050" i="1" dirty="0">
                <a:solidFill>
                  <a:srgbClr val="8A6D1E"/>
                </a:solidFill>
                <a:latin typeface="Calibri" pitchFamily="34" charset="0"/>
                <a:cs typeface="Amiri" pitchFamily="2" charset="-78"/>
              </a:rPr>
              <a:t> is a polite, useful thinking phrase.</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FOLLOW-UP</a:t>
            </a:r>
            <a:endParaRPr lang="en-US" sz="1000" dirty="0"/>
          </a:p>
        </p:txBody>
      </p:sp>
      <p:sp>
        <p:nvSpPr>
          <p:cNvPr id="96" name="Text 9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Add, clarify or justify.</a:t>
            </a:r>
            <a:endParaRPr lang="en-US" sz="1250" dirty="0"/>
          </a:p>
          <a:p>
            <a:pPr algn="l" indent="0" marL="0">
              <a:buNone/>
            </a:pPr>
            <a:r>
              <a:rPr lang="en-US" sz="1250" dirty="0">
                <a:solidFill>
                  <a:srgbClr val="1F2A37"/>
                </a:solidFill>
                <a:latin typeface="Calibri" pitchFamily="34" charset="0"/>
                <a:cs typeface="Amiri" pitchFamily="2" charset="-78"/>
              </a:rPr>
              <a:t>Do not repeat the same sentence.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The assessed talk: 45–60 seconds + two follow-ups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فِي عَائِلَتِكَ؟ · أَيْنَ تَسْكُنُ؟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أَحَدَ أَفْرَادِ عَائِلَتِكَ.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غُرْفَتَكَ. لِمَاذَا تُحِبُّهَا؟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غُرْفَةٍ تَسْتَخْدِمُ أَكْثَرَ؟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عَائِلَتِي ___ . أَسْكُنُ فِي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أَمَّا أُمِّي / أَبِي فَـ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غُرْفَتِي ___ ، وَفِيهَا ___ . أُحِبُّهَا لِأَنَّهَا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أَسْتَخْدِمُ ___ أَكْثَرَ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غُرْفَتُكَ المُفَضَّلَةُ؟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غُرْفَتِي المُفَضَّلَةُ غُرْفَةُ الجُلُوسِ لِأَنَّهَا وَاسِعَةٌ. نَجْلِسُ فِيهَا مَعًا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favourite room is the living room because it is spacious. We sit in it together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prompts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four prompts in clear sentences using a prompt card.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clear sentence per prompt card, with the stems.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45 seconds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Two-sentence answers and at least one reason with li’anna.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sentences per point and at least one li’anna.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60 seconds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full minute: varied openings, detail and an unaided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cue points, varied openings, two unaided follow-ups.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أُمِّي فَهِيَ لَطِيفَةٌ.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mother, she is kind.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صَغِيرَةٌ، وَلَكِنَّهَا مُضِيئَةٌ.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small but bright.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غُرْفَتِي لِأَنَّهَا هَادِئَةٌ.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my room because it is quiet.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ثُمَّ أَجْلِسُ مَعَ عَائِلَتِي.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then I sit with my family.</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دَعْنِي أُفَكِّرُ قَلِيلًا … فِي رَأْيِي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Let me think a little … in my opinion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مَعَ عَائِلَتِي فِي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with my family in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أَخٌ وَأُخْتٌ.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brother and a sister.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بَيْتِي أَرْبَعُ غُرَفٍ.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home there are four rooms.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المَكْتَبُ بِجَانِبِ النَّافِذَةِ.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desk is next to the window.</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مَرَّةً أُخْرَى، مِنْ فَضْلِكَ.</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Once more, please.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  أَيْنَ  ·  كَمْ  ·  لِمَاذَا  ·  لِأَنَّهُ  ·  لِأَنَّهَا  ·  لِأَنَّنِي  ·  أَمَّا … فَـ  ·  وَلَكِنَّ  ·  ثُمَّ  ·  بِجَانِبِ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مَعَ عَائِلَتِي فِي شَقَّةٍ مُتَوَسِّطَةِ الحَجْمِ قَرِيبَةٍ مِنَ المَدْرَسَةِ. عِنْدِي أَخٌ وَأُخْتٌ. أَخِي مُضْحِكٌ، أَمَّا أُمِّي فَهِيَ لَطِيفَةٌ وَمُجْتَهِدَةٌ. فِي شَقَّتِنَا أَرْبَعُ غُرَفٍ، وَغُرْفَتِي صَغِيرَةٌ وَلَكِنَّهَا مُضِيئَةٌ. فِيهَا سَرِيرٌ أَبْيَضُ، وَالمَكْتَبُ بِجَانِبِ النَّافِذَةِ. فِي المَسَاءِ أَدْرُسُ فِي غُرْفَتِي، ثُمَّ أَجْلِسُ مَعَ عَائِلَتِي. أُحِبُّ غُرْفَتِي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with my family in a medium-sized flat near the school. I have a brother and a sister. My brother is funny; as for my mother, she is kind and hard-working. Our flat has four rooms, and my room is small but bright. In it there is a white bed, and the desk is next to the window. In the evening I study in my room, then I sit with my family. I love my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family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home + room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Communication: I covered family AND home.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exact question first.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Range: a position, a reason and ammā …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Accuracy: -hu / -hā and agreement controlled.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two follow-ups without notes.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word asks for a reason?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هَادِئٌ</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هَادِئَةٌ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هَادِئَةٌ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‘Could you repeat the question?’</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 أَنْ تُعِيدَ السُّؤَالَ؟</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غُرْفَتُكَ المُفَضَّلَةُ؟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أَجِبْ بِجُمْلَتَيْنِ.</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word asks for a reason?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لِمَاذَا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means ‘why’.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أُحِبُّ غُرْفَتِي...</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لِأَنَّهُ هَادِئٌ</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لِأَنَّهَا هَادِئَةٌ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لِأَنَّنِي هَادِئَةٌ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‘Could you repeat the question?’</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هَلْ يُمْكِنُ أَنْ تُعِيدَ السُّؤَالَ؟</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غُرْفَتُكَ المُفَضَّلَةُ؟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أَجِبْ بِجُمْلَتَيْنِ.</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تُعِيدَ السُّؤَالَ</a:t>
            </a:r>
            <a:pPr algn="l" indent="0" marL="0">
              <a:buNone/>
            </a:pPr>
            <a:r>
              <a:rPr lang="en-US" sz="1050" i="1" dirty="0">
                <a:solidFill>
                  <a:srgbClr val="8A6D1E"/>
                </a:solidFill>
                <a:latin typeface="Calibri" pitchFamily="34" charset="0"/>
                <a:cs typeface="Amiri" pitchFamily="2" charset="-78"/>
              </a:rPr>
              <a:t> means repeat the question.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F3-L10 · Speaking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F3-L11 · F3 Consolidation — Integrated Skills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review / revision</a:t>
            </a:r>
            <a:pPr indent="0" marL="0">
              <a:buNone/>
            </a:pPr>
            <a:r>
              <a:rPr lang="en-US" sz="1000" i="1" dirty="0">
                <a:solidFill>
                  <a:srgbClr val="5A6472"/>
                </a:solidFill>
                <a:latin typeface="Calibri" pitchFamily="34" charset="0"/>
                <a:cs typeface="Amiri" pitchFamily="2" charset="-78"/>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خَطَأٌ</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mistake</a:t>
            </a:r>
            <a:pPr indent="0" marL="0">
              <a:buNone/>
            </a:pPr>
            <a:r>
              <a:rPr lang="en-US" sz="1000" i="1" dirty="0">
                <a:solidFill>
                  <a:srgbClr val="5A6472"/>
                </a:solidFill>
                <a:latin typeface="Calibri" pitchFamily="34" charset="0"/>
                <a:cs typeface="Amiri" pitchFamily="2" charset="-78"/>
              </a:rPr>
              <a:t>  pl. أَخْطَاءٌ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تَصْحِيحٌ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correction</a:t>
            </a:r>
            <a:pPr indent="0" marL="0">
              <a:buNone/>
            </a:pPr>
            <a:r>
              <a:rPr lang="en-US" sz="1000" i="1" dirty="0">
                <a:solidFill>
                  <a:srgbClr val="5A6472"/>
                </a:solidFill>
                <a:latin typeface="Calibri" pitchFamily="34" charset="0"/>
                <a:cs typeface="Amiri" pitchFamily="2" charset="-78"/>
              </a:rPr>
              <a:t>  pl. تَصْحِيحَاتٌ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 / goal</a:t>
            </a:r>
            <a:pPr indent="0" marL="0">
              <a:buNone/>
            </a:pPr>
            <a:r>
              <a:rPr lang="en-US" sz="1000" i="1" dirty="0">
                <a:solidFill>
                  <a:srgbClr val="5A6472"/>
                </a:solidFill>
                <a:latin typeface="Calibri" pitchFamily="34" charset="0"/>
                <a:cs typeface="Amiri" pitchFamily="2" charset="-78"/>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وَحْدَةٌ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unit</a:t>
            </a:r>
            <a:pPr indent="0" marL="0">
              <a:buNone/>
            </a:pPr>
            <a:r>
              <a:rPr lang="en-US" sz="1000" i="1" dirty="0">
                <a:solidFill>
                  <a:srgbClr val="5A6472"/>
                </a:solidFill>
                <a:latin typeface="Calibri" pitchFamily="34" charset="0"/>
                <a:cs typeface="Amiri" pitchFamily="2" charset="-78"/>
              </a:rPr>
              <a:t>  pl. وَحَدَاتٌ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F3 lesson was hardest for you? Write your one revision target.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هَدَفُكَ؟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F3-L10: the Talk Builder Mission (14) and the prompt-decoding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60-second carousel: rehearse all three prompt sets.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 45–60-second talk privately, self-mark it /15 and write one improvement.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F3-L11 · F3 Consolidation — Integrated Skills Review</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مُرَاجَعَةُ الوَحْدَةِ الثَّالِثَةِ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first, extend second · li’annahu / li’annahā / li’annanī.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F3-L10 · Speaking: My Family and Home</dc:title>
  <dc:subject>PptxGenJS Presentation</dc:subject>
  <dc:creator>Al Madina Online School · Arabic Department</dc:creator>
  <cp:lastModifiedBy>Al Madina Online School · Arabic Department</cp:lastModifiedBy>
  <cp:revision>1</cp:revision>
  <dcterms:created xsi:type="dcterms:W3CDTF">2026-10-11T06:41:34Z</dcterms:created>
  <dcterms:modified xsi:type="dcterms:W3CDTF">2026-10-11T06:41:34Z</dcterms:modified>
</cp:coreProperties>
</file>