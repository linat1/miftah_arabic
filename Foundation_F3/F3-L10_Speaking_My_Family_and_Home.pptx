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F3 My Family &amp; Home › Lesson 10 (F3-L10). Website sections used: the eight-question F3 bridge and the three routes, the speaking toolkit (16 terms, useful instructions, “keep the conversation moving”, 12 questions), “understand the question before building the answer” (8 question words, the two-sentence principle, 12 questions), the answer-expansion ladder and reference (12 questions), the examiner-prompt listening (8 prompts, 10 questions), the 14 prompt cards, the Talk Builder Mission (14), the 60-second carousel, follow-up questions and recovery language (10), the assessed talk and the /15 self-mark rubric, and the 16-question checkpoint. Picture match: website visual game (family scene).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Rubric (website, /15 — language performance, not personality): Communication /5 · Range /5 · Accuracy &amp; fluency /5.
• Core: four prompt cards, one clear sentence each. Develop: the two-sentence principle + one لِأَنَّ. Stretch: 60 seconds with varied openings (أَمَّا … فَـ) and unaided follow-ups.
• PRIVACY (website): “say the type of home and general location, not a private address”. Real, fictional or ideal family and home are all accepted. Recording is optional; never share a recording without permission.
• Online: camera on, mic muted until invited. Pairs rehearse in breakout rooms; the assessed talk can be one-to-one with the teacher while others work on the website carousel.
• Note: two website follow-up answers contain small errors (تَشْبَهُ → تُشْبِهُ, نَشَاهِدُ → نُشَاهِدُ); the forms on these slides are corrected.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speaking words prepared at home at the end of F3-L09. Questions 3–5 are the website “eight-question F3 bridge” (li’annahu, li’annahā, ammā … fa-).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Answer first. Extend second. Then give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aims (left) and the website three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all five are shared words — سوال، جواب، تفصیل، رائے، سبب. Students who speak Urdu already know the “language of speaking”; today they use it in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(website section 3). Also: مَاذَا؟ (what? → an object, feature or action) and هَلْ؟ (yes / no → answer, then extend). The female forms on the website cards: تَسْكُنِينَ، تَعِيشِينَ، عَائِلَتِكِ، صِفِي.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TOOLKIT (website, 16 terms): تَحَدُّثٌ، مُحَادَثَةٌ، بِطَاقَةُ تَحَدُّثٍ، سُؤَالٌ / أَسْئِلَةٌ، إِجَابَةٌ / إِجَابَاتٌ، تَفْصِيلٌ / تَفَاصِيلُ، رَأْيٌ، سَبَبٌ، نُطْقٌ، طَلَاقَةٌ، دِقَّةٌ، تَرَدُّدٌ، تَوَاصُلٌ، تَذَكُّرٌ، تَوْسِيعُ الإِجَابَةِ، مَرَّةً أُخْرَى. Also: هَلْ يُمْكِنُ أَنْ تُعِيدَ السُّؤَالَ؟ (could you repeat the question?), لَا أَفْهَمُ هَذِهِ الكَلِمَةَ (I don’t understand this word). For a female teacher: مِنْ فَضْلِكِ، تَكَلَّمِي.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section 4 “Climb the answer-expansion ladder”.
The two-sentence principle (website section 3): answer first, extend second — نَعَمْ، عِنْدِي أَخٌ وَأُخْتٌ. / أَخِي طَوِيلٌ وَمُضْحِكٌ، وَأُخْتِي ذَكِيَّةٌ وَهَادِئَةٌ.
Core stops at step 2; Develop reaches step 4 once; Stretch climbs the ladder for every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“Masculine reference / Feminine reference / Speaker reason”.
Stretch openings (website): أَمَّا أُمِّي فَهِيَ لَطِيفَةٌ وَمُجْتَهِدَةٌ · أَمَّا غُرْفَتِي فَهِيَ صَغِيرَةٌ وَلَكِنَّهَا مُرِيحَةٌ.
Website optional expression: مَا شَاءَ اللهُ، عَائِلَتِي مُحِبَّةٌ وَمُتَعَاوِنَةٌ — a respectful expression sometimes used when praising family; optional, not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prompt-decoding questions 3–4 and answer-expansion questions 3–4.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model the ladder aloud on a website prompt card, then ask a student to “climb” the same prompt about their own (or an invented) favourite room. Stretch: لِأَنَّنَا = because we.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Family scene”)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FLEX — website visual game (family). Speaking extension: after each match, a volunteer adds a second sentence (answer first, extend second): هٰذِهِ أُمِّي. هِيَ لَطِيفَةٌ وَكَرِيمَةٌ.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Family scene”)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FLEX — website visual game (family). Speaking extension: after each match, a volunteer adds a second sentence (answer first, extend second): هٰذِهِ أُمِّي. هِيَ لَطِيفَةٌ وَكَرِيمَةٌ.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14 Talk Builder rounds (home detail, reason for a room, feminine agreement, develop yes / no, ask for repetition). The other 9 are homework. Say every correct answer ALOUD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 student says the full two-sentence answer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5. Develop / Stretch: all 5, then answer three prompts aloud.
Listen 1: just listen. Listen 2: note answers. Then chat the letters.
Support: after the second listening, show the read-along slide (Arabic + English, line by line) for Core students.
SCRIPT (read aloud):
مَنْ فِي عَائِلَتِكَ؟ صِفْ أَحَدَ أَفْرَادِ عَائِلَتِكَ. مَاذَا تَفْعَلُ مَعَ عَائِلَتِكَ فِي المَسَاءِ؟ أَيْنَ تَسْكُنُ؟ كَمْ غُرْفَةً فِي بَيْتِكَ؟ مَاذَا يُوجَدُ فِي غُرْفَتِكَ؟ أَيْنَ يَقَعُ مَكْتَبُكَ؟ لِمَاذَا تُحِبُّ بَيْتَكَ؟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PROMPT CARDS (family, 5 of 6 — also مَاذَا تَفْعَلُ مَعَ عَائِلَتِكَ؟). Read silently first: identify the command, the topic and the evidence the answer needs. The female form after the slash is for a female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PROMPT CARDS (home, 5 of 8 — also مَاذَا يُوجَدُ فِي غُرْفَتِكَ؟، مَاذَا تَفْعَلُ فِي البَيْتِ؟، لِمَاذَا تُحِبُّ بَيْتَكَ؟).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follow-up drill questions 1, 5, 7, 8 and 9. Recovery language (website): دَعْنِي أُفَكِّرُ قَلِيلًا … · فِي رَأْيِي … · عَلَى سَبِيلِ المِثَالِ … — “use a brief thinking phrase, then answer; do not fill the pause with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say the correct answer aloud, then change one detail to make it true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ASSESSED TALK (section 10): plan five cue points — family structure, one family description, home overview, one room in detail, opinion and reason. Speak 45–60 s, then answer two follow-up questions.
Performance sequence (website): 1 read the card · 2 prepare from cue notes · 3 speak 45–60 s · 4 answer two questions · 5 self-mark with evidence.
Follow-up bank (website): مَنْ أَقْرَبُ شَخْصٍ إِلَيْكَ فِي العَائِلَةِ؟ وَلِمَاذَا؟ · مَاذَا تَفْعَلُونَ مَعًا فِي نِهَايَةِ الأُسْبُوعِ؟ · كَيْفَ تُسَاعِدُ أُسْرَتَكَ فِي البَيْتِ؟ · أَيُّ غُرْفَةٍ تَسْتَخْدِمُ أَكْثَرَ؟ · أَيْنَ تَدْرُسُ عَادَةً فِي البَيْتِ؟ · صِفْ بَيْتَكَ المِثَالِيَّ بِجُمْلَتَيْنِ.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Answer four prompts in clear sentences using a prompt card. · Develop — Two-sentence answers and at least one reason with li’anna. · Stretch — A full minute: varied openings, detail and an unaided opinion.
Website writing task (Stretch): Website assessed talk: plan FIVE cue points (not a full script) — family structure, one family description, home overview, one room in detail, opinion and reason. Speak for 45–60 seconds, then answer two follow-up questions.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Teacher-made 45–60-second talk covering the five website cue points (≈ 55 words spoken at Foundation pace).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(F3-L11 · F3 Consolidation — Integrated Skills Review) will spend class time USING this language, so students prepare it tonight — short, simple, easy to access (school guidance: “Simple, Short, Interesting, Relevant, Easy to access”). Teacher-chosen review words for the F3-L11 integrated review (retrieve · repair · rehearse · refine).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650" b="1" dirty="0">
                <a:solidFill>
                  <a:srgbClr val="FFFFFF"/>
                </a:solidFill>
                <a:latin typeface="Cambria" pitchFamily="34" charset="0"/>
                <a:cs typeface="Amiri" pitchFamily="2" charset="-78"/>
              </a:rPr>
              <a:t>Speaking: My Family and Home</a:t>
            </a:r>
            <a:endParaRPr lang="en-US" sz="3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التَّحَدُّثُ عَنْ عَائِلَتِي وَبَيْتِي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Decode the question, answer in two connected sentences, speak for 45–60 seconds about family and home, then answer two follow-up questions.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F3-L10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words, then the answer-expansion ladder.</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Talk Builder mission, examiner prompts, prompt cards.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F3-L11.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سَبَبٌ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question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reason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opinion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تَفْصِيلٌ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detail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answer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sentence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أُحِبُّ بَيْتِي ____ مُرِيحٌ.</a:t>
            </a:r>
            <a:endParaRPr lang="ar-SA" sz="160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لِأَنَّنِي</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9" name="Text 56"/>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أُحِبُّ غُرْفَتِي ____ مُرَتَّبَةٌ.</a:t>
            </a:r>
            <a:endParaRPr lang="ar-SA" sz="14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لِأَنَّنِي</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opening varies a family description?</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أَمَّا أُمِّي فَهِيَ...</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بَيْتِي...</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غُرْفَةً...؟</a:t>
            </a:r>
            <a:endParaRPr lang="ar-SA" sz="2050" dirty="0"/>
          </a:p>
        </p:txBody>
      </p:sp>
      <p:sp>
        <p:nvSpPr>
          <p:cNvPr id="82" name="Shape 79"/>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4" name="Text 81"/>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5" name="Text 82"/>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6" name="Text 83"/>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سَبَبٌ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question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reason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opinion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(F3-L09).</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تَفْصِيلٌ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detail</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answer</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sentence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(F3-L09).</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أُحِبُّ بَيْتِي ____ مُرِيحٌ.</a:t>
            </a:r>
            <a:endParaRPr lang="ar-SA" sz="160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لِأَنَّهَا</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لِأَنَّنِي</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بَيْتٌ</a:t>
            </a:r>
            <a:pPr algn="l" indent="0" marL="0">
              <a:buNone/>
            </a:pPr>
            <a:r>
              <a:rPr lang="en-US" sz="1050" i="1" dirty="0">
                <a:solidFill>
                  <a:srgbClr val="8A6D1E"/>
                </a:solidFill>
                <a:latin typeface="Calibri" pitchFamily="34" charset="0"/>
                <a:cs typeface="Amiri" pitchFamily="2" charset="-78"/>
              </a:rPr>
              <a:t> is masculine, so refer back with </a:t>
            </a:r>
            <a:pPr algn="l" indent="0" marL="0">
              <a:buNone/>
            </a:pPr>
            <a:r>
              <a:rPr lang="ar-SA" altLang="en-US" sz="1350" dirty="0">
                <a:solidFill>
                  <a:srgbClr val="8A6D1E"/>
                </a:solidFill>
                <a:latin typeface="Amiri" pitchFamily="2" charset="-78"/>
                <a:ea typeface="Amiri" pitchFamily="2" charset="-78"/>
                <a:cs typeface="Amiri" pitchFamily="2" charset="-78"/>
              </a:rPr>
              <a:t>ـهُ</a:t>
            </a:r>
            <a:pPr algn="l" indent="0" marL="0">
              <a:buNone/>
            </a:pPr>
            <a:r>
              <a:rPr lang="en-US" sz="1050" i="1" dirty="0">
                <a:solidFill>
                  <a:srgbClr val="8A6D1E"/>
                </a:solidFill>
                <a:latin typeface="Calibri" pitchFamily="34" charset="0"/>
                <a:cs typeface="Amiri" pitchFamily="2" charset="-78"/>
              </a:rPr>
              <a:t> in </a:t>
            </a:r>
            <a:pPr algn="l" indent="0" marL="0">
              <a:buNone/>
            </a:pPr>
            <a:r>
              <a:rPr lang="ar-SA" altLang="en-US" sz="1350" dirty="0">
                <a:solidFill>
                  <a:srgbClr val="8A6D1E"/>
                </a:solidFill>
                <a:latin typeface="Amiri" pitchFamily="2" charset="-78"/>
                <a:ea typeface="Amiri" pitchFamily="2" charset="-78"/>
                <a:cs typeface="Amiri" pitchFamily="2" charset="-78"/>
              </a:rPr>
              <a:t>لِأَنَّهُ</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5" name="Text 62"/>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أُحِبُّ غُرْفَتِي ____ مُرَتَّبَةٌ.</a:t>
            </a:r>
            <a:endParaRPr lang="ar-SA" sz="14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a:t>
            </a:r>
            <a:endParaRPr lang="ar-SA" sz="1700" dirty="0"/>
          </a:p>
        </p:txBody>
      </p:sp>
      <p:sp>
        <p:nvSpPr>
          <p:cNvPr id="69"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لِأَنَّنِي</a:t>
            </a:r>
            <a:endParaRPr lang="ar-SA" sz="1700" dirty="0"/>
          </a:p>
        </p:txBody>
      </p:sp>
      <p:sp>
        <p:nvSpPr>
          <p:cNvPr id="72"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لِأَنَّهَا</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غُرْفَةٌ</a:t>
            </a:r>
            <a:pPr algn="l" indent="0" marL="0">
              <a:buNone/>
            </a:pPr>
            <a:r>
              <a:rPr lang="en-US" sz="1050" i="1" dirty="0">
                <a:solidFill>
                  <a:srgbClr val="8A6D1E"/>
                </a:solidFill>
                <a:latin typeface="Calibri" pitchFamily="34" charset="0"/>
                <a:cs typeface="Amiri" pitchFamily="2" charset="-78"/>
              </a:rPr>
              <a:t> is feminine, so refer back with </a:t>
            </a:r>
            <a:pPr algn="l" indent="0" marL="0">
              <a:buNone/>
            </a:pPr>
            <a:r>
              <a:rPr lang="ar-SA" altLang="en-US" sz="1350" dirty="0">
                <a:solidFill>
                  <a:srgbClr val="8A6D1E"/>
                </a:solidFill>
                <a:latin typeface="Amiri" pitchFamily="2" charset="-78"/>
                <a:ea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in </a:t>
            </a:r>
            <a:pPr algn="l" indent="0" marL="0">
              <a:buNone/>
            </a:pPr>
            <a:r>
              <a:rPr lang="ar-SA" altLang="en-US" sz="1350" dirty="0">
                <a:solidFill>
                  <a:srgbClr val="8A6D1E"/>
                </a:solidFill>
                <a:latin typeface="Amiri" pitchFamily="2" charset="-78"/>
                <a:ea typeface="Amiri" pitchFamily="2" charset="-78"/>
                <a:cs typeface="Amiri" pitchFamily="2" charset="-78"/>
              </a:rPr>
              <a:t>لِأَنَّهَا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opening varies a family description?</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أَمَّا أُمِّي فَهِيَ...</a:t>
            </a:r>
            <a:endParaRPr lang="ar-SA" sz="17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بَيْتِي...</a:t>
            </a:r>
            <a:endParaRPr lang="ar-SA" sz="170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غُرْفَةً...؟</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أَمَّا</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فَـ</a:t>
            </a:r>
            <a:pPr algn="l" indent="0" marL="0">
              <a:buNone/>
            </a:pPr>
            <a:r>
              <a:rPr lang="en-US" sz="1050" i="1" dirty="0">
                <a:solidFill>
                  <a:srgbClr val="8A6D1E"/>
                </a:solidFill>
                <a:latin typeface="Calibri" pitchFamily="34" charset="0"/>
                <a:cs typeface="Amiri" pitchFamily="2" charset="-78"/>
              </a:rPr>
              <a:t> changes focus smoothly to a new person or topic.</a:t>
            </a:r>
            <a:endParaRPr lang="en-US" sz="1050" dirty="0"/>
          </a:p>
        </p:txBody>
      </p:sp>
      <p:sp>
        <p:nvSpPr>
          <p:cNvPr id="92" name="Shape 89"/>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4" name="Text 91"/>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Answer first. Extend second. Then give a reason.</a:t>
            </a:r>
            <a:endParaRPr lang="en-US" sz="1300" dirty="0"/>
          </a:p>
        </p:txBody>
      </p:sp>
      <p:sp>
        <p:nvSpPr>
          <p:cNvPr id="95" name="Text 92"/>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جَوَابٌ + تَفْصِيلٌ + سَبَبٌ</a:t>
            </a:r>
            <a:endParaRPr lang="ar-SA" sz="24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common family-and-home speaking prompts.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Develop one-word answers into two or more connected sentences.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li’anna accurately to give reasons.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Deliver a 45–60-second talk and answer two follow-up questions.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answer four prompts in clear sentences.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ask for a question again.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two-sentence answers.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a reason with li’anna.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speak for a full minute.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answer follow-ups without notes.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Question words, speaking toolkit and conversation phrases. Core: who, where, how many, why + “once more, please”.</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Question words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Speaking toolkit · 16</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Keep it moving · 4</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سُؤَالٌ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‎سوال‎ </a:t>
            </a:r>
            <a:pPr indent="0" marL="0">
              <a:buNone/>
            </a:pPr>
            <a:r>
              <a:rPr lang="en-US" sz="950" b="1" dirty="0">
                <a:solidFill>
                  <a:srgbClr val="2E8B57"/>
                </a:solidFill>
                <a:latin typeface="Calibri" pitchFamily="34" charset="0"/>
                <a:cs typeface="Amiri" pitchFamily="2" charset="-78"/>
              </a:rPr>
              <a:t> su’āl · question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جَوَابٌ / إِجَابَةٌ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‎جواب‎ </a:t>
            </a:r>
            <a:pPr indent="0" marL="0">
              <a:buNone/>
            </a:pPr>
            <a:r>
              <a:rPr lang="en-US" sz="950" b="1" dirty="0">
                <a:solidFill>
                  <a:srgbClr val="2E8B57"/>
                </a:solidFill>
                <a:latin typeface="Calibri" pitchFamily="34" charset="0"/>
                <a:cs typeface="Amiri" pitchFamily="2" charset="-78"/>
              </a:rPr>
              <a:t> jawāb · answer</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تَفْصِيلٌ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‎تفصیل‎ </a:t>
            </a:r>
            <a:pPr indent="0" marL="0">
              <a:buNone/>
            </a:pPr>
            <a:r>
              <a:rPr lang="en-US" sz="950" b="1" dirty="0">
                <a:solidFill>
                  <a:srgbClr val="2E8B57"/>
                </a:solidFill>
                <a:latin typeface="Calibri" pitchFamily="34" charset="0"/>
                <a:cs typeface="Amiri" pitchFamily="2" charset="-78"/>
              </a:rPr>
              <a:t> tafṣīl · detail</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رَأْيٌ</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‎رائے‎ </a:t>
            </a:r>
            <a:pPr indent="0" marL="0">
              <a:buNone/>
            </a:pPr>
            <a:r>
              <a:rPr lang="en-US" sz="950" b="1" dirty="0">
                <a:solidFill>
                  <a:srgbClr val="2E8B57"/>
                </a:solidFill>
                <a:latin typeface="Calibri" pitchFamily="34" charset="0"/>
                <a:cs typeface="Amiri" pitchFamily="2" charset="-78"/>
              </a:rPr>
              <a:t> ra’y · opinion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سَبَبٌ</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‎سبب‎ </a:t>
            </a:r>
            <a:pPr indent="0" marL="0">
              <a:buNone/>
            </a:pPr>
            <a:r>
              <a:rPr lang="en-US" sz="950" b="1" dirty="0">
                <a:solidFill>
                  <a:srgbClr val="2E8B57"/>
                </a:solidFill>
                <a:latin typeface="Calibri" pitchFamily="34" charset="0"/>
                <a:cs typeface="Amiri" pitchFamily="2" charset="-78"/>
              </a:rPr>
              <a:t> sabab · reason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QUESTION WORDS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Where? How many?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أَدَوَاتُ الاِسْتِفْهَامِ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person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who?</a:t>
            </a:r>
            <a:endParaRPr lang="en-US" sz="1350" dirty="0"/>
          </a:p>
          <a:p>
            <a:pPr indent="0" marL="0">
              <a:buNone/>
            </a:pPr>
            <a:r>
              <a:rPr lang="en-US" sz="1100" i="1" dirty="0">
                <a:solidFill>
                  <a:srgbClr val="5A6472"/>
                </a:solidFill>
                <a:latin typeface="Calibri" pitchFamily="34" charset="0"/>
                <a:cs typeface="Amiri" pitchFamily="2" charset="-78"/>
              </a:rPr>
              <a:t>man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e.g.</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مَنْ فِي عَائِلَتِكَ؟</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Amiri" pitchFamily="2" charset="-78"/>
                <a:ea typeface="Amiri" pitchFamily="2" charset="-78"/>
                <a:cs typeface="Amiri" pitchFamily="2" charset="-78"/>
              </a:rPr>
              <a:t>→ مَعَ + …</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 مَنْ؟</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with whom?</a:t>
            </a:r>
            <a:endParaRPr lang="en-US" sz="1350" dirty="0"/>
          </a:p>
          <a:p>
            <a:pPr indent="0" marL="0">
              <a:buNone/>
            </a:pPr>
            <a:r>
              <a:rPr lang="en-US" sz="1100" i="1" dirty="0">
                <a:solidFill>
                  <a:srgbClr val="5A6472"/>
                </a:solidFill>
                <a:latin typeface="Calibri" pitchFamily="34" charset="0"/>
                <a:cs typeface="Amiri" pitchFamily="2" charset="-78"/>
              </a:rPr>
              <a:t>ma‘a man</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e.g.</a:t>
            </a:r>
            <a:endParaRPr lang="en-US" sz="700" dirty="0"/>
          </a:p>
        </p:txBody>
      </p:sp>
      <p:sp>
        <p:nvSpPr>
          <p:cNvPr id="36" name="Text 33"/>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مَعَ مَنْ تَعِيشُ؟</a:t>
            </a:r>
            <a:endParaRPr lang="ar-SA"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0" name="Shape 3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place</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أَيْنَ؟</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t>
            </a:r>
            <a:endParaRPr lang="en-US" sz="1350" dirty="0"/>
          </a:p>
          <a:p>
            <a:pPr indent="0" marL="0">
              <a:buNone/>
            </a:pPr>
            <a:r>
              <a:rPr lang="en-US" sz="1100" i="1" dirty="0">
                <a:solidFill>
                  <a:srgbClr val="5A6472"/>
                </a:solidFill>
                <a:latin typeface="Calibri" pitchFamily="34" charset="0"/>
                <a:cs typeface="Amiri" pitchFamily="2" charset="-78"/>
              </a:rPr>
              <a:t>ayna</a:t>
            </a:r>
            <a:endParaRPr lang="en-US" sz="1350" dirty="0"/>
          </a:p>
        </p:txBody>
      </p:sp>
      <p:sp>
        <p:nvSpPr>
          <p:cNvPr id="46" name="Shape 4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e.g.</a:t>
            </a:r>
            <a:endParaRPr lang="en-US" sz="700" dirty="0"/>
          </a:p>
        </p:txBody>
      </p:sp>
      <p:sp>
        <p:nvSpPr>
          <p:cNvPr id="48" name="Text 45"/>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أَيْنَ تَسْكُنُ؟</a:t>
            </a:r>
            <a:endParaRPr lang="ar-SA" sz="135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2" name="Shape 49"/>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number</a:t>
            </a:r>
            <a:endParaRPr lang="en-US" sz="8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many?</a:t>
            </a:r>
            <a:endParaRPr lang="en-US" sz="1350" dirty="0"/>
          </a:p>
          <a:p>
            <a:pPr indent="0" marL="0">
              <a:buNone/>
            </a:pPr>
            <a:r>
              <a:rPr lang="en-US" sz="1100" i="1" dirty="0">
                <a:solidFill>
                  <a:srgbClr val="5A6472"/>
                </a:solidFill>
                <a:latin typeface="Calibri" pitchFamily="34" charset="0"/>
                <a:cs typeface="Amiri" pitchFamily="2" charset="-78"/>
              </a:rPr>
              <a:t>kam</a:t>
            </a:r>
            <a:endParaRPr lang="en-US" sz="1350" dirty="0"/>
          </a:p>
        </p:txBody>
      </p:sp>
      <p:sp>
        <p:nvSpPr>
          <p:cNvPr id="58" name="Shape 5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e.g.</a:t>
            </a:r>
            <a:endParaRPr lang="en-US" sz="700" dirty="0"/>
          </a:p>
        </p:txBody>
      </p:sp>
      <p:sp>
        <p:nvSpPr>
          <p:cNvPr id="60" name="Text 57"/>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كَمْ غُرْفَةً فِي بَيْتِكَ؟</a:t>
            </a:r>
            <a:endParaRPr lang="ar-SA" sz="135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4" name="Shape 61"/>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Amiri" pitchFamily="2" charset="-78"/>
                <a:ea typeface="Amiri" pitchFamily="2" charset="-78"/>
                <a:cs typeface="Amiri" pitchFamily="2" charset="-78"/>
              </a:rPr>
              <a:t>→ لِأَنَّ</a:t>
            </a:r>
            <a:endParaRPr lang="en-US" sz="800" dirty="0"/>
          </a:p>
        </p:txBody>
      </p:sp>
      <p:sp>
        <p:nvSpPr>
          <p:cNvPr id="66" name="Shape 6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7" name="Text 6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8" name="Text 6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لِمَاذَا؟</a:t>
            </a:r>
            <a:endParaRPr lang="ar-SA" sz="3000" dirty="0"/>
          </a:p>
        </p:txBody>
      </p:sp>
      <p:sp>
        <p:nvSpPr>
          <p:cNvPr id="69" name="Text 6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why?</a:t>
            </a:r>
            <a:endParaRPr lang="en-US" sz="1350" dirty="0"/>
          </a:p>
          <a:p>
            <a:pPr indent="0" marL="0">
              <a:buNone/>
            </a:pPr>
            <a:r>
              <a:rPr lang="en-US" sz="1100" i="1" dirty="0">
                <a:solidFill>
                  <a:srgbClr val="5A6472"/>
                </a:solidFill>
                <a:latin typeface="Calibri" pitchFamily="34" charset="0"/>
                <a:cs typeface="Amiri" pitchFamily="2" charset="-78"/>
              </a:rPr>
              <a:t>li-mādhā</a:t>
            </a:r>
            <a:endParaRPr lang="en-US" sz="1350" dirty="0"/>
          </a:p>
        </p:txBody>
      </p:sp>
      <p:sp>
        <p:nvSpPr>
          <p:cNvPr id="70" name="Shape 67"/>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e.g.</a:t>
            </a:r>
            <a:endParaRPr lang="en-US" sz="700" dirty="0"/>
          </a:p>
        </p:txBody>
      </p:sp>
      <p:sp>
        <p:nvSpPr>
          <p:cNvPr id="72" name="Text 69"/>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لِمَاذَا تُحِبُّ بَيْتَكَ؟</a:t>
            </a:r>
            <a:endParaRPr lang="ar-SA" sz="1350" dirty="0"/>
          </a:p>
        </p:txBody>
      </p:sp>
      <p:sp>
        <p:nvSpPr>
          <p:cNvPr id="73" name="Shape 7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566928"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6" name="Shape 73"/>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77" name="Text 74"/>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details</a:t>
            </a:r>
            <a:endParaRPr lang="en-US" sz="800" dirty="0"/>
          </a:p>
        </p:txBody>
      </p:sp>
      <p:sp>
        <p:nvSpPr>
          <p:cNvPr id="78" name="Text 7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صِفْ / صِفِي</a:t>
            </a:r>
            <a:endParaRPr lang="ar-SA" sz="3000" dirty="0"/>
          </a:p>
        </p:txBody>
      </p:sp>
      <p:sp>
        <p:nvSpPr>
          <p:cNvPr id="79" name="Text 7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describe (m. / f.)</a:t>
            </a:r>
            <a:endParaRPr lang="en-US" sz="1350" dirty="0"/>
          </a:p>
          <a:p>
            <a:pPr indent="0" marL="0">
              <a:buNone/>
            </a:pPr>
            <a:r>
              <a:rPr lang="en-US" sz="1100" i="1" dirty="0">
                <a:solidFill>
                  <a:srgbClr val="5A6472"/>
                </a:solidFill>
                <a:latin typeface="Calibri" pitchFamily="34" charset="0"/>
                <a:cs typeface="Amiri" pitchFamily="2" charset="-78"/>
              </a:rPr>
              <a:t>ṣif / ṣifī</a:t>
            </a:r>
            <a:endParaRPr lang="en-US" sz="1350" dirty="0"/>
          </a:p>
        </p:txBody>
      </p:sp>
      <p:sp>
        <p:nvSpPr>
          <p:cNvPr id="80" name="Shape 77"/>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e.g.</a:t>
            </a:r>
            <a:endParaRPr lang="en-US" sz="700" dirty="0"/>
          </a:p>
        </p:txBody>
      </p:sp>
      <p:sp>
        <p:nvSpPr>
          <p:cNvPr id="82" name="Text 79"/>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صِفْ بَيْتَكَ.</a:t>
            </a:r>
            <a:endParaRPr lang="ar-SA" sz="13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2 · SPEAKING TOOLKIT AND CONVERSATION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Fluency, accuracy, once more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أَدَوَاتُ 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طَلَاقَةٌ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fluency</a:t>
            </a:r>
            <a:endParaRPr lang="en-US" sz="1350" dirty="0"/>
          </a:p>
          <a:p>
            <a:pPr indent="0" marL="0">
              <a:buNone/>
            </a:pPr>
            <a:r>
              <a:rPr lang="en-US" sz="1100" i="1" dirty="0">
                <a:solidFill>
                  <a:srgbClr val="5A6472"/>
                </a:solidFill>
                <a:latin typeface="Calibri" pitchFamily="34" charset="0"/>
                <a:cs typeface="Amiri" pitchFamily="2" charset="-78"/>
              </a:rPr>
              <a:t>ṭa-lā-qa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دِقَّةٌ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a:t>
            </a:r>
            <a:endParaRPr lang="en-US" sz="1350" dirty="0"/>
          </a:p>
          <a:p>
            <a:pPr indent="0" marL="0">
              <a:buNone/>
            </a:pPr>
            <a:r>
              <a:rPr lang="en-US" sz="1100" i="1" dirty="0">
                <a:solidFill>
                  <a:srgbClr val="5A6472"/>
                </a:solidFill>
                <a:latin typeface="Calibri" pitchFamily="34" charset="0"/>
                <a:cs typeface="Amiri" pitchFamily="2" charset="-78"/>
              </a:rPr>
              <a:t>diq-qa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نُطْقٌ</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pronunciation</a:t>
            </a:r>
            <a:endParaRPr lang="en-US" sz="1350" dirty="0"/>
          </a:p>
          <a:p>
            <a:pPr indent="0" marL="0">
              <a:buNone/>
            </a:pPr>
            <a:r>
              <a:rPr lang="en-US" sz="1100" i="1" dirty="0">
                <a:solidFill>
                  <a:srgbClr val="5A6472"/>
                </a:solidFill>
                <a:latin typeface="Calibri" pitchFamily="34" charset="0"/>
                <a:cs typeface="Amiri" pitchFamily="2" charset="-78"/>
              </a:rPr>
              <a:t>nuṭq</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phrase</a:t>
            </a:r>
            <a:endParaRPr lang="en-US" sz="8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مَرَّةً أُخْرَى، مِنْ فَضْلِكَ.</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Once more, please.</a:t>
            </a:r>
            <a:endParaRPr lang="en-US" sz="1350" dirty="0"/>
          </a:p>
          <a:p>
            <a:pPr indent="0" marL="0">
              <a:buNone/>
            </a:pPr>
            <a:r>
              <a:rPr lang="en-US" sz="1100" i="1" dirty="0">
                <a:solidFill>
                  <a:srgbClr val="5A6472"/>
                </a:solidFill>
                <a:latin typeface="Calibri" pitchFamily="34" charset="0"/>
                <a:cs typeface="Amiri" pitchFamily="2" charset="-78"/>
              </a:rPr>
              <a:t>mar-ra-tan ukh-rā</a:t>
            </a:r>
            <a:endParaRPr lang="en-US" sz="1350" dirty="0"/>
          </a:p>
        </p:txBody>
      </p:sp>
      <p:sp>
        <p:nvSpPr>
          <p:cNvPr id="45" name="Shape 4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4389120"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8" name="Shape 4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phrase</a:t>
            </a:r>
            <a:endParaRPr lang="en-US" sz="8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تَكَلَّمْ بِبُطْءٍ، مِنْ فَضْلِكَ.</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Speak slowly, please.</a:t>
            </a:r>
            <a:endParaRPr lang="en-US" sz="1350" dirty="0"/>
          </a:p>
          <a:p>
            <a:pPr indent="0" marL="0">
              <a:buNone/>
            </a:pPr>
            <a:r>
              <a:rPr lang="en-US" sz="1100" i="1" dirty="0">
                <a:solidFill>
                  <a:srgbClr val="5A6472"/>
                </a:solidFill>
                <a:latin typeface="Calibri" pitchFamily="34" charset="0"/>
                <a:cs typeface="Amiri" pitchFamily="2" charset="-78"/>
              </a:rPr>
              <a:t>ta-kal-lam bi-buṭ’</a:t>
            </a:r>
            <a:endParaRPr lang="en-US" sz="1350" dirty="0"/>
          </a:p>
        </p:txBody>
      </p:sp>
      <p:sp>
        <p:nvSpPr>
          <p:cNvPr id="54" name="Shape 5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66928"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7" name="Shape 54"/>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phrase</a:t>
            </a:r>
            <a:endParaRPr lang="en-US" sz="800" dirty="0"/>
          </a:p>
        </p:txBody>
      </p:sp>
      <p:sp>
        <p:nvSpPr>
          <p:cNvPr id="59" name="Shape 5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دَعْنِي أُفَكِّرُ قَلِيلًا …</a:t>
            </a:r>
            <a:endParaRPr lang="ar-SA" sz="3000" dirty="0"/>
          </a:p>
        </p:txBody>
      </p:sp>
      <p:sp>
        <p:nvSpPr>
          <p:cNvPr id="62" name="Text 5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Let me think a little …</a:t>
            </a:r>
            <a:endParaRPr lang="en-US" sz="1350" dirty="0"/>
          </a:p>
          <a:p>
            <a:pPr indent="0" marL="0">
              <a:buNone/>
            </a:pPr>
            <a:r>
              <a:rPr lang="en-US" sz="1100" i="1" dirty="0">
                <a:solidFill>
                  <a:srgbClr val="5A6472"/>
                </a:solidFill>
                <a:latin typeface="Calibri" pitchFamily="34" charset="0"/>
                <a:cs typeface="Amiri" pitchFamily="2" charset="-78"/>
              </a:rPr>
              <a:t>da‘-nī u-fak-ki-ru qa-lī-lan</a:t>
            </a:r>
            <a:endParaRPr lang="en-US"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THE ANSWER-EXPANSION LADDER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Climb the ladder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سُلَّمُ تَوْسِيعِ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Step</a:t>
            </a:r>
            <a:endParaRPr lang="en-US" sz="1100" dirty="0"/>
          </a:p>
        </p:txBody>
      </p:sp>
      <p:sp>
        <p:nvSpPr>
          <p:cNvPr id="17" name="Text 14"/>
          <p:cNvSpPr txBox="1"/>
          <p:nvPr/>
        </p:nvSpPr>
        <p:spPr>
          <a:xfrm>
            <a:off x="3209544"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Answer</a:t>
            </a:r>
            <a:endParaRPr lang="en-US" sz="1100" dirty="0"/>
          </a:p>
        </p:txBody>
      </p:sp>
      <p:sp>
        <p:nvSpPr>
          <p:cNvPr id="18" name="Text 15"/>
          <p:cNvSpPr txBox="1"/>
          <p:nvPr/>
        </p:nvSpPr>
        <p:spPr>
          <a:xfrm>
            <a:off x="530352" y="1810512"/>
            <a:ext cx="2532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it adds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811512" y="2267712"/>
            <a:ext cx="182880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١ حَقِيقَةٌ</a:t>
            </a:r>
            <a:endParaRPr lang="ar-SA" sz="2000" dirty="0"/>
          </a:p>
        </p:txBody>
      </p:sp>
      <p:sp>
        <p:nvSpPr>
          <p:cNvPr id="21" name="Text 18"/>
          <p:cNvSpPr txBox="1"/>
          <p:nvPr/>
        </p:nvSpPr>
        <p:spPr>
          <a:xfrm>
            <a:off x="3227832" y="2267712"/>
            <a:ext cx="64008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أَسْكُنُ فِي بَيْتٍ.</a:t>
            </a:r>
            <a:endParaRPr lang="ar-SA" sz="2200" dirty="0"/>
          </a:p>
        </p:txBody>
      </p:sp>
      <p:sp>
        <p:nvSpPr>
          <p:cNvPr id="22" name="Text 19"/>
          <p:cNvSpPr txBox="1"/>
          <p:nvPr/>
        </p:nvSpPr>
        <p:spPr>
          <a:xfrm>
            <a:off x="566928" y="2267712"/>
            <a:ext cx="24963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Fact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9811512" y="3054096"/>
            <a:ext cx="182880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٢ تَفْصِيلٌ</a:t>
            </a:r>
            <a:endParaRPr lang="ar-SA" sz="2000" dirty="0"/>
          </a:p>
        </p:txBody>
      </p:sp>
      <p:sp>
        <p:nvSpPr>
          <p:cNvPr id="27" name="Text 24"/>
          <p:cNvSpPr txBox="1"/>
          <p:nvPr/>
        </p:nvSpPr>
        <p:spPr>
          <a:xfrm>
            <a:off x="3227832" y="3054096"/>
            <a:ext cx="64008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أَسْكُنُ فِي بَيْتٍ كَبِيرٍ قَرِيبٍ مِنَ المَدْرَسَةِ.</a:t>
            </a:r>
            <a:endParaRPr lang="ar-SA" sz="2200" dirty="0"/>
          </a:p>
        </p:txBody>
      </p:sp>
      <p:sp>
        <p:nvSpPr>
          <p:cNvPr id="28" name="Text 25"/>
          <p:cNvSpPr txBox="1"/>
          <p:nvPr/>
        </p:nvSpPr>
        <p:spPr>
          <a:xfrm>
            <a:off x="566928" y="3054096"/>
            <a:ext cx="24963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Detail</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9811512" y="3840480"/>
            <a:ext cx="182880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٣ مِثَالٌ</a:t>
            </a:r>
            <a:endParaRPr lang="ar-SA" sz="2000" dirty="0"/>
          </a:p>
        </p:txBody>
      </p:sp>
      <p:sp>
        <p:nvSpPr>
          <p:cNvPr id="33" name="Text 30"/>
          <p:cNvSpPr txBox="1"/>
          <p:nvPr/>
        </p:nvSpPr>
        <p:spPr>
          <a:xfrm>
            <a:off x="3227832" y="3840480"/>
            <a:ext cx="64008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فِيهِ خَمْسُ غُرَفٍ، وَغُرْفَتِي فِي الطَّابِقِ الأَوَّلِ.</a:t>
            </a:r>
            <a:endParaRPr lang="ar-SA" sz="2200" dirty="0"/>
          </a:p>
        </p:txBody>
      </p:sp>
      <p:sp>
        <p:nvSpPr>
          <p:cNvPr id="34" name="Text 31"/>
          <p:cNvSpPr txBox="1"/>
          <p:nvPr/>
        </p:nvSpPr>
        <p:spPr>
          <a:xfrm>
            <a:off x="566928" y="3840480"/>
            <a:ext cx="24963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Example or position</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9811512" y="4626864"/>
            <a:ext cx="182880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٤ رَأْيٌ وَسَبَبٌ</a:t>
            </a:r>
            <a:endParaRPr lang="ar-SA" sz="2000" dirty="0"/>
          </a:p>
        </p:txBody>
      </p:sp>
      <p:sp>
        <p:nvSpPr>
          <p:cNvPr id="37" name="Text 34"/>
          <p:cNvSpPr txBox="1"/>
          <p:nvPr/>
        </p:nvSpPr>
        <p:spPr>
          <a:xfrm>
            <a:off x="3227832" y="4626864"/>
            <a:ext cx="64008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أُحِبُّ بَيْتِي </a:t>
            </a:r>
            <a:pPr rtl="1" algn="ctr" indent="0" marL="0">
              <a:buNone/>
            </a:pPr>
            <a:r>
              <a:rPr lang="ar-SA" altLang="en-US" sz="2200" b="1" dirty="0">
                <a:solidFill>
                  <a:srgbClr val="1D5FBF"/>
                </a:solidFill>
                <a:latin typeface="Amiri" pitchFamily="2" charset="-78"/>
                <a:ea typeface="Amiri" pitchFamily="2" charset="-78"/>
                <a:cs typeface="Amiri" pitchFamily="2" charset="-78"/>
              </a:rPr>
              <a:t>لِأَنَّهُ</a:t>
            </a:r>
            <a:pPr rtl="1" algn="ctr" indent="0" marL="0">
              <a:buNone/>
            </a:pPr>
            <a:r>
              <a:rPr lang="ar-SA" altLang="en-US" sz="2200" b="1" dirty="0">
                <a:solidFill>
                  <a:srgbClr val="1B3B6F"/>
                </a:solidFill>
                <a:latin typeface="Amiri" pitchFamily="2" charset="-78"/>
                <a:ea typeface="Amiri" pitchFamily="2" charset="-78"/>
                <a:cs typeface="Amiri" pitchFamily="2" charset="-78"/>
              </a:rPr>
              <a:t> مُرِيحٌ وَمُضِيءٌ.</a:t>
            </a:r>
            <a:endParaRPr lang="ar-SA" sz="2200" dirty="0"/>
          </a:p>
        </p:txBody>
      </p:sp>
      <p:sp>
        <p:nvSpPr>
          <p:cNvPr id="38" name="Text 35"/>
          <p:cNvSpPr txBox="1"/>
          <p:nvPr/>
        </p:nvSpPr>
        <p:spPr>
          <a:xfrm>
            <a:off x="566928" y="4626864"/>
            <a:ext cx="24963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Opinion + reason</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build from one secure fact; stop at the level you can control accurately, then extend.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BECAUSE IT / BECAUSE I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li’annahu · li’annahā · li’annanī</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لِأَنَّهُ · لِأَنَّهَا · لِأَنَّنِي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9601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HOUSE · M.</a:t>
            </a:r>
            <a:endParaRPr lang="en-US" sz="850" dirty="0"/>
          </a:p>
        </p:txBody>
      </p:sp>
      <p:sp>
        <p:nvSpPr>
          <p:cNvPr id="18" name="Text 15"/>
          <p:cNvSpPr txBox="1"/>
          <p:nvPr/>
        </p:nvSpPr>
        <p:spPr>
          <a:xfrm>
            <a:off x="9238488"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لِأَنَّهُ</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أُحِبُّ بَيْتِي لِأَنَّهُ وَاسِعٌ.</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love my house because it is spacious.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بَيْتٌ</a:t>
            </a:r>
            <a:pPr algn="l" indent="0" marL="0">
              <a:buNone/>
            </a:pPr>
            <a:r>
              <a:rPr lang="en-US" sz="1100" dirty="0">
                <a:solidFill>
                  <a:srgbClr val="1F2A37"/>
                </a:solidFill>
                <a:latin typeface="Calibri" pitchFamily="34" charset="0"/>
                <a:cs typeface="Amiri" pitchFamily="2" charset="-78"/>
              </a:rPr>
              <a:t> is masculine.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891540" cy="274320"/>
          </a:xfrm>
          <a:prstGeom prst="roundRect">
            <a:avLst>
              <a:gd name="adj" fmla="val 50000"/>
            </a:avLst>
          </a:prstGeom>
          <a:solidFill>
            <a:srgbClr val="B83280"/>
          </a:solidFill>
          <a:ln w="12700">
            <a:solidFill>
              <a:srgbClr val="B83280"/>
            </a:solidFill>
            <a:prstDash val="solid"/>
          </a:ln>
        </p:spPr>
      </p:sp>
      <p:sp>
        <p:nvSpPr>
          <p:cNvPr id="25" name="Text 22"/>
          <p:cNvSpPr txBox="1"/>
          <p:nvPr/>
        </p:nvSpPr>
        <p:spPr>
          <a:xfrm>
            <a:off x="4413504"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ROOM · F.</a:t>
            </a:r>
            <a:endParaRPr lang="en-US" sz="850" dirty="0"/>
          </a:p>
        </p:txBody>
      </p:sp>
      <p:sp>
        <p:nvSpPr>
          <p:cNvPr id="26" name="Text 23"/>
          <p:cNvSpPr txBox="1"/>
          <p:nvPr/>
        </p:nvSpPr>
        <p:spPr>
          <a:xfrm>
            <a:off x="5350764" y="1874520"/>
            <a:ext cx="24246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لِأَنَّهَا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أُحِبُّ غُرْفَتِي لِأَنَّهَا مُرَتَّبَةٌ.</a:t>
            </a:r>
            <a:endParaRPr lang="ar-SA" sz="30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love my room because it is tidy.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غُرْفَةٌ</a:t>
            </a:r>
            <a:pPr algn="l" indent="0" marL="0">
              <a:buNone/>
            </a:pPr>
            <a:r>
              <a:rPr lang="en-US" sz="1100" dirty="0">
                <a:solidFill>
                  <a:srgbClr val="1F2A37"/>
                </a:solidFill>
                <a:latin typeface="Calibri" pitchFamily="34" charset="0"/>
                <a:cs typeface="Amiri" pitchFamily="2" charset="-78"/>
              </a:rPr>
              <a:t> is feminine.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41148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4114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ME</a:t>
            </a:r>
            <a:endParaRPr lang="en-US" sz="850" dirty="0"/>
          </a:p>
        </p:txBody>
      </p:sp>
      <p:sp>
        <p:nvSpPr>
          <p:cNvPr id="34" name="Text 31"/>
          <p:cNvSpPr txBox="1"/>
          <p:nvPr/>
        </p:nvSpPr>
        <p:spPr>
          <a:xfrm>
            <a:off x="1051560" y="1874520"/>
            <a:ext cx="29047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لِأَنَّنِي</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أَقْرَأُ فِي غُرْفَتِي لِأَنَّنِي أُحِبُّ الهُدُوءَ.</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read in my room because I like quiet.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“because I …”</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Stretch opening (website): vary the start with ammā … fa-.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أَمَّا أُمِّي فَهِيَ لَطِيفَةٌ وَمُجْتَهِدَةٌ.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أُمِّي لَطِيفَةٌ. أُمِّي مُجْتَهِدَةٌ.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must the answer give: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كَمْ غُرْفَةً فِي بَيْتِكَ؟</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reason</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family member</a:t>
            </a:r>
            <a:endParaRPr lang="en-US" sz="12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number and rooms</a:t>
            </a:r>
            <a:endParaRPr lang="en-US" sz="12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must the answer give: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لِمَاذَا تُحِبُّ بَيْتَكَ؟</a:t>
            </a:r>
            <a:endParaRPr lang="ar-SA" sz="22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reason</a:t>
            </a:r>
            <a:endParaRPr lang="en-US" sz="12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yes/no answer only</a:t>
            </a:r>
            <a:endParaRPr lang="en-US" sz="12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person’s age</a:t>
            </a:r>
            <a:endParaRPr lang="en-US" sz="12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accurately:</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أُحِبُّ غُرْفَتِي...</a:t>
            </a:r>
            <a:endParaRPr lang="ar-SA" sz="22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 مُضِيءٌ.</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مُضِيئَةٌ.</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لِأَنَّنِي مُضِيئَةٌ.</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line means ‘because I like quiet’?</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لِأَنَّنِي أُحِبُّ الهُدُوءَ.</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 يُحِبُّ الهُدُوءَ.</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تُحِبُّ الهُدُوءَ.</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must the answer give: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كَمْ غُرْفَةً فِي بَيْتِكَ؟</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reason</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family member</a:t>
            </a:r>
            <a:endParaRPr lang="en-US" sz="125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number and rooms</a:t>
            </a:r>
            <a:endParaRPr lang="en-US" sz="125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كَمْ</a:t>
            </a:r>
            <a:pPr algn="l" indent="0" marL="0">
              <a:buNone/>
            </a:pPr>
            <a:r>
              <a:rPr lang="en-US" sz="1050" i="1" dirty="0">
                <a:solidFill>
                  <a:srgbClr val="8A6D1E"/>
                </a:solidFill>
                <a:latin typeface="Calibri" pitchFamily="34" charset="0"/>
                <a:cs typeface="Amiri" pitchFamily="2" charset="-78"/>
              </a:rPr>
              <a:t> asks ‘how many’, so give a number and the counted item.</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must the answer give: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لِمَاذَا تُحِبُّ بَيْتَكَ؟</a:t>
            </a:r>
            <a:endParaRPr lang="ar-SA" sz="22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reason</a:t>
            </a:r>
            <a:endParaRPr lang="en-US" sz="125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yes/no answer only</a:t>
            </a:r>
            <a:endParaRPr lang="en-US" sz="125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person’s age</a:t>
            </a:r>
            <a:endParaRPr lang="en-US" sz="125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لِمَاذَا</a:t>
            </a:r>
            <a:pPr algn="l" indent="0" marL="0">
              <a:buNone/>
            </a:pPr>
            <a:r>
              <a:rPr lang="en-US" sz="1050" i="1" dirty="0">
                <a:solidFill>
                  <a:srgbClr val="8A6D1E"/>
                </a:solidFill>
                <a:latin typeface="Calibri" pitchFamily="34" charset="0"/>
                <a:cs typeface="Amiri" pitchFamily="2" charset="-78"/>
              </a:rPr>
              <a:t> asks ‘why’; answer with a reason, usually using </a:t>
            </a:r>
            <a:pPr algn="l" indent="0" marL="0">
              <a:buNone/>
            </a:pPr>
            <a:r>
              <a:rPr lang="ar-SA" altLang="en-US" sz="1350" dirty="0">
                <a:solidFill>
                  <a:srgbClr val="8A6D1E"/>
                </a:solidFill>
                <a:latin typeface="Amiri" pitchFamily="2" charset="-78"/>
                <a:ea typeface="Amiri" pitchFamily="2" charset="-78"/>
                <a:cs typeface="Amiri" pitchFamily="2" charset="-78"/>
              </a:rPr>
              <a:t>لِأَنَّ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accurately:</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أُحِبُّ غُرْفَتِي...</a:t>
            </a:r>
            <a:endParaRPr lang="ar-SA" sz="22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 مُضِيءٌ.</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لِأَنَّهَا مُضِيئَةٌ.</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لِأَنَّنِي مُضِيئَةٌ.</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غُرْفَةٌ</a:t>
            </a:r>
            <a:pPr algn="l" indent="0" marL="0">
              <a:buNone/>
            </a:pPr>
            <a:r>
              <a:rPr lang="en-US" sz="1050" i="1" dirty="0">
                <a:solidFill>
                  <a:srgbClr val="8A6D1E"/>
                </a:solidFill>
                <a:latin typeface="Calibri" pitchFamily="34" charset="0"/>
                <a:cs typeface="Amiri" pitchFamily="2" charset="-78"/>
              </a:rPr>
              <a:t> is feminine, so use </a:t>
            </a:r>
            <a:pPr algn="l" indent="0" marL="0">
              <a:buNone/>
            </a:pPr>
            <a:r>
              <a:rPr lang="ar-SA" altLang="en-US" sz="1350" dirty="0">
                <a:solidFill>
                  <a:srgbClr val="8A6D1E"/>
                </a:solidFill>
                <a:latin typeface="Amiri" pitchFamily="2" charset="-78"/>
                <a:ea typeface="Amiri" pitchFamily="2" charset="-78"/>
                <a:cs typeface="Amiri" pitchFamily="2" charset="-78"/>
              </a:rPr>
              <a:t>لِأَنَّهَا</a:t>
            </a:r>
            <a:pPr algn="l" indent="0" marL="0">
              <a:buNone/>
            </a:pPr>
            <a:r>
              <a:rPr lang="en-US" sz="1050" i="1" dirty="0">
                <a:solidFill>
                  <a:srgbClr val="8A6D1E"/>
                </a:solidFill>
                <a:latin typeface="Calibri" pitchFamily="34" charset="0"/>
                <a:cs typeface="Amiri" pitchFamily="2" charset="-78"/>
              </a:rPr>
              <a:t> and a feminine adjective.</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line means ‘because I like quiet’?</a:t>
            </a:r>
            <a:endParaRPr lang="en-US" sz="125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لِأَنَّنِي أُحِبُّ الهُدُوءَ.</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 يُحِبُّ الهُدُوءَ.</a:t>
            </a:r>
            <a:endParaRPr lang="ar-SA" sz="170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لِأَنَّهَا تُحِبُّ الهُدُوءَ.</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لِأَنَّنِي</a:t>
            </a:r>
            <a:pPr algn="l" indent="0" marL="0">
              <a:buNone/>
            </a:pPr>
            <a:r>
              <a:rPr lang="en-US" sz="1050" i="1" dirty="0">
                <a:solidFill>
                  <a:srgbClr val="8A6D1E"/>
                </a:solidFill>
                <a:latin typeface="Calibri" pitchFamily="34" charset="0"/>
                <a:cs typeface="Amiri" pitchFamily="2" charset="-78"/>
              </a:rPr>
              <a:t> begins a reason with ‘because I...’.</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ME ANSWER AND EXTEND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prompt, four steps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تَكَلَّمْ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Decode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مَا غُرْفَتُكَ المُفَضَّلَةُ؟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What + favourite room.</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Answer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غُرْفَتِي المُفَضَّلَةُ غُرْفَةُ الجُلُوسِ.</a:t>
            </a:r>
            <a:endParaRPr lang="ar-SA" sz="18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Answer first.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Detail</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هِيَ وَاسِعَةٌ، وَفِيهَا أَرِيكَةٌ كَبِيرَةٌ مُقَابِلَ التِّلْفَازِ.</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Extend: object + position.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Reason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أُحِبُّهَا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لِأَنَّنَا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نَجْلِسُ فِيهَا مَعًا فِي المَسَاءِ.</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Because we …</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REASON</a:t>
            </a:r>
            <a:endParaRPr lang="en-US" sz="800" dirty="0"/>
          </a:p>
        </p:txBody>
      </p:sp>
      <p:sp>
        <p:nvSpPr>
          <p:cNvPr id="47" name="Text 43"/>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غُرْفَتِي المُفَضَّلَةُ غُرْفَةُ الجُلُوسِ. هِيَ وَاسِعَةٌ، وَفِيهَا أَرِيكَةٌ كَبِيرَةٌ مُقَابِلَ التِّلْفَازِ. أُحِبُّهَا </a:t>
            </a:r>
            <a:pPr rtl="1" algn="r" indent="0" marL="0">
              <a:buNone/>
            </a:pPr>
            <a:r>
              <a:rPr lang="ar-SA" altLang="en-US" sz="2000" b="1" dirty="0">
                <a:solidFill>
                  <a:srgbClr val="D6336C"/>
                </a:solidFill>
                <a:latin typeface="Amiri" pitchFamily="2" charset="-78"/>
                <a:ea typeface="Amiri" pitchFamily="2" charset="-78"/>
                <a:cs typeface="Amiri" pitchFamily="2" charset="-78"/>
              </a:rPr>
              <a:t>لِأَنَّنَا</a:t>
            </a:r>
            <a:pPr rtl="1" algn="r" indent="0" marL="0">
              <a:buNone/>
            </a:pPr>
            <a:r>
              <a:rPr lang="ar-SA" altLang="en-US" sz="2000" b="1" dirty="0">
                <a:solidFill>
                  <a:srgbClr val="1B3B6F"/>
                </a:solidFill>
                <a:latin typeface="Amiri" pitchFamily="2" charset="-78"/>
                <a:ea typeface="Amiri" pitchFamily="2" charset="-78"/>
                <a:cs typeface="Amiri" pitchFamily="2" charset="-78"/>
              </a:rPr>
              <a:t> نَجْلِسُ فِيهَا مَعًا فِي المَسَاءِ.</a:t>
            </a:r>
            <a:endParaRPr lang="ar-SA" sz="2000" dirty="0"/>
          </a:p>
        </p:txBody>
      </p:sp>
      <p:sp>
        <p:nvSpPr>
          <p:cNvPr id="48" name="Text 44"/>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250" i="1" dirty="0">
                <a:solidFill>
                  <a:srgbClr val="5A6472"/>
                </a:solidFill>
                <a:latin typeface="Calibri" pitchFamily="34" charset="0"/>
                <a:cs typeface="Amiri" pitchFamily="2" charset="-78"/>
              </a:rPr>
              <a:t>My favourite room is the living room. It is spacious, and it has a big sofa opposite the TV. I love it because we sit in it together in the evening.</a:t>
            </a:r>
            <a:endParaRPr lang="en-US" sz="1250" dirty="0"/>
          </a:p>
        </p:txBody>
      </p:sp>
      <p:sp>
        <p:nvSpPr>
          <p:cNvPr id="49"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“VISUAL GAME — FAMILY SCENE”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Warm-up: who is it?</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مَشْهَدُ العَائِلَةِ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mother and girl</a:t>
            </a:r>
            <a:endParaRPr lang="en-US" sz="1100" dirty="0"/>
          </a:p>
        </p:txBody>
      </p:sp>
      <p:sp>
        <p:nvSpPr>
          <p:cNvPr id="25" name="Shape 20"/>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8" name="Shape 23"/>
          <p:cNvSpPr/>
          <p:nvPr/>
        </p:nvSpPr>
        <p:spPr>
          <a:xfrm>
            <a:off x="4992624"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0" name="Shape 24"/>
          <p:cNvSpPr/>
          <p:nvPr/>
        </p:nvSpPr>
        <p:spPr>
          <a:xfrm>
            <a:off x="6181344" y="2066544"/>
            <a:ext cx="1014984" cy="1014984"/>
          </a:xfrm>
          <a:prstGeom prst="ellipse">
            <a:avLst/>
          </a:prstGeom>
          <a:solidFill>
            <a:srgbClr val="F4F1EA"/>
          </a:solidFill>
          <a:ln w="12700">
            <a:solidFill>
              <a:srgbClr val="F4F1EA"/>
            </a:solidFill>
            <a:prstDash val="solid"/>
          </a:ln>
        </p:spPr>
      </p:sp>
      <p:pic>
        <p:nvPicPr>
          <p:cNvPr id="31"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2" name="Text 25"/>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two boys</a:t>
            </a:r>
            <a:endParaRPr lang="en-US" sz="1100" dirty="0"/>
          </a:p>
        </p:txBody>
      </p:sp>
      <p:sp>
        <p:nvSpPr>
          <p:cNvPr id="33" name="Shape 2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27"/>
          <p:cNvSpPr/>
          <p:nvPr/>
        </p:nvSpPr>
        <p:spPr>
          <a:xfrm>
            <a:off x="585216" y="1938528"/>
            <a:ext cx="365760" cy="365760"/>
          </a:xfrm>
          <a:prstGeom prst="ellipse">
            <a:avLst/>
          </a:prstGeom>
          <a:solidFill>
            <a:srgbClr val="1B3B6F"/>
          </a:solidFill>
          <a:ln w="12700">
            <a:solidFill>
              <a:srgbClr val="1B3B6F"/>
            </a:solidFill>
            <a:prstDash val="solid"/>
          </a:ln>
        </p:spPr>
      </p:sp>
      <p:sp>
        <p:nvSpPr>
          <p:cNvPr id="35" name="Text 2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6" name="Shape 29"/>
          <p:cNvSpPr/>
          <p:nvPr/>
        </p:nvSpPr>
        <p:spPr>
          <a:xfrm>
            <a:off x="1173480" y="2066544"/>
            <a:ext cx="1014984" cy="1014984"/>
          </a:xfrm>
          <a:prstGeom prst="ellipse">
            <a:avLst/>
          </a:prstGeom>
          <a:solidFill>
            <a:srgbClr val="F4F1EA"/>
          </a:solidFill>
          <a:ln w="12700">
            <a:solidFill>
              <a:srgbClr val="F4F1EA"/>
            </a:solidFill>
            <a:prstDash val="solid"/>
          </a:ln>
        </p:spPr>
      </p:sp>
      <p:pic>
        <p:nvPicPr>
          <p:cNvPr id="3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8" name="Shape 30"/>
          <p:cNvSpPr/>
          <p:nvPr/>
        </p:nvSpPr>
        <p:spPr>
          <a:xfrm>
            <a:off x="2362200" y="2066544"/>
            <a:ext cx="1014984" cy="1014984"/>
          </a:xfrm>
          <a:prstGeom prst="ellipse">
            <a:avLst/>
          </a:prstGeom>
          <a:solidFill>
            <a:srgbClr val="F4F1EA"/>
          </a:solidFill>
          <a:ln w="12700">
            <a:solidFill>
              <a:srgbClr val="F4F1EA"/>
            </a:solidFill>
            <a:prstDash val="solid"/>
          </a:ln>
        </p:spPr>
      </p:sp>
      <p:pic>
        <p:nvPicPr>
          <p:cNvPr id="3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0" name="Text 3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grandfather and boy</a:t>
            </a:r>
            <a:endParaRPr lang="en-US" sz="1100" dirty="0"/>
          </a:p>
        </p:txBody>
      </p:sp>
      <p:sp>
        <p:nvSpPr>
          <p:cNvPr id="41" name="Shape 32"/>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3"/>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4"/>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4" name="Text 35"/>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أَخِي.</a:t>
            </a:r>
            <a:endParaRPr lang="ar-SA" sz="2000" dirty="0"/>
          </a:p>
        </p:txBody>
      </p:sp>
      <p:sp>
        <p:nvSpPr>
          <p:cNvPr id="45" name="Shape 36"/>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7"/>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8"/>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8" name="Text 39"/>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جَدِّي.</a:t>
            </a:r>
            <a:endParaRPr lang="ar-SA" sz="2000" dirty="0"/>
          </a:p>
        </p:txBody>
      </p:sp>
      <p:sp>
        <p:nvSpPr>
          <p:cNvPr id="49" name="Shape 40"/>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1"/>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2"/>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2" name="Text 43"/>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أُمِّي.</a:t>
            </a:r>
            <a:endParaRPr lang="ar-SA" sz="2000" dirty="0"/>
          </a:p>
        </p:txBody>
      </p:sp>
      <p:sp>
        <p:nvSpPr>
          <p:cNvPr id="53" name="Text 44"/>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4" name="Text 45"/>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5"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مَشْهَدُ العَائِلَةِ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mother and girl</a:t>
            </a:r>
            <a:endParaRPr lang="en-US" sz="1100" dirty="0"/>
          </a:p>
        </p:txBody>
      </p:sp>
      <p:sp>
        <p:nvSpPr>
          <p:cNvPr id="25" name="Shape 20"/>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2"/>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8" name="Text 23"/>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أُمِّي.</a:t>
            </a:r>
            <a:endParaRPr lang="ar-SA" sz="2200" dirty="0"/>
          </a:p>
        </p:txBody>
      </p:sp>
      <p:sp>
        <p:nvSpPr>
          <p:cNvPr id="29" name="Text 24"/>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my mother.</a:t>
            </a:r>
            <a:endParaRPr lang="en-US" sz="1200" dirty="0"/>
          </a:p>
        </p:txBody>
      </p:sp>
      <p:sp>
        <p:nvSpPr>
          <p:cNvPr id="30" name="Shape 25"/>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7"/>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3" name="Shape 28"/>
          <p:cNvSpPr/>
          <p:nvPr/>
        </p:nvSpPr>
        <p:spPr>
          <a:xfrm>
            <a:off x="4992624" y="2066544"/>
            <a:ext cx="1014984" cy="1014984"/>
          </a:xfrm>
          <a:prstGeom prst="ellipse">
            <a:avLst/>
          </a:prstGeom>
          <a:solidFill>
            <a:srgbClr val="F4F1EA"/>
          </a:solidFill>
          <a:ln w="12700">
            <a:solidFill>
              <a:srgbClr val="F4F1EA"/>
            </a:solidFill>
            <a:prstDash val="solid"/>
          </a:ln>
        </p:spPr>
      </p:sp>
      <p:pic>
        <p:nvPicPr>
          <p:cNvPr id="34"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5" name="Shape 29"/>
          <p:cNvSpPr/>
          <p:nvPr/>
        </p:nvSpPr>
        <p:spPr>
          <a:xfrm>
            <a:off x="6181344" y="2066544"/>
            <a:ext cx="1014984" cy="1014984"/>
          </a:xfrm>
          <a:prstGeom prst="ellipse">
            <a:avLst/>
          </a:prstGeom>
          <a:solidFill>
            <a:srgbClr val="F4F1EA"/>
          </a:solidFill>
          <a:ln w="12700">
            <a:solidFill>
              <a:srgbClr val="F4F1EA"/>
            </a:solidFill>
            <a:prstDash val="solid"/>
          </a:ln>
        </p:spPr>
      </p:sp>
      <p:pic>
        <p:nvPicPr>
          <p:cNvPr id="36"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7" name="Text 30"/>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two boys</a:t>
            </a:r>
            <a:endParaRPr lang="en-US" sz="1100" dirty="0"/>
          </a:p>
        </p:txBody>
      </p:sp>
      <p:sp>
        <p:nvSpPr>
          <p:cNvPr id="38" name="Shape 31"/>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9" name="Shape 32"/>
          <p:cNvSpPr/>
          <p:nvPr/>
        </p:nvSpPr>
        <p:spPr>
          <a:xfrm>
            <a:off x="7437120" y="3785616"/>
            <a:ext cx="329184" cy="329184"/>
          </a:xfrm>
          <a:prstGeom prst="ellipse">
            <a:avLst/>
          </a:prstGeom>
          <a:solidFill>
            <a:srgbClr val="2E8B57"/>
          </a:solidFill>
          <a:ln w="12700">
            <a:solidFill>
              <a:srgbClr val="2E8B57"/>
            </a:solidFill>
            <a:prstDash val="solid"/>
          </a:ln>
        </p:spPr>
      </p:sp>
      <p:sp>
        <p:nvSpPr>
          <p:cNvPr id="40" name="Text 33"/>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1" name="Text 34"/>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أَخِي.</a:t>
            </a:r>
            <a:endParaRPr lang="ar-SA" sz="2200" dirty="0"/>
          </a:p>
        </p:txBody>
      </p:sp>
      <p:sp>
        <p:nvSpPr>
          <p:cNvPr id="42" name="Text 35"/>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my brother.</a:t>
            </a:r>
            <a:endParaRPr lang="en-US" sz="1200" dirty="0"/>
          </a:p>
        </p:txBody>
      </p:sp>
      <p:sp>
        <p:nvSpPr>
          <p:cNvPr id="43" name="Shape 3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37"/>
          <p:cNvSpPr/>
          <p:nvPr/>
        </p:nvSpPr>
        <p:spPr>
          <a:xfrm>
            <a:off x="585216" y="1938528"/>
            <a:ext cx="365760" cy="365760"/>
          </a:xfrm>
          <a:prstGeom prst="ellipse">
            <a:avLst/>
          </a:prstGeom>
          <a:solidFill>
            <a:srgbClr val="1B3B6F"/>
          </a:solidFill>
          <a:ln w="12700">
            <a:solidFill>
              <a:srgbClr val="1B3B6F"/>
            </a:solidFill>
            <a:prstDash val="solid"/>
          </a:ln>
        </p:spPr>
      </p:sp>
      <p:sp>
        <p:nvSpPr>
          <p:cNvPr id="45" name="Text 3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6" name="Shape 39"/>
          <p:cNvSpPr/>
          <p:nvPr/>
        </p:nvSpPr>
        <p:spPr>
          <a:xfrm>
            <a:off x="1173480" y="2066544"/>
            <a:ext cx="1014984" cy="1014984"/>
          </a:xfrm>
          <a:prstGeom prst="ellipse">
            <a:avLst/>
          </a:prstGeom>
          <a:solidFill>
            <a:srgbClr val="F4F1EA"/>
          </a:solidFill>
          <a:ln w="12700">
            <a:solidFill>
              <a:srgbClr val="F4F1EA"/>
            </a:solidFill>
            <a:prstDash val="solid"/>
          </a:ln>
        </p:spPr>
      </p:sp>
      <p:pic>
        <p:nvPicPr>
          <p:cNvPr id="4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8" name="Shape 40"/>
          <p:cNvSpPr/>
          <p:nvPr/>
        </p:nvSpPr>
        <p:spPr>
          <a:xfrm>
            <a:off x="2362200" y="2066544"/>
            <a:ext cx="1014984" cy="1014984"/>
          </a:xfrm>
          <a:prstGeom prst="ellipse">
            <a:avLst/>
          </a:prstGeom>
          <a:solidFill>
            <a:srgbClr val="F4F1EA"/>
          </a:solidFill>
          <a:ln w="12700">
            <a:solidFill>
              <a:srgbClr val="F4F1EA"/>
            </a:solidFill>
            <a:prstDash val="solid"/>
          </a:ln>
        </p:spPr>
      </p:sp>
      <p:pic>
        <p:nvPicPr>
          <p:cNvPr id="4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50" name="Text 4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grandfather and boy</a:t>
            </a:r>
            <a:endParaRPr lang="en-US" sz="1100" dirty="0"/>
          </a:p>
        </p:txBody>
      </p:sp>
      <p:sp>
        <p:nvSpPr>
          <p:cNvPr id="51" name="Shape 42"/>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3"/>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4"/>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4" name="Text 45"/>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جَدِّي.</a:t>
            </a:r>
            <a:endParaRPr lang="ar-SA" sz="2200" dirty="0"/>
          </a:p>
        </p:txBody>
      </p:sp>
      <p:sp>
        <p:nvSpPr>
          <p:cNvPr id="55" name="Text 46"/>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my grandfather.</a:t>
            </a:r>
            <a:endParaRPr lang="en-US" sz="1200" dirty="0"/>
          </a:p>
        </p:txBody>
      </p:sp>
      <p:sp>
        <p:nvSpPr>
          <p:cNvPr id="56"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“TALK BUILDER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بِنَاءِ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Add a useful home detail:</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فِي بَيْتٍ كَبِيرٍ.</a:t>
            </a:r>
            <a:endParaRPr lang="ar-SA" sz="18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أَبِي هَادِئٌ.</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فِيهِ سِتُّ غُرَفٍ وَحَدِيقَةٌ.</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أَتَكَلَّمُ العَرَبِيَّةَ.</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Give the correct reason:</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أُحِبُّ غُرْفَتِي...</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 مُرَتَّبٌ.</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لِأَنَّنِي مُرَتَّبَةٌ.</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مُرَتَّبَةٌ.</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Keep feminine agreement:</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أُمِّي...</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لَطِيفَةٌ وَمُجْتَهِدَةٌ.</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لَطِيفٌ وَمُجْتَهِدٌ.</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كَبِيرٌ وَهَادِئَةٌ.</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Develop the yes/no answer:</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هَلْ عِنْدَكَ إِخْوَةٌ؟</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نَعَمْ.</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نَعَمْ، عِنْدِي أَخَوَانِ وَأُخْتٌ.</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بَيْتِي ثَلَاثُ غُرَفٍ.</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for repetition politely: You did not understand the prompt.</a:t>
            </a:r>
            <a:endParaRPr lang="en-US" sz="125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يُمْكِنُ أَنْ تُعِيدَ السُّؤَالَ؟</a:t>
            </a:r>
            <a:endParaRPr lang="ar-SA" sz="20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أُرِيدُ أَنْ أَتَكَلَّمَ.</a:t>
            </a:r>
            <a:endParaRPr lang="ar-SA" sz="205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السُّؤَالُ خَطَأٌ.</a:t>
            </a:r>
            <a:endParaRPr lang="ar-SA" sz="2050" dirty="0"/>
          </a:p>
        </p:txBody>
      </p:sp>
      <p:sp>
        <p:nvSpPr>
          <p:cNvPr id="84" name="Shape 81"/>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6" name="Text 83"/>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7" name="Text 84"/>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answer → extend → reason</a:t>
            </a:r>
            <a:endParaRPr lang="en-US" sz="1250" dirty="0"/>
          </a:p>
          <a:p>
            <a:pPr algn="l" indent="0" marL="0">
              <a:buNone/>
            </a:pPr>
            <a:r>
              <a:rPr lang="en-US" sz="1250" dirty="0">
                <a:solidFill>
                  <a:srgbClr val="1E6B52"/>
                </a:solidFill>
                <a:latin typeface="Calibri" pitchFamily="34" charset="0"/>
                <a:cs typeface="Amiri" pitchFamily="2" charset="-78"/>
              </a:rPr>
              <a:t>house -hu · room -hā</a:t>
            </a:r>
            <a:endParaRPr lang="en-US" sz="1250" dirty="0"/>
          </a:p>
          <a:p>
            <a:pPr algn="l" indent="0" marL="0">
              <a:buNone/>
            </a:pPr>
            <a:r>
              <a:rPr lang="en-US" sz="1250" dirty="0">
                <a:solidFill>
                  <a:srgbClr val="1E6B52"/>
                </a:solidFill>
                <a:latin typeface="Calibri" pitchFamily="34" charset="0"/>
                <a:cs typeface="Amiri" pitchFamily="2" charset="-78"/>
              </a:rPr>
              <a:t>stay on the topic</a:t>
            </a:r>
            <a:endParaRPr lang="en-US" sz="125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Add a useful home detail:</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فِي بَيْتٍ كَبِيرٍ.</a:t>
            </a:r>
            <a:endParaRPr lang="ar-SA" sz="18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أَبِي هَادِئٌ.</a:t>
            </a:r>
            <a:endParaRPr lang="ar-SA" sz="1700" dirty="0"/>
          </a:p>
        </p:txBody>
      </p:sp>
      <p:sp>
        <p:nvSpPr>
          <p:cNvPr id="23" name="Shape 20"/>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1"/>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فِيهِ سِتُّ غُرَفٍ وَحَدِيقَةٌ.</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أَتَكَلَّمُ العَرَبِيَّةَ.</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Room count and garden detail develop the home description.</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Give the correct reason:</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أُحِبُّ غُرْفَتِي...</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 مُرَتَّبٌ.</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لِأَنَّنِي مُرَتَّبَةٌ.</a:t>
            </a:r>
            <a:endParaRPr lang="ar-SA" sz="170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لِأَنَّهَا مُرَتَّبَةٌ.</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غُرْفَةٌ</a:t>
            </a:r>
            <a:pPr algn="l" indent="0" marL="0">
              <a:buNone/>
            </a:pPr>
            <a:r>
              <a:rPr lang="en-US" sz="1050" i="1" dirty="0">
                <a:solidFill>
                  <a:srgbClr val="8A6D1E"/>
                </a:solidFill>
                <a:latin typeface="Calibri" pitchFamily="34" charset="0"/>
                <a:cs typeface="Amiri" pitchFamily="2" charset="-78"/>
              </a:rPr>
              <a:t> is feminine, so use </a:t>
            </a:r>
            <a:pPr algn="l" indent="0" marL="0">
              <a:buNone/>
            </a:pPr>
            <a:r>
              <a:rPr lang="ar-SA" altLang="en-US" sz="1350" dirty="0">
                <a:solidFill>
                  <a:srgbClr val="8A6D1E"/>
                </a:solidFill>
                <a:latin typeface="Amiri" pitchFamily="2" charset="-78"/>
                <a:ea typeface="Amiri" pitchFamily="2" charset="-78"/>
                <a:cs typeface="Amiri" pitchFamily="2" charset="-78"/>
              </a:rPr>
              <a:t>لِأَنَّهَا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Keep feminine agreement:</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أُمِّي...</a:t>
            </a:r>
            <a:endParaRPr lang="ar-SA" sz="2200" dirty="0"/>
          </a:p>
        </p:txBody>
      </p:sp>
      <p:sp>
        <p:nvSpPr>
          <p:cNvPr id="52" name="Shape 49"/>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49021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5" name="Text 52"/>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لَطِيفَةٌ وَمُجْتَهِدَةٌ.</a:t>
            </a:r>
            <a:endParaRPr lang="ar-SA" sz="1700" dirty="0"/>
          </a:p>
        </p:txBody>
      </p:sp>
      <p:sp>
        <p:nvSpPr>
          <p:cNvPr id="56"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لَطِيفٌ وَمُجْتَهِدٌ.</a:t>
            </a:r>
            <a:endParaRPr lang="ar-SA" sz="170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كَبِيرٌ وَهَادِئَةٌ.</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adjectives agree with feminine </a:t>
            </a:r>
            <a:pPr algn="l" indent="0" marL="0">
              <a:buNone/>
            </a:pPr>
            <a:r>
              <a:rPr lang="ar-SA" altLang="en-US" sz="1350" dirty="0">
                <a:solidFill>
                  <a:srgbClr val="8A6D1E"/>
                </a:solidFill>
                <a:latin typeface="Amiri" pitchFamily="2" charset="-78"/>
                <a:ea typeface="Amiri" pitchFamily="2" charset="-78"/>
                <a:cs typeface="Amiri" pitchFamily="2" charset="-78"/>
              </a:rPr>
              <a:t>أُمٌّ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Develop the yes/no answer:</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هَلْ عِنْدَكَ إِخْوَةٌ؟</a:t>
            </a:r>
            <a:endParaRPr lang="ar-SA" sz="22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نَعَمْ.</a:t>
            </a:r>
            <a:endParaRPr lang="ar-SA" sz="1700" dirty="0"/>
          </a:p>
        </p:txBody>
      </p:sp>
      <p:sp>
        <p:nvSpPr>
          <p:cNvPr id="71" name="Shape 68"/>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202936"/>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4" name="Text 71"/>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نَعَمْ، عِنْدِي أَخَوَانِ وَأُخْتٌ.</a:t>
            </a:r>
            <a:endParaRPr lang="ar-SA" sz="1700" dirty="0"/>
          </a:p>
        </p:txBody>
      </p:sp>
      <p:sp>
        <p:nvSpPr>
          <p:cNvPr id="75" name="Shape 72"/>
          <p:cNvSpPr/>
          <p:nvPr/>
        </p:nvSpPr>
        <p:spPr>
          <a:xfrm>
            <a:off x="640080"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بَيْتِي ثَلَاثُ غُرَفٍ.</a:t>
            </a:r>
            <a:endParaRPr lang="ar-SA" sz="170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correct answer gives the requested family detail.</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2" name="Text 7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for repetition politely: You did not understand the prompt.</a:t>
            </a:r>
            <a:endParaRPr lang="en-US" sz="1250" dirty="0"/>
          </a:p>
        </p:txBody>
      </p:sp>
      <p:sp>
        <p:nvSpPr>
          <p:cNvPr id="83" name="Shape 8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4" name="Shape 81"/>
          <p:cNvSpPr/>
          <p:nvPr/>
        </p:nvSpPr>
        <p:spPr>
          <a:xfrm>
            <a:off x="4459224" y="4831080"/>
            <a:ext cx="256032" cy="256032"/>
          </a:xfrm>
          <a:prstGeom prst="ellipse">
            <a:avLst/>
          </a:prstGeom>
          <a:solidFill>
            <a:srgbClr val="2E8B57"/>
          </a:solidFill>
          <a:ln w="12700">
            <a:solidFill>
              <a:srgbClr val="2E8B57"/>
            </a:solidFill>
            <a:prstDash val="solid"/>
          </a:ln>
        </p:spPr>
      </p:sp>
      <p:sp>
        <p:nvSpPr>
          <p:cNvPr id="85"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6"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هَلْ يُمْكِنُ أَنْ تُعِيدَ السُّؤَالَ؟</a:t>
            </a:r>
            <a:endParaRPr lang="ar-SA" sz="1700" dirty="0"/>
          </a:p>
        </p:txBody>
      </p:sp>
      <p:sp>
        <p:nvSpPr>
          <p:cNvPr id="87"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أُرِيدُ أَنْ أَتَكَلَّمَ.</a:t>
            </a:r>
            <a:endParaRPr lang="ar-SA" sz="1700" dirty="0"/>
          </a:p>
        </p:txBody>
      </p:sp>
      <p:sp>
        <p:nvSpPr>
          <p:cNvPr id="90" name="Shape 87"/>
          <p:cNvSpPr/>
          <p:nvPr/>
        </p:nvSpPr>
        <p:spPr>
          <a:xfrm>
            <a:off x="4459224" y="5574792"/>
            <a:ext cx="256032" cy="256032"/>
          </a:xfrm>
          <a:prstGeom prst="ellipse">
            <a:avLst/>
          </a:prstGeom>
          <a:solidFill>
            <a:srgbClr val="C9CED6"/>
          </a:solidFill>
          <a:ln w="12700">
            <a:solidFill>
              <a:srgbClr val="C9CED6"/>
            </a:solidFill>
            <a:prstDash val="solid"/>
          </a:ln>
        </p:spPr>
      </p:sp>
      <p:sp>
        <p:nvSpPr>
          <p:cNvPr id="91"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السُّؤَالُ خَطَأٌ.</a:t>
            </a:r>
            <a:endParaRPr lang="ar-SA" sz="1700" dirty="0"/>
          </a:p>
        </p:txBody>
      </p:sp>
      <p:sp>
        <p:nvSpPr>
          <p:cNvPr id="93"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phrase maintains interaction respectfully.</a:t>
            </a:r>
            <a:endParaRPr lang="en-US" sz="1050" dirty="0"/>
          </a:p>
        </p:txBody>
      </p:sp>
      <p:sp>
        <p:nvSpPr>
          <p:cNvPr id="94" name="Shape 91"/>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5" name="Shape 92"/>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7" name="Text 94"/>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answer → extend → reason</a:t>
            </a:r>
            <a:endParaRPr lang="en-US" sz="1250" dirty="0"/>
          </a:p>
          <a:p>
            <a:pPr algn="l" indent="0" marL="0">
              <a:buNone/>
            </a:pPr>
            <a:r>
              <a:rPr lang="en-US" sz="1250" dirty="0">
                <a:solidFill>
                  <a:srgbClr val="1E6B52"/>
                </a:solidFill>
                <a:latin typeface="Calibri" pitchFamily="34" charset="0"/>
                <a:cs typeface="Amiri" pitchFamily="2" charset="-78"/>
              </a:rPr>
              <a:t>house -hu · room -hā</a:t>
            </a:r>
            <a:endParaRPr lang="en-US" sz="1250" dirty="0"/>
          </a:p>
          <a:p>
            <a:pPr algn="l" indent="0" marL="0">
              <a:buNone/>
            </a:pPr>
            <a:r>
              <a:rPr lang="en-US" sz="1250" dirty="0">
                <a:solidFill>
                  <a:srgbClr val="1E6B52"/>
                </a:solidFill>
                <a:latin typeface="Calibri" pitchFamily="34" charset="0"/>
                <a:cs typeface="Amiri" pitchFamily="2" charset="-78"/>
              </a:rPr>
              <a:t>stay on the topic</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غُرْفَتِي لِأَنَّهُ مُرِيحٌ.</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Room → which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كَمْ غُرْفَةً فِي بَيْتِكَ؟ — نَعَمْ.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Kam: what must the answer contain?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أَقْرَأُ فِي غُرْفَتِي لِأَنَّ أُحِبُّ الهُدُوءَ.</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Because I …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غُرْفَتِي لِأَنَّهُ مُرِيحٌ.</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غُرْفَتِي لِأَنَّهَا مُرِيحَةٌ.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Room is feminine: li’annahā.</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كَمْ غُرْفَةً فِي بَيْتِكَ؟ — نَعَمْ.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فِي بَيْتِي خَمْسُ غُرَفٍ.</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Kam asks for a number: answer the exact question.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أَقْرَأُ فِي غُرْفَتِي لِأَنَّ أُحِبُّ الهُدُوءَ.</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أَقْرَأُ فِي غُرْفَتِي لِأَنَّنِي أُحِبُّ الهُدُوءَ.</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Because I … = li’annanī.</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Examiner prompt rehearsal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Prompt 1 asks for...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family members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room furniture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reason only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suitable answer to prompt 4 is...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عِنْدِي أُخْتٌ.</a:t>
            </a:r>
            <a:endParaRPr lang="ar-SA" sz="200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المَكْتَبُ بُنِّيٌّ.</a:t>
            </a:r>
            <a:endParaRPr lang="ar-SA" sz="200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أَسْكُنُ فِي شَقَّةٍ قَرِيبَةٍ مِنَ المَدْرَسَةِ.</a:t>
            </a:r>
            <a:endParaRPr lang="ar-SA" sz="200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Prompt 5 asks for...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favourite relative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colour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number of rooms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Prompt 7 requires...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position expression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reason for liking family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greeting</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full answer to prompt 8...</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بَيْتِي.</a:t>
            </a:r>
            <a:endParaRPr lang="ar-SA" sz="160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أُحِبُّ بَيْتِي لِأَنَّهُ مُرِيحٌ وَقَرِيبٌ مِنَ الحَدِيقَةِ.</a:t>
            </a:r>
            <a:endParaRPr lang="ar-SA" sz="160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نَعَمْ.</a:t>
            </a:r>
            <a:endParaRPr lang="ar-SA" sz="160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For each prompt write: the question word + the topic.</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 فِي عَائِلَتِكَ؟ · صِفْ أَحَدَ أَفْرَادِ عَائِلَتِكَ.</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Who is in your family? · Describe one family member.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مَاذَا تَفْعَلُ مَعَ عَائِلَتِكَ فِي المَسَاءِ؟</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What do you do with your family in the evening?</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أَيْنَ تَسْكُنُ؟ · كَمْ غُرْفَةً فِي بَيْتِكَ؟</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Where do you live? · How many rooms are in your home?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مَاذَا يُوجَدُ فِي غُرْفَتِكَ؟ · أَيْنَ يَقَعُ مَكْتَبُكَ؟</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What is in your room? · Where is your desk?</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لِمَاذَا تُحِبُّ بَيْتَكَ؟</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Why do you like your home?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Prompt 1 asks for...</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family members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room furniture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reason only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مَنْ فِي عَائِلَتِكَ؟</a:t>
            </a:r>
            <a:pPr algn="l" indent="0" marL="0">
              <a:buNone/>
            </a:pPr>
            <a:r>
              <a:rPr lang="en-US" sz="1050" i="1" dirty="0">
                <a:solidFill>
                  <a:srgbClr val="8A6D1E"/>
                </a:solidFill>
                <a:latin typeface="Calibri" pitchFamily="34" charset="0"/>
                <a:cs typeface="Amiri" pitchFamily="2" charset="-78"/>
              </a:rPr>
              <a:t> asks who is in the family.</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suitable answer to prompt 4 is...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عِنْدِي أُخْتٌ.</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المَكْتَبُ بُنِّيٌّ.</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أَسْكُنُ فِي شَقَّةٍ قَرِيبَةٍ مِنَ المَدْرَسَةِ.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Prompt 4 asks where the speaker lives.</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Prompt 5 asks for...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favourite relative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colour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number of rooms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كَمْ غُرْفَةً</a:t>
            </a:r>
            <a:pPr algn="l" indent="0" marL="0">
              <a:buNone/>
            </a:pPr>
            <a:r>
              <a:rPr lang="en-US" sz="1050" i="1" dirty="0">
                <a:solidFill>
                  <a:srgbClr val="8A6D1E"/>
                </a:solidFill>
                <a:latin typeface="Calibri" pitchFamily="34" charset="0"/>
                <a:cs typeface="Amiri" pitchFamily="2" charset="-78"/>
              </a:rPr>
              <a:t> asks how many rooms.</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Prompt 7 requires...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position expression</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reason for liking family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greeting</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أَيْنَ يَقَعُ مَكْتَبُكَ؟</a:t>
            </a:r>
            <a:pPr algn="l" indent="0" marL="0">
              <a:buNone/>
            </a:pPr>
            <a:r>
              <a:rPr lang="en-US" sz="1050" i="1" dirty="0">
                <a:solidFill>
                  <a:srgbClr val="8A6D1E"/>
                </a:solidFill>
                <a:latin typeface="Calibri" pitchFamily="34" charset="0"/>
                <a:cs typeface="Amiri" pitchFamily="2" charset="-78"/>
              </a:rPr>
              <a:t> asks where the desk is located.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full answer to prompt 8...</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بَيْتِي.</a:t>
            </a:r>
            <a:endParaRPr lang="ar-SA" sz="16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أُحِبُّ بَيْتِي لِأَنَّهُ مُرِيحٌ وَقَرِيبٌ مِنَ الحَدِيقَةِ.</a:t>
            </a:r>
            <a:endParaRPr lang="ar-SA" sz="16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نَعَمْ.</a:t>
            </a:r>
            <a:endParaRPr lang="ar-SA" sz="16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responds directly and extends with two relevant details.</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For each prompt write: the question word + the topic.</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PROMPT CARDS · FAMILY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card, then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بِطَاقَاتُ 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 فِي عَائِلَتِكَ؟ / عَائِلَتِكِ؟</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Who is in your family? — name people + one description</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مَعَ مَنْ تَعِيشُ؟ / تَعِيشِينَ؟</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Who do you live with? — ma‘a + possessives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هَلْ عِنْدَكَ إِخْوَةٌ؟ / عِنْدَكِ إِخْوَةٌ؟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 you have siblings? — number or relationship + one detail</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صِفْ أَحَدَ أَفْرَادِ عَائِلَتِكَ. / صِفِي …</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Describe one family member — appearance + personality</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لِمَاذَا تُحِبُّ عَائِلَتَكَ؟ / تُحِبِّينَ عَائِلَتَكِ؟</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Why do you love your family? — opinion + li’anna</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PROMPT CARDS · HOME (WEBSITE)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Home cards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بِطَاقَاتُ البَيْتِ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7" name="Shape 14"/>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8" name="Text 15"/>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أَيْنَ تَسْكُنُ؟ / تَسْكُنِينَ؟</a:t>
            </a:r>
            <a:endParaRPr lang="ar-SA" sz="2000" dirty="0"/>
          </a:p>
        </p:txBody>
      </p:sp>
      <p:sp>
        <p:nvSpPr>
          <p:cNvPr id="19" name="Text 16"/>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Where do you live? — type of home + general area (NOT an address)</a:t>
            </a:r>
            <a:endParaRPr lang="en-US" sz="1250" dirty="0"/>
          </a:p>
        </p:txBody>
      </p:sp>
      <p:sp>
        <p:nvSpPr>
          <p:cNvPr id="20" name="Shape 17"/>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21" name="Text 18"/>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صِفْ بَيْتَكَ. / صِفِي بَيْتَكِ.</a:t>
            </a:r>
            <a:endParaRPr lang="ar-SA" sz="2000" dirty="0"/>
          </a:p>
        </p:txBody>
      </p:sp>
      <p:sp>
        <p:nvSpPr>
          <p:cNvPr id="22" name="Text 19"/>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Describe your home — size, rooms, one feature</a:t>
            </a:r>
            <a:endParaRPr lang="en-US" sz="1250" dirty="0"/>
          </a:p>
        </p:txBody>
      </p:sp>
      <p:sp>
        <p:nvSpPr>
          <p:cNvPr id="23" name="Shape 20"/>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4" name="Text 21"/>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كَمْ غُرْفَةً فِي بَيْتِكَ؟</a:t>
            </a:r>
            <a:endParaRPr lang="ar-SA" sz="2000" dirty="0"/>
          </a:p>
        </p:txBody>
      </p:sp>
      <p:sp>
        <p:nvSpPr>
          <p:cNvPr id="25" name="Text 22"/>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 many rooms? — number + names of rooms</a:t>
            </a:r>
            <a:endParaRPr lang="en-US" sz="1250" dirty="0"/>
          </a:p>
        </p:txBody>
      </p:sp>
      <p:sp>
        <p:nvSpPr>
          <p:cNvPr id="26" name="Shape 23"/>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7" name="Text 24"/>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مَا غُرْفَتُكَ المُفَضَّلَةُ؟</a:t>
            </a:r>
            <a:endParaRPr lang="ar-SA" sz="2000" dirty="0"/>
          </a:p>
        </p:txBody>
      </p:sp>
      <p:sp>
        <p:nvSpPr>
          <p:cNvPr id="28" name="Text 25"/>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Favourite room? — name it, describe it, say why</a:t>
            </a:r>
            <a:endParaRPr lang="en-US" sz="1250" dirty="0"/>
          </a:p>
        </p:txBody>
      </p:sp>
      <p:sp>
        <p:nvSpPr>
          <p:cNvPr id="29" name="Shape 26"/>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30" name="Text 27"/>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أَيْنَ يَقَعُ السَّرِيرُ أَوِ المَكْتَبُ؟</a:t>
            </a:r>
            <a:endParaRPr lang="ar-SA" sz="2000" dirty="0"/>
          </a:p>
        </p:txBody>
      </p:sp>
      <p:sp>
        <p:nvSpPr>
          <p:cNvPr id="31" name="Text 28"/>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Where is the bed or desk? — a precise position</a:t>
            </a:r>
            <a:endParaRPr lang="en-US" sz="12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FOLLOW-UP RESPONSE DRILL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 the follow-up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الأَسْئِلَةُ الإِضَافِيَّةُ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Best response to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B3B6F"/>
                </a:solidFill>
                <a:latin typeface="Amiri" pitchFamily="2" charset="-78"/>
                <a:ea typeface="Amiri" pitchFamily="2" charset="-78"/>
                <a:cs typeface="Amiri" pitchFamily="2" charset="-78"/>
              </a:rPr>
              <a:t>مَنْ أَقْرَبُ شَخْصٍ إِلَيْكَ فِي العَائِلَةِ</a:t>
            </a:r>
            <a:endParaRPr lang="ar-SA" sz="115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أُخْتِي أَقْرَبُ شَخْصٍ إِلَيَّ لِأَنَّهَا تَفْهَمُنِي وَتُسَاعِدُنِي.</a:t>
            </a:r>
            <a:endParaRPr lang="ar-SA" sz="14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عِنْدِي أُخْتٌ.</a:t>
            </a:r>
            <a:endParaRPr lang="ar-SA" sz="14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بَيْتِي كَبِيرٌ.</a:t>
            </a:r>
            <a:endParaRPr lang="ar-SA" sz="14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Best response to this?</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أَيُّ غُرْفَةٍ تَسْتَخْدِمُ أَكْثَرَ</a:t>
            </a:r>
            <a:endParaRPr lang="ar-SA" sz="16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غُرْفَتِي صَغِيرَةٌ.</a:t>
            </a:r>
            <a:endParaRPr lang="ar-SA" sz="14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أَسْتَخْدِمُ غُرْفَتِي أَكْثَرَ لِأَنَّنِي أَدْرُسُ وَأَقْرَأُ فِيهَا.</a:t>
            </a:r>
            <a:endParaRPr lang="ar-SA" sz="14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عِنْدِي غُرْفَةٌ.</a:t>
            </a:r>
            <a:endParaRPr lang="ar-SA" sz="14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Best response to this?</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B3B6F"/>
                </a:solidFill>
                <a:latin typeface="Amiri" pitchFamily="2" charset="-78"/>
                <a:ea typeface="Amiri" pitchFamily="2" charset="-78"/>
                <a:cs typeface="Amiri" pitchFamily="2" charset="-78"/>
              </a:rPr>
              <a:t>هَلْ بَيْتُكَ قَرِيبٌ مِنْ مَكَانٍ مُفِيدٍ؟</a:t>
            </a:r>
            <a:endParaRPr lang="ar-SA" sz="115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نَعَمْ، بَيْتِي قَرِيبٌ مِنَ المَكْتَبَةِ وَالمَتْجَرِ.</a:t>
            </a:r>
            <a:endParaRPr lang="ar-SA" sz="170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نَعَمْ فقط.</a:t>
            </a:r>
            <a:endParaRPr lang="ar-SA" sz="170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أُحِبُّ عَائِلَتِي.</a:t>
            </a:r>
            <a:endParaRPr lang="ar-SA" sz="170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Best response to this?</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أَيْنَ تَدْرُسُ عَادَةً؟</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أَدْرُسُ كَثِيرًا.</a:t>
            </a:r>
            <a:endParaRPr lang="ar-SA" sz="170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مَكْتَبِي بُنِّيٌّ.</a:t>
            </a:r>
            <a:endParaRPr lang="ar-SA" sz="170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أَدْرُسُ عَادَةً عَلَى مَكْتَبِي بِجَانِبِ النَّافِذَةِ.</a:t>
            </a:r>
            <a:endParaRPr lang="ar-SA" sz="170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appropriately gains brief thinking time?</a:t>
            </a:r>
            <a:endParaRPr lang="en-US" sz="125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أَعْرِفُ أَيَّ شَيْءٍ.</a:t>
            </a:r>
            <a:endParaRPr lang="ar-SA" sz="20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دَعْنِي أُفَكِّرُ قَلِيلًا...</a:t>
            </a:r>
            <a:endParaRPr lang="ar-SA" sz="205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السُّؤَالُ سَيِّئٌ.</a:t>
            </a:r>
            <a:endParaRPr lang="ar-SA" sz="2050" dirty="0"/>
          </a:p>
        </p:txBody>
      </p:sp>
      <p:sp>
        <p:nvSpPr>
          <p:cNvPr id="84" name="Shape 81"/>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5" name="Text 82"/>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FOLLOW-UP</a:t>
            </a:r>
            <a:endParaRPr lang="en-US" sz="1000" dirty="0"/>
          </a:p>
        </p:txBody>
      </p:sp>
      <p:sp>
        <p:nvSpPr>
          <p:cNvPr id="86" name="Text 83"/>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Add, clarify or justify.</a:t>
            </a:r>
            <a:endParaRPr lang="en-US" sz="1250" dirty="0"/>
          </a:p>
          <a:p>
            <a:pPr algn="l" indent="0" marL="0">
              <a:buNone/>
            </a:pPr>
            <a:r>
              <a:rPr lang="en-US" sz="1250" dirty="0">
                <a:solidFill>
                  <a:srgbClr val="1F2A37"/>
                </a:solidFill>
                <a:latin typeface="Calibri" pitchFamily="34" charset="0"/>
                <a:cs typeface="Amiri" pitchFamily="2" charset="-78"/>
              </a:rPr>
              <a:t>Do not repeat the same sentence.</a:t>
            </a:r>
            <a:endParaRPr lang="en-US" sz="125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FOLLOW-UP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Follow-ups: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Best response to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B3B6F"/>
                </a:solidFill>
                <a:latin typeface="Amiri" pitchFamily="2" charset="-78"/>
                <a:ea typeface="Amiri" pitchFamily="2" charset="-78"/>
                <a:cs typeface="Amiri" pitchFamily="2" charset="-78"/>
              </a:rPr>
              <a:t>مَنْ أَقْرَبُ شَخْصٍ إِلَيْكَ فِي العَائِلَةِ</a:t>
            </a:r>
            <a:endParaRPr lang="ar-SA" sz="1150" dirty="0"/>
          </a:p>
        </p:txBody>
      </p:sp>
      <p:sp>
        <p:nvSpPr>
          <p:cNvPr id="20" name="Shape 17"/>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490216"/>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أُخْتِي أَقْرَبُ شَخْصٍ إِلَيَّ لِأَنَّهَا تَفْهَمُنِي وَتُسَاعِدُنِي.</a:t>
            </a:r>
            <a:endParaRPr lang="ar-SA" sz="14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عِنْدِي أُخْتٌ.</a:t>
            </a:r>
            <a:endParaRPr lang="ar-SA" sz="145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بَيْتِي كَبِيرٌ.</a:t>
            </a:r>
            <a:endParaRPr lang="ar-SA" sz="145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identifies the person and gives a developed reason.</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Best response to this?</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أَيُّ غُرْفَةٍ تَسْتَخْدِمُ أَكْثَرَ</a:t>
            </a:r>
            <a:endParaRPr lang="ar-SA" sz="16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غُرْفَتِي صَغِيرَةٌ.</a:t>
            </a:r>
            <a:endParaRPr lang="ar-SA" sz="1450" dirty="0"/>
          </a:p>
        </p:txBody>
      </p:sp>
      <p:sp>
        <p:nvSpPr>
          <p:cNvPr id="39" name="Shape 36"/>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أَسْتَخْدِمُ غُرْفَتِي أَكْثَرَ لِأَنَّنِي أَدْرُسُ وَأَقْرَأُ فِيهَا.</a:t>
            </a:r>
            <a:endParaRPr lang="ar-SA" sz="145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عِنْدِي غُرْفَةٌ.</a:t>
            </a:r>
            <a:endParaRPr lang="ar-SA" sz="14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identifies the room and explains why.</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Best response to this?</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B3B6F"/>
                </a:solidFill>
                <a:latin typeface="Amiri" pitchFamily="2" charset="-78"/>
                <a:ea typeface="Amiri" pitchFamily="2" charset="-78"/>
                <a:cs typeface="Amiri" pitchFamily="2" charset="-78"/>
              </a:rPr>
              <a:t>هَلْ بَيْتُكَ قَرِيبٌ مِنْ مَكَانٍ مُفِيدٍ؟</a:t>
            </a:r>
            <a:endParaRPr lang="ar-SA" sz="1150" dirty="0"/>
          </a:p>
        </p:txBody>
      </p:sp>
      <p:sp>
        <p:nvSpPr>
          <p:cNvPr id="52" name="Shape 49"/>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49021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5" name="Text 52"/>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نَعَمْ، بَيْتِي قَرِيبٌ مِنَ المَكْتَبَةِ وَالمَتْجَرِ.</a:t>
            </a:r>
            <a:endParaRPr lang="ar-SA" sz="1700" dirty="0"/>
          </a:p>
        </p:txBody>
      </p:sp>
      <p:sp>
        <p:nvSpPr>
          <p:cNvPr id="56"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نَعَمْ فقط.</a:t>
            </a:r>
            <a:endParaRPr lang="ar-SA" sz="170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عَائِلَتِي.</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answers yes and specifies useful nearby places.</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Best response to this?</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أَيْنَ تَدْرُسُ عَادَةً؟</a:t>
            </a:r>
            <a:endParaRPr lang="ar-SA" sz="22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أَدْرُسُ كَثِيرًا.</a:t>
            </a:r>
            <a:endParaRPr lang="ar-SA" sz="1700" dirty="0"/>
          </a:p>
        </p:txBody>
      </p:sp>
      <p:sp>
        <p:nvSpPr>
          <p:cNvPr id="71" name="Shape 68"/>
          <p:cNvSpPr/>
          <p:nvPr/>
        </p:nvSpPr>
        <p:spPr>
          <a:xfrm>
            <a:off x="640080"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مَكْتَبِي بُنِّيٌّ.</a:t>
            </a:r>
            <a:endParaRPr lang="ar-SA" sz="1700" dirty="0"/>
          </a:p>
        </p:txBody>
      </p:sp>
      <p:sp>
        <p:nvSpPr>
          <p:cNvPr id="74" name="Shape 7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40080"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أَدْرُسُ عَادَةً عَلَى مَكْتَبِي بِجَانِبِ النَّافِذَةِ.</a:t>
            </a:r>
            <a:endParaRPr lang="ar-SA" sz="170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gives the exact place and a precise position.</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2" name="Text 7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appropriately gains brief thinking time?</a:t>
            </a:r>
            <a:endParaRPr lang="en-US" sz="1250" dirty="0"/>
          </a:p>
        </p:txBody>
      </p:sp>
      <p:sp>
        <p:nvSpPr>
          <p:cNvPr id="83" name="Shape 80"/>
          <p:cNvSpPr/>
          <p:nvPr/>
        </p:nvSpPr>
        <p:spPr>
          <a:xfrm>
            <a:off x="4459224" y="4831080"/>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5"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أَعْرِفُ أَيَّ شَيْءٍ.</a:t>
            </a:r>
            <a:endParaRPr lang="ar-SA" sz="1700" dirty="0"/>
          </a:p>
        </p:txBody>
      </p:sp>
      <p:sp>
        <p:nvSpPr>
          <p:cNvPr id="86" name="Shape 83"/>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7" name="Shape 84"/>
          <p:cNvSpPr/>
          <p:nvPr/>
        </p:nvSpPr>
        <p:spPr>
          <a:xfrm>
            <a:off x="4459224" y="5202936"/>
            <a:ext cx="256032" cy="256032"/>
          </a:xfrm>
          <a:prstGeom prst="ellipse">
            <a:avLst/>
          </a:prstGeom>
          <a:solidFill>
            <a:srgbClr val="2E8B57"/>
          </a:solidFill>
          <a:ln w="12700">
            <a:solidFill>
              <a:srgbClr val="2E8B57"/>
            </a:solidFill>
            <a:prstDash val="solid"/>
          </a:ln>
        </p:spPr>
      </p:sp>
      <p:sp>
        <p:nvSpPr>
          <p:cNvPr id="88"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9" name="Text 8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دَعْنِي أُفَكِّرُ قَلِيلًا...</a:t>
            </a:r>
            <a:endParaRPr lang="ar-SA" sz="1700" dirty="0"/>
          </a:p>
        </p:txBody>
      </p:sp>
      <p:sp>
        <p:nvSpPr>
          <p:cNvPr id="90" name="Shape 87"/>
          <p:cNvSpPr/>
          <p:nvPr/>
        </p:nvSpPr>
        <p:spPr>
          <a:xfrm>
            <a:off x="4459224" y="5574792"/>
            <a:ext cx="256032" cy="256032"/>
          </a:xfrm>
          <a:prstGeom prst="ellipse">
            <a:avLst/>
          </a:prstGeom>
          <a:solidFill>
            <a:srgbClr val="C9CED6"/>
          </a:solidFill>
          <a:ln w="12700">
            <a:solidFill>
              <a:srgbClr val="C9CED6"/>
            </a:solidFill>
            <a:prstDash val="solid"/>
          </a:ln>
        </p:spPr>
      </p:sp>
      <p:sp>
        <p:nvSpPr>
          <p:cNvPr id="91"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السُّؤَالُ سَيِّئٌ.</a:t>
            </a:r>
            <a:endParaRPr lang="ar-SA" sz="1700" dirty="0"/>
          </a:p>
        </p:txBody>
      </p:sp>
      <p:sp>
        <p:nvSpPr>
          <p:cNvPr id="93"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دَعْنِي أُفَكِّرُ قَلِيلًا</a:t>
            </a:r>
            <a:pPr algn="l" indent="0" marL="0">
              <a:buNone/>
            </a:pPr>
            <a:r>
              <a:rPr lang="en-US" sz="1050" i="1" dirty="0">
                <a:solidFill>
                  <a:srgbClr val="8A6D1E"/>
                </a:solidFill>
                <a:latin typeface="Calibri" pitchFamily="34" charset="0"/>
                <a:cs typeface="Amiri" pitchFamily="2" charset="-78"/>
              </a:rPr>
              <a:t> is a polite, useful thinking phrase.</a:t>
            </a:r>
            <a:endParaRPr lang="en-US" sz="1050" dirty="0"/>
          </a:p>
        </p:txBody>
      </p:sp>
      <p:sp>
        <p:nvSpPr>
          <p:cNvPr id="94" name="Shape 91"/>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5" name="Text 92"/>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FOLLOW-UP</a:t>
            </a:r>
            <a:endParaRPr lang="en-US" sz="1000" dirty="0"/>
          </a:p>
        </p:txBody>
      </p:sp>
      <p:sp>
        <p:nvSpPr>
          <p:cNvPr id="96" name="Text 93"/>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Add, clarify or justify.</a:t>
            </a:r>
            <a:endParaRPr lang="en-US" sz="1250" dirty="0"/>
          </a:p>
          <a:p>
            <a:pPr algn="l" indent="0" marL="0">
              <a:buNone/>
            </a:pPr>
            <a:r>
              <a:rPr lang="en-US" sz="1250" dirty="0">
                <a:solidFill>
                  <a:srgbClr val="1F2A37"/>
                </a:solidFill>
                <a:latin typeface="Calibri" pitchFamily="34" charset="0"/>
                <a:cs typeface="Amiri" pitchFamily="2" charset="-78"/>
              </a:rPr>
              <a:t>Do not repeat the same sentence.</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The assessed talk: 45–60 seconds + two follow-ups</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فِي عَائِلَتِكَ؟ · أَيْنَ تَسْكُنُ؟</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أَحَدَ أَفْرَادِ عَائِلَتِكَ.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غُرْفَتَكَ. لِمَاذَا تُحِبُّهَا؟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 غُرْفَةٍ تَسْتَخْدِمُ أَكْثَرَ؟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فِي عَائِلَتِي ___ . أَسْكُنُ فِي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أَمَّا أُمِّي / أَبِي فَـ ___ وَ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غُرْفَتِي ___ ، وَفِيهَا ___ . أُحِبُّهَا لِأَنَّهَا ___ .</a:t>
            </a:r>
            <a:endParaRPr lang="ar-SA" sz="13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أَسْتَخْدِمُ ___ أَكْثَرَ لِأَنَّنِي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غُرْفَتُكَ المُفَضَّلَةُ؟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your favourite room?</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غُرْفَتِي المُفَضَّلَةُ غُرْفَةُ الجُلُوسِ لِأَنَّهَا وَاسِعَةٌ. نَجْلِسُ فِيهَا مَعًا فِي المَسَاءِ.</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My favourite room is the living room because it is spacious. We sit in it together in the evening.</a:t>
            </a:r>
            <a:endParaRPr lang="en-US" sz="7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prompts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Answer four prompts in clear sentences using a prompt card.</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clear sentence per prompt card, with the stems.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45 seconds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Two-sentence answers and at least one reason with li’anna.</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Two sentences per point and at least one li’anna.</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60 seconds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full minute: varied openings, detail and an unaided opinion.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Five cue points, varied openings, two unaided follow-ups.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أُمِّي فَهِيَ لَطِيفَةٌ.</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my mother, she is kind.</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غُرْفَتِي صَغِيرَةٌ، وَلَكِنَّهَا مُضِيئَةٌ.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room is small but bright.</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غُرْفَتِي لِأَنَّهَا هَادِئَةٌ.</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my room because it is quiet.</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أَدْرُسُ، ثُمَّ أَجْلِسُ مَعَ عَائِلَتِي.</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study, then I sit with my family.</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دَعْنِي أُفَكِّرُ قَلِيلًا … فِي رَأْيِي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Let me think a little … in my opinion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مَعَ عَائِلَتِي فِي شَقَّةٍ.</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live with my family in a flat.</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أَخٌ وَأُخْتٌ.</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a brother and a sister.</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بَيْتِي أَرْبَعُ غُرَفٍ.</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home there are four rooms.</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المَكْتَبُ بِجَانِبِ النَّافِذَةِ.</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desk is next to the window.</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مَرَّةً أُخْرَى، مِنْ فَضْلِكَ.</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Once more, please.</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  ·  أَيْنَ  ·  كَمْ  ·  لِمَاذَا  ·  لِأَنَّهُ  ·  لِأَنَّهَا  ·  لِأَنَّنِي  ·  أَمَّا … فَـ  ·  وَلَكِنَّ  ·  ثُمَّ  ·  بِجَانِبِ  ·  فِي رَأْيِي</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أَسْكُنُ مَعَ عَائِلَتِي فِي شَقَّةٍ مُتَوَسِّطَةِ الحَجْمِ قَرِيبَةٍ مِنَ المَدْرَسَةِ. عِنْدِي أَخٌ وَأُخْتٌ. أَخِي مُضْحِكٌ، أَمَّا أُمِّي فَهِيَ لَطِيفَةٌ وَمُجْتَهِدَةٌ. فِي شَقَّتِنَا أَرْبَعُ غُرَفٍ، وَغُرْفَتِي صَغِيرَةٌ وَلَكِنَّهَا مُضِيئَةٌ. فِيهَا سَرِيرٌ أَبْيَضُ، وَالمَكْتَبُ بِجَانِبِ النَّافِذَةِ. فِي المَسَاءِ أَدْرُسُ فِي غُرْفَتِي، ثُمَّ أَجْلِسُ مَعَ عَائِلَتِي. أُحِبُّ غُرْفَتِي لِأَنَّهَا هَادِئَةٌ.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live with my family in a medium-sized flat near the school. I have a brother and a sister. My brother is funny; as for my mother, she is kind and hard-working. Our flat has four rooms, and my room is small but bright. In it there is a white bed, and the desk is next to the window. In the evening I study in my room, then I sit with my family. I love my room because it is quiet.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family</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home + room</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position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reason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Communication: I covered family AND home.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exact question first.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Range: a position, a reason and ammā … fa-.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Accuracy: -hu / -hā and agreement controlled.</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two follow-ups without notes.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word asks for a reason?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لِمَاذَا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أُحِبُّ غُرْفَتِي...</a:t>
            </a:r>
            <a:endParaRPr lang="ar-SA" sz="22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 هَادِئٌ</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هَادِئَةٌ</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لِأَنَّنِي هَادِئَةٌ</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‘Could you repeat the question?’</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يُمْكِنُ أَنْ تُعِيدَ السُّؤَالَ؟</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غُرْفَتُكَ المُفَضَّلَةُ؟</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أَجِبْ بِجُمْلَتَيْنِ.</a:t>
            </a:r>
            <a:endParaRPr lang="ar-SA" sz="2050" dirty="0"/>
          </a:p>
        </p:txBody>
      </p:sp>
      <p:sp>
        <p:nvSpPr>
          <p:cNvPr id="55" name="Shape 52"/>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7" name="Text 54"/>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word asks for a reason?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لِمَاذَا</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أَيْنَ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لِمَاذَا</a:t>
            </a:r>
            <a:pPr algn="l" indent="0" marL="0">
              <a:buNone/>
            </a:pPr>
            <a:r>
              <a:rPr lang="en-US" sz="1050" i="1" dirty="0">
                <a:solidFill>
                  <a:srgbClr val="8A6D1E"/>
                </a:solidFill>
                <a:latin typeface="Calibri" pitchFamily="34" charset="0"/>
                <a:cs typeface="Amiri" pitchFamily="2" charset="-78"/>
              </a:rPr>
              <a:t> means ‘why’.</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أُحِبُّ غُرْفَتِي...</a:t>
            </a:r>
            <a:endParaRPr lang="ar-SA" sz="220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لِأَنَّهُ هَادِئٌ</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لِأَنَّهَا هَادِئَةٌ</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لِأَنَّنِي هَادِئَةٌ</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غُرْفَةٌ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‘Could you repeat the question?’</a:t>
            </a:r>
            <a:endParaRPr lang="en-US" sz="1250" dirty="0"/>
          </a:p>
        </p:txBody>
      </p:sp>
      <p:sp>
        <p:nvSpPr>
          <p:cNvPr id="50" name="Shape 47"/>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5328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هَلْ يُمْكِنُ أَنْ تُعِيدَ السُّؤَالَ؟</a:t>
            </a:r>
            <a:endParaRPr lang="ar-SA" sz="2050" dirty="0"/>
          </a:p>
        </p:txBody>
      </p:sp>
      <p:sp>
        <p:nvSpPr>
          <p:cNvPr id="54" name="Shape 51"/>
          <p:cNvSpPr/>
          <p:nvPr/>
        </p:nvSpPr>
        <p:spPr>
          <a:xfrm>
            <a:off x="8278368" y="29900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مَا غُرْفَتُكَ المُفَضَّلَةُ؟</a:t>
            </a:r>
            <a:endParaRPr lang="ar-SA" sz="2050" dirty="0"/>
          </a:p>
        </p:txBody>
      </p:sp>
      <p:sp>
        <p:nvSpPr>
          <p:cNvPr id="57" name="Shape 54"/>
          <p:cNvSpPr/>
          <p:nvPr/>
        </p:nvSpPr>
        <p:spPr>
          <a:xfrm>
            <a:off x="8278368" y="344728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أَجِبْ بِجُمْلَتَيْنِ.</a:t>
            </a:r>
            <a:endParaRPr lang="ar-SA" sz="2050" dirty="0"/>
          </a:p>
        </p:txBody>
      </p:sp>
      <p:sp>
        <p:nvSpPr>
          <p:cNvPr id="60" name="Text 57"/>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تُعِيدَ السُّؤَالَ</a:t>
            </a:r>
            <a:pPr algn="l" indent="0" marL="0">
              <a:buNone/>
            </a:pPr>
            <a:r>
              <a:rPr lang="en-US" sz="1050" i="1" dirty="0">
                <a:solidFill>
                  <a:srgbClr val="8A6D1E"/>
                </a:solidFill>
                <a:latin typeface="Calibri" pitchFamily="34" charset="0"/>
                <a:cs typeface="Amiri" pitchFamily="2" charset="-78"/>
              </a:rPr>
              <a:t> means repeat the question.</a:t>
            </a:r>
            <a:endParaRPr lang="en-US" sz="1050" dirty="0"/>
          </a:p>
        </p:txBody>
      </p:sp>
      <p:sp>
        <p:nvSpPr>
          <p:cNvPr id="61" name="Shape 58"/>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2" name="Text 59"/>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3" name="Text 60"/>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F3-L10 · Speaking</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F3-L11: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F3-L11 · F3 Consolidation — Integrated Skills Review</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مُرَاجَعَةٌ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review / revision</a:t>
            </a:r>
            <a:pPr indent="0" marL="0">
              <a:buNone/>
            </a:pPr>
            <a:r>
              <a:rPr lang="ar-SA" sz="1000" i="1" dirty="0">
                <a:solidFill>
                  <a:srgbClr val="5A6472"/>
                </a:solidFill>
                <a:latin typeface="Calibri" pitchFamily="34" charset="0"/>
                <a:ea typeface="Amiri" pitchFamily="2" charset="-78"/>
                <a:cs typeface="Amiri" pitchFamily="2" charset="-78"/>
              </a:rPr>
              <a:t>  pl. مُرَاجَعَاتٌ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خَطَأٌ</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mistake</a:t>
            </a:r>
            <a:pPr indent="0" marL="0">
              <a:buNone/>
            </a:pPr>
            <a:r>
              <a:rPr lang="ar-SA" sz="1000" i="1" dirty="0">
                <a:solidFill>
                  <a:srgbClr val="5A6472"/>
                </a:solidFill>
                <a:latin typeface="Calibri" pitchFamily="34" charset="0"/>
                <a:ea typeface="Amiri" pitchFamily="2" charset="-78"/>
                <a:cs typeface="Amiri" pitchFamily="2" charset="-78"/>
              </a:rPr>
              <a:t>  pl. أَخْطَاءٌ</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تَصْحِيحٌ</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correction</a:t>
            </a:r>
            <a:pPr indent="0" marL="0">
              <a:buNone/>
            </a:pPr>
            <a:r>
              <a:rPr lang="ar-SA" sz="1000" i="1" dirty="0">
                <a:solidFill>
                  <a:srgbClr val="5A6472"/>
                </a:solidFill>
                <a:latin typeface="Calibri" pitchFamily="34" charset="0"/>
                <a:ea typeface="Amiri" pitchFamily="2" charset="-78"/>
                <a:cs typeface="Amiri" pitchFamily="2" charset="-78"/>
              </a:rPr>
              <a:t>  pl. تَصْحِيحَاتٌ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هَدَفٌ</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target / goal</a:t>
            </a:r>
            <a:pPr indent="0" marL="0">
              <a:buNone/>
            </a:pPr>
            <a:r>
              <a:rPr lang="ar-SA" sz="1000" i="1" dirty="0">
                <a:solidFill>
                  <a:srgbClr val="5A6472"/>
                </a:solidFill>
                <a:latin typeface="Calibri" pitchFamily="34" charset="0"/>
                <a:ea typeface="Amiri" pitchFamily="2" charset="-78"/>
                <a:cs typeface="Amiri" pitchFamily="2" charset="-78"/>
              </a:rPr>
              <a:t>  pl. أَهْدَافٌ</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وَحْدَةٌ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unit</a:t>
            </a:r>
            <a:pPr indent="0" marL="0">
              <a:buNone/>
            </a:pPr>
            <a:r>
              <a:rPr lang="ar-SA" sz="1000" i="1" dirty="0">
                <a:solidFill>
                  <a:srgbClr val="5A6472"/>
                </a:solidFill>
                <a:latin typeface="Calibri" pitchFamily="34" charset="0"/>
                <a:ea typeface="Amiri" pitchFamily="2" charset="-78"/>
                <a:cs typeface="Amiri" pitchFamily="2" charset="-78"/>
              </a:rPr>
              <a:t>  pl. وَحَدَاتٌ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F3 lesson was hardest for you? Write your one revision target.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 هَدَفُكَ؟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F3-L10: the Talk Builder Mission (14) and the prompt-decoding check.</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60-second carousel: rehearse all three prompt sets.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Record your 45–60-second talk privately, self-mark it /15 and write one improvement.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cs typeface="Amiri" pitchFamily="2" charset="-78"/>
              </a:rPr>
              <a:t>F3-L11 · F3 Consolidation — Integrated Skills Review</a:t>
            </a:r>
            <a:endParaRPr lang="en-US" sz="19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مُرَاجَعَةُ الوَحْدَةِ الثَّالِثَةِ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answer first, extend second · li’annahu / li’annahā / li’annanī.</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F3-L10 · Speaking: My Family and Home</dc:title>
  <dc:subject>PptxGenJS Presentation</dc:subject>
  <dc:creator>Al Madina Online School · Arabic Department</dc:creator>
  <cp:lastModifiedBy>Al Madina Online School · Arabic Department</cp:lastModifiedBy>
  <cp:revision>1</cp:revision>
  <dcterms:created xsi:type="dcterms:W3CDTF">2026-10-11T06:41:34Z</dcterms:created>
  <dcterms:modified xsi:type="dcterms:W3CDTF">2026-10-11T06:41:34Z</dcterms:modified>
</cp:coreProperties>
</file>