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9 (F3-L09). Website sections used: the writing journey and the three quality questions, the eight-question F3 bridge, the writing-process toolkit (16 terms, 12-question check), the complete F3 language reference, the connector laboratory (10 connectors, 14 questions), the annotated 79-word model and the 12-question feature finder, the accuracy repair workshop (6 systems, 12 questions), the three-paragraph planning studio and the Paragraph Architect Mission (14), Noor’s plan (listening, 10), first draft vs improved version (reading, 12), oral rehearsal (6 prompts), the 70–90-word draft, the review checklist and final version,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introduces NO new topic: it teaches students to select, connect and improve the F3 language they already know. Keep the F3 language reference (website section R) open throughout.
• Core: the three-paragraph frame + at least 70 words. Develop: six purposeful connectors, varied descriptions, accurate -hu / -hā. Stretch: a comparison, a routine sequence and a longer controlled sentence.
• PRIVACY (website): the home and family may be real, fictional or ideal — no address or identifying information is needed. Be sensitive to students’ family situations; an invented family is always acceptable.
• Multi-session: this deck covers plan → model → first draft. Use the review checklist slide and the website review section for the improved final version next time if needed.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writing words prepared at home at the end of F3-L08. Questions 3–5 are the website “eight-question F3 bridge” (li’annahu, tūjadu, thalāthu ghuraf).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text answers every point, shows variety and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فکر، جملہ and تصحیح are the same words. Urdu لہٰذا (therefore) comes from Arabic لِهَذَا — the same idea as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TOOLKIT (website, 6 of 16). Also: كَلِمَةٌ (word), مُرَاجَعَةٌ (review), تَصْحِيحٌ (correction), تَحْسِينٌ (improvement), نُسْخَةٌ نِهَائِيَّةٌ (final version), عَدَدُ الكَلِمَاتِ (word count), إِتْمَامُ المَهَمَّةِ (task completion), تَنَوُّعٌ (variety), دِقَّةٌ (accuracy), تَرْتِيبٌ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“Connector laboratory”: ten connectors, each with a job — وَ (add), أَيْضًا (also), وَلَكِنْ (contrast), لِأَنَّ (reason), ثُمَّ / بَعْدَ ذَلِكَ (sequence), أَمَّا … فَـ (new focus), فِي المُقَابِلِ (compare), لِذَلِكَ (result), مَعَ ذَلِكَ (stronger contrast).
Reference after وَلَكِنَّ / لِأَنَّ: add -hu (masculine) or -hā (feminine) — لِأَنَّهُ (the house), وَلَكِنَّهَا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“Accuracy repair workshop”: strong writers identify the SYSTEM and repair it. Six systems: gender (غُرْفَتِي جَمِيلَةٌ), reference (لِأَنَّهَا), possession (هَذَا أَبِي — not أَبُو), number and noun (ثَلَاثُ غُرَفٍ), existence (تُوجَدُ خِزَانَةٌ), connector meaning (لِأَنَّهُ, not ثُمَّ, for a reason).
The three quality questions: 1 إِتْمَامُ المَهَمَّةِ — did I answer every point? 2 التَّنَوُّعُ — did I show variety? 3 الدِّقَّةُ — is my Arabic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connector laboratory questions 1 and 4, and repair check questions 2 and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“first draft vs improved version” as a live upgrade. Think aloud: “What is missing — place, detail, contrast, reason? Which job does each connector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paragraph moves (room contrast, new paragraph, sequence, home opinion, avoid repetition).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job does this connector do — add, contrast, reason,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(rooms, retrieval). Use only if the class needs a quick vocabulary boost before planning paragraph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(rooms, retrieval). Use only if the class needs a quick vocabulary boost before planning paragraph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نُورٌ، وَأَسْكُنُ مَعَ عَائِلَتِي فِي شَقَّةٍ حَدِيثَةٍ فِي الطَّابِقِ الثَّانِي. فِي شَقَّتِنَا غُرْفَةُ جُلُوسٍ وَمَطْبَخٌ وَحَمَّامٌ وَغُرْفَتَا نَوْمٍ. غُرْفَتِي مُرَتَّبَةٌ وَهَادِئَةٌ، وَفِيهَا مَكْتَبٌ قَرِيبٌ مِنَ النَّافِذَةِ. أَعِيشُ مَعَ أُمِّي وَأَبِي وَأُخْتِي الصَّغِيرَةِ. أُمِّي لَطِيفَةٌ وَمُجْتَهِدَةٌ، وَأَبِي هَادِئٌ وَمُضْحِكٌ. بَعْدَ المَدْرَسَةِ أَدْرُسُ فِي غُرْفَتِي، ثُمَّ أُسَاعِدُ أُمِّي فِي المَطْبَخِ. أُحِبُّ شَقَّتَنَا لِأَنَّهَا مُرِيحَةٌ وَقَرِيبَةٌ مِنَ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ANNOTATED MODEL (website). Website annotations: CONTENT — home type, rooms, bedroom, furniture, family, routine, neighbourhood and opinions all covered. CONNECTIONS — وَ، وَلَكِنَّ، ثُمَّ، أَيْضًا، لِأَنَّ each do a different job. GRAMMAR RANGE — possessives, agreement, numbers, positions, present-tense verbs. ACCURACY — بَيْتِي … لِأَنَّهُ · غُرْفَتِي … وَلَكِنَّهَا.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DRAFT (website, complete) with the website diagnosis: some relevant content · too repetitive · no reason or precise location · very limited connectors. Compare with the improved version on the I Do slide: grouped and connected ideas, precise furniture and position, accurate reasons, greater adjective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model-feature finder questions 2, 4, 7, 9 and 12. The other 7 (and the 12 draft-comparison questions)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ORAL REHEARSAL — “speaking through the plan reveals missing ideas before the full draft begins”. Rehearsal prompts (website):
• Home opening: type · size · location · rooms
• Favourite room: quality · furniture · colour · position
• Family paragraph: members · appearance · personality
• Daily life: time · two actions · sequence
• Opinion and reason: home · family · neighbourhood
• Compare two homes: current · ideal · contrast · reason
Website checklist (1–6): all content areas · detail · four purposeful connectors · -hu / -hā controlled · a reason with لِأَنَّ · logical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and write at least 70 words. · Develop — Six connectors, varied descriptions and accurate references. · Stretch — Add a comparison, a routine sequence and a longer controlled sentence.
Website writing task (Stretch): Website writing task: a 70–90-word text about a real, fictional or ideal home and family in three paragraphs — (1) home and location, (2) family and descriptions, (3) daily life and opinion. No address or identifying information is needed.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annotated model (79 words): three paragraphs, five connectors with different jobs, accurate references.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(F3-L10 · Speaking: My Family and Home) will spend class time USING this language, so students prepare it tonight — short, simple, easy to access (school guidance: “Simple, Short, Interesting, Relevant, Easy to access”). The five words come from the website F3-L10 speaking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Extended Writing: My Home and Family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الكِتَابَةُ المُطَوَّلَةُ — بَيْتِي وَعَائِلَتِي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Turn the whole F3 language system into a well-organised 70–90-word text: plan three paragraphs, connect ideas with purpose, then review and improve your own writing.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F3-L09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writing toolkit, purposeful connectors and a 79-word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Paragraph mission, listen to Noor’s plan, compare a draft and an improved version.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رَابِطٌ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connector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idea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أُحِبُّ بَيْتِي ___ هُوَ مُرِيحٌ.</a:t>
            </a:r>
            <a:endParaRPr lang="ar-SA" sz="14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وَلَكِنَّهَا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wardrobe.”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 خِزَانَةٌ.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 خِزَانَةً.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 خِزَانَةٌ.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فِي بَيْتِي ___ غُرَفٍ.</a:t>
            </a:r>
            <a:endParaRPr lang="ar-SA" sz="19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draft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رَابِطٌ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connector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idea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sentence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أُحِبُّ بَيْتِي ___ هُوَ مُرِيحٌ.</a:t>
            </a:r>
            <a:endParaRPr lang="ar-SA" sz="14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وَلَكِنَّهَا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 gives a reason and refers to masculine </a:t>
            </a:r>
            <a:pPr algn="l" indent="0" marL="0">
              <a:buNone/>
            </a:pPr>
            <a:r>
              <a:rPr lang="ar-SA" altLang="en-US" sz="1350" dirty="0">
                <a:solidFill>
                  <a:srgbClr val="8A6D1E"/>
                </a:solidFill>
                <a:latin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wardrobe.”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 خِزَانَةٌ.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 خِزَانَةً.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 خِزَانَةٌ.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فِي بَيْتِي ___ غُرَفٍ.</a:t>
            </a:r>
            <a:endParaRPr lang="ar-SA" sz="19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ثَلَاثَةُ</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ثَلَاثَاتُ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3–10 use the opposite-gender form </a:t>
            </a:r>
            <a:pPr algn="l" indent="0" marL="0">
              <a:buNone/>
            </a:pPr>
            <a:r>
              <a:rPr lang="ar-SA" altLang="en-US" sz="1350" dirty="0">
                <a:solidFill>
                  <a:srgbClr val="8A6D1E"/>
                </a:solidFill>
                <a:latin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text answers every point, shows variety and is accurate.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إِتْمَامُ المَهَمَّةِ · التَّنَوُّعُ · الدِّقَّةُ</a:t>
            </a:r>
            <a:endParaRPr lang="ar-SA" sz="22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complete response before writing.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70–90 connected Arabic words about home and family.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purposeful range of F3 structures and connectors.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Review task completion, variety and accuracy — then improve.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three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at least 70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six purposeful connectors.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check -hu / -hā after li’anna.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comparison.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draft, not just copy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Writing-process words and ten connectors. Core: plan, draft, paragraph, and, but, because, then.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Writing toolkit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Connectors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Three quality questions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فِكْرَةٌ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‎فکر‎ </a:t>
            </a:r>
            <a:pPr indent="0" marL="0">
              <a:buNone/>
            </a:pPr>
            <a:r>
              <a:rPr lang="en-US" sz="950" b="1" dirty="0">
                <a:solidFill>
                  <a:srgbClr val="2E8B57"/>
                </a:solidFill>
                <a:latin typeface="Calibri" pitchFamily="34" charset="0"/>
                <a:cs typeface="Amiri" pitchFamily="2" charset="-78"/>
              </a:rPr>
              <a:t> fikra · idea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جُمْلَةٌ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‎جملہ‎ </a:t>
            </a:r>
            <a:pPr indent="0" marL="0">
              <a:buNone/>
            </a:pPr>
            <a:r>
              <a:rPr lang="en-US" sz="950" b="1" dirty="0">
                <a:solidFill>
                  <a:srgbClr val="2E8B57"/>
                </a:solidFill>
                <a:latin typeface="Calibri" pitchFamily="34" charset="0"/>
                <a:cs typeface="Amiri" pitchFamily="2" charset="-78"/>
              </a:rPr>
              <a:t> jumla · sentence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taṣḥīḥ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لِأَنَّ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‎کیونکہ‎ </a:t>
            </a:r>
            <a:pPr indent="0" marL="0">
              <a:buNone/>
            </a:pPr>
            <a:r>
              <a:rPr lang="en-US" sz="950" b="1" dirty="0">
                <a:solidFill>
                  <a:srgbClr val="2E8B57"/>
                </a:solidFill>
                <a:latin typeface="Calibri" pitchFamily="34" charset="0"/>
                <a:cs typeface="Amiri" pitchFamily="2" charset="-78"/>
              </a:rPr>
              <a:t> li’anna · because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لِذَلِكَ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‎لہٰذا / اس لیے‎ </a:t>
            </a:r>
            <a:pPr indent="0" marL="0">
              <a:buNone/>
            </a:pPr>
            <a:r>
              <a:rPr lang="en-US" sz="950" b="1" dirty="0">
                <a:solidFill>
                  <a:srgbClr val="2E8B57"/>
                </a:solidFill>
                <a:latin typeface="Calibri" pitchFamily="34" charset="0"/>
                <a:cs typeface="Amiri" pitchFamily="2" charset="-78"/>
              </a:rPr>
              <a:t> li-dhālika · therefore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WRITING-PROCESS TOOLKIT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Idea, plan, draft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فِكْرَةٌ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idea</a:t>
            </a:r>
            <a:endParaRPr lang="en-US" sz="1350" dirty="0"/>
          </a:p>
          <a:p>
            <a:pPr indent="0" marL="0">
              <a:buNone/>
            </a:pPr>
            <a:r>
              <a:rPr lang="en-US" sz="1100" i="1" dirty="0">
                <a:solidFill>
                  <a:srgbClr val="5A6472"/>
                </a:solidFill>
                <a:latin typeface="Calibri" pitchFamily="34" charset="0"/>
                <a:cs typeface="Amiri" pitchFamily="2" charset="-78"/>
              </a:rPr>
              <a:t>fik-ra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أَفْكَارٌ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plan</a:t>
            </a:r>
            <a:endParaRPr lang="en-US" sz="1350" dirty="0"/>
          </a:p>
          <a:p>
            <a:pPr indent="0" marL="0">
              <a:buNone/>
            </a:pPr>
            <a:r>
              <a:rPr lang="en-US" sz="1100" i="1" dirty="0">
                <a:solidFill>
                  <a:srgbClr val="5A6472"/>
                </a:solidFill>
                <a:latin typeface="Calibri" pitchFamily="34" charset="0"/>
                <a:cs typeface="Amiri" pitchFamily="2" charset="-78"/>
              </a:rPr>
              <a:t>khuṭ-ṭa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خُطَطٌ</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مُسَوَّدَةٌ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draft</a:t>
            </a:r>
            <a:endParaRPr lang="en-US" sz="1350" dirty="0"/>
          </a:p>
          <a:p>
            <a:pPr indent="0" marL="0">
              <a:buNone/>
            </a:pPr>
            <a:r>
              <a:rPr lang="en-US" sz="1100" i="1" dirty="0">
                <a:solidFill>
                  <a:srgbClr val="5A6472"/>
                </a:solidFill>
                <a:latin typeface="Calibri" pitchFamily="34" charset="0"/>
                <a:cs typeface="Amiri" pitchFamily="2" charset="-78"/>
              </a:rPr>
              <a:t>mu-saw-wa-da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مُسَوَّدَاتٌ</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فِقْرَةٌ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فِقْرَاتٌ / فِقَرٌ</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جُمْلَةٌ</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sentence</a:t>
            </a:r>
            <a:endParaRPr lang="en-US" sz="1350" dirty="0"/>
          </a:p>
          <a:p>
            <a:pPr indent="0" marL="0">
              <a:buNone/>
            </a:pPr>
            <a:r>
              <a:rPr lang="en-US" sz="1100" i="1" dirty="0">
                <a:solidFill>
                  <a:srgbClr val="5A6472"/>
                </a:solidFill>
                <a:latin typeface="Calibri" pitchFamily="34" charset="0"/>
                <a:cs typeface="Amiri" pitchFamily="2" charset="-78"/>
              </a:rPr>
              <a:t>jum-la</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جُمَلٌ</a:t>
            </a:r>
            <a:endParaRPr lang="ar-SA" sz="15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رَابِطٌ</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connector</a:t>
            </a:r>
            <a:endParaRPr lang="en-US" sz="1350" dirty="0"/>
          </a:p>
          <a:p>
            <a:pPr indent="0" marL="0">
              <a:buNone/>
            </a:pPr>
            <a:r>
              <a:rPr lang="en-US" sz="1100" i="1" dirty="0">
                <a:solidFill>
                  <a:srgbClr val="5A6472"/>
                </a:solidFill>
                <a:latin typeface="Calibri" pitchFamily="34" charset="0"/>
                <a:cs typeface="Amiri" pitchFamily="2" charset="-78"/>
              </a:rPr>
              <a:t>rā-biṭ</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رَوَابِطُ</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CONNECTOR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connector must do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مُخْتَبَرُ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7" name="Text 14"/>
          <p:cNvSpPr txBox="1"/>
          <p:nvPr/>
        </p:nvSpPr>
        <p:spPr>
          <a:xfrm>
            <a:off x="3849624"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 · أَيْضًا</a:t>
            </a:r>
            <a:endParaRPr lang="ar-SA" sz="2400" dirty="0"/>
          </a:p>
        </p:txBody>
      </p:sp>
      <p:sp>
        <p:nvSpPr>
          <p:cNvPr id="21" name="Text 18"/>
          <p:cNvSpPr txBox="1"/>
          <p:nvPr/>
        </p:nvSpPr>
        <p:spPr>
          <a:xfrm>
            <a:off x="3867912" y="2267712"/>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بَيْتِي حَدِيقَةٌ، وَفِيهِ شُرْفَةٌ أَيْضًا.</a:t>
            </a:r>
            <a:endParaRPr lang="ar-SA" sz="2200" dirty="0"/>
          </a:p>
        </p:txBody>
      </p:sp>
      <p:sp>
        <p:nvSpPr>
          <p:cNvPr id="22" name="Text 19"/>
          <p:cNvSpPr txBox="1"/>
          <p:nvPr/>
        </p:nvSpPr>
        <p:spPr>
          <a:xfrm>
            <a:off x="566928" y="2267712"/>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(and · also)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وَلَكِنْ</a:t>
            </a:r>
            <a:endParaRPr lang="ar-SA" sz="2400" dirty="0"/>
          </a:p>
        </p:txBody>
      </p:sp>
      <p:sp>
        <p:nvSpPr>
          <p:cNvPr id="27" name="Text 24"/>
          <p:cNvSpPr txBox="1"/>
          <p:nvPr/>
        </p:nvSpPr>
        <p:spPr>
          <a:xfrm>
            <a:off x="3867912" y="2881884"/>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غُرْفَتِي صَغِيرَةٌ، وَلَكِنَّهَا مُرِيحَةٌ.</a:t>
            </a:r>
            <a:endParaRPr lang="ar-SA" sz="2200" dirty="0"/>
          </a:p>
        </p:txBody>
      </p:sp>
      <p:sp>
        <p:nvSpPr>
          <p:cNvPr id="28" name="Text 25"/>
          <p:cNvSpPr txBox="1"/>
          <p:nvPr/>
        </p:nvSpPr>
        <p:spPr>
          <a:xfrm>
            <a:off x="566928" y="2881884"/>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 (but)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لِأَنَّ</a:t>
            </a:r>
            <a:endParaRPr lang="ar-SA" sz="2400" dirty="0"/>
          </a:p>
        </p:txBody>
      </p:sp>
      <p:sp>
        <p:nvSpPr>
          <p:cNvPr id="33" name="Text 30"/>
          <p:cNvSpPr txBox="1"/>
          <p:nvPr/>
        </p:nvSpPr>
        <p:spPr>
          <a:xfrm>
            <a:off x="3867912" y="3496056"/>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حَيِّي لِأَنَّهُ هَادِئٌ.</a:t>
            </a:r>
            <a:endParaRPr lang="ar-SA" sz="2200" dirty="0"/>
          </a:p>
        </p:txBody>
      </p:sp>
      <p:sp>
        <p:nvSpPr>
          <p:cNvPr id="34" name="Text 31"/>
          <p:cNvSpPr txBox="1"/>
          <p:nvPr/>
        </p:nvSpPr>
        <p:spPr>
          <a:xfrm>
            <a:off x="566928" y="3496056"/>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(because)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ثُمَّ · بَعْدَ ذَلِكَ</a:t>
            </a:r>
            <a:endParaRPr lang="ar-SA" sz="2400" dirty="0"/>
          </a:p>
        </p:txBody>
      </p:sp>
      <p:sp>
        <p:nvSpPr>
          <p:cNvPr id="39" name="Text 36"/>
          <p:cNvSpPr txBox="1"/>
          <p:nvPr/>
        </p:nvSpPr>
        <p:spPr>
          <a:xfrm>
            <a:off x="3867912" y="4110228"/>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فِي غُرْفَتِي، ثُمَّ أَجْلِسُ مَعَ عَائِلَتِي.</a:t>
            </a:r>
            <a:endParaRPr lang="ar-SA" sz="2200" dirty="0"/>
          </a:p>
        </p:txBody>
      </p:sp>
      <p:sp>
        <p:nvSpPr>
          <p:cNvPr id="40" name="Text 37"/>
          <p:cNvSpPr txBox="1"/>
          <p:nvPr/>
        </p:nvSpPr>
        <p:spPr>
          <a:xfrm>
            <a:off x="566928" y="4110228"/>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sequence (then)</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 … فَـ</a:t>
            </a:r>
            <a:endParaRPr lang="ar-SA" sz="2400" dirty="0"/>
          </a:p>
        </p:txBody>
      </p:sp>
      <p:sp>
        <p:nvSpPr>
          <p:cNvPr id="45" name="Text 42"/>
          <p:cNvSpPr txBox="1"/>
          <p:nvPr/>
        </p:nvSpPr>
        <p:spPr>
          <a:xfrm>
            <a:off x="3867912" y="4724400"/>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أَمَّا عَائِلَتِي فَأَعِيشُ مَعَ أَبِي وَأُمِّي.</a:t>
            </a:r>
            <a:endParaRPr lang="ar-SA" sz="2200" dirty="0"/>
          </a:p>
        </p:txBody>
      </p:sp>
      <p:sp>
        <p:nvSpPr>
          <p:cNvPr id="46" name="Text 43"/>
          <p:cNvSpPr txBox="1"/>
          <p:nvPr/>
        </p:nvSpPr>
        <p:spPr>
          <a:xfrm>
            <a:off x="566928" y="4724400"/>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 focus (as for)</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لِذَلِكَ</a:t>
            </a:r>
            <a:endParaRPr lang="ar-SA" sz="2400" dirty="0"/>
          </a:p>
        </p:txBody>
      </p:sp>
      <p:sp>
        <p:nvSpPr>
          <p:cNvPr id="49" name="Text 46"/>
          <p:cNvSpPr txBox="1"/>
          <p:nvPr/>
        </p:nvSpPr>
        <p:spPr>
          <a:xfrm>
            <a:off x="3867912" y="5338572"/>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بَيْتِي بَعِيدٌ عَنِ المَدْرَسَةِ؛ لِذَلِكَ أَذْهَبُ بِالحَافِلَةِ.</a:t>
            </a:r>
            <a:endParaRPr lang="ar-SA" sz="2200" dirty="0"/>
          </a:p>
        </p:txBody>
      </p:sp>
      <p:sp>
        <p:nvSpPr>
          <p:cNvPr id="50" name="Text 47"/>
          <p:cNvSpPr txBox="1"/>
          <p:nvPr/>
        </p:nvSpPr>
        <p:spPr>
          <a:xfrm>
            <a:off x="566928" y="5338572"/>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(therefore)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 not add a connector simply to increase a counter. Also: fī l-muqābil (in contrast), ma‘a dhālika (however).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ACCURACY REPAIR WORKSHOP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the system, then repair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وَرْشَةُ تَصْحِيحِ الدِّقَّةِ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GENDER</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غُرْفَتِي …ـةٌ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غُرْفَتِي جَمِيلَةٌ.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room is beautiful.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jamīl.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أُحِبُّ غُرْفَتِي لِأَنَّهَا هَادِئَةٌ.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my room because it is quiet.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(f.)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EXISTENCE</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يُوجَدُ / تُوجَدُ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تُوجَدُ خِزَانَةٌ.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wardrobe.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item → tūjadu.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workshop: numbers with feminine plurals.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فِي بَيْتِي ثَلَاثُ غُرَفٍ.</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فِي بَيْتِي ثَلَاثَةُ غُرَفٍ.</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غُرْفَتِي صَغِيرَةٌ، ___ هِيَ مُرِيحَةٌ.</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أَدْرُسُ فِي غُرْفَتِي، ___ أَجْلِسُ مَعَ عَائِلَتِي.</a:t>
            </a:r>
            <a:endParaRPr lang="ar-SA"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المُقَابِلِ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 لِأَنَّهُ هَادِئٌ.</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غُرْفَتِي لِأَنَّهُمْ هَادِئُونَ.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غُرْفَتِي لِأَنَّهَا هَادِئَةٌ.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غُرْفَتِي ثُمَّ هَادِئَةٌ.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فِي بَيْتِي ثَلَاثَةُ غُرَفٍ.</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 ثَلَاثُ غُرَفٍ.</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 ثَلَاثَةٌ غُرْفَةٌ.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 ثَلَاثَ غُرَفَاتٍ.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غُرْفَتِي صَغِيرَةٌ، ___ هِيَ مُرِيحَةٌ.</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idea contrasts with the first, so use </a:t>
            </a:r>
            <a:pPr algn="l" indent="0" marL="0">
              <a:buNone/>
            </a:pPr>
            <a:r>
              <a:rPr lang="ar-SA" altLang="en-US" sz="1350" dirty="0">
                <a:solidFill>
                  <a:srgbClr val="8A6D1E"/>
                </a:solidFill>
                <a:latin typeface="Amiri" pitchFamily="2" charset="-78"/>
                <a:cs typeface="Amiri" pitchFamily="2" charset="-78"/>
              </a:rPr>
              <a:t>وَلَكِنَّهَا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أَدْرُسُ فِي غُرْفَتِي، ___ أَجْلِسُ مَعَ عَائِلَتِي.</a:t>
            </a:r>
            <a:endParaRPr lang="ar-SA"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المُقَابِلِ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shows the order of two actions.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 لِأَنَّهُ هَادِئٌ.</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غُرْفَتِي لِأَنَّهُمْ هَادِئُونَ.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أُحِبُّ غُرْفَتِي لِأَنَّهَا هَادِئَةٌ.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غُرْفَتِي ثُمَّ هَادِئَةٌ.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هَا</a:t>
            </a:r>
            <a:pPr algn="l" indent="0" marL="0">
              <a:buNone/>
            </a:pPr>
            <a:r>
              <a:rPr lang="en-US" sz="1050" i="1" dirty="0">
                <a:solidFill>
                  <a:srgbClr val="8A6D1E"/>
                </a:solidFill>
                <a:latin typeface="Calibri" pitchFamily="34" charset="0"/>
                <a:cs typeface="Amiri" pitchFamily="2" charset="-78"/>
              </a:rPr>
              <a:t> and feminine adjective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فِي بَيْتِي ثَلَاثَةُ غُرَفٍ.</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بَيْتِي ثَلَاثُ غُرَفٍ.</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بَيْتِي ثَلَاثَةٌ غُرْفَةٌ.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بَيْتِي ثَلَاثَ غُرَفَاتٍ.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feminine </a:t>
            </a:r>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use opposite-gender </a:t>
            </a:r>
            <a:pPr algn="l" indent="0" marL="0">
              <a:buNone/>
            </a:pPr>
            <a:r>
              <a:rPr lang="ar-SA" altLang="en-US" sz="1350" dirty="0">
                <a:solidFill>
                  <a:srgbClr val="8A6D1E"/>
                </a:solidFill>
                <a:latin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 with plural </a:t>
            </a:r>
            <a:pPr algn="l" indent="0" marL="0">
              <a:buNone/>
            </a:pPr>
            <a:r>
              <a:rPr lang="ar-SA" altLang="en-US" sz="1350" dirty="0">
                <a:solidFill>
                  <a:srgbClr val="8A6D1E"/>
                </a:solidFill>
                <a:latin typeface="Amiri" pitchFamily="2" charset="-78"/>
                <a:cs typeface="Amiri" pitchFamily="2" charset="-78"/>
              </a:rPr>
              <a:t>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UPGRADE A DRAFT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a list to a connected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المُسَوَّدَةِ إِلَى النُّسْخَةِ المُحَسَّنَةِ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أَسْكُنُ فِي بَيْتٍ. بَيْتِي كَبِيرٌ.</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Short and repetitive.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place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أَسْكُنُ مَعَ عَائِلَتِي فِي بَيْتٍ كَبِيرٍ قَرِيبٍ مِنَ الحَدِيقَةِ.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 where.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غُرْفَتِي صَغِيرَةٌ </a:t>
            </a:r>
            <a:pPr rtl="1" algn="ctr" indent="0" marL="0">
              <a:lnSpc>
                <a:spcPct val="120000"/>
              </a:lnSpc>
              <a:buNone/>
            </a:pPr>
            <a:r>
              <a:rPr lang="ar-SA" altLang="en-US" sz="1900" b="1" dirty="0">
                <a:solidFill>
                  <a:srgbClr val="1D5FBF"/>
                </a:solidFill>
                <a:latin typeface="Amiri" pitchFamily="2" charset="-78"/>
                <a:cs typeface="Amiri" pitchFamily="2" charset="-78"/>
              </a:rPr>
              <a:t>وَلَكِنَّهَا</a:t>
            </a:r>
            <a:pPr rtl="1" algn="ctr" indent="0" marL="0">
              <a:lnSpc>
                <a:spcPct val="120000"/>
              </a:lnSpc>
              <a:buNone/>
            </a:pPr>
            <a:r>
              <a:rPr lang="ar-SA" altLang="en-US" sz="1900" b="1" dirty="0">
                <a:solidFill>
                  <a:srgbClr val="1B3B6F"/>
                </a:solidFill>
                <a:latin typeface="Amiri" pitchFamily="2" charset="-78"/>
                <a:cs typeface="Amiri" pitchFamily="2" charset="-78"/>
              </a:rPr>
              <a:t> مُرِيحَةٌ.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real contrast.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أُحِبُّ بَيْتِي </a:t>
            </a:r>
            <a:pPr rtl="1" algn="ctr" indent="0" marL="0">
              <a:buNone/>
            </a:pPr>
            <a:r>
              <a:rPr lang="ar-SA" altLang="en-US" sz="2550" b="1" dirty="0">
                <a:solidFill>
                  <a:srgbClr val="D6336C"/>
                </a:solidFill>
                <a:latin typeface="Amiri" pitchFamily="2" charset="-78"/>
                <a:cs typeface="Amiri" pitchFamily="2" charset="-78"/>
              </a:rPr>
              <a:t>لِأَنَّهُ</a:t>
            </a:r>
            <a:pPr rtl="1" algn="ctr" indent="0" marL="0">
              <a:buNone/>
            </a:pPr>
            <a:r>
              <a:rPr lang="ar-SA" altLang="en-US" sz="2550" b="1" dirty="0">
                <a:solidFill>
                  <a:srgbClr val="1B3B6F"/>
                </a:solidFill>
                <a:latin typeface="Amiri" pitchFamily="2" charset="-78"/>
                <a:cs typeface="Amiri" pitchFamily="2" charset="-78"/>
              </a:rPr>
              <a:t> وَاسِعٌ.</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House m. →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أَسْكُنُ مَعَ عَائِلَتِي فِي بَيْتٍ كَبِيرٍ قَرِيبٍ مِنَ الحَدِيقَةِ. فِي بَيْتِنَا غُرَفٌ كَثِيرَةٌ، وَغُرْفَتِي صَغِيرَةٌ </a:t>
            </a:r>
            <a:pPr rtl="1" algn="r" indent="0" marL="0">
              <a:lnSpc>
                <a:spcPct val="120000"/>
              </a:lnSpc>
              <a:buNone/>
            </a:pPr>
            <a:r>
              <a:rPr lang="ar-SA" altLang="en-US" sz="1400" b="1" dirty="0">
                <a:solidFill>
                  <a:srgbClr val="1D5FBF"/>
                </a:solidFill>
                <a:latin typeface="Amiri" pitchFamily="2" charset="-78"/>
                <a:cs typeface="Amiri" pitchFamily="2" charset="-78"/>
              </a:rPr>
              <a:t>وَلَكِنَّهَا</a:t>
            </a:r>
            <a:pPr rtl="1" algn="r" indent="0" marL="0">
              <a:lnSpc>
                <a:spcPct val="120000"/>
              </a:lnSpc>
              <a:buNone/>
            </a:pPr>
            <a:r>
              <a:rPr lang="ar-SA" altLang="en-US" sz="1400" b="1" dirty="0">
                <a:solidFill>
                  <a:srgbClr val="1B3B6F"/>
                </a:solidFill>
                <a:latin typeface="Amiri" pitchFamily="2" charset="-78"/>
                <a:cs typeface="Amiri" pitchFamily="2" charset="-78"/>
              </a:rPr>
              <a:t> مُرِيحَةٌ. فِيهَا سَرِيرٌ أَبْيَضُ وَمَكْتَبٌ بُنِّيٌّ بِجَانِبِ النَّافِذَةِ. أُحِبُّ بَيْتِي </a:t>
            </a:r>
            <a:pPr rtl="1" algn="r" indent="0" marL="0">
              <a:lnSpc>
                <a:spcPct val="120000"/>
              </a:lnSpc>
              <a:buNone/>
            </a:pPr>
            <a:r>
              <a:rPr lang="ar-SA" altLang="en-US" sz="1400" b="1" dirty="0">
                <a:solidFill>
                  <a:srgbClr val="D6336C"/>
                </a:solidFill>
                <a:latin typeface="Amiri" pitchFamily="2" charset="-78"/>
                <a:cs typeface="Amiri" pitchFamily="2" charset="-78"/>
              </a:rPr>
              <a:t>لِأَنَّهُ</a:t>
            </a:r>
            <a:pPr rtl="1" algn="r" indent="0" marL="0">
              <a:lnSpc>
                <a:spcPct val="120000"/>
              </a:lnSpc>
              <a:buNone/>
            </a:pPr>
            <a:r>
              <a:rPr lang="ar-SA" altLang="en-US" sz="1400" b="1" dirty="0">
                <a:solidFill>
                  <a:srgbClr val="1B3B6F"/>
                </a:solidFill>
                <a:latin typeface="Amiri" pitchFamily="2" charset="-78"/>
                <a:cs typeface="Amiri" pitchFamily="2" charset="-78"/>
              </a:rPr>
              <a:t> وَاسِعٌ، وَأُحِبُّ عَائِلَتِي أَيْضًا </a:t>
            </a:r>
            <a:pPr rtl="1" algn="r" indent="0" marL="0">
              <a:lnSpc>
                <a:spcPct val="120000"/>
              </a:lnSpc>
              <a:buNone/>
            </a:pPr>
            <a:r>
              <a:rPr lang="ar-SA" altLang="en-US" sz="1400" b="1" dirty="0">
                <a:solidFill>
                  <a:srgbClr val="D6336C"/>
                </a:solidFill>
                <a:latin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cs typeface="Amiri" pitchFamily="2" charset="-78"/>
              </a:rPr>
              <a:t> مُحِبَّةٌ.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with my family in a big house near the park. Our house has many rooms, and my room is small but comfortable. In it there is a white bed and a brown desk next to the window. I love my house because it is spacious, and I love my family too because it is loving.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“PARAGRAPH ARCHITECT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paragraphs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مُهَنْدِسُ الفِقْرَاتِ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غُرْفَتِي صَغِيرَةٌ، ...</a:t>
            </a:r>
            <a:endParaRPr lang="ar-SA" sz="19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أَبِي.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 خِزَانَةٌ.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وَلَكِنَّهَا مُرِيحَةٌ.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New paragraph: Choose the clearest transition to family.</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ثُمَّ بَيْتِي قَرِيبٌ مِنْ.</a:t>
            </a:r>
            <a:endParaRPr lang="ar-SA" sz="200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أَمَّا عَائِلَتِي فَأَعِيشُ مَعَ أَبِي وَأُمِّي.</a:t>
            </a:r>
            <a:endParaRPr lang="ar-SA" sz="200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لِأَنَّ وَفِي الغُرْفَةِ.</a:t>
            </a:r>
            <a:endParaRPr lang="ar-SA" sz="200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Continue: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أَدْرُسُ فِي غُرْفَتِي...</a:t>
            </a:r>
            <a:endParaRPr lang="ar-SA" sz="19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 سَرِيرٌ أَبْيَضُ.</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 أَجْلِسُ مَعَ عَائِلَتِي.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أَبِي هَادِئٌ.</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بَيْتِي...</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وَاسِعَةٌ.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 وَاسِعٌ.</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وَاسِعٌ وَمُرِيحٌ.</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Combine: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أُمِّي لَطِيفَةٌ. أُمِّي مُجْتَهِدَةٌ.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لَطِيفَةٌ وَمُجْتَهِدَةٌ.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لَطِيفَةٌ ثُمَّ أُمِّي.</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أُمِّي وَ.</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contrast → wa-lākinnahā</a:t>
            </a:r>
            <a:endParaRPr lang="en-US" sz="1250" dirty="0"/>
          </a:p>
          <a:p>
            <a:pPr algn="l" indent="0" marL="0">
              <a:buNone/>
            </a:pPr>
            <a:r>
              <a:rPr lang="en-US" sz="1250" dirty="0">
                <a:solidFill>
                  <a:srgbClr val="1E6B52"/>
                </a:solidFill>
                <a:latin typeface="Calibri" pitchFamily="34" charset="0"/>
                <a:cs typeface="Amiri" pitchFamily="2" charset="-78"/>
              </a:rPr>
              <a:t>reason → li’annahu / -hā</a:t>
            </a:r>
            <a:endParaRPr lang="en-US" sz="1250" dirty="0"/>
          </a:p>
          <a:p>
            <a:pPr algn="l" indent="0" marL="0">
              <a:buNone/>
            </a:pPr>
            <a:r>
              <a:rPr lang="en-US" sz="1250" dirty="0">
                <a:solidFill>
                  <a:srgbClr val="1E6B52"/>
                </a:solidFill>
                <a:latin typeface="Calibri" pitchFamily="34" charset="0"/>
                <a:cs typeface="Amiri" pitchFamily="2" charset="-78"/>
              </a:rPr>
              <a:t>new paragraph → ammā … fa-</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غُرْفَتِي صَغِيرَةٌ، ...</a:t>
            </a:r>
            <a:endParaRPr lang="ar-SA" sz="19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أَبِي.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 خِزَانَةٌ.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وَلَكِنَّهَا مُرِيحَةٌ.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positive contrast develops the room description.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New paragraph: Choose the clearest transition to family.</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 بَيْتِي قَرِيبٌ مِنْ.</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عَائِلَتِي فَأَعِيشُ مَعَ أَبِي وَأُمِّي.</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وَفِي الغُرْفَةِ.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clearly changes the focus.</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Continue: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أَدْرُسُ فِي غُرْفَتِي...</a:t>
            </a:r>
            <a:endParaRPr lang="ar-SA" sz="19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 سَرِيرٌ أَبْيَضُ.</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ثُمَّ أَجْلِسُ مَعَ عَائِلَتِي.</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أَبِي هَادِئٌ.</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correctly sequences the next action.</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بَيْتِي...</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وَاسِعَةٌ.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 وَاسِعٌ.</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 وَاسِعٌ وَمُرِيحٌ.</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house takes </a:t>
            </a:r>
            <a:pPr algn="l" indent="0" marL="0">
              <a:buNone/>
            </a:pPr>
            <a:r>
              <a:rPr lang="ar-SA" altLang="en-US" sz="1350" dirty="0">
                <a:solidFill>
                  <a:srgbClr val="8A6D1E"/>
                </a:solidFill>
                <a:latin typeface="Amiri" pitchFamily="2" charset="-78"/>
                <a:cs typeface="Amiri" pitchFamily="2" charset="-78"/>
              </a:rPr>
              <a:t>هُ</a:t>
            </a:r>
            <a:pPr algn="l" indent="0" marL="0">
              <a:buNone/>
            </a:pPr>
            <a:r>
              <a:rPr lang="en-US" sz="1050" i="1" dirty="0">
                <a:solidFill>
                  <a:srgbClr val="8A6D1E"/>
                </a:solidFill>
                <a:latin typeface="Calibri" pitchFamily="34" charset="0"/>
                <a:cs typeface="Amiri" pitchFamily="2" charset="-78"/>
              </a:rPr>
              <a:t> and masculine adjectives.</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Combine:</a:t>
            </a:r>
            <a:endParaRPr lang="en-US" sz="12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أُمِّي لَطِيفَةٌ. أُمِّي مُجْتَهِدَةٌ.</a:t>
            </a:r>
            <a:endParaRPr lang="ar-SA" sz="14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 لَطِيفَةٌ وَمُجْتَهِدَةٌ.</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لَطِيفَةٌ ثُمَّ أُمِّي.</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أُمِّي وَ.</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shared subject allows the two adjectives to be joined.</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7" name="Text 9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contrast → wa-lākinnahā</a:t>
            </a:r>
            <a:endParaRPr lang="en-US" sz="1250" dirty="0"/>
          </a:p>
          <a:p>
            <a:pPr algn="l" indent="0" marL="0">
              <a:buNone/>
            </a:pPr>
            <a:r>
              <a:rPr lang="en-US" sz="1250" dirty="0">
                <a:solidFill>
                  <a:srgbClr val="1E6B52"/>
                </a:solidFill>
                <a:latin typeface="Calibri" pitchFamily="34" charset="0"/>
                <a:cs typeface="Amiri" pitchFamily="2" charset="-78"/>
              </a:rPr>
              <a:t>reason → li’annahu / -hā</a:t>
            </a:r>
            <a:endParaRPr lang="en-US" sz="1250" dirty="0"/>
          </a:p>
          <a:p>
            <a:pPr algn="l" indent="0" marL="0">
              <a:buNone/>
            </a:pPr>
            <a:r>
              <a:rPr lang="en-US" sz="1250" dirty="0">
                <a:solidFill>
                  <a:srgbClr val="1E6B52"/>
                </a:solidFill>
                <a:latin typeface="Calibri" pitchFamily="34" charset="0"/>
                <a:cs typeface="Amiri" pitchFamily="2" charset="-78"/>
              </a:rPr>
              <a:t>new paragraph → ammā … fa-</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ROOMS”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Warm-up: which room?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8"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29"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4"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35"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الحَمَّامُ.</a:t>
            </a:r>
            <a:endParaRPr lang="ar-SA" sz="2000" dirty="0"/>
          </a:p>
        </p:txBody>
      </p:sp>
      <p:sp>
        <p:nvSpPr>
          <p:cNvPr id="39"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المَطْبَخُ.</a:t>
            </a:r>
            <a:endParaRPr lang="ar-SA" sz="2000" dirty="0"/>
          </a:p>
        </p:txBody>
      </p:sp>
      <p:sp>
        <p:nvSpPr>
          <p:cNvPr id="43"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غُرْفَةُ الجُلُوسِ.</a:t>
            </a:r>
            <a:endParaRPr lang="ar-SA" sz="2000" dirty="0"/>
          </a:p>
        </p:txBody>
      </p:sp>
      <p:sp>
        <p:nvSpPr>
          <p:cNvPr id="47"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المَطْبَخُ.</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3"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34"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غُرْفَةُ الجُلُوسِ.</a:t>
            </a:r>
            <a:endParaRPr lang="ar-SA" sz="2200" dirty="0"/>
          </a:p>
        </p:txBody>
      </p:sp>
      <p:sp>
        <p:nvSpPr>
          <p:cNvPr id="38"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living room.</a:t>
            </a:r>
            <a:endParaRPr lang="en-US" sz="1200" dirty="0"/>
          </a:p>
        </p:txBody>
      </p:sp>
      <p:sp>
        <p:nvSpPr>
          <p:cNvPr id="39"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4"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45"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الحَمَّامُ.</a:t>
            </a:r>
            <a:endParaRPr lang="ar-SA" sz="2200" dirty="0"/>
          </a:p>
        </p:txBody>
      </p:sp>
      <p:sp>
        <p:nvSpPr>
          <p:cNvPr id="49"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bathroom.</a:t>
            </a:r>
            <a:endParaRPr lang="en-US" sz="1200" dirty="0"/>
          </a:p>
        </p:txBody>
      </p:sp>
      <p:sp>
        <p:nvSpPr>
          <p:cNvPr id="50"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غُرْفَتِي لِأَنَّهُ هَادِئٌ.</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بَيْتِي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Rooms: thalātha or thalāth?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بَيْتِي ثُمَّ هُوَ مُرِيحٌ.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reason: thumma or li’anna?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غُرْفَتِي لِأَنَّهُ هَادِئٌ.</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غُرْفَتِي لِأَنَّهَا هَادِئَةٌ.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room is feminine: li’annahā.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بَيْتِي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بَيْتِي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Rooms are feminine: the number drops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بَيْتِي ثُمَّ هُوَ مُرِيحٌ.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بَيْتِي لِأَنَّهُ مُرِيحٌ.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reason needs li’anna, not thumma.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Noor’s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Noor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modern flat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old house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there?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Noor?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parents and two brothers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grandmother and cousin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mother, father and younger sister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Noor do first after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in her room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helps in the kitchen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to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like the flat?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four floors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 and near the library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far from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boxes: home · family · routine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نُورٌ، وَأَسْكُنُ مَعَ عَائِلَتِي فِي شَقَّةٍ حَدِيثَةٍ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Noor and I live with my family in a modern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شَقَّتِنَا غُرْفَةُ جُلُوسٍ وَمَطْبَخٌ وَحَمَّامٌ وَغُرْفَتَا نَوْمٍ. غُرْفَتِي مُرَتَّبَةٌ وَهَادِئَةٌ، وَفِيهَا مَكْتَبٌ قَرِيبٌ مِنَ النَّافِذَةِ.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flat has a living room, a kitchen, a bathroom and two bedrooms. My room is tidy and quiet, with a desk near the window.</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أَعِيشُ مَعَ أُمِّي وَأَبِي وَأُخْتِي الصَّغِيرَةِ. أُمِّي لَطِيفَةٌ وَمُجْتَهِدَةٌ، وَأَبِي هَادِئٌ وَمُضْحِكٌ.</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with my mother, my father and my younger sister. My mother is kind and hard-working, and my father is calm and funny.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المَدْرَسَةِ أَدْرُسُ فِي غُرْفَتِي، ثُمَّ أُسَاعِدُ أُمِّي فِي المَطْبَخِ.</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study in my room, then I help my mother in the kitchen.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شَقَّتَنَا لِأَنَّهَا مُرِيحَةٌ وَقَرِيبَةٌ مِنَ المَكْتَبَةِ.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love our flat because it is comfortable and near the library.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Noor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modern flat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old house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فِي شَقَّةٍ حَدِيثَةٍ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there?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flat has </a:t>
            </a:r>
            <a:pPr algn="l" indent="0" marL="0">
              <a:buNone/>
            </a:pPr>
            <a:r>
              <a:rPr lang="ar-SA" altLang="en-US" sz="1350" dirty="0">
                <a:solidFill>
                  <a:srgbClr val="8A6D1E"/>
                </a:solidFill>
                <a:latin typeface="Amiri" pitchFamily="2" charset="-78"/>
                <a:cs typeface="Amiri" pitchFamily="2" charset="-78"/>
              </a:rPr>
              <a:t>غُرْفَتَا نَوْمٍ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Noor?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parents and two brothers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grandmother and cousin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mother, father and younger sister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names her mother, father and younger sister.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Noor do first after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studies in her room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helps in the kitchen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to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she studies, then she helps her mother.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like the flat?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four floors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 and near the library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far from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it is comfortable and close to the library.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boxes: home · family · routine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THE ANNOTATED MODEL (WEBSITE, 79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complete model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النَّمُوذَجُ المَشْرُوحُ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أَسْكُنُ مَعَ عَائِلَتِي فِي بَيْتٍ مُتَوَسِّطِ الحَجْمِ قَرِيبٍ مِنَ المَدْرَسَةِ. فِي بَيْتِنَا طَابِقَانِ، وَفِيهِ غُرْفَةُ جُلُوسٍ وَمَطْبَخٌ وَثَلَاثُ غُرَفِ نَوْمٍ.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Home: medium-sized · near school · 2 floors · rooms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غُرْفَتِي صَغِيرَةٌ، وَلَكِنَّهَا مُرَتَّبَةٌ وَمُضِيئَةٌ. فِيهَا سَرِيرٌ أَبْيَضُ وَمَكْتَبٌ بُنِّيٌّ وَخِزَانَةٌ كَبِيرَةٌ.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My room: contrast · furniture + colours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أَعِيشُ مَعَ أَبِي وَأُمِّي وَأَخِي وَأُخْتِي. أَبِي هَادِئٌ وَكَرِيمٌ، وَأُمِّي لَطِيفَةٌ وَمُجْتَهِدَةٌ.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Family: who + personality (m. · f.)</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المَسَاءِ أَدْرُسُ فِي غُرْفَتِي، ثُمَّ أَجْلِسُ مَعَ عَائِلَتِي فِي غُرْفَةِ الجُلُوسِ.</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Daily life: time + sequence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أُحِبُّ بَيْتِي لِأَنَّهُ مُرِيحٌ، وَأُحِبُّ حَيِّي أَيْضًا لِأَنَّ الحَدِيقَةَ وَالمَكْتَبَةَ قَرِيبَتَانِ مِنْهُ.</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Opinion: two reasons · also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FIRST DRAFT (WEBSITE) · FLEX / DEVELOP</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weak in this draft?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المُسَوَّدَةُ الأُولَى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بَيْتٍ. بَيْتِي كَبِيرٌ. فِي بَيْتِي غُرَفٌ.</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Relevant — but very short sentences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عِنْدِي أُمٌّ وَأَبٌ وَأَخٌ.</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listed, no detail</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أُمِّي لَطِيفَةٌ. أَبِي هَادِئٌ.</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Accurate — but repetitive openings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غُرْفَتِي صَغِيرَةٌ. فِيهَا سَرِيرٌ وَمَكْتَبٌ.</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colours or precise positions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بَيْتِي. أُحِبُّ عَائِلَتِي.</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Opinions with no reason · almost no connectors</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THE MODEL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describes the writer’s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but dark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but spacious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but tidy and bright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father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 and loud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generous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hardworking and loving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in the evening?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sleeps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studies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visits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the neighbourhood?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is inside the house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street is empty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 and library are nearby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paragraph first:</a:t>
            </a:r>
            <a:endParaRPr lang="en-US" sz="1250" dirty="0"/>
          </a:p>
          <a:p>
            <a:pPr algn="l" indent="0" marL="0">
              <a:buNone/>
            </a:pPr>
            <a:r>
              <a:rPr lang="en-US" sz="1250" dirty="0">
                <a:solidFill>
                  <a:srgbClr val="1F2A37"/>
                </a:solidFill>
                <a:latin typeface="Calibri" pitchFamily="34" charset="0"/>
                <a:cs typeface="Amiri" pitchFamily="2" charset="-78"/>
              </a:rPr>
              <a:t>home · family · daily life.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says </a:t>
            </a:r>
            <a:pPr algn="l" indent="0" marL="0">
              <a:buNone/>
            </a:pPr>
            <a:r>
              <a:rPr lang="ar-SA" altLang="en-US" sz="1350" dirty="0">
                <a:solidFill>
                  <a:srgbClr val="8A6D1E"/>
                </a:solidFill>
                <a:latin typeface="Amiri" pitchFamily="2" charset="-78"/>
                <a:cs typeface="Amiri" pitchFamily="2" charset="-78"/>
              </a:rPr>
              <a:t>فِي بَيْتِنَا طَابِقَانِ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describes the writer’s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but dark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but spacious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but tidy and bright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room is </a:t>
            </a:r>
            <a:pPr algn="l" indent="0" marL="0">
              <a:buNone/>
            </a:pPr>
            <a:r>
              <a:rPr lang="ar-SA" altLang="en-US" sz="1350" dirty="0">
                <a:solidFill>
                  <a:srgbClr val="8A6D1E"/>
                </a:solidFill>
                <a:latin typeface="Amiri" pitchFamily="2" charset="-78"/>
                <a:cs typeface="Amiri" pitchFamily="2" charset="-78"/>
              </a:rPr>
              <a:t>صَغِيرَةٌ، وَلَكِنَّهَا مُرَتَّبَةٌ وَمُضِيئَةٌ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father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funny and loud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quiet and generous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hardworking and loving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أَبِي هَادِئٌ وَكَرِيمٌ.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in the evening?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sleeps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studies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visits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routine begins </a:t>
            </a:r>
            <a:pPr algn="l" indent="0" marL="0">
              <a:buNone/>
            </a:pPr>
            <a:r>
              <a:rPr lang="ar-SA" altLang="en-US" sz="1350" dirty="0">
                <a:solidFill>
                  <a:srgbClr val="8A6D1E"/>
                </a:solidFill>
                <a:latin typeface="Amiri" pitchFamily="2" charset="-78"/>
                <a:cs typeface="Amiri" pitchFamily="2" charset="-78"/>
              </a:rPr>
              <a:t>فِي المَسَاءِ أَدْرُسُ فِي غُرْفَتِي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the neighbourhood?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 is inside the house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street is empty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park and library are nearby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reason says the park and library are near 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paragraph first:</a:t>
            </a:r>
            <a:endParaRPr lang="en-US" sz="1250" dirty="0"/>
          </a:p>
          <a:p>
            <a:pPr algn="l" indent="0" marL="0">
              <a:buNone/>
            </a:pPr>
            <a:r>
              <a:rPr lang="en-US" sz="1250" dirty="0">
                <a:solidFill>
                  <a:srgbClr val="1F2A37"/>
                </a:solidFill>
                <a:latin typeface="Calibri" pitchFamily="34" charset="0"/>
                <a:cs typeface="Amiri" pitchFamily="2" charset="-78"/>
              </a:rPr>
              <a:t>home · family · daily life.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Oral rehearsal before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تَسْكُنُ؟ وَمَعَ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غُرْفَتَكَ المُفَضَّلَةَ.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شَخْصَيْنِ مِنْ عَائِلَتِكَ.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فِي المَسَاءِ؟ وَلِمَاذَا تُحِبُّ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cs typeface="Amiri" pitchFamily="2" charset="-78"/>
              </a:rPr>
              <a:t>أَسْكُنُ مَعَ عَائِلَتِي فِي ___ قَرِيبٍ مِنَ ___ .</a:t>
            </a:r>
            <a:endParaRPr lang="ar-SA" sz="15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غُرْفَتِي ___ ، وَلَكِنَّهَا ___ . فِيهَا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cs typeface="Amiri" pitchFamily="2" charset="-78"/>
              </a:rPr>
              <a:t>أَمَّا عَائِلَتِي فَأَعِيشُ مَعَ ___ . أَبِي ___ ، وَأُمِّي ___ .</a:t>
            </a:r>
            <a:endParaRPr lang="ar-SA" sz="11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فِي المَسَاءِ ___ ، ثُمَّ ___ . أُحِبُّ بَيْتِي لِأَنَّهُ ___ .</a:t>
            </a:r>
            <a:endParaRPr lang="ar-SA" sz="12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تَسْكُنُ؟ وَمَعَ مَنْ؟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do you live? And with whom?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أَسْكُنُ مَعَ عَائِلَتِي فِي بَيْتٍ قَرِيبٍ مِنَ المَدْرَسَةِ. فِي بَيْتِنَا طَابِقَانِ.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live with my family in a house near the school. Our house has two floors.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three-paragraph frame and write at least 70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paragraphs with the frames: home · family · daily life and opinion.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connectors, varied descriptions and accurate references.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purposeful connectors, varied adjectives and accurate -hu / -hā.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comparison, a routine sequence and a longer controlled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comparison (ammā … fa-, fī l-muqābil) and a routine sequence.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صَغِيرَةٌ، وَلَكِنَّهَا مُرِيحَةٌ.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small but comfortable.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عَائِلَتِي فَـ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family,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 لَطِيفَةٌ وَمُجْتَهِدَةٌ.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kind and hard-working.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حَيِّي أَيْضًا لِأَنَّهُ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my area too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أَشْعُرُ بِالسَّعَادَةِ فِي بَيْتِي.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Therefore I feel happy at home.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مَعَ عَائِلَتِي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I live with my family in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بَيْتِنَا ______ وَ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In our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أَعِيشُ مَعَ ______ وَ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I live with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المَسَاءِ ______ ، ثُمَّ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In the evening I …, then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بَيْتِي لِأَنَّهُ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I love my house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  ·  أَيْضًا  ·  وَلَكِنَّ  ·  لِأَنَّ  ·  ثُمَّ  ·  بَعْدَ ذَلِكَ  ·  أَمَّا … فَـ  ·  لِذَلِكَ  ·  لِأَنَّهُ  ·  لِأَنَّهَا  ·  تُوجَدُ  ·  ثَلَاثُ غُرَفٍ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cs typeface="Amiri" pitchFamily="2" charset="-78"/>
              </a:rPr>
              <a:t>أَسْكُنُ مَعَ عَائِلَتِي فِي بَيْتٍ مُتَوَسِّطِ الحَجْمِ قَرِيبٍ مِنَ المَدْرَسَةِ. فِي بَيْتِنَا طَابِقَانِ، وَفِيهِ غُرْفَةُ جُلُوسٍ وَمَطْبَخٌ وَثَلَاثُ غُرَفِ نَوْمٍ. غُرْفَتِي صَغِيرَةٌ، وَلَكِنَّهَا مُرَتَّبَةٌ وَمُضِيئَةٌ. فِيهَا سَرِيرٌ أَبْيَضُ وَمَكْتَبٌ بُنِّيٌّ وَخِزَانَةٌ كَبِيرَةٌ. أَعِيشُ مَعَ أَبِي وَأُمِّي وَأَخِي وَأُخْتِي. أَبِي هَادِئٌ وَكَرِيمٌ، وَأُمِّي لَطِيفَةٌ وَمُجْتَهِدَةٌ. فِي المَسَاءِ أَدْرُسُ فِي غُرْفَتِي، ثُمَّ أَجْلِسُ مَعَ عَائِلَتِي فِي غُرْفَةِ الجُلُوسِ. أُحِبُّ بَيْتِي لِأَنَّهُ مُرِيحٌ، وَأُحِبُّ حَيِّي أَيْضًا لِأَنَّ الحَدِيقَةَ وَالمَكْتَبَةَ قَرِيبَتَانِ مِنْهُ.</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with my family in a medium-sized house near the school. Our house has two floors, with a living room, a kitchen and three bedrooms. My room is small, but tidy and bright. In it there is a white bed, a brown desk and a big wardrobe. I live with my father, my mother, my brother and my sister. My father is calm and generous, and my mother is kind and hard-working. In the evening I study in my room, then I sit with my family in the living room. I love my house because it is comfortable, and I love my area too because the park and the library are near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home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family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daily life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Task: home, family AND opinion are all there.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text has 70–90 Arabic words.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Variety: six connectors, each doing a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Accuracy: gender and -hu / -hā checked.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final version improves the draft — not a copy.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family-paragraph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عَائِلَتِي فَأَعِيشُ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 غُرْفَتِي 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بِجَانِبِ أَبِي المَطْبَخُ...</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house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بَيْتِي لِأَنَّهَا وَاسِعَةٌ.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بَيْتِي لِأَنَّهُ وَاسِعٌ.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بَيْتِي ثُمَّ وَاسِعٌ.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family reason.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عَائِلَتِي لِأَنَّهَا مُحِبَّةٌ.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عَائِلَتِي لِأَنَّهُ مُحِبٌّ.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عَائِلَتِي ثُمَّ مُحِبَّةٌ.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family-paragraph opening.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أَمَّا عَائِلَتِي فَأَعِيشُ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ثُمَّ غُرْفَتِي 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بِجَانِبِ أَبِي المَطْبَخُ...</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 عَائِلَتِي</a:t>
            </a:r>
            <a:pPr algn="l" indent="0" marL="0">
              <a:buNone/>
            </a:pPr>
            <a:r>
              <a:rPr lang="en-US" sz="1050" i="1" dirty="0">
                <a:solidFill>
                  <a:srgbClr val="8A6D1E"/>
                </a:solidFill>
                <a:latin typeface="Calibri" pitchFamily="34" charset="0"/>
                <a:cs typeface="Amiri" pitchFamily="2" charset="-78"/>
              </a:rPr>
              <a:t>... signals the new paragraph focus.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house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 بَيْتِي لِأَنَّهَا وَاسِعَةٌ.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أُحِبُّ بَيْتِي لِأَنَّهُ وَاسِعٌ.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 بَيْتِي ثُمَّ وَاسِعٌ.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cs typeface="Amiri" pitchFamily="2" charset="-78"/>
              </a:rPr>
              <a:t>لِأَنَّهُ وَاسِعٌ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family reason.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أُحِبُّ عَائِلَتِي لِأَنَّهَا مُحِبَّةٌ.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 عَائِلَتِي لِأَنَّهُ مُحِبٌّ.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 عَائِلَتِي ثُمَّ مُحِبَّةٌ.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عَائِلَةٌ</a:t>
            </a:r>
            <a:pPr algn="l" indent="0" marL="0">
              <a:buNone/>
            </a:pPr>
            <a:r>
              <a:rPr lang="en-US" sz="1050" i="1" dirty="0">
                <a:solidFill>
                  <a:srgbClr val="8A6D1E"/>
                </a:solidFill>
                <a:latin typeface="Calibri" pitchFamily="34" charset="0"/>
                <a:cs typeface="Amiri" pitchFamily="2" charset="-78"/>
              </a:rPr>
              <a:t> is feminine singular.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F3-L10 · Speaking: My Family and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سُؤَالٌ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question</a:t>
            </a:r>
            <a:pPr indent="0" marL="0">
              <a:buNone/>
            </a:pPr>
            <a:r>
              <a:rPr lang="en-US" sz="1000" i="1" dirty="0">
                <a:solidFill>
                  <a:srgbClr val="5A6472"/>
                </a:solidFill>
                <a:latin typeface="Calibri" pitchFamily="34" charset="0"/>
                <a:cs typeface="Amiri" pitchFamily="2" charset="-78"/>
              </a:rPr>
              <a:t>  pl. أَسْئِلَةٌ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إِجَابَةٌ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answer</a:t>
            </a:r>
            <a:pPr indent="0" marL="0">
              <a:buNone/>
            </a:pPr>
            <a:r>
              <a:rPr lang="en-US" sz="1000" i="1" dirty="0">
                <a:solidFill>
                  <a:srgbClr val="5A6472"/>
                </a:solidFill>
                <a:latin typeface="Calibri" pitchFamily="34" charset="0"/>
                <a:cs typeface="Amiri" pitchFamily="2" charset="-78"/>
              </a:rPr>
              <a:t>  pl. إِجَابَاتٌ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تَفْصِيلٌ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detail</a:t>
            </a:r>
            <a:pPr indent="0" marL="0">
              <a:buNone/>
            </a:pPr>
            <a:r>
              <a:rPr lang="en-US" sz="1000" i="1" dirty="0">
                <a:solidFill>
                  <a:srgbClr val="5A6472"/>
                </a:solidFill>
                <a:latin typeface="Calibri" pitchFamily="34" charset="0"/>
                <a:cs typeface="Amiri" pitchFamily="2" charset="-78"/>
              </a:rPr>
              <a:t>  pl. تَفَاصِيلُ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رَأْيٌ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opinion</a:t>
            </a:r>
            <a:pPr indent="0" marL="0">
              <a:buNone/>
            </a:pPr>
            <a:r>
              <a:rPr lang="en-US" sz="1000" i="1" dirty="0">
                <a:solidFill>
                  <a:srgbClr val="5A6472"/>
                </a:solidFill>
                <a:latin typeface="Calibri" pitchFamily="34" charset="0"/>
                <a:cs typeface="Amiri" pitchFamily="2" charset="-78"/>
              </a:rPr>
              <a:t>  pl. آرَاءٌ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reason</a:t>
            </a:r>
            <a:pPr indent="0" marL="0">
              <a:buNone/>
            </a:pPr>
            <a:r>
              <a:rPr lang="en-US" sz="1000" i="1" dirty="0">
                <a:solidFill>
                  <a:srgbClr val="5A6472"/>
                </a:solidFill>
                <a:latin typeface="Calibri" pitchFamily="34" charset="0"/>
                <a:cs typeface="Amiri" pitchFamily="2" charset="-78"/>
              </a:rPr>
              <a:t>  pl. أَسْبَابٌ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Read your paragraph aloud twice at home and time it. How many seconds?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كَمْ ثَانِيَةً؟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F3-L09: the Paragraph Architect Mission (14) and the connector laboratory.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70–90-word draft, then complete the website review checklist.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improved final version; underline six connectors and circle every -hu / -hā.</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F3-L10 · Speaking: My Family and Home</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التَّحَدُّثُ عَنْ عَائِلَتِي وَبَيْتِي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 draft → review → improve · every connector does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F3-L09 · Extended Writing: My Home and Family</dc:title>
  <dc:subject>PptxGenJS Presentation</dc:subject>
  <dc:creator>Al Madina Online School · Arabic Department</dc:creator>
  <cp:lastModifiedBy>Al Madina Online School · Arabic Department</cp:lastModifiedBy>
  <cp:revision>1</cp:revision>
  <dcterms:created xsi:type="dcterms:W3CDTF">2026-10-11T06:41:33Z</dcterms:created>
  <dcterms:modified xsi:type="dcterms:W3CDTF">2026-10-11T06:41:33Z</dcterms:modified>
</cp:coreProperties>
</file>