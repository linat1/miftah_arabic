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2 (F3-L02). Website sections used: the eight-question family and agreement bridge, appearance adjectives (height and build, hair) and the 10-question check, hair and eye colours and the 8-question colour check, personality adjectives (10) and the 10-question check, the description order and the 12-question agreement laboratory, the Guess Who? mission (14), Huda’s two relatives (listening, 10), family portraits (reading, 12), the Guess Who? speaking studio (4 person cards), the two-person paragraph and the 14-question checkpoint. Picture match: website visual game “Describing Family Members”.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6 appearance + 6 personality adjectives in m. / f. + “he is … / she is …”. Develop: hair and eyes with colours (شَعْرُهُ أَسْوَدُ · عُيُونُهَا خَضْرَاءُ). Stretch: several adjectives in one chain, a contrast (وَلَكِنَّهُ) and a comparison of two people.
• RESPECTFUL DESCRIPTION (website): describe real people kindly and only with details they would share — or use the fictional people. The website deliberately removed body-size labels: height, hair, eyes and positive personality only. Invented people for Guess Who.
• Two traps: hair is masculine even for a woman (شَعْرُهَا أَسْوَدُ) and eyes take the feminine colour (عُيُونُهُ بُنِّيَّةٌ).
• Urdu bridge: لطیف، کریم، ذہین (Urdu) / ذَكِيٌّ، خوش / سَعِيدٌ (Arabic name سعید), محنتی / مُجْتَهِدٌ (Urdu مجتہد = scholar).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adjectives prepared at home at the end of F3-L01. Questions 3–5 are the website “family and agreement bridge” (my older brother, her name, my mother is kind).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adjective follows the person: he → ṭawīl, she → ṭawīla. Several adjectives? EVERY one 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لطیف، کریم، جمیل and سعید are known as words and names. CAREFUL: مُجْتَهِدٌ is simply “hard-working” in everyday Arabic (Urdu محنتی); ذَكِيٌّ (intelligent) is ذہین in Urdu — same idea, different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APPEARANCE (website). Also: جَمِيلٌ / جَمِيلَةٌ (beautiful), أَشْقَرُ / شَقْرَاءُ (blond), بُنِّيُّ الشَّعْرِ / بُنِّيَّةُ الشَّعْرِ (brown-haired). Website current scope: height, hair, eyes and positive personality only — no body-size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PERSONALITY (website, 6 of 10). Also: صَاخِبٌ / صَاخِبَةٌ (loud), مُحِبٌّ / مُحِبَّةٌ (loving), سَعِيدٌ / سَعِيدَةٌ (happy), مُتَعَاوِنٌ / مُتَعَاوِنَةٌ (helpful). Website: “use more than one adjective to create a fuller picture” — أَبِي كَرِيمٌ وَمُضْحِكٌ، وَأُمِّي لَطِيفَةٌ وَمُجْتَهِدَةٌ.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3 “Hair and eye colours”: the أَفْعَلُ / فَعْلَاءُ colours and regular بُنِّيٌّ / بُنِّيَّةٌ; “Eyes are plural and feminine” (عُيُونٌ بُنِّيَّةٌ · عُيُونٌ خَضْرَاءُ · عُيُونٌ زَرْقَاءُ); “Hair is masculine” (شَعْرٌ بُنِّيٌّ · شَعْرٌ أَسْوَدُ · شَعْرٌ أَشْقَرُ).
The full colour system comes in F3-L05. Also grey hair: شَعْرٌ أَبْيَضُ (white) — website listening (the grandmother).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5 “Build accurate description sentences”: choose the person, choose هُوَ / هِيَ, then make every adjective agree; add name, age, hair, eyes and personality in a clear order (1 identity · 2 name and age · 3 description).
Website models: هَذَا أَخِي. اِسْمُهُ يُوسُفُ. عُمْرُهُ سِتَّ عَشْرَةَ سَنَةً. هُوَ طَوِيلٌ وَنَحِيفٌ. شَعْرُهُ أَسْوَدُ وَعُيُونُهُ بُنِّيَّةٌ. هُوَ مُضْحِكٌ وَكَرِيمٌ. — and the feminine model for زَيْنَبُ.
Contrast (Stretch): هُوَ صَاخِبٌ، وَلَكِنَّهُ لَطِيفٌ.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“Twelve-question agreement laboratory” questions 1, 4, 6 and 10.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(Huda’s brother Samir and grandmother Salma) as a model. Think aloud at every adjective: “about him or her? — is it hair (m.) or eyes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Describing Family Members”)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Follow-up (Develop): add one description to each — هٰذَا أَبِي، هُوَ طَوِيلٌ وَكَرِيمٌ · هٰذِهِ أُخْتِي، هِيَ ذَكِيَّةٌ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Describing Family Members”)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Follow-up (Develop): add one description to each — هٰذَا أَبِي، هُوَ طَوِيلٌ وَكَرِيمٌ · هٰذِهِ أُخْتِي، هِيَ ذَكِيَّةٌ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Guess Who rounds (female height, green eyes, black hair, grandmother, her brown eyes).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who or what does the adjective describe?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اِسْمِي هُدَى. سَأَصِفُ شَخْصَيْنِ مِنْ عَائِلَتِي. أَوَّلًا، هَذَا أَخِي الأَكْبَرُ وَاسْمُهُ سَامِرٌ. عُمْرُهُ سَبْعَ عَشْرَةَ سَنَةً. هُوَ طَوِيلٌ وَنَحِيفٌ. شَعْرُهُ أَسْوَدُ وَعُيُونُهُ بُنِّيَّةٌ. هُوَ مُضْحِكٌ وَكَرِيمٌ، وَلَكِنَّهُ صَاخِبٌ أَحْيَانًا. ثَانِيًا، هَذِهِ جَدَّتِي وَاسْمُهَا سَلْمَى. هِيَ قَصِيرَةٌ وَشَعْرُهَا أَبْيَضُ وَعُيُونُهَا خَضْرَاءُ. هِيَ هَادِئَةٌ وَلَطِيفَةٌ وَمُحِبَّةٌ. أُحِبُّهُمَا لِأَنَّهُمَا يُسَاعِدَانِنِي دَائِمًا.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FAMILY PORTRAITS (website, complete). Notice: شَعْرُهَا أَسْوَدُ (HER hair — masculine colour) and عُيُونُهُ زَرْقَاءُ (HIS eyes — feminine colour). Stretch: the dual مُحِبَّانِ وَكَرِيمَانِ (both loving and generous).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 4, 5, 9 and 11.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“Guess Who?” — describe a real or invented person (30–60 s) without naming the relationship; the listener guesses and says which clues helped. Person cards (website):
• Older brother: 17 · tall · slim · black hair · brown eyes · funny · generous
• Grandmother: short · white hair · green eyes · quiet · loving
• Paternal aunt: 30 · long black hair · brown eyes · funny · helpful
• Maternal uncle: 35 · brown short hair · blue eyes · quiet · hardworking
Website checklist (1–6): identity not revealed too soon · agreement · height / hair / eyes · two personality adjectives · connectors · clear delivery.
The prompts are teacher-made from the website studio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Five or six accurate sentences about two people using the model. · Develop — 70–90 words with age, appearance, personality and three connectors. · Stretch — Compare the two people and give a reason with wa-lākin, ammā … fa- and li’anna.
Website writing task (Stretch): Website writing workshop: a connected paragraph of at least six sentences about two family members (real or fictional) — relationship and name, age, appearance, personality, and a comparison or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models (masculine and feminine descriptions), joined. Stretch: add a contrast or comparison between the two (أَمَّا أُخْتِي فَـ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(F3-L03 · My Home — Rooms and Parts of the House) will spend class time USING this language, so students prepare it tonight — short, simple, easy to access (school guidance: “Simple, Short, Interesting, Relevant, Easy to access”). The five words come from the website F3-L03 home banks.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Describing Family Members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وَصْفُ أَفْرَادِ العَائِلَةِ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family members respectfully: height, hair, eyes and personality, with every adjective agreeing with the person — and hair (m.) and eyes (f.) agreeing with their own colours.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F3-L02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Appearance and personality words, then hair (m.) and eyes (f.).</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Guess Who? mission, listen to Huda, read two portraits.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طَوِيلَةٌ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(f.)</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 (f.)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kind (f.)</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لَطِيفٌ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kind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funny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generous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my older brother.”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أُخْتِي الكُبْرَى.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أَخُوهَا.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أَخِي الأَكْبَرُ.</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“her name”?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اِسْمُهُ</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اِسْمُهَا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description.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لَطِيفَةٌ.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لَطِيفٌ.</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 لَطِيفَةٌ.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طَوِيلَةٌ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(f.)</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tall (f.)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kind (f.)</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لَطِيفٌ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kind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funny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generous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my older brother.”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أُخْتِي الكُبْرَى.</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أَخُوهَا.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أَخِي الأَكْبَرُ.</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هَذَا</a:t>
            </a:r>
            <a:pPr algn="l" indent="0" marL="0">
              <a:buNone/>
            </a:pPr>
            <a:r>
              <a:rPr lang="en-US" sz="1050" i="1" dirty="0">
                <a:solidFill>
                  <a:srgbClr val="8A6D1E"/>
                </a:solidFill>
                <a:latin typeface="Calibri" pitchFamily="34" charset="0"/>
                <a:cs typeface="Amiri" pitchFamily="2" charset="-78"/>
              </a:rPr>
              <a:t> introduces the masculine noun </a:t>
            </a:r>
            <a:pPr algn="l" indent="0" marL="0">
              <a:buNone/>
            </a:pPr>
            <a:r>
              <a:rPr lang="ar-SA" altLang="en-US" sz="1350" dirty="0">
                <a:solidFill>
                  <a:srgbClr val="8A6D1E"/>
                </a:solidFill>
                <a:latin typeface="Amiri" pitchFamily="2" charset="-78"/>
                <a:ea typeface="Amiri" pitchFamily="2" charset="-78"/>
                <a:cs typeface="Amiri" pitchFamily="2" charset="-78"/>
              </a:rPr>
              <a:t>أَخِي</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الأَكْبَرُ</a:t>
            </a:r>
            <a:pPr algn="l" indent="0" marL="0">
              <a:buNone/>
            </a:pPr>
            <a:r>
              <a:rPr lang="en-US" sz="1050" i="1" dirty="0">
                <a:solidFill>
                  <a:srgbClr val="8A6D1E"/>
                </a:solidFill>
                <a:latin typeface="Calibri" pitchFamily="34" charset="0"/>
                <a:cs typeface="Amiri" pitchFamily="2" charset="-78"/>
              </a:rPr>
              <a:t> agrees.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“her name”?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اِسْمُهُ</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اِسْمِي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اِسْمُهَا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means her: </a:t>
            </a:r>
            <a:pPr algn="l" indent="0" marL="0">
              <a:buNone/>
            </a:pPr>
            <a:r>
              <a:rPr lang="ar-SA" altLang="en-US" sz="1350" dirty="0">
                <a:solidFill>
                  <a:srgbClr val="8A6D1E"/>
                </a:solidFill>
                <a:latin typeface="Amiri" pitchFamily="2" charset="-78"/>
                <a:ea typeface="Amiri" pitchFamily="2" charset="-78"/>
                <a:cs typeface="Amiri" pitchFamily="2" charset="-78"/>
              </a:rPr>
              <a:t>اِسْمُهَا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description.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أُمِّي لَطِيفَةٌ.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أُمِّي لَطِيفٌ.</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 لَطِيفَةٌ.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أُمِّي</a:t>
            </a:r>
            <a:pPr algn="l" indent="0" marL="0">
              <a:buNone/>
            </a:pPr>
            <a:r>
              <a:rPr lang="en-US" sz="1050" i="1" dirty="0">
                <a:solidFill>
                  <a:srgbClr val="8A6D1E"/>
                </a:solidFill>
                <a:latin typeface="Calibri" pitchFamily="34" charset="0"/>
                <a:cs typeface="Amiri" pitchFamily="2" charset="-78"/>
              </a:rPr>
              <a:t> is feminine, so the adjective is </a:t>
            </a:r>
            <a:pPr algn="l" indent="0" marL="0">
              <a:buNone/>
            </a:pPr>
            <a:r>
              <a:rPr lang="ar-SA" altLang="en-US" sz="1350" dirty="0">
                <a:solidFill>
                  <a:srgbClr val="8A6D1E"/>
                </a:solidFill>
                <a:latin typeface="Amiri" pitchFamily="2" charset="-78"/>
                <a:ea typeface="Amiri" pitchFamily="2" charset="-78"/>
                <a:cs typeface="Amiri" pitchFamily="2" charset="-78"/>
              </a:rPr>
              <a:t>لَطِيفَةٌ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adjective follows the person: he → ṭawīl, she → ṭawīla. Several adjectives? EVERY one agrees.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هُوَ طَوِيلٌ وَلَطِيفٌ · هِيَ طَوِيلَ</a:t>
            </a:r>
            <a:pPr rtl="1" algn="ctr" indent="0" marL="0">
              <a:lnSpc>
                <a:spcPct val="120000"/>
              </a:lnSpc>
              <a:buNone/>
            </a:pPr>
            <a:r>
              <a:rPr lang="ar-SA" altLang="en-US" sz="20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 وَلَطِيفَ</a:t>
            </a:r>
            <a:pPr rtl="1" algn="ctr" indent="0" marL="0">
              <a:lnSpc>
                <a:spcPct val="120000"/>
              </a:lnSpc>
              <a:buNone/>
            </a:pPr>
            <a:r>
              <a:rPr lang="ar-SA" altLang="en-US" sz="2050" b="1" dirty="0">
                <a:solidFill>
                  <a:srgbClr val="D6336C"/>
                </a:solidFill>
                <a:latin typeface="Amiri" pitchFamily="2" charset="-78"/>
                <a:ea typeface="Amiri" pitchFamily="2" charset="-78"/>
                <a:cs typeface="Amiri" pitchFamily="2" charset="-78"/>
              </a:rPr>
              <a:t>ةٌ</a:t>
            </a:r>
            <a:endParaRPr lang="ar-SA" sz="20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complete appearance and personality bank.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hair and eyes with accurate colour forms.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several adjectives agree with one person.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connected description of two family members.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a person with two adjectives.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he is / she is correctly.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hair and eyes with colours.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every adjective agree.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people.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contrast and a reason.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Appearance, hair and eyes, and personality — all in masculine and feminine. Core: six appearance and six personality words.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Height, build and hair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Hair and eye colours · 7</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Personality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لَطِيفٌ</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‎لطیف‎ </a:t>
            </a:r>
            <a:pPr indent="0" marL="0">
              <a:buNone/>
            </a:pPr>
            <a:r>
              <a:rPr lang="en-US" sz="950" b="1" dirty="0">
                <a:solidFill>
                  <a:srgbClr val="2E8B57"/>
                </a:solidFill>
                <a:latin typeface="Calibri" pitchFamily="34" charset="0"/>
                <a:cs typeface="Amiri" pitchFamily="2" charset="-78"/>
              </a:rPr>
              <a:t> laṭīf · kind, pleasant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كَرِيمٌ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‎کریم‎ </a:t>
            </a:r>
            <a:pPr indent="0" marL="0">
              <a:buNone/>
            </a:pPr>
            <a:r>
              <a:rPr lang="en-US" sz="950" b="1" dirty="0">
                <a:solidFill>
                  <a:srgbClr val="2E8B57"/>
                </a:solidFill>
                <a:latin typeface="Calibri" pitchFamily="34" charset="0"/>
                <a:cs typeface="Amiri" pitchFamily="2" charset="-78"/>
              </a:rPr>
              <a:t> karīm · generous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سَعِيدٌ</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‎سعید (name)‎ </a:t>
            </a:r>
            <a:pPr indent="0" marL="0">
              <a:buNone/>
            </a:pPr>
            <a:r>
              <a:rPr lang="en-US" sz="950" b="1" dirty="0">
                <a:solidFill>
                  <a:srgbClr val="2E8B57"/>
                </a:solidFill>
                <a:latin typeface="Calibri" pitchFamily="34" charset="0"/>
                <a:cs typeface="Amiri" pitchFamily="2" charset="-78"/>
              </a:rPr>
              <a:t> sa‘īd · happy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جَمِيلٌ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‎جمیل‎ </a:t>
            </a:r>
            <a:pPr indent="0" marL="0">
              <a:buNone/>
            </a:pPr>
            <a:r>
              <a:rPr lang="en-US" sz="950" b="1" dirty="0">
                <a:solidFill>
                  <a:srgbClr val="2E8B57"/>
                </a:solidFill>
                <a:latin typeface="Calibri" pitchFamily="34" charset="0"/>
                <a:cs typeface="Amiri" pitchFamily="2" charset="-78"/>
              </a:rPr>
              <a:t> jamīl · beautiful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مُجْتَهِدٌ</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‎محنتی‎ </a:t>
            </a:r>
            <a:pPr indent="0" marL="0">
              <a:buNone/>
            </a:pPr>
            <a:r>
              <a:rPr lang="ar-SA" sz="950" b="1" dirty="0">
                <a:solidFill>
                  <a:srgbClr val="2E8B57"/>
                </a:solidFill>
                <a:latin typeface="Calibri" pitchFamily="34" charset="0"/>
                <a:ea typeface="Amiri" pitchFamily="2" charset="-78"/>
                <a:cs typeface="Amiri" pitchFamily="2" charset="-78"/>
              </a:rPr>
              <a:t> mujtahid · hard-working (Urdu مجتہد = scholar)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HEIGHT, BUILD AND HAIR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Tall, short, long hair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صِفَاتُ المَظْهَرِ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طَوِيلٌ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 / long</a:t>
            </a:r>
            <a:endParaRPr lang="en-US" sz="1350" dirty="0"/>
          </a:p>
          <a:p>
            <a:pPr indent="0" marL="0">
              <a:buNone/>
            </a:pPr>
            <a:r>
              <a:rPr lang="en-US" sz="1100" i="1" dirty="0">
                <a:solidFill>
                  <a:srgbClr val="5A6472"/>
                </a:solidFill>
                <a:latin typeface="Calibri" pitchFamily="34" charset="0"/>
                <a:cs typeface="Amiri" pitchFamily="2" charset="-78"/>
              </a:rPr>
              <a:t>ṭa-wīl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قَصِيرٌ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a:t>
            </a:r>
            <a:endParaRPr lang="en-US" sz="1350" dirty="0"/>
          </a:p>
          <a:p>
            <a:pPr indent="0" marL="0">
              <a:buNone/>
            </a:pPr>
            <a:r>
              <a:rPr lang="en-US" sz="1100" i="1" dirty="0">
                <a:solidFill>
                  <a:srgbClr val="5A6472"/>
                </a:solidFill>
                <a:latin typeface="Calibri" pitchFamily="34" charset="0"/>
                <a:cs typeface="Amiri" pitchFamily="2" charset="-78"/>
              </a:rPr>
              <a:t>qa-ṣīr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نَحِيفٌ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slim</a:t>
            </a:r>
            <a:endParaRPr lang="en-US" sz="1350" dirty="0"/>
          </a:p>
          <a:p>
            <a:pPr indent="0" marL="0">
              <a:buNone/>
            </a:pPr>
            <a:r>
              <a:rPr lang="en-US" sz="1100" i="1" dirty="0">
                <a:solidFill>
                  <a:srgbClr val="5A6472"/>
                </a:solidFill>
                <a:latin typeface="Calibri" pitchFamily="34" charset="0"/>
                <a:cs typeface="Amiri" pitchFamily="2" charset="-78"/>
              </a:rPr>
              <a:t>na-ḥīf</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نَحِيفَةٌ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نَحِيفٌ</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كَبِيرٌ</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big / older</a:t>
            </a:r>
            <a:endParaRPr lang="en-US" sz="1350" dirty="0"/>
          </a:p>
          <a:p>
            <a:pPr indent="0" marL="0">
              <a:buNone/>
            </a:pPr>
            <a:r>
              <a:rPr lang="en-US" sz="1100" i="1" dirty="0">
                <a:solidFill>
                  <a:srgbClr val="5A6472"/>
                </a:solidFill>
                <a:latin typeface="Calibri" pitchFamily="34" charset="0"/>
                <a:cs typeface="Amiri" pitchFamily="2" charset="-78"/>
              </a:rPr>
              <a:t>ka-bīr</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كَبِيرَةٌ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كَبِيرٌ</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صَغِيرٌ</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small / younger</a:t>
            </a:r>
            <a:endParaRPr lang="en-US" sz="1350" dirty="0"/>
          </a:p>
          <a:p>
            <a:pPr indent="0" marL="0">
              <a:buNone/>
            </a:pPr>
            <a:r>
              <a:rPr lang="en-US" sz="1100" i="1" dirty="0">
                <a:solidFill>
                  <a:srgbClr val="5A6472"/>
                </a:solidFill>
                <a:latin typeface="Calibri" pitchFamily="34" charset="0"/>
                <a:cs typeface="Amiri" pitchFamily="2" charset="-78"/>
              </a:rPr>
              <a:t>ṣa-ghīr</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صَغِيرَةٌ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صَغِيرٌ</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hair = m.</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شَعْرُهُ / شَعْرُهَا</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hair / her hair</a:t>
            </a:r>
            <a:endParaRPr lang="en-US" sz="1350" dirty="0"/>
          </a:p>
          <a:p>
            <a:pPr indent="0" marL="0">
              <a:buNone/>
            </a:pPr>
            <a:r>
              <a:rPr lang="en-US" sz="1100" i="1" dirty="0">
                <a:solidFill>
                  <a:srgbClr val="5A6472"/>
                </a:solidFill>
                <a:latin typeface="Calibri" pitchFamily="34" charset="0"/>
                <a:cs typeface="Amiri" pitchFamily="2" charset="-78"/>
              </a:rPr>
              <a:t>sha‘-ru-hu / sha‘-ru-hā</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short hair</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شَعْرٌ قَصِيرٌ</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long hair</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شَعْرٌ طَوِيلٌ</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PERSONALITY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Kind, funny, generous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صِفَاتُ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لَطِيفٌ</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kind / pleasant</a:t>
            </a:r>
            <a:endParaRPr lang="en-US" sz="1350" dirty="0"/>
          </a:p>
          <a:p>
            <a:pPr indent="0" marL="0">
              <a:buNone/>
            </a:pPr>
            <a:r>
              <a:rPr lang="en-US" sz="1100" i="1" dirty="0">
                <a:solidFill>
                  <a:srgbClr val="5A6472"/>
                </a:solidFill>
                <a:latin typeface="Calibri" pitchFamily="34" charset="0"/>
                <a:cs typeface="Amiri" pitchFamily="2" charset="-78"/>
              </a:rPr>
              <a:t>la-ṭīf</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لَطِيفَةٌ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لَطِيفٌ</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مُضْحِكٌ</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funny</a:t>
            </a:r>
            <a:endParaRPr lang="en-US" sz="1350" dirty="0"/>
          </a:p>
          <a:p>
            <a:pPr indent="0" marL="0">
              <a:buNone/>
            </a:pPr>
            <a:r>
              <a:rPr lang="en-US" sz="1100" i="1" dirty="0">
                <a:solidFill>
                  <a:srgbClr val="5A6472"/>
                </a:solidFill>
                <a:latin typeface="Calibri" pitchFamily="34" charset="0"/>
                <a:cs typeface="Amiri" pitchFamily="2" charset="-78"/>
              </a:rPr>
              <a:t>muḍ-ḥik</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مُضْحِكَةٌ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مُضْحِكٌ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quiet / calm</a:t>
            </a:r>
            <a:endParaRPr lang="en-US" sz="1350" dirty="0"/>
          </a:p>
          <a:p>
            <a:pPr indent="0" marL="0">
              <a:buNone/>
            </a:pPr>
            <a:r>
              <a:rPr lang="en-US" sz="1100" i="1" dirty="0">
                <a:solidFill>
                  <a:srgbClr val="5A6472"/>
                </a:solidFill>
                <a:latin typeface="Calibri" pitchFamily="34" charset="0"/>
                <a:cs typeface="Amiri" pitchFamily="2" charset="-78"/>
              </a:rPr>
              <a:t>hā-di’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كَرِيمٌ</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generous</a:t>
            </a:r>
            <a:endParaRPr lang="en-US" sz="1350" dirty="0"/>
          </a:p>
          <a:p>
            <a:pPr indent="0" marL="0">
              <a:buNone/>
            </a:pPr>
            <a:r>
              <a:rPr lang="en-US" sz="1100" i="1" dirty="0">
                <a:solidFill>
                  <a:srgbClr val="5A6472"/>
                </a:solidFill>
                <a:latin typeface="Calibri" pitchFamily="34" charset="0"/>
                <a:cs typeface="Amiri" pitchFamily="2" charset="-78"/>
              </a:rPr>
              <a:t>ka-rīm</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ذَكِيٌّ</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intelligent</a:t>
            </a:r>
            <a:endParaRPr lang="en-US" sz="1350" dirty="0"/>
          </a:p>
          <a:p>
            <a:pPr indent="0" marL="0">
              <a:buNone/>
            </a:pPr>
            <a:r>
              <a:rPr lang="en-US" sz="1100" i="1" dirty="0">
                <a:solidFill>
                  <a:srgbClr val="5A6472"/>
                </a:solidFill>
                <a:latin typeface="Calibri" pitchFamily="34" charset="0"/>
                <a:cs typeface="Amiri" pitchFamily="2" charset="-78"/>
              </a:rPr>
              <a:t>dha-kiyy</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ذَكِيَّةٌ</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ذَكِيٌّ</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HAIR AND EYE COLOURS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Hair is masculine, eyes are feminine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أَلْوَانُ الشَّعْرِ وَالعُيُونِ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Colour</a:t>
            </a:r>
            <a:endParaRPr lang="en-US" sz="1100" dirty="0"/>
          </a:p>
        </p:txBody>
      </p:sp>
      <p:sp>
        <p:nvSpPr>
          <p:cNvPr id="17" name="Text 14"/>
          <p:cNvSpPr txBox="1"/>
          <p:nvPr/>
        </p:nvSpPr>
        <p:spPr>
          <a:xfrm>
            <a:off x="650138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Hair (m.)</a:t>
            </a:r>
            <a:endParaRPr lang="en-US" sz="1100" dirty="0"/>
          </a:p>
        </p:txBody>
      </p:sp>
      <p:sp>
        <p:nvSpPr>
          <p:cNvPr id="18" name="Text 15"/>
          <p:cNvSpPr txBox="1"/>
          <p:nvPr/>
        </p:nvSpPr>
        <p:spPr>
          <a:xfrm>
            <a:off x="339242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Eyes (f.)</a:t>
            </a:r>
            <a:endParaRPr lang="en-US" sz="1100" dirty="0"/>
          </a:p>
        </p:txBody>
      </p:sp>
      <p:sp>
        <p:nvSpPr>
          <p:cNvPr id="19" name="Text 16"/>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445752" y="2267712"/>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أَسْوَدُ / سَوْدَاءُ</a:t>
            </a:r>
            <a:endParaRPr lang="ar-SA" sz="2200" dirty="0"/>
          </a:p>
        </p:txBody>
      </p:sp>
      <p:sp>
        <p:nvSpPr>
          <p:cNvPr id="22" name="Text 19"/>
          <p:cNvSpPr txBox="1"/>
          <p:nvPr/>
        </p:nvSpPr>
        <p:spPr>
          <a:xfrm>
            <a:off x="6519672" y="2267712"/>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شَعْرٌ </a:t>
            </a:r>
            <a:pPr rtl="1" algn="ctr" indent="0" marL="0">
              <a:buNone/>
            </a:pPr>
            <a:r>
              <a:rPr lang="ar-SA" altLang="en-US" sz="2400" b="1" dirty="0">
                <a:solidFill>
                  <a:srgbClr val="1D5FBF"/>
                </a:solidFill>
                <a:latin typeface="Amiri" pitchFamily="2" charset="-78"/>
                <a:ea typeface="Amiri" pitchFamily="2" charset="-78"/>
                <a:cs typeface="Amiri" pitchFamily="2" charset="-78"/>
              </a:rPr>
              <a:t>أَسْوَدُ</a:t>
            </a:r>
            <a:endParaRPr lang="ar-SA" sz="2400" dirty="0"/>
          </a:p>
        </p:txBody>
      </p:sp>
      <p:sp>
        <p:nvSpPr>
          <p:cNvPr id="23" name="Text 20"/>
          <p:cNvSpPr txBox="1"/>
          <p:nvPr/>
        </p:nvSpPr>
        <p:spPr>
          <a:xfrm>
            <a:off x="3410712" y="2267712"/>
            <a:ext cx="2926080" cy="682142"/>
          </a:xfrm>
          <a:prstGeom prst="rect">
            <a:avLst/>
          </a:prstGeom>
          <a:noFill/>
          <a:ln/>
        </p:spPr>
        <p:txBody>
          <a:bodyPr wrap="square" lIns="0" tIns="0" rIns="0" bIns="0" rtlCol="0" anchor="ctr"/>
          <a:lstStyle/>
          <a:p>
            <a:pPr algn="ctr" indent="0" marL="0">
              <a:buNone/>
            </a:pPr>
            <a:r>
              <a:rPr lang="en-US" sz="2400" b="1" dirty="0">
                <a:solidFill>
                  <a:srgbClr val="1B3B6F"/>
                </a:solidFill>
                <a:latin typeface="Calibri" pitchFamily="34" charset="0"/>
                <a:cs typeface="Amiri" pitchFamily="2" charset="-78"/>
              </a:rPr>
              <a:t>—</a:t>
            </a:r>
            <a:endParaRPr lang="en-US" sz="2400" dirty="0"/>
          </a:p>
        </p:txBody>
      </p:sp>
      <p:sp>
        <p:nvSpPr>
          <p:cNvPr id="24" name="Text 21"/>
          <p:cNvSpPr txBox="1"/>
          <p:nvPr/>
        </p:nvSpPr>
        <p:spPr>
          <a:xfrm>
            <a:off x="566928" y="2267712"/>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black hair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445752" y="300471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بُنِّيٌّ / بُنِّيَّةٌ</a:t>
            </a:r>
            <a:endParaRPr lang="ar-SA" sz="2200" dirty="0"/>
          </a:p>
        </p:txBody>
      </p:sp>
      <p:sp>
        <p:nvSpPr>
          <p:cNvPr id="29" name="Text 26"/>
          <p:cNvSpPr txBox="1"/>
          <p:nvPr/>
        </p:nvSpPr>
        <p:spPr>
          <a:xfrm>
            <a:off x="6519672" y="300471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شَعْرٌ </a:t>
            </a:r>
            <a:pPr rtl="1" algn="ctr" indent="0" marL="0">
              <a:buNone/>
            </a:pPr>
            <a:r>
              <a:rPr lang="ar-SA" altLang="en-US" sz="2400" b="1" dirty="0">
                <a:solidFill>
                  <a:srgbClr val="1D5FBF"/>
                </a:solidFill>
                <a:latin typeface="Amiri" pitchFamily="2" charset="-78"/>
                <a:ea typeface="Amiri" pitchFamily="2" charset="-78"/>
                <a:cs typeface="Amiri" pitchFamily="2" charset="-78"/>
              </a:rPr>
              <a:t>بُنِّيٌّ</a:t>
            </a:r>
            <a:endParaRPr lang="ar-SA" sz="2400" dirty="0"/>
          </a:p>
        </p:txBody>
      </p:sp>
      <p:sp>
        <p:nvSpPr>
          <p:cNvPr id="30" name="Text 27"/>
          <p:cNvSpPr txBox="1"/>
          <p:nvPr/>
        </p:nvSpPr>
        <p:spPr>
          <a:xfrm>
            <a:off x="3410712"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عُيُونٌ </a:t>
            </a:r>
            <a:pPr rtl="1" algn="ctr" indent="0" marL="0">
              <a:buNone/>
            </a:pPr>
            <a:r>
              <a:rPr lang="ar-SA" altLang="en-US" sz="2400" b="1" dirty="0">
                <a:solidFill>
                  <a:srgbClr val="D6336C"/>
                </a:solidFill>
                <a:latin typeface="Amiri" pitchFamily="2" charset="-78"/>
                <a:ea typeface="Amiri" pitchFamily="2" charset="-78"/>
                <a:cs typeface="Amiri" pitchFamily="2" charset="-78"/>
              </a:rPr>
              <a:t>بُنِّيَّةٌ</a:t>
            </a:r>
            <a:endParaRPr lang="ar-SA" sz="2400" dirty="0"/>
          </a:p>
        </p:txBody>
      </p:sp>
      <p:sp>
        <p:nvSpPr>
          <p:cNvPr id="31" name="Text 28"/>
          <p:cNvSpPr txBox="1"/>
          <p:nvPr/>
        </p:nvSpPr>
        <p:spPr>
          <a:xfrm>
            <a:off x="566928" y="300471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brown hair · brown eyes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445752" y="3741725"/>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أَخْضَرُ / خَضْرَاءُ</a:t>
            </a:r>
            <a:endParaRPr lang="ar-SA" sz="2200" dirty="0"/>
          </a:p>
        </p:txBody>
      </p:sp>
      <p:sp>
        <p:nvSpPr>
          <p:cNvPr id="36" name="Text 33"/>
          <p:cNvSpPr txBox="1"/>
          <p:nvPr/>
        </p:nvSpPr>
        <p:spPr>
          <a:xfrm>
            <a:off x="6519672" y="3741725"/>
            <a:ext cx="2743200" cy="682142"/>
          </a:xfrm>
          <a:prstGeom prst="rect">
            <a:avLst/>
          </a:prstGeom>
          <a:noFill/>
          <a:ln/>
        </p:spPr>
        <p:txBody>
          <a:bodyPr wrap="square" lIns="0" tIns="0" rIns="0" bIns="0" rtlCol="0" anchor="ctr"/>
          <a:lstStyle/>
          <a:p>
            <a:pPr algn="ctr" indent="0" marL="0">
              <a:buNone/>
            </a:pPr>
            <a:r>
              <a:rPr lang="en-US" sz="2400" b="1" dirty="0">
                <a:solidFill>
                  <a:srgbClr val="1B3B6F"/>
                </a:solidFill>
                <a:latin typeface="Calibri" pitchFamily="34" charset="0"/>
                <a:cs typeface="Amiri" pitchFamily="2" charset="-78"/>
              </a:rPr>
              <a:t>—</a:t>
            </a:r>
            <a:endParaRPr lang="en-US" sz="2400" dirty="0"/>
          </a:p>
        </p:txBody>
      </p:sp>
      <p:sp>
        <p:nvSpPr>
          <p:cNvPr id="37" name="Text 34"/>
          <p:cNvSpPr txBox="1"/>
          <p:nvPr/>
        </p:nvSpPr>
        <p:spPr>
          <a:xfrm>
            <a:off x="3410712"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عُيُونٌ </a:t>
            </a:r>
            <a:pPr rtl="1" algn="ctr" indent="0" marL="0">
              <a:buNone/>
            </a:pPr>
            <a:r>
              <a:rPr lang="ar-SA" altLang="en-US" sz="2400" b="1" dirty="0">
                <a:solidFill>
                  <a:srgbClr val="D6336C"/>
                </a:solidFill>
                <a:latin typeface="Amiri" pitchFamily="2" charset="-78"/>
                <a:ea typeface="Amiri" pitchFamily="2" charset="-78"/>
                <a:cs typeface="Amiri" pitchFamily="2" charset="-78"/>
              </a:rPr>
              <a:t>خَضْرَاءُ</a:t>
            </a:r>
            <a:endParaRPr lang="ar-SA" sz="2400" dirty="0"/>
          </a:p>
        </p:txBody>
      </p:sp>
      <p:sp>
        <p:nvSpPr>
          <p:cNvPr id="38" name="Text 35"/>
          <p:cNvSpPr txBox="1"/>
          <p:nvPr/>
        </p:nvSpPr>
        <p:spPr>
          <a:xfrm>
            <a:off x="566928" y="3741725"/>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green eyes</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445752" y="4478731"/>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أَزْرَقُ / زَرْقَاءُ</a:t>
            </a:r>
            <a:endParaRPr lang="ar-SA" sz="2200" dirty="0"/>
          </a:p>
        </p:txBody>
      </p:sp>
      <p:sp>
        <p:nvSpPr>
          <p:cNvPr id="43" name="Text 40"/>
          <p:cNvSpPr txBox="1"/>
          <p:nvPr/>
        </p:nvSpPr>
        <p:spPr>
          <a:xfrm>
            <a:off x="6519672" y="4478731"/>
            <a:ext cx="2743200" cy="682142"/>
          </a:xfrm>
          <a:prstGeom prst="rect">
            <a:avLst/>
          </a:prstGeom>
          <a:noFill/>
          <a:ln/>
        </p:spPr>
        <p:txBody>
          <a:bodyPr wrap="square" lIns="0" tIns="0" rIns="0" bIns="0" rtlCol="0" anchor="ctr"/>
          <a:lstStyle/>
          <a:p>
            <a:pPr algn="ctr" indent="0" marL="0">
              <a:buNone/>
            </a:pPr>
            <a:r>
              <a:rPr lang="en-US" sz="2400" b="1" dirty="0">
                <a:solidFill>
                  <a:srgbClr val="1B3B6F"/>
                </a:solidFill>
                <a:latin typeface="Calibri" pitchFamily="34" charset="0"/>
                <a:cs typeface="Amiri" pitchFamily="2" charset="-78"/>
              </a:rPr>
              <a:t>—</a:t>
            </a:r>
            <a:endParaRPr lang="en-US" sz="2400" dirty="0"/>
          </a:p>
        </p:txBody>
      </p:sp>
      <p:sp>
        <p:nvSpPr>
          <p:cNvPr id="44" name="Text 41"/>
          <p:cNvSpPr txBox="1"/>
          <p:nvPr/>
        </p:nvSpPr>
        <p:spPr>
          <a:xfrm>
            <a:off x="3410712"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عُيُونٌ </a:t>
            </a:r>
            <a:pPr rtl="1" algn="ctr" indent="0" marL="0">
              <a:buNone/>
            </a:pPr>
            <a:r>
              <a:rPr lang="ar-SA" altLang="en-US" sz="2400" b="1" dirty="0">
                <a:solidFill>
                  <a:srgbClr val="D6336C"/>
                </a:solidFill>
                <a:latin typeface="Amiri" pitchFamily="2" charset="-78"/>
                <a:ea typeface="Amiri" pitchFamily="2" charset="-78"/>
                <a:cs typeface="Amiri" pitchFamily="2" charset="-78"/>
              </a:rPr>
              <a:t>زَرْقَاءُ</a:t>
            </a:r>
            <a:endParaRPr lang="ar-SA" sz="2400" dirty="0"/>
          </a:p>
        </p:txBody>
      </p:sp>
      <p:sp>
        <p:nvSpPr>
          <p:cNvPr id="45" name="Text 42"/>
          <p:cNvSpPr txBox="1"/>
          <p:nvPr/>
        </p:nvSpPr>
        <p:spPr>
          <a:xfrm>
            <a:off x="566928" y="4478731"/>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blue eyes</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445752" y="521573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أَشْقَرُ / شَقْرَاءُ</a:t>
            </a:r>
            <a:endParaRPr lang="ar-SA" sz="2200" dirty="0"/>
          </a:p>
        </p:txBody>
      </p:sp>
      <p:sp>
        <p:nvSpPr>
          <p:cNvPr id="48" name="Text 45"/>
          <p:cNvSpPr txBox="1"/>
          <p:nvPr/>
        </p:nvSpPr>
        <p:spPr>
          <a:xfrm>
            <a:off x="6519672" y="521573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شَعْرٌ </a:t>
            </a:r>
            <a:pPr rtl="1" algn="ctr" indent="0" marL="0">
              <a:buNone/>
            </a:pPr>
            <a:r>
              <a:rPr lang="ar-SA" altLang="en-US" sz="2400" b="1" dirty="0">
                <a:solidFill>
                  <a:srgbClr val="1D5FBF"/>
                </a:solidFill>
                <a:latin typeface="Amiri" pitchFamily="2" charset="-78"/>
                <a:ea typeface="Amiri" pitchFamily="2" charset="-78"/>
                <a:cs typeface="Amiri" pitchFamily="2" charset="-78"/>
              </a:rPr>
              <a:t>أَشْقَرُ</a:t>
            </a:r>
            <a:endParaRPr lang="ar-SA" sz="2400" dirty="0"/>
          </a:p>
        </p:txBody>
      </p:sp>
      <p:sp>
        <p:nvSpPr>
          <p:cNvPr id="49" name="Text 46"/>
          <p:cNvSpPr txBox="1"/>
          <p:nvPr/>
        </p:nvSpPr>
        <p:spPr>
          <a:xfrm>
            <a:off x="3410712" y="5215738"/>
            <a:ext cx="2926080" cy="682142"/>
          </a:xfrm>
          <a:prstGeom prst="rect">
            <a:avLst/>
          </a:prstGeom>
          <a:noFill/>
          <a:ln/>
        </p:spPr>
        <p:txBody>
          <a:bodyPr wrap="square" lIns="0" tIns="0" rIns="0" bIns="0" rtlCol="0" anchor="ctr"/>
          <a:lstStyle/>
          <a:p>
            <a:pPr algn="ctr" indent="0" marL="0">
              <a:buNone/>
            </a:pPr>
            <a:r>
              <a:rPr lang="en-US" sz="2400" b="1" dirty="0">
                <a:solidFill>
                  <a:srgbClr val="1B3B6F"/>
                </a:solidFill>
                <a:latin typeface="Calibri" pitchFamily="34" charset="0"/>
                <a:cs typeface="Amiri" pitchFamily="2" charset="-78"/>
              </a:rPr>
              <a:t>—</a:t>
            </a:r>
            <a:endParaRPr lang="en-US" sz="2400" dirty="0"/>
          </a:p>
        </p:txBody>
      </p:sp>
      <p:sp>
        <p:nvSpPr>
          <p:cNvPr id="50" name="Text 47"/>
          <p:cNvSpPr txBox="1"/>
          <p:nvPr/>
        </p:nvSpPr>
        <p:spPr>
          <a:xfrm>
            <a:off x="566928" y="521573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blond hair</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Her hair is black = sha‘ruhā aswad (hair stays masculine). His eyes are brown = ‘uyūnuhu bunniyya.</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THE DESCRIPTION ORDER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Who → name and age → looks → character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تَرْتِيبُ الوَصْفِ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IDENTITY</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هَذَا / هَذِهِ</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هَذَا أَخِي. اِسْمُهُ يُوسُفُ.</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This is my brother. His name is Yusuf.</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Name + age: ‘umruhu …</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APPEARANCE</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هُوَ … شَعْرُهُ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هُوَ طَوِيلٌ. شَعْرُهُ أَسْوَدُ وَعُيُونُهُ بُنِّيَّةٌ.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is tall. His hair is black and his eyes are brown.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Height, hair, eyes.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B83280"/>
          </a:solidFill>
          <a:ln w="12700">
            <a:solidFill>
              <a:srgbClr val="B83280"/>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PERSONALITY</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هِيَ … وَ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هِيَ لَطِيفَةٌ وَمُجْتَهِدَةٌ.</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is kind and hard-working.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adjectives — both agree.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agreement laboratory: both adjectives must match the mother.</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أُمِّي هَادِئَةٌ وَكَرِيمَةٌ.</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B83227"/>
                </a:solidFill>
                <a:latin typeface="Amiri" pitchFamily="2" charset="-78"/>
                <a:ea typeface="Amiri" pitchFamily="2" charset="-78"/>
                <a:cs typeface="Amiri" pitchFamily="2" charset="-78"/>
              </a:rPr>
              <a:t>أُمِّي هَادِئٌ وَكَرِيمٌ.</a:t>
            </a:r>
            <a:endParaRPr lang="ar-SA" sz="21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طَوِيلَةٌ وَنَحِيفَةٌ.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طَوِيلٌ وَنَحِيفٌ.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طَوِيلٌ وَنَحِيفٌ.</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هَذِهِ أُخْتِي. ___ ذَكِيَّةٌ.</a:t>
            </a:r>
            <a:endParaRPr lang="ar-SA" sz="22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hair is black”.</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شَعْرُهَا سَوْدَاءُ.</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شَعْرُهَا أَسْوَدُ.</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 أَسْوَدُ.</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أُمِّي هَادِئٌ وَكَرِيمٌ.</a:t>
            </a:r>
            <a:endParaRPr lang="ar-SA" sz="22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هَادِئَةٌ وَكَرِيمَةٌ.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هَادِئٌ وَكَرِيمَةٌ.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 هَادِئَةٌ وَكَرِيمَةٌ.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طَوِيلَةٌ وَنَحِيفَةٌ.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طَوِيلٌ وَنَحِيفٌ.</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طَوِيلٌ وَنَحِيفٌ.</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masculine subject takes masculine adjectives.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هَذِهِ أُخْتِي. ___ ذَكِيَّةٌ.</a:t>
            </a:r>
            <a:endParaRPr lang="ar-SA" sz="22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for one female.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hair is black”.</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شَعْرُهَا سَوْدَاءُ.</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شَعْرُهَا أَسْوَدُ.</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 أَسْوَدُ.</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is masculine even when it belongs to a female, so use </a:t>
            </a:r>
            <a:pPr algn="l" indent="0" marL="0">
              <a:buNone/>
            </a:pPr>
            <a:r>
              <a:rPr lang="ar-SA" altLang="en-US" sz="1350" dirty="0">
                <a:solidFill>
                  <a:srgbClr val="8A6D1E"/>
                </a:solidFill>
                <a:latin typeface="Amiri" pitchFamily="2" charset="-78"/>
                <a:ea typeface="Amiri" pitchFamily="2" charset="-78"/>
                <a:cs typeface="Amiri" pitchFamily="2" charset="-78"/>
              </a:rPr>
              <a:t>أَسْوَدُ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أُمِّي هَادِئٌ وَكَرِيمٌ.</a:t>
            </a:r>
            <a:endParaRPr lang="ar-SA" sz="22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أُمِّي هَادِئَةٌ وَكَرِيمَةٌ.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أُمِّي هَادِئٌ وَكَرِيمَةٌ.</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 هَادِئَةٌ وَكَرِيمَةٌ.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adjectives must match the feminine noun </a:t>
            </a:r>
            <a:pPr algn="l" indent="0" marL="0">
              <a:buNone/>
            </a:pPr>
            <a:r>
              <a:rPr lang="ar-SA" altLang="en-US" sz="1350" dirty="0">
                <a:solidFill>
                  <a:srgbClr val="8A6D1E"/>
                </a:solidFill>
                <a:latin typeface="Amiri" pitchFamily="2" charset="-78"/>
                <a:ea typeface="Amiri" pitchFamily="2" charset="-78"/>
                <a:cs typeface="Amiri" pitchFamily="2" charset="-78"/>
              </a:rPr>
              <a:t>أُمِّي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two relatives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Him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هَذَا أَخِي الأَكْبَرُ. عُمْرُهُ سَبْعَ عَشْرَةَ سَنَةً.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Identity + age.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His looks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هُوَ طَوِيلٌ. شَعْرُهُ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أَسْوَدُ</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وَعُيُونُهُ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بُنِّيَّةٌ</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Hair m. · eyes f.</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هَذِهِ جَدَّتِي. هِيَ قَصِيرَ</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وَشَعْرُهَا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أَبْيَضُ</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HER hair is still masculine.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Character + 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هِيَ هَادِئَ</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وَمُحِبَّ</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وَأُحِبُّهَا لِأَنَّهَا لَطِيفَ</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Every adjective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 (HAIR)</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هَذَا أَخِي الأَكْبَرُ. عُمْرُهُ سَبْعَ عَشْرَةَ سَنَةً. هُوَ طَوِيلٌ، شَعْرُهُ </a:t>
            </a:r>
            <a:pPr rtl="1" algn="r" indent="0" marL="0">
              <a:lnSpc>
                <a:spcPct val="120000"/>
              </a:lnSpc>
              <a:buNone/>
            </a:pPr>
            <a:r>
              <a:rPr lang="ar-SA" altLang="en-US" sz="1450" b="1" dirty="0">
                <a:solidFill>
                  <a:srgbClr val="1D5FBF"/>
                </a:solidFill>
                <a:latin typeface="Amiri" pitchFamily="2" charset="-78"/>
                <a:ea typeface="Amiri" pitchFamily="2" charset="-78"/>
                <a:cs typeface="Amiri" pitchFamily="2" charset="-78"/>
              </a:rPr>
              <a:t>أَسْوَدُ</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وَعُيُونُهُ </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بُنِّيَّةٌ</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هُوَ مُضْحِكٌ وَكَرِيمٌ. وَهَذِهِ جَدَّتِي. هِيَ قَصِيرَ</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وَشَعْرُهَا </a:t>
            </a:r>
            <a:pPr rtl="1" algn="r" indent="0" marL="0">
              <a:lnSpc>
                <a:spcPct val="120000"/>
              </a:lnSpc>
              <a:buNone/>
            </a:pPr>
            <a:r>
              <a:rPr lang="ar-SA" altLang="en-US" sz="1450" b="1" dirty="0">
                <a:solidFill>
                  <a:srgbClr val="1D5FBF"/>
                </a:solidFill>
                <a:latin typeface="Amiri" pitchFamily="2" charset="-78"/>
                <a:ea typeface="Amiri" pitchFamily="2" charset="-78"/>
                <a:cs typeface="Amiri" pitchFamily="2" charset="-78"/>
              </a:rPr>
              <a:t>أَبْيَضُ</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وَعُيُونُهَا </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خَضْرَاءُ</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هِيَ هَادِئَ</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وَمُحِبَّ</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50" b="1" dirty="0">
                <a:solidFill>
                  <a:srgbClr val="1B3B6F"/>
                </a:solidFill>
                <a:latin typeface="Amiri" pitchFamily="2" charset="-78"/>
                <a:cs typeface="Amiri" pitchFamily="2" charset="-78"/>
              </a:rPr>
              <a:t>.</a:t>
            </a:r>
            <a:endParaRPr lang="ar-SA" sz="14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This is my older brother. He is seventeen. He is tall, his hair is black and his eyes are brown. He is funny and generous. And this is my grandmother. She is short, her hair is white and her eyes are green. She is calm and loving.</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2F6FB0"/>
                </a:solidFill>
                <a:latin typeface="Calibri" pitchFamily="34" charset="0"/>
                <a:cs typeface="Amiri" pitchFamily="2" charset="-78"/>
              </a:rPr>
              <a:t>WE DO · PICTURE MATCH · WEBSITE GAME “VISUAL GAME — DESCRIBING FAMILY MEMBERS”</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father and son</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girls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grandmother and girl</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جَدَّتِي.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أَبِي.</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أُخْتِي.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father and son</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أَبِي.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father.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girls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أُخْتِي.</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sister.</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grandmother and girl</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جَدَّتِي.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grandmother.</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“GUESS WHO? DESCRIPTION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Guess who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هُوَ؟ مَنْ 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Female agreement: Choose “She is short.”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قَصِيرٌ.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قَصِيرَةٌ.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قَصِيرٌ.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Eye colour: Choose the accurate phrase.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عُيُونٌ خَضْرَاءُ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عُيُونٌ أَخْضَرُ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 خَضْرَاءُ</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Hair colour: Choose the accurate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 سَوْدَاءُ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عُيُونٌ أَسْوَدُ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 أَسْوَدُ</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Grandmother clue: 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هَادِئٌ وَمُحِبٌّ.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هَادِئٌ وَمُحِبٌّ.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هَادِئَةٌ وَمُحِبَّةٌ.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Brown eyes: Choose “Her eyes are brown.”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عُيُونُهَا بُنِّيَّةٌ.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عُيُونُهُ بُنِّيَّةٌ.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عُيُونُهَا بُنِّيٌّ.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She → every adjective -a</a:t>
            </a:r>
            <a:endParaRPr lang="en-US" sz="1250" dirty="0"/>
          </a:p>
          <a:p>
            <a:pPr algn="l" indent="0" marL="0">
              <a:buNone/>
            </a:pPr>
            <a:r>
              <a:rPr lang="en-US" sz="1250" dirty="0">
                <a:solidFill>
                  <a:srgbClr val="1E6B52"/>
                </a:solidFill>
                <a:latin typeface="Calibri" pitchFamily="34" charset="0"/>
                <a:cs typeface="Amiri" pitchFamily="2" charset="-78"/>
              </a:rPr>
              <a:t>Hair = masculine colour</a:t>
            </a:r>
            <a:endParaRPr lang="en-US" sz="1250" dirty="0"/>
          </a:p>
          <a:p>
            <a:pPr algn="l" indent="0" marL="0">
              <a:buNone/>
            </a:pPr>
            <a:r>
              <a:rPr lang="en-US" sz="1250" dirty="0">
                <a:solidFill>
                  <a:srgbClr val="1E6B52"/>
                </a:solidFill>
                <a:latin typeface="Calibri" pitchFamily="34" charset="0"/>
                <a:cs typeface="Amiri" pitchFamily="2" charset="-78"/>
              </a:rPr>
              <a:t>Eyes = feminine colour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Female agreement: Choose “She is short.”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قَصِيرٌ.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قَصِيرَةٌ.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قَصِيرٌ.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قَصِيرَةٌ</a:t>
            </a:r>
            <a:pPr algn="l" indent="0" marL="0">
              <a:buNone/>
            </a:pPr>
            <a:r>
              <a:rPr lang="en-US" sz="1050" i="1" dirty="0">
                <a:solidFill>
                  <a:srgbClr val="8A6D1E"/>
                </a:solidFill>
                <a:latin typeface="Calibri" pitchFamily="34" charset="0"/>
                <a:cs typeface="Amiri" pitchFamily="2" charset="-78"/>
              </a:rPr>
              <a:t> are feminine.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Eye colour: Choose the accurate phrase.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عُيُونٌ خَضْرَاءُ</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عُيُونٌ أَخْضَرُ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 خَضْرَاءُ</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Eyes take the feminine colour form.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Hair colour: Choose the accurate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 سَوْدَاءُ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عُيُونٌ أَسْوَدُ</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شَعْرٌ أَسْوَدُ</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Hair is masculine.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Grandmother clue: 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هَادِئٌ وَمُحِبٌّ.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هَادِئٌ وَمُحِبٌّ.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هَادِئَةٌ وَمُحِبَّةٌ.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person and both adjectives are feminine.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Brown eyes: Choose “Her eyes are brown.”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عُيُونُهَا بُنِّيَّةٌ.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عُيُونُهُ بُنِّيَّةٌ.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عُيُونُهَا بُنِّيٌّ.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means her and the adjective agrees with eyes.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She → every adjective -a</a:t>
            </a:r>
            <a:endParaRPr lang="en-US" sz="1250" dirty="0"/>
          </a:p>
          <a:p>
            <a:pPr algn="l" indent="0" marL="0">
              <a:buNone/>
            </a:pPr>
            <a:r>
              <a:rPr lang="en-US" sz="1250" dirty="0">
                <a:solidFill>
                  <a:srgbClr val="1E6B52"/>
                </a:solidFill>
                <a:latin typeface="Calibri" pitchFamily="34" charset="0"/>
                <a:cs typeface="Amiri" pitchFamily="2" charset="-78"/>
              </a:rPr>
              <a:t>Hair = masculine colour</a:t>
            </a:r>
            <a:endParaRPr lang="en-US" sz="1250" dirty="0"/>
          </a:p>
          <a:p>
            <a:pPr algn="l" indent="0" marL="0">
              <a:buNone/>
            </a:pPr>
            <a:r>
              <a:rPr lang="en-US" sz="1250" dirty="0">
                <a:solidFill>
                  <a:srgbClr val="1E6B52"/>
                </a:solidFill>
                <a:latin typeface="Calibri" pitchFamily="34" charset="0"/>
                <a:cs typeface="Amiri" pitchFamily="2" charset="-78"/>
              </a:rPr>
              <a:t>Eyes = feminine colour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هَادِئٌ وَكَرِيمٌ.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 which ending on both adjectives?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شَعْرُهَا سَوْدَاءُ.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Hair: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عُيُونُهُ أَزْرَقُ.</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Eyes: which colour form?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هَادِئٌ وَكَرِيمٌ.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هَادِئَةٌ وَكَرِيمَةٌ.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Mother is feminine: EVERY adjective takes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شَعْرُهَا سَوْدَاءُ.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شَعْرُهَا أَسْوَدُ.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Hair is masculine — even when it is HER hair.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عُيُونُهُ أَزْرَقُ.</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عُيُونُهُ زَرْقَاءُ.</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Eyes (plural of things) take the feminine colour.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Huda describes two relatives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Samir?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17</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Samir built?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and slim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 and big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 and slim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personality pair describes Samir?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 and loving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hardworking and quiet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funny and generous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Salma’s hair?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Salma’s eyes?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Two boxes: person 1 · person 2 (who, age, hair, eyes, character).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هُدَى. سَأَصِفُ شَخْصَيْنِ مِنْ عَائِلَتِي.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Huda. I will describe two people from my family.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أَوَّلًا، هَذَا أَخِي الأَكْبَرُ وَاسْمُهُ سَامِرٌ. عُمْرُهُ سَبْعَ عَشْرَةَ سَنَةً. هُوَ طَوِيلٌ وَنَحِيفٌ.</a:t>
            </a:r>
            <a:endParaRPr lang="ar-SA" sz="19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this is my older brother, Samir. He is seventeen. He is tall and slim.</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شَعْرُهُ أَسْوَدُ وَعُيُونُهُ بُنِّيَّةٌ. هُوَ مُضْحِكٌ وَكَرِيمٌ، وَلَكِنَّهُ صَاخِبٌ أَحْيَانًا.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hair is black and his eyes are brown. He is funny and generous, but sometimes loud.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ثَانِيًا، هَذِهِ جَدَّتِي وَاسْمُهَا سَلْمَى. هِيَ قَصِيرَةٌ وَشَعْرُهَا أَبْيَضُ وَعُيُونُهَا خَضْرَاءُ.</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Second, this is my grandmother, Salma. She is short, her hair is white and her eyes are green.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هَادِئَةٌ وَلَطِيفَةٌ وَمُحِبَّةٌ. أُحِبُّهُمَا لِأَنَّهُمَا يُسَاعِدَانِنِي دَائِمًا.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calm, kind and loving. I love them both because they always help me.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Samir?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17</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14</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35</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عُمْرُهُ سَبْعَ عَشْرَةَ سَنَةً.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Samir built?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and slim</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tall and big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tall and slim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هُوَ طَوِيلٌ وَنَحِيفٌ.</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personality pair describes Samir?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quiet and loving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hardworking and quiet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funny and generous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هُوَ مُضْحِكٌ وَكَرِيمٌ.</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Salma’s hair?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white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black</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شَعْرُهَا أَبْيَضُ.</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Salma’s eyes?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green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عُيُونُهَا خَضْرَاءُ.</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Two boxes: person 1 · person 2 (who, age, hair, eyes, character).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FAMILY PORTRAITS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Uncle Maher and aunt Noor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أَوْصَافُ 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خَالِي مَاهِرٌ. عُمْرُهُ خَمْسٌ وَثَلَاثُونَ سَنَةً. هُوَ طَوِيلٌ وَنَحِيفٌ،</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Maher: maternal uncle · 35 · tall and slim</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وَشَعْرُهُ بُنِّيٌّ وَقَصِيرٌ. عُيُونُهُ زَرْقَاءُ. مَاهِرٌ هَادِئٌ وَمُجْتَهِدٌ، وَهُوَ كَرِيمٌ مَعَ أُسْرَتِهِ.</a:t>
            </a:r>
            <a:endParaRPr lang="ar-SA" sz="19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Hair: brown, short · eyes: blue · calm, hard-working, generous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وَهَذِهِ عَمَّتِي نُورٌ. عُمْرُهَا ثَلَاثُونَ سَنَةً. هِيَ قَصِيرَةٌ،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Noor: paternal aunt · 30 · short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وَشَعْرُهَا أَسْوَدُ وَطَوِيلٌ، وَعُيُونُهَا بُنِّيَّةٌ. نُورٌ مُضْحِكَةٌ وَلَطِيفَةٌ وَمُتَعَاوِنَةٌ.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Hair: black, long · eyes: brown · funny, kind, helpful</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يَخْتَلِفُ مَاهِرٌ وَنُورٌ فِي المَظْهَرِ، وَلَكِنَّهُمَا مُحِبَّانِ وَكَرِيمَانِ.</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Different looks — but both loving and generous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Maher or Noor?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Maher?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paternal uncle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maternal uncle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grandfather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Maher’s hair like?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 and long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blond and short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 and short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Maher’s eyes?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Noor’s hair like?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 and short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 and long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 and long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 adjectives describe Noor?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funny, kind and cooperative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 hardworking and generous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loud, happy and intelligent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person’s name,</a:t>
            </a:r>
            <a:endParaRPr lang="en-US" sz="1250" dirty="0"/>
          </a:p>
          <a:p>
            <a:pPr algn="l" indent="0" marL="0">
              <a:buNone/>
            </a:pPr>
            <a:r>
              <a:rPr lang="en-US" sz="1250" dirty="0">
                <a:solidFill>
                  <a:srgbClr val="1F2A37"/>
                </a:solidFill>
                <a:latin typeface="Calibri" pitchFamily="34" charset="0"/>
                <a:cs typeface="Amiri" pitchFamily="2" charset="-78"/>
              </a:rPr>
              <a:t>then the adjectives after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Maher?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paternal uncle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speaker’s maternal uncle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grandfather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begins </a:t>
            </a:r>
            <a:pPr algn="l" indent="0" marL="0">
              <a:buNone/>
            </a:pPr>
            <a:r>
              <a:rPr lang="ar-SA" altLang="en-US" sz="1350" dirty="0">
                <a:solidFill>
                  <a:srgbClr val="8A6D1E"/>
                </a:solidFill>
                <a:latin typeface="Amiri" pitchFamily="2" charset="-78"/>
                <a:ea typeface="Amiri" pitchFamily="2" charset="-78"/>
                <a:cs typeface="Amiri" pitchFamily="2" charset="-78"/>
              </a:rPr>
              <a:t>هَذَا خَالِي مَاهِرٌ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Maher’s hair like?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black and long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blond and short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brown and short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شَعْرُهُ بُنِّيٌّ وَقَصِيرٌ.</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Maher’s eyes?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blue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green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عُيُونُهُ زَرْقَاءُ.</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Noor’s hair like?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 and short</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black and long</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 and long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شَعْرُهَا أَسْوَدُ وَطَوِيلٌ.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 adjectives describe Noor?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funny, kind and cooperative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quiet, hardworking and generous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loud, happy and intelligent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نُورٌ مُضْحِكَةٌ وَلَطِيفَةٌ وَمُتَعَاوِنَةٌ.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person’s name,</a:t>
            </a:r>
            <a:endParaRPr lang="en-US" sz="1250" dirty="0"/>
          </a:p>
          <a:p>
            <a:pPr algn="l" indent="0" marL="0">
              <a:buNone/>
            </a:pPr>
            <a:r>
              <a:rPr lang="en-US" sz="1250" dirty="0">
                <a:solidFill>
                  <a:srgbClr val="1F2A37"/>
                </a:solidFill>
                <a:latin typeface="Calibri" pitchFamily="34" charset="0"/>
                <a:cs typeface="Amiri" pitchFamily="2" charset="-78"/>
              </a:rPr>
              <a:t>then the adjectives after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Guess Who? Describe a person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هُوَ؟ / كَيْفَ هِيَ؟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شَعْرَهُ وَعُيُونَهُ. / صِفْ شَعْرَهَا وَعُيُونَهَا.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صِفَاتُ شَخْصِيَّتِهِ؟ / شَخْصِيَّتِهَا؟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شَخْصًا بِدُونِ أَنْ تَقُولَ مَنْ هُوَ: مَنْ هُوَ؟ مَنْ هِيَ؟</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D5FBF"/>
                </a:solidFill>
                <a:latin typeface="Amiri" pitchFamily="2" charset="-78"/>
                <a:ea typeface="Amiri" pitchFamily="2" charset="-78"/>
                <a:cs typeface="Amiri" pitchFamily="2" charset="-78"/>
              </a:rPr>
              <a:t>هُوَ ___ وَ ___ . / هِيَ ___ ـةٌ وَ ___ ـةٌ.</a:t>
            </a:r>
            <a:endParaRPr lang="ar-SA" sz="15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شَعْرُهُ / شَعْرُهَا ___ ، وَعُيُونُهُ / عُيُونُهَا ___ .</a:t>
            </a:r>
            <a:endParaRPr lang="ar-SA" sz="13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هُوَ مُضْحِكٌ وَ ___ ، وَلَكِنَّهُ ___ أَحْيَانًا.</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عُمْرُهُ … هُوَ … شَعْرُهُ … مَنْ هُوَ؟</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هُوَ أَخِي الأَكْبَرُ. عُمْرُهُ سَبْعَ عَشْرَةَ سَنَةً.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 is my older brother. He is seventeen.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هُوَ طَوِيلٌ وَنَحِيفٌ. شَعْرُهُ أَسْوَدُ وَعُيُونُهُ بُنِّيَّةٌ. مَنْ هُوَ؟</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 is tall and slim. His hair is black and his eyes are brown. Who is he?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Five or six accurate sentences about two people using the model.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people with the model: he is … / she is … + hair or eyes.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70–90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70–90 words with age, appearance, personality and three connectors.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Age, appearance, personality for both, and three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the two people and give a reason with wa-lākin, ammā … fa- and li’anna.</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the two: wa-lākin, ammā … fa-, and a reason (li’anna).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شَعْرُهَا طَوِيلٌ وَأَسْوَدُ.</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hair is long and black.</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عُيُونُهُ زَرْقَاءُ.</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eyes are blue.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مُضْحِكٌ، وَلَكِنَّهُ صَاخِبٌ أَحْيَانًا.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funny, but sometimes loud.</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عَمَّتِي فَهِيَ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my aunt, she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أُحِبُّهَا لِأَنَّهَا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her because she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طَوِيلٌ وَلَطِيفٌ.</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tall and kind.</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قَصِيرَةٌ وَمُضْحِكَةٌ.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short and funny.</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 أَسْوَدُ.</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hair is black.</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عُيُونُهَا بُنِّيَّةٌ.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eyes are brown.</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عُمْرُهُ / عُمْرُهَا ______ سَنَةً.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years old.</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طَوِيلٌ  ·  قَصِيرٌ  ·  نَحِيفٌ  ·  لَطِيفٌ  ·  مُضْحِكٌ  ·  هَادِئٌ  ·  كَرِيمٌ  ·  ذَكِيٌّ  ·  مُجْتَهِدٌ  ·  شَعْرُهُ / شَعْرُهَا  ·  عُيُونُهُ / عُيُونُهَا  ·  ـةٌ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هَذَا أَخِي. اِسْمُهُ يُوسُفُ. عُمْرُهُ سِتَّ عَشْرَةَ سَنَةً. هُوَ طَوِيلٌ وَنَحِيفٌ. شَعْرُهُ أَسْوَدُ وَعُيُونُهُ بُنِّيَّةٌ. هُوَ مُضْحِكٌ وَكَرِيمٌ. هَذِهِ أُخْتِي. اِسْمُهَا زَيْنَبُ. عُمْرُهَا أَرْبَعَ عَشْرَةَ سَنَةً. هِيَ قَصِيرَةٌ وَجَمِيلَةٌ. شَعْرُهَا بُنِّيٌّ وَعُيُونُهَا خَضْرَاءُ. هِيَ لَطِيفَةٌ وَمُجْتَهِدَةٌ.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my brother. His name is Yusuf. He is sixteen. He is tall and slim. His hair is black and his eyes are brown. He is funny and generous. This is my sister. Her name is Zaynab. She is fourteen. She is short and pretty. Her hair is brown and her eyes are green. She is kind and hard-working.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masculine adjectives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adjectives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hair + masculine colour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eyes + feminine colour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 → no -a; she → -a on every adjective.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looks AND character.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Hair takes a masculine colour.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Eyes take a feminine colour.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two people with a contrast and a reason.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“tall” for a female.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قَصِيرَةٌ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“blue eyes”.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عُيُونٌ أَزْرَقُ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عُيُونٌ زَرْقَاءُ</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 زَرْقَاءُ</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“black hair”.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 أَسْوَدُ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 سَوْدَاءُ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عُيُونٌ أَسْوَدُ</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“tall” for a female.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طَوِيلَةٌ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طَوِيلٌ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قَصِيرَةٌ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طَوِيلَةٌ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“blue eyes”.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عُيُونٌ أَزْرَقُ</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عُيُونٌ زَرْقَاءُ</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شَعْرٌ زَرْقَاءُ</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Eyes take the feminine colour form.</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“black hair”.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شَعْرٌ أَسْوَدُ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شَعْرٌ سَوْدَاءُ</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عُيُونٌ أَسْوَدُ</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Hair is masculine, so use </a:t>
            </a:r>
            <a:pPr algn="l" indent="0" marL="0">
              <a:buNone/>
            </a:pPr>
            <a:r>
              <a:rPr lang="ar-SA" altLang="en-US" sz="1350" dirty="0">
                <a:solidFill>
                  <a:srgbClr val="8A6D1E"/>
                </a:solidFill>
                <a:latin typeface="Amiri" pitchFamily="2" charset="-78"/>
                <a:ea typeface="Amiri" pitchFamily="2" charset="-78"/>
                <a:cs typeface="Amiri" pitchFamily="2" charset="-78"/>
              </a:rPr>
              <a:t>أَسْوَدُ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Describing Family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F3-L03 · My Home — Rooms and Parts of the House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بَيْتٌ</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house, a home</a:t>
            </a:r>
            <a:pPr indent="0" marL="0">
              <a:buNone/>
            </a:pPr>
            <a:r>
              <a:rPr lang="ar-SA" sz="1000" i="1" dirty="0">
                <a:solidFill>
                  <a:srgbClr val="5A6472"/>
                </a:solidFill>
                <a:latin typeface="Calibri" pitchFamily="34" charset="0"/>
                <a:ea typeface="Amiri" pitchFamily="2" charset="-78"/>
                <a:cs typeface="Amiri" pitchFamily="2" charset="-78"/>
              </a:rPr>
              <a:t>  pl. بُيُوتٌ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شَقَّةٌ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flat</a:t>
            </a:r>
            <a:pPr indent="0" marL="0">
              <a:buNone/>
            </a:pPr>
            <a:r>
              <a:rPr lang="ar-SA" sz="1000" i="1" dirty="0">
                <a:solidFill>
                  <a:srgbClr val="5A6472"/>
                </a:solidFill>
                <a:latin typeface="Calibri" pitchFamily="34" charset="0"/>
                <a:ea typeface="Amiri" pitchFamily="2" charset="-78"/>
                <a:cs typeface="Amiri" pitchFamily="2" charset="-78"/>
              </a:rPr>
              <a:t>  pl. شُقَقٌ</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room</a:t>
            </a:r>
            <a:pPr indent="0" marL="0">
              <a:buNone/>
            </a:pPr>
            <a:r>
              <a:rPr lang="ar-SA" sz="1000" i="1" dirty="0">
                <a:solidFill>
                  <a:srgbClr val="5A6472"/>
                </a:solidFill>
                <a:latin typeface="Calibri" pitchFamily="34" charset="0"/>
                <a:ea typeface="Amiri" pitchFamily="2" charset="-78"/>
                <a:cs typeface="Amiri" pitchFamily="2" charset="-78"/>
              </a:rPr>
              <a:t>  pl. غُرَفٌ</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مَطْبَخٌ</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kitchen</a:t>
            </a:r>
            <a:pPr indent="0" marL="0">
              <a:buNone/>
            </a:pPr>
            <a:r>
              <a:rPr lang="ar-SA" sz="1000" i="1" dirty="0">
                <a:solidFill>
                  <a:srgbClr val="5A6472"/>
                </a:solidFill>
                <a:latin typeface="Calibri" pitchFamily="34" charset="0"/>
                <a:ea typeface="Amiri" pitchFamily="2" charset="-78"/>
                <a:cs typeface="Amiri" pitchFamily="2" charset="-78"/>
              </a:rPr>
              <a:t>  pl. مَطَابِخُ</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حَدِيقَةٌ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garden</a:t>
            </a:r>
            <a:pPr indent="0" marL="0">
              <a:buNone/>
            </a:pPr>
            <a:r>
              <a:rPr lang="ar-SA" sz="1000" i="1" dirty="0">
                <a:solidFill>
                  <a:srgbClr val="5A6472"/>
                </a:solidFill>
                <a:latin typeface="Calibri" pitchFamily="34" charset="0"/>
                <a:ea typeface="Amiri" pitchFamily="2" charset="-78"/>
                <a:cs typeface="Amiri" pitchFamily="2" charset="-78"/>
              </a:rPr>
              <a:t>  pl. حَدَائِقُ</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Do you live in a house or a flat? (A real or an invented home is fine.)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أَيْنَ تَسْكُنُ؟</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F3-L02: the Guess Who?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describe two family members (real or fictional) in 70–90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Describe and compare two relatives with a contrast and a reason; check every adjective.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F3-L03 · My Home — Rooms and Parts of the House</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بَيْتِي — الغُرَفُ وَأَجْزَاءُ المَنْزِلِ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she → -a · hair (m.) · eyes (f.).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F3-L02 · Describing Family Members</dc:title>
  <dc:subject>PptxGenJS Presentation</dc:subject>
  <dc:creator>Al Madina Online School · Arabic Department</dc:creator>
  <cp:lastModifiedBy>Al Madina Online School · Arabic Department</cp:lastModifiedBy>
  <cp:revision>1</cp:revision>
  <dcterms:created xsi:type="dcterms:W3CDTF">2026-10-11T06:41:29Z</dcterms:created>
  <dcterms:modified xsi:type="dcterms:W3CDTF">2026-10-11T06:41:29Z</dcterms:modified>
</cp:coreProperties>
</file>