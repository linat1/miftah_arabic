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5 (F3-L05). Website sections used: the eight-question agreement bridge, the colour vault (11 core colours + 7 extension words) and its 12-question check, the two colour patterns and the 12-question pattern laboratory, “make colour agree” (masculine, feminine, definite, non-human plural) and the 14-question agreement check, light / dark / colourful / striped and the 10-question shade check, the Palette Studio, the Colour Code Mission (14), Layla’s colourful home (listening, 10), Yusuf’s study and Maha’s objects (reading, 12), the colour-scheme studio (4 prompts), the colour-rich writing task and the 16-question checkpoint. Picture match: website visual game “Colours — Full System and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website’s one big warning: do NOT add ة automatically. Six colours change completely (أَحْمَرُ ← حَمْرَاءُ); the rest just add ة (بُنِّيٌّ ← بُنِّيَّةٌ).
• Core: 8 colours in both forms + noun first, colour second. Develop: both patterns + one shade word (فَاتِحٌ / غَامِقٌ). Stretch: definite phrases (البَابُ الأَحْمَرُ) and non-human plurals (السَّتَائِرُ زَرْقَاءُ).
• Links: F3-L04 furniture genders do all the work today (خِزَانَةٌ f., مَكْتَبٌ m.).
• Urdu bridge: سبز / أَخْضَرُ (not cognate), لال / أَحْمَرُ (not cognate) — but بنفشی ← بَنَفْسَجِيٌّ، گلابی / وَرْدِيٌّ (both from “rose”), رنگ / لَوْنٌ, سنہری / ذَهَبِيٌّ (both “golden”).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colours prepared at home at the end of F3-L04. Questions 3–5 are the website “agreement bridge” (noun gender, word order, masculine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first, colour second — and the colour matches the noun. Six colours change completely for feminine; the rest add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most colour words are NOT shared, so give memory hooks: الحَجَرُ الأَسْوَدُ (the Black Stone) → أَسْوَدُ; وَرْدَةٌ (a rose) → وَرْدِيٌّ; ذَهَبٌ (gold) → ذَهَبِيٌّ; فِضَّةٌ (silver) → فِضِّيٌّ; بُرْتُقَالٌ (an orange, F5) → بُرْتُقَالِيٌّ; بُنٌّ (coffee beans) → بُنِّيٌّ.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PATTERN 1 (website “changes completely”: أَفْعَلُ ← فَعْلَاءُ). Chant each pair: aḥmar – ḥamrā’. The “things pl.” box: plurals of things take the feminine singular colour (السَّتَائِرُ زَرْقَاءُ — website).
Website common mistake: حَمْرَاءُ ✓ — «أَحْمَرَةٌ»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PATTERN 2 (website “add ة”: ـِيٌّ ← ـِيَّةٌ) — the same nisba pattern as nationalities in F2-L04 (مِصْرِيٌّ / مِصْرِيَّةٌ). Card 12: لَوْنٌ / أَلْوَانٌ — مَا لَوْنُكَ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EXTENSION (website “official extension bank”). A second adjective comes after the colour and also agrees: بَابٌ أَزْرَقُ فَاتِحٌ (a light-blue door) · نَافِذَةٌ زَرْقَاءُ غَامِقَةٌ (a dark-blue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“Make colour agree”: the colour follows the noun and matches its gender; the noun decides the form. Row 4 = website “Definite phrase” (البَابُ الأَحْمَرُ — both take الـ) and “Non-human plural reminder” (السَّتَائِرُ زَرْقَاءُ وَمُخَطَّطَةٌ).
Quick-fire with F3-L04 furniture: say a noun + English colour; students say the phrase (خِزَانَةٌ + white → خِزَانَةٌ بَيْضَاءُ).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3 “Two colour patterns”: “Do not add ة automatically. First identify which pattern the colour follows.”
Pattern 1 (broken, six high-frequency colours): أَحْمَرُ/حَمْرَاءُ · أَزْرَقُ/زَرْقَاءُ · أَخْضَرُ/خَضْرَاءُ · أَصْفَرُ/صَفْرَاءُ · أَبْيَضُ/بَيْضَاءُ · أَسْوَدُ/سَوْدَاءُ.
Pattern 2 (regular nisba): بُرْتُقَالِيٌّ، بَنَفْسَجِيٌّ، بُنِّيٌّ، رَمَادِيٌّ، وَرْدِيٌّ، ذَهَبِيٌّ، فِضِّيٌّ + ة.
Website section 5: add a second adjective (فَاتِحٌ، غَامِقٌ، مُلَوَّنٌ، مُخَطَّطٌ) — both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colour-agreement check” questions 3,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prompt “Living room” with a think-aloud before every colour: “noun masculine or feminine? which pattern?” Then change الأَرِيكَةُ to الكُرْسِيُّ — what changes? (بَنَفْسَجِيٌّ غَامِقٌ).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Colour Code rounds (broken pair, regular pattern, feminine agreement, shade, plural things).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pattern — changes completely, or adds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بَيْتِ لَيْلَى غُرَفٌ مُلَوَّنَةٌ. بَابُ المَدْخَلِ أَزْرَقُ غَامِقٌ، وَالحَائِطُ أَبْيَضُ. فِي غُرْفَةِ الجُلُوسِ أَرِيكَةٌ بَنَفْسَجِيَّةٌ وَسَجَّادَةٌ رَمَادِيَّةٌ. السَّتَائِرُ زَرْقَاءُ فَاتِحَةٌ وَمُخَطَّطَةٌ. فِي المَطْبَخِ ثَلَّاجَةٌ فِضِّيَّةٌ وَطَاوِلَةٌ بَيْضَاءُ، وَالكَرَاسِي بُرْتُقَالِيَّةٌ. غُرْفَةُ لَيْلَى وَرْدِيَّةٌ، وَلَكِنَّ مَكْتَبَهَا بُنِّيٌّ. غُرْفَةُ أَخِيهَا خَضْرَاءُ، وَسَرِيرُهُ أَسْوَدُ. تُحِبُّ لَيْلَى غُرْفَةَ الجُلُوسِ لِأَنَّ أَلْوَانَهَا هَادِئَةٌ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Website strategy: “Locate each noun first, then identify the agreeing colour and any extra shade or pattern word.” Every noun here is masculine except the curtains (plural of things → feminine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reduced vowels — Stretch). Find the dual: وِسَادَتَانِ بُرْتُقَالِيَّتَانِ (two orange cushions — the colour is dual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7 (Yusuf) and 9, 11 (Maha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noun + colour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COLOUR-SCHEME STUDIO: describe a room, a person or an object set with accurate agreement and one reason. Prompt cards (website):
• Living room: sofa · rug · curtains · lamp · wall
• Bedroom: bed · wardrobe · desk · cushions · curtains
• Family portrait: clothes · hair · eyes · background · frame
• Personal items: bag · phone · notebook · pen · bottle
Website checklist (listener ticks 1–6): five colour words · a broken and a regular colour · every colour agrees · light / dark / striped · a reason · clear delivery.
Sensitivity: for the family-portrait prompt, describe clothes and objects — not skin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noun + colour phrases with the colour bank (masculine and feminine). · Develop — Six to eight sentences using both colour patterns and one shade word. · Stretch — Definite phrases (al-bābu l-aḥmaru), non-human plurals (satā’ir zarqā’) and a reason.
Website writing task (Stretch): Website writing task: 6–8 connected sentences about a room, a family portrait or a personal-item collection — six colour words, both colour patterns, one shade or pattern word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(speaking prompt “Living room”, as extracted). Stretch: rewrite it about a bedroom with a masculine noun first (السَّرِيرُ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(F3-L06 · Household Appliances and Daily Routines) will spend class time USING this language, so students prepare it tonight — short, simple, easy to access (school guidance: “Simple, Short, Interesting, Relevant, Easy to access”). The five words come from the website F3-L04 recognition bank — the appliances of F3-L06.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Colours — Full System and Agreement</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الأَلْوَانُ — النِّظَامُ الكَامِلُ وَالمُطَابَقَةُ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Learn the complete colour system, tell apart the two feminine patterns (</a:t>
            </a:r>
            <a:pPr algn="l" indent="0" marL="0">
              <a:buNone/>
            </a:pPr>
            <a:r>
              <a:rPr lang="ar-SA" altLang="en-US" sz="1800" dirty="0">
                <a:solidFill>
                  <a:srgbClr val="C6D2E6"/>
                </a:solidFill>
                <a:latin typeface="Amiri" pitchFamily="2" charset="-78"/>
                <a:ea typeface="Amiri" pitchFamily="2" charset="-78"/>
                <a:cs typeface="Amiri" pitchFamily="2" charset="-78"/>
              </a:rPr>
              <a:t>حَمْرَاءُ</a:t>
            </a:r>
            <a:pPr algn="l" indent="0" marL="0">
              <a:buNone/>
            </a:pPr>
            <a:r>
              <a:rPr lang="en-US" sz="1400" dirty="0">
                <a:solidFill>
                  <a:srgbClr val="C6D2E6"/>
                </a:solidFill>
                <a:latin typeface="Calibri" pitchFamily="34" charset="0"/>
                <a:cs typeface="Amiri" pitchFamily="2" charset="-78"/>
              </a:rPr>
              <a:t> vs </a:t>
            </a:r>
            <a:pPr algn="l" indent="0" marL="0">
              <a:buNone/>
            </a:pPr>
            <a:r>
              <a:rPr lang="ar-SA" altLang="en-US" sz="1800" dirty="0">
                <a:solidFill>
                  <a:srgbClr val="C6D2E6"/>
                </a:solidFill>
                <a:latin typeface="Amiri" pitchFamily="2" charset="-78"/>
                <a:ea typeface="Amiri" pitchFamily="2" charset="-78"/>
                <a:cs typeface="Amiri" pitchFamily="2" charset="-78"/>
              </a:rPr>
              <a:t>بُنِّيَّةٌ</a:t>
            </a:r>
            <a:pPr algn="l" indent="0" marL="0">
              <a:buNone/>
            </a:pPr>
            <a:r>
              <a:rPr lang="en-US" sz="1400" dirty="0">
                <a:solidFill>
                  <a:srgbClr val="C6D2E6"/>
                </a:solidFill>
                <a:latin typeface="Calibri" pitchFamily="34" charset="0"/>
                <a:cs typeface="Amiri" pitchFamily="2" charset="-78"/>
              </a:rPr>
              <a:t>), add light, dark and patterned detail, and make every colour agree with its noun.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F3-L05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colour vault, then two feminine patterns and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Colour Code Mission, listen to Layla, read two descriptions.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نَافِذَةٌ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 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حَمْرَاءُ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أَحْمَرُ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بَيْضَاءُ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نَافِذَةٌ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 and normally takes a feminine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 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حَمْرَاءُ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أَحْمَرُ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comes first and the masculine colour follows.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Noun first, colour second — and the colour matches the noun. Six colours change completely for feminine; the rest add -a.</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بَابٌ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أَحْمَرُ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نَافِذَةٌ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حَمْرَاءُ</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طَاوِلَةٌ بُنِّيَّ</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all core colours and the extension words.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masculine and feminine colours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light, dark, colourful and striped descriptions.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colour-rich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colours.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put the colour after the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both feminine patterns.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light or dark.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definite phrases and plural things.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colour-rich description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The website colour vault: 11 core colours and 7 extension words, each in masculine and feminine. Core: the six “change completely” colours + brown and pink.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Six colours that change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Colours that add -a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Shade, finish, pattern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لَوْنٌ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‎رنگ‎ </a:t>
            </a:r>
            <a:pPr indent="0" marL="0">
              <a:buNone/>
            </a:pPr>
            <a:r>
              <a:rPr lang="en-US" sz="950" b="1" dirty="0">
                <a:solidFill>
                  <a:srgbClr val="2E8B57"/>
                </a:solidFill>
                <a:latin typeface="Calibri" pitchFamily="34" charset="0"/>
                <a:cs typeface="Amiri" pitchFamily="2" charset="-78"/>
              </a:rPr>
              <a:t> lawn · colour (not cognate)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بَنَفْسَجِيٌّ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‎بنفشی‎ </a:t>
            </a:r>
            <a:pPr indent="0" marL="0">
              <a:buNone/>
            </a:pPr>
            <a:r>
              <a:rPr lang="en-US" sz="950" b="1" dirty="0">
                <a:solidFill>
                  <a:srgbClr val="2E8B57"/>
                </a:solidFill>
                <a:latin typeface="Calibri" pitchFamily="34" charset="0"/>
                <a:cs typeface="Amiri" pitchFamily="2" charset="-78"/>
              </a:rPr>
              <a:t> banafsajī · purple (from “violet”)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وَرْدِيٌّ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‎گلابی‎ </a:t>
            </a:r>
            <a:pPr indent="0" marL="0">
              <a:buNone/>
            </a:pPr>
            <a:r>
              <a:rPr lang="en-US" sz="950" b="1" dirty="0">
                <a:solidFill>
                  <a:srgbClr val="2E8B57"/>
                </a:solidFill>
                <a:latin typeface="Calibri" pitchFamily="34" charset="0"/>
                <a:cs typeface="Amiri" pitchFamily="2" charset="-78"/>
              </a:rPr>
              <a:t> wardī · pink (both from “rose”)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ذَهَبِيٌّ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‎سنہری‎ </a:t>
            </a:r>
            <a:pPr indent="0" marL="0">
              <a:buNone/>
            </a:pPr>
            <a:r>
              <a:rPr lang="ar-SA" sz="950" b="1" dirty="0">
                <a:solidFill>
                  <a:srgbClr val="2E8B57"/>
                </a:solidFill>
                <a:latin typeface="Calibri" pitchFamily="34" charset="0"/>
                <a:ea typeface="Amiri" pitchFamily="2" charset="-78"/>
                <a:cs typeface="Amiri" pitchFamily="2" charset="-78"/>
              </a:rPr>
              <a:t> dhahabī · golden (ذَهَبٌ = gold)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أَسْوَدُ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‎سیاہ‎ </a:t>
            </a:r>
            <a:pPr indent="0" marL="0">
              <a:buNone/>
            </a:pPr>
            <a:r>
              <a:rPr lang="en-US" sz="950" b="1" dirty="0">
                <a:solidFill>
                  <a:srgbClr val="2E8B57"/>
                </a:solidFill>
                <a:latin typeface="Calibri" pitchFamily="34" charset="0"/>
                <a:cs typeface="Amiri" pitchFamily="2" charset="-78"/>
              </a:rPr>
              <a:t> aswad · black (al-Ḥajar al-Aswad)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SIX COLOURS THAT CHANGE COMPLETELY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Red, blue, green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الأَلْوَانُ الأَسَاسِيَّةُ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a:t>
            </a:r>
            <a:endParaRPr lang="en-US" sz="1350" dirty="0"/>
          </a:p>
          <a:p>
            <a:pPr indent="0" marL="0">
              <a:buNone/>
            </a:pPr>
            <a:r>
              <a:rPr lang="en-US" sz="1100" i="1" dirty="0">
                <a:solidFill>
                  <a:srgbClr val="5A6472"/>
                </a:solidFill>
                <a:latin typeface="Calibri" pitchFamily="34" charset="0"/>
                <a:cs typeface="Amiri" pitchFamily="2" charset="-78"/>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أَزْرَقُ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blue</a:t>
            </a:r>
            <a:endParaRPr lang="en-US" sz="1350" dirty="0"/>
          </a:p>
          <a:p>
            <a:pPr indent="0" marL="0">
              <a:buNone/>
            </a:pPr>
            <a:r>
              <a:rPr lang="en-US" sz="1100" i="1" dirty="0">
                <a:solidFill>
                  <a:srgbClr val="5A6472"/>
                </a:solidFill>
                <a:latin typeface="Calibri" pitchFamily="34" charset="0"/>
                <a:cs typeface="Amiri" pitchFamily="2" charset="-78"/>
              </a:rPr>
              <a:t>az-raq · zar-qā’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زَرْقَاءُ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زَرْقَاءُ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أَزْرَقُ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أَخْضَرُ</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a:t>
            </a:r>
            <a:endParaRPr lang="en-US" sz="1350" dirty="0"/>
          </a:p>
          <a:p>
            <a:pPr indent="0" marL="0">
              <a:buNone/>
            </a:pPr>
            <a:r>
              <a:rPr lang="en-US" sz="1100" i="1" dirty="0">
                <a:solidFill>
                  <a:srgbClr val="5A6472"/>
                </a:solidFill>
                <a:latin typeface="Calibri" pitchFamily="34" charset="0"/>
                <a:cs typeface="Amiri" pitchFamily="2" charset="-78"/>
              </a:rPr>
              <a:t>akh-ḍar · khaḍ-rā’</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خَضْرَاءُ</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خَضْرَاءُ</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أَخْضَرُ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أَصْفَرُ</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yellow</a:t>
            </a:r>
            <a:endParaRPr lang="en-US" sz="1350" dirty="0"/>
          </a:p>
          <a:p>
            <a:pPr indent="0" marL="0">
              <a:buNone/>
            </a:pPr>
            <a:r>
              <a:rPr lang="en-US" sz="1100" i="1" dirty="0">
                <a:solidFill>
                  <a:srgbClr val="5A6472"/>
                </a:solidFill>
                <a:latin typeface="Calibri" pitchFamily="34" charset="0"/>
                <a:cs typeface="Amiri" pitchFamily="2" charset="-78"/>
              </a:rPr>
              <a:t>aṣ-far · ṣaf-rā’</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صَفْرَاءُ</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صَفْرَاءُ</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أَصْفَرُ</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أَبْيَضُ</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white</a:t>
            </a:r>
            <a:endParaRPr lang="en-US" sz="1350" dirty="0"/>
          </a:p>
          <a:p>
            <a:pPr indent="0" marL="0">
              <a:buNone/>
            </a:pPr>
            <a:r>
              <a:rPr lang="en-US" sz="1100" i="1" dirty="0">
                <a:solidFill>
                  <a:srgbClr val="5A6472"/>
                </a:solidFill>
                <a:latin typeface="Calibri" pitchFamily="34" charset="0"/>
                <a:cs typeface="Amiri" pitchFamily="2" charset="-78"/>
              </a:rPr>
              <a:t>ab-yaḍ · bay-ḍā’</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8" name="Text 95"/>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بَيْضَاءُ</a:t>
            </a:r>
            <a:endParaRPr lang="ar-SA" sz="135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بَيْضَاءُ</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أَبْيَضُ</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أَسْوَدُ</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black</a:t>
            </a:r>
            <a:endParaRPr lang="en-US" sz="1350" dirty="0"/>
          </a:p>
          <a:p>
            <a:pPr indent="0" marL="0">
              <a:buNone/>
            </a:pPr>
            <a:r>
              <a:rPr lang="en-US" sz="1100" i="1" dirty="0">
                <a:solidFill>
                  <a:srgbClr val="5A6472"/>
                </a:solidFill>
                <a:latin typeface="Calibri" pitchFamily="34" charset="0"/>
                <a:cs typeface="Amiri" pitchFamily="2" charset="-78"/>
              </a:rPr>
              <a:t>as-wad · saw-dā’</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16" name="Text 11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سَوْدَاءُ</a:t>
            </a:r>
            <a:endParaRPr lang="ar-SA" sz="135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سَوْدَاءُ</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أَسْوَدُ</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COLOURS THAT ADD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Orange, purple, brown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الأَلْوَانُ المُنْتَهِيَةُ بِـ ـِيٌّ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a:t>
            </a:r>
            <a:endParaRPr lang="en-US" sz="1350" dirty="0"/>
          </a:p>
          <a:p>
            <a:pPr indent="0" marL="0">
              <a:buNone/>
            </a:pPr>
            <a:r>
              <a:rPr lang="en-US" sz="1100" i="1" dirty="0">
                <a:solidFill>
                  <a:srgbClr val="5A6472"/>
                </a:solidFill>
                <a:latin typeface="Calibri" pitchFamily="34" charset="0"/>
                <a:cs typeface="Amiri" pitchFamily="2" charset="-78"/>
              </a:rPr>
              <a:t>bur-tu-qā-lī</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بَنَفْسَجِيٌّ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purple</a:t>
            </a:r>
            <a:endParaRPr lang="en-US" sz="1350" dirty="0"/>
          </a:p>
          <a:p>
            <a:pPr indent="0" marL="0">
              <a:buNone/>
            </a:pPr>
            <a:r>
              <a:rPr lang="en-US" sz="1100" i="1" dirty="0">
                <a:solidFill>
                  <a:srgbClr val="5A6472"/>
                </a:solidFill>
                <a:latin typeface="Calibri" pitchFamily="34" charset="0"/>
                <a:cs typeface="Amiri" pitchFamily="2" charset="-78"/>
              </a:rPr>
              <a:t>ba-naf-sa-jī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بَنَفْسَجِيَّةٌ</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بَنَفْسَجِيَّةٌ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بَنَفْسَجِيٌّ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a:t>
            </a:r>
            <a:endParaRPr lang="en-US" sz="1350" dirty="0"/>
          </a:p>
          <a:p>
            <a:pPr indent="0" marL="0">
              <a:buNone/>
            </a:pPr>
            <a:r>
              <a:rPr lang="en-US" sz="1100" i="1" dirty="0">
                <a:solidFill>
                  <a:srgbClr val="5A6472"/>
                </a:solidFill>
                <a:latin typeface="Calibri" pitchFamily="34" charset="0"/>
                <a:cs typeface="Amiri" pitchFamily="2" charset="-78"/>
              </a:rPr>
              <a:t>bun-nī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بُنِّيَّةٌ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رَمَادِيٌّ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grey</a:t>
            </a:r>
            <a:endParaRPr lang="en-US" sz="1350" dirty="0"/>
          </a:p>
          <a:p>
            <a:pPr indent="0" marL="0">
              <a:buNone/>
            </a:pPr>
            <a:r>
              <a:rPr lang="en-US" sz="1100" i="1" dirty="0">
                <a:solidFill>
                  <a:srgbClr val="5A6472"/>
                </a:solidFill>
                <a:latin typeface="Calibri" pitchFamily="34" charset="0"/>
                <a:cs typeface="Amiri" pitchFamily="2" charset="-78"/>
              </a:rPr>
              <a:t>ra-mā-dī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رَمَادِيَّةٌ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وَرْدِيٌّ</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pink</a:t>
            </a:r>
            <a:endParaRPr lang="en-US" sz="1350" dirty="0"/>
          </a:p>
          <a:p>
            <a:pPr indent="0" marL="0">
              <a:buNone/>
            </a:pPr>
            <a:r>
              <a:rPr lang="en-US" sz="1100" i="1" dirty="0">
                <a:solidFill>
                  <a:srgbClr val="5A6472"/>
                </a:solidFill>
                <a:latin typeface="Calibri" pitchFamily="34" charset="0"/>
                <a:cs typeface="Amiri" pitchFamily="2" charset="-78"/>
              </a:rPr>
              <a:t>war-dī</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وَرْدِيَّةٌ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وَرْدِيَّةٌ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وَرْدِيٌّ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لَوْنٌ</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a:t>
            </a:r>
            <a:endParaRPr lang="en-US" sz="1350" dirty="0"/>
          </a:p>
          <a:p>
            <a:pPr indent="0" marL="0">
              <a:buNone/>
            </a:pPr>
            <a:r>
              <a:rPr lang="en-US" sz="1100" i="1" dirty="0">
                <a:solidFill>
                  <a:srgbClr val="5A6472"/>
                </a:solidFill>
                <a:latin typeface="Calibri" pitchFamily="34" charset="0"/>
                <a:cs typeface="Amiri" pitchFamily="2" charset="-78"/>
              </a:rPr>
              <a:t>lawn · al-wān</a:t>
            </a:r>
            <a:endParaRPr lang="en-US" sz="1350" dirty="0"/>
          </a:p>
        </p:txBody>
      </p:sp>
      <p:sp>
        <p:nvSpPr>
          <p:cNvPr id="106" name="Shape 103"/>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أَلْوَانٌ</a:t>
            </a:r>
            <a:endParaRPr lang="ar-SA" sz="150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KEY WORDS · GROUP 3 · SHADE, FINISH AND PATTERN (WEBSITE EXTENSION) · FLEX</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Light, dark, gold, striped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فَاتِحٌ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 (shade)</a:t>
            </a:r>
            <a:endParaRPr lang="en-US" sz="1350" dirty="0"/>
          </a:p>
          <a:p>
            <a:pPr indent="0" marL="0">
              <a:buNone/>
            </a:pPr>
            <a:r>
              <a:rPr lang="en-US" sz="1100" i="1" dirty="0">
                <a:solidFill>
                  <a:srgbClr val="5A6472"/>
                </a:solidFill>
                <a:latin typeface="Calibri" pitchFamily="34" charset="0"/>
                <a:cs typeface="Amiri" pitchFamily="2" charset="-78"/>
              </a:rPr>
              <a:t>fā-tiḥ</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فَاتِحَةٌ</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غَامِقٌ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dark (shade)</a:t>
            </a:r>
            <a:endParaRPr lang="en-US" sz="1350" dirty="0"/>
          </a:p>
          <a:p>
            <a:pPr indent="0" marL="0">
              <a:buNone/>
            </a:pPr>
            <a:r>
              <a:rPr lang="en-US" sz="1100" i="1" dirty="0">
                <a:solidFill>
                  <a:srgbClr val="5A6472"/>
                </a:solidFill>
                <a:latin typeface="Calibri" pitchFamily="34" charset="0"/>
                <a:cs typeface="Amiri" pitchFamily="2" charset="-78"/>
              </a:rPr>
              <a:t>ghā-miq</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غَامِقَةٌ</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غَامِقَةٌ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غَامِقٌ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ذَهَبِيٌّ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gold / golden</a:t>
            </a:r>
            <a:endParaRPr lang="en-US" sz="1350" dirty="0"/>
          </a:p>
          <a:p>
            <a:pPr indent="0" marL="0">
              <a:buNone/>
            </a:pPr>
            <a:r>
              <a:rPr lang="en-US" sz="1100" i="1" dirty="0">
                <a:solidFill>
                  <a:srgbClr val="5A6472"/>
                </a:solidFill>
                <a:latin typeface="Calibri" pitchFamily="34" charset="0"/>
                <a:cs typeface="Amiri" pitchFamily="2" charset="-78"/>
              </a:rPr>
              <a:t>dha-ha-bī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ذَهَبِيَّةٌ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فِضِّيٌّ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silver</a:t>
            </a:r>
            <a:endParaRPr lang="en-US" sz="1350" dirty="0"/>
          </a:p>
          <a:p>
            <a:pPr indent="0" marL="0">
              <a:buNone/>
            </a:pPr>
            <a:r>
              <a:rPr lang="en-US" sz="1100" i="1" dirty="0">
                <a:solidFill>
                  <a:srgbClr val="5A6472"/>
                </a:solidFill>
                <a:latin typeface="Calibri" pitchFamily="34" charset="0"/>
                <a:cs typeface="Amiri" pitchFamily="2" charset="-78"/>
              </a:rPr>
              <a:t>fiḍ-ḍī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فِضِّيَّةٌ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0" name="Text 87"/>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مُلَوَّنَةٌ</a:t>
            </a:r>
            <a:endParaRPr lang="ar-SA" sz="135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0" name="Shape 97"/>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مُخَطَّطٌ</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striped</a:t>
            </a:r>
            <a:endParaRPr lang="en-US" sz="1350" dirty="0"/>
          </a:p>
          <a:p>
            <a:pPr indent="0" marL="0">
              <a:buNone/>
            </a:pPr>
            <a:r>
              <a:rPr lang="en-US" sz="1100" i="1" dirty="0">
                <a:solidFill>
                  <a:srgbClr val="5A6472"/>
                </a:solidFill>
                <a:latin typeface="Calibri" pitchFamily="34" charset="0"/>
                <a:cs typeface="Amiri" pitchFamily="2" charset="-78"/>
              </a:rPr>
              <a:t>mu-khaṭ-ṭaṭ</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06" name="Text 10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مُخَطَّطَةٌ</a:t>
            </a:r>
            <a:endParaRPr lang="ar-SA" sz="135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مُخَطَّطَةٌ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مُخَطَّطٌ</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NOUN FIRST, COLOUR SECOND (WEBSITE “MAKE COLOUR AGREE”)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decides the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اللَّوْنَ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7" name="Text 14"/>
          <p:cNvSpPr txBox="1"/>
          <p:nvPr/>
        </p:nvSpPr>
        <p:spPr>
          <a:xfrm>
            <a:off x="5678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3483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a:t>
            </a:r>
            <a:pPr rtl="1" algn="ctr" indent="0" marL="0">
              <a:buNone/>
            </a:pPr>
            <a:r>
              <a:rPr lang="ar-SA" altLang="en-US" sz="2400" b="1" dirty="0">
                <a:solidFill>
                  <a:srgbClr val="1D5FBF"/>
                </a:solidFill>
                <a:latin typeface="Amiri" pitchFamily="2" charset="-78"/>
                <a:ea typeface="Amiri" pitchFamily="2" charset="-78"/>
                <a:cs typeface="Amiri" pitchFamily="2" charset="-78"/>
              </a:rPr>
              <a:t>أَحْمَرُ</a:t>
            </a:r>
            <a:endParaRPr lang="ar-SA" sz="2400" dirty="0"/>
          </a:p>
        </p:txBody>
      </p:sp>
      <p:sp>
        <p:nvSpPr>
          <p:cNvPr id="22" name="Text 19"/>
          <p:cNvSpPr txBox="1"/>
          <p:nvPr/>
        </p:nvSpPr>
        <p:spPr>
          <a:xfrm>
            <a:off x="569671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نَافِذَةٌ </a:t>
            </a:r>
            <a:pPr rtl="1" algn="ctr" indent="0" marL="0">
              <a:buNone/>
            </a:pPr>
            <a:r>
              <a:rPr lang="ar-SA" altLang="en-US" sz="2400" b="1" dirty="0">
                <a:solidFill>
                  <a:srgbClr val="D6336C"/>
                </a:solidFill>
                <a:latin typeface="Amiri" pitchFamily="2" charset="-78"/>
                <a:ea typeface="Amiri" pitchFamily="2" charset="-78"/>
                <a:cs typeface="Amiri" pitchFamily="2" charset="-78"/>
              </a:rPr>
              <a:t>حَمْرَاءُ</a:t>
            </a:r>
            <a:endParaRPr lang="ar-SA" sz="2400" dirty="0"/>
          </a:p>
        </p:txBody>
      </p:sp>
      <p:sp>
        <p:nvSpPr>
          <p:cNvPr id="23" name="Text 20"/>
          <p:cNvSpPr txBox="1"/>
          <p:nvPr/>
        </p:nvSpPr>
        <p:spPr>
          <a:xfrm>
            <a:off x="3520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changes completely</a:t>
            </a:r>
            <a:endParaRPr lang="en-US" sz="1100" dirty="0"/>
          </a:p>
        </p:txBody>
      </p:sp>
      <p:sp>
        <p:nvSpPr>
          <p:cNvPr id="24" name="Text 21"/>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red door · a red window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مَكْتَبٌ </a:t>
            </a:r>
            <a:pPr rtl="1" algn="ctr" indent="0" marL="0">
              <a:buNone/>
            </a:pPr>
            <a:r>
              <a:rPr lang="ar-SA" altLang="en-US" sz="2400" b="1" dirty="0">
                <a:solidFill>
                  <a:srgbClr val="1D5FBF"/>
                </a:solidFill>
                <a:latin typeface="Amiri" pitchFamily="2" charset="-78"/>
                <a:ea typeface="Amiri" pitchFamily="2" charset="-78"/>
                <a:cs typeface="Amiri" pitchFamily="2" charset="-78"/>
              </a:rPr>
              <a:t>بُنِّيٌّ</a:t>
            </a:r>
            <a:endParaRPr lang="ar-SA" sz="2400" dirty="0"/>
          </a:p>
        </p:txBody>
      </p:sp>
      <p:sp>
        <p:nvSpPr>
          <p:cNvPr id="29" name="Text 26"/>
          <p:cNvSpPr txBox="1"/>
          <p:nvPr/>
        </p:nvSpPr>
        <p:spPr>
          <a:xfrm>
            <a:off x="569671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طَاوِلَةٌ </a:t>
            </a:r>
            <a:pPr rtl="1" algn="ctr" indent="0" marL="0">
              <a:buNone/>
            </a:pPr>
            <a:r>
              <a:rPr lang="ar-SA" altLang="en-US" sz="2400" b="1" dirty="0">
                <a:solidFill>
                  <a:srgbClr val="D6336C"/>
                </a:solidFill>
                <a:latin typeface="Amiri" pitchFamily="2" charset="-78"/>
                <a:ea typeface="Amiri" pitchFamily="2" charset="-78"/>
                <a:cs typeface="Amiri" pitchFamily="2" charset="-78"/>
              </a:rPr>
              <a:t>بُنِّيَّةٌ</a:t>
            </a:r>
            <a:endParaRPr lang="ar-SA" sz="2400" dirty="0"/>
          </a:p>
        </p:txBody>
      </p:sp>
      <p:sp>
        <p:nvSpPr>
          <p:cNvPr id="30" name="Text 27"/>
          <p:cNvSpPr txBox="1"/>
          <p:nvPr/>
        </p:nvSpPr>
        <p:spPr>
          <a:xfrm>
            <a:off x="3520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brown desk · a brown table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سَرِيرٌ </a:t>
            </a:r>
            <a:pPr rtl="1" algn="ctr" indent="0" marL="0">
              <a:buNone/>
            </a:pPr>
            <a:r>
              <a:rPr lang="ar-SA" altLang="en-US" sz="2400" b="1" dirty="0">
                <a:solidFill>
                  <a:srgbClr val="1D5FBF"/>
                </a:solidFill>
                <a:latin typeface="Amiri" pitchFamily="2" charset="-78"/>
                <a:ea typeface="Amiri" pitchFamily="2" charset="-78"/>
                <a:cs typeface="Amiri" pitchFamily="2" charset="-78"/>
              </a:rPr>
              <a:t>أَزْرَقُ</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فَاتِحٌ</a:t>
            </a:r>
            <a:endParaRPr lang="ar-SA" sz="2400" dirty="0"/>
          </a:p>
        </p:txBody>
      </p:sp>
      <p:sp>
        <p:nvSpPr>
          <p:cNvPr id="36" name="Text 33"/>
          <p:cNvSpPr txBox="1"/>
          <p:nvPr/>
        </p:nvSpPr>
        <p:spPr>
          <a:xfrm>
            <a:off x="569671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أَرِيكَةٌ </a:t>
            </a:r>
            <a:pPr rtl="1" algn="ctr" indent="0" marL="0">
              <a:buNone/>
            </a:pPr>
            <a:r>
              <a:rPr lang="ar-SA" altLang="en-US" sz="2400" b="1" dirty="0">
                <a:solidFill>
                  <a:srgbClr val="D6336C"/>
                </a:solidFill>
                <a:latin typeface="Amiri" pitchFamily="2" charset="-78"/>
                <a:ea typeface="Amiri" pitchFamily="2" charset="-78"/>
                <a:cs typeface="Amiri" pitchFamily="2" charset="-78"/>
              </a:rPr>
              <a:t>زَرْقَاءُ</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فَاتِحَةٌ</a:t>
            </a:r>
            <a:endParaRPr lang="ar-SA" sz="2400" dirty="0"/>
          </a:p>
        </p:txBody>
      </p:sp>
      <p:sp>
        <p:nvSpPr>
          <p:cNvPr id="37" name="Text 34"/>
          <p:cNvSpPr txBox="1"/>
          <p:nvPr/>
        </p:nvSpPr>
        <p:spPr>
          <a:xfrm>
            <a:off x="3520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shade</a:t>
            </a:r>
            <a:endParaRPr lang="en-US" sz="1100" dirty="0"/>
          </a:p>
        </p:txBody>
      </p:sp>
      <p:sp>
        <p:nvSpPr>
          <p:cNvPr id="38" name="Text 35"/>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light-blue bed · sofa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البَابُ </a:t>
            </a:r>
            <a:pPr rtl="1" algn="ctr" indent="0" marL="0">
              <a:buNone/>
            </a:pPr>
            <a:r>
              <a:rPr lang="ar-SA" altLang="en-US" sz="2400" b="1" dirty="0">
                <a:solidFill>
                  <a:srgbClr val="1D5FBF"/>
                </a:solidFill>
                <a:latin typeface="Amiri" pitchFamily="2" charset="-78"/>
                <a:ea typeface="Amiri" pitchFamily="2" charset="-78"/>
                <a:cs typeface="Amiri" pitchFamily="2" charset="-78"/>
              </a:rPr>
              <a:t>الأَحْمَرُ</a:t>
            </a:r>
            <a:endParaRPr lang="ar-SA" sz="2400" dirty="0"/>
          </a:p>
        </p:txBody>
      </p:sp>
      <p:sp>
        <p:nvSpPr>
          <p:cNvPr id="41" name="Text 38"/>
          <p:cNvSpPr txBox="1"/>
          <p:nvPr/>
        </p:nvSpPr>
        <p:spPr>
          <a:xfrm>
            <a:off x="569671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السَّتَائِرُ </a:t>
            </a:r>
            <a:pPr rtl="1" algn="ctr" indent="0" marL="0">
              <a:buNone/>
            </a:pPr>
            <a:r>
              <a:rPr lang="ar-SA" altLang="en-US" sz="2400" b="1" dirty="0">
                <a:solidFill>
                  <a:srgbClr val="D6336C"/>
                </a:solidFill>
                <a:latin typeface="Amiri" pitchFamily="2" charset="-78"/>
                <a:ea typeface="Amiri" pitchFamily="2" charset="-78"/>
                <a:cs typeface="Amiri" pitchFamily="2" charset="-78"/>
              </a:rPr>
              <a:t>زَرْقَاءُ</a:t>
            </a:r>
            <a:endParaRPr lang="ar-SA" sz="2400" dirty="0"/>
          </a:p>
        </p:txBody>
      </p:sp>
      <p:sp>
        <p:nvSpPr>
          <p:cNvPr id="42" name="Text 39"/>
          <p:cNvSpPr txBox="1"/>
          <p:nvPr/>
        </p:nvSpPr>
        <p:spPr>
          <a:xfrm>
            <a:off x="352044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 things pl.</a:t>
            </a:r>
            <a:endParaRPr lang="en-US" sz="1100" dirty="0"/>
          </a:p>
        </p:txBody>
      </p:sp>
      <p:sp>
        <p:nvSpPr>
          <p:cNvPr id="43" name="Text 40"/>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red door · the curtains are blue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noun: masculine → aḥmar / bunnī; feminine → ḥamrā’ / bunniyya.</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TWO FEMININE PATTERNS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just add </a:t>
            </a:r>
            <a:pPr algn="l" indent="0" marL="0">
              <a:buNone/>
            </a:pPr>
            <a:r>
              <a:rPr lang="ar-SA" altLang="en-US" sz="3650" b="1" dirty="0">
                <a:solidFill>
                  <a:srgbClr val="1B3B6F"/>
                </a:solidFill>
                <a:latin typeface="Amiri" pitchFamily="2" charset="-78"/>
                <a:ea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نَمَطَانِ لِصِيَاغَةِ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1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أَفْعَلُ / فَعْلَاءُ</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أَحْمَرُ / حَمْرَاءُ · أَبْيَضُ / بَيْضَاءُ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red · white (six colours)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them as pairs.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2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ـِيٌّ / ـِيَّةٌ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بُنِّيٌّ / بُنِّيَّةٌ · وَرْدِيٌّ / وَرْدِيَّةٌ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brown · pink (and the rest)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Like nationalities.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SHADE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 فَاتِحٌ / غَامِقٌ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سَجَّادَةٌ حَمْرَاءُ غَامِقَةٌ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dark-red rug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adjectives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red does not add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حَمْرَاءُ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أَحْمَرَةٌ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زَرِيقٌ</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طَاوِلَةٌ ___.</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بُنَّاءُ</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زَرْقَاءُ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زَرِيقٌ</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أَزْرَقُ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طَاوِلَةٌ ___.</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بُنَّاءُ</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طَاوِلَةٌ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colour a living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غُرْفَةُ الجُلُوسِ وَاسِعَةٌ وَمُلَوَّنَ</a:t>
            </a:r>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900" b="1" dirty="0">
                <a:solidFill>
                  <a:srgbClr val="1B3B6F"/>
                </a:solidFill>
                <a:latin typeface="Amiri" pitchFamily="2" charset="-78"/>
                <a:cs typeface="Amiri" pitchFamily="2" charset="-78"/>
              </a:rPr>
              <a:t>.</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is f. → mulawwana.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الأَرِيكَةُ بَنَفْسَجِيَّ</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ea typeface="Amiri" pitchFamily="2" charset="-78"/>
                <a:cs typeface="Amiri" pitchFamily="2" charset="-78"/>
              </a:rPr>
              <a:t> غَامِقَ</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Sofa f. → -iyya + ghāmiqa.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البَابُ </a:t>
            </a:r>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أَبْيَضُ</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وَالسَّتَائِرُ </a:t>
            </a:r>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زَرْقَاءُ</a:t>
            </a:r>
            <a:pPr rtl="1" algn="ctr" indent="0" marL="0">
              <a:lnSpc>
                <a:spcPct val="120000"/>
              </a:lnSpc>
              <a:buNone/>
            </a:pPr>
            <a:r>
              <a:rPr lang="ar-SA" altLang="en-US" sz="1800" b="1" dirty="0">
                <a:solidFill>
                  <a:srgbClr val="1B3B6F"/>
                </a:solidFill>
                <a:latin typeface="Amiri" pitchFamily="2" charset="-78"/>
                <a:cs typeface="Amiri" pitchFamily="2" charset="-78"/>
              </a:rPr>
              <a:t>.</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Door m. · curtains = things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أُحِبُّهَا لِأَنَّ أَلْوَانَهَا هَادِئَةٌ.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Colours (things) → hādi’a.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غُرْفَةُ الجُلُوسِ وَاسِعَةٌ وَمُلَوَّنَ</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الأَرِيكَةُ بَنَفْسَجِيَّ</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غَامِقَ</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وَالسَّجَّادَةُ رَمَادِيَّ</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البَابُ </a:t>
            </a:r>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أَبْيَضُ</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وَالسَّتَائِرُ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زَرْقَاءُ</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فَاتِحَةٌ. أُحِبُّ هَذِهِ الغُرْفَةَ لِأَنَّ أَلْوَانَهَا هَادِئَةٌ.</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living room is spacious and colourful. The sofa is dark purple and the rug is grey. The door is white, and the curtains are light blue. I love this room because its colours are calm.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COLOURS — FULL SYSTEM AND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colour?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اللَّوْنُ أَخْضَرُ.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اللَّوْنُ أَبْيَضُ.</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اللَّوْنُ أَحْمَرُ.</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اللَّوْنُ أَحْمَرُ.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red.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اللَّوْنُ أَخْضَرُ.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green.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اللَّوْنُ أَبْيَضُ.</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white.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“COLOUR CODE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Crack the colour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شِفْرَةِ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أَزْرَقُ.</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بَنَفْسَجِيٌّ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أَسْوَدُ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 غَامِقَةٌ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 غَامِقٌ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 غَامِقٌ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بُنِّيُّونَ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بُنِّيٌّ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بُنِّيَّةٌ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أَزْرَقُ.</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زَرِيقَةٌ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زَرْقَاءُ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Blue changes to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بَنَفْسَجِيٌّ</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أَسْوَدُ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بَنَفْسَجِيٌّ</a:t>
            </a:r>
            <a:pPr algn="l" indent="0" marL="0">
              <a:buNone/>
            </a:pPr>
            <a:r>
              <a:rPr lang="en-US" sz="1050" i="1" dirty="0">
                <a:solidFill>
                  <a:srgbClr val="8A6D1E"/>
                </a:solidFill>
                <a:latin typeface="Calibri" pitchFamily="34" charset="0"/>
                <a:cs typeface="Amiri" pitchFamily="2" charset="-78"/>
              </a:rPr>
              <a:t> adds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أَحْمَرَةٌ</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 غَامِقَةٌ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 غَامِقٌ</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حَمْرَاءُ غَامِقٌ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are feminine.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كَرَاسِي بُنِّيُّونَ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كَرَاسِي بُنِّيٌّ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 بُنِّيَّةٌ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things take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نَافِذَةٌ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Red: which pattern?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الطَّاوِلَةُ بُنِّيٌّ.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Table: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الحَائِطُ خَضْرَاءُ.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Wall: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نَافِذَةٌ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نَافِذَةٌ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Red is a “changes completely” colour: the feminine is ḥamrā’ (website common mistake).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الطَّاوِلَةُ بُنِّيٌّ.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الطَّاوِلَةُ بُنِّيَّةٌ.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table is feminine: regular colours add -iyya.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الحَائِطُ خَضْرَاءُ.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الحَائِطُ أَخْضَرُ.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wall is masculine: use the masculine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colourful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 and plain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and colourful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blue and striped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بَيْتِ لَيْلَى غُرَفٌ مُلَوَّنَةٌ. بَابُ المَدْخَلِ أَزْرَقُ غَامِقٌ، وَالحَائِطُ أَبْيَضُ.</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Layla’s house there are colourful rooms. The front door is dark blue, and the wall is white.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غُرْفَةِ الجُلُوسِ أَرِيكَةٌ بَنَفْسَجِيَّةٌ وَسَجَّادَةٌ رَمَادِيَّةٌ. السَّتَائِرُ زَرْقَاءُ فَاتِحَةٌ وَمُخَطَّطَةٌ.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living room there is a purple sofa and a grey rug. The curtains are light blue and striped.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المَطْبَخِ ثَلَّاجَةٌ فِضِّيَّةٌ وَطَاوِلَةٌ بَيْضَاءُ، وَالكَرَاسِي بُرْتُقَالِيَّةٌ.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silver fridge and a white table, and the chairs are orange.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 لَيْلَى وَرْدِيَّةٌ، وَلَكِنَّ مَكْتَبَهَا بُنِّيٌّ. غُرْفَةُ أَخِيهَا خَضْرَاءُ، وَسَرِيرُهُ أَسْوَدُ.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room is pink, but her desk is brown. Her brother’s room is green, and his bed is black.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لَيْلَى غُرْفَةَ الجُلُوسِ لِأَنَّ أَلْوَانَهَا هَادِئَةٌ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loves the living room because its colours are calm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dark blue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بَابُ المَدْخَلِ أَزْرَقُ غَامِقٌ.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pink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أَرِيكَةٌ بَنَفْسَجِيَّةٌ.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blue and plain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 and colourful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blue and striped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السَّتَائِرُ زَرْقَاءُ فَاتِحَةٌ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silver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ثَلَّاجَةٌ فِضِّيَّةٌ.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black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سَرِيرُهُ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FULLY SUPPORTED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Yusuf’s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مَكْتَبُ يُوسُفَ صَغِيرٌ وَلَكِنَّهُ مُرَتَّبٌ.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الحَائِطُ أَخْضَرُ فَاتِحٌ، وَالبَابُ أَبْيَضُ.</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Wall: light green · door: white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الغُرْفَةِ مَكْتَبٌ بُنِّيٌّ وَكُرْسِيٌّ أَسْوَدُ.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Desk: brown · chair: black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حَاسُوبٌ فِضِّيٌّ وَمِصْبَاحٌ أَصْفَرُ.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silver · lamp: yellow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السَّتَائِرُ بَيْضَاءُ وَخَضْرَاءُ وَمُخَطَّطَةٌ. يُحِبُّ يُوسُفُ المَكْتَبَ لِأَنَّ أَلْوَانَهُ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Curtains: white, green, striped · opinion: calm colours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REDUCED VOWELS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Maha’s favourite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مَهَا الألوان الزاهية.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Maha loves bright colours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حقيبتها وردية، وهاتفها بنفسجي غامق.</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pink (f.) · phone: dark purple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غرفتها سجادة حمراء، ووسادتان برتقاليتان، ومرآة ذهبية.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Rug: red · two cushions: orange · mirror: gold</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خزانتها فهي بيضاء، ولكن أبوابها ملوّنة.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Wardrobe: white · its doors: colourful</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تقول مها إنّ اللون الأزرق هو لونها المفضّل لأنّه هادئ وجميل.</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colour: blue — calm and beautiful</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or Maha?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green and striped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and dark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and colourful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wardrobe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rug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الحَائِطُ أَخْضَرُ فَاتِحٌ.</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silver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مَكْتَبٌ بُنِّيٌّ.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 green and striped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and dark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and colourful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السَّتَائِرُ بَيْضَاءُ وَخَضْرَاءُ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pink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حقيبتها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mirror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wardrobe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rug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مرآة ذهبية.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a colour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لَوْنُكَ المُفَضَّلُ؟ / مَا لَوْنُكِ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أَلْوَانُ 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أَغْرَاضَكَ: الحَقِيبَةُ، الهَاتِفُ، الدَّفْتَرُ.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غُرْفَةَ الجُلُوسِ بِالأَلْوَانِ، وَقُلْ لِمَاذَا تُحِبُّهَا.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لَوْنِي المُفَضَّلُ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غُرْفَتِي ___ ، وَسَرِيرِي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حَقِيبَتِي ___ ، وَهَاتِفِي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فَاتِحَةٌ / غَامِقَةٌ ،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أَلْوَانُ غُرْفَةِ الجُلُوسِ؟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colours of the living 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غُرْفَةُ الجُلُوسِ وَاسِعَةٌ وَمُلَوَّنَةٌ. الأَرِيكَةُ بَنَفْسَجِيَّةٌ غَامِقَةٌ.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living room is spacious and colourful. The sofa is dark purple.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noun + colour phrases with the colour bank (masculine and feminine).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Noun + colour from the bank: three masculine, three feminine (my bag, my room, my desk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using both colour patterns and one shade word.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room or your personal items: both colour patterns and one shade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Definite phrases (al-bābu l-aḥmaru), non-human plurals (satā’ir zarqā’) and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Definite phrases, a plural of things with a feminine colour,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الحَائِطُ أَخْضَرُ فَاتِحٌ.</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wall is light green.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الأَرِيكَةُ بَنَفْسَجِيَّةٌ غَامِقَةٌ.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sofa is dark purple.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السَّتَائِرُ زَرْقَاءُ وَمُخَطَّطَةٌ.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curtains are blue and striped.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وَلَكِنَّ ______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my …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أُحِبُّهَا لِأَنَّ أَلْوَانَهَا هَادِئَةٌ.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it because its colours are calm.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لَوْنِي المُفَضَّلُ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colour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مَكْتَبِي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desk (m.)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سَجَّادَةٌ حَمْرَاءُ.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red rug.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البَابُ أَبْيَضُ.</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white.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أَحْمَرُ / حَمْرَاءُ  ·  أَزْرَقُ / زَرْقَاءُ  ·  أَخْضَرُ / خَضْرَاءُ  ·  أَبْيَضُ / بَيْضَاءُ  ·  أَسْوَدُ / سَوْدَاءُ  ·  بُنِّيٌّ / بُنِّيَّةٌ  ·  وَرْدِيٌّ / وَرْدِيَّةٌ  ·  رَمَادِيٌّ / رَمَادِيَّةٌ  ·  فَاتِحٌ  ·  غَامِقٌ  ·  مُخَطَّطٌ  ·  لِأَنَّ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غُرْفَةُ الجُلُوسِ وَاسِعَةٌ وَمُلَوَّنَةٌ. الأَرِيكَةُ بَنَفْسَجِيَّةٌ غَامِقَةٌ، وَالسَّجَّادَةُ رَمَادِيَّةٌ. السَّتَائِرُ زَرْقَاءُ فَاتِحَةٌ وَمُخَطَّطَةٌ، وَالمِصْبَاحُ ذَهَبِيٌّ. الحَائِطُ أَبْيَضُ. أُحِبُّ هَذِهِ الأَلْوَانَ لِأَنَّهَا هَادِئَةٌ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living room is spacious and colourful. The sofa is dark purple and the rug is grey. The curtains are light blue and striped, and the lamp is golden. The wall is white. I love these colours because they are calm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“changes completely” colour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“adds -a” colour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shade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colour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nouns have feminine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patterns (ḥamrā’ and bunniyya).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shade word agrees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 feminine colour.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أَسْوَدُ.</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سَوْدَاءُ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أَسْوَدَةٌ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سَوِيدَةٌ</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سِتَارَةٌ أَصْفَرُ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سِتَارَةٌ صَفْرَاءُ</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صَفْرَاءُ سِتَارَةٌ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النَّافِذَةُ أَزْرَقُ.</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النَّافِذَةُ زَرْقَاءُ.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النَّافِذَةُ أَزْرَقَةٌ.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النَّافِذَةُ أَزْرَقُ.</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أَسْوَدُ.</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سَوْدَاءُ</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أَسْوَدَةٌ</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سَوِيدَةٌ</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Black follows the broken pattern.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سِتَارَةٌ أَصْفَرُ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سِتَارَةٌ صَفْرَاءُ</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صَفْرَاءُ سِتَارَةٌ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follows the feminine noun.</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النَّافِذَةُ أَزْرَقُ.</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النَّافِذَةُ زَرْقَاءُ.</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النَّافِذَةُ أَزْرَقَةٌ.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النَّافِذَةُ أَزْرَقُ.</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of blue is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F3-L06 · Household Appliances and Daily Routines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فُرْنٌ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oven</a:t>
            </a:r>
            <a:pPr indent="0" marL="0">
              <a:buNone/>
            </a:pPr>
            <a:r>
              <a:rPr lang="ar-SA" sz="1000" i="1" dirty="0">
                <a:solidFill>
                  <a:srgbClr val="5A6472"/>
                </a:solidFill>
                <a:latin typeface="Calibri" pitchFamily="34" charset="0"/>
                <a:ea typeface="Amiri" pitchFamily="2" charset="-78"/>
                <a:cs typeface="Amiri" pitchFamily="2" charset="-78"/>
              </a:rPr>
              <a:t>  pl. أَفْرَانٌ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غَسَّالَةُ صُحُونٍ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dishwasher</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غَلَّايَةٌ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kettle</a:t>
            </a:r>
            <a:pPr indent="0" marL="0">
              <a:buNone/>
            </a:pPr>
            <a:r>
              <a:rPr lang="ar-SA" sz="1000" i="1" dirty="0">
                <a:solidFill>
                  <a:srgbClr val="5A6472"/>
                </a:solidFill>
                <a:latin typeface="Calibri" pitchFamily="34" charset="0"/>
                <a:ea typeface="Amiri" pitchFamily="2" charset="-78"/>
                <a:cs typeface="Amiri" pitchFamily="2" charset="-78"/>
              </a:rPr>
              <a:t>  pl. غَلَّايَاتٌ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مِكْوَاةٌ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iron</a:t>
            </a:r>
            <a:pPr indent="0" marL="0">
              <a:buNone/>
            </a:pPr>
            <a:r>
              <a:rPr lang="ar-SA" sz="1000" i="1" dirty="0">
                <a:solidFill>
                  <a:srgbClr val="5A6472"/>
                </a:solidFill>
                <a:latin typeface="Calibri" pitchFamily="34" charset="0"/>
                <a:ea typeface="Amiri" pitchFamily="2" charset="-78"/>
                <a:cs typeface="Amiri" pitchFamily="2" charset="-78"/>
              </a:rPr>
              <a:t>  pl. مَكَاوٍ</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air conditioner</a:t>
            </a:r>
            <a:pPr indent="0" marL="0">
              <a:buNone/>
            </a:pPr>
            <a:r>
              <a:rPr lang="ar-SA" sz="1000" i="1" dirty="0">
                <a:solidFill>
                  <a:srgbClr val="5A6472"/>
                </a:solidFill>
                <a:latin typeface="Calibri" pitchFamily="34" charset="0"/>
                <a:ea typeface="Amiri" pitchFamily="2" charset="-78"/>
                <a:cs typeface="Amiri" pitchFamily="2" charset="-78"/>
              </a:rPr>
              <a:t>  pl. مُكَيِّفَاتٌ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appliance does your family use every day?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تَسْتَعْمِلُ فِي البَيْتِ؟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F3-L05: the Colour Code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colour-rich description in 6–8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Palette Studio: both colour patterns, gold, silver, light, dark, striped, and six noun phrases.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F3-L06 · Household Appliances and Daily Routines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الأَجْهِزَةُ المَنْزِلِيَّةُ وَالرُّوتِينُ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first · aḥmar → ḥamrā’ · bunnī → bunniyya.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F3-L05 · Colours — Full System and Agreement</dc:title>
  <dc:subject>PptxGenJS Presentation</dc:subject>
  <dc:creator>Al Madina Online School · Arabic Department</dc:creator>
  <cp:lastModifiedBy>Al Madina Online School · Arabic Department</cp:lastModifiedBy>
  <cp:revision>1</cp:revision>
  <dcterms:created xsi:type="dcterms:W3CDTF">2026-10-11T06:41:31Z</dcterms:created>
  <dcterms:modified xsi:type="dcterms:W3CDTF">2026-10-11T06:41:31Z</dcterms:modified>
</cp:coreProperties>
</file>