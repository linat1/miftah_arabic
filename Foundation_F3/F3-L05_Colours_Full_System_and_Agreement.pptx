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F3 My Family &amp; Home › Lesson 5 (F3-L05). Website sections used: the eight-question agreement bridge, the colour vault (11 core colours + 7 extension words) and its 12-question check, the two colour patterns and the 12-question pattern laboratory, “make colour agree” (masculine, feminine, definite, non-human plural) and the 14-question agreement check, light / dark / colourful / striped and the 10-question shade check, the Palette Studio, the Colour Code Mission (14), Layla’s colourful home (listening, 10), Yusuf’s study and Maha’s objects (reading, 12), the colour-scheme studio (4 prompts), the colour-rich writing task and the 16-question checkpoint. Picture match: website visual game “Colours — Full System and Agreement”.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The website’s one big warning: do NOT add ة automatically. Six colours change completely (أَحْمَرُ ← حَمْرَاءُ); the rest just add ة (بُنِّيٌّ ← بُنِّيَّةٌ).
• Core: 8 colours in both forms + noun first, colour second. Develop: both patterns + one shade word (فَاتِحٌ / غَامِقٌ). Stretch: definite phrases (البَابُ الأَحْمَرُ) and non-human plurals (السَّتَائِرُ زَرْقَاءُ).
• Links: F3-L04 furniture genders do all the work today (خِزَانَةٌ f., مَكْتَبٌ m.).
• Urdu bridge: سبز / أَخْضَرُ (not cognate), لال / أَحْمَرُ (not cognate) — but بنفشی ← بَنَفْسَجِيٌّ، گلابی / وَرْدِيٌّ (both from “rose”), رنگ / لَوْنٌ, سنہری / ذَهَبِيٌّ (both “golden”).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colours prepared at home at the end of F3-L04. Questions 3–5 are the website “agreement bridge” (noun gender, word order, masculine colour).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Noun first, colour second — and the colour matches the noun. Six colours change completely for feminine; the rest add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“By the end” aims (left) and the website speaking checklist as routes (right).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most colour words are NOT shared, so give memory hooks: الحَجَرُ الأَسْوَدُ (the Black Stone) → أَسْوَدُ; وَرْدَةٌ (a rose) → وَرْدِيٌّ; ذَهَبٌ (gold) → ذَهَبِيٌّ; فِضَّةٌ (silver) → فِضِّيٌّ; بُرْتُقَالٌ (an orange, F5) → بُرْتُقَالِيٌّ; بُنٌّ (coffee beans) → بُنِّيٌّ.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PATTERN 1 (website “changes completely”: أَفْعَلُ ← فَعْلَاءُ). Chant each pair: aḥmar – ḥamrā’. The “things pl.” box: plurals of things take the feminine singular colour (السَّتَائِرُ زَرْقَاءُ — website).
Website common mistake: حَمْرَاءُ ✓ — «أَحْمَرَةٌ»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PATTERN 2 (website “add ة”: ـِيٌّ ← ـِيَّةٌ) — the same nisba pattern as nationalities in F2-L04 (مِصْرِيٌّ / مِصْرِيَّةٌ). Card 12: لَوْنٌ / أَلْوَانٌ — مَا لَوْنُكَ المُفَضَّلُ؟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EXTENSION (website “official extension bank”). A second adjective comes after the colour and also agrees: بَابٌ أَزْرَقُ فَاتِحٌ (a light-blue door) · نَافِذَةٌ زَرْقَاءُ غَامِقَةٌ (a dark-blue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section 4 “Make colour agree”: the colour follows the noun and matches its gender; the noun decides the form. Row 4 = website “Definite phrase” (البَابُ الأَحْمَرُ — both take الـ) and “Non-human plural reminder” (السَّتَائِرُ زَرْقَاءُ وَمُخَطَّطَةٌ).
Quick-fire with F3-L04 furniture: say a noun + English colour; students say the phrase (خِزَانَةٌ + white → خِزَانَةٌ بَيْضَاءُ).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section 3 “Two colour patterns”: “Do not add ة automatically. First identify which pattern the colour follows.”
Pattern 1 (broken, six high-frequency colours): أَحْمَرُ/حَمْرَاءُ · أَزْرَقُ/زَرْقَاءُ · أَخْضَرُ/خَضْرَاءُ · أَصْفَرُ/صَفْرَاءُ · أَبْيَضُ/بَيْضَاءُ · أَسْوَدُ/سَوْدَاءُ.
Pattern 2 (regular nisba): بُرْتُقَالِيٌّ، بَنَفْسَجِيٌّ، بُنِّيٌّ، رَمَادِيٌّ، وَرْدِيٌّ، ذَهَبِيٌّ، فِضِّيٌّ + ة.
Website section 5: add a second adjective (فَاتِحٌ، غَامِقٌ، مُلَوَّنٌ، مُخَطَّطٌ) — both must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“Fourteen-question colour-agreement check” questions 3, 2, 5 and 6.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the website speaking prompt “Living room” with a think-aloud before every colour: “noun masculine or feminine? which pattern?” Then change الأَرِيكَةُ to الكُرْسِيُّ — what changes? (بَنَفْسَجِيٌّ غَامِقٌ).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Colours — Full System and Agreement”)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Follow-up: say the feminine of each colour (حَمْرَاءُ، خَضْرَاءُ، بَيْضَاءُ) — why? (after اللَّوْنُ, masculine, the colour stays masculine). Other cards: أَزْرَقُ، أَصْفَرُ، أَسْوَدُ.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Colours — Full System and Agreement”)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Follow-up: say the feminine of each colour (حَمْرَاءُ، خَضْرَاءُ، بَيْضَاءُ) — why? (after اللَّوْنُ, masculine, the colour stays masculine). Other cards: أَزْرَقُ، أَصْفَرُ، أَسْوَدُ.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5 of the website’s 14 Colour Code rounds (broken pair, regular pattern, feminine agreement, shade, plural things). The other 9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each answer ask: which pattern — changes completely, or adds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4. Develop / Stretch: all 5.
Listen 1: just listen. Listen 2: note answers. Then chat the letters.
Support: after the second listening, show the read-along slide (Arabic + English, line by line) for Core students.
SCRIPT (read aloud):
فِي بَيْتِ لَيْلَى غُرَفٌ مُلَوَّنَةٌ. بَابُ المَدْخَلِ أَزْرَقُ غَامِقٌ، وَالحَائِطُ أَبْيَضُ. فِي غُرْفَةِ الجُلُوسِ أَرِيكَةٌ بَنَفْسَجِيَّةٌ وَسَجَّادَةٌ رَمَادِيَّةٌ. السَّتَائِرُ زَرْقَاءُ فَاتِحَةٌ وَمُخَطَّطَةٌ. فِي المَطْبَخِ ثَلَّاجَةٌ فِضِّيَّةٌ وَطَاوِلَةٌ بَيْضَاءُ، وَالكَرَاسِي بُرْتُقَالِيَّةٌ. غُرْفَةُ لَيْلَى وَرْدِيَّةٌ، وَلَكِنَّ مَكْتَبَهَا بُنِّيٌّ. غُرْفَةُ أَخِيهَا خَضْرَاءُ، وَسَرِيرُهُ أَسْوَدُ. تُحِبُّ لَيْلَى غُرْفَةَ الجُلُوسِ لِأَنَّ أَلْوَانَهَا هَادِئَةٌ وَجَمِيلَةٌ.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A (website). Website strategy: “Locate each noun first, then identify the agreeing colour and any extra shade or pattern word.” Every noun here is masculine except the curtains (plural of things → feminine colours).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TEXT B (website, reduced vowels — Stretch). Find the dual: وِسَادَتَانِ بُرْتُقَالِيَّتَانِ (two orange cushions — the colour is dual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reading questions 2, 4, 7 (Yusuf) and 9, 11 (Maha — Core may skip). The other 7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reads aloud the noun + colour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COLOUR-SCHEME STUDIO: describe a room, a person or an object set with accurate agreement and one reason. Prompt cards (website):
• Living room: sofa · rug · curtains · lamp · wall
• Bedroom: bed · wardrobe · desk · cushions · curtains
• Family portrait: clothes · hair · eyes · background · frame
• Personal items: bag · phone · notebook · pen · bottle
Website checklist (listener ticks 1–6): five colour words · a broken and a regular colour · every colour agrees · light / dark / striped · a reason · clear delivery.
Sensitivity: for the family-portrait prompt, describe clothes and objects — not skin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Six noun + colour phrases with the colour bank (masculine and feminine). · Develop — Six to eight sentences using both colour patterns and one shade word. · Stretch — Definite phrases (al-bābu l-aḥmaru), non-human plurals (satā’ir zarqā’) and a reason.
Website writing task (Stretch): Website writing task: 6–8 connected sentences about a room, a family portrait or a personal-item collection — six colour words, both colour patterns, one shade or pattern word and one reason.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model (speaking prompt “Living room”, as extracted). Stretch: rewrite it about a bedroom with a masculine noun first (السَّرِيرُ …).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(F3-L06 · Household Appliances and Daily Routines) will spend class time USING this language, so students prepare it tonight — short, simple, easy to access (school guidance: “Simple, Short, Interesting, Relevant, Easy to access”). The five words come from the website F3-L04 recognition bank — the appliances of F3-L06.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F3  ·  F3-L05</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F3-L05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900" b="1" dirty="0">
                <a:solidFill>
                  <a:srgbClr val="FFFFFF"/>
                </a:solidFill>
                <a:latin typeface="Cambria" pitchFamily="34" charset="0"/>
                <a:cs typeface="Amiri" pitchFamily="2" charset="-78"/>
              </a:rPr>
              <a:t>Colours — Full System and Agreement</a:t>
            </a:r>
            <a:endParaRPr lang="en-US" sz="29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الأَلْوَانُ — النِّظَامُ الكَامِلُ وَالمُطَابَقَةُ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Learn the complete colour system, tell apart the two feminine patterns (</a:t>
            </a:r>
            <a:pPr algn="l" indent="0" marL="0">
              <a:buNone/>
            </a:pPr>
            <a:r>
              <a:rPr lang="ar-SA" altLang="en-US" sz="1800" dirty="0">
                <a:solidFill>
                  <a:srgbClr val="C6D2E6"/>
                </a:solidFill>
                <a:latin typeface="Amiri" pitchFamily="2" charset="-78"/>
                <a:ea typeface="Amiri" pitchFamily="2" charset="-78"/>
                <a:cs typeface="Amiri" pitchFamily="2" charset="-78"/>
              </a:rPr>
              <a:t>حَمْرَاءُ</a:t>
            </a:r>
            <a:pPr algn="l" indent="0" marL="0">
              <a:buNone/>
            </a:pPr>
            <a:r>
              <a:rPr lang="en-US" sz="1400" dirty="0">
                <a:solidFill>
                  <a:srgbClr val="C6D2E6"/>
                </a:solidFill>
                <a:latin typeface="Calibri" pitchFamily="34" charset="0"/>
                <a:cs typeface="Amiri" pitchFamily="2" charset="-78"/>
              </a:rPr>
              <a:t> vs </a:t>
            </a:r>
            <a:pPr algn="l" indent="0" marL="0">
              <a:buNone/>
            </a:pPr>
            <a:r>
              <a:rPr lang="ar-SA" altLang="en-US" sz="1800" dirty="0">
                <a:solidFill>
                  <a:srgbClr val="C6D2E6"/>
                </a:solidFill>
                <a:latin typeface="Amiri" pitchFamily="2" charset="-78"/>
                <a:ea typeface="Amiri" pitchFamily="2" charset="-78"/>
                <a:cs typeface="Amiri" pitchFamily="2" charset="-78"/>
              </a:rPr>
              <a:t>بُنِّيَّةٌ</a:t>
            </a:r>
            <a:pPr algn="l" indent="0" marL="0">
              <a:buNone/>
            </a:pPr>
            <a:r>
              <a:rPr lang="en-US" sz="1400" dirty="0">
                <a:solidFill>
                  <a:srgbClr val="C6D2E6"/>
                </a:solidFill>
                <a:latin typeface="Calibri" pitchFamily="34" charset="0"/>
                <a:cs typeface="Amiri" pitchFamily="2" charset="-78"/>
              </a:rPr>
              <a:t>), add light, dark and patterned detail, and make every colour agree with its noun.</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F3-L05 · Foundation F3 · My Family &amp; Home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F3 › F3-L05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Colours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Colours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colour vault, then two feminine patterns and agreement.</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Colour Code Mission, listen to Layla, read two descriptions.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F3-L06.</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Colours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أَزْرَقُ</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green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blue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yellow</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feminine of </a:t>
            </a:r>
            <a:pPr algn="l" indent="0" marL="0">
              <a:buNone/>
            </a:pPr>
            <a:r>
              <a:rPr lang="ar-SA" altLang="en-US" sz="1650" b="1" dirty="0">
                <a:solidFill>
                  <a:srgbClr val="1B3B6F"/>
                </a:solidFill>
                <a:latin typeface="Amiri" pitchFamily="2" charset="-78"/>
                <a:ea typeface="Amiri" pitchFamily="2" charset="-78"/>
                <a:cs typeface="Amiri" pitchFamily="2" charset="-78"/>
              </a:rPr>
              <a:t>أَبْيَضُ</a:t>
            </a:r>
            <a:pPr algn="l" indent="0" marL="0">
              <a:buNone/>
            </a:pPr>
            <a:r>
              <a:rPr lang="en-US" sz="1250" b="1" dirty="0">
                <a:solidFill>
                  <a:srgbClr val="1B3B6F"/>
                </a:solidFill>
                <a:latin typeface="Calibri" pitchFamily="34" charset="0"/>
                <a:cs typeface="Amiri" pitchFamily="2" charset="-78"/>
              </a:rPr>
              <a:t> (white)?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بَيْضَاءُ</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أَبْيَضَةٌ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أَبْيَضُ</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noun is feminine?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بَابٌ</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سَرِيرٌ</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نَافِذَةٌ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order for “a red door”.</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أَحْمَرُ بَابٌ</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بَابٌ حَمْرَاءُ</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بَابٌ أَحْمَرُ</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71" name="Text 68"/>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مَكْتَبٌ ___.</a:t>
            </a:r>
            <a:endParaRPr lang="ar-SA" sz="220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بُنِّيٌّ</a:t>
            </a:r>
            <a:endParaRPr lang="ar-SA" sz="20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بُنِّيَّةٌ</a:t>
            </a:r>
            <a:endParaRPr lang="ar-SA" sz="20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بُنِّيَّاتٌ</a:t>
            </a:r>
            <a:endParaRPr lang="ar-SA" sz="2050" dirty="0"/>
          </a:p>
        </p:txBody>
      </p:sp>
      <p:sp>
        <p:nvSpPr>
          <p:cNvPr id="81" name="Shape 78"/>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3" name="Text 80"/>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4" name="Text 81"/>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5" name="Text 82"/>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Colours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أَزْرَقُ</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green</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blue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yellow</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(F3-L04).</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feminine of </a:t>
            </a:r>
            <a:pPr algn="l" indent="0" marL="0">
              <a:buNone/>
            </a:pPr>
            <a:r>
              <a:rPr lang="ar-SA" altLang="en-US" sz="1650" b="1" dirty="0">
                <a:solidFill>
                  <a:srgbClr val="1B3B6F"/>
                </a:solidFill>
                <a:latin typeface="Amiri" pitchFamily="2" charset="-78"/>
                <a:ea typeface="Amiri" pitchFamily="2" charset="-78"/>
                <a:cs typeface="Amiri" pitchFamily="2" charset="-78"/>
              </a:rPr>
              <a:t>أَبْيَضُ</a:t>
            </a:r>
            <a:pPr algn="l" indent="0" marL="0">
              <a:buNone/>
            </a:pPr>
            <a:r>
              <a:rPr lang="en-US" sz="1250" b="1" dirty="0">
                <a:solidFill>
                  <a:srgbClr val="1B3B6F"/>
                </a:solidFill>
                <a:latin typeface="Calibri" pitchFamily="34" charset="0"/>
                <a:cs typeface="Amiri" pitchFamily="2" charset="-78"/>
              </a:rPr>
              <a:t> (white)?</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بَيْضَاءُ</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أَبْيَضَةٌ</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أَبْيَضُ</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(F3-L04).</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noun is feminine?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بَابٌ</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سَرِيرٌ</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نَافِذَةٌ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نَافِذَةٌ</a:t>
            </a:r>
            <a:pPr algn="l" indent="0" marL="0">
              <a:buNone/>
            </a:pPr>
            <a:r>
              <a:rPr lang="en-US" sz="1050" i="1" dirty="0">
                <a:solidFill>
                  <a:srgbClr val="8A6D1E"/>
                </a:solidFill>
                <a:latin typeface="Calibri" pitchFamily="34" charset="0"/>
                <a:cs typeface="Amiri" pitchFamily="2" charset="-78"/>
              </a:rPr>
              <a:t> is feminine and normally takes a feminine adjective.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order for “a red door”.</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أَحْمَرُ بَابٌ</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بَابٌ حَمْرَاءُ</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بَابٌ أَحْمَرُ</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noun comes first and the masculine colour follows.</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79" name="Text 76"/>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مَكْتَبٌ ___.</a:t>
            </a:r>
            <a:endParaRPr lang="ar-SA" sz="220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بُنِّيٌّ</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بُنِّيَّةٌ</a:t>
            </a:r>
            <a:endParaRPr lang="ar-SA" sz="170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بُنِّيَّاتٌ</a:t>
            </a:r>
            <a:endParaRPr lang="ar-SA" sz="170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مَكْتَبٌ</a:t>
            </a:r>
            <a:pPr algn="l" indent="0" marL="0">
              <a:buNone/>
            </a:pPr>
            <a:r>
              <a:rPr lang="en-US" sz="1050" i="1" dirty="0">
                <a:solidFill>
                  <a:srgbClr val="8A6D1E"/>
                </a:solidFill>
                <a:latin typeface="Calibri" pitchFamily="34" charset="0"/>
                <a:cs typeface="Amiri" pitchFamily="2" charset="-78"/>
              </a:rPr>
              <a:t> is masculine.</a:t>
            </a:r>
            <a:endParaRPr lang="en-US" sz="1050" dirty="0"/>
          </a:p>
        </p:txBody>
      </p:sp>
      <p:sp>
        <p:nvSpPr>
          <p:cNvPr id="91" name="Shape 88"/>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2" name="Text 89"/>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3" name="Text 90"/>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250" b="1" dirty="0">
                <a:solidFill>
                  <a:srgbClr val="1F2A37"/>
                </a:solidFill>
                <a:latin typeface="Calibri" pitchFamily="34" charset="0"/>
                <a:cs typeface="Amiri" pitchFamily="2" charset="-78"/>
              </a:rPr>
              <a:t>Noun first, colour second — and the colour matches the noun. Six colours change completely for feminine; the rest add -a.</a:t>
            </a:r>
            <a:endParaRPr lang="en-US" sz="1250" dirty="0"/>
          </a:p>
        </p:txBody>
      </p:sp>
      <p:sp>
        <p:nvSpPr>
          <p:cNvPr id="94" name="Text 91"/>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بَابٌ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أَحْمَرُ</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 نَافِذَةٌ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حَمْرَاءُ</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 طَاوِلَةٌ بُنِّيَّ</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ةٌ</a:t>
            </a:r>
            <a:endParaRPr lang="ar-SA" sz="19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Colours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all core colours and the extension words.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Form masculine and feminine colours accurately.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light, dark, colourful and striped descriptions.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a connected colour-rich description.</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eight colours.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put the colour after the noun.</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both feminine patterns.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add light or dark.</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use definite phrases and plural things.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colour-rich description with a reason.</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The website colour vault: 11 core colours and 7 extension words, each in masculine and feminine. Core: the six “change completely” colours + brown and pink.</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Six colours that change · 6</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Colours that add -a · 5</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Shade, finish, pattern · 7</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لَوْنٌ</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‎رنگ‎ </a:t>
            </a:r>
            <a:pPr indent="0" marL="0">
              <a:buNone/>
            </a:pPr>
            <a:r>
              <a:rPr lang="en-US" sz="950" b="1" dirty="0">
                <a:solidFill>
                  <a:srgbClr val="2E8B57"/>
                </a:solidFill>
                <a:latin typeface="Calibri" pitchFamily="34" charset="0"/>
                <a:cs typeface="Amiri" pitchFamily="2" charset="-78"/>
              </a:rPr>
              <a:t> lawn · colour (not cognate)</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بَنَفْسَجِيٌّ</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‎بنفشی‎ </a:t>
            </a:r>
            <a:pPr indent="0" marL="0">
              <a:buNone/>
            </a:pPr>
            <a:r>
              <a:rPr lang="en-US" sz="950" b="1" dirty="0">
                <a:solidFill>
                  <a:srgbClr val="2E8B57"/>
                </a:solidFill>
                <a:latin typeface="Calibri" pitchFamily="34" charset="0"/>
                <a:cs typeface="Amiri" pitchFamily="2" charset="-78"/>
              </a:rPr>
              <a:t> banafsajī · purple (from “violet”)</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وَرْدِيٌّ</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‎گلابی‎ </a:t>
            </a:r>
            <a:pPr indent="0" marL="0">
              <a:buNone/>
            </a:pPr>
            <a:r>
              <a:rPr lang="en-US" sz="950" b="1" dirty="0">
                <a:solidFill>
                  <a:srgbClr val="2E8B57"/>
                </a:solidFill>
                <a:latin typeface="Calibri" pitchFamily="34" charset="0"/>
                <a:cs typeface="Amiri" pitchFamily="2" charset="-78"/>
              </a:rPr>
              <a:t> wardī · pink (both from “rose”)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ذَهَبِيٌّ</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‎سنہری‎ </a:t>
            </a:r>
            <a:pPr indent="0" marL="0">
              <a:buNone/>
            </a:pPr>
            <a:r>
              <a:rPr lang="ar-SA" sz="950" b="1" dirty="0">
                <a:solidFill>
                  <a:srgbClr val="2E8B57"/>
                </a:solidFill>
                <a:latin typeface="Calibri" pitchFamily="34" charset="0"/>
                <a:ea typeface="Amiri" pitchFamily="2" charset="-78"/>
                <a:cs typeface="Amiri" pitchFamily="2" charset="-78"/>
              </a:rPr>
              <a:t> dhahabī · golden (ذَهَبٌ = gold)</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أَسْوَدُ</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‎سیاہ‎ </a:t>
            </a:r>
            <a:pPr indent="0" marL="0">
              <a:buNone/>
            </a:pPr>
            <a:r>
              <a:rPr lang="en-US" sz="950" b="1" dirty="0">
                <a:solidFill>
                  <a:srgbClr val="2E8B57"/>
                </a:solidFill>
                <a:latin typeface="Calibri" pitchFamily="34" charset="0"/>
                <a:cs typeface="Amiri" pitchFamily="2" charset="-78"/>
              </a:rPr>
              <a:t> aswad · black (al-Ḥajar al-Aswad)</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Colours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KEY WORDS · GROUP 1 · SIX COLOURS THAT CHANGE COMPLETELY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Red, blue, green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الأَلْوَانُ الأَسَاسِيَّةُ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144829"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أَحْمَرُ</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red</a:t>
            </a:r>
            <a:endParaRPr lang="en-US" sz="1350" dirty="0"/>
          </a:p>
          <a:p>
            <a:pPr indent="0" marL="0">
              <a:buNone/>
            </a:pPr>
            <a:r>
              <a:rPr lang="en-US" sz="1100" i="1" dirty="0">
                <a:solidFill>
                  <a:srgbClr val="5A6472"/>
                </a:solidFill>
                <a:latin typeface="Calibri" pitchFamily="34" charset="0"/>
                <a:cs typeface="Amiri" pitchFamily="2" charset="-78"/>
              </a:rPr>
              <a:t>aḥ-mar · ḥam-rā’</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26" name="Text 23"/>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حَمْرَاءُ</a:t>
            </a:r>
            <a:endParaRPr lang="ar-SA" sz="135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حَمْرَاءُ</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أَحْمَرُ</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1144829"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أَزْرَقُ</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blue</a:t>
            </a:r>
            <a:endParaRPr lang="en-US" sz="1350" dirty="0"/>
          </a:p>
          <a:p>
            <a:pPr indent="0" marL="0">
              <a:buNone/>
            </a:pPr>
            <a:r>
              <a:rPr lang="en-US" sz="1100" i="1" dirty="0">
                <a:solidFill>
                  <a:srgbClr val="5A6472"/>
                </a:solidFill>
                <a:latin typeface="Calibri" pitchFamily="34" charset="0"/>
                <a:cs typeface="Amiri" pitchFamily="2" charset="-78"/>
              </a:rPr>
              <a:t>az-raq · zar-qā’</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44" name="Text 41"/>
          <p:cNvSpPr txBox="1"/>
          <p:nvPr/>
        </p:nvSpPr>
        <p:spPr>
          <a:xfrm>
            <a:off x="676656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زَرْقَاءُ</a:t>
            </a:r>
            <a:endParaRPr lang="ar-SA" sz="135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زَرْقَاءُ</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أَزْرَقُ</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4" name="Shape 51"/>
          <p:cNvSpPr/>
          <p:nvPr/>
        </p:nvSpPr>
        <p:spPr>
          <a:xfrm>
            <a:off x="960120" y="1938528"/>
            <a:ext cx="1144829"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أَخْضَرُ</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green</a:t>
            </a:r>
            <a:endParaRPr lang="en-US" sz="1350" dirty="0"/>
          </a:p>
          <a:p>
            <a:pPr indent="0" marL="0">
              <a:buNone/>
            </a:pPr>
            <a:r>
              <a:rPr lang="en-US" sz="1100" i="1" dirty="0">
                <a:solidFill>
                  <a:srgbClr val="5A6472"/>
                </a:solidFill>
                <a:latin typeface="Calibri" pitchFamily="34" charset="0"/>
                <a:cs typeface="Amiri" pitchFamily="2" charset="-78"/>
              </a:rPr>
              <a:t>akh-ḍar · khaḍ-rā’</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62" name="Text 59"/>
          <p:cNvSpPr txBox="1"/>
          <p:nvPr/>
        </p:nvSpPr>
        <p:spPr>
          <a:xfrm>
            <a:off x="294436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خَضْرَاءُ</a:t>
            </a:r>
            <a:endParaRPr lang="ar-SA" sz="135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خَضْرَاءُ</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أَخْضَرُ</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72" name="Shape 69"/>
          <p:cNvSpPr/>
          <p:nvPr/>
        </p:nvSpPr>
        <p:spPr>
          <a:xfrm>
            <a:off x="8604504" y="4279392"/>
            <a:ext cx="1144829"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8604504"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74" name="Shape 7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5" name="Text 7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6" name="Text 7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أَصْفَرُ</a:t>
            </a:r>
            <a:endParaRPr lang="ar-SA" sz="3000" dirty="0"/>
          </a:p>
        </p:txBody>
      </p:sp>
      <p:sp>
        <p:nvSpPr>
          <p:cNvPr id="77" name="Text 7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yellow</a:t>
            </a:r>
            <a:endParaRPr lang="en-US" sz="1350" dirty="0"/>
          </a:p>
          <a:p>
            <a:pPr indent="0" marL="0">
              <a:buNone/>
            </a:pPr>
            <a:r>
              <a:rPr lang="en-US" sz="1100" i="1" dirty="0">
                <a:solidFill>
                  <a:srgbClr val="5A6472"/>
                </a:solidFill>
                <a:latin typeface="Calibri" pitchFamily="34" charset="0"/>
                <a:cs typeface="Amiri" pitchFamily="2" charset="-78"/>
              </a:rPr>
              <a:t>aṣ-far · ṣaf-rā’</a:t>
            </a:r>
            <a:endParaRPr lang="en-US" sz="1350" dirty="0"/>
          </a:p>
        </p:txBody>
      </p:sp>
      <p:sp>
        <p:nvSpPr>
          <p:cNvPr id="78" name="Shape 75"/>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80" name="Text 77"/>
          <p:cNvSpPr txBox="1"/>
          <p:nvPr/>
        </p:nvSpPr>
        <p:spPr>
          <a:xfrm>
            <a:off x="10588752"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صَفْرَاءُ</a:t>
            </a:r>
            <a:endParaRPr lang="ar-SA" sz="1350" dirty="0"/>
          </a:p>
        </p:txBody>
      </p:sp>
      <p:sp>
        <p:nvSpPr>
          <p:cNvPr id="81" name="Shape 78"/>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3" name="Text 80"/>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صَفْرَاءُ</a:t>
            </a:r>
            <a:endParaRPr lang="ar-SA" sz="1500" dirty="0"/>
          </a:p>
        </p:txBody>
      </p:sp>
      <p:sp>
        <p:nvSpPr>
          <p:cNvPr id="84" name="Shape 81"/>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6" name="Text 83"/>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أَصْفَرُ</a:t>
            </a:r>
            <a:endParaRPr lang="ar-SA" sz="1500" dirty="0"/>
          </a:p>
        </p:txBody>
      </p:sp>
      <p:sp>
        <p:nvSpPr>
          <p:cNvPr id="87" name="Shape 8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8" name="Shape 85"/>
          <p:cNvSpPr/>
          <p:nvPr/>
        </p:nvSpPr>
        <p:spPr>
          <a:xfrm>
            <a:off x="4389120" y="4261104"/>
            <a:ext cx="310896" cy="310896"/>
          </a:xfrm>
          <a:prstGeom prst="ellipse">
            <a:avLst/>
          </a:prstGeom>
          <a:solidFill>
            <a:srgbClr val="F4F1EA"/>
          </a:solidFill>
          <a:ln w="12700">
            <a:solidFill>
              <a:srgbClr val="F4F1EA"/>
            </a:solidFill>
            <a:prstDash val="solid"/>
          </a:ln>
        </p:spPr>
      </p:sp>
      <p:sp>
        <p:nvSpPr>
          <p:cNvPr id="89" name="Text 8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90" name="Shape 87"/>
          <p:cNvSpPr/>
          <p:nvPr/>
        </p:nvSpPr>
        <p:spPr>
          <a:xfrm>
            <a:off x="4782312" y="4279392"/>
            <a:ext cx="1144829" cy="256032"/>
          </a:xfrm>
          <a:prstGeom prst="roundRect">
            <a:avLst>
              <a:gd name="adj" fmla="val 50000"/>
            </a:avLst>
          </a:prstGeom>
          <a:solidFill>
            <a:srgbClr val="EFE7D2"/>
          </a:solidFill>
          <a:ln w="12700">
            <a:solidFill>
              <a:srgbClr val="EFE7D2"/>
            </a:solidFill>
            <a:prstDash val="solid"/>
          </a:ln>
        </p:spPr>
      </p:sp>
      <p:sp>
        <p:nvSpPr>
          <p:cNvPr id="91" name="Text 88"/>
          <p:cNvSpPr txBox="1"/>
          <p:nvPr/>
        </p:nvSpPr>
        <p:spPr>
          <a:xfrm>
            <a:off x="4782312"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92" name="Shape 8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93" name="Text 9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4" name="Text 91"/>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أَبْيَضُ</a:t>
            </a:r>
            <a:endParaRPr lang="ar-SA" sz="3000" dirty="0"/>
          </a:p>
        </p:txBody>
      </p:sp>
      <p:sp>
        <p:nvSpPr>
          <p:cNvPr id="95" name="Text 92"/>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white</a:t>
            </a:r>
            <a:endParaRPr lang="en-US" sz="1350" dirty="0"/>
          </a:p>
          <a:p>
            <a:pPr indent="0" marL="0">
              <a:buNone/>
            </a:pPr>
            <a:r>
              <a:rPr lang="en-US" sz="1100" i="1" dirty="0">
                <a:solidFill>
                  <a:srgbClr val="5A6472"/>
                </a:solidFill>
                <a:latin typeface="Calibri" pitchFamily="34" charset="0"/>
                <a:cs typeface="Amiri" pitchFamily="2" charset="-78"/>
              </a:rPr>
              <a:t>ab-yaḍ · bay-ḍā’</a:t>
            </a:r>
            <a:endParaRPr lang="en-US" sz="1350" dirty="0"/>
          </a:p>
        </p:txBody>
      </p:sp>
      <p:sp>
        <p:nvSpPr>
          <p:cNvPr id="96" name="Shape 93"/>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7" name="Text 94"/>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98" name="Text 95"/>
          <p:cNvSpPr txBox="1"/>
          <p:nvPr/>
        </p:nvSpPr>
        <p:spPr>
          <a:xfrm>
            <a:off x="6766560"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بَيْضَاءُ</a:t>
            </a:r>
            <a:endParaRPr lang="ar-SA" sz="1350" dirty="0"/>
          </a:p>
        </p:txBody>
      </p:sp>
      <p:sp>
        <p:nvSpPr>
          <p:cNvPr id="99" name="Shape 96"/>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01" name="Text 98"/>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بَيْضَاءُ</a:t>
            </a:r>
            <a:endParaRPr lang="ar-SA" sz="1500" dirty="0"/>
          </a:p>
        </p:txBody>
      </p:sp>
      <p:sp>
        <p:nvSpPr>
          <p:cNvPr id="102" name="Shape 99"/>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04" name="Text 101"/>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أَبْيَضُ</a:t>
            </a:r>
            <a:endParaRPr lang="ar-SA" sz="1500" dirty="0"/>
          </a:p>
        </p:txBody>
      </p:sp>
      <p:sp>
        <p:nvSpPr>
          <p:cNvPr id="105" name="Shape 10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566928" y="4261104"/>
            <a:ext cx="310896" cy="310896"/>
          </a:xfrm>
          <a:prstGeom prst="ellipse">
            <a:avLst/>
          </a:prstGeom>
          <a:solidFill>
            <a:srgbClr val="F4F1EA"/>
          </a:solidFill>
          <a:ln w="12700">
            <a:solidFill>
              <a:srgbClr val="F4F1EA"/>
            </a:solidFill>
            <a:prstDash val="solid"/>
          </a:ln>
        </p:spPr>
      </p:sp>
      <p:sp>
        <p:nvSpPr>
          <p:cNvPr id="107" name="Text 10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08" name="Shape 105"/>
          <p:cNvSpPr/>
          <p:nvPr/>
        </p:nvSpPr>
        <p:spPr>
          <a:xfrm>
            <a:off x="960120" y="4279392"/>
            <a:ext cx="1144829" cy="256032"/>
          </a:xfrm>
          <a:prstGeom prst="roundRect">
            <a:avLst>
              <a:gd name="adj" fmla="val 50000"/>
            </a:avLst>
          </a:prstGeom>
          <a:solidFill>
            <a:srgbClr val="EFE7D2"/>
          </a:solidFill>
          <a:ln w="12700">
            <a:solidFill>
              <a:srgbClr val="EFE7D2"/>
            </a:solidFill>
            <a:prstDash val="solid"/>
          </a:ln>
        </p:spPr>
      </p:sp>
      <p:sp>
        <p:nvSpPr>
          <p:cNvPr id="109" name="Text 106"/>
          <p:cNvSpPr txBox="1"/>
          <p:nvPr/>
        </p:nvSpPr>
        <p:spPr>
          <a:xfrm>
            <a:off x="960120"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110" name="Shape 10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111" name="Text 10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112" name="Text 109"/>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أَسْوَدُ</a:t>
            </a:r>
            <a:endParaRPr lang="ar-SA" sz="3000" dirty="0"/>
          </a:p>
        </p:txBody>
      </p:sp>
      <p:sp>
        <p:nvSpPr>
          <p:cNvPr id="113" name="Text 110"/>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black</a:t>
            </a:r>
            <a:endParaRPr lang="en-US" sz="1350" dirty="0"/>
          </a:p>
          <a:p>
            <a:pPr indent="0" marL="0">
              <a:buNone/>
            </a:pPr>
            <a:r>
              <a:rPr lang="en-US" sz="1100" i="1" dirty="0">
                <a:solidFill>
                  <a:srgbClr val="5A6472"/>
                </a:solidFill>
                <a:latin typeface="Calibri" pitchFamily="34" charset="0"/>
                <a:cs typeface="Amiri" pitchFamily="2" charset="-78"/>
              </a:rPr>
              <a:t>as-wad · saw-dā’</a:t>
            </a:r>
            <a:endParaRPr lang="en-US" sz="1350" dirty="0"/>
          </a:p>
        </p:txBody>
      </p:sp>
      <p:sp>
        <p:nvSpPr>
          <p:cNvPr id="114" name="Shape 111"/>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15" name="Text 112"/>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116" name="Text 113"/>
          <p:cNvSpPr txBox="1"/>
          <p:nvPr/>
        </p:nvSpPr>
        <p:spPr>
          <a:xfrm>
            <a:off x="2944368"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سَوْدَاءُ</a:t>
            </a:r>
            <a:endParaRPr lang="ar-SA" sz="1350" dirty="0"/>
          </a:p>
        </p:txBody>
      </p:sp>
      <p:sp>
        <p:nvSpPr>
          <p:cNvPr id="117" name="Shape 114"/>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18" name="Text 115"/>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19" name="Text 116"/>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سَوْدَاءُ</a:t>
            </a:r>
            <a:endParaRPr lang="ar-SA" sz="1500" dirty="0"/>
          </a:p>
        </p:txBody>
      </p:sp>
      <p:sp>
        <p:nvSpPr>
          <p:cNvPr id="120" name="Shape 117"/>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21" name="Text 118"/>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22" name="Text 119"/>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أَسْوَدُ</a:t>
            </a:r>
            <a:endParaRPr lang="ar-SA" sz="1500" dirty="0"/>
          </a:p>
        </p:txBody>
      </p:sp>
      <p:sp>
        <p:nvSpPr>
          <p:cNvPr id="123" name="Text 12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Colours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COLOURS THAT ADD -A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Orange, purple, brown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الأَلْوَانُ المُنْتَهِيَةُ بِـ ـِيٌّ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1144829"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بُرْتُقَالِيٌّ</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orange</a:t>
            </a:r>
            <a:endParaRPr lang="en-US" sz="1350" dirty="0"/>
          </a:p>
          <a:p>
            <a:pPr indent="0" marL="0">
              <a:buNone/>
            </a:pPr>
            <a:r>
              <a:rPr lang="en-US" sz="1100" i="1" dirty="0">
                <a:solidFill>
                  <a:srgbClr val="5A6472"/>
                </a:solidFill>
                <a:latin typeface="Calibri" pitchFamily="34" charset="0"/>
                <a:cs typeface="Amiri" pitchFamily="2" charset="-78"/>
              </a:rPr>
              <a:t>bur-tu-qā-lī</a:t>
            </a:r>
            <a:endParaRPr lang="en-US" sz="1350" dirty="0"/>
          </a:p>
        </p:txBody>
      </p:sp>
      <p:sp>
        <p:nvSpPr>
          <p:cNvPr id="22" name="Shape 19"/>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24" name="Text 21"/>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بُرْتُقَالِيَّةٌ</a:t>
            </a:r>
            <a:endParaRPr lang="ar-SA" sz="1350" dirty="0"/>
          </a:p>
        </p:txBody>
      </p:sp>
      <p:sp>
        <p:nvSpPr>
          <p:cNvPr id="25" name="Shape 22"/>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7" name="Text 24"/>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بُرْتُقَالِيَّةٌ</a:t>
            </a:r>
            <a:endParaRPr lang="ar-SA" sz="1500" dirty="0"/>
          </a:p>
        </p:txBody>
      </p:sp>
      <p:sp>
        <p:nvSpPr>
          <p:cNvPr id="28" name="Shape 25"/>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29" name="Text 26"/>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0" name="Text 27"/>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بُرْتُقَالِيٌّ</a:t>
            </a:r>
            <a:endParaRPr lang="ar-SA" sz="1500" dirty="0"/>
          </a:p>
        </p:txBody>
      </p:sp>
      <p:sp>
        <p:nvSpPr>
          <p:cNvPr id="31" name="Shape 28"/>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89120"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4" name="Shape 31"/>
          <p:cNvSpPr/>
          <p:nvPr/>
        </p:nvSpPr>
        <p:spPr>
          <a:xfrm>
            <a:off x="4782312" y="1938528"/>
            <a:ext cx="1144829"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4782312"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36" name="Text 33"/>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بَنَفْسَجِيٌّ</a:t>
            </a:r>
            <a:endParaRPr lang="ar-SA" sz="3000" dirty="0"/>
          </a:p>
        </p:txBody>
      </p:sp>
      <p:sp>
        <p:nvSpPr>
          <p:cNvPr id="37" name="Text 34"/>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purple</a:t>
            </a:r>
            <a:endParaRPr lang="en-US" sz="1350" dirty="0"/>
          </a:p>
          <a:p>
            <a:pPr indent="0" marL="0">
              <a:buNone/>
            </a:pPr>
            <a:r>
              <a:rPr lang="en-US" sz="1100" i="1" dirty="0">
                <a:solidFill>
                  <a:srgbClr val="5A6472"/>
                </a:solidFill>
                <a:latin typeface="Calibri" pitchFamily="34" charset="0"/>
                <a:cs typeface="Amiri" pitchFamily="2" charset="-78"/>
              </a:rPr>
              <a:t>ba-naf-sa-jī</a:t>
            </a:r>
            <a:endParaRPr lang="en-US" sz="1350" dirty="0"/>
          </a:p>
        </p:txBody>
      </p:sp>
      <p:sp>
        <p:nvSpPr>
          <p:cNvPr id="38" name="Shape 35"/>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40" name="Text 37"/>
          <p:cNvSpPr txBox="1"/>
          <p:nvPr/>
        </p:nvSpPr>
        <p:spPr>
          <a:xfrm>
            <a:off x="676656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بَنَفْسَجِيَّةٌ</a:t>
            </a:r>
            <a:endParaRPr lang="ar-SA" sz="1350" dirty="0"/>
          </a:p>
        </p:txBody>
      </p:sp>
      <p:sp>
        <p:nvSpPr>
          <p:cNvPr id="41" name="Shape 38"/>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3" name="Text 40"/>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بَنَفْسَجِيَّةٌ</a:t>
            </a:r>
            <a:endParaRPr lang="ar-SA" sz="1500" dirty="0"/>
          </a:p>
        </p:txBody>
      </p:sp>
      <p:sp>
        <p:nvSpPr>
          <p:cNvPr id="44" name="Shape 41"/>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6" name="Text 43"/>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بَنَفْسَجِيٌّ</a:t>
            </a:r>
            <a:endParaRPr lang="ar-SA" sz="1500" dirty="0"/>
          </a:p>
        </p:txBody>
      </p:sp>
      <p:sp>
        <p:nvSpPr>
          <p:cNvPr id="47" name="Shape 4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66928" y="1920240"/>
            <a:ext cx="310896" cy="310896"/>
          </a:xfrm>
          <a:prstGeom prst="ellipse">
            <a:avLst/>
          </a:prstGeom>
          <a:solidFill>
            <a:srgbClr val="F4F1EA"/>
          </a:solidFill>
          <a:ln w="12700">
            <a:solidFill>
              <a:srgbClr val="F4F1EA"/>
            </a:solidFill>
            <a:prstDash val="solid"/>
          </a:ln>
        </p:spPr>
      </p:sp>
      <p:sp>
        <p:nvSpPr>
          <p:cNvPr id="49" name="Text 4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0" name="Shape 47"/>
          <p:cNvSpPr/>
          <p:nvPr/>
        </p:nvSpPr>
        <p:spPr>
          <a:xfrm>
            <a:off x="960120" y="1938528"/>
            <a:ext cx="1144829"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960120"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52" name="Shape 4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3" name="Text 5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بُنِّيٌّ</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brown</a:t>
            </a:r>
            <a:endParaRPr lang="en-US" sz="1350" dirty="0"/>
          </a:p>
          <a:p>
            <a:pPr indent="0" marL="0">
              <a:buNone/>
            </a:pPr>
            <a:r>
              <a:rPr lang="en-US" sz="1100" i="1" dirty="0">
                <a:solidFill>
                  <a:srgbClr val="5A6472"/>
                </a:solidFill>
                <a:latin typeface="Calibri" pitchFamily="34" charset="0"/>
                <a:cs typeface="Amiri" pitchFamily="2" charset="-78"/>
              </a:rPr>
              <a:t>bun-nī</a:t>
            </a:r>
            <a:endParaRPr lang="en-US" sz="1350" dirty="0"/>
          </a:p>
        </p:txBody>
      </p:sp>
      <p:sp>
        <p:nvSpPr>
          <p:cNvPr id="56" name="Shape 5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58" name="Text 55"/>
          <p:cNvSpPr txBox="1"/>
          <p:nvPr/>
        </p:nvSpPr>
        <p:spPr>
          <a:xfrm>
            <a:off x="294436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بُنِّيَّةٌ</a:t>
            </a:r>
            <a:endParaRPr lang="ar-SA" sz="1350" dirty="0"/>
          </a:p>
        </p:txBody>
      </p:sp>
      <p:sp>
        <p:nvSpPr>
          <p:cNvPr id="59" name="Shape 5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1" name="Text 5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بُنِّيَّةٌ</a:t>
            </a:r>
            <a:endParaRPr lang="ar-SA" sz="1500" dirty="0"/>
          </a:p>
        </p:txBody>
      </p:sp>
      <p:sp>
        <p:nvSpPr>
          <p:cNvPr id="62" name="Shape 5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4" name="Text 6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بُنِّيٌّ</a:t>
            </a:r>
            <a:endParaRPr lang="ar-SA" sz="1500" dirty="0"/>
          </a:p>
        </p:txBody>
      </p:sp>
      <p:sp>
        <p:nvSpPr>
          <p:cNvPr id="65" name="Shape 6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8211312"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68" name="Shape 65"/>
          <p:cNvSpPr/>
          <p:nvPr/>
        </p:nvSpPr>
        <p:spPr>
          <a:xfrm>
            <a:off x="8604504" y="4279392"/>
            <a:ext cx="1144829"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8604504"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70" name="Text 6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رَمَادِيٌّ</a:t>
            </a:r>
            <a:endParaRPr lang="ar-SA" sz="3000" dirty="0"/>
          </a:p>
        </p:txBody>
      </p:sp>
      <p:sp>
        <p:nvSpPr>
          <p:cNvPr id="71" name="Text 6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grey</a:t>
            </a:r>
            <a:endParaRPr lang="en-US" sz="1350" dirty="0"/>
          </a:p>
          <a:p>
            <a:pPr indent="0" marL="0">
              <a:buNone/>
            </a:pPr>
            <a:r>
              <a:rPr lang="en-US" sz="1100" i="1" dirty="0">
                <a:solidFill>
                  <a:srgbClr val="5A6472"/>
                </a:solidFill>
                <a:latin typeface="Calibri" pitchFamily="34" charset="0"/>
                <a:cs typeface="Amiri" pitchFamily="2" charset="-78"/>
              </a:rPr>
              <a:t>ra-mā-dī</a:t>
            </a:r>
            <a:endParaRPr lang="en-US" sz="1350" dirty="0"/>
          </a:p>
        </p:txBody>
      </p:sp>
      <p:sp>
        <p:nvSpPr>
          <p:cNvPr id="72" name="Shape 6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74" name="Text 71"/>
          <p:cNvSpPr txBox="1"/>
          <p:nvPr/>
        </p:nvSpPr>
        <p:spPr>
          <a:xfrm>
            <a:off x="10588752"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رَمَادِيَّةٌ</a:t>
            </a:r>
            <a:endParaRPr lang="ar-SA" sz="1350" dirty="0"/>
          </a:p>
        </p:txBody>
      </p:sp>
      <p:sp>
        <p:nvSpPr>
          <p:cNvPr id="75" name="Shape 7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7" name="Text 74"/>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رَمَادِيَّةٌ</a:t>
            </a:r>
            <a:endParaRPr lang="ar-SA" sz="1500" dirty="0"/>
          </a:p>
        </p:txBody>
      </p:sp>
      <p:sp>
        <p:nvSpPr>
          <p:cNvPr id="78" name="Shape 7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0" name="Text 7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رَمَادِيٌّ</a:t>
            </a:r>
            <a:endParaRPr lang="ar-SA" sz="1500" dirty="0"/>
          </a:p>
        </p:txBody>
      </p:sp>
      <p:sp>
        <p:nvSpPr>
          <p:cNvPr id="81" name="Shape 7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4389120" y="4261104"/>
            <a:ext cx="310896" cy="310896"/>
          </a:xfrm>
          <a:prstGeom prst="ellipse">
            <a:avLst/>
          </a:prstGeom>
          <a:solidFill>
            <a:srgbClr val="F4F1EA"/>
          </a:solidFill>
          <a:ln w="12700">
            <a:solidFill>
              <a:srgbClr val="F4F1EA"/>
            </a:solidFill>
            <a:prstDash val="solid"/>
          </a:ln>
        </p:spPr>
      </p:sp>
      <p:sp>
        <p:nvSpPr>
          <p:cNvPr id="83" name="Text 8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84" name="Shape 81"/>
          <p:cNvSpPr/>
          <p:nvPr/>
        </p:nvSpPr>
        <p:spPr>
          <a:xfrm>
            <a:off x="4782312" y="4279392"/>
            <a:ext cx="1144829" cy="256032"/>
          </a:xfrm>
          <a:prstGeom prst="roundRect">
            <a:avLst>
              <a:gd name="adj" fmla="val 50000"/>
            </a:avLst>
          </a:prstGeom>
          <a:solidFill>
            <a:srgbClr val="EFE7D2"/>
          </a:solidFill>
          <a:ln w="12700">
            <a:solidFill>
              <a:srgbClr val="EFE7D2"/>
            </a:solidFill>
            <a:prstDash val="solid"/>
          </a:ln>
        </p:spPr>
      </p:sp>
      <p:sp>
        <p:nvSpPr>
          <p:cNvPr id="85" name="Text 82"/>
          <p:cNvSpPr txBox="1"/>
          <p:nvPr/>
        </p:nvSpPr>
        <p:spPr>
          <a:xfrm>
            <a:off x="4782312"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86" name="Shape 8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7" name="Text 8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8" name="Text 85"/>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وَرْدِيٌّ</a:t>
            </a:r>
            <a:endParaRPr lang="ar-SA" sz="3000" dirty="0"/>
          </a:p>
        </p:txBody>
      </p:sp>
      <p:sp>
        <p:nvSpPr>
          <p:cNvPr id="89" name="Text 86"/>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pink</a:t>
            </a:r>
            <a:endParaRPr lang="en-US" sz="1350" dirty="0"/>
          </a:p>
          <a:p>
            <a:pPr indent="0" marL="0">
              <a:buNone/>
            </a:pPr>
            <a:r>
              <a:rPr lang="en-US" sz="1100" i="1" dirty="0">
                <a:solidFill>
                  <a:srgbClr val="5A6472"/>
                </a:solidFill>
                <a:latin typeface="Calibri" pitchFamily="34" charset="0"/>
                <a:cs typeface="Amiri" pitchFamily="2" charset="-78"/>
              </a:rPr>
              <a:t>war-dī</a:t>
            </a:r>
            <a:endParaRPr lang="en-US" sz="1350" dirty="0"/>
          </a:p>
        </p:txBody>
      </p:sp>
      <p:sp>
        <p:nvSpPr>
          <p:cNvPr id="90" name="Shape 87"/>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1" name="Text 88"/>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92" name="Text 89"/>
          <p:cNvSpPr txBox="1"/>
          <p:nvPr/>
        </p:nvSpPr>
        <p:spPr>
          <a:xfrm>
            <a:off x="6766560"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وَرْدِيَّةٌ</a:t>
            </a:r>
            <a:endParaRPr lang="ar-SA" sz="1350" dirty="0"/>
          </a:p>
        </p:txBody>
      </p:sp>
      <p:sp>
        <p:nvSpPr>
          <p:cNvPr id="93" name="Shape 90"/>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4" name="Text 91"/>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5" name="Text 92"/>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وَرْدِيَّةٌ</a:t>
            </a:r>
            <a:endParaRPr lang="ar-SA" sz="1500" dirty="0"/>
          </a:p>
        </p:txBody>
      </p:sp>
      <p:sp>
        <p:nvSpPr>
          <p:cNvPr id="96" name="Shape 93"/>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97" name="Text 94"/>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98" name="Text 95"/>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وَرْدِيٌّ</a:t>
            </a:r>
            <a:endParaRPr lang="ar-SA" sz="1500" dirty="0"/>
          </a:p>
        </p:txBody>
      </p:sp>
      <p:sp>
        <p:nvSpPr>
          <p:cNvPr id="99" name="Shape 96"/>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0" name="Shape 97"/>
          <p:cNvSpPr/>
          <p:nvPr/>
        </p:nvSpPr>
        <p:spPr>
          <a:xfrm>
            <a:off x="566928" y="4261104"/>
            <a:ext cx="310896" cy="310896"/>
          </a:xfrm>
          <a:prstGeom prst="ellipse">
            <a:avLst/>
          </a:prstGeom>
          <a:solidFill>
            <a:srgbClr val="F4F1EA"/>
          </a:solidFill>
          <a:ln w="12700">
            <a:solidFill>
              <a:srgbClr val="F4F1EA"/>
            </a:solidFill>
            <a:prstDash val="solid"/>
          </a:ln>
        </p:spPr>
      </p:sp>
      <p:sp>
        <p:nvSpPr>
          <p:cNvPr id="101" name="Text 98"/>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102" name="Shape 99"/>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103" name="Text 100"/>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104" name="Text 101"/>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لَوْنٌ</a:t>
            </a:r>
            <a:endParaRPr lang="ar-SA" sz="3000" dirty="0"/>
          </a:p>
        </p:txBody>
      </p:sp>
      <p:sp>
        <p:nvSpPr>
          <p:cNvPr id="105" name="Text 102"/>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colour</a:t>
            </a:r>
            <a:endParaRPr lang="en-US" sz="1350" dirty="0"/>
          </a:p>
          <a:p>
            <a:pPr indent="0" marL="0">
              <a:buNone/>
            </a:pPr>
            <a:r>
              <a:rPr lang="en-US" sz="1100" i="1" dirty="0">
                <a:solidFill>
                  <a:srgbClr val="5A6472"/>
                </a:solidFill>
                <a:latin typeface="Calibri" pitchFamily="34" charset="0"/>
                <a:cs typeface="Amiri" pitchFamily="2" charset="-78"/>
              </a:rPr>
              <a:t>lawn · al-wān</a:t>
            </a:r>
            <a:endParaRPr lang="en-US" sz="1350" dirty="0"/>
          </a:p>
        </p:txBody>
      </p:sp>
      <p:sp>
        <p:nvSpPr>
          <p:cNvPr id="106" name="Shape 103"/>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107" name="Text 104"/>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108" name="Text 105"/>
          <p:cNvSpPr txBox="1"/>
          <p:nvPr/>
        </p:nvSpPr>
        <p:spPr>
          <a:xfrm>
            <a:off x="640080"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أَلْوَانٌ</a:t>
            </a:r>
            <a:endParaRPr lang="ar-SA" sz="150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Colours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50" b="1" spc="150" kern="0" dirty="0">
                <a:solidFill>
                  <a:srgbClr val="1B3B6F"/>
                </a:solidFill>
                <a:latin typeface="Calibri" pitchFamily="34" charset="0"/>
                <a:cs typeface="Amiri" pitchFamily="2" charset="-78"/>
              </a:rPr>
              <a:t>KEY WORDS · GROUP 3 · SHADE, FINISH AND PATTERN (WEBSITE EXTENSION) · FLEX</a:t>
            </a:r>
            <a:endParaRPr lang="en-US" sz="95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Light, dark, gold, striped …</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مُفْرَدَاتٌ إِضَافِيَّةٌ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Shape 17"/>
          <p:cNvSpPr/>
          <p:nvPr/>
        </p:nvSpPr>
        <p:spPr>
          <a:xfrm>
            <a:off x="8604504" y="1938528"/>
            <a:ext cx="1144829"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فَاتِحٌ</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light (shade)</a:t>
            </a:r>
            <a:endParaRPr lang="en-US" sz="1350" dirty="0"/>
          </a:p>
          <a:p>
            <a:pPr indent="0" marL="0">
              <a:buNone/>
            </a:pPr>
            <a:r>
              <a:rPr lang="en-US" sz="1100" i="1" dirty="0">
                <a:solidFill>
                  <a:srgbClr val="5A6472"/>
                </a:solidFill>
                <a:latin typeface="Calibri" pitchFamily="34" charset="0"/>
                <a:cs typeface="Amiri" pitchFamily="2" charset="-78"/>
              </a:rPr>
              <a:t>fā-tiḥ</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26" name="Text 23"/>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فَاتِحَةٌ</a:t>
            </a:r>
            <a:endParaRPr lang="ar-SA" sz="135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فَاتِحَةٌ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فَاتِحٌ</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6" name="Shape 33"/>
          <p:cNvSpPr/>
          <p:nvPr/>
        </p:nvSpPr>
        <p:spPr>
          <a:xfrm>
            <a:off x="4782312" y="1938528"/>
            <a:ext cx="1144829"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غَامِقٌ</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dark (shade)</a:t>
            </a:r>
            <a:endParaRPr lang="en-US" sz="1350" dirty="0"/>
          </a:p>
          <a:p>
            <a:pPr indent="0" marL="0">
              <a:buNone/>
            </a:pPr>
            <a:r>
              <a:rPr lang="en-US" sz="1100" i="1" dirty="0">
                <a:solidFill>
                  <a:srgbClr val="5A6472"/>
                </a:solidFill>
                <a:latin typeface="Calibri" pitchFamily="34" charset="0"/>
                <a:cs typeface="Amiri" pitchFamily="2" charset="-78"/>
              </a:rPr>
              <a:t>ghā-miq</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42" name="Text 39"/>
          <p:cNvSpPr txBox="1"/>
          <p:nvPr/>
        </p:nvSpPr>
        <p:spPr>
          <a:xfrm>
            <a:off x="676656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غَامِقَةٌ</a:t>
            </a:r>
            <a:endParaRPr lang="ar-SA" sz="135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5" name="Text 42"/>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غَامِقَةٌ</a:t>
            </a:r>
            <a:endParaRPr lang="ar-SA" sz="150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غَامِقٌ</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52" name="Shape 49"/>
          <p:cNvSpPr/>
          <p:nvPr/>
        </p:nvSpPr>
        <p:spPr>
          <a:xfrm>
            <a:off x="960120" y="1938528"/>
            <a:ext cx="1144829"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960120"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ذَهَبِيٌّ</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gold / golden</a:t>
            </a:r>
            <a:endParaRPr lang="en-US" sz="1350" dirty="0"/>
          </a:p>
          <a:p>
            <a:pPr indent="0" marL="0">
              <a:buNone/>
            </a:pPr>
            <a:r>
              <a:rPr lang="en-US" sz="1100" i="1" dirty="0">
                <a:solidFill>
                  <a:srgbClr val="5A6472"/>
                </a:solidFill>
                <a:latin typeface="Calibri" pitchFamily="34" charset="0"/>
                <a:cs typeface="Amiri" pitchFamily="2" charset="-78"/>
              </a:rPr>
              <a:t>dha-ha-bī</a:t>
            </a:r>
            <a:endParaRPr lang="en-US" sz="1350" dirty="0"/>
          </a:p>
        </p:txBody>
      </p:sp>
      <p:sp>
        <p:nvSpPr>
          <p:cNvPr id="56" name="Shape 5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58" name="Text 55"/>
          <p:cNvSpPr txBox="1"/>
          <p:nvPr/>
        </p:nvSpPr>
        <p:spPr>
          <a:xfrm>
            <a:off x="294436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ذَهَبِيَّةٌ</a:t>
            </a:r>
            <a:endParaRPr lang="ar-SA" sz="1350" dirty="0"/>
          </a:p>
        </p:txBody>
      </p:sp>
      <p:sp>
        <p:nvSpPr>
          <p:cNvPr id="59" name="Shape 5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1" name="Text 5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ذَهَبِيَّةٌ</a:t>
            </a:r>
            <a:endParaRPr lang="ar-SA" sz="1500" dirty="0"/>
          </a:p>
        </p:txBody>
      </p:sp>
      <p:sp>
        <p:nvSpPr>
          <p:cNvPr id="62" name="Shape 5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4" name="Text 6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ذَهَبِيٌّ</a:t>
            </a:r>
            <a:endParaRPr lang="ar-SA" sz="1500" dirty="0"/>
          </a:p>
        </p:txBody>
      </p:sp>
      <p:sp>
        <p:nvSpPr>
          <p:cNvPr id="65" name="Shape 6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8211312"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68" name="Shape 65"/>
          <p:cNvSpPr/>
          <p:nvPr/>
        </p:nvSpPr>
        <p:spPr>
          <a:xfrm>
            <a:off x="8604504" y="4279392"/>
            <a:ext cx="1144829"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8604504"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70" name="Text 6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فِضِّيٌّ</a:t>
            </a:r>
            <a:endParaRPr lang="ar-SA" sz="3000" dirty="0"/>
          </a:p>
        </p:txBody>
      </p:sp>
      <p:sp>
        <p:nvSpPr>
          <p:cNvPr id="71" name="Text 6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silver</a:t>
            </a:r>
            <a:endParaRPr lang="en-US" sz="1350" dirty="0"/>
          </a:p>
          <a:p>
            <a:pPr indent="0" marL="0">
              <a:buNone/>
            </a:pPr>
            <a:r>
              <a:rPr lang="en-US" sz="1100" i="1" dirty="0">
                <a:solidFill>
                  <a:srgbClr val="5A6472"/>
                </a:solidFill>
                <a:latin typeface="Calibri" pitchFamily="34" charset="0"/>
                <a:cs typeface="Amiri" pitchFamily="2" charset="-78"/>
              </a:rPr>
              <a:t>fiḍ-ḍī</a:t>
            </a:r>
            <a:endParaRPr lang="en-US" sz="1350" dirty="0"/>
          </a:p>
        </p:txBody>
      </p:sp>
      <p:sp>
        <p:nvSpPr>
          <p:cNvPr id="72" name="Shape 6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74" name="Text 71"/>
          <p:cNvSpPr txBox="1"/>
          <p:nvPr/>
        </p:nvSpPr>
        <p:spPr>
          <a:xfrm>
            <a:off x="10588752"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فِضِّيَّةٌ</a:t>
            </a:r>
            <a:endParaRPr lang="ar-SA" sz="1350" dirty="0"/>
          </a:p>
        </p:txBody>
      </p:sp>
      <p:sp>
        <p:nvSpPr>
          <p:cNvPr id="75" name="Shape 7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7" name="Text 74"/>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فِضِّيَّةٌ</a:t>
            </a:r>
            <a:endParaRPr lang="ar-SA" sz="1500" dirty="0"/>
          </a:p>
        </p:txBody>
      </p:sp>
      <p:sp>
        <p:nvSpPr>
          <p:cNvPr id="78" name="Shape 7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0" name="Text 7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فِضِّيٌّ</a:t>
            </a:r>
            <a:endParaRPr lang="ar-SA" sz="1500" dirty="0"/>
          </a:p>
        </p:txBody>
      </p:sp>
      <p:sp>
        <p:nvSpPr>
          <p:cNvPr id="81" name="Shape 7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4389120" y="4261104"/>
            <a:ext cx="310896" cy="310896"/>
          </a:xfrm>
          <a:prstGeom prst="ellipse">
            <a:avLst/>
          </a:prstGeom>
          <a:solidFill>
            <a:srgbClr val="F4F1EA"/>
          </a:solidFill>
          <a:ln w="12700">
            <a:solidFill>
              <a:srgbClr val="F4F1EA"/>
            </a:solidFill>
            <a:prstDash val="solid"/>
          </a:ln>
        </p:spPr>
      </p:sp>
      <p:sp>
        <p:nvSpPr>
          <p:cNvPr id="83" name="Text 8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84" name="Shape 81"/>
          <p:cNvSpPr/>
          <p:nvPr/>
        </p:nvSpPr>
        <p:spPr>
          <a:xfrm>
            <a:off x="4782312" y="4279392"/>
            <a:ext cx="1144829" cy="256032"/>
          </a:xfrm>
          <a:prstGeom prst="roundRect">
            <a:avLst>
              <a:gd name="adj" fmla="val 50000"/>
            </a:avLst>
          </a:prstGeom>
          <a:solidFill>
            <a:srgbClr val="EFE7D2"/>
          </a:solidFill>
          <a:ln w="12700">
            <a:solidFill>
              <a:srgbClr val="EFE7D2"/>
            </a:solidFill>
            <a:prstDash val="solid"/>
          </a:ln>
        </p:spPr>
      </p:sp>
      <p:sp>
        <p:nvSpPr>
          <p:cNvPr id="85" name="Text 82"/>
          <p:cNvSpPr txBox="1"/>
          <p:nvPr/>
        </p:nvSpPr>
        <p:spPr>
          <a:xfrm>
            <a:off x="4782312"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86" name="Text 8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مُلَوَّنٌ</a:t>
            </a:r>
            <a:endParaRPr lang="ar-SA" sz="3000" dirty="0"/>
          </a:p>
        </p:txBody>
      </p:sp>
      <p:sp>
        <p:nvSpPr>
          <p:cNvPr id="87" name="Text 8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colourful</a:t>
            </a:r>
            <a:endParaRPr lang="en-US" sz="1350" dirty="0"/>
          </a:p>
          <a:p>
            <a:pPr indent="0" marL="0">
              <a:buNone/>
            </a:pPr>
            <a:r>
              <a:rPr lang="en-US" sz="1100" i="1" dirty="0">
                <a:solidFill>
                  <a:srgbClr val="5A6472"/>
                </a:solidFill>
                <a:latin typeface="Calibri" pitchFamily="34" charset="0"/>
                <a:cs typeface="Amiri" pitchFamily="2" charset="-78"/>
              </a:rPr>
              <a:t>mu-law-wan</a:t>
            </a:r>
            <a:endParaRPr lang="en-US" sz="1350" dirty="0"/>
          </a:p>
        </p:txBody>
      </p:sp>
      <p:sp>
        <p:nvSpPr>
          <p:cNvPr id="88" name="Shape 85"/>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89" name="Text 86"/>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90" name="Text 87"/>
          <p:cNvSpPr txBox="1"/>
          <p:nvPr/>
        </p:nvSpPr>
        <p:spPr>
          <a:xfrm>
            <a:off x="6766560"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مُلَوَّنَةٌ</a:t>
            </a:r>
            <a:endParaRPr lang="ar-SA" sz="1350" dirty="0"/>
          </a:p>
        </p:txBody>
      </p:sp>
      <p:sp>
        <p:nvSpPr>
          <p:cNvPr id="91" name="Shape 88"/>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2" name="Text 89"/>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3" name="Text 90"/>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مُلَوَّنَةٌ</a:t>
            </a:r>
            <a:endParaRPr lang="ar-SA" sz="1500" dirty="0"/>
          </a:p>
        </p:txBody>
      </p:sp>
      <p:sp>
        <p:nvSpPr>
          <p:cNvPr id="94" name="Shape 91"/>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95" name="Text 92"/>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96" name="Text 93"/>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مُلَوَّنٌ</a:t>
            </a:r>
            <a:endParaRPr lang="ar-SA" sz="1500" dirty="0"/>
          </a:p>
        </p:txBody>
      </p:sp>
      <p:sp>
        <p:nvSpPr>
          <p:cNvPr id="97" name="Shape 94"/>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8" name="Shape 95"/>
          <p:cNvSpPr/>
          <p:nvPr/>
        </p:nvSpPr>
        <p:spPr>
          <a:xfrm>
            <a:off x="566928" y="4261104"/>
            <a:ext cx="310896" cy="310896"/>
          </a:xfrm>
          <a:prstGeom prst="ellipse">
            <a:avLst/>
          </a:prstGeom>
          <a:solidFill>
            <a:srgbClr val="F4F1EA"/>
          </a:solidFill>
          <a:ln w="12700">
            <a:solidFill>
              <a:srgbClr val="F4F1EA"/>
            </a:solidFill>
            <a:prstDash val="solid"/>
          </a:ln>
        </p:spPr>
      </p:sp>
      <p:sp>
        <p:nvSpPr>
          <p:cNvPr id="99" name="Text 96"/>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100" name="Shape 97"/>
          <p:cNvSpPr/>
          <p:nvPr/>
        </p:nvSpPr>
        <p:spPr>
          <a:xfrm>
            <a:off x="960120" y="4279392"/>
            <a:ext cx="1144829" cy="256032"/>
          </a:xfrm>
          <a:prstGeom prst="roundRect">
            <a:avLst>
              <a:gd name="adj" fmla="val 50000"/>
            </a:avLst>
          </a:prstGeom>
          <a:solidFill>
            <a:srgbClr val="EFE7D2"/>
          </a:solidFill>
          <a:ln w="12700">
            <a:solidFill>
              <a:srgbClr val="EFE7D2"/>
            </a:solidFill>
            <a:prstDash val="solid"/>
          </a:ln>
        </p:spPr>
      </p:sp>
      <p:sp>
        <p:nvSpPr>
          <p:cNvPr id="101" name="Text 98"/>
          <p:cNvSpPr txBox="1"/>
          <p:nvPr/>
        </p:nvSpPr>
        <p:spPr>
          <a:xfrm>
            <a:off x="960120"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102" name="Text 99"/>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مُخَطَّطٌ</a:t>
            </a:r>
            <a:endParaRPr lang="ar-SA" sz="3000" dirty="0"/>
          </a:p>
        </p:txBody>
      </p:sp>
      <p:sp>
        <p:nvSpPr>
          <p:cNvPr id="103" name="Text 100"/>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striped</a:t>
            </a:r>
            <a:endParaRPr lang="en-US" sz="1350" dirty="0"/>
          </a:p>
          <a:p>
            <a:pPr indent="0" marL="0">
              <a:buNone/>
            </a:pPr>
            <a:r>
              <a:rPr lang="en-US" sz="1100" i="1" dirty="0">
                <a:solidFill>
                  <a:srgbClr val="5A6472"/>
                </a:solidFill>
                <a:latin typeface="Calibri" pitchFamily="34" charset="0"/>
                <a:cs typeface="Amiri" pitchFamily="2" charset="-78"/>
              </a:rPr>
              <a:t>mu-khaṭ-ṭaṭ</a:t>
            </a:r>
            <a:endParaRPr lang="en-US" sz="1350" dirty="0"/>
          </a:p>
        </p:txBody>
      </p:sp>
      <p:sp>
        <p:nvSpPr>
          <p:cNvPr id="104" name="Shape 101"/>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05" name="Text 102"/>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106" name="Text 103"/>
          <p:cNvSpPr txBox="1"/>
          <p:nvPr/>
        </p:nvSpPr>
        <p:spPr>
          <a:xfrm>
            <a:off x="2944368"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مُخَطَّطَةٌ</a:t>
            </a:r>
            <a:endParaRPr lang="ar-SA" sz="1350" dirty="0"/>
          </a:p>
        </p:txBody>
      </p:sp>
      <p:sp>
        <p:nvSpPr>
          <p:cNvPr id="107" name="Shape 104"/>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08" name="Text 105"/>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09" name="Text 106"/>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مُخَطَّطَةٌ</a:t>
            </a:r>
            <a:endParaRPr lang="ar-SA" sz="1500" dirty="0"/>
          </a:p>
        </p:txBody>
      </p:sp>
      <p:sp>
        <p:nvSpPr>
          <p:cNvPr id="110" name="Shape 107"/>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11" name="Text 108"/>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12" name="Text 109"/>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مُخَطَّطٌ</a:t>
            </a:r>
            <a:endParaRPr lang="ar-SA" sz="1500" dirty="0"/>
          </a:p>
        </p:txBody>
      </p:sp>
      <p:sp>
        <p:nvSpPr>
          <p:cNvPr id="113" name="Text 11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Colours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60" b="1" spc="150" kern="0" dirty="0">
                <a:solidFill>
                  <a:srgbClr val="1B3B6F"/>
                </a:solidFill>
                <a:latin typeface="Calibri" pitchFamily="34" charset="0"/>
                <a:cs typeface="Amiri" pitchFamily="2" charset="-78"/>
              </a:rPr>
              <a:t>GRAMMAR FOCUS · PART 1 · NOUN FIRST, COLOUR SECOND (WEBSITE “MAKE COLOUR AGREE”)</a:t>
            </a:r>
            <a:endParaRPr lang="en-US" sz="86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noun decides the colour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طَابِقِ اللَّوْنَ مَعَ الاِسْمِ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87384"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Masculine noun</a:t>
            </a:r>
            <a:endParaRPr lang="en-US" sz="1100" dirty="0"/>
          </a:p>
        </p:txBody>
      </p:sp>
      <p:sp>
        <p:nvSpPr>
          <p:cNvPr id="17" name="Text 14"/>
          <p:cNvSpPr txBox="1"/>
          <p:nvPr/>
        </p:nvSpPr>
        <p:spPr>
          <a:xfrm>
            <a:off x="5678424"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Feminine noun</a:t>
            </a:r>
            <a:endParaRPr lang="en-US" sz="1100" dirty="0"/>
          </a:p>
        </p:txBody>
      </p:sp>
      <p:sp>
        <p:nvSpPr>
          <p:cNvPr id="18" name="Text 15"/>
          <p:cNvSpPr txBox="1"/>
          <p:nvPr/>
        </p:nvSpPr>
        <p:spPr>
          <a:xfrm>
            <a:off x="3483864"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Pattern</a:t>
            </a:r>
            <a:endParaRPr lang="en-US" sz="1100" dirty="0"/>
          </a:p>
        </p:txBody>
      </p:sp>
      <p:sp>
        <p:nvSpPr>
          <p:cNvPr id="19" name="Text 16"/>
          <p:cNvSpPr txBox="1"/>
          <p:nvPr/>
        </p:nvSpPr>
        <p:spPr>
          <a:xfrm>
            <a:off x="530352" y="1810512"/>
            <a:ext cx="2807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805672" y="2267712"/>
            <a:ext cx="283464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بَابٌ </a:t>
            </a:r>
            <a:pPr rtl="1" algn="ctr" indent="0" marL="0">
              <a:buNone/>
            </a:pPr>
            <a:r>
              <a:rPr lang="ar-SA" altLang="en-US" sz="2400" b="1" dirty="0">
                <a:solidFill>
                  <a:srgbClr val="1D5FBF"/>
                </a:solidFill>
                <a:latin typeface="Amiri" pitchFamily="2" charset="-78"/>
                <a:ea typeface="Amiri" pitchFamily="2" charset="-78"/>
                <a:cs typeface="Amiri" pitchFamily="2" charset="-78"/>
              </a:rPr>
              <a:t>أَحْمَرُ</a:t>
            </a:r>
            <a:endParaRPr lang="ar-SA" sz="2400" dirty="0"/>
          </a:p>
        </p:txBody>
      </p:sp>
      <p:sp>
        <p:nvSpPr>
          <p:cNvPr id="22" name="Text 19"/>
          <p:cNvSpPr txBox="1"/>
          <p:nvPr/>
        </p:nvSpPr>
        <p:spPr>
          <a:xfrm>
            <a:off x="5696712" y="2267712"/>
            <a:ext cx="29260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نَافِذَةٌ </a:t>
            </a:r>
            <a:pPr rtl="1" algn="ctr" indent="0" marL="0">
              <a:buNone/>
            </a:pPr>
            <a:r>
              <a:rPr lang="ar-SA" altLang="en-US" sz="2400" b="1" dirty="0">
                <a:solidFill>
                  <a:srgbClr val="D6336C"/>
                </a:solidFill>
                <a:latin typeface="Amiri" pitchFamily="2" charset="-78"/>
                <a:ea typeface="Amiri" pitchFamily="2" charset="-78"/>
                <a:cs typeface="Amiri" pitchFamily="2" charset="-78"/>
              </a:rPr>
              <a:t>حَمْرَاءُ</a:t>
            </a:r>
            <a:endParaRPr lang="ar-SA" sz="2400" dirty="0"/>
          </a:p>
        </p:txBody>
      </p:sp>
      <p:sp>
        <p:nvSpPr>
          <p:cNvPr id="23" name="Text 20"/>
          <p:cNvSpPr txBox="1"/>
          <p:nvPr/>
        </p:nvSpPr>
        <p:spPr>
          <a:xfrm>
            <a:off x="3520440" y="2267712"/>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changes completely</a:t>
            </a:r>
            <a:endParaRPr lang="en-US" sz="1100" dirty="0"/>
          </a:p>
        </p:txBody>
      </p:sp>
      <p:sp>
        <p:nvSpPr>
          <p:cNvPr id="24" name="Text 21"/>
          <p:cNvSpPr txBox="1"/>
          <p:nvPr/>
        </p:nvSpPr>
        <p:spPr>
          <a:xfrm>
            <a:off x="566928" y="2267712"/>
            <a:ext cx="2770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red door · a red window</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805672" y="3054096"/>
            <a:ext cx="283464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مَكْتَبٌ </a:t>
            </a:r>
            <a:pPr rtl="1" algn="ctr" indent="0" marL="0">
              <a:buNone/>
            </a:pPr>
            <a:r>
              <a:rPr lang="ar-SA" altLang="en-US" sz="2400" b="1" dirty="0">
                <a:solidFill>
                  <a:srgbClr val="1D5FBF"/>
                </a:solidFill>
                <a:latin typeface="Amiri" pitchFamily="2" charset="-78"/>
                <a:ea typeface="Amiri" pitchFamily="2" charset="-78"/>
                <a:cs typeface="Amiri" pitchFamily="2" charset="-78"/>
              </a:rPr>
              <a:t>بُنِّيٌّ</a:t>
            </a:r>
            <a:endParaRPr lang="ar-SA" sz="2400" dirty="0"/>
          </a:p>
        </p:txBody>
      </p:sp>
      <p:sp>
        <p:nvSpPr>
          <p:cNvPr id="29" name="Text 26"/>
          <p:cNvSpPr txBox="1"/>
          <p:nvPr/>
        </p:nvSpPr>
        <p:spPr>
          <a:xfrm>
            <a:off x="5696712" y="3054096"/>
            <a:ext cx="29260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طَاوِلَةٌ </a:t>
            </a:r>
            <a:pPr rtl="1" algn="ctr" indent="0" marL="0">
              <a:buNone/>
            </a:pPr>
            <a:r>
              <a:rPr lang="ar-SA" altLang="en-US" sz="2400" b="1" dirty="0">
                <a:solidFill>
                  <a:srgbClr val="D6336C"/>
                </a:solidFill>
                <a:latin typeface="Amiri" pitchFamily="2" charset="-78"/>
                <a:ea typeface="Amiri" pitchFamily="2" charset="-78"/>
                <a:cs typeface="Amiri" pitchFamily="2" charset="-78"/>
              </a:rPr>
              <a:t>بُنِّيَّةٌ</a:t>
            </a:r>
            <a:endParaRPr lang="ar-SA" sz="2400" dirty="0"/>
          </a:p>
        </p:txBody>
      </p:sp>
      <p:sp>
        <p:nvSpPr>
          <p:cNvPr id="30" name="Text 27"/>
          <p:cNvSpPr txBox="1"/>
          <p:nvPr/>
        </p:nvSpPr>
        <p:spPr>
          <a:xfrm>
            <a:off x="3520440" y="3054096"/>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adds -a (</a:t>
            </a:r>
            <a:pPr algn="l" indent="0" marL="0">
              <a:buNone/>
            </a:pPr>
            <a:r>
              <a:rPr lang="ar-SA" altLang="en-US" sz="1450" dirty="0">
                <a:solidFill>
                  <a:srgbClr val="5A6472"/>
                </a:solidFill>
                <a:latin typeface="Amiri" pitchFamily="2" charset="-78"/>
                <a:ea typeface="Amiri" pitchFamily="2" charset="-78"/>
                <a:cs typeface="Amiri" pitchFamily="2" charset="-78"/>
              </a:rPr>
              <a:t>ة</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1" name="Text 28"/>
          <p:cNvSpPr txBox="1"/>
          <p:nvPr/>
        </p:nvSpPr>
        <p:spPr>
          <a:xfrm>
            <a:off x="566928" y="3054096"/>
            <a:ext cx="2770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brown desk · a brown table</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805672" y="3840480"/>
            <a:ext cx="283464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سَرِيرٌ </a:t>
            </a:r>
            <a:pPr rtl="1" algn="ctr" indent="0" marL="0">
              <a:buNone/>
            </a:pPr>
            <a:r>
              <a:rPr lang="ar-SA" altLang="en-US" sz="2400" b="1" dirty="0">
                <a:solidFill>
                  <a:srgbClr val="1D5FBF"/>
                </a:solidFill>
                <a:latin typeface="Amiri" pitchFamily="2" charset="-78"/>
                <a:ea typeface="Amiri" pitchFamily="2" charset="-78"/>
                <a:cs typeface="Amiri" pitchFamily="2" charset="-78"/>
              </a:rPr>
              <a:t>أَزْرَقُ</a:t>
            </a:r>
            <a:pPr rtl="1" algn="ctr" indent="0" marL="0">
              <a:buNone/>
            </a:pPr>
            <a:r>
              <a:rPr lang="ar-SA" altLang="en-US" sz="2400" b="1" dirty="0">
                <a:solidFill>
                  <a:srgbClr val="1B3B6F"/>
                </a:solidFill>
                <a:latin typeface="Amiri" pitchFamily="2" charset="-78"/>
                <a:cs typeface="Amiri" pitchFamily="2" charset="-78"/>
              </a:rPr>
              <a:t> </a:t>
            </a:r>
            <a:pPr rtl="1" algn="ctr" indent="0" marL="0">
              <a:buNone/>
            </a:pPr>
            <a:r>
              <a:rPr lang="ar-SA" altLang="en-US" sz="2400" b="1" dirty="0">
                <a:solidFill>
                  <a:srgbClr val="0E7C86"/>
                </a:solidFill>
                <a:latin typeface="Amiri" pitchFamily="2" charset="-78"/>
                <a:ea typeface="Amiri" pitchFamily="2" charset="-78"/>
                <a:cs typeface="Amiri" pitchFamily="2" charset="-78"/>
              </a:rPr>
              <a:t>فَاتِحٌ</a:t>
            </a:r>
            <a:endParaRPr lang="ar-SA" sz="2400" dirty="0"/>
          </a:p>
        </p:txBody>
      </p:sp>
      <p:sp>
        <p:nvSpPr>
          <p:cNvPr id="36" name="Text 33"/>
          <p:cNvSpPr txBox="1"/>
          <p:nvPr/>
        </p:nvSpPr>
        <p:spPr>
          <a:xfrm>
            <a:off x="5696712" y="3840480"/>
            <a:ext cx="29260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أَرِيكَةٌ </a:t>
            </a:r>
            <a:pPr rtl="1" algn="ctr" indent="0" marL="0">
              <a:buNone/>
            </a:pPr>
            <a:r>
              <a:rPr lang="ar-SA" altLang="en-US" sz="2400" b="1" dirty="0">
                <a:solidFill>
                  <a:srgbClr val="D6336C"/>
                </a:solidFill>
                <a:latin typeface="Amiri" pitchFamily="2" charset="-78"/>
                <a:ea typeface="Amiri" pitchFamily="2" charset="-78"/>
                <a:cs typeface="Amiri" pitchFamily="2" charset="-78"/>
              </a:rPr>
              <a:t>زَرْقَاءُ</a:t>
            </a:r>
            <a:pPr rtl="1" algn="ctr" indent="0" marL="0">
              <a:buNone/>
            </a:pPr>
            <a:r>
              <a:rPr lang="ar-SA" altLang="en-US" sz="2400" b="1" dirty="0">
                <a:solidFill>
                  <a:srgbClr val="1B3B6F"/>
                </a:solidFill>
                <a:latin typeface="Amiri" pitchFamily="2" charset="-78"/>
                <a:cs typeface="Amiri" pitchFamily="2" charset="-78"/>
              </a:rPr>
              <a:t> </a:t>
            </a:r>
            <a:pPr rtl="1" algn="ctr" indent="0" marL="0">
              <a:buNone/>
            </a:pPr>
            <a:r>
              <a:rPr lang="ar-SA" altLang="en-US" sz="2400" b="1" dirty="0">
                <a:solidFill>
                  <a:srgbClr val="0E7C86"/>
                </a:solidFill>
                <a:latin typeface="Amiri" pitchFamily="2" charset="-78"/>
                <a:ea typeface="Amiri" pitchFamily="2" charset="-78"/>
                <a:cs typeface="Amiri" pitchFamily="2" charset="-78"/>
              </a:rPr>
              <a:t>فَاتِحَةٌ</a:t>
            </a:r>
            <a:endParaRPr lang="ar-SA" sz="2400" dirty="0"/>
          </a:p>
        </p:txBody>
      </p:sp>
      <p:sp>
        <p:nvSpPr>
          <p:cNvPr id="37" name="Text 34"/>
          <p:cNvSpPr txBox="1"/>
          <p:nvPr/>
        </p:nvSpPr>
        <p:spPr>
          <a:xfrm>
            <a:off x="3520440" y="3840480"/>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shade</a:t>
            </a:r>
            <a:endParaRPr lang="en-US" sz="1100" dirty="0"/>
          </a:p>
        </p:txBody>
      </p:sp>
      <p:sp>
        <p:nvSpPr>
          <p:cNvPr id="38" name="Text 35"/>
          <p:cNvSpPr txBox="1"/>
          <p:nvPr/>
        </p:nvSpPr>
        <p:spPr>
          <a:xfrm>
            <a:off x="566928" y="3840480"/>
            <a:ext cx="2770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light-blue bed · sofa</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805672" y="4626864"/>
            <a:ext cx="283464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البَابُ </a:t>
            </a:r>
            <a:pPr rtl="1" algn="ctr" indent="0" marL="0">
              <a:buNone/>
            </a:pPr>
            <a:r>
              <a:rPr lang="ar-SA" altLang="en-US" sz="2400" b="1" dirty="0">
                <a:solidFill>
                  <a:srgbClr val="1D5FBF"/>
                </a:solidFill>
                <a:latin typeface="Amiri" pitchFamily="2" charset="-78"/>
                <a:ea typeface="Amiri" pitchFamily="2" charset="-78"/>
                <a:cs typeface="Amiri" pitchFamily="2" charset="-78"/>
              </a:rPr>
              <a:t>الأَحْمَرُ</a:t>
            </a:r>
            <a:endParaRPr lang="ar-SA" sz="2400" dirty="0"/>
          </a:p>
        </p:txBody>
      </p:sp>
      <p:sp>
        <p:nvSpPr>
          <p:cNvPr id="41" name="Text 38"/>
          <p:cNvSpPr txBox="1"/>
          <p:nvPr/>
        </p:nvSpPr>
        <p:spPr>
          <a:xfrm>
            <a:off x="5696712" y="4626864"/>
            <a:ext cx="29260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السَّتَائِرُ </a:t>
            </a:r>
            <a:pPr rtl="1" algn="ctr" indent="0" marL="0">
              <a:buNone/>
            </a:pPr>
            <a:r>
              <a:rPr lang="ar-SA" altLang="en-US" sz="2400" b="1" dirty="0">
                <a:solidFill>
                  <a:srgbClr val="D6336C"/>
                </a:solidFill>
                <a:latin typeface="Amiri" pitchFamily="2" charset="-78"/>
                <a:ea typeface="Amiri" pitchFamily="2" charset="-78"/>
                <a:cs typeface="Amiri" pitchFamily="2" charset="-78"/>
              </a:rPr>
              <a:t>زَرْقَاءُ</a:t>
            </a:r>
            <a:endParaRPr lang="ar-SA" sz="2400" dirty="0"/>
          </a:p>
        </p:txBody>
      </p:sp>
      <p:sp>
        <p:nvSpPr>
          <p:cNvPr id="42" name="Text 39"/>
          <p:cNvSpPr txBox="1"/>
          <p:nvPr/>
        </p:nvSpPr>
        <p:spPr>
          <a:xfrm>
            <a:off x="3520440" y="4626864"/>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definite · things pl.</a:t>
            </a:r>
            <a:endParaRPr lang="en-US" sz="1100" dirty="0"/>
          </a:p>
        </p:txBody>
      </p:sp>
      <p:sp>
        <p:nvSpPr>
          <p:cNvPr id="43" name="Text 40"/>
          <p:cNvSpPr txBox="1"/>
          <p:nvPr/>
        </p:nvSpPr>
        <p:spPr>
          <a:xfrm>
            <a:off x="566928" y="4626864"/>
            <a:ext cx="2770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red door · the curtains are blue</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Look at the noun: masculine → aḥmar / bunnī; feminine → ḥamrā’ / bunniyya.</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Colours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2 · TWO FEMININE PATTERNS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Don’t just add </a:t>
            </a:r>
            <a:pPr algn="l" indent="0" marL="0">
              <a:buNone/>
            </a:pPr>
            <a:r>
              <a:rPr lang="ar-SA" altLang="en-US" sz="3650" b="1" dirty="0">
                <a:solidFill>
                  <a:srgbClr val="1B3B6F"/>
                </a:solidFill>
                <a:latin typeface="Amiri" pitchFamily="2" charset="-78"/>
                <a:ea typeface="Amiri" pitchFamily="2" charset="-78"/>
                <a:cs typeface="Amiri" pitchFamily="2" charset="-78"/>
              </a:rPr>
              <a:t>ة</a:t>
            </a:r>
            <a:pPr algn="l" indent="0" marL="0">
              <a:buNone/>
            </a:pPr>
            <a:r>
              <a:rPr lang="en-US" sz="2800" b="1" dirty="0">
                <a:solidFill>
                  <a:srgbClr val="1B3B6F"/>
                </a:solidFill>
                <a:latin typeface="Cambria" pitchFamily="34" charset="0"/>
                <a:cs typeface="Amiri" pitchFamily="2" charset="-78"/>
              </a:rPr>
              <a: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نَمَطَانِ لِصِيَاغَةِ الأَلْوَانِ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371600" cy="274320"/>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8232648"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PATTERN 1 · CORE</a:t>
            </a:r>
            <a:endParaRPr lang="en-US" sz="850" dirty="0"/>
          </a:p>
        </p:txBody>
      </p:sp>
      <p:sp>
        <p:nvSpPr>
          <p:cNvPr id="18" name="Text 15"/>
          <p:cNvSpPr txBox="1"/>
          <p:nvPr/>
        </p:nvSpPr>
        <p:spPr>
          <a:xfrm>
            <a:off x="9649968" y="1874520"/>
            <a:ext cx="19446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أَفْعَلُ / فَعْلَاءُ</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450" b="1" dirty="0">
                <a:solidFill>
                  <a:srgbClr val="1B3B6F"/>
                </a:solidFill>
                <a:latin typeface="Amiri" pitchFamily="2" charset="-78"/>
                <a:ea typeface="Amiri" pitchFamily="2" charset="-78"/>
                <a:cs typeface="Amiri" pitchFamily="2" charset="-78"/>
              </a:rPr>
              <a:t>أَحْمَرُ / حَمْرَاءُ · أَبْيَضُ / بَيْضَاءُ</a:t>
            </a:r>
            <a:endParaRPr lang="ar-SA" sz="24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red · white (six colours)</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Learn them as pairs.</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371600" cy="274320"/>
          </a:xfrm>
          <a:prstGeom prst="roundRect">
            <a:avLst>
              <a:gd name="adj" fmla="val 50000"/>
            </a:avLst>
          </a:prstGeom>
          <a:solidFill>
            <a:srgbClr val="1E7B4F"/>
          </a:solidFill>
          <a:ln w="12700">
            <a:solidFill>
              <a:srgbClr val="1E7B4F"/>
            </a:solidFill>
            <a:prstDash val="solid"/>
          </a:ln>
        </p:spPr>
      </p:sp>
      <p:sp>
        <p:nvSpPr>
          <p:cNvPr id="25" name="Text 22"/>
          <p:cNvSpPr txBox="1"/>
          <p:nvPr/>
        </p:nvSpPr>
        <p:spPr>
          <a:xfrm>
            <a:off x="4413504"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PATTERN 2 · CORE</a:t>
            </a:r>
            <a:endParaRPr lang="en-US" sz="850" dirty="0"/>
          </a:p>
        </p:txBody>
      </p:sp>
      <p:sp>
        <p:nvSpPr>
          <p:cNvPr id="26" name="Text 23"/>
          <p:cNvSpPr txBox="1"/>
          <p:nvPr/>
        </p:nvSpPr>
        <p:spPr>
          <a:xfrm>
            <a:off x="5830824" y="1874520"/>
            <a:ext cx="19446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ـِيٌّ / ـِيَّةٌ</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بُنِّيٌّ / بُنِّيَّةٌ · وَرْدِيٌّ / وَرْدِيَّةٌ</a:t>
            </a:r>
            <a:endParaRPr lang="ar-SA" sz="26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brown · pink (and the rest)</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Like nationalities.</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30302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SHADE · DEVELOP</a:t>
            </a:r>
            <a:endParaRPr lang="en-US" sz="850" dirty="0"/>
          </a:p>
        </p:txBody>
      </p:sp>
      <p:sp>
        <p:nvSpPr>
          <p:cNvPr id="34" name="Text 31"/>
          <p:cNvSpPr txBox="1"/>
          <p:nvPr/>
        </p:nvSpPr>
        <p:spPr>
          <a:xfrm>
            <a:off x="1943100"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 فَاتِحٌ / غَامِقٌ</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سَجَّادَةٌ حَمْرَاءُ غَامِقَةٌ</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a dark-red rug</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Both adjectives agree.</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mistake: red does not add </a:t>
            </a:r>
            <a:pPr algn="l" indent="0" marL="0">
              <a:buNone/>
            </a:pPr>
            <a:r>
              <a:rPr lang="ar-SA" altLang="en-US" sz="1500" dirty="0">
                <a:solidFill>
                  <a:srgbClr val="1F2A37"/>
                </a:solidFill>
                <a:latin typeface="Amiri" pitchFamily="2" charset="-78"/>
                <a:ea typeface="Amiri" pitchFamily="2" charset="-78"/>
                <a:cs typeface="Amiri" pitchFamily="2" charset="-78"/>
              </a:rPr>
              <a:t>ة</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حَمْرَاءُ</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ea typeface="Amiri" pitchFamily="2" charset="-78"/>
                <a:cs typeface="Amiri" pitchFamily="2" charset="-78"/>
              </a:rPr>
              <a:t>أَحْمَرَةٌ</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Colours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سَرِيرٌ ___.</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زَرْقَاءُ</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زَرِيقٌ</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أَزْرَقُ</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3" name="Text 30"/>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نَافِذَةٌ ___.</a:t>
            </a:r>
            <a:endParaRPr lang="ar-SA" sz="220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حَمْرَاءُ</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أَحْمَرُ</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أَحْمَرَةٌ</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7" name="Text 44"/>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مَكْتَبٌ ___.</a:t>
            </a:r>
            <a:endParaRPr lang="ar-SA" sz="220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بُنِّيَّةٌ</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بُنِّيٌّ</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بُنِّيَّاتٌ</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1" name="Text 58"/>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طَاوِلَةٌ ___.</a:t>
            </a:r>
            <a:endParaRPr lang="ar-SA" sz="2200" dirty="0"/>
          </a:p>
        </p:txBody>
      </p:sp>
      <p:sp>
        <p:nvSpPr>
          <p:cNvPr id="62" name="Shape 59"/>
          <p:cNvSpPr/>
          <p:nvPr/>
        </p:nvSpPr>
        <p:spPr>
          <a:xfrm>
            <a:off x="6368796"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بُنِّيَّةٌ</a:t>
            </a:r>
            <a:endParaRPr lang="ar-SA" sz="2050" dirty="0"/>
          </a:p>
        </p:txBody>
      </p:sp>
      <p:sp>
        <p:nvSpPr>
          <p:cNvPr id="65" name="Shape 62"/>
          <p:cNvSpPr/>
          <p:nvPr/>
        </p:nvSpPr>
        <p:spPr>
          <a:xfrm>
            <a:off x="6368796"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بُنِّيٌّ</a:t>
            </a:r>
            <a:endParaRPr lang="ar-SA" sz="2050" dirty="0"/>
          </a:p>
        </p:txBody>
      </p:sp>
      <p:sp>
        <p:nvSpPr>
          <p:cNvPr id="68" name="Shape 65"/>
          <p:cNvSpPr/>
          <p:nvPr/>
        </p:nvSpPr>
        <p:spPr>
          <a:xfrm>
            <a:off x="6368796"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بُنَّاءُ</a:t>
            </a:r>
            <a:endParaRPr lang="ar-SA" sz="20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Colours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سَرِيرٌ ___.</a:t>
            </a:r>
            <a:endParaRPr lang="ar-SA" sz="22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زَرْقَاءُ</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زَرِيقٌ</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أَزْرَقُ</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سَرِيرٌ</a:t>
            </a:r>
            <a:pPr algn="l" indent="0" marL="0">
              <a:buNone/>
            </a:pPr>
            <a:r>
              <a:rPr lang="en-US" sz="1050" i="1" dirty="0">
                <a:solidFill>
                  <a:srgbClr val="8A6D1E"/>
                </a:solidFill>
                <a:latin typeface="Calibri" pitchFamily="34" charset="0"/>
                <a:cs typeface="Amiri" pitchFamily="2" charset="-78"/>
              </a:rPr>
              <a:t> is masculine.</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نَافِذَةٌ ___.</a:t>
            </a:r>
            <a:endParaRPr lang="ar-SA" sz="2200" dirty="0"/>
          </a:p>
        </p:txBody>
      </p:sp>
      <p:sp>
        <p:nvSpPr>
          <p:cNvPr id="36" name="Shape 33"/>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6368796"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حَمْرَاءُ</a:t>
            </a:r>
            <a:endParaRPr lang="ar-SA" sz="1700" dirty="0"/>
          </a:p>
        </p:txBody>
      </p:sp>
      <p:sp>
        <p:nvSpPr>
          <p:cNvPr id="40" name="Shape 37"/>
          <p:cNvSpPr/>
          <p:nvPr/>
        </p:nvSpPr>
        <p:spPr>
          <a:xfrm>
            <a:off x="6368796"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أَحْمَرُ</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أَحْمَرَةٌ</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نَافِذَةٌ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1" name="Text 48"/>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مَكْتَبٌ ___.</a:t>
            </a:r>
            <a:endParaRPr lang="ar-SA" sz="220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بُنِّيَّةٌ</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بُنِّيٌّ</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بُنِّيَّاتٌ</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مَكْتَبٌ</a:t>
            </a:r>
            <a:pPr algn="l" indent="0" marL="0">
              <a:buNone/>
            </a:pPr>
            <a:r>
              <a:rPr lang="en-US" sz="1050" i="1" dirty="0">
                <a:solidFill>
                  <a:srgbClr val="8A6D1E"/>
                </a:solidFill>
                <a:latin typeface="Calibri" pitchFamily="34" charset="0"/>
                <a:cs typeface="Amiri" pitchFamily="2" charset="-78"/>
              </a:rPr>
              <a:t> is masculine.</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3"/>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7" name="Text 64"/>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طَاوِلَةٌ ___.</a:t>
            </a:r>
            <a:endParaRPr lang="ar-SA" sz="2200" dirty="0"/>
          </a:p>
        </p:txBody>
      </p:sp>
      <p:sp>
        <p:nvSpPr>
          <p:cNvPr id="68" name="Shape 65"/>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9" name="Shape 66"/>
          <p:cNvSpPr/>
          <p:nvPr/>
        </p:nvSpPr>
        <p:spPr>
          <a:xfrm>
            <a:off x="6368796" y="4831080"/>
            <a:ext cx="256032" cy="256032"/>
          </a:xfrm>
          <a:prstGeom prst="ellipse">
            <a:avLst/>
          </a:prstGeom>
          <a:solidFill>
            <a:srgbClr val="2E8B57"/>
          </a:solidFill>
          <a:ln w="12700">
            <a:solidFill>
              <a:srgbClr val="2E8B57"/>
            </a:solidFill>
            <a:prstDash val="solid"/>
          </a:ln>
        </p:spPr>
      </p:sp>
      <p:sp>
        <p:nvSpPr>
          <p:cNvPr id="70" name="Text 67"/>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71" name="Text 68"/>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بُنِّيَّةٌ</a:t>
            </a:r>
            <a:endParaRPr lang="ar-SA" sz="1700" dirty="0"/>
          </a:p>
        </p:txBody>
      </p:sp>
      <p:sp>
        <p:nvSpPr>
          <p:cNvPr id="72" name="Shape 69"/>
          <p:cNvSpPr/>
          <p:nvPr/>
        </p:nvSpPr>
        <p:spPr>
          <a:xfrm>
            <a:off x="6368796" y="5202936"/>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4" name="Text 71"/>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بُنِّيٌّ</a:t>
            </a:r>
            <a:endParaRPr lang="ar-SA" sz="1700" dirty="0"/>
          </a:p>
        </p:txBody>
      </p:sp>
      <p:sp>
        <p:nvSpPr>
          <p:cNvPr id="75" name="Shape 72"/>
          <p:cNvSpPr/>
          <p:nvPr/>
        </p:nvSpPr>
        <p:spPr>
          <a:xfrm>
            <a:off x="6368796" y="5574792"/>
            <a:ext cx="256032" cy="256032"/>
          </a:xfrm>
          <a:prstGeom prst="ellipse">
            <a:avLst/>
          </a:prstGeom>
          <a:solidFill>
            <a:srgbClr val="C9CED6"/>
          </a:solidFill>
          <a:ln w="12700">
            <a:solidFill>
              <a:srgbClr val="C9CED6"/>
            </a:solidFill>
            <a:prstDash val="solid"/>
          </a:ln>
        </p:spPr>
      </p:sp>
      <p:sp>
        <p:nvSpPr>
          <p:cNvPr id="76" name="Text 73"/>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7" name="Text 74"/>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بُنَّاءُ</a:t>
            </a:r>
            <a:endParaRPr lang="ar-SA" sz="1700" dirty="0"/>
          </a:p>
        </p:txBody>
      </p:sp>
      <p:sp>
        <p:nvSpPr>
          <p:cNvPr id="78" name="Text 75"/>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طَاوِلَةٌ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Colours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colour a living 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The room</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1B3B6F"/>
                </a:solidFill>
                <a:latin typeface="Amiri" pitchFamily="2" charset="-78"/>
                <a:ea typeface="Amiri" pitchFamily="2" charset="-78"/>
                <a:cs typeface="Amiri" pitchFamily="2" charset="-78"/>
              </a:rPr>
              <a:t>غُرْفَةُ الجُلُوسِ وَاسِعَةٌ وَمُلَوَّنَ</a:t>
            </a:r>
            <a:pPr rtl="1" algn="ctr" indent="0" marL="0">
              <a:lnSpc>
                <a:spcPct val="120000"/>
              </a:lnSpc>
              <a:buNone/>
            </a:pPr>
            <a:r>
              <a:rPr lang="ar-SA" altLang="en-US" sz="1900" b="1" dirty="0">
                <a:solidFill>
                  <a:srgbClr val="D6336C"/>
                </a:solidFill>
                <a:latin typeface="Amiri" pitchFamily="2" charset="-78"/>
                <a:ea typeface="Amiri" pitchFamily="2" charset="-78"/>
                <a:cs typeface="Amiri" pitchFamily="2" charset="-78"/>
              </a:rPr>
              <a:t>ةٌ</a:t>
            </a:r>
            <a:pPr rtl="1" algn="ctr" indent="0" marL="0">
              <a:lnSpc>
                <a:spcPct val="120000"/>
              </a:lnSpc>
              <a:buNone/>
            </a:pPr>
            <a:r>
              <a:rPr lang="ar-SA" altLang="en-US" sz="1900" b="1" dirty="0">
                <a:solidFill>
                  <a:srgbClr val="1B3B6F"/>
                </a:solidFill>
                <a:latin typeface="Amiri" pitchFamily="2" charset="-78"/>
                <a:cs typeface="Amiri" pitchFamily="2" charset="-78"/>
              </a:rPr>
              <a:t>.</a:t>
            </a:r>
            <a:endParaRPr lang="ar-SA" sz="19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Room is f. → mulawwana.</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Pattern 2</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الأَرِيكَةُ بَنَفْسَجِيَّ</a:t>
            </a:r>
            <a:pPr rtl="1" algn="ctr" indent="0" marL="0">
              <a:buNone/>
            </a:pPr>
            <a:r>
              <a:rPr lang="ar-SA" altLang="en-US" sz="2200" b="1" dirty="0">
                <a:solidFill>
                  <a:srgbClr val="D6336C"/>
                </a:solidFill>
                <a:latin typeface="Amiri" pitchFamily="2" charset="-78"/>
                <a:ea typeface="Amiri" pitchFamily="2" charset="-78"/>
                <a:cs typeface="Amiri" pitchFamily="2" charset="-78"/>
              </a:rPr>
              <a:t>ةٌ</a:t>
            </a:r>
            <a:pPr rtl="1" algn="ctr" indent="0" marL="0">
              <a:buNone/>
            </a:pPr>
            <a:r>
              <a:rPr lang="ar-SA" altLang="en-US" sz="2200" b="1" dirty="0">
                <a:solidFill>
                  <a:srgbClr val="1B3B6F"/>
                </a:solidFill>
                <a:latin typeface="Amiri" pitchFamily="2" charset="-78"/>
                <a:ea typeface="Amiri" pitchFamily="2" charset="-78"/>
                <a:cs typeface="Amiri" pitchFamily="2" charset="-78"/>
              </a:rPr>
              <a:t> غَامِقَ</a:t>
            </a:r>
            <a:pPr rtl="1" algn="ctr" indent="0" marL="0">
              <a:buNone/>
            </a:pPr>
            <a:r>
              <a:rPr lang="ar-SA" altLang="en-US" sz="2200" b="1" dirty="0">
                <a:solidFill>
                  <a:srgbClr val="D6336C"/>
                </a:solidFill>
                <a:latin typeface="Amiri" pitchFamily="2" charset="-78"/>
                <a:ea typeface="Amiri" pitchFamily="2" charset="-78"/>
                <a:cs typeface="Amiri" pitchFamily="2" charset="-78"/>
              </a:rPr>
              <a:t>ةٌ</a:t>
            </a:r>
            <a:pPr rtl="1" algn="ctr" indent="0" marL="0">
              <a:buNone/>
            </a:pPr>
            <a:r>
              <a:rPr lang="ar-SA" altLang="en-US" sz="2200" b="1" dirty="0">
                <a:solidFill>
                  <a:srgbClr val="1B3B6F"/>
                </a:solidFill>
                <a:latin typeface="Amiri" pitchFamily="2" charset="-78"/>
                <a:cs typeface="Amiri" pitchFamily="2" charset="-78"/>
              </a:rPr>
              <a:t>.</a:t>
            </a:r>
            <a:endParaRPr lang="ar-SA" sz="22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Sofa f. → -iyya + ghāmiqa.</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Pattern 1</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البَابُ </a:t>
            </a:r>
            <a:pPr rtl="1" algn="ctr" indent="0" marL="0">
              <a:lnSpc>
                <a:spcPct val="120000"/>
              </a:lnSpc>
              <a:buNone/>
            </a:pPr>
            <a:r>
              <a:rPr lang="ar-SA" altLang="en-US" sz="1800" b="1" dirty="0">
                <a:solidFill>
                  <a:srgbClr val="1D5FBF"/>
                </a:solidFill>
                <a:latin typeface="Amiri" pitchFamily="2" charset="-78"/>
                <a:ea typeface="Amiri" pitchFamily="2" charset="-78"/>
                <a:cs typeface="Amiri" pitchFamily="2" charset="-78"/>
              </a:rPr>
              <a:t>أَبْيَضُ</a:t>
            </a:r>
            <a:pPr rtl="1" algn="ct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 وَالسَّتَائِرُ </a:t>
            </a:r>
            <a:pPr rtl="1" algn="ctr" indent="0" marL="0">
              <a:lnSpc>
                <a:spcPct val="120000"/>
              </a:lnSpc>
              <a:buNone/>
            </a:pPr>
            <a:r>
              <a:rPr lang="ar-SA" altLang="en-US" sz="1800" b="1" dirty="0">
                <a:solidFill>
                  <a:srgbClr val="D6336C"/>
                </a:solidFill>
                <a:latin typeface="Amiri" pitchFamily="2" charset="-78"/>
                <a:ea typeface="Amiri" pitchFamily="2" charset="-78"/>
                <a:cs typeface="Amiri" pitchFamily="2" charset="-78"/>
              </a:rPr>
              <a:t>زَرْقَاءُ</a:t>
            </a:r>
            <a:pPr rtl="1" algn="ctr" indent="0" marL="0">
              <a:lnSpc>
                <a:spcPct val="120000"/>
              </a:lnSpc>
              <a:buNone/>
            </a:pPr>
            <a:r>
              <a:rPr lang="ar-SA" altLang="en-US" sz="1800" b="1" dirty="0">
                <a:solidFill>
                  <a:srgbClr val="1B3B6F"/>
                </a:solidFill>
                <a:latin typeface="Amiri" pitchFamily="2" charset="-78"/>
                <a:cs typeface="Amiri" pitchFamily="2" charset="-78"/>
              </a:rPr>
              <a:t>.</a:t>
            </a:r>
            <a:endParaRPr lang="ar-SA" sz="1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Door m. · curtains = things → f.</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Reason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أُحِبُّهَا لِأَنَّ أَلْوَانَهَا هَادِئَةٌ.</a:t>
            </a:r>
            <a:endParaRPr lang="ar-SA" sz="20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Colours (things) → hādi’a.</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MASCULINE</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FEMININE</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غُرْفَةُ الجُلُوسِ وَاسِعَةٌ وَمُلَوَّنَ</a:t>
            </a:r>
            <a:pPr rtl="1" algn="r" indent="0" marL="0">
              <a:lnSpc>
                <a:spcPct val="120000"/>
              </a:lnSpc>
              <a:buNone/>
            </a:pPr>
            <a:r>
              <a:rPr lang="ar-SA" altLang="en-US" sz="1600" b="1" dirty="0">
                <a:solidFill>
                  <a:srgbClr val="D6336C"/>
                </a:solidFill>
                <a:latin typeface="Amiri" pitchFamily="2" charset="-78"/>
                <a:ea typeface="Amiri" pitchFamily="2" charset="-78"/>
                <a:cs typeface="Amiri" pitchFamily="2" charset="-78"/>
              </a:rPr>
              <a:t>ةٌ</a:t>
            </a:r>
            <a:pPr rtl="1" algn="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 الأَرِيكَةُ بَنَفْسَجِيَّ</a:t>
            </a:r>
            <a:pPr rtl="1" algn="r" indent="0" marL="0">
              <a:lnSpc>
                <a:spcPct val="120000"/>
              </a:lnSpc>
              <a:buNone/>
            </a:pPr>
            <a:r>
              <a:rPr lang="ar-SA" altLang="en-US" sz="1600" b="1" dirty="0">
                <a:solidFill>
                  <a:srgbClr val="D6336C"/>
                </a:solidFill>
                <a:latin typeface="Amiri" pitchFamily="2" charset="-78"/>
                <a:ea typeface="Amiri" pitchFamily="2" charset="-78"/>
                <a:cs typeface="Amiri" pitchFamily="2" charset="-78"/>
              </a:rPr>
              <a:t>ةٌ</a:t>
            </a:r>
            <a:pPr rtl="1" algn="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 غَامِقَ</a:t>
            </a:r>
            <a:pPr rtl="1" algn="r" indent="0" marL="0">
              <a:lnSpc>
                <a:spcPct val="120000"/>
              </a:lnSpc>
              <a:buNone/>
            </a:pPr>
            <a:r>
              <a:rPr lang="ar-SA" altLang="en-US" sz="1600" b="1" dirty="0">
                <a:solidFill>
                  <a:srgbClr val="D6336C"/>
                </a:solidFill>
                <a:latin typeface="Amiri" pitchFamily="2" charset="-78"/>
                <a:ea typeface="Amiri" pitchFamily="2" charset="-78"/>
                <a:cs typeface="Amiri" pitchFamily="2" charset="-78"/>
              </a:rPr>
              <a:t>ةٌ</a:t>
            </a:r>
            <a:pPr rtl="1" algn="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 وَالسَّجَّادَةُ رَمَادِيَّ</a:t>
            </a:r>
            <a:pPr rtl="1" algn="r" indent="0" marL="0">
              <a:lnSpc>
                <a:spcPct val="120000"/>
              </a:lnSpc>
              <a:buNone/>
            </a:pPr>
            <a:r>
              <a:rPr lang="ar-SA" altLang="en-US" sz="1600" b="1" dirty="0">
                <a:solidFill>
                  <a:srgbClr val="D6336C"/>
                </a:solidFill>
                <a:latin typeface="Amiri" pitchFamily="2" charset="-78"/>
                <a:ea typeface="Amiri" pitchFamily="2" charset="-78"/>
                <a:cs typeface="Amiri" pitchFamily="2" charset="-78"/>
              </a:rPr>
              <a:t>ةٌ</a:t>
            </a:r>
            <a:pPr rtl="1" algn="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 البَابُ </a:t>
            </a:r>
            <a:pPr rtl="1" algn="r" indent="0" marL="0">
              <a:lnSpc>
                <a:spcPct val="120000"/>
              </a:lnSpc>
              <a:buNone/>
            </a:pPr>
            <a:r>
              <a:rPr lang="ar-SA" altLang="en-US" sz="1600" b="1" dirty="0">
                <a:solidFill>
                  <a:srgbClr val="1D5FBF"/>
                </a:solidFill>
                <a:latin typeface="Amiri" pitchFamily="2" charset="-78"/>
                <a:ea typeface="Amiri" pitchFamily="2" charset="-78"/>
                <a:cs typeface="Amiri" pitchFamily="2" charset="-78"/>
              </a:rPr>
              <a:t>أَبْيَضُ</a:t>
            </a:r>
            <a:pPr rtl="1" algn="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 وَالسَّتَائِرُ </a:t>
            </a:r>
            <a:pPr rtl="1" algn="r" indent="0" marL="0">
              <a:lnSpc>
                <a:spcPct val="120000"/>
              </a:lnSpc>
              <a:buNone/>
            </a:pPr>
            <a:r>
              <a:rPr lang="ar-SA" altLang="en-US" sz="1600" b="1" dirty="0">
                <a:solidFill>
                  <a:srgbClr val="D6336C"/>
                </a:solidFill>
                <a:latin typeface="Amiri" pitchFamily="2" charset="-78"/>
                <a:ea typeface="Amiri" pitchFamily="2" charset="-78"/>
                <a:cs typeface="Amiri" pitchFamily="2" charset="-78"/>
              </a:rPr>
              <a:t>زَرْقَاءُ</a:t>
            </a:r>
            <a:pPr rtl="1" algn="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 فَاتِحَةٌ. أُحِبُّ هَذِهِ الغُرْفَةَ لِأَنَّ أَلْوَانَهَا هَادِئَةٌ.</a:t>
            </a:r>
            <a:endParaRPr lang="ar-SA" sz="16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The living room is spacious and colourful. The sofa is dark purple and the rug is grey. The door is white, and the curtains are light blue. I love this room because its colours are calm.</a:t>
            </a:r>
            <a:endParaRPr lang="en-US" sz="11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Colours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COLOURS — FULL SYSTEM AND AGREEMENT”</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colour?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لُعْبَةُ الأَلْوَانِ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red</a:t>
            </a:r>
            <a:endParaRPr lang="en-US" sz="1100" dirty="0"/>
          </a:p>
        </p:txBody>
      </p:sp>
      <p:sp>
        <p:nvSpPr>
          <p:cNvPr id="21" name="Shape 17"/>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4404360" y="1938528"/>
            <a:ext cx="365760" cy="365760"/>
          </a:xfrm>
          <a:prstGeom prst="ellipse">
            <a:avLst/>
          </a:prstGeom>
          <a:solidFill>
            <a:srgbClr val="1B3B6F"/>
          </a:solidFill>
          <a:ln w="12700">
            <a:solidFill>
              <a:srgbClr val="1B3B6F"/>
            </a:solidFill>
            <a:prstDash val="solid"/>
          </a:ln>
        </p:spPr>
      </p:sp>
      <p:sp>
        <p:nvSpPr>
          <p:cNvPr id="23" name="Text 19"/>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4" name="Shape 20"/>
          <p:cNvSpPr/>
          <p:nvPr/>
        </p:nvSpPr>
        <p:spPr>
          <a:xfrm>
            <a:off x="5586984" y="2066544"/>
            <a:ext cx="1014984" cy="1014984"/>
          </a:xfrm>
          <a:prstGeom prst="ellipse">
            <a:avLst/>
          </a:prstGeom>
          <a:solidFill>
            <a:srgbClr val="F4F1EA"/>
          </a:solidFill>
          <a:ln w="12700">
            <a:solidFill>
              <a:srgbClr val="F4F1EA"/>
            </a:solidFill>
            <a:prstDash val="solid"/>
          </a:ln>
        </p:spPr>
      </p:sp>
      <p:pic>
        <p:nvPicPr>
          <p:cNvPr id="25"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26" name="Text 21"/>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green</a:t>
            </a:r>
            <a:endParaRPr lang="en-US" sz="1100" dirty="0"/>
          </a:p>
        </p:txBody>
      </p:sp>
      <p:sp>
        <p:nvSpPr>
          <p:cNvPr id="27" name="Shape 2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3"/>
          <p:cNvSpPr/>
          <p:nvPr/>
        </p:nvSpPr>
        <p:spPr>
          <a:xfrm>
            <a:off x="585216" y="1938528"/>
            <a:ext cx="365760" cy="365760"/>
          </a:xfrm>
          <a:prstGeom prst="ellipse">
            <a:avLst/>
          </a:prstGeom>
          <a:solidFill>
            <a:srgbClr val="1B3B6F"/>
          </a:solidFill>
          <a:ln w="12700">
            <a:solidFill>
              <a:srgbClr val="1B3B6F"/>
            </a:solidFill>
            <a:prstDash val="solid"/>
          </a:ln>
        </p:spPr>
      </p:sp>
      <p:sp>
        <p:nvSpPr>
          <p:cNvPr id="29" name="Text 2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0" name="Shape 25"/>
          <p:cNvSpPr/>
          <p:nvPr/>
        </p:nvSpPr>
        <p:spPr>
          <a:xfrm>
            <a:off x="1767840" y="2066544"/>
            <a:ext cx="1014984" cy="1014984"/>
          </a:xfrm>
          <a:prstGeom prst="ellipse">
            <a:avLst/>
          </a:prstGeom>
          <a:solidFill>
            <a:srgbClr val="F4F1EA"/>
          </a:solidFill>
          <a:ln w="12700">
            <a:solidFill>
              <a:srgbClr val="F4F1EA"/>
            </a:solidFill>
            <a:prstDash val="solid"/>
          </a:ln>
        </p:spPr>
      </p:sp>
      <p:pic>
        <p:nvPicPr>
          <p:cNvPr id="31" name="Image 2" descr="preencoded.png">    </p:cNvPr>
          <p:cNvPicPr>
            <a:picLocks noChangeAspect="1"/>
          </p:cNvPicPr>
          <p:nvPr/>
        </p:nvPicPr>
        <p:blipFill>
          <a:blip r:embed="rId3"/>
          <a:stretch>
            <a:fillRect/>
          </a:stretch>
        </p:blipFill>
        <p:spPr>
          <a:xfrm>
            <a:off x="1950720" y="2249424"/>
            <a:ext cx="649224" cy="649224"/>
          </a:xfrm>
          <a:prstGeom prst="rect">
            <a:avLst/>
          </a:prstGeom>
        </p:spPr>
      </p:pic>
      <p:sp>
        <p:nvSpPr>
          <p:cNvPr id="32" name="Text 26"/>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white</a:t>
            </a:r>
            <a:endParaRPr lang="en-US" sz="1100" dirty="0"/>
          </a:p>
        </p:txBody>
      </p:sp>
      <p:sp>
        <p:nvSpPr>
          <p:cNvPr id="33" name="Shape 27"/>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4" name="Shape 28"/>
          <p:cNvSpPr/>
          <p:nvPr/>
        </p:nvSpPr>
        <p:spPr>
          <a:xfrm>
            <a:off x="11247120" y="3831336"/>
            <a:ext cx="292608" cy="292608"/>
          </a:xfrm>
          <a:prstGeom prst="ellipse">
            <a:avLst/>
          </a:prstGeom>
          <a:solidFill>
            <a:srgbClr val="2F6FB0"/>
          </a:solidFill>
          <a:ln w="12700">
            <a:solidFill>
              <a:srgbClr val="2F6FB0"/>
            </a:solidFill>
            <a:prstDash val="solid"/>
          </a:ln>
        </p:spPr>
      </p:sp>
      <p:sp>
        <p:nvSpPr>
          <p:cNvPr id="35" name="Text 29"/>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36" name="Text 30"/>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اللَّوْنُ أَخْضَرُ.</a:t>
            </a:r>
            <a:endParaRPr lang="ar-SA" sz="2000" dirty="0"/>
          </a:p>
        </p:txBody>
      </p:sp>
      <p:sp>
        <p:nvSpPr>
          <p:cNvPr id="37" name="Shape 31"/>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38" name="Shape 32"/>
          <p:cNvSpPr/>
          <p:nvPr/>
        </p:nvSpPr>
        <p:spPr>
          <a:xfrm>
            <a:off x="11247120" y="4398264"/>
            <a:ext cx="292608" cy="292608"/>
          </a:xfrm>
          <a:prstGeom prst="ellipse">
            <a:avLst/>
          </a:prstGeom>
          <a:solidFill>
            <a:srgbClr val="2F6FB0"/>
          </a:solidFill>
          <a:ln w="12700">
            <a:solidFill>
              <a:srgbClr val="2F6FB0"/>
            </a:solidFill>
            <a:prstDash val="solid"/>
          </a:ln>
        </p:spPr>
      </p:sp>
      <p:sp>
        <p:nvSpPr>
          <p:cNvPr id="39" name="Text 33"/>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0" name="Text 34"/>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اللَّوْنُ أَبْيَضُ.</a:t>
            </a:r>
            <a:endParaRPr lang="ar-SA" sz="2000" dirty="0"/>
          </a:p>
        </p:txBody>
      </p:sp>
      <p:sp>
        <p:nvSpPr>
          <p:cNvPr id="41" name="Shape 35"/>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2" name="Shape 36"/>
          <p:cNvSpPr/>
          <p:nvPr/>
        </p:nvSpPr>
        <p:spPr>
          <a:xfrm>
            <a:off x="11247120" y="4965192"/>
            <a:ext cx="292608" cy="292608"/>
          </a:xfrm>
          <a:prstGeom prst="ellipse">
            <a:avLst/>
          </a:prstGeom>
          <a:solidFill>
            <a:srgbClr val="2F6FB0"/>
          </a:solidFill>
          <a:ln w="12700">
            <a:solidFill>
              <a:srgbClr val="2F6FB0"/>
            </a:solidFill>
            <a:prstDash val="solid"/>
          </a:ln>
        </p:spPr>
      </p:sp>
      <p:sp>
        <p:nvSpPr>
          <p:cNvPr id="43" name="Text 37"/>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44" name="Text 38"/>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اللَّوْنُ أَحْمَرُ.</a:t>
            </a:r>
            <a:endParaRPr lang="ar-SA" sz="2000" dirty="0"/>
          </a:p>
        </p:txBody>
      </p:sp>
      <p:sp>
        <p:nvSpPr>
          <p:cNvPr id="45" name="Text 39"/>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46" name="Text 40"/>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47"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Colours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لُعْبَةُ الأَلْوَانِ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red</a:t>
            </a:r>
            <a:endParaRPr lang="en-US" sz="1100" dirty="0"/>
          </a:p>
        </p:txBody>
      </p:sp>
      <p:sp>
        <p:nvSpPr>
          <p:cNvPr id="21" name="Shape 17"/>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11256264" y="3785616"/>
            <a:ext cx="329184" cy="329184"/>
          </a:xfrm>
          <a:prstGeom prst="ellipse">
            <a:avLst/>
          </a:prstGeom>
          <a:solidFill>
            <a:srgbClr val="2E8B57"/>
          </a:solidFill>
          <a:ln w="12700">
            <a:solidFill>
              <a:srgbClr val="2E8B57"/>
            </a:solidFill>
            <a:prstDash val="solid"/>
          </a:ln>
        </p:spPr>
      </p:sp>
      <p:sp>
        <p:nvSpPr>
          <p:cNvPr id="23" name="Text 19"/>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4" name="Text 20"/>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اللَّوْنُ أَحْمَرُ.</a:t>
            </a:r>
            <a:endParaRPr lang="ar-SA" sz="2200" dirty="0"/>
          </a:p>
        </p:txBody>
      </p:sp>
      <p:sp>
        <p:nvSpPr>
          <p:cNvPr id="25" name="Text 21"/>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colour is red.</a:t>
            </a:r>
            <a:endParaRPr lang="en-US" sz="1200" dirty="0"/>
          </a:p>
        </p:txBody>
      </p:sp>
      <p:sp>
        <p:nvSpPr>
          <p:cNvPr id="26" name="Shape 22"/>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3"/>
          <p:cNvSpPr/>
          <p:nvPr/>
        </p:nvSpPr>
        <p:spPr>
          <a:xfrm>
            <a:off x="4404360" y="1938528"/>
            <a:ext cx="365760" cy="365760"/>
          </a:xfrm>
          <a:prstGeom prst="ellipse">
            <a:avLst/>
          </a:prstGeom>
          <a:solidFill>
            <a:srgbClr val="1B3B6F"/>
          </a:solidFill>
          <a:ln w="12700">
            <a:solidFill>
              <a:srgbClr val="1B3B6F"/>
            </a:solidFill>
            <a:prstDash val="solid"/>
          </a:ln>
        </p:spPr>
      </p:sp>
      <p:sp>
        <p:nvSpPr>
          <p:cNvPr id="28" name="Text 24"/>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9" name="Shape 25"/>
          <p:cNvSpPr/>
          <p:nvPr/>
        </p:nvSpPr>
        <p:spPr>
          <a:xfrm>
            <a:off x="5586984" y="2066544"/>
            <a:ext cx="1014984" cy="1014984"/>
          </a:xfrm>
          <a:prstGeom prst="ellipse">
            <a:avLst/>
          </a:prstGeom>
          <a:solidFill>
            <a:srgbClr val="F4F1EA"/>
          </a:solidFill>
          <a:ln w="12700">
            <a:solidFill>
              <a:srgbClr val="F4F1EA"/>
            </a:solidFill>
            <a:prstDash val="solid"/>
          </a:ln>
        </p:spPr>
      </p:sp>
      <p:pic>
        <p:nvPicPr>
          <p:cNvPr id="30"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31" name="Text 26"/>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green</a:t>
            </a:r>
            <a:endParaRPr lang="en-US" sz="1100" dirty="0"/>
          </a:p>
        </p:txBody>
      </p:sp>
      <p:sp>
        <p:nvSpPr>
          <p:cNvPr id="32" name="Shape 27"/>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3" name="Shape 28"/>
          <p:cNvSpPr/>
          <p:nvPr/>
        </p:nvSpPr>
        <p:spPr>
          <a:xfrm>
            <a:off x="7437120" y="3785616"/>
            <a:ext cx="329184" cy="329184"/>
          </a:xfrm>
          <a:prstGeom prst="ellipse">
            <a:avLst/>
          </a:prstGeom>
          <a:solidFill>
            <a:srgbClr val="2E8B57"/>
          </a:solidFill>
          <a:ln w="12700">
            <a:solidFill>
              <a:srgbClr val="2E8B57"/>
            </a:solidFill>
            <a:prstDash val="solid"/>
          </a:ln>
        </p:spPr>
      </p:sp>
      <p:sp>
        <p:nvSpPr>
          <p:cNvPr id="34" name="Text 29"/>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5" name="Text 30"/>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اللَّوْنُ أَخْضَرُ.</a:t>
            </a:r>
            <a:endParaRPr lang="ar-SA" sz="2200" dirty="0"/>
          </a:p>
        </p:txBody>
      </p:sp>
      <p:sp>
        <p:nvSpPr>
          <p:cNvPr id="36" name="Text 31"/>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colour is green.</a:t>
            </a:r>
            <a:endParaRPr lang="en-US" sz="1200" dirty="0"/>
          </a:p>
        </p:txBody>
      </p:sp>
      <p:sp>
        <p:nvSpPr>
          <p:cNvPr id="37" name="Shape 3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3"/>
          <p:cNvSpPr/>
          <p:nvPr/>
        </p:nvSpPr>
        <p:spPr>
          <a:xfrm>
            <a:off x="585216" y="1938528"/>
            <a:ext cx="365760" cy="365760"/>
          </a:xfrm>
          <a:prstGeom prst="ellipse">
            <a:avLst/>
          </a:prstGeom>
          <a:solidFill>
            <a:srgbClr val="1B3B6F"/>
          </a:solidFill>
          <a:ln w="12700">
            <a:solidFill>
              <a:srgbClr val="1B3B6F"/>
            </a:solidFill>
            <a:prstDash val="solid"/>
          </a:ln>
        </p:spPr>
      </p:sp>
      <p:sp>
        <p:nvSpPr>
          <p:cNvPr id="39" name="Text 3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0" name="Shape 35"/>
          <p:cNvSpPr/>
          <p:nvPr/>
        </p:nvSpPr>
        <p:spPr>
          <a:xfrm>
            <a:off x="1767840" y="2066544"/>
            <a:ext cx="1014984" cy="1014984"/>
          </a:xfrm>
          <a:prstGeom prst="ellipse">
            <a:avLst/>
          </a:prstGeom>
          <a:solidFill>
            <a:srgbClr val="F4F1EA"/>
          </a:solidFill>
          <a:ln w="12700">
            <a:solidFill>
              <a:srgbClr val="F4F1EA"/>
            </a:solidFill>
            <a:prstDash val="solid"/>
          </a:ln>
        </p:spPr>
      </p:sp>
      <p:pic>
        <p:nvPicPr>
          <p:cNvPr id="41" name="Image 2" descr="preencoded.png">    </p:cNvPr>
          <p:cNvPicPr>
            <a:picLocks noChangeAspect="1"/>
          </p:cNvPicPr>
          <p:nvPr/>
        </p:nvPicPr>
        <p:blipFill>
          <a:blip r:embed="rId3"/>
          <a:stretch>
            <a:fillRect/>
          </a:stretch>
        </p:blipFill>
        <p:spPr>
          <a:xfrm>
            <a:off x="1950720" y="2249424"/>
            <a:ext cx="649224" cy="649224"/>
          </a:xfrm>
          <a:prstGeom prst="rect">
            <a:avLst/>
          </a:prstGeom>
        </p:spPr>
      </p:pic>
      <p:sp>
        <p:nvSpPr>
          <p:cNvPr id="42" name="Text 36"/>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white</a:t>
            </a:r>
            <a:endParaRPr lang="en-US" sz="1100" dirty="0"/>
          </a:p>
        </p:txBody>
      </p:sp>
      <p:sp>
        <p:nvSpPr>
          <p:cNvPr id="43" name="Shape 37"/>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4" name="Shape 38"/>
          <p:cNvSpPr/>
          <p:nvPr/>
        </p:nvSpPr>
        <p:spPr>
          <a:xfrm>
            <a:off x="3617976" y="3785616"/>
            <a:ext cx="329184" cy="329184"/>
          </a:xfrm>
          <a:prstGeom prst="ellipse">
            <a:avLst/>
          </a:prstGeom>
          <a:solidFill>
            <a:srgbClr val="2E8B57"/>
          </a:solidFill>
          <a:ln w="12700">
            <a:solidFill>
              <a:srgbClr val="2E8B57"/>
            </a:solidFill>
            <a:prstDash val="solid"/>
          </a:ln>
        </p:spPr>
      </p:sp>
      <p:sp>
        <p:nvSpPr>
          <p:cNvPr id="45" name="Text 39"/>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46" name="Text 40"/>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اللَّوْنُ أَبْيَضُ.</a:t>
            </a:r>
            <a:endParaRPr lang="ar-SA" sz="2200" dirty="0"/>
          </a:p>
        </p:txBody>
      </p:sp>
      <p:sp>
        <p:nvSpPr>
          <p:cNvPr id="47" name="Text 41"/>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colour is white.</a:t>
            </a:r>
            <a:endParaRPr lang="en-US" sz="1200" dirty="0"/>
          </a:p>
        </p:txBody>
      </p:sp>
      <p:sp>
        <p:nvSpPr>
          <p:cNvPr id="48"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Colours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“COLOUR CODE MISSION”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Crack the colour code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شِفْرَةِ الأَلْوَانِ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feminine of this</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أَزْرَقُ.</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أَزْرَقَةٌ</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زَرِيقَةٌ</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زَرْقَاءُ</a:t>
            </a:r>
            <a:endParaRPr lang="ar-SA" sz="20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colour follows the regular pattern?</a:t>
            </a:r>
            <a:endParaRPr lang="en-US" sz="125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بَنَفْسَجِيٌّ</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أَسْوَدُ</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أَبْيَضُ</a:t>
            </a:r>
            <a:endParaRPr lang="ar-SA" sz="2050" dirty="0"/>
          </a:p>
        </p:txBody>
      </p:sp>
      <p:sp>
        <p:nvSpPr>
          <p:cNvPr id="42" name="Shape 39"/>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6" name="Text 43"/>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نَافِذَةٌ ___.</a:t>
            </a:r>
            <a:endParaRPr lang="ar-SA" sz="220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أَحْمَرُ</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حَمْرَاءُ</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أَحْمَرَةٌ</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“dark red” for a rug.</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حَمْرَاءُ غَامِقَةٌ</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أَحْمَرُ غَامِقٌ</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حَمْرَاءُ غَامِقٌ</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phrase.</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كَرَاسِي بُنِّيُّونَ</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كَرَاسِي بُنِّيٌّ</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كَرَاسِي بُنِّيَّةٌ</a:t>
            </a:r>
            <a:endParaRPr lang="ar-SA" sz="20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4" name="Text 81"/>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5" name="Text 82"/>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Six colours change:</a:t>
            </a:r>
            <a:endParaRPr lang="en-US" sz="1250" dirty="0"/>
          </a:p>
          <a:p>
            <a:pPr algn="l" indent="0" marL="0">
              <a:buNone/>
            </a:pPr>
            <a:r>
              <a:rPr lang="en-US" sz="1250" dirty="0">
                <a:solidFill>
                  <a:srgbClr val="1E6B52"/>
                </a:solidFill>
                <a:latin typeface="Calibri" pitchFamily="34" charset="0"/>
                <a:cs typeface="Amiri" pitchFamily="2" charset="-78"/>
              </a:rPr>
              <a:t>aḥmar → ḥamrā’</a:t>
            </a:r>
            <a:endParaRPr lang="en-US" sz="1250" dirty="0"/>
          </a:p>
          <a:p>
            <a:pPr algn="l" indent="0" marL="0">
              <a:buNone/>
            </a:pPr>
            <a:r>
              <a:rPr lang="en-US" sz="1250" dirty="0">
                <a:solidFill>
                  <a:srgbClr val="1E6B52"/>
                </a:solidFill>
                <a:latin typeface="Calibri" pitchFamily="34" charset="0"/>
                <a:cs typeface="Amiri" pitchFamily="2" charset="-78"/>
              </a:rPr>
              <a:t>The rest add -a:</a:t>
            </a:r>
            <a:endParaRPr lang="en-US" sz="1250" dirty="0"/>
          </a:p>
          <a:p>
            <a:pPr algn="l" indent="0" marL="0">
              <a:buNone/>
            </a:pPr>
            <a:r>
              <a:rPr lang="en-US" sz="1250" dirty="0">
                <a:solidFill>
                  <a:srgbClr val="1E6B52"/>
                </a:solidFill>
                <a:latin typeface="Calibri" pitchFamily="34" charset="0"/>
                <a:cs typeface="Amiri" pitchFamily="2" charset="-78"/>
              </a:rPr>
              <a:t>bunnī → bunniyya</a:t>
            </a:r>
            <a:endParaRPr lang="en-US" sz="125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Colours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MISSION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feminine of this</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أَزْرَقُ.</a:t>
            </a:r>
            <a:endParaRPr lang="ar-SA" sz="22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أَزْرَقَةٌ</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زَرِيقَةٌ</a:t>
            </a:r>
            <a:endParaRPr lang="ar-SA" sz="1700" dirty="0"/>
          </a:p>
        </p:txBody>
      </p:sp>
      <p:sp>
        <p:nvSpPr>
          <p:cNvPr id="26" name="Shape 23"/>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زَرْقَاءُ</a:t>
            </a:r>
            <a:endParaRPr lang="ar-SA" sz="170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Blue changes to </a:t>
            </a:r>
            <a:pPr algn="l" indent="0" marL="0">
              <a:buNone/>
            </a:pPr>
            <a:r>
              <a:rPr lang="ar-SA" altLang="en-US" sz="1350" dirty="0">
                <a:solidFill>
                  <a:srgbClr val="8A6D1E"/>
                </a:solidFill>
                <a:latin typeface="Amiri" pitchFamily="2" charset="-78"/>
                <a:ea typeface="Amiri" pitchFamily="2" charset="-78"/>
                <a:cs typeface="Amiri" pitchFamily="2" charset="-78"/>
              </a:rPr>
              <a:t>زَرْقَاءُ</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colour follows the regular pattern?</a:t>
            </a:r>
            <a:endParaRPr lang="en-US" sz="1250" dirty="0"/>
          </a:p>
        </p:txBody>
      </p:sp>
      <p:sp>
        <p:nvSpPr>
          <p:cNvPr id="35" name="Shape 32"/>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بَنَفْسَجِيٌّ</a:t>
            </a:r>
            <a:endParaRPr lang="ar-SA" sz="170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أَسْوَدُ</a:t>
            </a:r>
            <a:endParaRPr lang="ar-SA" sz="1700" dirty="0"/>
          </a:p>
        </p:txBody>
      </p:sp>
      <p:sp>
        <p:nvSpPr>
          <p:cNvPr id="42" name="Shape 39"/>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أَبْيَضُ</a:t>
            </a:r>
            <a:endParaRPr lang="ar-SA" sz="1700" dirty="0"/>
          </a:p>
        </p:txBody>
      </p:sp>
      <p:sp>
        <p:nvSpPr>
          <p:cNvPr id="45" name="Text 42"/>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بَنَفْسَجِيٌّ</a:t>
            </a:r>
            <a:pPr algn="l" indent="0" marL="0">
              <a:buNone/>
            </a:pPr>
            <a:r>
              <a:rPr lang="en-US" sz="1050" i="1" dirty="0">
                <a:solidFill>
                  <a:srgbClr val="8A6D1E"/>
                </a:solidFill>
                <a:latin typeface="Calibri" pitchFamily="34" charset="0"/>
                <a:cs typeface="Amiri" pitchFamily="2" charset="-78"/>
              </a:rPr>
              <a:t> adds </a:t>
            </a:r>
            <a:pPr algn="l" indent="0" marL="0">
              <a:buNone/>
            </a:pPr>
            <a:r>
              <a:rPr lang="ar-SA" altLang="en-US" sz="1350" dirty="0">
                <a:solidFill>
                  <a:srgbClr val="8A6D1E"/>
                </a:solidFill>
                <a:latin typeface="Amiri" pitchFamily="2" charset="-78"/>
                <a:ea typeface="Amiri" pitchFamily="2" charset="-78"/>
                <a:cs typeface="Amiri" pitchFamily="2" charset="-78"/>
              </a:rPr>
              <a:t>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3"/>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0" name="Text 47"/>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نَافِذَةٌ ___.</a:t>
            </a:r>
            <a:endParaRPr lang="ar-SA" sz="2200" dirty="0"/>
          </a:p>
        </p:txBody>
      </p:sp>
      <p:sp>
        <p:nvSpPr>
          <p:cNvPr id="51"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2"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أَحْمَرُ</a:t>
            </a:r>
            <a:endParaRPr lang="ar-SA" sz="1700" dirty="0"/>
          </a:p>
        </p:txBody>
      </p:sp>
      <p:sp>
        <p:nvSpPr>
          <p:cNvPr id="54" name="Shape 51"/>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8278368" y="2862072"/>
            <a:ext cx="256032" cy="256032"/>
          </a:xfrm>
          <a:prstGeom prst="ellipse">
            <a:avLst/>
          </a:prstGeom>
          <a:solidFill>
            <a:srgbClr val="2E8B57"/>
          </a:solidFill>
          <a:ln w="12700">
            <a:solidFill>
              <a:srgbClr val="2E8B57"/>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حَمْرَاءُ</a:t>
            </a:r>
            <a:endParaRPr lang="ar-SA" sz="170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أَحْمَرَةٌ</a:t>
            </a:r>
            <a:endParaRPr lang="ar-SA" sz="170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نَافِذَةٌ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“dark red” for a rug.</a:t>
            </a:r>
            <a:endParaRPr lang="en-US" sz="1250" dirty="0"/>
          </a:p>
        </p:txBody>
      </p:sp>
      <p:sp>
        <p:nvSpPr>
          <p:cNvPr id="66" name="Shape 63"/>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7" name="Shape 64"/>
          <p:cNvSpPr/>
          <p:nvPr/>
        </p:nvSpPr>
        <p:spPr>
          <a:xfrm>
            <a:off x="640080" y="4831080"/>
            <a:ext cx="256032" cy="256032"/>
          </a:xfrm>
          <a:prstGeom prst="ellipse">
            <a:avLst/>
          </a:prstGeom>
          <a:solidFill>
            <a:srgbClr val="2E8B57"/>
          </a:solidFill>
          <a:ln w="12700">
            <a:solidFill>
              <a:srgbClr val="2E8B57"/>
            </a:solidFill>
            <a:prstDash val="solid"/>
          </a:ln>
        </p:spPr>
      </p:sp>
      <p:sp>
        <p:nvSpPr>
          <p:cNvPr id="68" name="Text 65"/>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9" name="Text 66"/>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حَمْرَاءُ غَامِقَةٌ</a:t>
            </a:r>
            <a:endParaRPr lang="ar-SA" sz="1700" dirty="0"/>
          </a:p>
        </p:txBody>
      </p:sp>
      <p:sp>
        <p:nvSpPr>
          <p:cNvPr id="70" name="Shape 67"/>
          <p:cNvSpPr/>
          <p:nvPr/>
        </p:nvSpPr>
        <p:spPr>
          <a:xfrm>
            <a:off x="640080"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أَحْمَرُ غَامِقٌ</a:t>
            </a:r>
            <a:endParaRPr lang="ar-SA" sz="170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حَمْرَاءُ غَامِقٌ</a:t>
            </a:r>
            <a:endParaRPr lang="ar-SA" sz="170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adjectives are feminine.</a:t>
            </a:r>
            <a:endParaRPr lang="en-US" sz="10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phrase.</a:t>
            </a:r>
            <a:endParaRPr lang="en-US" sz="1250" dirty="0"/>
          </a:p>
        </p:txBody>
      </p:sp>
      <p:sp>
        <p:nvSpPr>
          <p:cNvPr id="81" name="Shape 78"/>
          <p:cNvSpPr/>
          <p:nvPr/>
        </p:nvSpPr>
        <p:spPr>
          <a:xfrm>
            <a:off x="4459224" y="4831080"/>
            <a:ext cx="256032" cy="256032"/>
          </a:xfrm>
          <a:prstGeom prst="ellipse">
            <a:avLst/>
          </a:prstGeom>
          <a:solidFill>
            <a:srgbClr val="C9CED6"/>
          </a:solidFill>
          <a:ln w="12700">
            <a:solidFill>
              <a:srgbClr val="C9CED6"/>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كَرَاسِي بُنِّيُّونَ</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كَرَاسِي بُنِّيٌّ</a:t>
            </a:r>
            <a:endParaRPr lang="ar-SA" sz="1700" dirty="0"/>
          </a:p>
        </p:txBody>
      </p:sp>
      <p:sp>
        <p:nvSpPr>
          <p:cNvPr id="87" name="Shape 84"/>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8" name="Shape 85"/>
          <p:cNvSpPr/>
          <p:nvPr/>
        </p:nvSpPr>
        <p:spPr>
          <a:xfrm>
            <a:off x="4459224" y="5574792"/>
            <a:ext cx="256032" cy="256032"/>
          </a:xfrm>
          <a:prstGeom prst="ellipse">
            <a:avLst/>
          </a:prstGeom>
          <a:solidFill>
            <a:srgbClr val="2E8B57"/>
          </a:solidFill>
          <a:ln w="12700">
            <a:solidFill>
              <a:srgbClr val="2E8B57"/>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كَرَاسِي بُنِّيَّةٌ</a:t>
            </a:r>
            <a:endParaRPr lang="ar-SA" sz="170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Non-human plural things take feminine singular agreement.</a:t>
            </a:r>
            <a:endParaRPr lang="en-US" sz="10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4" name="Text 91"/>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5" name="Text 92"/>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Six colours change:</a:t>
            </a:r>
            <a:endParaRPr lang="en-US" sz="1250" dirty="0"/>
          </a:p>
          <a:p>
            <a:pPr algn="l" indent="0" marL="0">
              <a:buNone/>
            </a:pPr>
            <a:r>
              <a:rPr lang="en-US" sz="1250" dirty="0">
                <a:solidFill>
                  <a:srgbClr val="1E6B52"/>
                </a:solidFill>
                <a:latin typeface="Calibri" pitchFamily="34" charset="0"/>
                <a:cs typeface="Amiri" pitchFamily="2" charset="-78"/>
              </a:rPr>
              <a:t>aḥmar → ḥamrā’</a:t>
            </a:r>
            <a:endParaRPr lang="en-US" sz="1250" dirty="0"/>
          </a:p>
          <a:p>
            <a:pPr algn="l" indent="0" marL="0">
              <a:buNone/>
            </a:pPr>
            <a:r>
              <a:rPr lang="en-US" sz="1250" dirty="0">
                <a:solidFill>
                  <a:srgbClr val="1E6B52"/>
                </a:solidFill>
                <a:latin typeface="Calibri" pitchFamily="34" charset="0"/>
                <a:cs typeface="Amiri" pitchFamily="2" charset="-78"/>
              </a:rPr>
              <a:t>The rest add -a:</a:t>
            </a:r>
            <a:endParaRPr lang="en-US" sz="1250" dirty="0"/>
          </a:p>
          <a:p>
            <a:pPr algn="l" indent="0" marL="0">
              <a:buNone/>
            </a:pPr>
            <a:r>
              <a:rPr lang="en-US" sz="1250" dirty="0">
                <a:solidFill>
                  <a:srgbClr val="1E6B52"/>
                </a:solidFill>
                <a:latin typeface="Calibri" pitchFamily="34" charset="0"/>
                <a:cs typeface="Amiri" pitchFamily="2" charset="-78"/>
              </a:rPr>
              <a:t>bunnī → bunniyya</a:t>
            </a:r>
            <a:endParaRPr lang="en-US" sz="125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Colours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نَافِذَةٌ أَحْمَرَةٌ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Red: which pattern?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الطَّاوِلَةُ بُنِّيٌّ.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Table: masculine or feminine?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الحَائِطُ خَضْرَاءُ.</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Wall: masculine or feminine?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Colours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نَافِذَةٌ أَحْمَرَةٌ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نَافِذَةٌ حَمْرَاءُ</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Red is a “changes completely” colour: the feminine is ḥamrā’ (website common mistake).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الطَّاوِلَةُ بُنِّيٌّ.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الطَّاوِلَةُ بُنِّيَّةٌ.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table is feminine: regular colours add -iyya.</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الحَائِطُ خَضْرَاءُ.</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الحَائِطُ أَخْضَرُ.</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wall is masculine: use the masculine colour.</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Colours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Layla’s colourful home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the entrance door?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dark blue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light green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white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the living-room sofa?</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pink</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orange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purple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are the curtains described?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dark blue and plain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white and colourful</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light blue and striped</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the fridge?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silver</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white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black</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her brother’s bed?</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white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black</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brown</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Two columns: room / object · colour.</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Colours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بَيْتِ لَيْلَى غُرَفٌ مُلَوَّنَةٌ. بَابُ المَدْخَلِ أَزْرَقُ غَامِقٌ، وَالحَائِطُ أَبْيَضُ.</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Layla’s house there are colourful rooms. The front door is dark blue, and the wall is white.</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1850" b="1" dirty="0">
                <a:solidFill>
                  <a:srgbClr val="1B3B6F"/>
                </a:solidFill>
                <a:latin typeface="Amiri" pitchFamily="2" charset="-78"/>
                <a:ea typeface="Amiri" pitchFamily="2" charset="-78"/>
                <a:cs typeface="Amiri" pitchFamily="2" charset="-78"/>
              </a:rPr>
              <a:t>فِي غُرْفَةِ الجُلُوسِ أَرِيكَةٌ بَنَفْسَجِيَّةٌ وَسَجَّادَةٌ رَمَادِيَّةٌ. السَّتَائِرُ زَرْقَاءُ فَاتِحَةٌ وَمُخَطَّطَةٌ.</a:t>
            </a:r>
            <a:endParaRPr lang="ar-SA" sz="18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living room there is a purple sofa and a grey rug. The curtains are light blue and striped.</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المَطْبَخِ ثَلَّاجَةٌ فِضِّيَّةٌ وَطَاوِلَةٌ بَيْضَاءُ، وَالكَرَاسِي بُرْتُقَالِيَّةٌ.</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kitchen there is a silver fridge and a white table, and the chairs are orange.</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غُرْفَةُ لَيْلَى وَرْدِيَّةٌ، وَلَكِنَّ مَكْتَبَهَا بُنِّيٌّ. غُرْفَةُ أَخِيهَا خَضْرَاءُ، وَسَرِيرُهُ أَسْوَدُ.</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Layla’s room is pink, but her desk is brown. Her brother’s room is green, and his bed is black.</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تُحِبُّ لَيْلَى غُرْفَةَ الجُلُوسِ لِأَنَّ أَلْوَانَهَا هَادِئَةٌ وَجَمِيلَةٌ.</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 loves the living room because its colours are calm and beautiful.</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Colours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the entrance door?</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dark blue</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light green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white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بَابُ المَدْخَلِ أَزْرَقُ غَامِقٌ.</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the living-room sofa?</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pink</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orange</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purple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أَرِيكَةٌ بَنَفْسَجِيَّةٌ.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are the curtains described?</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dark blue and plain</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white and colourful</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light blue and striped</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السَّتَائِرُ زَرْقَاءُ فَاتِحَةٌ وَمُخَطَّطَةٌ.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the fridge?</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silver</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white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black</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ثَلَّاجَةٌ فِضِّيَّةٌ.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her brother’s bed?</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white</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black</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brown</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سَرِيرُهُ أَسْوَدُ.</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Two columns: room / object · colour.</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Colours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 TEXT A · FULLY SUPPORTED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Yusuf’s study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النَّصُّ (أ)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مَكْتَبُ يُوسُفَ صَغِيرٌ وَلَكِنَّهُ مُرَتَّبٌ.</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Description: small but tidy</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الحَائِطُ أَخْضَرُ فَاتِحٌ، وَالبَابُ أَبْيَضُ.</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Wall: light green · door: white</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الغُرْفَةِ مَكْتَبٌ بُنِّيٌّ وَكُرْسِيٌّ أَسْوَدُ.</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Desk: brown · chair: black</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عَلَى المَكْتَبِ حَاسُوبٌ فِضِّيٌّ وَمِصْبَاحٌ أَصْفَرُ.</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Computer: silver · lamp: yellow</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السَّتَائِرُ بَيْضَاءُ وَخَضْرَاءُ وَمُخَطَّطَةٌ. يُحِبُّ يُوسُفُ المَكْتَبَ لِأَنَّ أَلْوَانَهُ هَادِئَةٌ.</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Curtains: white, green, striped · opinion: calm colours</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Colours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READING · TEXT B · REDUCED VOWELS (WEBSITE) · FLEX /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Maha’s favourite objects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النَّصُّ (ب)</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a:t>
            </a:r>
            <a:endParaRPr lang="en-US" sz="850" dirty="0"/>
          </a:p>
        </p:txBody>
      </p:sp>
      <p:sp>
        <p:nvSpPr>
          <p:cNvPr id="17" name="Shape 14"/>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8" name="Text 15"/>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تُحِبُّ مَهَا الألوان الزاهية.</a:t>
            </a:r>
            <a:endParaRPr lang="ar-SA" sz="2000" dirty="0"/>
          </a:p>
        </p:txBody>
      </p:sp>
      <p:sp>
        <p:nvSpPr>
          <p:cNvPr id="19" name="Text 16"/>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Maha loves bright colours</a:t>
            </a:r>
            <a:endParaRPr lang="en-US" sz="1250" dirty="0"/>
          </a:p>
        </p:txBody>
      </p:sp>
      <p:sp>
        <p:nvSpPr>
          <p:cNvPr id="20" name="Shape 17"/>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21" name="Text 18"/>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حقيبتها وردية، وهاتفها بنفسجي غامق.</a:t>
            </a:r>
            <a:endParaRPr lang="ar-SA" sz="2000" dirty="0"/>
          </a:p>
        </p:txBody>
      </p:sp>
      <p:sp>
        <p:nvSpPr>
          <p:cNvPr id="22" name="Text 19"/>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Bag: pink (f.) · phone: dark purple (m.)</a:t>
            </a:r>
            <a:endParaRPr lang="en-US" sz="1250" dirty="0"/>
          </a:p>
        </p:txBody>
      </p:sp>
      <p:sp>
        <p:nvSpPr>
          <p:cNvPr id="23" name="Shape 20"/>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4" name="Text 21"/>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غرفتها سجادة حمراء، ووسادتان برتقاليتان، ومرآة ذهبية.</a:t>
            </a:r>
            <a:endParaRPr lang="ar-SA" sz="2000" dirty="0"/>
          </a:p>
        </p:txBody>
      </p:sp>
      <p:sp>
        <p:nvSpPr>
          <p:cNvPr id="25" name="Text 22"/>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Rug: red · two cushions: orange · mirror: gold</a:t>
            </a:r>
            <a:endParaRPr lang="en-US" sz="1250" dirty="0"/>
          </a:p>
        </p:txBody>
      </p:sp>
      <p:sp>
        <p:nvSpPr>
          <p:cNvPr id="26" name="Shape 23"/>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7" name="Text 24"/>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أمّا خزانتها فهي بيضاء، ولكن أبوابها ملوّنة.</a:t>
            </a:r>
            <a:endParaRPr lang="ar-SA" sz="2000" dirty="0"/>
          </a:p>
        </p:txBody>
      </p:sp>
      <p:sp>
        <p:nvSpPr>
          <p:cNvPr id="28" name="Text 25"/>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Wardrobe: white · its doors: colourful</a:t>
            </a:r>
            <a:endParaRPr lang="en-US" sz="1250" dirty="0"/>
          </a:p>
        </p:txBody>
      </p:sp>
      <p:sp>
        <p:nvSpPr>
          <p:cNvPr id="29" name="Shape 26"/>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30" name="Text 27"/>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تقول مها إنّ اللون الأزرق هو لونها المفضّل لأنّه هادئ وجميل.</a:t>
            </a:r>
            <a:endParaRPr lang="ar-SA" sz="2000" dirty="0"/>
          </a:p>
        </p:txBody>
      </p:sp>
      <p:sp>
        <p:nvSpPr>
          <p:cNvPr id="31" name="Text 28"/>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Favourite colour: blue — calm and beautiful</a:t>
            </a:r>
            <a:endParaRPr lang="en-US" sz="1250" dirty="0"/>
          </a:p>
        </p:txBody>
      </p:sp>
      <p:sp>
        <p:nvSpPr>
          <p:cNvPr id="32" name="Text 2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Colours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QUESTIONS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Yusuf or Maha?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the study wall?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dark green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light green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white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Yusuf’s desk?</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silver</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black</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brown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are the curtains described?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white, green and striped</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blue and dark</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red and colourful</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Maha’s bag?</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purple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pink</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red</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object is gold?</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mirror</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wardrobe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rug</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NOUN FIRST</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Find the noun in the text,</a:t>
            </a:r>
            <a:endParaRPr lang="en-US" sz="1250" dirty="0"/>
          </a:p>
          <a:p>
            <a:pPr algn="l" indent="0" marL="0">
              <a:buNone/>
            </a:pPr>
            <a:r>
              <a:rPr lang="en-US" sz="1250" dirty="0">
                <a:solidFill>
                  <a:srgbClr val="1F2A37"/>
                </a:solidFill>
                <a:latin typeface="Calibri" pitchFamily="34" charset="0"/>
                <a:cs typeface="Amiri" pitchFamily="2" charset="-78"/>
              </a:rPr>
              <a:t>then read the word after it.</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Colours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the study wall?</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dark green</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light green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white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الحَائِطُ أَخْضَرُ فَاتِحٌ.</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Yusuf’s desk?</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silver</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black</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brown</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مَكْتَبٌ بُنِّيٌّ.</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are the curtains described?</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white, green and striped</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blue and dark</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red and colourful</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السَّتَائِرُ بَيْضَاءُ وَخَضْرَاءُ وَمُخَطَّطَةٌ.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Maha’s bag?</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purple</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pink</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red</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حقيبتها وردية.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object is gold?</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mirror</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wardrobe</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rug</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مرآة ذهبية.</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NOUN FIRST</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Find the noun in the text,</a:t>
            </a:r>
            <a:endParaRPr lang="en-US" sz="1250" dirty="0"/>
          </a:p>
          <a:p>
            <a:pPr algn="l" indent="0" marL="0">
              <a:buNone/>
            </a:pPr>
            <a:r>
              <a:rPr lang="en-US" sz="1250" dirty="0">
                <a:solidFill>
                  <a:srgbClr val="1F2A37"/>
                </a:solidFill>
                <a:latin typeface="Calibri" pitchFamily="34" charset="0"/>
                <a:cs typeface="Amiri" pitchFamily="2" charset="-78"/>
              </a:rPr>
              <a:t>then read the word after it.</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37</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Colours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Describe a colour scheme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لَوْنُكَ المُفَضَّلُ؟ / مَا لَوْنُكِ المُفَضَّلُ؟</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أَلْوَانُ غُرْفَتِكَ؟</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أَغْرَاضَكَ: الحَقِيبَةُ، الهَاتِفُ، الدَّفْتَرُ.</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غُرْفَةَ الجُلُوسِ بِالأَلْوَانِ، وَقُلْ لِمَاذَا تُحِبُّهَا.</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لَوْنِي المُفَضَّلُ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غُرْفَتِي ___ ، وَسَرِيرِي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حَقِيبَتِي ___ ، وَهَاتِفِي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___ فَاتِحَةٌ / غَامِقَةٌ ، لِأَنَّ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أَلْوَانُ غُرْفَةِ الجُلُوسِ؟</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are the colours of the living room?</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غُرْفَةُ الجُلُوسِ وَاسِعَةٌ وَمُلَوَّنَةٌ. الأَرِيكَةُ بَنَفْسَجِيَّةٌ غَامِقَةٌ.</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The living room is spacious and colourful. The sofa is dark purple.</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37</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Colours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phrases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Six noun + colour phrases with the colour bank (masculine and feminine).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Noun + colour from the bank: three masculine, three feminine (my bag, my room, my desk …).</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Six to eight sentences using both colour patterns and one shade word.</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 room or your personal items: both colour patterns and one shade word.</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Definite phrases (al-bābu l-aḥmaru), non-human plurals (satā’ir zarqā’) and a reason.</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Definite phrases, a plural of things with a feminine colour, and a reason.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37</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Colours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الحَائِطُ أَخْضَرُ فَاتِحٌ.</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wall is light green.</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الأَرِيكَةُ بَنَفْسَجِيَّةٌ غَامِقَةٌ.</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sofa is dark purple.</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السَّتَائِرُ زَرْقَاءُ وَمُخَطَّطَةٌ.</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curtains are blue and striped.</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 وَلَكِنَّ ______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but my … is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أُحِبُّهَا لِأَنَّ أَلْوَانَهَا هَادِئَةٌ.</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love it because its colours are calm.</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لَوْنِي المُفَضَّلُ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favourite colour is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حَقِيبَتِي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bag (f.) is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مَكْتَبِي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desk (m.) is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هُنَاكَ سَجَّادَةٌ حَمْرَاءُ.</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There is a red rug.</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البَابُ أَبْيَضُ.</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door is white.</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أَحْمَرُ / حَمْرَاءُ  ·  أَزْرَقُ / زَرْقَاءُ  ·  أَخْضَرُ / خَضْرَاءُ  ·  أَبْيَضُ / بَيْضَاءُ  ·  أَسْوَدُ / سَوْدَاءُ  ·  بُنِّيٌّ / بُنِّيَّةٌ  ·  وَرْدِيٌّ / وَرْدِيَّةٌ  ·  رَمَادِيٌّ / رَمَادِيَّةٌ  ·  فَاتِحٌ  ·  غَامِقٌ  ·  مُخَطَّطٌ  ·  لِأَنَّ</a:t>
            </a:r>
            <a:endParaRPr lang="ar-SA" sz="14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37</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Colours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غُرْفَةُ الجُلُوسِ وَاسِعَةٌ وَمُلَوَّنَةٌ. الأَرِيكَةُ بَنَفْسَجِيَّةٌ غَامِقَةٌ، وَالسَّجَّادَةُ رَمَادِيَّةٌ. السَّتَائِرُ زَرْقَاءُ فَاتِحَةٌ وَمُخَطَّطَةٌ، وَالمِصْبَاحُ ذَهَبِيٌّ. الحَائِطُ أَبْيَضُ. أُحِبُّ هَذِهِ الأَلْوَانَ لِأَنَّهَا هَادِئَةٌ وَجَمِيلَةٌ.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The living room is spacious and colourful. The sofa is dark purple and the rug is grey. The curtains are light blue and striped, and the lamp is golden. The wall is white. I love these colours because they are calm and beautiful.</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“changes completely” colour</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“adds -a” colour</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shade word</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reason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37</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Colours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colour comes AFTER its noun.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Feminine nouns have feminine colours.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both patterns (ḥamrā’ and bunniyya).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shade word agrees too.</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Plural things → feminine colour.</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37</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Colours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feminine of this</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أَسْوَدُ.</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سَوْدَاءُ</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أَسْوَدَةٌ</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سَوِيدَةٌ</a:t>
            </a:r>
            <a:endParaRPr lang="ar-SA" sz="2050" dirty="0"/>
          </a:p>
        </p:txBody>
      </p:sp>
      <p:sp>
        <p:nvSpPr>
          <p:cNvPr id="29" name="Shape 26"/>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yellow curtain”.</a:t>
            </a:r>
            <a:endParaRPr lang="en-US" sz="125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سِتَارَةٌ أَصْفَرُ</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سِتَارَةٌ صَفْرَاءُ</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صَفْرَاءُ سِتَارَةٌ</a:t>
            </a:r>
            <a:endParaRPr lang="ar-SA" sz="2050" dirty="0"/>
          </a:p>
        </p:txBody>
      </p:sp>
      <p:sp>
        <p:nvSpPr>
          <p:cNvPr id="42" name="Shape 39"/>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46" name="Text 43"/>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النَّافِذَةُ أَزْرَقُ.</a:t>
            </a:r>
            <a:endParaRPr lang="ar-SA" sz="220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النَّافِذَةُ زَرْقَاءُ.</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النَّافِذَةُ أَزْرَقَةٌ.</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النَّافِذَةُ أَزْرَقُ.</a:t>
            </a:r>
            <a:endParaRPr lang="ar-SA" sz="2050" dirty="0"/>
          </a:p>
        </p:txBody>
      </p:sp>
      <p:sp>
        <p:nvSpPr>
          <p:cNvPr id="56" name="Shape 53"/>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7" name="Text 54"/>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8" name="Text 55"/>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9" name="Text 5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37</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Colours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feminine of this</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أَسْوَدُ.</a:t>
            </a:r>
            <a:endParaRPr lang="ar-SA" sz="2200" dirty="0"/>
          </a:p>
        </p:txBody>
      </p:sp>
      <p:sp>
        <p:nvSpPr>
          <p:cNvPr id="20" name="Shape 17"/>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1" name="Shape 18"/>
          <p:cNvSpPr/>
          <p:nvPr/>
        </p:nvSpPr>
        <p:spPr>
          <a:xfrm>
            <a:off x="640080" y="2532888"/>
            <a:ext cx="256032" cy="256032"/>
          </a:xfrm>
          <a:prstGeom prst="ellipse">
            <a:avLst/>
          </a:prstGeom>
          <a:solidFill>
            <a:srgbClr val="2E8B57"/>
          </a:solidFill>
          <a:ln w="12700">
            <a:solidFill>
              <a:srgbClr val="2E8B57"/>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سَوْدَاءُ</a:t>
            </a:r>
            <a:endParaRPr lang="ar-SA" sz="2050" dirty="0"/>
          </a:p>
        </p:txBody>
      </p:sp>
      <p:sp>
        <p:nvSpPr>
          <p:cNvPr id="24" name="Shape 21"/>
          <p:cNvSpPr/>
          <p:nvPr/>
        </p:nvSpPr>
        <p:spPr>
          <a:xfrm>
            <a:off x="640080" y="2990088"/>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أَسْوَدَةٌ</a:t>
            </a:r>
            <a:endParaRPr lang="ar-SA" sz="2050" dirty="0"/>
          </a:p>
        </p:txBody>
      </p:sp>
      <p:sp>
        <p:nvSpPr>
          <p:cNvPr id="27" name="Shape 24"/>
          <p:cNvSpPr/>
          <p:nvPr/>
        </p:nvSpPr>
        <p:spPr>
          <a:xfrm>
            <a:off x="640080" y="344728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سَوِيدَةٌ</a:t>
            </a:r>
            <a:endParaRPr lang="ar-SA" sz="2050" dirty="0"/>
          </a:p>
        </p:txBody>
      </p:sp>
      <p:sp>
        <p:nvSpPr>
          <p:cNvPr id="30" name="Text 27"/>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Black follows the broken pattern.</a:t>
            </a:r>
            <a:endParaRPr lang="en-US" sz="1050" dirty="0"/>
          </a:p>
        </p:txBody>
      </p:sp>
      <p:sp>
        <p:nvSpPr>
          <p:cNvPr id="31" name="Shape 28"/>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yellow curtain”.</a:t>
            </a:r>
            <a:endParaRPr lang="en-US" sz="1250" dirty="0"/>
          </a:p>
        </p:txBody>
      </p:sp>
      <p:sp>
        <p:nvSpPr>
          <p:cNvPr id="35" name="Shape 32"/>
          <p:cNvSpPr/>
          <p:nvPr/>
        </p:nvSpPr>
        <p:spPr>
          <a:xfrm>
            <a:off x="4459224" y="2532888"/>
            <a:ext cx="256032" cy="256032"/>
          </a:xfrm>
          <a:prstGeom prst="ellipse">
            <a:avLst/>
          </a:prstGeom>
          <a:solidFill>
            <a:srgbClr val="C9CED6"/>
          </a:solidFill>
          <a:ln w="12700">
            <a:solidFill>
              <a:srgbClr val="C9CED6"/>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سِتَارَةٌ أَصْفَرُ</a:t>
            </a:r>
            <a:endParaRPr lang="ar-SA" sz="2050" dirty="0"/>
          </a:p>
        </p:txBody>
      </p:sp>
      <p:sp>
        <p:nvSpPr>
          <p:cNvPr id="38" name="Shape 35"/>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9" name="Shape 36"/>
          <p:cNvSpPr/>
          <p:nvPr/>
        </p:nvSpPr>
        <p:spPr>
          <a:xfrm>
            <a:off x="4459224" y="2990088"/>
            <a:ext cx="256032" cy="256032"/>
          </a:xfrm>
          <a:prstGeom prst="ellipse">
            <a:avLst/>
          </a:prstGeom>
          <a:solidFill>
            <a:srgbClr val="2E8B57"/>
          </a:solidFill>
          <a:ln w="12700">
            <a:solidFill>
              <a:srgbClr val="2E8B57"/>
            </a:solidFill>
            <a:prstDash val="solid"/>
          </a:ln>
        </p:spPr>
      </p:sp>
      <p:sp>
        <p:nvSpPr>
          <p:cNvPr id="40" name="Text 37"/>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1" name="Text 38"/>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سِتَارَةٌ صَفْرَاءُ</a:t>
            </a:r>
            <a:endParaRPr lang="ar-SA" sz="2050" dirty="0"/>
          </a:p>
        </p:txBody>
      </p:sp>
      <p:sp>
        <p:nvSpPr>
          <p:cNvPr id="42" name="Shape 39"/>
          <p:cNvSpPr/>
          <p:nvPr/>
        </p:nvSpPr>
        <p:spPr>
          <a:xfrm>
            <a:off x="4459224" y="344728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صَفْرَاءُ سِتَارَةٌ</a:t>
            </a:r>
            <a:endParaRPr lang="ar-SA" sz="2050" dirty="0"/>
          </a:p>
        </p:txBody>
      </p:sp>
      <p:sp>
        <p:nvSpPr>
          <p:cNvPr id="45" name="Text 42"/>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colour follows the feminine noun.</a:t>
            </a:r>
            <a:endParaRPr lang="en-US" sz="1050" dirty="0"/>
          </a:p>
        </p:txBody>
      </p:sp>
      <p:sp>
        <p:nvSpPr>
          <p:cNvPr id="46" name="Shape 43"/>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50" name="Text 47"/>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النَّافِذَةُ أَزْرَقُ.</a:t>
            </a:r>
            <a:endParaRPr lang="ar-SA" sz="2200" dirty="0"/>
          </a:p>
        </p:txBody>
      </p:sp>
      <p:sp>
        <p:nvSpPr>
          <p:cNvPr id="51" name="Shape 48"/>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532888"/>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النَّافِذَةُ زَرْقَاءُ.</a:t>
            </a:r>
            <a:endParaRPr lang="ar-SA" sz="2050" dirty="0"/>
          </a:p>
        </p:txBody>
      </p:sp>
      <p:sp>
        <p:nvSpPr>
          <p:cNvPr id="55" name="Shape 52"/>
          <p:cNvSpPr/>
          <p:nvPr/>
        </p:nvSpPr>
        <p:spPr>
          <a:xfrm>
            <a:off x="8278368" y="2990088"/>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النَّافِذَةُ أَزْرَقَةٌ.</a:t>
            </a:r>
            <a:endParaRPr lang="ar-SA" sz="2050" dirty="0"/>
          </a:p>
        </p:txBody>
      </p:sp>
      <p:sp>
        <p:nvSpPr>
          <p:cNvPr id="58" name="Shape 55"/>
          <p:cNvSpPr/>
          <p:nvPr/>
        </p:nvSpPr>
        <p:spPr>
          <a:xfrm>
            <a:off x="8278368" y="344728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النَّافِذَةُ أَزْرَقُ.</a:t>
            </a:r>
            <a:endParaRPr lang="ar-SA" sz="2050" dirty="0"/>
          </a:p>
        </p:txBody>
      </p:sp>
      <p:sp>
        <p:nvSpPr>
          <p:cNvPr id="61" name="Text 58"/>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form of blue is </a:t>
            </a:r>
            <a:pPr algn="l" indent="0" marL="0">
              <a:buNone/>
            </a:pPr>
            <a:r>
              <a:rPr lang="ar-SA" altLang="en-US" sz="1350" dirty="0">
                <a:solidFill>
                  <a:srgbClr val="8A6D1E"/>
                </a:solidFill>
                <a:latin typeface="Amiri" pitchFamily="2" charset="-78"/>
                <a:ea typeface="Amiri" pitchFamily="2" charset="-78"/>
                <a:cs typeface="Amiri" pitchFamily="2" charset="-78"/>
              </a:rPr>
              <a:t>زَرْقَاءُ</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2" name="Shape 59"/>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3" name="Text 60"/>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4" name="Text 61"/>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37</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Colours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F3-L06: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F3-L06 · Household Appliances and Daily Routines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فُرْنٌ</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oven</a:t>
            </a:r>
            <a:pPr indent="0" marL="0">
              <a:buNone/>
            </a:pPr>
            <a:r>
              <a:rPr lang="ar-SA" sz="1000" i="1" dirty="0">
                <a:solidFill>
                  <a:srgbClr val="5A6472"/>
                </a:solidFill>
                <a:latin typeface="Calibri" pitchFamily="34" charset="0"/>
                <a:ea typeface="Amiri" pitchFamily="2" charset="-78"/>
                <a:cs typeface="Amiri" pitchFamily="2" charset="-78"/>
              </a:rPr>
              <a:t>  pl. أَفْرَانٌ</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غَسَّالَةُ صُحُونٍ</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dishwasher</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غَلَّايَةٌ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kettle</a:t>
            </a:r>
            <a:pPr indent="0" marL="0">
              <a:buNone/>
            </a:pPr>
            <a:r>
              <a:rPr lang="ar-SA" sz="1000" i="1" dirty="0">
                <a:solidFill>
                  <a:srgbClr val="5A6472"/>
                </a:solidFill>
                <a:latin typeface="Calibri" pitchFamily="34" charset="0"/>
                <a:ea typeface="Amiri" pitchFamily="2" charset="-78"/>
                <a:cs typeface="Amiri" pitchFamily="2" charset="-78"/>
              </a:rPr>
              <a:t>  pl. غَلَّايَاتٌ</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مِكْوَاةٌ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iron</a:t>
            </a:r>
            <a:pPr indent="0" marL="0">
              <a:buNone/>
            </a:pPr>
            <a:r>
              <a:rPr lang="ar-SA" sz="1000" i="1" dirty="0">
                <a:solidFill>
                  <a:srgbClr val="5A6472"/>
                </a:solidFill>
                <a:latin typeface="Calibri" pitchFamily="34" charset="0"/>
                <a:ea typeface="Amiri" pitchFamily="2" charset="-78"/>
                <a:cs typeface="Amiri" pitchFamily="2" charset="-78"/>
              </a:rPr>
              <a:t>  pl. مَكَاوٍ</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مُكَيِّفٌ</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air conditioner</a:t>
            </a:r>
            <a:pPr indent="0" marL="0">
              <a:buNone/>
            </a:pPr>
            <a:r>
              <a:rPr lang="ar-SA" sz="1000" i="1" dirty="0">
                <a:solidFill>
                  <a:srgbClr val="5A6472"/>
                </a:solidFill>
                <a:latin typeface="Calibri" pitchFamily="34" charset="0"/>
                <a:ea typeface="Amiri" pitchFamily="2" charset="-78"/>
                <a:cs typeface="Amiri" pitchFamily="2" charset="-78"/>
              </a:rPr>
              <a:t>  pl. مُكَيِّفَاتٌ</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Which appliance does your family use every day? Write it in Arabic.</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مَاذَا تَسْتَعْمِلُ فِي البَيْتِ؟</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F3-L05: the Colour Code Mission (14) and the picture game.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colour-rich description in 6–8 sentences.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Palette Studio: both colour patterns, gold, silver, light, dark, striped, and six noun phrases.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37</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F3-L05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050" b="1" dirty="0">
                <a:solidFill>
                  <a:srgbClr val="FFFFFF"/>
                </a:solidFill>
                <a:latin typeface="Cambria" pitchFamily="34" charset="0"/>
                <a:cs typeface="Amiri" pitchFamily="2" charset="-78"/>
              </a:rPr>
              <a:t>F3-L06 · Household Appliances and Daily Routines</a:t>
            </a:r>
            <a:endParaRPr lang="en-US" sz="20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الأَجْهِزَةُ المَنْزِلِيَّةُ وَالرُّوتِينُ</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noun first · aḥmar → ḥamrā’ · bunnī → bunniyya.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F3-L05 · Colours — Full System and Agreement</dc:title>
  <dc:subject>PptxGenJS Presentation</dc:subject>
  <dc:creator>Al Madina Online School · Arabic Department</dc:creator>
  <cp:lastModifiedBy>Al Madina Online School · Arabic Department</cp:lastModifiedBy>
  <cp:revision>1</cp:revision>
  <dcterms:created xsi:type="dcterms:W3CDTF">2026-10-11T06:41:31Z</dcterms:created>
  <dcterms:modified xsi:type="dcterms:W3CDTF">2026-10-11T06:41:31Z</dcterms:modified>
</cp:coreProperties>
</file>