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5 (F3-L05). Website sections used: the eight-question agreement bridge, the colour vault (11 core colours + 7 extension words) and its 12-question check, the two colour patterns and the 12-question pattern laboratory, “make colour agree” (masculine, feminine, definite, non-human plural) and the 14-question agreement check, light / dark / colourful / striped and the 10-question shade check, the Palette Studio, the Colour Code Mission (14), Layla’s colourful home (listening, 10), Yusuf’s study and Maha’s objects (reading, 12), the colour-scheme studio (4 prompts), the colour-rich writing task and the 16-question checkpoint. Picture match: website visual game “Colours — Full System and Agreement”.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 website’s one big warning: do NOT add ة automatically. Six colours change completely (أَحْمَرُ ← حَمْرَاءُ); the rest just add ة (بُنِّيٌّ ← بُنِّيَّةٌ).
• Core: 8 colours in both forms + noun first, colour second. Develop: both patterns + one shade word (فَاتِحٌ / غَامِقٌ). Stretch: definite phrases (البَابُ الأَحْمَرُ) and non-human plurals (السَّتَائِرُ زَرْقَاءُ).
• Links: F3-L04 furniture genders do all the work today (خِزَانَةٌ f., مَكْتَبٌ m.).
• Urdu bridge: سبز / أَخْضَرُ (not cognate), لال / أَحْمَرُ (not cognate) — but بنفشی ← بَنَفْسَجِيٌّ، گلابی / وَرْدِيٌّ (both from “rose”), رنگ / لَوْنٌ, سنہری / ذَهَبِيٌّ (both “golden”).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colours prepared at home at the end of F3-L04. Questions 3–5 are the website “agreement bridge” (noun gender, word order, masculine colour).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Noun first, colour second — and the colour matches the noun. Six colours change completely for feminine; the rest add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speaking checklist as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most colour words are NOT shared, so give memory hooks: الحَجَرُ الأَسْوَدُ (the Black Stone) → أَسْوَدُ; وَرْدَةٌ (a rose) → وَرْدِيٌّ; ذَهَبٌ (gold) → ذَهَبِيٌّ; فِضَّةٌ (silver) → فِضِّيٌّ; بُرْتُقَالٌ (an orange, F5) → بُرْتُقَالِيٌّ; بُنٌّ (coffee beans) → بُنِّيٌّ.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 (website “changes completely”: أَفْعَلُ ← فَعْلَاءُ). Chant each pair: aḥmar – ḥamrā’. The “things pl.” box: plurals of things take the feminine singular colour (السَّتَائِرُ زَرْقَاءُ — website).
Website common mistake: حَمْرَاءُ ✓ — «أَحْمَرَةٌ»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 (website “add ة”: ـِيٌّ ← ـِيَّةٌ) — the same nisba pattern as nationalities in F2-L04 (مِصْرِيٌّ / مِصْرِيَّةٌ). Card 12: لَوْنٌ / أَلْوَانٌ — مَا لَوْنُكَ المُفَضَّلُ؟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(website “official extension bank”). A second adjective comes after the colour and also agrees: بَابٌ أَزْرَقُ فَاتِحٌ (a light-blue door) · نَافِذَةٌ زَرْقَاءُ غَامِقَةٌ (a dark-blue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4 “Make colour agree”: the colour follows the noun and matches its gender; the noun decides the form. Row 4 = website “Definite phrase” (البَابُ الأَحْمَرُ — both take الـ) and “Non-human plural reminder” (السَّتَائِرُ زَرْقَاءُ وَمُخَطَّطَةٌ).
Quick-fire with F3-L04 furniture: say a noun + English colour; students say the phrase (خِزَانَةٌ + white → خِزَانَةٌ بَيْضَاءُ).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3 “Two colour patterns”: “Do not add ة automatically. First identify which pattern the colour follows.”
Pattern 1 (broken, six high-frequency colours): أَحْمَرُ/حَمْرَاءُ · أَزْرَقُ/زَرْقَاءُ · أَخْضَرُ/خَضْرَاءُ · أَصْفَرُ/صَفْرَاءُ · أَبْيَضُ/بَيْضَاءُ · أَسْوَدُ/سَوْدَاءُ.
Pattern 2 (regular nisba): بُرْتُقَالِيٌّ، بَنَفْسَجِيٌّ، بُنِّيٌّ، رَمَادِيٌّ، وَرْدِيٌّ، ذَهَبِيٌّ، فِضِّيٌّ + ة.
Website section 5: add a second adjective (فَاتِحٌ، غَامِقٌ، مُلَوَّنٌ، مُخَطَّطٌ) — both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“Fourteen-question colour-agreement check” questions 3, 2, 5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speaking prompt “Living room” with a think-aloud before every colour: “noun masculine or feminine? which pattern?” Then change الأَرِيكَةُ to الكُرْسِيُّ — what changes? (بَنَفْسَجِيٌّ غَامِقٌ).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Colours — Full System and Agreement”)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say the feminine of each colour (حَمْرَاءُ، خَضْرَاءُ، بَيْضَاءُ) — why? (after اللَّوْنُ, masculine, the colour stays masculine). Other cards: أَزْرَقُ، أَصْفَرُ، أَسْوَدُ.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Colours — Full System and Agreement”)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say the feminine of each colour (حَمْرَاءُ، خَضْرَاءُ، بَيْضَاءُ) — why? (after اللَّوْنُ, masculine, the colour stays masculine). Other cards: أَزْرَقُ، أَصْفَرُ، أَسْوَدُ.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Colour Code rounds (broken pair, regular pattern, feminine agreement, shade, plural things).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pattern — changes completely, or adds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فِي بَيْتِ لَيْلَى غُرَفٌ مُلَوَّنَةٌ. بَابُ المَدْخَلِ أَزْرَقُ غَامِقٌ، وَالحَائِطُ أَبْيَضُ. فِي غُرْفَةِ الجُلُوسِ أَرِيكَةٌ بَنَفْسَجِيَّةٌ وَسَجَّادَةٌ رَمَادِيَّةٌ. السَّتَائِرُ زَرْقَاءُ فَاتِحَةٌ وَمُخَطَّطَةٌ. فِي المَطْبَخِ ثَلَّاجَةٌ فِضِّيَّةٌ وَطَاوِلَةٌ بَيْضَاءُ، وَالكَرَاسِي بُرْتُقَالِيَّةٌ. غُرْفَةُ لَيْلَى وَرْدِيَّةٌ، وَلَكِنَّ مَكْتَبَهَا بُنِّيٌّ. غُرْفَةُ أَخِيهَا خَضْرَاءُ، وَسَرِيرُهُ أَسْوَدُ. تُحِبُّ لَيْلَى غُرْفَةَ الجُلُوسِ لِأَنَّ أَلْوَانَهَا هَادِئَةٌ وَجَمِيلَةٌ.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A (website). Website strategy: “Locate each noun first, then identify the agreeing colour and any extra shade or pattern word.” Every noun here is masculine except the curtains (plural of things → feminine colours).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B (website, reduced vowels — Stretch). Find the dual: وِسَادَتَانِ بُرْتُقَالِيَّتَانِ (two orange cushions — the colour is dual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4, 7 (Yusuf) and 9, 11 (Maha — Core may skip).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noun + colour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COLOUR-SCHEME STUDIO: describe a room, a person or an object set with accurate agreement and one reason. Prompt cards (website):
• Living room: sofa · rug · curtains · lamp · wall
• Bedroom: bed · wardrobe · desk · cushions · curtains
• Family portrait: clothes · hair · eyes · background · frame
• Personal items: bag · phone · notebook · pen · bottle
Website checklist (listener ticks 1–6): five colour words · a broken and a regular colour · every colour agrees · light / dark / striped · a reason · clear delivery.
Sensitivity: for the family-portrait prompt, describe clothes and objects — not skin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noun + colour phrases with the colour bank (masculine and feminine). · Develop — Six to eight sentences using both colour patterns and one shade word. · Stretch — Definite phrases (al-bābu l-aḥmaru), non-human plurals (satā’ir zarqā’) and a reason.
Website writing task (Stretch): Website writing task: 6–8 connected sentences about a room, a family portrait or a personal-item collection — six colour words, both colour patterns, one shade or pattern word and one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model (speaking prompt “Living room”, as extracted). Stretch: rewrite it about a bedroom with a masculine noun first (السَّرِيرُ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(F3-L06 · Household Appliances and Daily Routines) will spend class time USING this language, so students prepare it tonight — short, simple, easy to access (school guidance: “Simple, Short, Interesting, Relevant, Easy to access”). The five words come from the website F3-L04 recognition bank — the appliances of F3-L06.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00" b="1" dirty="0">
                <a:solidFill>
                  <a:srgbClr val="FFFFFF"/>
                </a:solidFill>
                <a:latin typeface="Cambria" pitchFamily="34" charset="0"/>
                <a:cs typeface="Amiri" pitchFamily="2" charset="-78"/>
              </a:rPr>
              <a:t>Colours — Full System and Agreement</a:t>
            </a:r>
            <a:endParaRPr lang="en-US" sz="29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الأَلْوَانُ — النِّظَامُ الكَامِلُ وَالمُطَابَقَةُ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Learn the complete colour system, tell apart the two feminine patterns (</a:t>
            </a:r>
            <a:pPr algn="l" indent="0" marL="0">
              <a:buNone/>
            </a:pPr>
            <a:r>
              <a:rPr lang="ar-SA" altLang="en-US" sz="1800" dirty="0">
                <a:solidFill>
                  <a:srgbClr val="C6D2E6"/>
                </a:solidFill>
                <a:latin typeface="Amiri" pitchFamily="2" charset="-78"/>
                <a:cs typeface="Amiri" pitchFamily="2" charset="-78"/>
              </a:rPr>
              <a:t>حَمْرَاءُ</a:t>
            </a:r>
            <a:pPr algn="l" indent="0" marL="0">
              <a:buNone/>
            </a:pPr>
            <a:r>
              <a:rPr lang="en-US" sz="1400" dirty="0">
                <a:solidFill>
                  <a:srgbClr val="C6D2E6"/>
                </a:solidFill>
                <a:latin typeface="Calibri" pitchFamily="34" charset="0"/>
                <a:cs typeface="Amiri" pitchFamily="2" charset="-78"/>
              </a:rPr>
              <a:t> vs </a:t>
            </a:r>
            <a:pPr algn="l" indent="0" marL="0">
              <a:buNone/>
            </a:pPr>
            <a:r>
              <a:rPr lang="ar-SA" altLang="en-US" sz="1800" dirty="0">
                <a:solidFill>
                  <a:srgbClr val="C6D2E6"/>
                </a:solidFill>
                <a:latin typeface="Amiri" pitchFamily="2" charset="-78"/>
                <a:cs typeface="Amiri" pitchFamily="2" charset="-78"/>
              </a:rPr>
              <a:t>بُنِّيَّةٌ</a:t>
            </a:r>
            <a:pPr algn="l" indent="0" marL="0">
              <a:buNone/>
            </a:pPr>
            <a:r>
              <a:rPr lang="en-US" sz="1400" dirty="0">
                <a:solidFill>
                  <a:srgbClr val="C6D2E6"/>
                </a:solidFill>
                <a:latin typeface="Calibri" pitchFamily="34" charset="0"/>
                <a:cs typeface="Amiri" pitchFamily="2" charset="-78"/>
              </a:rPr>
              <a:t>), add light, dark and patterned detail, and make every colour agree with its noun.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F3-L05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colour vault, then two feminine patterns and agreement.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Colour Code Mission, listen to Layla, read two descriptions.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F3-L06.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أَزْرَقُ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yellow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feminine of </a:t>
            </a:r>
            <a:pPr algn="l" indent="0" marL="0">
              <a:buNone/>
            </a:pPr>
            <a:r>
              <a:rPr lang="ar-SA" altLang="en-US" sz="1650" b="1" dirty="0">
                <a:solidFill>
                  <a:srgbClr val="1B3B6F"/>
                </a:solidFill>
                <a:latin typeface="Amiri" pitchFamily="2" charset="-78"/>
                <a:cs typeface="Amiri" pitchFamily="2" charset="-78"/>
              </a:rPr>
              <a:t>أَبْيَضُ</a:t>
            </a:r>
            <a:pPr algn="l" indent="0" marL="0">
              <a:buNone/>
            </a:pPr>
            <a:r>
              <a:rPr lang="en-US" sz="1250" b="1" dirty="0">
                <a:solidFill>
                  <a:srgbClr val="1B3B6F"/>
                </a:solidFill>
                <a:latin typeface="Calibri" pitchFamily="34" charset="0"/>
                <a:cs typeface="Amiri" pitchFamily="2" charset="-78"/>
              </a:rPr>
              <a:t> (white)?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بَيْضَاءُ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أَبْيَضَةٌ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أَبْيَضُ</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سَرِيرٌ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نَافِذَةٌ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order for “a red door”.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أَحْمَرُ بَابٌ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بَابٌ حَمْرَاءُ</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بَابٌ أَحْمَرُ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مَكْتَبٌ ___.</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بُنِّيَّاتٌ</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أَزْرَقُ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green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blue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yellow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feminine of </a:t>
            </a:r>
            <a:pPr algn="l" indent="0" marL="0">
              <a:buNone/>
            </a:pPr>
            <a:r>
              <a:rPr lang="ar-SA" altLang="en-US" sz="1650" b="1" dirty="0">
                <a:solidFill>
                  <a:srgbClr val="1B3B6F"/>
                </a:solidFill>
                <a:latin typeface="Amiri" pitchFamily="2" charset="-78"/>
                <a:cs typeface="Amiri" pitchFamily="2" charset="-78"/>
              </a:rPr>
              <a:t>أَبْيَضُ</a:t>
            </a:r>
            <a:pPr algn="l" indent="0" marL="0">
              <a:buNone/>
            </a:pPr>
            <a:r>
              <a:rPr lang="en-US" sz="1250" b="1" dirty="0">
                <a:solidFill>
                  <a:srgbClr val="1B3B6F"/>
                </a:solidFill>
                <a:latin typeface="Calibri" pitchFamily="34" charset="0"/>
                <a:cs typeface="Amiri" pitchFamily="2" charset="-78"/>
              </a:rPr>
              <a:t> (white)?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بَيْضَاءُ</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أَبْيَضَةٌ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أَبْيَضُ</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سَرِيرٌ</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نَافِذَةٌ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نَافِذَةٌ</a:t>
            </a:r>
            <a:pPr algn="l" indent="0" marL="0">
              <a:buNone/>
            </a:pPr>
            <a:r>
              <a:rPr lang="en-US" sz="1050" i="1" dirty="0">
                <a:solidFill>
                  <a:srgbClr val="8A6D1E"/>
                </a:solidFill>
                <a:latin typeface="Calibri" pitchFamily="34" charset="0"/>
                <a:cs typeface="Amiri" pitchFamily="2" charset="-78"/>
              </a:rPr>
              <a:t> is feminine and normally takes a feminine adjective.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order for “a red door”.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أَحْمَرُ بَابٌ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بَابٌ حَمْرَاءُ</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بَابٌ أَحْمَرُ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comes first and the masculine colour follows.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مَكْتَبٌ ___.</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بُنِّيٌّ</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بُنِّيَّةٌ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بُنِّيَّاتٌ</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مَكْتَبٌ</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cs typeface="Amiri" pitchFamily="2" charset="-78"/>
              </a:rPr>
              <a:t>Noun first, colour second — and the colour matches the noun. Six colours change completely for feminine; the rest add -a.</a:t>
            </a:r>
            <a:endParaRPr lang="en-US" sz="125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بَابٌ </a:t>
            </a:r>
            <a:pPr rtl="1" algn="ctr" indent="0" marL="0">
              <a:lnSpc>
                <a:spcPct val="120000"/>
              </a:lnSpc>
              <a:buNone/>
            </a:pPr>
            <a:r>
              <a:rPr lang="ar-SA" altLang="en-US" sz="1950" b="1" dirty="0">
                <a:solidFill>
                  <a:srgbClr val="1D5FBF"/>
                </a:solidFill>
                <a:latin typeface="Amiri" pitchFamily="2" charset="-78"/>
                <a:cs typeface="Amiri" pitchFamily="2" charset="-78"/>
              </a:rPr>
              <a:t>أَحْمَرُ</a:t>
            </a:r>
            <a:pPr rtl="1" algn="ctr" indent="0" marL="0">
              <a:lnSpc>
                <a:spcPct val="120000"/>
              </a:lnSpc>
              <a:buNone/>
            </a:pPr>
            <a:r>
              <a:rPr lang="ar-SA" altLang="en-US" sz="1950" b="1" dirty="0">
                <a:solidFill>
                  <a:srgbClr val="1B3B6F"/>
                </a:solidFill>
                <a:latin typeface="Amiri" pitchFamily="2" charset="-78"/>
                <a:cs typeface="Amiri" pitchFamily="2" charset="-78"/>
              </a:rPr>
              <a:t> · نَافِذَةٌ </a:t>
            </a:r>
            <a:pPr rtl="1" algn="ctr" indent="0" marL="0">
              <a:lnSpc>
                <a:spcPct val="120000"/>
              </a:lnSpc>
              <a:buNone/>
            </a:pPr>
            <a:r>
              <a:rPr lang="ar-SA" altLang="en-US" sz="1950" b="1" dirty="0">
                <a:solidFill>
                  <a:srgbClr val="D6336C"/>
                </a:solidFill>
                <a:latin typeface="Amiri" pitchFamily="2" charset="-78"/>
                <a:cs typeface="Amiri" pitchFamily="2" charset="-78"/>
              </a:rPr>
              <a:t>حَمْرَاءُ</a:t>
            </a:r>
            <a:pPr rtl="1" algn="ctr" indent="0" marL="0">
              <a:lnSpc>
                <a:spcPct val="120000"/>
              </a:lnSpc>
              <a:buNone/>
            </a:pPr>
            <a:r>
              <a:rPr lang="ar-SA" altLang="en-US" sz="1950" b="1" dirty="0">
                <a:solidFill>
                  <a:srgbClr val="1B3B6F"/>
                </a:solidFill>
                <a:latin typeface="Amiri" pitchFamily="2" charset="-78"/>
                <a:cs typeface="Amiri" pitchFamily="2" charset="-78"/>
              </a:rPr>
              <a:t> · طَاوِلَةٌ بُنِّيَّ</a:t>
            </a:r>
            <a:pPr rtl="1" algn="ctr" indent="0" marL="0">
              <a:lnSpc>
                <a:spcPct val="120000"/>
              </a:lnSpc>
              <a:buNone/>
            </a:pPr>
            <a:r>
              <a:rPr lang="ar-SA" altLang="en-US" sz="1950" b="1" dirty="0">
                <a:solidFill>
                  <a:srgbClr val="D6336C"/>
                </a:solidFill>
                <a:latin typeface="Amiri" pitchFamily="2" charset="-78"/>
                <a:cs typeface="Amiri" pitchFamily="2" charset="-78"/>
              </a:rPr>
              <a:t>ةٌ</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all core colours and the extension words.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masculine and feminine colours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light, dark, colourful and striped descriptions.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connected colour-rich description.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colours.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put the colour after the noun.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both feminine patterns.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light or dark.</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definite phrases and plural things.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colour-rich description with a reason.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The website colour vault: 11 core colours and 7 extension words, each in masculine and feminine. Core: the six “change completely” colours + brown and pink.</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Six colours that change · 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Colours that add -a · 5</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Shade, finish, pattern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لَوْنٌ</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‎رنگ‎ </a:t>
            </a:r>
            <a:pPr indent="0" marL="0">
              <a:buNone/>
            </a:pPr>
            <a:r>
              <a:rPr lang="en-US" sz="950" b="1" dirty="0">
                <a:solidFill>
                  <a:srgbClr val="2E8B57"/>
                </a:solidFill>
                <a:latin typeface="Calibri" pitchFamily="34" charset="0"/>
                <a:cs typeface="Amiri" pitchFamily="2" charset="-78"/>
              </a:rPr>
              <a:t> lawn · colour (not cognate)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بَنَفْسَجِيٌّ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‎بنفشی‎ </a:t>
            </a:r>
            <a:pPr indent="0" marL="0">
              <a:buNone/>
            </a:pPr>
            <a:r>
              <a:rPr lang="en-US" sz="950" b="1" dirty="0">
                <a:solidFill>
                  <a:srgbClr val="2E8B57"/>
                </a:solidFill>
                <a:latin typeface="Calibri" pitchFamily="34" charset="0"/>
                <a:cs typeface="Amiri" pitchFamily="2" charset="-78"/>
              </a:rPr>
              <a:t> banafsajī · purple (from “violet”)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وَرْدِيٌّ</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‎گلابی‎ </a:t>
            </a:r>
            <a:pPr indent="0" marL="0">
              <a:buNone/>
            </a:pPr>
            <a:r>
              <a:rPr lang="en-US" sz="950" b="1" dirty="0">
                <a:solidFill>
                  <a:srgbClr val="2E8B57"/>
                </a:solidFill>
                <a:latin typeface="Calibri" pitchFamily="34" charset="0"/>
                <a:cs typeface="Amiri" pitchFamily="2" charset="-78"/>
              </a:rPr>
              <a:t> wardī · pink (both from “rose”)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ذَهَبِيٌّ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‎سنہری‎ </a:t>
            </a:r>
            <a:pPr indent="0" marL="0">
              <a:buNone/>
            </a:pPr>
            <a:r>
              <a:rPr lang="en-US" sz="950" b="1" dirty="0">
                <a:solidFill>
                  <a:srgbClr val="2E8B57"/>
                </a:solidFill>
                <a:latin typeface="Calibri" pitchFamily="34" charset="0"/>
                <a:cs typeface="Amiri" pitchFamily="2" charset="-78"/>
              </a:rPr>
              <a:t> dhahabī · golden (ذَهَبٌ = gold)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أَسْوَدُ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‎سیاہ‎ </a:t>
            </a:r>
            <a:pPr indent="0" marL="0">
              <a:buNone/>
            </a:pPr>
            <a:r>
              <a:rPr lang="en-US" sz="950" b="1" dirty="0">
                <a:solidFill>
                  <a:srgbClr val="2E8B57"/>
                </a:solidFill>
                <a:latin typeface="Calibri" pitchFamily="34" charset="0"/>
                <a:cs typeface="Amiri" pitchFamily="2" charset="-78"/>
              </a:rPr>
              <a:t> aswad · black (al-Ḥajar al-Aswad)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SIX COLOURS THAT CHANGE COMPLETELY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Red, blue, green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الأَلْوَانُ الأَسَاسِيَّةُ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أَحْمَرُ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red</a:t>
            </a:r>
            <a:endParaRPr lang="en-US" sz="1350" dirty="0"/>
          </a:p>
          <a:p>
            <a:pPr indent="0" marL="0">
              <a:buNone/>
            </a:pPr>
            <a:r>
              <a:rPr lang="en-US" sz="1100" i="1" dirty="0">
                <a:solidFill>
                  <a:srgbClr val="5A6472"/>
                </a:solidFill>
                <a:latin typeface="Calibri" pitchFamily="34" charset="0"/>
                <a:cs typeface="Amiri" pitchFamily="2" charset="-78"/>
              </a:rPr>
              <a:t>aḥ-mar · ḥam-rā’</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حَمْرَاءُ</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حَمْرَاءُ</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أَحْمَرُ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أَزْرَقُ</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blue</a:t>
            </a:r>
            <a:endParaRPr lang="en-US" sz="1350" dirty="0"/>
          </a:p>
          <a:p>
            <a:pPr indent="0" marL="0">
              <a:buNone/>
            </a:pPr>
            <a:r>
              <a:rPr lang="en-US" sz="1100" i="1" dirty="0">
                <a:solidFill>
                  <a:srgbClr val="5A6472"/>
                </a:solidFill>
                <a:latin typeface="Calibri" pitchFamily="34" charset="0"/>
                <a:cs typeface="Amiri" pitchFamily="2" charset="-78"/>
              </a:rPr>
              <a:t>az-raq · zar-qā’</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زَرْقَاءُ</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زَرْقَاءُ</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أَزْرَقُ</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أَخْضَرُ</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green</a:t>
            </a:r>
            <a:endParaRPr lang="en-US" sz="1350" dirty="0"/>
          </a:p>
          <a:p>
            <a:pPr indent="0" marL="0">
              <a:buNone/>
            </a:pPr>
            <a:r>
              <a:rPr lang="en-US" sz="1100" i="1" dirty="0">
                <a:solidFill>
                  <a:srgbClr val="5A6472"/>
                </a:solidFill>
                <a:latin typeface="Calibri" pitchFamily="34" charset="0"/>
                <a:cs typeface="Amiri" pitchFamily="2" charset="-78"/>
              </a:rPr>
              <a:t>akh-ḍar · khaḍ-rā’</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62" name="Text 59"/>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خَضْرَاءُ</a:t>
            </a:r>
            <a:endParaRPr lang="ar-SA" sz="135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خَضْرَاءُ</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أَخْضَرُ</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2" name="Shape 69"/>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أَصْفَرُ</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yellow</a:t>
            </a:r>
            <a:endParaRPr lang="en-US" sz="1350" dirty="0"/>
          </a:p>
          <a:p>
            <a:pPr indent="0" marL="0">
              <a:buNone/>
            </a:pPr>
            <a:r>
              <a:rPr lang="en-US" sz="1100" i="1" dirty="0">
                <a:solidFill>
                  <a:srgbClr val="5A6472"/>
                </a:solidFill>
                <a:latin typeface="Calibri" pitchFamily="34" charset="0"/>
                <a:cs typeface="Amiri" pitchFamily="2" charset="-78"/>
              </a:rPr>
              <a:t>aṣ-far · ṣaf-rā’</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80" name="Text 77"/>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صَفْرَاءُ</a:t>
            </a:r>
            <a:endParaRPr lang="ar-SA" sz="135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صَفْرَاءُ</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أَصْفَرُ</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90" name="Shape 87"/>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أَبْيَضُ</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white</a:t>
            </a:r>
            <a:endParaRPr lang="en-US" sz="1350" dirty="0"/>
          </a:p>
          <a:p>
            <a:pPr indent="0" marL="0">
              <a:buNone/>
            </a:pPr>
            <a:r>
              <a:rPr lang="en-US" sz="1100" i="1" dirty="0">
                <a:solidFill>
                  <a:srgbClr val="5A6472"/>
                </a:solidFill>
                <a:latin typeface="Calibri" pitchFamily="34" charset="0"/>
                <a:cs typeface="Amiri" pitchFamily="2" charset="-78"/>
              </a:rPr>
              <a:t>ab-yaḍ · bay-ḍā’</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98" name="Text 95"/>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بَيْضَاءُ</a:t>
            </a:r>
            <a:endParaRPr lang="ar-SA" sz="135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بَيْضَاءُ</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أَبْيَضُ</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8" name="Shape 105"/>
          <p:cNvSpPr/>
          <p:nvPr/>
        </p:nvSpPr>
        <p:spPr>
          <a:xfrm>
            <a:off x="960120" y="4279392"/>
            <a:ext cx="1144829" cy="256032"/>
          </a:xfrm>
          <a:prstGeom prst="roundRect">
            <a:avLst>
              <a:gd name="adj" fmla="val 50000"/>
            </a:avLst>
          </a:prstGeom>
          <a:solidFill>
            <a:srgbClr val="EFE7D2"/>
          </a:solidFill>
          <a:ln w="12700">
            <a:solidFill>
              <a:srgbClr val="EFE7D2"/>
            </a:solidFill>
            <a:prstDash val="solid"/>
          </a:ln>
        </p:spPr>
      </p:sp>
      <p:sp>
        <p:nvSpPr>
          <p:cNvPr id="109" name="Text 106"/>
          <p:cNvSpPr txBox="1"/>
          <p:nvPr/>
        </p:nvSpPr>
        <p:spPr>
          <a:xfrm>
            <a:off x="960120"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110" name="Shape 10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11" name="Text 10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12" name="Text 10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أَسْوَدُ</a:t>
            </a:r>
            <a:endParaRPr lang="ar-SA" sz="3000" dirty="0"/>
          </a:p>
        </p:txBody>
      </p:sp>
      <p:sp>
        <p:nvSpPr>
          <p:cNvPr id="113" name="Text 11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black</a:t>
            </a:r>
            <a:endParaRPr lang="en-US" sz="1350" dirty="0"/>
          </a:p>
          <a:p>
            <a:pPr indent="0" marL="0">
              <a:buNone/>
            </a:pPr>
            <a:r>
              <a:rPr lang="en-US" sz="1100" i="1" dirty="0">
                <a:solidFill>
                  <a:srgbClr val="5A6472"/>
                </a:solidFill>
                <a:latin typeface="Calibri" pitchFamily="34" charset="0"/>
                <a:cs typeface="Amiri" pitchFamily="2" charset="-78"/>
              </a:rPr>
              <a:t>as-wad · saw-dā’</a:t>
            </a:r>
            <a:endParaRPr lang="en-US" sz="1350" dirty="0"/>
          </a:p>
        </p:txBody>
      </p:sp>
      <p:sp>
        <p:nvSpPr>
          <p:cNvPr id="114" name="Shape 11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116" name="Text 113"/>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سَوْدَاءُ</a:t>
            </a:r>
            <a:endParaRPr lang="ar-SA" sz="1350" dirty="0"/>
          </a:p>
        </p:txBody>
      </p:sp>
      <p:sp>
        <p:nvSpPr>
          <p:cNvPr id="117" name="Shape 11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8" name="Text 11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9" name="Text 11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سَوْدَاءُ</a:t>
            </a:r>
            <a:endParaRPr lang="ar-SA" sz="1500" dirty="0"/>
          </a:p>
        </p:txBody>
      </p:sp>
      <p:sp>
        <p:nvSpPr>
          <p:cNvPr id="120" name="Shape 11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21" name="Text 11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22" name="Text 11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أَسْوَدُ</a:t>
            </a:r>
            <a:endParaRPr lang="ar-SA" sz="1500" dirty="0"/>
          </a:p>
        </p:txBody>
      </p:sp>
      <p:sp>
        <p:nvSpPr>
          <p:cNvPr id="123" name="Text 1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COLOURS THAT ADD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Orange, purple, brown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الأَلْوَانُ المُنْتَهِيَةُ بِـ ـِيٌّ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بُرْتُقَالِيٌّ</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orange</a:t>
            </a:r>
            <a:endParaRPr lang="en-US" sz="1350" dirty="0"/>
          </a:p>
          <a:p>
            <a:pPr indent="0" marL="0">
              <a:buNone/>
            </a:pPr>
            <a:r>
              <a:rPr lang="en-US" sz="1100" i="1" dirty="0">
                <a:solidFill>
                  <a:srgbClr val="5A6472"/>
                </a:solidFill>
                <a:latin typeface="Calibri" pitchFamily="34" charset="0"/>
                <a:cs typeface="Amiri" pitchFamily="2" charset="-78"/>
              </a:rPr>
              <a:t>bur-tu-qā-lī</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24" name="Text 21"/>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بُرْتُقَالِيَّةٌ</a:t>
            </a:r>
            <a:endParaRPr lang="ar-SA" sz="135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بُرْتُقَالِيَّةٌ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بُرْتُقَالِيٌّ</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4" name="Shape 31"/>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بَنَفْسَجِيٌّ</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purple</a:t>
            </a:r>
            <a:endParaRPr lang="en-US" sz="1350" dirty="0"/>
          </a:p>
          <a:p>
            <a:pPr indent="0" marL="0">
              <a:buNone/>
            </a:pPr>
            <a:r>
              <a:rPr lang="en-US" sz="1100" i="1" dirty="0">
                <a:solidFill>
                  <a:srgbClr val="5A6472"/>
                </a:solidFill>
                <a:latin typeface="Calibri" pitchFamily="34" charset="0"/>
                <a:cs typeface="Amiri" pitchFamily="2" charset="-78"/>
              </a:rPr>
              <a:t>ba-naf-sa-jī</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40" name="Text 37"/>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بَنَفْسَجِيَّةٌ</a:t>
            </a:r>
            <a:endParaRPr lang="ar-SA" sz="135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بَنَفْسَجِيَّةٌ</a:t>
            </a:r>
            <a:endParaRPr lang="ar-SA" sz="150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6" name="Text 43"/>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بَنَفْسَجِيٌّ</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0" name="Shape 47"/>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بُنِّيٌّ</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brown</a:t>
            </a:r>
            <a:endParaRPr lang="en-US" sz="1350" dirty="0"/>
          </a:p>
          <a:p>
            <a:pPr indent="0" marL="0">
              <a:buNone/>
            </a:pPr>
            <a:r>
              <a:rPr lang="en-US" sz="1100" i="1" dirty="0">
                <a:solidFill>
                  <a:srgbClr val="5A6472"/>
                </a:solidFill>
                <a:latin typeface="Calibri" pitchFamily="34" charset="0"/>
                <a:cs typeface="Amiri" pitchFamily="2" charset="-78"/>
              </a:rPr>
              <a:t>bun-nī</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58" name="Text 5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بُنِّيَّةٌ</a:t>
            </a:r>
            <a:endParaRPr lang="ar-SA" sz="135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بُنِّيَّةٌ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بُنِّيٌّ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8" name="Shape 65"/>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رَمَادِيٌّ</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grey</a:t>
            </a:r>
            <a:endParaRPr lang="en-US" sz="1350" dirty="0"/>
          </a:p>
          <a:p>
            <a:pPr indent="0" marL="0">
              <a:buNone/>
            </a:pPr>
            <a:r>
              <a:rPr lang="en-US" sz="1100" i="1" dirty="0">
                <a:solidFill>
                  <a:srgbClr val="5A6472"/>
                </a:solidFill>
                <a:latin typeface="Calibri" pitchFamily="34" charset="0"/>
                <a:cs typeface="Amiri" pitchFamily="2" charset="-78"/>
              </a:rPr>
              <a:t>ra-mā-dī</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74" name="Text 71"/>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رَمَادِيَّةٌ</a:t>
            </a:r>
            <a:endParaRPr lang="ar-SA" sz="135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رَمَادِيَّةٌ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رَمَادِيٌّ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84" name="Shape 81"/>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86" name="Shape 8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وَرْدِيٌّ</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pink</a:t>
            </a:r>
            <a:endParaRPr lang="en-US" sz="1350" dirty="0"/>
          </a:p>
          <a:p>
            <a:pPr indent="0" marL="0">
              <a:buNone/>
            </a:pPr>
            <a:r>
              <a:rPr lang="en-US" sz="1100" i="1" dirty="0">
                <a:solidFill>
                  <a:srgbClr val="5A6472"/>
                </a:solidFill>
                <a:latin typeface="Calibri" pitchFamily="34" charset="0"/>
                <a:cs typeface="Amiri" pitchFamily="2" charset="-78"/>
              </a:rPr>
              <a:t>war-dī</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92" name="Text 89"/>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وَرْدِيَّةٌ</a:t>
            </a:r>
            <a:endParaRPr lang="ar-SA" sz="135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وَرْدِيَّةٌ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وَرْدِيٌّ</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02" name="Shape 99"/>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104" name="Text 101"/>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لَوْنٌ</a:t>
            </a:r>
            <a:endParaRPr lang="ar-SA" sz="3000" dirty="0"/>
          </a:p>
        </p:txBody>
      </p:sp>
      <p:sp>
        <p:nvSpPr>
          <p:cNvPr id="105" name="Text 102"/>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a:t>
            </a:r>
            <a:endParaRPr lang="en-US" sz="1350" dirty="0"/>
          </a:p>
          <a:p>
            <a:pPr indent="0" marL="0">
              <a:buNone/>
            </a:pPr>
            <a:r>
              <a:rPr lang="en-US" sz="1100" i="1" dirty="0">
                <a:solidFill>
                  <a:srgbClr val="5A6472"/>
                </a:solidFill>
                <a:latin typeface="Calibri" pitchFamily="34" charset="0"/>
                <a:cs typeface="Amiri" pitchFamily="2" charset="-78"/>
              </a:rPr>
              <a:t>lawn · al-wān</a:t>
            </a:r>
            <a:endParaRPr lang="en-US" sz="1350" dirty="0"/>
          </a:p>
        </p:txBody>
      </p:sp>
      <p:sp>
        <p:nvSpPr>
          <p:cNvPr id="106" name="Shape 103"/>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107" name="Text 104"/>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8" name="Text 105"/>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أَلْوَانٌ</a:t>
            </a:r>
            <a:endParaRPr lang="ar-SA" sz="150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KEY WORDS · GROUP 3 · SHADE, FINISH AND PATTERN (WEBSITE EXTENSION) · FLEX</a:t>
            </a:r>
            <a:endParaRPr lang="en-US" sz="95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Light, dark, gold, striped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مُفْرَدَاتٌ إِضَافِيَّةٌ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فَاتِحٌ</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light (shade)</a:t>
            </a:r>
            <a:endParaRPr lang="en-US" sz="1350" dirty="0"/>
          </a:p>
          <a:p>
            <a:pPr indent="0" marL="0">
              <a:buNone/>
            </a:pPr>
            <a:r>
              <a:rPr lang="en-US" sz="1100" i="1" dirty="0">
                <a:solidFill>
                  <a:srgbClr val="5A6472"/>
                </a:solidFill>
                <a:latin typeface="Calibri" pitchFamily="34" charset="0"/>
                <a:cs typeface="Amiri" pitchFamily="2" charset="-78"/>
              </a:rPr>
              <a:t>fā-tiḥ</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فَاتِحَةٌ</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فَاتِحَةٌ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فَاتِحٌ</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6" name="Shape 3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غَامِقٌ</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dark (shade)</a:t>
            </a:r>
            <a:endParaRPr lang="en-US" sz="1350" dirty="0"/>
          </a:p>
          <a:p>
            <a:pPr indent="0" marL="0">
              <a:buNone/>
            </a:pPr>
            <a:r>
              <a:rPr lang="en-US" sz="1100" i="1" dirty="0">
                <a:solidFill>
                  <a:srgbClr val="5A6472"/>
                </a:solidFill>
                <a:latin typeface="Calibri" pitchFamily="34" charset="0"/>
                <a:cs typeface="Amiri" pitchFamily="2" charset="-78"/>
              </a:rPr>
              <a:t>ghā-miq</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42" name="Text 39"/>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غَامِقَةٌ</a:t>
            </a:r>
            <a:endParaRPr lang="ar-SA" sz="135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غَامِقَةٌ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غَامِقٌ</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2" name="Shape 49"/>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ذَهَبِيٌّ</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gold / golden</a:t>
            </a:r>
            <a:endParaRPr lang="en-US" sz="1350" dirty="0"/>
          </a:p>
          <a:p>
            <a:pPr indent="0" marL="0">
              <a:buNone/>
            </a:pPr>
            <a:r>
              <a:rPr lang="en-US" sz="1100" i="1" dirty="0">
                <a:solidFill>
                  <a:srgbClr val="5A6472"/>
                </a:solidFill>
                <a:latin typeface="Calibri" pitchFamily="34" charset="0"/>
                <a:cs typeface="Amiri" pitchFamily="2" charset="-78"/>
              </a:rPr>
              <a:t>dha-ha-bī</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58" name="Text 5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ذَهَبِيَّةٌ</a:t>
            </a:r>
            <a:endParaRPr lang="ar-SA" sz="135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ذَهَبِيَّةٌ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ذَهَبِيٌّ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68" name="Shape 65"/>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فِضِّيٌّ</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silver</a:t>
            </a:r>
            <a:endParaRPr lang="en-US" sz="1350" dirty="0"/>
          </a:p>
          <a:p>
            <a:pPr indent="0" marL="0">
              <a:buNone/>
            </a:pPr>
            <a:r>
              <a:rPr lang="en-US" sz="1100" i="1" dirty="0">
                <a:solidFill>
                  <a:srgbClr val="5A6472"/>
                </a:solidFill>
                <a:latin typeface="Calibri" pitchFamily="34" charset="0"/>
                <a:cs typeface="Amiri" pitchFamily="2" charset="-78"/>
              </a:rPr>
              <a:t>fiḍ-ḍī</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74" name="Text 71"/>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فِضِّيَّةٌ</a:t>
            </a:r>
            <a:endParaRPr lang="ar-SA" sz="135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فِضِّيَّةٌ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فِضِّيٌّ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4" name="Shape 81"/>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مُلَوَّنٌ</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colourful</a:t>
            </a:r>
            <a:endParaRPr lang="en-US" sz="1350" dirty="0"/>
          </a:p>
          <a:p>
            <a:pPr indent="0" marL="0">
              <a:buNone/>
            </a:pPr>
            <a:r>
              <a:rPr lang="en-US" sz="1100" i="1" dirty="0">
                <a:solidFill>
                  <a:srgbClr val="5A6472"/>
                </a:solidFill>
                <a:latin typeface="Calibri" pitchFamily="34" charset="0"/>
                <a:cs typeface="Amiri" pitchFamily="2" charset="-78"/>
              </a:rPr>
              <a:t>mu-law-wan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90" name="Text 87"/>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مُلَوَّنَةٌ</a:t>
            </a:r>
            <a:endParaRPr lang="ar-SA" sz="135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مُلَوَّنَةٌ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مُلَوَّنٌ</a:t>
            </a:r>
            <a:endParaRPr lang="ar-SA" sz="1500" dirty="0"/>
          </a:p>
        </p:txBody>
      </p:sp>
      <p:sp>
        <p:nvSpPr>
          <p:cNvPr id="97" name="Shape 9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8" name="Shape 95"/>
          <p:cNvSpPr/>
          <p:nvPr/>
        </p:nvSpPr>
        <p:spPr>
          <a:xfrm>
            <a:off x="566928" y="4261104"/>
            <a:ext cx="310896" cy="310896"/>
          </a:xfrm>
          <a:prstGeom prst="ellipse">
            <a:avLst/>
          </a:prstGeom>
          <a:solidFill>
            <a:srgbClr val="F4F1EA"/>
          </a:solidFill>
          <a:ln w="12700">
            <a:solidFill>
              <a:srgbClr val="F4F1EA"/>
            </a:solidFill>
            <a:prstDash val="solid"/>
          </a:ln>
        </p:spPr>
      </p:sp>
      <p:sp>
        <p:nvSpPr>
          <p:cNvPr id="99" name="Text 9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100" name="Shape 97"/>
          <p:cNvSpPr/>
          <p:nvPr/>
        </p:nvSpPr>
        <p:spPr>
          <a:xfrm>
            <a:off x="960120" y="4279392"/>
            <a:ext cx="1144829" cy="256032"/>
          </a:xfrm>
          <a:prstGeom prst="roundRect">
            <a:avLst>
              <a:gd name="adj" fmla="val 50000"/>
            </a:avLst>
          </a:prstGeom>
          <a:solidFill>
            <a:srgbClr val="EFE7D2"/>
          </a:solidFill>
          <a:ln w="12700">
            <a:solidFill>
              <a:srgbClr val="EFE7D2"/>
            </a:solidFill>
            <a:prstDash val="solid"/>
          </a:ln>
        </p:spPr>
      </p:sp>
      <p:sp>
        <p:nvSpPr>
          <p:cNvPr id="101" name="Text 98"/>
          <p:cNvSpPr txBox="1"/>
          <p:nvPr/>
        </p:nvSpPr>
        <p:spPr>
          <a:xfrm>
            <a:off x="960120"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102" name="Text 9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مُخَطَّطٌ</a:t>
            </a:r>
            <a:endParaRPr lang="ar-SA" sz="3000" dirty="0"/>
          </a:p>
        </p:txBody>
      </p:sp>
      <p:sp>
        <p:nvSpPr>
          <p:cNvPr id="103" name="Text 10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striped</a:t>
            </a:r>
            <a:endParaRPr lang="en-US" sz="1350" dirty="0"/>
          </a:p>
          <a:p>
            <a:pPr indent="0" marL="0">
              <a:buNone/>
            </a:pPr>
            <a:r>
              <a:rPr lang="en-US" sz="1100" i="1" dirty="0">
                <a:solidFill>
                  <a:srgbClr val="5A6472"/>
                </a:solidFill>
                <a:latin typeface="Calibri" pitchFamily="34" charset="0"/>
                <a:cs typeface="Amiri" pitchFamily="2" charset="-78"/>
              </a:rPr>
              <a:t>mu-khaṭ-ṭaṭ</a:t>
            </a:r>
            <a:endParaRPr lang="en-US" sz="1350" dirty="0"/>
          </a:p>
        </p:txBody>
      </p:sp>
      <p:sp>
        <p:nvSpPr>
          <p:cNvPr id="104" name="Shape 10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106" name="Text 103"/>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مُخَطَّطَةٌ</a:t>
            </a:r>
            <a:endParaRPr lang="ar-SA" sz="1350" dirty="0"/>
          </a:p>
        </p:txBody>
      </p:sp>
      <p:sp>
        <p:nvSpPr>
          <p:cNvPr id="107" name="Shape 10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9" name="Text 10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مُخَطَّطَةٌ</a:t>
            </a:r>
            <a:endParaRPr lang="ar-SA" sz="1500" dirty="0"/>
          </a:p>
        </p:txBody>
      </p:sp>
      <p:sp>
        <p:nvSpPr>
          <p:cNvPr id="110" name="Shape 10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1" name="Text 10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2" name="Text 10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مُخَطَّطٌ</a:t>
            </a:r>
            <a:endParaRPr lang="ar-SA" sz="1500" dirty="0"/>
          </a:p>
        </p:txBody>
      </p:sp>
      <p:sp>
        <p:nvSpPr>
          <p:cNvPr id="113"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FOCUS · PART 1 · NOUN FIRST, COLOUR SECOND (WEBSITE “MAKE COLOUR AGREE”)</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noun decides the colour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طَابِقِ اللَّوْنَ مَعَ الاِسْمِ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 noun</a:t>
            </a:r>
            <a:endParaRPr lang="en-US" sz="1100" dirty="0"/>
          </a:p>
        </p:txBody>
      </p:sp>
      <p:sp>
        <p:nvSpPr>
          <p:cNvPr id="17" name="Text 14"/>
          <p:cNvSpPr txBox="1"/>
          <p:nvPr/>
        </p:nvSpPr>
        <p:spPr>
          <a:xfrm>
            <a:off x="567842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 noun</a:t>
            </a:r>
            <a:endParaRPr lang="en-US" sz="1100" dirty="0"/>
          </a:p>
        </p:txBody>
      </p:sp>
      <p:sp>
        <p:nvSpPr>
          <p:cNvPr id="18" name="Text 15"/>
          <p:cNvSpPr txBox="1"/>
          <p:nvPr/>
        </p:nvSpPr>
        <p:spPr>
          <a:xfrm>
            <a:off x="348386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9" name="Text 16"/>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05672" y="2267712"/>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بَابٌ </a:t>
            </a:r>
            <a:pPr rtl="1" algn="ctr" indent="0" marL="0">
              <a:buNone/>
            </a:pPr>
            <a:r>
              <a:rPr lang="ar-SA" altLang="en-US" sz="2400" b="1" dirty="0">
                <a:solidFill>
                  <a:srgbClr val="1D5FBF"/>
                </a:solidFill>
                <a:latin typeface="Amiri" pitchFamily="2" charset="-78"/>
                <a:cs typeface="Amiri" pitchFamily="2" charset="-78"/>
              </a:rPr>
              <a:t>أَحْمَرُ</a:t>
            </a:r>
            <a:endParaRPr lang="ar-SA" sz="2400" dirty="0"/>
          </a:p>
        </p:txBody>
      </p:sp>
      <p:sp>
        <p:nvSpPr>
          <p:cNvPr id="22" name="Text 19"/>
          <p:cNvSpPr txBox="1"/>
          <p:nvPr/>
        </p:nvSpPr>
        <p:spPr>
          <a:xfrm>
            <a:off x="5696712" y="2267712"/>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نَافِذَةٌ </a:t>
            </a:r>
            <a:pPr rtl="1" algn="ctr" indent="0" marL="0">
              <a:buNone/>
            </a:pPr>
            <a:r>
              <a:rPr lang="ar-SA" altLang="en-US" sz="2400" b="1" dirty="0">
                <a:solidFill>
                  <a:srgbClr val="D6336C"/>
                </a:solidFill>
                <a:latin typeface="Amiri" pitchFamily="2" charset="-78"/>
                <a:cs typeface="Amiri" pitchFamily="2" charset="-78"/>
              </a:rPr>
              <a:t>حَمْرَاءُ</a:t>
            </a:r>
            <a:endParaRPr lang="ar-SA" sz="2400" dirty="0"/>
          </a:p>
        </p:txBody>
      </p:sp>
      <p:sp>
        <p:nvSpPr>
          <p:cNvPr id="23" name="Text 20"/>
          <p:cNvSpPr txBox="1"/>
          <p:nvPr/>
        </p:nvSpPr>
        <p:spPr>
          <a:xfrm>
            <a:off x="352044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changes completely</a:t>
            </a:r>
            <a:endParaRPr lang="en-US" sz="1100" dirty="0"/>
          </a:p>
        </p:txBody>
      </p:sp>
      <p:sp>
        <p:nvSpPr>
          <p:cNvPr id="24" name="Text 21"/>
          <p:cNvSpPr txBox="1"/>
          <p:nvPr/>
        </p:nvSpPr>
        <p:spPr>
          <a:xfrm>
            <a:off x="566928" y="2267712"/>
            <a:ext cx="2770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red door · a red window</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805672" y="3054096"/>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مَكْتَبٌ </a:t>
            </a:r>
            <a:pPr rtl="1" algn="ctr" indent="0" marL="0">
              <a:buNone/>
            </a:pPr>
            <a:r>
              <a:rPr lang="ar-SA" altLang="en-US" sz="2400" b="1" dirty="0">
                <a:solidFill>
                  <a:srgbClr val="1D5FBF"/>
                </a:solidFill>
                <a:latin typeface="Amiri" pitchFamily="2" charset="-78"/>
                <a:cs typeface="Amiri" pitchFamily="2" charset="-78"/>
              </a:rPr>
              <a:t>بُنِّيٌّ</a:t>
            </a:r>
            <a:endParaRPr lang="ar-SA" sz="2400" dirty="0"/>
          </a:p>
        </p:txBody>
      </p:sp>
      <p:sp>
        <p:nvSpPr>
          <p:cNvPr id="29" name="Text 26"/>
          <p:cNvSpPr txBox="1"/>
          <p:nvPr/>
        </p:nvSpPr>
        <p:spPr>
          <a:xfrm>
            <a:off x="5696712" y="3054096"/>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طَاوِلَةٌ </a:t>
            </a:r>
            <a:pPr rtl="1" algn="ctr" indent="0" marL="0">
              <a:buNone/>
            </a:pPr>
            <a:r>
              <a:rPr lang="ar-SA" altLang="en-US" sz="2400" b="1" dirty="0">
                <a:solidFill>
                  <a:srgbClr val="D6336C"/>
                </a:solidFill>
                <a:latin typeface="Amiri" pitchFamily="2" charset="-78"/>
                <a:cs typeface="Amiri" pitchFamily="2" charset="-78"/>
              </a:rPr>
              <a:t>بُنِّيَّةٌ</a:t>
            </a:r>
            <a:endParaRPr lang="ar-SA" sz="2400" dirty="0"/>
          </a:p>
        </p:txBody>
      </p:sp>
      <p:sp>
        <p:nvSpPr>
          <p:cNvPr id="30" name="Text 27"/>
          <p:cNvSpPr txBox="1"/>
          <p:nvPr/>
        </p:nvSpPr>
        <p:spPr>
          <a:xfrm>
            <a:off x="352044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adds -a (</a:t>
            </a:r>
            <a:pPr algn="l" indent="0" marL="0">
              <a:buNone/>
            </a:pPr>
            <a:r>
              <a:rPr lang="ar-SA" altLang="en-US" sz="1450" dirty="0">
                <a:solidFill>
                  <a:srgbClr val="5A6472"/>
                </a:solidFill>
                <a:latin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1" name="Text 28"/>
          <p:cNvSpPr txBox="1"/>
          <p:nvPr/>
        </p:nvSpPr>
        <p:spPr>
          <a:xfrm>
            <a:off x="566928" y="3054096"/>
            <a:ext cx="2770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brown desk · a brown table</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805672" y="3840480"/>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سَرِيرٌ </a:t>
            </a:r>
            <a:pPr rtl="1" algn="ctr" indent="0" marL="0">
              <a:buNone/>
            </a:pPr>
            <a:r>
              <a:rPr lang="ar-SA" altLang="en-US" sz="2400" b="1" dirty="0">
                <a:solidFill>
                  <a:srgbClr val="1D5FBF"/>
                </a:solidFill>
                <a:latin typeface="Amiri" pitchFamily="2" charset="-78"/>
                <a:cs typeface="Amiri" pitchFamily="2" charset="-78"/>
              </a:rPr>
              <a:t>أَزْرَقُ</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0E7C86"/>
                </a:solidFill>
                <a:latin typeface="Amiri" pitchFamily="2" charset="-78"/>
                <a:cs typeface="Amiri" pitchFamily="2" charset="-78"/>
              </a:rPr>
              <a:t>فَاتِحٌ</a:t>
            </a:r>
            <a:endParaRPr lang="ar-SA" sz="2400" dirty="0"/>
          </a:p>
        </p:txBody>
      </p:sp>
      <p:sp>
        <p:nvSpPr>
          <p:cNvPr id="36" name="Text 33"/>
          <p:cNvSpPr txBox="1"/>
          <p:nvPr/>
        </p:nvSpPr>
        <p:spPr>
          <a:xfrm>
            <a:off x="5696712" y="3840480"/>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أَرِيكَةٌ </a:t>
            </a:r>
            <a:pPr rtl="1" algn="ctr" indent="0" marL="0">
              <a:buNone/>
            </a:pPr>
            <a:r>
              <a:rPr lang="ar-SA" altLang="en-US" sz="2400" b="1" dirty="0">
                <a:solidFill>
                  <a:srgbClr val="D6336C"/>
                </a:solidFill>
                <a:latin typeface="Amiri" pitchFamily="2" charset="-78"/>
                <a:cs typeface="Amiri" pitchFamily="2" charset="-78"/>
              </a:rPr>
              <a:t>زَرْقَاءُ</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0E7C86"/>
                </a:solidFill>
                <a:latin typeface="Amiri" pitchFamily="2" charset="-78"/>
                <a:cs typeface="Amiri" pitchFamily="2" charset="-78"/>
              </a:rPr>
              <a:t>فَاتِحَةٌ</a:t>
            </a:r>
            <a:endParaRPr lang="ar-SA" sz="2400" dirty="0"/>
          </a:p>
        </p:txBody>
      </p:sp>
      <p:sp>
        <p:nvSpPr>
          <p:cNvPr id="37" name="Text 34"/>
          <p:cNvSpPr txBox="1"/>
          <p:nvPr/>
        </p:nvSpPr>
        <p:spPr>
          <a:xfrm>
            <a:off x="352044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shade</a:t>
            </a:r>
            <a:endParaRPr lang="en-US" sz="1100" dirty="0"/>
          </a:p>
        </p:txBody>
      </p:sp>
      <p:sp>
        <p:nvSpPr>
          <p:cNvPr id="38" name="Text 35"/>
          <p:cNvSpPr txBox="1"/>
          <p:nvPr/>
        </p:nvSpPr>
        <p:spPr>
          <a:xfrm>
            <a:off x="566928" y="3840480"/>
            <a:ext cx="2770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light-blue bed · sofa</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805672" y="4626864"/>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البَابُ </a:t>
            </a:r>
            <a:pPr rtl="1" algn="ctr" indent="0" marL="0">
              <a:buNone/>
            </a:pPr>
            <a:r>
              <a:rPr lang="ar-SA" altLang="en-US" sz="2400" b="1" dirty="0">
                <a:solidFill>
                  <a:srgbClr val="1D5FBF"/>
                </a:solidFill>
                <a:latin typeface="Amiri" pitchFamily="2" charset="-78"/>
                <a:cs typeface="Amiri" pitchFamily="2" charset="-78"/>
              </a:rPr>
              <a:t>الأَحْمَرُ</a:t>
            </a:r>
            <a:endParaRPr lang="ar-SA" sz="2400" dirty="0"/>
          </a:p>
        </p:txBody>
      </p:sp>
      <p:sp>
        <p:nvSpPr>
          <p:cNvPr id="41" name="Text 38"/>
          <p:cNvSpPr txBox="1"/>
          <p:nvPr/>
        </p:nvSpPr>
        <p:spPr>
          <a:xfrm>
            <a:off x="5696712" y="4626864"/>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السَّتَائِرُ </a:t>
            </a:r>
            <a:pPr rtl="1" algn="ctr" indent="0" marL="0">
              <a:buNone/>
            </a:pPr>
            <a:r>
              <a:rPr lang="ar-SA" altLang="en-US" sz="2400" b="1" dirty="0">
                <a:solidFill>
                  <a:srgbClr val="D6336C"/>
                </a:solidFill>
                <a:latin typeface="Amiri" pitchFamily="2" charset="-78"/>
                <a:cs typeface="Amiri" pitchFamily="2" charset="-78"/>
              </a:rPr>
              <a:t>زَرْقَاءُ</a:t>
            </a:r>
            <a:endParaRPr lang="ar-SA" sz="2400" dirty="0"/>
          </a:p>
        </p:txBody>
      </p:sp>
      <p:sp>
        <p:nvSpPr>
          <p:cNvPr id="42" name="Text 39"/>
          <p:cNvSpPr txBox="1"/>
          <p:nvPr/>
        </p:nvSpPr>
        <p:spPr>
          <a:xfrm>
            <a:off x="3520440"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 · things pl.</a:t>
            </a:r>
            <a:endParaRPr lang="en-US" sz="1100" dirty="0"/>
          </a:p>
        </p:txBody>
      </p:sp>
      <p:sp>
        <p:nvSpPr>
          <p:cNvPr id="43" name="Text 40"/>
          <p:cNvSpPr txBox="1"/>
          <p:nvPr/>
        </p:nvSpPr>
        <p:spPr>
          <a:xfrm>
            <a:off x="566928" y="4626864"/>
            <a:ext cx="2770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red door · the curtains are blue</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Look at the noun: masculine → aḥmar / bunnī; feminine → ḥamrā’ / bunniyya.</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TWO FEMININE PATTERNS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Don’t just add </a:t>
            </a:r>
            <a:pPr algn="l" indent="0" marL="0">
              <a:buNone/>
            </a:pPr>
            <a:r>
              <a:rPr lang="ar-SA" altLang="en-US" sz="3650" b="1" dirty="0">
                <a:solidFill>
                  <a:srgbClr val="1B3B6F"/>
                </a:solidFill>
                <a:latin typeface="Amiri" pitchFamily="2" charset="-78"/>
                <a:cs typeface="Amiri" pitchFamily="2" charset="-78"/>
              </a:rPr>
              <a:t>ة</a:t>
            </a:r>
            <a:pPr algn="l" indent="0" marL="0">
              <a:buNone/>
            </a:pPr>
            <a:r>
              <a:rPr lang="en-US" sz="2800" b="1" dirty="0">
                <a:solidFill>
                  <a:srgbClr val="1B3B6F"/>
                </a:solidFill>
                <a:latin typeface="Cambria" pitchFamily="34" charset="0"/>
                <a:cs typeface="Amiri" pitchFamily="2" charset="-78"/>
              </a:rPr>
              <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نَمَطَانِ لِصِيَاغَةِ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PATTERN 1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أَفْعَلُ / فَعْلَاءُ</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cs typeface="Amiri" pitchFamily="2" charset="-78"/>
              </a:rPr>
              <a:t>أَحْمَرُ / حَمْرَاءُ · أَبْيَضُ / بَيْضَاءُ</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red · white (six colours)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Learn them as pairs.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PATTERN 2 · CORE</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ـِيٌّ / ـِيَّةٌ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cs typeface="Amiri" pitchFamily="2" charset="-78"/>
              </a:rPr>
              <a:t>بُنِّيٌّ / بُنِّيَّةٌ · وَرْدِيٌّ / وَرْدِيَّةٌ</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brown · pink (and the rest)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Like nationalities.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SHADE · DEVELOP</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 فَاتِحٌ / غَامِقٌ</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سَجَّادَةٌ حَمْرَاءُ غَامِقَةٌ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 dark-red rug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Both adjectives agree.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mistake: red does not add </a:t>
            </a:r>
            <a:pPr algn="l" indent="0" marL="0">
              <a:buNone/>
            </a:pPr>
            <a:r>
              <a:rPr lang="ar-SA" altLang="en-US" sz="1500" dirty="0">
                <a:solidFill>
                  <a:srgbClr val="1F2A37"/>
                </a:solidFill>
                <a:latin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حَمْرَاءُ</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أَحْمَرَةٌ</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سَرِيرٌ ___.</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زَرْقَاءُ</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زَرِيقٌ</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أَزْرَقُ</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نَافِذَةٌ ___.</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حَمْرَاءُ</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أَحْمَرُ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أَحْمَرَةٌ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مَكْتَبٌ ___.</a:t>
            </a:r>
            <a:endParaRPr lang="ar-SA" sz="22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بُنِّيَّاتٌ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طَاوِلَةٌ ___.</a:t>
            </a:r>
            <a:endParaRPr lang="ar-SA" sz="22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بُنِّيَّةٌ</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بُنِّيٌّ</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بُنَّاءُ</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سَرِيرٌ ___.</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زَرْقَاءُ</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زَرِيقٌ</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أَزْرَقُ</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سَرِيرٌ</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نَافِذَةٌ ___.</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حَمْرَاءُ</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أَحْمَرُ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أَحْمَرَةٌ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نَافِذَةٌ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مَكْتَبٌ ___.</a:t>
            </a:r>
            <a:endParaRPr lang="ar-SA" sz="22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بُنِّيَّةٌ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بُنِّيٌّ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بُنِّيَّاتٌ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مَكْتَبٌ</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طَاوِلَةٌ ___.</a:t>
            </a:r>
            <a:endParaRPr lang="ar-SA" sz="2200" dirty="0"/>
          </a:p>
        </p:txBody>
      </p:sp>
      <p:sp>
        <p:nvSpPr>
          <p:cNvPr id="68" name="Shape 65"/>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368796"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بُنِّيَّةٌ</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بُنِّيٌّ</a:t>
            </a:r>
            <a:endParaRPr lang="ar-SA" sz="1700" dirty="0"/>
          </a:p>
        </p:txBody>
      </p:sp>
      <p:sp>
        <p:nvSpPr>
          <p:cNvPr id="75" name="Shape 72"/>
          <p:cNvSpPr/>
          <p:nvPr/>
        </p:nvSpPr>
        <p:spPr>
          <a:xfrm>
            <a:off x="6368796"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بُنَّاءُ</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طَاوِلَةٌ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colour a living 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 room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cs typeface="Amiri" pitchFamily="2" charset="-78"/>
              </a:rPr>
              <a:t>غُرْفَةُ الجُلُوسِ وَاسِعَةٌ وَمُلَوَّنَ</a:t>
            </a:r>
            <a:pPr rtl="1" algn="ctr" indent="0" marL="0">
              <a:lnSpc>
                <a:spcPct val="120000"/>
              </a:lnSpc>
              <a:buNone/>
            </a:pPr>
            <a:r>
              <a:rPr lang="ar-SA" altLang="en-US" sz="1900" b="1" dirty="0">
                <a:solidFill>
                  <a:srgbClr val="D6336C"/>
                </a:solidFill>
                <a:latin typeface="Amiri" pitchFamily="2" charset="-78"/>
                <a:cs typeface="Amiri" pitchFamily="2" charset="-78"/>
              </a:rPr>
              <a:t>ةٌ</a:t>
            </a:r>
            <a:pPr rtl="1" algn="ctr" indent="0" marL="0">
              <a:lnSpc>
                <a:spcPct val="120000"/>
              </a:lnSpc>
              <a:buNone/>
            </a:pPr>
            <a:r>
              <a:rPr lang="ar-SA" altLang="en-US" sz="1900" b="1" dirty="0">
                <a:solidFill>
                  <a:srgbClr val="1B3B6F"/>
                </a:solidFill>
                <a:latin typeface="Amiri" pitchFamily="2" charset="-78"/>
                <a:cs typeface="Amiri" pitchFamily="2" charset="-78"/>
              </a:rPr>
              <a:t>.</a:t>
            </a:r>
            <a:endParaRPr lang="ar-SA" sz="19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Room is f. → mulawwana.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Pattern 2</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الأَرِيكَةُ بَنَفْسَجِيَّ</a:t>
            </a:r>
            <a:pPr rtl="1" algn="ctr" indent="0" marL="0">
              <a:buNone/>
            </a:pPr>
            <a:r>
              <a:rPr lang="ar-SA" altLang="en-US" sz="2200" b="1" dirty="0">
                <a:solidFill>
                  <a:srgbClr val="D6336C"/>
                </a:solidFill>
                <a:latin typeface="Amiri" pitchFamily="2" charset="-78"/>
                <a:cs typeface="Amiri" pitchFamily="2" charset="-78"/>
              </a:rPr>
              <a:t>ةٌ</a:t>
            </a:r>
            <a:pPr rtl="1" algn="ctr" indent="0" marL="0">
              <a:buNone/>
            </a:pPr>
            <a:r>
              <a:rPr lang="ar-SA" altLang="en-US" sz="2200" b="1" dirty="0">
                <a:solidFill>
                  <a:srgbClr val="1B3B6F"/>
                </a:solidFill>
                <a:latin typeface="Amiri" pitchFamily="2" charset="-78"/>
                <a:cs typeface="Amiri" pitchFamily="2" charset="-78"/>
              </a:rPr>
              <a:t> غَامِقَ</a:t>
            </a:r>
            <a:pPr rtl="1" algn="ctr" indent="0" marL="0">
              <a:buNone/>
            </a:pPr>
            <a:r>
              <a:rPr lang="ar-SA" altLang="en-US" sz="2200" b="1" dirty="0">
                <a:solidFill>
                  <a:srgbClr val="D6336C"/>
                </a:solidFill>
                <a:latin typeface="Amiri" pitchFamily="2" charset="-78"/>
                <a:cs typeface="Amiri" pitchFamily="2" charset="-78"/>
              </a:rPr>
              <a:t>ةٌ</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Sofa f. → -iyya + ghāmiqa.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Pattern 1</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cs typeface="Amiri" pitchFamily="2" charset="-78"/>
              </a:rPr>
              <a:t>البَابُ </a:t>
            </a:r>
            <a:pPr rtl="1" algn="ctr" indent="0" marL="0">
              <a:lnSpc>
                <a:spcPct val="120000"/>
              </a:lnSpc>
              <a:buNone/>
            </a:pPr>
            <a:r>
              <a:rPr lang="ar-SA" altLang="en-US" sz="1800" b="1" dirty="0">
                <a:solidFill>
                  <a:srgbClr val="1D5FBF"/>
                </a:solidFill>
                <a:latin typeface="Amiri" pitchFamily="2" charset="-78"/>
                <a:cs typeface="Amiri" pitchFamily="2" charset="-78"/>
              </a:rPr>
              <a:t>أَبْيَضُ</a:t>
            </a:r>
            <a:pPr rtl="1" algn="ctr" indent="0" marL="0">
              <a:lnSpc>
                <a:spcPct val="120000"/>
              </a:lnSpc>
              <a:buNone/>
            </a:pPr>
            <a:r>
              <a:rPr lang="ar-SA" altLang="en-US" sz="1800" b="1" dirty="0">
                <a:solidFill>
                  <a:srgbClr val="1B3B6F"/>
                </a:solidFill>
                <a:latin typeface="Amiri" pitchFamily="2" charset="-78"/>
                <a:cs typeface="Amiri" pitchFamily="2" charset="-78"/>
              </a:rPr>
              <a:t>، وَالسَّتَائِرُ </a:t>
            </a:r>
            <a:pPr rtl="1" algn="ctr" indent="0" marL="0">
              <a:lnSpc>
                <a:spcPct val="120000"/>
              </a:lnSpc>
              <a:buNone/>
            </a:pPr>
            <a:r>
              <a:rPr lang="ar-SA" altLang="en-US" sz="1800" b="1" dirty="0">
                <a:solidFill>
                  <a:srgbClr val="D6336C"/>
                </a:solidFill>
                <a:latin typeface="Amiri" pitchFamily="2" charset="-78"/>
                <a:cs typeface="Amiri" pitchFamily="2" charset="-78"/>
              </a:rPr>
              <a:t>زَرْقَاءُ</a:t>
            </a:r>
            <a:pPr rtl="1" algn="ctr" indent="0" marL="0">
              <a:lnSpc>
                <a:spcPct val="120000"/>
              </a:lnSpc>
              <a:buNone/>
            </a:pPr>
            <a:r>
              <a:rPr lang="ar-SA" altLang="en-US" sz="1800" b="1" dirty="0">
                <a:solidFill>
                  <a:srgbClr val="1B3B6F"/>
                </a:solidFill>
                <a:latin typeface="Amiri" pitchFamily="2" charset="-78"/>
                <a:cs typeface="Amiri" pitchFamily="2" charset="-78"/>
              </a:rPr>
              <a:t>.</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Door m. · curtains = things → f.</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cs typeface="Amiri" pitchFamily="2" charset="-78"/>
              </a:rPr>
              <a:t>أُحِبُّهَا لِأَنَّ أَلْوَانَهَا هَادِئَةٌ.</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Colours (things) → hādi’a.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cs typeface="Amiri" pitchFamily="2" charset="-78"/>
              </a:rPr>
              <a:t>غُرْفَةُ الجُلُوسِ وَاسِعَةٌ وَمُلَوَّنَ</a:t>
            </a:r>
            <a:pPr rtl="1" algn="r" indent="0" marL="0">
              <a:lnSpc>
                <a:spcPct val="120000"/>
              </a:lnSpc>
              <a:buNone/>
            </a:pPr>
            <a:r>
              <a:rPr lang="ar-SA" altLang="en-US" sz="1600" b="1" dirty="0">
                <a:solidFill>
                  <a:srgbClr val="D6336C"/>
                </a:solidFill>
                <a:latin typeface="Amiri" pitchFamily="2" charset="-78"/>
                <a:cs typeface="Amiri" pitchFamily="2" charset="-78"/>
              </a:rPr>
              <a:t>ةٌ</a:t>
            </a:r>
            <a:pPr rtl="1" algn="r" indent="0" marL="0">
              <a:lnSpc>
                <a:spcPct val="120000"/>
              </a:lnSpc>
              <a:buNone/>
            </a:pPr>
            <a:r>
              <a:rPr lang="ar-SA" altLang="en-US" sz="1600" b="1" dirty="0">
                <a:solidFill>
                  <a:srgbClr val="1B3B6F"/>
                </a:solidFill>
                <a:latin typeface="Amiri" pitchFamily="2" charset="-78"/>
                <a:cs typeface="Amiri" pitchFamily="2" charset="-78"/>
              </a:rPr>
              <a:t>. الأَرِيكَةُ بَنَفْسَجِيَّ</a:t>
            </a:r>
            <a:pPr rtl="1" algn="r" indent="0" marL="0">
              <a:lnSpc>
                <a:spcPct val="120000"/>
              </a:lnSpc>
              <a:buNone/>
            </a:pPr>
            <a:r>
              <a:rPr lang="ar-SA" altLang="en-US" sz="1600" b="1" dirty="0">
                <a:solidFill>
                  <a:srgbClr val="D6336C"/>
                </a:solidFill>
                <a:latin typeface="Amiri" pitchFamily="2" charset="-78"/>
                <a:cs typeface="Amiri" pitchFamily="2" charset="-78"/>
              </a:rPr>
              <a:t>ةٌ</a:t>
            </a:r>
            <a:pPr rtl="1" algn="r" indent="0" marL="0">
              <a:lnSpc>
                <a:spcPct val="120000"/>
              </a:lnSpc>
              <a:buNone/>
            </a:pPr>
            <a:r>
              <a:rPr lang="ar-SA" altLang="en-US" sz="1600" b="1" dirty="0">
                <a:solidFill>
                  <a:srgbClr val="1B3B6F"/>
                </a:solidFill>
                <a:latin typeface="Amiri" pitchFamily="2" charset="-78"/>
                <a:cs typeface="Amiri" pitchFamily="2" charset="-78"/>
              </a:rPr>
              <a:t> غَامِقَ</a:t>
            </a:r>
            <a:pPr rtl="1" algn="r" indent="0" marL="0">
              <a:lnSpc>
                <a:spcPct val="120000"/>
              </a:lnSpc>
              <a:buNone/>
            </a:pPr>
            <a:r>
              <a:rPr lang="ar-SA" altLang="en-US" sz="1600" b="1" dirty="0">
                <a:solidFill>
                  <a:srgbClr val="D6336C"/>
                </a:solidFill>
                <a:latin typeface="Amiri" pitchFamily="2" charset="-78"/>
                <a:cs typeface="Amiri" pitchFamily="2" charset="-78"/>
              </a:rPr>
              <a:t>ةٌ</a:t>
            </a:r>
            <a:pPr rtl="1" algn="r" indent="0" marL="0">
              <a:lnSpc>
                <a:spcPct val="120000"/>
              </a:lnSpc>
              <a:buNone/>
            </a:pPr>
            <a:r>
              <a:rPr lang="ar-SA" altLang="en-US" sz="1600" b="1" dirty="0">
                <a:solidFill>
                  <a:srgbClr val="1B3B6F"/>
                </a:solidFill>
                <a:latin typeface="Amiri" pitchFamily="2" charset="-78"/>
                <a:cs typeface="Amiri" pitchFamily="2" charset="-78"/>
              </a:rPr>
              <a:t>، وَالسَّجَّادَةُ رَمَادِيَّ</a:t>
            </a:r>
            <a:pPr rtl="1" algn="r" indent="0" marL="0">
              <a:lnSpc>
                <a:spcPct val="120000"/>
              </a:lnSpc>
              <a:buNone/>
            </a:pPr>
            <a:r>
              <a:rPr lang="ar-SA" altLang="en-US" sz="1600" b="1" dirty="0">
                <a:solidFill>
                  <a:srgbClr val="D6336C"/>
                </a:solidFill>
                <a:latin typeface="Amiri" pitchFamily="2" charset="-78"/>
                <a:cs typeface="Amiri" pitchFamily="2" charset="-78"/>
              </a:rPr>
              <a:t>ةٌ</a:t>
            </a:r>
            <a:pPr rtl="1" algn="r" indent="0" marL="0">
              <a:lnSpc>
                <a:spcPct val="120000"/>
              </a:lnSpc>
              <a:buNone/>
            </a:pPr>
            <a:r>
              <a:rPr lang="ar-SA" altLang="en-US" sz="1600" b="1" dirty="0">
                <a:solidFill>
                  <a:srgbClr val="1B3B6F"/>
                </a:solidFill>
                <a:latin typeface="Amiri" pitchFamily="2" charset="-78"/>
                <a:cs typeface="Amiri" pitchFamily="2" charset="-78"/>
              </a:rPr>
              <a:t>. البَابُ </a:t>
            </a:r>
            <a:pPr rtl="1" algn="r" indent="0" marL="0">
              <a:lnSpc>
                <a:spcPct val="120000"/>
              </a:lnSpc>
              <a:buNone/>
            </a:pPr>
            <a:r>
              <a:rPr lang="ar-SA" altLang="en-US" sz="1600" b="1" dirty="0">
                <a:solidFill>
                  <a:srgbClr val="1D5FBF"/>
                </a:solidFill>
                <a:latin typeface="Amiri" pitchFamily="2" charset="-78"/>
                <a:cs typeface="Amiri" pitchFamily="2" charset="-78"/>
              </a:rPr>
              <a:t>أَبْيَضُ</a:t>
            </a:r>
            <a:pPr rtl="1" algn="r" indent="0" marL="0">
              <a:lnSpc>
                <a:spcPct val="120000"/>
              </a:lnSpc>
              <a:buNone/>
            </a:pPr>
            <a:r>
              <a:rPr lang="ar-SA" altLang="en-US" sz="1600" b="1" dirty="0">
                <a:solidFill>
                  <a:srgbClr val="1B3B6F"/>
                </a:solidFill>
                <a:latin typeface="Amiri" pitchFamily="2" charset="-78"/>
                <a:cs typeface="Amiri" pitchFamily="2" charset="-78"/>
              </a:rPr>
              <a:t>، وَالسَّتَائِرُ </a:t>
            </a:r>
            <a:pPr rtl="1" algn="r" indent="0" marL="0">
              <a:lnSpc>
                <a:spcPct val="120000"/>
              </a:lnSpc>
              <a:buNone/>
            </a:pPr>
            <a:r>
              <a:rPr lang="ar-SA" altLang="en-US" sz="1600" b="1" dirty="0">
                <a:solidFill>
                  <a:srgbClr val="D6336C"/>
                </a:solidFill>
                <a:latin typeface="Amiri" pitchFamily="2" charset="-78"/>
                <a:cs typeface="Amiri" pitchFamily="2" charset="-78"/>
              </a:rPr>
              <a:t>زَرْقَاءُ</a:t>
            </a:r>
            <a:pPr rtl="1" algn="r" indent="0" marL="0">
              <a:lnSpc>
                <a:spcPct val="120000"/>
              </a:lnSpc>
              <a:buNone/>
            </a:pPr>
            <a:r>
              <a:rPr lang="ar-SA" altLang="en-US" sz="1600" b="1" dirty="0">
                <a:solidFill>
                  <a:srgbClr val="1B3B6F"/>
                </a:solidFill>
                <a:latin typeface="Amiri" pitchFamily="2" charset="-78"/>
                <a:cs typeface="Amiri" pitchFamily="2" charset="-78"/>
              </a:rPr>
              <a:t> فَاتِحَةٌ. أُحِبُّ هَذِهِ الغُرْفَةَ لِأَنَّ أَلْوَانَهَا هَادِئَةٌ.</a:t>
            </a:r>
            <a:endParaRPr lang="ar-SA" sz="1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living room is spacious and colourful. The sofa is dark purple and the rug is grey. The door is white, and the curtains are light blue. I love this room because its colours are calm.</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COLOURS — FULL SYSTEM AND AGREEMENT”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colour?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لُعْبَةُ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red</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green</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white</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اللَّوْنُ أَخْضَرُ.</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اللَّوْنُ أَبْيَضُ.</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اللَّوْنُ أَحْمَرُ.</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لُعْبَةُ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red</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اللَّوْنُ أَحْمَرُ.</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colour is red.</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green</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اللَّوْنُ أَخْضَرُ.</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colour is green.</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white</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اللَّوْنُ أَبْيَضُ.</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colour is white.</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“COLOUR CODE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Crack the colour code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شِفْرَةِ الأَلْوَانِ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feminine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أَزْرَقُ.</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أَزْرَقَةٌ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زَرِيقَةٌ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زَرْقَاءُ</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colour follows the regular pattern?</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بَنَفْسَجِيٌّ</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أَسْوَدُ</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أَبْيَضُ</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نَافِذَةٌ ___.</a:t>
            </a:r>
            <a:endParaRPr lang="ar-SA" sz="22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أَحْمَرُ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حَمْرَاءُ</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أَحْمَرَةٌ</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“dark red” for a rug.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حَمْرَاءُ غَامِقَةٌ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أَحْمَرُ غَامِقٌ</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حَمْرَاءُ غَامِقٌ</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كَرَاسِي بُنِّيُّونَ</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كَرَاسِي بُنِّيٌّ</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كَرَاسِي بُنِّيَّةٌ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Six colours change:</a:t>
            </a:r>
            <a:endParaRPr lang="en-US" sz="1250" dirty="0"/>
          </a:p>
          <a:p>
            <a:pPr algn="l" indent="0" marL="0">
              <a:buNone/>
            </a:pPr>
            <a:r>
              <a:rPr lang="en-US" sz="1250" dirty="0">
                <a:solidFill>
                  <a:srgbClr val="1E6B52"/>
                </a:solidFill>
                <a:latin typeface="Calibri" pitchFamily="34" charset="0"/>
                <a:cs typeface="Amiri" pitchFamily="2" charset="-78"/>
              </a:rPr>
              <a:t>aḥmar → ḥamrā’</a:t>
            </a:r>
            <a:endParaRPr lang="en-US" sz="1250" dirty="0"/>
          </a:p>
          <a:p>
            <a:pPr algn="l" indent="0" marL="0">
              <a:buNone/>
            </a:pPr>
            <a:r>
              <a:rPr lang="en-US" sz="1250" dirty="0">
                <a:solidFill>
                  <a:srgbClr val="1E6B52"/>
                </a:solidFill>
                <a:latin typeface="Calibri" pitchFamily="34" charset="0"/>
                <a:cs typeface="Amiri" pitchFamily="2" charset="-78"/>
              </a:rPr>
              <a:t>The rest add -a:</a:t>
            </a:r>
            <a:endParaRPr lang="en-US" sz="1250" dirty="0"/>
          </a:p>
          <a:p>
            <a:pPr algn="l" indent="0" marL="0">
              <a:buNone/>
            </a:pPr>
            <a:r>
              <a:rPr lang="en-US" sz="1250" dirty="0">
                <a:solidFill>
                  <a:srgbClr val="1E6B52"/>
                </a:solidFill>
                <a:latin typeface="Calibri" pitchFamily="34" charset="0"/>
                <a:cs typeface="Amiri" pitchFamily="2" charset="-78"/>
              </a:rPr>
              <a:t>bunnī → bunniyya</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feminine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أَزْرَقُ.</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أَزْرَقَةٌ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زَرِيقَةٌ</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زَرْقَاءُ</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Blue changes to </a:t>
            </a:r>
            <a:pPr algn="l" indent="0" marL="0">
              <a:buNone/>
            </a:pPr>
            <a:r>
              <a:rPr lang="ar-SA" altLang="en-US" sz="1350" dirty="0">
                <a:solidFill>
                  <a:srgbClr val="8A6D1E"/>
                </a:solidFill>
                <a:latin typeface="Amiri" pitchFamily="2" charset="-78"/>
                <a:cs typeface="Amiri" pitchFamily="2" charset="-78"/>
              </a:rPr>
              <a:t>زَرْقَاءُ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colour follows the regular pattern?</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بَنَفْسَجِيٌّ</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أَسْوَدُ</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أَبْيَضُ</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بَنَفْسَجِيٌّ</a:t>
            </a:r>
            <a:pPr algn="l" indent="0" marL="0">
              <a:buNone/>
            </a:pPr>
            <a:r>
              <a:rPr lang="en-US" sz="1050" i="1" dirty="0">
                <a:solidFill>
                  <a:srgbClr val="8A6D1E"/>
                </a:solidFill>
                <a:latin typeface="Calibri" pitchFamily="34" charset="0"/>
                <a:cs typeface="Amiri" pitchFamily="2" charset="-78"/>
              </a:rPr>
              <a:t> adds </a:t>
            </a:r>
            <a:pPr algn="l" indent="0" marL="0">
              <a:buNone/>
            </a:pPr>
            <a:r>
              <a:rPr lang="ar-SA" altLang="en-US" sz="1350" dirty="0">
                <a:solidFill>
                  <a:srgbClr val="8A6D1E"/>
                </a:solidFill>
                <a:latin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نَافِذَةٌ ___.</a:t>
            </a:r>
            <a:endParaRPr lang="ar-SA" sz="220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أَحْمَرُ</a:t>
            </a:r>
            <a:endParaRPr lang="ar-SA" sz="1700" dirty="0"/>
          </a:p>
        </p:txBody>
      </p:sp>
      <p:sp>
        <p:nvSpPr>
          <p:cNvPr id="54" name="Shape 51"/>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862072"/>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حَمْرَاءُ</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أَحْمَرَةٌ</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نَافِذَةٌ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“dark red” for a rug.</a:t>
            </a:r>
            <a:endParaRPr lang="en-US" sz="1250" dirty="0"/>
          </a:p>
        </p:txBody>
      </p:sp>
      <p:sp>
        <p:nvSpPr>
          <p:cNvPr id="66" name="Shape 63"/>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40080"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حَمْرَاءُ غَامِقَةٌ</a:t>
            </a:r>
            <a:endParaRPr lang="ar-SA" sz="170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أَحْمَرُ غَامِقٌ</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حَمْرَاءُ غَامِقٌ</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adjectives are feminine.</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كَرَاسِي بُنِّيُّونَ</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كَرَاسِي بُنِّيٌّ</a:t>
            </a:r>
            <a:endParaRPr lang="ar-SA" sz="1700" dirty="0"/>
          </a:p>
        </p:txBody>
      </p:sp>
      <p:sp>
        <p:nvSpPr>
          <p:cNvPr id="87" name="Shape 84"/>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8" name="Shape 85"/>
          <p:cNvSpPr/>
          <p:nvPr/>
        </p:nvSpPr>
        <p:spPr>
          <a:xfrm>
            <a:off x="4459224" y="5574792"/>
            <a:ext cx="256032" cy="256032"/>
          </a:xfrm>
          <a:prstGeom prst="ellipse">
            <a:avLst/>
          </a:prstGeom>
          <a:solidFill>
            <a:srgbClr val="2E8B57"/>
          </a:solidFill>
          <a:ln w="12700">
            <a:solidFill>
              <a:srgbClr val="2E8B57"/>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كَرَاسِي بُنِّيَّةٌ</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things take feminine singular agreement.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Six colours change:</a:t>
            </a:r>
            <a:endParaRPr lang="en-US" sz="1250" dirty="0"/>
          </a:p>
          <a:p>
            <a:pPr algn="l" indent="0" marL="0">
              <a:buNone/>
            </a:pPr>
            <a:r>
              <a:rPr lang="en-US" sz="1250" dirty="0">
                <a:solidFill>
                  <a:srgbClr val="1E6B52"/>
                </a:solidFill>
                <a:latin typeface="Calibri" pitchFamily="34" charset="0"/>
                <a:cs typeface="Amiri" pitchFamily="2" charset="-78"/>
              </a:rPr>
              <a:t>aḥmar → ḥamrā’</a:t>
            </a:r>
            <a:endParaRPr lang="en-US" sz="1250" dirty="0"/>
          </a:p>
          <a:p>
            <a:pPr algn="l" indent="0" marL="0">
              <a:buNone/>
            </a:pPr>
            <a:r>
              <a:rPr lang="en-US" sz="1250" dirty="0">
                <a:solidFill>
                  <a:srgbClr val="1E6B52"/>
                </a:solidFill>
                <a:latin typeface="Calibri" pitchFamily="34" charset="0"/>
                <a:cs typeface="Amiri" pitchFamily="2" charset="-78"/>
              </a:rPr>
              <a:t>The rest add -a:</a:t>
            </a:r>
            <a:endParaRPr lang="en-US" sz="1250" dirty="0"/>
          </a:p>
          <a:p>
            <a:pPr algn="l" indent="0" marL="0">
              <a:buNone/>
            </a:pPr>
            <a:r>
              <a:rPr lang="en-US" sz="1250" dirty="0">
                <a:solidFill>
                  <a:srgbClr val="1E6B52"/>
                </a:solidFill>
                <a:latin typeface="Calibri" pitchFamily="34" charset="0"/>
                <a:cs typeface="Amiri" pitchFamily="2" charset="-78"/>
              </a:rPr>
              <a:t>bunnī → bunniyya</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نَافِذَةٌ أَحْمَرَةٌ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Red: which pattern?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الطَّاوِلَةُ بُنِّيٌّ.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Table: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الحَائِطُ خَضْرَاءُ.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Wall: masculine or feminine?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نَافِذَةٌ أَحْمَرَةٌ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نَافِذَةٌ حَمْرَاءُ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Red is a “changes completely” colour: the feminine is ḥamrā’ (website common mistake).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الطَّاوِلَةُ بُنِّيٌّ.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الطَّاوِلَةُ بُنِّيَّةٌ.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table is feminine: regular colours add -iyya.</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الحَائِطُ خَضْرَاءُ.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الحَائِطُ أَخْضَرُ.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wall is masculine: use the masculine colour.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Layla’s colourful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entrance door?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dark blue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light green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living-room sofa?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pink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orange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curtains described?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dark blue and plain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 and colourful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light blue and striped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fridge?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silver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black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her brother’s bed?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black</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Two columns: room / object · colour.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بَيْتِ لَيْلَى غُرَفٌ مُلَوَّنَةٌ. بَابُ المَدْخَلِ أَزْرَقُ غَامِقٌ، وَالحَائِطُ أَبْيَضُ.</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Layla’s house there are colourful rooms. The front door is dark blue, and the wall is white.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cs typeface="Amiri" pitchFamily="2" charset="-78"/>
              </a:rPr>
              <a:t>فِي غُرْفَةِ الجُلُوسِ أَرِيكَةٌ بَنَفْسَجِيَّةٌ وَسَجَّادَةٌ رَمَادِيَّةٌ. السَّتَائِرُ زَرْقَاءُ فَاتِحَةٌ وَمُخَطَّطَةٌ.</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living room there is a purple sofa and a grey rug. The curtains are light blue and striped.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المَطْبَخِ ثَلَّاجَةٌ فِضِّيَّةٌ وَطَاوِلَةٌ بَيْضَاءُ، وَالكَرَاسِي بُرْتُقَالِيَّةٌ.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kitchen there is a silver fridge and a white table, and the chairs are orange.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غُرْفَةُ لَيْلَى وَرْدِيَّةٌ، وَلَكِنَّ مَكْتَبَهَا بُنِّيٌّ. غُرْفَةُ أَخِيهَا خَضْرَاءُ، وَسَرِيرُهُ أَسْوَدُ.</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Layla’s room is pink, but her desk is brown. Her brother’s room is green, and his bed is black.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تُحِبُّ لَيْلَى غُرْفَةَ الجُلُوسِ لِأَنَّ أَلْوَانَهَا هَادِئَةٌ وَجَمِيلَةٌ.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 loves the living room because its colours are calm and beautiful.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entrance door?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dark blue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light green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بَابُ المَدْخَلِ أَزْرَقُ غَامِقٌ.</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living-room sofa?</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pink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orange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purple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أَرِيكَةٌ بَنَفْسَجِيَّةٌ.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curtains described?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dark blue and plain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 and colourful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light blue and striped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السَّتَائِرُ زَرْقَاءُ فَاتِحَةٌ وَمُخَطَّطَةٌ.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fridge?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silver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black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ثَلَّاجَةٌ فِضِّيَّةٌ.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her brother’s bed?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black</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سَرِيرُهُ أَسْوَدُ.</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Two columns: room / object · colour.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A · FULLY SUPPORTED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Yusuf’s study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مَكْتَبُ يُوسُفَ صَغِيرٌ وَلَكِنَّهُ مُرَتَّبٌ.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Description: small but tidy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الحَائِطُ أَخْضَرُ فَاتِحٌ، وَالبَابُ أَبْيَضُ.</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Wall: light green · door: white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الغُرْفَةِ مَكْتَبٌ بُنِّيٌّ وَكُرْسِيٌّ أَسْوَدُ.</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Desk: brown · chair: black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عَلَى المَكْتَبِ حَاسُوبٌ فِضِّيٌّ وَمِصْبَاحٌ أَصْفَرُ.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Computer: silver · lamp: yellow</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السَّتَائِرُ بَيْضَاءُ وَخَضْرَاءُ وَمُخَطَّطَةٌ. يُحِبُّ يُوسُفُ المَكْتَبَ لِأَنَّ أَلْوَانَهُ هَادِئَةٌ.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Curtains: white, green, striped · opinion: calm colours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READING · TEXT B · REDUCED VOWELS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Maha’s favourite objects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تُحِبُّ مَهَا الألوان الزاهية.</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Maha loves bright colours</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حقيبتها وردية، وهاتفها بنفسجي غامق.</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Bag: pink (f.) · phone: dark purple (m.)</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غرفتها سجادة حمراء، ووسادتان برتقاليتان، ومرآة ذهبية.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Rug: red · two cushions: orange · mirror: gold</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أمّا خزانتها فهي بيضاء، ولكن أبوابها ملوّنة.</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Wardrobe: white · its doors: colourful</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تقول مها إنّ اللون الأزرق هو لونها المفضّل لأنّه هادئ وجميل.</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Favourite colour: blue — calm and beautiful</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Yusuf or Maha?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study wall?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dark green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light green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Yusuf’s desk?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silver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black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curtains described?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 green and striped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 and dark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 and colourful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Maha’s bag?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purple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pink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object is gold?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mirror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wardrobe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rug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NOUN FIRST</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noun in the text,</a:t>
            </a:r>
            <a:endParaRPr lang="en-US" sz="1250" dirty="0"/>
          </a:p>
          <a:p>
            <a:pPr algn="l" indent="0" marL="0">
              <a:buNone/>
            </a:pPr>
            <a:r>
              <a:rPr lang="en-US" sz="1250" dirty="0">
                <a:solidFill>
                  <a:srgbClr val="1F2A37"/>
                </a:solidFill>
                <a:latin typeface="Calibri" pitchFamily="34" charset="0"/>
                <a:cs typeface="Amiri" pitchFamily="2" charset="-78"/>
              </a:rPr>
              <a:t>then read the word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study wall?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dark green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light green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white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الحَائِطُ أَخْضَرُ فَاتِحٌ.</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Yusuf’s desk?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silver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black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brown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مَكْتَبٌ بُنِّيٌّ.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curtains described?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white, green and striped</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 and dark</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red and colourful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السَّتَائِرُ بَيْضَاءُ وَخَضْرَاءُ وَمُخَطَّطَةٌ.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Maha’s bag?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purple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pink</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حقيبتها وردية.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object is gold?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mirror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wardrobe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rug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مرآة ذهبية.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NOUN FIRST</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noun in the text,</a:t>
            </a:r>
            <a:endParaRPr lang="en-US" sz="1250" dirty="0"/>
          </a:p>
          <a:p>
            <a:pPr algn="l" indent="0" marL="0">
              <a:buNone/>
            </a:pPr>
            <a:r>
              <a:rPr lang="en-US" sz="1250" dirty="0">
                <a:solidFill>
                  <a:srgbClr val="1F2A37"/>
                </a:solidFill>
                <a:latin typeface="Calibri" pitchFamily="34" charset="0"/>
                <a:cs typeface="Amiri" pitchFamily="2" charset="-78"/>
              </a:rPr>
              <a:t>then read the word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Describe a colour scheme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لَوْنُكَ المُفَضَّلُ؟ / مَا لَوْنُكِ المُفَضَّلُ؟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أَلْوَانُ غُرْفَتِكَ؟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أَغْرَاضَكَ: الحَقِيبَةُ، الهَاتِفُ، الدَّفْتَرُ.</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غُرْفَةَ الجُلُوسِ بِالأَلْوَانِ، وَقُلْ لِمَاذَا تُحِبُّهَا.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لَوْنِي المُفَضَّلُ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غُرْفَتِي ___ ، وَسَرِيرِي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حَقِيبَتِي ___ ، وَهَاتِفِي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___ فَاتِحَةٌ / غَامِقَةٌ ،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أَلْوَانُ غُرْفَةِ الجُلُوسِ؟</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are the colours of the living room?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غُرْفَةُ الجُلُوسِ وَاسِعَةٌ وَمُلَوَّنَةٌ. الأَرِيكَةُ بَنَفْسَجِيَّةٌ غَامِقَةٌ.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The living room is spacious and colourful. The sofa is dark purple.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phrases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noun + colour phrases with the colour bank (masculine and feminine).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Noun + colour from the bank: three masculine, three feminine (my bag, my room, my desk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to eight sentences using both colour patterns and one shade word.</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room or your personal items: both colour patterns and one shade word.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Definite phrases (al-bābu l-aḥmaru), non-human plurals (satā’ir zarqā’) and a reason.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Definite phrases, a plural of things with a feminine colour, and a reason.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الحَائِطُ أَخْضَرُ فَاتِحٌ.</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wall is light green.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الأَرِيكَةُ بَنَفْسَجِيَّةٌ غَامِقَةٌ.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sofa is dark purple.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السَّتَائِرُ زَرْقَاءُ وَمُخَطَّطَةٌ.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curtains are blue and striped.</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 وَلَكِنَّ ______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my …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أُحِبُّهَا لِأَنَّ أَلْوَانَهَا هَادِئَةٌ.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love it because its colours are calm.</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لَوْنِي المُفَضَّلُ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favourite colour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حَقِيبَتِي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bag (f.)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مَكْتَبِي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desk (m.) is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هُنَاكَ سَجَّادَةٌ حَمْرَاءُ.</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red rug.</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البَابُ أَبْيَضُ.</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door is white.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أَحْمَرُ / حَمْرَاءُ  ·  أَزْرَقُ / زَرْقَاءُ  ·  أَخْضَرُ / خَضْرَاءُ  ·  أَبْيَضُ / بَيْضَاءُ  ·  أَسْوَدُ / سَوْدَاءُ  ·  بُنِّيٌّ / بُنِّيَّةٌ  ·  وَرْدِيٌّ / وَرْدِيَّةٌ  ·  رَمَادِيٌّ / رَمَادِيَّةٌ  ·  فَاتِحٌ  ·  غَامِقٌ  ·  مُخَطَّطٌ  ·  لِأَنَّ</a:t>
            </a:r>
            <a:endParaRPr lang="ar-SA" sz="14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غُرْفَةُ الجُلُوسِ وَاسِعَةٌ وَمُلَوَّنَةٌ. الأَرِيكَةُ بَنَفْسَجِيَّةٌ غَامِقَةٌ، وَالسَّجَّادَةُ رَمَادِيَّةٌ. السَّتَائِرُ زَرْقَاءُ فَاتِحَةٌ وَمُخَطَّطَةٌ، وَالمِصْبَاحُ ذَهَبِيٌّ. الحَائِطُ أَبْيَضُ. أُحِبُّ هَذِهِ الأَلْوَانَ لِأَنَّهَا هَادِئَةٌ وَجَمِيلَةٌ.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living room is spacious and colourful. The sofa is dark purple and the rug is grey. The curtains are light blue and striped, and the lamp is golden. The wall is white. I love these colours because they are calm and beautiful.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“changes completely” colour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“adds -a” colour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shade word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colour comes AFTER its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Feminine nouns have feminine colours.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both patterns (ḥamrā’ and bunniyya).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shade word agrees too.</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Plural things → feminine colour.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feminine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أَسْوَدُ.</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سَوْدَاءُ</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أَسْوَدَةٌ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سَوِيدَةٌ</a:t>
            </a:r>
            <a:endParaRPr lang="ar-SA" sz="20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yellow curtain”.</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سِتَارَةٌ أَصْفَرُ</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سِتَارَةٌ صَفْرَاءُ</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صَفْرَاءُ سِتَارَةٌ</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النَّافِذَةُ أَزْرَقُ.</a:t>
            </a:r>
            <a:endParaRPr lang="ar-SA" sz="22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النَّافِذَةُ زَرْقَاءُ.</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النَّافِذَةُ أَزْرَقَةٌ.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النَّافِذَةُ أَزْرَقُ.</a:t>
            </a:r>
            <a:endParaRPr lang="ar-SA" sz="2050" dirty="0"/>
          </a:p>
        </p:txBody>
      </p:sp>
      <p:sp>
        <p:nvSpPr>
          <p:cNvPr id="56" name="Shape 53"/>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7" name="Text 54"/>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8" name="Text 55"/>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feminine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أَسْوَدُ.</a:t>
            </a:r>
            <a:endParaRPr lang="ar-SA" sz="22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سَوْدَاءُ</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أَسْوَدَةٌ</a:t>
            </a:r>
            <a:endParaRPr lang="ar-SA" sz="20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سَوِيدَةٌ</a:t>
            </a:r>
            <a:endParaRPr lang="ar-SA" sz="20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Black follows the broken pattern.</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yellow curtain”.</a:t>
            </a:r>
            <a:endParaRPr lang="en-US" sz="125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سِتَارَةٌ أَصْفَرُ</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سِتَارَةٌ صَفْرَاءُ</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صَفْرَاءُ سِتَارَةٌ</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colour follows the feminine noun.</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النَّافِذَةُ أَزْرَقُ.</a:t>
            </a:r>
            <a:endParaRPr lang="ar-SA" sz="2200" dirty="0"/>
          </a:p>
        </p:txBody>
      </p:sp>
      <p:sp>
        <p:nvSpPr>
          <p:cNvPr id="51" name="Shape 48"/>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532888"/>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النَّافِذَةُ زَرْقَاءُ.</a:t>
            </a:r>
            <a:endParaRPr lang="ar-SA" sz="2050" dirty="0"/>
          </a:p>
        </p:txBody>
      </p:sp>
      <p:sp>
        <p:nvSpPr>
          <p:cNvPr id="55" name="Shape 52"/>
          <p:cNvSpPr/>
          <p:nvPr/>
        </p:nvSpPr>
        <p:spPr>
          <a:xfrm>
            <a:off x="8278368" y="2990088"/>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النَّافِذَةُ أَزْرَقَةٌ.</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النَّافِذَةُ أَزْرَقُ.</a:t>
            </a:r>
            <a:endParaRPr lang="ar-SA" sz="2050" dirty="0"/>
          </a:p>
        </p:txBody>
      </p:sp>
      <p:sp>
        <p:nvSpPr>
          <p:cNvPr id="61" name="Text 58"/>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form of blue is </a:t>
            </a:r>
            <a:pPr algn="l" indent="0" marL="0">
              <a:buNone/>
            </a:pPr>
            <a:r>
              <a:rPr lang="ar-SA" altLang="en-US" sz="1350" dirty="0">
                <a:solidFill>
                  <a:srgbClr val="8A6D1E"/>
                </a:solidFill>
                <a:latin typeface="Amiri" pitchFamily="2" charset="-78"/>
                <a:cs typeface="Amiri" pitchFamily="2" charset="-78"/>
              </a:rPr>
              <a:t>زَرْقَاءُ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4" name="Text 61"/>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F3-L05 · Colours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F3-L06: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F3-L06 · Household Appliances and Daily Routines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فُرْنٌ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oven</a:t>
            </a:r>
            <a:pPr indent="0" marL="0">
              <a:buNone/>
            </a:pPr>
            <a:r>
              <a:rPr lang="en-US" sz="1000" i="1" dirty="0">
                <a:solidFill>
                  <a:srgbClr val="5A6472"/>
                </a:solidFill>
                <a:latin typeface="Calibri" pitchFamily="34" charset="0"/>
                <a:cs typeface="Amiri" pitchFamily="2" charset="-78"/>
              </a:rPr>
              <a:t>  pl. أَفْرَانٌ</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غَسَّالَةُ صُحُونٍ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dishwasher</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غَلَّايَةٌ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kettle</a:t>
            </a:r>
            <a:pPr indent="0" marL="0">
              <a:buNone/>
            </a:pPr>
            <a:r>
              <a:rPr lang="en-US" sz="1000" i="1" dirty="0">
                <a:solidFill>
                  <a:srgbClr val="5A6472"/>
                </a:solidFill>
                <a:latin typeface="Calibri" pitchFamily="34" charset="0"/>
                <a:cs typeface="Amiri" pitchFamily="2" charset="-78"/>
              </a:rPr>
              <a:t>  pl. غَلَّايَاتٌ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مِكْوَاةٌ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iron</a:t>
            </a:r>
            <a:pPr indent="0" marL="0">
              <a:buNone/>
            </a:pPr>
            <a:r>
              <a:rPr lang="en-US" sz="1000" i="1" dirty="0">
                <a:solidFill>
                  <a:srgbClr val="5A6472"/>
                </a:solidFill>
                <a:latin typeface="Calibri" pitchFamily="34" charset="0"/>
                <a:cs typeface="Amiri" pitchFamily="2" charset="-78"/>
              </a:rPr>
              <a:t>  pl. مَكَاوٍ</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مُكَيِّفٌ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air conditioner</a:t>
            </a:r>
            <a:pPr indent="0" marL="0">
              <a:buNone/>
            </a:pPr>
            <a:r>
              <a:rPr lang="en-US" sz="1000" i="1" dirty="0">
                <a:solidFill>
                  <a:srgbClr val="5A6472"/>
                </a:solidFill>
                <a:latin typeface="Calibri" pitchFamily="34" charset="0"/>
                <a:cs typeface="Amiri" pitchFamily="2" charset="-78"/>
              </a:rPr>
              <a:t>  pl. مُكَيِّفَاتٌ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appliance does your family use every day? Write it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مَاذَا تَسْتَعْمِلُ فِي البَيْتِ؟</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F3-L05: the Colour Code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colour-rich description in 6–8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Palette Studio: both colour patterns, gold, silver, light, dark, striped, and six noun phrases.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F3-L06 · Household Appliances and Daily Routines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الأَجْهِزَةُ المَنْزِلِيَّةُ وَالرُّوتِينُ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noun first · aḥmar → ḥamrā’ · bunnī → bunniyya.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F3-L05 · Colours — Full System and Agreement</dc:title>
  <dc:subject>PptxGenJS Presentation</dc:subject>
  <dc:creator>Al Madina Online School · Arabic Department</dc:creator>
  <cp:lastModifiedBy>Al Madina Online School · Arabic Department</cp:lastModifiedBy>
  <cp:revision>1</cp:revision>
  <dcterms:created xsi:type="dcterms:W3CDTF">2026-10-11T06:41:31Z</dcterms:created>
  <dcterms:modified xsi:type="dcterms:W3CDTF">2026-10-11T06:41:31Z</dcterms:modified>
</cp:coreProperties>
</file>