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the Final Revision series (Topics A–E), Lesson 5 (Final Revision — Mixed Mock Exam 1 (Topics A–E), FR-L05).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Mixed topics: description (B), services and documents (C), travel (A). Box 5: a day + an ordinal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أَيْنَ / كَيْفَ (where / how — PAST) · صِفْ (describe!) · مَاذَا فَعَلْتَ (what did you do) · رَأْيُكَ (opinion → comparison) · خِطَطُكَ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(88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(115 words). Core model: a mixed-topic narrative — routine and food (A), a friend and family (B), weather (C), exams and results (D), a restaurant (A) — with sequence, li-annī, a superlative, a dual verb (yuʿṭiyāni) and three time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(140 words). Full-mark model: a fronted negative hook, ḥāl clauses (wa-qalbī yaduqqu, wa-anā amshī), kāna + present, baʿḍuhum … wa-baʿḍuhum, a dual adjective (murtajifatayni), aʿlā mimmā, ʿindaʾidhin, laysa … bal + a relative-free verb (tatarākamu), law … la- with imperatives.
ENGLISH SUMMARY (read aloud or paste in the chat for Core students): That Thursday in August was no ordinary day: I woke an hour before the alarm, heart racing — results day for exams I’d revised for months → rain fell softly as I walked with Adam, both pretending not to be nervous; the yard was crowded, some crying with joy, others hiding disappointment → I opened the envelope with trembling hands: I’d passed everything, and Arabic was higher than I expected; I called mum and heard her cry with joy for the first time → success isn’t luck but small hours of effort piling up silently; “if I went back to the start of that year, I’d tell myself: revise a little every day, and don’t be afraid”.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a mirrored hook with baynamā, a list with akthar / ashal, yuʿānī min + three verbal nouns, a family example with ammā … fa-lā, wa-maʿa dhālika fa-inna, lā yūjadu … bal with ansab, and idhā … fa-sa-.
ENGLISH SUMMARY (read aloud or paste in the chat for Core students): Many city people dream of a quiet country home, while village youth dream of city lights — is city life really better? → cities offer more study and work opportunities, easier transport, nearby hospitals and museums; yet residents suffer pollution, crowds and high prices, while country people enjoy clean air and closer neighbours → I see this in my family: grandpa in Wales knows every villager by name, whereas we in Manchester don’t know our neighbours on the same floor; still, grandpa needs a full hour to reach the nearest hospital → there is no best place for everyone, only a better place for each stage of life; “if good services reach villages, the countryside will combine its calm with city comfort”.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FINAL REVISION · EXAM PRACTICE  ·  FR-L05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FR-L05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Workshop — Mixed Mock Exam 1</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امْتِحَانٌ تَجْرِيبِيٌّ شَامِلٌ (١)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A full mixed Paper 4 mock: fill in a lost-property form, write an email about a weekend in the countryside (travel, family, nature and weather), and write an extended piece about a day you will never forget or about whether city life is better than country life. Exam skills: about 45 minutes in total — 8 for Q1, 12 for Q2, 25 for Q3 including a 3-minute plan and a 2-minute check.</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FR-L05 · Final Revision · Advanced Topics A–E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Topics A–E · exam ready</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Final Revision › FR-L05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weekend in the countryside.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EXAM CHECK (2 min): every bullet answered? greeting and closing? Then run the five-point check — verb endings (person and tense), adjective agreement (jibālun khaḍrāʾu), numbers + nouns (thalātha sāʿātin), linkers, and at least one past, one present and one future verb.</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cs typeface="Amiri" pitchFamily="2" charset="-78"/>
              </a:rPr>
              <a:t>سَافَرْنَا بِالقِطَارِ، وَاسْتَغْرَقَتِ الرِّحْلَةُ ثَلَاثَ سَاعَاتٍ</a:t>
            </a:r>
            <a:endParaRPr lang="ar-SA" sz="21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went by train, and the journey took three hours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فِيهَا جِبَالٌ خَضْرَاءُ وَنَهْرٌ جَمِيلٌ</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it has green mountains and a beautiful river</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الحَيَاةُ فِي القَرْيَةِ أَهْدَأُ مِنَ المَدِينَةِ، لٰكِنَّهَا …</a:t>
            </a:r>
            <a:endParaRPr lang="ar-SA" sz="22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village life is calmer than the city, but it is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Lost-property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المَفْقُودَاتِ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Item lost</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الشَّيْءُ المَفْقُودُ</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اللَّوْنُ</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المَكَانُ</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التَّارِيخُ</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Phone number</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رَقْمُ الهَاتِفِ</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was inside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 فِيهَا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the bag</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صِفِ الحَقِيبَةَ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One word or a short phrase for each box — box 3 agrees with a feminine noun (zarqāʾu); the last box is a full sentence with colour, size and material. EXAM TIP: about 8 minutes, then move on.</a:t>
            </a:r>
            <a:endParaRPr lang="en-US" sz="11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Lost-property form: model answers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Usama Ibrahim</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أُسَامَةُ إِبْرَاهِيمُ</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rucksack</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حَقِيبَةُ ظَهْرٍ</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الشَّيْءُ المَفْقُودُ</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blue</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زَرْقَاءُ</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اللَّوْنُ</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the train to Wales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القِطَارِ إِلَى وِيلْزَ</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المَكَانُ</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 5 May</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السَّبْتُ، الخَامِسُ مِنْ مَايُو</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التَّارِيخُ</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07700 900456</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٠٧٧٠٠٩٠٠٤٥٦</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رَقْمُ الهَاتِفِ</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schoolbooks and a water bottle</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كُتُبٌ مَدْرَسِيَّةٌ وَقَارُورَةُ مَاءٍ</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مَا فِيهَا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big blue cloth bag with my name on it in white.</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cs typeface="Amiri" pitchFamily="2" charset="-78"/>
              </a:rPr>
              <a:t>هِيَ حَقِيبَةٌ زَرْقَاءُ كَبِيرَةٌ مِنَ القُمَاشِ، وَعَلَيْهَا اسْمِي بِاللَّوْنِ الأَبْيَضِ.</a:t>
            </a:r>
            <a:endParaRPr lang="ar-SA" sz="14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صِفِ الحَقِيبَةَ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Question 2: a weekend with my grandparents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عُطْلَةٌ عِنْدَ جَدِّي وَجَدَّتِي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an email in Arabic to a friend of about 80–90 words. You must include: • where you went and how you travelled • a description of the place and the weather • what you did with your family • your opinion of country life and your plans, and a question for your friend.</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Transport, place and weather from three topics.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سَافَرْنَا بِالقِطَارِ … وَاسْتَغْرَقَتِ الرِّحْلَةُ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travelled by train … and the journey took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القَرْيَةُ … وَفِيهَا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village is … and has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 الجَوُّ … لٰكِنَّنَا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weather was … but we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الحَيَاةُ فِي القَرْيَةِ أَهْدَأُ مِنْ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village life is calmer than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a weekend in the countryside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 رِسَالَةً إِلَى صَدِيقِكَ عَنْ عُطْلَةٍ فِي الرِّيفِ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went; how you travelled</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أَيْنَ ذَهَبْتَ؟ وَكَيْفَ سَافَرْتَ؟</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place and the weather</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صِفِ المَكَانَ وَالطَّقْسَ.</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with your family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مَعَ عَائِلَتِكَ؟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of country life;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رَأْيُكَ فِي الحَيَاةِ فِي الرِّيفِ؟ وَمَا خِطَطُكَ؟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spent … at … in … We travelled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قَضَيْتُ … عِنْدَ ______ فِي ______ . سَافَرْنَا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village is …, and has … It was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القَرْيَةُ ______ ، وَفِيهَا ______ . كَانَ الجَوُّ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Saturday …, and in the evening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 السَّبْتِ ______ ، وَفِي المَسَاءِ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Village life is … than the city. I’ll return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الحَيَاةُ فِي القَرْيَةِ ______ مِنَ المَدِينَةِ. سَأَعُودُ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See you.</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وَأَنْتَ، ______ ؟ إِلَى اللِّقَاءِ.</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مَرْحَبًا يَا حَسَنُ،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كَيْفَ حَالُكَ؟ قَضَيْتُ عُطْلَةَ نِهَايَةِ الأُسْبُوعِ عِنْدَ جَدِّي وَجَدَّتِي فِي قَرْيَةٍ فِي شَمَالِ وِيلْزَ. سَافَرْنَا بِالقِطَارِ، وَاسْتَغْرَقَتِ الرِّحْلَةُ ثَلَاثَ سَاعَاتٍ. القَرْيَةُ صَغِيرَةٌ وَهَادِئَةٌ، وَفِيهَا جِبَالٌ خَضْرَاءُ وَنَهْرٌ جَمِيلٌ. يَوْمَ السَّبْتِ مَشَيْنَا فِي الجِبَالِ، لٰكِنَّ الجَوَّ كَانَ بَارِدًا وَمُمْطِرًا. فِي المَسَاءِ طَبَخَتْ جَدَّتِي طَعَامًا لَذِيذًا، وَلَعِبْنَا الشِّطْرَنْجَ مَعَ جَدِّي. أَظُنُّ أَنَّ الحَيَاةَ فِي القَرْيَةِ أَهْدَأُ مِنَ المَدِينَةِ، لٰكِنَّهَا مُمِلَّةٌ قَلِيلًا. فِي الصَّيْفِ سَأَعُودُ إِلَى هُنَاكَ أُسْبُوعَيْنِ. وَأَنْتَ، أَيْنَ قَضَيْتَ العُطْلَةَ؟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إِلَى اللِّقَاءِ،</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أُسَامَةُ</a:t>
            </a:r>
            <a:endParaRPr lang="ar-SA" sz="17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Hassan, how are you? I spent the weekend at my grandparents’ in a village in North Wales. We went by train, and the journey took three hours. The village is small and quiet, with green mountains and a beautiful river. On Saturday we walked in the mountains, but it was cold and rainy. In the evening grandma cooked delicious food, and we played chess with grandpa. I think village life is calmer than the city, but a bit boring. In the summer I’ll go back for two weeks. And you, where did you spend the weekend? See you, Usama.”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وَاسْتَغْرَقَتِ الرِّحْلَةُ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جِبَالٌ خَضْرَاءُ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أَهْدَأُ مِنَ المَدِينَةِ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سَأَعُودُ إِلَى هُنَاكَ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حَسَنُ،</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عُدْتُ أَمْسِ مِنْ عُطْلَةِ نِهَايَةِ أُسْبُوعٍ عِنْدَ جَدِّي وَجَدَّتِي فِي قَرْيَةٍ صَغِيرَةٍ تَقَعُ فِي شَمَالِ وِيلْزَ، بَيْنَ الجِبَالِ وَالبَحْرِ. سَافَرْنَا بِالقِطَارِ ثَلَاثَ سَاعَاتٍ، فَتَغَيَّرَ المَنْظَرُ تَدْرِيجِيًّا مِنَ المَبَانِي الرَّمَادِيَّةِ إِلَى الحُقُولِ الخَضْرَاءِ. وَمَعَ أَنَّ المَطَرَ لَمْ يَتَوَقَّفْ يَوْمَ السَّبْتِ، فَقَدْ مَشَيْنَا إِلَى شَلَّالٍ قَدِيمٍ، ثُمَّ جَلَسْنَا حَوْلَ المِدْفَأَةِ نَشْرَبُ الشَّايَ وَنَسْمَعُ قِصَصَ جَدِّي عَنْ طُفُولَتِهِ. صَحِيحٌ أَنَّ الحَيَاةَ هُنَاكَ أَبْطَأُ بِكَثِيرٍ مِنْ مَدِينَتِنَا، غَيْرَ أَنَّ هٰذَا البُطْءَ هُوَ مَا أَحْتَاجُ إِلَيْهِ قَبْلَ الامْتِحَانَاتِ. وَإِذَا نَجَحْتُ، فَسَأَقْضِي هُنَاكَ أُسْبُوعَيْنِ فِي الصَّيْفِ. هَلْ تَأْتِي مَعِي؟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أُسَامَةُ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Hassan, I got back yesterday from a weekend at my grandparents’ in a small village in North Wales, between the mountains and the sea. We took the train for three hours, and the view slowly changed from grey buildings to green fields. Although the rain didn’t stop on Saturday, we walked to an old waterfall, then sat by the fire drinking tea and hearing grandpa’s childhood stories. Life there is much slower than in our city, but that slowness is exactly what I need before the exams. If I pass, I’ll spend two weeks there in the summer. Will you come with me? Best wishes, Usama.”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تَقَعُ فِي شَمَالِ … بَيْنَ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 المَبَانِي الرَّمَادِيَّةِ إِلَى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مَعَ أَنَّ … فَقَدْ</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أَبْطَأُ بِكَثِيرٍ مِنْ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day I will never forget</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يَوْمٌ لَا أَنْسَاهُ</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it was and why it mattered · what happened, in order · your feelings and who was with you · what you learnt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مَتَى كَانَ وَلِمَاذَا كَانَ مُهِمًّا · مَاذَا حَدَثَ بِالتَّرْتِيبِ · مَشَاعِرُكَ وَمَنْ كَانَ مَعَكَ · مَا تَعَلَّمْتَهُ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life in the city better than life in the countryside?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الحَيَاةُ فِي المَدِينَةِ أَفْضَلُ مِنَ الحَيَاةِ فِي الرِّيفِ؟</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advantages of city and countryside · an example from your family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المَوْضُوعُ · مَزَايَا المَدِينَةِ وَالرِّيفِ · مِثَالٌ مِنْ عَائِلَتِكَ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When + why — yawmun lā ansāhu huwa …; istayqaẓtu fī … li-annī kuntu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happened — dhahabtu …; kāna al-jawwu …; fī as-sāʿati … akhadhtu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Feelings + people — najaḥtu / faraḥtu …; ittaṣaltu bi- …; fī al-masāʾi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Lesson + future — taʿallamtu anna …; al-āna …; fī al-mustaqbali urīdu an …; Stretch: lam yakun … , laysa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اسْتَيْقَظْتُ فِي السَّادِسَةِ، لِأَنِّي كُنْتُ قَلِقًا.</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woke at six because I was nervous.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كَانَتِ النَّتِيجَةُ أَفْضَلَ مِمَّا تَوَقَّعْتُ.</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comparison: better than I expected.</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 المُسْتَقْبَلِ أُرِيدُ أَنْ أَدْرُسَ الهَنْدَسَةَ.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want to study engineering.</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يَوْمٌ لَا أَنْسَاهُ هُوَ يَوْمُ نَتَائِجِ امْتِحَانَاتِ الصَّفِّ العَاشِرِ فِي السَّنَةِ المَاضِيَةِ. اسْتَيْقَظْتُ فِي السَّادِسَةِ، لِأَنِّي كُنْتُ قَلِقًا جِدًّا، وَلَمْ آكُلْ فُطُورِي. شَرِبْتُ كُوبًا مِنَ الحَلِيبِ فَقَطْ، وَلَبِسْتُ مَلَابِسِي بِسُرْعَةٍ.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ذَهَبْتُ إِلَى المَدْرَسَةِ مَعَ صَدِيقِي آدَمَ. كَانَ الجَوُّ بَارِدًا وَمُمْطِرًا، لٰكِنَّ المَدْرَسَةَ كَانَتْ مُزْدَحِمَةً بِالطُّلَّابِ وَالآبَاءِ. فِي السَّاعَةِ التَّاسِعَةِ أَخَذْتُ الظَّرْفَ، وَفَتَحْتُهُ بِبُطْءٍ. كَانَ آدَمُ يَقِفُ بِجَانِبِي، وَكَانَ قَلِقًا مِثْلِي.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نَجَحْتُ فِي كُلِّ المَوَادِّ! كَانَتْ نَتِيجَةُ العَرَبِيَّةِ أَفْضَلَ نَتِيجَةٍ، لِأَنِّي رَاجَعْتُ كَثِيرًا. اتَّصَلْتُ بِأُمِّي فَوْرًا، وَكَانَتْ سَعِيدَةً جِدًّا. فِي المَسَاءِ ذَهَبْنَا إِلَى مَطْعَمٍ لُبْنَانِيٍّ، وَأَكَلْنَا المَشَاوِيَ وَالسَّلَطَةَ مَعَ كُلِّ العَائِلَةِ. كَانَ أَجْمَلَ مَسَاءٍ فِي السَّنَةِ.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تَعَلَّمْتُ أَنَّ التَّعَبَ وَالمُرَاجَعَةَ يُعْطِيَانِ نَتِيجَةً. الآنَ أُرَاجِعُ لِامْتِحَانَاتِ الصَّفِّ الحَادِي عَشَرَ، وَفِي المُسْتَقْبَلِ أُرِيدُ أَنْ أَدْرُسَ الهَنْدَسَةَ فِي الجَامِعَةِ.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Results day last year: I woke at six, nervous, and only drank milk → walked to school with Adam in the cold rain; the school was crowded; at nine I opened the envelope slowly → I passed everything, Arabic best because I revised; mum was delighted; dinner at a Lebanese restaurant → effort pays off; now I revise for Year 11 and want to study engineering.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لِأَنِّي كُنْتُ قَلِقًا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الجَوُّ بَارِدًا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أَفْضَلَ نَتِيجَةٍ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أُرِيدُ أَنْ أَدْرُسَ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لَمْ يَكُنْ يَوْمًا عَادِيًّا ذٰلِكَ الخَمِيسُ مِنْ شَهْرِ أَغُسْطُسَ؛ فَقَدِ اسْتَيْقَظْتُ قَبْلَ المُنَبِّهِ بِسَاعَةٍ، وَقَلْبِي يَدُقُّ بِسُرْعَةٍ، لِأَنَّهُ كَانَ يَوْمَ نَتَائِجِ الامْتِحَانَاتِ الَّتِي رَاجَعْتُ لَهَا شُهُورًا. لَمْ أَسْتَطِعْ أَنْ آكُلَ شَيْئًا، فَاكْتَفَيْتُ بِكُوبٍ مِنَ الشَّايِ، وَخَرَجْتُ مِنَ البَيْتِ دُونَ أَنْ أُوقِظَ أَحَدًا.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كَانَ المَطَرُ يَتَسَاقَطُ بِهُدُوءٍ وَأَنَا أَمْشِي مَعَ صَدِيقِي آدَمَ إِلَى المَدْرَسَةِ، وَكُنَّا نَتَظَاهَرُ بِأَنَّنَا غَيْرُ قَلِقَيْنِ. وَحِينَ وَصَلْنَا، وَجَدْنَا السَّاحَةَ مُزْدَحِمَةً بِالطُّلَّابِ وَالآبَاءِ، بَعْضُهُمْ يَبْكِي فَرَحًا، وَبَعْضُهُمْ يُحَاوِلُ أَنْ يُخْفِيَ خَيْبَتَهُ، وَالمُعَلِّمُونَ يَتَنَقَّلُونَ بَيْنَهُمْ بِابْتِسَامَاتٍ هَادِئَةٍ.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فَتَحْتُ الظَّرْفَ بِيَدَيْنِ مُرْتَجِفَتَيْنِ، فَوَجَدْتُ أَنَّنِي نَجَحْتُ فِي كُلِّ المَوَادِّ، وَأَنَّ نَتِيجَةَ العَرَبِيَّةِ كَانَتْ أَعْلَى مِمَّا تَوَقَّعْتُ. عِنْدَئِذٍ اتَّصَلْتُ بِأُمِّي، فَسَمِعْتُهَا تَبْكِي لِأَوَّلِ مَرَّةٍ مِنَ الفَرَحِ. وَفِي المَسَاءِ احْتَفَلَتِ العَائِلَةُ كُلُّهَا بِعَشَاءٍ فِي مَطْعَمِنَا المُفَضَّلِ.</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تَعَلَّمْتُ يَوْمَهَا أَنَّ النَّجَاحَ لَيْسَ حَظًّا، بَلْ سَاعَاتٌ صَغِيرَةٌ مِنَ الجُهْدِ تَتَرَاكَمُ بِصَمْتٍ. وَلَوْ عُدْتُ إِلَى بِدَايَةِ تِلْكَ السَّنَةِ، لَقُلْتُ لِنَفْسِي: "رَاجِعْ قَلِيلًا كُلَّ يَوْمٍ، وَلَا تَخَفْ".</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لَمْ يَكُنْ يَوْمًا عَادِيًّا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وَأَنَا أَمْشِي … وَكُنَّا نَتَظَاهَرُ</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بِيَدَيْنِ مُرْتَجِفَتَيْنِ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 حَظًّا، بَلْ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Q3 (</a:t>
            </a:r>
            <a:pPr algn="l" indent="0" marL="0">
              <a:buNone/>
            </a:pPr>
            <a:r>
              <a:rPr lang="ar-SA" altLang="en-US" sz="2800" b="1" dirty="0">
                <a:solidFill>
                  <a:srgbClr val="1B3B6F"/>
                </a:solidFill>
                <a:latin typeface="Amiri" pitchFamily="2" charset="-78"/>
                <a:cs typeface="Amiri" pitchFamily="2" charset="-78"/>
              </a:rPr>
              <a:t>ب</a:t>
            </a:r>
            <a:pPr algn="l" indent="0" marL="0">
              <a:buNone/>
            </a:pPr>
            <a:r>
              <a:rPr lang="en-US" sz="2150" b="1" dirty="0">
                <a:solidFill>
                  <a:srgbClr val="1B3B6F"/>
                </a:solidFill>
                <a:latin typeface="Cambria" pitchFamily="34" charset="0"/>
                <a:cs typeface="Amiri" pitchFamily="2" charset="-78"/>
              </a:rPr>
              <a:t>) full-mark model: city or countryside?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يَحْلُمُ كَثِيرٌ مِنْ سُكَّانِ المُدُنِ بِبَيْتٍ هَادِئٍ فِي الرِّيفِ، بَيْنَمَا يَحْلُمُ شَبَابُ القُرَى بِأَضْوَاءِ المَدِينَةِ. فَهَلِ الحَيَاةُ فِي المَدِينَةِ أَفْضَلُ حَقًّا مِنَ الحَيَاةِ فِي الرِّيفِ؟</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مِنْ نَاحِيَةٍ، تُقَدِّمُ المَدِينَةُ فُرَصًا أَكْثَرَ لِلدِّرَاسَةِ وَالعَمَلِ، وَمُوَاصَلَاتٍ أَسْهَلَ، وَمُسْتَشْفَيَاتٍ وَمَتَاحِفَ قَرِيبَةً. وَمِنْ نَاحِيَةٍ أُخْرَى، يُعَانِي سُكَّانُهَا مِنَ التَّلَوُّثِ وَالزِّحَامِ وَارْتِفَاعِ الأَسْعَارِ، بَيْنَمَا يَتَمَتَّعُ أَهْلُ الرِّيفِ بِهَوَاءٍ نَظِيفٍ وَعَلَاقَاتٍ أَقْوَى بَيْنَ الجِيرَانِ.</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لَاحَظْتُ هٰذَا الفَرْقَ فِي عَائِلَتِي؛ فَجَدِّي فِي وِيلْزَ يَعْرِفُ كُلَّ سُكَّانِ قَرْيَتِهِ بِأَسْمَائِهِمْ، وَيَتَبَادَلُ مَعَهُمُ الخُضَارَ مِنْ حَدِيقَتِهِ، أَمَّا نَحْنُ فِي مَانْشِسْتَرَ فَلَا نَعْرِفُ جِيرَانَنَا فِي الطَّابِقِ نَفْسِهِ. وَمَعَ ذٰلِكَ، فَإِنَّ جَدِّي يَحْتَاجُ إِلَى سَاعَةٍ كَامِلَةٍ لِيَصِلَ إِلَى أَقْرَبِ مُسْتَشْفًى، وَلَا يَجِدُ حَافِلَةً بَعْدَ السَّادِسَةِ مَسَاءً.</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أَرَى أَنَّهُ لَا يُوجَدُ مَكَانٌ أَفْضَلُ لِلْجَمِيعِ، بَلْ مَكَانٌ أَنْسَبُ لِكُلِّ مَرْحَلَةٍ مِنَ العُمُرِ. فَإِذَا وَصَلَتِ الخِدْمَاتُ الجَيِّدَةُ إِلَى القُرَى، فَسَيَجْمَعُ الرِّيفُ بَيْنَ هُدُوئِهِ وَرَاحَةِ المَدِينَةِ.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بَيْنَمَا يَحْلُمُ</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يُعَانِي … مِنَ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نَحْنُ … فَلَا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يُوجَدُ … بَلْ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done in about 8 minutes, no empty boxes.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transport, place and weather; three time frames.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3-minute plan, four paragraphs, a 2-minute check.</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and a conditional; my five-point check is done.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FR-L05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FR-L06 · Exam practice · Speaking and writing workshops — the next Final Revision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FR-L05 · Writing Workshop — Mixed Mock Exam 1</dc:title>
  <dc:subject>PptxGenJS Presentation</dc:subject>
  <dc:creator>Al Madina Online School · Arabic Department</dc:creator>
  <cp:lastModifiedBy>Al Madina Online School · Arabic Department</cp:lastModifiedBy>
  <cp:revision>1</cp:revision>
  <dcterms:created xsi:type="dcterms:W3CDTF">2026-10-11T18:45:20Z</dcterms:created>
  <dcterms:modified xsi:type="dcterms:W3CDTF">2026-10-11T18:45:20Z</dcterms:modified>
</cp:coreProperties>
</file>