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embeddedFontLst>
    <p:embeddedFont>
      <p:font typeface="Amiri" pitchFamily="2" charset="-78"/>
      <p:regular r:id="rIdFont1"/>
      <p:bold r:id="rIdFont2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Relationship Id="rIdFont1" Type="http://schemas.openxmlformats.org/officeDocument/2006/relationships/font" Target="fonts/font1.fntdata"/><Relationship Id="rIdFont2" Type="http://schemas.openxmlformats.org/officeDocument/2006/relationships/font" Target="fonts/font2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WORKSHOP AT A GLANCE — 60 minutes on Teams, mostly in breakout rooms of three.
0–2 Welcome · 2–6 How Paper 3 works · 6–10 Language bank · 10–13 Breakout routine · 13–33 Role plays A–D in rooms (rotate roles) · 33–37 Role-play models (main room) · 37–50 Topic conversation in rooms · 50–55 Conversation models · 55–58 Feedback + self-check · 58–60 Close.
Content: teacher-made exam scenarios for the Final Revision series (Topics A–E), Lesson 1 (Final Revision — Daily Life, Food and Health, FR-L01), using that lesson’s language (Topic A revision: the present tense with time and frequency (fī as-sāʿati …, dāʾiman, aḥyānan, abadan); food quantities and prices; the imperative and advice (yajibu an, lā takul); mundhu for illness; kuntu + present vs al-āna). Every task has Core · Develop · Stretch support and a model answer.
EXAM FORMAT: Paper 3 Speaking = a role play and a topic conversation, as in the Cambridge IGCSE Arabic 0544 speaking test. Check timings and marks against the current syllabus and the past paper you use.
BREAKOUT ROOMS: set up rooms of three before the lesson. Share the deck (or a PDF) so every room can see the cards.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WELCOME (1 min) — while students join.
• Greet each student by name as they arrive: السَّلَامُ عَلَيْكُمْ. Take the register (Pastoral Tracker: attendance 0/1).
• 2-MINUTE CHECK-IN (SEND training): a private chat to any student who seemed unsettled last lesson — “Are you okay today? 👍 / 👎”.
• Point to the four expectations — brief and positive: this is our class agreement.
• Talk code: “I will always give you thinking and practice time before I ask anyone.” Reading aloud is by invitation — a student may say “pass” and you return to them later.
• Follow-up on preparation: who learnt the five words? Quick private reminder to anyone who did not (Flipped Learning: follow up every time).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MAP (1 min) — most of the lesson happens in breakout rooms; the teacher visits each room.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TEACH (3 min). Role play = precise and complete; conversation = develop. Choral repetition of the repair phrases. To a girl: تُعِيدِي.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LANGUAGE BANK (2 min) — a revision map of Topic A. Ask each student to make ONE sentence about themselves with each card. EXAM TIP: in the role play, the examiner reads every task — answer each one in a full sentence, even the simple ones.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LANGUAGE BANK (2 min) — top-band answers are accurate (verb endings, time, numbers), linked (awwalan, thumma, li-dhālika) and developed (kuntu … ammā al-āna fa-, a concession, law … la-). EXAM TIP: in the conversation, aim for three sentences: answer + reason + another time frame.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BREAKOUT ROUTINE (3 min, in the main room). Same-level rooms make the routes simple; mixed rooms work if the strongest student is examiner first. Post the room timer in the chat. Visit every room for about two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ROLE PLAY A (Core) — a café.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تُرِيدِينَ · تَأْكُلِي · تَشْرَبِينَ · تَأْكُلِينَ.
Core: numbers with people (thalāthatun), urīdu … min faḍlika, kam ath-thaman?, frequency (marratan fī ash-shahr). EXAM TIP: if you miss a word, say عَفْوًا، هَلْ يُمْكِنُ أَنْ تُعِيدَ السُّؤَالَ؟ — you lose nothing.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ROLE PLAY B (Core+) — a pharmacy.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بِكِ · أَخَذْتِ · خُذِي · تَذْهَبِينَ.
Core+: yuʾlimunī + body part, mundhu + dual, lam ākhudh (past negative), the CANDIDATE asks (kam marratan …?), sa- + li-annī. EXAM TIP: the task “ASK …” means YOU ask a question — a common slip is to answer instead.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ROLE PLAY C (Develop) — a wellbeing check.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صِفِي · تَأْكُلِينَ · عَادَاتُكِ · تُمَارِسِينَ · نَصِيحَتُكِ · (to a girl: نَامِي · كُلِي · لَا تُرَاجِعِي).
Develop: times + sequence (A · L01, L03), frequency words incl. lā … abadan (L03, L04), kuntu + present vs ammā al-āna fa- (L06), li-anna + mimmā, imperatives incl. the negative (L08). EXAM TIP: a Develop answer = 2–3 linked sentences.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ROLE PLAY D (Stretch) — a radio phone-in.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رَأْيُكِ · غَيَّرْتِ · حَيَاتِكِ · كُنْتِ وَزِيرَةَ الصِّحَّةِ · تَفْعَلِينَ · صِرْتُ أَنْشَطَ (same).
Stretch: reported speech with inna, wa-d-dalīlu anna, a balanced view with mimmā yusabbibu, a past narrative with badalan min + fa-ṣirtu, a concession + aqtariḥu an, law … la- ×2. EXAM TIP: Stretch answers should show range — vary your structures across the five tasks.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Observers keep this slide open (or copy the six points into their book). Collect one strong WWW per room afterwards.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TOPIC CONVERSATION — Core. Examiner asks the questions in order and may add “لِمَاذَا؟ / هَلْ يُمْكِنُ أَنْ تَشْرَحَ أَكْثَرَ؟” to push for more. Candidate aims for one full sentence per question.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TOPIC CONVERSATION — Develop. Examiner asks the questions in order and may add “لِمَاذَا؟ / هَلْ يُمْكِنُ أَنْ تَشْرَحَ أَكْثَرَ؟” to push for more. Candidate aims for two or three sentences, with frequency, a reason and two time frames.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TOPIC CONVERSATION — Stretch. Examiner asks the questions in order and may add “لِمَاذَا؟ / هَلْ يُمْكِنُ أَنْ تَشْرَحَ أَكْثَرَ؟” to push for more. Candidate aims for a developed answer: opinion, balance, concession and a conditional.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(Core)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(Develop)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(Stretch)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(Stretch)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SELF-CHECK (1 min) against the website success criteria. Students tick privately, then type one WWW and one EBI in the chat (English is fine).
Teacher: one whole-class feedback point from live feedback. Pastoral: Curiosity &amp; Growth for honest reflection and a harder target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— thank students, dismiss calmly. After the lesson: complete the Pastoral Tracker (attendance, character, self-management, curiosity; demerits only for the five listed concerns). Note any student below 2/3 on the exit ticket for a Do Now check-in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cs typeface="Amiri" pitchFamily="2" charset="-78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cs typeface="Amiri" pitchFamily="2" charset="-78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cs typeface="Amiri" pitchFamily="2" charset="-78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cs typeface="Amiri" pitchFamily="2" charset="-78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cs typeface="Amiri" pitchFamily="2" charset="-78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cs typeface="Amiri" pitchFamily="2" charset="-78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F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-1463040"/>
            <a:ext cx="5852160" cy="5852160"/>
          </a:xfrm>
          <a:prstGeom prst="ellipse">
            <a:avLst/>
          </a:prstGeom>
          <a:solidFill>
            <a:srgbClr val="14315C"/>
          </a:solidFill>
          <a:ln w="12700">
            <a:solidFill>
              <a:srgbClr val="14315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778240" y="-548640"/>
            <a:ext cx="4023360" cy="402336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12680" y="685800"/>
            <a:ext cx="1554480" cy="1554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411480"/>
            <a:ext cx="502920" cy="502920"/>
          </a:xfrm>
          <a:prstGeom prst="ellipse">
            <a:avLst/>
          </a:prstGeom>
          <a:solidFill>
            <a:srgbClr val="1B3B6F"/>
          </a:solidFill>
          <a:ln w="15875">
            <a:solidFill>
              <a:srgbClr val="D4AF37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39319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2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1078992" y="384048"/>
            <a:ext cx="5486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400" dirty="0"/>
          </a:p>
          <a:p>
            <a:pPr indent="0" marL="0">
              <a:buNone/>
            </a:pPr>
            <a:r>
              <a:rPr lang="en-US" sz="80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ARABIC DEPARTMENT · MIFTAH ARABIC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1600200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CAMBRIDGE IGCSE ARABIC 0544  ·  FINAL REVISION · EXAM PRACTICE  ·  FR-L01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196596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9FB3D1"/>
                </a:solidFill>
                <a:latin typeface="Cambria" pitchFamily="34" charset="0"/>
                <a:cs typeface="Amiri" pitchFamily="2" charset="-78"/>
              </a:rPr>
              <a:t>FR-L01</a:t>
            </a:r>
            <a:endParaRPr lang="en-US" sz="260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2487168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5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Speaking Workshop — Daily Life, Food and Health</a:t>
            </a:r>
            <a:endParaRPr lang="en-US" sz="265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3310128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36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وَرْشَةُ التَّحَدُّثِ — الحَيَاةُ اليَوْمِيَّةُ وَالطَّعَامُ وَالصِّحَّةُ</a:t>
            </a:r>
            <a:endParaRPr lang="ar-SA" sz="3600" dirty="0"/>
          </a:p>
        </p:txBody>
      </p:sp>
      <p:sp>
        <p:nvSpPr>
          <p:cNvPr id="12" name="Text 9"/>
          <p:cNvSpPr txBox="1"/>
          <p:nvPr/>
        </p:nvSpPr>
        <p:spPr>
          <a:xfrm>
            <a:off x="457200" y="4224528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Final-revision Paper 3 practice on Topic A in breakout rooms: daily routine and time, food and eating out, healthy living, illness and the pharmacy, everyday journeys. Exam skills: answer EVERY role-play task in a full sentence, listen for the unexpected question, and develop conversation answers with a reason, a time frame and an example.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57200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21792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LESSON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FR-L01 · Final Revision · Advanced Topics A–E · exam practice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3273552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3438144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DURATION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60 minutes · Teams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6089904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254496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LEVEL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Topics A–E · exam ready</a:t>
            </a:r>
            <a:endParaRPr lang="en-US" sz="850" dirty="0"/>
          </a:p>
        </p:txBody>
      </p:sp>
      <p:sp>
        <p:nvSpPr>
          <p:cNvPr id="19" name="Shape 16"/>
          <p:cNvSpPr/>
          <p:nvPr/>
        </p:nvSpPr>
        <p:spPr>
          <a:xfrm>
            <a:off x="8906256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9070848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ON THE WEBSITE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Advanced Topics › Final Revision › FR-L01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FR-L01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19188" y="274320"/>
            <a:ext cx="1540764" cy="329184"/>
          </a:xfrm>
          <a:prstGeom prst="roundRect">
            <a:avLst>
              <a:gd name="adj" fmla="val 50000"/>
            </a:avLst>
          </a:prstGeom>
          <a:solidFill>
            <a:srgbClr val="5A6472"/>
          </a:solidFill>
          <a:ln w="12700">
            <a:solidFill>
              <a:srgbClr val="5A647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19188" y="274320"/>
            <a:ext cx="15407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WELCOME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BEFORE WE BEGIN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Our online classroom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آدَابُ الصَّفِّ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Final Revision · Speaking workshop · FR-L01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28800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40080" y="2002536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139696"/>
            <a:ext cx="310896" cy="310896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1371600" y="1901952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Camera on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So I can see you learning and help you quickly.</a:t>
            </a:r>
            <a:endParaRPr lang="en-US" sz="1500" dirty="0"/>
          </a:p>
        </p:txBody>
      </p:sp>
      <p:sp>
        <p:nvSpPr>
          <p:cNvPr id="19" name="Shape 15"/>
          <p:cNvSpPr/>
          <p:nvPr/>
        </p:nvSpPr>
        <p:spPr>
          <a:xfrm>
            <a:off x="457200" y="2907792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640080" y="3081528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3218688"/>
            <a:ext cx="310896" cy="310896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1371600" y="2980944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Mic muted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Unmute only when invited to speak.</a:t>
            </a:r>
            <a:endParaRPr lang="en-US" sz="1500" dirty="0"/>
          </a:p>
        </p:txBody>
      </p:sp>
      <p:sp>
        <p:nvSpPr>
          <p:cNvPr id="23" name="Shape 18"/>
          <p:cNvSpPr/>
          <p:nvPr/>
        </p:nvSpPr>
        <p:spPr>
          <a:xfrm>
            <a:off x="457200" y="3986784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640080" y="4160520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4297680"/>
            <a:ext cx="310896" cy="310896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1371600" y="4059936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Chat for learning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Answers, questions and Arabic only.</a:t>
            </a:r>
            <a:endParaRPr lang="en-US" sz="1500" dirty="0"/>
          </a:p>
        </p:txBody>
      </p:sp>
      <p:sp>
        <p:nvSpPr>
          <p:cNvPr id="27" name="Shape 21"/>
          <p:cNvSpPr/>
          <p:nvPr/>
        </p:nvSpPr>
        <p:spPr>
          <a:xfrm>
            <a:off x="457200" y="5065776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8" name="Shape 22"/>
          <p:cNvSpPr/>
          <p:nvPr/>
        </p:nvSpPr>
        <p:spPr>
          <a:xfrm>
            <a:off x="640080" y="5239512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5376672"/>
            <a:ext cx="310896" cy="310896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1371600" y="5138928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Raise your hand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Use the hand button to ask for help.</a:t>
            </a:r>
            <a:endParaRPr lang="en-US" sz="1500" dirty="0"/>
          </a:p>
        </p:txBody>
      </p:sp>
      <p:sp>
        <p:nvSpPr>
          <p:cNvPr id="31" name="Shape 24"/>
          <p:cNvSpPr/>
          <p:nvPr/>
        </p:nvSpPr>
        <p:spPr>
          <a:xfrm>
            <a:off x="6172200" y="1828800"/>
            <a:ext cx="5559552" cy="4169664"/>
          </a:xfrm>
          <a:prstGeom prst="roundRect">
            <a:avLst>
              <a:gd name="adj" fmla="val 1754"/>
            </a:avLst>
          </a:prstGeom>
          <a:solidFill>
            <a:srgbClr val="F7F9FC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2" name="Text 25"/>
          <p:cNvSpPr txBox="1"/>
          <p:nvPr/>
        </p:nvSpPr>
        <p:spPr>
          <a:xfrm>
            <a:off x="6400800" y="1938528"/>
            <a:ext cx="5102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HOW WE TALK — THE ORACY CODE</a:t>
            </a:r>
            <a:endParaRPr lang="en-US" sz="1100" dirty="0"/>
          </a:p>
        </p:txBody>
      </p:sp>
      <p:sp>
        <p:nvSpPr>
          <p:cNvPr id="33" name="Shape 26"/>
          <p:cNvSpPr/>
          <p:nvPr/>
        </p:nvSpPr>
        <p:spPr>
          <a:xfrm>
            <a:off x="6400800" y="24505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4" name="Text 27"/>
          <p:cNvSpPr txBox="1"/>
          <p:nvPr/>
        </p:nvSpPr>
        <p:spPr>
          <a:xfrm>
            <a:off x="6400800" y="24505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●</a:t>
            </a:r>
            <a:endParaRPr lang="en-US" sz="1800" dirty="0"/>
          </a:p>
        </p:txBody>
      </p:sp>
      <p:sp>
        <p:nvSpPr>
          <p:cNvPr id="35" name="Text 28"/>
          <p:cNvSpPr txBox="1"/>
          <p:nvPr/>
        </p:nvSpPr>
        <p:spPr>
          <a:xfrm>
            <a:off x="7059168" y="23774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Think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silent preparation</a:t>
            </a:r>
            <a:endParaRPr lang="en-US" sz="1400" dirty="0"/>
          </a:p>
        </p:txBody>
      </p:sp>
      <p:sp>
        <p:nvSpPr>
          <p:cNvPr id="36" name="Shape 29"/>
          <p:cNvSpPr/>
          <p:nvPr/>
        </p:nvSpPr>
        <p:spPr>
          <a:xfrm>
            <a:off x="8997696" y="24505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7" name="Text 30"/>
          <p:cNvSpPr txBox="1"/>
          <p:nvPr/>
        </p:nvSpPr>
        <p:spPr>
          <a:xfrm>
            <a:off x="8997696" y="24505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↔</a:t>
            </a:r>
            <a:endParaRPr lang="en-US" sz="1800" dirty="0"/>
          </a:p>
        </p:txBody>
      </p:sp>
      <p:sp>
        <p:nvSpPr>
          <p:cNvPr id="38" name="Text 31"/>
          <p:cNvSpPr txBox="1"/>
          <p:nvPr/>
        </p:nvSpPr>
        <p:spPr>
          <a:xfrm>
            <a:off x="9656064" y="23774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Rehearse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both partners speak</a:t>
            </a:r>
            <a:endParaRPr lang="en-US" sz="1400" dirty="0"/>
          </a:p>
        </p:txBody>
      </p:sp>
      <p:sp>
        <p:nvSpPr>
          <p:cNvPr id="39" name="Shape 32"/>
          <p:cNvSpPr/>
          <p:nvPr/>
        </p:nvSpPr>
        <p:spPr>
          <a:xfrm>
            <a:off x="6400800" y="33649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0" name="Text 33"/>
          <p:cNvSpPr txBox="1"/>
          <p:nvPr/>
        </p:nvSpPr>
        <p:spPr>
          <a:xfrm>
            <a:off x="6400800" y="33649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+</a:t>
            </a:r>
            <a:endParaRPr lang="en-US" sz="1800" dirty="0"/>
          </a:p>
        </p:txBody>
      </p:sp>
      <p:sp>
        <p:nvSpPr>
          <p:cNvPr id="41" name="Text 34"/>
          <p:cNvSpPr txBox="1"/>
          <p:nvPr/>
        </p:nvSpPr>
        <p:spPr>
          <a:xfrm>
            <a:off x="7059168" y="32918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Build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add a reason or detail</a:t>
            </a:r>
            <a:endParaRPr lang="en-US" sz="1400" dirty="0"/>
          </a:p>
        </p:txBody>
      </p:sp>
      <p:sp>
        <p:nvSpPr>
          <p:cNvPr id="42" name="Shape 35"/>
          <p:cNvSpPr/>
          <p:nvPr/>
        </p:nvSpPr>
        <p:spPr>
          <a:xfrm>
            <a:off x="8997696" y="33649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3" name="Text 36"/>
          <p:cNvSpPr txBox="1"/>
          <p:nvPr/>
        </p:nvSpPr>
        <p:spPr>
          <a:xfrm>
            <a:off x="8997696" y="33649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?</a:t>
            </a:r>
            <a:endParaRPr lang="en-US" sz="1800" dirty="0"/>
          </a:p>
        </p:txBody>
      </p:sp>
      <p:sp>
        <p:nvSpPr>
          <p:cNvPr id="44" name="Text 37"/>
          <p:cNvSpPr txBox="1"/>
          <p:nvPr/>
        </p:nvSpPr>
        <p:spPr>
          <a:xfrm>
            <a:off x="9656064" y="32918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Challenge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question respectfully</a:t>
            </a:r>
            <a:endParaRPr lang="en-US" sz="1400" dirty="0"/>
          </a:p>
        </p:txBody>
      </p:sp>
      <p:sp>
        <p:nvSpPr>
          <p:cNvPr id="45" name="Shape 38"/>
          <p:cNvSpPr/>
          <p:nvPr/>
        </p:nvSpPr>
        <p:spPr>
          <a:xfrm>
            <a:off x="6400800" y="42793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6" name="Text 39"/>
          <p:cNvSpPr txBox="1"/>
          <p:nvPr/>
        </p:nvSpPr>
        <p:spPr>
          <a:xfrm>
            <a:off x="6400800" y="42793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◎</a:t>
            </a:r>
            <a:endParaRPr lang="en-US" sz="1800" dirty="0"/>
          </a:p>
        </p:txBody>
      </p:sp>
      <p:sp>
        <p:nvSpPr>
          <p:cNvPr id="47" name="Text 40"/>
          <p:cNvSpPr txBox="1"/>
          <p:nvPr/>
        </p:nvSpPr>
        <p:spPr>
          <a:xfrm>
            <a:off x="7059168" y="42062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Share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anyone may be invited</a:t>
            </a:r>
            <a:endParaRPr lang="en-US" sz="1400" dirty="0"/>
          </a:p>
        </p:txBody>
      </p:sp>
      <p:sp>
        <p:nvSpPr>
          <p:cNvPr id="48" name="Shape 41"/>
          <p:cNvSpPr/>
          <p:nvPr/>
        </p:nvSpPr>
        <p:spPr>
          <a:xfrm>
            <a:off x="8997696" y="42793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9" name="Text 42"/>
          <p:cNvSpPr txBox="1"/>
          <p:nvPr/>
        </p:nvSpPr>
        <p:spPr>
          <a:xfrm>
            <a:off x="8997696" y="42793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↺</a:t>
            </a:r>
            <a:endParaRPr lang="en-US" sz="1800" dirty="0"/>
          </a:p>
        </p:txBody>
      </p:sp>
      <p:sp>
        <p:nvSpPr>
          <p:cNvPr id="50" name="Text 43"/>
          <p:cNvSpPr txBox="1"/>
          <p:nvPr/>
        </p:nvSpPr>
        <p:spPr>
          <a:xfrm>
            <a:off x="9656064" y="42062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Summarise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it more precisely</a:t>
            </a:r>
            <a:endParaRPr lang="en-US" sz="1400" dirty="0"/>
          </a:p>
        </p:txBody>
      </p:sp>
      <p:sp>
        <p:nvSpPr>
          <p:cNvPr id="51" name="Text 44"/>
          <p:cNvSpPr txBox="1"/>
          <p:nvPr/>
        </p:nvSpPr>
        <p:spPr>
          <a:xfrm>
            <a:off x="6400800" y="5230368"/>
            <a:ext cx="510235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 will always give you thinking and practice time before I ask anyone. Reading aloud is by invitation — you can always say “pass, please come back to me”.</a:t>
            </a:r>
            <a:endParaRPr lang="en-US" sz="1150" dirty="0"/>
          </a:p>
        </p:txBody>
      </p:sp>
      <p:sp>
        <p:nvSpPr>
          <p:cNvPr id="52" name="Text 45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 / 25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FR-L01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388352" y="274320"/>
            <a:ext cx="1371600" cy="329184"/>
          </a:xfrm>
          <a:prstGeom prst="roundRect">
            <a:avLst>
              <a:gd name="adj" fmla="val 50000"/>
            </a:avLst>
          </a:prstGeom>
          <a:solidFill>
            <a:srgbClr val="5A6472"/>
          </a:solidFill>
          <a:ln w="12700">
            <a:solidFill>
              <a:srgbClr val="5A647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88352" y="274320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WELCOME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TODAY’S WORKSHOP MAP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Exam practice, step by step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خَرِيطَةُ الوَرْشَةِ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Final Revision · Speaking workshop · FR-L01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566928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03504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603504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8 min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1332281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1332281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585216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How the speaking exam works; the language you need.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548640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</a:t>
            </a:r>
            <a:endParaRPr lang="ar-SA" sz="1500" dirty="0"/>
          </a:p>
        </p:txBody>
      </p:sp>
      <p:sp>
        <p:nvSpPr>
          <p:cNvPr id="23" name="Shape 20"/>
          <p:cNvSpPr/>
          <p:nvPr/>
        </p:nvSpPr>
        <p:spPr>
          <a:xfrm>
            <a:off x="2737714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2847442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2884018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2884018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20 min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3612794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3612794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300" dirty="0"/>
          </a:p>
        </p:txBody>
      </p:sp>
      <p:sp>
        <p:nvSpPr>
          <p:cNvPr id="29" name="Text 26"/>
          <p:cNvSpPr txBox="1"/>
          <p:nvPr/>
        </p:nvSpPr>
        <p:spPr>
          <a:xfrm>
            <a:off x="2865730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A–D in breakout rooms.</a:t>
            </a:r>
            <a:endParaRPr lang="en-US" sz="1200" dirty="0"/>
          </a:p>
        </p:txBody>
      </p:sp>
      <p:sp>
        <p:nvSpPr>
          <p:cNvPr id="30" name="Text 27"/>
          <p:cNvSpPr txBox="1"/>
          <p:nvPr/>
        </p:nvSpPr>
        <p:spPr>
          <a:xfrm>
            <a:off x="2829154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E6B5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تَمْثِيلُ الدَّوْرِ</a:t>
            </a:r>
            <a:endParaRPr lang="ar-SA" sz="1500" dirty="0"/>
          </a:p>
        </p:txBody>
      </p:sp>
      <p:sp>
        <p:nvSpPr>
          <p:cNvPr id="31" name="Shape 28"/>
          <p:cNvSpPr/>
          <p:nvPr/>
        </p:nvSpPr>
        <p:spPr>
          <a:xfrm>
            <a:off x="5018227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2" name="Shape 29"/>
          <p:cNvSpPr/>
          <p:nvPr/>
        </p:nvSpPr>
        <p:spPr>
          <a:xfrm>
            <a:off x="5127955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5164531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</a:t>
            </a:r>
            <a:endParaRPr lang="en-US" sz="1000" dirty="0"/>
          </a:p>
        </p:txBody>
      </p:sp>
      <p:sp>
        <p:nvSpPr>
          <p:cNvPr id="34" name="Text 31"/>
          <p:cNvSpPr txBox="1"/>
          <p:nvPr/>
        </p:nvSpPr>
        <p:spPr>
          <a:xfrm>
            <a:off x="5164531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4 min</a:t>
            </a:r>
            <a:endParaRPr lang="en-US" sz="1000" dirty="0"/>
          </a:p>
        </p:txBody>
      </p:sp>
      <p:sp>
        <p:nvSpPr>
          <p:cNvPr id="35" name="Shape 32"/>
          <p:cNvSpPr/>
          <p:nvPr/>
        </p:nvSpPr>
        <p:spPr>
          <a:xfrm>
            <a:off x="5893308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5893308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300" dirty="0"/>
          </a:p>
        </p:txBody>
      </p:sp>
      <p:sp>
        <p:nvSpPr>
          <p:cNvPr id="37" name="Text 34"/>
          <p:cNvSpPr txBox="1"/>
          <p:nvPr/>
        </p:nvSpPr>
        <p:spPr>
          <a:xfrm>
            <a:off x="5146243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Role-play models.</a:t>
            </a:r>
            <a:endParaRPr lang="en-US" sz="1200" dirty="0"/>
          </a:p>
        </p:txBody>
      </p:sp>
      <p:sp>
        <p:nvSpPr>
          <p:cNvPr id="38" name="Text 35"/>
          <p:cNvSpPr txBox="1"/>
          <p:nvPr/>
        </p:nvSpPr>
        <p:spPr>
          <a:xfrm>
            <a:off x="5109667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النَّمُوذَجُ</a:t>
            </a:r>
            <a:endParaRPr lang="ar-SA" sz="1500" dirty="0"/>
          </a:p>
        </p:txBody>
      </p:sp>
      <p:sp>
        <p:nvSpPr>
          <p:cNvPr id="39" name="Shape 36"/>
          <p:cNvSpPr/>
          <p:nvPr/>
        </p:nvSpPr>
        <p:spPr>
          <a:xfrm>
            <a:off x="7298741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0" name="Shape 37"/>
          <p:cNvSpPr/>
          <p:nvPr/>
        </p:nvSpPr>
        <p:spPr>
          <a:xfrm>
            <a:off x="7408469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7445045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</a:t>
            </a:r>
            <a:endParaRPr lang="en-US" sz="1000" dirty="0"/>
          </a:p>
        </p:txBody>
      </p:sp>
      <p:sp>
        <p:nvSpPr>
          <p:cNvPr id="42" name="Text 39"/>
          <p:cNvSpPr txBox="1"/>
          <p:nvPr/>
        </p:nvSpPr>
        <p:spPr>
          <a:xfrm>
            <a:off x="7445045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13 min</a:t>
            </a:r>
            <a:endParaRPr lang="en-US" sz="1000" dirty="0"/>
          </a:p>
        </p:txBody>
      </p:sp>
      <p:sp>
        <p:nvSpPr>
          <p:cNvPr id="43" name="Shape 40"/>
          <p:cNvSpPr/>
          <p:nvPr/>
        </p:nvSpPr>
        <p:spPr>
          <a:xfrm>
            <a:off x="8173822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8173822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300" dirty="0"/>
          </a:p>
        </p:txBody>
      </p:sp>
      <p:sp>
        <p:nvSpPr>
          <p:cNvPr id="45" name="Text 42"/>
          <p:cNvSpPr txBox="1"/>
          <p:nvPr/>
        </p:nvSpPr>
        <p:spPr>
          <a:xfrm>
            <a:off x="7426757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Topic conversation in breakout rooms.</a:t>
            </a:r>
            <a:endParaRPr lang="en-US" sz="1200" dirty="0"/>
          </a:p>
        </p:txBody>
      </p:sp>
      <p:sp>
        <p:nvSpPr>
          <p:cNvPr id="46" name="Text 43"/>
          <p:cNvSpPr txBox="1"/>
          <p:nvPr/>
        </p:nvSpPr>
        <p:spPr>
          <a:xfrm>
            <a:off x="7390181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E6B5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المُحَادَثَةُ</a:t>
            </a:r>
            <a:endParaRPr lang="ar-SA" sz="1500" dirty="0"/>
          </a:p>
        </p:txBody>
      </p:sp>
      <p:sp>
        <p:nvSpPr>
          <p:cNvPr id="47" name="Shape 44"/>
          <p:cNvSpPr/>
          <p:nvPr/>
        </p:nvSpPr>
        <p:spPr>
          <a:xfrm>
            <a:off x="9579254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8" name="Shape 45"/>
          <p:cNvSpPr/>
          <p:nvPr/>
        </p:nvSpPr>
        <p:spPr>
          <a:xfrm>
            <a:off x="9688982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9725558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</a:t>
            </a:r>
            <a:endParaRPr lang="en-US" sz="1000" dirty="0"/>
          </a:p>
        </p:txBody>
      </p:sp>
      <p:sp>
        <p:nvSpPr>
          <p:cNvPr id="50" name="Text 47"/>
          <p:cNvSpPr txBox="1"/>
          <p:nvPr/>
        </p:nvSpPr>
        <p:spPr>
          <a:xfrm>
            <a:off x="9725558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9 min</a:t>
            </a:r>
            <a:endParaRPr lang="en-US" sz="1000" dirty="0"/>
          </a:p>
        </p:txBody>
      </p:sp>
      <p:sp>
        <p:nvSpPr>
          <p:cNvPr id="51" name="Shape 48"/>
          <p:cNvSpPr/>
          <p:nvPr/>
        </p:nvSpPr>
        <p:spPr>
          <a:xfrm>
            <a:off x="10454335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10454335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300" dirty="0"/>
          </a:p>
        </p:txBody>
      </p:sp>
      <p:sp>
        <p:nvSpPr>
          <p:cNvPr id="53" name="Text 50"/>
          <p:cNvSpPr txBox="1"/>
          <p:nvPr/>
        </p:nvSpPr>
        <p:spPr>
          <a:xfrm>
            <a:off x="9707270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Conversation models, feedback, self-check.</a:t>
            </a:r>
            <a:endParaRPr lang="en-US" sz="1200" dirty="0"/>
          </a:p>
        </p:txBody>
      </p:sp>
      <p:sp>
        <p:nvSpPr>
          <p:cNvPr id="54" name="Text 51"/>
          <p:cNvSpPr txBox="1"/>
          <p:nvPr/>
        </p:nvSpPr>
        <p:spPr>
          <a:xfrm>
            <a:off x="9670694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قَيِّمْ</a:t>
            </a:r>
            <a:endParaRPr lang="ar-SA" sz="1500" dirty="0"/>
          </a:p>
        </p:txBody>
      </p:sp>
      <p:sp>
        <p:nvSpPr>
          <p:cNvPr id="55" name="Shape 52"/>
          <p:cNvSpPr/>
          <p:nvPr/>
        </p:nvSpPr>
        <p:spPr>
          <a:xfrm>
            <a:off x="457200" y="5285232"/>
            <a:ext cx="11274552" cy="1024128"/>
          </a:xfrm>
          <a:prstGeom prst="roundRect">
            <a:avLst>
              <a:gd name="adj" fmla="val 7143"/>
            </a:avLst>
          </a:prstGeom>
          <a:solidFill>
            <a:srgbClr val="E9F5EE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56" name="Text 53"/>
          <p:cNvSpPr txBox="1"/>
          <p:nvPr/>
        </p:nvSpPr>
        <p:spPr>
          <a:xfrm>
            <a:off x="685800" y="5358384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IF ARABIC FEELS HARD TODAY</a:t>
            </a:r>
            <a:endParaRPr lang="en-US" sz="1000" dirty="0"/>
          </a:p>
        </p:txBody>
      </p:sp>
      <p:sp>
        <p:nvSpPr>
          <p:cNvPr id="57" name="Text 54"/>
          <p:cNvSpPr txBox="1"/>
          <p:nvPr/>
        </p:nvSpPr>
        <p:spPr>
          <a:xfrm>
            <a:off x="685800" y="5632704"/>
            <a:ext cx="10881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In the rooms everyone has a job: examiner, candidate or observer. You swap after each role play, so everybody speaks.</a:t>
            </a:r>
            <a:endParaRPr lang="en-US" sz="1250" dirty="0"/>
          </a:p>
        </p:txBody>
      </p:sp>
      <p:sp>
        <p:nvSpPr>
          <p:cNvPr id="58" name="Text 55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3 / 25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FR-L01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3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TEACH · PAPER 3 SPEAKING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How the speaking exam works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امْتِحَانُ التَّحَدُّثِ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Final Revision · Speaking workshop · FR-L01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6172200" cy="4498848"/>
          </a:xfrm>
          <a:prstGeom prst="roundRect">
            <a:avLst>
              <a:gd name="adj" fmla="val 1626"/>
            </a:avLst>
          </a:prstGeom>
          <a:solidFill>
            <a:srgbClr val="F7F9FC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658368" y="1883664"/>
            <a:ext cx="5806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THE TWO PARTS WE PRACTISE TODAY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658368" y="2286000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58368" y="22860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1078992" y="2176272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 — a card with a situation and tasks. The examiner asks; you answer every task in a full, clear sentence. One task is unexpected (!).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658368" y="3296412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58368" y="32964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1078992" y="3186684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TOPIC CONVERSATION — the examiner asks questions about a topic you know. Short answers are not enough: develop each one.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658368" y="4306824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58368" y="430682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1078992" y="4197096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Examiners reward: completing the tasks, a range of language (tenses, linking words, opinions) and accuracy.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658368" y="5317236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658368" y="531723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78992" y="5207508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Never stay silent — use a repair phrase and keep going.</a:t>
            </a:r>
            <a:endParaRPr lang="en-US" sz="1300" dirty="0"/>
          </a:p>
        </p:txBody>
      </p:sp>
      <p:sp>
        <p:nvSpPr>
          <p:cNvPr id="29" name="Shape 26"/>
          <p:cNvSpPr/>
          <p:nvPr/>
        </p:nvSpPr>
        <p:spPr>
          <a:xfrm>
            <a:off x="6812280" y="1810512"/>
            <a:ext cx="4919472" cy="4498848"/>
          </a:xfrm>
          <a:prstGeom prst="roundRect">
            <a:avLst>
              <a:gd name="adj" fmla="val 1626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0" name="Text 27"/>
          <p:cNvSpPr txBox="1"/>
          <p:nvPr/>
        </p:nvSpPr>
        <p:spPr>
          <a:xfrm>
            <a:off x="6995160" y="1883664"/>
            <a:ext cx="4553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REPAIR PHRASES</a:t>
            </a:r>
            <a:endParaRPr lang="en-US" sz="1000" dirty="0"/>
          </a:p>
        </p:txBody>
      </p:sp>
      <p:sp>
        <p:nvSpPr>
          <p:cNvPr id="31" name="Text 28"/>
          <p:cNvSpPr txBox="1"/>
          <p:nvPr/>
        </p:nvSpPr>
        <p:spPr>
          <a:xfrm>
            <a:off x="6949440" y="2194560"/>
            <a:ext cx="4645152" cy="7612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عَفْوًا، هَلْ يُمْكِنُ أَنْ تُعِيدَ السُّؤَالَ؟</a:t>
            </a:r>
            <a:endParaRPr lang="ar-SA" sz="2800" dirty="0"/>
          </a:p>
        </p:txBody>
      </p:sp>
      <p:sp>
        <p:nvSpPr>
          <p:cNvPr id="32" name="Text 29"/>
          <p:cNvSpPr txBox="1"/>
          <p:nvPr/>
        </p:nvSpPr>
        <p:spPr>
          <a:xfrm>
            <a:off x="6949440" y="2955828"/>
            <a:ext cx="4645152" cy="543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Sorry, could you repeat the question?</a:t>
            </a:r>
            <a:endParaRPr lang="en-US" sz="1100" dirty="0"/>
          </a:p>
        </p:txBody>
      </p:sp>
      <p:sp>
        <p:nvSpPr>
          <p:cNvPr id="33" name="Shape 30"/>
          <p:cNvSpPr/>
          <p:nvPr/>
        </p:nvSpPr>
        <p:spPr>
          <a:xfrm>
            <a:off x="6995160" y="3535680"/>
            <a:ext cx="4553712" cy="0"/>
          </a:xfrm>
          <a:prstGeom prst="line">
            <a:avLst/>
          </a:prstGeom>
          <a:noFill/>
          <a:ln w="9525">
            <a:solidFill>
              <a:srgbClr val="E4DCCB"/>
            </a:solidFill>
            <a:prstDash val="dash"/>
          </a:ln>
        </p:spPr>
      </p:sp>
      <p:sp>
        <p:nvSpPr>
          <p:cNvPr id="34" name="Text 31"/>
          <p:cNvSpPr txBox="1"/>
          <p:nvPr/>
        </p:nvSpPr>
        <p:spPr>
          <a:xfrm>
            <a:off x="6949440" y="3553968"/>
            <a:ext cx="4645152" cy="7612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لَحْظَةً، دَعْنِي أُفَكِّرُ …</a:t>
            </a:r>
            <a:endParaRPr lang="ar-SA" sz="2800" dirty="0"/>
          </a:p>
        </p:txBody>
      </p:sp>
      <p:sp>
        <p:nvSpPr>
          <p:cNvPr id="35" name="Text 32"/>
          <p:cNvSpPr txBox="1"/>
          <p:nvPr/>
        </p:nvSpPr>
        <p:spPr>
          <a:xfrm>
            <a:off x="6949440" y="4315236"/>
            <a:ext cx="4645152" cy="543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One moment, let me think …</a:t>
            </a:r>
            <a:endParaRPr lang="en-US" sz="1100" dirty="0"/>
          </a:p>
        </p:txBody>
      </p:sp>
      <p:sp>
        <p:nvSpPr>
          <p:cNvPr id="36" name="Shape 33"/>
          <p:cNvSpPr/>
          <p:nvPr/>
        </p:nvSpPr>
        <p:spPr>
          <a:xfrm>
            <a:off x="6995160" y="4895088"/>
            <a:ext cx="4553712" cy="0"/>
          </a:xfrm>
          <a:prstGeom prst="line">
            <a:avLst/>
          </a:prstGeom>
          <a:noFill/>
          <a:ln w="9525">
            <a:solidFill>
              <a:srgbClr val="E4DCCB"/>
            </a:solidFill>
            <a:prstDash val="dash"/>
          </a:ln>
        </p:spPr>
      </p:sp>
      <p:sp>
        <p:nvSpPr>
          <p:cNvPr id="37" name="Text 34"/>
          <p:cNvSpPr txBox="1"/>
          <p:nvPr/>
        </p:nvSpPr>
        <p:spPr>
          <a:xfrm>
            <a:off x="6949440" y="4913376"/>
            <a:ext cx="4645152" cy="7612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أَقْصِدُ …</a:t>
            </a:r>
            <a:endParaRPr lang="ar-SA" sz="2800" dirty="0"/>
          </a:p>
        </p:txBody>
      </p:sp>
      <p:sp>
        <p:nvSpPr>
          <p:cNvPr id="38" name="Text 35"/>
          <p:cNvSpPr txBox="1"/>
          <p:nvPr/>
        </p:nvSpPr>
        <p:spPr>
          <a:xfrm>
            <a:off x="6949440" y="5674644"/>
            <a:ext cx="4645152" cy="543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mean …</a:t>
            </a:r>
            <a:endParaRPr lang="en-US" sz="1100" dirty="0"/>
          </a:p>
        </p:txBody>
      </p:sp>
      <p:sp>
        <p:nvSpPr>
          <p:cNvPr id="39" name="Text 36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4 / 25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FR-L01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LANGUAGE BANK · TOPIC A IN TWELVE STRUCTURES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Routine, food and health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65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المِحْوَرُ الأَوَّلُ فِي اثْنَتَيْ عَشْرَةَ بِنْيَةً</a:t>
            </a:r>
            <a:endParaRPr lang="ar-SA" sz="265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Final Revision · Speaking workshop · FR-L01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8101584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8211312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211312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8604504" y="1938528"/>
            <a:ext cx="709574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604504" y="1938528"/>
            <a:ext cx="70957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 · L01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10872216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10872216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2" name="Text 19"/>
          <p:cNvSpPr txBox="1"/>
          <p:nvPr/>
        </p:nvSpPr>
        <p:spPr>
          <a:xfrm>
            <a:off x="8211312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أَسْتَيْقِظُ فِي السَّاعَةِ …</a:t>
            </a:r>
            <a:endParaRPr lang="ar-SA" sz="3000" dirty="0"/>
          </a:p>
        </p:txBody>
      </p:sp>
      <p:sp>
        <p:nvSpPr>
          <p:cNvPr id="23" name="Text 20"/>
          <p:cNvSpPr txBox="1"/>
          <p:nvPr/>
        </p:nvSpPr>
        <p:spPr>
          <a:xfrm>
            <a:off x="8238744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wake up at … o’clock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as-tay-qi-ẓu fī as-sā-ʿa-ti …</a:t>
            </a:r>
            <a:endParaRPr lang="en-US" sz="1350" dirty="0"/>
          </a:p>
        </p:txBody>
      </p:sp>
      <p:sp>
        <p:nvSpPr>
          <p:cNvPr id="24" name="Shape 21"/>
          <p:cNvSpPr/>
          <p:nvPr/>
        </p:nvSpPr>
        <p:spPr>
          <a:xfrm>
            <a:off x="9966960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10021824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at quarter past</a:t>
            </a:r>
            <a:endParaRPr lang="en-US" sz="700" dirty="0"/>
          </a:p>
        </p:txBody>
      </p:sp>
      <p:sp>
        <p:nvSpPr>
          <p:cNvPr id="26" name="Text 23"/>
          <p:cNvSpPr txBox="1"/>
          <p:nvPr/>
        </p:nvSpPr>
        <p:spPr>
          <a:xfrm>
            <a:off x="10012680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وَالرُّبْعِ</a:t>
            </a:r>
            <a:endParaRPr lang="ar-SA" sz="1350" dirty="0"/>
          </a:p>
        </p:txBody>
      </p:sp>
      <p:sp>
        <p:nvSpPr>
          <p:cNvPr id="27" name="Shape 24"/>
          <p:cNvSpPr/>
          <p:nvPr/>
        </p:nvSpPr>
        <p:spPr>
          <a:xfrm>
            <a:off x="8238744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293608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at half past</a:t>
            </a:r>
            <a:endParaRPr lang="en-US" sz="700" dirty="0"/>
          </a:p>
        </p:txBody>
      </p:sp>
      <p:sp>
        <p:nvSpPr>
          <p:cNvPr id="29" name="Text 26"/>
          <p:cNvSpPr txBox="1"/>
          <p:nvPr/>
        </p:nvSpPr>
        <p:spPr>
          <a:xfrm>
            <a:off x="8284464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وَالنِّصْفِ</a:t>
            </a:r>
            <a:endParaRPr lang="ar-SA" sz="1350" dirty="0"/>
          </a:p>
        </p:txBody>
      </p:sp>
      <p:sp>
        <p:nvSpPr>
          <p:cNvPr id="30" name="Shape 27"/>
          <p:cNvSpPr/>
          <p:nvPr/>
        </p:nvSpPr>
        <p:spPr>
          <a:xfrm>
            <a:off x="4279392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4389120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4389120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4782312" y="1938528"/>
            <a:ext cx="709574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4782312" y="1938528"/>
            <a:ext cx="70957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 · L03</a:t>
            </a:r>
            <a:endParaRPr lang="en-US" sz="800" dirty="0"/>
          </a:p>
        </p:txBody>
      </p:sp>
      <p:sp>
        <p:nvSpPr>
          <p:cNvPr id="35" name="Shape 32"/>
          <p:cNvSpPr/>
          <p:nvPr/>
        </p:nvSpPr>
        <p:spPr>
          <a:xfrm>
            <a:off x="7050024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7050024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37" name="Text 34"/>
          <p:cNvSpPr txBox="1"/>
          <p:nvPr/>
        </p:nvSpPr>
        <p:spPr>
          <a:xfrm>
            <a:off x="4389120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دَائِمًا · أَحْيَانًا · أَبَدًا</a:t>
            </a:r>
            <a:endParaRPr lang="ar-SA" sz="3000" dirty="0"/>
          </a:p>
        </p:txBody>
      </p:sp>
      <p:sp>
        <p:nvSpPr>
          <p:cNvPr id="38" name="Text 35"/>
          <p:cNvSpPr txBox="1"/>
          <p:nvPr/>
        </p:nvSpPr>
        <p:spPr>
          <a:xfrm>
            <a:off x="4416552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always · sometimes · never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dā-ʾi-man · aḥ-yā-nan · a-ba-dan</a:t>
            </a:r>
            <a:endParaRPr lang="en-US" sz="1350" dirty="0"/>
          </a:p>
        </p:txBody>
      </p:sp>
      <p:sp>
        <p:nvSpPr>
          <p:cNvPr id="39" name="Shape 36"/>
          <p:cNvSpPr/>
          <p:nvPr/>
        </p:nvSpPr>
        <p:spPr>
          <a:xfrm>
            <a:off x="6144768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6199632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twice a week</a:t>
            </a:r>
            <a:endParaRPr lang="en-US" sz="700" dirty="0"/>
          </a:p>
        </p:txBody>
      </p:sp>
      <p:sp>
        <p:nvSpPr>
          <p:cNvPr id="41" name="Text 38"/>
          <p:cNvSpPr txBox="1"/>
          <p:nvPr/>
        </p:nvSpPr>
        <p:spPr>
          <a:xfrm>
            <a:off x="6190488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مَرَّتَيْنِ فِي الأُسْبُوعِ</a:t>
            </a:r>
            <a:endParaRPr lang="ar-SA" sz="1350" dirty="0"/>
          </a:p>
        </p:txBody>
      </p:sp>
      <p:sp>
        <p:nvSpPr>
          <p:cNvPr id="42" name="Shape 39"/>
          <p:cNvSpPr/>
          <p:nvPr/>
        </p:nvSpPr>
        <p:spPr>
          <a:xfrm>
            <a:off x="4416552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4471416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usually</a:t>
            </a:r>
            <a:endParaRPr lang="en-US" sz="700" dirty="0"/>
          </a:p>
        </p:txBody>
      </p:sp>
      <p:sp>
        <p:nvSpPr>
          <p:cNvPr id="44" name="Text 41"/>
          <p:cNvSpPr txBox="1"/>
          <p:nvPr/>
        </p:nvSpPr>
        <p:spPr>
          <a:xfrm>
            <a:off x="4462272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عَادَةً</a:t>
            </a:r>
            <a:endParaRPr lang="ar-SA" sz="1350" dirty="0"/>
          </a:p>
        </p:txBody>
      </p:sp>
      <p:sp>
        <p:nvSpPr>
          <p:cNvPr id="45" name="Shape 42"/>
          <p:cNvSpPr/>
          <p:nvPr/>
        </p:nvSpPr>
        <p:spPr>
          <a:xfrm>
            <a:off x="457200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6" name="Shape 43"/>
          <p:cNvSpPr/>
          <p:nvPr/>
        </p:nvSpPr>
        <p:spPr>
          <a:xfrm>
            <a:off x="566928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566928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000" dirty="0"/>
          </a:p>
        </p:txBody>
      </p:sp>
      <p:sp>
        <p:nvSpPr>
          <p:cNvPr id="48" name="Shape 45"/>
          <p:cNvSpPr/>
          <p:nvPr/>
        </p:nvSpPr>
        <p:spPr>
          <a:xfrm>
            <a:off x="960120" y="1938528"/>
            <a:ext cx="709574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960120" y="1938528"/>
            <a:ext cx="70957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 · L03</a:t>
            </a:r>
            <a:endParaRPr lang="en-US" sz="800" dirty="0"/>
          </a:p>
        </p:txBody>
      </p:sp>
      <p:sp>
        <p:nvSpPr>
          <p:cNvPr id="50" name="Shape 47"/>
          <p:cNvSpPr/>
          <p:nvPr/>
        </p:nvSpPr>
        <p:spPr>
          <a:xfrm>
            <a:off x="3227832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1" name="Text 48"/>
          <p:cNvSpPr txBox="1"/>
          <p:nvPr/>
        </p:nvSpPr>
        <p:spPr>
          <a:xfrm>
            <a:off x="3227832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52" name="Text 49"/>
          <p:cNvSpPr txBox="1"/>
          <p:nvPr/>
        </p:nvSpPr>
        <p:spPr>
          <a:xfrm>
            <a:off x="566928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أَوَّلًا · ثُمَّ · بَعْدَ ذٰلِكَ</a:t>
            </a:r>
            <a:endParaRPr lang="ar-SA" sz="3000" dirty="0"/>
          </a:p>
        </p:txBody>
      </p:sp>
      <p:sp>
        <p:nvSpPr>
          <p:cNvPr id="53" name="Text 50"/>
          <p:cNvSpPr txBox="1"/>
          <p:nvPr/>
        </p:nvSpPr>
        <p:spPr>
          <a:xfrm>
            <a:off x="594360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first · then · after that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aw-wa-lan · thum-ma · baʿ-da dhā-li-ka</a:t>
            </a:r>
            <a:endParaRPr lang="en-US" sz="1350" dirty="0"/>
          </a:p>
        </p:txBody>
      </p:sp>
      <p:sp>
        <p:nvSpPr>
          <p:cNvPr id="54" name="Shape 51"/>
          <p:cNvSpPr/>
          <p:nvPr/>
        </p:nvSpPr>
        <p:spPr>
          <a:xfrm>
            <a:off x="2322576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55" name="Text 52"/>
          <p:cNvSpPr txBox="1"/>
          <p:nvPr/>
        </p:nvSpPr>
        <p:spPr>
          <a:xfrm>
            <a:off x="2377440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finally</a:t>
            </a:r>
            <a:endParaRPr lang="en-US" sz="700" dirty="0"/>
          </a:p>
        </p:txBody>
      </p:sp>
      <p:sp>
        <p:nvSpPr>
          <p:cNvPr id="56" name="Text 53"/>
          <p:cNvSpPr txBox="1"/>
          <p:nvPr/>
        </p:nvSpPr>
        <p:spPr>
          <a:xfrm>
            <a:off x="2368296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أَخِيرًا</a:t>
            </a:r>
            <a:endParaRPr lang="ar-SA" sz="1350" dirty="0"/>
          </a:p>
        </p:txBody>
      </p:sp>
      <p:sp>
        <p:nvSpPr>
          <p:cNvPr id="57" name="Shape 54"/>
          <p:cNvSpPr/>
          <p:nvPr/>
        </p:nvSpPr>
        <p:spPr>
          <a:xfrm>
            <a:off x="594360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58" name="Text 55"/>
          <p:cNvSpPr txBox="1"/>
          <p:nvPr/>
        </p:nvSpPr>
        <p:spPr>
          <a:xfrm>
            <a:off x="649224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before</a:t>
            </a:r>
            <a:endParaRPr lang="en-US" sz="700" dirty="0"/>
          </a:p>
        </p:txBody>
      </p:sp>
      <p:sp>
        <p:nvSpPr>
          <p:cNvPr id="59" name="Text 56"/>
          <p:cNvSpPr txBox="1"/>
          <p:nvPr/>
        </p:nvSpPr>
        <p:spPr>
          <a:xfrm>
            <a:off x="640080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قَبْلَ</a:t>
            </a:r>
            <a:endParaRPr lang="ar-SA" sz="1350" dirty="0"/>
          </a:p>
        </p:txBody>
      </p:sp>
      <p:sp>
        <p:nvSpPr>
          <p:cNvPr id="60" name="Shape 57"/>
          <p:cNvSpPr/>
          <p:nvPr/>
        </p:nvSpPr>
        <p:spPr>
          <a:xfrm>
            <a:off x="8101584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61" name="Shape 58"/>
          <p:cNvSpPr/>
          <p:nvPr/>
        </p:nvSpPr>
        <p:spPr>
          <a:xfrm>
            <a:off x="8211312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62" name="Text 59"/>
          <p:cNvSpPr txBox="1"/>
          <p:nvPr/>
        </p:nvSpPr>
        <p:spPr>
          <a:xfrm>
            <a:off x="8211312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000" dirty="0"/>
          </a:p>
        </p:txBody>
      </p:sp>
      <p:sp>
        <p:nvSpPr>
          <p:cNvPr id="63" name="Shape 60"/>
          <p:cNvSpPr/>
          <p:nvPr/>
        </p:nvSpPr>
        <p:spPr>
          <a:xfrm>
            <a:off x="8604504" y="4279392"/>
            <a:ext cx="709574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64" name="Text 61"/>
          <p:cNvSpPr txBox="1"/>
          <p:nvPr/>
        </p:nvSpPr>
        <p:spPr>
          <a:xfrm>
            <a:off x="8604504" y="4279392"/>
            <a:ext cx="70957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 · L04</a:t>
            </a:r>
            <a:endParaRPr lang="en-US" sz="800" dirty="0"/>
          </a:p>
        </p:txBody>
      </p:sp>
      <p:sp>
        <p:nvSpPr>
          <p:cNvPr id="65" name="Shape 62"/>
          <p:cNvSpPr/>
          <p:nvPr/>
        </p:nvSpPr>
        <p:spPr>
          <a:xfrm>
            <a:off x="10872216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6" name="Text 63"/>
          <p:cNvSpPr txBox="1"/>
          <p:nvPr/>
        </p:nvSpPr>
        <p:spPr>
          <a:xfrm>
            <a:off x="10872216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67" name="Text 64"/>
          <p:cNvSpPr txBox="1"/>
          <p:nvPr/>
        </p:nvSpPr>
        <p:spPr>
          <a:xfrm>
            <a:off x="8211312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الفُطُورُ · الغَدَاءُ · العَشَاءُ</a:t>
            </a:r>
            <a:endParaRPr lang="ar-SA" sz="2800" dirty="0"/>
          </a:p>
        </p:txBody>
      </p:sp>
      <p:sp>
        <p:nvSpPr>
          <p:cNvPr id="68" name="Text 65"/>
          <p:cNvSpPr txBox="1"/>
          <p:nvPr/>
        </p:nvSpPr>
        <p:spPr>
          <a:xfrm>
            <a:off x="8238744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breakfast · lunch · dinner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al-fu-ṭū-ru · al-gha-dā-ʾu · al-ʿa-shā-ʾu</a:t>
            </a:r>
            <a:endParaRPr lang="en-US" sz="1350" dirty="0"/>
          </a:p>
        </p:txBody>
      </p:sp>
      <p:sp>
        <p:nvSpPr>
          <p:cNvPr id="69" name="Shape 66"/>
          <p:cNvSpPr/>
          <p:nvPr/>
        </p:nvSpPr>
        <p:spPr>
          <a:xfrm>
            <a:off x="9966960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70" name="Text 67"/>
          <p:cNvSpPr txBox="1"/>
          <p:nvPr/>
        </p:nvSpPr>
        <p:spPr>
          <a:xfrm>
            <a:off x="10021824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 can’t stand</a:t>
            </a:r>
            <a:endParaRPr lang="en-US" sz="700" dirty="0"/>
          </a:p>
        </p:txBody>
      </p:sp>
      <p:sp>
        <p:nvSpPr>
          <p:cNvPr id="71" name="Text 68"/>
          <p:cNvSpPr txBox="1"/>
          <p:nvPr/>
        </p:nvSpPr>
        <p:spPr>
          <a:xfrm>
            <a:off x="10012680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لَا أُحِبُّ أَبَدًا</a:t>
            </a:r>
            <a:endParaRPr lang="ar-SA" sz="1350" dirty="0"/>
          </a:p>
        </p:txBody>
      </p:sp>
      <p:sp>
        <p:nvSpPr>
          <p:cNvPr id="72" name="Shape 69"/>
          <p:cNvSpPr/>
          <p:nvPr/>
        </p:nvSpPr>
        <p:spPr>
          <a:xfrm>
            <a:off x="8238744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73" name="Text 70"/>
          <p:cNvSpPr txBox="1"/>
          <p:nvPr/>
        </p:nvSpPr>
        <p:spPr>
          <a:xfrm>
            <a:off x="8293608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 prefer</a:t>
            </a:r>
            <a:endParaRPr lang="en-US" sz="700" dirty="0"/>
          </a:p>
        </p:txBody>
      </p:sp>
      <p:sp>
        <p:nvSpPr>
          <p:cNvPr id="74" name="Text 71"/>
          <p:cNvSpPr txBox="1"/>
          <p:nvPr/>
        </p:nvSpPr>
        <p:spPr>
          <a:xfrm>
            <a:off x="8284464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أُفَضِّلُ</a:t>
            </a:r>
            <a:endParaRPr lang="ar-SA" sz="1350" dirty="0"/>
          </a:p>
        </p:txBody>
      </p:sp>
      <p:sp>
        <p:nvSpPr>
          <p:cNvPr id="75" name="Shape 72"/>
          <p:cNvSpPr/>
          <p:nvPr/>
        </p:nvSpPr>
        <p:spPr>
          <a:xfrm>
            <a:off x="4279392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76" name="Shape 73"/>
          <p:cNvSpPr/>
          <p:nvPr/>
        </p:nvSpPr>
        <p:spPr>
          <a:xfrm>
            <a:off x="4389120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77" name="Text 74"/>
          <p:cNvSpPr txBox="1"/>
          <p:nvPr/>
        </p:nvSpPr>
        <p:spPr>
          <a:xfrm>
            <a:off x="4389120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000" dirty="0"/>
          </a:p>
        </p:txBody>
      </p:sp>
      <p:sp>
        <p:nvSpPr>
          <p:cNvPr id="78" name="Shape 75"/>
          <p:cNvSpPr/>
          <p:nvPr/>
        </p:nvSpPr>
        <p:spPr>
          <a:xfrm>
            <a:off x="4782312" y="4279392"/>
            <a:ext cx="709574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79" name="Text 76"/>
          <p:cNvSpPr txBox="1"/>
          <p:nvPr/>
        </p:nvSpPr>
        <p:spPr>
          <a:xfrm>
            <a:off x="4782312" y="4279392"/>
            <a:ext cx="70957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 · L05</a:t>
            </a:r>
            <a:endParaRPr lang="en-US" sz="800" dirty="0"/>
          </a:p>
        </p:txBody>
      </p:sp>
      <p:sp>
        <p:nvSpPr>
          <p:cNvPr id="80" name="Shape 77"/>
          <p:cNvSpPr/>
          <p:nvPr/>
        </p:nvSpPr>
        <p:spPr>
          <a:xfrm>
            <a:off x="7050024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81" name="Text 78"/>
          <p:cNvSpPr txBox="1"/>
          <p:nvPr/>
        </p:nvSpPr>
        <p:spPr>
          <a:xfrm>
            <a:off x="7050024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82" name="Text 79"/>
          <p:cNvSpPr txBox="1"/>
          <p:nvPr/>
        </p:nvSpPr>
        <p:spPr>
          <a:xfrm>
            <a:off x="4389120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أُرِيدُ … مِنْ فَضْلِكَ</a:t>
            </a:r>
            <a:endParaRPr lang="ar-SA" sz="3000" dirty="0"/>
          </a:p>
        </p:txBody>
      </p:sp>
      <p:sp>
        <p:nvSpPr>
          <p:cNvPr id="83" name="Text 80"/>
          <p:cNvSpPr txBox="1"/>
          <p:nvPr/>
        </p:nvSpPr>
        <p:spPr>
          <a:xfrm>
            <a:off x="4416552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I’d like … please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u-rī-du … min faḍ-li-ka</a:t>
            </a:r>
            <a:endParaRPr lang="en-US" sz="1350" dirty="0"/>
          </a:p>
        </p:txBody>
      </p:sp>
      <p:sp>
        <p:nvSpPr>
          <p:cNvPr id="84" name="Shape 81"/>
          <p:cNvSpPr/>
          <p:nvPr/>
        </p:nvSpPr>
        <p:spPr>
          <a:xfrm>
            <a:off x="6144768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85" name="Text 82"/>
          <p:cNvSpPr txBox="1"/>
          <p:nvPr/>
        </p:nvSpPr>
        <p:spPr>
          <a:xfrm>
            <a:off x="6199632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the bill</a:t>
            </a:r>
            <a:endParaRPr lang="en-US" sz="700" dirty="0"/>
          </a:p>
        </p:txBody>
      </p:sp>
      <p:sp>
        <p:nvSpPr>
          <p:cNvPr id="86" name="Text 83"/>
          <p:cNvSpPr txBox="1"/>
          <p:nvPr/>
        </p:nvSpPr>
        <p:spPr>
          <a:xfrm>
            <a:off x="6190488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الحِسَابُ</a:t>
            </a:r>
            <a:endParaRPr lang="ar-SA" sz="1350" dirty="0"/>
          </a:p>
        </p:txBody>
      </p:sp>
      <p:sp>
        <p:nvSpPr>
          <p:cNvPr id="87" name="Shape 84"/>
          <p:cNvSpPr/>
          <p:nvPr/>
        </p:nvSpPr>
        <p:spPr>
          <a:xfrm>
            <a:off x="4416552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88" name="Text 85"/>
          <p:cNvSpPr txBox="1"/>
          <p:nvPr/>
        </p:nvSpPr>
        <p:spPr>
          <a:xfrm>
            <a:off x="4471416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how much is it?</a:t>
            </a:r>
            <a:endParaRPr lang="en-US" sz="700" dirty="0"/>
          </a:p>
        </p:txBody>
      </p:sp>
      <p:sp>
        <p:nvSpPr>
          <p:cNvPr id="89" name="Text 86"/>
          <p:cNvSpPr txBox="1"/>
          <p:nvPr/>
        </p:nvSpPr>
        <p:spPr>
          <a:xfrm>
            <a:off x="4462272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كَمِ الثَّمَنُ؟</a:t>
            </a:r>
            <a:endParaRPr lang="ar-SA" sz="1350" dirty="0"/>
          </a:p>
        </p:txBody>
      </p:sp>
      <p:sp>
        <p:nvSpPr>
          <p:cNvPr id="90" name="Shape 87"/>
          <p:cNvSpPr/>
          <p:nvPr/>
        </p:nvSpPr>
        <p:spPr>
          <a:xfrm>
            <a:off x="457200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91" name="Shape 88"/>
          <p:cNvSpPr/>
          <p:nvPr/>
        </p:nvSpPr>
        <p:spPr>
          <a:xfrm>
            <a:off x="566928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92" name="Text 89"/>
          <p:cNvSpPr txBox="1"/>
          <p:nvPr/>
        </p:nvSpPr>
        <p:spPr>
          <a:xfrm>
            <a:off x="566928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6</a:t>
            </a:r>
            <a:endParaRPr lang="en-US" sz="1000" dirty="0"/>
          </a:p>
        </p:txBody>
      </p:sp>
      <p:sp>
        <p:nvSpPr>
          <p:cNvPr id="93" name="Shape 90"/>
          <p:cNvSpPr/>
          <p:nvPr/>
        </p:nvSpPr>
        <p:spPr>
          <a:xfrm>
            <a:off x="960120" y="4279392"/>
            <a:ext cx="709574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94" name="Text 91"/>
          <p:cNvSpPr txBox="1"/>
          <p:nvPr/>
        </p:nvSpPr>
        <p:spPr>
          <a:xfrm>
            <a:off x="960120" y="4279392"/>
            <a:ext cx="70957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 · L06</a:t>
            </a:r>
            <a:endParaRPr lang="en-US" sz="800" dirty="0"/>
          </a:p>
        </p:txBody>
      </p:sp>
      <p:sp>
        <p:nvSpPr>
          <p:cNvPr id="95" name="Shape 92"/>
          <p:cNvSpPr/>
          <p:nvPr/>
        </p:nvSpPr>
        <p:spPr>
          <a:xfrm>
            <a:off x="3227832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96" name="Text 93"/>
          <p:cNvSpPr txBox="1"/>
          <p:nvPr/>
        </p:nvSpPr>
        <p:spPr>
          <a:xfrm>
            <a:off x="3227832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97" name="Text 94"/>
          <p:cNvSpPr txBox="1"/>
          <p:nvPr/>
        </p:nvSpPr>
        <p:spPr>
          <a:xfrm>
            <a:off x="566928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صِحِّيٌّ · غَيْرُ صِحِّيٍّ</a:t>
            </a:r>
            <a:endParaRPr lang="ar-SA" sz="3000" dirty="0"/>
          </a:p>
        </p:txBody>
      </p:sp>
      <p:sp>
        <p:nvSpPr>
          <p:cNvPr id="98" name="Text 95"/>
          <p:cNvSpPr txBox="1"/>
          <p:nvPr/>
        </p:nvSpPr>
        <p:spPr>
          <a:xfrm>
            <a:off x="594360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healthy · unhealthy (m.)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ṣiḥ-ḥiy-yun · ghay-ru ṣiḥ-ḥiy-yin</a:t>
            </a:r>
            <a:endParaRPr lang="en-US" sz="1350" dirty="0"/>
          </a:p>
        </p:txBody>
      </p:sp>
      <p:sp>
        <p:nvSpPr>
          <p:cNvPr id="99" name="Shape 96"/>
          <p:cNvSpPr/>
          <p:nvPr/>
        </p:nvSpPr>
        <p:spPr>
          <a:xfrm>
            <a:off x="2322576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00" name="Text 97"/>
          <p:cNvSpPr txBox="1"/>
          <p:nvPr/>
        </p:nvSpPr>
        <p:spPr>
          <a:xfrm>
            <a:off x="2377440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more healthy</a:t>
            </a:r>
            <a:endParaRPr lang="en-US" sz="700" dirty="0"/>
          </a:p>
        </p:txBody>
      </p:sp>
      <p:sp>
        <p:nvSpPr>
          <p:cNvPr id="101" name="Text 98"/>
          <p:cNvSpPr txBox="1"/>
          <p:nvPr/>
        </p:nvSpPr>
        <p:spPr>
          <a:xfrm>
            <a:off x="2368296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أَكْثَرُ صِحَّةً</a:t>
            </a:r>
            <a:endParaRPr lang="ar-SA" sz="1350" dirty="0"/>
          </a:p>
        </p:txBody>
      </p:sp>
      <p:sp>
        <p:nvSpPr>
          <p:cNvPr id="102" name="Shape 99"/>
          <p:cNvSpPr/>
          <p:nvPr/>
        </p:nvSpPr>
        <p:spPr>
          <a:xfrm>
            <a:off x="594360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03" name="Text 100"/>
          <p:cNvSpPr txBox="1"/>
          <p:nvPr/>
        </p:nvSpPr>
        <p:spPr>
          <a:xfrm>
            <a:off x="649224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f.</a:t>
            </a:r>
            <a:endParaRPr lang="en-US" sz="750" dirty="0"/>
          </a:p>
        </p:txBody>
      </p:sp>
      <p:sp>
        <p:nvSpPr>
          <p:cNvPr id="104" name="Text 101"/>
          <p:cNvSpPr txBox="1"/>
          <p:nvPr/>
        </p:nvSpPr>
        <p:spPr>
          <a:xfrm>
            <a:off x="640080" y="5824728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صِحِّيَّةٌ · غَيْرُ صِحِّيَّةٍ</a:t>
            </a:r>
            <a:endParaRPr lang="ar-SA" sz="1500" dirty="0"/>
          </a:p>
        </p:txBody>
      </p:sp>
      <p:sp>
        <p:nvSpPr>
          <p:cNvPr id="105" name="Text 10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5 / 25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FR-L01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LANGUAGE BANK · STRUCTURES THAT LIFT A MARK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Accurate, linked, developed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بِنْيَاتٌ تَرْفَعُ الدَّرَجَةَ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Final Revision · Speaking workshop · FR-L01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8101584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8211312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211312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7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8604504" y="1938528"/>
            <a:ext cx="709574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604504" y="1938528"/>
            <a:ext cx="70957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 · L07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10872216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10872216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2" name="Text 19"/>
          <p:cNvSpPr txBox="1"/>
          <p:nvPr/>
        </p:nvSpPr>
        <p:spPr>
          <a:xfrm>
            <a:off x="8211312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يُؤْلِمُنِي … · عِنْدِي …</a:t>
            </a:r>
            <a:endParaRPr lang="ar-SA" sz="3000" dirty="0"/>
          </a:p>
        </p:txBody>
      </p:sp>
      <p:sp>
        <p:nvSpPr>
          <p:cNvPr id="23" name="Text 20"/>
          <p:cNvSpPr txBox="1"/>
          <p:nvPr/>
        </p:nvSpPr>
        <p:spPr>
          <a:xfrm>
            <a:off x="8238744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my … hurts · I have …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yuʾ-li-mu-nī … · ʿin-dī …</a:t>
            </a:r>
            <a:endParaRPr lang="en-US" sz="1350" dirty="0"/>
          </a:p>
        </p:txBody>
      </p:sp>
      <p:sp>
        <p:nvSpPr>
          <p:cNvPr id="24" name="Shape 21"/>
          <p:cNvSpPr/>
          <p:nvPr/>
        </p:nvSpPr>
        <p:spPr>
          <a:xfrm>
            <a:off x="9966960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10021824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 temperature</a:t>
            </a:r>
            <a:endParaRPr lang="en-US" sz="700" dirty="0"/>
          </a:p>
        </p:txBody>
      </p:sp>
      <p:sp>
        <p:nvSpPr>
          <p:cNvPr id="26" name="Text 23"/>
          <p:cNvSpPr txBox="1"/>
          <p:nvPr/>
        </p:nvSpPr>
        <p:spPr>
          <a:xfrm>
            <a:off x="10012680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حَرَارَةٌ</a:t>
            </a:r>
            <a:endParaRPr lang="ar-SA" sz="1350" dirty="0"/>
          </a:p>
        </p:txBody>
      </p:sp>
      <p:sp>
        <p:nvSpPr>
          <p:cNvPr id="27" name="Shape 24"/>
          <p:cNvSpPr/>
          <p:nvPr/>
        </p:nvSpPr>
        <p:spPr>
          <a:xfrm>
            <a:off x="8238744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293608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my head hurts</a:t>
            </a:r>
            <a:endParaRPr lang="en-US" sz="700" dirty="0"/>
          </a:p>
        </p:txBody>
      </p:sp>
      <p:sp>
        <p:nvSpPr>
          <p:cNvPr id="29" name="Text 26"/>
          <p:cNvSpPr txBox="1"/>
          <p:nvPr/>
        </p:nvSpPr>
        <p:spPr>
          <a:xfrm>
            <a:off x="8284464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يُؤْلِمُنِي رَأْسِي</a:t>
            </a:r>
            <a:endParaRPr lang="ar-SA" sz="1350" dirty="0"/>
          </a:p>
        </p:txBody>
      </p:sp>
      <p:sp>
        <p:nvSpPr>
          <p:cNvPr id="30" name="Shape 27"/>
          <p:cNvSpPr/>
          <p:nvPr/>
        </p:nvSpPr>
        <p:spPr>
          <a:xfrm>
            <a:off x="4279392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4389120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4389120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8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4782312" y="1938528"/>
            <a:ext cx="709574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4782312" y="1938528"/>
            <a:ext cx="70957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 · L07</a:t>
            </a:r>
            <a:endParaRPr lang="en-US" sz="800" dirty="0"/>
          </a:p>
        </p:txBody>
      </p:sp>
      <p:sp>
        <p:nvSpPr>
          <p:cNvPr id="35" name="Shape 32"/>
          <p:cNvSpPr/>
          <p:nvPr/>
        </p:nvSpPr>
        <p:spPr>
          <a:xfrm>
            <a:off x="7050024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7050024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37" name="Text 34"/>
          <p:cNvSpPr txBox="1"/>
          <p:nvPr/>
        </p:nvSpPr>
        <p:spPr>
          <a:xfrm>
            <a:off x="4389120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مُنْذُ يَوْمَيْنِ</a:t>
            </a:r>
            <a:endParaRPr lang="ar-SA" sz="3000" dirty="0"/>
          </a:p>
        </p:txBody>
      </p:sp>
      <p:sp>
        <p:nvSpPr>
          <p:cNvPr id="38" name="Text 35"/>
          <p:cNvSpPr txBox="1"/>
          <p:nvPr/>
        </p:nvSpPr>
        <p:spPr>
          <a:xfrm>
            <a:off x="4416552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for two days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mun-dhu yaw-may-ni</a:t>
            </a:r>
            <a:endParaRPr lang="en-US" sz="1350" dirty="0"/>
          </a:p>
        </p:txBody>
      </p:sp>
      <p:sp>
        <p:nvSpPr>
          <p:cNvPr id="39" name="Shape 36"/>
          <p:cNvSpPr/>
          <p:nvPr/>
        </p:nvSpPr>
        <p:spPr>
          <a:xfrm>
            <a:off x="6144768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6199632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for a week</a:t>
            </a:r>
            <a:endParaRPr lang="en-US" sz="700" dirty="0"/>
          </a:p>
        </p:txBody>
      </p:sp>
      <p:sp>
        <p:nvSpPr>
          <p:cNvPr id="41" name="Text 38"/>
          <p:cNvSpPr txBox="1"/>
          <p:nvPr/>
        </p:nvSpPr>
        <p:spPr>
          <a:xfrm>
            <a:off x="6190488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مُنْذُ أُسْبُوعٍ</a:t>
            </a:r>
            <a:endParaRPr lang="ar-SA" sz="1350" dirty="0"/>
          </a:p>
        </p:txBody>
      </p:sp>
      <p:sp>
        <p:nvSpPr>
          <p:cNvPr id="42" name="Shape 39"/>
          <p:cNvSpPr/>
          <p:nvPr/>
        </p:nvSpPr>
        <p:spPr>
          <a:xfrm>
            <a:off x="4416552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4471416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since yesterday</a:t>
            </a:r>
            <a:endParaRPr lang="en-US" sz="700" dirty="0"/>
          </a:p>
        </p:txBody>
      </p:sp>
      <p:sp>
        <p:nvSpPr>
          <p:cNvPr id="44" name="Text 41"/>
          <p:cNvSpPr txBox="1"/>
          <p:nvPr/>
        </p:nvSpPr>
        <p:spPr>
          <a:xfrm>
            <a:off x="4462272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مُنْذُ أَمْسِ</a:t>
            </a:r>
            <a:endParaRPr lang="ar-SA" sz="1350" dirty="0"/>
          </a:p>
        </p:txBody>
      </p:sp>
      <p:sp>
        <p:nvSpPr>
          <p:cNvPr id="45" name="Shape 42"/>
          <p:cNvSpPr/>
          <p:nvPr/>
        </p:nvSpPr>
        <p:spPr>
          <a:xfrm>
            <a:off x="457200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6" name="Shape 43"/>
          <p:cNvSpPr/>
          <p:nvPr/>
        </p:nvSpPr>
        <p:spPr>
          <a:xfrm>
            <a:off x="566928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566928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9</a:t>
            </a:r>
            <a:endParaRPr lang="en-US" sz="1000" dirty="0"/>
          </a:p>
        </p:txBody>
      </p:sp>
      <p:sp>
        <p:nvSpPr>
          <p:cNvPr id="48" name="Shape 45"/>
          <p:cNvSpPr/>
          <p:nvPr/>
        </p:nvSpPr>
        <p:spPr>
          <a:xfrm>
            <a:off x="960120" y="1938528"/>
            <a:ext cx="709574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960120" y="1938528"/>
            <a:ext cx="70957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 · L08</a:t>
            </a:r>
            <a:endParaRPr lang="en-US" sz="800" dirty="0"/>
          </a:p>
        </p:txBody>
      </p:sp>
      <p:sp>
        <p:nvSpPr>
          <p:cNvPr id="50" name="Shape 47"/>
          <p:cNvSpPr/>
          <p:nvPr/>
        </p:nvSpPr>
        <p:spPr>
          <a:xfrm>
            <a:off x="3227832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1" name="Text 48"/>
          <p:cNvSpPr txBox="1"/>
          <p:nvPr/>
        </p:nvSpPr>
        <p:spPr>
          <a:xfrm>
            <a:off x="3227832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52" name="Text 49"/>
          <p:cNvSpPr txBox="1"/>
          <p:nvPr/>
        </p:nvSpPr>
        <p:spPr>
          <a:xfrm>
            <a:off x="566928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خُذْ … · لَا تَأْكُلْ …</a:t>
            </a:r>
            <a:endParaRPr lang="ar-SA" sz="3000" dirty="0"/>
          </a:p>
        </p:txBody>
      </p:sp>
      <p:sp>
        <p:nvSpPr>
          <p:cNvPr id="53" name="Text 50"/>
          <p:cNvSpPr txBox="1"/>
          <p:nvPr/>
        </p:nvSpPr>
        <p:spPr>
          <a:xfrm>
            <a:off x="594360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take … · don’t eat … (m.)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khudh … · lā taʾ-kul …</a:t>
            </a:r>
            <a:endParaRPr lang="en-US" sz="1350" dirty="0"/>
          </a:p>
        </p:txBody>
      </p:sp>
      <p:sp>
        <p:nvSpPr>
          <p:cNvPr id="54" name="Shape 51"/>
          <p:cNvSpPr/>
          <p:nvPr/>
        </p:nvSpPr>
        <p:spPr>
          <a:xfrm>
            <a:off x="2322576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55" name="Text 52"/>
          <p:cNvSpPr txBox="1"/>
          <p:nvPr/>
        </p:nvSpPr>
        <p:spPr>
          <a:xfrm>
            <a:off x="2377440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you must</a:t>
            </a:r>
            <a:endParaRPr lang="en-US" sz="700" dirty="0"/>
          </a:p>
        </p:txBody>
      </p:sp>
      <p:sp>
        <p:nvSpPr>
          <p:cNvPr id="56" name="Text 53"/>
          <p:cNvSpPr txBox="1"/>
          <p:nvPr/>
        </p:nvSpPr>
        <p:spPr>
          <a:xfrm>
            <a:off x="2368296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يَجِبُ أَنْ</a:t>
            </a:r>
            <a:endParaRPr lang="ar-SA" sz="1350" dirty="0"/>
          </a:p>
        </p:txBody>
      </p:sp>
      <p:sp>
        <p:nvSpPr>
          <p:cNvPr id="57" name="Shape 54"/>
          <p:cNvSpPr/>
          <p:nvPr/>
        </p:nvSpPr>
        <p:spPr>
          <a:xfrm>
            <a:off x="594360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58" name="Text 55"/>
          <p:cNvSpPr txBox="1"/>
          <p:nvPr/>
        </p:nvSpPr>
        <p:spPr>
          <a:xfrm>
            <a:off x="649224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f.</a:t>
            </a:r>
            <a:endParaRPr lang="en-US" sz="750" dirty="0"/>
          </a:p>
        </p:txBody>
      </p:sp>
      <p:sp>
        <p:nvSpPr>
          <p:cNvPr id="59" name="Text 56"/>
          <p:cNvSpPr txBox="1"/>
          <p:nvPr/>
        </p:nvSpPr>
        <p:spPr>
          <a:xfrm>
            <a:off x="640080" y="3483864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خُذِي · لَا تَأْكُلِي</a:t>
            </a:r>
            <a:endParaRPr lang="ar-SA" sz="1500" dirty="0"/>
          </a:p>
        </p:txBody>
      </p:sp>
      <p:sp>
        <p:nvSpPr>
          <p:cNvPr id="60" name="Shape 57"/>
          <p:cNvSpPr/>
          <p:nvPr/>
        </p:nvSpPr>
        <p:spPr>
          <a:xfrm>
            <a:off x="8101584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61" name="Shape 58"/>
          <p:cNvSpPr/>
          <p:nvPr/>
        </p:nvSpPr>
        <p:spPr>
          <a:xfrm>
            <a:off x="8211312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62" name="Text 59"/>
          <p:cNvSpPr txBox="1"/>
          <p:nvPr/>
        </p:nvSpPr>
        <p:spPr>
          <a:xfrm>
            <a:off x="8211312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10</a:t>
            </a:r>
            <a:endParaRPr lang="en-US" sz="1000" dirty="0"/>
          </a:p>
        </p:txBody>
      </p:sp>
      <p:sp>
        <p:nvSpPr>
          <p:cNvPr id="63" name="Shape 60"/>
          <p:cNvSpPr/>
          <p:nvPr/>
        </p:nvSpPr>
        <p:spPr>
          <a:xfrm>
            <a:off x="8604504" y="4279392"/>
            <a:ext cx="709574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64" name="Text 61"/>
          <p:cNvSpPr txBox="1"/>
          <p:nvPr/>
        </p:nvSpPr>
        <p:spPr>
          <a:xfrm>
            <a:off x="8604504" y="4279392"/>
            <a:ext cx="70957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 · L09</a:t>
            </a:r>
            <a:endParaRPr lang="en-US" sz="800" dirty="0"/>
          </a:p>
        </p:txBody>
      </p:sp>
      <p:sp>
        <p:nvSpPr>
          <p:cNvPr id="65" name="Shape 62"/>
          <p:cNvSpPr/>
          <p:nvPr/>
        </p:nvSpPr>
        <p:spPr>
          <a:xfrm>
            <a:off x="10872216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6" name="Text 63"/>
          <p:cNvSpPr txBox="1"/>
          <p:nvPr/>
        </p:nvSpPr>
        <p:spPr>
          <a:xfrm>
            <a:off x="10872216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67" name="Text 64"/>
          <p:cNvSpPr txBox="1"/>
          <p:nvPr/>
        </p:nvSpPr>
        <p:spPr>
          <a:xfrm>
            <a:off x="8211312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6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أَذْهَبُ إِلَى المَدْرَسَةِ بِالحَافِلَةِ</a:t>
            </a:r>
            <a:endParaRPr lang="ar-SA" sz="2650" dirty="0"/>
          </a:p>
        </p:txBody>
      </p:sp>
      <p:sp>
        <p:nvSpPr>
          <p:cNvPr id="68" name="Text 65"/>
          <p:cNvSpPr txBox="1"/>
          <p:nvPr/>
        </p:nvSpPr>
        <p:spPr>
          <a:xfrm>
            <a:off x="8238744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go to school by bus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adh-ha-bu i-lā al-mad-ra-sa-ti bil-ḥā-fi-la-ti</a:t>
            </a:r>
            <a:endParaRPr lang="en-US" sz="1350" dirty="0"/>
          </a:p>
        </p:txBody>
      </p:sp>
      <p:sp>
        <p:nvSpPr>
          <p:cNvPr id="69" name="Shape 66"/>
          <p:cNvSpPr/>
          <p:nvPr/>
        </p:nvSpPr>
        <p:spPr>
          <a:xfrm>
            <a:off x="9966960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70" name="Text 67"/>
          <p:cNvSpPr txBox="1"/>
          <p:nvPr/>
        </p:nvSpPr>
        <p:spPr>
          <a:xfrm>
            <a:off x="10021824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it takes</a:t>
            </a:r>
            <a:endParaRPr lang="en-US" sz="700" dirty="0"/>
          </a:p>
        </p:txBody>
      </p:sp>
      <p:sp>
        <p:nvSpPr>
          <p:cNvPr id="71" name="Text 68"/>
          <p:cNvSpPr txBox="1"/>
          <p:nvPr/>
        </p:nvSpPr>
        <p:spPr>
          <a:xfrm>
            <a:off x="10012680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تَسْتَغْرِقُ الرِّحْلَةُ</a:t>
            </a:r>
            <a:endParaRPr lang="ar-SA" sz="1350" dirty="0"/>
          </a:p>
        </p:txBody>
      </p:sp>
      <p:sp>
        <p:nvSpPr>
          <p:cNvPr id="72" name="Shape 69"/>
          <p:cNvSpPr/>
          <p:nvPr/>
        </p:nvSpPr>
        <p:spPr>
          <a:xfrm>
            <a:off x="8238744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73" name="Text 70"/>
          <p:cNvSpPr txBox="1"/>
          <p:nvPr/>
        </p:nvSpPr>
        <p:spPr>
          <a:xfrm>
            <a:off x="8293608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on foot</a:t>
            </a:r>
            <a:endParaRPr lang="en-US" sz="700" dirty="0"/>
          </a:p>
        </p:txBody>
      </p:sp>
      <p:sp>
        <p:nvSpPr>
          <p:cNvPr id="74" name="Text 71"/>
          <p:cNvSpPr txBox="1"/>
          <p:nvPr/>
        </p:nvSpPr>
        <p:spPr>
          <a:xfrm>
            <a:off x="8284464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مَشْيًا عَلَى الأَقْدَامِ</a:t>
            </a:r>
            <a:endParaRPr lang="ar-SA" sz="1350" dirty="0"/>
          </a:p>
        </p:txBody>
      </p:sp>
      <p:sp>
        <p:nvSpPr>
          <p:cNvPr id="75" name="Shape 72"/>
          <p:cNvSpPr/>
          <p:nvPr/>
        </p:nvSpPr>
        <p:spPr>
          <a:xfrm>
            <a:off x="4279392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76" name="Shape 73"/>
          <p:cNvSpPr/>
          <p:nvPr/>
        </p:nvSpPr>
        <p:spPr>
          <a:xfrm>
            <a:off x="4389120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77" name="Text 74"/>
          <p:cNvSpPr txBox="1"/>
          <p:nvPr/>
        </p:nvSpPr>
        <p:spPr>
          <a:xfrm>
            <a:off x="4389120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11</a:t>
            </a:r>
            <a:endParaRPr lang="en-US" sz="1000" dirty="0"/>
          </a:p>
        </p:txBody>
      </p:sp>
      <p:sp>
        <p:nvSpPr>
          <p:cNvPr id="78" name="Shape 75"/>
          <p:cNvSpPr/>
          <p:nvPr/>
        </p:nvSpPr>
        <p:spPr>
          <a:xfrm>
            <a:off x="4782312" y="4279392"/>
            <a:ext cx="958291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79" name="Text 76"/>
          <p:cNvSpPr txBox="1"/>
          <p:nvPr/>
        </p:nvSpPr>
        <p:spPr>
          <a:xfrm>
            <a:off x="4782312" y="4279392"/>
            <a:ext cx="95829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time frames</a:t>
            </a:r>
            <a:endParaRPr lang="en-US" sz="800" dirty="0"/>
          </a:p>
        </p:txBody>
      </p:sp>
      <p:sp>
        <p:nvSpPr>
          <p:cNvPr id="80" name="Shape 77"/>
          <p:cNvSpPr/>
          <p:nvPr/>
        </p:nvSpPr>
        <p:spPr>
          <a:xfrm>
            <a:off x="7050024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81" name="Text 78"/>
          <p:cNvSpPr txBox="1"/>
          <p:nvPr/>
        </p:nvSpPr>
        <p:spPr>
          <a:xfrm>
            <a:off x="7050024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82" name="Text 79"/>
          <p:cNvSpPr txBox="1"/>
          <p:nvPr/>
        </p:nvSpPr>
        <p:spPr>
          <a:xfrm>
            <a:off x="4389120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كُنْتُ … أَمَّا الآنَ فَأَنَامُ …</a:t>
            </a:r>
            <a:endParaRPr lang="ar-SA" sz="3000" dirty="0"/>
          </a:p>
        </p:txBody>
      </p:sp>
      <p:sp>
        <p:nvSpPr>
          <p:cNvPr id="83" name="Text 80"/>
          <p:cNvSpPr txBox="1"/>
          <p:nvPr/>
        </p:nvSpPr>
        <p:spPr>
          <a:xfrm>
            <a:off x="4416552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used to … but now I sleep …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kun-tu … am-mā al-ʾā-na fa-ʾa-nā-mu …</a:t>
            </a:r>
            <a:endParaRPr lang="en-US" sz="1350" dirty="0"/>
          </a:p>
        </p:txBody>
      </p:sp>
      <p:sp>
        <p:nvSpPr>
          <p:cNvPr id="84" name="Shape 81"/>
          <p:cNvSpPr/>
          <p:nvPr/>
        </p:nvSpPr>
        <p:spPr>
          <a:xfrm>
            <a:off x="6144768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85" name="Text 82"/>
          <p:cNvSpPr txBox="1"/>
          <p:nvPr/>
        </p:nvSpPr>
        <p:spPr>
          <a:xfrm>
            <a:off x="6199632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 started</a:t>
            </a:r>
            <a:endParaRPr lang="en-US" sz="700" dirty="0"/>
          </a:p>
        </p:txBody>
      </p:sp>
      <p:sp>
        <p:nvSpPr>
          <p:cNvPr id="86" name="Text 83"/>
          <p:cNvSpPr txBox="1"/>
          <p:nvPr/>
        </p:nvSpPr>
        <p:spPr>
          <a:xfrm>
            <a:off x="6190488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بَدَأْتُ</a:t>
            </a:r>
            <a:endParaRPr lang="ar-SA" sz="1350" dirty="0"/>
          </a:p>
        </p:txBody>
      </p:sp>
      <p:sp>
        <p:nvSpPr>
          <p:cNvPr id="87" name="Shape 84"/>
          <p:cNvSpPr/>
          <p:nvPr/>
        </p:nvSpPr>
        <p:spPr>
          <a:xfrm>
            <a:off x="4416552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88" name="Text 85"/>
          <p:cNvSpPr txBox="1"/>
          <p:nvPr/>
        </p:nvSpPr>
        <p:spPr>
          <a:xfrm>
            <a:off x="4471416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 will</a:t>
            </a:r>
            <a:endParaRPr lang="en-US" sz="700" dirty="0"/>
          </a:p>
        </p:txBody>
      </p:sp>
      <p:sp>
        <p:nvSpPr>
          <p:cNvPr id="89" name="Text 86"/>
          <p:cNvSpPr txBox="1"/>
          <p:nvPr/>
        </p:nvSpPr>
        <p:spPr>
          <a:xfrm>
            <a:off x="4462272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سَوْفَ</a:t>
            </a:r>
            <a:endParaRPr lang="ar-SA" sz="1350" dirty="0"/>
          </a:p>
        </p:txBody>
      </p:sp>
      <p:sp>
        <p:nvSpPr>
          <p:cNvPr id="90" name="Shape 87"/>
          <p:cNvSpPr/>
          <p:nvPr/>
        </p:nvSpPr>
        <p:spPr>
          <a:xfrm>
            <a:off x="457200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91" name="Shape 88"/>
          <p:cNvSpPr/>
          <p:nvPr/>
        </p:nvSpPr>
        <p:spPr>
          <a:xfrm>
            <a:off x="566928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92" name="Text 89"/>
          <p:cNvSpPr txBox="1"/>
          <p:nvPr/>
        </p:nvSpPr>
        <p:spPr>
          <a:xfrm>
            <a:off x="566928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12</a:t>
            </a:r>
            <a:endParaRPr lang="en-US" sz="1000" dirty="0"/>
          </a:p>
        </p:txBody>
      </p:sp>
      <p:sp>
        <p:nvSpPr>
          <p:cNvPr id="93" name="Shape 90"/>
          <p:cNvSpPr/>
          <p:nvPr/>
        </p:nvSpPr>
        <p:spPr>
          <a:xfrm>
            <a:off x="960120" y="4279392"/>
            <a:ext cx="771754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94" name="Text 91"/>
          <p:cNvSpPr txBox="1"/>
          <p:nvPr/>
        </p:nvSpPr>
        <p:spPr>
          <a:xfrm>
            <a:off x="960120" y="4279392"/>
            <a:ext cx="77175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top band</a:t>
            </a:r>
            <a:endParaRPr lang="en-US" sz="800" dirty="0"/>
          </a:p>
        </p:txBody>
      </p:sp>
      <p:sp>
        <p:nvSpPr>
          <p:cNvPr id="95" name="Shape 92"/>
          <p:cNvSpPr/>
          <p:nvPr/>
        </p:nvSpPr>
        <p:spPr>
          <a:xfrm>
            <a:off x="3227832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96" name="Text 93"/>
          <p:cNvSpPr txBox="1"/>
          <p:nvPr/>
        </p:nvSpPr>
        <p:spPr>
          <a:xfrm>
            <a:off x="3227832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97" name="Text 94"/>
          <p:cNvSpPr txBox="1"/>
          <p:nvPr/>
        </p:nvSpPr>
        <p:spPr>
          <a:xfrm>
            <a:off x="566928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صَحِيحٌ أَنَّ … غَيْرَ أَنَّ …</a:t>
            </a:r>
            <a:endParaRPr lang="ar-SA" sz="3000" dirty="0"/>
          </a:p>
        </p:txBody>
      </p:sp>
      <p:sp>
        <p:nvSpPr>
          <p:cNvPr id="98" name="Text 95"/>
          <p:cNvSpPr txBox="1"/>
          <p:nvPr/>
        </p:nvSpPr>
        <p:spPr>
          <a:xfrm>
            <a:off x="594360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it is true that … but …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ṣa-ḥī-ḥun an-na … ghay-ra an-na …</a:t>
            </a:r>
            <a:endParaRPr lang="en-US" sz="1350" dirty="0"/>
          </a:p>
        </p:txBody>
      </p:sp>
      <p:sp>
        <p:nvSpPr>
          <p:cNvPr id="99" name="Shape 96"/>
          <p:cNvSpPr/>
          <p:nvPr/>
        </p:nvSpPr>
        <p:spPr>
          <a:xfrm>
            <a:off x="2322576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00" name="Text 97"/>
          <p:cNvSpPr txBox="1"/>
          <p:nvPr/>
        </p:nvSpPr>
        <p:spPr>
          <a:xfrm>
            <a:off x="2377440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which (result)</a:t>
            </a:r>
            <a:endParaRPr lang="en-US" sz="700" dirty="0"/>
          </a:p>
        </p:txBody>
      </p:sp>
      <p:sp>
        <p:nvSpPr>
          <p:cNvPr id="101" name="Text 98"/>
          <p:cNvSpPr txBox="1"/>
          <p:nvPr/>
        </p:nvSpPr>
        <p:spPr>
          <a:xfrm>
            <a:off x="2368296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مِمَّا</a:t>
            </a:r>
            <a:endParaRPr lang="ar-SA" sz="1350" dirty="0"/>
          </a:p>
        </p:txBody>
      </p:sp>
      <p:sp>
        <p:nvSpPr>
          <p:cNvPr id="102" name="Shape 99"/>
          <p:cNvSpPr/>
          <p:nvPr/>
        </p:nvSpPr>
        <p:spPr>
          <a:xfrm>
            <a:off x="594360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03" name="Text 100"/>
          <p:cNvSpPr txBox="1"/>
          <p:nvPr/>
        </p:nvSpPr>
        <p:spPr>
          <a:xfrm>
            <a:off x="649224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if … would</a:t>
            </a:r>
            <a:endParaRPr lang="en-US" sz="700" dirty="0"/>
          </a:p>
        </p:txBody>
      </p:sp>
      <p:sp>
        <p:nvSpPr>
          <p:cNvPr id="104" name="Text 101"/>
          <p:cNvSpPr txBox="1"/>
          <p:nvPr/>
        </p:nvSpPr>
        <p:spPr>
          <a:xfrm>
            <a:off x="640080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كُنْتُ طَبِيبًا لَنَصَحْتُ</a:t>
            </a:r>
            <a:endParaRPr lang="ar-SA" sz="1350" dirty="0"/>
          </a:p>
        </p:txBody>
      </p:sp>
      <p:sp>
        <p:nvSpPr>
          <p:cNvPr id="105" name="Text 10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6 / 25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FR-L01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3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BREAKOUT ROOMS · HOW WE WORK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Examiner · candidate · observer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الغُرَفِ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Final Revision · Speaking workshop · FR-L01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5715000" cy="4498848"/>
          </a:xfrm>
          <a:prstGeom prst="roundRect">
            <a:avLst>
              <a:gd name="adj" fmla="val 1626"/>
            </a:avLst>
          </a:prstGeom>
          <a:solidFill>
            <a:srgbClr val="F4F1EA"/>
          </a:solidFill>
          <a:ln w="9525">
            <a:solidFill>
              <a:srgbClr val="E8D49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40080" y="1920240"/>
            <a:ext cx="3108960" cy="292608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40080" y="192024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BREAKOUT ROUTINE</a:t>
            </a:r>
            <a:endParaRPr lang="en-US" sz="900" dirty="0"/>
          </a:p>
        </p:txBody>
      </p:sp>
      <p:sp>
        <p:nvSpPr>
          <p:cNvPr id="18" name="Text 15"/>
          <p:cNvSpPr txBox="1"/>
          <p:nvPr/>
        </p:nvSpPr>
        <p:spPr>
          <a:xfrm>
            <a:off x="640080" y="2286000"/>
            <a:ext cx="5349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🎧  Three jobs, then swap</a:t>
            </a:r>
            <a:endParaRPr lang="en-US" sz="2200" dirty="0"/>
          </a:p>
        </p:txBody>
      </p:sp>
      <p:sp>
        <p:nvSpPr>
          <p:cNvPr id="19" name="Text 16"/>
          <p:cNvSpPr txBox="1"/>
          <p:nvPr/>
        </p:nvSpPr>
        <p:spPr>
          <a:xfrm>
            <a:off x="640080" y="2816352"/>
            <a:ext cx="5349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Rooms of three. A = examiner (reads the questions only). B = candidate (answers from the task card). C = observer (ticks the checklist and gives one WWW and one EBI).</a:t>
            </a:r>
            <a:endParaRPr lang="en-US" sz="1350" dirty="0"/>
          </a:p>
        </p:txBody>
      </p:sp>
      <p:sp>
        <p:nvSpPr>
          <p:cNvPr id="20" name="Text 17"/>
          <p:cNvSpPr txBox="1"/>
          <p:nvPr/>
        </p:nvSpPr>
        <p:spPr>
          <a:xfrm>
            <a:off x="640080" y="4041648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HOW WE RUN IT ONLINE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658368" y="44074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58368" y="44074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1024128" y="43342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1 minute: the candidate reads the card and plans (no writing full sentences).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658368" y="48646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58368" y="48646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1024128" y="47914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About 3 minutes: the role play — the examiner reads every question in order.</a:t>
            </a:r>
            <a:endParaRPr lang="en-US" sz="1150" dirty="0"/>
          </a:p>
        </p:txBody>
      </p:sp>
      <p:sp>
        <p:nvSpPr>
          <p:cNvPr id="27" name="Shape 24"/>
          <p:cNvSpPr/>
          <p:nvPr/>
        </p:nvSpPr>
        <p:spPr>
          <a:xfrm>
            <a:off x="658368" y="53218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658368" y="53218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000" dirty="0"/>
          </a:p>
        </p:txBody>
      </p:sp>
      <p:sp>
        <p:nvSpPr>
          <p:cNvPr id="29" name="Text 26"/>
          <p:cNvSpPr txBox="1"/>
          <p:nvPr/>
        </p:nvSpPr>
        <p:spPr>
          <a:xfrm>
            <a:off x="1024128" y="52486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1 minute: the observer gives feedback (WWW + EBI).</a:t>
            </a:r>
            <a:endParaRPr lang="en-US" sz="1150" dirty="0"/>
          </a:p>
        </p:txBody>
      </p:sp>
      <p:sp>
        <p:nvSpPr>
          <p:cNvPr id="30" name="Shape 27"/>
          <p:cNvSpPr/>
          <p:nvPr/>
        </p:nvSpPr>
        <p:spPr>
          <a:xfrm>
            <a:off x="658368" y="57790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658368" y="57790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000" dirty="0"/>
          </a:p>
        </p:txBody>
      </p:sp>
      <p:sp>
        <p:nvSpPr>
          <p:cNvPr id="32" name="Text 29"/>
          <p:cNvSpPr txBox="1"/>
          <p:nvPr/>
        </p:nvSpPr>
        <p:spPr>
          <a:xfrm>
            <a:off x="1024128" y="57058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Swap jobs and do the next role play. Then the topic conversation.</a:t>
            </a:r>
            <a:endParaRPr lang="en-US" sz="1150" dirty="0"/>
          </a:p>
        </p:txBody>
      </p:sp>
      <p:sp>
        <p:nvSpPr>
          <p:cNvPr id="33" name="Shape 30"/>
          <p:cNvSpPr/>
          <p:nvPr/>
        </p:nvSpPr>
        <p:spPr>
          <a:xfrm>
            <a:off x="6355080" y="181051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E9F5EE"/>
          </a:solidFill>
          <a:ln w="9525">
            <a:solidFill>
              <a:srgbClr val="2E8B5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6473952" y="190195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6473952" y="190195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50" dirty="0"/>
          </a:p>
        </p:txBody>
      </p:sp>
      <p:sp>
        <p:nvSpPr>
          <p:cNvPr id="36" name="Text 33"/>
          <p:cNvSpPr txBox="1"/>
          <p:nvPr/>
        </p:nvSpPr>
        <p:spPr>
          <a:xfrm>
            <a:off x="6473952" y="217627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A and B, with the help column. Conversation: Core questions.</a:t>
            </a:r>
            <a:endParaRPr lang="en-US" sz="1150" dirty="0"/>
          </a:p>
        </p:txBody>
      </p:sp>
      <p:sp>
        <p:nvSpPr>
          <p:cNvPr id="37" name="Shape 34"/>
          <p:cNvSpPr/>
          <p:nvPr/>
        </p:nvSpPr>
        <p:spPr>
          <a:xfrm>
            <a:off x="6355080" y="281635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FCF1E0"/>
          </a:solidFill>
          <a:ln w="9525">
            <a:solidFill>
              <a:srgbClr val="C9780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8" name="Shape 35"/>
          <p:cNvSpPr/>
          <p:nvPr/>
        </p:nvSpPr>
        <p:spPr>
          <a:xfrm>
            <a:off x="6473952" y="290779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6473952" y="290779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50" dirty="0"/>
          </a:p>
        </p:txBody>
      </p:sp>
      <p:sp>
        <p:nvSpPr>
          <p:cNvPr id="40" name="Text 37"/>
          <p:cNvSpPr txBox="1"/>
          <p:nvPr/>
        </p:nvSpPr>
        <p:spPr>
          <a:xfrm>
            <a:off x="6473952" y="318211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B and C, help column covered. Conversation: Core + Develop questions.</a:t>
            </a:r>
            <a:endParaRPr lang="en-US" sz="1150" dirty="0"/>
          </a:p>
        </p:txBody>
      </p:sp>
      <p:sp>
        <p:nvSpPr>
          <p:cNvPr id="41" name="Shape 38"/>
          <p:cNvSpPr/>
          <p:nvPr/>
        </p:nvSpPr>
        <p:spPr>
          <a:xfrm>
            <a:off x="6355080" y="382219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FBEAEA"/>
          </a:solidFill>
          <a:ln w="9525">
            <a:solidFill>
              <a:srgbClr val="B8322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2" name="Shape 39"/>
          <p:cNvSpPr/>
          <p:nvPr/>
        </p:nvSpPr>
        <p:spPr>
          <a:xfrm>
            <a:off x="6473952" y="391363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6473952" y="391363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850" dirty="0"/>
          </a:p>
        </p:txBody>
      </p:sp>
      <p:sp>
        <p:nvSpPr>
          <p:cNvPr id="44" name="Text 41"/>
          <p:cNvSpPr txBox="1"/>
          <p:nvPr/>
        </p:nvSpPr>
        <p:spPr>
          <a:xfrm>
            <a:off x="6473952" y="418795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C and D, no help. Conversation: Develop + Stretch questions, push with “why?”.</a:t>
            </a:r>
            <a:endParaRPr lang="en-US" sz="1150" dirty="0"/>
          </a:p>
        </p:txBody>
      </p:sp>
      <p:sp>
        <p:nvSpPr>
          <p:cNvPr id="45" name="Shape 42"/>
          <p:cNvSpPr/>
          <p:nvPr/>
        </p:nvSpPr>
        <p:spPr>
          <a:xfrm>
            <a:off x="6355080" y="4828032"/>
            <a:ext cx="5376672" cy="1481328"/>
          </a:xfrm>
          <a:prstGeom prst="roundRect">
            <a:avLst>
              <a:gd name="adj" fmla="val 493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6" name="Text 43"/>
          <p:cNvSpPr txBox="1"/>
          <p:nvPr/>
        </p:nvSpPr>
        <p:spPr>
          <a:xfrm>
            <a:off x="6492240" y="488289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USEFUL LANGUAGE</a:t>
            </a:r>
            <a:endParaRPr lang="en-US" sz="950" dirty="0"/>
          </a:p>
        </p:txBody>
      </p:sp>
      <p:sp>
        <p:nvSpPr>
          <p:cNvPr id="47" name="Text 44"/>
          <p:cNvSpPr txBox="1"/>
          <p:nvPr/>
        </p:nvSpPr>
        <p:spPr>
          <a:xfrm>
            <a:off x="8732520" y="5138928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دَوْرُكَ!</a:t>
            </a:r>
            <a:endParaRPr lang="ar-SA" sz="1300" dirty="0"/>
          </a:p>
        </p:txBody>
      </p:sp>
      <p:sp>
        <p:nvSpPr>
          <p:cNvPr id="48" name="Text 45"/>
          <p:cNvSpPr txBox="1"/>
          <p:nvPr/>
        </p:nvSpPr>
        <p:spPr>
          <a:xfrm>
            <a:off x="6492240" y="5138928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your turn!</a:t>
            </a:r>
            <a:endParaRPr lang="en-US" sz="1000" dirty="0"/>
          </a:p>
        </p:txBody>
      </p:sp>
      <p:sp>
        <p:nvSpPr>
          <p:cNvPr id="49" name="Text 46"/>
          <p:cNvSpPr txBox="1"/>
          <p:nvPr/>
        </p:nvSpPr>
        <p:spPr>
          <a:xfrm>
            <a:off x="8732520" y="5422392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أَحْسَنْتَ! / أَحْسَنْتِ!</a:t>
            </a:r>
            <a:endParaRPr lang="ar-SA" sz="1300" dirty="0"/>
          </a:p>
        </p:txBody>
      </p:sp>
      <p:sp>
        <p:nvSpPr>
          <p:cNvPr id="50" name="Text 47"/>
          <p:cNvSpPr txBox="1"/>
          <p:nvPr/>
        </p:nvSpPr>
        <p:spPr>
          <a:xfrm>
            <a:off x="6492240" y="5422392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well done! (m. / f.)</a:t>
            </a:r>
            <a:endParaRPr lang="en-US" sz="1000" dirty="0"/>
          </a:p>
        </p:txBody>
      </p:sp>
      <p:sp>
        <p:nvSpPr>
          <p:cNvPr id="51" name="Text 48"/>
          <p:cNvSpPr txBox="1"/>
          <p:nvPr/>
        </p:nvSpPr>
        <p:spPr>
          <a:xfrm>
            <a:off x="8732520" y="5705856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تَكَلَّمْ أَكْثَرَ، مِنْ فَضْلِكَ</a:t>
            </a:r>
            <a:endParaRPr lang="ar-SA" sz="1300" dirty="0"/>
          </a:p>
        </p:txBody>
      </p:sp>
      <p:sp>
        <p:nvSpPr>
          <p:cNvPr id="52" name="Text 49"/>
          <p:cNvSpPr txBox="1"/>
          <p:nvPr/>
        </p:nvSpPr>
        <p:spPr>
          <a:xfrm>
            <a:off x="6492240" y="5705856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more, please</a:t>
            </a:r>
            <a:endParaRPr lang="en-US" sz="1000" dirty="0"/>
          </a:p>
        </p:txBody>
      </p:sp>
      <p:sp>
        <p:nvSpPr>
          <p:cNvPr id="53" name="Text 50"/>
          <p:cNvSpPr txBox="1"/>
          <p:nvPr/>
        </p:nvSpPr>
        <p:spPr>
          <a:xfrm>
            <a:off x="8732520" y="5989320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لِمَاذَا؟</a:t>
            </a:r>
            <a:endParaRPr lang="ar-SA" sz="1300" dirty="0"/>
          </a:p>
        </p:txBody>
      </p:sp>
      <p:sp>
        <p:nvSpPr>
          <p:cNvPr id="54" name="Text 51"/>
          <p:cNvSpPr txBox="1"/>
          <p:nvPr/>
        </p:nvSpPr>
        <p:spPr>
          <a:xfrm>
            <a:off x="6492240" y="5989320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why?</a:t>
            </a:r>
            <a:endParaRPr lang="en-US" sz="1000" dirty="0"/>
          </a:p>
        </p:txBody>
      </p:sp>
      <p:sp>
        <p:nvSpPr>
          <p:cNvPr id="55" name="Text 5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7 / 25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FR-L01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A · CORE · A CAFÉ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A — Ordering at a café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المَقْهَى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Final Revision · Speaking workshop · FR-L01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نَحْنُ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how many people.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أَهْلًا وَسَهْلًا! كَمْ شَخْصًا؟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أُرِيدُ … مِنْ فَضْلِكَ</a:t>
            </a:r>
            <a:endParaRPr lang="ar-SA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Order food.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تَفَضَّلُوا. مَاذَا تُرِيدُ أَنْ تَأْكُلَ؟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305043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305043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أَشْرَبُ …</a:t>
            </a:r>
            <a:endParaRPr lang="ar-SA" sz="1500" dirty="0"/>
          </a:p>
        </p:txBody>
      </p:sp>
      <p:sp>
        <p:nvSpPr>
          <p:cNvPr id="36" name="Text 33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Order a drink.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وَمَاذَا تَشْرَبُ؟</a:t>
            </a:r>
            <a:endParaRPr lang="ar-SA" sz="17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11091672" y="3787445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11091672" y="3787445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1" name="Shape 38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كَمِ …؟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Ask the price.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حَسَنًا.</a:t>
            </a:r>
            <a:endParaRPr lang="ar-SA" sz="1700" dirty="0"/>
          </a:p>
        </p:txBody>
      </p:sp>
      <p:sp>
        <p:nvSpPr>
          <p:cNvPr id="45" name="Text 42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6" name="Shape 43"/>
          <p:cNvSpPr/>
          <p:nvPr/>
        </p:nvSpPr>
        <p:spPr>
          <a:xfrm>
            <a:off x="11091672" y="4524451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11091672" y="4524451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8" name="Shape 45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لَا، آكُلُ فِي المَطْعَمِ مَرَّةً فِي …</a:t>
            </a:r>
            <a:endParaRPr lang="ar-SA" sz="1500" dirty="0"/>
          </a:p>
        </p:txBody>
      </p:sp>
      <p:sp>
        <p:nvSpPr>
          <p:cNvPr id="50" name="Text 47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question.</a:t>
            </a:r>
            <a:endParaRPr lang="en-US" sz="1100" dirty="0"/>
          </a:p>
        </p:txBody>
      </p:sp>
      <p:sp>
        <p:nvSpPr>
          <p:cNvPr id="51" name="Text 48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خَمْسَةَ عَشَرَ جُنَيْهًا. هَلْ تَأْكُلُ فِي المَطَاعِمِ كَثِيرًا؟</a:t>
            </a:r>
            <a:endParaRPr lang="ar-SA" sz="1700" dirty="0"/>
          </a:p>
        </p:txBody>
      </p:sp>
      <p:sp>
        <p:nvSpPr>
          <p:cNvPr id="52" name="Text 49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53" name="Shape 50"/>
          <p:cNvSpPr/>
          <p:nvPr/>
        </p:nvSpPr>
        <p:spPr>
          <a:xfrm>
            <a:off x="11091672" y="526145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11091672" y="526145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55" name="Text 5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customer  ·  The examiner is: the waiter  ·  ! = unexpected question: listen carefully.</a:t>
            </a:r>
            <a:endParaRPr lang="en-US" sz="1150" dirty="0"/>
          </a:p>
        </p:txBody>
      </p:sp>
      <p:sp>
        <p:nvSpPr>
          <p:cNvPr id="56" name="Text 5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8 / 25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FR-L01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B · CORE+ · A PHARMACY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B — At the pharmacy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الصَّيْدَلِيَّةِ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Final Revision · Speaking workshop · FR-L01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يُؤْلِمُنِي … وَعِنْدِي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what is wrong.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صَبَاحَ الخَيْرِ، مَاذَا بِكَ؟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مُنْذُ …</a:t>
            </a:r>
            <a:endParaRPr lang="ar-SA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for how long.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مُنْذُ مَتَى؟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305043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305043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 / لَا، أَخَذْتُ … / شَرِبْتُ …</a:t>
            </a:r>
            <a:endParaRPr lang="ar-SA" sz="1500" dirty="0"/>
          </a:p>
        </p:txBody>
      </p:sp>
      <p:sp>
        <p:nvSpPr>
          <p:cNvPr id="36" name="Text 33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in the past.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أَخَذْتَ دَوَاءً؟</a:t>
            </a:r>
            <a:endParaRPr lang="ar-SA" sz="17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كَمْ مَرَّةً …؟</a:t>
            </a:r>
            <a:endParaRPr lang="ar-SA" sz="1500" dirty="0"/>
          </a:p>
        </p:txBody>
      </p:sp>
      <p:sp>
        <p:nvSpPr>
          <p:cNvPr id="41" name="Text 38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ASK how often to take it.</a:t>
            </a:r>
            <a:endParaRPr lang="en-US" sz="110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خُذْ هٰذَا الدَّوَاءَ.</a:t>
            </a:r>
            <a:endParaRPr lang="ar-SA" sz="17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4" name="Shape 41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لَا، سَأَبْقَى … لِأَنَّ …</a:t>
            </a:r>
            <a:endParaRPr lang="ar-SA" sz="1500" dirty="0"/>
          </a:p>
        </p:txBody>
      </p:sp>
      <p:sp>
        <p:nvSpPr>
          <p:cNvPr id="46" name="Text 43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 (future + reason).</a:t>
            </a:r>
            <a:endParaRPr lang="en-US" sz="1100" dirty="0"/>
          </a:p>
        </p:txBody>
      </p:sp>
      <p:sp>
        <p:nvSpPr>
          <p:cNvPr id="47" name="Text 44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ثَلَاثَ مَرَّاتٍ بَعْدَ الأَكْلِ. هَلْ تَذْهَبُ إِلَى المَدْرَسَةِ غَدًا؟</a:t>
            </a:r>
            <a:endParaRPr lang="ar-SA" sz="1650" dirty="0"/>
          </a:p>
        </p:txBody>
      </p:sp>
      <p:sp>
        <p:nvSpPr>
          <p:cNvPr id="48" name="Text 45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49" name="Text 46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teenager who feels ill  ·  The examiner is: the pharmacist  ·  ! = unexpected question: listen carefully.</a:t>
            </a:r>
            <a:endParaRPr lang="en-US" sz="1150" dirty="0"/>
          </a:p>
        </p:txBody>
      </p:sp>
      <p:sp>
        <p:nvSpPr>
          <p:cNvPr id="50" name="Text 47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9 / 25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FR-L01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C · DEVELOP · A WELLBEING CHECK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C — My routine and my health</a:t>
            </a:r>
            <a:endParaRPr lang="en-US" sz="25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رُوتِينِي وَصِحَّتِي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Final Revision · Speaking workshop · FR-L01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أَسْتَيْقِظُ فِي … ثُمَّ … وَبَعْدَ ذٰلِكَ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Describe a routine with times and sequence.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صِفْ يَوْمًا عَادِيًّا فِي الأُسْبُوعِ.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آكُلُ … دَائِمًا، وَ… أَحْيَانًا، لٰكِنِّي لَا … أَبَدًا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Describe your diet with frequency.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وَكَيْفَ تَأْكُلُ؟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كُنْتُ … أَمَّا الآنَ فَأَنَامُ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Contrast past and present.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تَغَيَّرَتْ عَادَاتُكَ هٰذِهِ السَّنَةَ؟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أَلْعَبُ … مَرَّتَيْنِ فِي الأُسْبُوعِ، لِأَنَّ … مِمَّا …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Give frequency, reason and result.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تُمَارِسُ الرِّيَاضَةَ؟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نَمْ … وَكُلْ … وَلَا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 (imperatives).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نَصِيحَتُكَ لِطَالِبٍ مُتْعَبٍ قَبْلَ الامْتِحَانَاتِ؟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Year 11 student  ·  The examiner is: the school wellbeing officer  ·  ! = unexpected question: listen carefully.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10 / 25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FR-L01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D · STRETCH · A RADIO PHONE-IN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D — Are teenagers’ lifestyles healthy?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نَمَطُ حَيَاةِ المُرَاهِقِينَ صِحِّيٌّ؟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Final Revision · Speaking workshop · FR-L01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أُوَافِقُ … ؛ فَالدَّلِيلُ أَنَّ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Agree with a reason and evidence.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يَقُولُ الأَطِبَّاءُ إِنَّ المُرَاهِقِينَ يَنَامُونَ قَلِيلًا. مَا رَأْيُكَ؟</a:t>
            </a:r>
            <a:endParaRPr lang="ar-SA" sz="155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مِنْ نَاحِيَةٍ … وَمِنْ نَاحِيَةٍ أُخْرَى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Balance: advantages and risks.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وَالطَّعَامُ السَّرِيعُ؟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فِي … قَرَّرْتُ أَنْ … فَصِرْتُ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Narrate a change with a result.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غَيَّرْتَ أَنْتَ شَيْئًا فِي حَيَاتِكَ؟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صَحِيحٌ أَنَّ … غَيْرَ أَنَّ … ؛ لِذٰلِكَ أَقْتَرِحُ أَنْ …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Concede and propose.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لٰكِنَّ الطُّلَّابَ لَيْسَ عِنْدَهُمْ وَقْتٌ!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كُنْتُ …، لَمَنَعْتُ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 (law … la-).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كُنْتَ وَزِيرَ الصِّحَّةِ، مَاذَا تَفْعَلُ؟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teenage caller  ·  The examiner is: the radio presenter  ·  ! = unexpected question: listen carefully.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11 / 25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FR-L01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OBSERVER · FEEDBACK CHECKLIST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Observer: tick and give feedback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وَرَقَةُ المُلَاحِظِ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Final Revision · Speaking workshop · FR-L01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759952" y="1810512"/>
            <a:ext cx="28986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Example you heard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7662672" y="1810512"/>
            <a:ext cx="9509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✓ / ✗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6199632" y="1810512"/>
            <a:ext cx="1316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Route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55229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candidate …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796528" y="2267712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7699248" y="2267712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6236208" y="2267712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answered EVERY task, including the unexpected one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2881884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796528" y="2881884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7699248" y="2881884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6236208" y="2881884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11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2881884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answered every role-play task in a full sentence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2927604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2927604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496056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796528" y="3496056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6" name="Text 33"/>
          <p:cNvSpPr txBox="1"/>
          <p:nvPr/>
        </p:nvSpPr>
        <p:spPr>
          <a:xfrm>
            <a:off x="7699248" y="3496056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6236208" y="3496056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496056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used a frequency word, a reason and two time frames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4110228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8796528" y="4110228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1" name="Text 38"/>
          <p:cNvSpPr txBox="1"/>
          <p:nvPr/>
        </p:nvSpPr>
        <p:spPr>
          <a:xfrm>
            <a:off x="7699248" y="4110228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2" name="Text 39"/>
          <p:cNvSpPr txBox="1"/>
          <p:nvPr/>
        </p:nvSpPr>
        <p:spPr>
          <a:xfrm>
            <a:off x="6236208" y="4110228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4110228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gave a reason (li-anna) or an opinion (fī ra’yī)</a:t>
            </a:r>
            <a:endParaRPr lang="en-US" sz="1100" dirty="0"/>
          </a:p>
        </p:txBody>
      </p:sp>
      <p:sp>
        <p:nvSpPr>
          <p:cNvPr id="44" name="Shape 41"/>
          <p:cNvSpPr/>
          <p:nvPr/>
        </p:nvSpPr>
        <p:spPr>
          <a:xfrm>
            <a:off x="457200" y="4724400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8796528" y="4724400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6" name="Text 43"/>
          <p:cNvSpPr txBox="1"/>
          <p:nvPr/>
        </p:nvSpPr>
        <p:spPr>
          <a:xfrm>
            <a:off x="7699248" y="4724400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7" name="Text 44"/>
          <p:cNvSpPr txBox="1"/>
          <p:nvPr/>
        </p:nvSpPr>
        <p:spPr>
          <a:xfrm>
            <a:off x="6236208" y="4724400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1100" dirty="0"/>
          </a:p>
        </p:txBody>
      </p:sp>
      <p:sp>
        <p:nvSpPr>
          <p:cNvPr id="48" name="Text 45"/>
          <p:cNvSpPr txBox="1"/>
          <p:nvPr/>
        </p:nvSpPr>
        <p:spPr>
          <a:xfrm>
            <a:off x="566928" y="4724400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used more than one time frame (past / future)</a:t>
            </a:r>
            <a:endParaRPr lang="en-US" sz="1100" dirty="0"/>
          </a:p>
        </p:txBody>
      </p:sp>
      <p:sp>
        <p:nvSpPr>
          <p:cNvPr id="49" name="Shape 46"/>
          <p:cNvSpPr/>
          <p:nvPr/>
        </p:nvSpPr>
        <p:spPr>
          <a:xfrm>
            <a:off x="457200" y="5338572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8796528" y="5338572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51" name="Text 48"/>
          <p:cNvSpPr txBox="1"/>
          <p:nvPr/>
        </p:nvSpPr>
        <p:spPr>
          <a:xfrm>
            <a:off x="7699248" y="5338572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52" name="Text 49"/>
          <p:cNvSpPr txBox="1"/>
          <p:nvPr/>
        </p:nvSpPr>
        <p:spPr>
          <a:xfrm>
            <a:off x="6236208" y="5338572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All</a:t>
            </a:r>
            <a:endParaRPr lang="en-US" sz="1100" dirty="0"/>
          </a:p>
        </p:txBody>
      </p:sp>
      <p:sp>
        <p:nvSpPr>
          <p:cNvPr id="53" name="Text 50"/>
          <p:cNvSpPr txBox="1"/>
          <p:nvPr/>
        </p:nvSpPr>
        <p:spPr>
          <a:xfrm>
            <a:off x="566928" y="5338572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kept going with a repair phrase instead of silence</a:t>
            </a:r>
            <a:endParaRPr lang="en-US" sz="1100" dirty="0"/>
          </a:p>
        </p:txBody>
      </p:sp>
      <p:sp>
        <p:nvSpPr>
          <p:cNvPr id="54" name="Text 5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Feedback in the room: one WWW (what went well) + one EBI (even better if …).</a:t>
            </a:r>
            <a:endParaRPr lang="en-US" sz="1150" dirty="0"/>
          </a:p>
        </p:txBody>
      </p:sp>
      <p:sp>
        <p:nvSpPr>
          <p:cNvPr id="55" name="Text 5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12 / 25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FR-L01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A · CORE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A: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Final Revision · Speaking workshop · FR-L01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نَحْنُ ثَلَاثَةٌ، مِنْ فَضْلِكَ.</a:t>
            </a:r>
            <a:endParaRPr lang="ar-SA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There are three of us, please.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أَهْلًا وَسَهْلًا! كَمْ شَخْصًا؟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أُرِيدُ سَلَطَةً وَدَجَاجًا مَشْوِيًّا، مِنْ فَضْلِكَ.</a:t>
            </a:r>
            <a:endParaRPr lang="ar-SA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I’d like a salad and grilled chicken, please.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تَفَضَّلُوا. مَاذَا تُرِيدُ أَنْ تَأْكُلَ؟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أَشْرَبُ عَصِيرَ بُرْتُقَالٍ.</a:t>
            </a:r>
            <a:endParaRPr lang="ar-SA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Orange juice.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وَمَاذَا تَشْرَبُ؟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كَمِ الثَّمَنُ؟</a:t>
            </a:r>
            <a:endParaRPr lang="ar-SA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How much is it?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حَسَنًا.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لَا، آكُلُ فِي المَطْعَمِ مَرَّةً فِي الشَّهْرِ.</a:t>
            </a:r>
            <a:endParaRPr lang="ar-SA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No, I eat out once a month.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خَمْسَةَ عَشَرَ جُنَيْهًا. هَلْ تَأْكُلُ فِي المَطَاعِمِ كَثِيرًا؟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Every task answered with a full sentence — short, clear and accurate is enough for the role play.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13 / 25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FR-L01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B · CORE+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B: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Final Revision · Speaking workshop · FR-L01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يُؤْلِمُنِي حَلْقِي، وَعِنْدِي حَرَارَةٌ.</a:t>
            </a:r>
            <a:endParaRPr lang="ar-SA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My throat hurts and I have a temperature.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صَبَاحَ الخَيْرِ، مَاذَا بِكَ؟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مُنْذُ يَوْمَيْنِ.</a:t>
            </a:r>
            <a:endParaRPr lang="ar-SA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For two days.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مُنْذُ مَتَى؟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لَا، لَمْ آخُذْ دَوَاءً، لٰكِنِّي شَرِبْتُ الشَّايَ بِالعَسَلِ.</a:t>
            </a:r>
            <a:endParaRPr lang="ar-SA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No, I didn’t take medicine, but I drank tea with honey.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أَخَذْتَ دَوَاءً؟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كَمْ مَرَّةً آخُذُهُ فِي اليَوْمِ؟</a:t>
            </a:r>
            <a:endParaRPr lang="ar-SA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How many times a day should I take it?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خُذْ هٰذَا الدَّوَاءَ.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لَا، سَأَبْقَى فِي البَيْتِ، لِأَنِّي أُرِيدُ أَنْ أَرْتَاحَ.</a:t>
            </a:r>
            <a:endParaRPr lang="ar-SA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No, I’ll stay home, because I want to rest.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ثَلَاثَ مَرَّاتٍ بَعْدَ الأَكْلِ. هَلْ تَذْهَبُ إِلَى المَدْرَسَةِ غَدًا؟</a:t>
            </a:r>
            <a:endParaRPr lang="ar-SA" sz="155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Every task answered with a full sentence — short, clear and accurate is enough for the role play.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14 / 25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FR-L01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C · DEVELOP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C: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Final Revision · Speaking workshop · FR-L01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أَسْتَيْقِظُ فِي السَّادِسَةِ وَالنِّصْفِ، ثُمَّ أُصَلِّي وَأُفْطِرُ، وَبَعْدَ ذٰلِكَ أَذْهَبُ إِلَى المَدْرَسَةِ بِالحَافِلَةِ، وَتَسْتَغْرِقُ الرِّحْلَةُ عِشْرِينَ دَقِيقَةً.</a:t>
            </a:r>
            <a:endParaRPr lang="ar-SA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wake at 6.30, pray and have breakfast, then take the bus to school — a twenty-minute journey.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صِفْ يَوْمًا عَادِيًّا فِي الأُسْبُوعِ.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آكُلُ الخُضَارَ وَالفَوَاكِهَ دَائِمًا، وَالحَلَوِيَّاتِ أَحْيَانًا، لٰكِنِّي لَا أَشْرَبُ المَشْرُوبَاتِ الغَازِيَّةَ أَبَدًا.</a:t>
            </a:r>
            <a:endParaRPr lang="ar-SA" sz="165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Vegetables and fruit always, sweets sometimes, but never fizzy drinks.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وَكَيْفَ تَأْكُلُ؟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كُنْتُ أَسْهَرُ عَلَى الهَاتِفِ حَتَّى مُنْتَصَفِ اللَّيْلِ، أَمَّا الآنَ فَأَنَامُ فِي العَاشِرَةِ، لِأَنَّ الامْتِحَانَاتِ قَرِيبَةٌ.</a:t>
            </a:r>
            <a:endParaRPr lang="ar-SA" sz="155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used to stay up on my phone till midnight; now I sleep at ten because exams are near.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تَغَيَّرَتْ عَادَاتُكَ هٰذِهِ السَّنَةَ؟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أَلْعَبُ كُرَةَ السَّلَّةِ مَرَّتَيْنِ فِي الأُسْبُوعِ، لِأَنَّهَا تُخَفِّفُ التَّوَتُّرَ، مِمَّا يُسَاعِدُنِي عَلَى التَّرْكِيزِ.</a:t>
            </a:r>
            <a:endParaRPr lang="ar-SA" sz="175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Basketball twice a week — it reduces stress, which helps me concentrate.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تُمَارِسُ الرِّيَاضَةَ؟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نَمْ ثَمَانِيَ سَاعَاتٍ، وَكُلْ فُطُورًا صِحِّيًّا، وَلَا تُرَاجِعْ طُولَ اللَّيْلِ.</a:t>
            </a:r>
            <a:endParaRPr lang="ar-SA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Sleep eight hours, eat a healthy breakfast, and don’t revise all night.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نَصِيحَتُكَ لِطَالِبٍ مُتْعَبٍ قَبْلَ الامْتِحَانَاتِ؟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Every task answered with a full sentence — short, clear and accurate is enough for the role play.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15 / 25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FR-L01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D · STRETCH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D: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Final Revision · Speaking workshop · FR-L01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أُوَافِقُ تَمَامًا؛ فَالدَّلِيلُ أَنَّ أَكْثَرَ زُمَلَائِي يَسْهَرُونَ عَلَى الشَّاشَاتِ، ثُمَّ يَأْتُونَ إِلَى المَدْرَسَةِ مُتْعَبِينَ.</a:t>
            </a:r>
            <a:endParaRPr lang="ar-SA" sz="16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agree: most classmates stay up on screens, then come to school exhausted.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4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يَقُولُ الأَطِبَّاءُ إِنَّ المُرَاهِقِينَ يَنَامُونَ قَلِيلًا. مَا رَأْيُكَ؟</a:t>
            </a:r>
            <a:endParaRPr lang="ar-SA" sz="145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مِنْ نَاحِيَةٍ، هُوَ سَرِيعٌ وَرَخِيصٌ، وَمِنْ نَاحِيَةٍ أُخْرَى، فِيهِ دُهُونٌ وَسُكَّرٌ كَثِيرٌ، مِمَّا يُسَبِّبُ السُّمْنَةَ وَأَمْرَاضَ القَلْبِ.</a:t>
            </a:r>
            <a:endParaRPr lang="ar-SA" sz="15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It’s quick and cheap, but full of fat and sugar, which causes obesity and heart disease.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وَالطَّعَامُ السَّرِيعُ؟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فِي بِدَايَةِ السَّنَةِ قَرَّرْتُ أَنْ أَمْشِيَ إِلَى المَدْرَسَةِ بَدَلًا مِنَ الحَافِلَةِ، فَصِرْتُ أَنْشَطَ، وَتَحَسَّنَ نَوْمِي.</a:t>
            </a:r>
            <a:endParaRPr lang="ar-SA" sz="16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At the start of the year I decided to walk to school instead of taking the bus — I became more active and slept better.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غَيَّرْتَ أَنْتَ شَيْئًا فِي حَيَاتِكَ؟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صَحِيحٌ أَنَّ الوَاجِبَاتِ كَثِيرَةٌ، غَيْرَ أَنَّ الصِّحَّةَ أَسَاسُ النَّجَاحِ؛ لِذٰلِكَ أَقْتَرِحُ أَنْ تُخَصِّصَ المَدَارِسُ سَاعَةً يَوْمِيَّةً لِلرِّيَاضَةِ.</a:t>
            </a:r>
            <a:endParaRPr lang="ar-SA" sz="14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Homework is heavy, but health is the basis of success — so schools should give a daily hour to sport.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لٰكِنَّ الطُّلَّابَ لَيْسَ عِنْدَهُمْ وَقْتٌ!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كُنْتُ وَزِيرَ الصِّحَّةِ، لَمَنَعْتُ إِعْلَانَاتِ الطَّعَامِ السَّرِيعِ قُرْبَ المَدَارِسِ، وَلَجَعَلْتُ الفَوَاكِهَ مَجَّانِيَّةً فِي المَقَاصِفِ.</a:t>
            </a:r>
            <a:endParaRPr lang="ar-SA" sz="145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I’d ban fast-food adverts near schools and make fruit free in canteens.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كُنْتَ وَزِيرَ الصِّحَّةِ، مَاذَا تَفْعَلُ؟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all of Topic A in one card — sleep, food, exercise, a personal change, a proposal and law … la-.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16 / 25</a:t>
            </a:r>
            <a:endParaRPr lang="en-US" sz="8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FR-L01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5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TOPIC CONVERSATION · CORE QUESTIONS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Topic conversation — Core questions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يَوْمِي وَطَعَامِي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Final Revision · Speaking workshop · FR-L01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439912" y="1810512"/>
            <a:ext cx="3218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Start like this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788152" y="1810512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Meaning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4608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asks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458200" y="2267712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أَسْتَيْقِظُ فِي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824728" y="2267712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When do you wake up?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مَتَى تَسْتَيْقِظُ؟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458200" y="300471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وَجْبَتِي المُفَضَّلَةُ …</a:t>
            </a:r>
            <a:endParaRPr lang="ar-SA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5824728" y="300471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is your favourite meal?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051560" y="300471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وَجْبَتُكَ المُفَضَّلَةُ؟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305043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305043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458200" y="3741725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أَذْهَبُ …</a:t>
            </a:r>
            <a:endParaRPr lang="ar-SA" sz="1500" dirty="0"/>
          </a:p>
        </p:txBody>
      </p:sp>
      <p:sp>
        <p:nvSpPr>
          <p:cNvPr id="36" name="Text 33"/>
          <p:cNvSpPr txBox="1"/>
          <p:nvPr/>
        </p:nvSpPr>
        <p:spPr>
          <a:xfrm>
            <a:off x="5824728" y="3741725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How do you get to school?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3741725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تَذْهَبُ إِلَى المَدْرَسَةِ؟</a:t>
            </a:r>
            <a:endParaRPr lang="ar-SA" sz="17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11091672" y="3787445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11091672" y="3787445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1" name="Shape 38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8458200" y="4478731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أَلْعَبُ … / …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824728" y="4478731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Do you do sport?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1051560" y="4478731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تُمَارِسُ الرِّيَاضَةَ؟</a:t>
            </a:r>
            <a:endParaRPr lang="ar-SA" sz="1700" dirty="0"/>
          </a:p>
        </p:txBody>
      </p:sp>
      <p:sp>
        <p:nvSpPr>
          <p:cNvPr id="45" name="Text 42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6" name="Shape 43"/>
          <p:cNvSpPr/>
          <p:nvPr/>
        </p:nvSpPr>
        <p:spPr>
          <a:xfrm>
            <a:off x="11091672" y="4524451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11091672" y="4524451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8" name="Shape 45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8458200" y="521573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أَبْقَى … وَأَشْرَبُ …</a:t>
            </a:r>
            <a:endParaRPr lang="ar-SA" sz="1500" dirty="0"/>
          </a:p>
        </p:txBody>
      </p:sp>
      <p:sp>
        <p:nvSpPr>
          <p:cNvPr id="50" name="Text 47"/>
          <p:cNvSpPr txBox="1"/>
          <p:nvPr/>
        </p:nvSpPr>
        <p:spPr>
          <a:xfrm>
            <a:off x="5824728" y="521573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do you do when you’re ill?</a:t>
            </a:r>
            <a:endParaRPr lang="en-US" sz="1100" dirty="0"/>
          </a:p>
        </p:txBody>
      </p:sp>
      <p:sp>
        <p:nvSpPr>
          <p:cNvPr id="51" name="Text 48"/>
          <p:cNvSpPr txBox="1"/>
          <p:nvPr/>
        </p:nvSpPr>
        <p:spPr>
          <a:xfrm>
            <a:off x="1051560" y="521573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تَفْعَلُ عِنْدَمَا تَكُونُ مَرِيضًا؟</a:t>
            </a:r>
            <a:endParaRPr lang="ar-SA" sz="1700" dirty="0"/>
          </a:p>
        </p:txBody>
      </p:sp>
      <p:sp>
        <p:nvSpPr>
          <p:cNvPr id="52" name="Text 49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53" name="Shape 50"/>
          <p:cNvSpPr/>
          <p:nvPr/>
        </p:nvSpPr>
        <p:spPr>
          <a:xfrm>
            <a:off x="11091672" y="526145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11091672" y="526145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55" name="Text 5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Core: one full sentence for every question — every Topic A theme in five questions. If you are stuck: </a:t>
            </a:r>
            <a:pPr algn="l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عَفْوًا، هَلْ يُمْكِنُ أَنْ تُعِيدَ السُّؤَالَ؟</a:t>
            </a:r>
            <a:endParaRPr lang="en-US" sz="1150" dirty="0"/>
          </a:p>
        </p:txBody>
      </p:sp>
      <p:sp>
        <p:nvSpPr>
          <p:cNvPr id="56" name="Text 5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17 / 25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FR-L01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5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TOPIC CONVERSATION · DEVELOP QUESTIONS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Topic conversation — Develop questions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عَادَاتِي الصِّحِّيَّةُ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Final Revision · Speaking workshop · FR-L01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439912" y="1810512"/>
            <a:ext cx="3218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Start like this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788152" y="1810512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Meaning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4608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asks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458200" y="2267712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أَوَّلًا … ثُمَّ … وَفِي المَسَاءِ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824728" y="2267712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Describe your Saturday.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صِفْ يَوْمَ السَّبْتِ عِنْدَكَ.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458200" y="300471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غَالِبًا … لٰكِنِّي أَحْيَانًا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824728" y="300471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Is your diet healthy?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طَعَامُكَ صِحِّيٌّ؟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458200" y="3741725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ذَهَبْتُ … ؛ أَكَلْتُ … وَكَانَ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824728" y="3741725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Tell me about the last time you ate out.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حَدِّثْنِي عَنْ آخِرِ مَرَّةٍ أَكَلْتَ فِيهَا فِي مَطْعَمٍ.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458200" y="4478731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كُنْتُ … أَمَّا الآنَ فَآكُلُهَا …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824728" y="4478731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were your habits like when you were little?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كَانَتْ عَادَاتُكَ عِنْدَمَا كُنْتَ صَغِيرًا؟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458200" y="521573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سَأَنَامُ … لِأَنَّ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824728" y="521573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will you change to be healthier?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سَتُغَيِّرُ فِي حَيَاتِكَ لِتَكُونَ أَكْثَرَ صِحَّةً؟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Develop: two or three sentences — frequency, a reason and a past or future detail.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18 / 25</a:t>
            </a:r>
            <a:endParaRPr lang="en-US" sz="8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FR-L01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5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TOPIC CONVERSATION · STRETCH QUESTIONS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Topic conversation — Stretch questions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الصِّحَّةُ وَالمُجْتَمَعُ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Final Revision · Speaking workshop · FR-L01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439912" y="1810512"/>
            <a:ext cx="3218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Start like this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788152" y="1810512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Meaning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4608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asks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458200" y="2267712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صَحِيحٌ أَنَّ … غَيْرَ أَنَّ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824728" y="2267712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Are young people less healthy than their parents’ generation?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هَلِ الشَّبَابُ اليَوْمَ أَقَلُّ صِحَّةً مِنْ جِيلِ آبَائِهِمْ؟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458200" y="300471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أَرَى أَنَّ المَسْؤُولِيَّةَ … ؛ فَالأُسْرَةُ … وَالمَدْرَسَةُ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824728" y="300471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Who is responsible for children’s health?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مَنِ المَسْؤُولُ عَنْ صِحَّةِ الأَطْفَالِ؟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458200" y="3741725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مِنْ نَاحِيَةٍ … وَمِنْ نَاحِيَةٍ أُخْرَى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824728" y="3741725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Should school meals be free?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يَجِبُ أَنْ تَكُونَ الوَجَبَاتُ المَدْرَسِيَّةُ مَجَّانِيَّةً؟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458200" y="4478731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كَانَ النَّاسُ … أَمَّا اليَوْمَ فَنَطْلُبُ … مِمَّا …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824728" y="4478731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How has technology affected our health?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أَثَّرَتِ التِّكْنُولُوجْيَا عَلَى صِحَّتِنَا؟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458200" y="521573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فَتَحْتُ مَطْعَمًا، لَقَدَّمْتُ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824728" y="521573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If you opened a restaurant, what would you serve?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فَتَحْتَ مَطْعَمًا، مَاذَا تُقَدِّمُ فِيهِ؟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a concession, shared responsibility, a balanced view with li-dhālika, kāna … ammā al-yawma fa- with mimmā, and law … la-.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19 / 25</a:t>
            </a:r>
            <a:endParaRPr lang="en-US" sz="8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FR-L01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CORE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Core: what a strong answer sounds like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Final Revision · Speaking workshop · FR-L01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أَسْتَيْقِظُ فِي السَّاعَةِ السَّابِعَةِ.</a:t>
            </a:r>
            <a:endParaRPr lang="ar-SA" sz="170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67699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At seven.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مَتَى تَسْتَيْقِظُ؟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2300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وَجْبَتِيَ المُفَضَّلَةُ العَشَاءُ، لِأَنَّنَا نَأْكُلُ مَعًا.</a:t>
            </a:r>
            <a:endParaRPr lang="ar-SA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14004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Dinner — we eat together.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وَجْبَتُكَ المُفَضَّلَةُ؟</a:t>
            </a:r>
            <a:endParaRPr lang="ar-SA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343400" y="3760013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أَذْهَبُ مَشْيًا عَلَى الأَقْدَامِ.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4297680" y="4151010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On foot.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تَذْهَبُ إِلَى المَدْرَسَةِ؟</a:t>
            </a:r>
            <a:endParaRPr lang="ar-SA" sz="15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343400" y="4497019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أَلْعَبُ كُرَةَ القَدَمِ يَوْمَ السَّبْتِ.</a:t>
            </a:r>
            <a:endParaRPr lang="ar-SA" sz="1700" dirty="0"/>
          </a:p>
        </p:txBody>
      </p:sp>
      <p:sp>
        <p:nvSpPr>
          <p:cNvPr id="36" name="Text 33"/>
          <p:cNvSpPr txBox="1"/>
          <p:nvPr/>
        </p:nvSpPr>
        <p:spPr>
          <a:xfrm>
            <a:off x="4297680" y="488801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Yes, football on Saturdays.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تُمَارِسُ الرِّيَاضَةَ؟</a:t>
            </a:r>
            <a:endParaRPr lang="ar-SA" sz="15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343400" y="523402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أَبْقَى فِي السَّرِيرِ، وَأَشْرَبُ مَاءً كَثِيرًا.</a:t>
            </a:r>
            <a:endParaRPr lang="ar-SA" sz="1700" dirty="0"/>
          </a:p>
        </p:txBody>
      </p:sp>
      <p:sp>
        <p:nvSpPr>
          <p:cNvPr id="41" name="Text 38"/>
          <p:cNvSpPr txBox="1"/>
          <p:nvPr/>
        </p:nvSpPr>
        <p:spPr>
          <a:xfrm>
            <a:off x="4297680" y="5625023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stay in bed and drink lots of water.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تَفْعَلُ عِنْدَمَا تَكُونُ مَرِيضًا؟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Full sentence + a time or a reason = a secure Core answer.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20 / 25</a:t>
            </a:r>
            <a:endParaRPr lang="en-US" sz="8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FR-L01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DEVELOP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Develop: what a strong answer sounds like</a:t>
            </a:r>
            <a:endParaRPr lang="en-US" sz="22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Final Revision · Speaking workshop · FR-L01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أَوَّلًا أَنَامُ حَتَّى التَّاسِعَةِ، ثُمَّ أَلْعَبُ كُرَةَ القَدَمِ مَعَ أَصْدِقَائِي، وَفِي المَسَاءِ نَزُورُ جَدَّتِي.</a:t>
            </a:r>
            <a:endParaRPr lang="ar-SA" sz="170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67699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sleep till nine, play football with friends, and visit grandma in the evening.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صِفْ يَوْمَ السَّبْتِ عِنْدَكَ.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2300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غَالِبًا نَعَمْ، لِأَنَّ أُمِّي تَطْبُخُ فِي البَيْتِ، لٰكِنِّي أَحْيَانًا آكُلُ البِيتْزَا مَعَ أَصْدِقَائِي.</a:t>
            </a:r>
            <a:endParaRPr lang="ar-SA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14004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Mostly — mum cooks at home — but I sometimes eat pizza with friends.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طَعَامُكَ صِحِّيٌّ؟</a:t>
            </a:r>
            <a:endParaRPr lang="ar-SA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343400" y="3760013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ذَهَبْتُ إِلَى مَطْعَمٍ لُبْنَانِيٍّ فِي عِيدِ مِيلَادِ أُمِّي؛ أَكَلْتُ المَشَاوِيَ، وَكَانَ الطَّعَامُ لَذِيذًا لٰكِنَّهُ غَالٍ.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4297680" y="4151010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 Lebanese restaurant on mum’s birthday: grills — delicious but expensive.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حَدِّثْنِي عَنْ آخِرِ مَرَّةٍ أَكَلْتَ فِيهَا فِي مَطْعَمٍ.</a:t>
            </a:r>
            <a:endParaRPr lang="ar-SA" sz="15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343400" y="4497019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كُنْتُ آكُلُ الحَلَوِيَّاتِ كُلَّ يَوْمٍ، أَمَّا الآنَ فَآكُلُهَا فِي نِهَايَةِ الأُسْبُوعِ فَقَطْ.</a:t>
            </a:r>
            <a:endParaRPr lang="ar-SA" sz="1700" dirty="0"/>
          </a:p>
        </p:txBody>
      </p:sp>
      <p:sp>
        <p:nvSpPr>
          <p:cNvPr id="36" name="Text 33"/>
          <p:cNvSpPr txBox="1"/>
          <p:nvPr/>
        </p:nvSpPr>
        <p:spPr>
          <a:xfrm>
            <a:off x="4297680" y="488801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Sweets every day; now only at weekends.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كَانَتْ عَادَاتُكَ عِنْدَمَا كُنْتَ صَغِيرًا؟</a:t>
            </a:r>
            <a:endParaRPr lang="ar-SA" sz="15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343400" y="523402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سَأَنَامُ مُبَكِّرًا، وَسَأَتْرُكُ الهَاتِفَ خَارِجَ غُرْفَتِي، لِأَنَّ النَّوْمَ الجَيِّدَ يُسَاعِدُنِي فِي الامْتِحَانَاتِ.</a:t>
            </a:r>
            <a:endParaRPr lang="ar-SA" sz="1700" dirty="0"/>
          </a:p>
        </p:txBody>
      </p:sp>
      <p:sp>
        <p:nvSpPr>
          <p:cNvPr id="41" name="Text 38"/>
          <p:cNvSpPr txBox="1"/>
          <p:nvPr/>
        </p:nvSpPr>
        <p:spPr>
          <a:xfrm>
            <a:off x="4297680" y="5625023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I’ll sleep earlier and leave my phone outside my room — good sleep helps in exams.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سَتُغَيِّرُ فِي حَيَاتِكَ لِتَكُونَ أَكْثَرَ صِحَّةً؟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Frequency + reason + two time frames = a strong Develop answer.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21 / 25</a:t>
            </a:r>
            <a:endParaRPr lang="en-US" sz="8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FR-L01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STRETCH · PART 1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Stretch: what a strong answer sounds like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Final Revision · Speaking workshop · FR-L01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صَحِيحٌ أَنَّهُمْ يَجْلِسُونَ أَكْثَرَ أَمَامَ الشَّاشَاتِ، غَيْرَ أَنَّهُمْ يَعْرِفُونَ عَنِ التَّغْذِيَةِ أَكْثَرَ مِنْ أَيِّ جِيلٍ سَابِقٍ.</a:t>
            </a:r>
            <a:endParaRPr lang="ar-SA" sz="170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706624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They sit more in front of screens, yet know more about nutrition than any previous generation.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هَلِ الشَّبَابُ اليَوْمَ أَقَلُّ صِحَّةً مِنْ جِيلِ آبَائِهِمْ؟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54096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72384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أَرَى أَنَّ المَسْؤُولِيَّةَ مُشْتَرَكَةٌ؛ فَالأُسْرَةُ تَطْبُخُ، وَالمَدْرَسَةُ تُعَلِّمُ، وَالحُكُومَةُ تَمْنَعُ الإِعْلَانَاتِ المُضَلِّلَةَ.</a:t>
            </a:r>
            <a:endParaRPr lang="ar-SA" sz="165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93008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Shared: families cook, schools teach, and government bans misleading adverts.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54096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مَنِ المَسْؤُولُ عَنْ صِحَّةِ الأَطْفَالِ؟</a:t>
            </a:r>
            <a:endParaRPr lang="ar-SA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54096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840480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343400" y="3858768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مِنْ نَاحِيَةٍ، تُكَلِّفُ الدَّوْلَةَ كَثِيرًا، وَمِنْ نَاحِيَةٍ أُخْرَى، الطِّفْلُ الجَائِعُ لَا يَتَعَلَّمُ؛ لِذٰلِكَ أُؤَيِّدُهَا لِلْجَمِيعِ.</a:t>
            </a:r>
            <a:endParaRPr lang="ar-SA" sz="1650" dirty="0"/>
          </a:p>
        </p:txBody>
      </p:sp>
      <p:sp>
        <p:nvSpPr>
          <p:cNvPr id="31" name="Text 28"/>
          <p:cNvSpPr txBox="1"/>
          <p:nvPr/>
        </p:nvSpPr>
        <p:spPr>
          <a:xfrm>
            <a:off x="4297680" y="4279392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They cost the state a lot, but a hungry child can’t learn — so I support them for all.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84048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يَجِبُ أَنْ تَكُونَ الوَجَبَاتُ المَدْرَسِيَّةُ مَجَّانِيَّةً؟</a:t>
            </a:r>
            <a:endParaRPr lang="ar-SA" sz="15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840480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Text 3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comparatives, mimmā, wa-maʿa dhālika and law … la- — range is rewarded.</a:t>
            </a:r>
            <a:endParaRPr lang="en-US" sz="1150" dirty="0"/>
          </a:p>
        </p:txBody>
      </p:sp>
      <p:sp>
        <p:nvSpPr>
          <p:cNvPr id="35" name="Text 3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22 / 25</a:t>
            </a:r>
            <a:endParaRPr lang="en-US" sz="8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FR-L01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STRETCH · PART 2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Stretch: what a strong answer sounds like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Final Revision · Speaking workshop · FR-L01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كَانَ النَّاسُ يَمْشُونَ أَكْثَرَ، أَمَّا اليَوْمَ فَنَطْلُبُ كُلَّ شَيْءٍ بِالهَاتِفِ، مِمَّا يُقَلِّلُ حَرَكَتَنَا؛ وَمَعَ ذٰلِكَ تُسَاعِدُنَا التَّطْبِيقَاتُ عَلَى عَدِّ خُطُوَاتِنَا.</a:t>
            </a:r>
            <a:endParaRPr lang="ar-SA" sz="125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706624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People walked more; now we order everything by phone, reducing movement — though apps help us count our steps.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أَثَّرَتِ التِّكْنُولُوجْيَا عَلَى صِحَّتِنَا؟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54096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72384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فَتَحْتُ مَطْعَمًا، لَقَدَّمْتُ أَطْبَاقًا عَرَبِيَّةً صِحِّيَّةً، كَالعَدَسِ وَالسَّلَطَاتِ، وَلَجَعَلْتُ الأَسْعَارَ مُنَاسِبَةً لِلطُّلَّابِ.</a:t>
            </a:r>
            <a:endParaRPr lang="ar-SA" sz="165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93008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Healthy Arabic dishes like lentils and salads, at student-friendly prices.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54096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فَتَحْتَ مَطْعَمًا، مَاذَا تُقَدِّمُ فِيهِ؟</a:t>
            </a:r>
            <a:endParaRPr lang="ar-SA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54096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comparatives, mimmā, wa-maʿa dhālika and law … la- — range is rewarded.</a:t>
            </a:r>
            <a:endParaRPr lang="en-US" sz="1150" dirty="0"/>
          </a:p>
        </p:txBody>
      </p:sp>
      <p:sp>
        <p:nvSpPr>
          <p:cNvPr id="30" name="Text 27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23 / 25</a:t>
            </a:r>
            <a:endParaRPr lang="en-US" sz="8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FR-L01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FEEDBACK · SUCCESS CRITERIA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Check your work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قَيِّمْ عَمَلَكَ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Final Revision · Speaking workshop · FR-L01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85800" y="2086661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2E8B57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1097280" y="1810512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answered every role-play task in a full sentence.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6583680" y="2068373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583680" y="2068373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457200" y="2710282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685800" y="298643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2E8B57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1097280" y="2710282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used times and frequency words accurately.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6583680" y="296814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583680" y="296814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5" name="Shape 22"/>
          <p:cNvSpPr/>
          <p:nvPr/>
        </p:nvSpPr>
        <p:spPr>
          <a:xfrm>
            <a:off x="457200" y="3610051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685800" y="388620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C9780A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1097280" y="3610051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gave a reason and used two time frames.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6583680" y="386791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6583680" y="386791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00" dirty="0"/>
          </a:p>
        </p:txBody>
      </p:sp>
      <p:sp>
        <p:nvSpPr>
          <p:cNvPr id="30" name="Shape 27"/>
          <p:cNvSpPr/>
          <p:nvPr/>
        </p:nvSpPr>
        <p:spPr>
          <a:xfrm>
            <a:off x="457200" y="4509821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685800" y="478597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C9780A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1097280" y="4509821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used an imperative or yajibu an for advice.</a:t>
            </a:r>
            <a:endParaRPr lang="en-US" sz="1300" dirty="0"/>
          </a:p>
        </p:txBody>
      </p:sp>
      <p:sp>
        <p:nvSpPr>
          <p:cNvPr id="33" name="Shape 30"/>
          <p:cNvSpPr/>
          <p:nvPr/>
        </p:nvSpPr>
        <p:spPr>
          <a:xfrm>
            <a:off x="6583680" y="476768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6583680" y="476768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00" dirty="0"/>
          </a:p>
        </p:txBody>
      </p:sp>
      <p:sp>
        <p:nvSpPr>
          <p:cNvPr id="35" name="Shape 32"/>
          <p:cNvSpPr/>
          <p:nvPr/>
        </p:nvSpPr>
        <p:spPr>
          <a:xfrm>
            <a:off x="457200" y="5409590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6" name="Shape 33"/>
          <p:cNvSpPr/>
          <p:nvPr/>
        </p:nvSpPr>
        <p:spPr>
          <a:xfrm>
            <a:off x="685800" y="5685739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B83227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1097280" y="5409590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gave a balanced view with a concession and law … la-.</a:t>
            </a:r>
            <a:endParaRPr lang="en-US" sz="1300" dirty="0"/>
          </a:p>
        </p:txBody>
      </p:sp>
      <p:sp>
        <p:nvSpPr>
          <p:cNvPr id="38" name="Shape 35"/>
          <p:cNvSpPr/>
          <p:nvPr/>
        </p:nvSpPr>
        <p:spPr>
          <a:xfrm>
            <a:off x="6583680" y="5667451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6583680" y="5667451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800" dirty="0"/>
          </a:p>
        </p:txBody>
      </p:sp>
      <p:sp>
        <p:nvSpPr>
          <p:cNvPr id="40" name="Shape 37"/>
          <p:cNvSpPr/>
          <p:nvPr/>
        </p:nvSpPr>
        <p:spPr>
          <a:xfrm>
            <a:off x="8092440" y="1810512"/>
            <a:ext cx="3639312" cy="2084832"/>
          </a:xfrm>
          <a:prstGeom prst="roundRect">
            <a:avLst>
              <a:gd name="adj" fmla="val 3509"/>
            </a:avLst>
          </a:prstGeom>
          <a:solidFill>
            <a:srgbClr val="E9F5EE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1" name="Text 38"/>
          <p:cNvSpPr txBox="1"/>
          <p:nvPr/>
        </p:nvSpPr>
        <p:spPr>
          <a:xfrm>
            <a:off x="8275320" y="1920240"/>
            <a:ext cx="327355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8B57"/>
                </a:solidFill>
                <a:latin typeface="Calibri" pitchFamily="34" charset="0"/>
                <a:cs typeface="Amiri" pitchFamily="2" charset="-78"/>
              </a:rPr>
              <a:t>WWW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What went well? One thing you did accurately.</a:t>
            </a:r>
            <a:endParaRPr lang="en-US" sz="1800" dirty="0"/>
          </a:p>
        </p:txBody>
      </p:sp>
      <p:sp>
        <p:nvSpPr>
          <p:cNvPr id="42" name="Shape 39"/>
          <p:cNvSpPr/>
          <p:nvPr/>
        </p:nvSpPr>
        <p:spPr>
          <a:xfrm>
            <a:off x="8092440" y="4041648"/>
            <a:ext cx="3639312" cy="2084832"/>
          </a:xfrm>
          <a:prstGeom prst="roundRect">
            <a:avLst>
              <a:gd name="adj" fmla="val 3509"/>
            </a:avLst>
          </a:prstGeom>
          <a:solidFill>
            <a:srgbClr val="FFF4E0"/>
          </a:solidFill>
          <a:ln w="9525">
            <a:solidFill>
              <a:srgbClr val="E8D49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3" name="Text 40"/>
          <p:cNvSpPr txBox="1"/>
          <p:nvPr/>
        </p:nvSpPr>
        <p:spPr>
          <a:xfrm>
            <a:off x="8275320" y="4151376"/>
            <a:ext cx="327355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9780A"/>
                </a:solidFill>
                <a:latin typeface="Calibri" pitchFamily="34" charset="0"/>
                <a:cs typeface="Amiri" pitchFamily="2" charset="-78"/>
              </a:rPr>
              <a:t>EBI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Even better if… One thing you will fix or add.</a:t>
            </a:r>
            <a:endParaRPr lang="en-US" sz="1800" dirty="0"/>
          </a:p>
        </p:txBody>
      </p:sp>
      <p:sp>
        <p:nvSpPr>
          <p:cNvPr id="44" name="Text 41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24 / 25</a:t>
            </a:r>
            <a:endParaRPr lang="en-US" sz="8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D1F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1097280"/>
            <a:ext cx="5852160" cy="5852160"/>
          </a:xfrm>
          <a:prstGeom prst="ellipse">
            <a:avLst/>
          </a:prstGeom>
          <a:solidFill>
            <a:srgbClr val="14315C"/>
          </a:solidFill>
          <a:ln w="12700">
            <a:solidFill>
              <a:srgbClr val="14315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72600" y="2606040"/>
            <a:ext cx="1737360" cy="1737360"/>
          </a:xfrm>
          <a:prstGeom prst="ellipse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28" y="2944368"/>
            <a:ext cx="1060704" cy="106070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1280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FR-L01 COMPLETE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169164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4000" b="1" dirty="0">
                <a:solidFill>
                  <a:srgbClr val="FFFFF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أَحْسَنْتُمْ! إِلَى اللِّقَاءِ</a:t>
            </a:r>
            <a:endParaRPr lang="ar-SA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260604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Well done — great speaking practice today!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3566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NEXT WORKSHOP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38862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FR-L01 · Writing workshop · Form filling, directed writing and extended writing</a:t>
            </a:r>
            <a:endParaRPr lang="en-US" sz="16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44348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24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وَرْشَةُ الكِتَابَةِ</a:t>
            </a:r>
            <a:endParaRPr lang="ar-SA" sz="240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53035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Remember: in the role play answer EVERY task; in the conversation, develop every answer.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Amiri" pitchFamily="2" charset="-78"/>
        <a:cs typeface="Amiri" pitchFamily="2" charset="-78"/>
        <a:font script="Arab" typeface="Amiri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Amiri" pitchFamily="2" charset="-78"/>
        <a:cs typeface="Amiri" pitchFamily="2" charset="-78"/>
        <a:font script="Arab" typeface="Amir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Al Madina Online School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FR-L01 · Speaking Workshop — Daily Life, Food and Health</dc:title>
  <dc:subject>PptxGenJS Presentation</dc:subject>
  <dc:creator>Al Madina Online School · Arabic Department</dc:creator>
  <cp:lastModifiedBy>Al Madina Online School · Arabic Department</cp:lastModifiedBy>
  <cp:revision>1</cp:revision>
  <dcterms:created xsi:type="dcterms:W3CDTF">2026-10-11T18:28:40Z</dcterms:created>
  <dcterms:modified xsi:type="dcterms:W3CDTF">2026-10-11T18:28:40Z</dcterms:modified>
</cp:coreProperties>
</file>