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4 (Final Revision — Education, Work and the International World, FR-L04).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Boxes recycle Topic D (job, qualities, experience) and Topic E (languages, cultures). A boy writes مُوَظَّفُ اسْتِقْبَالٍ · مُنَظَّمٌ وَصَبُورٌ and reads تُنَاسِبُكَ.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مَا سَاعَاتُ (what hours → مِنَ … إِلَى …) · مَنْ زُمَلَاؤُكِ (who → nisba) · مَاذَا حَدَثَ (PAST) · خِطَطُكِ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(71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(87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Topics D and E together — subjects and revision (D · L03–04), languages and an exchange (E · L02, L08), work experience with kuntu + present (D · L07), a feminine profession and aspiration (D · L06, L10), and idhā lam + passive jussive … fa-sa-.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(137 words). Full-mark model: an anecdote hook with lam … bal, three parallel present verbs, ʿalā hādhā al-asās, maʿa anna … fa-inna with a dual verb (jaʿalānī), laysat … fa-ḥasbu bal, lā mujarrad, a concession, and law … la- with an infinitive clause.
ENGLISH SUMMARY (read aloud or paste in the chat for Core students): When the careers adviser asked my most important skill, I didn’t mention maths or science but said “I live in three languages”: I think in English, pray in Arabic and talk to grandma in the Urdu she brought from Lahore → I chose my next subjects on that basis — Arabic, French and history; though French is hardest, organised revision and past papers made me progress fast → but the most important lessons came outside class: on an exchange in Amman I found language is not just words but customs, gestures and a way of thinking; then work experience at a cultural centre confirmed a translator is a bridge between cultures, not just a dictionary → so I aspire to study translation and work for an international organisation; competition is fierce, but I have a plan B — study languages at an institute and try again; “if the adviser asked me today, I’d say: I want to help people understand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nādiran mā + a negative relative clause, li- purpose, a balanced view with kamā anna and yarā baʿḍu an-nās anna (hedging), a narrated example with li-annī + baynamā + fa-, a concession with kamā yabnīhā, and idhā … fa-sa- with a dual (miftāḥayni).
ENGLISH SUMMARY (read aloud or paste in the chat for Core students): In today’s job adverts we rarely find an international post that doesn’t require at least a second language, especially in big cities like London and Dubai — must every student learn two languages to succeed at work? → languages open many doors — translation, tourism, international trade — and teach respect for other cultures; yet some say machine translation is now enough and fast and technical skills like coding and data analysis matter more → I saw a language’s effect myself last month: on work experience the manager chose me to welcome a delegation from Jordan because I speak Arabic, while colleagues relied on apps — and the guests felt more at ease with me and thanked me in Arabic at the end → technology helps, but it doesn’t build trust as direct conversation in the other’s language does; “if students learn two languages, they will enter the world of work with two keys instead of one, and more open hearts”.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Education, Work and the International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التَّعْلِيمُ وَالعَمَلُ وَالعَالَمُ الدُّوَلِيُّ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Final-revision Paper 4 practice on Topics D and E: fill in a summer-job application form, write an email about work experience at an Arab cultural centre, and write an extended piece about your studies, languages and future or about whether every student needs two languages to succeed at work. Exam skills: mix three time frames and finish with a plan B.</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FR-L04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work experience.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EXAM CHECK (2 min): every bullet answered? greeting and closing? Then check Topics D and E accuracy — feminine professions for a girl (mutarjima, ṭabība), languages are feminine (al-ʿarabiyya), numbers + nouns (khamsūna shakhṣan, tisʿa mawādd), idhā + past … fa-sa- (never idhā + sa-), and respectful comparison (baynamā, ghāliban).</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أُتَرْجِمُ لِلزُّوَّارِ مِنَ العَرَبِيَّةِ إِلَى الإِنْجْلِيزِيَّةِ</a:t>
            </a:r>
            <a:endParaRPr lang="ar-SA" sz="24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translate for visitors from Arabic into English</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العَمَلُ مُتْعِبٌ، وَمَعَ ذٰلِكَ أُحِبُّهُ كَثِيرًا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work is tiring; nevertheless I love it</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إِذَا لَمْ أُقْبَلْ، فَسَأَدْرُسُ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am not accepted, I will study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Summer-job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طَلَبِ وَظِيفَةٍ صَيْفِيَّةٍ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and year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 وَالصَّفُّ</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applied for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الوَظِيفَةُ المَطْلُوبَةُ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qualities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صِفَتَانِ</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available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المُتَاحَةُ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experience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خِبْرَةٌ سَابِقَةٌ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the job suits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تُنَاسِبُكِ الوَظِيفَةُ؟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feminine forms for a female applicant; the last box is a full sentence with li-annī.</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Summer-job application form: model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Ruqayya Khan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رُقَيَّةُ خَانُ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Madina School, Year 11</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المَدِينَةِ، الحَادِي عَشَرَ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المَدْرَسَةُ وَالصَّفُّ</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receptionist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مُوَظَّفَةُ اسْتِقْبَالٍ</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الوَظِيفَةُ المَطْلُوبَةُ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Arabic and Urdu</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الإِنْجْلِيزِيَّةُ وَالعَرَبِيَّةُ وَالأُرْدِيَّةُ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اللُّغَاتُ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organised and patient</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مُنَظَّمَةٌ وَصَبُورَةٌ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صِفَتَانِ</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Sunday to Thursday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الأَحَدِ إِلَى الخَمِيسِ</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الأَيَّامُ المُتَاحَةُ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week at a cultural centre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 فِي مَرْكَزٍ ثَقَافِيٍّ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سَابِقَةٌ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Because I speak three languages and love helping people from different cultures.</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ea typeface="Amiri" pitchFamily="2" charset="-78"/>
                <a:cs typeface="Amiri" pitchFamily="2" charset="-78"/>
              </a:rPr>
              <a:t>تُنَاسِبُنِي لِأَنِّي أَتَكَلَّمُ ثَلَاثَ لُغَاتٍ، وَأُحِبُّ مُسَاعَدَةَ النَّاسِ مِنْ ثَقَافَاتٍ مُخْتَلِفَةٍ.</a:t>
            </a:r>
            <a:endParaRPr lang="ar-SA" sz="12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تُنَاسِبُكِ الوَظِيفَةُ؟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Question 2: my work-experience week</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أُسْبُوعُ خِبْرَةِ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friend of about 80–90 words. You must include: • where you are doing work experience and your hours • what you do there and who your colleagues are • something that happened and your opinion of the work • your plans for the future,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Times, a nationality and a number.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فِي أُسْبُوعِ خِبْرَةِ العَمَلِ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on work experience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أَعْمَلُ مِنَ …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 from …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نَظَّمْنَا … وَحَضَرَهَا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organised … attended by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أُرِيدُ أَنْ أَعْمَلَ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 I want to work as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work-experience week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عَنْ أُسْبُوعِ خِبْرَةِ العَمَلِ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work; your hours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تَعْمَلِينَ؟ وَمَا سَاعَاتُ العَمَلِ؟</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who your colleagues are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تَفْعَلِينَ؟ وَمَنْ زُمَلَاؤُكِ؟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that happened;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وَمَا رَأْيُكِ فِي العَمَلِ؟</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خِطَطُكِ لِلْمُسْتَقْبَلِ؟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 on work experience at … I work from … to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فِي أُسْبُوعِ خِبْرَةِ العَمَلِ فِي ______ . أَعْمَلُ مِنَ ______ إِلَى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help with … My colleagues are from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فِي ______ . زُمَلَائِي مِنْ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 The work is …; nevertheless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______ . العَمَلُ ______ ، وَمَعَ ذٰلِكَ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future I want to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المُسْتَقْبَلِ أُرِيدُ أَنْ 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هَالَةُ،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أَنَا الآنَ فِي أُسْبُوعِ خِبْرَةِ العَمَلِ فِي المَرْكَزِ الثَّقَافِيِّ العَرَبِيِّ فِي لَنْدَنَ! أَعْمَلُ مِنَ التَّاسِعَةِ إِلَى الثَّالِثَةِ. أُسَاعِدُ فِي الاسْتِقْبَالِ، وَأُتَرْجِمُ لِلزُّوَّارِ مِنَ العَرَبِيَّةِ إِلَى الإِنْجْلِيزِيَّةِ. زُمَلَائِي مِنْ مِصْرَ وَالمَغْرِبِ وَبَرِيطَانْيَا، وَهُمْ لُطَفَاءُ جِدًّا. أَمْسِ نَظَّمْنَا أُمْسِيَةً لِلشِّعْرِ العَرَبِيِّ، وَحَضَرَهَا خَمْسُونَ شَخْصًا. العَمَلُ مُتْعِبٌ، وَمَعَ ذٰلِكَ أُحِبُّهُ كَثِيرًا، لِأَنِّي أَسْتَخْدِمُ لُغَتَيَّ. فِي المُسْتَقْبَلِ أُرِيدُ أَنْ أَعْمَلَ مُتَرْجِمَةً. وَأَنْتِ، أَيْنَ سَتَعْمَلِينَ فِي خِبْرَةِ العَمَلِ؟</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السَّلَامَةِ،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رُقَيَّةُ</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Hala, how are you? I’m on my work-experience week at the Arab Cultural Centre in London! I work from nine to three. I help at reception and translate for visitors from Arabic into English. My colleagues are from Egypt, Morocco and Britain, and they’re very kind. Yesterday we organised an evening of Arabic poetry, and fifty people came. The work is tiring; nevertheless I love it, because I use both my languages. In future I want to be a translator. And you, where will you do your work experience? Goodbye, Ruqayya.”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أَعْمَلُ مِنَ التَّاسِعَةِ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زُمَلَائِي مِنْ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 أُحِبُّهُ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أُرِيدُ أَنْ أَعْمَلَ مُتَرْجِمَةً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هَالَةُ،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أَكْتُبُ إِلَيْكِ فِي نِهَايَةِ أُسْبُوعِي الأَوَّلِ مِنْ خِبْرَةِ العَمَلِ فِي المَرْكَزِ الثَّقَافِيِّ العَرَبِيِّ، وَهُوَ أُسْبُوعٌ لَمْ أَتَوَقَّعْ أَنْ يَكُونَ بِهٰذَا الغِنَى! فَبَيْنَمَا كُنْتُ أَظُنُّ أَنَّنِي سَأُرَتِّبُ الأَوْرَاقَ فَقَطْ، طَلَبَ مِنِّي المُدِيرُ أَنْ أُتَرْجِمَ لِلزُّوَّارِ، وَأَنْ أُسَاعِدَ فِي تَنْظِيمِ أُمْسِيَةٍ لِلشِّعْرِ حَضَرَهَا خَمْسُونَ شَخْصًا. أَمَّا زُمَلَائِي فَمِنْ أَرْبَعِ جِنْسِيَّاتٍ، وَتَعَلَّمْتُ مِنْهُمْ أَنَّ الاحْتِرَامَ وَالدِّقَّةَ لُغَةٌ يَفْهَمُهَا الجَمِيعُ. صَحِيحٌ أَنَّ اليَوْمَ طَوِيلٌ، غَيْرَ أَنَّ هٰذِهِ التَّجْرِبَةَ أَكَّدَتْ لِي أَنَّ التَّرْجَمَةَ هِيَ المِهْنَةُ الَّتِي أُرِيدُهَا. وَإِذَا قُبِلْتُ فِي الجَامِعَةِ، فَسَأَدْرُسُ اللُّغَاتِ وَالتَّرْجَمَةَ. أَخْبِرِينِي: أَيْنَ قَضَيْتِ أُسْبُوعَكِ؟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رُقَيَّةُ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Hala, I’m writing at the end of my first work-experience week at the Arab Cultural Centre — a week far richer than I expected! While I thought I’d only be filing papers, the director asked me to interpret for visitors and help organise a poetry evening attended by fifty people. As for my colleagues, they’re of four nationalities, and they taught me that respect and precision are a language everyone understands. The days are long, but this experience has confirmed that translation is the career I want. If I’m accepted at university, I’ll study languages and translation. Tell me: where did you spend your week? With love, Ruqayya.”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أَتَوَقَّعْ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فَبَيْنَمَا كُنْتُ أَظُنُّ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لُغَةٌ يَفْهَمُهَا الجَمِيعُ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قُبِلْتُ … فَسَأَدْرُسُ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future: studies, languages and work</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مُسْتَقْبَلِي: الدِّرَاسَةُ وَاللُّغَاتُ وَالعَمَلُ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studies now and your subjects · languages and cultures in your life · a work or travel experience · your ambitions and plan B</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دِرَاسَتُكَ الآنَ وَمَوَادُّكَ · اللُّغَاتُ وَالثَّقَافَاتُ فِي حَيَاتِكَ · تَجْرِبَةُ عَمَلٍ أَوْ سَفَرٍ · طُمُوحَاتُكَ وَخُطَّتُكَ البَدِيلَةُ</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every student need two languages to succeed at work?</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يَحْتَاجُ كُلُّ طَالِبٍ إِلَى لُغَتَيْنِ لِيَنْجَحَ فِي العَمَلِ؟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benefits of languages and other views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فَوَائِدُ اللُّغَاتِ وَالآرَاءُ الأُخْرَى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Studies — awwalan, anā al-āna fī …; adrusu …; māddatī al-mufaḍḍala … li-annahā …; urājiʿu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Languages + culture — bi-l-iḍāfati ilā dhālika, atakallamu …; fī al-bayti … wa-fī al-madrasati …; zurtu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Experience — fī ash-shahri al-māḍī qaḍaytu usbūʿan fī …; kuntu utarjimu …; kāna …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Ambition + plan B — li-dhālika aṭmaḥu ilā an …; sa-adrusu …; idhā lam uqbal fa-sa- …; Stretch: laysat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أَدْرُسُ تِسْعَ مَوَادَّ، وَأُرَاجِعُ كُلَّ يَوْمٍ.</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nine subjects; I revise daily.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أُتَرْجِمُ لِلزُّوَّارِ فِي المَرْكَزِ.</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translated for visitors.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أَطْمَحُ إِلَى أَنْ أَعْمَلَ مُتَرْجِمَةً.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aspire to be a translator.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أَوَّلًا، أَنَا الآنَ فِي الصَّفِّ الحَادِي عَشَرَ، وَأَدْرُسُ تِسْعَ مَوَادَّ. مَادَّتِي المُفَضَّلَةُ العَرَبِيَّةُ، لِأَنَّهَا لُغَةُ عَائِلَتِي. أُحِبُّ الفَرَنْسِيَّةَ أَيْضًا، لٰكِنَّ القَوَاعِدَ صَعْبَةٌ. أُرَاجِعُ كُلَّ يَوْمٍ سَاعَتَيْنِ فِي المَكْتَبَةِ، لِأَنَّ الامْتِحَانَاتِ قَرِيبَةٌ.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بِالإِضَافَةِ إِلَى ذٰلِكَ، أَتَكَلَّمُ ثَلَاثَ لُغَاتٍ: الإِنْجْلِيزِيَّةَ وَالعَرَبِيَّةَ وَالأُرْدِيَّةَ. فِي البَيْتِ أَتَكَلَّمُ الأُرْدِيَّةَ مَعَ جَدَّتِي، وَفِي المَدْرَسَةِ الإِنْجْلِيزِيَّةَ. فِي الصَّيْفِ المَاضِي زُرْتُ الأُرْدُنَّ فِي تَبَادُلٍ ثَقَافِيٍّ، وَأَعْجَبَنِي كَرَمُ النَّاسِ هُنَاكَ.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الشَّهْرِ المَاضِي قَضَيْتُ أُسْبُوعًا فِي خِبْرَةِ عَمَلٍ فِي مَرْكَزٍ ثَقَافِيٍّ عَرَبِيٍّ. كُنْتُ أُتَرْجِمُ لِلزُّوَّارِ، وَأُسَاعِدُ فِي الاسْتِقْبَالِ. كَانَ العَمَلُ مُتْعِبًا، وَمَعَ ذٰلِكَ كَانَ مُمْتِعًا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لِذٰلِكَ أَطْمَحُ إِلَى أَنْ أَعْمَلَ مُتَرْجِمَةً فِي مُنَظَّمَةٍ دُوَلِيَّةٍ. سَأَدْرُسُ اللُّغَاتِ فِي الجَامِعَةِ. وَإِذَا لَمْ أُقْبَلْ، فَسَأَدْرُسُ العَرَبِيَّةَ فِي مَعْهَدٍ سَنَةً، ثُمَّ أُحَاوِلُ مِنْ جَدِيدٍ بِثِقَةٍ أَكْبَرَ.</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Year 11, nine subjects; Arabic is my favourite — my family’s language; French grammar is hard; I revise two hours a day → I speak English, Arabic and Urdu; I visited Jordan on an exchange and loved people’s generosity → a week’s work experience at an Arab cultural centre, translating and helping at reception: tiring, yet fun → I aspire to be a translator; if not accepted, a year at an institute, then try again.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أُتَرْجِمُ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لَمْ أُقْبَلْ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حِينَ سَأَلَتْنِي المُرْشِدَةُ المِهْنِيَّةُ عَنْ أَهَمِّ مَهَارَاتِي، لَمْ أَذْكُرِ الرِّيَاضِيَّاتِ أَوِ العُلُومَ، بَلْ قُلْتُ: "أَعِيشُ بِثَلَاثِ لُغَاتٍ". فَأَنَا أُفَكِّرُ بِالإِنْجْلِيزِيَّةِ، وَأُصَلِّي بِالعَرَبِيَّةِ، وَأُكَلِّمُ جَدَّتِي بِالأُرْدِيَّةِ الَّتِي حَمَلَتْهَا مَعَهَا مِنْ لَاهُورَ.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اخْتَرْتُ مَوَادِّي لِلْمَرْحَلَةِ القَادِمَةِ عَلَى هٰذَا الأَسَاسِ: العَرَبِيَّةَ وَالفَرَنْسِيَّةَ وَالتَّارِيخَ. وَمَعَ أَنَّ الفَرَنْسِيَّةَ أَصْعَبُ مَوَادِّي، فَإِنَّ تَنْظِيمَ المُرَاجَعَةِ وَحَلَّ الامْتِحَانَاتِ السَّابِقَةِ جَعَلَانِي أَتَقَدَّمُ فِيهَا بِسُرْعَةٍ.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أَهَمَّ مَا عَلَّمَنِي كَانَ خَارِجَ الصَّفِّ؛ فَفِي تَبَادُلٍ ثَقَافِيٍّ فِي عَمَّانَ اكْتَشَفْتُ أَنَّ اللُّغَةَ لَيْسَتْ كَلِمَاتٍ فَحَسْبُ، بَلْ عَادَاتٌ وَإِيمَاءَاتٌ وَطَرِيقَةُ تَفْكِيرٍ. ثُمَّ أَكَّدَتْ لِي خِبْرَةُ العَمَلِ فِي مَرْكَزٍ ثَقَافِيٍّ أَنَّ المُتَرْجِمَ جِسْرٌ بَيْنَ الثَّقَافَاتِ لَا مُجَرَّدُ قَامُوسٍ.</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أَطْمَحُ إِلَى دِرَاسَةِ التَّرْجَمَةِ، ثُمَّ العَمَلِ فِي مُنَظَّمَةٍ دُوَلِيَّةٍ. صَحِيحٌ أَنَّ المُنَافَسَةَ شَدِيدَةٌ، غَيْرَ أَنَّ لِي خُطَّةً بَدِيلَةً: أَنْ أَدْرُسَ اللُّغَاتِ فِي مَعْهَدٍ ثُمَّ أُحَاوِلَ مِنْ جَدِيدٍ. وَلَوْ سَأَلَتْنِي المُرْشِدَةُ اليَوْمَ، لَقُلْتُ: "أُرِيدُ أَنْ أُسَاعِدَ النَّاسَ عَلَى أَنْ يَفْهَمُوا بَعْضَهُمْ".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أَذْكُرْ … بَلْ قُلْتُ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أَنَّ … فَإِنَّ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لَيْسَتْ كَلِمَاتٍ فَحَسْبُ،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سَأَلَتْنِي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ب</a:t>
            </a:r>
            <a:pPr algn="l" indent="0" marL="0">
              <a:buNone/>
            </a:pPr>
            <a:r>
              <a:rPr lang="en-US" sz="2200" b="1" dirty="0">
                <a:solidFill>
                  <a:srgbClr val="1B3B6F"/>
                </a:solidFill>
                <a:latin typeface="Cambria" pitchFamily="34" charset="0"/>
                <a:cs typeface="Amiri" pitchFamily="2" charset="-78"/>
              </a:rPr>
              <a:t>) full-mark model: languages and jobs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إِعْلَانَاتِ الوَظَائِفِ اليَوْمَ، نَادِرًا مَا نَجِدُ وَظِيفَةً دُوَلِيَّةً لَا تَطْلُبُ لُغَةً ثَانِيَةً عَلَى الأَقَلِّ، خُصُوصًا فِي المُدُنِ الكَبِيرَةِ كَلَنْدَنَ وَدُبَيّ. فَهَلْ يَجِبُ أَنْ يَتَعَلَّمَ كُلُّ طَالِبٍ لُغَتَيْنِ لِيَنْجَحَ فِي عَالَمِ العَمَلِ؟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تَفْتَحُ اللُّغَاتُ لِلشَّبَابِ أَبْوَابًا كَثِيرَةً، كَالتَّرْجَمَةِ وَالسِّيَاحَةِ وَالتِّجَارَةِ الدُّوَلِيَّةِ، كَمَا أَنَّهَا تُعَلِّمُ الطَّالِبَ احْتِرَامَ الثَّقَافَاتِ الأُخْرَى. وَمِنْ نَاحِيَةٍ أُخْرَى، يَرَى بَعْضُ النَّاسِ أَنَّ التَّرْجَمَةَ الآلِيَّةَ صَارَتْ كَافِيَةً وَسَرِيعَةً، وَأَنَّ المَهَارَاتِ التِّقْنِيَّةَ أَهَمُّ، كَالبَرْمَجَةِ وَتَحْلِيلِ البَيَانَاتِ.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أَثَرَ اللُّغَةِ بِنَفْسِي الشَّهْرَ المَاضِيَ؛ فَفِي خِبْرَةِ العَمَلِ اخْتَارَنِي المُدِيرُ لِاسْتِقْبَالِ وَفْدٍ مِنَ الأُرْدُنِّ لِأَنِّي أَتَكَلَّمُ العَرَبِيَّةَ، بَيْنَمَا كَانَ زُمَلَائِي يَعْتَمِدُونَ عَلَى التَّطْبِيقَاتِ، فَشَعَرَ الضُّيُوفُ بِالرَّاحَةِ مَعِي أَكْثَرَ، وَشَكَرُونِي بِالعَرَبِيَّةِ فِي نِهَايَةِ الزِّيَارَةِ.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التِّكْنُولُوجْيَا تُسَاعِدُ، غَيْرَ أَنَّهَا لَا تَبْنِي الثِّقَةَ كَمَا يَبْنِيهَا الكَلَامُ المُبَاشِرُ بِلُغَةِ الآخَرِ. فَإِذَا تَعَلَّمَ الطُّلَّابُ لُغَتَيْنِ، فَسَيَدْخُلُونَ عَالَمَ العَمَلِ بِمِفْتَاحَيْنِ بَدَلًا مِنْ مِفْتَاحٍ وَاحِدٍ، وَبِقُلُوبٍ أَكْثَرَ انْفِتَاحًا.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نَادِرًا مَا نَجِدُ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كَمَا أَنَّهَا تُعَلِّمُ</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كَانَ زُمَلَائِي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بِمِفْتَاحَيْنِ بَدَلًا مِنْ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filled, with feminine forms where needed.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times, a number and a nationality; three time frames.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studies, languages, an experience and a plan B.</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FR-L05 · Exam practice · Speaking and writing workshops — the next Final Revision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FR-L04 · Writing Workshop — Education, Work and the International World</dc:title>
  <dc:subject>PptxGenJS Presentation</dc:subject>
  <dc:creator>Al Madina Online School · Arabic Department</dc:creator>
  <cp:lastModifiedBy>Al Madina Online School · Arabic Department</cp:lastModifiedBy>
  <cp:revision>1</cp:revision>
  <dcterms:created xsi:type="dcterms:W3CDTF">2026-10-11T18:40:45Z</dcterms:created>
  <dcterms:modified xsi:type="dcterms:W3CDTF">2026-10-11T18:40:45Z</dcterms:modified>
</cp:coreProperties>
</file>