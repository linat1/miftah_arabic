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F6-L01. The website lesson “Places in Town: Buildings and Public Spaces”: vocabulary, grammar rules and quiz, patterns, common mistakes, sorter, listening, reading, speaking prompts and model, writing task and model, differentiation, final check and the lesson mission. Picture match: website visual game “Places in Town: Buildings and Public Spaces”.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name eight places and write three هُنَاكَ sentences (هُنَاكَ never changes).
• Develop: choose يُوجَدُ / تُوجَدُ from the gender of the place and locate four places (بِجَانِبِ، أَمَامَ، خَلْفَ، فِي).
• Stretch: a connected guide with formal existence forms, varied prepositions and a balanced opinion (… وَلَكِنَّ …).
• Website teaching note: “Learn place nouns as usable chunks, including their gender and a model adjective.” (مَدْرَسَةٌ كَبِيرَةٌ · مَسْجِدٌ قَرِيبٌ).
• Places of worship: the website list includes mosque, church and temple — present them respectfully as places found in many towns.
• Students may describe their real area or an invented town (safeguarding: no home addresses).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town words prepared at home at the end of F5-L12. Questions 3–5 retrieve F5 (places, noun gender, agreement).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There is: يُوجَدُ with a masculine place, تُوجَدُ with a feminine place — or simply هُنَاكَ.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شارع (as in “Shahrah-e-Faisal” / شارع فیصل) and مسجد are identical. مکتب in Urdu is a (Qur’an) school; in Arabic مَكْتَبٌ is an office or desk, and مَكْتَبَةٌ a library — all from “writing” (كَتَبَ). بلدیہ (municipality) → بَلْدَةٌ (town). میدان (a field, ground) → مَيْدَانٌ (a town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Town, settlement and centre (website vocabulary (1 of 2)). Hear → Say → See → Use. Transliteration is printed for Core students (cover it for Develop/Stretch).
Settlement words: مَدِينَةٌ (city) &gt; بَلْدَةٌ (town) &gt; قَرْيَةٌ (village). The cards show gender (m. / f.) and the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Town, settlement and centre (website vocabulary (2 of 2)). Hear → Say → See → Use. Transliteration is printed for Core students (cover it for Develop/Stretch).
Settlement words: مَدِينَةٌ (city) &gt; بَلْدَةٌ (town) &gt; قَرْيَةٌ (village). The cards show gender (m. / f.) and the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Education, culture and worship (website vocabulary (1 of 2)). Hear → Say → See → Use. Transliteration is printed for Core students (cover it for Develop/Stretch).
Many places start with مَـ = “a place of …”: مَدْرَسَةٌ (studying), مَكْتَبَةٌ (books), مَتْحَفٌ (treasures), مَسْجِدٌ (prostration), مَسْرَحٌ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Education, culture and worship (website vocabulary (2 of 2)). Hear → Say → See → Use. Transliteration is printed for Core students (cover it for Develop/Stretch).
Many places start with مَـ = “a place of …”: مَدْرَسَةٌ (studying), مَكْتَبَةٌ (books), مَتْحَفٌ (treasures), مَسْجِدٌ (prostration), مَسْرَحٌ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Services and public spaces (website vocabulary (1 of 2)). Hear → Say → See → Use. Transliteration is printed for Core students (cover it for Develop/Stretch).
FLEX: teach if time allows; otherwise these are on the website vocabulary tab for homework.
FLEX: services. مُسْتَشْفًى (hospital) and مَقْهًى (café) are masculine despite the ending -an: يُوجَدُ مُسْتَشْفًى.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Services and public spaces (website vocabulary (2 of 2)). Hear → Say → See → Use. Transliteration is printed for Core students (cover it for Develop/Stretch).
FLEX: teach if time allows; otherwise these are on the website vocabulary tab for homework.
FLEX: services. مُسْتَشْفًى (hospital) and مَقْهًى (café) are masculine despite the ending -an: يُوجَدُ مُسْتَشْفًى.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“Use يُوجَدُ with a masculine place” (يُـ because the noun is masculine; indefinite when introduced), “Use تُوجَدُ with a feminine place” (many places ending in ـة), “Use هُنَاكَ for a simpler existence statement” (never changes).
Website common error: يُوجَدُ مَدْرَسَةٌ ✗ → تُوجَدُ مَدْرَسَةٌ ✓. Also: هُنَاكَ المَكْتَبَةُ ✗ → هُنَاكَ مَكْتَبَةٌ ✓.
Core students may use هُنَاكَ throughout — it is always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“Join places and add precise location”: a complete description names the place, adds an adjective and locates it: يُوجَدُ مَتْحَفٌ قَدِيمٌ فِي مَرْكَزِ المَدِينَةِ.
Prepositions from F3 (home): بِجَانِبِ، أَمَامَ، خَلْفَ، بَيْنَ، قُرْبَ. After them the noun ends in -i.
Negative (website reading): لَا يُوجَدُ مَطَارٌ … وَلَكِنْ تُوجَدُ مَحَطَّةُ حَافِلَاتٍ قَرِيبَةٌ.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“F6 begins by turning place nouns into accurate town descriptions. The formal present passive agrees with the grammatical gender of the place: يُوجَدُ with a masculine noun and تُوجَدُ with a feminine noun. هُنَاكَ is also useful and does not change.”
• Use يُوجَدُ with a masculine place: The verb form begins with يُـ because the following place noun is masculine. The place is normally indefinite when you introduce it for the first time.
• Use تُوجَدُ with a feminine place: Many place nouns ending in ـة are feminine. The verb therefore begins with تُـ.
• Use هُنَاكَ for a simpler existence statement: هُنَاكَ means “there is / there are”. It stays the same with masculine and feminine nouns.
• Join places and add precise location: A complete description can name the place, add an adjective and locate it.
Website common error: Do not write يُوجَدُ مَدْرَسَةٌ. مَدْرَسَةٌ is feminine, so the accurate sentence is تُوجَدُ مَدْرَسَةٌ.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writing model built step by step. Before each place ask “m. or f.?” — the class chooses يُوجَدُ / تُوجَدُ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Places in Town: Buildings and Public Spaces”)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clue: هٰذَا (m.) for hospital and post office, هٰذِهِ (f.) for the park. Other website items: مَصْرِفٌ (bank — another word for بَنْكٌ), مَتْجَرٌ (shop), مَكْتَبَةٌ.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Places in Town: Buildings and Public Spaces”)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clue: هٰذَا (m.) for hospital and post office, هٰذِهِ (f.) for the park. Other website items: مَصْرِفٌ (bank — another word for بَنْكٌ), مَتْجَرٌ (shop), مَكْتَبَةٌ.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Classify the noun by grammatical gender.
Say each place with يُوجَدُ or تُوجَدُ aloud before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Classify the noun by grammatical gender.
Say each place with يُوجَدُ or تُوجَدُ aloud before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أَسْكُنُ فِي مَدِينَةٍ مُتَوَسِّطَةٍ. فِي مَرْكَزِ المَدِينَةِ يُوجَدُ سُوقٌ قَدِيمٌ وَمَتْحَفٌ جَمِيلٌ. تُوجَدُ مَكْتَبَةٌ حَدِيثَةٌ بِجَانِبِ الجَامِعَةِ. المَطَارُ بَعِيدٌ عَنِ المَرْكَزِ، وَلٰكِنَّ مَحَطَّةَ القِطَارِ قَرِيبَةٌ مِنْ بَيْتِي. أُحِبُّ الحَدِيقَةَ العَامَّةَ لِأَنَّهَا هَادِئَةٌ.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أَيْنَ المَكْتَبَةُ؟ (Where is the library?)
B: هِيَ بِجَانِبِ المَدْرَسَةِ. (It is next to the school.)
Website “Town-place information exchange” — all four prompts are the website’s. Website model: مَاذَا يُوجَدُ فِي حَيِّكَ؟ — فِي حَيِّي يُوجَدُ مَسْجِدٌ، وَتُوجَدُ مَكْتَبَةٌ صَغِيرَةٌ. — أَيْنَ المَكْتَبَةُ؟ — هِيَ بِجَانِبِ المَدْرَسَةِ. To a girl: مَدِينَتِكِ، مَكَانُكِ.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Name eight places and write three هُنَاكَ sentences. · Develop — Use يُوجَدُ / تُوجَدُ accurately and locate four places. · Stretch — Write a connected guide with formal existence forms, varied prepositions and a balanced opinion.
Website writing task (Stretch): Write 60–80 Arabic words introducing your town or neighbourhood and its public places.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يُوجَدُ سُوقٌ · تُوجَدُ مَكْتَبَةٌ · بِجَانِبِ الجَامِعَةِ، خَلْفَهَا · أُحِبُّ مَدِينَتِي لِأَنَّهَا … وَلَكِنَّ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(F6-L02 · Locating Places: Maps, Distance and Position) will spend class time USING this language, so students prepare it tonight — short, simple, easy to access (school guidance: “Simple, Short, Interesting, Relevant, Easy to access”). The five words come from the website F6-L02 lesson (maps, distance and position).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Places in Town: Buildings and Public Spaces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الأَمَاكِنُ فِي المَدِينَةِ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the essential places in a town and say what there is with </a:t>
            </a:r>
            <a:pPr algn="l" indent="0" marL="0">
              <a:buNone/>
            </a:pPr>
            <a:r>
              <a:rPr lang="ar-SA" altLang="en-US" sz="1800" dirty="0">
                <a:solidFill>
                  <a:srgbClr val="C6D2E6"/>
                </a:solidFill>
                <a:latin typeface="Amiri" pitchFamily="2" charset="-78"/>
                <a:ea typeface="Amiri" pitchFamily="2" charset="-78"/>
                <a:cs typeface="Amiri" pitchFamily="2" charset="-78"/>
              </a:rPr>
              <a:t>يُوجَدُ</a:t>
            </a:r>
            <a:pPr algn="l" indent="0" marL="0">
              <a:buNone/>
            </a:pPr>
            <a:r>
              <a:rPr lang="en-US" sz="1400" dirty="0">
                <a:solidFill>
                  <a:srgbClr val="C6D2E6"/>
                </a:solidFill>
                <a:latin typeface="Calibri" pitchFamily="34" charset="0"/>
                <a:cs typeface="Amiri" pitchFamily="2" charset="-78"/>
              </a:rPr>
              <a:t> (masculine), </a:t>
            </a:r>
            <a:pPr algn="l" indent="0" marL="0">
              <a:buNone/>
            </a:pPr>
            <a:r>
              <a:rPr lang="ar-SA" altLang="en-US" sz="1800" dirty="0">
                <a:solidFill>
                  <a:srgbClr val="C6D2E6"/>
                </a:solidFill>
                <a:latin typeface="Amiri" pitchFamily="2" charset="-78"/>
                <a:ea typeface="Amiri" pitchFamily="2" charset="-78"/>
                <a:cs typeface="Amiri" pitchFamily="2" charset="-78"/>
              </a:rPr>
              <a:t>تُوجَدُ</a:t>
            </a:r>
            <a:pPr algn="l" indent="0" marL="0">
              <a:buNone/>
            </a:pPr>
            <a:r>
              <a:rPr lang="en-US" sz="1400" dirty="0">
                <a:solidFill>
                  <a:srgbClr val="C6D2E6"/>
                </a:solidFill>
                <a:latin typeface="Calibri" pitchFamily="34" charset="0"/>
                <a:cs typeface="Amiri" pitchFamily="2" charset="-78"/>
              </a:rPr>
              <a:t> (feminine) and </a:t>
            </a:r>
            <a:pPr algn="l" indent="0" marL="0">
              <a:buNone/>
            </a:pPr>
            <a:r>
              <a:rPr lang="ar-SA" altLang="en-US" sz="1800" dirty="0">
                <a:solidFill>
                  <a:srgbClr val="C6D2E6"/>
                </a:solidFill>
                <a:latin typeface="Amiri" pitchFamily="2" charset="-78"/>
                <a:ea typeface="Amiri" pitchFamily="2" charset="-78"/>
                <a:cs typeface="Amiri" pitchFamily="2" charset="-78"/>
              </a:rPr>
              <a:t>هُنَاكَ</a:t>
            </a:r>
            <a:pPr algn="l" indent="0" marL="0">
              <a:buNone/>
            </a:pPr>
            <a:r>
              <a:rPr lang="en-US" sz="1400" dirty="0">
                <a:solidFill>
                  <a:srgbClr val="C6D2E6"/>
                </a:solidFill>
                <a:latin typeface="Calibri" pitchFamily="34" charset="0"/>
                <a:cs typeface="Amiri" pitchFamily="2" charset="-78"/>
              </a:rPr>
              <a:t>, then locate places with a preposition.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F6-L01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Places in three groups, then there is (m. / f.) and where it is.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masculine / feminine, fix the sentences and listen to Salma’s town.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شَارِعٌ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village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street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مَرْكَزُ المَدِينَةِ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centre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neighbourhood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village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buy medicine?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مَطْعَمٌ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صَيْدَلِيَّةٌ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noun is feminine?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رَأْسٌ</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أَنْفٌ</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agrees with </a:t>
            </a:r>
            <a:pPr algn="l" indent="0" marL="0">
              <a:buNone/>
            </a:pPr>
            <a:r>
              <a:rPr lang="ar-SA" altLang="en-US" sz="1650" b="1" dirty="0">
                <a:solidFill>
                  <a:srgbClr val="1B3B6F"/>
                </a:solidFill>
                <a:latin typeface="Amiri" pitchFamily="2" charset="-78"/>
                <a:ea typeface="Amiri" pitchFamily="2" charset="-78"/>
                <a:cs typeface="Amiri" pitchFamily="2" charset="-78"/>
              </a:rPr>
              <a:t>مَدِينَةٌ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جَمِيلُونَ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شَارِعٌ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village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street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مَرْكَزُ المَدِينَةِ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city centre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neighbourhood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village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buy medicine?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مَطْعَمٌ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صَيْدَلِيَّةٌ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F5-L09 places.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noun is feminine?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رَأْسٌ</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أَنْفٌ</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يَدٌ</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F5-L07: gender without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agrees with </a:t>
            </a:r>
            <a:pPr algn="l" indent="0" marL="0">
              <a:buNone/>
            </a:pPr>
            <a:r>
              <a:rPr lang="ar-SA" altLang="en-US" sz="1650" b="1" dirty="0">
                <a:solidFill>
                  <a:srgbClr val="1B3B6F"/>
                </a:solidFill>
                <a:latin typeface="Amiri" pitchFamily="2" charset="-78"/>
                <a:ea typeface="Amiri" pitchFamily="2" charset="-78"/>
                <a:cs typeface="Amiri" pitchFamily="2" charset="-78"/>
              </a:rPr>
              <a:t>مَدِينَةٌ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جَمِيلَةٌ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جَمِيلٌ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جَمِيلُونَ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F3–F5: feminine noun → feminine adjective.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There is: </a:t>
            </a:r>
            <a:pPr algn="l" indent="0" marL="0">
              <a:buNone/>
            </a:pPr>
            <a:r>
              <a:rPr lang="ar-SA" altLang="en-US" sz="1700" b="1" dirty="0">
                <a:solidFill>
                  <a:srgbClr val="1F2A37"/>
                </a:solidFill>
                <a:latin typeface="Amiri" pitchFamily="2" charset="-78"/>
                <a:ea typeface="Amiri" pitchFamily="2" charset="-78"/>
                <a:cs typeface="Amiri" pitchFamily="2" charset="-78"/>
              </a:rPr>
              <a:t>يُوجَدُ</a:t>
            </a:r>
            <a:pPr algn="l" indent="0" marL="0">
              <a:buNone/>
            </a:pPr>
            <a:r>
              <a:rPr lang="en-US" sz="1300" b="1" dirty="0">
                <a:solidFill>
                  <a:srgbClr val="1F2A37"/>
                </a:solidFill>
                <a:latin typeface="Calibri" pitchFamily="34" charset="0"/>
                <a:cs typeface="Amiri" pitchFamily="2" charset="-78"/>
              </a:rPr>
              <a:t> with a masculine place, </a:t>
            </a:r>
            <a:pPr algn="l" indent="0" marL="0">
              <a:buNone/>
            </a:pPr>
            <a:r>
              <a:rPr lang="ar-SA" altLang="en-US" sz="1700" b="1" dirty="0">
                <a:solidFill>
                  <a:srgbClr val="1F2A37"/>
                </a:solidFill>
                <a:latin typeface="Amiri" pitchFamily="2" charset="-78"/>
                <a:ea typeface="Amiri" pitchFamily="2" charset="-78"/>
                <a:cs typeface="Amiri" pitchFamily="2" charset="-78"/>
              </a:rPr>
              <a:t>تُوجَدُ</a:t>
            </a:r>
            <a:pPr algn="l" indent="0" marL="0">
              <a:buNone/>
            </a:pPr>
            <a:r>
              <a:rPr lang="en-US" sz="1300" b="1" dirty="0">
                <a:solidFill>
                  <a:srgbClr val="1F2A37"/>
                </a:solidFill>
                <a:latin typeface="Calibri" pitchFamily="34" charset="0"/>
                <a:cs typeface="Amiri" pitchFamily="2" charset="-78"/>
              </a:rPr>
              <a:t> with a feminine place — or simply </a:t>
            </a:r>
            <a:pPr algn="l" indent="0" marL="0">
              <a:buNone/>
            </a:pPr>
            <a:r>
              <a:rPr lang="ar-SA" altLang="en-US" sz="1700" b="1" dirty="0">
                <a:solidFill>
                  <a:srgbClr val="1F2A37"/>
                </a:solidFill>
                <a:latin typeface="Amiri" pitchFamily="2" charset="-78"/>
                <a:ea typeface="Amiri" pitchFamily="2" charset="-78"/>
                <a:cs typeface="Amiri" pitchFamily="2" charset="-78"/>
              </a:rPr>
              <a:t>هُنَاكَ</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يُوجَدُ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مَسْجِدٌ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تُوجَدُ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مَدْرَسَةٌ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هُنَاكَ</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سُوقٌ</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at least twenty places and public spaces.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masculine and feminine place nouns.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يُوجَدُ</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تُوجَدُ</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هُنَاكَ</a:t>
            </a:r>
            <a:pPr algn="l" indent="0" marL="0">
              <a:buNone/>
            </a:pPr>
            <a:r>
              <a:rPr lang="en-US" sz="1300" dirty="0">
                <a:solidFill>
                  <a:srgbClr val="1F2A37"/>
                </a:solidFill>
                <a:latin typeface="Calibri" pitchFamily="34" charset="0"/>
                <a:cs typeface="Amiri" pitchFamily="2" charset="-78"/>
              </a:rPr>
              <a:t>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produce a short description of a town.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sixteen places in town.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there is … with </a:t>
            </a:r>
            <a:pPr algn="l" indent="0" marL="0">
              <a:buNone/>
            </a:pPr>
            <a:r>
              <a:rPr lang="ar-SA" altLang="en-US" sz="1700" b="1" dirty="0">
                <a:solidFill>
                  <a:srgbClr val="2E8B57"/>
                </a:solidFill>
                <a:latin typeface="Amiri" pitchFamily="2" charset="-78"/>
                <a:ea typeface="Amiri" pitchFamily="2" charset="-78"/>
                <a:cs typeface="Amiri" pitchFamily="2" charset="-78"/>
              </a:rPr>
              <a:t>هُنَاكَ</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a:t>
            </a:r>
            <a:pPr algn="l" indent="0" marL="0">
              <a:buNone/>
            </a:pPr>
            <a:r>
              <a:rPr lang="ar-SA" altLang="en-US" sz="1700" b="1" dirty="0">
                <a:solidFill>
                  <a:srgbClr val="C9780A"/>
                </a:solidFill>
                <a:latin typeface="Amiri" pitchFamily="2" charset="-78"/>
                <a:ea typeface="Amiri" pitchFamily="2" charset="-78"/>
                <a:cs typeface="Amiri" pitchFamily="2" charset="-78"/>
              </a:rPr>
              <a:t>يُوجَدُ</a:t>
            </a:r>
            <a:pPr algn="l" indent="0" marL="0">
              <a:buNone/>
            </a:pPr>
            <a:r>
              <a:rPr lang="en-US" sz="1300" b="1" dirty="0">
                <a:solidFill>
                  <a:srgbClr val="C9780A"/>
                </a:solidFill>
                <a:latin typeface="Calibri" pitchFamily="34" charset="0"/>
                <a:cs typeface="Amiri" pitchFamily="2" charset="-78"/>
              </a:rPr>
              <a:t> or </a:t>
            </a:r>
            <a:pPr algn="l" indent="0" marL="0">
              <a:buNone/>
            </a:pPr>
            <a:r>
              <a:rPr lang="ar-SA" altLang="en-US" sz="1700" b="1" dirty="0">
                <a:solidFill>
                  <a:srgbClr val="C9780A"/>
                </a:solidFill>
                <a:latin typeface="Amiri" pitchFamily="2" charset="-78"/>
                <a:ea typeface="Amiri" pitchFamily="2" charset="-78"/>
                <a:cs typeface="Amiri" pitchFamily="2" charset="-78"/>
              </a:rPr>
              <a:t>تُوجَدُ</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locate a place with a preposition.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connected town guide.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balanced opinion with </a:t>
            </a:r>
            <a:pPr algn="l" indent="0" marL="0">
              <a:buNone/>
            </a:pPr>
            <a:r>
              <a:rPr lang="ar-SA" altLang="en-US" sz="1700" b="1" dirty="0">
                <a:solidFill>
                  <a:srgbClr val="B83227"/>
                </a:solidFill>
                <a:latin typeface="Amiri" pitchFamily="2" charset="-78"/>
                <a:ea typeface="Amiri" pitchFamily="2" charset="-78"/>
                <a:cs typeface="Amiri" pitchFamily="2" charset="-78"/>
              </a:rPr>
              <a:t>وَلَكِنَّ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29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Town, settlement and centre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Education, culture and worship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Services and public spaces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شَارِعٌ</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‎شارع‎ </a:t>
            </a:r>
            <a:pPr indent="0" marL="0">
              <a:buNone/>
            </a:pPr>
            <a:r>
              <a:rPr lang="en-US" sz="950" b="1" dirty="0">
                <a:solidFill>
                  <a:srgbClr val="2E8B57"/>
                </a:solidFill>
                <a:latin typeface="Calibri" pitchFamily="34" charset="0"/>
                <a:cs typeface="Amiri" pitchFamily="2" charset="-78"/>
              </a:rPr>
              <a:t> shāriʿ · street (Shahrah-e …)</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مَسْجِدٌ</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‎مسجد‎ </a:t>
            </a:r>
            <a:pPr indent="0" marL="0">
              <a:buNone/>
            </a:pPr>
            <a:r>
              <a:rPr lang="en-US" sz="950" b="1" dirty="0">
                <a:solidFill>
                  <a:srgbClr val="2E8B57"/>
                </a:solidFill>
                <a:latin typeface="Calibri" pitchFamily="34" charset="0"/>
                <a:cs typeface="Amiri" pitchFamily="2" charset="-78"/>
              </a:rPr>
              <a:t> masjid · mosque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مَكْتَبٌ</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‎مکتب‎ </a:t>
            </a:r>
            <a:pPr indent="0" marL="0">
              <a:buNone/>
            </a:pPr>
            <a:r>
              <a:rPr lang="en-US" sz="950" b="1" dirty="0">
                <a:solidFill>
                  <a:srgbClr val="2E8B57"/>
                </a:solidFill>
                <a:latin typeface="Calibri" pitchFamily="34" charset="0"/>
                <a:cs typeface="Amiri" pitchFamily="2" charset="-78"/>
              </a:rPr>
              <a:t> maktab · Urdu: school · Arabic: office / desk</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بَلْدَةٌ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‎بلدیہ‎ </a:t>
            </a:r>
            <a:pPr indent="0" marL="0">
              <a:buNone/>
            </a:pPr>
            <a:r>
              <a:rPr lang="en-US" sz="950" b="1" dirty="0">
                <a:solidFill>
                  <a:srgbClr val="2E8B57"/>
                </a:solidFill>
                <a:latin typeface="Calibri" pitchFamily="34" charset="0"/>
                <a:cs typeface="Amiri" pitchFamily="2" charset="-78"/>
              </a:rPr>
              <a:t> baldiya · municipality → town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مَيْدَانٌ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‎میدان‎ </a:t>
            </a:r>
            <a:pPr indent="0" marL="0">
              <a:buNone/>
            </a:pPr>
            <a:r>
              <a:rPr lang="en-US" sz="950" b="1" dirty="0">
                <a:solidFill>
                  <a:srgbClr val="2E8B57"/>
                </a:solidFill>
                <a:latin typeface="Calibri" pitchFamily="34" charset="0"/>
                <a:cs typeface="Amiri" pitchFamily="2" charset="-78"/>
              </a:rPr>
              <a:t> maidān · field / ground → square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Town, settlement and centre (1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مَدِينَةٌ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city</a:t>
            </a:r>
            <a:endParaRPr lang="en-US" sz="1350" dirty="0"/>
          </a:p>
          <a:p>
            <a:pPr indent="0" marL="0">
              <a:buNone/>
            </a:pPr>
            <a:r>
              <a:rPr lang="en-US" sz="1100" i="1" dirty="0">
                <a:solidFill>
                  <a:srgbClr val="5A6472"/>
                </a:solidFill>
                <a:latin typeface="Calibri" pitchFamily="34" charset="0"/>
                <a:cs typeface="Amiri" pitchFamily="2" charset="-78"/>
              </a:rPr>
              <a:t>ma-dī-na-tun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مَدِينَةٌ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بَلْدَةٌ</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town</a:t>
            </a:r>
            <a:endParaRPr lang="en-US" sz="1350" dirty="0"/>
          </a:p>
          <a:p>
            <a:pPr indent="0" marL="0">
              <a:buNone/>
            </a:pPr>
            <a:r>
              <a:rPr lang="en-US" sz="1100" i="1" dirty="0">
                <a:solidFill>
                  <a:srgbClr val="5A6472"/>
                </a:solidFill>
                <a:latin typeface="Calibri" pitchFamily="34" charset="0"/>
                <a:cs typeface="Amiri" pitchFamily="2" charset="-78"/>
              </a:rPr>
              <a:t>bal-da-tun</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قَرْيَةٌ</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village</a:t>
            </a:r>
            <a:endParaRPr lang="en-US" sz="1350" dirty="0"/>
          </a:p>
          <a:p>
            <a:pPr indent="0" marL="0">
              <a:buNone/>
            </a:pPr>
            <a:r>
              <a:rPr lang="en-US" sz="1100" i="1" dirty="0">
                <a:solidFill>
                  <a:srgbClr val="5A6472"/>
                </a:solidFill>
                <a:latin typeface="Calibri" pitchFamily="34" charset="0"/>
                <a:cs typeface="Amiri" pitchFamily="2" charset="-78"/>
              </a:rPr>
              <a:t>qar-ya-tun</a:t>
            </a:r>
            <a:endParaRPr lang="en-US" sz="1350" dirty="0"/>
          </a:p>
        </p:txBody>
      </p:sp>
      <p:sp>
        <p:nvSpPr>
          <p:cNvPr id="44" name="Shape 4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6" name="Text 4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قَرْيَةٌ</a:t>
            </a:r>
            <a:endParaRPr lang="ar-SA" sz="1500" dirty="0"/>
          </a:p>
        </p:txBody>
      </p:sp>
      <p:sp>
        <p:nvSpPr>
          <p:cNvPr id="47" name="Shape 4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9" name="Text 4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قُرًى</a:t>
            </a:r>
            <a:endParaRPr lang="ar-SA" sz="150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مَرْكَزُ المَدِينَةِ</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city centre</a:t>
            </a:r>
            <a:endParaRPr lang="en-US" sz="1350" dirty="0"/>
          </a:p>
          <a:p>
            <a:pPr indent="0" marL="0">
              <a:buNone/>
            </a:pPr>
            <a:r>
              <a:rPr lang="en-US" sz="1100" i="1" dirty="0">
                <a:solidFill>
                  <a:srgbClr val="5A6472"/>
                </a:solidFill>
                <a:latin typeface="Calibri" pitchFamily="34" charset="0"/>
                <a:cs typeface="Amiri" pitchFamily="2" charset="-78"/>
              </a:rPr>
              <a:t>mar-ka-zu al-ma-dī-na-ti</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Town, settlement and centre (2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neighbourhood</a:t>
            </a:r>
            <a:endParaRPr lang="en-US" sz="1350" dirty="0"/>
          </a:p>
          <a:p>
            <a:pPr indent="0" marL="0">
              <a:buNone/>
            </a:pPr>
            <a:r>
              <a:rPr lang="en-US" sz="1100" i="1" dirty="0">
                <a:solidFill>
                  <a:srgbClr val="5A6472"/>
                </a:solidFill>
                <a:latin typeface="Calibri" pitchFamily="34" charset="0"/>
                <a:cs typeface="Amiri" pitchFamily="2" charset="-78"/>
              </a:rPr>
              <a:t>ḥay-yun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شَارِعٌ</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street</a:t>
            </a:r>
            <a:endParaRPr lang="en-US" sz="1350" dirty="0"/>
          </a:p>
          <a:p>
            <a:pPr indent="0" marL="0">
              <a:buNone/>
            </a:pPr>
            <a:r>
              <a:rPr lang="en-US" sz="1100" i="1" dirty="0">
                <a:solidFill>
                  <a:srgbClr val="5A6472"/>
                </a:solidFill>
                <a:latin typeface="Calibri" pitchFamily="34" charset="0"/>
                <a:cs typeface="Amiri" pitchFamily="2" charset="-78"/>
              </a:rPr>
              <a:t>shā-ri-ʿun</a:t>
            </a:r>
            <a:endParaRPr lang="en-US" sz="1350" dirty="0"/>
          </a:p>
        </p:txBody>
      </p:sp>
      <p:sp>
        <p:nvSpPr>
          <p:cNvPr id="29" name="Shape 2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1" name="Text 2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شَارِعٌ</a:t>
            </a:r>
            <a:endParaRPr lang="ar-SA" sz="1500" dirty="0"/>
          </a:p>
        </p:txBody>
      </p:sp>
      <p:sp>
        <p:nvSpPr>
          <p:cNvPr id="32" name="Shape 2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شَوَارِعُ</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مَيْدَانٌ</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square</a:t>
            </a:r>
            <a:endParaRPr lang="en-US" sz="1350" dirty="0"/>
          </a:p>
          <a:p>
            <a:pPr indent="0" marL="0">
              <a:buNone/>
            </a:pPr>
            <a:r>
              <a:rPr lang="en-US" sz="1100" i="1" dirty="0">
                <a:solidFill>
                  <a:srgbClr val="5A6472"/>
                </a:solidFill>
                <a:latin typeface="Calibri" pitchFamily="34" charset="0"/>
                <a:cs typeface="Amiri" pitchFamily="2" charset="-78"/>
              </a:rPr>
              <a:t>may-dā-nun</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جِسْرٌ</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bridge</a:t>
            </a:r>
            <a:endParaRPr lang="en-US" sz="1350" dirty="0"/>
          </a:p>
          <a:p>
            <a:pPr indent="0" marL="0">
              <a:buNone/>
            </a:pPr>
            <a:r>
              <a:rPr lang="en-US" sz="1100" i="1" dirty="0">
                <a:solidFill>
                  <a:srgbClr val="5A6472"/>
                </a:solidFill>
                <a:latin typeface="Calibri" pitchFamily="34" charset="0"/>
                <a:cs typeface="Amiri" pitchFamily="2" charset="-78"/>
              </a:rPr>
              <a:t>jis-run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Education, culture and worship (1 of 2)</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مَدَارِسُ</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جَامِعَةٌ</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university</a:t>
            </a:r>
            <a:endParaRPr lang="en-US" sz="1350" dirty="0"/>
          </a:p>
          <a:p>
            <a:pPr indent="0" marL="0">
              <a:buNone/>
            </a:pPr>
            <a:r>
              <a:rPr lang="en-US" sz="1100" i="1" dirty="0">
                <a:solidFill>
                  <a:srgbClr val="5A6472"/>
                </a:solidFill>
                <a:latin typeface="Calibri" pitchFamily="34" charset="0"/>
                <a:cs typeface="Amiri" pitchFamily="2" charset="-78"/>
              </a:rPr>
              <a:t>jā-mi-ʿa-tun</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library</a:t>
            </a:r>
            <a:endParaRPr lang="en-US" sz="1350" dirty="0"/>
          </a:p>
          <a:p>
            <a:pPr indent="0" marL="0">
              <a:buNone/>
            </a:pPr>
            <a:r>
              <a:rPr lang="en-US" sz="1100" i="1" dirty="0">
                <a:solidFill>
                  <a:srgbClr val="5A6472"/>
                </a:solidFill>
                <a:latin typeface="Calibri" pitchFamily="34" charset="0"/>
                <a:cs typeface="Amiri" pitchFamily="2" charset="-78"/>
              </a:rPr>
              <a:t>mak-ta-ba-tun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مَتْحَفٌ</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museum</a:t>
            </a:r>
            <a:endParaRPr lang="en-US" sz="1350" dirty="0"/>
          </a:p>
          <a:p>
            <a:pPr indent="0" marL="0">
              <a:buNone/>
            </a:pPr>
            <a:r>
              <a:rPr lang="en-US" sz="1100" i="1" dirty="0">
                <a:solidFill>
                  <a:srgbClr val="5A6472"/>
                </a:solidFill>
                <a:latin typeface="Calibri" pitchFamily="34" charset="0"/>
                <a:cs typeface="Amiri" pitchFamily="2" charset="-78"/>
              </a:rPr>
              <a:t>mat-ḥa-fun</a:t>
            </a:r>
            <a:endParaRPr lang="en-US" sz="1350" dirty="0"/>
          </a:p>
        </p:txBody>
      </p:sp>
      <p:sp>
        <p:nvSpPr>
          <p:cNvPr id="51" name="Shape 4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3" name="Text 5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مَتْحَفٌ</a:t>
            </a:r>
            <a:endParaRPr lang="ar-SA" sz="1500" dirty="0"/>
          </a:p>
        </p:txBody>
      </p:sp>
      <p:sp>
        <p:nvSpPr>
          <p:cNvPr id="54" name="Shape 5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مَتَاحِفُ</a:t>
            </a:r>
            <a:endParaRPr lang="ar-SA" sz="1500" dirty="0"/>
          </a:p>
        </p:txBody>
      </p:sp>
      <p:sp>
        <p:nvSpPr>
          <p:cNvPr id="57" name="Shape 5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389120"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مَسْرَحٌ</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theatre</a:t>
            </a:r>
            <a:endParaRPr lang="en-US" sz="1350" dirty="0"/>
          </a:p>
          <a:p>
            <a:pPr indent="0" marL="0">
              <a:buNone/>
            </a:pPr>
            <a:r>
              <a:rPr lang="en-US" sz="1100" i="1" dirty="0">
                <a:solidFill>
                  <a:srgbClr val="5A6472"/>
                </a:solidFill>
                <a:latin typeface="Calibri" pitchFamily="34" charset="0"/>
                <a:cs typeface="Amiri" pitchFamily="2" charset="-78"/>
              </a:rPr>
              <a:t>mas-ra-ḥun</a:t>
            </a:r>
            <a:endParaRPr lang="en-US" sz="13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Education, culture and worship (2 of 2)</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سِينَمَا</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cinema</a:t>
            </a:r>
            <a:endParaRPr lang="en-US" sz="1350" dirty="0"/>
          </a:p>
          <a:p>
            <a:pPr indent="0" marL="0">
              <a:buNone/>
            </a:pPr>
            <a:r>
              <a:rPr lang="en-US" sz="1100" i="1" dirty="0">
                <a:solidFill>
                  <a:srgbClr val="5A6472"/>
                </a:solidFill>
                <a:latin typeface="Calibri" pitchFamily="34" charset="0"/>
                <a:cs typeface="Amiri" pitchFamily="2" charset="-78"/>
              </a:rPr>
              <a:t>sī-na-mā</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3" name="Shape 2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مَسْجِدٌ</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mosque</a:t>
            </a:r>
            <a:endParaRPr lang="en-US" sz="1350" dirty="0"/>
          </a:p>
          <a:p>
            <a:pPr indent="0" marL="0">
              <a:buNone/>
            </a:pPr>
            <a:r>
              <a:rPr lang="en-US" sz="1100" i="1" dirty="0">
                <a:solidFill>
                  <a:srgbClr val="5A6472"/>
                </a:solidFill>
                <a:latin typeface="Calibri" pitchFamily="34" charset="0"/>
                <a:cs typeface="Amiri" pitchFamily="2" charset="-78"/>
              </a:rPr>
              <a:t>mas-ji-dun</a:t>
            </a:r>
            <a:endParaRPr lang="en-US" sz="1350" dirty="0"/>
          </a:p>
        </p:txBody>
      </p:sp>
      <p:sp>
        <p:nvSpPr>
          <p:cNvPr id="29" name="Shape 2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1" name="Text 2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مَسْجِدٌ</a:t>
            </a:r>
            <a:endParaRPr lang="ar-SA" sz="1500" dirty="0"/>
          </a:p>
        </p:txBody>
      </p:sp>
      <p:sp>
        <p:nvSpPr>
          <p:cNvPr id="32" name="Shape 2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مَسَاجِدُ</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كَنِيسَةٌ</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church</a:t>
            </a:r>
            <a:endParaRPr lang="en-US" sz="1350" dirty="0"/>
          </a:p>
          <a:p>
            <a:pPr indent="0" marL="0">
              <a:buNone/>
            </a:pPr>
            <a:r>
              <a:rPr lang="en-US" sz="1100" i="1" dirty="0">
                <a:solidFill>
                  <a:srgbClr val="5A6472"/>
                </a:solidFill>
                <a:latin typeface="Calibri" pitchFamily="34" charset="0"/>
                <a:cs typeface="Amiri" pitchFamily="2" charset="-78"/>
              </a:rPr>
              <a:t>ka-nī-sa-tun</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مَعْبَدٌ</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temple</a:t>
            </a:r>
            <a:endParaRPr lang="en-US" sz="1350" dirty="0"/>
          </a:p>
          <a:p>
            <a:pPr indent="0" marL="0">
              <a:buNone/>
            </a:pPr>
            <a:r>
              <a:rPr lang="en-US" sz="1100" i="1" dirty="0">
                <a:solidFill>
                  <a:srgbClr val="5A6472"/>
                </a:solidFill>
                <a:latin typeface="Calibri" pitchFamily="34" charset="0"/>
                <a:cs typeface="Amiri" pitchFamily="2" charset="-78"/>
              </a:rPr>
              <a:t>maʿ-ba-dun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Services and public spaces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صَيْدَلِيَّةٌ</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pharmacy</a:t>
            </a:r>
            <a:endParaRPr lang="en-US" sz="1350" dirty="0"/>
          </a:p>
          <a:p>
            <a:pPr indent="0" marL="0">
              <a:buNone/>
            </a:pPr>
            <a:r>
              <a:rPr lang="en-US" sz="1100" i="1" dirty="0">
                <a:solidFill>
                  <a:srgbClr val="5A6472"/>
                </a:solidFill>
                <a:latin typeface="Calibri" pitchFamily="34" charset="0"/>
                <a:cs typeface="Amiri" pitchFamily="2" charset="-78"/>
              </a:rPr>
              <a:t>ṣay-da-liy-ya-tun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بَنْكٌ</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bank</a:t>
            </a:r>
            <a:endParaRPr lang="en-US" sz="1350" dirty="0"/>
          </a:p>
          <a:p>
            <a:pPr indent="0" marL="0">
              <a:buNone/>
            </a:pPr>
            <a:r>
              <a:rPr lang="en-US" sz="1100" i="1" dirty="0">
                <a:solidFill>
                  <a:srgbClr val="5A6472"/>
                </a:solidFill>
                <a:latin typeface="Calibri" pitchFamily="34" charset="0"/>
                <a:cs typeface="Amiri" pitchFamily="2" charset="-78"/>
              </a:rPr>
              <a:t>ban-kun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 بَرِيدٍ</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post office</a:t>
            </a:r>
            <a:endParaRPr lang="en-US" sz="1350" dirty="0"/>
          </a:p>
          <a:p>
            <a:pPr indent="0" marL="0">
              <a:buNone/>
            </a:pPr>
            <a:r>
              <a:rPr lang="en-US" sz="1100" i="1" dirty="0">
                <a:solidFill>
                  <a:srgbClr val="5A6472"/>
                </a:solidFill>
                <a:latin typeface="Calibri" pitchFamily="34" charset="0"/>
                <a:cs typeface="Amiri" pitchFamily="2" charset="-78"/>
              </a:rPr>
              <a:t>mak-ta-bu ba-rī-din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6" name="Shape 4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مَحَطَّةٌ</a:t>
            </a:r>
            <a:endParaRPr lang="ar-SA" sz="3000" dirty="0"/>
          </a:p>
        </p:txBody>
      </p:sp>
      <p:sp>
        <p:nvSpPr>
          <p:cNvPr id="51" name="Text 4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station</a:t>
            </a:r>
            <a:endParaRPr lang="en-US" sz="1350" dirty="0"/>
          </a:p>
          <a:p>
            <a:pPr indent="0" marL="0">
              <a:buNone/>
            </a:pPr>
            <a:r>
              <a:rPr lang="en-US" sz="1100" i="1" dirty="0">
                <a:solidFill>
                  <a:srgbClr val="5A6472"/>
                </a:solidFill>
                <a:latin typeface="Calibri" pitchFamily="34" charset="0"/>
                <a:cs typeface="Amiri" pitchFamily="2" charset="-78"/>
              </a:rPr>
              <a:t>ma-ḥaṭ-ṭa-tun</a:t>
            </a:r>
            <a:endParaRPr lang="en-US" sz="1350" dirty="0"/>
          </a:p>
        </p:txBody>
      </p:sp>
      <p:sp>
        <p:nvSpPr>
          <p:cNvPr id="52" name="Shape 4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4" name="Text 5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مَحَطَّةٌ</a:t>
            </a:r>
            <a:endParaRPr lang="ar-SA" sz="1500" dirty="0"/>
          </a:p>
        </p:txBody>
      </p:sp>
      <p:sp>
        <p:nvSpPr>
          <p:cNvPr id="55" name="Shape 5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مَحَطَّاتٌ</a:t>
            </a:r>
            <a:endParaRPr lang="ar-SA" sz="150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61" name="Shape 5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مَطَارٌ</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airport</a:t>
            </a:r>
            <a:endParaRPr lang="en-US" sz="1350" dirty="0"/>
          </a:p>
          <a:p>
            <a:pPr indent="0" marL="0">
              <a:buNone/>
            </a:pPr>
            <a:r>
              <a:rPr lang="en-US" sz="1100" i="1" dirty="0">
                <a:solidFill>
                  <a:srgbClr val="5A6472"/>
                </a:solidFill>
                <a:latin typeface="Calibri" pitchFamily="34" charset="0"/>
                <a:cs typeface="Amiri" pitchFamily="2" charset="-78"/>
              </a:rPr>
              <a:t>ma-ṭā-run</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Services and public spaces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سُوقٌ</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market</a:t>
            </a:r>
            <a:endParaRPr lang="en-US" sz="1350" dirty="0"/>
          </a:p>
          <a:p>
            <a:pPr indent="0" marL="0">
              <a:buNone/>
            </a:pPr>
            <a:r>
              <a:rPr lang="en-US" sz="1100" i="1" dirty="0">
                <a:solidFill>
                  <a:srgbClr val="5A6472"/>
                </a:solidFill>
                <a:latin typeface="Calibri" pitchFamily="34" charset="0"/>
                <a:cs typeface="Amiri" pitchFamily="2" charset="-78"/>
              </a:rPr>
              <a:t>sū-qun</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سُوقٌ</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أَسْوَاقٌ</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مَرْكَزٌ تِجَارِيٌّ</a:t>
            </a:r>
            <a:endParaRPr lang="ar-SA" sz="3000" dirty="0"/>
          </a:p>
        </p:txBody>
      </p:sp>
      <p:sp>
        <p:nvSpPr>
          <p:cNvPr id="38" name="Text 3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shopping centre</a:t>
            </a:r>
            <a:endParaRPr lang="en-US" sz="1350" dirty="0"/>
          </a:p>
          <a:p>
            <a:pPr indent="0" marL="0">
              <a:buNone/>
            </a:pPr>
            <a:r>
              <a:rPr lang="en-US" sz="1100" i="1" dirty="0">
                <a:solidFill>
                  <a:srgbClr val="5A6472"/>
                </a:solidFill>
                <a:latin typeface="Calibri" pitchFamily="34" charset="0"/>
                <a:cs typeface="Amiri" pitchFamily="2" charset="-78"/>
              </a:rPr>
              <a:t>mar-ka-zun ti-jā-riy-yun</a:t>
            </a:r>
            <a:endParaRPr lang="en-US"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مَطْعَمٌ</a:t>
            </a:r>
            <a:endParaRPr lang="ar-SA" sz="3000" dirty="0"/>
          </a:p>
        </p:txBody>
      </p:sp>
      <p:sp>
        <p:nvSpPr>
          <p:cNvPr id="45" name="Text 4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restaurant</a:t>
            </a:r>
            <a:endParaRPr lang="en-US" sz="1350" dirty="0"/>
          </a:p>
          <a:p>
            <a:pPr indent="0" marL="0">
              <a:buNone/>
            </a:pPr>
            <a:r>
              <a:rPr lang="en-US" sz="1100" i="1" dirty="0">
                <a:solidFill>
                  <a:srgbClr val="5A6472"/>
                </a:solidFill>
                <a:latin typeface="Calibri" pitchFamily="34" charset="0"/>
                <a:cs typeface="Amiri" pitchFamily="2" charset="-78"/>
              </a:rPr>
              <a:t>maṭ-ʿa-mun</a:t>
            </a:r>
            <a:endParaRPr lang="en-US" sz="135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مَقْهًى</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café</a:t>
            </a:r>
            <a:endParaRPr lang="en-US" sz="1350" dirty="0"/>
          </a:p>
          <a:p>
            <a:pPr indent="0" marL="0">
              <a:buNone/>
            </a:pPr>
            <a:r>
              <a:rPr lang="en-US" sz="1100" i="1" dirty="0">
                <a:solidFill>
                  <a:srgbClr val="5A6472"/>
                </a:solidFill>
                <a:latin typeface="Calibri" pitchFamily="34" charset="0"/>
                <a:cs typeface="Amiri" pitchFamily="2" charset="-78"/>
              </a:rPr>
              <a:t>maq-han</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حَدِيقَةٌ عَامَّةٌ</a:t>
            </a:r>
            <a:endParaRPr lang="ar-SA" sz="3000" dirty="0"/>
          </a:p>
        </p:txBody>
      </p:sp>
      <p:sp>
        <p:nvSpPr>
          <p:cNvPr id="59" name="Text 5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park</a:t>
            </a:r>
            <a:endParaRPr lang="en-US" sz="1350" dirty="0"/>
          </a:p>
          <a:p>
            <a:pPr indent="0" marL="0">
              <a:buNone/>
            </a:pPr>
            <a:r>
              <a:rPr lang="en-US" sz="1100" i="1" dirty="0">
                <a:solidFill>
                  <a:srgbClr val="5A6472"/>
                </a:solidFill>
                <a:latin typeface="Calibri" pitchFamily="34" charset="0"/>
                <a:cs typeface="Amiri" pitchFamily="2" charset="-78"/>
              </a:rPr>
              <a:t>ḥa-dī-qa-tun ʿām-ma-tun</a:t>
            </a:r>
            <a:endParaRPr lang="en-US" sz="1350" dirty="0"/>
          </a:p>
        </p:txBody>
      </p:sp>
      <p:sp>
        <p:nvSpPr>
          <p:cNvPr id="60" name="Shape 5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2" name="Text 5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حَدِيقَةٌ عَامَّةٌ</a:t>
            </a:r>
            <a:endParaRPr lang="ar-SA" sz="1500" dirty="0"/>
          </a:p>
        </p:txBody>
      </p:sp>
      <p:sp>
        <p:nvSpPr>
          <p:cNvPr id="63" name="Shape 6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حَدَائِقُ عَامَّةٌ</a:t>
            </a:r>
            <a:endParaRPr lang="ar-SA" sz="150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69" name="Text 6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مَلْعَبٌ</a:t>
            </a:r>
            <a:endParaRPr lang="ar-SA" sz="3000" dirty="0"/>
          </a:p>
        </p:txBody>
      </p:sp>
      <p:sp>
        <p:nvSpPr>
          <p:cNvPr id="70" name="Text 6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sports ground</a:t>
            </a:r>
            <a:endParaRPr lang="en-US" sz="1350" dirty="0"/>
          </a:p>
          <a:p>
            <a:pPr indent="0" marL="0">
              <a:buNone/>
            </a:pPr>
            <a:r>
              <a:rPr lang="en-US" sz="1100" i="1" dirty="0">
                <a:solidFill>
                  <a:srgbClr val="5A6472"/>
                </a:solidFill>
                <a:latin typeface="Calibri" pitchFamily="34" charset="0"/>
                <a:cs typeface="Amiri" pitchFamily="2" charset="-78"/>
              </a:rPr>
              <a:t>mal-ʿa-bun</a:t>
            </a:r>
            <a:endParaRPr lang="en-US" sz="13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THERE IS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There is a mosque · there is a school</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يُوجَدُ · تُوجَدُ · هُنَاكَ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27064" y="1810512"/>
            <a:ext cx="5431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place · </a:t>
            </a:r>
            <a:pPr algn="ctr" indent="0" marL="0">
              <a:buNone/>
            </a:pPr>
            <a:r>
              <a:rPr lang="ar-SA" altLang="en-US" sz="1450" b="1" dirty="0">
                <a:solidFill>
                  <a:srgbClr val="FFFFFF"/>
                </a:solidFill>
                <a:latin typeface="Amiri" pitchFamily="2" charset="-78"/>
                <a:ea typeface="Amiri" pitchFamily="2" charset="-78"/>
                <a:cs typeface="Amiri" pitchFamily="2" charset="-78"/>
              </a:rPr>
              <a:t>يُوجَدُ</a:t>
            </a:r>
            <a:endParaRPr lang="en-US" sz="1100" dirty="0"/>
          </a:p>
        </p:txBody>
      </p:sp>
      <p:sp>
        <p:nvSpPr>
          <p:cNvPr id="17" name="Text 14"/>
          <p:cNvSpPr txBox="1"/>
          <p:nvPr/>
        </p:nvSpPr>
        <p:spPr>
          <a:xfrm>
            <a:off x="53035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place · </a:t>
            </a:r>
            <a:pPr algn="ctr" indent="0" marL="0">
              <a:buNone/>
            </a:pPr>
            <a:r>
              <a:rPr lang="ar-SA" altLang="en-US" sz="1450" b="1" dirty="0">
                <a:solidFill>
                  <a:srgbClr val="FFFFFF"/>
                </a:solidFill>
                <a:latin typeface="Amiri" pitchFamily="2" charset="-78"/>
                <a:ea typeface="Amiri" pitchFamily="2" charset="-78"/>
                <a:cs typeface="Amiri" pitchFamily="2" charset="-78"/>
              </a:rPr>
              <a:t>تُوجَدُ</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245352" y="2286000"/>
            <a:ext cx="53949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يُوجَدُ</a:t>
            </a:r>
            <a:pPr rtl="1" algn="ctr" indent="0" marL="0">
              <a:buNone/>
            </a:pPr>
            <a:r>
              <a:rPr lang="ar-SA" altLang="en-US" sz="1950" b="1" dirty="0">
                <a:solidFill>
                  <a:srgbClr val="1B3B6F"/>
                </a:solidFill>
                <a:latin typeface="Amiri" pitchFamily="2" charset="-78"/>
                <a:ea typeface="Amiri" pitchFamily="2" charset="-78"/>
                <a:cs typeface="Amiri" pitchFamily="2" charset="-78"/>
              </a:rPr>
              <a:t> مَسْجِدٌ قَرِيبٌ.</a:t>
            </a:r>
            <a:endParaRPr lang="ar-SA" sz="1950" dirty="0"/>
          </a:p>
        </p:txBody>
      </p:sp>
      <p:sp>
        <p:nvSpPr>
          <p:cNvPr id="20" name="Text 17"/>
          <p:cNvSpPr txBox="1"/>
          <p:nvPr/>
        </p:nvSpPr>
        <p:spPr>
          <a:xfrm>
            <a:off x="6199632" y="2676997"/>
            <a:ext cx="5486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nearby mosque.</a:t>
            </a:r>
            <a:endParaRPr lang="en-US" sz="950" dirty="0"/>
          </a:p>
        </p:txBody>
      </p:sp>
      <p:sp>
        <p:nvSpPr>
          <p:cNvPr id="21" name="Text 18"/>
          <p:cNvSpPr txBox="1"/>
          <p:nvPr/>
        </p:nvSpPr>
        <p:spPr>
          <a:xfrm>
            <a:off x="548640" y="2286000"/>
            <a:ext cx="55138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تُوجَدُ</a:t>
            </a:r>
            <a:pPr rtl="1" algn="ctr" indent="0" marL="0">
              <a:buNone/>
            </a:pPr>
            <a:r>
              <a:rPr lang="ar-SA" altLang="en-US" sz="1950" b="1" dirty="0">
                <a:solidFill>
                  <a:srgbClr val="1B3B6F"/>
                </a:solidFill>
                <a:latin typeface="Amiri" pitchFamily="2" charset="-78"/>
                <a:ea typeface="Amiri" pitchFamily="2" charset="-78"/>
                <a:cs typeface="Amiri" pitchFamily="2" charset="-78"/>
              </a:rPr>
              <a:t> مَدْرَسَةٌ كَبِيرَةٌ.</a:t>
            </a:r>
            <a:endParaRPr lang="ar-SA" sz="1950" dirty="0"/>
          </a:p>
        </p:txBody>
      </p:sp>
      <p:sp>
        <p:nvSpPr>
          <p:cNvPr id="22" name="Text 19"/>
          <p:cNvSpPr txBox="1"/>
          <p:nvPr/>
        </p:nvSpPr>
        <p:spPr>
          <a:xfrm>
            <a:off x="502920" y="2676997"/>
            <a:ext cx="56052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big school.</a:t>
            </a:r>
            <a:endParaRPr lang="en-US" sz="9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245352" y="3023006"/>
            <a:ext cx="53949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يُوجَدُ</a:t>
            </a:r>
            <a:pPr rtl="1" algn="ctr" indent="0" marL="0">
              <a:buNone/>
            </a:pPr>
            <a:r>
              <a:rPr lang="ar-SA" altLang="en-US" sz="1950" b="1" dirty="0">
                <a:solidFill>
                  <a:srgbClr val="1B3B6F"/>
                </a:solidFill>
                <a:latin typeface="Amiri" pitchFamily="2" charset="-78"/>
                <a:ea typeface="Amiri" pitchFamily="2" charset="-78"/>
                <a:cs typeface="Amiri" pitchFamily="2" charset="-78"/>
              </a:rPr>
              <a:t> بَنْكٌ فِي المَرْكَزِ.</a:t>
            </a:r>
            <a:endParaRPr lang="ar-SA" sz="1950" dirty="0"/>
          </a:p>
        </p:txBody>
      </p:sp>
      <p:sp>
        <p:nvSpPr>
          <p:cNvPr id="27" name="Text 24"/>
          <p:cNvSpPr txBox="1"/>
          <p:nvPr/>
        </p:nvSpPr>
        <p:spPr>
          <a:xfrm>
            <a:off x="6199632" y="3414004"/>
            <a:ext cx="5486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bank in the centre.</a:t>
            </a:r>
            <a:endParaRPr lang="en-US" sz="950" dirty="0"/>
          </a:p>
        </p:txBody>
      </p:sp>
      <p:sp>
        <p:nvSpPr>
          <p:cNvPr id="28" name="Text 25"/>
          <p:cNvSpPr txBox="1"/>
          <p:nvPr/>
        </p:nvSpPr>
        <p:spPr>
          <a:xfrm>
            <a:off x="548640" y="3023006"/>
            <a:ext cx="55138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تُوجَدُ</a:t>
            </a:r>
            <a:pPr rtl="1" algn="ctr" indent="0" marL="0">
              <a:buNone/>
            </a:pPr>
            <a:r>
              <a:rPr lang="ar-SA" altLang="en-US" sz="1950" b="1" dirty="0">
                <a:solidFill>
                  <a:srgbClr val="1B3B6F"/>
                </a:solidFill>
                <a:latin typeface="Amiri" pitchFamily="2" charset="-78"/>
                <a:ea typeface="Amiri" pitchFamily="2" charset="-78"/>
                <a:cs typeface="Amiri" pitchFamily="2" charset="-78"/>
              </a:rPr>
              <a:t> مَكْتَبَةٌ حَدِيثَةٌ.</a:t>
            </a:r>
            <a:endParaRPr lang="ar-SA" sz="1950" dirty="0"/>
          </a:p>
        </p:txBody>
      </p:sp>
      <p:sp>
        <p:nvSpPr>
          <p:cNvPr id="29" name="Text 26"/>
          <p:cNvSpPr txBox="1"/>
          <p:nvPr/>
        </p:nvSpPr>
        <p:spPr>
          <a:xfrm>
            <a:off x="502920" y="3414004"/>
            <a:ext cx="56052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modern library.</a:t>
            </a:r>
            <a:endParaRPr lang="en-US" sz="950" dirty="0"/>
          </a:p>
        </p:txBody>
      </p:sp>
      <p:sp>
        <p:nvSpPr>
          <p:cNvPr id="30" name="Shape 27"/>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6245352" y="3760013"/>
            <a:ext cx="53949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يُوجَدُ</a:t>
            </a:r>
            <a:pPr rtl="1" algn="ctr" indent="0" marL="0">
              <a:buNone/>
            </a:pPr>
            <a:r>
              <a:rPr lang="ar-SA" altLang="en-US" sz="1950" b="1" dirty="0">
                <a:solidFill>
                  <a:srgbClr val="1B3B6F"/>
                </a:solidFill>
                <a:latin typeface="Amiri" pitchFamily="2" charset="-78"/>
                <a:ea typeface="Amiri" pitchFamily="2" charset="-78"/>
                <a:cs typeface="Amiri" pitchFamily="2" charset="-78"/>
              </a:rPr>
              <a:t> مَطَارٌ خَارِجَ المَدِينَةِ.</a:t>
            </a:r>
            <a:endParaRPr lang="ar-SA" sz="1950" dirty="0"/>
          </a:p>
        </p:txBody>
      </p:sp>
      <p:sp>
        <p:nvSpPr>
          <p:cNvPr id="34" name="Text 31"/>
          <p:cNvSpPr txBox="1"/>
          <p:nvPr/>
        </p:nvSpPr>
        <p:spPr>
          <a:xfrm>
            <a:off x="6199632" y="4151010"/>
            <a:ext cx="5486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an airport outside the city.</a:t>
            </a:r>
            <a:endParaRPr lang="en-US" sz="950" dirty="0"/>
          </a:p>
        </p:txBody>
      </p:sp>
      <p:sp>
        <p:nvSpPr>
          <p:cNvPr id="35" name="Text 32"/>
          <p:cNvSpPr txBox="1"/>
          <p:nvPr/>
        </p:nvSpPr>
        <p:spPr>
          <a:xfrm>
            <a:off x="548640" y="3760013"/>
            <a:ext cx="55138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تُوجَدُ</a:t>
            </a:r>
            <a:pPr rtl="1" algn="ctr" indent="0" marL="0">
              <a:buNone/>
            </a:pPr>
            <a:r>
              <a:rPr lang="ar-SA" altLang="en-US" sz="1950" b="1" dirty="0">
                <a:solidFill>
                  <a:srgbClr val="1B3B6F"/>
                </a:solidFill>
                <a:latin typeface="Amiri" pitchFamily="2" charset="-78"/>
                <a:ea typeface="Amiri" pitchFamily="2" charset="-78"/>
                <a:cs typeface="Amiri" pitchFamily="2" charset="-78"/>
              </a:rPr>
              <a:t> جَامِعَةٌ حَدِيثَةٌ.</a:t>
            </a:r>
            <a:endParaRPr lang="ar-SA" sz="1950" dirty="0"/>
          </a:p>
        </p:txBody>
      </p:sp>
      <p:sp>
        <p:nvSpPr>
          <p:cNvPr id="36" name="Text 33"/>
          <p:cNvSpPr txBox="1"/>
          <p:nvPr/>
        </p:nvSpPr>
        <p:spPr>
          <a:xfrm>
            <a:off x="502920" y="4151010"/>
            <a:ext cx="56052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modern university.</a:t>
            </a:r>
            <a:endParaRPr lang="en-US" sz="9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6245352" y="4497019"/>
            <a:ext cx="53949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يُوجَدُ</a:t>
            </a:r>
            <a:pPr rtl="1" algn="ctr" indent="0" marL="0">
              <a:buNone/>
            </a:pPr>
            <a:r>
              <a:rPr lang="ar-SA" altLang="en-US" sz="1950" b="1" dirty="0">
                <a:solidFill>
                  <a:srgbClr val="1B3B6F"/>
                </a:solidFill>
                <a:latin typeface="Amiri" pitchFamily="2" charset="-78"/>
                <a:ea typeface="Amiri" pitchFamily="2" charset="-78"/>
                <a:cs typeface="Amiri" pitchFamily="2" charset="-78"/>
              </a:rPr>
              <a:t> مُسْتَشْفًى قَرِيبٌ.</a:t>
            </a:r>
            <a:endParaRPr lang="ar-SA" sz="1950" dirty="0"/>
          </a:p>
        </p:txBody>
      </p:sp>
      <p:sp>
        <p:nvSpPr>
          <p:cNvPr id="39" name="Text 36"/>
          <p:cNvSpPr txBox="1"/>
          <p:nvPr/>
        </p:nvSpPr>
        <p:spPr>
          <a:xfrm>
            <a:off x="6199632" y="4888017"/>
            <a:ext cx="5486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nearby hospital.</a:t>
            </a:r>
            <a:endParaRPr lang="en-US" sz="950" dirty="0"/>
          </a:p>
        </p:txBody>
      </p:sp>
      <p:sp>
        <p:nvSpPr>
          <p:cNvPr id="40" name="Text 37"/>
          <p:cNvSpPr txBox="1"/>
          <p:nvPr/>
        </p:nvSpPr>
        <p:spPr>
          <a:xfrm>
            <a:off x="548640" y="4497019"/>
            <a:ext cx="55138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تُوجَدُ</a:t>
            </a:r>
            <a:pPr rtl="1" algn="ctr" indent="0" marL="0">
              <a:buNone/>
            </a:pPr>
            <a:r>
              <a:rPr lang="ar-SA" altLang="en-US" sz="1950" b="1" dirty="0">
                <a:solidFill>
                  <a:srgbClr val="1B3B6F"/>
                </a:solidFill>
                <a:latin typeface="Amiri" pitchFamily="2" charset="-78"/>
                <a:ea typeface="Amiri" pitchFamily="2" charset="-78"/>
                <a:cs typeface="Amiri" pitchFamily="2" charset="-78"/>
              </a:rPr>
              <a:t> حَدِيقَةٌ عَامَّةٌ جَمِيلَةٌ.</a:t>
            </a:r>
            <a:endParaRPr lang="ar-SA" sz="1950" dirty="0"/>
          </a:p>
        </p:txBody>
      </p:sp>
      <p:sp>
        <p:nvSpPr>
          <p:cNvPr id="41" name="Text 38"/>
          <p:cNvSpPr txBox="1"/>
          <p:nvPr/>
        </p:nvSpPr>
        <p:spPr>
          <a:xfrm>
            <a:off x="502920" y="4888017"/>
            <a:ext cx="56052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beautiful park.</a:t>
            </a:r>
            <a:endParaRPr lang="en-US" sz="950" dirty="0"/>
          </a:p>
        </p:txBody>
      </p:sp>
      <p:sp>
        <p:nvSpPr>
          <p:cNvPr id="42" name="Shape 3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3" name="Text 40"/>
          <p:cNvSpPr txBox="1"/>
          <p:nvPr/>
        </p:nvSpPr>
        <p:spPr>
          <a:xfrm>
            <a:off x="6245352" y="5234026"/>
            <a:ext cx="539496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هُنَاكَ</a:t>
            </a:r>
            <a:pPr rtl="1" algn="ctr" indent="0" marL="0">
              <a:buNone/>
            </a:pPr>
            <a:r>
              <a:rPr lang="ar-SA" altLang="en-US" sz="1950" b="1" dirty="0">
                <a:solidFill>
                  <a:srgbClr val="1B3B6F"/>
                </a:solidFill>
                <a:latin typeface="Amiri" pitchFamily="2" charset="-78"/>
                <a:ea typeface="Amiri" pitchFamily="2" charset="-78"/>
                <a:cs typeface="Amiri" pitchFamily="2" charset="-78"/>
              </a:rPr>
              <a:t> سُوقٌ وَمَكْتَبَةٌ.</a:t>
            </a:r>
            <a:endParaRPr lang="ar-SA" sz="1950" dirty="0"/>
          </a:p>
        </p:txBody>
      </p:sp>
      <p:sp>
        <p:nvSpPr>
          <p:cNvPr id="44" name="Text 41"/>
          <p:cNvSpPr txBox="1"/>
          <p:nvPr/>
        </p:nvSpPr>
        <p:spPr>
          <a:xfrm>
            <a:off x="6199632" y="5625023"/>
            <a:ext cx="5486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market and a library.</a:t>
            </a:r>
            <a:endParaRPr lang="en-US" sz="950" dirty="0"/>
          </a:p>
        </p:txBody>
      </p:sp>
      <p:sp>
        <p:nvSpPr>
          <p:cNvPr id="45" name="Text 42"/>
          <p:cNvSpPr txBox="1"/>
          <p:nvPr/>
        </p:nvSpPr>
        <p:spPr>
          <a:xfrm>
            <a:off x="548640" y="5234026"/>
            <a:ext cx="551383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فِي حَيِّي </a:t>
            </a:r>
            <a:pPr rtl="1" algn="ctr" indent="0" marL="0">
              <a:buNone/>
            </a:pPr>
            <a:r>
              <a:rPr lang="ar-SA" altLang="en-US" sz="1950" b="1" dirty="0">
                <a:solidFill>
                  <a:srgbClr val="0E7C86"/>
                </a:solidFill>
                <a:latin typeface="Amiri" pitchFamily="2" charset="-78"/>
                <a:ea typeface="Amiri" pitchFamily="2" charset="-78"/>
                <a:cs typeface="Amiri" pitchFamily="2" charset="-78"/>
              </a:rPr>
              <a:t>هُنَاكَ</a:t>
            </a:r>
            <a:pPr rtl="1" algn="ctr" indent="0" marL="0">
              <a:buNone/>
            </a:pPr>
            <a:r>
              <a:rPr lang="ar-SA" altLang="en-US" sz="1950" b="1" dirty="0">
                <a:solidFill>
                  <a:srgbClr val="1B3B6F"/>
                </a:solidFill>
                <a:latin typeface="Amiri" pitchFamily="2" charset="-78"/>
                <a:ea typeface="Amiri" pitchFamily="2" charset="-78"/>
                <a:cs typeface="Amiri" pitchFamily="2" charset="-78"/>
              </a:rPr>
              <a:t> مَطْعَمٌ صَغِيرٌ.</a:t>
            </a:r>
            <a:endParaRPr lang="ar-SA" sz="1950" dirty="0"/>
          </a:p>
        </p:txBody>
      </p:sp>
      <p:sp>
        <p:nvSpPr>
          <p:cNvPr id="46" name="Text 43"/>
          <p:cNvSpPr txBox="1"/>
          <p:nvPr/>
        </p:nvSpPr>
        <p:spPr>
          <a:xfrm>
            <a:off x="502920" y="5625023"/>
            <a:ext cx="56052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my area there is a small restaurant.</a:t>
            </a:r>
            <a:endParaRPr lang="en-US" sz="95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place is new information, so it is indefinite (-un): hunāka sūqun, not as-sūqu. Hunāka never changes.</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PLACE + ADJECTIVE + WHERE (WEBSITE RULE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complete town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مَكَانٌ + صِفَةٌ + مَوْقِعٌ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7543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NEXT TO</a:t>
            </a:r>
            <a:endParaRPr lang="en-US" sz="850" dirty="0"/>
          </a:p>
        </p:txBody>
      </p:sp>
      <p:sp>
        <p:nvSpPr>
          <p:cNvPr id="18" name="Text 15"/>
          <p:cNvSpPr txBox="1"/>
          <p:nvPr/>
        </p:nvSpPr>
        <p:spPr>
          <a:xfrm>
            <a:off x="9032748"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بِجَانِبِ</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تُوجَدُ صَيْدَلِيَّةٌ صَغِيرَةٌ بِجَانِبِ المُسْتَشْفَى.</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is a small pharmacy next to the hospital.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Place + adjective + where.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 FRONT · BEHIND</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أَمَامَ · خَلْفَ</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المَطْعَمُ أَمَامَ المَتْحَفِ، وَالحَدِيقَةُ خَلْفَ المَكْتَبَةِ.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restaurant is in front of the museum; the park is behind the library.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Known places: al- + noun.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9154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NOT THERE</a:t>
            </a:r>
            <a:endParaRPr lang="en-US" sz="850" dirty="0"/>
          </a:p>
        </p:txBody>
      </p:sp>
      <p:sp>
        <p:nvSpPr>
          <p:cNvPr id="34" name="Text 31"/>
          <p:cNvSpPr txBox="1"/>
          <p:nvPr/>
        </p:nvSpPr>
        <p:spPr>
          <a:xfrm>
            <a:off x="1531620"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لَا يُوجَدُ</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لَا يُوجَدُ مَطَارٌ فِي المَدِينَةِ.</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is no airport in the city.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lā + yūjadu / tūjadu.</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an airport is masculine.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يُوجَدُ مَطَارٌ.</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تُوجَدُ مَطَارٌ.</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التَّعْبِيرُ عَنِ الوُجُودِ بِـ يُوجَدُ وَتُوجَدُ</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a:t>
            </a:r>
            <a:pPr algn="l" indent="0" marL="0">
              <a:buNone/>
            </a:pPr>
            <a:r>
              <a:rPr lang="ar-SA" altLang="en-US" sz="1650" b="1" dirty="0">
                <a:solidFill>
                  <a:srgbClr val="1B3B6F"/>
                </a:solidFill>
                <a:latin typeface="Amiri" pitchFamily="2" charset="-78"/>
                <a:ea typeface="Amiri" pitchFamily="2" charset="-78"/>
                <a:cs typeface="Amiri" pitchFamily="2" charset="-78"/>
              </a:rPr>
              <a:t>يُوجَدُ</a:t>
            </a:r>
            <a:pPr algn="l" indent="0" marL="0">
              <a:buNone/>
            </a:pPr>
            <a:r>
              <a:rPr lang="en-US" sz="1250" b="1" dirty="0">
                <a:solidFill>
                  <a:srgbClr val="1B3B6F"/>
                </a:solidFill>
                <a:latin typeface="Calibri" pitchFamily="34" charset="0"/>
                <a:cs typeface="Amiri" pitchFamily="2" charset="-78"/>
              </a:rPr>
              <a:t> with a masculine place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يُوجَدُ + اِسْمٌ مُذَكَّرٌ</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يُوجَدُ مَسْجِدٌ قَرِيبٌ.   ·   يُوجَدُ بَنْكٌ فِي مَرْكَزِ المَدِينَةِ.   ·   يُوجَدُ مَطَارٌ خَارِجَ المَدِينَةِ.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a:t>
            </a:r>
            <a:pPr algn="l" indent="0" marL="0">
              <a:buNone/>
            </a:pPr>
            <a:r>
              <a:rPr lang="ar-SA" altLang="en-US" sz="1650" b="1" dirty="0">
                <a:solidFill>
                  <a:srgbClr val="1B3B6F"/>
                </a:solidFill>
                <a:latin typeface="Amiri" pitchFamily="2" charset="-78"/>
                <a:ea typeface="Amiri" pitchFamily="2" charset="-78"/>
                <a:cs typeface="Amiri" pitchFamily="2" charset="-78"/>
              </a:rPr>
              <a:t>تُوجَدُ</a:t>
            </a:r>
            <a:pPr algn="l" indent="0" marL="0">
              <a:buNone/>
            </a:pPr>
            <a:r>
              <a:rPr lang="en-US" sz="1250" b="1" dirty="0">
                <a:solidFill>
                  <a:srgbClr val="1B3B6F"/>
                </a:solidFill>
                <a:latin typeface="Calibri" pitchFamily="34" charset="0"/>
                <a:cs typeface="Amiri" pitchFamily="2" charset="-78"/>
              </a:rPr>
              <a:t> with a feminine place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تُوجَدُ + اِسْمٌ مُؤَنَّثٌ</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تُوجَدُ مَدْرَسَةٌ كَبِيرَةٌ.   ·   تُوجَدُ جَامِعَةٌ حَدِيثَةٌ.   ·   تُوجَدُ حَدِيقَةٌ عَامَّةٌ جَمِيلَةٌ.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Use </a:t>
            </a:r>
            <a:pPr algn="l" indent="0" marL="0">
              <a:buNone/>
            </a:pPr>
            <a:r>
              <a:rPr lang="ar-SA" altLang="en-US" sz="1650" b="1" dirty="0">
                <a:solidFill>
                  <a:srgbClr val="1B3B6F"/>
                </a:solidFill>
                <a:latin typeface="Amiri" pitchFamily="2" charset="-78"/>
                <a:ea typeface="Amiri" pitchFamily="2" charset="-78"/>
                <a:cs typeface="Amiri" pitchFamily="2" charset="-78"/>
              </a:rPr>
              <a:t>هُنَاكَ</a:t>
            </a:r>
            <a:pPr algn="l" indent="0" marL="0">
              <a:buNone/>
            </a:pPr>
            <a:r>
              <a:rPr lang="en-US" sz="1250" b="1" dirty="0">
                <a:solidFill>
                  <a:srgbClr val="1B3B6F"/>
                </a:solidFill>
                <a:latin typeface="Calibri" pitchFamily="34" charset="0"/>
                <a:cs typeface="Amiri" pitchFamily="2" charset="-78"/>
              </a:rPr>
              <a:t> for a simpler existence statement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هُنَاكَ + اِسْمٌ نَكِرَةٌ</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هُنَاكَ سُوقٌ وَمَكْتَبَةٌ.   ·   فِي حَيِّي هُنَاكَ مَطْعَمٌ صَغِيرٌ.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Join places and add precise location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يُوجَدُ / تُوجَدُ + مَكَانٌ + فِي / بِجَانِبِ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تُوجَدُ صَيْدَلِيَّةٌ صَغِيرَةٌ بِجَانِبِ المُسْتَشْفَى.   ·   يُوجَدُ مَتْحَفٌ قَدِيمٌ فِي مَرْكَزِ المَدِينَةِ.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“There is a mosque.”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 مَسْجِدٌ.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 مَسْجِدَةٌ.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 مَسْجِدٌ.</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“There is a university.”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 جَامِعَةٌ.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 جَامِعَةٌ.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هُنَاكَ جَامِعَةً.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does not change for noun gender?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هُنَاكَ</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مَطْعَمٌ قَرِيبٌ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“There is a mosque.”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تُوجَدُ مَسْجِدٌ.</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 مَسْجِدَةٌ.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يُوجَدُ مَسْجِدٌ.</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مَسْجِدٌ</a:t>
            </a:r>
            <a:pPr algn="l" indent="0" marL="0">
              <a:buNone/>
            </a:pPr>
            <a:r>
              <a:rPr lang="en-US" sz="1050" i="1" dirty="0">
                <a:solidFill>
                  <a:srgbClr val="8A6D1E"/>
                </a:solidFill>
                <a:latin typeface="Calibri" pitchFamily="34" charset="0"/>
                <a:cs typeface="Amiri" pitchFamily="2" charset="-78"/>
              </a:rPr>
              <a:t> is masculine, so use </a:t>
            </a:r>
            <a:pPr algn="l" indent="0" marL="0">
              <a:buNone/>
            </a:pPr>
            <a:r>
              <a:rPr lang="ar-SA" altLang="en-US" sz="1350" dirty="0">
                <a:solidFill>
                  <a:srgbClr val="8A6D1E"/>
                </a:solidFill>
                <a:latin typeface="Amiri" pitchFamily="2" charset="-78"/>
                <a:ea typeface="Amiri" pitchFamily="2" charset="-78"/>
                <a:cs typeface="Amiri" pitchFamily="2" charset="-78"/>
              </a:rPr>
              <a:t>يُوجَدُ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“There is a university.”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تُوجَدُ جَامِعَةٌ.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 جَامِعَةٌ.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هُنَاكَ جَامِعَةً.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جَامِعَةٌ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does not change for noun gender?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هُنَاكَ</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تُوجَدُ</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هُنَاكَ</a:t>
            </a:r>
            <a:pPr algn="l" indent="0" marL="0">
              <a:buNone/>
            </a:pPr>
            <a:r>
              <a:rPr lang="en-US" sz="1050" i="1" dirty="0">
                <a:solidFill>
                  <a:srgbClr val="8A6D1E"/>
                </a:solidFill>
                <a:latin typeface="Calibri" pitchFamily="34" charset="0"/>
                <a:cs typeface="Amiri" pitchFamily="2" charset="-78"/>
              </a:rPr>
              <a:t> works with both masculine and feminine nouns.</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مَطْعَمٌ قَرِيبٌ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يُوجَدُ</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مَطْعَمٌ</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my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Settlement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أَسْكُنُ فِي مَدِينَةٍ مُتَوَسِّطَةٍ وَجَمِيلَةٍ.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City = f. → -a adjectives.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There is (m.)</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فِي مَرْكَزِ المَدِينَةِ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يُوجَدُ</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سُوقٌ كَبِيرٌ وَمَتْحَفٌ قَدِيمٌ.</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Market, museum: m.</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There is (f.) + where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تُوجَدُ</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مَكْتَبَةٌ حَدِيثَةٌ بِجَانِبِ الجَامِعَةِ.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Library: f. + location.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أُحِبُّ مَدِينَتِي لِأَنَّهَا نَظِيفَةٌ، وَلَكِنَّ المَطَارَ بَعِيدٌ.</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Reason + contrast.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أَسْكُنُ فِي مَدِينَةٍ مُتَوَسِّطَةٍ وَجَمِيلَةٍ. فِي مَرْكَزِ المَدِينَةِ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يُوجَدُ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سُوقٌ كَبِيرٌ وَمَتْحَفٌ قَدِيمٌ.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تُوجَدُ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مَكْتَبَةٌ حَدِيثَةٌ بِجَانِبِ الجَامِعَةِ، وَخَلْفَهَا حَدِيقَةٌ عَامَّةٌ. كَمَا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يُوجَدُ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مُسْتَشْفًى قَرِيبٌ مِنْ بَيْتِي. أُحِبُّ مَدِينَتِي لِأَنَّهَا نَظِيفَةٌ وَفِيهَا خِدْمَاتٌ كَثِيرَةٌ، وَلَكِنَّ المَطَارَ بَعِيدٌ.</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live in a medium-sized, beautiful city. In the city centre there is a big market and an old museum. There is a modern library next to the university, and behind it a public park. There is also a hospital near my house. I like my city because it is clean and has many services, but the airport is far away.</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يُوجَدُ مَسْجِدٌ قَرِيبٌ.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There is a nearby mosque.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Masculine place → يُوجَدُ.</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تُوجَدُ مَكْتَبَةٌ حَدِيثَةٌ.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There is a modern library.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place → تُوجَدُ.</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حَيِّي هُنَاكَ سُوقٌ.</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There is a market in my neighbourhood.</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هُنَاكَ does not change.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تُوجَدُ صَيْدَلِيَّةٌ بِجَانِبِ المُسْتَشْفَى.</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There is a pharmacy next to the hospital.</a:t>
            </a:r>
            <a:endParaRPr lang="en-US" sz="1250" dirty="0"/>
          </a:p>
          <a:p>
            <a:pPr indent="0" marL="0">
              <a:buNone/>
            </a:pPr>
            <a:r>
              <a:rPr lang="en-US" sz="1050" i="1" dirty="0">
                <a:solidFill>
                  <a:srgbClr val="8A6D1E"/>
                </a:solidFill>
                <a:latin typeface="Calibri" pitchFamily="34" charset="0"/>
                <a:cs typeface="Amiri" pitchFamily="2" charset="-78"/>
              </a:rPr>
              <a:t>Add a preposition for precision.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PLACES IN TOWN: BUILDINGS AND PUBLIC SPACES”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in town: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post office</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park</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مَكْتَبُ بَرِيدٍ.</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حَدِيقَةٌ عَامَّةٌ.</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مُسْتَشْفًى.</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مُسْتَشْفًى.</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hospital.</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post office</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مَكْتَبُ بَرِيدٍ.</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post office.</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park</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حَدِيقَةٌ عَامَّةٌ.</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public park.</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Masculine or feminine place?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مَسْجِدٌ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مَطَارٌ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مَحَطَّةٌ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بَنْكٌ</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صَيْدَلِيَّةٌ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مَتْحَفٌ</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جَامِعَةٌ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مُذَكَّرٌ · masculine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مُؤَنَّثٌ · feminine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مُذَكَّرٌ · masculine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مَسْجِدٌ</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مَطَارٌ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بَنْكٌ</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مَتْحَفٌ</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مُؤَنَّثٌ · feminine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مَحَطَّةٌ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صَيْدَلِيَّةٌ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جَامِعَةٌ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حَدِيقَةٌ عَامَّةٌ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two places accurately?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هُنَاكَ السُّوقَ وَالمَكْتَبَةَ.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هُنَاكَ سُوقٌ وَمَكْتَبَةٌ.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 سُوقٌ وَمَكْتَبَةٌ.</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agrees with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كِبَارٌ</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حَدِيقَةٌ عَامَّةٌ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يُوجَدُ</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تُوجَدُ</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حَدِيقَةٌ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two places accurately?</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هُنَاكَ السُّوقَ وَالمَكْتَبَةَ.</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هُنَاكَ سُوقٌ وَمَكْتَبَةٌ.</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تُوجَدُ سُوقٌ وَمَكْتَبَةٌ.</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هُنَاكَ</a:t>
            </a:r>
            <a:pPr algn="l" indent="0" marL="0">
              <a:buNone/>
            </a:pPr>
            <a:r>
              <a:rPr lang="en-US" sz="1050" i="1" dirty="0">
                <a:solidFill>
                  <a:srgbClr val="8A6D1E"/>
                </a:solidFill>
                <a:latin typeface="Calibri" pitchFamily="34" charset="0"/>
                <a:cs typeface="Amiri" pitchFamily="2" charset="-78"/>
              </a:rPr>
              <a:t> can introduce both nouns simply.</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agrees with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كَبِيرٌ</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كَبِيرَةٌ</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كِبَارٌ</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singular noun takes a feminine singular adjective.</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مَدْرَسَةٌ.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 school m. or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تُوجَدُ مَطَارٌ.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an airport m. or f.?</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هُنَاكَ المَكْتَبَةُ.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New place: al- or -un?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مَدْرَسَةٌ.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مَدْرَسَةٌ.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مَدْرَسَةٌ</a:t>
            </a:r>
            <a:pPr algn="l" indent="0" marL="0">
              <a:buNone/>
            </a:pPr>
            <a:r>
              <a:rPr lang="en-US" sz="1150" b="1" dirty="0">
                <a:solidFill>
                  <a:srgbClr val="1B3B6F"/>
                </a:solidFill>
                <a:latin typeface="Calibri" pitchFamily="34" charset="0"/>
                <a:cs typeface="Amiri" pitchFamily="2" charset="-78"/>
              </a:rPr>
              <a:t> is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تُوجَدُ مَطَارٌ.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يُوجَدُ مَطَارٌ.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مَطَارٌ</a:t>
            </a:r>
            <a:pPr algn="l" indent="0" marL="0">
              <a:buNone/>
            </a:pPr>
            <a:r>
              <a:rPr lang="en-US" sz="1150" b="1" dirty="0">
                <a:solidFill>
                  <a:srgbClr val="1B3B6F"/>
                </a:solidFill>
                <a:latin typeface="Calibri" pitchFamily="34" charset="0"/>
                <a:cs typeface="Amiri" pitchFamily="2" charset="-78"/>
              </a:rPr>
              <a:t> is masculine.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هُنَاكَ المَكْتَبَةُ.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هُنَاكَ مَكْتَبَةٌ.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Introduce the place as indefinite after </a:t>
            </a:r>
            <a:pPr algn="l" indent="0" marL="0">
              <a:buNone/>
            </a:pPr>
            <a:r>
              <a:rPr lang="ar-SA" altLang="en-US" sz="1500" b="1" dirty="0">
                <a:solidFill>
                  <a:srgbClr val="1B3B6F"/>
                </a:solidFill>
                <a:latin typeface="Amiri" pitchFamily="2" charset="-78"/>
                <a:ea typeface="Amiri" pitchFamily="2" charset="-78"/>
                <a:cs typeface="Amiri" pitchFamily="2" charset="-78"/>
              </a:rPr>
              <a:t>هُنَاكَ</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places are in Salma’s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the city centre?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market and a museum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and a bank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airport and a station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university?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hospital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mosque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place is far from the centre?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park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airport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place is near her home?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 station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museum</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market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the public park?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large.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quiet.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modern.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فِي مَرْكَزِ</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بِجَانِبِ</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بَعِيدٌ</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قَرِيبَةٌ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مَدِينَةٍ مُتَوَسِّطَةٍ.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live in a medium-sized city.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مَرْكَزِ المَدِينَةِ يُوجَدُ سُوقٌ قَدِيمٌ وَمَتْحَفٌ جَمِيلٌ.</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city centre there is an old market and a beautiful museum.</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تُوجَدُ مَكْتَبَةٌ حَدِيثَةٌ بِجَانِبِ الجَامِعَةِ.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a modern library next to the university.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المَطَارُ بَعِيدٌ عَنِ المَرْكَزِ، وَلَكِنَّ مَحَطَّةَ القِطَارِ قَرِيبَةٌ مِنْ بَيْتِي.</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airport is far from the centre, but the train station is close to my house.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الحَدِيقَةَ العَامَّةَ لِأَنَّهَا هَادِئَةٌ.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like the public park because it is quiet.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the city centre?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market and a museum</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and a bank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airport and a station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mentions </a:t>
            </a:r>
            <a:pPr algn="l" indent="0" marL="0">
              <a:buNone/>
            </a:pPr>
            <a:r>
              <a:rPr lang="ar-SA" altLang="en-US" sz="1350" dirty="0">
                <a:solidFill>
                  <a:srgbClr val="8A6D1E"/>
                </a:solidFill>
                <a:latin typeface="Amiri" pitchFamily="2" charset="-78"/>
                <a:ea typeface="Amiri" pitchFamily="2" charset="-78"/>
                <a:cs typeface="Amiri" pitchFamily="2" charset="-78"/>
              </a:rPr>
              <a:t>سُوقٌ قَدِيمٌ وَمَتْحَفٌ جَمِيلٌ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university?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hospital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mosque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library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المَكْتَبَةُ بِجَانِبِ الجَامِعَةِ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place is far from the centre?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station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park</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airport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المَطَارُ بَعِيدٌ عَنِ المَرْكَزِ.</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place is near her home?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train station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museum</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market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مَحَطَّةُ القِطَارِ قَرِيبَةٌ مِنْ بَيْتِي.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the public park?</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large.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quiet.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modern.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لِأَنَّهَا هَادِئَةٌ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فِي مَرْكَزِ</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بِجَانِبِ</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بَعِيدٌ</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قَرِيبَةٌ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Town-place information exchange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يُوجَدُ فِي مَدِينَتِكَ؟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تُوجَدُ جَامِعَةٌ قَرِيبَةٌ؟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المَكْتَبَةُ؟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مَكَانُكَ المُفَضَّلُ فِي المَدِينَةِ؟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هُنَاكَ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نَعَمْ، تُوجَدُ … / لَا، لَا تُوجَدُ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هِيَ بِجَانِبِ / أَمَامَ / خَلْفَ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مَكَانِي المُفَضَّلُ هُوَ ___ لِأَنَّهُ / لِأَنَّهَا …</a:t>
            </a:r>
            <a:endParaRPr lang="ar-SA" sz="15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يُوجَدُ فِي حَيِّكَ؟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there in your neighbourhood?</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حَيِّي يُوجَدُ مَسْجِدٌ، وَتُوجَدُ مَكْتَبَةٌ صَغِيرَةٌ.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In my neighbourhood there is a mosque and a small library.</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Name eight places and write three </a:t>
            </a:r>
            <a:pPr algn="l" indent="0" marL="0">
              <a:buNone/>
            </a:pPr>
            <a:r>
              <a:rPr lang="ar-SA" altLang="en-US" sz="1800" b="1" dirty="0">
                <a:solidFill>
                  <a:srgbClr val="1F2A37"/>
                </a:solidFill>
                <a:latin typeface="Amiri" pitchFamily="2" charset="-78"/>
                <a:ea typeface="Amiri" pitchFamily="2" charset="-78"/>
                <a:cs typeface="Amiri" pitchFamily="2" charset="-78"/>
              </a:rPr>
              <a:t>هُنَاكَ</a:t>
            </a:r>
            <a:pPr algn="l" indent="0" marL="0">
              <a:buNone/>
            </a:pPr>
            <a:r>
              <a:rPr lang="en-US" sz="1400" b="1" dirty="0">
                <a:solidFill>
                  <a:srgbClr val="1F2A37"/>
                </a:solidFill>
                <a:latin typeface="Calibri" pitchFamily="34" charset="0"/>
                <a:cs typeface="Amiri" pitchFamily="2" charset="-78"/>
              </a:rPr>
              <a:t>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Where you live + three hunāka sentences with two places each.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a:t>
            </a:r>
            <a:pPr algn="l" indent="0" marL="0">
              <a:buNone/>
            </a:pPr>
            <a:r>
              <a:rPr lang="ar-SA" altLang="en-US" sz="1800" b="1" dirty="0">
                <a:solidFill>
                  <a:srgbClr val="1F2A37"/>
                </a:solidFill>
                <a:latin typeface="Amiri" pitchFamily="2" charset="-78"/>
                <a:ea typeface="Amiri" pitchFamily="2" charset="-78"/>
                <a:cs typeface="Amiri" pitchFamily="2" charset="-78"/>
              </a:rPr>
              <a:t>يُوجَدُ / تُوجَدُ</a:t>
            </a:r>
            <a:pPr algn="l" indent="0" marL="0">
              <a:buNone/>
            </a:pPr>
            <a:r>
              <a:rPr lang="en-US" sz="1400" b="1" dirty="0">
                <a:solidFill>
                  <a:srgbClr val="1F2A37"/>
                </a:solidFill>
                <a:latin typeface="Calibri" pitchFamily="34" charset="0"/>
                <a:cs typeface="Amiri" pitchFamily="2" charset="-78"/>
              </a:rPr>
              <a:t> accurately and locate four places.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size of the town, two yūjadu / tūjadu, two locations, one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connected guide with formal existence forms, varied prepositions and a balanced opinion.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town guide: varied prepositions, a negative (lā yūjadu) and a balanced opinion.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مَرْكَزِ المَدِينَةِ يُوجَدُ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city centre there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تُوجَدُ مَكْتَبَةٌ حَدِيثَةٌ خَلْفَ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modern library behind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مَطَارٌ فِي مَدِينَتِي.</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no airport in my town.</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مَدِينَتِي لِأَنَّهَا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my town because it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______ بَعِيدٌ.</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the … is far.</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مَدِينَةٍ كَبِيرَةٍ / قَرْيَةٍ صَغِيرَةٍ.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 big city / small village.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هُنَاكَ ______ وَ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 and a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حَيِّي هُنَاكَ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neighbourhood there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مَسْجِدٌ قَرِيبٌ مِنْ بَيْتِي.</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mosque near my house.</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تُوجَدُ مَدْرَسَةٌ بِجَانِبِ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school next to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يُوجَدُ  ·  تُوجَدُ  ·  هُنَاكَ  ·  لَا يُوجَدُ  ·  بِجَانِبِ  ·  أَمَامَ  ·  خَلْفَ  ·  قَرِيبٌ مِنْ  ·  بَعِيدٌ عَنْ  ·  فِي مَرْكَزِ المَدِينَةِ  ·  كَبِيرٌ / كَبِيرَةٌ  ·  حَدِيثٌ / حَدِيثَةٌ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60–80 Arabic words introducing your town or neighbourhood and its public places.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Name the settlement and describe its size.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examples of </a:t>
            </a:r>
            <a:pPr algn="l" indent="0" marL="0">
              <a:buNone/>
            </a:pPr>
            <a:r>
              <a:rPr lang="ar-SA" altLang="en-US" sz="1550" dirty="0">
                <a:solidFill>
                  <a:srgbClr val="1F2A37"/>
                </a:solidFill>
                <a:latin typeface="Amiri" pitchFamily="2" charset="-78"/>
                <a:ea typeface="Amiri" pitchFamily="2" charset="-78"/>
                <a:cs typeface="Amiri" pitchFamily="2" charset="-78"/>
              </a:rPr>
              <a:t>يُوجَدُ / تُوجَدُ</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Locate two places precisely.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one justified opinion and at least three connectives.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مَدِينَةٌ صَغِيرَةٌ وَلَكِنَّهَا نَشِيطَةٌ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small but lively city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 وَلَكِنْ تُوجَدُ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no … but there is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فِيهَا خِدْمَاتٌ كَثِيرَةٌ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has many services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كَمَا يُوجَدُ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also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مَدِينَتِي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advantage of my town is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مَدِينَةٍ مُتَوَسِّطَةٍ وَجَمِيلَةٍ. فِي مَرْكَزِ المَدِينَةِ يُوجَدُ سُوقٌ كَبِيرٌ وَمَتْحَفٌ قَدِيمٌ. تُوجَدُ مَكْتَبَةٌ حَدِيثَةٌ بِجَانِبِ الجَامِعَةِ، وَخَلْفَهَا حَدِيقَةٌ عَامَّةٌ. كَمَا يُوجَدُ مُسْتَشْفًى قَرِيبٌ مِنْ بَيْتِي. أُحِبُّ مَدِينَتِي لِأَنَّهَا نَظِيفَةٌ وَفِيهَا خِدْمَاتٌ كَثِيرَةٌ، وَلٰكِنَّ المَطَارَ بَعِيدٌ.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medium-sized, beautiful city. In the city centre there is a big market and an old museum. There is a modern library next to the university, and behind it a public park. There is also a hospital near my house. I like my city because it is clean and has many services, but the airport is far away.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yūjadu (m.)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tūjadu (f.)</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location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at least eight places.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هُنَاكَ</a:t>
            </a:r>
            <a:pPr algn="l" indent="0" marL="0">
              <a:buNone/>
            </a:pPr>
            <a:r>
              <a:rPr lang="en-US" sz="1300" dirty="0">
                <a:solidFill>
                  <a:srgbClr val="1F2A37"/>
                </a:solidFill>
                <a:latin typeface="Calibri" pitchFamily="34" charset="0"/>
                <a:cs typeface="Amiri" pitchFamily="2" charset="-78"/>
              </a:rPr>
              <a:t> the place ends in -un.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ea typeface="Amiri" pitchFamily="2" charset="-78"/>
                <a:cs typeface="Amiri" pitchFamily="2" charset="-78"/>
              </a:rPr>
              <a:t>يُوجَدُ</a:t>
            </a:r>
            <a:pPr algn="l" indent="0" marL="0">
              <a:buNone/>
            </a:pPr>
            <a:r>
              <a:rPr lang="en-US" sz="1300" dirty="0">
                <a:solidFill>
                  <a:srgbClr val="1F2A37"/>
                </a:solidFill>
                <a:latin typeface="Calibri" pitchFamily="34" charset="0"/>
                <a:cs typeface="Amiri" pitchFamily="2" charset="-78"/>
              </a:rPr>
              <a:t> with m. places, </a:t>
            </a:r>
            <a:pPr algn="l" indent="0" marL="0">
              <a:buNone/>
            </a:pPr>
            <a:r>
              <a:rPr lang="ar-SA" altLang="en-US" sz="1700" dirty="0">
                <a:solidFill>
                  <a:srgbClr val="1F2A37"/>
                </a:solidFill>
                <a:latin typeface="Amiri" pitchFamily="2" charset="-78"/>
                <a:ea typeface="Amiri" pitchFamily="2" charset="-78"/>
                <a:cs typeface="Amiri" pitchFamily="2" charset="-78"/>
              </a:rPr>
              <a:t>تُوجَدُ</a:t>
            </a:r>
            <a:pPr algn="l" indent="0" marL="0">
              <a:buNone/>
            </a:pPr>
            <a:r>
              <a:rPr lang="en-US" sz="1300" dirty="0">
                <a:solidFill>
                  <a:srgbClr val="1F2A37"/>
                </a:solidFill>
                <a:latin typeface="Calibri" pitchFamily="34" charset="0"/>
                <a:cs typeface="Amiri" pitchFamily="2" charset="-78"/>
              </a:rPr>
              <a:t> with f.</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located two places with a preposition.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balanced opinion with </a:t>
            </a:r>
            <a:pPr algn="l" indent="0" marL="0">
              <a:buNone/>
            </a:pPr>
            <a:r>
              <a:rPr lang="ar-SA" altLang="en-US" sz="1700" dirty="0">
                <a:solidFill>
                  <a:srgbClr val="1F2A37"/>
                </a:solidFill>
                <a:latin typeface="Amiri" pitchFamily="2" charset="-78"/>
                <a:ea typeface="Amiri" pitchFamily="2" charset="-78"/>
                <a:cs typeface="Amiri" pitchFamily="2" charset="-78"/>
              </a:rPr>
              <a:t>وَلَكِنَّ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“university”?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جَامِعَةٌ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مَحَطَّةٌ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بَنْكٌ فِي المَرْكَزِ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مَحَطَّةٌ قَرِيبَةٌ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“university”?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جَامِعَةٌ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مَكْتَبَةٌ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مَحَطَّةٌ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جَامِعَةٌ</a:t>
            </a:r>
            <a:pPr algn="l" indent="0" marL="0">
              <a:buNone/>
            </a:pPr>
            <a:r>
              <a:rPr lang="en-US" sz="1050" i="1" dirty="0">
                <a:solidFill>
                  <a:srgbClr val="8A6D1E"/>
                </a:solidFill>
                <a:latin typeface="Calibri" pitchFamily="34" charset="0"/>
                <a:cs typeface="Amiri" pitchFamily="2" charset="-78"/>
              </a:rPr>
              <a:t> means university.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بَنْكٌ فِي المَرْكَزِ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تُوجَدُ</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يُوجَدُ</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هٰذِهِ</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بَنْكٌ</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مَحَطَّةٌ قَرِيبَةٌ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تُوجَدُ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يُوجَدُ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مَحَطَّةٌ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local guide to Nūr City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مَدِينَةُ النُّورِ مَدِينَةٌ صَغِيرَةٌ وَلٰكِنَّهَا نَشِيطَةٌ. فِي المَرْكَزِ يُوجَدُ مَسْجِدٌ كَبِيرٌ وَمَرْكَزٌ تِجَارِيٌّ حَدِيثٌ. تُوجَدُ مَدْرَسَةٌ بِجَانِبِ المَكْتَبَةِ، وَخَلْفَ المَكْتَبَةِ حَدِيقَةٌ عَامَّةٌ. المَطْعَمُ أَمَامَ المَتْحَفِ. لَا يُوجَدُ مَطَارٌ فِي المَدِينَةِ، وَلٰكِنْ تُوجَدُ مَحَطَّةُ حَافِلَاتٍ قَرِيبَةٌ.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مَدِينَةُ النُّورِ</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Nūr City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نَشِيطَةٌ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lively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المَرْكَزِ</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centre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مَرْكَزٌ تِجَارِيٌّ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shopping centre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حَدِيثٌ</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modern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بِجَانِبِ</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next to</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خَلْفَ</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behind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أَمَامَ</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front of</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يُوجَدُ</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there is no</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مَحَطَّةُ حَافِلَاتٍ</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bus station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city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and noisy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but lively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and dangerous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places are in the centre?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library and school</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airport and station</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mosque and shopping centre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library?</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restaurant</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museum</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behind the library?</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bank</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park</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station</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restaurant?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front of the museum</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school</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the airport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city not have?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bus station</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library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airport</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city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 and noisy</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 but lively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old and dangerous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says </a:t>
            </a:r>
            <a:pPr algn="l" indent="0" marL="0">
              <a:buNone/>
            </a:pPr>
            <a:r>
              <a:rPr lang="ar-SA" altLang="en-US" sz="1350" dirty="0">
                <a:solidFill>
                  <a:srgbClr val="8A6D1E"/>
                </a:solidFill>
                <a:latin typeface="Amiri" pitchFamily="2" charset="-78"/>
                <a:ea typeface="Amiri" pitchFamily="2" charset="-78"/>
                <a:cs typeface="Amiri" pitchFamily="2" charset="-78"/>
              </a:rPr>
              <a:t>صَغِيرَةٌ وَلٰكِنَّهَا نَشِيطَةٌ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places are in the centre?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library and school</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airport and station</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mosque and shopping centre</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centre contains a mosque and shopping centre.</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library?</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school</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restaurant</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museum</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المَدْرَسَةُ بِجَانِبِ المَكْتَبَةِ.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behind the library?</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bank</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park</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station</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خَلْفَ المَكْتَبَةِ حَدِيقَةٌ.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restaurant?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front of the museum</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school</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to the airport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المَطْعَمُ أَمَامَ المَتْحَفِ.</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city not have?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bus station</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library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airport</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يُوجَدُ مَطَارٌ.</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Places in Town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F6-L02 · Locating Places: Maps, Distance and Position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خَرِيطَةٌ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map</a:t>
            </a:r>
            <a:pPr indent="0" marL="0">
              <a:buNone/>
            </a:pPr>
            <a:r>
              <a:rPr lang="ar-SA" sz="1000" i="1" dirty="0">
                <a:solidFill>
                  <a:srgbClr val="5A6472"/>
                </a:solidFill>
                <a:latin typeface="Calibri" pitchFamily="34" charset="0"/>
                <a:ea typeface="Amiri" pitchFamily="2" charset="-78"/>
                <a:cs typeface="Amiri" pitchFamily="2" charset="-78"/>
              </a:rPr>
              <a:t>  pl. خَرَائِطُ</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قَرِيبٌ مِنْ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near to</a:t>
            </a:r>
            <a:pPr indent="0" marL="0">
              <a:buNone/>
            </a:pPr>
            <a:r>
              <a:rPr lang="ar-SA" sz="1000" i="1" dirty="0">
                <a:solidFill>
                  <a:srgbClr val="5A6472"/>
                </a:solidFill>
                <a:latin typeface="Calibri" pitchFamily="34" charset="0"/>
                <a:ea typeface="Amiri" pitchFamily="2" charset="-78"/>
                <a:cs typeface="Amiri" pitchFamily="2" charset="-78"/>
              </a:rPr>
              <a:t>  f. قَرِيبَةٌ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بَعِيدٌ عَنْ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far from</a:t>
            </a:r>
            <a:pPr indent="0" marL="0">
              <a:buNone/>
            </a:pPr>
            <a:r>
              <a:rPr lang="ar-SA" sz="1000" i="1" dirty="0">
                <a:solidFill>
                  <a:srgbClr val="5A6472"/>
                </a:solidFill>
                <a:latin typeface="Calibri" pitchFamily="34" charset="0"/>
                <a:ea typeface="Amiri" pitchFamily="2" charset="-78"/>
                <a:cs typeface="Amiri" pitchFamily="2" charset="-78"/>
              </a:rPr>
              <a:t>  f. بَعِيدَةٌ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between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كِيلُومِتْرٌ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kilometre</a:t>
            </a:r>
            <a:pPr indent="0" marL="0">
              <a:buNone/>
            </a:pPr>
            <a:r>
              <a:rPr lang="ar-SA" sz="1000" i="1" dirty="0">
                <a:solidFill>
                  <a:srgbClr val="5A6472"/>
                </a:solidFill>
                <a:latin typeface="Calibri" pitchFamily="34" charset="0"/>
                <a:ea typeface="Amiri" pitchFamily="2" charset="-78"/>
                <a:cs typeface="Amiri" pitchFamily="2" charset="-78"/>
              </a:rPr>
              <a:t>  pl. كِيلُومِتْرَاتٌ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far is your school from your home? Guess in kilometres.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المَدْرَسَةُ بَعِيدَةٌ عَنْ بَيْتِي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F6-L01: the vocabulary tab and the “Masculine or feminine place?”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60–80 words introducing your (real or invented) town.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an 80–100-word town guide with a negative and a balanced opinion.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F6-L02 · Locating Places: Maps, Distance and Position</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تَحْدِيدُ الأَمَاكِنِ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يُوجَدُ</a:t>
            </a:r>
            <a:pPr algn="l" indent="0" marL="0">
              <a:buNone/>
            </a:pPr>
            <a:r>
              <a:rPr lang="en-US" sz="1300" b="1" dirty="0">
                <a:solidFill>
                  <a:srgbClr val="FFFFFF"/>
                </a:solidFill>
                <a:latin typeface="Calibri" pitchFamily="34" charset="0"/>
                <a:cs typeface="Amiri" pitchFamily="2" charset="-78"/>
              </a:rPr>
              <a:t> + m. · </a:t>
            </a:r>
            <a:pPr algn="l" indent="0" marL="0">
              <a:buNone/>
            </a:pPr>
            <a:r>
              <a:rPr lang="ar-SA" altLang="en-US" sz="1700" b="1" dirty="0">
                <a:solidFill>
                  <a:srgbClr val="FFFFFF"/>
                </a:solidFill>
                <a:latin typeface="Amiri" pitchFamily="2" charset="-78"/>
                <a:ea typeface="Amiri" pitchFamily="2" charset="-78"/>
                <a:cs typeface="Amiri" pitchFamily="2" charset="-78"/>
              </a:rPr>
              <a:t>تُوجَدُ</a:t>
            </a:r>
            <a:pPr algn="l" indent="0" marL="0">
              <a:buNone/>
            </a:pPr>
            <a:r>
              <a:rPr lang="en-US" sz="1300" b="1" dirty="0">
                <a:solidFill>
                  <a:srgbClr val="FFFFFF"/>
                </a:solidFill>
                <a:latin typeface="Calibri" pitchFamily="34" charset="0"/>
                <a:cs typeface="Amiri" pitchFamily="2" charset="-78"/>
              </a:rPr>
              <a:t> + f. · </a:t>
            </a:r>
            <a:pPr algn="l" indent="0" marL="0">
              <a:buNone/>
            </a:pPr>
            <a:r>
              <a:rPr lang="ar-SA" altLang="en-US" sz="1700" b="1" dirty="0">
                <a:solidFill>
                  <a:srgbClr val="FFFFFF"/>
                </a:solidFill>
                <a:latin typeface="Amiri" pitchFamily="2" charset="-78"/>
                <a:ea typeface="Amiri" pitchFamily="2" charset="-78"/>
                <a:cs typeface="Amiri" pitchFamily="2" charset="-78"/>
              </a:rPr>
              <a:t>هُنَاكَ</a:t>
            </a:r>
            <a:pPr algn="l" indent="0" marL="0">
              <a:buNone/>
            </a:pPr>
            <a:r>
              <a:rPr lang="en-US" sz="1300" b="1" dirty="0">
                <a:solidFill>
                  <a:srgbClr val="FFFFFF"/>
                </a:solidFill>
                <a:latin typeface="Calibri" pitchFamily="34" charset="0"/>
                <a:cs typeface="Amiri" pitchFamily="2" charset="-78"/>
              </a:rPr>
              <a:t> never changes · new place = -un.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F6-L01 · Places in Town: Buildings and Public Spaces</dc:title>
  <dc:subject>PptxGenJS Presentation</dc:subject>
  <dc:creator>Al Madina Online School · Arabic Department</dc:creator>
  <cp:lastModifiedBy>Al Madina Online School · Arabic Department</cp:lastModifiedBy>
  <cp:revision>1</cp:revision>
  <dcterms:created xsi:type="dcterms:W3CDTF">2026-10-11T06:41:51Z</dcterms:created>
  <dcterms:modified xsi:type="dcterms:W3CDTF">2026-10-11T06:41:51Z</dcterms:modified>
</cp:coreProperties>
</file>