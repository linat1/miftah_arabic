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F6-L10. The website lesson “Listening: Town and Transport Texts”: vocabulary, grammar rules and quiz, patterns, common mistakes, sorter, listening, reading, speaking prompts and model, writing task and model, differentiation, final check and the lesson mission. Picture match: website visual game “Listening: Town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texts (directions · transport opinions · a city). Do them as three cycles: predict → listen twice → read the script → answers.
• Core: label every question with its answer TYPE (place / time or number / reason) and answer the place and number questions.
• Develop: all questions + name the phrase that proves each answer.
• Stretch: analyse the distractors across all three texts and write a reusable strategy guide (website writing task).
• Read each text yourself at natural speed, pausing between sentences. Do NOT show the script until after the second listening.
• Prep check: إِعْلَانٌ · تَقْرِيرٌ · مُقَابَلَةٌ · تَفَاصِيلُ · اِزْدِحَامٌ — the three texts are an announcement-style direction, a mini-report and a description.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F6-L09. Questions 3–5 retrieve F6-L05/L09 (advantages, connectors) and F6-L08 (commands).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question first: the question word tells you what to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سیاق و سباق (context), تفصیل (detail), تحقیق (research — same root as تَحَقَّقْ, “check / verify”) and اعلان (announcement, as at a railway station!). Students already know most of today’s strategy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(1 of 2)). Hear → Say → See → Use. Transliteration is printed for Core students (cover it for Develop/Stretch).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(2 of 2)). Hear → Say → See → Use. Transliteration is printed for Core students (cover it for Develop/Stretch).
FLEX: teach if time allows; otherwise these are on the website vocabulary tab for homework.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“Predict the information type”: “Before listening, identify whether the answer must be a place, time, transport, number or reason.”
Website overview: “Question words predict the information type, while verb prefixes and suffixes reveal gender, person and reference.”
CAREFUL (website mistake 3): كَمْ is not only “how many” — the noun after it decides: كَمْ ثَمَنُهَا (price), كَمْ تَسْتَغْرِقُ (duration), كَمْ مَحَطَّةً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“Hear command endings” (ـْ / ـي / ـوا), “Hear possessive price references” (ثَمَنُهُ / ثَمَنُهَا) and “Distinguish contrast from addition” (لٰكِنَّ / بَيْنَمَا / أَيْضًا).
Website example: سَلْمَى تُفَضِّلُ الحَافِلَةَ، بَيْنَمَا عُمَرُ يُفَضِّلُ القِطَارَ. — two people, two opinions: the question tells you WHICH person.
Website common error: “Do not choose an option because you hear one matching word. Confirm the full meaning and listen for contrast or negation.”
Quick-fire: say اِنْعَطِفْ / اِنْعَطِفِي / اِنْعَطِفُوا in random order; students hold up 1 finger (boy), 2 (girl) or 3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learners know what form to expect. Question words predict the information type, while verb prefixes and suffixes reveal gender, person and reference.”
• Predict the information type: Before listening, identify whether the answer must be a place, time, transport, number or reason.
• Hear command endings: Direction endings identify whether the speaker addresses one male, one female or a group.
• Hear possessive price references: The suffix tells you whether the price refers to a masculine or feminine item.
• Distinguish contrast from addition: A contrast word often signals that the second detail corrects or limits the first.
Website common error: Do not choose an option because you hear one matching word. Confirm the full meaning and listen for contrast or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through website listening question 4 (Text 2). This is exactly the website speaking model: “The train was also mentioned, but it was another person’s view.” Do this BEFORE students hear Text 2, using only the sentence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Develop/Stretch: + question 4 (two numbers: which is the time?).
Listen 1: just listen. Listen 2: note answers. Then chat the letters.
Support: after the second listening, show the read-along slide (Arabic + English, line by line) for Core students.
SCRIPT (read aloud):
النَّصُّ الأَوَّلُ: اِذْهَبْ مُسْتَقِيمًا حَتَّى الدَّوَّارِ، ثُمَّ اِنْعَطِفْ يَمِينًا. مَحَطَّةُ القِطَارِ بِجَانِبِ المَتْحَفِ. القِطَارُ يُغَادِرُ مِنَ الرَّصِيفِ الثَّالِثِ عِنْدَ السَّاعَةِ العَاشِرَةِ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1 (Layla’s reason). Develop/Stretch: all three — question 3 needs كِلَاهُمَا (both of them).
Listen 1: just listen. Listen 2: note answers. Then chat the letters.
Support: after the second listening, show the read-along slide (Arabic + English, line by line) for Core students.
SCRIPT (read aloud):
النَّصُّ الثَّانِي: تُفَضِّلُ لَيْلَى الحَافِلَةَ لِأَنَّهَا رَخِيصَةٌ، بَيْنَمَا يُفَضِّلُ سَامِرٌ القِطَارَ لِأَنَّهُ أَسْرَعُ. كِلَاهُمَا يَرَى أَنَّ المِتْرُو مُرِيحٌ.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(known for). Develop/Stretch: both — question 1 comes after وَلٰكِنَّ.
Listen 1: just listen. Listen 2: note answers. Then chat the letters.
Support: after the second listening, show the read-along slide (Arabic + English, line by line) for Core students.
SCRIPT (read aloud):
النَّصُّ الثَّالِثُ: تَتَمَيَّزُ المَدِينَةُ بِمَبَانِيهَا الحَجَرِيَّةِ وَسُوقِهَا القَدِيمِ، وَلٰكِنَّ المَوَاصَلَاتِ فِيهَا قَلِيلَةٌ.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المُشَتِّتُ؟ (What was the distractor?)
B: ذُكِرَ القِطَارُ أَيْضًا، وَلٰكِنَّهُ كَانَ رَأْيَ شَخْصٍ آخَرَ. (The train was also mentioned, but it was another person’s view.)
Website prompts “Explain your listening evidence” and model dialogue (لِمَاذَا اخْتَرْتَ «الحَافِلَةَ»؟ — لِأَنِّي سَمِعْتُ «رَخِيصَةٌ» … — مَا المُشَتِّتُ؟ — ذُكِرَ القِطَارُ أَيْضًا، وَلٰكِنَّهُ كَانَ رَأْيَ شَخْصٍ آخَرَ.). Keep it short: students explain HOW they listened. Core may answer with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question type and one key word. · Develop — Explain the exact phrase proving each answer. · Stretch — Analyse distractors across all three formats and write a reusable listening strategy guide.
Website writing task (Stretch): Create a listening strategy record for three questions and explain the evidence for each answer.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يَطْلُبُ مَكَانًا لِأَنَّهُ يَبْدَأُ بِـ «أَيْنَ» · سَمِعْتُ «بِجَانِبِ المَتْحَفِ» · لَمْ أَخْتَرْ «السَّاعَةَ الثَّامِنَةَ» لِأَنَّهَا وَقْتُ المُغَادَرَةِ · سَأَقْرَأُ الأَسْئِلَةَ أَوَّلًا. NOTE: the website model refers to “half an hour” and “eight o’clock”, which are not in today’s three texts — present it as a model of the LANGUAGE of a strategy record, not as answers to today’s questions.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(F6-L11 · Speaking and Writing About My Town) will spend class time USING this language, so students prepare it tonight — short, simple, easy to access (school guidance: “Simple, Short, Interesting, Relevant, Easy to access”). The five words prepare F6-L11 (speaking and writing about my town: present, describe, compare, justify,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Listening: Town and Transport Texts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المَدِينَةِ وَالمُوَاصَلَاتِ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predict the answer type from the question word, hear command and pronoun endings, keep listening after “but / whereas”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F6-L10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Question words predict the answer; endings and “but” are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question words, fix the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إِعْلَانٌ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announcement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اِزْدِحَامٌ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congestion / crowds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details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platform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مَزَايَاهَا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بِصِفَةٍ عَامَّةٍ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عُيُوبِهَا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بِصِفَةٍ عَامَّةٍ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to one boy.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يَمِينًا.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يَسَارًا.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إِعْلَانٌ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announcement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اِزْدِحَامٌ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congestion / crowds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details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platform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مَزَايَاهَا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بِصِفَةٍ عَامَّةٍ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عُيُوبِهَا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and F6-L09.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“overall”?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بِصِفَةٍ عَامَّةٍ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F6-L09 connectors.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to one boy.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 يَمِينًا.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اِنْعَطِفِي يَمِينًا.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اِنْعَطِفُوا يَسَارًا.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F6-L08: sukūn for one boy.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the question first: the question word tells you what to catch.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أَيْنَ؟ · مَتَى؟ · كَمْ تَسْتَغْرِقُ؟ · لِمَاذَا؟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answer types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places, directions, transport, prices and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close distractors and contrast.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multiple-choice, matching and selection tasks.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the answer type from the question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catch a place, a platform and a time.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endings as listening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phrase that proves my answer.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reject a distractor after “but” or “whereas”.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reusable listening strategy.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strategy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cues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تَوَقُّعٌ</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 prediction</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سِيَاقٌ</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‎سیاق‎ </a:t>
            </a:r>
            <a:pPr indent="0" marL="0">
              <a:buNone/>
            </a:pPr>
            <a:r>
              <a:rPr lang="en-US" sz="950" b="1" dirty="0">
                <a:solidFill>
                  <a:srgbClr val="2E8B57"/>
                </a:solidFill>
                <a:latin typeface="Calibri" pitchFamily="34" charset="0"/>
                <a:ea typeface="Calibri" pitchFamily="34" charset="-122"/>
                <a:cs typeface="Calibri" pitchFamily="34" charset="-120"/>
              </a:rPr>
              <a:t> siyāq · context (siyāq o sabāq)</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detail</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إِعْلَانٌ</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‎اعلان‎ </a:t>
            </a:r>
            <a:pPr indent="0" marL="0">
              <a:buNone/>
            </a:pPr>
            <a:r>
              <a:rPr lang="en-US" sz="950" b="1" dirty="0">
                <a:solidFill>
                  <a:srgbClr val="2E8B57"/>
                </a:solidFill>
                <a:latin typeface="Calibri" pitchFamily="34" charset="0"/>
                <a:ea typeface="Calibri" pitchFamily="34" charset="-122"/>
                <a:cs typeface="Calibri" pitchFamily="34" charset="-120"/>
              </a:rPr>
              <a:t> eʿlān · announcement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ta-waq-qu-ʿun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 مُحَدَّدٌ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specific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 mu-ḥad-da-dun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47" name="Text 4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48" name="Shape 4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51" name="Shape 4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53" name="Text 5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54" name="Shape 5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6" name="Text 5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أُولَى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mar-ra-tun ū-lā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ثَانِيَةٌ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mar-ra-tun thā-ni-ya-tun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اِسْتَبْعِدْ</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is-tab-ʿid</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اِسْتَبْعِدُوا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اِسْتَبْعِدِي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اِسْتَبْعِدْ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ta-ḥaq-qaq</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تَحَقَّقُوا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تَحَقَّقِي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تَحَقَّقْ</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daw-win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 much / long?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يَمِينًا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ya-mī-nan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cues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ya-sā-ran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أَرْصِفَةٌ</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third</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الرَّصِيفُ الثَّالِثُ</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رَصِيفٌ</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تَسْتَغْرِقُ</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tas-tagh-ri-qu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أَغْلَى</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agh-lā</a:t>
            </a:r>
            <a:endParaRPr lang="en-US" sz="135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8" name="Text 5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تَتَمَيَّزُ</a:t>
            </a:r>
            <a:endParaRPr lang="ar-SA" sz="3000" dirty="0"/>
          </a:p>
        </p:txBody>
      </p:sp>
      <p:sp>
        <p:nvSpPr>
          <p:cNvPr id="59" name="Text 5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ta-ta-may-ya-zu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PREDICT THE ANSWER TYPE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The question word tells you what to catch</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تَوَقَّعْ نَوْعَ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might hear</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Catch a …</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بِجَانِبِ المَتْحَفِ · حَتَّى الدَّوَّارِ</a:t>
            </a:r>
            <a:endParaRPr lang="ar-SA" sz="2200" dirty="0"/>
          </a:p>
        </p:txBody>
      </p:sp>
      <p:sp>
        <p:nvSpPr>
          <p:cNvPr id="21" name="Text 18"/>
          <p:cNvSpPr txBox="1"/>
          <p:nvPr/>
        </p:nvSpPr>
        <p:spPr>
          <a:xfrm>
            <a:off x="3493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a:t>
            </a:r>
            <a:endParaRPr lang="en-US" sz="11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أَيْنَ؟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 السَّاعَةِ العَاشِرَةِ وَالنِّصْفِ</a:t>
            </a:r>
            <a:endParaRPr lang="ar-SA" sz="2200" dirty="0"/>
          </a:p>
        </p:txBody>
      </p:sp>
      <p:sp>
        <p:nvSpPr>
          <p:cNvPr id="27" name="Text 24"/>
          <p:cNvSpPr txBox="1"/>
          <p:nvPr/>
        </p:nvSpPr>
        <p:spPr>
          <a:xfrm>
            <a:off x="3493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نِصْفَ سَاعَةٍ · عِشْرِينَ دَقِيقَةً</a:t>
            </a:r>
            <a:endParaRPr lang="ar-SA" sz="2200" dirty="0"/>
          </a:p>
        </p:txBody>
      </p:sp>
      <p:sp>
        <p:nvSpPr>
          <p:cNvPr id="33" name="Text 30"/>
          <p:cNvSpPr txBox="1"/>
          <p:nvPr/>
        </p:nvSpPr>
        <p:spPr>
          <a:xfrm>
            <a:off x="3493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duration</a:t>
            </a:r>
            <a:endParaRPr lang="en-US" sz="11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تَسْتَغْرِقُ؟</a:t>
            </a:r>
            <a:endParaRPr lang="ar-SA" sz="26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عَشَرَةُ رِيَالَاتٍ</a:t>
            </a:r>
            <a:endParaRPr lang="ar-SA" sz="2200" dirty="0"/>
          </a:p>
        </p:txBody>
      </p:sp>
      <p:sp>
        <p:nvSpPr>
          <p:cNvPr id="39" name="Text 36"/>
          <p:cNvSpPr txBox="1"/>
          <p:nvPr/>
        </p:nvSpPr>
        <p:spPr>
          <a:xfrm>
            <a:off x="3493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price</a:t>
            </a:r>
            <a:endParaRPr lang="en-US" sz="11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ثَمَنُهَا؟</a:t>
            </a:r>
            <a:endParaRPr lang="ar-SA" sz="26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الرَّصِيفِ الثَّالِثِ</a:t>
            </a:r>
            <a:endParaRPr lang="ar-SA" sz="2200" dirty="0"/>
          </a:p>
        </p:txBody>
      </p:sp>
      <p:sp>
        <p:nvSpPr>
          <p:cNvPr id="43" name="Text 40"/>
          <p:cNvSpPr txBox="1"/>
          <p:nvPr/>
        </p:nvSpPr>
        <p:spPr>
          <a:xfrm>
            <a:off x="3493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a:t>
            </a:r>
            <a:endParaRPr lang="en-US" sz="11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أَيِّ رَصِيفٍ؟</a:t>
            </a:r>
            <a:endParaRPr lang="ar-SA" sz="26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لِأَنَّهَا رَخِيصَةٌ · لِأَنَّهُ أَسْرَعُ</a:t>
            </a:r>
            <a:endParaRPr lang="ar-SA" sz="2200" dirty="0"/>
          </a:p>
        </p:txBody>
      </p:sp>
      <p:sp>
        <p:nvSpPr>
          <p:cNvPr id="47" name="Text 44"/>
          <p:cNvSpPr txBox="1"/>
          <p:nvPr/>
        </p:nvSpPr>
        <p:spPr>
          <a:xfrm>
            <a:off x="3493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لِمَاذَا؟</a:t>
            </a:r>
            <a:endParaRPr lang="ar-SA" sz="26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PL (place), T (time), N (number) or R (reason) next to every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ENDINGS AND CONTRAST ARE EVIDENCE (WEBSITE RULES 2–4)</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Small sounds, big clues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قَرَائِنُ صَغِيرَةٌ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WHO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اِنْعَطِفْ · اِنْعَطِفِي · اِنْعَطِفُوا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اِنْعَطِفِي يَسَارًا.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Turn left (to a girl).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ending = who is addressed.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WHICH ITEM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ثَمَنُهُ · ثَمَنُهَا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ثَمَنُهَا؟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it? (a feminine item, e.g. the ticket)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-hu = masculine · -hā =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STRETCH</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القِطَارُ سَرِيعٌ، لٰكِنَّهُ غَالٍ.</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is fast, but expensive.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judgement comes AFTER “but”.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one matching word is not enough evidence.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أَتَحَقَّقُ مِنَ الجُمْلَةِ كُلِّهَا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أَخْتَارُ أَوَّلَ كَلِمَةٍ أَسْمَعُهَا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for grammatical cues and attached pronouns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34" charset="0"/>
                <a:ea typeface="Amiri" pitchFamily="34" charset="-122"/>
                <a:cs typeface="Amiri" pitchFamily="34" charset="-120"/>
              </a:rPr>
              <a:t>الاِسْتِمَاعُ إِلَى القَرَائِنِ النَّحْوِيَّةِ وَالضَّمَائِرِ</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Predict the information type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أَيْنَ / مَتَى / كَيْفَ / كَمْ / لِمَاذَا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أَيْنَ؟   ·   مَتَى؟   ·   كَمْ تَسْتَغْرِقُ؟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Hear command endings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ـْ / ـي / ـوا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اِنْعَطِفْ   ·   اِنْعَطِفِي   ·   اِنْعَطِفُوا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Hear possessive price references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ثَمَنُهُ /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ثَمَنُهُ؟   ·   كَمْ ثَمَنُهَا؟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contrast from addition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لٰكِنَّ / بَيْنَمَا / أَيْضًا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القِطَارُ سَرِيعٌ، لٰكِنَّهُ غَالٍ.   ·   سَلْمَى تُفَضِّلُ الحَافِلَةَ، بَيْنَمَا عُمَرُ يُفَضِّلُ القِطَارَ.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expects...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ثَمَنُهَا</a:t>
            </a:r>
            <a:pPr algn="l" indent="0" marL="0">
              <a:buNone/>
            </a:pPr>
            <a:r>
              <a:rPr lang="en-US" sz="1250" b="1" dirty="0">
                <a:solidFill>
                  <a:srgbClr val="1B3B6F"/>
                </a:solidFill>
                <a:latin typeface="Calibri" pitchFamily="34" charset="0"/>
                <a:ea typeface="Calibri" pitchFamily="34" charset="-122"/>
                <a:cs typeface="Calibri" pitchFamily="34" charset="-120"/>
              </a:rPr>
              <a:t> refers to...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feminine item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masculine item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group of speakers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duration cue?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expects...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time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when.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ثَمَنُهَا</a:t>
            </a:r>
            <a:pPr algn="l" indent="0" marL="0">
              <a:buNone/>
            </a:pPr>
            <a:r>
              <a:rPr lang="en-US" sz="1250" b="1" dirty="0">
                <a:solidFill>
                  <a:srgbClr val="1B3B6F"/>
                </a:solidFill>
                <a:latin typeface="Calibri" pitchFamily="34" charset="0"/>
                <a:ea typeface="Calibri" pitchFamily="34" charset="-122"/>
                <a:cs typeface="Calibri" pitchFamily="34" charset="-120"/>
              </a:rPr>
              <a:t> refers to...</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feminine item</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masculine item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group of speakers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is the feminine reference.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لٰكِنَّ</a:t>
            </a:r>
            <a:pPr algn="l" indent="0" marL="0">
              <a:buNone/>
            </a:pPr>
            <a:r>
              <a:rPr lang="en-US" sz="1050" i="1" dirty="0">
                <a:solidFill>
                  <a:srgbClr val="8A6D1E"/>
                </a:solidFill>
                <a:latin typeface="Calibri" pitchFamily="34" charset="0"/>
                <a:ea typeface="Calibri" pitchFamily="34" charset="-122"/>
                <a:cs typeface="Calibri" pitchFamily="34" charset="-120"/>
              </a:rPr>
              <a:t> means but.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duration cue?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تَسْتَغْرِقُ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تَفْتَقِرُ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تَسْتَغْرِقُ</a:t>
            </a:r>
            <a:pPr algn="l" indent="0" marL="0">
              <a:buNone/>
            </a:pPr>
            <a:r>
              <a:rPr lang="en-US" sz="1050" i="1" dirty="0">
                <a:solidFill>
                  <a:srgbClr val="8A6D1E"/>
                </a:solidFill>
                <a:latin typeface="Calibri" pitchFamily="34" charset="0"/>
                <a:ea typeface="Calibri" pitchFamily="34" charset="-122"/>
                <a:cs typeface="Calibri" pitchFamily="34" charset="-120"/>
              </a:rPr>
              <a:t> introduces how long something takes.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لِمَاذَا تُفَضِّلُ لَيْلَى الحَافِلَةَ؟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REASON, about LAYLA.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تُفَضِّلُ لَيْلَى الحَافِلَةَ </a:t>
            </a:r>
            <a:pPr rtl="1" algn="ct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لِأَنَّهَا رَخِيصَةٌ</a:t>
            </a:r>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بَيْنَمَا يُفَضِّلُ سَامِرٌ القِطَارَ </a:t>
            </a:r>
            <a:pPr rtl="1" algn="ct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لِأَنَّهُ أَسْرَعُ</a:t>
            </a:r>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a:t>
            </a:r>
            <a:endParaRPr lang="ar-SA" sz="14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people, two reasons!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لِأَنَّهُ أَسْرَعُ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“Faster” is Samer’s reason: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تُفَضِّلُ لَيْلَى … لِأَنَّهَا رَخِيصَةٌ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-hā = the bus, Layla.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34" charset="0"/>
                <a:ea typeface="Amiri" pitchFamily="34" charset="-122"/>
                <a:cs typeface="Amiri" pitchFamily="34" charset="-120"/>
              </a:rPr>
              <a:t>السُّؤَالُ يَطْلُبُ سَبَبًا. سَمِعْتُ «</a:t>
            </a:r>
            <a:pPr rtl="1" algn="r" indent="0" marL="0">
              <a:buNone/>
            </a:pPr>
            <a:r>
              <a:rPr lang="ar-SA" altLang="en-US" sz="2050" b="1" dirty="0">
                <a:solidFill>
                  <a:srgbClr val="0E7C86"/>
                </a:solidFill>
                <a:latin typeface="Amiri" pitchFamily="34" charset="0"/>
                <a:ea typeface="Amiri" pitchFamily="34" charset="-122"/>
                <a:cs typeface="Amiri" pitchFamily="34" charset="-120"/>
              </a:rPr>
              <a:t>لِأَنَّهَا رَخِيصَةٌ</a:t>
            </a:r>
            <a:pPr rtl="1" algn="r" indent="0" marL="0">
              <a:buNone/>
            </a:pPr>
            <a:r>
              <a:rPr lang="ar-SA" altLang="en-US" sz="2050" b="1" dirty="0">
                <a:solidFill>
                  <a:srgbClr val="1B3B6F"/>
                </a:solidFill>
                <a:latin typeface="Amiri" pitchFamily="34" charset="0"/>
                <a:ea typeface="Amiri" pitchFamily="34" charset="-122"/>
                <a:cs typeface="Amiri" pitchFamily="34" charset="-120"/>
              </a:rPr>
              <a:t>» وَ«</a:t>
            </a:r>
            <a:pPr rtl="1" algn="r" indent="0" marL="0">
              <a:buNone/>
            </a:pPr>
            <a:r>
              <a:rPr lang="ar-SA" altLang="en-US" sz="2050" b="1" dirty="0">
                <a:solidFill>
                  <a:srgbClr val="D6336C"/>
                </a:solidFill>
                <a:latin typeface="Amiri" pitchFamily="34" charset="0"/>
                <a:ea typeface="Amiri" pitchFamily="34" charset="-122"/>
                <a:cs typeface="Amiri" pitchFamily="34" charset="-120"/>
              </a:rPr>
              <a:t>لِأَنَّهُ أَسْرَعُ</a:t>
            </a:r>
            <a:pPr rtl="1" algn="r" indent="0" marL="0">
              <a:buNone/>
            </a:pPr>
            <a:r>
              <a:rPr lang="ar-SA" altLang="en-US" sz="2050" b="1" dirty="0">
                <a:solidFill>
                  <a:srgbClr val="1B3B6F"/>
                </a:solidFill>
                <a:latin typeface="Amiri" pitchFamily="34" charset="0"/>
                <a:ea typeface="Amiri" pitchFamily="34" charset="-122"/>
                <a:cs typeface="Amiri" pitchFamily="34" charset="-120"/>
              </a:rPr>
              <a:t>». اِسْتَبْعَدْتُ «</a:t>
            </a:r>
            <a:pPr rtl="1" algn="r" indent="0" marL="0">
              <a:buNone/>
            </a:pPr>
            <a:r>
              <a:rPr lang="ar-SA" altLang="en-US" sz="2050" b="1" dirty="0">
                <a:solidFill>
                  <a:srgbClr val="D6336C"/>
                </a:solidFill>
                <a:latin typeface="Amiri" pitchFamily="34" charset="0"/>
                <a:ea typeface="Amiri" pitchFamily="34" charset="-122"/>
                <a:cs typeface="Amiri" pitchFamily="34" charset="-120"/>
              </a:rPr>
              <a:t>أَسْرَعُ</a:t>
            </a:r>
            <a:pPr rtl="1" algn="r" indent="0" marL="0">
              <a:buNone/>
            </a:pPr>
            <a:r>
              <a:rPr lang="ar-SA" altLang="en-US" sz="2050" b="1" dirty="0">
                <a:solidFill>
                  <a:srgbClr val="1B3B6F"/>
                </a:solidFill>
                <a:latin typeface="Amiri" pitchFamily="34" charset="0"/>
                <a:ea typeface="Amiri" pitchFamily="34" charset="-122"/>
                <a:cs typeface="Amiri" pitchFamily="34" charset="-120"/>
              </a:rPr>
              <a:t>» لِأَنَّهُ رَأْيُ سَامِرٍ. الإِجَابَةُ: </a:t>
            </a:r>
            <a:pPr rtl="1" algn="r" indent="0" marL="0">
              <a:buNone/>
            </a:pPr>
            <a:r>
              <a:rPr lang="ar-SA" altLang="en-US" sz="2050" b="1" dirty="0">
                <a:solidFill>
                  <a:srgbClr val="0E7C86"/>
                </a:solidFill>
                <a:latin typeface="Amiri" pitchFamily="34" charset="0"/>
                <a:ea typeface="Amiri" pitchFamily="34" charset="-122"/>
                <a:cs typeface="Amiri" pitchFamily="34" charset="-120"/>
              </a:rPr>
              <a:t>الحَافِلَةُ رَخِيصَةٌ</a:t>
            </a:r>
            <a:pPr rtl="1" algn="r" indent="0" marL="0">
              <a:buNone/>
            </a:pPr>
            <a:r>
              <a:rPr lang="ar-SA" altLang="en-US" sz="2050" b="1" dirty="0">
                <a:solidFill>
                  <a:srgbClr val="1B3B6F"/>
                </a:solidFill>
                <a:latin typeface="Amiri" pitchFamily="34" charset="0"/>
                <a:ea typeface="Amiri" pitchFamily="34" charset="-122"/>
                <a:cs typeface="Amiri" pitchFamily="34" charset="-120"/>
              </a:rPr>
              <a:t>.</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question asks for a reason. I heard “because it is cheap” and “because it is faster”. I eliminated “faster” because it is Samer’s view. The answer: the bus is cheap.</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تَسْتَغْرِقُ الرِّحْلَةُ؟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long does the journey take?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Expect a time duration.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Turn left (female).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Hear the feminine command ending.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ثَمَنُهَا؟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much is it? (feminine item)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suffix identifies the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سَرِيعٌ، لٰكِنَّهُ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Fast, but expensive.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contrast changes the overall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What answer type should you expect?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أَيِّ رَصِيفٍ؟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تَسْتَغْرِقُ؟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ثَمَنُهَا؟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رَأْيُهُ؟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مِيزَةُ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 or number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or opinion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أَيْنَ؟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أَيِّ رَصِيفٍ؟</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 or number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تَسْتَغْرِقُ؟</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ثَمَنُهَا؟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or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رَأْيُهُ؟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مِيزَةُ المَدِينَةِ؟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the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guess from one 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predict from the questions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listening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 every first answer</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often changes the expected answer?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the script</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guess from one word</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predict from the questions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Prediction focuses attention.</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listening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change every first answer</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listening confirms or repairs.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often changes the expected answer?</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لٰكِنَّ</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Contrast may reverse or qualify the first detail.</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تُفَضِّلُ لَيْلَى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prefers which transport?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اِنْعَطِفْ يَسَارًا يَا مَرْيَمُ.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being told to turn?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المَوَاصَلَاتُ فِي المَدِينَةِ كَثِيرَةٌ.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تُفَضِّلُ لَيْلَى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تُفَضِّلُ لَيْلَى الحَافِلَةَ.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train was Samer’s choice.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اِنْعَطِفْ يَسَارًا يَا مَرْيَمُ.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اِنْعَطِفِي يَسَارًا يَا مَرْيَمُ.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girl: the -ī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المَوَاصَلَاتُ فِي المَدِينَةِ كَثِيرَةٌ.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المَوَاصَلَاتُ فِي المَدِينَةِ قَلِيلَةٌ.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“but”: transport is limited.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Directions to the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the roundabout, which way do you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train leave?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3:00</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direction? place? number? time?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numbers are heard: 3 and 10:30.</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اِذْهَبْ مُسْتَقِيمًا حَتَّى الدَّوَّارِ، ثُمَّ اِنْعَطِفْ يَمِينًا.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straight on to the roundabout, then turn right.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 القِطَارِ بِجَانِبِ المَتْحَفِ.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 is next to the museum.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القِطَارُ يُغَادِرُ مِنَ الرَّصِيفِ الثَّالِثِ عِنْدَ السَّاعَةِ العَاشِرَةِ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leaves from platform three at half past ten.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the roundabout, which way do you turn?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straight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اِنْعَطِفْ يَمِينًا.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museum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المَحَطَّةُ بِجَانِبِ المَتْحَفِ.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الرَّصِيفِ الثَّالِثِ.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train leave?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السَّاعَةِ العَاشِرَةِ وَالنِّصْفِ.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direction? place? number? time?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numbers are heard: 3 and 10:30.</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Text 2: Layla and Samer compare transport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Layla prefer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Samer prefer?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metro</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of them think?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fast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is cheap</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metro is comfortable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people, three kinds of transport.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says what? Listen after “whereas”.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لَيْلَى الحَافِلَةَ لِأَنَّهَا رَخِيصَةٌ،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prefers the bus because it is cheap,</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 يُفَضِّلُ سَامِرٌ القِطَارَ لِأَنَّهُ أَسْرَعُ.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Samer prefers the train because it is faster.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 يَرَى أَنَّ المِتْرُو مُرِيحٌ.</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 think the metro is comfortable.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Layla prefer the bus?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رَخِيصَةٌ.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Samer prefer?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metro</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بَيْنَمَا يُفَضِّلُ سَامِرٌ القِطَارَ.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of them think?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fast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train is cheap</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metro is comfortable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كِلَاهُمَا يَرَى أَنَّ المِتْرُو مُرِيحٌ.</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people, three kinds of transport.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says what? Listen after “whereas”.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 city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city limitation is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limited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old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unsafe buildings</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known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buildings and an old market</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One advantage, one limitation.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limitation comes after “but”.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تَتَمَيَّزُ المَدِينَةُ بِمَبَانِيهَا الحَجَرِيَّةِ وَسُوقِهَا القَدِيمِ،</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known for its stone buildings and its old market,</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المَوَاصَلَاتِ فِيهَا قَلِيلَةٌ.</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its transport is limited.</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city limitation is mentioned?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limited transport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old market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unsafe buildings</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فِيهَا قَلِيلَةٌ.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known for?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modern towers</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big airport</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buildings and an old market</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تَتَمَيَّزُ المَدِينَةُ بِمَبَانِيهَا الحَجَرِيَّةِ وَسُوقِهَا القَدِيمِ.</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One advantage, one limitation.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limitation comes after “but”.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المَعْلُومَةِ المَطْلُوبَةِ؟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الخِيَارُ الَّذِي اسْتَبْعَدْتَهُ؟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العِبَارَةُ الَّتِي أَثْبَتَتِ الإِجَابَةَ؟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السُّؤَالُ يَطْلُبُ مَكَانًا / وَقْتًا / سَبَبًا.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الكَلِمَةُ المِفْتَاحِيَّةُ هِيَ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اِسْتَبْعَدْتُ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سَمِعْتُ « ___ »، لِذَلِكَ اخْتَرْتُ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اخْتَرْتَ «الحَافِلَةَ»؟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 you choose “the bus”?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لِأَنِّي سَمِعْتُ «رَخِيصَةٌ»، وَالسُّؤَالُ يَطْلُبُ السَّبَبَ.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I heard “cheap”, and the question asks for the reason. The train was also mentioned, but it was another person’s view.</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question type and one key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 three questions: the answer type and the key word you heard.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the exact phrase proving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questions, the phrase that proves each answer and one distractor you rejected.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Analyse distractors across all three formats and write a reusable listening strategy guide.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reusable strategy guide across all three texts, with a next-step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السُّؤَالُ ______ يَطْلُبُ ______ لِأَنَّهُ يَبْدَأُ بِـ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Question … asks for … because it starts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سَمِعْتُ « ______ »، لِذَلِكَ اخْتَرْتُ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heard “…”, so I chose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أَخْتَرْ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did not choose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سَأَقْرَأُ الأَسْئِلَةَ أَوَّلًا.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future I will read the questions first.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السُّؤَالُ الأَوَّلُ يَطْلُبُ مَكَانًا.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Question 1 asks for a place.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سَمِعْتُ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heard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الإِجَابَةُ: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answer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السُّؤَالُ الثَّانِي يَطْلُبُ رَقْمًا.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Question 2 asks for a number.</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يَطْلُبُ  ·  مَكَانًا  ·  وَقْتًا  ·  رَقْمًا  ·  سَبَبًا  ·  سَمِعْتُ  ·  اِخْتَرْتُ  ·  اِسْتَبْعَدْتُ  ·  مُشَتِّتٌ  ·  لٰكِنَّ  ·  بَيْنَمَا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listening strategy record for three questions and explain the evidence for each answer.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Predict the answer type.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Record the key phrase heard.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and reject one distractor.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Write one next-step strategy for a weaker area.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قَوِيًّا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distractor was strong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المَرَّةِ الثَّانِيَةِ تَحَقَّقْتُ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second time I checked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«لٰكِنَّ» تَغَيَّرَ المَعْنَى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“but” the meaning changed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سَأَسْتَمِعُ إِلَى كَلِمَاتِ التَّضَادِّ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listen for contrast words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السُّؤَالُ الأَوَّلُ يَطْلُبُ مَكَانًا لِأَنَّهُ يَبْدَأُ بِـ «أَيْنَ». سَمِعْتُ «بِجَانِبِ المَتْحَفِ»، لِذٰلِكَ اخْتَرْتُ المَتْحَفَ. السُّؤَالُ الثَّانِي يَطْلُبُ مُدَّةً. سَمِعْتُ «نِصْفَ سَاعَةٍ» وَلَمْ أَخْتَرْ «السَّاعَةَ الثَّامِنَةَ» لِأَنَّهَا وَقْتُ المُغَادَرَةِ. فِي المُسْتَقْبَلِ سَأَقْرَأُ الأَسْئِلَةَ أَوَّلًا وَسَأَسْتَمِعُ إِلَى كَلِمَاتِ التَّضَادِ مِثْلَ «لٰكِنَّ».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first question asks for a place because it starts with “where”. I heard “next to the museum”, so I chose the museum. The second question asks for a duration. I heard “half an hour” and I did not choose “eight o’clock” because it is the departure time. In future I will read the questions first and listen for contrast words like “but”.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answer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evidence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rejected distractor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strategy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key word I heard.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phrase that proves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rejected one distractor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strategy has a clear next step.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before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predict from questions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reveal the script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random answers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cue expects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before listening?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predict from questions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reveal the script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random answers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Prediction comes first.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cue expects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لِمَاذَا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 asks why.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لٰكِنَّ</a:t>
            </a:r>
            <a:pPr algn="l" indent="0" marL="0">
              <a:buNone/>
            </a:pPr>
            <a:r>
              <a:rPr lang="en-US" sz="1050" i="1" dirty="0">
                <a:solidFill>
                  <a:srgbClr val="8A6D1E"/>
                </a:solidFill>
                <a:latin typeface="Calibri" pitchFamily="34" charset="0"/>
                <a:ea typeface="Calibri" pitchFamily="34" charset="-122"/>
                <a:cs typeface="Calibri" pitchFamily="34" charset="-120"/>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commentary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قَبْلَ الاِسْتِمَاعِ، اِقْرَأِ الأَسْئِلَةَ وَحَدِّدْ نَوْعَ المَعْلُومَةِ المَطْلُوبَةِ. إِذَا رَأَيْتَ «أَيْنَ»، فَابْحَثْ عَنْ مَكَانٍ. وَإِذَا رَأَيْتَ «كَمْ تَسْتَغْرِقُ»، فَتَوَقَّعْ عَدَدًا وَوَحْدَةَ زَمَنٍ. فِي المَرَّةِ الأُولَى، افْهَمِ السِّيَاقَ. فِي المَرَّةِ الثَّانِيَةِ، تَحَقَّقْ مِنَ التَّفْصِيلِ وَاسْتَبْعِدِ المُشَتِّتَاتِ. لَا تَخْتَرْ إِجَابَةً لِأَنَّكَ سَمِعْتَ كَلِمَةً وَاحِدَةً فَقَطْ.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 نَوْعَ المَعْلُومَةِ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 the type of information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فَابْحَثْ عَنْ مَكَانٍ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look for a place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فَتَوَقَّعْ عَدَدًا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expect a number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وَحْدَةَ زَمَنٍ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unit of time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اِفْهَمِ السِّيَاقَ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understand the context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تَحَقَّقْ مِنَ التَّفْصِيلِ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 the detail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اِسْتَبْعِدِ المُشَتِّتَاتِ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eliminate the distractors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كَلِمَةً وَاحِدَةً فَقَطْ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only one word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happen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the full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and classify the questions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options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أَيْنَ</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 and time unit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material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direction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listening for?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spelling detail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context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changing the questions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second listening for?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verification of detail</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translation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aloud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one heard word not decide the answer?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has no key words.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option is always correct.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may be a distractor or incomplete evidence.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happen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the full script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and classify the questions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options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instructs this.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أَيْنَ</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place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a:t>
            </a:r>
            <a:pPr algn="l" indent="0" marL="0">
              <a:buNone/>
            </a:pPr>
            <a:r>
              <a:rPr lang="en-US" sz="1050" i="1" dirty="0">
                <a:solidFill>
                  <a:srgbClr val="8A6D1E"/>
                </a:solidFill>
                <a:latin typeface="Calibri" pitchFamily="34" charset="0"/>
                <a:ea typeface="Calibri" pitchFamily="34" charset="-122"/>
                <a:cs typeface="Calibri" pitchFamily="34" charset="-120"/>
              </a:rPr>
              <a:t> requires a place.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number and time unit</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material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direction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asks duration.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listening for?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spelling detail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context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changing the questions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المَرَّةِ الأُولَى، افْهَمِ السِّيَاقَ.</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second listening for?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verification of detail</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translation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aloud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تَحَقَّقْ مِنَ التَّفْصِيلِ.</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one heard word not decide the answer?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has no key words.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first option is always correct.</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may be a distractor or incomplete evidence.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warns against choosing from one word only.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F6-L11 · Speaking and Writing About My Town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أُقَدِّمُ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present / introduce</a:t>
            </a:r>
            <a:pPr indent="0" marL="0">
              <a:buNone/>
            </a:pPr>
            <a:r>
              <a:rPr lang="en-US" sz="1000" i="1" dirty="0">
                <a:solidFill>
                  <a:srgbClr val="5A6472"/>
                </a:solidFill>
                <a:latin typeface="Calibri" pitchFamily="34" charset="0"/>
                <a:ea typeface="Calibri" pitchFamily="34" charset="-122"/>
                <a:cs typeface="Calibri" pitchFamily="34" charset="-120"/>
              </a:rPr>
              <a:t>  نُقَدِّمُ we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describe</a:t>
            </a:r>
            <a:pPr indent="0" marL="0">
              <a:buNone/>
            </a:pPr>
            <a:r>
              <a:rPr lang="en-US" sz="1000" i="1" dirty="0">
                <a:solidFill>
                  <a:srgbClr val="5A6472"/>
                </a:solidFill>
                <a:latin typeface="Calibri" pitchFamily="34" charset="0"/>
                <a:ea typeface="Calibri" pitchFamily="34" charset="-122"/>
                <a:cs typeface="Calibri" pitchFamily="34" charset="-120"/>
              </a:rPr>
              <a:t>  تَصِفُ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أُقَارِنُ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compare</a:t>
            </a:r>
            <a:pPr indent="0" marL="0">
              <a:buNone/>
            </a:pPr>
            <a:r>
              <a:rPr lang="en-US" sz="1000" i="1" dirty="0">
                <a:solidFill>
                  <a:srgbClr val="5A6472"/>
                </a:solidFill>
                <a:latin typeface="Calibri" pitchFamily="34" charset="0"/>
                <a:ea typeface="Calibri" pitchFamily="34" charset="-122"/>
                <a:cs typeface="Calibri" pitchFamily="34" charset="-120"/>
              </a:rPr>
              <a:t>  نُقَارِنُ we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أُبَرِّرُ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justify</a:t>
            </a:r>
            <a:pPr indent="0" marL="0">
              <a:buNone/>
            </a:pPr>
            <a:r>
              <a:rPr lang="en-US" sz="1000" i="1" dirty="0">
                <a:solidFill>
                  <a:srgbClr val="5A6472"/>
                </a:solidFill>
                <a:latin typeface="Calibri" pitchFamily="34" charset="0"/>
                <a:ea typeface="Calibri" pitchFamily="34" charset="-122"/>
                <a:cs typeface="Calibri" pitchFamily="34" charset="-120"/>
              </a:rPr>
              <a:t>  تُبَرِّرُ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طَلَاقَةٌ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“Describe your town.” Include one place, one way you travel and one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F6-L10: redo the listening mission and the sorter;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listening strategy record for three questions with the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reusable listening strategy guide (80–100 words) with one distractor from each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F6-L11 · Speaking and Writing About My Town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وَالكِتَابَةُ عَنْ مَدِينَتِي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the question first — the question word tells you what to catch, and the answer often comes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F6-L10 · Listening: Town and Transport Texts</dc:title>
  <dc:subject>PptxGenJS Presentation</dc:subject>
  <dc:creator>Al Madina Online School · Arabic Department</dc:creator>
  <cp:lastModifiedBy>Al Madina Online School · Arabic Department</cp:lastModifiedBy>
  <cp:revision>1</cp:revision>
  <dcterms:created xsi:type="dcterms:W3CDTF">2026-09-27T22:20:12Z</dcterms:created>
  <dcterms:modified xsi:type="dcterms:W3CDTF">2026-09-27T22:20:12Z</dcterms:modified>
</cp:coreProperties>
</file>