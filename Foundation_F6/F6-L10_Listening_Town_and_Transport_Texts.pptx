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F6-L10. The website lesson “Listening: Town and Transport Texts”: vocabulary, grammar rules and quiz, patterns, common mistakes, sorter, listening, reading, speaking prompts and model, writing task and model, differentiation, final check and the lesson mission. Picture match: website visual game “Listening: Town and Transport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LISTENING-SKILLS lesson: the website listening has three short texts (directions · transport opinions · a city). Do them as three cycles: predict → listen twice → read the script → answers.
• Core: label every question with its answer TYPE (place / time or number / reason) and answer the place and number questions.
• Develop: all questions + name the phrase that proves each answer.
• Stretch: analyse the distractors across all three texts and write a reusable strategy guide (website writing task).
• Read each text yourself at natural speed, pausing between sentences. Do NOT show the script until after the second listening.
• Prep check: إِعْلَانٌ · تَقْرِيرٌ · مُقَابَلَةٌ · تَفَاصِيلُ · اِزْدِحَامٌ — the three texts are an announcement-style direction, a mini-report and a description.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F6-L09. Questions 3–5 retrieve F6-L05/L09 (advantages, connectors) and F6-L08 (commands).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Read the question first: the question word tells you what to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توقع (expectation), سیاق و سباق (context), تفصیل (detail), تحقیق (research — same root as تَحَقَّقْ, “check / verify”) and اعلان (announcement, as at a railway station!). Students already know most of today’s strategy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strategy (website vocabulary (1 of 2)). Hear → Say → See → Use. Transliteration is printed for Core students (cover it for Develop/Stretch).
Strategy words — students need to UNDERSTAND them (they appear in instructions and feedback). The commands تَحَقَّقْ / اِسْتَبْعِدْ / دَوِّنْ follow the F6-L08 endings: -ī for a girl, -ū for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strategy (website vocabulary (2 of 2)). Hear → Say → See → Use. Transliteration is printed for Core students (cover it for Develop/Stretch).
Strategy words — students need to UNDERSTAND them (they appear in instructions and feedback). The commands تَحَقَّقْ / اِسْتَبْعِدْ / دَوِّنْ follow the F6-L08 endings: -ī for a girl, -ū for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cues (website vocabulary (1 of 2)). Hear → Say → See → Use. Transliteration is printed for Core students (cover it for Develop/Stretch).
Question words = the prediction tool. The second half of the group (right, left, platform, takes, cheaper …) is the “answer vocabulary” to listen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cues (website vocabulary (2 of 2)). Hear → Say → See → Use. Transliteration is printed for Core students (cover it for Develop/Stretch).
FLEX: teach if time allows; otherwise these are on the website vocabulary tab for homework.
Question words = the prediction tool. The second half of the group (right, left, platform, takes, cheaper …) is the “answer vocabulary” to listen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“Predict the information type”: “Before listening, identify whether the answer must be a place, time, transport, number or reason.”
Website overview: “Question words predict the information type, while verb prefixes and suffixes reveal gender, person and reference.”
CAREFUL (website mistake 3): كَمْ is not only “how many” — the noun after it decides: كَمْ ثَمَنُهَا (price), كَمْ تَسْتَغْرِقُ (duration), كَمْ مَحَطَّةً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“Hear command endings” (ـْ / ـي / ـوا), “Hear possessive price references” (ثَمَنُهُ / ثَمَنُهَا) and “Distinguish contrast from addition” (لٰكِنَّ / بَيْنَمَا / أَيْضًا).
Website example: سَلْمَى تُفَضِّلُ الحَافِلَةَ، بَيْنَمَا عُمَرُ يُفَضِّلُ القِطَارَ. — two people, two opinions: the question tells you WHICH person.
Website common error: “Do not choose an option because you hear one matching word. Confirm the full meaning and listen for contrast or negation.”
Quick-fire: say اِنْعَطِفْ / اِنْعَطِفِي / اِنْعَطِفُوا in random order; students hold up 1 finger (boy), 2 (girl) or 3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“Listening accuracy improves when learners know what form to expect. Question words predict the information type, while verb prefixes and suffixes reveal gender, person and reference.”
• Predict the information type: Before listening, identify whether the answer must be a place, time, transport, number or reason.
• Hear command endings: Direction endings identify whether the speaker addresses one male, one female or a group.
• Hear possessive price references: The suffix tells you whether the price refers to a masculine or feminine item.
• Distinguish contrast from addition: A contrast word often signals that the second detail corrects or limits the first.
Website common error: Do not choose an option because you hear one matching word. Confirm the full meaning and listen for contrast or negation.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through website listening question 4 (Text 2). This is exactly the website speaking model: “The train was also mentioned, but it was another person’s view.” Do this BEFORE students hear Text 2, using only the sentence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the question cue.
Do this sorter BEFORE the three listening texts: it is the prediction routine. Core: say the English question word aloud as you 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the question cue.
Do this sorter BEFORE the three listening texts: it is the prediction routine. Core: say the English question word aloud as you 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1–3. Develop/Stretch: + question 4 (two numbers: which is the time?).
Listen 1: just listen. Listen 2: note answers. Then chat the letters.
Support: after the second listening, show the read-along slide (Arabic + English, line by line) for Core students.
SCRIPT (read aloud):
النَّصُّ الأَوَّلُ: اِذْهَبْ مُسْتَقِيمًا حَتَّى الدَّوَّارِ، ثُمَّ اِنْعَطِفْ يَمِينًا. مَحَطَّةُ القِطَارِ بِجَانِبِ المَتْحَفِ. القِطَارُ يُغَادِرُ مِنَ الرَّصِيفِ الثَّالِثِ عِنْدَ السَّاعَةِ العَاشِرَةِ وَالنِّصْفِ.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 1 (Layla’s reason). Develop/Stretch: all three — question 3 needs كِلَاهُمَا (both of them).
Listen 1: just listen. Listen 2: note answers. Then chat the letters.
Support: after the second listening, show the read-along slide (Arabic + English, line by line) for Core students.
SCRIPT (read aloud):
النَّصُّ الثَّانِي: تُفَضِّلُ لَيْلَى الحَافِلَةَ لِأَنَّهَا رَخِيصَةٌ، بَيْنَمَا يُفَضِّلُ سَامِرٌ القِطَارَ لِأَنَّهُ أَسْرَعُ. كِلَاهُمَا يَرَى أَنَّ المِتْرُو مُرِيحٌ.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 2 (known for). Develop/Stretch: both — question 1 comes after وَلٰكِنَّ.
Listen 1: just listen. Listen 2: note answers. Then chat the letters.
Support: after the second listening, show the read-along slide (Arabic + English, line by line) for Core students.
SCRIPT (read aloud):
النَّصُّ الثَّالِثُ: تَتَمَيَّزُ المَدِينَةُ بِمَبَانِيهَا الحَجَرِيَّةِ وَسُوقِهَا القَدِيمِ، وَلٰكِنَّ المَوَاصَلَاتِ فِيهَا قَلِيلَةٌ.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المُشَتِّتُ؟ (What was the distractor?)
B: ذُكِرَ القِطَارُ أَيْضًا، وَلٰكِنَّهُ كَانَ رَأْيَ شَخْصٍ آخَرَ. (The train was also mentioned, but it was another person’s view.)
Website prompts “Explain your listening evidence” and model dialogue (لِمَاذَا اخْتَرْتَ «الحَافِلَةَ»؟ — لِأَنِّي سَمِعْتُ «رَخِيصَةٌ» … — مَا المُشَتِّتُ؟ — ذُكِرَ القِطَارُ أَيْضًا، وَلٰكِنَّهُ كَانَ رَأْيَ شَخْصٍ آخَرَ.). Keep it short: students explain HOW they listened. Core may answer with one Arabic key word + English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Identify question type and one key word. · Develop — Explain the exact phrase proving each answer. · Stretch — Analyse distractors across all three formats and write a reusable listening strategy guide.
Website writing task (Stretch): Create a listening strategy record for three questions and explain the evidence for each answer.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يَطْلُبُ مَكَانًا لِأَنَّهُ يَبْدَأُ بِـ «أَيْنَ» · سَمِعْتُ «بِجَانِبِ المَتْحَفِ» · لَمْ أَخْتَرْ «السَّاعَةَ الثَّامِنَةَ» لِأَنَّهَا وَقْتُ المُغَادَرَةِ · سَأَقْرَأُ الأَسْئِلَةَ أَوَّلًا. NOTE: the website model refers to “half an hour” and “eight o’clock”, which are not in today’s three texts — present it as a model of the LANGUAGE of a strategy record, not as answers to today’s questions.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(F6-L11 · F6 Consolidation: Complete Town and Transport Review) will spend class time USING this language, so students prepare it tonight — short, simple, easy to access (school guidance: “Simple, Short, Interesting, Relevant, Easy to access”). The five words come from the website F6-L11 vocabulary (review and reflection before the unit assessment).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50" b="1" dirty="0">
                <a:solidFill>
                  <a:srgbClr val="FFFFFF"/>
                </a:solidFill>
                <a:latin typeface="Cambria" pitchFamily="34" charset="0"/>
                <a:cs typeface="Amiri" pitchFamily="2" charset="-78"/>
              </a:rPr>
              <a:t>Listening: Town and Transport Texts</a:t>
            </a:r>
            <a:endParaRPr lang="en-US" sz="2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 نُصُوصُ المَدِينَةِ وَالمُوَاصَلَاتِ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like an examiner: predict the answer type from the question word, hear command and pronoun endings, keep listening after “but / whereas” and use the second listening to check.</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F6-L10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words predict the answer; endings and “but” are evidence.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question words, fix the listening habits, then three short listening cycles.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إِعْلَانٌ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interview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announcement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report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اِزْدِحَامٌ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congestion / crowds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details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platform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 disadvantage?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مَزَايَاهَا أَنَّ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بِصِفَةٍ عَامَّةٍ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عُيُوبِهَا أَنَّ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“overall”?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بِصِفَةٍ عَامَّةٍ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“Turn right” to one boy.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 يَمِينًا.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اِنْعَطِفِي يَمِينًا.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اِنْعَطِفُوا يَسَارًا.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إِعْلَانٌ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interview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announcement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report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اِزْدِحَامٌ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congestion / crowds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details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platform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 disadvantage?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مَزَايَاهَا أَنَّ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بِصِفَةٍ عَامَّةٍ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عُيُوبِهَا أَنَّ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F6-L05 and F6-L09.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“overall”?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بِصِفَةٍ عَامَّةٍ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F6-L09 connectors.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“Turn right” to one boy.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اِنْعَطِفْ يَمِينًا.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اِنْعَطِفِي يَمِينًا.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اِنْعَطِفُوا يَسَارًا.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F6-L08: sukūn for one boy.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Read the question first: the question word tells you what to catch.</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أَيْنَ؟ · مَتَى؟ · كَمْ تَسْتَغْرِقُ؟ · لِمَاذَا؟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answer types before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places, directions, transport, prices and opinions.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close distractors and contrast.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Complete multiple-choice, matching and selection tasks.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predict the answer type from the question word.</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catch a place, a platform and a time.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endings as listening evidence.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the phrase that proves my answer.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reject a distractor after “but” or “whereas”.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reusable listening strategy.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22 words from the website in 2 groups. Learn the CORE words first. Hear it → say it → see it → use it.</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strategy · 10</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Listening cues · 12</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تَوَقُّعٌ</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‎توقع‎ </a:t>
            </a:r>
            <a:pPr indent="0" marL="0">
              <a:buNone/>
            </a:pPr>
            <a:r>
              <a:rPr lang="en-US" sz="950" b="1" dirty="0">
                <a:solidFill>
                  <a:srgbClr val="2E8B57"/>
                </a:solidFill>
                <a:latin typeface="Calibri" pitchFamily="34" charset="0"/>
                <a:cs typeface="Amiri" pitchFamily="2" charset="-78"/>
              </a:rPr>
              <a:t> tawaqqo · expectation → prediction</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سِيَاقٌ</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‎سیاق‎ </a:t>
            </a:r>
            <a:pPr indent="0" marL="0">
              <a:buNone/>
            </a:pPr>
            <a:r>
              <a:rPr lang="en-US" sz="950" b="1" dirty="0">
                <a:solidFill>
                  <a:srgbClr val="2E8B57"/>
                </a:solidFill>
                <a:latin typeface="Calibri" pitchFamily="34" charset="0"/>
                <a:cs typeface="Amiri" pitchFamily="2" charset="-78"/>
              </a:rPr>
              <a:t> siyāq · context (siyāq o sabāq)</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تَفْصِيلٌ</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tafsīl · detail</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تَحَقَّقْ</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‎تحقیق‎ </a:t>
            </a:r>
            <a:pPr indent="0" marL="0">
              <a:buNone/>
            </a:pPr>
            <a:r>
              <a:rPr lang="en-US" sz="950" b="1" dirty="0">
                <a:solidFill>
                  <a:srgbClr val="2E8B57"/>
                </a:solidFill>
                <a:latin typeface="Calibri" pitchFamily="34" charset="0"/>
                <a:cs typeface="Amiri" pitchFamily="2" charset="-78"/>
              </a:rPr>
              <a:t> tahqīq · investigation → check!</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إِعْلَانٌ</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‎اعلان‎ </a:t>
            </a:r>
            <a:pPr indent="0" marL="0">
              <a:buNone/>
            </a:pPr>
            <a:r>
              <a:rPr lang="en-US" sz="950" b="1" dirty="0">
                <a:solidFill>
                  <a:srgbClr val="2E8B57"/>
                </a:solidFill>
                <a:latin typeface="Calibri" pitchFamily="34" charset="0"/>
                <a:cs typeface="Amiri" pitchFamily="2" charset="-78"/>
              </a:rPr>
              <a:t> eʿlān · announcement</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تَوَقُّعٌ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prediction</a:t>
            </a:r>
            <a:endParaRPr lang="en-US" sz="1350" dirty="0"/>
          </a:p>
          <a:p>
            <a:pPr indent="0" marL="0">
              <a:buNone/>
            </a:pPr>
            <a:r>
              <a:rPr lang="en-US" sz="1100" i="1" dirty="0">
                <a:solidFill>
                  <a:srgbClr val="5A6472"/>
                </a:solidFill>
                <a:latin typeface="Calibri" pitchFamily="34" charset="0"/>
                <a:cs typeface="Amiri" pitchFamily="2" charset="-78"/>
              </a:rPr>
              <a:t>ta-waq-qu-ʿun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سِيَاقٌ</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context</a:t>
            </a:r>
            <a:endParaRPr lang="en-US" sz="1350" dirty="0"/>
          </a:p>
          <a:p>
            <a:pPr indent="0" marL="0">
              <a:buNone/>
            </a:pPr>
            <a:r>
              <a:rPr lang="en-US" sz="1100" i="1" dirty="0">
                <a:solidFill>
                  <a:srgbClr val="5A6472"/>
                </a:solidFill>
                <a:latin typeface="Calibri" pitchFamily="34" charset="0"/>
                <a:cs typeface="Amiri" pitchFamily="2" charset="-78"/>
              </a:rPr>
              <a:t>si-yā-qun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كَلِمَةٌ مِفْتَاحِيَّةٌ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key word</a:t>
            </a:r>
            <a:endParaRPr lang="en-US" sz="1350" dirty="0"/>
          </a:p>
          <a:p>
            <a:pPr indent="0" marL="0">
              <a:buNone/>
            </a:pPr>
            <a:r>
              <a:rPr lang="en-US" sz="1100" i="1" dirty="0">
                <a:solidFill>
                  <a:srgbClr val="5A6472"/>
                </a:solidFill>
                <a:latin typeface="Calibri" pitchFamily="34" charset="0"/>
                <a:cs typeface="Amiri" pitchFamily="2" charset="-78"/>
              </a:rPr>
              <a:t>ka-li-ma-tun mif-tā-ḥiy-ya-tun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تَفْصِيلٌ مُحَدَّدٌ</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specific detail</a:t>
            </a:r>
            <a:endParaRPr lang="en-US" sz="1350" dirty="0"/>
          </a:p>
          <a:p>
            <a:pPr indent="0" marL="0">
              <a:buNone/>
            </a:pPr>
            <a:r>
              <a:rPr lang="en-US" sz="1100" i="1" dirty="0">
                <a:solidFill>
                  <a:srgbClr val="5A6472"/>
                </a:solidFill>
                <a:latin typeface="Calibri" pitchFamily="34" charset="0"/>
                <a:cs typeface="Amiri" pitchFamily="2" charset="-78"/>
              </a:rPr>
              <a:t>taf-ṣī-lun mu-ḥad-da-dun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Shape 3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مُشَتِّتٌ</a:t>
            </a:r>
            <a:endParaRPr lang="ar-SA" sz="3000" dirty="0"/>
          </a:p>
        </p:txBody>
      </p:sp>
      <p:sp>
        <p:nvSpPr>
          <p:cNvPr id="47" name="Text 4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distractor</a:t>
            </a:r>
            <a:endParaRPr lang="en-US" sz="1350" dirty="0"/>
          </a:p>
          <a:p>
            <a:pPr indent="0" marL="0">
              <a:buNone/>
            </a:pPr>
            <a:r>
              <a:rPr lang="en-US" sz="1100" i="1" dirty="0">
                <a:solidFill>
                  <a:srgbClr val="5A6472"/>
                </a:solidFill>
                <a:latin typeface="Calibri" pitchFamily="34" charset="0"/>
                <a:cs typeface="Amiri" pitchFamily="2" charset="-78"/>
              </a:rPr>
              <a:t>mu-shat-ti-tun</a:t>
            </a:r>
            <a:endParaRPr lang="en-US" sz="1350" dirty="0"/>
          </a:p>
        </p:txBody>
      </p:sp>
      <p:sp>
        <p:nvSpPr>
          <p:cNvPr id="48" name="Shape 4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مُشَتِّتَاتٌ</a:t>
            </a:r>
            <a:endParaRPr lang="ar-SA" sz="1500" dirty="0"/>
          </a:p>
        </p:txBody>
      </p:sp>
      <p:sp>
        <p:nvSpPr>
          <p:cNvPr id="51" name="Shape 4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53" name="Text 5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المُشَتِّتُ</a:t>
            </a:r>
            <a:endParaRPr lang="ar-SA" sz="1500" dirty="0"/>
          </a:p>
        </p:txBody>
      </p:sp>
      <p:sp>
        <p:nvSpPr>
          <p:cNvPr id="54" name="Shape 5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6" name="Text 5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a:t>
            </a:r>
            <a:endParaRPr lang="ar-SA" sz="15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أُولَى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 time</a:t>
            </a:r>
            <a:endParaRPr lang="en-US" sz="1350" dirty="0"/>
          </a:p>
          <a:p>
            <a:pPr indent="0" marL="0">
              <a:buNone/>
            </a:pPr>
            <a:r>
              <a:rPr lang="en-US" sz="1100" i="1" dirty="0">
                <a:solidFill>
                  <a:srgbClr val="5A6472"/>
                </a:solidFill>
                <a:latin typeface="Calibri" pitchFamily="34" charset="0"/>
                <a:cs typeface="Amiri" pitchFamily="2" charset="-78"/>
              </a:rPr>
              <a:t>mar-ra-tun ū-lā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ثَانِيَةٌ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second time</a:t>
            </a:r>
            <a:endParaRPr lang="en-US" sz="1350" dirty="0"/>
          </a:p>
          <a:p>
            <a:pPr indent="0" marL="0">
              <a:buNone/>
            </a:pPr>
            <a:r>
              <a:rPr lang="en-US" sz="1100" i="1" dirty="0">
                <a:solidFill>
                  <a:srgbClr val="5A6472"/>
                </a:solidFill>
                <a:latin typeface="Calibri" pitchFamily="34" charset="0"/>
                <a:cs typeface="Amiri" pitchFamily="2" charset="-78"/>
              </a:rPr>
              <a:t>mar-ra-tun thā-ni-ya-tun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Shape 2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اِسْتَبْعِدْ</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eliminate</a:t>
            </a:r>
            <a:endParaRPr lang="en-US" sz="1350" dirty="0"/>
          </a:p>
          <a:p>
            <a:pPr indent="0" marL="0">
              <a:buNone/>
            </a:pPr>
            <a:r>
              <a:rPr lang="en-US" sz="1100" i="1" dirty="0">
                <a:solidFill>
                  <a:srgbClr val="5A6472"/>
                </a:solidFill>
                <a:latin typeface="Calibri" pitchFamily="34" charset="0"/>
                <a:cs typeface="Amiri" pitchFamily="2" charset="-78"/>
              </a:rPr>
              <a:t>is-tab-ʿid</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38" name="Text 35"/>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اِسْتَبْعِدُوا</a:t>
            </a:r>
            <a:endParaRPr lang="ar-SA" sz="135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41" name="Text 38"/>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اِسْتَبْعِدِي</a:t>
            </a:r>
            <a:endParaRPr lang="ar-SA" sz="135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اِسْتَبْعِدْ</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تَحَقَّقْ</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verify</a:t>
            </a:r>
            <a:endParaRPr lang="en-US" sz="1350" dirty="0"/>
          </a:p>
          <a:p>
            <a:pPr indent="0" marL="0">
              <a:buNone/>
            </a:pPr>
            <a:r>
              <a:rPr lang="en-US" sz="1100" i="1" dirty="0">
                <a:solidFill>
                  <a:srgbClr val="5A6472"/>
                </a:solidFill>
                <a:latin typeface="Calibri" pitchFamily="34" charset="0"/>
                <a:cs typeface="Amiri" pitchFamily="2" charset="-78"/>
              </a:rPr>
              <a:t>ta-ḥaq-qaq</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group</a:t>
            </a:r>
            <a:endParaRPr lang="en-US" sz="700" dirty="0"/>
          </a:p>
        </p:txBody>
      </p:sp>
      <p:sp>
        <p:nvSpPr>
          <p:cNvPr id="56" name="Text 53"/>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تَحَقَّقُوا</a:t>
            </a:r>
            <a:endParaRPr lang="ar-SA" sz="135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girl</a:t>
            </a:r>
            <a:endParaRPr lang="en-US" sz="700" dirty="0"/>
          </a:p>
        </p:txBody>
      </p:sp>
      <p:sp>
        <p:nvSpPr>
          <p:cNvPr id="59" name="Text 56"/>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تَحَقَّقِي</a:t>
            </a:r>
            <a:endParaRPr lang="ar-SA" sz="135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boy</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تَحَقَّقْ</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دَوِّنْ</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note down</a:t>
            </a:r>
            <a:endParaRPr lang="en-US" sz="1350" dirty="0"/>
          </a:p>
          <a:p>
            <a:pPr indent="0" marL="0">
              <a:buNone/>
            </a:pPr>
            <a:r>
              <a:rPr lang="en-US" sz="1100" i="1" dirty="0">
                <a:solidFill>
                  <a:srgbClr val="5A6472"/>
                </a:solidFill>
                <a:latin typeface="Calibri" pitchFamily="34" charset="0"/>
                <a:cs typeface="Amiri" pitchFamily="2" charset="-78"/>
              </a:rPr>
              <a:t>daw-win</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cues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ma-tā?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a:t>
            </a:r>
            <a:endParaRPr lang="en-US" sz="1350" dirty="0"/>
          </a:p>
          <a:p>
            <a:pPr indent="0" marL="0">
              <a:buNone/>
            </a:pPr>
            <a:r>
              <a:rPr lang="en-US" sz="1100" i="1" dirty="0">
                <a:solidFill>
                  <a:srgbClr val="5A6472"/>
                </a:solidFill>
                <a:latin typeface="Calibri" pitchFamily="34" charset="0"/>
                <a:cs typeface="Amiri" pitchFamily="2" charset="-78"/>
              </a:rPr>
              <a:t>kay-fa?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 much / long?</a:t>
            </a:r>
            <a:endParaRPr lang="en-US" sz="1350" dirty="0"/>
          </a:p>
          <a:p>
            <a:pPr indent="0" marL="0">
              <a:buNone/>
            </a:pPr>
            <a:r>
              <a:rPr lang="en-US" sz="1100" i="1" dirty="0">
                <a:solidFill>
                  <a:srgbClr val="5A6472"/>
                </a:solidFill>
                <a:latin typeface="Calibri" pitchFamily="34" charset="0"/>
                <a:cs typeface="Amiri" pitchFamily="2" charset="-78"/>
              </a:rPr>
              <a:t>kam?</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لِمَاذَا؟</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a:t>
            </a:r>
            <a:endParaRPr lang="en-US" sz="1350" dirty="0"/>
          </a:p>
          <a:p>
            <a:pPr indent="0" marL="0">
              <a:buNone/>
            </a:pPr>
            <a:r>
              <a:rPr lang="en-US" sz="1100" i="1" dirty="0">
                <a:solidFill>
                  <a:srgbClr val="5A6472"/>
                </a:solidFill>
                <a:latin typeface="Calibri" pitchFamily="34" charset="0"/>
                <a:cs typeface="Amiri" pitchFamily="2" charset="-78"/>
              </a:rPr>
              <a:t>li-mā-dhā?</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يَمِينًا</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right</a:t>
            </a:r>
            <a:endParaRPr lang="en-US" sz="1350" dirty="0"/>
          </a:p>
          <a:p>
            <a:pPr indent="0" marL="0">
              <a:buNone/>
            </a:pPr>
            <a:r>
              <a:rPr lang="en-US" sz="1100" i="1" dirty="0">
                <a:solidFill>
                  <a:srgbClr val="5A6472"/>
                </a:solidFill>
                <a:latin typeface="Calibri" pitchFamily="34" charset="0"/>
                <a:cs typeface="Amiri" pitchFamily="2" charset="-78"/>
              </a:rPr>
              <a:t>ya-mī-nan</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cues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يَسَارًا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left</a:t>
            </a:r>
            <a:endParaRPr lang="en-US" sz="1350" dirty="0"/>
          </a:p>
          <a:p>
            <a:pPr indent="0" marL="0">
              <a:buNone/>
            </a:pPr>
            <a:r>
              <a:rPr lang="en-US" sz="1100" i="1" dirty="0">
                <a:solidFill>
                  <a:srgbClr val="5A6472"/>
                </a:solidFill>
                <a:latin typeface="Calibri" pitchFamily="34" charset="0"/>
                <a:cs typeface="Amiri" pitchFamily="2" charset="-78"/>
              </a:rPr>
              <a:t>ya-sā-ran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رَصِيفٌ</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platform</a:t>
            </a:r>
            <a:endParaRPr lang="en-US" sz="1350" dirty="0"/>
          </a:p>
          <a:p>
            <a:pPr indent="0" marL="0">
              <a:buNone/>
            </a:pPr>
            <a:r>
              <a:rPr lang="en-US" sz="1100" i="1" dirty="0">
                <a:solidFill>
                  <a:srgbClr val="5A6472"/>
                </a:solidFill>
                <a:latin typeface="Calibri" pitchFamily="34" charset="0"/>
                <a:cs typeface="Amiri" pitchFamily="2" charset="-78"/>
              </a:rPr>
              <a:t>ra-ṣī-fun</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أَرْصِفَةٌ</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third</a:t>
            </a:r>
            <a:endParaRPr lang="en-US" sz="700" dirty="0"/>
          </a:p>
        </p:txBody>
      </p:sp>
      <p:sp>
        <p:nvSpPr>
          <p:cNvPr id="36" name="Text 33"/>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الرَّصِيفُ الثَّالِثُ</a:t>
            </a:r>
            <a:endParaRPr lang="ar-SA" sz="135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9" name="Text 36"/>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رَصِيفٌ</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تَسْتَغْرِقُ</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time</a:t>
            </a:r>
            <a:endParaRPr lang="en-US" sz="1350" dirty="0"/>
          </a:p>
          <a:p>
            <a:pPr indent="0" marL="0">
              <a:buNone/>
            </a:pPr>
            <a:r>
              <a:rPr lang="en-US" sz="1100" i="1" dirty="0">
                <a:solidFill>
                  <a:srgbClr val="5A6472"/>
                </a:solidFill>
                <a:latin typeface="Calibri" pitchFamily="34" charset="0"/>
                <a:cs typeface="Amiri" pitchFamily="2" charset="-78"/>
              </a:rPr>
              <a:t>tas-tagh-ri-qu</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أَرْخَصُ</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a:t>
            </a:r>
            <a:endParaRPr lang="en-US" sz="1350" dirty="0"/>
          </a:p>
          <a:p>
            <a:pPr indent="0" marL="0">
              <a:buNone/>
            </a:pPr>
            <a:r>
              <a:rPr lang="en-US" sz="1100" i="1" dirty="0">
                <a:solidFill>
                  <a:srgbClr val="5A6472"/>
                </a:solidFill>
                <a:latin typeface="Calibri" pitchFamily="34" charset="0"/>
                <a:cs typeface="Amiri" pitchFamily="2" charset="-78"/>
              </a:rPr>
              <a:t>ar-kha-ṣu</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أَغْلَى</a:t>
            </a:r>
            <a:endParaRPr lang="ar-SA" sz="300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expensive</a:t>
            </a:r>
            <a:endParaRPr lang="en-US" sz="1350" dirty="0"/>
          </a:p>
          <a:p>
            <a:pPr indent="0" marL="0">
              <a:buNone/>
            </a:pPr>
            <a:r>
              <a:rPr lang="en-US" sz="1100" i="1" dirty="0">
                <a:solidFill>
                  <a:srgbClr val="5A6472"/>
                </a:solidFill>
                <a:latin typeface="Calibri" pitchFamily="34" charset="0"/>
                <a:cs typeface="Amiri" pitchFamily="2" charset="-78"/>
              </a:rPr>
              <a:t>agh-lā</a:t>
            </a:r>
            <a:endParaRPr lang="en-US" sz="135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58" name="Text 5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تَتَمَيَّزُ</a:t>
            </a:r>
            <a:endParaRPr lang="ar-SA" sz="3000" dirty="0"/>
          </a:p>
        </p:txBody>
      </p:sp>
      <p:sp>
        <p:nvSpPr>
          <p:cNvPr id="59" name="Text 5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a:t>
            </a:r>
            <a:endParaRPr lang="en-US" sz="1350" dirty="0"/>
          </a:p>
          <a:p>
            <a:pPr indent="0" marL="0">
              <a:buNone/>
            </a:pPr>
            <a:r>
              <a:rPr lang="en-US" sz="1100" i="1" dirty="0">
                <a:solidFill>
                  <a:srgbClr val="5A6472"/>
                </a:solidFill>
                <a:latin typeface="Calibri" pitchFamily="34" charset="0"/>
                <a:cs typeface="Amiri" pitchFamily="2" charset="-78"/>
              </a:rPr>
              <a:t>ta-ta-may-ya-zu</a:t>
            </a:r>
            <a:endParaRPr lang="en-US"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PREDICT THE ANSWER TYPE (WEBSITE RULE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The question word tells you what to catch</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تَوَقَّعْ نَوْعَ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might hear</a:t>
            </a:r>
            <a:endParaRPr lang="en-US" sz="1100" dirty="0"/>
          </a:p>
        </p:txBody>
      </p:sp>
      <p:sp>
        <p:nvSpPr>
          <p:cNvPr id="17" name="Text 14"/>
          <p:cNvSpPr txBox="1"/>
          <p:nvPr/>
        </p:nvSpPr>
        <p:spPr>
          <a:xfrm>
            <a:off x="3456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Catch a …</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بِجَانِبِ المَتْحَفِ · حَتَّى الدَّوَّارِ</a:t>
            </a:r>
            <a:endParaRPr lang="ar-SA" sz="2200" dirty="0"/>
          </a:p>
        </p:txBody>
      </p:sp>
      <p:sp>
        <p:nvSpPr>
          <p:cNvPr id="21" name="Text 18"/>
          <p:cNvSpPr txBox="1"/>
          <p:nvPr/>
        </p:nvSpPr>
        <p:spPr>
          <a:xfrm>
            <a:off x="3493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a:t>
            </a:r>
            <a:endParaRPr lang="en-US" sz="1100" dirty="0"/>
          </a:p>
        </p:txBody>
      </p:sp>
      <p:sp>
        <p:nvSpPr>
          <p:cNvPr id="22" name="Text 19"/>
          <p:cNvSpPr txBox="1"/>
          <p:nvPr/>
        </p:nvSpPr>
        <p:spPr>
          <a:xfrm>
            <a:off x="548640" y="226771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أَيْنَ؟</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عِنْدَ السَّاعَةِ العَاشِرَةِ وَالنِّصْفِ</a:t>
            </a:r>
            <a:endParaRPr lang="ar-SA" sz="2200" dirty="0"/>
          </a:p>
        </p:txBody>
      </p:sp>
      <p:sp>
        <p:nvSpPr>
          <p:cNvPr id="27" name="Text 24"/>
          <p:cNvSpPr txBox="1"/>
          <p:nvPr/>
        </p:nvSpPr>
        <p:spPr>
          <a:xfrm>
            <a:off x="3493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a:t>
            </a:r>
            <a:endParaRPr lang="en-US" sz="1100" dirty="0"/>
          </a:p>
        </p:txBody>
      </p:sp>
      <p:sp>
        <p:nvSpPr>
          <p:cNvPr id="28" name="Text 25"/>
          <p:cNvSpPr txBox="1"/>
          <p:nvPr/>
        </p:nvSpPr>
        <p:spPr>
          <a:xfrm>
            <a:off x="548640" y="2881884"/>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مَتَى؟</a:t>
            </a:r>
            <a:endParaRPr lang="ar-SA" sz="26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نِصْفَ سَاعَةٍ · عِشْرِينَ دَقِيقَةً</a:t>
            </a:r>
            <a:endParaRPr lang="ar-SA" sz="2200" dirty="0"/>
          </a:p>
        </p:txBody>
      </p:sp>
      <p:sp>
        <p:nvSpPr>
          <p:cNvPr id="33" name="Text 30"/>
          <p:cNvSpPr txBox="1"/>
          <p:nvPr/>
        </p:nvSpPr>
        <p:spPr>
          <a:xfrm>
            <a:off x="3493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duration</a:t>
            </a:r>
            <a:endParaRPr lang="en-US" sz="1100" dirty="0"/>
          </a:p>
        </p:txBody>
      </p:sp>
      <p:sp>
        <p:nvSpPr>
          <p:cNvPr id="34" name="Text 31"/>
          <p:cNvSpPr txBox="1"/>
          <p:nvPr/>
        </p:nvSpPr>
        <p:spPr>
          <a:xfrm>
            <a:off x="548640" y="3496056"/>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كَمْ تَسْتَغْرِقُ؟</a:t>
            </a:r>
            <a:endParaRPr lang="ar-SA" sz="26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عَشَرَةُ رِيَالَاتٍ</a:t>
            </a:r>
            <a:endParaRPr lang="ar-SA" sz="2200" dirty="0"/>
          </a:p>
        </p:txBody>
      </p:sp>
      <p:sp>
        <p:nvSpPr>
          <p:cNvPr id="39" name="Text 36"/>
          <p:cNvSpPr txBox="1"/>
          <p:nvPr/>
        </p:nvSpPr>
        <p:spPr>
          <a:xfrm>
            <a:off x="3493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price</a:t>
            </a:r>
            <a:endParaRPr lang="en-US" sz="1100" dirty="0"/>
          </a:p>
        </p:txBody>
      </p:sp>
      <p:sp>
        <p:nvSpPr>
          <p:cNvPr id="40" name="Text 37"/>
          <p:cNvSpPr txBox="1"/>
          <p:nvPr/>
        </p:nvSpPr>
        <p:spPr>
          <a:xfrm>
            <a:off x="548640" y="4110228"/>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كَمْ ثَمَنُهَا؟</a:t>
            </a:r>
            <a:endParaRPr lang="ar-SA" sz="26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الرَّصِيفِ الثَّالِثِ</a:t>
            </a:r>
            <a:endParaRPr lang="ar-SA" sz="2200" dirty="0"/>
          </a:p>
        </p:txBody>
      </p:sp>
      <p:sp>
        <p:nvSpPr>
          <p:cNvPr id="43" name="Text 40"/>
          <p:cNvSpPr txBox="1"/>
          <p:nvPr/>
        </p:nvSpPr>
        <p:spPr>
          <a:xfrm>
            <a:off x="3493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a:t>
            </a:r>
            <a:endParaRPr lang="en-US" sz="1100" dirty="0"/>
          </a:p>
        </p:txBody>
      </p:sp>
      <p:sp>
        <p:nvSpPr>
          <p:cNvPr id="44" name="Text 41"/>
          <p:cNvSpPr txBox="1"/>
          <p:nvPr/>
        </p:nvSpPr>
        <p:spPr>
          <a:xfrm>
            <a:off x="548640" y="4724400"/>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مِنْ أَيِّ رَصِيفٍ؟</a:t>
            </a:r>
            <a:endParaRPr lang="ar-SA" sz="26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لِأَنَّهَا رَخِيصَةٌ · لِأَنَّهُ أَسْرَعُ</a:t>
            </a:r>
            <a:endParaRPr lang="ar-SA" sz="2200" dirty="0"/>
          </a:p>
        </p:txBody>
      </p:sp>
      <p:sp>
        <p:nvSpPr>
          <p:cNvPr id="47" name="Text 44"/>
          <p:cNvSpPr txBox="1"/>
          <p:nvPr/>
        </p:nvSpPr>
        <p:spPr>
          <a:xfrm>
            <a:off x="3493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a:t>
            </a:r>
            <a:endParaRPr lang="en-US" sz="1100" dirty="0"/>
          </a:p>
        </p:txBody>
      </p:sp>
      <p:sp>
        <p:nvSpPr>
          <p:cNvPr id="48" name="Text 45"/>
          <p:cNvSpPr txBox="1"/>
          <p:nvPr/>
        </p:nvSpPr>
        <p:spPr>
          <a:xfrm>
            <a:off x="548640" y="5338572"/>
            <a:ext cx="274320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لِمَاذَا؟</a:t>
            </a:r>
            <a:endParaRPr lang="ar-SA" sz="2600" dirty="0"/>
          </a:p>
        </p:txBody>
      </p:sp>
      <p:sp>
        <p:nvSpPr>
          <p:cNvPr id="49" name="Shape 46"/>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Before each listening: write PL (place), T (time), N (number) or R (reason) next to every question.</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2 · ENDINGS AND CONTRAST ARE EVIDENCE (WEBSITE RULES 2–4)</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Small sounds, big clues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قَرَائِنُ صَغِيرَةٌ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WHO · CORE</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اِنْعَطِفْ · اِنْعَطِفِي · اِنْعَطِفُوا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اِنْعَطِفِي يَسَارًا.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Turn left (to a girl).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ending = who is addressed.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WHICH ITEM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ثَمَنُهُ · ثَمَنُهَا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كَمْ ثَمَنُهَا؟</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much is it? (a feminine item, e.g. the ticket)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-hu = masculine · -hā = feminine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9202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KEEP LISTENING · STRETCH</a:t>
            </a:r>
            <a:endParaRPr lang="en-US" sz="850" dirty="0"/>
          </a:p>
        </p:txBody>
      </p:sp>
      <p:sp>
        <p:nvSpPr>
          <p:cNvPr id="34" name="Text 31"/>
          <p:cNvSpPr txBox="1"/>
          <p:nvPr/>
        </p:nvSpPr>
        <p:spPr>
          <a:xfrm>
            <a:off x="2560320"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لٰكِنَّ · بَيْنَمَا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القِطَارُ سَرِيعٌ، لٰكِنَّهُ غَالٍ.</a:t>
            </a:r>
            <a:endParaRPr lang="ar-SA" sz="3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train is fast, but expensive.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judgement comes AFTER “but”.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one matching word is not enough evidence.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أَتَحَقَّقُ مِنَ الجُمْلَةِ كُلِّهَا</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أَخْتَارُ أَوَّلَ كَلِمَةٍ أَسْمَعُهَا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Listening for grammatical cues and attached pronouns</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50" b="1" dirty="0">
                <a:solidFill>
                  <a:srgbClr val="8A6D1E"/>
                </a:solidFill>
                <a:latin typeface="Amiri" pitchFamily="2" charset="-78"/>
                <a:ea typeface="Amiri" pitchFamily="2" charset="-78"/>
                <a:cs typeface="Amiri" pitchFamily="2" charset="-78"/>
              </a:rPr>
              <a:t>الاِسْتِمَاعُ إِلَى القَرَائِنِ النَّحْوِيَّةِ وَالضَّمَائِرِ</a:t>
            </a:r>
            <a:endParaRPr lang="ar-SA" sz="22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Predict the information type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أَيْنَ / مَتَى / كَيْفَ / كَمْ / لِمَاذَا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أَيْنَ؟   ·   مَتَى؟   ·   كَمْ تَسْتَغْرِقُ؟</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Hear command endings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ـْ / ـي / ـوا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اِنْعَطِفْ   ·   اِنْعَطِفِي   ·   اِنْعَطِفُوا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Hear possessive price references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ثَمَنُهُ / ثَمَنُهَا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كَمْ ثَمَنُهُ؟   ·   كَمْ ثَمَنُهَا؟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Distinguish contrast from addition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لٰكِنَّ / بَيْنَمَا / أَيْضًا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القِطَارُ سَرِيعٌ، لٰكِنَّهُ غَالٍ.   ·   سَلْمَى تُفَضِّلُ الحَافِلَةَ، بَيْنَمَا عُمَرُ يُفَضِّلُ القِطَارَ.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question with </a:t>
            </a:r>
            <a:pPr algn="l" indent="0" marL="0">
              <a:buNone/>
            </a:pPr>
            <a:r>
              <a:rPr lang="ar-SA" altLang="en-US" sz="1650" b="1" dirty="0">
                <a:solidFill>
                  <a:srgbClr val="1B3B6F"/>
                </a:solidFill>
                <a:latin typeface="Amiri" pitchFamily="2" charset="-78"/>
                <a:ea typeface="Amiri" pitchFamily="2" charset="-78"/>
                <a:cs typeface="Amiri" pitchFamily="2" charset="-78"/>
              </a:rPr>
              <a:t>مَتَى</a:t>
            </a:r>
            <a:pPr algn="l" indent="0" marL="0">
              <a:buNone/>
            </a:pPr>
            <a:r>
              <a:rPr lang="en-US" sz="1250" b="1" dirty="0">
                <a:solidFill>
                  <a:srgbClr val="1B3B6F"/>
                </a:solidFill>
                <a:latin typeface="Calibri" pitchFamily="34" charset="0"/>
                <a:cs typeface="Amiri" pitchFamily="2" charset="-78"/>
              </a:rPr>
              <a:t> expects...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ثَمَنُهَا</a:t>
            </a:r>
            <a:pPr algn="l" indent="0" marL="0">
              <a:buNone/>
            </a:pPr>
            <a:r>
              <a:rPr lang="en-US" sz="1250" b="1" dirty="0">
                <a:solidFill>
                  <a:srgbClr val="1B3B6F"/>
                </a:solidFill>
                <a:latin typeface="Calibri" pitchFamily="34" charset="0"/>
                <a:cs typeface="Amiri" pitchFamily="2" charset="-78"/>
              </a:rPr>
              <a:t> refers to...</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feminine item</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masculine item</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group of speakers</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signals contrast?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أَيْضًا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duration cue?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تَسْتَغْرِقُ</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تَتَمَيَّزُ</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تَفْتَقِرُ</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question with </a:t>
            </a:r>
            <a:pPr algn="l" indent="0" marL="0">
              <a:buNone/>
            </a:pPr>
            <a:r>
              <a:rPr lang="ar-SA" altLang="en-US" sz="1650" b="1" dirty="0">
                <a:solidFill>
                  <a:srgbClr val="1B3B6F"/>
                </a:solidFill>
                <a:latin typeface="Amiri" pitchFamily="2" charset="-78"/>
                <a:ea typeface="Amiri" pitchFamily="2" charset="-78"/>
                <a:cs typeface="Amiri" pitchFamily="2" charset="-78"/>
              </a:rPr>
              <a:t>مَتَى</a:t>
            </a:r>
            <a:pPr algn="l" indent="0" marL="0">
              <a:buNone/>
            </a:pPr>
            <a:r>
              <a:rPr lang="en-US" sz="1250" b="1" dirty="0">
                <a:solidFill>
                  <a:srgbClr val="1B3B6F"/>
                </a:solidFill>
                <a:latin typeface="Calibri" pitchFamily="34" charset="0"/>
                <a:cs typeface="Amiri" pitchFamily="2" charset="-78"/>
              </a:rPr>
              <a:t> expects...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place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reason</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time</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مَتَى</a:t>
            </a:r>
            <a:pPr algn="l" indent="0" marL="0">
              <a:buNone/>
            </a:pPr>
            <a:r>
              <a:rPr lang="en-US" sz="1050" i="1" dirty="0">
                <a:solidFill>
                  <a:srgbClr val="8A6D1E"/>
                </a:solidFill>
                <a:latin typeface="Calibri" pitchFamily="34" charset="0"/>
                <a:cs typeface="Amiri" pitchFamily="2" charset="-78"/>
              </a:rPr>
              <a:t> asks when.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ثَمَنُهَا</a:t>
            </a:r>
            <a:pPr algn="l" indent="0" marL="0">
              <a:buNone/>
            </a:pPr>
            <a:r>
              <a:rPr lang="en-US" sz="1250" b="1" dirty="0">
                <a:solidFill>
                  <a:srgbClr val="1B3B6F"/>
                </a:solidFill>
                <a:latin typeface="Calibri" pitchFamily="34" charset="0"/>
                <a:cs typeface="Amiri" pitchFamily="2" charset="-78"/>
              </a:rPr>
              <a:t> refers to...</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feminine item</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masculine item</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group of speakers</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is the feminine reference.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signals contrast?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أَيْضًا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لٰكِنَّ</a:t>
            </a:r>
            <a:pPr algn="l" indent="0" marL="0">
              <a:buNone/>
            </a:pPr>
            <a:r>
              <a:rPr lang="en-US" sz="1050" i="1" dirty="0">
                <a:solidFill>
                  <a:srgbClr val="8A6D1E"/>
                </a:solidFill>
                <a:latin typeface="Calibri" pitchFamily="34" charset="0"/>
                <a:cs typeface="Amiri" pitchFamily="2" charset="-78"/>
              </a:rPr>
              <a:t> means but.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duration cue?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تَسْتَغْرِقُ</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تَتَمَيَّزُ</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تَفْتَقِرُ</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تَسْتَغْرِقُ</a:t>
            </a:r>
            <a:pPr algn="l" indent="0" marL="0">
              <a:buNone/>
            </a:pPr>
            <a:r>
              <a:rPr lang="en-US" sz="1050" i="1" dirty="0">
                <a:solidFill>
                  <a:srgbClr val="8A6D1E"/>
                </a:solidFill>
                <a:latin typeface="Calibri" pitchFamily="34" charset="0"/>
                <a:cs typeface="Amiri" pitchFamily="2" charset="-78"/>
              </a:rPr>
              <a:t> introduces how long something takes.</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beat a distractor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Predict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لِمَاذَا تُفَضِّلُ لَيْلَى الحَافِلَةَ؟</a:t>
            </a:r>
            <a:endParaRPr lang="ar-SA" sz="20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type: a REASON, about LAYLA.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Listen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تُفَضِّلُ لَيْلَى الحَافِلَةَ </a:t>
            </a:r>
            <a:pPr rtl="1" algn="ctr" indent="0" marL="0">
              <a:lnSpc>
                <a:spcPct val="120000"/>
              </a:lnSpc>
              <a:buNone/>
            </a:pPr>
            <a:r>
              <a:rPr lang="ar-SA" altLang="en-US" sz="1450" b="1" dirty="0">
                <a:solidFill>
                  <a:srgbClr val="0E7C86"/>
                </a:solidFill>
                <a:latin typeface="Amiri" pitchFamily="2" charset="-78"/>
                <a:ea typeface="Amiri" pitchFamily="2" charset="-78"/>
                <a:cs typeface="Amiri" pitchFamily="2" charset="-78"/>
              </a:rPr>
              <a:t>لِأَنَّهَا رَخِيصَةٌ</a:t>
            </a:r>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بَيْنَمَا يُفَضِّلُ سَامِرٌ القِطَارَ </a:t>
            </a:r>
            <a:pPr rtl="1" algn="ct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لِأَنَّهُ أَسْرَعُ</a:t>
            </a:r>
            <a:pPr rtl="1" algn="ctr" indent="0" marL="0">
              <a:lnSpc>
                <a:spcPct val="120000"/>
              </a:lnSpc>
              <a:buNone/>
            </a:pPr>
            <a:r>
              <a:rPr lang="ar-SA" altLang="en-US" sz="1450" b="1" dirty="0">
                <a:solidFill>
                  <a:srgbClr val="1B3B6F"/>
                </a:solidFill>
                <a:latin typeface="Amiri" pitchFamily="2" charset="-78"/>
                <a:cs typeface="Amiri" pitchFamily="2" charset="-78"/>
              </a:rPr>
              <a:t>.</a:t>
            </a:r>
            <a:endParaRPr lang="ar-SA" sz="14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people, two reasons!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Reject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لِأَنَّهُ أَسْرَعُ</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“Faster” is Samer’s reason: distractor.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Verify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تُفَضِّلُ لَيْلَى … لِأَنَّهَا رَخِيصَةٌ</a:t>
            </a:r>
            <a:endParaRPr lang="ar-SA" sz="21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Second listen: -hā = the bus, Layla.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DISTRACTOR</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50" b="1" dirty="0">
                <a:solidFill>
                  <a:srgbClr val="1B3B6F"/>
                </a:solidFill>
                <a:latin typeface="Amiri" pitchFamily="2" charset="-78"/>
                <a:ea typeface="Amiri" pitchFamily="2" charset="-78"/>
                <a:cs typeface="Amiri" pitchFamily="2" charset="-78"/>
              </a:rPr>
              <a:t>السُّؤَالُ يَطْلُبُ سَبَبًا. سَمِعْتُ «</a:t>
            </a:r>
            <a:pPr rtl="1" algn="r" indent="0" marL="0">
              <a:buNone/>
            </a:pPr>
            <a:r>
              <a:rPr lang="ar-SA" altLang="en-US" sz="2050" b="1" dirty="0">
                <a:solidFill>
                  <a:srgbClr val="0E7C86"/>
                </a:solidFill>
                <a:latin typeface="Amiri" pitchFamily="2" charset="-78"/>
                <a:ea typeface="Amiri" pitchFamily="2" charset="-78"/>
                <a:cs typeface="Amiri" pitchFamily="2" charset="-78"/>
              </a:rPr>
              <a:t>لِأَنَّهَا رَخِيصَةٌ</a:t>
            </a:r>
            <a:pPr rtl="1" algn="r" indent="0" marL="0">
              <a:buNone/>
            </a:pPr>
            <a:r>
              <a:rPr lang="ar-SA" altLang="en-US" sz="2050" b="1" dirty="0">
                <a:solidFill>
                  <a:srgbClr val="1B3B6F"/>
                </a:solidFill>
                <a:latin typeface="Amiri" pitchFamily="2" charset="-78"/>
                <a:ea typeface="Amiri" pitchFamily="2" charset="-78"/>
                <a:cs typeface="Amiri" pitchFamily="2" charset="-78"/>
              </a:rPr>
              <a:t>» وَ«</a:t>
            </a:r>
            <a:pPr rtl="1" algn="r" indent="0" marL="0">
              <a:buNone/>
            </a:pPr>
            <a:r>
              <a:rPr lang="ar-SA" altLang="en-US" sz="2050" b="1" dirty="0">
                <a:solidFill>
                  <a:srgbClr val="D6336C"/>
                </a:solidFill>
                <a:latin typeface="Amiri" pitchFamily="2" charset="-78"/>
                <a:ea typeface="Amiri" pitchFamily="2" charset="-78"/>
                <a:cs typeface="Amiri" pitchFamily="2" charset="-78"/>
              </a:rPr>
              <a:t>لِأَنَّهُ أَسْرَعُ</a:t>
            </a:r>
            <a:pPr rtl="1" algn="r" indent="0" marL="0">
              <a:buNone/>
            </a:pPr>
            <a:r>
              <a:rPr lang="ar-SA" altLang="en-US" sz="2050" b="1" dirty="0">
                <a:solidFill>
                  <a:srgbClr val="1B3B6F"/>
                </a:solidFill>
                <a:latin typeface="Amiri" pitchFamily="2" charset="-78"/>
                <a:ea typeface="Amiri" pitchFamily="2" charset="-78"/>
                <a:cs typeface="Amiri" pitchFamily="2" charset="-78"/>
              </a:rPr>
              <a:t>». اِسْتَبْعَدْتُ «</a:t>
            </a:r>
            <a:pPr rtl="1" algn="r" indent="0" marL="0">
              <a:buNone/>
            </a:pPr>
            <a:r>
              <a:rPr lang="ar-SA" altLang="en-US" sz="2050" b="1" dirty="0">
                <a:solidFill>
                  <a:srgbClr val="D6336C"/>
                </a:solidFill>
                <a:latin typeface="Amiri" pitchFamily="2" charset="-78"/>
                <a:ea typeface="Amiri" pitchFamily="2" charset="-78"/>
                <a:cs typeface="Amiri" pitchFamily="2" charset="-78"/>
              </a:rPr>
              <a:t>أَسْرَعُ</a:t>
            </a:r>
            <a:pPr rtl="1" algn="r" indent="0" marL="0">
              <a:buNone/>
            </a:pPr>
            <a:r>
              <a:rPr lang="ar-SA" altLang="en-US" sz="2050" b="1" dirty="0">
                <a:solidFill>
                  <a:srgbClr val="1B3B6F"/>
                </a:solidFill>
                <a:latin typeface="Amiri" pitchFamily="2" charset="-78"/>
                <a:ea typeface="Amiri" pitchFamily="2" charset="-78"/>
                <a:cs typeface="Amiri" pitchFamily="2" charset="-78"/>
              </a:rPr>
              <a:t>» لِأَنَّهُ رَأْيُ سَامِرٍ. الإِجَابَةُ: </a:t>
            </a:r>
            <a:pPr rtl="1" algn="r" indent="0" marL="0">
              <a:buNone/>
            </a:pPr>
            <a:r>
              <a:rPr lang="ar-SA" altLang="en-US" sz="2050" b="1" dirty="0">
                <a:solidFill>
                  <a:srgbClr val="0E7C86"/>
                </a:solidFill>
                <a:latin typeface="Amiri" pitchFamily="2" charset="-78"/>
                <a:ea typeface="Amiri" pitchFamily="2" charset="-78"/>
                <a:cs typeface="Amiri" pitchFamily="2" charset="-78"/>
              </a:rPr>
              <a:t>الحَافِلَةُ رَخِيصَةٌ</a:t>
            </a:r>
            <a:pPr rtl="1" algn="r" indent="0" marL="0">
              <a:buNone/>
            </a:pPr>
            <a:r>
              <a:rPr lang="ar-SA" altLang="en-US" sz="2050" b="1" dirty="0">
                <a:solidFill>
                  <a:srgbClr val="1B3B6F"/>
                </a:solidFill>
                <a:latin typeface="Amiri" pitchFamily="2" charset="-78"/>
                <a:cs typeface="Amiri" pitchFamily="2" charset="-78"/>
              </a:rPr>
              <a:t>.</a:t>
            </a:r>
            <a:endParaRPr lang="ar-SA" sz="20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question asks for a reason. I heard “because it is cheap” and “because it is faster”. I eliminated “faster” because it is Samer’s view. The answer: the bus is cheap.</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كَمْ تَسْتَغْرِقُ الرِّحْلَةُ؟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long does the journey take?</a:t>
            </a:r>
            <a:endParaRPr lang="en-US" sz="1250" dirty="0"/>
          </a:p>
          <a:p>
            <a:pPr indent="0" marL="0">
              <a:buNone/>
            </a:pPr>
            <a:r>
              <a:rPr lang="en-US" sz="1050" i="1" dirty="0">
                <a:solidFill>
                  <a:srgbClr val="8A6D1E"/>
                </a:solidFill>
                <a:latin typeface="Calibri" pitchFamily="34" charset="0"/>
                <a:cs typeface="Amiri" pitchFamily="2" charset="-78"/>
              </a:rPr>
              <a:t>Expect a time duration.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اِنْعَطِفِي يَسَارًا.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Turn left (female).</a:t>
            </a:r>
            <a:endParaRPr lang="en-US" sz="1250" dirty="0"/>
          </a:p>
          <a:p>
            <a:pPr indent="0" marL="0">
              <a:buNone/>
            </a:pPr>
            <a:r>
              <a:rPr lang="en-US" sz="1050" i="1" dirty="0">
                <a:solidFill>
                  <a:srgbClr val="8A6D1E"/>
                </a:solidFill>
                <a:latin typeface="Calibri" pitchFamily="34" charset="0"/>
                <a:cs typeface="Amiri" pitchFamily="2" charset="-78"/>
              </a:rPr>
              <a:t>Hear the feminine command ending.</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كَمْ ثَمَنُهَا؟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much is it? (feminine item)</a:t>
            </a:r>
            <a:endParaRPr lang="en-US" sz="1250" dirty="0"/>
          </a:p>
          <a:p>
            <a:pPr indent="0" marL="0">
              <a:buNone/>
            </a:pPr>
            <a:r>
              <a:rPr lang="en-US" sz="1050" i="1" dirty="0">
                <a:solidFill>
                  <a:srgbClr val="8A6D1E"/>
                </a:solidFill>
                <a:latin typeface="Calibri" pitchFamily="34" charset="0"/>
                <a:cs typeface="Amiri" pitchFamily="2" charset="-78"/>
              </a:rPr>
              <a:t>The suffix identifies the reference.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سَرِيعٌ، لٰكِنَّهُ غَالٍ.</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Fast, but expensive.</a:t>
            </a:r>
            <a:endParaRPr lang="en-US" sz="1250" dirty="0"/>
          </a:p>
          <a:p>
            <a:pPr indent="0" marL="0">
              <a:buNone/>
            </a:pPr>
            <a:r>
              <a:rPr lang="en-US" sz="1050" i="1" dirty="0">
                <a:solidFill>
                  <a:srgbClr val="8A6D1E"/>
                </a:solidFill>
                <a:latin typeface="Calibri" pitchFamily="34" charset="0"/>
                <a:cs typeface="Amiri" pitchFamily="2" charset="-78"/>
              </a:rPr>
              <a:t>The contrast changes the overall judgement.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What answer type should you expect?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أَيِّ رَصِيفٍ؟</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تَسْتَغْرِقُ؟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ثَمَنُهَا؟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لِمَاذَا؟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رَأْيُهُ؟</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مِيزَةُ المَدِينَةِ؟</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Place</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 or number</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Reason or opinion</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Place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أَيِّ رَصِيفٍ؟</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 or number</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تَسْتَغْرِقُ؟</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ثَمَنُهَا؟</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Reason or opinion</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لِمَاذَا؟</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رَأْيُهُ؟</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مِيزَةُ المَدِينَةِ؟</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strategy comes before audio?</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the script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guess from one word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predict from the questions</a:t>
            </a:r>
            <a:endParaRPr lang="en-US" sz="12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second listening do?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 questions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verify exact detail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change every first answer</a:t>
            </a:r>
            <a:endParaRPr lang="en-US" sz="12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often changes the expected answer?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strategy comes before audio?</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the script</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guess from one word</a:t>
            </a:r>
            <a:endParaRPr lang="en-US" sz="12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predict from the questions</a:t>
            </a:r>
            <a:endParaRPr lang="en-US" sz="12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Prediction focuses attention.</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second listening do?</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 questions</a:t>
            </a:r>
            <a:endParaRPr lang="en-US" sz="12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verify exact detail</a:t>
            </a:r>
            <a:endParaRPr lang="en-US" sz="12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change every first answer</a:t>
            </a:r>
            <a:endParaRPr lang="en-US" sz="12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second listening confirms or repairs.</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often changes the expected answer?</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لٰكِنَّ</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Contrast may reverse or qualify the first detail.</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تُفَضِّلُ لَيْلَى القِطَارَ.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prefers which transport?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اِنْعَطِفْ يَسَارًا يَا مَرْيَمُ.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being told to turn?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المَوَاصَلَاتُ فِي المَدِينَةِ كَثِيرَةٌ.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comes after “but”?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تُفَضِّلُ لَيْلَى القِطَارَ.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تُفَضِّلُ لَيْلَى الحَافِلَةَ.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train was Samer’s choice.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اِنْعَطِفْ يَسَارًا يَا مَرْيَمُ.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اِنْعَطِفِي يَسَارًا يَا مَرْيَمُ.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girl: the -ī ending.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المَوَاصَلَاتُ فِي المَدِينَةِ كَثِيرَةٌ.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المَوَاصَلَاتُ فِي المَدِينَةِ قَلِيلَةٌ.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“but”: transport is limited.</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Directions to the station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the roundabout, which way do you turn?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right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left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straight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station?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market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museum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platform?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the train leave?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10:30</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10:00</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3:00</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direction? place? number? time?</a:t>
            </a:r>
            <a:endParaRPr lang="en-US" sz="1250" dirty="0"/>
          </a:p>
          <a:p>
            <a:pPr algn="l" indent="0" marL="0">
              <a:buNone/>
            </a:pPr>
            <a:r>
              <a:rPr lang="en-US" sz="1250" dirty="0">
                <a:solidFill>
                  <a:srgbClr val="1E6B52"/>
                </a:solidFill>
                <a:latin typeface="Calibri" pitchFamily="34" charset="0"/>
                <a:cs typeface="Amiri" pitchFamily="2" charset="-78"/>
              </a:rPr>
              <a:t>Two numbers are heard: 3 and 10:30.</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اِذْهَبْ مُسْتَقِيمًا حَتَّى الدَّوَّارِ، ثُمَّ اِنْعَطِفْ يَمِينًا.</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 straight on to the roundabout, then turn right.</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مَحَطَّةُ القِطَارِ بِجَانِبِ المَتْحَفِ.</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 station is next to the museum.</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القِطَارُ يُغَادِرُ مِنَ الرَّصِيفِ الثَّالِثِ عِنْدَ السَّاعَةِ العَاشِرَةِ وَالنِّصْفِ.</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 leaves from platform three at half past ten.</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the roundabout, which way do you turn?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right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left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straight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اِنْعَطِفْ يَمِينًا.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station?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library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market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museum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المَحَطَّةُ بِجَانِبِ المَتْحَفِ.</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platform?</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الرَّصِيفِ الثَّالِثِ.</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the train leave?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10:30</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10:00</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3:00</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عِنْدَ السَّاعَةِ العَاشِرَةِ وَالنِّصْفِ.</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direction? place? number? time?</a:t>
            </a:r>
            <a:endParaRPr lang="en-US" sz="1250" dirty="0"/>
          </a:p>
          <a:p>
            <a:pPr algn="l" indent="0" marL="0">
              <a:buNone/>
            </a:pPr>
            <a:r>
              <a:rPr lang="en-US" sz="1250" dirty="0">
                <a:solidFill>
                  <a:srgbClr val="1E6B52"/>
                </a:solidFill>
                <a:latin typeface="Calibri" pitchFamily="34" charset="0"/>
                <a:cs typeface="Amiri" pitchFamily="2" charset="-78"/>
              </a:rPr>
              <a:t>Two numbers are heard: 3 and 10:30.</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Text 2: Layla and Samer compare transport</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Layla prefer the bus?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faster.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quiet.</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transport does Samer prefer?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metro</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both of them think?</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is fast</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 is cheap</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metro is comfortable</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Two people, three kinds of transport.</a:t>
            </a:r>
            <a:endParaRPr lang="en-US" sz="1250" dirty="0"/>
          </a:p>
          <a:p>
            <a:pPr algn="l" indent="0" marL="0">
              <a:buNone/>
            </a:pPr>
            <a:r>
              <a:rPr lang="en-US" sz="1250" dirty="0">
                <a:solidFill>
                  <a:srgbClr val="1E6B52"/>
                </a:solidFill>
                <a:latin typeface="Calibri" pitchFamily="34" charset="0"/>
                <a:cs typeface="Amiri" pitchFamily="2" charset="-78"/>
              </a:rPr>
              <a:t>Who says what? Listen after “whereas”.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تُفَضِّلُ لَيْلَى الحَافِلَةَ لِأَنَّهَا رَخِيصَةٌ،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prefers the bus because it is cheap,</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بَيْنَمَا يُفَضِّلُ سَامِرٌ القِطَارَ لِأَنَّهُ أَسْرَعُ.</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whereas Samer prefers the train because it is faster.</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كِلَاهُمَا يَرَى أَنَّ المِتْرُو مُرِيحٌ.</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of them think the metro is comfortable.</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Layla prefer the bus?</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cheap.</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faster.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quiet.</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لِأَنَّهَا رَخِيصَةٌ.</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transport does Samer prefer?</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metro</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train</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بَيْنَمَا يُفَضِّلُ سَامِرٌ القِطَارَ.</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both of them think?</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is fast</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train is cheap</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metro is comfortable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كِلَاهُمَا يَرَى أَنَّ المِتْرُو مُرِيحٌ.</a:t>
            </a:r>
            <a:endParaRPr lang="ar-SA" sz="13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Two people, three kinds of transport.</a:t>
            </a:r>
            <a:endParaRPr lang="en-US" sz="1250" dirty="0"/>
          </a:p>
          <a:p>
            <a:pPr algn="l" indent="0" marL="0">
              <a:buNone/>
            </a:pPr>
            <a:r>
              <a:rPr lang="en-US" sz="1250" dirty="0">
                <a:solidFill>
                  <a:srgbClr val="1E6B52"/>
                </a:solidFill>
                <a:latin typeface="Calibri" pitchFamily="34" charset="0"/>
                <a:cs typeface="Amiri" pitchFamily="2" charset="-78"/>
              </a:rPr>
              <a:t>Who says what? Listen after “whereas”.</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3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A city description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city limitation is mentioned?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limited transport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old market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unsafe buildings</a:t>
            </a:r>
            <a:endParaRPr lang="en-US" sz="1250" dirty="0"/>
          </a:p>
        </p:txBody>
      </p:sp>
      <p:sp>
        <p:nvSpPr>
          <p:cNvPr id="28" name="Shape 25"/>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city known for?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modern towers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big airport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 buildings and an old market</a:t>
            </a:r>
            <a:endParaRPr lang="en-US" sz="1250" dirty="0"/>
          </a:p>
        </p:txBody>
      </p:sp>
      <p:sp>
        <p:nvSpPr>
          <p:cNvPr id="41" name="Shape 38"/>
          <p:cNvSpPr/>
          <p:nvPr/>
        </p:nvSpPr>
        <p:spPr>
          <a:xfrm>
            <a:off x="8095488" y="1810512"/>
            <a:ext cx="3636264" cy="4498848"/>
          </a:xfrm>
          <a:prstGeom prst="roundRect">
            <a:avLst>
              <a:gd name="adj" fmla="val 2012"/>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717280" y="2020824"/>
            <a:ext cx="914400" cy="27432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8717280" y="2020824"/>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44" name="Text 41"/>
          <p:cNvSpPr txBox="1"/>
          <p:nvPr/>
        </p:nvSpPr>
        <p:spPr>
          <a:xfrm>
            <a:off x="8296656" y="2450592"/>
            <a:ext cx="3270504" cy="3721608"/>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One advantage, one limitation.</a:t>
            </a:r>
            <a:endParaRPr lang="en-US" sz="1250" dirty="0"/>
          </a:p>
          <a:p>
            <a:pPr algn="l" indent="0" marL="0">
              <a:buNone/>
            </a:pPr>
            <a:r>
              <a:rPr lang="en-US" sz="1250" dirty="0">
                <a:solidFill>
                  <a:srgbClr val="1E6B52"/>
                </a:solidFill>
                <a:latin typeface="Calibri" pitchFamily="34" charset="0"/>
                <a:cs typeface="Amiri" pitchFamily="2" charset="-78"/>
              </a:rPr>
              <a:t>The limitation comes after “but”.</a:t>
            </a:r>
            <a:endParaRPr lang="en-US" sz="12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11274552" cy="2212848"/>
          </a:xfrm>
          <a:prstGeom prst="roundRect">
            <a:avLst>
              <a:gd name="adj" fmla="val 2066"/>
            </a:avLst>
          </a:prstGeom>
          <a:solidFill>
            <a:srgbClr val="FFFFFF"/>
          </a:solidFill>
          <a:ln w="9525">
            <a:solidFill>
              <a:srgbClr val="D8D0BF"/>
            </a:solidFill>
            <a:prstDash val="solid"/>
          </a:ln>
        </p:spPr>
      </p:sp>
      <p:sp>
        <p:nvSpPr>
          <p:cNvPr id="16" name="Text 13"/>
          <p:cNvSpPr txBox="1"/>
          <p:nvPr/>
        </p:nvSpPr>
        <p:spPr>
          <a:xfrm>
            <a:off x="4937760" y="1828800"/>
            <a:ext cx="6675120" cy="2176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تَتَمَيَّزُ المَدِينَةُ بِمَبَانِيهَا الحَجَرِيَّةِ وَسُوقِهَا القَدِيمِ،</a:t>
            </a:r>
            <a:endParaRPr lang="ar-SA" sz="2000" dirty="0"/>
          </a:p>
        </p:txBody>
      </p:sp>
      <p:sp>
        <p:nvSpPr>
          <p:cNvPr id="17" name="Text 14"/>
          <p:cNvSpPr txBox="1"/>
          <p:nvPr/>
        </p:nvSpPr>
        <p:spPr>
          <a:xfrm>
            <a:off x="640080" y="1828800"/>
            <a:ext cx="4160520" cy="2176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is known for its stone buildings and its old market,</a:t>
            </a:r>
            <a:endParaRPr lang="en-US" sz="1250" dirty="0"/>
          </a:p>
        </p:txBody>
      </p:sp>
      <p:sp>
        <p:nvSpPr>
          <p:cNvPr id="18" name="Shape 15"/>
          <p:cNvSpPr/>
          <p:nvPr/>
        </p:nvSpPr>
        <p:spPr>
          <a:xfrm>
            <a:off x="457200" y="4096512"/>
            <a:ext cx="11274552" cy="2212848"/>
          </a:xfrm>
          <a:prstGeom prst="roundRect">
            <a:avLst>
              <a:gd name="adj" fmla="val 2066"/>
            </a:avLst>
          </a:prstGeom>
          <a:solidFill>
            <a:srgbClr val="F4F1EA"/>
          </a:solidFill>
          <a:ln w="9525">
            <a:solidFill>
              <a:srgbClr val="D8D0BF"/>
            </a:solidFill>
            <a:prstDash val="solid"/>
          </a:ln>
        </p:spPr>
      </p:sp>
      <p:sp>
        <p:nvSpPr>
          <p:cNvPr id="19" name="Text 16"/>
          <p:cNvSpPr txBox="1"/>
          <p:nvPr/>
        </p:nvSpPr>
        <p:spPr>
          <a:xfrm>
            <a:off x="4937760" y="4114800"/>
            <a:ext cx="6675120" cy="2176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وَلٰكِنَّ المَوَاصَلَاتِ فِيهَا قَلِيلَةٌ.</a:t>
            </a:r>
            <a:endParaRPr lang="ar-SA" sz="2000" dirty="0"/>
          </a:p>
        </p:txBody>
      </p:sp>
      <p:sp>
        <p:nvSpPr>
          <p:cNvPr id="20" name="Text 17"/>
          <p:cNvSpPr txBox="1"/>
          <p:nvPr/>
        </p:nvSpPr>
        <p:spPr>
          <a:xfrm>
            <a:off x="640080" y="4114800"/>
            <a:ext cx="4160520" cy="2176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its transport is limited.</a:t>
            </a:r>
            <a:endParaRPr lang="en-US" sz="1250" dirty="0"/>
          </a:p>
        </p:txBody>
      </p:sp>
      <p:sp>
        <p:nvSpPr>
          <p:cNvPr id="21" name="Text 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city limitation is mentioned?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limited transport</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old market</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unsafe buildings</a:t>
            </a:r>
            <a:endParaRPr lang="en-US" sz="1250" dirty="0"/>
          </a:p>
        </p:txBody>
      </p:sp>
      <p:sp>
        <p:nvSpPr>
          <p:cNvPr id="29" name="Text 26"/>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المَوَاصَلَاتُ فِيهَا قَلِيلَةٌ.</a:t>
            </a:r>
            <a:endParaRPr lang="ar-SA" sz="13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city known for?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modern towers</a:t>
            </a:r>
            <a:endParaRPr lang="en-US" sz="1250" dirty="0"/>
          </a:p>
        </p:txBody>
      </p:sp>
      <p:sp>
        <p:nvSpPr>
          <p:cNvPr id="37" name="Shape 34"/>
          <p:cNvSpPr/>
          <p:nvPr/>
        </p:nvSpPr>
        <p:spPr>
          <a:xfrm>
            <a:off x="4459224" y="2990088"/>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big airport</a:t>
            </a:r>
            <a:endParaRPr lang="en-US" sz="1250" dirty="0"/>
          </a:p>
        </p:txBody>
      </p:sp>
      <p:sp>
        <p:nvSpPr>
          <p:cNvPr id="40" name="Shape 37"/>
          <p:cNvSpPr/>
          <p:nvPr/>
        </p:nvSpPr>
        <p:spPr>
          <a:xfrm>
            <a:off x="4367784" y="341071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44728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 buildings and an old market</a:t>
            </a:r>
            <a:endParaRPr lang="en-US" sz="1250" dirty="0"/>
          </a:p>
        </p:txBody>
      </p:sp>
      <p:sp>
        <p:nvSpPr>
          <p:cNvPr id="44" name="Text 41"/>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تَتَمَيَّزُ المَدِينَةُ بِمَبَانِيهَا الحَجَرِيَّةِ وَسُوقِهَا القَدِيمِ.</a:t>
            </a:r>
            <a:endParaRPr lang="ar-SA" sz="1350" dirty="0"/>
          </a:p>
        </p:txBody>
      </p:sp>
      <p:sp>
        <p:nvSpPr>
          <p:cNvPr id="45" name="Shape 42"/>
          <p:cNvSpPr/>
          <p:nvPr/>
        </p:nvSpPr>
        <p:spPr>
          <a:xfrm>
            <a:off x="8095488" y="1810512"/>
            <a:ext cx="3636264" cy="4498848"/>
          </a:xfrm>
          <a:prstGeom prst="roundRect">
            <a:avLst>
              <a:gd name="adj" fmla="val 2012"/>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717280" y="2020824"/>
            <a:ext cx="914400" cy="27432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8717280" y="2020824"/>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48" name="Text 45"/>
          <p:cNvSpPr txBox="1"/>
          <p:nvPr/>
        </p:nvSpPr>
        <p:spPr>
          <a:xfrm>
            <a:off x="8296656" y="2450592"/>
            <a:ext cx="3270504" cy="3721608"/>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One advantage, one limitation.</a:t>
            </a:r>
            <a:endParaRPr lang="en-US" sz="1250" dirty="0"/>
          </a:p>
          <a:p>
            <a:pPr algn="l" indent="0" marL="0">
              <a:buNone/>
            </a:pPr>
            <a:r>
              <a:rPr lang="en-US" sz="1250" dirty="0">
                <a:solidFill>
                  <a:srgbClr val="1E6B52"/>
                </a:solidFill>
                <a:latin typeface="Calibri" pitchFamily="34" charset="0"/>
                <a:cs typeface="Amiri" pitchFamily="2" charset="-78"/>
              </a:rPr>
              <a:t>The limitation comes after “but”.</a:t>
            </a:r>
            <a:endParaRPr lang="en-US" sz="12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Explain your listening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نَوْعُ المَعْلُومَةِ المَطْلُوبَةِ؟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الكَلِمَةُ المِفْتَاحِيَّةُ؟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الخِيَارُ الَّذِي اسْتَبْعَدْتَهُ؟ وَلِمَاذَا؟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العِبَارَةُ الَّتِي أَثْبَتَتِ الإِجَابَةَ؟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السُّؤَالُ يَطْلُبُ مَكَانًا / وَقْتًا / سَبَبًا.</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الكَلِمَةُ المِفْتَاحِيَّةُ هِيَ «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اِسْتَبْعَدْتُ ___ لِأَنَّ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سَمِعْتُ « ___ »، لِذَلِكَ اخْتَرْتُ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لِمَاذَا اخْتَرْتَ «الحَافِلَةَ»؟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Why did you choose “the bus”?</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لِأَنِّي سَمِعْتُ «رَخِيصَةٌ»، وَالسُّؤَالُ يَطْلُبُ السَّبَبَ.</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Because I heard “cheap”, and the question asks for the reason. The train was also mentioned, but it was another person’s view.</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questions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Identify question type and one key word.</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For three questions: the answer type and the key word you heard.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the exact phrase proving each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three questions, the phrase that proves each answer and one distractor you rejected.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Analyse distractors across all three formats and write a reusable listening strategy guide.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reusable strategy guide across all three texts, with a next-step target.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السُّؤَالُ ______ يَطْلُبُ ______ لِأَنَّهُ يَبْدَأُ بِـ ______ .</a:t>
            </a:r>
            <a:endParaRPr lang="ar-SA" sz="14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Question … asks for … because it starts with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سَمِعْتُ « ______ »، لِذَلِكَ اخْتَرْتُ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heard “…”, so I chose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أَخْتَرْ ______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did not choose …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سَأَقْرَأُ الأَسْئِلَةَ أَوَّلًا.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future I will read the questions first.</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السُّؤَالُ الأَوَّلُ يَطْلُبُ مَكَانًا.</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Question 1 asks for a place.</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سَمِعْتُ «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heard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الإِجَابَةُ: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answer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السُّؤَالُ الثَّانِي يَطْلُبُ رَقْمًا.</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Question 2 asks for a number.</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يَطْلُبُ  ·  مَكَانًا  ·  وَقْتًا  ·  رَقْمًا  ·  سَبَبًا  ·  سَمِعْتُ  ·  اِخْتَرْتُ  ·  اِسْتَبْعَدْتُ  ·  مُشَتِّتٌ  ·  لٰكِنَّ  ·  بَيْنَمَا  ·  لِذَلِكَ</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Create a listening strategy record for three questions and explain the evidence for each answer.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Predict the answer type.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Record the key phrase heard.</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Name and reject one distractor.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Write one next-step strategy for a weaker area.</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المُشَتِّتُ قَوِيًّا لِأَنَّ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distractor was strong because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المَرَّةِ الثَّانِيَةِ تَحَقَّقْتُ مِنْ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second time I checked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«لٰكِنَّ» تَغَيَّرَ المَعْنَى</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“but” the meaning changed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سَأَسْتَمِعُ إِلَى كَلِمَاتِ التَّضَادِّ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listen for contrast words</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السُّؤَالُ الأَوَّلُ يَطْلُبُ مَكَانًا لِأَنَّهُ يَبْدَأُ بِـ «أَيْنَ». سَمِعْتُ «بِجَانِبِ المَتْحَفِ»، لِذٰلِكَ اخْتَرْتُ المَتْحَفَ. السُّؤَالُ الثَّانِي يَطْلُبُ مُدَّةً. سَمِعْتُ «نِصْفَ سَاعَةٍ» وَلَمْ أَخْتَرْ «السَّاعَةَ الثَّامِنَةَ» لِأَنَّهَا وَقْتُ المُغَادَرَةِ. فِي المُسْتَقْبَلِ سَأَقْرَأُ الأَسْئِلَةَ أَوَّلًا وَسَأَسْتَمِعُ إِلَى كَلِمَاتِ التَّضَادِ مِثْلَ «لٰكِنَّ».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first question asks for a place because it starts with “where”. I heard “next to the museum”, so I chose the museum. The second question asks for a duration. I heard “half an hour” and I did not choose “eight o’clock” because it is the departure time. In future I will read the questions first and listen for contrast words like “but”.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answer type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evidence phrase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rejected distractor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future strategy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labelled each question before listening.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key word I heard.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the phrase that proves each answer.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rejected one distractor with a reason.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strategy has a clear next step.</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before listening?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predict from questions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reveal the script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choose random answers</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cue expects a reason?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signals contrast?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أَيْضًا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before listening?</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predict from questions</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reveal the script</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choose random answers</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Prediction comes first.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cue expects a reason?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أَيْنَ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لِمَاذَا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مَتَى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لِمَاذَا</a:t>
            </a:r>
            <a:pPr algn="l" indent="0" marL="0">
              <a:buNone/>
            </a:pPr>
            <a:r>
              <a:rPr lang="en-US" sz="1050" i="1" dirty="0">
                <a:solidFill>
                  <a:srgbClr val="8A6D1E"/>
                </a:solidFill>
                <a:latin typeface="Calibri" pitchFamily="34" charset="0"/>
                <a:cs typeface="Amiri" pitchFamily="2" charset="-78"/>
              </a:rPr>
              <a:t> asks why.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signals contrast?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لٰكِنَّ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أَيْضًا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لٰكِنَّ</a:t>
            </a:r>
            <a:pPr algn="l" indent="0" marL="0">
              <a:buNone/>
            </a:pPr>
            <a:r>
              <a:rPr lang="en-US" sz="1050" i="1" dirty="0">
                <a:solidFill>
                  <a:srgbClr val="8A6D1E"/>
                </a:solidFill>
                <a:latin typeface="Calibri" pitchFamily="34" charset="0"/>
                <a:cs typeface="Amiri" pitchFamily="2" charset="-78"/>
              </a:rPr>
              <a:t> means but.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strategy commentary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قَبْلَ الاِسْتِمَاعِ، اِقْرَأِ الأَسْئِلَةَ وَحَدِّدْ نَوْعَ المَعْلُومَةِ المَطْلُوبَةِ. إِذَا رَأَيْتَ «أَيْنَ»، فَابْحَثْ عَنْ مَكَانٍ. وَإِذَا رَأَيْتَ «كَمْ تَسْتَغْرِقُ»، فَتَوَقَّعْ عَدَدًا وَوَحْدَةَ زَمَنٍ. فِي المَرَّةِ الأُولَى، افْهَمِ السِّيَاقَ. فِي المَرَّةِ الثَّانِيَةِ، تَحَقَّقْ مِنَ التَّفْصِيلِ وَاسْتَبْعِدِ المُشَتِّتَاتِ. لَا تَخْتَرْ إِجَابَةً لِأَنَّكَ سَمِعْتَ كَلِمَةً وَاحِدَةً فَقَطْ.</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قَبْلَ الاِسْتِمَاعِ</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before listening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حَدِّدْ نَوْعَ المَعْلُومَةِ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identify the type of information</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فَابْحَثْ عَنْ مَكَانٍ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then look for a place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فَتَوَقَّعْ عَدَدًا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then expect a number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وَحْدَةَ زَمَنٍ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unit of time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اِفْهَمِ السِّيَاقَ</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understand the context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تَحَقَّقْ مِنَ التَّفْصِيلِ</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check the detail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اِسْتَبْعِدِ المُشَتِّتَاتِ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eliminate the distractors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تَخْتَرْ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 not choose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كَلِمَةً وَاحِدَةً فَقَطْ</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only one word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happen before listening?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the full script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and classify the questions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 options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أَيْنَ</a:t>
            </a:r>
            <a:pPr algn="l" indent="0" marL="0">
              <a:buNone/>
            </a:pPr>
            <a:r>
              <a:rPr lang="en-US" sz="1250" b="1" dirty="0">
                <a:solidFill>
                  <a:srgbClr val="1B3B6F"/>
                </a:solidFill>
                <a:latin typeface="Calibri" pitchFamily="34" charset="0"/>
                <a:cs typeface="Amiri" pitchFamily="2" charset="-78"/>
              </a:rPr>
              <a:t> predict?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place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كَمْ تَسْتَغْرِقُ</a:t>
            </a:r>
            <a:pPr algn="l" indent="0" marL="0">
              <a:buNone/>
            </a:pPr>
            <a:r>
              <a:rPr lang="en-US" sz="1250" b="1" dirty="0">
                <a:solidFill>
                  <a:srgbClr val="1B3B6F"/>
                </a:solidFill>
                <a:latin typeface="Calibri" pitchFamily="34" charset="0"/>
                <a:cs typeface="Amiri" pitchFamily="2" charset="-78"/>
              </a:rPr>
              <a:t> predict?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 and time unit</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building material</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direction only</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listening for?</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spelling detail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context</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changing the questions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second listening for?</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verification of detail</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translation</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aloud</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one heard word not decide the answer?</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has no key words.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option is always correct.</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may be a distractor or incomplete evidence.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happen before listening?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the full script</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read and classify the questions</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 options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instructs this.</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أَيْنَ</a:t>
            </a:r>
            <a:pPr algn="l" indent="0" marL="0">
              <a:buNone/>
            </a:pPr>
            <a:r>
              <a:rPr lang="en-US" sz="1250" b="1" dirty="0">
                <a:solidFill>
                  <a:srgbClr val="1B3B6F"/>
                </a:solidFill>
                <a:latin typeface="Calibri" pitchFamily="34" charset="0"/>
                <a:cs typeface="Amiri" pitchFamily="2" charset="-78"/>
              </a:rPr>
              <a:t> predict?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reason</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place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أَيْنَ</a:t>
            </a:r>
            <a:pPr algn="l" indent="0" marL="0">
              <a:buNone/>
            </a:pPr>
            <a:r>
              <a:rPr lang="en-US" sz="1050" i="1" dirty="0">
                <a:solidFill>
                  <a:srgbClr val="8A6D1E"/>
                </a:solidFill>
                <a:latin typeface="Calibri" pitchFamily="34" charset="0"/>
                <a:cs typeface="Amiri" pitchFamily="2" charset="-78"/>
              </a:rPr>
              <a:t> requires a place.</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كَمْ تَسْتَغْرِقُ</a:t>
            </a:r>
            <a:pPr algn="l" indent="0" marL="0">
              <a:buNone/>
            </a:pPr>
            <a:r>
              <a:rPr lang="en-US" sz="1250" b="1" dirty="0">
                <a:solidFill>
                  <a:srgbClr val="1B3B6F"/>
                </a:solidFill>
                <a:latin typeface="Calibri" pitchFamily="34" charset="0"/>
                <a:cs typeface="Amiri" pitchFamily="2" charset="-78"/>
              </a:rPr>
              <a:t> predict?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number and time unit</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building material</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direction only</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asks duration.</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listening for?</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spelling detail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context</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changing the questions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المَرَّةِ الأُولَى، افْهَمِ السِّيَاقَ.</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second listening for?</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verification of detail</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translation</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aloud</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تَحَقَّقْ مِنَ التَّفْصِيلِ.</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one heard word not decide the answer?</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has no key words.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first option is always correct.</a:t>
            </a:r>
            <a:endParaRPr lang="en-US" sz="11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may be a distractor or incomplete evidence.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warns against choosing from one word only.</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F6-L11 · F6 Consolidation: Complete Town and Transport Review</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مُرَاجَعَةٌ شَامِلَةٌ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complete review</a:t>
            </a:r>
            <a:pPr indent="0" marL="0">
              <a:buNone/>
            </a:pPr>
            <a:r>
              <a:rPr lang="ar-SA" sz="1000" i="1" dirty="0">
                <a:solidFill>
                  <a:srgbClr val="5A6472"/>
                </a:solidFill>
                <a:latin typeface="Calibri" pitchFamily="34" charset="0"/>
                <a:ea typeface="Amiri" pitchFamily="2" charset="-78"/>
                <a:cs typeface="Amiri" pitchFamily="2" charset="-78"/>
              </a:rPr>
              <a:t>  pl. مُرَاجَعَاتٌ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تَحْلِيلُ الأَخْطَاءِ</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error analysis</a:t>
            </a:r>
            <a:pPr indent="0" marL="0">
              <a:buNone/>
            </a:pPr>
            <a:r>
              <a:rPr lang="ar-SA" sz="1000" i="1" dirty="0">
                <a:solidFill>
                  <a:srgbClr val="5A6472"/>
                </a:solidFill>
                <a:latin typeface="Calibri" pitchFamily="34" charset="0"/>
                <a:ea typeface="Amiri" pitchFamily="2" charset="-78"/>
                <a:cs typeface="Amiri" pitchFamily="2" charset="-78"/>
              </a:rPr>
              <a:t>  sing. خَطَأٌ</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نُقْطَةُ قُوَّةٍ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r>
              <a:rPr lang="ar-SA" sz="1000" i="1" dirty="0">
                <a:solidFill>
                  <a:srgbClr val="5A6472"/>
                </a:solidFill>
                <a:latin typeface="Calibri" pitchFamily="34" charset="0"/>
                <a:ea typeface="Amiri" pitchFamily="2" charset="-78"/>
                <a:cs typeface="Amiri" pitchFamily="2" charset="-78"/>
              </a:rPr>
              <a:t>  pl. نِقَاطُ قُوَّةٍ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أَوْلَوِيَّةٌ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priority</a:t>
            </a:r>
            <a:pPr indent="0" marL="0">
              <a:buNone/>
            </a:pPr>
            <a:r>
              <a:rPr lang="ar-SA" sz="1000" i="1" dirty="0">
                <a:solidFill>
                  <a:srgbClr val="5A6472"/>
                </a:solidFill>
                <a:latin typeface="Calibri" pitchFamily="34" charset="0"/>
                <a:ea typeface="Amiri" pitchFamily="2" charset="-78"/>
                <a:cs typeface="Amiri" pitchFamily="2" charset="-78"/>
              </a:rPr>
              <a:t>  pl. أَوْلَوِيَّاتٌ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دَلِيلٌ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evidence</a:t>
            </a:r>
            <a:pPr indent="0" marL="0">
              <a:buNone/>
            </a:pPr>
            <a:r>
              <a:rPr lang="ar-SA" sz="1000" i="1" dirty="0">
                <a:solidFill>
                  <a:srgbClr val="5A6472"/>
                </a:solidFill>
                <a:latin typeface="Calibri" pitchFamily="34" charset="0"/>
                <a:ea typeface="Amiri" pitchFamily="2" charset="-78"/>
                <a:cs typeface="Amiri" pitchFamily="2" charset="-78"/>
              </a:rPr>
              <a:t>  pl. أَدِلَّةٌ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back at F6-L01 to F6-L10: which grammar point do you find hardest? Bring one example of a mistake you made.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أَصْعَبُ قَاعِدَةٍ لِي هِيَ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F6-L10: redo the listening mission and the sorter; learn the five review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listening strategy record for three questions with the evidence for each.</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reusable listening strategy guide (80–100 words) with one distractor from each text.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F6-L11 · F6 Consolidation: Complete Town and Transport Review</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السَّادِسَةِ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read the question first — the question word tells you what to catch, and the answer often comes after “but”.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F6-L10 · Listening: Town and Transport Texts</dc:title>
  <dc:subject>PptxGenJS Presentation</dc:subject>
  <dc:creator>Al Madina Online School · Arabic Department</dc:creator>
  <cp:lastModifiedBy>Al Madina Online School · Arabic Department</cp:lastModifiedBy>
  <cp:revision>1</cp:revision>
  <dcterms:created xsi:type="dcterms:W3CDTF">2026-10-11T06:41:57Z</dcterms:created>
  <dcterms:modified xsi:type="dcterms:W3CDTF">2026-10-11T06:41:57Z</dcterms:modified>
</cp:coreProperties>
</file>