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F6-L05 (Describing Your Town: Advantages and Disadvantages) — new practice tasks built on the lesson’s own word bank and grammar (madīnatī + feminine adjectives (hādiʾa · muktaẓẓa · āmina); min mazāyā madīnatī anna …; min ʿuyūbihā anna …; tatamayyazu bi- …; taftaqiru ilā …; lākinna).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F6-L05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صِفِي · مَدِينَتَكِ. Language: min mazāyāhā anna + noun (-a) · min ʿuyūbihā anna … · taftaqiru ilā + genitive.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(43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F6  ·  F6-L05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F6-L05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Describing Your Town: Advantages and Disadvantages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مَزَايَا مَدِينَتِي وَعُيُوبُهَا</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50" dirty="0">
                <a:solidFill>
                  <a:srgbClr val="C6D2E6"/>
                </a:solidFill>
                <a:latin typeface="Calibri" pitchFamily="34" charset="0"/>
                <a:cs typeface="Amiri" pitchFamily="2" charset="-78"/>
              </a:rPr>
              <a:t>Students run their own speaking and writing practice describing their town with a balanced view: say the description words, act a short dialogue, answer question cards, do a role-play card on a radio show about your town, give a 30-second balanced talk, then build, fix and write a pros-and-cons paragraph.</a:t>
            </a:r>
            <a:endParaRPr lang="en-US" sz="12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F6-L05 · Foundation F6 · My Town and Transport</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F6 › F6-L05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Advantages and disadvantages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مِيزَةٌ / مَزَايَا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advantage / advantages</a:t>
            </a:r>
            <a:endParaRPr lang="en-US" sz="1350" dirty="0"/>
          </a:p>
          <a:p>
            <a:pPr indent="0" marL="0">
              <a:buNone/>
            </a:pPr>
            <a:r>
              <a:rPr lang="en-US" sz="1100" i="1" dirty="0">
                <a:solidFill>
                  <a:srgbClr val="5A6472"/>
                </a:solidFill>
                <a:latin typeface="Calibri" pitchFamily="34" charset="0"/>
                <a:cs typeface="Amiri" pitchFamily="2" charset="-78"/>
              </a:rPr>
              <a:t>mī-za-tun / ma-zā-yā</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عَيْبٌ / عُيُوبٌ</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disadvantage / disadvantages</a:t>
            </a:r>
            <a:endParaRPr lang="en-US" sz="1350" dirty="0"/>
          </a:p>
          <a:p>
            <a:pPr indent="0" marL="0">
              <a:buNone/>
            </a:pPr>
            <a:r>
              <a:rPr lang="en-US" sz="1100" i="1" dirty="0">
                <a:solidFill>
                  <a:srgbClr val="5A6472"/>
                </a:solidFill>
                <a:latin typeface="Calibri" pitchFamily="34" charset="0"/>
                <a:cs typeface="Amiri" pitchFamily="2" charset="-78"/>
              </a:rPr>
              <a:t>ʿay-bun / ʿu-yū-bun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مُكْتَظٌّ / مُكْتَظَّةٌ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crowded</a:t>
            </a:r>
            <a:endParaRPr lang="en-US" sz="1350" dirty="0"/>
          </a:p>
          <a:p>
            <a:pPr indent="0" marL="0">
              <a:buNone/>
            </a:pPr>
            <a:r>
              <a:rPr lang="en-US" sz="1100" i="1" dirty="0">
                <a:solidFill>
                  <a:srgbClr val="5A6472"/>
                </a:solidFill>
                <a:latin typeface="Calibri" pitchFamily="34" charset="0"/>
                <a:cs typeface="Amiri" pitchFamily="2" charset="-78"/>
              </a:rPr>
              <a:t>muk-taẓ-ẓun / muk-taẓ-ẓa-tun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هَادِئٌ / هَادِئَةٌ</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quiet</a:t>
            </a:r>
            <a:endParaRPr lang="en-US" sz="1350" dirty="0"/>
          </a:p>
          <a:p>
            <a:pPr indent="0" marL="0">
              <a:buNone/>
            </a:pPr>
            <a:r>
              <a:rPr lang="en-US" sz="1100" i="1" dirty="0">
                <a:solidFill>
                  <a:srgbClr val="5A6472"/>
                </a:solidFill>
                <a:latin typeface="Calibri" pitchFamily="34" charset="0"/>
                <a:cs typeface="Amiri" pitchFamily="2" charset="-78"/>
              </a:rPr>
              <a:t>hā-di-ʾun / hā-di-ʾa-tun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صَاخِبٌ / صَاخِبَةٌ</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noisy</a:t>
            </a:r>
            <a:endParaRPr lang="en-US" sz="1350" dirty="0"/>
          </a:p>
          <a:p>
            <a:pPr indent="0" marL="0">
              <a:buNone/>
            </a:pPr>
            <a:r>
              <a:rPr lang="en-US" sz="1100" i="1" dirty="0">
                <a:solidFill>
                  <a:srgbClr val="5A6472"/>
                </a:solidFill>
                <a:latin typeface="Calibri" pitchFamily="34" charset="0"/>
                <a:cs typeface="Amiri" pitchFamily="2" charset="-78"/>
              </a:rPr>
              <a:t>ṣā-khi-bun / ṣā-khi-ba-tun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نَظِيفٌ / نَظِيفَةٌ</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clean</a:t>
            </a:r>
            <a:endParaRPr lang="en-US" sz="1350" dirty="0"/>
          </a:p>
          <a:p>
            <a:pPr indent="0" marL="0">
              <a:buNone/>
            </a:pPr>
            <a:r>
              <a:rPr lang="en-US" sz="1100" i="1" dirty="0">
                <a:solidFill>
                  <a:srgbClr val="5A6472"/>
                </a:solidFill>
                <a:latin typeface="Calibri" pitchFamily="34" charset="0"/>
                <a:cs typeface="Amiri" pitchFamily="2" charset="-78"/>
              </a:rPr>
              <a:t>na-ẓī-fun / na-ẓī-fa-tun</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Describing a town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آمِنٌ / آمِنَةٌ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safe</a:t>
            </a:r>
            <a:endParaRPr lang="en-US" sz="1350" dirty="0"/>
          </a:p>
          <a:p>
            <a:pPr indent="0" marL="0">
              <a:buNone/>
            </a:pPr>
            <a:r>
              <a:rPr lang="en-US" sz="1100" i="1" dirty="0">
                <a:solidFill>
                  <a:srgbClr val="5A6472"/>
                </a:solidFill>
                <a:latin typeface="Calibri" pitchFamily="34" charset="0"/>
                <a:cs typeface="Amiri" pitchFamily="2" charset="-78"/>
              </a:rPr>
              <a:t>ā-mi-nun / ā-mi-na-tun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جَمِيلٌ / جَمِيلَةٌ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beautiful</a:t>
            </a:r>
            <a:endParaRPr lang="en-US" sz="1350" dirty="0"/>
          </a:p>
          <a:p>
            <a:pPr indent="0" marL="0">
              <a:buNone/>
            </a:pPr>
            <a:r>
              <a:rPr lang="en-US" sz="1100" i="1" dirty="0">
                <a:solidFill>
                  <a:srgbClr val="5A6472"/>
                </a:solidFill>
                <a:latin typeface="Calibri" pitchFamily="34" charset="0"/>
                <a:cs typeface="Amiri" pitchFamily="2" charset="-78"/>
              </a:rPr>
              <a:t>ja-mī-lun / ja-mī-la-tun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حَدِيثٌ / حَدِيثَةٌ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modern</a:t>
            </a:r>
            <a:endParaRPr lang="en-US" sz="1350" dirty="0"/>
          </a:p>
          <a:p>
            <a:pPr indent="0" marL="0">
              <a:buNone/>
            </a:pPr>
            <a:r>
              <a:rPr lang="en-US" sz="1100" i="1" dirty="0">
                <a:solidFill>
                  <a:srgbClr val="5A6472"/>
                </a:solidFill>
                <a:latin typeface="Calibri" pitchFamily="34" charset="0"/>
                <a:cs typeface="Amiri" pitchFamily="2" charset="-78"/>
              </a:rPr>
              <a:t>ḥa-dī-thun / ḥa-dī-tha-tun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نَشِيطٌ / نَشِيطَةٌ</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lively</a:t>
            </a:r>
            <a:endParaRPr lang="en-US" sz="1350" dirty="0"/>
          </a:p>
          <a:p>
            <a:pPr indent="0" marL="0">
              <a:buNone/>
            </a:pPr>
            <a:r>
              <a:rPr lang="en-US" sz="1100" i="1" dirty="0">
                <a:solidFill>
                  <a:srgbClr val="5A6472"/>
                </a:solidFill>
                <a:latin typeface="Calibri" pitchFamily="34" charset="0"/>
                <a:cs typeface="Amiri" pitchFamily="2" charset="-78"/>
              </a:rPr>
              <a:t>na-shī-ṭun / na-shī-ṭa-tun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تَتَمَيَّزُ بِـ</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distinguished by</a:t>
            </a:r>
            <a:endParaRPr lang="en-US" sz="1350" dirty="0"/>
          </a:p>
          <a:p>
            <a:pPr indent="0" marL="0">
              <a:buNone/>
            </a:pPr>
            <a:r>
              <a:rPr lang="en-US" sz="1100" i="1" dirty="0">
                <a:solidFill>
                  <a:srgbClr val="5A6472"/>
                </a:solidFill>
                <a:latin typeface="Calibri" pitchFamily="34" charset="0"/>
                <a:cs typeface="Amiri" pitchFamily="2" charset="-78"/>
              </a:rPr>
              <a:t>ta-ta-may-ya-zu bi</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تَفْتَقِرُ إِلَى</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lacks</a:t>
            </a:r>
            <a:endParaRPr lang="en-US" sz="1350" dirty="0"/>
          </a:p>
          <a:p>
            <a:pPr indent="0" marL="0">
              <a:buNone/>
            </a:pPr>
            <a:r>
              <a:rPr lang="en-US" sz="1100" i="1" dirty="0">
                <a:solidFill>
                  <a:srgbClr val="5A6472"/>
                </a:solidFill>
                <a:latin typeface="Calibri" pitchFamily="34" charset="0"/>
                <a:cs typeface="Amiri" pitchFamily="2" charset="-78"/>
              </a:rPr>
              <a:t>taf-ta-qi-ru i-lā</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is your town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مَدِينَتُكَ؟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town like?</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كَيْفَ مَدِينَتُكَ؟</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town is beautiful and modern, but it is crowded.</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مَدِينَتِي جَمِيلَةٌ وَحَدِيثَةٌ، لٰكِنَّهَا مُكْتَظَّةٌ.</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are its advantages?</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 مَزَايَاهَا؟</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advantage of my town is that transport is easy, and it is known for its many parks.</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مِنْ مَزَايَا مَدِينَتِي أَنَّ المُوَاصَلَاتِ سَهْلَةٌ، وَتَتَمَيَّزُ بِحَدَائِقَ كَثِيرَةٍ.</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its disadvantages?</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وَمَا عُيُوبُهَا؟</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disadvantage is that it is noisy, and it lacks youth centres.</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مِنْ عُيُوبِهَا أَنَّهَا صَاخِبَةٌ، وَتَفْتَقِرُ إِلَى مَرَاكِزَ لِلشَّبَابِ.</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give YOUR town’s real advantages and disadvantages.</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جِدًّا</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مَدِينَتِي … وَ… وَ…</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your town in three adjectives.</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مَدِينَتَكَ بِثَلَاثِ صِفَاتٍ.</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لِذٰلِكَ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مَزَايَا مَدِينَتِي أَنَّ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 biggest advantage of your town?</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أَكْبَرُ مِيزَةٍ فِي مَدِينَتِكَ؟</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لٰكِنَّ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عُيُوبِهَا أَنَّ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the biggest disadvantage?</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 أَكْبَرُ عَيْبٍ؟</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56648" y="4478731"/>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تَتَمَيَّزُ بِأَسْوَاقِهَا / بِحَدَائِقِهَا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town known for?</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بِمَاذَا تَتَمَيَّزُ مَدِينَتُكَ؟</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فِي اللَّيْلِ</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هِيَ آمِنَةٌ … / لَا،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your town safe?</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مَدِينَتُكَ آمِنَةٌ؟</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Role-play card — on a local radio show about your town</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إِذَاعَةٍ مَحَلِّيَّةٍ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صِفْ ← مَدِينَتِي … وَ…</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adjectives (f.).</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أَهْلًا! صِفْ لَنَا مَدِينَتَكَ.</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مَزَايَا ← مِنْ مَزَايَاهَا أَنَّ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advantage.</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مَزَايَاهَا؟</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عُيُوبٌ ← مِنْ عُيُوبِهَا أَنَّ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disadvantage.</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وَعُيُوبُهَا؟</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تَحْتَاجُ ← تَفْتَقِرُ إِلَى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it lacks.</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تَحْتَاجُ مَدِينَتُكَ؟</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young resident · Leader = the radio presenter.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30 seconds: my town — for and against</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مَدِينَتِي بَيْنَ المَزَايَا وَالعُيُوبِ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Give a balanced 30-second view of your town: describe it, two advantages, one disadvantage — and an overall opinion.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مَدِينَتِي … · مِنْ مَزَايَاهَا أَنَّ … · مِنْ عُيُوبِهَا أَنَّ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تَتَمَيَّزُ</a:t>
            </a:r>
            <a:pPr algn="l" indent="0" marL="0">
              <a:buNone/>
            </a:pPr>
            <a:r>
              <a:rPr lang="en-US" sz="1150" dirty="0">
                <a:solidFill>
                  <a:srgbClr val="1F2A37"/>
                </a:solidFill>
                <a:latin typeface="Calibri" pitchFamily="34" charset="0"/>
                <a:cs typeface="Amiri" pitchFamily="2" charset="-78"/>
              </a:rPr>
              <a:t> … and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تَفْتَقِرُ إِلَى</a:t>
            </a:r>
            <a:pPr algn="l" indent="0" marL="0">
              <a:buNone/>
            </a:pPr>
            <a:r>
              <a:rPr lang="en-US" sz="1150" dirty="0">
                <a:solidFill>
                  <a:srgbClr val="1F2A37"/>
                </a:solidFill>
                <a:latin typeface="Calibri" pitchFamily="34" charset="0"/>
                <a:cs typeface="Amiri" pitchFamily="2" charset="-78"/>
              </a:rPr>
              <a:t> … and an overall opinion with </a:t>
            </a:r>
            <a:pPr algn="l" indent="0" marL="0">
              <a:buNone/>
            </a:pPr>
            <a:r>
              <a:rPr lang="ar-SA" altLang="en-US" sz="1500" dirty="0">
                <a:solidFill>
                  <a:srgbClr val="1F2A37"/>
                </a:solidFill>
                <a:latin typeface="Amiri" pitchFamily="2" charset="-78"/>
                <a:ea typeface="Amiri" pitchFamily="2" charset="-78"/>
                <a:cs typeface="Amiri" pitchFamily="2" charset="-78"/>
              </a:rPr>
              <a:t>بِصِفَةٍ عَامَّةٍ</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town is quiet and safe.</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مَدِينَتِي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مَدِينَتُكَ</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هَادِئَةٌ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هَادِئٌ</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وَآمِنَةٌ.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وَآمِنٌ.</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One advantage is that the park is big.</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مَزَايَاهَا</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عُيُوبِهَا</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الحَدِيقَةَ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الحَدِيقَةُ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كَبِيرَةٌ.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كَبِيرَةً.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It lacks a cinema.</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تَفْتَقِرُ</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يَفْتَقِرُ</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سِينِمَا.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سِينِمَا إِلَى.</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town is quiet and safe.</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مَدِينَةٌ</a:t>
            </a:r>
            <a:pPr algn="l" indent="0" marL="0">
              <a:buNone/>
            </a:pPr>
            <a:r>
              <a:rPr lang="en-US" sz="1050" i="1" dirty="0">
                <a:solidFill>
                  <a:srgbClr val="5A6472"/>
                </a:solidFill>
                <a:latin typeface="Calibri" pitchFamily="34" charset="0"/>
                <a:cs typeface="Amiri" pitchFamily="2" charset="-78"/>
              </a:rPr>
              <a:t> (f.) → feminine adjectives.</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مَدِينَتِي هَادِئَةٌ وَآمِنَةٌ.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One advantage is that the park is big.</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 noun in -a + adjective in -un.</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مِنْ مَزَايَاهَا أَنَّ الحَدِيقَةَ كَبِيرَةٌ.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It lacks a cinema.</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town (f.) → </a:t>
            </a:r>
            <a:pPr algn="l" indent="0" marL="0">
              <a:buNone/>
            </a:pPr>
            <a:r>
              <a:rPr lang="ar-SA" altLang="en-US" sz="1350" dirty="0">
                <a:solidFill>
                  <a:srgbClr val="5A6472"/>
                </a:solidFill>
                <a:latin typeface="Amiri" pitchFamily="2" charset="-78"/>
                <a:ea typeface="Amiri" pitchFamily="2" charset="-78"/>
                <a:cs typeface="Amiri" pitchFamily="2" charset="-78"/>
              </a:rPr>
              <a:t>تَفْتَقِرُ إِلَى</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تَفْتَقِرُ إِلَى سِينِمَا.</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مَدِينَتِي مُكْتَظٌّ وَصَاخِبٌ.</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مَدِينَةٌ</a:t>
            </a:r>
            <a:pPr algn="l" indent="0" marL="0">
              <a:buNone/>
            </a:pPr>
            <a:r>
              <a:rPr lang="en-US" sz="1300" i="1" dirty="0">
                <a:solidFill>
                  <a:srgbClr val="5A6472"/>
                </a:solidFill>
                <a:latin typeface="Calibri" pitchFamily="34" charset="0"/>
                <a:cs typeface="Amiri" pitchFamily="2" charset="-78"/>
              </a:rPr>
              <a:t> is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مِنْ مَزَايَاهَا أَنَّ المُوَاصَلَاتُ سَهْلَةٌ.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تَفْتَقِرُ مَسْبَحًا.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This verb needs a small word.</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مَدِينَتِي مُكْتَظٌّ وَصَاخِبٌ.</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مَدِينَتِي مُكْتَظَّةٌ وَصَاخِبَةٌ.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 </a:t>
            </a:r>
            <a:pPr algn="l" indent="0" marL="0">
              <a:buNone/>
            </a:pPr>
            <a:r>
              <a:rPr lang="ar-SA" altLang="en-US" sz="1500" b="1" dirty="0">
                <a:solidFill>
                  <a:srgbClr val="1B3B6F"/>
                </a:solidFill>
                <a:latin typeface="Amiri" pitchFamily="2" charset="-78"/>
                <a:ea typeface="Amiri" pitchFamily="2" charset="-78"/>
                <a:cs typeface="Amiri" pitchFamily="2" charset="-78"/>
              </a:rPr>
              <a:t>ة</a:t>
            </a:r>
            <a:pPr algn="l" indent="0" marL="0">
              <a:buNone/>
            </a:pPr>
            <a:r>
              <a:rPr lang="en-US" sz="1150" b="1" dirty="0">
                <a:solidFill>
                  <a:srgbClr val="1B3B6F"/>
                </a:solidFill>
                <a:latin typeface="Calibri" pitchFamily="34" charset="0"/>
                <a:cs typeface="Amiri" pitchFamily="2" charset="-78"/>
              </a:rPr>
              <a:t> on both adjectives.</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مِنْ مَزَايَاهَا أَنَّ المُوَاصَلَاتُ سَهْلَةٌ.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مِنْ مَزَايَاهَا أَنَّ المُوَاصَلَاتِ سَهْلَةٌ.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 noun in the accusative (-a / -i for plural).</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تَفْتَقِرُ مَسْبَحًا.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تَفْتَقِرُ إِلَى مَسْبَحٍ.</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تَفْتَقِرُ إِلَى</a:t>
            </a:r>
            <a:pPr algn="l" indent="0" marL="0">
              <a:buNone/>
            </a:pPr>
            <a:r>
              <a:rPr lang="en-US" sz="1150" b="1" dirty="0">
                <a:solidFill>
                  <a:srgbClr val="1B3B6F"/>
                </a:solidFill>
                <a:latin typeface="Calibri" pitchFamily="34" charset="0"/>
                <a:cs typeface="Amiri" pitchFamily="2" charset="-78"/>
              </a:rPr>
              <a:t> + genitive.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lnSpc>
                <a:spcPct val="120000"/>
              </a:lnSpc>
              <a:buNone/>
            </a:pPr>
            <a:r>
              <a:rPr lang="ar-SA" altLang="en-US" sz="1150" b="1" dirty="0">
                <a:solidFill>
                  <a:srgbClr val="1B3B6F"/>
                </a:solidFill>
                <a:latin typeface="Amiri" pitchFamily="2" charset="-78"/>
                <a:ea typeface="Amiri" pitchFamily="2" charset="-78"/>
                <a:cs typeface="Amiri" pitchFamily="2" charset="-78"/>
              </a:rPr>
              <a:t>تَتَمَيَّزُ مَدِينَتِي بِحَدَائِقِهَا / بِأَسْوَاقِهَا، لٰكِنَّهَا تَفْتَقِرُ إِلَى ______ .</a:t>
            </a:r>
            <a:endParaRPr lang="ar-SA" sz="11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town is known for its parks / markets, but it lacks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بِصِفَةٍ عَامَّةٍ، ______ لِأَنَّ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Overall, … because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مَدِينَتِي ______ وَ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town is … and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مَزَايَا مَدِينَتِي أَنَّ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One advantage of my town is that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عُيُوبِهَا أَنَّ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One disadvantage is that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بِصِفَةٍ عَامَّةٍ، أُحِبُّ مَدِينَتِي.</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Overall, I love my town.</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مَزَايَا · عُيُوبٌ  ·  هَادِئَةٌ · صَاخِبَةٌ  ·  مُكْتَظَّةٌ · نَظِيفَةٌ  ·  آمِنَةٌ · حَدِيثَةٌ  ·  مِنْ مَزَايَا … أَنَّ  ·  مِنْ عُيُوبِ … أَنَّ  ·  تَفْتَقِرُ إِلَى  ·  بِصِفَةٍ عَامَّةٍ</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town: a balanced view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مَدِينَتِي: رَأْيٌ مُتَوَازِنٌ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balanced paragraph (about 45–65 words) for a town website. Include: • a description of your town (three adjectives) • two advantages • one or two disadvantages • what the town lacks • your overall opinion.</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مَدِينَتِي … وَ… ، لٰكِنَّهَا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town is … and …, but it is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مَزَايَا مَدِينَتِي أَنَّ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one advantage of my town is that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عُيُوبِهَا 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one of its disadvantages is that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بِصِفَةٍ عَامَّةٍ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overall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the town with feminine adjectives?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balance it with </a:t>
            </a:r>
            <a:pPr algn="l" indent="0" marL="0">
              <a:buNone/>
            </a:pPr>
            <a:r>
              <a:rPr lang="ar-SA" altLang="en-US" sz="1450" dirty="0">
                <a:solidFill>
                  <a:srgbClr val="5A6472"/>
                </a:solidFill>
                <a:latin typeface="Amiri" pitchFamily="2" charset="-78"/>
                <a:ea typeface="Amiri" pitchFamily="2" charset="-78"/>
                <a:cs typeface="Amiri" pitchFamily="2" charset="-78"/>
              </a:rPr>
              <a:t>مِنْ مَزَايَا … أَنَّ</a:t>
            </a:r>
            <a:pPr algn="l" indent="0" marL="0">
              <a:buNone/>
            </a:pPr>
            <a:r>
              <a:rPr lang="en-US" sz="1100" dirty="0">
                <a:solidFill>
                  <a:srgbClr val="5A6472"/>
                </a:solidFill>
                <a:latin typeface="Calibri" pitchFamily="34" charset="0"/>
                <a:cs typeface="Amiri" pitchFamily="2" charset="-78"/>
              </a:rPr>
              <a:t> and </a:t>
            </a:r>
            <a:pPr algn="l" indent="0" marL="0">
              <a:buNone/>
            </a:pPr>
            <a:r>
              <a:rPr lang="ar-SA" altLang="en-US" sz="1450" dirty="0">
                <a:solidFill>
                  <a:srgbClr val="5A6472"/>
                </a:solidFill>
                <a:latin typeface="Amiri" pitchFamily="2" charset="-78"/>
                <a:ea typeface="Amiri" pitchFamily="2" charset="-78"/>
                <a:cs typeface="Amiri" pitchFamily="2" charset="-78"/>
              </a:rPr>
              <a:t>مِنْ عُيُوبِ … أَنَّ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مَدِينَتِي قَدِيمَةٌ وَجَمِيلَةٌ.</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town is old and beautiful.</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أَهْلًا! صِفْ لَنَا مَدِينَتَكَ.</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مَزَايَاهَا أَنَّ النَّاسَ لُطَفَاءُ.</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One of its advantages is that people are kind.</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مَزَايَاهَا؟</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عُيُوبِهَا أَنَّ الشَّوَارِعَ مُزْدَحِمَةٌ.</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One of its disadvantages is that the streets are crowded.</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وَعُيُوبُهَا؟</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تَفْتَقِرُ إِلَى مَسْبَحٍ عَامٍّ وَمَكْتَبَةٍ كَبِيرَةٍ.</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lacks a public pool and a big library.</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تَحْتَاجُ مَدِينَتُكَ؟</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مَدِينَتِي لِيسْتَرُ كَبِيرَةٌ وَنَشِيطَةٌ وَمُتَنَوِّعَةٌ. مِنْ مَزَايَا مَدِينَتِي أَنَّ المُوَاصَلَاتِ سَهْلَةٌ، وَأَنَّ فِيهَا مَطَاعِمَ مِنْ كُلِّ البُلْدَانِ. وَتَتَمَيَّزُ أَيْضًا بِحَدِيقَةٍ عَامَّةٍ جَمِيلَةٍ. مِنْ عُيُوبِهَا أَنَّ الوَسَطَ مُكْتَظٌّ وَصَاخِبٌ فِي نِهَايَةِ الأُسْبُوعِ، وَهِيَ تَفْتَقِرُ إِلَى مَسْبَحٍ حَدِيثٍ. بِصِفَةٍ عَامَّةٍ، أُحِبُّ مَدِينَتِي لِأَنَّ النَّاسَ لُطَفَاءُ.</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town, Leicester, is big, lively and diverse. One advantage of my town is that transport is easy, and that it has restaurants from every country. It is also known for a beautiful public park. One disadvantage is that the centre is crowded and noisy at the weekend, and it lacks a modern swimming pool. Overall, I love my town because the people are kind.”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مِنْ مَزَايَا مَدِينَتِي أَنَّ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وَتَتَمَيَّزُ أَيْضًا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مِنْ عُيُوبِهَا أَنَّ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تَفْتَقِرُ إِلَى</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F6-L05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50" b="1" dirty="0">
                <a:solidFill>
                  <a:srgbClr val="FFFFFF"/>
                </a:solidFill>
                <a:latin typeface="Cambria" pitchFamily="34" charset="0"/>
                <a:cs typeface="Amiri" pitchFamily="2" charset="-78"/>
              </a:rPr>
              <a:t>F6-L06 · Shopping in Town: Prices and Comparisons</a:t>
            </a:r>
            <a:endParaRPr lang="en-US" sz="19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التَّسَوُّقُ فِي المَدِينَةِ — الأَسْعَارُ وَالمُقَارَنَةُ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F6-L05 · Practice Room — Describing Your Town: Advantages and Disadvantages</dc:title>
  <dc:subject>PptxGenJS Presentation</dc:subject>
  <dc:creator>Al Madina Online School · Arabic Department</dc:creator>
  <cp:lastModifiedBy>Al Madina Online School · Arabic Department</cp:lastModifiedBy>
  <cp:revision>1</cp:revision>
  <dcterms:created xsi:type="dcterms:W3CDTF">2026-10-25T17:47:26Z</dcterms:created>
  <dcterms:modified xsi:type="dcterms:W3CDTF">2026-10-25T17:47:26Z</dcterms:modified>
</cp:coreProperties>
</file>