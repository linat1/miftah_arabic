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F6-L07 (The Built Environment: Buildings, Materials and Urban Life) — new practice tasks built on the lesson’s own word bank and grammar (mabniyyun / mabniyyatun min + material; adjectives that agree (qadīm · ḥadīth · ʿālin); comparing with baynamā (whereas); old vs new, city vs countryside).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F6-L07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(7 min). SUPPORTED: the plan column models the thinking (first words), not the full answer. Everyone is Speaker once. To a girl the Leader says: a girl guide says the same; to a female tourist nothing changes. Language: mabniyyun (m.) / mabniyyatun (f. and non-human plural) min + genitive · baynamā.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(41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F6-L07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The Built Environment: Buildings, Materials and Urban Life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المَبَانِي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50" dirty="0">
                <a:solidFill>
                  <a:srgbClr val="C6D2E6"/>
                </a:solidFill>
                <a:latin typeface="Calibri" pitchFamily="34" charset="0"/>
                <a:cs typeface="Amiri" pitchFamily="2" charset="-78"/>
              </a:rPr>
              <a:t>Students run their own speaking and writing practice about buildings: say the building and material words, act a short dialogue, answer question cards, do a role-play card as a tour guide, give a 30-second talk, then build, fix and write a comparison of an old and a new building.</a:t>
            </a:r>
            <a:endParaRPr lang="en-US" sz="13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F6-L07 · Foundation F6 · My Town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Materials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مَبْنِيٌّ مِنْ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built of</a:t>
            </a:r>
            <a:endParaRPr lang="en-US" sz="1350" dirty="0"/>
          </a:p>
          <a:p>
            <a:pPr indent="0" marL="0">
              <a:buNone/>
            </a:pPr>
            <a:r>
              <a:rPr lang="en-US" sz="1100" i="1" dirty="0">
                <a:solidFill>
                  <a:srgbClr val="5A6472"/>
                </a:solidFill>
                <a:latin typeface="Calibri" pitchFamily="34" charset="0"/>
                <a:cs typeface="Amiri" pitchFamily="2" charset="-78"/>
              </a:rPr>
              <a:t>mab-niy-yun min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مَبْنِيٌّ</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مَبْنِيَّةٌ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buildings</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مَبَانٍ مَبْنِيَّةٌ</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حَجَرٌ</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stone</a:t>
            </a:r>
            <a:endParaRPr lang="en-US" sz="1350" dirty="0"/>
          </a:p>
          <a:p>
            <a:pPr indent="0" marL="0">
              <a:buNone/>
            </a:pPr>
            <a:r>
              <a:rPr lang="en-US" sz="1100" i="1" dirty="0">
                <a:solidFill>
                  <a:srgbClr val="5A6472"/>
                </a:solidFill>
                <a:latin typeface="Calibri" pitchFamily="34" charset="0"/>
                <a:cs typeface="Amiri" pitchFamily="2" charset="-78"/>
              </a:rPr>
              <a:t>ḥa-ja-run</a:t>
            </a:r>
            <a:endParaRPr lang="en-US"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طُوبٌ</a:t>
            </a:r>
            <a:endParaRPr lang="ar-SA" sz="3000" dirty="0"/>
          </a:p>
        </p:txBody>
      </p:sp>
      <p:sp>
        <p:nvSpPr>
          <p:cNvPr id="46" name="Text 4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brick</a:t>
            </a:r>
            <a:endParaRPr lang="en-US" sz="1350" dirty="0"/>
          </a:p>
          <a:p>
            <a:pPr indent="0" marL="0">
              <a:buNone/>
            </a:pPr>
            <a:r>
              <a:rPr lang="en-US" sz="1100" i="1" dirty="0">
                <a:solidFill>
                  <a:srgbClr val="5A6472"/>
                </a:solidFill>
                <a:latin typeface="Calibri" pitchFamily="34" charset="0"/>
                <a:cs typeface="Amiri" pitchFamily="2" charset="-78"/>
              </a:rPr>
              <a:t>ṭū-bun</a:t>
            </a:r>
            <a:endParaRPr lang="en-US"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خَرَسَانَةٌ</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concrete</a:t>
            </a:r>
            <a:endParaRPr lang="en-US" sz="1350" dirty="0"/>
          </a:p>
          <a:p>
            <a:pPr indent="0" marL="0">
              <a:buNone/>
            </a:pPr>
            <a:r>
              <a:rPr lang="en-US" sz="1100" i="1" dirty="0">
                <a:solidFill>
                  <a:srgbClr val="5A6472"/>
                </a:solidFill>
                <a:latin typeface="Calibri" pitchFamily="34" charset="0"/>
                <a:cs typeface="Amiri" pitchFamily="2" charset="-78"/>
              </a:rPr>
              <a:t>kha-ra-sā-na-tun</a:t>
            </a:r>
            <a:endParaRPr lang="en-US"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7" name="Shape 54"/>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9" name="Text 56"/>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خَشَبٌ</a:t>
            </a:r>
            <a:endParaRPr lang="ar-SA" sz="3000" dirty="0"/>
          </a:p>
        </p:txBody>
      </p:sp>
      <p:sp>
        <p:nvSpPr>
          <p:cNvPr id="60" name="Text 57"/>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wood</a:t>
            </a:r>
            <a:endParaRPr lang="en-US" sz="1350" dirty="0"/>
          </a:p>
          <a:p>
            <a:pPr indent="0" marL="0">
              <a:buNone/>
            </a:pPr>
            <a:r>
              <a:rPr lang="en-US" sz="1100" i="1" dirty="0">
                <a:solidFill>
                  <a:srgbClr val="5A6472"/>
                </a:solidFill>
                <a:latin typeface="Calibri" pitchFamily="34" charset="0"/>
                <a:cs typeface="Amiri" pitchFamily="2" charset="-78"/>
              </a:rPr>
              <a:t>kha-sha-bun</a:t>
            </a:r>
            <a:endParaRPr lang="en-US" sz="1350" dirty="0"/>
          </a:p>
        </p:txBody>
      </p:sp>
      <p:sp>
        <p:nvSpPr>
          <p:cNvPr id="61" name="Shape 5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66928"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4" name="Shape 6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5" name="Text 6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6" name="Text 6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زُجَاجٌ</a:t>
            </a:r>
            <a:endParaRPr lang="ar-SA" sz="3000" dirty="0"/>
          </a:p>
        </p:txBody>
      </p:sp>
      <p:sp>
        <p:nvSpPr>
          <p:cNvPr id="67" name="Text 6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glass</a:t>
            </a:r>
            <a:endParaRPr lang="en-US" sz="1350" dirty="0"/>
          </a:p>
          <a:p>
            <a:pPr indent="0" marL="0">
              <a:buNone/>
            </a:pPr>
            <a:r>
              <a:rPr lang="en-US" sz="1100" i="1" dirty="0">
                <a:solidFill>
                  <a:srgbClr val="5A6472"/>
                </a:solidFill>
                <a:latin typeface="Calibri" pitchFamily="34" charset="0"/>
                <a:cs typeface="Amiri" pitchFamily="2" charset="-78"/>
              </a:rPr>
              <a:t>zu-jā-jun</a:t>
            </a:r>
            <a:endParaRPr lang="en-US" sz="13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Kinds of buildings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مَعْدِنٌ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metal</a:t>
            </a:r>
            <a:endParaRPr lang="en-US" sz="1350" dirty="0"/>
          </a:p>
          <a:p>
            <a:pPr indent="0" marL="0">
              <a:buNone/>
            </a:pPr>
            <a:r>
              <a:rPr lang="en-US" sz="1100" i="1" dirty="0">
                <a:solidFill>
                  <a:srgbClr val="5A6472"/>
                </a:solidFill>
                <a:latin typeface="Calibri" pitchFamily="34" charset="0"/>
                <a:cs typeface="Amiri" pitchFamily="2" charset="-78"/>
              </a:rPr>
              <a:t>maʿ-di-nun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طِينٌ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clay / mud</a:t>
            </a:r>
            <a:endParaRPr lang="en-US" sz="1350" dirty="0"/>
          </a:p>
          <a:p>
            <a:pPr indent="0" marL="0">
              <a:buNone/>
            </a:pPr>
            <a:r>
              <a:rPr lang="en-US" sz="1100" i="1" dirty="0">
                <a:solidFill>
                  <a:srgbClr val="5A6472"/>
                </a:solidFill>
                <a:latin typeface="Calibri" pitchFamily="34" charset="0"/>
                <a:cs typeface="Amiri" pitchFamily="2" charset="-78"/>
              </a:rPr>
              <a:t>ṭī-nun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نَاطِحَةُ سَحَابٍ</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skyscraper</a:t>
            </a:r>
            <a:endParaRPr lang="en-US" sz="1350" dirty="0"/>
          </a:p>
          <a:p>
            <a:pPr indent="0" marL="0">
              <a:buNone/>
            </a:pPr>
            <a:r>
              <a:rPr lang="en-US" sz="1100" i="1" dirty="0">
                <a:solidFill>
                  <a:srgbClr val="5A6472"/>
                </a:solidFill>
                <a:latin typeface="Calibri" pitchFamily="34" charset="0"/>
                <a:cs typeface="Amiri" pitchFamily="2" charset="-78"/>
              </a:rPr>
              <a:t>nā-ṭi-ḥa-tu sa-ḥā-bin</a:t>
            </a:r>
            <a:endParaRPr lang="en-US" sz="1350" dirty="0"/>
          </a:p>
        </p:txBody>
      </p:sp>
      <p:sp>
        <p:nvSpPr>
          <p:cNvPr id="38" name="Shape 35"/>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0" name="Text 37"/>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نَاطِحَةُ سَحَابٍ</a:t>
            </a:r>
            <a:endParaRPr lang="ar-SA" sz="1500" dirty="0"/>
          </a:p>
        </p:txBody>
      </p:sp>
      <p:sp>
        <p:nvSpPr>
          <p:cNvPr id="41" name="Shape 38"/>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3" name="Text 40"/>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نَاطِحَاتُ سَحَابٍ</a:t>
            </a:r>
            <a:endParaRPr lang="ar-SA" sz="150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7" name="Shape 44"/>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عِمَارَةٌ</a:t>
            </a:r>
            <a:endParaRPr lang="ar-SA" sz="3000" dirty="0"/>
          </a:p>
        </p:txBody>
      </p:sp>
      <p:sp>
        <p:nvSpPr>
          <p:cNvPr id="52" name="Text 4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apartment block</a:t>
            </a:r>
            <a:endParaRPr lang="en-US" sz="1350" dirty="0"/>
          </a:p>
          <a:p>
            <a:pPr indent="0" marL="0">
              <a:buNone/>
            </a:pPr>
            <a:r>
              <a:rPr lang="en-US" sz="1100" i="1" dirty="0">
                <a:solidFill>
                  <a:srgbClr val="5A6472"/>
                </a:solidFill>
                <a:latin typeface="Calibri" pitchFamily="34" charset="0"/>
                <a:cs typeface="Amiri" pitchFamily="2" charset="-78"/>
              </a:rPr>
              <a:t>ʿi-mā-ra-tun</a:t>
            </a:r>
            <a:endParaRPr lang="en-US" sz="1350" dirty="0"/>
          </a:p>
        </p:txBody>
      </p:sp>
      <p:sp>
        <p:nvSpPr>
          <p:cNvPr id="53" name="Shape 50"/>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5" name="Text 52"/>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عِمَارَةٌ</a:t>
            </a:r>
            <a:endParaRPr lang="ar-SA" sz="1500" dirty="0"/>
          </a:p>
        </p:txBody>
      </p:sp>
      <p:sp>
        <p:nvSpPr>
          <p:cNvPr id="56" name="Shape 53"/>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عِمَارَاتٌ</a:t>
            </a:r>
            <a:endParaRPr lang="ar-SA" sz="1500" dirty="0"/>
          </a:p>
        </p:txBody>
      </p:sp>
      <p:sp>
        <p:nvSpPr>
          <p:cNvPr id="59" name="Shape 5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4389120"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2" name="Shape 5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3" name="Text 6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4" name="Text 6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بَيْتٌ تَقْلِيدِيٌّ</a:t>
            </a:r>
            <a:endParaRPr lang="ar-SA" sz="3000" dirty="0"/>
          </a:p>
        </p:txBody>
      </p:sp>
      <p:sp>
        <p:nvSpPr>
          <p:cNvPr id="65" name="Text 6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traditional house</a:t>
            </a:r>
            <a:endParaRPr lang="en-US" sz="1350" dirty="0"/>
          </a:p>
          <a:p>
            <a:pPr indent="0" marL="0">
              <a:buNone/>
            </a:pPr>
            <a:r>
              <a:rPr lang="en-US" sz="1100" i="1" dirty="0">
                <a:solidFill>
                  <a:srgbClr val="5A6472"/>
                </a:solidFill>
                <a:latin typeface="Calibri" pitchFamily="34" charset="0"/>
                <a:cs typeface="Amiri" pitchFamily="2" charset="-78"/>
              </a:rPr>
              <a:t>bay-tun taq-lī-diy-yun</a:t>
            </a:r>
            <a:endParaRPr lang="en-US" sz="1350" dirty="0"/>
          </a:p>
        </p:txBody>
      </p:sp>
      <p:sp>
        <p:nvSpPr>
          <p:cNvPr id="66" name="Shape 6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566928"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9" name="Shape 66"/>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70" name="Text 67"/>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71" name="Shape 68"/>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2" name="Text 69"/>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3" name="Text 7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مَبْنًى تَارِيخِيٌّ</a:t>
            </a:r>
            <a:endParaRPr lang="ar-SA" sz="3000" dirty="0"/>
          </a:p>
        </p:txBody>
      </p:sp>
      <p:sp>
        <p:nvSpPr>
          <p:cNvPr id="74" name="Text 7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historic building</a:t>
            </a:r>
            <a:endParaRPr lang="en-US" sz="1350" dirty="0"/>
          </a:p>
          <a:p>
            <a:pPr indent="0" marL="0">
              <a:buNone/>
            </a:pPr>
            <a:r>
              <a:rPr lang="en-US" sz="1100" i="1" dirty="0">
                <a:solidFill>
                  <a:srgbClr val="5A6472"/>
                </a:solidFill>
                <a:latin typeface="Calibri" pitchFamily="34" charset="0"/>
                <a:cs typeface="Amiri" pitchFamily="2" charset="-78"/>
              </a:rPr>
              <a:t>mab-nan tā-rī-khiy-yun</a:t>
            </a:r>
            <a:endParaRPr lang="en-US" sz="1350" dirty="0"/>
          </a:p>
        </p:txBody>
      </p:sp>
      <p:sp>
        <p:nvSpPr>
          <p:cNvPr id="75" name="Shape 72"/>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77" name="Text 74"/>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مَبْنًى تَارِيخِيٌّ</a:t>
            </a:r>
            <a:endParaRPr lang="ar-SA" sz="1500" dirty="0"/>
          </a:p>
        </p:txBody>
      </p:sp>
      <p:sp>
        <p:nvSpPr>
          <p:cNvPr id="78" name="Shape 75"/>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0" name="Text 77"/>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مَبَانٍ تَارِيخِيَّةٌ</a:t>
            </a:r>
            <a:endParaRPr lang="ar-SA" sz="150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is it built of?</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مِمَّ هُوَ مَبْنِيٌّ؟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this building?</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هٰذَا المَبْنَى؟</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a historic building, and it is built of stone.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هٰذَا مَبْنًى تَارِيخِيٌّ، وَهُوَ مَبْنِيٌّ مِنَ الحَجَرِ.</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that apartment block?</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وَتِلْكَ العِمَارَةُ؟</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is built of concrete and glass, and it is modern.</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هِيَ مَبْنِيَّةٌ مِنَ الخَرَسَانَةِ وَالزُّجَاجِ، وَهِيَ حَدِيثَةٌ.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is more beautiful in your opinion?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أَيُّهُمَا أَجْمَلُ فِي رَأْيِكَ؟</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love the old building, whereas my brother loves skyscrapers.</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أُحِبُّ المَبْنَى القَدِيمَ، بَيْنَمَا يُحِبُّ أَخِي نَاطِحَاتِ السَّحَابِ.</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describe two REAL buildings in your town.</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بَيْتِي مَبْنِيٌّ مِنَ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house built of?</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مِمَّ بَيْتُكَ مَبْنِيٌّ؟</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وَهِيَ حَدِيثَةٌ / قَدِيمَةٌ</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مَدْرَسَتِي مَبْنِيَّةٌ مِنَ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school built of?</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مِمَّ مَدْرَسَتُكَ مَبْنِيَّةٌ؟</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تُوجَدُ … / لَا،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Are there skyscrapers in your town?</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تُوجَدُ نَاطِحَاتُ سَحَابٍ فِي مَدِينَتِكَ؟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عُمْرُهُ … سَنَةٍ</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أَعْرِفُ … ، وَهُوَ مَبْنِيٌّ مِنْ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 historic building you know.</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مَبْنًى تَارِيخِيًّا تَعْرِفُهُ.</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بَيْنَمَا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prefer old or modern houses?</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تُفَضِّلُ البُيُوتَ القَدِيمَةَ أَمِ الحَدِيثَةَ؟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 guiding a tour of the old town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جَوْلَةٌ فِي المَدِينَةِ القَدِيمَةِ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هٰذَا … ، اسْمُهُ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the building.</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هٰذَا المَبْنَى الجَمِيلُ؟</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مِمَّ ← هُوَ مَبْنِيٌّ مِنَ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the material.</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مِمَّ هُوَ مَبْنِيٌّ؟</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البُيُوتُ ← هِيَ مَبْنِيَّةٌ مِنْ … ، وَ…</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them (non-human plural).</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وَتِلْكَ البُيُوتُ؟</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الفَرْقُ ← هُنَا … ، بَيْنَمَا الوَسَطُ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with </a:t>
            </a:r>
            <a:pPr algn="l" indent="0" marL="0">
              <a:buNone/>
            </a:pPr>
            <a:r>
              <a:rPr lang="ar-SA" altLang="en-US" sz="1450" dirty="0">
                <a:solidFill>
                  <a:srgbClr val="5A6472"/>
                </a:solidFill>
                <a:latin typeface="Amiri" pitchFamily="2" charset="-78"/>
                <a:ea typeface="Amiri" pitchFamily="2" charset="-78"/>
                <a:cs typeface="Amiri" pitchFamily="2" charset="-78"/>
              </a:rPr>
              <a:t>بَيْنَمَا</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الفَرْقُ بَيْنَ هُنَا وَوَسَطِ المَدِينَةِ؟</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young tour guide · Leader = a tourist.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old and new buildings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مَبَانٍ قَدِيمَةٌ وَحَدِيثَةٌ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 seconds about two buildings in your town (one old, one modern): what they are, what they are built of, and which you prefer.</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buildings + materials.</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adjectives that agree and a preference.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Compare them with </a:t>
            </a:r>
            <a:pPr algn="l" indent="0" marL="0">
              <a:buNone/>
            </a:pPr>
            <a:r>
              <a:rPr lang="ar-SA" altLang="en-US" sz="1500" dirty="0">
                <a:solidFill>
                  <a:srgbClr val="1F2A37"/>
                </a:solidFill>
                <a:latin typeface="Amiri" pitchFamily="2" charset="-78"/>
                <a:ea typeface="Amiri" pitchFamily="2" charset="-78"/>
                <a:cs typeface="Amiri" pitchFamily="2" charset="-78"/>
              </a:rPr>
              <a:t>بَيْنَمَا</a:t>
            </a:r>
            <a:pPr algn="l" indent="0" marL="0">
              <a:buNone/>
            </a:pPr>
            <a:r>
              <a:rPr lang="en-US" sz="1150" dirty="0">
                <a:solidFill>
                  <a:srgbClr val="1F2A37"/>
                </a:solidFill>
                <a:latin typeface="Calibri" pitchFamily="34" charset="0"/>
                <a:cs typeface="Amiri" pitchFamily="2" charset="-78"/>
              </a:rPr>
              <a:t> and give a reason.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library is built of glass.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المَكْتَبَةُ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المَكْتَبَةَ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مَبْنِيَّةٌ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مَبْنِيٌّ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الزُّجَاجِ.</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بِالزُّجَاجِ.</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old houses are built of stone.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البُيُوتُ القَدِيمَةُ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البُيُوتُ القَدِيمُونَ</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مَبْنِيَّةٌ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مَبْنِيُّونَ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الحَجَرِ.</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الحَجَرُ.</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like old buildings, whereas my sister likes modern ones.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المَبَانِيَ القَدِيمَةَ،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المَبَانِي القَدِيمُ،</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بَيْنَمَا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تُحِبُّ أُخْتِي الحَدِيثَةَ.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يُحِبُّ أُخْتِي الحَدِيثَ.</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library is built of glass.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Feminine → </a:t>
            </a:r>
            <a:pPr algn="l" indent="0" marL="0">
              <a:buNone/>
            </a:pPr>
            <a:r>
              <a:rPr lang="ar-SA" altLang="en-US" sz="1350" dirty="0">
                <a:solidFill>
                  <a:srgbClr val="5A6472"/>
                </a:solidFill>
                <a:latin typeface="Amiri" pitchFamily="2" charset="-78"/>
                <a:ea typeface="Amiri" pitchFamily="2" charset="-78"/>
                <a:cs typeface="Amiri" pitchFamily="2" charset="-78"/>
              </a:rPr>
              <a:t>مَبْنِيَّةٌ مِنْ</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المَكْتَبَةُ مَبْنِيَّةٌ مِنَ الزُّجَاجِ.</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old houses are built of stone.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Non-human plural → feminine singular: </a:t>
            </a:r>
            <a:pPr algn="l" indent="0" marL="0">
              <a:buNone/>
            </a:pPr>
            <a:r>
              <a:rPr lang="ar-SA" altLang="en-US" sz="1350" dirty="0">
                <a:solidFill>
                  <a:srgbClr val="5A6472"/>
                </a:solidFill>
                <a:latin typeface="Amiri" pitchFamily="2" charset="-78"/>
                <a:ea typeface="Amiri" pitchFamily="2" charset="-78"/>
                <a:cs typeface="Amiri" pitchFamily="2" charset="-78"/>
              </a:rPr>
              <a:t>القَدِيمَةُ</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مَبْنِيَّةٌ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البُيُوتُ القَدِيمَةُ مَبْنِيَّةٌ مِنَ الحَجَرِ.</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like old buildings, whereas my sister likes modern ones.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Whereas = </a:t>
            </a:r>
            <a:pPr algn="l" indent="0" marL="0">
              <a:buNone/>
            </a:pPr>
            <a:r>
              <a:rPr lang="ar-SA" altLang="en-US" sz="1350" dirty="0">
                <a:solidFill>
                  <a:srgbClr val="5A6472"/>
                </a:solidFill>
                <a:latin typeface="Amiri" pitchFamily="2" charset="-78"/>
                <a:ea typeface="Amiri" pitchFamily="2" charset="-78"/>
                <a:cs typeface="Amiri" pitchFamily="2" charset="-78"/>
              </a:rPr>
              <a:t>بَيْنَمَا</a:t>
            </a:r>
            <a:pPr algn="l" indent="0" marL="0">
              <a:buNone/>
            </a:pPr>
            <a:r>
              <a:rPr lang="en-US" sz="1050" i="1" dirty="0">
                <a:solidFill>
                  <a:srgbClr val="5A6472"/>
                </a:solidFill>
                <a:latin typeface="Calibri" pitchFamily="34" charset="0"/>
                <a:cs typeface="Amiri" pitchFamily="2" charset="-78"/>
              </a:rPr>
              <a:t>; sister → </a:t>
            </a:r>
            <a:pPr algn="l" indent="0" marL="0">
              <a:buNone/>
            </a:pPr>
            <a:r>
              <a:rPr lang="ar-SA" altLang="en-US" sz="1350" dirty="0">
                <a:solidFill>
                  <a:srgbClr val="5A6472"/>
                </a:solidFill>
                <a:latin typeface="Amiri" pitchFamily="2" charset="-78"/>
                <a:ea typeface="Amiri" pitchFamily="2" charset="-78"/>
                <a:cs typeface="Amiri" pitchFamily="2" charset="-78"/>
              </a:rPr>
              <a:t>تُحِبُّ</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أُحِبُّ المَبَانِيَ القَدِيمَةَ، بَيْنَمَا تُحِبُّ أُخْتِي الحَدِيثَةَ.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المَدْرَسَةُ مَبْنِيٌّ مِنَ الطُّوبِ.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مَدْرَسَةٌ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العِمَارَاتُ عَالُونَ.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Blocks are not people.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البَيْتُ مَبْنِيٌّ بِالخَشَبِ.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built OF =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المَدْرَسَةُ مَبْنِيٌّ مِنَ الطُّوبِ.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المَدْرَسَةُ مَبْنِيَّةٌ مِنَ الطُّوبِ.</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مَبْنِيَّةٌ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العِمَارَاتُ عَالُونَ.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العِمَارَاتُ عَالِيَةٌ.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Non-human plural → feminine singular.</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البَيْتُ مَبْنِيٌّ بِالخَشَبِ.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البَيْتُ مَبْنِيٌّ مِنَ الخَشَبِ.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Material: </a:t>
            </a:r>
            <a:pPr algn="l" indent="0" marL="0">
              <a:buNone/>
            </a:pPr>
            <a:r>
              <a:rPr lang="ar-SA" altLang="en-US" sz="1500" b="1" dirty="0">
                <a:solidFill>
                  <a:srgbClr val="1B3B6F"/>
                </a:solidFill>
                <a:latin typeface="Amiri" pitchFamily="2" charset="-78"/>
                <a:ea typeface="Amiri" pitchFamily="2" charset="-78"/>
                <a:cs typeface="Amiri" pitchFamily="2" charset="-78"/>
              </a:rPr>
              <a:t>مَبْنِيٌّ مِنْ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جَمِيلٌ وَتَارِيخِيٌّ، بَيْنَمَا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beautiful and historic, whereas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______ لِأَنَّ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مَدِينَتِي ______ قَدِيمٌ / قَدِيمَةٌ.</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town there is an old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 هِيَ مَبْنِيٌّ / مَبْنِيَّةٌ مِنَ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built of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وَهُنَاكَ ______ حَدِيثٌ / حَدِيثَةٌ مِنَ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there is a modern … of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مَبْنِيٌّ · مَبْنِيَّةٌ مِنْ  ·  حَجَرٌ · طُوبٌ · خَشَبٌ  ·  زُجَاجٌ · خَرَسَانَةٌ · مَعْدِنٌ  ·  قَدِيمٌ · حَدِيثٌ  ·  تَارِيخِيٌّ · تَقْلِيدِيٌّ  ·  نَاطِحَةُ سَحَابٍ · عِمَارَةٌ  ·  بَيْنَمَا  ·  لِأَنَّ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 old building and a new one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مَبْنًى قَدِيمٌ وَمَبْنًى حَدِيثٌ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comparison (about 45–65 words) of an old and a new building in your town or a city you know. Include: • what each building is • what each is built of • two adjectives for each • a comparison with </a:t>
            </a:r>
            <a:pPr algn="l" indent="0" marL="0">
              <a:buNone/>
            </a:pPr>
            <a:r>
              <a:rPr lang="ar-SA" altLang="en-US" sz="1750" b="1" dirty="0">
                <a:solidFill>
                  <a:srgbClr val="1F2A37"/>
                </a:solidFill>
                <a:latin typeface="Amiri" pitchFamily="2" charset="-78"/>
                <a:ea typeface="Amiri" pitchFamily="2" charset="-78"/>
                <a:cs typeface="Amiri" pitchFamily="2" charset="-78"/>
              </a:rPr>
              <a:t>بَيْنَمَا</a:t>
            </a:r>
            <a:pPr algn="l" indent="0" marL="0">
              <a:buNone/>
            </a:pPr>
            <a:r>
              <a:rPr lang="en-US" sz="1350" b="1" dirty="0">
                <a:solidFill>
                  <a:srgbClr val="1F2A37"/>
                </a:solidFill>
                <a:latin typeface="Calibri" pitchFamily="34" charset="0"/>
                <a:cs typeface="Amiri" pitchFamily="2" charset="-78"/>
              </a:rPr>
              <a:t> • which you prefer and why.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مَبْنِيٌّ / مَبْنِيَّةٌ مِنَ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built of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قَدِيمٌ وَ… · هِيَ حَدِيثَةٌ وَ…</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old and … · it is modern and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بَيْنَمَا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whereas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prefer …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مَبْنِيٌّ / مَبْنِيَّةٌ مِنْ</a:t>
            </a:r>
            <a:pPr algn="l" indent="0" marL="0">
              <a:buNone/>
            </a:pPr>
            <a:r>
              <a:rPr lang="en-US" sz="1100" dirty="0">
                <a:solidFill>
                  <a:srgbClr val="5A6472"/>
                </a:solidFill>
                <a:latin typeface="Calibri" pitchFamily="34" charset="0"/>
                <a:cs typeface="Amiri" pitchFamily="2" charset="-78"/>
              </a:rPr>
              <a:t> correctly?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with </a:t>
            </a:r>
            <a:pPr algn="l" indent="0" marL="0">
              <a:buNone/>
            </a:pPr>
            <a:r>
              <a:rPr lang="ar-SA" altLang="en-US" sz="1450" dirty="0">
                <a:solidFill>
                  <a:srgbClr val="5A6472"/>
                </a:solidFill>
                <a:latin typeface="Amiri" pitchFamily="2" charset="-78"/>
                <a:ea typeface="Amiri" pitchFamily="2" charset="-78"/>
                <a:cs typeface="Amiri" pitchFamily="2" charset="-78"/>
              </a:rPr>
              <a:t>بَيْنَمَا</a:t>
            </a:r>
            <a:pPr algn="l" indent="0" marL="0">
              <a:buNone/>
            </a:pPr>
            <a:r>
              <a:rPr lang="en-US" sz="1100" dirty="0">
                <a:solidFill>
                  <a:srgbClr val="5A6472"/>
                </a:solidFill>
                <a:latin typeface="Calibri" pitchFamily="34" charset="0"/>
                <a:cs typeface="Amiri" pitchFamily="2" charset="-78"/>
              </a:rPr>
              <a:t> and make plurals agree (feminine singular)?</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مَسْجِدٌ تَارِيخِيٌّ، اسْمُهُ المَسْجِدُ الكَبِيرُ.</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a historic mosque, called the Great Mosque.</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هٰذَا المَبْنَى الجَمِيلُ؟</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مَبْنِيٌّ مِنَ الحَجَرِ وَالطِّينِ.</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is built of stone and clay.</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مِمَّ هُوَ مَبْنِيٌّ؟</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بُيُوتٌ تَقْلِيدِيَّةٌ، مَبْنِيَّةٌ مِنَ الطُّوبِ.</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They are traditional houses, built of brick.</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وَتِلْكَ البُيُوتُ؟</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هُنَا المَبَانِي قَدِيمَةٌ، بَيْنَمَا فِي الوَسَطِ عِمَارَاتٌ حَدِيثَةٌ مِنَ الزُّجَاجِ.</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Here the buildings are old, whereas in the centre there are modern glass blocks.</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الفَرْقُ بَيْنَ هُنَا وَوَسَطِ المَدِينَةِ؟</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وَسَطِ مَدِينَتِي يُوجَدُ مَسْجِدٌ قَدِيمٌ، عُمْرُهُ مِئَةُ سَنَةٍ، وَهُوَ مَبْنِيٌّ مِنَ الطُّوبِ الأَحْمَرِ. وَبِجَانِبِهِ مَكْتَبَةٌ حَدِيثَةٌ، مَبْنِيَّةٌ مِنَ الزُّجَاجِ وَالمَعْدِنِ. المَسْجِدُ هَادِئٌ وَتَارِيخِيٌّ، بَيْنَمَا المَكْتَبَةُ مُضِيئَةٌ وَوَاسِعَةٌ. أُفَضِّلُ المَسْجِدَ القَدِيمَ، لِأَنَّ جَدِّي كَانَ يُصَلِّي فِيهِ، وَلِأَنَّهُ جُزْءٌ مِنْ تَارِيخِ مَدِينَتِي.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the middle of my town there is an old mosque, a hundred years old, built of red brick. Next to it is a modern library, built of glass and metal. The mosque is calm and historic, whereas the library is bright and spacious. I prefer the old mosque, because my grandfather used to pray there, and because it is part of my town’s history.”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مَبْنِيٌّ مِنَ الطُّوبِ</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مَبْنِيَّةٌ مِنَ الزُّجَاجِ</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بَيْنَمَا المَكْتَبَةُ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أُفَضِّلُ المَسْجِدَ القَدِيمَ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cs typeface="Amiri" pitchFamily="2" charset="-78"/>
              </a:rPr>
              <a:t>F6-L08 · Giving Directions: Signs, Streets and Maps</a:t>
            </a:r>
            <a:endParaRPr lang="en-US" sz="19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إِعْطَاءُ الاِتِّجَاهَاتِ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F6-L07 · Practice Room — The Built Environment: Buildings, Materials and Urban Life</dc:title>
  <dc:subject>PptxGenJS Presentation</dc:subject>
  <dc:creator>Al Madina Online School · Arabic Department</dc:creator>
  <cp:lastModifiedBy>Al Madina Online School · Arabic Department</cp:lastModifiedBy>
  <cp:revision>1</cp:revision>
  <dcterms:created xsi:type="dcterms:W3CDTF">2026-10-25T17:47:16Z</dcterms:created>
  <dcterms:modified xsi:type="dcterms:W3CDTF">2026-10-25T17:47:16Z</dcterms:modified>
</cp:coreProperties>
</file>