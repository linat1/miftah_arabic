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F6-L08 (Giving Directions: Signs, Streets and Maps) — new practice tasks built on the lesson’s own word bank and grammar (kayfa adhhabu ilā …?; commands to a boy / girl / group (idhhab · idhhabī · idhhabū; inʿaṭif · inʿaṭifī · inʿaṭifū; uʿbur · uʿburī · uʿburū); mustaqīman · yamīnan · yasāran · ḥattā; signs (mamnūʿ al-dukhūl · madkhal · makhraj)).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F6-L08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commands to one girl: اذْهَبِي · انْعَطِفِي · اعْبُرِي. Language: the three command endings — m. (sukūn), f. (-ī), group (-ū).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F6-L08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Giving Directions: Signs, Streets and Maps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الاتِّجَاهَاتُ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speaking and writing practice giving directions: say the direction words, act a short dialogue, answer route cards, do a role-play card guiding a group of visitors, give a 30-second route, then build, fix and write directions from school to a place in town.</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F6-L08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Direction commands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اِذْهَبْ / اِذْهَبِي / اِذْهَبُوا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 m/f/pl</a:t>
            </a:r>
            <a:endParaRPr lang="en-US" sz="1350" dirty="0"/>
          </a:p>
          <a:p>
            <a:pPr indent="0" marL="0">
              <a:buNone/>
            </a:pPr>
            <a:r>
              <a:rPr lang="en-US" sz="1100" i="1" dirty="0">
                <a:solidFill>
                  <a:srgbClr val="5A6472"/>
                </a:solidFill>
                <a:latin typeface="Calibri" pitchFamily="34" charset="0"/>
                <a:cs typeface="Amiri" pitchFamily="2" charset="-78"/>
              </a:rPr>
              <a:t>idh-hab / idh-ha-bī / idh-ha-bū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اِنْعَطِفْ / اِنْعَطِفِي / اِنْعَطِفُوا</a:t>
            </a:r>
            <a:endParaRPr lang="ar-SA" sz="28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turn m/f/pl</a:t>
            </a:r>
            <a:endParaRPr lang="en-US" sz="1350" dirty="0"/>
          </a:p>
          <a:p>
            <a:pPr indent="0" marL="0">
              <a:buNone/>
            </a:pPr>
            <a:r>
              <a:rPr lang="en-US" sz="1100" i="1" dirty="0">
                <a:solidFill>
                  <a:srgbClr val="5A6472"/>
                </a:solidFill>
                <a:latin typeface="Calibri" pitchFamily="34" charset="0"/>
                <a:cs typeface="Amiri" pitchFamily="2" charset="-78"/>
              </a:rPr>
              <a:t>in-ʿa-ṭif / in-ʿa-ṭi-fī / in-ʿa-ṭi-fū</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اِعْبُرْ / اِعْبُرِي / اِعْبُرُوا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cross m/f/pl</a:t>
            </a:r>
            <a:endParaRPr lang="en-US" sz="1350" dirty="0"/>
          </a:p>
          <a:p>
            <a:pPr indent="0" marL="0">
              <a:buNone/>
            </a:pPr>
            <a:r>
              <a:rPr lang="en-US" sz="1100" i="1" dirty="0">
                <a:solidFill>
                  <a:srgbClr val="5A6472"/>
                </a:solidFill>
                <a:latin typeface="Calibri" pitchFamily="34" charset="0"/>
                <a:cs typeface="Amiri" pitchFamily="2" charset="-78"/>
              </a:rPr>
              <a:t>iʿ-bur / iʿ-bu-rī / iʿ-bu-rū</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مُسْتَقِيمًا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straight ahead</a:t>
            </a:r>
            <a:endParaRPr lang="en-US" sz="1350" dirty="0"/>
          </a:p>
          <a:p>
            <a:pPr indent="0" marL="0">
              <a:buNone/>
            </a:pPr>
            <a:r>
              <a:rPr lang="en-US" sz="1100" i="1" dirty="0">
                <a:solidFill>
                  <a:srgbClr val="5A6472"/>
                </a:solidFill>
                <a:latin typeface="Calibri" pitchFamily="34" charset="0"/>
                <a:cs typeface="Amiri" pitchFamily="2" charset="-78"/>
              </a:rPr>
              <a:t>mus-ta-qī-man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يَمِينًا</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right</a:t>
            </a:r>
            <a:endParaRPr lang="en-US" sz="1350" dirty="0"/>
          </a:p>
          <a:p>
            <a:pPr indent="0" marL="0">
              <a:buNone/>
            </a:pPr>
            <a:r>
              <a:rPr lang="en-US" sz="1100" i="1" dirty="0">
                <a:solidFill>
                  <a:srgbClr val="5A6472"/>
                </a:solidFill>
                <a:latin typeface="Calibri" pitchFamily="34" charset="0"/>
                <a:cs typeface="Amiri" pitchFamily="2" charset="-78"/>
              </a:rPr>
              <a:t>ya-mī-nan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يَسَارًا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left</a:t>
            </a:r>
            <a:endParaRPr lang="en-US" sz="1350" dirty="0"/>
          </a:p>
          <a:p>
            <a:pPr indent="0" marL="0">
              <a:buNone/>
            </a:pPr>
            <a:r>
              <a:rPr lang="en-US" sz="1100" i="1" dirty="0">
                <a:solidFill>
                  <a:srgbClr val="5A6472"/>
                </a:solidFill>
                <a:latin typeface="Calibri" pitchFamily="34" charset="0"/>
                <a:cs typeface="Amiri" pitchFamily="2" charset="-78"/>
              </a:rPr>
              <a:t>ya-sā-ran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Route words and signs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حَتَّى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until</a:t>
            </a:r>
            <a:endParaRPr lang="en-US" sz="1350" dirty="0"/>
          </a:p>
          <a:p>
            <a:pPr indent="0" marL="0">
              <a:buNone/>
            </a:pPr>
            <a:r>
              <a:rPr lang="en-US" sz="1100" i="1" dirty="0">
                <a:solidFill>
                  <a:srgbClr val="5A6472"/>
                </a:solidFill>
                <a:latin typeface="Calibri" pitchFamily="34" charset="0"/>
                <a:cs typeface="Amiri" pitchFamily="2" charset="-78"/>
              </a:rPr>
              <a:t>ḥat-tā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مَدْخَلٌ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entrance</a:t>
            </a:r>
            <a:endParaRPr lang="en-US" sz="1350" dirty="0"/>
          </a:p>
          <a:p>
            <a:pPr indent="0" marL="0">
              <a:buNone/>
            </a:pPr>
            <a:r>
              <a:rPr lang="en-US" sz="1100" i="1" dirty="0">
                <a:solidFill>
                  <a:srgbClr val="5A6472"/>
                </a:solidFill>
                <a:latin typeface="Calibri" pitchFamily="34" charset="0"/>
                <a:cs typeface="Amiri" pitchFamily="2" charset="-78"/>
              </a:rPr>
              <a:t>mad-kha-lun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مَخْرَجٌ</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exit</a:t>
            </a:r>
            <a:endParaRPr lang="en-US" sz="1350" dirty="0"/>
          </a:p>
          <a:p>
            <a:pPr indent="0" marL="0">
              <a:buNone/>
            </a:pPr>
            <a:r>
              <a:rPr lang="en-US" sz="1100" i="1" dirty="0">
                <a:solidFill>
                  <a:srgbClr val="5A6472"/>
                </a:solidFill>
                <a:latin typeface="Calibri" pitchFamily="34" charset="0"/>
                <a:cs typeface="Amiri" pitchFamily="2" charset="-78"/>
              </a:rPr>
              <a:t>makh-ra-jun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مَمْنُوعُ الدُّخُولِ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 entry</a:t>
            </a:r>
            <a:endParaRPr lang="en-US" sz="1350" dirty="0"/>
          </a:p>
          <a:p>
            <a:pPr indent="0" marL="0">
              <a:buNone/>
            </a:pPr>
            <a:r>
              <a:rPr lang="en-US" sz="1100" i="1" dirty="0">
                <a:solidFill>
                  <a:srgbClr val="5A6472"/>
                </a:solidFill>
                <a:latin typeface="Calibri" pitchFamily="34" charset="0"/>
                <a:cs typeface="Amiri" pitchFamily="2" charset="-78"/>
              </a:rPr>
              <a:t>mam-nū-ʿu ad-du-khū-li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دَوَّارٌ</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roundabout</a:t>
            </a:r>
            <a:endParaRPr lang="en-US" sz="1350" dirty="0"/>
          </a:p>
          <a:p>
            <a:pPr indent="0" marL="0">
              <a:buNone/>
            </a:pPr>
            <a:r>
              <a:rPr lang="en-US" sz="1100" i="1" dirty="0">
                <a:solidFill>
                  <a:srgbClr val="5A6472"/>
                </a:solidFill>
                <a:latin typeface="Calibri" pitchFamily="34" charset="0"/>
                <a:cs typeface="Amiri" pitchFamily="2" charset="-78"/>
              </a:rPr>
              <a:t>daw-wā-run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كَيْفَ أَذْهَبُ إِلَى...؟</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do I get to...?</a:t>
            </a:r>
            <a:endParaRPr lang="en-US" sz="1350" dirty="0"/>
          </a:p>
          <a:p>
            <a:pPr indent="0" marL="0">
              <a:buNone/>
            </a:pPr>
            <a:r>
              <a:rPr lang="en-US" sz="1100" i="1" dirty="0">
                <a:solidFill>
                  <a:srgbClr val="5A6472"/>
                </a:solidFill>
                <a:latin typeface="Calibri" pitchFamily="34" charset="0"/>
                <a:cs typeface="Amiri" pitchFamily="2" charset="-78"/>
              </a:rPr>
              <a:t>kay-fa adh-ha-bu i-lā...?</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do I get to the museum?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أَذْهَبُ إِلَى المَتْحَفِ؟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Excuse me, how do I get to the museum?</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عَفْوًا، كَيْفَ أَذْهَبُ إِلَى المَتْحَفِ؟</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 straight on until the roundabout.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اذْهَبْ مُسْتَقِيمًا حَتَّى الدَّوَّارِ.</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after the roundabout?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وَبَعْدَ الدَّوَّارِ؟</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Turn right, then cross the street.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انْعَطِفْ يَمِينًا، ثُمَّ اعْبُرِ الشَّارِعَ.</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it far?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هُوَ بَعِيدٌ؟</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the museum is on the left, opposite the bank. The entrance is in front of you.</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المَتْحَفُ عَلَى اليَسَارِ، مُقَابِلَ البَنْكِ. المَدْخَلُ أَمَامَكَ.</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the same directions to a GIRL (</a:t>
            </a:r>
            <a:pPr algn="l" indent="0" marL="0">
              <a:buNone/>
            </a:pPr>
            <a:r>
              <a:rPr lang="ar-SA" altLang="en-US" sz="1500" b="1" dirty="0">
                <a:solidFill>
                  <a:srgbClr val="1B3B6F"/>
                </a:solidFill>
                <a:latin typeface="Amiri" pitchFamily="2" charset="-78"/>
                <a:ea typeface="Amiri" pitchFamily="2" charset="-78"/>
                <a:cs typeface="Amiri" pitchFamily="2" charset="-78"/>
              </a:rPr>
              <a:t>اذْهَبِي</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انْعَطِفِي</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اعْبُرِي</a:t>
            </a:r>
            <a:pPr algn="l" indent="0" marL="0">
              <a:buNone/>
            </a:pPr>
            <a:r>
              <a:rPr lang="en-US" sz="1150" b="1" dirty="0">
                <a:solidFill>
                  <a:srgbClr val="1B3B6F"/>
                </a:solidFill>
                <a:latin typeface="Calibri" pitchFamily="34" charset="0"/>
                <a:cs typeface="Amiri" pitchFamily="2" charset="-78"/>
              </a:rPr>
              <a:t>) and then to a GROUP (</a:t>
            </a:r>
            <a:pPr algn="l" indent="0" marL="0">
              <a:buNone/>
            </a:pPr>
            <a:r>
              <a:rPr lang="ar-SA" altLang="en-US" sz="1500" b="1" dirty="0">
                <a:solidFill>
                  <a:srgbClr val="1B3B6F"/>
                </a:solidFill>
                <a:latin typeface="Amiri" pitchFamily="2" charset="-78"/>
                <a:ea typeface="Amiri" pitchFamily="2" charset="-78"/>
                <a:cs typeface="Amiri" pitchFamily="2" charset="-78"/>
              </a:rPr>
              <a:t>اذْهَبُوا</a:t>
            </a:r>
            <a:pPr algn="l" indent="0" marL="0">
              <a:buNone/>
            </a:pPr>
            <a:r>
              <a:rPr lang="en-US" sz="1150" b="1" dirty="0">
                <a:solidFill>
                  <a:srgbClr val="1B3B6F"/>
                </a:solidFill>
                <a:latin typeface="Calibri" pitchFamily="34" charset="0"/>
                <a:cs typeface="Amiri" pitchFamily="2" charset="-78"/>
              </a:rPr>
              <a: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انْعَطِفْ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اذْهَبْ مُسْتَقِيمًا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I get to the station? (boy)</a:t>
            </a:r>
            <a:endParaRPr lang="en-US" sz="1100" dirty="0"/>
          </a:p>
        </p:txBody>
      </p:sp>
      <p:sp>
        <p:nvSpPr>
          <p:cNvPr id="25" name="Text 22"/>
          <p:cNvSpPr txBox="1"/>
          <p:nvPr/>
        </p:nvSpPr>
        <p:spPr>
          <a:xfrm>
            <a:off x="1069848" y="2267712"/>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أَذْهَبُ إِلَى المَحَطَّةِ؟</a:t>
            </a:r>
            <a:pPr algn="l" indent="0" marL="0">
              <a:buNone/>
            </a:pPr>
            <a:r>
              <a:rPr lang="en-US" sz="1100" dirty="0">
                <a:solidFill>
                  <a:srgbClr val="5A6472"/>
                </a:solidFill>
                <a:latin typeface="Calibri" pitchFamily="34" charset="0"/>
                <a:cs typeface="Amiri" pitchFamily="2" charset="-78"/>
              </a:rPr>
              <a:t> (to a boy)</a:t>
            </a:r>
            <a:endParaRPr lang="en-US" sz="11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اعْبُرِي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اذْهَبِي … ، ثُمَّ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I get to the pharmacy? (girl)</a:t>
            </a:r>
            <a:endParaRPr lang="en-US" sz="1100" dirty="0"/>
          </a:p>
        </p:txBody>
      </p:sp>
      <p:sp>
        <p:nvSpPr>
          <p:cNvPr id="33" name="Text 30"/>
          <p:cNvSpPr txBox="1"/>
          <p:nvPr/>
        </p:nvSpPr>
        <p:spPr>
          <a:xfrm>
            <a:off x="1069848" y="3004718"/>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أَذْهَبُ إِلَى الصَّيْدَلِيَّةِ؟</a:t>
            </a:r>
            <a:pPr algn="l" indent="0" marL="0">
              <a:buNone/>
            </a:pPr>
            <a:r>
              <a:rPr lang="en-US" sz="1100" dirty="0">
                <a:solidFill>
                  <a:srgbClr val="5A6472"/>
                </a:solidFill>
                <a:latin typeface="Calibri" pitchFamily="34" charset="0"/>
                <a:cs typeface="Amiri" pitchFamily="2" charset="-78"/>
              </a:rPr>
              <a:t> (to a girl)</a:t>
            </a:r>
            <a:endParaRPr lang="en-US" sz="11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انْعَطِفُوا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اذْهَبُوا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we get to the park? (group)</a:t>
            </a:r>
            <a:endParaRPr lang="en-US" sz="1100" dirty="0"/>
          </a:p>
        </p:txBody>
      </p:sp>
      <p:sp>
        <p:nvSpPr>
          <p:cNvPr id="41" name="Text 38"/>
          <p:cNvSpPr txBox="1"/>
          <p:nvPr/>
        </p:nvSpPr>
        <p:spPr>
          <a:xfrm>
            <a:off x="1069848" y="3741725"/>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نَذْهَبُ إِلَى الحَدِيقَةِ؟</a:t>
            </a:r>
            <a:pPr algn="l" indent="0" marL="0">
              <a:buNone/>
            </a:pPr>
            <a:r>
              <a:rPr lang="en-US" sz="1100" dirty="0">
                <a:solidFill>
                  <a:srgbClr val="5A6472"/>
                </a:solidFill>
                <a:latin typeface="Calibri" pitchFamily="34" charset="0"/>
                <a:cs typeface="Amiri" pitchFamily="2" charset="-78"/>
              </a:rPr>
              <a:t> (to a group)</a:t>
            </a:r>
            <a:endParaRPr lang="en-US" sz="11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تَعْنِي: لَا يَجُوزُ أَنْ تَدْخُلَ</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a:t>
            </a:r>
            <a:pPr algn="l" indent="0" marL="0">
              <a:buNone/>
            </a:pPr>
            <a:r>
              <a:rPr lang="ar-SA" altLang="en-US" sz="1450" dirty="0">
                <a:solidFill>
                  <a:srgbClr val="5A6472"/>
                </a:solidFill>
                <a:latin typeface="Amiri" pitchFamily="2" charset="-78"/>
                <a:ea typeface="Amiri" pitchFamily="2" charset="-78"/>
                <a:cs typeface="Amiri" pitchFamily="2" charset="-78"/>
              </a:rPr>
              <a:t>مَمْنُوعُ الدُّخُولِ</a:t>
            </a:r>
            <a:pPr algn="l" indent="0" marL="0">
              <a:buNone/>
            </a:pPr>
            <a:r>
              <a:rPr lang="en-US" sz="1100" dirty="0">
                <a:solidFill>
                  <a:srgbClr val="5A6472"/>
                </a:solidFill>
                <a:latin typeface="Calibri" pitchFamily="34" charset="0"/>
                <a:cs typeface="Amiri" pitchFamily="2" charset="-78"/>
              </a:rPr>
              <a:t> mean?</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تَعْنِي «مَمْنُوعُ الدُّخُولِ»؟</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56648" y="521573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المَخْرَجُ عَلَى … / بِجَانِبِ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exit?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المَخْرَجُ؟</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Role-play card — guiding a group of visitors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أُرْشِدُ مَجْمُوعَةً مِنَ الزُّوَّارِ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اذْهَبُوا مُسْتَقِيمًا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direction (group).</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نُرِيدُ أَنْ نَذْهَبَ إِلَى المَسْجِدِ. كَيْفَ نَذْهَبُ؟</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 ← انْعَطِفُوا يَمِينًا / يَسَارًا</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Turn (group).</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ثُمَّ؟</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اعْبُرُوا … ، وَ…</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Cross + a landmark.</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نَعْبُرُ الشَّارِعَ؟</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المَسْجِدُ عَلَى … ، مُقَابِلَ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Exact location.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وَأَيْنَ المَسْجِدُ بِالضَّبْطِ؟</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student volunteer · Leader = the group leader. Read the plan, hide it and speak. Round 2: the Leader asks for ONE person — change every command to </a:t>
            </a:r>
            <a:pPr algn="l" indent="0" marL="0">
              <a:buNone/>
            </a:pPr>
            <a:r>
              <a:rPr lang="ar-SA" altLang="en-US" sz="1450" b="1" dirty="0">
                <a:solidFill>
                  <a:srgbClr val="1B3B6F"/>
                </a:solidFill>
                <a:latin typeface="Amiri" pitchFamily="2" charset="-78"/>
                <a:ea typeface="Amiri" pitchFamily="2" charset="-78"/>
                <a:cs typeface="Amiri" pitchFamily="2" charset="-78"/>
              </a:rPr>
              <a:t>اذْهَبْ / اذْهَبِي</a:t>
            </a:r>
            <a:pPr algn="l" indent="0" marL="0">
              <a:buNone/>
            </a:pPr>
            <a:r>
              <a:rPr lang="en-US" sz="1100" b="1" dirty="0">
                <a:solidFill>
                  <a:srgbClr val="1B3B6F"/>
                </a:solidFill>
                <a:latin typeface="Calibri" pitchFamily="34" charset="0"/>
                <a:cs typeface="Amiri" pitchFamily="2" charset="-78"/>
              </a:rPr>
              <a:t>.</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from school to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المَدْرَسَةِ إِلَى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the route in 30 seconds from your school (or home) to a place in town — at least four steps, with landmarks.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commands: </a:t>
            </a:r>
            <a:pPr algn="l" indent="0" marL="0">
              <a:buNone/>
            </a:pPr>
            <a:r>
              <a:rPr lang="ar-SA" altLang="en-US" sz="1500" dirty="0">
                <a:solidFill>
                  <a:srgbClr val="1F2A37"/>
                </a:solidFill>
                <a:latin typeface="Amiri" pitchFamily="2" charset="-78"/>
                <a:ea typeface="Amiri" pitchFamily="2" charset="-78"/>
                <a:cs typeface="Amiri" pitchFamily="2" charset="-78"/>
              </a:rPr>
              <a:t>اذْهَبْ</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انْعَطِفْ</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اعْبُرْ</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مُسْتَقِيمًا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حَتَّى</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ثُمَّ</a:t>
            </a:r>
            <a:pPr algn="l" indent="0" marL="0">
              <a:buNone/>
            </a:pPr>
            <a:r>
              <a:rPr lang="en-US" sz="1150" dirty="0">
                <a:solidFill>
                  <a:srgbClr val="1F2A37"/>
                </a:solidFill>
                <a:latin typeface="Calibri" pitchFamily="34" charset="0"/>
                <a:cs typeface="Amiri" pitchFamily="2" charset="-78"/>
              </a:rPr>
              <a:t> and two landmarks.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it again to a group (-ū) and end with the exact location.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Go straight on until the station. (to a girl)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اذْهَبِي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اذْهَبْ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مُسْتَقِيمًا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مُسْتَقِيمٌ</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حَتَّى المَحَطَّةِ.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حَتَّى المَحَطَّةُ.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Turn left, then cross the street. (to a group)</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انْعَطِفُوا يَسَارًا،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انْعَطِفْ يَسَارًا،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اعْبُرُوا الشَّارِعَ.</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اعْبُرْ الشَّارِعَ.</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entrance is on the right.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المَدْخَلُ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المَخْرَجُ</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اليَمِينِ.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يَمِينًا.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Go straight on until the station. (to a girl)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 </a:t>
            </a:r>
            <a:pPr algn="l" indent="0" marL="0">
              <a:buNone/>
            </a:pPr>
            <a:r>
              <a:rPr lang="ar-SA" altLang="en-US" sz="1350" dirty="0">
                <a:solidFill>
                  <a:srgbClr val="5A6472"/>
                </a:solidFill>
                <a:latin typeface="Amiri" pitchFamily="2" charset="-78"/>
                <a:ea typeface="Amiri" pitchFamily="2" charset="-78"/>
                <a:cs typeface="Amiri" pitchFamily="2" charset="-78"/>
              </a:rPr>
              <a:t>اذْهَبِي</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حَتَّى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اذْهَبِي مُسْتَقِيمًا حَتَّى المَحَطَّةِ.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Turn left, then cross the street. (to a group)</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group → -ū on every command.</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انْعَطِفُوا يَسَارًا، ثُمَّ اعْبُرُوا الشَّارِعَ.</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entrance is on the right.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Entrance = </a:t>
            </a:r>
            <a:pPr algn="l" indent="0" marL="0">
              <a:buNone/>
            </a:pPr>
            <a:r>
              <a:rPr lang="ar-SA" altLang="en-US" sz="1350" dirty="0">
                <a:solidFill>
                  <a:srgbClr val="5A6472"/>
                </a:solidFill>
                <a:latin typeface="Amiri" pitchFamily="2" charset="-78"/>
                <a:ea typeface="Amiri" pitchFamily="2" charset="-78"/>
                <a:cs typeface="Amiri" pitchFamily="2" charset="-78"/>
              </a:rPr>
              <a:t>المَدْخَلُ</a:t>
            </a:r>
            <a:pPr algn="l" indent="0" marL="0">
              <a:buNone/>
            </a:pPr>
            <a:r>
              <a:rPr lang="en-US" sz="1050" i="1" dirty="0">
                <a:solidFill>
                  <a:srgbClr val="5A6472"/>
                </a:solidFill>
                <a:latin typeface="Calibri" pitchFamily="34" charset="0"/>
                <a:cs typeface="Amiri" pitchFamily="2" charset="-78"/>
              </a:rPr>
              <a:t>; on the right = </a:t>
            </a:r>
            <a:pPr algn="l" indent="0" marL="0">
              <a:buNone/>
            </a:pPr>
            <a:r>
              <a:rPr lang="ar-SA" altLang="en-US" sz="1350" dirty="0">
                <a:solidFill>
                  <a:srgbClr val="5A6472"/>
                </a:solidFill>
                <a:latin typeface="Amiri" pitchFamily="2" charset="-78"/>
                <a:ea typeface="Amiri" pitchFamily="2" charset="-78"/>
                <a:cs typeface="Amiri" pitchFamily="2" charset="-78"/>
              </a:rPr>
              <a:t>عَلَى اليَمِينِ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المَدْخَلُ عَلَى اليَمِينِ.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انْعَطِفْ يَمِينًا يَا مَرْيَمُ.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Maryam is a girl.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اذْهَبُوا مُسْتَقِيمًا يَا عَلِيُّ.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One boy, not a group.</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اذْهَبْ حَتَّى الدَّوَّارُ.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حَتَّى</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انْعَطِفْ يَمِينًا يَا مَرْيَمُ.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انْعَطِفِي يَمِينًا يَا مَرْيَمُ.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 -ī.</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اذْهَبُوا مُسْتَقِيمًا يَا عَلِيُّ.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اذْهَبْ مُسْتَقِيمًا يَا عَلِيُّ.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one boy → </a:t>
            </a:r>
            <a:pPr algn="l" indent="0" marL="0">
              <a:buNone/>
            </a:pPr>
            <a:r>
              <a:rPr lang="ar-SA" altLang="en-US" sz="1500" b="1" dirty="0">
                <a:solidFill>
                  <a:srgbClr val="1B3B6F"/>
                </a:solidFill>
                <a:latin typeface="Amiri" pitchFamily="2" charset="-78"/>
                <a:ea typeface="Amiri" pitchFamily="2" charset="-78"/>
                <a:cs typeface="Amiri" pitchFamily="2" charset="-78"/>
              </a:rPr>
              <a:t>اذْهَبْ</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اذْهَبْ حَتَّى الدَّوَّارُ.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اذْهَبْ حَتَّى الدَّوَّارِ.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حَتَّى</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سَتَرَيْنَ لَافِتَةً: «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will see a sign: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الطَّرِيقُ يَسْتَغْرِقُ ______ دَقَائِقَ مَشْيًا.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route takes … minutes on foot.</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المَدْرَسَةِ اذْهَبِي ______ حَتَّى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school go … until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انْعَطِفِي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turn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اعْبُرِي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Cross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عَلَى ______ ، مُقَابِلَ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on the …, opposite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اذْهَبِي · اذْهَبْ · اذْهَبُوا  ·  انْعَطِفِي · انْعَطِفْ  ·  اعْبُرِي · اعْبُرْ  ·  مُسْتَقِيمًا · يَمِينًا · يَسَارًا  ·  حَتَّى · ثُمَّ  ·  دَوَّارٌ · إِشَارَةُ المُرُورِ  ·  مَدْخَلٌ · مَخْرَجٌ  ·  مَمْنُوعُ الدُّخُولِ</a:t>
            </a:r>
            <a:endParaRPr lang="ar-SA" sz="15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Directions from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الطَّرِيقُ مِنَ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directions (about 40–60 words) for a new classmate (a girl) from your school to a place in town (library, park, station …). Include: • at least five steps with commands to a girl • two landmarks • where the place is exactly • one sign she will see • how long it takes on foot.</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اذْهَبِي مُسْتَقِيمًا حَتَّى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go straight on until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انْعَطِفِي يَمِينًا / يَسَارًا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turn right / left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اعْبُرِي الشَّارِعَ أَمَامَ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cross the street in front of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عَلَى اليَمِينِ، مُقَابِلَ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on the right, opposite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at least five steps with commands?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command ending for a girl (-ī) every time?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اذْهَبُوا مُسْتَقِيمًا حَتَّى إِشَارَةِ المُرُورِ.</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 straight on until the traffic lights.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نُرِيدُ أَنْ نَذْهَبَ إِلَى المَسْجِدِ. كَيْفَ نَذْهَبُ؟</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 انْعَطِفُوا يَسَارًا.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Then turn left.</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اعْبُرُوا الشَّارِعَ أَمَامَ المَكْتَبَةِ.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cross the street in front of the library.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نَعْبُرُ الشَّارِعَ؟</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المَسْجِدُ عَلَى اليَمِينِ، مُقَابِلَ الحَدِيقَةِ.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mosque is on the right, opposite the park.</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وَأَيْنَ المَسْجِدُ بِالضَّبْطِ؟</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أَهْلًا يَا رِيمُ! مِنْ بَابِ المَدْرَسَةِ اذْهَبِي يَسَارًا، ثُمَّ امْشِي مُسْتَقِيمًا حَتَّى إِشَارَةِ المُرُورِ. انْعَطِفِي يَمِينًا، وَاعْبُرِي الشَّارِعَ أَمَامَ الصَّيْدَلِيَّةِ. بَعْدَ ذٰلِكَ اذْهَبِي حَتَّى الدَّوَّارِ. سَتَرَيْنَ لَافِتَةً: «المَكْتَبَةُ العَامَّةُ». المَكْتَبَةُ عَلَى اليَمِينِ، مُقَابِلَ الحَدِيقَةِ. الطَّرِيقُ يَسْتَغْرِقُ عَشْرَ دَقَائِقَ مَشْيًا.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Reem! From the school gate go left, then walk straight on until the traffic lights. Turn right, and cross the street in front of the pharmacy. After that go until the roundabout. You will see a sign: ‘Public Library’. The library is on the right, opposite the park. The route takes ten minutes on foot.”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اذْهَبِي يَسَارًا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حَتَّى إِشَارَةِ المُرُورِ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انْعَطِفِي يَمِينًا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اليَمِينِ، مُقَابِلَ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F6-L09 · Extended Writing: My Town and How I Get Around</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المُوَسَّعَةُ — مَدِينَتِي وَكَيْفَ أَتَنَقَّلُ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F6-L08 · Practice Room — Giving Directions: Signs, Streets and Maps</dc:title>
  <dc:subject>PptxGenJS Presentation</dc:subject>
  <dc:creator>Al Madina Online School · Arabic Department</dc:creator>
  <cp:lastModifiedBy>Al Madina Online School · Arabic Department</cp:lastModifiedBy>
  <cp:revision>1</cp:revision>
  <dcterms:created xsi:type="dcterms:W3CDTF">2026-10-25T17:47:16Z</dcterms:created>
  <dcterms:modified xsi:type="dcterms:W3CDTF">2026-10-25T17:47:16Z</dcterms:modified>
</cp:coreProperties>
</file>