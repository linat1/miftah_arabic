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F6-L11 (F6 Consolidation: Complete Town and Transport Review) — new practice tasks built on the lesson’s own word bank and grammar (four F6 grammar families: (1) yūjadu / tūjadu + agreement; (2) transport patterns bi- / ʿalā / mashyan + tastaghriqu; (3) mabniyyun min · tatamayyazu bi- · min mazāyā / ʿuyūbi … anna; (4) commands m. / f. / pl.).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تُحِبِّينَ · مَدِينَتَكِ. Mixes all four F6 grammar families; commands to a woman (-ī). Task ! is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F6 Consolidation: Complete Town and Transport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across F6: review the four grammar families, act a model exchange, answer one-minute topic-conversation cards, do a role-play card helping a family new to the town, give a one-minute talk, then diagnose → explain → repair errors and write a short text that uses all four families.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F6-L11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F6 review: review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 شَامِلَةٌ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comprehensive review</a:t>
            </a:r>
            <a:endParaRPr lang="en-US" sz="1350" dirty="0"/>
          </a:p>
          <a:p>
            <a:pPr indent="0" marL="0">
              <a:buNone/>
            </a:pPr>
            <a:r>
              <a:rPr lang="en-US" sz="1100" i="1" dirty="0">
                <a:solidFill>
                  <a:srgbClr val="5A6472"/>
                </a:solidFill>
                <a:latin typeface="Calibri" pitchFamily="34" charset="0"/>
                <a:cs typeface="Amiri" pitchFamily="2" charset="-78"/>
              </a:rPr>
              <a:t>mu-rā-ja-ʿa-tun shā-mi-la-tun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تَحْلِيلُ الأَخْطَاءِ</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error analysis</a:t>
            </a:r>
            <a:endParaRPr lang="en-US" sz="1350" dirty="0"/>
          </a:p>
          <a:p>
            <a:pPr indent="0" marL="0">
              <a:buNone/>
            </a:pPr>
            <a:r>
              <a:rPr lang="en-US" sz="1100" i="1" dirty="0">
                <a:solidFill>
                  <a:srgbClr val="5A6472"/>
                </a:solidFill>
                <a:latin typeface="Calibri" pitchFamily="34" charset="0"/>
                <a:cs typeface="Amiri" pitchFamily="2" charset="-78"/>
              </a:rPr>
              <a:t>taḥ-lī-lu al-akh-ṭā-ʾi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أَوْلَوِيَّةٌ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priority</a:t>
            </a:r>
            <a:endParaRPr lang="en-US" sz="1350" dirty="0"/>
          </a:p>
          <a:p>
            <a:pPr indent="0" marL="0">
              <a:buNone/>
            </a:pPr>
            <a:r>
              <a:rPr lang="en-US" sz="1100" i="1" dirty="0">
                <a:solidFill>
                  <a:srgbClr val="5A6472"/>
                </a:solidFill>
                <a:latin typeface="Calibri" pitchFamily="34" charset="0"/>
                <a:cs typeface="Amiri" pitchFamily="2" charset="-78"/>
              </a:rPr>
              <a:t>aw-la-wiy-ya-tun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 are</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F6 review: grammar families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بِـ / عَلَى / مَشْيًا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transport patterns</a:t>
            </a:r>
            <a:endParaRPr lang="en-US" sz="1350" dirty="0"/>
          </a:p>
          <a:p>
            <a:pPr indent="0" marL="0">
              <a:buNone/>
            </a:pPr>
            <a:r>
              <a:rPr lang="en-US" sz="1100" i="1" dirty="0">
                <a:solidFill>
                  <a:srgbClr val="5A6472"/>
                </a:solidFill>
                <a:latin typeface="Calibri" pitchFamily="34" charset="0"/>
                <a:cs typeface="Amiri" pitchFamily="2" charset="-78"/>
              </a:rPr>
              <a:t>bi / ʿa-lā / mash-yan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تَسْتَغْرِقُ</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takes time</a:t>
            </a:r>
            <a:endParaRPr lang="en-US" sz="1350" dirty="0"/>
          </a:p>
          <a:p>
            <a:pPr indent="0" marL="0">
              <a:buNone/>
            </a:pPr>
            <a:r>
              <a:rPr lang="en-US" sz="1100" i="1" dirty="0">
                <a:solidFill>
                  <a:srgbClr val="5A6472"/>
                </a:solidFill>
                <a:latin typeface="Calibri" pitchFamily="34" charset="0"/>
                <a:cs typeface="Amiri" pitchFamily="2" charset="-78"/>
              </a:rPr>
              <a:t>tas-tagh-ri-qu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 / مِنْ عُيُوبِ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advantages / disadvantages</a:t>
            </a:r>
            <a:endParaRPr lang="en-US" sz="1350" dirty="0"/>
          </a:p>
          <a:p>
            <a:pPr indent="0" marL="0">
              <a:buNone/>
            </a:pPr>
            <a:r>
              <a:rPr lang="en-US" sz="1100" i="1" dirty="0">
                <a:solidFill>
                  <a:srgbClr val="5A6472"/>
                </a:solidFill>
                <a:latin typeface="Calibri" pitchFamily="34" charset="0"/>
                <a:cs typeface="Amiri" pitchFamily="2" charset="-78"/>
              </a:rPr>
              <a:t>min ma-zā-yā / min ʿu-yū-bi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اِذْهَبْ / اِذْهَبِي / اِذْهَبُوا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 commands m/f/pl</a:t>
            </a:r>
            <a:endParaRPr lang="en-US" sz="1350" dirty="0"/>
          </a:p>
          <a:p>
            <a:pPr indent="0" marL="0">
              <a:buNone/>
            </a:pPr>
            <a:r>
              <a:rPr lang="en-US" sz="1100" i="1" dirty="0">
                <a:solidFill>
                  <a:srgbClr val="5A6472"/>
                </a:solidFill>
                <a:latin typeface="Calibri" pitchFamily="34" charset="0"/>
                <a:cs typeface="Amiri" pitchFamily="2" charset="-78"/>
              </a:rPr>
              <a:t>idh-hab / idh-ha-bī / idh-ha-bū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new family in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عَائِلَةٌ جَدِيدَةٌ فِي المَدِينَةِ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are new here. Is there a school nearby?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نَحْنُ جُدُدٌ هُنَا. هَلْ تُوجَدُ مَدْرَسَةٌ قَرِيبَةٌ؟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there is a modern school built of brick, next to the park.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تُوجَدُ مَدْرَسَةٌ حَدِيثَةٌ مَبْنِيَّةٌ مِنَ الطُّوبِ، بِجَانِبِ الحَدِيقَةِ.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get there?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نَذْهَبُ إِلَى هُنَاكَ؟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 straight on, then turn right. It takes five minutes on foot.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اذْهَبُوا مُسْتَقِيمًا، ثُمَّ انْعَطِفُوا يَمِينًا. تَسْتَغْرِقُ الرِّحْلَةُ خَمْسَ دَقَائِقَ مَشْيًا.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the town like?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المَدِينَةُ؟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is that it is safe; one disadvantage is that it lacks many restaurants.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مَزَايَاهَا أَنَّهَا آمِنَةٌ، وَمِنْ عُيُوبِهَا أَنَّهَا تَفْتَقِرُ إِلَى مَطَاعِمَ كَثِيرَةٍ.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town — use all four grammar families.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town centre?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وَسَطِ مَدِينَتِكَ؟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 ، وَتَسْتَغْرِقُ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go to school, and how long does it take?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كَيْفَ تَذْهَبُ إِلَى المَدْرَسَةِ؟ وَكَمْ تَسْتَغْرِقُ الرِّحْلَةُ؟</a:t>
            </a:r>
            <a:endParaRPr lang="ar-SA" sz="165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وَتَتَمَيَّزُ المَدِينَةُ بِهِ</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مَبْنِيٌّ / مَبْنِيَّةٌ مِنَ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building in your town.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مَبْنًى فِي مَدِينَتِكَ.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مِنْ مَزَايَاهَا أَنَّ … ، وَمِنْ عُيُوبِهَا أَنَّ …</a:t>
            </a:r>
            <a:endParaRPr lang="ar-SA" sz="15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Advantages and disadvantages?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مَدِينَتِكَ وَعُيُوبُهَا؟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اذْهَبِي … ، ثُمَّ انْعَطِفِي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I get to the station? (to a girl)</a:t>
            </a:r>
            <a:endParaRPr lang="en-US" sz="1100" dirty="0"/>
          </a:p>
        </p:txBody>
      </p:sp>
      <p:sp>
        <p:nvSpPr>
          <p:cNvPr id="55" name="Text 52"/>
          <p:cNvSpPr txBox="1"/>
          <p:nvPr/>
        </p:nvSpPr>
        <p:spPr>
          <a:xfrm>
            <a:off x="1069848" y="5215738"/>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أَذْهَبُ مِنْ هُنَا إِلَى المَحَطَّةِ؟</a:t>
            </a:r>
            <a:pPr algn="l" indent="0" marL="0">
              <a:buNone/>
            </a:pPr>
            <a:r>
              <a:rPr lang="en-US" sz="1100" dirty="0">
                <a:solidFill>
                  <a:srgbClr val="5A6472"/>
                </a:solidFill>
                <a:latin typeface="Calibri" pitchFamily="34" charset="0"/>
                <a:cs typeface="Amiri" pitchFamily="2" charset="-78"/>
              </a:rPr>
              <a:t> (to a girl)</a:t>
            </a:r>
            <a:endParaRPr lang="en-US" sz="11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helping a family new to your town</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أُسَاعِدُ عَائِلَةً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يُوجَدُ / تُوجَدُ … بِجَانِبِ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shop + position.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أَشْتَرِي الطَّعَامَ؟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أَرْخَصُ … ، لٰكِنَّ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prices.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هُوَ أَرْخَصُ مِنَ المَرْكَزِ التِّجَارِيِّ؟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اذْهَبِي … ثُمَّ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Directions to a woman.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أَذْهَبُ إِلَى المُسْتَشْفَى؟</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بِصِفَةٍ عَامَّةٍ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مَدِينَتَكَ؟ لِمَاذَا؟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local teenager · Leader = the mother of a new family.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One minute: my town and transport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دَقِيقَةٌ: مَدِينَتِي وَالمُوَاصَلَاتُ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Give a ONE-MINUTE talk on your town: places and positions, one building, how you travel and how long it takes, advantages and disadvantages, and a route to one place.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30 seconds: one sentence from each grammar family.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45 seconds with connectors and agreement.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 seconds + a route with commands and an overall judgement.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are many old buildings built of stone.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 مَبَانٍ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 مَبَانٍ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قَدِيمَةٌ كَثِيرَةٌ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قَدِيمُونَ كَثِيرُونَ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 مِنَ الحَجَرِ.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مَبْنِيُّونَ مِنَ الحَجَرِ.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 by bike, and it takes a quarter of an hour.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عَلَى الدَّرَّاجَةِ،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بِالدَّرَّاجَةُ،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وَتَسْتَغْرِقُ الرِّحْلَةُ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وَتَسْتَغْرِقُ الرِّحْلَةَ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رُبْعَ سَاعَةٍ.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رُبْعُ سَاعَةٍ.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Cross the street, then turn left. (to a group)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اعْبُرُوا الشَّارِعَ،</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اعْبُرِي الشَّارِعَ،</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انْعَطِفُوا يَسَارًا.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انْعَطِفْ يَسَارًا.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are many old buildings built of stone.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تُوجَدُ … قَدِيمَةٌ … مَبْنِيَّةٌ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مَبَانٍ قَدِيمَةٌ كَثِيرَةٌ مَبْنِيَّةٌ مِنَ الحَجَرِ.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 by bike, and it takes a quarter of an hour.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Bike → </a:t>
            </a:r>
            <a:pPr algn="l" indent="0" marL="0">
              <a:buNone/>
            </a:pPr>
            <a:r>
              <a:rPr lang="ar-SA" altLang="en-US" sz="1350" dirty="0">
                <a:solidFill>
                  <a:srgbClr val="5A6472"/>
                </a:solidFill>
                <a:latin typeface="Amiri" pitchFamily="2" charset="-78"/>
                <a:ea typeface="Amiri" pitchFamily="2" charset="-78"/>
                <a:cs typeface="Amiri" pitchFamily="2" charset="-78"/>
              </a:rPr>
              <a:t>عَلَى الدَّرَّاجَةِ</a:t>
            </a:r>
            <a:pPr algn="l" indent="0" marL="0">
              <a:buNone/>
            </a:pPr>
            <a:r>
              <a:rPr lang="en-US" sz="1050" i="1" dirty="0">
                <a:solidFill>
                  <a:srgbClr val="5A6472"/>
                </a:solidFill>
                <a:latin typeface="Calibri" pitchFamily="34" charset="0"/>
                <a:cs typeface="Amiri" pitchFamily="2" charset="-78"/>
              </a:rPr>
              <a:t>; duration is the object → </a:t>
            </a:r>
            <a:pPr algn="l" indent="0" marL="0">
              <a:buNone/>
            </a:pPr>
            <a:r>
              <a:rPr lang="ar-SA" altLang="en-US" sz="1350" dirty="0">
                <a:solidFill>
                  <a:srgbClr val="5A6472"/>
                </a:solidFill>
                <a:latin typeface="Amiri" pitchFamily="2" charset="-78"/>
                <a:ea typeface="Amiri" pitchFamily="2" charset="-78"/>
                <a:cs typeface="Amiri" pitchFamily="2" charset="-78"/>
              </a:rPr>
              <a:t>رُبْعَ</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أَذْهَبُ عَلَى الدَّرَّاجَةِ، وَتَسْتَغْرِقُ الرِّحْلَةُ رُبْعَ سَاعَةٍ.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Cross the street, then turn left. (to a group)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Group → -ū on every command.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اعْبُرُوا الشَّارِعَ، ثُمَّ انْعَطِفُوا يَسَارًا.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الحَدَائِقُ جَمِيلُونَ.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Diagnose: plural of things.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بِالمَشْيِ.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Diagnose: on foot.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عُيُوبِهَا أَنَّ المُوَاصَلَاتُ قَلِيلَةٌ.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Diagnose: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الحَدَائِقُ جَمِيلُونَ.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الحَدَائِقُ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non-human plural → feminine singular.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بِالمَشْيِ.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مَشْيًا.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on foot = </a:t>
            </a:r>
            <a:pPr algn="l" indent="0" marL="0">
              <a:buNone/>
            </a:pPr>
            <a:r>
              <a:rPr lang="ar-SA" altLang="en-US" sz="1500" b="1" dirty="0">
                <a:solidFill>
                  <a:srgbClr val="1B3B6F"/>
                </a:solidFill>
                <a:latin typeface="Amiri" pitchFamily="2" charset="-78"/>
                <a:ea typeface="Amiri" pitchFamily="2" charset="-78"/>
                <a:cs typeface="Amiri" pitchFamily="2" charset="-78"/>
              </a:rPr>
              <a:t>مَشْيًا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عُيُوبِهَا أَنَّ المُوَاصَلَاتُ قَلِيلَةٌ.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عُيُوبِهَا أَنَّ المُوَاصَلَاتِ قَلِيلَةٌ.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Repair: noun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accusative.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مِنْ مَزَايَا مَدِينَتِي أَنَّ ______ ، لٰكِنَّهَا تَفْتَقِرُ إِلَى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 but it lacks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مَدِينَتِي بِحَدَائِقِهَا / 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town is known for its parks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مَدِينَتِي يُوجَدُ ______ ، وَتُوجَدُ ______ بِجَانِبِ ______ .</a:t>
            </a:r>
            <a:endParaRPr lang="ar-SA" sz="13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 and there is … next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أَذْهَبُ إِلَى المَدْرَسَةِ ______ ، وَتَسْتَغْرِقُ الرِّحْلَةُ ______ .</a:t>
            </a:r>
            <a:endParaRPr lang="ar-SA" sz="13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 and the journey takes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 / مَبْنِيَّةٌ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إِلَى ______ : اذْهَبْ ______ ، ثُمَّ ______ .</a:t>
            </a:r>
            <a:endParaRPr lang="ar-SA" sz="17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 go …, then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يُوجَدُ · تُوجَدُ  ·  بِجَانِبِ · مُقَابِلَ · خَلْفَ  ·  بِالحَافِلَةِ · عَلَى الدَّرَّاجَةِ · مَشْيًا  ·  تَسْتَغْرِقُ  ·  مَبْنِيٌّ · مَبْنِيَّةٌ مِنْ  ·  مِنْ مَزَايَا … أَنَّ  ·  تَفْتَقِرُ إِلَى  ·  اذْهَبْ · انْعَطِفْ · اعْبُرْ</a:t>
            </a:r>
            <a:endParaRPr lang="ar-SA" sz="15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My town: all four grammar families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 العَائِلَاتُ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text (about 55–75 words) that uses ALL FOUR F6 grammar families. Include: • places with </a:t>
            </a:r>
            <a:pPr algn="l" indent="0" marL="0">
              <a:buNone/>
            </a:pPr>
            <a:r>
              <a:rPr lang="ar-SA" altLang="en-US" sz="1450" b="1" dirty="0">
                <a:solidFill>
                  <a:srgbClr val="1F2A37"/>
                </a:solidFill>
                <a:latin typeface="Amiri" pitchFamily="2" charset="-78"/>
                <a:ea typeface="Amiri" pitchFamily="2" charset="-78"/>
                <a:cs typeface="Amiri" pitchFamily="2" charset="-78"/>
              </a:rPr>
              <a:t>يُوجَدُ / تُوجَدُ</a:t>
            </a:r>
            <a:pPr algn="l" indent="0" marL="0">
              <a:buNone/>
            </a:pPr>
            <a:r>
              <a:rPr lang="en-US" sz="1100" b="1" dirty="0">
                <a:solidFill>
                  <a:srgbClr val="1F2A37"/>
                </a:solidFill>
                <a:latin typeface="Calibri" pitchFamily="34" charset="0"/>
                <a:cs typeface="Amiri" pitchFamily="2" charset="-78"/>
              </a:rPr>
              <a:t> and positions • how you travel + </a:t>
            </a:r>
            <a:pPr algn="l" indent="0" marL="0">
              <a:buNone/>
            </a:pPr>
            <a:r>
              <a:rPr lang="ar-SA" altLang="en-US" sz="1450" b="1" dirty="0">
                <a:solidFill>
                  <a:srgbClr val="1F2A37"/>
                </a:solidFill>
                <a:latin typeface="Amiri" pitchFamily="2" charset="-78"/>
                <a:ea typeface="Amiri" pitchFamily="2" charset="-78"/>
                <a:cs typeface="Amiri" pitchFamily="2" charset="-78"/>
              </a:rPr>
              <a:t>تَسْتَغْرِقُ</a:t>
            </a:r>
            <a:pPr algn="l" indent="0" marL="0">
              <a:buNone/>
            </a:pPr>
            <a:r>
              <a:rPr lang="en-US" sz="1100" b="1" dirty="0">
                <a:solidFill>
                  <a:srgbClr val="1F2A37"/>
                </a:solidFill>
                <a:latin typeface="Calibri" pitchFamily="34" charset="0"/>
                <a:cs typeface="Amiri" pitchFamily="2" charset="-78"/>
              </a:rPr>
              <a:t> • one building (</a:t>
            </a:r>
            <a:pPr algn="l" indent="0" marL="0">
              <a:buNone/>
            </a:pPr>
            <a:r>
              <a:rPr lang="ar-SA" altLang="en-US" sz="1450" b="1" dirty="0">
                <a:solidFill>
                  <a:srgbClr val="1F2A37"/>
                </a:solidFill>
                <a:latin typeface="Amiri" pitchFamily="2" charset="-78"/>
                <a:ea typeface="Amiri" pitchFamily="2" charset="-78"/>
                <a:cs typeface="Amiri" pitchFamily="2" charset="-78"/>
              </a:rPr>
              <a:t>مَبْنِيٌّ مِنْ</a:t>
            </a:r>
            <a:pPr algn="l" indent="0" marL="0">
              <a:buNone/>
            </a:pPr>
            <a:r>
              <a:rPr lang="en-US" sz="1100" b="1" dirty="0">
                <a:solidFill>
                  <a:srgbClr val="1F2A37"/>
                </a:solidFill>
                <a:latin typeface="Calibri" pitchFamily="34" charset="0"/>
                <a:cs typeface="Amiri" pitchFamily="2" charset="-78"/>
              </a:rPr>
              <a:t>) and an advantage / disadvantage • a route to one place with commands. Then highlight one example of each family.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وَتُوجَدُ … بِجَانِبِ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 and … next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 ، وَتَسْتَغْرِقُ الرِّحْلَةُ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 and the journey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مَبْنِيٌّ مِنْ … · مِنْ مَزَايَاهَا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built of … · an advantage is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اذْهَبْ … ، ثُمَّ انْعَطِفْ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 …, then turn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one example from each grammar family?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diagnose and repair one of your own errors after the buddy check?</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سُوقٌ كَبِيرٌ مُقَابِلَ المَسْجِدِ.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 big market opposite the mosque.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أَشْتَرِي الطَّعَامَ؟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هُوَ أَرْخَصُ، لٰكِنَّهُ مُكْتَظٌّ يَوْمَ السَّبْتِ.</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it is cheaper, but it is crowded on Saturday.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هُوَ أَرْخَصُ مِنَ المَرْكَزِ التِّجَارِيِّ؟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اذْهَبِي بِالحَافِلَةِ رَقْمِ عَشَرَةٍ، ثُمَّ انْزِلِي أَمَامَ المَكْتَبَةِ.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Take bus number ten, then get off in front of the library.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أَذْهَبُ إِلَى المُسْتَشْفَى؟</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بِصِفَةٍ عَامَّةٍ نَعَمْ، لِأَنَّهَا هَادِئَةٌ وَالنَّاسُ لُطَفَاءُ.</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Overall yes, because it is quiet and the people are kind.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مَدِينَتَكَ؟ لِمَاذَا؟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يُوجَدُ مَيْدَانٌ كَبِيرٌ، وَتُوجَدُ مَكْتَبَةٌ عَامَّةٌ بِجَانِبِهِ. أَذْهَبُ إِلَى المَدْرَسَةِ عَلَى الدَّرَّاجَةِ، وَتَسْتَغْرِقُ الرِّحْلَةُ عَشْرَ دَقَائِقَ. المَكْتَبَةُ مَبْنِيَّةٌ مِنَ الزُّجَاجِ، وَهِيَ حَدِيثَةٌ وَمُضِيئَةٌ. مِنْ مَزَايَا مَدِينَتِي أَنَّهَا نَظِيفَةٌ، لٰكِنَّهَا تَفْتَقِرُ إِلَى نَادٍ لِلشَّبَابِ. إِلَى المَكْتَبَةِ: اذْهَبْ مُسْتَقِيمًا حَتَّى المَيْدَانِ، ثُمَّ انْعَطِفْ يَمِينًا، وَالمَدْخَلُ أَمَامَكَ.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town there is a big square, and a public library next to it. I go to school by bike, and the journey takes ten minutes. The library is built of glass; it is modern and bright. One advantage of my town is that it is clean, but it lacks a youth club. To the library: go straight on until the square, then turn right, and the entrance is in front of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مَكْتَبَةٌ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وَتَسْتَغْرِقُ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الزُّجَاجِ</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اذْهَبْ مُسْتَقِيمًا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F6-L12 · Final Review and Assessment: My Town and Transport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النِّهَائِيَّةُ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F6-L11 · Practice Room — F6 Consolidation: Complete Town and Transport Review</dc:title>
  <dc:subject>PptxGenJS Presentation</dc:subject>
  <dc:creator>Al Madina Online School · Arabic Department</dc:creator>
  <cp:lastModifiedBy>Al Madina Online School · Arabic Department</cp:lastModifiedBy>
  <cp:revision>1</cp:revision>
  <dcterms:created xsi:type="dcterms:W3CDTF">2026-10-25T17:50:36Z</dcterms:created>
  <dcterms:modified xsi:type="dcterms:W3CDTF">2026-10-25T17:50:36Z</dcterms:modified>
</cp:coreProperties>
</file>