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F6-L04 (Tickets, Timetables and Journey Duration) — new practice tasks built on the lesson’s own word bank and grammar (urīdu tadhkiratan mufradatan / tadhkirata dhahābin wa-iyāb; yughādiru / yaṣilu + fī al-sāʿati …; min ayyi raṣīfin?; tastaghriqu al-riḥlatu sāʿatayni; yataʾakhkharu).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F6-L04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أُسَاعِدُكِ. Language: yughādiru · yataʾakhkharu · min ayyi raṣīfin · tastaghriqu + duration.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(42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F6-L04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Tickets, Timetables and Journey Duration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التَّذَاكِرُ وَالرِّحْلَاتُ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speaking and writing practice with tickets and timetables: say the station words, act a ticket-office dialogue, answer departure-board questions, do a role-play card when a train is delayed, give a 30-second journey description, then build, fix and write a message about a journey plan.</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F6-L04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ticket office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شُبَّاكُ التَّذَاكِرِ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ticket window</a:t>
            </a:r>
            <a:endParaRPr lang="en-US" sz="1350" dirty="0"/>
          </a:p>
          <a:p>
            <a:pPr indent="0" marL="0">
              <a:buNone/>
            </a:pPr>
            <a:r>
              <a:rPr lang="en-US" sz="1100" i="1" dirty="0">
                <a:solidFill>
                  <a:srgbClr val="5A6472"/>
                </a:solidFill>
                <a:latin typeface="Calibri" pitchFamily="34" charset="0"/>
                <a:cs typeface="Amiri" pitchFamily="2" charset="-78"/>
              </a:rPr>
              <a:t>shub-bā-ku at-ta-dhā-ki-ri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تَذْكِرَةٌ مُفْرَدَةٌ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single ticket</a:t>
            </a:r>
            <a:endParaRPr lang="en-US" sz="1350" dirty="0"/>
          </a:p>
          <a:p>
            <a:pPr indent="0" marL="0">
              <a:buNone/>
            </a:pPr>
            <a:r>
              <a:rPr lang="en-US" sz="1100" i="1" dirty="0">
                <a:solidFill>
                  <a:srgbClr val="5A6472"/>
                </a:solidFill>
                <a:latin typeface="Calibri" pitchFamily="34" charset="0"/>
                <a:cs typeface="Amiri" pitchFamily="2" charset="-78"/>
              </a:rPr>
              <a:t>tadh-ki-ra-tun muf-ra-da-tun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تَذْكِرَةُ ذَهَابٍ وَإِيَابٍ</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return ticket</a:t>
            </a:r>
            <a:endParaRPr lang="en-US" sz="1350" dirty="0"/>
          </a:p>
          <a:p>
            <a:pPr indent="0" marL="0">
              <a:buNone/>
            </a:pPr>
            <a:r>
              <a:rPr lang="en-US" sz="1100" i="1" dirty="0">
                <a:solidFill>
                  <a:srgbClr val="5A6472"/>
                </a:solidFill>
                <a:latin typeface="Calibri" pitchFamily="34" charset="0"/>
                <a:cs typeface="Amiri" pitchFamily="2" charset="-78"/>
              </a:rPr>
              <a:t>tadh-ki-ra-tu dha-hā-bin wa-ʾi-yā-bin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يُغَادِرُ</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departs</a:t>
            </a:r>
            <a:endParaRPr lang="en-US" sz="1350" dirty="0"/>
          </a:p>
          <a:p>
            <a:pPr indent="0" marL="0">
              <a:buNone/>
            </a:pPr>
            <a:r>
              <a:rPr lang="en-US" sz="1100" i="1" dirty="0">
                <a:solidFill>
                  <a:srgbClr val="5A6472"/>
                </a:solidFill>
                <a:latin typeface="Calibri" pitchFamily="34" charset="0"/>
                <a:cs typeface="Amiri" pitchFamily="2" charset="-78"/>
              </a:rPr>
              <a:t>yu-ghā-di-ru</a:t>
            </a:r>
            <a:endParaRPr lang="en-US" sz="1350" dirty="0"/>
          </a:p>
        </p:txBody>
      </p:sp>
      <p:sp>
        <p:nvSpPr>
          <p:cNvPr id="45" name="Shape 42"/>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7" name="Text 44"/>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يُغَادِرُ</a:t>
            </a:r>
            <a:endParaRPr lang="ar-SA" sz="1500" dirty="0"/>
          </a:p>
        </p:txBody>
      </p:sp>
      <p:sp>
        <p:nvSpPr>
          <p:cNvPr id="48" name="Shape 45"/>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0" name="Text 47"/>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تُغَادِرُ</a:t>
            </a:r>
            <a:endParaRPr lang="ar-SA" sz="1350" dirty="0"/>
          </a:p>
        </p:txBody>
      </p:sp>
      <p:sp>
        <p:nvSpPr>
          <p:cNvPr id="51" name="Shape 48"/>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3" name="Text 50"/>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أُغَادِرُ</a:t>
            </a:r>
            <a:endParaRPr lang="ar-SA" sz="150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يَصِلُ</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arrives</a:t>
            </a:r>
            <a:endParaRPr lang="en-US" sz="1350" dirty="0"/>
          </a:p>
          <a:p>
            <a:pPr indent="0" marL="0">
              <a:buNone/>
            </a:pPr>
            <a:r>
              <a:rPr lang="en-US" sz="1100" i="1" dirty="0">
                <a:solidFill>
                  <a:srgbClr val="5A6472"/>
                </a:solidFill>
                <a:latin typeface="Calibri" pitchFamily="34" charset="0"/>
                <a:cs typeface="Amiri" pitchFamily="2" charset="-78"/>
              </a:rPr>
              <a:t>ya-ṣi-lu</a:t>
            </a:r>
            <a:endParaRPr lang="en-US" sz="1350" dirty="0"/>
          </a:p>
        </p:txBody>
      </p:sp>
      <p:sp>
        <p:nvSpPr>
          <p:cNvPr id="63" name="Shape 6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5" name="Text 62"/>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يَصِلُ</a:t>
            </a:r>
            <a:endParaRPr lang="ar-SA" sz="1500" dirty="0"/>
          </a:p>
        </p:txBody>
      </p:sp>
      <p:sp>
        <p:nvSpPr>
          <p:cNvPr id="66" name="Shape 6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68" name="Text 65"/>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تَصِلُ</a:t>
            </a:r>
            <a:endParaRPr lang="ar-SA" sz="1350" dirty="0"/>
          </a:p>
        </p:txBody>
      </p:sp>
      <p:sp>
        <p:nvSpPr>
          <p:cNvPr id="69" name="Shape 6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1" name="Text 68"/>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أَصِلُ</a:t>
            </a:r>
            <a:endParaRPr lang="ar-SA" sz="150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76" name="Text 73"/>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77" name="Shape 7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8" name="Text 7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9" name="Text 7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يَتَأَخَّرُ</a:t>
            </a:r>
            <a:endParaRPr lang="ar-SA" sz="3000" dirty="0"/>
          </a:p>
        </p:txBody>
      </p:sp>
      <p:sp>
        <p:nvSpPr>
          <p:cNvPr id="80" name="Text 7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delayed</a:t>
            </a:r>
            <a:endParaRPr lang="en-US" sz="1350" dirty="0"/>
          </a:p>
          <a:p>
            <a:pPr indent="0" marL="0">
              <a:buNone/>
            </a:pPr>
            <a:r>
              <a:rPr lang="en-US" sz="1100" i="1" dirty="0">
                <a:solidFill>
                  <a:srgbClr val="5A6472"/>
                </a:solidFill>
                <a:latin typeface="Calibri" pitchFamily="34" charset="0"/>
                <a:cs typeface="Amiri" pitchFamily="2" charset="-78"/>
              </a:rPr>
              <a:t>ya-ta-ʾakh-kha-ru</a:t>
            </a:r>
            <a:endParaRPr lang="en-US" sz="1350" dirty="0"/>
          </a:p>
        </p:txBody>
      </p:sp>
      <p:sp>
        <p:nvSpPr>
          <p:cNvPr id="81" name="Shape 7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3" name="Text 8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يَتَأَخَّرُ</a:t>
            </a:r>
            <a:endParaRPr lang="ar-SA" sz="1500" dirty="0"/>
          </a:p>
        </p:txBody>
      </p:sp>
      <p:sp>
        <p:nvSpPr>
          <p:cNvPr id="84" name="Shape 8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86" name="Text 83"/>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تَتَأَخَّرُ</a:t>
            </a:r>
            <a:endParaRPr lang="ar-SA" sz="1350" dirty="0"/>
          </a:p>
        </p:txBody>
      </p:sp>
      <p:sp>
        <p:nvSpPr>
          <p:cNvPr id="87" name="Shape 8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9" name="Text 8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أَتَأَخَّرُ</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Departures and duration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الوَقْتِ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time</a:t>
            </a:r>
            <a:endParaRPr lang="en-US" sz="1350" dirty="0"/>
          </a:p>
          <a:p>
            <a:pPr indent="0" marL="0">
              <a:buNone/>
            </a:pPr>
            <a:r>
              <a:rPr lang="en-US" sz="1100" i="1" dirty="0">
                <a:solidFill>
                  <a:srgbClr val="5A6472"/>
                </a:solidFill>
                <a:latin typeface="Calibri" pitchFamily="34" charset="0"/>
                <a:cs typeface="Amiri" pitchFamily="2" charset="-78"/>
              </a:rPr>
              <a:t>fī al-waq-ti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رَصِيفٌ</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platform</a:t>
            </a:r>
            <a:endParaRPr lang="en-US" sz="1350" dirty="0"/>
          </a:p>
          <a:p>
            <a:pPr indent="0" marL="0">
              <a:buNone/>
            </a:pPr>
            <a:r>
              <a:rPr lang="en-US" sz="1100" i="1" dirty="0">
                <a:solidFill>
                  <a:srgbClr val="5A6472"/>
                </a:solidFill>
                <a:latin typeface="Calibri" pitchFamily="34" charset="0"/>
                <a:cs typeface="Amiri" pitchFamily="2" charset="-78"/>
              </a:rPr>
              <a:t>ra-ṣī-fun</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3" name="Text 3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رَصِيفٌ</a:t>
            </a:r>
            <a:endParaRPr lang="ar-SA" sz="150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أَرْصِفَةٌ</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مُدَّةُ الرِّحْلَةِ</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journey duration</a:t>
            </a:r>
            <a:endParaRPr lang="en-US" sz="1350" dirty="0"/>
          </a:p>
          <a:p>
            <a:pPr indent="0" marL="0">
              <a:buNone/>
            </a:pPr>
            <a:r>
              <a:rPr lang="en-US" sz="1100" i="1" dirty="0">
                <a:solidFill>
                  <a:srgbClr val="5A6472"/>
                </a:solidFill>
                <a:latin typeface="Calibri" pitchFamily="34" charset="0"/>
                <a:cs typeface="Amiri" pitchFamily="2" charset="-78"/>
              </a:rPr>
              <a:t>mud-da-tu ar-riḥ-la-ti</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تَسْتَغْرِقُ</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takes (time)</a:t>
            </a:r>
            <a:endParaRPr lang="en-US" sz="1350" dirty="0"/>
          </a:p>
          <a:p>
            <a:pPr indent="0" marL="0">
              <a:buNone/>
            </a:pPr>
            <a:r>
              <a:rPr lang="en-US" sz="1100" i="1" dirty="0">
                <a:solidFill>
                  <a:srgbClr val="5A6472"/>
                </a:solidFill>
                <a:latin typeface="Calibri" pitchFamily="34" charset="0"/>
                <a:cs typeface="Amiri" pitchFamily="2" charset="-78"/>
              </a:rPr>
              <a:t>tas-tagh-ri-qu</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 الحَجْزِ</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booking office</a:t>
            </a:r>
            <a:endParaRPr lang="en-US" sz="1350" dirty="0"/>
          </a:p>
          <a:p>
            <a:pPr indent="0" marL="0">
              <a:buNone/>
            </a:pPr>
            <a:r>
              <a:rPr lang="en-US" sz="1100" i="1" dirty="0">
                <a:solidFill>
                  <a:srgbClr val="5A6472"/>
                </a:solidFill>
                <a:latin typeface="Calibri" pitchFamily="34" charset="0"/>
                <a:cs typeface="Amiri" pitchFamily="2" charset="-78"/>
              </a:rPr>
              <a:t>mak-ta-bu al-ḥaj-zi</a:t>
            </a:r>
            <a:endParaRPr lang="en-US" sz="1350" dirty="0"/>
          </a:p>
        </p:txBody>
      </p:sp>
      <p:sp>
        <p:nvSpPr>
          <p:cNvPr id="56" name="Shape 5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66928"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9" name="Shape 56"/>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61" name="Text 5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يَحْجُزُ / أَحْجُزُ</a:t>
            </a:r>
            <a:endParaRPr lang="ar-SA" sz="3000" dirty="0"/>
          </a:p>
        </p:txBody>
      </p:sp>
      <p:sp>
        <p:nvSpPr>
          <p:cNvPr id="62" name="Text 5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books / I book</a:t>
            </a:r>
            <a:endParaRPr lang="en-US" sz="1350" dirty="0"/>
          </a:p>
          <a:p>
            <a:pPr indent="0" marL="0">
              <a:buNone/>
            </a:pPr>
            <a:r>
              <a:rPr lang="en-US" sz="1100" i="1" dirty="0">
                <a:solidFill>
                  <a:srgbClr val="5A6472"/>
                </a:solidFill>
                <a:latin typeface="Calibri" pitchFamily="34" charset="0"/>
                <a:cs typeface="Amiri" pitchFamily="2" charset="-78"/>
              </a:rPr>
              <a:t>yaḥ-ju-zu / aḥ-ju-zu</a:t>
            </a:r>
            <a:endParaRPr lang="en-US" sz="1350" dirty="0"/>
          </a:p>
        </p:txBody>
      </p:sp>
      <p:sp>
        <p:nvSpPr>
          <p:cNvPr id="63" name="Shape 60"/>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5" name="Text 62"/>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يَحْجُزُ</a:t>
            </a:r>
            <a:endParaRPr lang="ar-SA" sz="1500" dirty="0"/>
          </a:p>
        </p:txBody>
      </p:sp>
      <p:sp>
        <p:nvSpPr>
          <p:cNvPr id="66" name="Shape 63"/>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68" name="Text 65"/>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تَحْجُزُ</a:t>
            </a:r>
            <a:endParaRPr lang="ar-SA" sz="1350" dirty="0"/>
          </a:p>
        </p:txBody>
      </p:sp>
      <p:sp>
        <p:nvSpPr>
          <p:cNvPr id="69" name="Shape 66"/>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1" name="Text 68"/>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أَحْجُزُ</a:t>
            </a:r>
            <a:endParaRPr lang="ar-SA" sz="15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return ticket, please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ذَهَابٍ وَإِيَابٍ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would like a return ticket to Manchester, please.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تَذْكِرَةَ ذَهَابٍ وَإِيَابٍ إِلَى مَانْشِسْتَرَ، مِنْ فَضْلِكَ.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Here you are. It costs thirty pounds.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تَفَضَّلْ. سِعْرُهَا ثَلَاثُونَ جُنَيْهًا.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the train leave?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مَتَى يُغَادِرُ القِطَارُ؟</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leaves at quarter past nine from platform four.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يُغَادِرُ فِي السَّاعَةِ التَّاسِعَةِ وَالرُّبْعِ مِنَ الرَّصِيفِ رَقْمِ أَرْبَعَةٍ.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does the journey take?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تَسْتَغْرِقُ الرِّحْلَةُ؟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takes two hours, and the train arrives at quarter past eleven.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تَسْتَغْرِقُ سَاعَتَيْنِ، وَيَصِلُ القِطَارُ فِي الحَادِيَةَ عَشْرَةَ وَالرُّبْعِ.</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change the city, ticket type, time and platform.</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Read the departure board — answer like the station announcer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إِلَى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أُرِيدُ تَذْكِرَةً مُفْرَدَةً / تَذْكِرَةَ ذَهَابٍ وَإِيَابٍ</a:t>
            </a:r>
            <a:endParaRPr lang="ar-SA" sz="14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ticket do you want?</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تَذْكِرَةٍ تُرِيدُ؟</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مِنَ الرَّصِيفِ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يُغَادِرُ فِي السَّاعَةِ العَاشِرَةِ وَالنِّصْفِ</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the train to Leeds leave? (10:30)</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يُغَادِرُ القِطَارُ إِلَى لِيدْزَ؟ (10:30)</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الرَّصِيفِ رَقْمِ اثْنَيْنِ</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which platform? (2)</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 رَصِيفٍ؟ (2)</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وَيَصِلُ فِي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تَسْتَغْرِقُ ثَلَاثَ سَاعَاتٍ</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is the journey? (3 hours)</a:t>
            </a:r>
            <a:endParaRPr lang="en-US" sz="1100" dirty="0"/>
          </a:p>
        </p:txBody>
      </p:sp>
      <p:sp>
        <p:nvSpPr>
          <p:cNvPr id="49" name="Text 46"/>
          <p:cNvSpPr txBox="1"/>
          <p:nvPr/>
        </p:nvSpPr>
        <p:spPr>
          <a:xfrm>
            <a:off x="1069848" y="4478731"/>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كَمْ تَسْتَغْرِقُ الرِّحْلَةُ؟</a:t>
            </a:r>
            <a:pPr algn="l" indent="0" marL="0">
              <a:buNone/>
            </a:pPr>
            <a:r>
              <a:rPr lang="en-US" sz="1100" dirty="0">
                <a:solidFill>
                  <a:srgbClr val="5A6472"/>
                </a:solidFill>
                <a:latin typeface="Calibri" pitchFamily="34" charset="0"/>
                <a:cs typeface="Amiri" pitchFamily="2" charset="-78"/>
              </a:rPr>
              <a:t> (3 hours)</a:t>
            </a:r>
            <a:endParaRPr lang="en-US" sz="11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عِشْرِينَ دَقِيقَةً</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فِي الوَقْتِ / لَا، يَتَأَخَّرُ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 train on time?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القِطَارُ فِي الوَقْتِ؟</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Role-play card — the train is delayed!</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القِطَارُ مُتَأَخِّرٌ!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مَتَى يُغَادِرُ القِطَارُ إِلَى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your train.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أُسَاعِدُكَ؟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يَتَأَخَّرُ ← أَوْهْ! إِذَنْ مَتَى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React and ask the new time.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لِلْأَسَفِ، يَتَأَخَّرُ نِصْفَ سَاعَةٍ.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 مِنْ أَيِّ رَصِيفٍ؟</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the platform.</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فِي السَّاعَةِ الثَّانِيَةِ وَالنِّصْفِ.</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 كَمْ تَسْتَغْرِقُ الرِّحْلَةُ؟</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how long the journey is.</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الرَّصِيفِ رَقْمِ سِتَّةٍ.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passenger · Leader = the station staff.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journey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رِحْلَتِي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a train or bus journey in 30 seconds: where to, the ticket, the departure time, the platform, how long it takes and when you arrive.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Destination, ticket, departure time.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the platform and </a:t>
            </a:r>
            <a:pPr algn="l" indent="0" marL="0">
              <a:buNone/>
            </a:pPr>
            <a:r>
              <a:rPr lang="ar-SA" altLang="en-US" sz="1500" dirty="0">
                <a:solidFill>
                  <a:srgbClr val="1F2A37"/>
                </a:solidFill>
                <a:latin typeface="Amiri" pitchFamily="2" charset="-78"/>
                <a:ea typeface="Amiri" pitchFamily="2" charset="-78"/>
                <a:cs typeface="Amiri" pitchFamily="2" charset="-78"/>
              </a:rPr>
              <a:t>تَسْتَغْرِقُ الرِّحْلَةُ</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delay (</a:t>
            </a:r>
            <a:pPr algn="l" indent="0" marL="0">
              <a:buNone/>
            </a:pPr>
            <a:r>
              <a:rPr lang="ar-SA" altLang="en-US" sz="1500" dirty="0">
                <a:solidFill>
                  <a:srgbClr val="1F2A37"/>
                </a:solidFill>
                <a:latin typeface="Amiri" pitchFamily="2" charset="-78"/>
                <a:ea typeface="Amiri" pitchFamily="2" charset="-78"/>
                <a:cs typeface="Amiri" pitchFamily="2" charset="-78"/>
              </a:rPr>
              <a:t>يَتَأَخَّرُ</a:t>
            </a:r>
            <a:pPr algn="l" indent="0" marL="0">
              <a:buNone/>
            </a:pPr>
            <a:r>
              <a:rPr lang="en-US" sz="1150" dirty="0">
                <a:solidFill>
                  <a:srgbClr val="1F2A37"/>
                </a:solidFill>
                <a:latin typeface="Calibri" pitchFamily="34" charset="0"/>
                <a:cs typeface="Amiri" pitchFamily="2" charset="-78"/>
              </a:rPr>
              <a:t> …) and what you will do while you wait.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train leaves at eight o’clock.</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يُغَادِرُ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تُغَادِرُ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القِطَارُ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القِطَارَ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السَّاعَةِ الثَّامِنَةِ.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ثَمَانِيَةٍ.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journey takes two hours.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تَسْتَغْرِقُ</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يَسْتَغْرِقُ</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الرِّحْلَةُ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الرِّحْلَةَ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سَاعَتَيْنِ.</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سَاعَتَانِ.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want a single ticket to York.</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أُرِيدُ</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يُرِيدُ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تَذْكِرَةً مُفْرَدَةً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تَذْكِرَةٌ مُفْرَدَةٌ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يُورْكَ.</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يُورْكَ.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train leaves at eight o’clock.</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قِطَارٌ</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يُغَادِرُ</a:t>
            </a:r>
            <a:pPr algn="l" indent="0" marL="0">
              <a:buNone/>
            </a:pPr>
            <a:r>
              <a:rPr lang="en-US" sz="1050" i="1" dirty="0">
                <a:solidFill>
                  <a:srgbClr val="5A6472"/>
                </a:solidFill>
                <a:latin typeface="Calibri" pitchFamily="34" charset="0"/>
                <a:cs typeface="Amiri" pitchFamily="2" charset="-78"/>
              </a:rPr>
              <a:t>; clock time = feminine ordinal.</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يُغَادِرُ القِطَارُ فِي السَّاعَةِ الثَّامِنَةِ.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journey takes two hours.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رِحْلَةٌ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تَسْتَغْرِقُ</a:t>
            </a:r>
            <a:pPr algn="l" indent="0" marL="0">
              <a:buNone/>
            </a:pPr>
            <a:r>
              <a:rPr lang="en-US" sz="1050" i="1" dirty="0">
                <a:solidFill>
                  <a:srgbClr val="5A6472"/>
                </a:solidFill>
                <a:latin typeface="Calibri" pitchFamily="34" charset="0"/>
                <a:cs typeface="Amiri" pitchFamily="2" charset="-78"/>
              </a:rPr>
              <a:t>; two hours as object = </a:t>
            </a:r>
            <a:pPr algn="l" indent="0" marL="0">
              <a:buNone/>
            </a:pPr>
            <a:r>
              <a:rPr lang="ar-SA" altLang="en-US" sz="1350" dirty="0">
                <a:solidFill>
                  <a:srgbClr val="5A6472"/>
                </a:solidFill>
                <a:latin typeface="Amiri" pitchFamily="2" charset="-78"/>
                <a:ea typeface="Amiri" pitchFamily="2" charset="-78"/>
                <a:cs typeface="Amiri" pitchFamily="2" charset="-78"/>
              </a:rPr>
              <a:t>سَاعَتَيْنِ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تَسْتَغْرِقُ الرِّحْلَةُ سَاعَتَيْنِ.</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want a single ticket to York.</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Object after </a:t>
            </a:r>
            <a:pPr algn="l" indent="0" marL="0">
              <a:buNone/>
            </a:pPr>
            <a:r>
              <a:rPr lang="ar-SA" altLang="en-US" sz="1350" dirty="0">
                <a:solidFill>
                  <a:srgbClr val="5A6472"/>
                </a:solidFill>
                <a:latin typeface="Amiri" pitchFamily="2" charset="-78"/>
                <a:ea typeface="Amiri" pitchFamily="2" charset="-78"/>
                <a:cs typeface="Amiri" pitchFamily="2" charset="-78"/>
              </a:rPr>
              <a:t>أُرِيدُ</a:t>
            </a:r>
            <a:pPr algn="l" indent="0" marL="0">
              <a:buNone/>
            </a:pPr>
            <a:r>
              <a:rPr lang="en-US" sz="1050" i="1" dirty="0">
                <a:solidFill>
                  <a:srgbClr val="5A6472"/>
                </a:solidFill>
                <a:latin typeface="Calibri" pitchFamily="34" charset="0"/>
                <a:cs typeface="Amiri" pitchFamily="2" charset="-78"/>
              </a:rPr>
              <a:t> → -atan; to =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أُرِيدُ تَذْكِرَةً مُفْرَدَةً إِلَى يُورْكَ.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الرِّحْلَةُ يَسْتَغْرِقُ سَاعَةً.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رِحْلَةٌ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تَسْتَغْرِقُ الرِّحْلَةُ اثْنَانِ سَاعَةٍ.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hours → one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مِنْ أَيِّ رَصِيفٌ؟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أَيِّ</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الرِّحْلَةُ يَسْتَغْرِقُ سَاعَةً.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الرِّحْلَةُ تَسْتَغْرِقُ سَاعَةً.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subject → </a:t>
            </a:r>
            <a:pPr algn="l" indent="0" marL="0">
              <a:buNone/>
            </a:pPr>
            <a:r>
              <a:rPr lang="ar-SA" altLang="en-US" sz="1500" b="1" dirty="0">
                <a:solidFill>
                  <a:srgbClr val="1B3B6F"/>
                </a:solidFill>
                <a:latin typeface="Amiri" pitchFamily="2" charset="-78"/>
                <a:ea typeface="Amiri" pitchFamily="2" charset="-78"/>
                <a:cs typeface="Amiri" pitchFamily="2" charset="-78"/>
              </a:rPr>
              <a:t>تَسْتَغْرِقُ</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تَسْتَغْرِقُ الرِّحْلَةُ اثْنَانِ سَاعَةٍ.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تَسْتَغْرِقُ الرِّحْلَةُ سَاعَتَيْنِ.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dual: </a:t>
            </a:r>
            <a:pPr algn="l" indent="0" marL="0">
              <a:buNone/>
            </a:pPr>
            <a:r>
              <a:rPr lang="ar-SA" altLang="en-US" sz="1500" b="1" dirty="0">
                <a:solidFill>
                  <a:srgbClr val="1B3B6F"/>
                </a:solidFill>
                <a:latin typeface="Amiri" pitchFamily="2" charset="-78"/>
                <a:ea typeface="Amiri" pitchFamily="2" charset="-78"/>
                <a:cs typeface="Amiri" pitchFamily="2" charset="-78"/>
              </a:rPr>
              <a:t>سَاعَتَيْنِ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مِنْ أَيِّ رَصِيفٌ؟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مِنْ أَيِّ رَصِيفٍ؟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أَيِّ</a:t>
            </a:r>
            <a:pPr algn="l" indent="0" marL="0">
              <a:buNone/>
            </a:pPr>
            <a:r>
              <a:rPr lang="en-US" sz="1150" b="1" dirty="0">
                <a:solidFill>
                  <a:srgbClr val="1B3B6F"/>
                </a:solidFill>
                <a:latin typeface="Calibri" pitchFamily="34" charset="0"/>
                <a:cs typeface="Amiri" pitchFamily="2" charset="-78"/>
              </a:rPr>
              <a:t> + noun in genitive: </a:t>
            </a:r>
            <a:pPr algn="l" indent="0" marL="0">
              <a:buNone/>
            </a:pPr>
            <a:r>
              <a:rPr lang="ar-SA" altLang="en-US" sz="1500" b="1" dirty="0">
                <a:solidFill>
                  <a:srgbClr val="1B3B6F"/>
                </a:solidFill>
                <a:latin typeface="Amiri" pitchFamily="2" charset="-78"/>
                <a:ea typeface="Amiri" pitchFamily="2" charset="-78"/>
                <a:cs typeface="Amiri" pitchFamily="2" charset="-78"/>
              </a:rPr>
              <a:t>رَصِيفٍ</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يُغَادِرُ مِنَ الرَّصِيفِ رَقْمِ ______ ، وَأَصِلُ فِي ______ .</a:t>
            </a:r>
            <a:endParaRPr lang="ar-SA" sz="14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leaves from platform …, and I arrive 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لِلْأَسَفِ يَتَأَخَّرُ القِطَارُ ______ ، لِذٰلِكَ ______ .</a:t>
            </a:r>
            <a:endParaRPr lang="ar-SA" sz="16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Unfortunately the train is … late, so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سَأُسَافِرُ بِالقِطَارِ إِلَى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travel by train to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 تَذْكِرَةَ ______ ، وَسِعْرُهَا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bought a … ticket, and it cost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يُغَادِرُ القِطَارُ فِي السَّاعَةِ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train leaves at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تَسْتَغْرِقُ الرِّحْلَةُ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journey takes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تَذْكِرَةٌ مُفْرَدَةٌ  ·  تَذْكِرَةُ ذَهَابٍ وَإِيَابٍ  ·  يُغَادِرُ · يَصِلُ  ·  رَصِيفٌ  ·  تَسْتَغْرِقُ  ·  سَاعَةٌ · سَاعَتَانِ · سَاعَاتٌ  ·  يَتَأَخَّرُ · فِي الوَقْتِ  ·  شُبَّاكُ التَّذَاكِرِ</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message about the journey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خُطَّةِ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message (about 40–60 words) to a friend who is meeting you. Include: • where you are travelling to and how • the ticket you bought and its price • the departure time and platform • how long the journey takes and when you arrive • a delay, if there is one.</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سَأُسَافِرُ بِالقِطَارِ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travel by train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 تَذْكِرَةَ … بِعِشْرِينَ جُنَيْهًا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 a … ticket for £20</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يُغَادِرُ القِطَارُ فِي … مِنَ الرَّصِيفِ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train leaves at … from platform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تَسْتَغْرِقُ الرِّحْلَةُ … ، وَأَصِلُ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journey takes …, and I arrive 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ticket, departure time and platform?</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تَسْتَغْرِقُ</a:t>
            </a:r>
            <a:pPr algn="l" indent="0" marL="0">
              <a:buNone/>
            </a:pPr>
            <a:r>
              <a:rPr lang="en-US" sz="1100" dirty="0">
                <a:solidFill>
                  <a:srgbClr val="5A6472"/>
                </a:solidFill>
                <a:latin typeface="Calibri" pitchFamily="34" charset="0"/>
                <a:cs typeface="Amiri" pitchFamily="2" charset="-78"/>
              </a:rPr>
              <a:t> + duration correctly (dual /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مَتَى يُغَادِرُ القِطَارُ إِلَى بِرْمِنْغْهَامَ؟</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When does the train to Birmingham leave?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أُسَاعِدُكَ؟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أَوْهْ! إِذَنْ مَتَى يُغَادِرُ الآنَ؟</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Oh! So when does it leave now?</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لِلْأَسَفِ، يَتَأَخَّرُ نِصْفَ سَاعَةٍ.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وَمِنْ أَيِّ رَصِيفٍ، مِنْ فَضْلِكَ؟</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from which platform, please?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السَّاعَةِ الثَّانِيَةِ وَالنِّصْفِ.</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كَمْ تَسْتَغْرِقُ الرِّحْلَةُ؟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Thanks. How long does the journey take?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الرَّصِيفِ رَقْمِ سِتَّةٍ.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يَا عُمَرُ! سَأُسَافِرُ بِالقِطَارِ إِلَى لَنْدَنَ يَوْمَ السَّبْتِ. اشْتَرَيْتُ تَذْكِرَةَ ذَهَابٍ وَإِيَابٍ، وَسِعْرُهَا أَرْبَعُونَ جُنَيْهًا. يُغَادِرُ القِطَارُ فِي السَّاعَةِ الثَّامِنَةِ مِنَ الرَّصِيفِ رَقْمِ ثَلَاثَةٍ. تَسْتَغْرِقُ الرِّحْلَةُ سَاعَتَيْنِ وَنِصْفًا، لِذٰلِكَ أَصِلُ فِي العَاشِرَةِ وَالنِّصْفِ. إِذَا تَأَخَّرَ القِطَارُ، سَأُرْسِلُ لَكَ رِسَالَةً. إِلَى اللِّقَاءِ!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Omar! I will travel by train to London on Saturday. I bought a return ticket, and it cost forty pounds. The train leaves at eight from platform three. The journey takes two and a half hours, so I arrive at half past ten. If the train is late, I will send you a message. See you!”</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تَذْكِرَةَ ذَهَابٍ وَإِيَابٍ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يُغَادِرُ القِطَارُ فِي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تَسْتَغْرِقُ الرِّحْلَةُ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تَأَخَّرَ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F6-L05 · Describing Your Town: Advantages and Disadvantages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وَصْفُ مَدِينَتِكَ — المَزَايَا وَالعُيُوبُ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F6-L04 · Practice Room — Tickets, Timetables and Journey Duration</dc:title>
  <dc:subject>PptxGenJS Presentation</dc:subject>
  <dc:creator>Al Madina Online School · Arabic Department</dc:creator>
  <cp:lastModifiedBy>Al Madina Online School · Arabic Department</cp:lastModifiedBy>
  <cp:revision>1</cp:revision>
  <dcterms:created xsi:type="dcterms:W3CDTF">2026-10-25T17:44:32Z</dcterms:created>
  <dcterms:modified xsi:type="dcterms:W3CDTF">2026-10-25T17:44:32Z</dcterms:modified>
</cp:coreProperties>
</file>