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F6-L12 (Final Review and Assessment: My Town and Transport) — new practice tasks built on the lesson’s own word bank and grammar (all of F6: places + yūjadu / tūjadu; positions + genitive; transport patterns; tickets, times and tastaghriqu; describing a town (mazāyā / ʿuyūb); prices and comparatives; mabniyyun min; commands m. / f. / pl.).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F6-L12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تُرِيدِينَ · رَأْيُكِ. Five prompts covering places, transport, tickets, positions and opinions; task ! is unexpected.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(46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F6  ·  F6-L12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F6-L12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Final Review and Assessment: My Town and Transport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تَدْرِيبٌ لِلتَّقْيِيمِ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50" dirty="0">
                <a:solidFill>
                  <a:srgbClr val="C6D2E6"/>
                </a:solidFill>
                <a:latin typeface="Calibri" pitchFamily="34" charset="0"/>
                <a:cs typeface="Amiri" pitchFamily="2" charset="-78"/>
              </a:rPr>
              <a:t>Assessment practice for F6: students run their own speaking and writing rehearsal in breakout rooms — a quick word check, a model exchange, exam-style question cards, a five-prompt role play, a 45-second talk, then build, fix and write a timed text about their town and transport.</a:t>
            </a:r>
            <a:endParaRPr lang="en-US" sz="13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F6-L12 · Foundation F6 · My Town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end of F6 and of the Foundation stage</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F6 › F6-L12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F6 check: places and positions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يُوجَدُ · تُوجَدُ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 is (m. · f.)</a:t>
            </a:r>
            <a:endParaRPr lang="en-US" sz="1350" dirty="0"/>
          </a:p>
          <a:p>
            <a:pPr indent="0" marL="0">
              <a:buNone/>
            </a:pPr>
            <a:r>
              <a:rPr lang="en-US" sz="1100" i="1" dirty="0">
                <a:solidFill>
                  <a:srgbClr val="5A6472"/>
                </a:solidFill>
                <a:latin typeface="Calibri" pitchFamily="34" charset="0"/>
                <a:cs typeface="Amiri" pitchFamily="2" charset="-78"/>
              </a:rPr>
              <a:t>yū-ja-du · tū-ja-du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مَحَطَّةٌ · مَطَارٌ</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station · airport</a:t>
            </a:r>
            <a:endParaRPr lang="en-US" sz="1350" dirty="0"/>
          </a:p>
          <a:p>
            <a:pPr indent="0" marL="0">
              <a:buNone/>
            </a:pPr>
            <a:r>
              <a:rPr lang="en-US" sz="1100" i="1" dirty="0">
                <a:solidFill>
                  <a:srgbClr val="5A6472"/>
                </a:solidFill>
                <a:latin typeface="Calibri" pitchFamily="34" charset="0"/>
                <a:cs typeface="Amiri" pitchFamily="2" charset="-78"/>
              </a:rPr>
              <a:t>ma-ḥaṭ-ṭa-tun · ma-ṭā-run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سُوقٌ · مَكْتَبَةٌ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market · library</a:t>
            </a:r>
            <a:endParaRPr lang="en-US" sz="1350" dirty="0"/>
          </a:p>
          <a:p>
            <a:pPr indent="0" marL="0">
              <a:buNone/>
            </a:pPr>
            <a:r>
              <a:rPr lang="en-US" sz="1100" i="1" dirty="0">
                <a:solidFill>
                  <a:srgbClr val="5A6472"/>
                </a:solidFill>
                <a:latin typeface="Calibri" pitchFamily="34" charset="0"/>
                <a:cs typeface="Amiri" pitchFamily="2" charset="-78"/>
              </a:rPr>
              <a:t>sū-qun · mak-ta-ba-tun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بِجَانِبِ · مُقَابِلَ</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next to · opposite</a:t>
            </a:r>
            <a:endParaRPr lang="en-US" sz="1350" dirty="0"/>
          </a:p>
          <a:p>
            <a:pPr indent="0" marL="0">
              <a:buNone/>
            </a:pPr>
            <a:r>
              <a:rPr lang="en-US" sz="1100" i="1" dirty="0">
                <a:solidFill>
                  <a:srgbClr val="5A6472"/>
                </a:solidFill>
                <a:latin typeface="Calibri" pitchFamily="34" charset="0"/>
                <a:cs typeface="Amiri" pitchFamily="2" charset="-78"/>
              </a:rPr>
              <a:t>bi-jā-ni-bi · mu-qā-bi-la</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قَرِيبٌ مِنْ · بَعِيدٌ عَنْ</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near · far from</a:t>
            </a:r>
            <a:endParaRPr lang="en-US" sz="1350" dirty="0"/>
          </a:p>
          <a:p>
            <a:pPr indent="0" marL="0">
              <a:buNone/>
            </a:pPr>
            <a:r>
              <a:rPr lang="en-US" sz="1100" i="1" dirty="0">
                <a:solidFill>
                  <a:srgbClr val="5A6472"/>
                </a:solidFill>
                <a:latin typeface="Calibri" pitchFamily="34" charset="0"/>
                <a:cs typeface="Amiri" pitchFamily="2" charset="-78"/>
              </a:rPr>
              <a:t>qa-rī-bun min · ba-ʿī-dun ʿan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مَبْنِيٌّ مِنْ</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built of</a:t>
            </a:r>
            <a:endParaRPr lang="en-US" sz="1350" dirty="0"/>
          </a:p>
          <a:p>
            <a:pPr indent="0" marL="0">
              <a:buNone/>
            </a:pPr>
            <a:r>
              <a:rPr lang="en-US" sz="1100" i="1" dirty="0">
                <a:solidFill>
                  <a:srgbClr val="5A6472"/>
                </a:solidFill>
                <a:latin typeface="Calibri" pitchFamily="34" charset="0"/>
                <a:cs typeface="Amiri" pitchFamily="2" charset="-78"/>
              </a:rPr>
              <a:t>mab-niy-yun min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F6 check: transport and directions</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بِالحَافِلَةِ · مَشْيًا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by bus · on foot</a:t>
            </a:r>
            <a:endParaRPr lang="en-US" sz="1350" dirty="0"/>
          </a:p>
          <a:p>
            <a:pPr indent="0" marL="0">
              <a:buNone/>
            </a:pPr>
            <a:r>
              <a:rPr lang="en-US" sz="1100" i="1" dirty="0">
                <a:solidFill>
                  <a:srgbClr val="5A6472"/>
                </a:solidFill>
                <a:latin typeface="Calibri" pitchFamily="34" charset="0"/>
                <a:cs typeface="Amiri" pitchFamily="2" charset="-78"/>
              </a:rPr>
              <a:t>bil-ḥā-fi-la-ti · mash-yan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تَذْكِرَةُ ذَهَابٍ وَإِيَابٍ</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return ticket</a:t>
            </a:r>
            <a:endParaRPr lang="en-US" sz="1350" dirty="0"/>
          </a:p>
          <a:p>
            <a:pPr indent="0" marL="0">
              <a:buNone/>
            </a:pPr>
            <a:r>
              <a:rPr lang="en-US" sz="1100" i="1" dirty="0">
                <a:solidFill>
                  <a:srgbClr val="5A6472"/>
                </a:solidFill>
                <a:latin typeface="Calibri" pitchFamily="34" charset="0"/>
                <a:cs typeface="Amiri" pitchFamily="2" charset="-78"/>
              </a:rPr>
              <a:t>tadh-ki-ra-tu dha-hā-bin wa-ʾi-yā-bin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تَسْتَغْرِقُ</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takes (time)</a:t>
            </a:r>
            <a:endParaRPr lang="en-US" sz="1350" dirty="0"/>
          </a:p>
          <a:p>
            <a:pPr indent="0" marL="0">
              <a:buNone/>
            </a:pPr>
            <a:r>
              <a:rPr lang="en-US" sz="1100" i="1" dirty="0">
                <a:solidFill>
                  <a:srgbClr val="5A6472"/>
                </a:solidFill>
                <a:latin typeface="Calibri" pitchFamily="34" charset="0"/>
                <a:cs typeface="Amiri" pitchFamily="2" charset="-78"/>
              </a:rPr>
              <a:t>tas-tagh-ri-qu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أَرْخَصُ مِنْ · أَغْلَى مِنْ</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cheaper · dearer than</a:t>
            </a:r>
            <a:endParaRPr lang="en-US" sz="1350" dirty="0"/>
          </a:p>
          <a:p>
            <a:pPr indent="0" marL="0">
              <a:buNone/>
            </a:pPr>
            <a:r>
              <a:rPr lang="en-US" sz="1100" i="1" dirty="0">
                <a:solidFill>
                  <a:srgbClr val="5A6472"/>
                </a:solidFill>
                <a:latin typeface="Calibri" pitchFamily="34" charset="0"/>
                <a:cs typeface="Amiri" pitchFamily="2" charset="-78"/>
              </a:rPr>
              <a:t>ar-kha-ṣu min · agh-lā min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اذْهَبْ · انْعَطِفْ · اعْبُرْ</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go · turn · cross</a:t>
            </a:r>
            <a:endParaRPr lang="en-US" sz="1350" dirty="0"/>
          </a:p>
          <a:p>
            <a:pPr indent="0" marL="0">
              <a:buNone/>
            </a:pPr>
            <a:r>
              <a:rPr lang="en-US" sz="1100" i="1" dirty="0">
                <a:solidFill>
                  <a:srgbClr val="5A6472"/>
                </a:solidFill>
                <a:latin typeface="Calibri" pitchFamily="34" charset="0"/>
                <a:cs typeface="Amiri" pitchFamily="2" charset="-78"/>
              </a:rPr>
              <a:t>adh-hab · an-ʿa-ṭif · aʿ-bur</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مَزَايَا … أَنَّ</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one advantage … is that</a:t>
            </a:r>
            <a:endParaRPr lang="en-US" sz="1350" dirty="0"/>
          </a:p>
          <a:p>
            <a:pPr indent="0" marL="0">
              <a:buNone/>
            </a:pPr>
            <a:r>
              <a:rPr lang="en-US" sz="1100" i="1" dirty="0">
                <a:solidFill>
                  <a:srgbClr val="5A6472"/>
                </a:solidFill>
                <a:latin typeface="Calibri" pitchFamily="34" charset="0"/>
                <a:cs typeface="Amiri" pitchFamily="2" charset="-78"/>
              </a:rPr>
              <a:t>min ma-zā-yā … an-na</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 exam-style exchange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حِوَارٌ مِثْلَ الامْتِحَانِ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town.</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صِفْ مَدِينَتَكَ.</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town is small and quiet; it has an old market and a train station.</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مَدِينَتِي صَغِيرَةٌ وَهَادِئَةٌ؛ يُوجَدُ فِيهَا سُوقٌ قَدِيمٌ، وَتُوجَدُ مَحَطَّةُ قِطَارٍ.</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go to school?</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كَيْفَ تَذْهَبُ إِلَى المَدْرَسَةِ؟</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walk, and the journey takes twenty minutes.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أَذْهَبُ مَشْيًا، وَتَسْتَغْرِقُ الرِّحْلَةُ عِشْرِينَ دَقِيقَةً.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think of the transport in your town?</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رَأْيُكَ فِي المُوَاصَلَاتِ فِي مَدِينَتِكَ؟</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advantage is that buses are cheap, but they are often late.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 مَزَايَاهَا أَنَّ الحَافِلَاتِ رَخِيصَةٌ، لٰكِنَّهَا تَتَأَخَّرُ كَثِيرًا.</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Round 3: answer with your own facts under exam conditions — no slide.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مُقَابِلَ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يُوجَدُ … وَتُوجَدُ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near your home?</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قُرْبَ بَيْتِكَ؟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56648" y="300471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المَحَطَّةُ … ، قَرِيبَةٌ مِنْ / بَعِيدَةٌ عَنْ …</a:t>
            </a:r>
            <a:endParaRPr lang="ar-SA" sz="155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the station in your town?</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المَحَطَّةُ فِي مَدِينَتِكَ؟</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وَاسْتَغْرَقَتِ الرِّحْلَةُ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سَافَرْتُ بِالقِطَارِ / بِالطَّائِرَةِ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did you travel on your last holiday?</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سَافَرْتَ فِي آخِرِ عُطْلَةٍ؟</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56648" y="4478731"/>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أَتَسَوَّقُ فِي … ، وَهُوَ أَرْخَصُ مِنْ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 you shop, and is it cheap?</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تَتَسَوَّقُ؟ وَهَلْ هُوَ رَخِيصٌ؟</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وَالمَكْتَبَةُ عَلَى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اذْهَبْ … ، ثُمَّ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I get from school to the library?</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أَذْهَبُ مِنَ المَدْرَسَةِ إِلَى المَكْتَبَةِ؟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Role-play card — a day out in the city (five prompts)</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يَوْمٌ فِي المَدِينَةِ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أُرِيدُ أَنْ أَزُورَ … وَ…</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two places.</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أَهْلًا! مَاذَا تُرِيدُ أَنْ تَزُورَ؟</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اسْأَلْ ← كَيْفَ أَذْهَبُ إِلَى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how to get there.</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المَتْحَفُ بَعِيدٌ قَلِيلًا.</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75320" y="3741725"/>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اسْأَلْ ← كَمْ ثَمَنُ التَّذْكِرَةِ؟</a:t>
            </a:r>
            <a:endParaRPr lang="ar-SA" sz="16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about the ticket price.</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بِالمِتْرُو. تَسْتَغْرِقُ الرِّحْلَةُ رُبْعَ سَاعَةٍ.</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75320" y="4478731"/>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 أَيْنَ السُّوقُ بِالضَّبْطِ؟</a:t>
            </a:r>
            <a:endParaRPr lang="ar-SA" sz="16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the exact location of the market.</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جُنَيْهَانِ فَقَطْ. وَالسُّوقُ قَرِيبٌ مِنَ المَتْحَفِ.</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75320" y="521573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رَأْيُكَ ← هِيَ … ، لٰكِنَّهَا …</a:t>
            </a:r>
            <a:endParaRPr lang="ar-SA" sz="16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surprise question.</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رَأْيُكَ فِي مَدِينَتِنَا حَتَّى الآنَ؟</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visitor · Leader = a helpful local. Read the plan for 1 minute, then hide it and speak. Then swap roles.</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45 seconds: my town and transport</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مَدِينَتِي وَالمُوَاصَلَاتُ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45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Speak for 45 seconds without stopping about your town and transport — places, travel, a building, prices, advantages and disadvantages.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30 seconds: one sentence on each theme.</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45 seconds with reasons and connectors.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45 seconds + a route with commands and an overall judgement — no agreement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station is opposite the hospital.</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المَحَطَّةُ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المَحَطَّةَ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مُقَابِلَ</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مُقَابِلُ</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المُسْتَشْفَى.</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مُسْتَشْفًى.</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journey to London takes three hours.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تَسْتَغْرِقُ</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يَسْتَغْرِقُ</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الرِّحْلَةُ إِلَى لَنْدَنَ</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الرِّحْلَةَ إِلَى لَنْدَنُ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ثَلَاثَ سَاعَاتٍ.</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ثَلَاثَةُ سَاعَةٍ.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Turn right, then cross the street. (to a girl)</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انْعَطِفِي يَمِينًا،</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انْعَطِفْ يَمِينًا،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ثُمَّ</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اعْبُرِي الشَّارِعَ.</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اعْبُرُوا الشَّارِعَ.</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station is opposite the hospital.</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Position word + genitive (</a:t>
            </a:r>
            <a:pPr algn="l" indent="0" marL="0">
              <a:buNone/>
            </a:pPr>
            <a:r>
              <a:rPr lang="ar-SA" altLang="en-US" sz="1350" dirty="0">
                <a:solidFill>
                  <a:srgbClr val="5A6472"/>
                </a:solidFill>
                <a:latin typeface="Amiri" pitchFamily="2" charset="-78"/>
                <a:ea typeface="Amiri" pitchFamily="2" charset="-78"/>
                <a:cs typeface="Amiri" pitchFamily="2" charset="-78"/>
              </a:rPr>
              <a:t>المُسْتَشْفَى</a:t>
            </a:r>
            <a:pPr algn="l" indent="0" marL="0">
              <a:buNone/>
            </a:pPr>
            <a:r>
              <a:rPr lang="en-US" sz="1050" i="1" dirty="0">
                <a:solidFill>
                  <a:srgbClr val="5A6472"/>
                </a:solidFill>
                <a:latin typeface="Calibri" pitchFamily="34" charset="0"/>
                <a:cs typeface="Amiri" pitchFamily="2" charset="-78"/>
              </a:rPr>
              <a:t> does not change).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المَحَطَّةُ مُقَابِلَ المُسْتَشْفَى.</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journey to London takes three hours.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رِحْلَةٌ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تَسْتَغْرِقُ</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ثَلَاثَ سَاعَاتٍ</a:t>
            </a:r>
            <a:pPr algn="l" indent="0" marL="0">
              <a:buNone/>
            </a:pPr>
            <a:r>
              <a:rPr lang="en-US" sz="1050" i="1" dirty="0">
                <a:solidFill>
                  <a:srgbClr val="5A6472"/>
                </a:solidFill>
                <a:latin typeface="Calibri" pitchFamily="34" charset="0"/>
                <a:cs typeface="Amiri" pitchFamily="2" charset="-78"/>
              </a:rPr>
              <a:t> (f. noun → </a:t>
            </a:r>
            <a:pPr algn="l" indent="0" marL="0">
              <a:buNone/>
            </a:pPr>
            <a:r>
              <a:rPr lang="ar-SA" altLang="en-US" sz="1350" dirty="0">
                <a:solidFill>
                  <a:srgbClr val="5A6472"/>
                </a:solidFill>
                <a:latin typeface="Amiri" pitchFamily="2" charset="-78"/>
                <a:ea typeface="Amiri" pitchFamily="2" charset="-78"/>
                <a:cs typeface="Amiri" pitchFamily="2" charset="-78"/>
              </a:rPr>
              <a:t>ثَلَاثَ</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تَسْتَغْرِقُ الرِّحْلَةُ إِلَى لَنْدَنَ ثَلَاثَ سَاعَاتٍ.</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Turn right, then cross the street. (to a girl)</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 a girl → -ī on every command.</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انْعَطِفِي يَمِينًا، ثُمَّ اعْبُرِي الشَّارِعَ.</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يُوجَدُ صَيْدَلِيَّةٌ بِجَانِبِ البَنْكِ.</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صَيْدَلِيَّةٌ</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كَمْ ثَمَنُهُ؟</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About a ticket: </a:t>
            </a:r>
            <a:pPr algn="l" indent="0" marL="0">
              <a:buNone/>
            </a:pPr>
            <a:r>
              <a:rPr lang="ar-SA" altLang="en-US" sz="1700" dirty="0">
                <a:solidFill>
                  <a:srgbClr val="5A6472"/>
                </a:solidFill>
                <a:latin typeface="Amiri" pitchFamily="2" charset="-78"/>
                <a:ea typeface="Amiri" pitchFamily="2" charset="-78"/>
                <a:cs typeface="Amiri" pitchFamily="2" charset="-78"/>
              </a:rPr>
              <a:t>تَذْكِرَةٌ</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المَدِينَةُ مُكْتَظٌّ وَصَاخِبٌ.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مَدِينَةٌ</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يُوجَدُ صَيْدَلِيَّةٌ بِجَانِبِ البَنْكِ.</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تُوجَدُ صَيْدَلِيَّةٌ بِجَانِبِ البَنْكِ.</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 </a:t>
            </a:r>
            <a:pPr algn="l" indent="0" marL="0">
              <a:buNone/>
            </a:pPr>
            <a:r>
              <a:rPr lang="ar-SA" altLang="en-US" sz="1500" b="1" dirty="0">
                <a:solidFill>
                  <a:srgbClr val="1B3B6F"/>
                </a:solidFill>
                <a:latin typeface="Amiri" pitchFamily="2" charset="-78"/>
                <a:ea typeface="Amiri" pitchFamily="2" charset="-78"/>
                <a:cs typeface="Amiri" pitchFamily="2" charset="-78"/>
              </a:rPr>
              <a:t>تُوجَدُ</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كَمْ ثَمَنُهُ؟</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كَمْ ثَمَنُهَا؟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item → </a:t>
            </a:r>
            <a:pPr algn="l" indent="0" marL="0">
              <a:buNone/>
            </a:pPr>
            <a:r>
              <a:rPr lang="ar-SA" altLang="en-US" sz="1500" b="1" dirty="0">
                <a:solidFill>
                  <a:srgbClr val="1B3B6F"/>
                </a:solidFill>
                <a:latin typeface="Amiri" pitchFamily="2" charset="-78"/>
                <a:ea typeface="Amiri" pitchFamily="2" charset="-78"/>
                <a:cs typeface="Amiri" pitchFamily="2" charset="-78"/>
              </a:rPr>
              <a:t>ثَمَنُهَا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المَدِينَةُ مُكْتَظٌّ وَصَاخِبٌ.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المَدِينَةُ مُكْتَظَّةٌ وَصَاخِبَةٌ.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 </a:t>
            </a:r>
            <a:pPr algn="l" indent="0" marL="0">
              <a:buNone/>
            </a:pPr>
            <a:r>
              <a:rPr lang="ar-SA" altLang="en-US" sz="1500" b="1" dirty="0">
                <a:solidFill>
                  <a:srgbClr val="1B3B6F"/>
                </a:solidFill>
                <a:latin typeface="Amiri" pitchFamily="2" charset="-78"/>
                <a:ea typeface="Amiri" pitchFamily="2" charset="-78"/>
                <a:cs typeface="Amiri" pitchFamily="2" charset="-78"/>
              </a:rPr>
              <a:t>ة</a:t>
            </a:r>
            <a:pPr algn="l" indent="0" marL="0">
              <a:buNone/>
            </a:pPr>
            <a:r>
              <a:rPr lang="en-US" sz="1150" b="1" dirty="0">
                <a:solidFill>
                  <a:srgbClr val="1B3B6F"/>
                </a:solidFill>
                <a:latin typeface="Calibri" pitchFamily="34" charset="0"/>
                <a:cs typeface="Amiri" pitchFamily="2" charset="-78"/>
              </a:rPr>
              <a:t> on both adjectives.</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لٰكِنَّهَا تَفْتَقِرُ إِلَى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But it lacks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مِنْ بَيْتِي إِلَى ______ : اذْهَبْ ______ ، ثُمَّ ______ .</a:t>
            </a:r>
            <a:endParaRPr lang="ar-SA" sz="14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From my house to …: go …, then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فِي مَدِينَتِي يُوجَدُ ______ ، وَتُوجَدُ ______ .</a:t>
            </a:r>
            <a:endParaRPr lang="ar-SA" sz="175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town there is … and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أَذْهَبُ إِلَى المَدْرَسَةِ ______ ، وَتَسْتَغْرِقُ الرِّحْلَةُ ______ .</a:t>
            </a:r>
            <a:endParaRPr lang="ar-SA" sz="135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go to school …, and it takes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مَبْنِيٌّ / مَبْنِيَّةٌ مِنَ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built of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مَزَايَا مَدِينَتِي 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advantage of my town is that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يُوجَدُ · تُوجَدُ  ·  بِجَانِبِ · مُقَابِلَ · بَيْنَ  ·  بِالحَافِلَةِ · مَشْيًا  ·  تَسْتَغْرِقُ  ·  مَبْنِيٌّ مِنْ  ·  مِنْ مَزَايَا … أَنَّ  ·  تَفْتَقِرُ إِلَى  ·  اذْهَبْ · انْعَطِفْ</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Timed writing: my town and transport</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750" b="1" dirty="0">
                <a:solidFill>
                  <a:srgbClr val="8A6D1E"/>
                </a:solidFill>
                <a:latin typeface="Amiri" pitchFamily="2" charset="-78"/>
                <a:ea typeface="Amiri" pitchFamily="2" charset="-78"/>
                <a:cs typeface="Amiri" pitchFamily="2" charset="-78"/>
              </a:rPr>
              <a:t>كِتَابَةٌ مُؤَقَّتَةٌ: مَدِينَتِي وَالمُوَاصَلَاتُ</a:t>
            </a:r>
            <a:endParaRPr lang="ar-SA" sz="27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Timed practice (12 minutes). Write about 55–75 words for an e-pal. Include: • your town: places and where they are • how you travel to school and how long it takes • a building and what it is built of • one advantage and one disadvantage • directions from your home to one place.</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يُوجَدُ فِي مَدِينَتِي … بِجَانِبِ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town there is … next to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أَذْهَبُ … ، وَتَسْتَغْرِقُ الرِّحْلَةُ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go …, and it takes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مَزَايَاهَا أَنَّ … ، لٰكِنَّ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one advantage is that …, but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اذْهَبْ … ثُمَّ انْعَطِفْ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go … then turn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cover every bullet point in full sentences within the time?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get the F6 agreements right (</a:t>
            </a:r>
            <a:pPr algn="l" indent="0" marL="0">
              <a:buNone/>
            </a:pPr>
            <a:r>
              <a:rPr lang="ar-SA" altLang="en-US" sz="1450" dirty="0">
                <a:solidFill>
                  <a:srgbClr val="5A6472"/>
                </a:solidFill>
                <a:latin typeface="Amiri" pitchFamily="2" charset="-78"/>
                <a:ea typeface="Amiri" pitchFamily="2" charset="-78"/>
                <a:cs typeface="Amiri" pitchFamily="2" charset="-78"/>
              </a:rPr>
              <a:t>يُوجَدُ / تُوجَدُ</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ثَمَنُهُ / ثَمَنُهَا</a:t>
            </a:r>
            <a:pPr algn="l" indent="0" marL="0">
              <a:buNone/>
            </a:pPr>
            <a:r>
              <a:rPr lang="en-US" sz="1100" dirty="0">
                <a:solidFill>
                  <a:srgbClr val="5A6472"/>
                </a:solidFill>
                <a:latin typeface="Calibri" pitchFamily="34" charset="0"/>
                <a:cs typeface="Amiri" pitchFamily="2" charset="-78"/>
              </a:rPr>
              <a:t> · commands)?</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أَنْ أَزُورَ المَتْحَفَ وَالسُّوقَ القَدِيمَ.</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want to visit the museum and the old market.</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أَهْلًا! مَاذَا تُرِيدُ أَنْ تَزُورَ؟</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كَيْفَ أَذْهَبُ إِلَيْهِ؟ بِالحَافِلَةِ أَمْ بِالمِتْرُو؟</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How do I get there? By bus or by underground?</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المَتْحَفُ بَعِيدٌ قَلِيلًا.</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شُكْرًا. كَمْ ثَمَنُ التَّذْكِرَةِ؟</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Thanks. How much is the ticket?</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بِالمِتْرُو. تَسْتَغْرِقُ الرِّحْلَةُ رُبْعَ سَاعَةٍ.</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أَيْنَ السُّوقُ بِالضَّبْطِ؟ بِجَانِبِ المَتْحَفِ؟</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Where exactly is the market? Next to the museum?</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جُنَيْهَانِ فَقَطْ. وَالسُّوقُ قَرِيبٌ مِنَ المَتْحَفِ.</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جَمِيلَةٌ وَنَظِيفَةٌ، لٰكِنَّهَا مُكْتَظَّةٌ قَلِيلًا.</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is beautiful and clean, but a bit crowded.</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رَأْيُكَ فِي مَدِينَتِنَا حَتَّى الآنَ؟</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مَرْحَبًا! أَسْكُنُ فِي مَدِينَةِ بِرْمِنْغْهَامَ. فِي وَسَطِهَا يُوجَدُ مَيْدَانٌ كَبِيرٌ، وَتُوجَدُ مَكْتَبَةٌ حَدِيثَةٌ بِجَانِبِهِ، وَهِيَ مَبْنِيَّةٌ مِنَ الزُّجَاجِ وَالمَعْدِنِ. أَذْهَبُ إِلَى المَدْرَسَةِ بِالحَافِلَةِ، وَتَسْتَغْرِقُ الرِّحْلَةُ نِصْفَ سَاعَةٍ. مِنْ مَزَايَا مَدِينَتِي أَنَّ المُوَاصَلَاتِ كَثِيرَةٌ، لٰكِنَّهَا مُكْتَظَّةٌ. مِنْ بَيْتِي إِلَى المَكْتَبَةِ: اذْهَبْ مُسْتَقِيمًا، ثُمَّ انْعَطِفْ يَسَارًا عِنْدَ المَحَطَّةِ.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I live in Birmingham. In the centre there is a big square, and a modern library next to it, built of glass and metal. I go to school by bus, and the journey takes half an hour. One advantage of my city is that there is a lot of transport, but it is crowded. From my house to the library: go straight on, then turn left at the station.”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وَتُوجَدُ مَكْتَبَةٌ حَدِيثَةٌ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مَبْنِيَّةٌ مِنَ الزُّجَاجِ</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وَتَسْتَغْرِقُ الرِّحْلَةُ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 مَزَايَا مَدِينَتِي أَنَّ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F6-L12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cs typeface="Amiri" pitchFamily="2" charset="-78"/>
              </a:rPr>
              <a:t>F6 review · Well done — the unit is complete</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أَحْسَنْتُمْ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the question word, answer in full sentences, check every agreement.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F6-L12 · Practice Room — Final Review and Assessment: My Town and Transport</dc:title>
  <dc:subject>PptxGenJS Presentation</dc:subject>
  <dc:creator>Al Madina Online School · Arabic Department</dc:creator>
  <cp:lastModifiedBy>Al Madina Online School · Arabic Department</cp:lastModifiedBy>
  <cp:revision>1</cp:revision>
  <dcterms:created xsi:type="dcterms:W3CDTF">2026-10-25T18:35:03Z</dcterms:created>
  <dcterms:modified xsi:type="dcterms:W3CDTF">2026-10-25T18:35:03Z</dcterms:modified>
</cp:coreProperties>
</file>