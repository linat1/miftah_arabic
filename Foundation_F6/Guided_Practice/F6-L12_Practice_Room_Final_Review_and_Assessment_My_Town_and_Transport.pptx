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F6-L12 (Final Review and Assessment: My Town and Transport) — new practice tasks built on the lesson’s own word bank and grammar (all of F6: places + yūjadu / tūjadu; positions + genitive; transport patterns; tickets, times and tastaghriqu; describing a town (mazāyā / ʿuyūb); prices and comparatives; mabniyyun min; commands m. / f. / pl.).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F6-L12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تُرِيدِينَ · رَأْيُكِ. Five prompts covering places, transport, tickets, positions and opinions; task ! is unexpected.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(46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F6-L12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Final Review and Assessment: My Town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تَدْرِيبٌ لِلتَّقْيِيمِ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Assessment practice for F6: students run their own speaking and writing rehearsal in breakout rooms — a quick word check, a model exchange, exam-style question cards, a five-prompt role play, a 45-second talk, then build, fix and write a timed text about their town and transport.</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F6 check: places and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 مَطَارٌ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 · airport</a:t>
            </a:r>
            <a:endParaRPr lang="en-US" sz="1350" dirty="0"/>
          </a:p>
          <a:p>
            <a:pPr indent="0" marL="0">
              <a:buNone/>
            </a:pPr>
            <a:r>
              <a:rPr lang="en-US" sz="1100" i="1" dirty="0">
                <a:solidFill>
                  <a:srgbClr val="5A6472"/>
                </a:solidFill>
                <a:latin typeface="Calibri" pitchFamily="34" charset="0"/>
                <a:cs typeface="Amiri" pitchFamily="2" charset="-78"/>
              </a:rPr>
              <a:t>ma-ḥaṭ-ṭa-tun · ma-ṭā-run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 · مَكْتَبَةٌ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 · library</a:t>
            </a:r>
            <a:endParaRPr lang="en-US" sz="1350" dirty="0"/>
          </a:p>
          <a:p>
            <a:pPr indent="0" marL="0">
              <a:buNone/>
            </a:pPr>
            <a:r>
              <a:rPr lang="en-US" sz="1100" i="1" dirty="0">
                <a:solidFill>
                  <a:srgbClr val="5A6472"/>
                </a:solidFill>
                <a:latin typeface="Calibri" pitchFamily="34" charset="0"/>
                <a:cs typeface="Amiri" pitchFamily="2" charset="-78"/>
              </a:rPr>
              <a:t>sū-qun · mak-ta-ba-tun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بِجَانِبِ · مُقَابِلَ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 opposite</a:t>
            </a:r>
            <a:endParaRPr lang="en-US" sz="1350" dirty="0"/>
          </a:p>
          <a:p>
            <a:pPr indent="0" marL="0">
              <a:buNone/>
            </a:pPr>
            <a:r>
              <a:rPr lang="en-US" sz="1100" i="1" dirty="0">
                <a:solidFill>
                  <a:srgbClr val="5A6472"/>
                </a:solidFill>
                <a:latin typeface="Calibri" pitchFamily="34" charset="0"/>
                <a:cs typeface="Amiri" pitchFamily="2" charset="-78"/>
              </a:rPr>
              <a:t>bi-jā-ni-bi · mu-qā-bi-la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 · بَعِيدٌ عَنْ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 · far from</a:t>
            </a:r>
            <a:endParaRPr lang="en-US" sz="1350" dirty="0"/>
          </a:p>
          <a:p>
            <a:pPr indent="0" marL="0">
              <a:buNone/>
            </a:pPr>
            <a:r>
              <a:rPr lang="en-US" sz="1100" i="1" dirty="0">
                <a:solidFill>
                  <a:srgbClr val="5A6472"/>
                </a:solidFill>
                <a:latin typeface="Calibri" pitchFamily="34" charset="0"/>
                <a:cs typeface="Amiri" pitchFamily="2" charset="-78"/>
              </a:rPr>
              <a:t>qa-rī-bun min · ba-ʿī-dun ʿan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F6 check: transport and directions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بِالحَافِلَةِ · مَشْيًا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bus · on foot</a:t>
            </a:r>
            <a:endParaRPr lang="en-US" sz="1350" dirty="0"/>
          </a:p>
          <a:p>
            <a:pPr indent="0" marL="0">
              <a:buNone/>
            </a:pPr>
            <a:r>
              <a:rPr lang="en-US" sz="1100" i="1" dirty="0">
                <a:solidFill>
                  <a:srgbClr val="5A6472"/>
                </a:solidFill>
                <a:latin typeface="Calibri" pitchFamily="34" charset="0"/>
                <a:cs typeface="Amiri" pitchFamily="2" charset="-78"/>
              </a:rPr>
              <a:t>bil-ḥā-fi-la-ti · mash-yan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 ذَهَابٍ وَإِيَابٍ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 ticket</a:t>
            </a:r>
            <a:endParaRPr lang="en-US" sz="1350" dirty="0"/>
          </a:p>
          <a:p>
            <a:pPr indent="0" marL="0">
              <a:buNone/>
            </a:pPr>
            <a:r>
              <a:rPr lang="en-US" sz="1100" i="1" dirty="0">
                <a:solidFill>
                  <a:srgbClr val="5A6472"/>
                </a:solidFill>
                <a:latin typeface="Calibri" pitchFamily="34" charset="0"/>
                <a:cs typeface="Amiri" pitchFamily="2" charset="-78"/>
              </a:rPr>
              <a:t>tadh-ki-ra-tu dha-hā-bin wa-ʾi-yā-bin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 · أَغْلَى مِنْ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 dearer than</a:t>
            </a:r>
            <a:endParaRPr lang="en-US" sz="1350" dirty="0"/>
          </a:p>
          <a:p>
            <a:pPr indent="0" marL="0">
              <a:buNone/>
            </a:pPr>
            <a:r>
              <a:rPr lang="en-US" sz="1100" i="1" dirty="0">
                <a:solidFill>
                  <a:srgbClr val="5A6472"/>
                </a:solidFill>
                <a:latin typeface="Calibri" pitchFamily="34" charset="0"/>
                <a:cs typeface="Amiri" pitchFamily="2" charset="-78"/>
              </a:rPr>
              <a:t>ar-kha-ṣu min · agh-lā min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انْعَطِفْ · اعْبُرْ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 turn · cross</a:t>
            </a:r>
            <a:endParaRPr lang="en-US" sz="1350" dirty="0"/>
          </a:p>
          <a:p>
            <a:pPr indent="0" marL="0">
              <a:buNone/>
            </a:pPr>
            <a:r>
              <a:rPr lang="en-US" sz="1100" i="1" dirty="0">
                <a:solidFill>
                  <a:srgbClr val="5A6472"/>
                </a:solidFill>
                <a:latin typeface="Calibri" pitchFamily="34" charset="0"/>
                <a:cs typeface="Amiri" pitchFamily="2" charset="-78"/>
              </a:rPr>
              <a:t>adh-hab · an-ʿa-ṭif · aʿ-bur</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 is that</a:t>
            </a:r>
            <a:endParaRPr lang="en-US" sz="1350" dirty="0"/>
          </a:p>
          <a:p>
            <a:pPr indent="0" marL="0">
              <a:buNone/>
            </a:pPr>
            <a:r>
              <a:rPr lang="en-US" sz="1100" i="1" dirty="0">
                <a:solidFill>
                  <a:srgbClr val="5A6472"/>
                </a:solidFill>
                <a:latin typeface="Calibri" pitchFamily="34" charset="0"/>
                <a:cs typeface="Amiri" pitchFamily="2" charset="-78"/>
              </a:rPr>
              <a:t>min ma-zā-yā … an-na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exam-style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حِوَارٌ مِثْلَ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town.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مَدِينَتَكَ.</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is small and quiet; it has an old market and a train station.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مَدِينَتِي صَغِيرَةٌ وَهَادِئَةٌ؛ يُوجَدُ فِيهَا سُوقٌ قَدِيمٌ، وَتُوجَدُ مَحَطَّةُ قِطَارٍ.</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كَيْفَ تَذْهَبُ إِلَى المَدْرَسَةِ؟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walk, and the journey takes twenty minutes.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أَذْهَبُ مَشْيًا، وَتَسْتَغْرِقُ الرِّحْلَةُ عِشْرِينَ دَقِيقَةً.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the transport in your town?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رَأْيُكَ فِي المُوَاصَلَاتِ فِي مَدِينَتِكَ؟</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is that buses are cheap, but they are often late.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مَزَايَاهَا أَنَّ الحَافِلَاتِ رَخِيصَةٌ، لٰكِنَّهَا تَتَأَخَّرُ كَثِيرًا.</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Round 3: answer with your own facts under exam conditions — no slide.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مُقَابِلَ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home?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56648" y="3004718"/>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المَحَطَّةُ … ، قَرِيبَةٌ مِنْ / بَعِيدَةٌ عَنْ …</a:t>
            </a:r>
            <a:endParaRPr lang="ar-SA" sz="155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station in your town?</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المَحَطَّةُ فِي مَدِينَتِكَ؟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وَاسْتَغْرَقَتِ الرِّحْلَةُ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سَافَرْتُ بِالقِطَارِ / بِالطَّائِرَةِ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did you travel on your last holiday?</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سَافَرْتَ فِي آخِرِ عُطْلَةٍ؟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56648" y="4478731"/>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أَتَسَوَّقُ فِي … ، وَهُوَ أَرْخَصُ مِنْ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shop, and is it cheap?</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تَتَسَوَّقُ؟ وَهَلْ هُوَ رَخِيصٌ؟</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وَالمَكْتَبَةُ عَلَى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 … ، ثُمَّ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I get from school to the library?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أَذْهَبُ مِنَ المَدْرَسَةِ إِلَى المَكْتَبَةِ؟</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Role-play card — a day out in the city (five prompts)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أُرِيدُ أَنْ أَزُورَ … وَ…</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places.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تُرِيدُ أَنْ تَزُورَ؟</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 كَيْفَ أَذْهَبُ إِلَى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how to get there.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المَتْحَفُ بَعِيدٌ قَلِيلًا.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 كَمْ ثَمَنُ التَّذْكِرَةِ؟</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ticket price.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بِالمِتْرُو. تَسْتَغْرِقُ الرِّحْلَةُ رُبْعَ سَاعَةٍ.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أَيْنَ السُّوقُ بِالضَّبْطِ؟</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exact location of the market.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جُنَيْهَانِ فَقَطْ. وَالسُّوقُ قَرِيبٌ مِنَ المَتْحَفِ.</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رَأْيُكَ ← هِيَ … ، لٰكِنَّهَا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مَدِينَتِنَا حَتَّى الآنَ؟</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visitor · Leader = a helpful local. Read the plan for 1 minute, then hide it and speak.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45 seconds: my town and transport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مَدِينَتِي وَالمُوَاصَلَاتُ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45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Speak for 45 seconds without stopping about your town and transport — places, travel, a building, prices, advantages and disadvantages.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30 seconds: one sentence on each theme.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45 seconds with reasons and connectors.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45 seconds + a route with commands and an overall judgement — no agreement errors.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station is opposite the hospital.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المُسْتَشْفَى.</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journey to London takes three hours.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تَسْتَغْرِقُ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يَسْتَغْرِقُ</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 إِلَى لَنْدَنَ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 إِلَى لَنْدَنُ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ثَلَاثَ سَاعَاتٍ.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ثَلَاثَةُ سَاعَةٍ.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Turn right, then cross the street. (to a girl)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انْعَطِفِي يَمِينًا،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انْعَطِفْ يَمِينًا،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اعْبُرِي الشَّارِعَ.</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اعْبُرُوا الشَّارِعَ.</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station is opposite the hospital.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Position word + genitive (</a:t>
            </a:r>
            <a:pPr algn="l" indent="0" marL="0">
              <a:buNone/>
            </a:pPr>
            <a:r>
              <a:rPr lang="ar-SA" altLang="en-US" sz="1350" dirty="0">
                <a:solidFill>
                  <a:srgbClr val="5A6472"/>
                </a:solidFill>
                <a:latin typeface="Amiri" pitchFamily="2" charset="-78"/>
                <a:ea typeface="Amiri" pitchFamily="2" charset="-78"/>
                <a:cs typeface="Amiri" pitchFamily="2" charset="-78"/>
              </a:rPr>
              <a:t>المُسْتَشْفَى</a:t>
            </a:r>
            <a:pPr algn="l" indent="0" marL="0">
              <a:buNone/>
            </a:pPr>
            <a:r>
              <a:rPr lang="en-US" sz="1050" i="1" dirty="0">
                <a:solidFill>
                  <a:srgbClr val="5A6472"/>
                </a:solidFill>
                <a:latin typeface="Calibri" pitchFamily="34" charset="0"/>
                <a:cs typeface="Amiri" pitchFamily="2" charset="-78"/>
              </a:rPr>
              <a:t> does not change).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المَحَطَّةُ مُقَابِلَ المُسْتَشْفَى.</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journey to London takes three hours.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رِحْلَةٌ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تَسْتَغْرِقُ</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ثَلَاثَ سَاعَاتٍ</a:t>
            </a:r>
            <a:pPr algn="l" indent="0" marL="0">
              <a:buNone/>
            </a:pPr>
            <a:r>
              <a:rPr lang="en-US" sz="1050" i="1" dirty="0">
                <a:solidFill>
                  <a:srgbClr val="5A6472"/>
                </a:solidFill>
                <a:latin typeface="Calibri" pitchFamily="34" charset="0"/>
                <a:cs typeface="Amiri" pitchFamily="2" charset="-78"/>
              </a:rPr>
              <a:t> (f. noun → </a:t>
            </a:r>
            <a:pPr algn="l" indent="0" marL="0">
              <a:buNone/>
            </a:pPr>
            <a:r>
              <a:rPr lang="ar-SA" altLang="en-US" sz="1350" dirty="0">
                <a:solidFill>
                  <a:srgbClr val="5A6472"/>
                </a:solidFill>
                <a:latin typeface="Amiri" pitchFamily="2" charset="-78"/>
                <a:ea typeface="Amiri" pitchFamily="2" charset="-78"/>
                <a:cs typeface="Amiri" pitchFamily="2" charset="-78"/>
              </a:rPr>
              <a:t>ثَلَاثَ</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تَسْتَغْرِقُ الرِّحْلَةُ إِلَى لَنْدَنَ ثَلَاثَ سَاعَاتٍ.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Turn right, then cross the street. (to a girl)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 -ī on every command.</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انْعَطِفِي يَمِينًا، ثُمَّ اعْبُرِي الشَّارِعَ.</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صَيْدَلِيَّةٌ بِجَانِبِ البَنْكِ.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صَيْدَلِيَّةٌ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كَمْ ثَمَنُهُ؟</a:t>
            </a:r>
            <a:pPr algn="l" indent="0" marL="0">
              <a:buNone/>
            </a:pPr>
            <a:r>
              <a:rPr lang="en-US" sz="3000" b="1" dirty="0">
                <a:solidFill>
                  <a:srgbClr val="B83227"/>
                </a:solidFill>
                <a:latin typeface="Calibri" pitchFamily="34" charset="0"/>
                <a:cs typeface="Amiri" pitchFamily="2" charset="-78"/>
              </a:rPr>
              <a:t> (about a ticket — </a:t>
            </a:r>
            <a:pPr algn="l" indent="0" marL="0">
              <a:buNone/>
            </a:pPr>
            <a:r>
              <a:rPr lang="ar-SA" altLang="en-US" sz="3900" b="1" dirty="0">
                <a:solidFill>
                  <a:srgbClr val="B83227"/>
                </a:solidFill>
                <a:latin typeface="Amiri" pitchFamily="2" charset="-78"/>
                <a:ea typeface="Amiri" pitchFamily="2" charset="-78"/>
                <a:cs typeface="Amiri" pitchFamily="2" charset="-78"/>
              </a:rPr>
              <a:t>تَذْكِرَةٌ</a:t>
            </a:r>
            <a:pPr algn="l" indent="0" marL="0">
              <a:buNone/>
            </a:pPr>
            <a:r>
              <a:rPr lang="en-US" sz="3000" b="1" dirty="0">
                <a:solidFill>
                  <a:srgbClr val="B83227"/>
                </a:solidFill>
                <a:latin typeface="Calibri" pitchFamily="34" charset="0"/>
                <a:cs typeface="Amiri" pitchFamily="2" charset="-78"/>
              </a:rPr>
              <a:t>)</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تَذْكِرَةٌ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المَدِينَةُ مُكْتَظٌّ وَصَاخِبٌ.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مَدِينَةٌ</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صَيْدَلِيَّةٌ بِجَانِبِ البَنْكِ.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صَيْدَلِيَّةٌ بِجَانِبِ البَنْكِ.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كَمْ ثَمَنُهُ؟</a:t>
            </a:r>
            <a:pPr algn="l" indent="0" marL="0">
              <a:buNone/>
            </a:pPr>
            <a:r>
              <a:rPr lang="en-US" sz="1800" dirty="0">
                <a:solidFill>
                  <a:srgbClr val="B83227"/>
                </a:solidFill>
                <a:latin typeface="Calibri" pitchFamily="34" charset="0"/>
                <a:cs typeface="Amiri" pitchFamily="2" charset="-78"/>
              </a:rPr>
              <a:t> (about a ticket — </a:t>
            </a:r>
            <a:pPr algn="l" indent="0" marL="0">
              <a:buNone/>
            </a:pPr>
            <a:r>
              <a:rPr lang="ar-SA" altLang="en-US" sz="2350" dirty="0">
                <a:solidFill>
                  <a:srgbClr val="B83227"/>
                </a:solidFill>
                <a:latin typeface="Amiri" pitchFamily="2" charset="-78"/>
                <a:ea typeface="Amiri" pitchFamily="2" charset="-78"/>
                <a:cs typeface="Amiri" pitchFamily="2" charset="-78"/>
              </a:rPr>
              <a:t>تَذْكِرَةٌ</a:t>
            </a:r>
            <a:pPr algn="l" indent="0" marL="0">
              <a:buNone/>
            </a:pPr>
            <a:r>
              <a:rPr lang="en-US" sz="1800" dirty="0">
                <a:solidFill>
                  <a:srgbClr val="B83227"/>
                </a:solidFill>
                <a:latin typeface="Calibri" pitchFamily="34" charset="0"/>
                <a:cs typeface="Amiri" pitchFamily="2" charset="-78"/>
              </a:rPr>
              <a:t>)</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المَدِينَةُ مُكْتَظٌّ وَصَاخِبٌ.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المَدِينَةُ مُكْتَظَّةٌ وَصَاخِبَةٌ.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on both adjectives.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لٰكِنَّهَا تَفْتَقِرُ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مِنْ بَيْتِي إِلَى ______ : اذْهَبْ ______ ، ثُمَّ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my house to …: go …, then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مَدِينَتِي يُوجَدُ ______ ، وَتُوجَدُ ______ .</a:t>
            </a:r>
            <a:endParaRPr lang="ar-SA" sz="17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أَذْهَبُ إِلَى المَدْرَسَةِ ______ ، وَتَسْتَغْرِقُ الرِّحْلَةُ ______ .</a:t>
            </a:r>
            <a:endParaRPr lang="ar-SA" sz="13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 and it takes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 / مَبْنِيَّةٌ مِنَ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built of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my town is that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بِجَانِبِ · مُقَابِلَ · بَيْنَ  ·  بِالحَافِلَةِ · مَشْيًا  ·  تَسْتَغْرِقُ  ·  مَبْنِيٌّ مِنْ  ·  مِنْ مَزَايَا … أَنَّ  ·  تَفْتَقِرُ إِلَى  ·  اذْهَبْ · انْعَطِفْ</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Timed writing: my town and transport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كِتَابَةٌ مُؤَقَّتَةٌ: مَدِينَتِي وَالمُوَاصَلَاتُ</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Timed practice (12 minutes). Write about 55–75 words for an e-pal. Include: • your town: places and where they are • how you travel to school and how long it takes • a building and what it is built of • one advantage and one disadvantage • directions from your home to one place.</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فِي مَدِينَتِي … بِجَانِبِ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town there is … next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 ، وَتَسْتَغْرِقُ الرِّحْلَةُ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go …, and it takes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مَزَايَاهَا أَنَّ … ، لٰكِنَّ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advantage is that …, but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 … ثُمَّ انْعَطِفْ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 … then turn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every bullet point in full sentences within the time?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F6 agreements right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ثَمَنُهُ / ثَمَنُهَا</a:t>
            </a:r>
            <a:pPr algn="l" indent="0" marL="0">
              <a:buNone/>
            </a:pPr>
            <a:r>
              <a:rPr lang="en-US" sz="1100" dirty="0">
                <a:solidFill>
                  <a:srgbClr val="5A6472"/>
                </a:solidFill>
                <a:latin typeface="Calibri" pitchFamily="34" charset="0"/>
                <a:cs typeface="Amiri" pitchFamily="2" charset="-78"/>
              </a:rPr>
              <a:t> · commands)?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أَزُورَ المَتْحَفَ وَالسُّوقَ القَدِيمَ.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visit the museum and the old market.</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تُرِيدُ أَنْ تَزُورَ؟</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أَذْهَبُ إِلَيْهِ؟ بِالحَافِلَةِ أَمْ بِالمِتْرُو؟</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do I get there? By bus or by underground?</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المَتْحَفُ بَعِيدٌ قَلِيلًا.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كَمْ ثَمَنُ التَّذْكِرَةِ؟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Thanks. How much is the ticket?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بِالمِتْرُو. تَسْتَغْرِقُ الرِّحْلَةُ رُبْعَ سَاعَةٍ.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السُّوقُ بِالضَّبْطِ؟ بِجَانِبِ المَتْحَفِ؟</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Where exactly is the market? Next to the museum?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جُنَيْهَانِ فَقَطْ. وَالسُّوقُ قَرِيبٌ مِنَ المَتْحَفِ.</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جَمِيلَةٌ وَنَظِيفَةٌ، لٰكِنَّهَا مُكْتَظَّةٌ قَلِيلًا.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beautiful and clean, but a bit crowded.</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رَأْيُكَ فِي مَدِينَتِنَا حَتَّى الآنَ؟</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أَسْكُنُ فِي مَدِينَةِ بِرْمِنْغْهَامَ. فِي وَسَطِهَا يُوجَدُ مَيْدَانٌ كَبِيرٌ، وَتُوجَدُ مَكْتَبَةٌ حَدِيثَةٌ بِجَانِبِهِ، وَهِيَ مَبْنِيَّةٌ مِنَ الزُّجَاجِ وَالمَعْدِنِ. أَذْهَبُ إِلَى المَدْرَسَةِ بِالحَافِلَةِ، وَتَسْتَغْرِقُ الرِّحْلَةُ نِصْفَ سَاعَةٍ. مِنْ مَزَايَا مَدِينَتِي أَنَّ المُوَاصَلَاتِ كَثِيرَةٌ، لٰكِنَّهَا مُكْتَظَّةٌ. مِنْ بَيْتِي إِلَى المَكْتَبَةِ: اذْهَبْ مُسْتَقِيمًا، ثُمَّ انْعَطِفْ يَسَارًا عِنْدَ المَحَطَّةِ.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I live in Birmingham. In the centre there is a big square, and a modern library next to it, built of glass and metal. I go to school by bus, and the journey takes half an hour. One advantage of my city is that there is a lot of transport, but it is crowded. From my house to the library: go straight on, then turn left at the station.”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وَتُوجَدُ مَكْتَبَةٌ حَدِيثَةٌ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مَبْنِيَّةٌ مِنَ الزُّجَاجِ</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وَتَسْتَغْرِقُ الرِّحْلَةُ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مَزَايَا مَدِينَتِي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F6 review · Well done — the unit is complete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decode the question word, answer in full sentences, check every agreement.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F6-L12 · Practice Room — Final Review and Assessment: My Town and Transport</dc:title>
  <dc:subject>PptxGenJS Presentation</dc:subject>
  <dc:creator>Al Madina Online School · Arabic Department</dc:creator>
  <cp:lastModifiedBy>Al Madina Online School · Arabic Department</cp:lastModifiedBy>
  <cp:revision>1</cp:revision>
  <dcterms:created xsi:type="dcterms:W3CDTF">2026-10-25T17:50:37Z</dcterms:created>
  <dcterms:modified xsi:type="dcterms:W3CDTF">2026-10-25T17:50:37Z</dcterms:modified>
</cp:coreProperties>
</file>