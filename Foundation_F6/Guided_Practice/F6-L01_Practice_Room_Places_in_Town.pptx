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F6-L01 (Places in Town: Buildings and Public Spaces) — new practice tasks built on the lesson’s own word bank and grammar (yūjadu (m.) / tūjadu (f.) / hunāka + place; lā yūjadu; fī madīnatī; one preposition (bi-jānibi · qurba)).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F6-L01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to a female visitor: أُسَاعِدُكِ. Language: hal yūjadu (m.) / hal tūjadu (f.) — choose by the place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F6  ·  F6-L01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F6-L01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Places in Town: Buildings and Public Spaces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الأَمَاكِنُ فِي المَدِينَةِ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places in town: say the place words, act a short dialogue, answer question cards, do a role-play card at a tourist office, give a 30-second talk, then build, fix and write a short description of their town.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F6-L01 · Foundation F6 · My Town and Transport</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F6 › F6-L01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in town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مَدِينَةٌ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city</a:t>
            </a:r>
            <a:endParaRPr lang="en-US" sz="1350" dirty="0"/>
          </a:p>
          <a:p>
            <a:pPr indent="0" marL="0">
              <a:buNone/>
            </a:pPr>
            <a:r>
              <a:rPr lang="en-US" sz="1100" i="1" dirty="0">
                <a:solidFill>
                  <a:srgbClr val="5A6472"/>
                </a:solidFill>
                <a:latin typeface="Calibri" pitchFamily="34" charset="0"/>
                <a:cs typeface="Amiri" pitchFamily="2" charset="-78"/>
              </a:rPr>
              <a:t>ma-dī-na-tun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مَدِينَةٌ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مُدُنٌ</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قَرْيَةٌ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village</a:t>
            </a:r>
            <a:endParaRPr lang="en-US" sz="1350" dirty="0"/>
          </a:p>
          <a:p>
            <a:pPr indent="0" marL="0">
              <a:buNone/>
            </a:pPr>
            <a:r>
              <a:rPr lang="en-US" sz="1100" i="1" dirty="0">
                <a:solidFill>
                  <a:srgbClr val="5A6472"/>
                </a:solidFill>
                <a:latin typeface="Calibri" pitchFamily="34" charset="0"/>
                <a:cs typeface="Amiri" pitchFamily="2" charset="-78"/>
              </a:rPr>
              <a:t>qar-ya-tun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قَرْيَةٌ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قُرًى</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مَدَارِسُ</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مَكْتَبَةٌ</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library</a:t>
            </a:r>
            <a:endParaRPr lang="en-US" sz="1350" dirty="0"/>
          </a:p>
          <a:p>
            <a:pPr indent="0" marL="0">
              <a:buNone/>
            </a:pPr>
            <a:r>
              <a:rPr lang="en-US" sz="1100" i="1" dirty="0">
                <a:solidFill>
                  <a:srgbClr val="5A6472"/>
                </a:solidFill>
                <a:latin typeface="Calibri" pitchFamily="34" charset="0"/>
                <a:cs typeface="Amiri" pitchFamily="2" charset="-78"/>
              </a:rPr>
              <a:t>mak-ta-ba-tun</a:t>
            </a:r>
            <a:endParaRPr lang="en-US" sz="135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72" name="Shape 6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مَتْحَفٌ</a:t>
            </a:r>
            <a:endParaRPr lang="ar-SA" sz="3000" dirty="0"/>
          </a:p>
        </p:txBody>
      </p:sp>
      <p:sp>
        <p:nvSpPr>
          <p:cNvPr id="75" name="Text 7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museum</a:t>
            </a:r>
            <a:endParaRPr lang="en-US" sz="1350" dirty="0"/>
          </a:p>
          <a:p>
            <a:pPr indent="0" marL="0">
              <a:buNone/>
            </a:pPr>
            <a:r>
              <a:rPr lang="en-US" sz="1100" i="1" dirty="0">
                <a:solidFill>
                  <a:srgbClr val="5A6472"/>
                </a:solidFill>
                <a:latin typeface="Calibri" pitchFamily="34" charset="0"/>
                <a:cs typeface="Amiri" pitchFamily="2" charset="-78"/>
              </a:rPr>
              <a:t>mat-ḥa-fun</a:t>
            </a:r>
            <a:endParaRPr lang="en-US" sz="1350" dirty="0"/>
          </a:p>
        </p:txBody>
      </p:sp>
      <p:sp>
        <p:nvSpPr>
          <p:cNvPr id="76" name="Shape 7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8" name="Text 7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مَتْحَفٌ</a:t>
            </a:r>
            <a:endParaRPr lang="ar-SA" sz="1500" dirty="0"/>
          </a:p>
        </p:txBody>
      </p:sp>
      <p:sp>
        <p:nvSpPr>
          <p:cNvPr id="79" name="Shape 7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1" name="Text 7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مَتَاحِفُ</a:t>
            </a:r>
            <a:endParaRPr lang="ar-SA" sz="1500" dirty="0"/>
          </a:p>
        </p:txBody>
      </p:sp>
      <p:sp>
        <p:nvSpPr>
          <p:cNvPr id="82" name="Shape 7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566928" y="4261104"/>
            <a:ext cx="310896" cy="310896"/>
          </a:xfrm>
          <a:prstGeom prst="ellipse">
            <a:avLst/>
          </a:prstGeom>
          <a:solidFill>
            <a:srgbClr val="F4F1EA"/>
          </a:solidFill>
          <a:ln w="12700">
            <a:solidFill>
              <a:srgbClr val="F4F1EA"/>
            </a:solidFill>
            <a:prstDash val="solid"/>
          </a:ln>
        </p:spPr>
      </p:sp>
      <p:sp>
        <p:nvSpPr>
          <p:cNvPr id="84" name="Text 8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5" name="Shape 8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6" name="Text 8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7" name="Text 8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88" name="Text 8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Places in town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صَيْدَلِيَّةٌ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pharmacy</a:t>
            </a:r>
            <a:endParaRPr lang="en-US" sz="1350" dirty="0"/>
          </a:p>
          <a:p>
            <a:pPr indent="0" marL="0">
              <a:buNone/>
            </a:pPr>
            <a:r>
              <a:rPr lang="en-US" sz="1100" i="1" dirty="0">
                <a:solidFill>
                  <a:srgbClr val="5A6472"/>
                </a:solidFill>
                <a:latin typeface="Calibri" pitchFamily="34" charset="0"/>
                <a:cs typeface="Amiri" pitchFamily="2" charset="-78"/>
              </a:rPr>
              <a:t>ṣay-da-liy-ya-tun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مَحَطَّةٌ</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station</a:t>
            </a:r>
            <a:endParaRPr lang="en-US" sz="1350" dirty="0"/>
          </a:p>
          <a:p>
            <a:pPr indent="0" marL="0">
              <a:buNone/>
            </a:pPr>
            <a:r>
              <a:rPr lang="en-US" sz="1100" i="1" dirty="0">
                <a:solidFill>
                  <a:srgbClr val="5A6472"/>
                </a:solidFill>
                <a:latin typeface="Calibri" pitchFamily="34" charset="0"/>
                <a:cs typeface="Amiri" pitchFamily="2" charset="-78"/>
              </a:rPr>
              <a:t>ma-ḥaṭ-ṭa-tun</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مَحَطَّةٌ</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مَحَطَّاتٌ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مَطَارٌ</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airport</a:t>
            </a:r>
            <a:endParaRPr lang="en-US" sz="1350" dirty="0"/>
          </a:p>
          <a:p>
            <a:pPr indent="0" marL="0">
              <a:buNone/>
            </a:pPr>
            <a:r>
              <a:rPr lang="en-US" sz="1100" i="1" dirty="0">
                <a:solidFill>
                  <a:srgbClr val="5A6472"/>
                </a:solidFill>
                <a:latin typeface="Calibri" pitchFamily="34" charset="0"/>
                <a:cs typeface="Amiri" pitchFamily="2" charset="-78"/>
              </a:rPr>
              <a:t>ma-ṭā-run</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سُوقٌ</a:t>
            </a:r>
            <a:endParaRPr lang="ar-SA" sz="3000" dirty="0"/>
          </a:p>
        </p:txBody>
      </p:sp>
      <p:sp>
        <p:nvSpPr>
          <p:cNvPr id="52" name="Text 4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market</a:t>
            </a:r>
            <a:endParaRPr lang="en-US" sz="1350" dirty="0"/>
          </a:p>
          <a:p>
            <a:pPr indent="0" marL="0">
              <a:buNone/>
            </a:pPr>
            <a:r>
              <a:rPr lang="en-US" sz="1100" i="1" dirty="0">
                <a:solidFill>
                  <a:srgbClr val="5A6472"/>
                </a:solidFill>
                <a:latin typeface="Calibri" pitchFamily="34" charset="0"/>
                <a:cs typeface="Amiri" pitchFamily="2" charset="-78"/>
              </a:rPr>
              <a:t>sū-qun</a:t>
            </a:r>
            <a:endParaRPr lang="en-US" sz="1350" dirty="0"/>
          </a:p>
        </p:txBody>
      </p:sp>
      <p:sp>
        <p:nvSpPr>
          <p:cNvPr id="53" name="Shape 5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5" name="Text 5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سُوقٌ</a:t>
            </a:r>
            <a:endParaRPr lang="ar-SA" sz="1500" dirty="0"/>
          </a:p>
        </p:txBody>
      </p:sp>
      <p:sp>
        <p:nvSpPr>
          <p:cNvPr id="56" name="Shape 5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أَسْوَاقٌ</a:t>
            </a:r>
            <a:endParaRPr lang="ar-SA" sz="150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مَطْعَمٌ</a:t>
            </a:r>
            <a:endParaRPr lang="ar-SA" sz="3000" dirty="0"/>
          </a:p>
        </p:txBody>
      </p:sp>
      <p:sp>
        <p:nvSpPr>
          <p:cNvPr id="65" name="Text 6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restaurant</a:t>
            </a:r>
            <a:endParaRPr lang="en-US" sz="1350" dirty="0"/>
          </a:p>
          <a:p>
            <a:pPr indent="0" marL="0">
              <a:buNone/>
            </a:pPr>
            <a:r>
              <a:rPr lang="en-US" sz="1100" i="1" dirty="0">
                <a:solidFill>
                  <a:srgbClr val="5A6472"/>
                </a:solidFill>
                <a:latin typeface="Calibri" pitchFamily="34" charset="0"/>
                <a:cs typeface="Amiri" pitchFamily="2" charset="-78"/>
              </a:rPr>
              <a:t>maṭ-ʿa-mun</a:t>
            </a:r>
            <a:endParaRPr lang="en-US" sz="1350" dirty="0"/>
          </a:p>
        </p:txBody>
      </p:sp>
      <p:sp>
        <p:nvSpPr>
          <p:cNvPr id="66" name="Shape 6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566928"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9" name="Shape 66"/>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71" name="Shape 6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حَدِيقَةٌ عَامَّةٌ</a:t>
            </a:r>
            <a:endParaRPr lang="ar-SA" sz="3000" dirty="0"/>
          </a:p>
        </p:txBody>
      </p:sp>
      <p:sp>
        <p:nvSpPr>
          <p:cNvPr id="74" name="Text 7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ḥa-dī-qa-tun ʿām-ma-tun</a:t>
            </a:r>
            <a:endParaRPr lang="en-US" sz="1350" dirty="0"/>
          </a:p>
        </p:txBody>
      </p:sp>
      <p:sp>
        <p:nvSpPr>
          <p:cNvPr id="75" name="Shape 7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77" name="Text 74"/>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حَدِيقَةٌ عَامَّةٌ</a:t>
            </a:r>
            <a:endParaRPr lang="ar-SA" sz="1500" dirty="0"/>
          </a:p>
        </p:txBody>
      </p:sp>
      <p:sp>
        <p:nvSpPr>
          <p:cNvPr id="78" name="Shape 7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حَدَائِقُ عَامَّةٌ</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there in your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يُوجَدُ فِي مَدِينَتِكَ؟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there in your town?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يُوجَدُ فِي مَدِينَتِكَ؟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There is a big market and a Lebanese restaurant.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يُوجَدُ سُوقٌ كَبِيرٌ وَمَطْعَمٌ لُبْنَانِيٌّ.</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there a library?</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هَلْ تُوجَدُ مَكْتَبَةٌ؟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there is a beautiful library next to the school.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تُوجَدُ مَكْتَبَةٌ جَمِيلَةٌ بِجَانِبِ المَدْرَسَةِ.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is there an airport?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هُنَاكَ مَطَارٌ؟</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there is no airport, but there is a train station.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لَا يُوجَدُ مَطَارٌ، لٰكِنْ تُوجَدُ مَحَطَّةُ قِطَارٍ.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YOUR real town — what there is and what there isn’t.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اسْمُهَا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أَسْكُنُ فِي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live in a city or a village?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تَسْكُنُ؟ فِي مَدِينَةٍ أَمْ فِي قَرْيَةٍ؟</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وَهُنَاكَ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يُوجَدُ … / تُوجَدُ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near your house?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يُوجَدُ قُرْبَ بَيْتِكَ؟</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يُوجَدُ … / لَا، لَا يُوجَدُ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there a museum in your town?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يُوجَدُ مَتْحَفٌ فِي مَدِينَتِكَ؟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أَذْهَبُ إِلَى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you go shopping?</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تَذْهَبُ لِلتَّسَوُّقِ؟</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مَكَانِي المُفَضَّلُ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favourite place in town?</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مَكَانُكَ المُفَضَّلُ فِي المَدِينَةِ؟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Role-play card — at the tourist information office</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مَكْتَبِ السِّيَاحَةِ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هَلْ يُوجَدُ …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if there is a museum.</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وَسَهْلًا! كَيْفَ أُسَاعِدُكَ؟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وَهَلْ يُوجَدُ … قَرِيبٌ؟</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a restaurant.</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يُوجَدُ مَتْحَفٌ تَارِيخِيٌّ.</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اسْأَلْ ← هَلْ تُوجَدُ …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about a pharmacy (f.).</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بِجَانِبِ السُّوقِ.</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شُكْرًا ← شُكْرًا جَزِيلًا ، مَعَ السَّلَامَةِ</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and say goodbye.</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نَعَمْ، أَمَامَ المُسْتَشْفَى.</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visitor · Leader = the tourist officer.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town: four places that exist, one that doesn’t, and your favourite place.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places with </a:t>
            </a:r>
            <a:pPr algn="l" indent="0" marL="0">
              <a:buNone/>
            </a:pPr>
            <a:r>
              <a:rPr lang="ar-SA" altLang="en-US" sz="1500" dirty="0">
                <a:solidFill>
                  <a:srgbClr val="1F2A37"/>
                </a:solidFill>
                <a:latin typeface="Amiri" pitchFamily="2" charset="-78"/>
                <a:ea typeface="Amiri" pitchFamily="2" charset="-78"/>
                <a:cs typeface="Amiri" pitchFamily="2" charset="-78"/>
              </a:rPr>
              <a:t>يُوجَدُ / تُوجَدُ</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لَا يُوجَدُ</a:t>
            </a:r>
            <a:pPr algn="l" indent="0" marL="0">
              <a:buNone/>
            </a:pPr>
            <a:r>
              <a:rPr lang="en-US" sz="1150" dirty="0">
                <a:solidFill>
                  <a:srgbClr val="1F2A37"/>
                </a:solidFill>
                <a:latin typeface="Calibri" pitchFamily="34" charset="0"/>
                <a:cs typeface="Amiri" pitchFamily="2" charset="-78"/>
              </a:rPr>
              <a:t> … and one position (</a:t>
            </a:r>
            <a:pPr algn="l" indent="0" marL="0">
              <a:buNone/>
            </a:pPr>
            <a:r>
              <a:rPr lang="ar-SA" altLang="en-US" sz="1500" dirty="0">
                <a:solidFill>
                  <a:srgbClr val="1F2A37"/>
                </a:solidFill>
                <a:latin typeface="Amiri" pitchFamily="2" charset="-78"/>
                <a:ea typeface="Amiri" pitchFamily="2" charset="-78"/>
                <a:cs typeface="Amiri" pitchFamily="2" charset="-78"/>
              </a:rPr>
              <a:t>بِجَانِبِ</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adjectives that agree and a reason for your favourite place.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big hospital in my town.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مُسْتَشْفًى كَبِيرٌ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مُسْتَشْفًى كَبِيرَةٌ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مَدِينَتِي.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مَدِينَتِي فِي.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public park near the school.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 عَامَّةٌ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حَدِيقَةٌ عَامٌّ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المَدْرَسَةِ.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المَدْرَسَةُ.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no airport.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مَطَارٌ.</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مَطَارًا.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big hospital in my town.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مُسْتَشْفًى</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يُوجَدُ … كَبِيرٌ</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يُوجَدُ مُسْتَشْفًى كَبِيرٌ فِي مَدِينَتِي.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public park near the school.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حَدِيقَةٌ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تُوجَدُ … عَامَّةٌ</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قُرْبَ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حَدِيقَةٌ عَامَّةٌ قُرْبَ المَدْرَسَةِ.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no airport.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 </a:t>
            </a:r>
            <a:pPr algn="l" indent="0" marL="0">
              <a:buNone/>
            </a:pPr>
            <a:r>
              <a:rPr lang="ar-SA" altLang="en-US" sz="1350" dirty="0">
                <a:solidFill>
                  <a:srgbClr val="5A6472"/>
                </a:solidFill>
                <a:latin typeface="Amiri" pitchFamily="2" charset="-78"/>
                <a:ea typeface="Amiri" pitchFamily="2" charset="-78"/>
                <a:cs typeface="Amiri" pitchFamily="2" charset="-78"/>
              </a:rPr>
              <a:t>لَا يُوجَدُ</a:t>
            </a:r>
            <a:pPr algn="l" indent="0" marL="0">
              <a:buNone/>
            </a:pPr>
            <a:r>
              <a:rPr lang="en-US" sz="1050" i="1" dirty="0">
                <a:solidFill>
                  <a:srgbClr val="5A6472"/>
                </a:solidFill>
                <a:latin typeface="Calibri" pitchFamily="34" charset="0"/>
                <a:cs typeface="Amiri" pitchFamily="2" charset="-78"/>
              </a:rPr>
              <a:t> + noun (</a:t>
            </a:r>
            <a:pPr algn="l" indent="0" marL="0">
              <a:buNone/>
            </a:pPr>
            <a:r>
              <a:rPr lang="ar-SA" altLang="en-US" sz="1350" dirty="0">
                <a:solidFill>
                  <a:srgbClr val="5A6472"/>
                </a:solidFill>
                <a:latin typeface="Amiri" pitchFamily="2" charset="-78"/>
                <a:ea typeface="Amiri" pitchFamily="2" charset="-78"/>
                <a:cs typeface="Amiri" pitchFamily="2" charset="-78"/>
              </a:rPr>
              <a:t>مَطَارٌ</a:t>
            </a:r>
            <a:pPr algn="l" indent="0" marL="0">
              <a:buNone/>
            </a:pPr>
            <a:r>
              <a:rPr lang="en-US" sz="1050" i="1" dirty="0">
                <a:solidFill>
                  <a:srgbClr val="5A6472"/>
                </a:solidFill>
                <a:latin typeface="Calibri" pitchFamily="34" charset="0"/>
                <a:cs typeface="Amiri" pitchFamily="2" charset="-78"/>
              </a:rPr>
              <a:t> is masculine).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يُوجَدُ مَطَارٌ.</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مَكْتَبَةٌ فِي حَيِّي.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مَكْتَبَةٌ</a:t>
            </a:r>
            <a:pPr algn="l" indent="0" marL="0">
              <a:buNone/>
            </a:pPr>
            <a:r>
              <a:rPr lang="en-US" sz="1300" i="1" dirty="0">
                <a:solidFill>
                  <a:srgbClr val="5A6472"/>
                </a:solidFill>
                <a:latin typeface="Calibri" pitchFamily="34" charset="0"/>
                <a:cs typeface="Amiri" pitchFamily="2" charset="-78"/>
              </a:rPr>
              <a:t> ends in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يُوجَدُ مَسْبَحٌ.</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of </a:t>
            </a:r>
            <a:pPr algn="l" indent="0" marL="0">
              <a:buNone/>
            </a:pPr>
            <a:r>
              <a:rPr lang="ar-SA" altLang="en-US" sz="1700" dirty="0">
                <a:solidFill>
                  <a:srgbClr val="5A6472"/>
                </a:solidFill>
                <a:latin typeface="Amiri" pitchFamily="2" charset="-78"/>
                <a:ea typeface="Amiri" pitchFamily="2" charset="-78"/>
                <a:cs typeface="Amiri" pitchFamily="2" charset="-78"/>
              </a:rPr>
              <a:t>يُوجَدُ</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السُّوقُ بِجَانِبِ المَحَطَّةُ.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بِجَانِبِ</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مَكْتَبَةٌ فِي حَيِّي.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مَكْتَبَةٌ فِي حَيِّي.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يُوجَدُ مَسْبَحٌ.</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يُوجَدُ مَسْبَحٌ.</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with the verb </a:t>
            </a:r>
            <a:pPr algn="l" indent="0" marL="0">
              <a:buNone/>
            </a:pPr>
            <a:r>
              <a:rPr lang="ar-SA" altLang="en-US" sz="1500" b="1" dirty="0">
                <a:solidFill>
                  <a:srgbClr val="1B3B6F"/>
                </a:solidFill>
                <a:latin typeface="Amiri" pitchFamily="2" charset="-78"/>
                <a:ea typeface="Amiri" pitchFamily="2" charset="-78"/>
                <a:cs typeface="Amiri" pitchFamily="2" charset="-78"/>
              </a:rPr>
              <a:t>يُوجَدُ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السُّوقُ بِجَانِبِ المَحَطَّةُ.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السُّوقُ بِجَانِبِ المَحَطَّةِ.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بِجَانِبِ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بِجَانِبِ / قُرْبَ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next to / near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 because it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______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the … of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مَدِينَتِي يُوجَدُ ______ ، وَتُوجَدُ ______ .</a:t>
            </a:r>
            <a:endParaRPr lang="ar-SA" sz="17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town there is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is no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مَكَانِي المُفَضَّلُ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favourite place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مَدِينَةٌ · قَرْيَةٌ  ·  يُوجَدُ · تُوجَدُ · هُنَاكَ  ·  لَا يُوجَدُ  ·  سُوقٌ · مَطْعَمٌ · مَتْحَفٌ  ·  مَكْتَبَةٌ · مَحَطَّةٌ  ·  حَدِيقَةٌ عَامَّةٌ  ·  بِجَانِبِ · قُرْبَ  ·  لِأَنَّ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مَدِينَتِي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description of your town (about 35–55 words) for a visitor. Include: • city, town or village and its name • four places with </a:t>
            </a:r>
            <a:pPr algn="l" indent="0" marL="0">
              <a:buNone/>
            </a:pPr>
            <a:r>
              <a:rPr lang="ar-SA" altLang="en-US" sz="1750" b="1" dirty="0">
                <a:solidFill>
                  <a:srgbClr val="1F2A37"/>
                </a:solidFill>
                <a:latin typeface="Amiri" pitchFamily="2" charset="-78"/>
                <a:ea typeface="Amiri" pitchFamily="2" charset="-78"/>
                <a:cs typeface="Amiri" pitchFamily="2" charset="-78"/>
              </a:rPr>
              <a:t>يُوجَدُ / تُوجَدُ</a:t>
            </a:r>
            <a:pPr algn="l" indent="0" marL="0">
              <a:buNone/>
            </a:pPr>
            <a:r>
              <a:rPr lang="en-US" sz="1350" b="1" dirty="0">
                <a:solidFill>
                  <a:srgbClr val="1F2A37"/>
                </a:solidFill>
                <a:latin typeface="Calibri" pitchFamily="34" charset="0"/>
                <a:cs typeface="Amiri" pitchFamily="2" charset="-78"/>
              </a:rPr>
              <a:t> • one place that isn’t there • where one place is • your favourite place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مَدِينَةِ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live in the city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مَدِينَتِي يُوجَدُ … وَتُوجَدُ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town there is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no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مَكَانِي المُفَضَّلُ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favourite place is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choose </a:t>
            </a:r>
            <a:pPr algn="l" indent="0" marL="0">
              <a:buNone/>
            </a:pPr>
            <a:r>
              <a:rPr lang="ar-SA" altLang="en-US" sz="1450" dirty="0">
                <a:solidFill>
                  <a:srgbClr val="5A6472"/>
                </a:solidFill>
                <a:latin typeface="Amiri" pitchFamily="2" charset="-78"/>
                <a:ea typeface="Amiri" pitchFamily="2" charset="-78"/>
                <a:cs typeface="Amiri" pitchFamily="2" charset="-78"/>
              </a:rPr>
              <a:t>يُوجَدُ / تُوجَدُ</a:t>
            </a:r>
            <a:pPr algn="l" indent="0" marL="0">
              <a:buNone/>
            </a:pPr>
            <a:r>
              <a:rPr lang="en-US" sz="1100" dirty="0">
                <a:solidFill>
                  <a:srgbClr val="5A6472"/>
                </a:solidFill>
                <a:latin typeface="Calibri" pitchFamily="34" charset="0"/>
                <a:cs typeface="Amiri" pitchFamily="2" charset="-78"/>
              </a:rPr>
              <a:t> by the place word?</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لَا يُوجَدُ</a:t>
            </a:r>
            <a:pPr algn="l" indent="0" marL="0">
              <a:buNone/>
            </a:pPr>
            <a:r>
              <a:rPr lang="en-US" sz="1100" dirty="0">
                <a:solidFill>
                  <a:srgbClr val="5A6472"/>
                </a:solidFill>
                <a:latin typeface="Calibri" pitchFamily="34" charset="0"/>
                <a:cs typeface="Amiri" pitchFamily="2" charset="-78"/>
              </a:rPr>
              <a:t> and a place word + genitive?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هَلْ يُوجَدُ مَتْحَفٌ فِي المَدِينَةِ؟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Is there a museum in the town?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وَسَهْلًا! كَيْفَ أُسَاعِدُكَ؟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رَائِعٌ! وَهَلْ يُوجَدُ مَطْعَمٌ قَرِيبٌ؟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Great! And is there a restaurant nearby?</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يُوجَدُ مَتْحَفٌ تَارِيخِيٌّ.</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هَلْ تُوجَدُ صَيْدَلِيَّةٌ أَيْضًا؟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Thanks. Is there a pharmacy too?</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بِجَانِبِ السُّوقِ.</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شُكْرًا جَزِيلًا، مَعَ السَّلَامَةِ.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Thank you very much, goodbye.</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أَمَامَ المُسْتَشْفَى.</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مَدِينَةِ كَارْدِيفَ. فِي مَدِينَتِي يُوجَدُ مَتْحَفٌ كَبِيرٌ وَسُوقٌ قَدِيمٌ، وَتُوجَدُ مَحَطَّةُ قِطَارٍ وَحَدِيقَةٌ عَامَّةٌ جَمِيلَةٌ. المَكْتَبَةُ بِجَانِبِ المَحَطَّةِ. لَا يُوجَدُ مَطَارٌ كَبِيرٌ، لٰكِنْ هُنَاكَ مَطَارٌ صَغِيرٌ خَارِجَ المَدِينَةِ. مَكَانِي المُفَضَّلُ الحَدِيقَةُ، لِأَنَّهَا هَادِئَةٌ وَخَضْرَاءُ.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the city of Cardiff. In my city there is a big museum and an old market, and there is a train station and a beautiful public park. The library is next to the station. There isn’t a big airport, but there is a small airport outside the city. My favourite place is the park, because it is quiet and green.”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يُوجَدُ مَتْحَفٌ</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وَتُوجَدُ مَحَطَّةُ قِطَارٍ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يُوجَدُ مَطَارٌ</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هَادِئَةٌ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F6-L01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F6 · My Town and Transport · F6-L01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F6-L01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F6-L02 · Locating Places: Maps, Distance and Position</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تَحْدِيدُ الأَمَاكِنِ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F6-L01 · Practice Room — Places in Town: Buildings and Public Spaces</dc:title>
  <dc:subject>PptxGenJS Presentation</dc:subject>
  <dc:creator>Al Madina Online School · Arabic Department</dc:creator>
  <cp:lastModifiedBy>Al Madina Online School · Arabic Department</cp:lastModifiedBy>
  <cp:revision>1</cp:revision>
  <dcterms:created xsi:type="dcterms:W3CDTF">2026-10-25T17:44:18Z</dcterms:created>
  <dcterms:modified xsi:type="dcterms:W3CDTF">2026-10-25T17:44:18Z</dcterms:modified>
</cp:coreProperties>
</file>