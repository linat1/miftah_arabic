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F6-L10 (Listening: Town and Transport Texts) — new practice tasks built on the lesson’s own word bank and grammar (predicting the answer type from the question word (ayna → place · matā → time · kayfa → transport · kam → number / price / duration · li-mādhā → reason); distractors after lākin / baynamā; command and pronoun endings).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F6-L10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Each announcement contains a typical distractor (late · not … but · whereas). The second reading is for checking — exactly as in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SUPPORTED: the plan column models the thinking (first words), not the full answer. Everyone is Speaker once. To a girl the Leader says: no gender changes — this card uses train facts. Students create listening material for each other, including a deliberate distractor.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F6-L10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Listening: Town and Transport Texts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أَسْتَمِعُ وَأَفْهَمُ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run their own listening-and-speaking practice in pairs: one partner reads short station and street announcements, the other predicts, listens, notes and answers — watching for distractors; then they build, fix and write their own announcement for the class to listen to.</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F6-L10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Predict the answer type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تَوَقَّعْ نَوْعَ الجَوَابِ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QUESTION WORD in Arabic. The Speaker says what kind of answer to listen for (a place, a time, a number…) and gives one Arabic example.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question words (</a:t>
            </a:r>
            <a:pPr algn="l" indent="0" marL="0">
              <a:buNone/>
            </a:pPr>
            <a:r>
              <a:rPr lang="ar-SA" altLang="en-US" sz="1500" dirty="0">
                <a:solidFill>
                  <a:srgbClr val="1F2A37"/>
                </a:solidFill>
                <a:latin typeface="Amiri" pitchFamily="2" charset="-78"/>
                <a:ea typeface="Amiri" pitchFamily="2" charset="-78"/>
                <a:cs typeface="Amiri" pitchFamily="2" charset="-78"/>
              </a:rPr>
              <a:t>أَيْنَ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مَتَى</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كَيْفَ</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كَمْ</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لِمَاذَا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“a place → </a:t>
            </a:r>
            <a:pPr algn="l" indent="0" marL="0">
              <a:buNone/>
            </a:pPr>
            <a:r>
              <a:rPr lang="ar-SA" altLang="en-US" sz="1500" dirty="0">
                <a:solidFill>
                  <a:srgbClr val="1F2A37"/>
                </a:solidFill>
                <a:latin typeface="Amiri" pitchFamily="2" charset="-78"/>
                <a:ea typeface="Amiri" pitchFamily="2" charset="-78"/>
                <a:cs typeface="Amiri" pitchFamily="2" charset="-78"/>
              </a:rPr>
              <a:t>فِي المَحَطَّةِ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with the word bank.</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answer type in English.</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one Arabic example.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two examples and a possible distractor.</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strategies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تَوَقُّعٌ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prediction</a:t>
            </a:r>
            <a:endParaRPr lang="en-US" sz="1350" dirty="0"/>
          </a:p>
          <a:p>
            <a:pPr indent="0" marL="0">
              <a:buNone/>
            </a:pPr>
            <a:r>
              <a:rPr lang="en-US" sz="1100" i="1" dirty="0">
                <a:solidFill>
                  <a:srgbClr val="5A6472"/>
                </a:solidFill>
                <a:latin typeface="Calibri" pitchFamily="34" charset="0"/>
                <a:cs typeface="Amiri" pitchFamily="2" charset="-78"/>
              </a:rPr>
              <a:t>ta-waq-qu-ʿun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كَلِمَةٌ مِفْتَاحِيَّةٌ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key word</a:t>
            </a:r>
            <a:endParaRPr lang="en-US" sz="1350" dirty="0"/>
          </a:p>
          <a:p>
            <a:pPr indent="0" marL="0">
              <a:buNone/>
            </a:pPr>
            <a:r>
              <a:rPr lang="en-US" sz="1100" i="1" dirty="0">
                <a:solidFill>
                  <a:srgbClr val="5A6472"/>
                </a:solidFill>
                <a:latin typeface="Calibri" pitchFamily="34" charset="0"/>
                <a:cs typeface="Amiri" pitchFamily="2" charset="-78"/>
              </a:rPr>
              <a:t>ka-li-ma-tun mif-tā-ḥiy-ya-tun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مُشَتِّتٌ</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distractor</a:t>
            </a:r>
            <a:endParaRPr lang="en-US" sz="1350" dirty="0"/>
          </a:p>
          <a:p>
            <a:pPr indent="0" marL="0">
              <a:buNone/>
            </a:pPr>
            <a:r>
              <a:rPr lang="en-US" sz="1100" i="1" dirty="0">
                <a:solidFill>
                  <a:srgbClr val="5A6472"/>
                </a:solidFill>
                <a:latin typeface="Calibri" pitchFamily="34" charset="0"/>
                <a:cs typeface="Amiri" pitchFamily="2" charset="-78"/>
              </a:rPr>
              <a:t>mu-shat-ti-tun</a:t>
            </a:r>
            <a:endParaRPr lang="en-US" sz="1350" dirty="0"/>
          </a:p>
        </p:txBody>
      </p:sp>
      <p:sp>
        <p:nvSpPr>
          <p:cNvPr id="38" name="Shape 3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مُشَتِّتَاتٌ</a:t>
            </a:r>
            <a:endParaRPr lang="ar-SA" sz="1500" dirty="0"/>
          </a:p>
        </p:txBody>
      </p:sp>
      <p:sp>
        <p:nvSpPr>
          <p:cNvPr id="41" name="Shape 3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43" name="Text 4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المُشَتِّتُ</a:t>
            </a:r>
            <a:endParaRPr lang="ar-SA" sz="1500" dirty="0"/>
          </a:p>
        </p:txBody>
      </p:sp>
      <p:sp>
        <p:nvSpPr>
          <p:cNvPr id="44" name="Shape 4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6" name="Text 4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مُشَتِّتٌ</a:t>
            </a:r>
            <a:endParaRPr lang="ar-SA" sz="15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مَرَّةٌ أُولَى</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 time</a:t>
            </a:r>
            <a:endParaRPr lang="en-US" sz="1350" dirty="0"/>
          </a:p>
          <a:p>
            <a:pPr indent="0" marL="0">
              <a:buNone/>
            </a:pPr>
            <a:r>
              <a:rPr lang="en-US" sz="1100" i="1" dirty="0">
                <a:solidFill>
                  <a:srgbClr val="5A6472"/>
                </a:solidFill>
                <a:latin typeface="Calibri" pitchFamily="34" charset="0"/>
                <a:cs typeface="Amiri" pitchFamily="2" charset="-78"/>
              </a:rPr>
              <a:t>mar-ra-tun ū-lā</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مَرَّةٌ ثَانِيَةٌ</a:t>
            </a:r>
            <a:endParaRPr lang="ar-SA" sz="3000" dirty="0"/>
          </a:p>
        </p:txBody>
      </p:sp>
      <p:sp>
        <p:nvSpPr>
          <p:cNvPr id="60" name="Text 5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second time</a:t>
            </a:r>
            <a:endParaRPr lang="en-US" sz="1350" dirty="0"/>
          </a:p>
          <a:p>
            <a:pPr indent="0" marL="0">
              <a:buNone/>
            </a:pPr>
            <a:r>
              <a:rPr lang="en-US" sz="1100" i="1" dirty="0">
                <a:solidFill>
                  <a:srgbClr val="5A6472"/>
                </a:solidFill>
                <a:latin typeface="Calibri" pitchFamily="34" charset="0"/>
                <a:cs typeface="Amiri" pitchFamily="2" charset="-78"/>
              </a:rPr>
              <a:t>mar-ra-tun thā-ni-ya-tun</a:t>
            </a:r>
            <a:endParaRPr lang="en-US" sz="135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4" name="Shape 61"/>
          <p:cNvSpPr/>
          <p:nvPr/>
        </p:nvSpPr>
        <p:spPr>
          <a:xfrm>
            <a:off x="960120" y="4279392"/>
            <a:ext cx="1082650"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960120"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6" name="Shape 6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8" name="Text 6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تَحَقَّقْ</a:t>
            </a:r>
            <a:endParaRPr lang="ar-SA" sz="3000" dirty="0"/>
          </a:p>
        </p:txBody>
      </p:sp>
      <p:sp>
        <p:nvSpPr>
          <p:cNvPr id="69" name="Text 6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verify</a:t>
            </a:r>
            <a:endParaRPr lang="en-US" sz="1350" dirty="0"/>
          </a:p>
          <a:p>
            <a:pPr indent="0" marL="0">
              <a:buNone/>
            </a:pPr>
            <a:r>
              <a:rPr lang="en-US" sz="1100" i="1" dirty="0">
                <a:solidFill>
                  <a:srgbClr val="5A6472"/>
                </a:solidFill>
                <a:latin typeface="Calibri" pitchFamily="34" charset="0"/>
                <a:cs typeface="Amiri" pitchFamily="2" charset="-78"/>
              </a:rPr>
              <a:t>ta-ḥaq-qaq</a:t>
            </a:r>
            <a:endParaRPr lang="en-US" sz="1350" dirty="0"/>
          </a:p>
        </p:txBody>
      </p:sp>
      <p:sp>
        <p:nvSpPr>
          <p:cNvPr id="70" name="Shape 67"/>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group</a:t>
            </a:r>
            <a:endParaRPr lang="en-US" sz="700" dirty="0"/>
          </a:p>
        </p:txBody>
      </p:sp>
      <p:sp>
        <p:nvSpPr>
          <p:cNvPr id="72" name="Text 69"/>
          <p:cNvSpPr txBox="1"/>
          <p:nvPr/>
        </p:nvSpPr>
        <p:spPr>
          <a:xfrm>
            <a:off x="294436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تَحَقَّقُوا</a:t>
            </a:r>
            <a:endParaRPr lang="ar-SA" sz="1350" dirty="0"/>
          </a:p>
        </p:txBody>
      </p:sp>
      <p:sp>
        <p:nvSpPr>
          <p:cNvPr id="73" name="Shape 70"/>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75" name="Text 72"/>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تَحَقَّقِي</a:t>
            </a:r>
            <a:endParaRPr lang="ar-SA" sz="1350" dirty="0"/>
          </a:p>
        </p:txBody>
      </p:sp>
      <p:sp>
        <p:nvSpPr>
          <p:cNvPr id="76" name="Shape 73"/>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boy</a:t>
            </a:r>
            <a:endParaRPr lang="en-US" sz="750" dirty="0"/>
          </a:p>
        </p:txBody>
      </p:sp>
      <p:sp>
        <p:nvSpPr>
          <p:cNvPr id="78" name="Text 75"/>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تَحَقَّقْ</a:t>
            </a:r>
            <a:endParaRPr lang="ar-SA" sz="15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words and answer types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t>
            </a:r>
            <a:endParaRPr lang="en-US" sz="1350" dirty="0"/>
          </a:p>
          <a:p>
            <a:pPr indent="0" marL="0">
              <a:buNone/>
            </a:pPr>
            <a:r>
              <a:rPr lang="en-US" sz="1100" i="1" dirty="0">
                <a:solidFill>
                  <a:srgbClr val="5A6472"/>
                </a:solidFill>
                <a:latin typeface="Calibri" pitchFamily="34" charset="0"/>
                <a:cs typeface="Amiri" pitchFamily="2" charset="-78"/>
              </a:rPr>
              <a:t>ay-na?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مَتَى؟</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a:t>
            </a:r>
            <a:endParaRPr lang="en-US" sz="1350" dirty="0"/>
          </a:p>
          <a:p>
            <a:pPr indent="0" marL="0">
              <a:buNone/>
            </a:pPr>
            <a:r>
              <a:rPr lang="en-US" sz="1100" i="1" dirty="0">
                <a:solidFill>
                  <a:srgbClr val="5A6472"/>
                </a:solidFill>
                <a:latin typeface="Calibri" pitchFamily="34" charset="0"/>
                <a:cs typeface="Amiri" pitchFamily="2" charset="-78"/>
              </a:rPr>
              <a:t>ma-tā?</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كَيْفَ؟</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a:t>
            </a:r>
            <a:endParaRPr lang="en-US" sz="1350" dirty="0"/>
          </a:p>
          <a:p>
            <a:pPr indent="0" marL="0">
              <a:buNone/>
            </a:pPr>
            <a:r>
              <a:rPr lang="en-US" sz="1100" i="1" dirty="0">
                <a:solidFill>
                  <a:srgbClr val="5A6472"/>
                </a:solidFill>
                <a:latin typeface="Calibri" pitchFamily="34" charset="0"/>
                <a:cs typeface="Amiri" pitchFamily="2" charset="-78"/>
              </a:rPr>
              <a:t>kay-fa?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many / much / long?</a:t>
            </a:r>
            <a:endParaRPr lang="en-US" sz="1350" dirty="0"/>
          </a:p>
          <a:p>
            <a:pPr indent="0" marL="0">
              <a:buNone/>
            </a:pPr>
            <a:r>
              <a:rPr lang="en-US" sz="1100" i="1" dirty="0">
                <a:solidFill>
                  <a:srgbClr val="5A6472"/>
                </a:solidFill>
                <a:latin typeface="Calibri" pitchFamily="34" charset="0"/>
                <a:cs typeface="Amiri" pitchFamily="2" charset="-78"/>
              </a:rPr>
              <a:t>kam?</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لِمَاذَا؟</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why?</a:t>
            </a:r>
            <a:endParaRPr lang="en-US" sz="1350" dirty="0"/>
          </a:p>
          <a:p>
            <a:pPr indent="0" marL="0">
              <a:buNone/>
            </a:pPr>
            <a:r>
              <a:rPr lang="en-US" sz="1100" i="1" dirty="0">
                <a:solidFill>
                  <a:srgbClr val="5A6472"/>
                </a:solidFill>
                <a:latin typeface="Calibri" pitchFamily="34" charset="0"/>
                <a:cs typeface="Amiri" pitchFamily="2" charset="-78"/>
              </a:rPr>
              <a:t>li-mā-dhā?</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5" name="Shape 5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رَصِيفٌ</a:t>
            </a:r>
            <a:endParaRPr lang="ar-SA" sz="3000" dirty="0"/>
          </a:p>
        </p:txBody>
      </p:sp>
      <p:sp>
        <p:nvSpPr>
          <p:cNvPr id="58" name="Text 5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platform</a:t>
            </a:r>
            <a:endParaRPr lang="en-US" sz="1350" dirty="0"/>
          </a:p>
          <a:p>
            <a:pPr indent="0" marL="0">
              <a:buNone/>
            </a:pPr>
            <a:r>
              <a:rPr lang="en-US" sz="1100" i="1" dirty="0">
                <a:solidFill>
                  <a:srgbClr val="5A6472"/>
                </a:solidFill>
                <a:latin typeface="Calibri" pitchFamily="34" charset="0"/>
                <a:cs typeface="Amiri" pitchFamily="2" charset="-78"/>
              </a:rPr>
              <a:t>ra-ṣī-fun</a:t>
            </a:r>
            <a:endParaRPr lang="en-US" sz="1350" dirty="0"/>
          </a:p>
        </p:txBody>
      </p:sp>
      <p:sp>
        <p:nvSpPr>
          <p:cNvPr id="59" name="Shape 56"/>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1" name="Text 58"/>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أَرْصِفَةٌ</a:t>
            </a:r>
            <a:endParaRPr lang="ar-SA" sz="1500" dirty="0"/>
          </a:p>
        </p:txBody>
      </p:sp>
      <p:sp>
        <p:nvSpPr>
          <p:cNvPr id="62" name="Shape 59"/>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third</a:t>
            </a:r>
            <a:endParaRPr lang="en-US" sz="700" dirty="0"/>
          </a:p>
        </p:txBody>
      </p:sp>
      <p:sp>
        <p:nvSpPr>
          <p:cNvPr id="64" name="Text 61"/>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الرَّصِيفُ الثَّالِثُ</a:t>
            </a:r>
            <a:endParaRPr lang="ar-SA" sz="1350" dirty="0"/>
          </a:p>
        </p:txBody>
      </p:sp>
      <p:sp>
        <p:nvSpPr>
          <p:cNvPr id="65" name="Shape 62"/>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7" name="Text 64"/>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رَصِيفٌ</a:t>
            </a:r>
            <a:endParaRPr lang="ar-SA" sz="150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Station announcements (read them aloud)</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إِعْلَانَاتُ المَحَطَّةِ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790688" y="2267712"/>
            <a:ext cx="3867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train to Leeds leaves at ten from platform five.</a:t>
            </a:r>
            <a:endParaRPr lang="en-US" sz="1100" dirty="0"/>
          </a:p>
        </p:txBody>
      </p:sp>
      <p:sp>
        <p:nvSpPr>
          <p:cNvPr id="21" name="Text 18"/>
          <p:cNvSpPr txBox="1"/>
          <p:nvPr/>
        </p:nvSpPr>
        <p:spPr>
          <a:xfrm>
            <a:off x="1463040" y="2267712"/>
            <a:ext cx="61264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القِطَارُ إِلَى لِيدْزَ يُغَادِرُ فِي السَّاعَةِ العَاشِرَةِ، مِنَ الرَّصِيفِ رَقْمِ خَمْسَةٍ.</a:t>
            </a:r>
            <a:endParaRPr lang="ar-SA" sz="2000" dirty="0"/>
          </a:p>
        </p:txBody>
      </p:sp>
      <p:sp>
        <p:nvSpPr>
          <p:cNvPr id="22" name="Text 19"/>
          <p:cNvSpPr txBox="1"/>
          <p:nvPr/>
        </p:nvSpPr>
        <p:spPr>
          <a:xfrm>
            <a:off x="566928" y="2267712"/>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790688" y="3004718"/>
            <a:ext cx="3867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Unfortunately the train to York is twenty minutes late, because the weather is bad.</a:t>
            </a:r>
            <a:endParaRPr lang="en-US" sz="1100" dirty="0"/>
          </a:p>
        </p:txBody>
      </p:sp>
      <p:sp>
        <p:nvSpPr>
          <p:cNvPr id="25" name="Text 22"/>
          <p:cNvSpPr txBox="1"/>
          <p:nvPr/>
        </p:nvSpPr>
        <p:spPr>
          <a:xfrm>
            <a:off x="1463040" y="3004718"/>
            <a:ext cx="61264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لِلْأَسَفِ، القِطَارُ إِلَى يُورْكَ مُتَأَخِّرٌ عِشْرِينَ دَقِيقَةً، لِأَنَّ الطَّقْسَ سَيِّئٌ.</a:t>
            </a:r>
            <a:endParaRPr lang="ar-SA" sz="2000" dirty="0"/>
          </a:p>
        </p:txBody>
      </p:sp>
      <p:sp>
        <p:nvSpPr>
          <p:cNvPr id="26" name="Text 23"/>
          <p:cNvSpPr txBox="1"/>
          <p:nvPr/>
        </p:nvSpPr>
        <p:spPr>
          <a:xfrm>
            <a:off x="566928" y="3004718"/>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790688" y="3741725"/>
            <a:ext cx="3867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Bus number seven does not stop outside the museum today, but behind the library.</a:t>
            </a:r>
            <a:endParaRPr lang="en-US" sz="1100" dirty="0"/>
          </a:p>
        </p:txBody>
      </p:sp>
      <p:sp>
        <p:nvSpPr>
          <p:cNvPr id="29" name="Text 26"/>
          <p:cNvSpPr txBox="1"/>
          <p:nvPr/>
        </p:nvSpPr>
        <p:spPr>
          <a:xfrm>
            <a:off x="1463040" y="3741725"/>
            <a:ext cx="61264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الحَافِلَةُ رَقْمُ سَبْعَةٍ لَا تَقِفُ أَمَامَ المَتْحَفِ اليَوْمَ، بَلْ خَلْفَ المَكْتَبَةِ.</a:t>
            </a:r>
            <a:endParaRPr lang="ar-SA" sz="2000" dirty="0"/>
          </a:p>
        </p:txBody>
      </p:sp>
      <p:sp>
        <p:nvSpPr>
          <p:cNvPr id="30" name="Text 27"/>
          <p:cNvSpPr txBox="1"/>
          <p:nvPr/>
        </p:nvSpPr>
        <p:spPr>
          <a:xfrm>
            <a:off x="566928" y="3741725"/>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790688" y="4478731"/>
            <a:ext cx="3867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return ticket is twenty pounds, whereas a single is twelve.</a:t>
            </a:r>
            <a:endParaRPr lang="en-US" sz="1100" dirty="0"/>
          </a:p>
        </p:txBody>
      </p:sp>
      <p:sp>
        <p:nvSpPr>
          <p:cNvPr id="33" name="Text 30"/>
          <p:cNvSpPr txBox="1"/>
          <p:nvPr/>
        </p:nvSpPr>
        <p:spPr>
          <a:xfrm>
            <a:off x="1463040" y="4478731"/>
            <a:ext cx="61264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تَذْكِرَةُ الذَّهَابِ وَالإِيَابِ بِعِشْرِينَ جُنَيْهًا، بَيْنَمَا التَّذْكِرَةُ المُفْرَدَةُ بِاثْنَيْ عَشَرَ.</a:t>
            </a:r>
            <a:endParaRPr lang="ar-SA" sz="1800" dirty="0"/>
          </a:p>
        </p:txBody>
      </p:sp>
      <p:sp>
        <p:nvSpPr>
          <p:cNvPr id="34" name="Text 31"/>
          <p:cNvSpPr txBox="1"/>
          <p:nvPr/>
        </p:nvSpPr>
        <p:spPr>
          <a:xfrm>
            <a:off x="566928" y="4478731"/>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790688" y="5215738"/>
            <a:ext cx="3867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Passengers, go to exit two, on the left.</a:t>
            </a:r>
            <a:endParaRPr lang="en-US" sz="1100" dirty="0"/>
          </a:p>
        </p:txBody>
      </p:sp>
      <p:sp>
        <p:nvSpPr>
          <p:cNvPr id="37" name="Text 34"/>
          <p:cNvSpPr txBox="1"/>
          <p:nvPr/>
        </p:nvSpPr>
        <p:spPr>
          <a:xfrm>
            <a:off x="1463040" y="5215738"/>
            <a:ext cx="61264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يَا رُكَّابُ، اذْهَبُوا إِلَى المَخْرَجِ رَقْمِ اثْنَيْنِ، عَلَى اليَسَارِ.</a:t>
            </a:r>
            <a:endParaRPr lang="ar-SA" sz="2000" dirty="0"/>
          </a:p>
        </p:txBody>
      </p:sp>
      <p:sp>
        <p:nvSpPr>
          <p:cNvPr id="38" name="Text 35"/>
          <p:cNvSpPr txBox="1"/>
          <p:nvPr/>
        </p:nvSpPr>
        <p:spPr>
          <a:xfrm>
            <a:off x="566928" y="5215738"/>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The Leader reads ONE announcement twice (slide hidden for the Speaker). The Speaker answers the question for it on the next slide. Second listening = check. Then swap.</a:t>
            </a:r>
            <a:endParaRPr lang="en-US"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Listen twice — then answer (watch for the trap!)</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السَّاعَةِ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الرَّصِيفِ رَقْمِ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Which platform for the Leeds train?</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١ — مِنْ أَيِّ رَصِيفٍ يُغَادِرُ القِطَارُ إِلَى لِيدْزَ؟</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كَمْ دَقِيقَةً؟</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Why is the York train late?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٢ — لِمَاذَا القِطَارُ إِلَى يُورْكَ مُتَأَخِّرٌ؟</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تَقِفُ … (لَيْسَ أَمَامَ المَتْحَفِ!)</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Where does bus 7 stop today?</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٣ — أَيْنَ تَقِفُ الحَافِلَةُ رَقْمُ سَبْعَةٍ اليَوْمَ؟</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(لَيْسَ عِشْرِينَ!)</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ثَمَنُهَا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How much is a single?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٤ — كَمْ ثَمَنُ التَّذْكِرَةِ المُفْرَدَةِ؟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56648" y="521573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المَخْرَجُ رَقْمُ … ، عَلَى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Where is the exit?</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٥ — أَيْنَ المَخْرَجُ؟</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Card — make your own announcement, partner listens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إِعْلَانِي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إِلَى أَيْنَ ← القِطَارُ إِلَى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Announcer: destination.</a:t>
            </a:r>
            <a:endParaRPr lang="en-US" sz="1100" dirty="0"/>
          </a:p>
        </p:txBody>
      </p:sp>
      <p:sp>
        <p:nvSpPr>
          <p:cNvPr id="23" name="Text 20"/>
          <p:cNvSpPr txBox="1"/>
          <p:nvPr/>
        </p:nvSpPr>
        <p:spPr>
          <a:xfrm>
            <a:off x="1069848" y="2267712"/>
            <a:ext cx="3749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Listener asks: </a:t>
            </a:r>
            <a:pPr algn="l" indent="0" marL="0">
              <a:buNone/>
            </a:pPr>
            <a:r>
              <a:rPr lang="ar-SA" altLang="en-US" sz="1450" dirty="0">
                <a:solidFill>
                  <a:srgbClr val="5A6472"/>
                </a:solidFill>
                <a:latin typeface="Amiri" pitchFamily="2" charset="-78"/>
                <a:ea typeface="Amiri" pitchFamily="2" charset="-78"/>
                <a:cs typeface="Amiri" pitchFamily="2" charset="-78"/>
              </a:rPr>
              <a:t>إِلَى أَيْنَ يَذْهَبُ القِطَارُ؟</a:t>
            </a:r>
            <a:endParaRPr lang="en-US" sz="11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يُغَادِرُ فِي السَّاعَةِ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Announcer: time.</a:t>
            </a:r>
            <a:endParaRPr lang="en-US" sz="1100" dirty="0"/>
          </a:p>
        </p:txBody>
      </p:sp>
      <p:sp>
        <p:nvSpPr>
          <p:cNvPr id="30" name="Text 27"/>
          <p:cNvSpPr txBox="1"/>
          <p:nvPr/>
        </p:nvSpPr>
        <p:spPr>
          <a:xfrm>
            <a:off x="1069848" y="3054096"/>
            <a:ext cx="3749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Listener asks: </a:t>
            </a:r>
            <a:pPr algn="l" indent="0" marL="0">
              <a:buNone/>
            </a:pPr>
            <a:r>
              <a:rPr lang="ar-SA" altLang="en-US" sz="1450" dirty="0">
                <a:solidFill>
                  <a:srgbClr val="5A6472"/>
                </a:solidFill>
                <a:latin typeface="Amiri" pitchFamily="2" charset="-78"/>
                <a:ea typeface="Amiri" pitchFamily="2" charset="-78"/>
                <a:cs typeface="Amiri" pitchFamily="2" charset="-78"/>
              </a:rPr>
              <a:t>مَتَى يُغَادِرُ؟</a:t>
            </a:r>
            <a:endParaRPr lang="en-US" sz="11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رَصِيفٌ ← لَيْسَ مِنَ … بَلْ مِنَ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Announcer: platform + a distractor.</a:t>
            </a:r>
            <a:endParaRPr lang="en-US" sz="1100" dirty="0"/>
          </a:p>
        </p:txBody>
      </p:sp>
      <p:sp>
        <p:nvSpPr>
          <p:cNvPr id="37" name="Text 34"/>
          <p:cNvSpPr txBox="1"/>
          <p:nvPr/>
        </p:nvSpPr>
        <p:spPr>
          <a:xfrm>
            <a:off x="1069848" y="3840480"/>
            <a:ext cx="3749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Listener asks: </a:t>
            </a:r>
            <a:pPr algn="l" indent="0" marL="0">
              <a:buNone/>
            </a:pPr>
            <a:r>
              <a:rPr lang="ar-SA" altLang="en-US" sz="1450" dirty="0">
                <a:solidFill>
                  <a:srgbClr val="5A6472"/>
                </a:solidFill>
                <a:latin typeface="Amiri" pitchFamily="2" charset="-78"/>
                <a:ea typeface="Amiri" pitchFamily="2" charset="-78"/>
                <a:cs typeface="Amiri" pitchFamily="2" charset="-78"/>
              </a:rPr>
              <a:t>مِنْ أَيِّ رَصِيفٍ؟</a:t>
            </a:r>
            <a:endParaRPr lang="en-US" sz="11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لَا، مُتَأَخِّرٌ … لِأَنَّ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Announcer: late + reason.</a:t>
            </a:r>
            <a:endParaRPr lang="en-US" sz="1100" dirty="0"/>
          </a:p>
        </p:txBody>
      </p:sp>
      <p:sp>
        <p:nvSpPr>
          <p:cNvPr id="44" name="Text 41"/>
          <p:cNvSpPr txBox="1"/>
          <p:nvPr/>
        </p:nvSpPr>
        <p:spPr>
          <a:xfrm>
            <a:off x="1069848" y="4626864"/>
            <a:ext cx="3749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Listener asks: </a:t>
            </a:r>
            <a:pPr algn="l" indent="0" marL="0">
              <a:buNone/>
            </a:pPr>
            <a:r>
              <a:rPr lang="ar-SA" altLang="en-US" sz="1450" dirty="0">
                <a:solidFill>
                  <a:srgbClr val="5A6472"/>
                </a:solidFill>
                <a:latin typeface="Amiri" pitchFamily="2" charset="-78"/>
                <a:ea typeface="Amiri" pitchFamily="2" charset="-78"/>
                <a:cs typeface="Amiri" pitchFamily="2" charset="-78"/>
              </a:rPr>
              <a:t>هَلْ هُوَ فِي الوَقْتِ؟</a:t>
            </a:r>
            <a:endParaRPr lang="en-US" sz="11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announcer makes up the details; the listener notes them with eyes closed and then repeats ALL the facts.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what did you hear?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سَمِعْتَ؟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reads one announcement. In 30 seconds, the Speaker repeats every fact in a full sentence — without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facts (where + when).</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the facts, in order.</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the facts + explain the distractor: “… </a:t>
            </a:r>
            <a:pPr algn="l" indent="0" marL="0">
              <a:buNone/>
            </a:pPr>
            <a:r>
              <a:rPr lang="ar-SA" altLang="en-US" sz="1500" dirty="0">
                <a:solidFill>
                  <a:srgbClr val="1F2A37"/>
                </a:solidFill>
                <a:latin typeface="Amiri" pitchFamily="2" charset="-78"/>
                <a:ea typeface="Amiri" pitchFamily="2" charset="-78"/>
                <a:cs typeface="Amiri" pitchFamily="2" charset="-78"/>
              </a:rPr>
              <a:t>لَيْسَ … بَلْ</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bus does not stop here, but opposite the bank.</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الحَافِلَةُ لَا تَقِفُ هُنَا،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الحَافِلَةُ لَا يَقِفُ هُنَا،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مُقَابِلَ البَنْكِ.</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مُقَابِلَ البَنْكُ.</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train is late because of the snow.</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القِطَارُ مُتَأَخِّرٌ</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القِطَارُ مُتَأَخِّرَةٌ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بِسَبَبِ</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الثَّلْجِ.</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الثَّلْجُ.</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Passengers, go to platform three!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يَا رُكَّابُ،</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يَا رَاكِبُ،</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اذْهَبُوا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اذْهَبْ</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الرَّصِيفِ رَقْمِ ثَلَاثَةٍ!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الرَّصِيفَ رَقْمَ ثَلَاثَةٍ!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bus does not stop here, but opposite the bank.</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Bus (f.) → </a:t>
            </a:r>
            <a:pPr algn="l" indent="0" marL="0">
              <a:buNone/>
            </a:pPr>
            <a:r>
              <a:rPr lang="ar-SA" altLang="en-US" sz="1350" dirty="0">
                <a:solidFill>
                  <a:srgbClr val="5A6472"/>
                </a:solidFill>
                <a:latin typeface="Amiri" pitchFamily="2" charset="-78"/>
                <a:ea typeface="Amiri" pitchFamily="2" charset="-78"/>
                <a:cs typeface="Amiri" pitchFamily="2" charset="-78"/>
              </a:rPr>
              <a:t>تَقِفُ</a:t>
            </a:r>
            <a:pPr algn="l" indent="0" marL="0">
              <a:buNone/>
            </a:pPr>
            <a:r>
              <a:rPr lang="en-US" sz="1050" i="1" dirty="0">
                <a:solidFill>
                  <a:srgbClr val="5A6472"/>
                </a:solidFill>
                <a:latin typeface="Calibri" pitchFamily="34" charset="0"/>
                <a:cs typeface="Amiri" pitchFamily="2" charset="-78"/>
              </a:rPr>
              <a:t>; “not … but” = </a:t>
            </a:r>
            <a:pPr algn="l" indent="0" marL="0">
              <a:buNone/>
            </a:pPr>
            <a:r>
              <a:rPr lang="ar-SA" altLang="en-US" sz="1350" dirty="0">
                <a:solidFill>
                  <a:srgbClr val="5A6472"/>
                </a:solidFill>
                <a:latin typeface="Amiri" pitchFamily="2" charset="-78"/>
                <a:ea typeface="Amiri" pitchFamily="2" charset="-78"/>
                <a:cs typeface="Amiri" pitchFamily="2" charset="-78"/>
              </a:rPr>
              <a:t>لَا … بَلْ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الحَافِلَةُ لَا تَقِفُ هُنَا، بَلْ مُقَابِلَ البَنْكِ.</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train is late because of the snow.</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Train (m.) → </a:t>
            </a:r>
            <a:pPr algn="l" indent="0" marL="0">
              <a:buNone/>
            </a:pPr>
            <a:r>
              <a:rPr lang="ar-SA" altLang="en-US" sz="1350" dirty="0">
                <a:solidFill>
                  <a:srgbClr val="5A6472"/>
                </a:solidFill>
                <a:latin typeface="Amiri" pitchFamily="2" charset="-78"/>
                <a:ea typeface="Amiri" pitchFamily="2" charset="-78"/>
                <a:cs typeface="Amiri" pitchFamily="2" charset="-78"/>
              </a:rPr>
              <a:t>مُتَأَخِّرٌ</a:t>
            </a:r>
            <a:pPr algn="l" indent="0" marL="0">
              <a:buNone/>
            </a:pPr>
            <a:r>
              <a:rPr lang="en-US" sz="1050" i="1" dirty="0">
                <a:solidFill>
                  <a:srgbClr val="5A6472"/>
                </a:solidFill>
                <a:latin typeface="Calibri" pitchFamily="34" charset="0"/>
                <a:cs typeface="Amiri" pitchFamily="2" charset="-78"/>
              </a:rPr>
              <a:t>; because of = </a:t>
            </a:r>
            <a:pPr algn="l" indent="0" marL="0">
              <a:buNone/>
            </a:pPr>
            <a:r>
              <a:rPr lang="ar-SA" altLang="en-US" sz="1350" dirty="0">
                <a:solidFill>
                  <a:srgbClr val="5A6472"/>
                </a:solidFill>
                <a:latin typeface="Amiri" pitchFamily="2" charset="-78"/>
                <a:ea typeface="Amiri" pitchFamily="2" charset="-78"/>
                <a:cs typeface="Amiri" pitchFamily="2" charset="-78"/>
              </a:rPr>
              <a:t>بِسَبَبِ</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القِطَارُ مُتَأَخِّرٌ بِسَبَبِ الثَّلْجِ.</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Passengers, go to platform three!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group → </a:t>
            </a:r>
            <a:pPr algn="l" indent="0" marL="0">
              <a:buNone/>
            </a:pPr>
            <a:r>
              <a:rPr lang="ar-SA" altLang="en-US" sz="1350" dirty="0">
                <a:solidFill>
                  <a:srgbClr val="5A6472"/>
                </a:solidFill>
                <a:latin typeface="Amiri" pitchFamily="2" charset="-78"/>
                <a:ea typeface="Amiri" pitchFamily="2" charset="-78"/>
                <a:cs typeface="Amiri" pitchFamily="2" charset="-78"/>
              </a:rPr>
              <a:t>اذْهَبُوا</a:t>
            </a:r>
            <a:pPr algn="l" indent="0" marL="0">
              <a:buNone/>
            </a:pPr>
            <a:r>
              <a:rPr lang="en-US" sz="1050" i="1" dirty="0">
                <a:solidFill>
                  <a:srgbClr val="5A6472"/>
                </a:solidFill>
                <a:latin typeface="Calibri" pitchFamily="34" charset="0"/>
                <a:cs typeface="Amiri" pitchFamily="2" charset="-78"/>
              </a:rPr>
              <a:t>; go TO = </a:t>
            </a:r>
            <a:pPr algn="l" indent="0" marL="0">
              <a:buNone/>
            </a:pPr>
            <a:r>
              <a:rPr lang="ar-SA" altLang="en-US" sz="1350" dirty="0">
                <a:solidFill>
                  <a:srgbClr val="5A6472"/>
                </a:solidFill>
                <a:latin typeface="Amiri" pitchFamily="2" charset="-78"/>
                <a:ea typeface="Amiri" pitchFamily="2" charset="-78"/>
                <a:cs typeface="Amiri" pitchFamily="2" charset="-78"/>
              </a:rPr>
              <a:t>إِلَى</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يَا رُكَّابُ، اذْهَبُوا إِلَى الرَّصِيفِ رَقْمِ ثَلَاثَةٍ!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أَيْنَ تَقِفُ الحَافِلَةُ؟ — فِي السَّاعَةِ الثَّانِيَةِ.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أَيْنَ</a:t>
            </a:r>
            <a:pPr algn="l" indent="0" marL="0">
              <a:buNone/>
            </a:pPr>
            <a:r>
              <a:rPr lang="en-US" sz="1300" i="1" dirty="0">
                <a:solidFill>
                  <a:srgbClr val="5A6472"/>
                </a:solidFill>
                <a:latin typeface="Calibri" pitchFamily="34" charset="0"/>
                <a:cs typeface="Amiri" pitchFamily="2" charset="-78"/>
              </a:rPr>
              <a:t> asks for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كَمْ ثَمَنُ التَّذْكِرَةِ المُفْرَدَةِ؟ — عِشْرُونَ.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From announcement 4 — Listen after </a:t>
            </a:r>
            <a:pPr algn="l" indent="0" marL="0">
              <a:buNone/>
            </a:pPr>
            <a:r>
              <a:rPr lang="ar-SA" altLang="en-US" sz="1700" dirty="0">
                <a:solidFill>
                  <a:srgbClr val="5A6472"/>
                </a:solidFill>
                <a:latin typeface="Amiri" pitchFamily="2" charset="-78"/>
                <a:ea typeface="Amiri" pitchFamily="2" charset="-78"/>
                <a:cs typeface="Amiri" pitchFamily="2" charset="-78"/>
              </a:rPr>
              <a:t>بَيْنَمَا</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القِطَارُ يُغَادِرُ مِنَ الرَّصِيفِ رَقْمِ وَاحِدٍ.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Heard: </a:t>
            </a:r>
            <a:pPr algn="l" indent="0" marL="0">
              <a:buNone/>
            </a:pPr>
            <a:r>
              <a:rPr lang="ar-SA" altLang="en-US" sz="1700" dirty="0">
                <a:solidFill>
                  <a:srgbClr val="5A6472"/>
                </a:solidFill>
                <a:latin typeface="Amiri" pitchFamily="2" charset="-78"/>
                <a:ea typeface="Amiri" pitchFamily="2" charset="-78"/>
                <a:cs typeface="Amiri" pitchFamily="2" charset="-78"/>
              </a:rPr>
              <a:t>لَيْسَ … بَلْ أَرْبَعَةٍ</a:t>
            </a:r>
            <a:pPr algn="l" indent="0" marL="0">
              <a:buNone/>
            </a:pPr>
            <a:r>
              <a:rPr lang="en-US" sz="1300" i="1" dirty="0">
                <a:solidFill>
                  <a:srgbClr val="5A6472"/>
                </a:solidFill>
                <a:latin typeface="Calibri" pitchFamily="34" charset="0"/>
                <a:cs typeface="Amiri" pitchFamily="2" charset="-78"/>
              </a:rPr>
              <a:t> — </a:t>
            </a:r>
            <a:pPr algn="l" indent="0" marL="0">
              <a:buNone/>
            </a:pPr>
            <a:r>
              <a:rPr lang="ar-SA" altLang="en-US" sz="1700" dirty="0">
                <a:solidFill>
                  <a:srgbClr val="5A6472"/>
                </a:solidFill>
                <a:latin typeface="Amiri" pitchFamily="2" charset="-78"/>
                <a:ea typeface="Amiri" pitchFamily="2" charset="-78"/>
                <a:cs typeface="Amiri" pitchFamily="2" charset="-78"/>
              </a:rPr>
              <a:t>لَيْسَ … بَلْ</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أَيْنَ تَقِفُ الحَافِلَةُ؟ — فِي السَّاعَةِ الثَّانِيَةِ.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تَقِفُ خَلْفَ المَكْتَبَةِ.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أَيْنَ</a:t>
            </a:r>
            <a:pPr algn="l" indent="0" marL="0">
              <a:buNone/>
            </a:pPr>
            <a:r>
              <a:rPr lang="en-US" sz="1150" b="1" dirty="0">
                <a:solidFill>
                  <a:srgbClr val="1B3B6F"/>
                </a:solidFill>
                <a:latin typeface="Calibri" pitchFamily="34" charset="0"/>
                <a:cs typeface="Amiri" pitchFamily="2" charset="-78"/>
              </a:rPr>
              <a:t> → a place.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كَمْ ثَمَنُ التَّذْكِرَةِ المُفْرَدَةِ؟ — عِشْرُونَ.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ثَمَنُهَا اثْنَا عَشَرَ جُنَيْهًا.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first number is a distractor; the answer comes after </a:t>
            </a:r>
            <a:pPr algn="l" indent="0" marL="0">
              <a:buNone/>
            </a:pPr>
            <a:r>
              <a:rPr lang="ar-SA" altLang="en-US" sz="1500" b="1" dirty="0">
                <a:solidFill>
                  <a:srgbClr val="1B3B6F"/>
                </a:solidFill>
                <a:latin typeface="Amiri" pitchFamily="2" charset="-78"/>
                <a:ea typeface="Amiri" pitchFamily="2" charset="-78"/>
                <a:cs typeface="Amiri" pitchFamily="2" charset="-78"/>
              </a:rPr>
              <a:t>بَيْنَمَا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القِطَارُ يُغَادِرُ مِنَ الرَّصِيفِ رَقْمِ وَاحِدٍ.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القِطَارُ يُغَادِرُ مِنَ الرَّصِيفِ رَقْمِ أَرْبَعَةٍ.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Keep listening after </a:t>
            </a:r>
            <a:pPr algn="l" indent="0" marL="0">
              <a:buNone/>
            </a:pPr>
            <a:r>
              <a:rPr lang="ar-SA" altLang="en-US" sz="1500" b="1" dirty="0">
                <a:solidFill>
                  <a:srgbClr val="1B3B6F"/>
                </a:solidFill>
                <a:latin typeface="Amiri" pitchFamily="2" charset="-78"/>
                <a:ea typeface="Amiri" pitchFamily="2" charset="-78"/>
                <a:cs typeface="Amiri" pitchFamily="2" charset="-78"/>
              </a:rPr>
              <a:t>لَيْسَ … بَلْ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لِلْأَسَفِ، هُوَ مُتَأَخِّرٌ ______ ، لِأَنَّ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Unfortunately it is … late,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مِنَ ______ ، بَلْ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Not from …, but from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القِطَارُ إِلَى ______ يُغَادِرُ فِي السَّاعَةِ ______ .</a:t>
            </a:r>
            <a:endParaRPr lang="ar-SA" sz="15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train to … leaves at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يُغَادِرُ مِنَ الرَّصِيفِ رَقْمِ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leaves from platform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ثَمَنُ التَّذْكِرَةِ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ticket costs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يَا رُكَّابُ، اذْهَبُوا إِلَى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Passengers, go to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يُغَادِرُ · يَصِلُ  ·  رَصِيفٌ · مَخْرَجٌ  ·  مُتَأَخِّرٌ · فِي الوَقْتِ  ·  لِأَنَّ · بِسَبَبِ  ·  لَيْسَ … بَلْ …  ·  بَيْنَمَا  ·  تَذْكِرَةٌ مُفْرَدَةٌ  ·  اذْهَبُوا · انْتَظِرُوا</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 station announcement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أَكْتُبُ إِعْلَانًا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your own station or bus announcement (about 35–55 words) for the class to listen to. Include: • destination and transport • departure time and platform / stop • a delay or change, with a reason • ticket prices • one command to passengers • ONE deliberate distractor (</a:t>
            </a:r>
            <a:pPr algn="l" indent="0" marL="0">
              <a:buNone/>
            </a:pPr>
            <a:r>
              <a:rPr lang="ar-SA" altLang="en-US" sz="1450" b="1" dirty="0">
                <a:solidFill>
                  <a:srgbClr val="1F2A37"/>
                </a:solidFill>
                <a:latin typeface="Amiri" pitchFamily="2" charset="-78"/>
                <a:ea typeface="Amiri" pitchFamily="2" charset="-78"/>
                <a:cs typeface="Amiri" pitchFamily="2" charset="-78"/>
              </a:rPr>
              <a:t>لَيْسَ … بَلْ</a:t>
            </a:r>
            <a:pPr algn="l" indent="0" marL="0">
              <a:buNone/>
            </a:pPr>
            <a:r>
              <a:rPr lang="en-US" sz="1100" b="1" dirty="0">
                <a:solidFill>
                  <a:srgbClr val="1F2A37"/>
                </a:solidFill>
                <a:latin typeface="Calibri" pitchFamily="34" charset="0"/>
                <a:cs typeface="Amiri" pitchFamily="2" charset="-78"/>
              </a:rPr>
              <a:t> … or </a:t>
            </a:r>
            <a:pPr algn="l" indent="0" marL="0">
              <a:buNone/>
            </a:pPr>
            <a:r>
              <a:rPr lang="ar-SA" altLang="en-US" sz="1450" b="1" dirty="0">
                <a:solidFill>
                  <a:srgbClr val="1F2A37"/>
                </a:solidFill>
                <a:latin typeface="Amiri" pitchFamily="2" charset="-78"/>
                <a:ea typeface="Amiri" pitchFamily="2" charset="-78"/>
                <a:cs typeface="Amiri" pitchFamily="2" charset="-78"/>
              </a:rPr>
              <a:t>بَيْنَمَا</a:t>
            </a:r>
            <a:pPr algn="l" indent="0" marL="0">
              <a:buNone/>
            </a:pPr>
            <a:r>
              <a:rPr lang="en-US" sz="1100" b="1" dirty="0">
                <a:solidFill>
                  <a:srgbClr val="1F2A37"/>
                </a:solidFill>
                <a:latin typeface="Calibri" pitchFamily="34" charset="0"/>
                <a:cs typeface="Amiri" pitchFamily="2" charset="-78"/>
              </a:rPr>
              <a:t>).</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القِطَارُ / الحَافِلَةُ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train / bus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يُغَادِرُ / تُغَادِرُ فِي السَّاعَةِ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leaves 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مِنَ … بَلْ مِنَ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not from … but from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يَا رُكَّابُ، اذْهَبُوا إِلَى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passengers, go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destination, time and platform clearly?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include a reason and a deliberate distractor (</a:t>
            </a:r>
            <a:pPr algn="l" indent="0" marL="0">
              <a:buNone/>
            </a:pPr>
            <a:r>
              <a:rPr lang="ar-SA" altLang="en-US" sz="1450" dirty="0">
                <a:solidFill>
                  <a:srgbClr val="5A6472"/>
                </a:solidFill>
                <a:latin typeface="Amiri" pitchFamily="2" charset="-78"/>
                <a:ea typeface="Amiri" pitchFamily="2" charset="-78"/>
                <a:cs typeface="Amiri" pitchFamily="2" charset="-78"/>
              </a:rPr>
              <a:t>لَيْسَ … بَلْ … / بَيْنَمَا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القِطَارُ إِلَى بِرِسْتُولَ…</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train to Bristol…</a:t>
            </a:r>
            <a:endParaRPr lang="en-US" sz="950" dirty="0"/>
          </a:p>
        </p:txBody>
      </p:sp>
      <p:sp>
        <p:nvSpPr>
          <p:cNvPr id="22" name="Text 19"/>
          <p:cNvSpPr txBox="1"/>
          <p:nvPr/>
        </p:nvSpPr>
        <p:spPr>
          <a:xfrm>
            <a:off x="1069848" y="2267712"/>
            <a:ext cx="3566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Listener asks: </a:t>
            </a:r>
            <a:pPr algn="l" indent="0" marL="0">
              <a:buNone/>
            </a:pPr>
            <a:r>
              <a:rPr lang="ar-SA" altLang="en-US" sz="1450" dirty="0">
                <a:solidFill>
                  <a:srgbClr val="5A6472"/>
                </a:solidFill>
                <a:latin typeface="Amiri" pitchFamily="2" charset="-78"/>
                <a:ea typeface="Amiri" pitchFamily="2" charset="-78"/>
                <a:cs typeface="Amiri" pitchFamily="2" charset="-78"/>
              </a:rPr>
              <a:t>إِلَى أَيْنَ يَذْهَبُ القِطَارُ؟</a:t>
            </a:r>
            <a:endParaRPr lang="en-US" sz="11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يُغَادِرُ فِي السَّاعَةِ الثَّالِثَةِ وَالنِّصْفِ.</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leaves at half past three.</a:t>
            </a:r>
            <a:endParaRPr lang="en-US" sz="950" dirty="0"/>
          </a:p>
        </p:txBody>
      </p:sp>
      <p:sp>
        <p:nvSpPr>
          <p:cNvPr id="27" name="Text 24"/>
          <p:cNvSpPr txBox="1"/>
          <p:nvPr/>
        </p:nvSpPr>
        <p:spPr>
          <a:xfrm>
            <a:off x="1069848" y="3054096"/>
            <a:ext cx="3566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Listener asks: </a:t>
            </a:r>
            <a:pPr algn="l" indent="0" marL="0">
              <a:buNone/>
            </a:pPr>
            <a:r>
              <a:rPr lang="ar-SA" altLang="en-US" sz="1450" dirty="0">
                <a:solidFill>
                  <a:srgbClr val="5A6472"/>
                </a:solidFill>
                <a:latin typeface="Amiri" pitchFamily="2" charset="-78"/>
                <a:ea typeface="Amiri" pitchFamily="2" charset="-78"/>
                <a:cs typeface="Amiri" pitchFamily="2" charset="-78"/>
              </a:rPr>
              <a:t>مَتَى يُغَادِرُ؟</a:t>
            </a:r>
            <a:endParaRPr lang="en-US" sz="11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مِنَ الرَّصِيفِ رَقْمِ وَاحِدٍ، بَلْ مِنَ الرَّصِيفِ رَقْمِ أَرْبَعَةٍ.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Not from platform one, but from platform four.</a:t>
            </a:r>
            <a:endParaRPr lang="en-US" sz="950" dirty="0"/>
          </a:p>
        </p:txBody>
      </p:sp>
      <p:sp>
        <p:nvSpPr>
          <p:cNvPr id="32" name="Text 29"/>
          <p:cNvSpPr txBox="1"/>
          <p:nvPr/>
        </p:nvSpPr>
        <p:spPr>
          <a:xfrm>
            <a:off x="1069848" y="3840480"/>
            <a:ext cx="3566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Listener asks: </a:t>
            </a:r>
            <a:pPr algn="l" indent="0" marL="0">
              <a:buNone/>
            </a:pPr>
            <a:r>
              <a:rPr lang="ar-SA" altLang="en-US" sz="1450" dirty="0">
                <a:solidFill>
                  <a:srgbClr val="5A6472"/>
                </a:solidFill>
                <a:latin typeface="Amiri" pitchFamily="2" charset="-78"/>
                <a:ea typeface="Amiri" pitchFamily="2" charset="-78"/>
                <a:cs typeface="Amiri" pitchFamily="2" charset="-78"/>
              </a:rPr>
              <a:t>مِنْ أَيِّ رَصِيفٍ؟</a:t>
            </a:r>
            <a:endParaRPr lang="en-US" sz="11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هُوَ مُتَأَخِّرٌ عَشْرَ دَقَائِقَ، لِأَنَّ هُنَاكَ مُشْكِلَةً فِي الطَّرِيقِ.</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it is ten minutes late, because there is a problem on the line.</a:t>
            </a:r>
            <a:endParaRPr lang="en-US" sz="950" dirty="0"/>
          </a:p>
        </p:txBody>
      </p:sp>
      <p:sp>
        <p:nvSpPr>
          <p:cNvPr id="37" name="Text 34"/>
          <p:cNvSpPr txBox="1"/>
          <p:nvPr/>
        </p:nvSpPr>
        <p:spPr>
          <a:xfrm>
            <a:off x="1069848" y="4626864"/>
            <a:ext cx="3566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Listener asks: </a:t>
            </a:r>
            <a:pPr algn="l" indent="0" marL="0">
              <a:buNone/>
            </a:pPr>
            <a:r>
              <a:rPr lang="ar-SA" altLang="en-US" sz="1450" dirty="0">
                <a:solidFill>
                  <a:srgbClr val="5A6472"/>
                </a:solidFill>
                <a:latin typeface="Amiri" pitchFamily="2" charset="-78"/>
                <a:ea typeface="Amiri" pitchFamily="2" charset="-78"/>
                <a:cs typeface="Amiri" pitchFamily="2" charset="-78"/>
              </a:rPr>
              <a:t>هَلْ هُوَ فِي الوَقْتِ؟</a:t>
            </a:r>
            <a:endParaRPr lang="en-US" sz="11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يَا رُكَّابُ. القِطَارُ إِلَى مَانْشِسْتَرَ يُغَادِرُ فِي السَّاعَةِ الرَّابِعَةِ وَالرُّبْعِ، لَيْسَ مِنَ الرَّصِيفِ رَقْمِ اثْنَيْنِ، بَلْ مِنَ الرَّصِيفِ رَقْمِ سِتَّةٍ. لِلْأَسَفِ، هُوَ مُتَأَخِّرٌ عَشْرَ دَقَائِقَ بِسَبَبِ المَطَرِ. التَّذْكِرَةُ المُفْرَدَةُ بِخَمْسَةَ عَشَرَ جُنَيْهًا، بَيْنَمَا تَذْكِرَةُ الذَّهَابِ وَالإِيَابِ بِخَمْسَةٍ وَعِشْرِينَ. انْتَظِرُوا خَلْفَ الخَطِّ الأَصْفَرِ، مِنْ فَضْلِكُمْ.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passengers. The train to Manchester leaves at quarter past four — not from platform two, but from platform six. Unfortunately it is ten minutes late because of the rain. A single ticket is fifteen pounds, whereas a return is twenty-five. Please wait behind the yellow line.”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لَيْسَ مِنَ … بَلْ مِنَ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مُتَأَخِّرٌ عَشْرَ دَقَائِقَ</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انْتَظِرُوا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F6-L11 · F6 Consolidation: Complete Town and Transport Review</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تَرْسِيخُ الوَحْدَةِ السَّادِسَةِ — مُرَاجَعَةٌ شَامِلَةٌ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F6-L10 · Practice Room — Listening: Town and Transport Texts</dc:title>
  <dc:subject>PptxGenJS Presentation</dc:subject>
  <dc:creator>Al Madina Online School · Arabic Department</dc:creator>
  <cp:lastModifiedBy>Al Madina Online School · Arabic Department</cp:lastModifiedBy>
  <cp:revision>1</cp:revision>
  <dcterms:created xsi:type="dcterms:W3CDTF">2026-10-25T18:35:02Z</dcterms:created>
  <dcterms:modified xsi:type="dcterms:W3CDTF">2026-10-25T18:35:02Z</dcterms:modified>
</cp:coreProperties>
</file>