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F6-L09 (Extended Writing: My Town and How I Get Around) — new practice tasks built on the lesson’s own word bank and grammar (three paragraphs (my town and its places · how I travel · a balanced judgement); yūjadu / tūjadu; mabniyyun min; adhhabu bi- / mashyan; min mazāyā … anna · min ʿuyūbi … anna; bi-ṣifatin ʿāmmatin; ūṣī bi-).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Oral rehearsal of a three-paragraph plan before the extended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مَدِينَتِكِ · تَذْهَبِينَ · تُحِبِّينَ. Peer interview for idea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Extended Writing: My Town and How I Get Around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مَدِينَتِي وَكَيْفَ أَتَنَقَّلُ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for an extended text about their town: say the toolkit phrases, rehearse a model plan aloud, answer planning cards, interview a buddy for ideas, give a 30-second oral draft, then build, fix and write three paragraphs: my town and how I get around.</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F6-L09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F6 writing toolkit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بِصِفَةٍ عَامَّةٍ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overall</a:t>
            </a:r>
            <a:endParaRPr lang="en-US" sz="1350" dirty="0"/>
          </a:p>
          <a:p>
            <a:pPr indent="0" marL="0">
              <a:buNone/>
            </a:pPr>
            <a:r>
              <a:rPr lang="en-US" sz="1100" i="1" dirty="0">
                <a:solidFill>
                  <a:srgbClr val="5A6472"/>
                </a:solidFill>
                <a:latin typeface="Calibri" pitchFamily="34" charset="0"/>
                <a:cs typeface="Amiri" pitchFamily="2" charset="-78"/>
              </a:rPr>
              <a:t>bi-ṣi-fa-tin ʿām-ma-tin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يُوجَدُ / تُوجَدُ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 is / are</a:t>
            </a:r>
            <a:endParaRPr lang="en-US" sz="1350" dirty="0"/>
          </a:p>
          <a:p>
            <a:pPr indent="0" marL="0">
              <a:buNone/>
            </a:pPr>
            <a:r>
              <a:rPr lang="en-US" sz="1100" i="1" dirty="0">
                <a:solidFill>
                  <a:srgbClr val="5A6472"/>
                </a:solidFill>
                <a:latin typeface="Calibri" pitchFamily="34" charset="0"/>
                <a:cs typeface="Amiri" pitchFamily="2" charset="-78"/>
              </a:rPr>
              <a:t>yū-ja-du / tū-ja-du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تَتَمَيَّزُ بِـ</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ta-ta-may-ya-zu bi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تَفْتَقِرُ إِلَى</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taf-ta-qi-ru i-lā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F6 writing toolkit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مَبْنِيٌّ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built of</a:t>
            </a:r>
            <a:endParaRPr lang="en-US" sz="1350" dirty="0"/>
          </a:p>
          <a:p>
            <a:pPr indent="0" marL="0">
              <a:buNone/>
            </a:pPr>
            <a:r>
              <a:rPr lang="en-US" sz="1100" i="1" dirty="0">
                <a:solidFill>
                  <a:srgbClr val="5A6472"/>
                </a:solidFill>
                <a:latin typeface="Calibri" pitchFamily="34" charset="0"/>
                <a:cs typeface="Amiri" pitchFamily="2" charset="-78"/>
              </a:rPr>
              <a:t>mab-niy-yun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بِـ</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by</a:t>
            </a:r>
            <a:endParaRPr lang="en-US" sz="1350" dirty="0"/>
          </a:p>
          <a:p>
            <a:pPr indent="0" marL="0">
              <a:buNone/>
            </a:pPr>
            <a:r>
              <a:rPr lang="en-US" sz="1100" i="1" dirty="0">
                <a:solidFill>
                  <a:srgbClr val="5A6472"/>
                </a:solidFill>
                <a:latin typeface="Calibri" pitchFamily="34" charset="0"/>
                <a:cs typeface="Amiri" pitchFamily="2" charset="-78"/>
              </a:rPr>
              <a:t>adh-ha-bu bi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أَذْهَبُ مَشْيًا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go on foot</a:t>
            </a:r>
            <a:endParaRPr lang="en-US" sz="1350" dirty="0"/>
          </a:p>
          <a:p>
            <a:pPr indent="0" marL="0">
              <a:buNone/>
            </a:pPr>
            <a:r>
              <a:rPr lang="en-US" sz="1100" i="1" dirty="0">
                <a:solidFill>
                  <a:srgbClr val="5A6472"/>
                </a:solidFill>
                <a:latin typeface="Calibri" pitchFamily="34" charset="0"/>
                <a:cs typeface="Amiri" pitchFamily="2" charset="-78"/>
              </a:rPr>
              <a:t>adh-ha-bu mash-yan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مَزَايَا... أَنَّ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advantage is that</a:t>
            </a:r>
            <a:endParaRPr lang="en-US" sz="1350" dirty="0"/>
          </a:p>
          <a:p>
            <a:pPr indent="0" marL="0">
              <a:buNone/>
            </a:pPr>
            <a:r>
              <a:rPr lang="en-US" sz="1100" i="1" dirty="0">
                <a:solidFill>
                  <a:srgbClr val="5A6472"/>
                </a:solidFill>
                <a:latin typeface="Calibri" pitchFamily="34" charset="0"/>
                <a:cs typeface="Amiri" pitchFamily="2" charset="-78"/>
              </a:rPr>
              <a:t>min ma-zā-yā... an-na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عُيُوبِ... 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one disadvantage is that</a:t>
            </a:r>
            <a:endParaRPr lang="en-US" sz="1350" dirty="0"/>
          </a:p>
          <a:p>
            <a:pPr indent="0" marL="0">
              <a:buNone/>
            </a:pPr>
            <a:r>
              <a:rPr lang="en-US" sz="1100" i="1" dirty="0">
                <a:solidFill>
                  <a:srgbClr val="5A6472"/>
                </a:solidFill>
                <a:latin typeface="Calibri" pitchFamily="34" charset="0"/>
                <a:cs typeface="Amiri" pitchFamily="2" charset="-78"/>
              </a:rPr>
              <a:t>min ʿu-yū-bi... 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أُوصِي بِـ</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recommend</a:t>
            </a:r>
            <a:endParaRPr lang="en-US" sz="1350" dirty="0"/>
          </a:p>
          <a:p>
            <a:pPr indent="0" marL="0">
              <a:buNone/>
            </a:pPr>
            <a:r>
              <a:rPr lang="en-US" sz="1100" i="1" dirty="0">
                <a:solidFill>
                  <a:srgbClr val="5A6472"/>
                </a:solidFill>
                <a:latin typeface="Calibri" pitchFamily="34" charset="0"/>
                <a:cs typeface="Amiri" pitchFamily="2" charset="-78"/>
              </a:rPr>
              <a:t>ū-ṣī bi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the plan out 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 الخُطَّةَ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 ; it has … and …</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أَسْكُنُ فِي مَدِينَةِ … ؛ يُوجَدُ فِيهَا … وَتُوجَدُ …</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library is built of glass, and it is next to the station.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المَكْتَبَةُ مَبْنِيَّةٌ مِنَ الزُّجَاجِ، وَهِيَ بِجَانِبِ المَحَطَّةِ.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go to school by bus, and the journey takes twenty minutes.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أَذْهَبُ إِلَى المَدْرَسَةِ بِالحَافِلَةِ، وَتَسْتَغْرِقُ الرِّحْلَةُ عِشْرِينَ دَقِيقَةً.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the weekend I walk to the market.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فِي نِهَايَةِ الأُسْبُوعِ أَذْهَبُ إِلَى السُّوقِ مَشْيًا.</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advantage is that it is quiet; one disadvantage is that it lacks a pool.</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مَزَايَا مَدِينَتِي أَنَّهَا هَادِئَةٌ، وَمِنْ عُيُوبِهَا أَنَّهَا تَفْتَقِرُ إِلَى مَسْبَحٍ.</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Overall I love it, and I recommend visiting the museum.</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بِصِفَةٍ عَامَّةٍ أُحِبُّهَا، وَأُوصِي بِزِيَارَةِ المَتْحَفِ.</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Take turns reading one paragraph each. Then each Speaker says THEIR OWN three-paragraph plan aloud — two sentences per paragraph.</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Plan by speaking: one card per paragraph</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بِجَانِبِ / مُقَابِلَ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وَتُوجَدُ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town? (paragraph 1)</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فِي مَدِينَتِكَ؟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 وَهِيَ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مَبْنِيٌّ / مَبْنِيَّةٌ مِنَ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an important building. (paragraph 1)</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مَبْنًى مُهِمًّا.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وَتَسْتَغْرِقُ الرِّحْلَةُ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بِالحَافِلَةِ / مَشْيًا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get around? (paragraph 2)</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تَتَنَقَّلُ فِي مَدِينَتِكَ؟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تَفْتَقِرُ إِلَى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مِنْ مَزَايَاهَا أَنَّ … · مِنْ عُيُوبِهَا أَنَّ …</a:t>
            </a:r>
            <a:endParaRPr lang="ar-SA" sz="155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Advantages and disadvantages? (paragraph 3)</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 مَدِينَتِكَ وَعُيُوبُهَا؟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أُوصِي بِزِيَارَةِ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recommend to a visitor? (paragraph 3)</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تُوصِي الزَّائِرَ؟</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Card — interview your buddy, then swap plans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أُقَابِلُ 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أَجْمَلُ مَكَانٍ … ، وَهُوَ / وَهِيَ بِجَانِبِ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place + position.</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مَكَانٍ فِي مَدِينَتِكَ؟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أَذْهَبُ … ، وَتَسْتَغْرِقُ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transport + time.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تَذْهَبُ إِلَى هُنَاكَ؟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مِنْ عُيُوبِهَا أَنَّ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a disadvantage.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أَكْبَرُ مُشْكِلَةٍ فِي مَدِينَتِكَ؟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بِصِفَةٍ عَامَّةٍ … لِأَنَّ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overall judgement.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مَدِينَتَكَ بِصِفَةٍ عَامَّةٍ؟</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Interviewer notes English keywords; the writer answers in full Arabic. The notes become the writer’s plan for Step 8.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text, said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نَصِّي بِصَوْتٍ عَالٍ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Say your three paragraphs aloud in 30 seconds BEFORE writing: town · transport · judgement.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paragraph.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paragraph with a connector.</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مِنْ مَزَايَا … أَنَّ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بِصِفَةٍ عَامَّةٍ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أُوصِي بِزِيَارَةِ</a:t>
            </a:r>
            <a:pPr algn="l" indent="0" marL="0">
              <a:buNone/>
            </a:pPr>
            <a:r>
              <a:rPr lang="en-US" sz="1150" dirty="0">
                <a:solidFill>
                  <a:srgbClr val="1F2A37"/>
                </a:solidFill>
                <a:latin typeface="Calibri" pitchFamily="34" charset="0"/>
                <a:cs typeface="Amiri" pitchFamily="2" charset="-78"/>
              </a:rPr>
              <a:t> … (in full).</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my town there is a modern station built of glass.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مَدِينَتِي تُوجَدُ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مَدِينَتِي يُوجَدُ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مَحَطَّةٌ حَدِيثَةٌ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مَحَطَّةٌ حَدِيثٌ</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 مِنَ الزُّجَاجِ.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 مِنَ الزُّجَاجِ.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go by train, and the journey takes an hour.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بِالقِطَارِ،</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أَذْهَبُ فِي القِطَارِ،</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وَتَسْتَغْرِقُ الرِّحْلَةُ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وَيَسْتَغْرِقُ الرِّحْلَةُ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سَاعَةٌ.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Overall, I recommend visiting the old market.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بِصِفَةٍ عَامَّةٍ،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بِصِفَةٌ عَامَّةٌ،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أُوصِي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يُوصِي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بِزِيَارَةِ السُّوقِ القَدِيمِ.</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زِيَارَةَ السُّوقِ القَدِيمِ.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my town there is a modern station built of glass.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مَحَطَّةٌ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تُوجَدُ … حَدِيثَةٌ … مَبْنِيَّةٌ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مَدِينَتِي تُوجَدُ مَحَطَّةٌ حَدِيثَةٌ مَبْنِيَّةٌ مِنَ الزُّجَاجِ.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go by train, and the journey takes an hour.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By train = </a:t>
            </a:r>
            <a:pPr algn="l" indent="0" marL="0">
              <a:buNone/>
            </a:pPr>
            <a:r>
              <a:rPr lang="ar-SA" altLang="en-US" sz="1350" dirty="0">
                <a:solidFill>
                  <a:srgbClr val="5A6472"/>
                </a:solidFill>
                <a:latin typeface="Amiri" pitchFamily="2" charset="-78"/>
                <a:ea typeface="Amiri" pitchFamily="2" charset="-78"/>
                <a:cs typeface="Amiri" pitchFamily="2" charset="-78"/>
              </a:rPr>
              <a:t>بِالقِطَارِ</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رِحْلَةٌ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تَسْتَغْرِقُ</a:t>
            </a:r>
            <a:pPr algn="l" indent="0" marL="0">
              <a:buNone/>
            </a:pPr>
            <a:r>
              <a:rPr lang="en-US" sz="1050" i="1" dirty="0">
                <a:solidFill>
                  <a:srgbClr val="5A6472"/>
                </a:solidFill>
                <a:latin typeface="Calibri" pitchFamily="34" charset="0"/>
                <a:cs typeface="Amiri" pitchFamily="2" charset="-78"/>
              </a:rPr>
              <a:t> + duration in -an.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أَذْهَبُ بِالقِطَارِ، وَتَسْتَغْرِقُ الرِّحْلَةُ سَاعَةً.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Overall, I recommend visiting the old market.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Overall = </a:t>
            </a:r>
            <a:pPr algn="l" indent="0" marL="0">
              <a:buNone/>
            </a:pPr>
            <a:r>
              <a:rPr lang="ar-SA" altLang="en-US" sz="1350" dirty="0">
                <a:solidFill>
                  <a:srgbClr val="5A6472"/>
                </a:solidFill>
                <a:latin typeface="Amiri" pitchFamily="2" charset="-78"/>
                <a:ea typeface="Amiri" pitchFamily="2" charset="-78"/>
                <a:cs typeface="Amiri" pitchFamily="2" charset="-78"/>
              </a:rPr>
              <a:t>بِصِفَةٍ عَامَّةٍ</a:t>
            </a:r>
            <a:pPr algn="l" indent="0" marL="0">
              <a:buNone/>
            </a:pPr>
            <a:r>
              <a:rPr lang="en-US" sz="1050" i="1" dirty="0">
                <a:solidFill>
                  <a:srgbClr val="5A6472"/>
                </a:solidFill>
                <a:latin typeface="Calibri" pitchFamily="34" charset="0"/>
                <a:cs typeface="Amiri" pitchFamily="2" charset="-78"/>
              </a:rPr>
              <a:t>; recommend = </a:t>
            </a:r>
            <a:pPr algn="l" indent="0" marL="0">
              <a:buNone/>
            </a:pPr>
            <a:r>
              <a:rPr lang="ar-SA" altLang="en-US" sz="1350" dirty="0">
                <a:solidFill>
                  <a:srgbClr val="5A6472"/>
                </a:solidFill>
                <a:latin typeface="Amiri" pitchFamily="2" charset="-78"/>
                <a:ea typeface="Amiri" pitchFamily="2" charset="-78"/>
                <a:cs typeface="Amiri" pitchFamily="2" charset="-78"/>
              </a:rPr>
              <a:t>أُوصِي</a:t>
            </a:r>
            <a:pPr algn="l" indent="0" marL="0">
              <a:buNone/>
            </a:pPr>
            <a:r>
              <a:rPr lang="en-US" sz="1050" i="1" dirty="0">
                <a:solidFill>
                  <a:srgbClr val="5A6472"/>
                </a:solidFill>
                <a:latin typeface="Calibri" pitchFamily="34" charset="0"/>
                <a:cs typeface="Amiri" pitchFamily="2" charset="-78"/>
              </a:rPr>
              <a:t> + bi-.</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بِصِفَةٍ عَامَّةٍ، أُوصِي بِزِيَارَةِ السُّوقِ القَدِيمِ.</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مَكْتَبَةٌ حَدِيثَةٌ.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مَكْتَبَةٌ</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مِنْ مَزَايَاهَا أَنَّ هِيَ هَادِئَةٌ.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 pronoun as an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أَذْهَبُ إِلَى المَدْرَسَةِ عَلَى الحَافِلَةِ.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Bus, not bike.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مَكْتَبَةٌ حَدِيثَةٌ.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مَكْتَبَةٌ حَدِيثَةٌ.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مِنْ مَزَايَاهَا أَنَّ هِيَ هَادِئَةٌ.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مِنْ مَزَايَاهَا أَنَّهَا هَادِئَةٌ.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attached pronoun: </a:t>
            </a:r>
            <a:pPr algn="l" indent="0" marL="0">
              <a:buNone/>
            </a:pPr>
            <a:r>
              <a:rPr lang="ar-SA" altLang="en-US" sz="1500" b="1" dirty="0">
                <a:solidFill>
                  <a:srgbClr val="1B3B6F"/>
                </a:solidFill>
                <a:latin typeface="Amiri" pitchFamily="2" charset="-78"/>
                <a:ea typeface="Amiri" pitchFamily="2" charset="-78"/>
                <a:cs typeface="Amiri" pitchFamily="2" charset="-78"/>
              </a:rPr>
              <a:t>أَنَّهَا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أَذْهَبُ إِلَى المَدْرَسَةِ عَلَى الحَافِلَةِ.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أَذْهَبُ إِلَى المَدْرَسَةِ بِالحَافِلَةِ.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Vehicles → bi-; only the bike takes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نِهَايَةِ الأُسْبُوعِ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weekend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بِصِفَةٍ عَامَّةٍ ______ ، وَأُوصِي بِزِيَارَةِ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Overall …, and I recommend visiting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أَسْكُنُ فِي ______ . يُوجَدُ فِيهَا ______ ، وَتُوجَدُ ______ .</a:t>
            </a:r>
            <a:endParaRPr lang="ar-SA" sz="13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 It has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مَبْنِيٌّ / مَبْنِيَّةٌ مِنَ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built of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أَذْهَبُ إِلَى المَدْرَسَةِ ______ ، وَتَسْتَغْرِقُ الرِّحْلَةُ ______ .</a:t>
            </a:r>
            <a:endParaRPr lang="ar-SA" sz="13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go to school …, and the journey takes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مَزَايَا مَدِينَتِي أَنَّ ______ ، وَمِنْ عُيُوبِهَا أَنَّ ______ .</a:t>
            </a:r>
            <a:endParaRPr lang="ar-SA" sz="13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advantage … and one disadvantage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بِجَانِبِ · مُقَابِلَ  ·  مَبْنِيٌّ مِنْ  ·  بِالحَافِلَةِ · مَشْيًا  ·  تَسْتَغْرِقُ  ·  مِنْ مَزَايَا … أَنَّ  ·  مِنْ عُيُوبِ … أَنَّ  ·  بِصِفَةٍ عَامَّةٍ · أُوصِي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town and how I get around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 وَكَيْفَ أَتَنَقَّلُ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three paragraphs (about 65–85 words) using your buddy’s notes. Paragraph 1: your town — places, positions, one building and its material. Paragraph 2: how you travel — to school and at the weekend, with times. Paragraph 3: advantages, disadvantages, an overall judgement and a recommendation.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فِي مَدِينَتِي … وَتُوجَدُ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town has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أَذْهَبُ … ، وَتَسْتَغْرِقُ الرِّحْلَةُ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go …, and the journey takes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مَزَايَاهَا أَنَّ … · مِنْ عُيُوبِهَا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advantage … · a disadvantage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بِصِفَةٍ عَامَّةٍ … · أُوصِي بِزِيَارَةِ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overall … · I recommend visiting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three paragraphs: town · transport · judgement?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F6 toolkit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مَبْنِيٌّ مِنْ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تَسْتَغْرِقُ</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مِنْ مَزَايَا … 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أَجْمَلُ مَكَانٍ الحَدِيقَةُ العَامَّةُ، وَهِيَ فِي وَسَطِ المَدِينَةِ.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nicest place is the public park, in the middle of town.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مَكَانٍ فِي مَدِينَتِكَ؟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أَذْهَبُ عَلَى الدَّرَّاجَةِ، وَتَسْتَغْرِقُ الرِّحْلَةُ عَشْرَ دَقَائِقَ.</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go by bike, and it takes ten minutes.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تَذْهَبُ إِلَى هُنَاكَ؟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عُيُوبِهَا أَنَّ الشَّوَارِعَ مُكْتَظَّةٌ صَبَاحًا.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One disadvantage is that the streets are crowded in the morning.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أَكْبَرُ مُشْكِلَةٍ فِي مَدِينَتِكَ؟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بِصِفَةٍ عَامَّةٍ نَعَمْ، لِأَنَّهَا آمِنَةٌ وَنَظِيفَةٌ.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Overall yes, because it is safe and clean.</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مَدِينَتَكَ بِصِفَةٍ عَامَّةٍ؟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أَسْكُنُ فِي مَدِينَةِ يُورْكَ. يُوجَدُ فِيهَا مَتْحَفٌ لِلْقِطَارَاتِ، وَتُوجَدُ كَاتِدْرَائِيَّةٌ ضَخْمَةٌ مَبْنِيَّةٌ مِنَ الحَجَرِ، وَهِيَ مُقَابِلَ المَكْتَبَةِ.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أَذْهَبُ إِلَى المَدْرَسَةِ بِالحَافِلَةِ، وَتَسْتَغْرِقُ الرِّحْلَةُ رُبْعَ سَاعَةٍ. فِي نِهَايَةِ الأُسْبُوعِ أَذْهَبُ إِلَى السُّوقِ مَشْيًا مَعَ أُمِّي.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مِنْ مَزَايَا مَدِينَتِي أَنَّهَا تَارِيخِيَّةٌ وَآمِنَةٌ، وَمِنْ عُيُوبِهَا أَنَّهَا مُكْتَظَّةٌ بِالسُّيَّاحِ فِي الصَّيْفِ. بِصِفَةٍ عَامَّةٍ أُحِبُّهَا كَثِيرًا، وَأُوصِي بِزِيَارَةِ مَتْحَفِ القِطَارَاتِ.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York. It has a railway museum, and a huge cathedral built of stone, opposite the library. / I go to school by bus, and the journey takes a quarter of an hour. At the weekend I walk to the market with my mum. / One advantage of my town is that it is historic and safe; one disadvantage is that it is crowded with tourists in summer. Overall I love it, and I recommend visiting the railway museum.”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مَبْنِيَّةٌ مِنَ الحَجَرِ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وَتَسْتَغْرِقُ الرِّحْلَةُ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مَزَايَا مَدِينَتِي أَنَّهَا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أُوصِي بِزِيَارَةِ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F6-L10 · Listening: Town and Transport Texts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نُصُوصُ المَدِينَةِ وَالمُوَاصَلَاتِ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F6-L09 · Practice Room — Extended Writing: My Town and How I Get Around</dc:title>
  <dc:subject>PptxGenJS Presentation</dc:subject>
  <dc:creator>Al Madina Online School · Arabic Department</dc:creator>
  <cp:lastModifiedBy>Al Madina Online School · Arabic Department</cp:lastModifiedBy>
  <cp:revision>1</cp:revision>
  <dcterms:created xsi:type="dcterms:W3CDTF">2026-10-25T17:50:36Z</dcterms:created>
  <dcterms:modified xsi:type="dcterms:W3CDTF">2026-10-25T17:50:36Z</dcterms:modified>
</cp:coreProperties>
</file>