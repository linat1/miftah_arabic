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F6-L06 (Shopping in Town: Prices and Comparisons) — new practice tasks built on the lesson’s own word bank and grammar (kam thamanuhu (m. item) / kam thamanuhā (f. item)?; rakhīṣun / ghālin (ghāliya); arkhaṣu min / aghlā min; urīdu an ashtariya …; hal ʿindakum …?; naqdan / bi-l-biṭāqa; khaṣm).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F6-L06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أُسَاعِدُكِ · تَدْفَعِينَ. Language: thamanuhu / thamanuhā by item gender · arkhaṣu min · urīdu an ashtariya.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(41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F6  ·  F6-L06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F6-L06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Shopping in Town: Prices and Comparisons</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التَّسَوُّقُ فِي المَدِينَةِ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run their own speaking and writing practice shopping in town: say the shopping words, act a short shop dialogue, answer price question cards, do a role-play card buying a present, give a 30-second talk, then build, fix and write a short comparison of two shops.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F6-L06 · Foundation F6 · My Town and Transport</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F6 › F6-L06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Prices and paying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price</a:t>
            </a:r>
            <a:endParaRPr lang="en-US" sz="1350" dirty="0"/>
          </a:p>
          <a:p>
            <a:pPr indent="0" marL="0">
              <a:buNone/>
            </a:pPr>
            <a:r>
              <a:rPr lang="en-US" sz="1100" i="1" dirty="0">
                <a:solidFill>
                  <a:srgbClr val="5A6472"/>
                </a:solidFill>
                <a:latin typeface="Calibri" pitchFamily="34" charset="0"/>
                <a:cs typeface="Amiri" pitchFamily="2" charset="-78"/>
              </a:rPr>
              <a:t>tha-ma-nun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(m)</a:t>
            </a:r>
            <a:endParaRPr lang="en-US" sz="1350" dirty="0"/>
          </a:p>
          <a:p>
            <a:pPr indent="0" marL="0">
              <a:buNone/>
            </a:pPr>
            <a:r>
              <a:rPr lang="en-US" sz="1100" i="1" dirty="0">
                <a:solidFill>
                  <a:srgbClr val="5A6472"/>
                </a:solidFill>
                <a:latin typeface="Calibri" pitchFamily="34" charset="0"/>
                <a:cs typeface="Amiri" pitchFamily="2" charset="-78"/>
              </a:rPr>
              <a:t>kam tha-ma-nu-hu?</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ثَمَنُهَا؟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much is it? (f)</a:t>
            </a:r>
            <a:endParaRPr lang="en-US" sz="1350" dirty="0"/>
          </a:p>
          <a:p>
            <a:pPr indent="0" marL="0">
              <a:buNone/>
            </a:pPr>
            <a:r>
              <a:rPr lang="en-US" sz="1100" i="1" dirty="0">
                <a:solidFill>
                  <a:srgbClr val="5A6472"/>
                </a:solidFill>
                <a:latin typeface="Calibri" pitchFamily="34" charset="0"/>
                <a:cs typeface="Amiri" pitchFamily="2" charset="-78"/>
              </a:rPr>
              <a:t>kam tha-ma-nu-hā?</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39" name="Shape 36"/>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41" name="Shape 38"/>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رَخِيصٌ / رَخِيصَةٌ</a:t>
            </a:r>
            <a:endParaRPr lang="ar-SA" sz="3000" dirty="0"/>
          </a:p>
        </p:txBody>
      </p:sp>
      <p:sp>
        <p:nvSpPr>
          <p:cNvPr id="44" name="Text 4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a:t>
            </a:r>
            <a:endParaRPr lang="en-US" sz="1350" dirty="0"/>
          </a:p>
          <a:p>
            <a:pPr indent="0" marL="0">
              <a:buNone/>
            </a:pPr>
            <a:r>
              <a:rPr lang="en-US" sz="1100" i="1" dirty="0">
                <a:solidFill>
                  <a:srgbClr val="5A6472"/>
                </a:solidFill>
                <a:latin typeface="Calibri" pitchFamily="34" charset="0"/>
                <a:cs typeface="Amiri" pitchFamily="2" charset="-78"/>
              </a:rPr>
              <a:t>ra-khī-ṣun / ra-khī-ṣa-tun</a:t>
            </a:r>
            <a:endParaRPr lang="en-US" sz="1350" dirty="0"/>
          </a:p>
        </p:txBody>
      </p:sp>
      <p:sp>
        <p:nvSpPr>
          <p:cNvPr id="45" name="Shape 42"/>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7" name="Text 44"/>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رَخِيصٌ</a:t>
            </a:r>
            <a:endParaRPr lang="ar-SA" sz="1500" dirty="0"/>
          </a:p>
        </p:txBody>
      </p:sp>
      <p:sp>
        <p:nvSpPr>
          <p:cNvPr id="48" name="Shape 45"/>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0" name="Text 47"/>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رَخِيصَةٌ</a:t>
            </a:r>
            <a:endParaRPr lang="ar-SA" sz="1500" dirty="0"/>
          </a:p>
        </p:txBody>
      </p:sp>
      <p:sp>
        <p:nvSpPr>
          <p:cNvPr id="51" name="Shape 48"/>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52" name="Text 49"/>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cheaper</a:t>
            </a:r>
            <a:endParaRPr lang="en-US" sz="700" dirty="0"/>
          </a:p>
        </p:txBody>
      </p:sp>
      <p:sp>
        <p:nvSpPr>
          <p:cNvPr id="53" name="Text 50"/>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أَرْخَصُ</a:t>
            </a:r>
            <a:endParaRPr lang="ar-SA"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more</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غَالٍ / غَالِيَةٌ</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expensive</a:t>
            </a:r>
            <a:endParaRPr lang="en-US" sz="1350" dirty="0"/>
          </a:p>
          <a:p>
            <a:pPr indent="0" marL="0">
              <a:buNone/>
            </a:pPr>
            <a:r>
              <a:rPr lang="en-US" sz="1100" i="1" dirty="0">
                <a:solidFill>
                  <a:srgbClr val="5A6472"/>
                </a:solidFill>
                <a:latin typeface="Calibri" pitchFamily="34" charset="0"/>
                <a:cs typeface="Amiri" pitchFamily="2" charset="-78"/>
              </a:rPr>
              <a:t>ghā-lin / ghā-li-ya-tun</a:t>
            </a:r>
            <a:endParaRPr lang="en-US" sz="1350" dirty="0"/>
          </a:p>
        </p:txBody>
      </p:sp>
      <p:sp>
        <p:nvSpPr>
          <p:cNvPr id="63" name="Shape 60"/>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65" name="Text 62"/>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a:t>
            </a:r>
            <a:endParaRPr lang="ar-SA" sz="1500" dirty="0"/>
          </a:p>
        </p:txBody>
      </p:sp>
      <p:sp>
        <p:nvSpPr>
          <p:cNvPr id="66" name="Shape 63"/>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8" name="Text 65"/>
          <p:cNvSpPr txBox="1"/>
          <p:nvPr/>
        </p:nvSpPr>
        <p:spPr>
          <a:xfrm>
            <a:off x="5614416"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غَالِيَةٌ</a:t>
            </a:r>
            <a:endParaRPr lang="ar-SA" sz="1500" dirty="0"/>
          </a:p>
        </p:txBody>
      </p:sp>
      <p:sp>
        <p:nvSpPr>
          <p:cNvPr id="69" name="Shape 66"/>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dearer</a:t>
            </a:r>
            <a:endParaRPr lang="en-US" sz="700" dirty="0"/>
          </a:p>
        </p:txBody>
      </p:sp>
      <p:sp>
        <p:nvSpPr>
          <p:cNvPr id="71" name="Text 68"/>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أَغْلَى</a:t>
            </a:r>
            <a:endParaRPr lang="ar-SA" sz="1350" dirty="0"/>
          </a:p>
        </p:txBody>
      </p:sp>
      <p:sp>
        <p:nvSpPr>
          <p:cNvPr id="72" name="Shape 69"/>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3" name="Shape 70"/>
          <p:cNvSpPr/>
          <p:nvPr/>
        </p:nvSpPr>
        <p:spPr>
          <a:xfrm>
            <a:off x="566928" y="4261104"/>
            <a:ext cx="310896" cy="310896"/>
          </a:xfrm>
          <a:prstGeom prst="ellipse">
            <a:avLst/>
          </a:prstGeom>
          <a:solidFill>
            <a:srgbClr val="F4F1EA"/>
          </a:solidFill>
          <a:ln w="12700">
            <a:solidFill>
              <a:srgbClr val="F4F1EA"/>
            </a:solidFill>
            <a:prstDash val="solid"/>
          </a:ln>
        </p:spPr>
      </p:sp>
      <p:sp>
        <p:nvSpPr>
          <p:cNvPr id="74" name="Text 71"/>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5" name="Shape 72"/>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7" name="Text 74"/>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أَرْخَصُ مِنْ</a:t>
            </a:r>
            <a:endParaRPr lang="ar-SA" sz="3000" dirty="0"/>
          </a:p>
        </p:txBody>
      </p:sp>
      <p:sp>
        <p:nvSpPr>
          <p:cNvPr id="78" name="Text 75"/>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cheaper than</a:t>
            </a:r>
            <a:endParaRPr lang="en-US" sz="1350" dirty="0"/>
          </a:p>
          <a:p>
            <a:pPr indent="0" marL="0">
              <a:buNone/>
            </a:pPr>
            <a:r>
              <a:rPr lang="en-US" sz="1100" i="1" dirty="0">
                <a:solidFill>
                  <a:srgbClr val="5A6472"/>
                </a:solidFill>
                <a:latin typeface="Calibri" pitchFamily="34" charset="0"/>
                <a:cs typeface="Amiri" pitchFamily="2" charset="-78"/>
              </a:rPr>
              <a:t>ar-kha-ṣu min</a:t>
            </a:r>
            <a:endParaRPr lang="en-US" sz="13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Comparing and asking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أَغْلَى مِنْ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more expensive than</a:t>
            </a:r>
            <a:endParaRPr lang="en-US" sz="1350" dirty="0"/>
          </a:p>
          <a:p>
            <a:pPr indent="0" marL="0">
              <a:buNone/>
            </a:pPr>
            <a:r>
              <a:rPr lang="en-US" sz="1100" i="1" dirty="0">
                <a:solidFill>
                  <a:srgbClr val="5A6472"/>
                </a:solidFill>
                <a:latin typeface="Calibri" pitchFamily="34" charset="0"/>
                <a:cs typeface="Amiri" pitchFamily="2" charset="-78"/>
              </a:rPr>
              <a:t>agh-lā min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خَصْمٌ</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discount</a:t>
            </a:r>
            <a:endParaRPr lang="en-US" sz="1350" dirty="0"/>
          </a:p>
          <a:p>
            <a:pPr indent="0" marL="0">
              <a:buNone/>
            </a:pPr>
            <a:r>
              <a:rPr lang="en-US" sz="1100" i="1" dirty="0">
                <a:solidFill>
                  <a:srgbClr val="5A6472"/>
                </a:solidFill>
                <a:latin typeface="Calibri" pitchFamily="34" charset="0"/>
                <a:cs typeface="Amiri" pitchFamily="2" charset="-78"/>
              </a:rPr>
              <a:t>khaṣ-mun</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نَقْدًا</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 cash</a:t>
            </a:r>
            <a:endParaRPr lang="en-US" sz="1350" dirty="0"/>
          </a:p>
          <a:p>
            <a:pPr indent="0" marL="0">
              <a:buNone/>
            </a:pPr>
            <a:r>
              <a:rPr lang="en-US" sz="1100" i="1" dirty="0">
                <a:solidFill>
                  <a:srgbClr val="5A6472"/>
                </a:solidFill>
                <a:latin typeface="Calibri" pitchFamily="34" charset="0"/>
                <a:cs typeface="Amiri" pitchFamily="2" charset="-78"/>
              </a:rPr>
              <a:t>naq-dan</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بِالبِطَاقَةِ</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by card</a:t>
            </a:r>
            <a:endParaRPr lang="en-US" sz="1350" dirty="0"/>
          </a:p>
          <a:p>
            <a:pPr indent="0" marL="0">
              <a:buNone/>
            </a:pPr>
            <a:r>
              <a:rPr lang="en-US" sz="1100" i="1" dirty="0">
                <a:solidFill>
                  <a:srgbClr val="5A6472"/>
                </a:solidFill>
                <a:latin typeface="Calibri" pitchFamily="34" charset="0"/>
                <a:cs typeface="Amiri" pitchFamily="2" charset="-78"/>
              </a:rPr>
              <a:t>bil-bi-ṭā-qa-ti</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أُرِيدُ أَنْ أَشْتَرِيَ</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want to buy</a:t>
            </a:r>
            <a:endParaRPr lang="en-US" sz="1350" dirty="0"/>
          </a:p>
          <a:p>
            <a:pPr indent="0" marL="0">
              <a:buNone/>
            </a:pPr>
            <a:r>
              <a:rPr lang="en-US" sz="1100" i="1" dirty="0">
                <a:solidFill>
                  <a:srgbClr val="5A6472"/>
                </a:solidFill>
                <a:latin typeface="Calibri" pitchFamily="34" charset="0"/>
                <a:cs typeface="Amiri" pitchFamily="2" charset="-78"/>
              </a:rPr>
              <a:t>u-rī-du an ash-ta-ri-ya</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هَلْ عِنْدَكُمْ...؟</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 you have...?</a:t>
            </a:r>
            <a:endParaRPr lang="en-US" sz="1350" dirty="0"/>
          </a:p>
          <a:p>
            <a:pPr indent="0" marL="0">
              <a:buNone/>
            </a:pPr>
            <a:r>
              <a:rPr lang="en-US" sz="1100" i="1" dirty="0">
                <a:solidFill>
                  <a:srgbClr val="5A6472"/>
                </a:solidFill>
                <a:latin typeface="Calibri" pitchFamily="34" charset="0"/>
                <a:cs typeface="Amiri" pitchFamily="2" charset="-78"/>
              </a:rPr>
              <a:t>hal ʿin-da-kum...?</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How much is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كَمْ ثَمَنُهُ؟</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want to buy this shirt. How much is it?</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أُرِيدُ أَنْ أَشْتَرِيَ هٰذَا القَمِيصَ. كَمْ ثَمَنُهُ؟</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costs fifteen pounds.</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ثَمَنُهُ خَمْسَةَ عَشَرَ جُنَيْهًا.</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this bag? How much is it?</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وَهٰذِهِ الحَقِيبَةُ؟ كَمْ ثَمَنُهَا؟</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It costs twenty pounds. It is more expensive than the shirt.</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ثَمَنُهَا عِشْرُونَ جُنَيْهًا. هِيَ أَغْلَى مِنَ القَمِيصِ.</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Is there a discount?</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هُنَاكَ خَصْمٌ؟</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Yes, ten per cent off. Are you paying cash or by card?</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نَعَمْ، خَصْمٌ عَشَرَةٌ فِي المِئَةِ. هَلْ تَدْفَعُ نَقْدًا أَمْ بِالبِطَاقَةِ؟</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“sell” real objects from your room — </a:t>
            </a:r>
            <a:pPr algn="l" indent="0" marL="0">
              <a:buNone/>
            </a:pPr>
            <a:r>
              <a:rPr lang="ar-SA" altLang="en-US" sz="1500" b="1" dirty="0">
                <a:solidFill>
                  <a:srgbClr val="1B3B6F"/>
                </a:solidFill>
                <a:latin typeface="Amiri" pitchFamily="2" charset="-78"/>
                <a:ea typeface="Amiri" pitchFamily="2" charset="-78"/>
                <a:cs typeface="Amiri" pitchFamily="2" charset="-78"/>
              </a:rPr>
              <a:t>ثَمَنُهُ</a:t>
            </a:r>
            <a:pPr algn="l" indent="0" marL="0">
              <a:buNone/>
            </a:pPr>
            <a:r>
              <a:rPr lang="en-US" sz="1150" b="1" dirty="0">
                <a:solidFill>
                  <a:srgbClr val="1B3B6F"/>
                </a:solidFill>
                <a:latin typeface="Calibri" pitchFamily="34" charset="0"/>
                <a:cs typeface="Amiri" pitchFamily="2" charset="-78"/>
              </a:rPr>
              <a:t> for masculine,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 for feminine.</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وَهُوَ رَخِيصٌ</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ثَمَانِيَةُ جُنَيْهَاتٍ</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book? (£8)</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هٰذَا الكِتَابِ؟ (8 £)</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وَهِيَ غَالِيَةٌ</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ثَمَنُهَا أَرْبَعُونَ جُنَيْهًا</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much is this watch? (£40)</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ثَمَنُ هٰذِهِ السَّاعَةِ؟ (40 £)</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أَرْخَصُ مِنْ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أَتَسَوَّقُ فِي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do you usually shop?</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أَيْنَ تَتَسَوَّقُ عَادَةً؟</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أَدْفَعُ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Do you pay cash or by card?</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تَدْفَعُ نَقْدًا أَمْ بِالبِطَاقَةِ؟</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مِنْ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أُرِيدُ أَنْ أَشْتَرِيَ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want to buy this week?</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تُرِيدُ أَنْ تَشْتَرِيَ هٰذَا الأُسْبُوعَ؟</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00" b="1" dirty="0">
                <a:solidFill>
                  <a:srgbClr val="1B3B6F"/>
                </a:solidFill>
                <a:latin typeface="Cambria" pitchFamily="34" charset="0"/>
                <a:cs typeface="Amiri" pitchFamily="2" charset="-78"/>
              </a:rPr>
              <a:t>Role-play card — buying a present for your mother</a:t>
            </a:r>
            <a:endParaRPr lang="en-US" sz="19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هَدِيَّةٌ لِأُمِّي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أُرِيدُ أَنْ أَشْتَرِيَ هَدِيَّةً لِ…</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what you want.</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كَيْفَ أُسَاعِدُكَ؟</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اسْأَلْ ← كَمْ ثَمَنُ … ؟ ← كَمْ ثَمَنُهُ</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the price of the scarf (m.).</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عِنْدَنَا هٰذَا الوِشَاحُ وَهٰذِهِ السَّاعَةُ.</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قَارِنْ ← الوِشَاحُ أَرْخَصُ … ، سَآخُذُ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 choose.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ثَمَنُهُ عَشَرَةُ جُنَيْهَاتٍ، وَالسَّاعَةُ ثَلَاثُونَ.</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 أَدْفَعُ … ، وَهَلْ عِنْدَكُمْ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how + ask for a bag.</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كَيْفَ تَدْفَعُ؟</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customer · Leader = the shop assistant.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30 seconds: a shopping trip in town</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التَّسَوُّقُ فِي المَدِينَةِ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In 30 seconds, describe a shopping trip: where you went, two things you looked at, their prices, which was cheaper or more expensive, and how you paid.</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items with their prices.</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comparison: </a:t>
            </a:r>
            <a:pPr algn="l" indent="0" marL="0">
              <a:buNone/>
            </a:pPr>
            <a:r>
              <a:rPr lang="ar-SA" altLang="en-US" sz="1500" dirty="0">
                <a:solidFill>
                  <a:srgbClr val="1F2A37"/>
                </a:solidFill>
                <a:latin typeface="Amiri" pitchFamily="2" charset="-78"/>
                <a:ea typeface="Amiri" pitchFamily="2" charset="-78"/>
                <a:cs typeface="Amiri" pitchFamily="2" charset="-78"/>
              </a:rPr>
              <a:t>أَرْخَصُ / أَغْلَى مِنْ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discount and how you paid.</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 much is this jacket?</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 ثَمَنًا</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هٰذِهِ</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هٰذَا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السُّتْرَةِ؟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السُّتْرَةُ؟</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The market is cheaper than the shopping centre.</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السُّوقُ</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السُّوقَ</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أَرْخَصُ</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رَخِيصَةٌ</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المَرْكَزِ التِّجَارِيِّ.</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المَرْكَزَ التِّجَارِيَّ.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want to buy new trainers.</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أُرِيدُ أَنَا أَنْ</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أَشْتَرِيَ</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أَشْتَرِي</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حِذَاءً رِيَاضِيًّا جَدِيدًا.</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حِذَاءٌ رِيَاضِيٌّ جَدِيدٌ.</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 much is this jacket?</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سُتْرَةٌ</a:t>
            </a:r>
            <a:pPr algn="l" indent="0" marL="0">
              <a:buNone/>
            </a:pPr>
            <a:r>
              <a:rPr lang="en-US" sz="1050" i="1" dirty="0">
                <a:solidFill>
                  <a:srgbClr val="5A6472"/>
                </a:solidFill>
                <a:latin typeface="Calibri" pitchFamily="34" charset="0"/>
                <a:cs typeface="Amiri" pitchFamily="2" charset="-78"/>
              </a:rPr>
              <a:t> (f.) → </a:t>
            </a:r>
            <a:pPr algn="l" indent="0" marL="0">
              <a:buNone/>
            </a:pPr>
            <a:r>
              <a:rPr lang="ar-SA" altLang="en-US" sz="1350" dirty="0">
                <a:solidFill>
                  <a:srgbClr val="5A6472"/>
                </a:solidFill>
                <a:latin typeface="Amiri" pitchFamily="2" charset="-78"/>
                <a:ea typeface="Amiri" pitchFamily="2" charset="-78"/>
                <a:cs typeface="Amiri" pitchFamily="2" charset="-78"/>
              </a:rPr>
              <a:t>هٰذِهِ</a:t>
            </a:r>
            <a:pPr algn="l" indent="0" marL="0">
              <a:buNone/>
            </a:pPr>
            <a:r>
              <a:rPr lang="en-US" sz="1050" i="1" dirty="0">
                <a:solidFill>
                  <a:srgbClr val="5A6472"/>
                </a:solidFill>
                <a:latin typeface="Calibri" pitchFamily="34" charset="0"/>
                <a:cs typeface="Amiri" pitchFamily="2" charset="-78"/>
              </a:rPr>
              <a:t>; </a:t>
            </a:r>
            <a:pPr algn="l" indent="0" marL="0">
              <a:buNone/>
            </a:pPr>
            <a:r>
              <a:rPr lang="ar-SA" altLang="en-US" sz="1350" dirty="0">
                <a:solidFill>
                  <a:srgbClr val="5A6472"/>
                </a:solidFill>
                <a:latin typeface="Amiri" pitchFamily="2" charset="-78"/>
                <a:ea typeface="Amiri" pitchFamily="2" charset="-78"/>
                <a:cs typeface="Amiri" pitchFamily="2" charset="-78"/>
              </a:rPr>
              <a:t>كَمْ ثَمَنُ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كَمْ ثَمَنُ هٰذِهِ السُّتْرَةِ؟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The market is cheaper than the shopping centre.</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Comparative </a:t>
            </a:r>
            <a:pPr algn="l" indent="0" marL="0">
              <a:buNone/>
            </a:pPr>
            <a:r>
              <a:rPr lang="ar-SA" altLang="en-US" sz="1350" dirty="0">
                <a:solidFill>
                  <a:srgbClr val="5A6472"/>
                </a:solidFill>
                <a:latin typeface="Amiri" pitchFamily="2" charset="-78"/>
                <a:ea typeface="Amiri" pitchFamily="2" charset="-78"/>
                <a:cs typeface="Amiri" pitchFamily="2" charset="-78"/>
              </a:rPr>
              <a:t>أَرْخَصُ</a:t>
            </a:r>
            <a:pPr algn="l" indent="0" marL="0">
              <a:buNone/>
            </a:pPr>
            <a:r>
              <a:rPr lang="en-US" sz="1050" i="1" dirty="0">
                <a:solidFill>
                  <a:srgbClr val="5A6472"/>
                </a:solidFill>
                <a:latin typeface="Calibri" pitchFamily="34" charset="0"/>
                <a:cs typeface="Amiri" pitchFamily="2" charset="-78"/>
              </a:rPr>
              <a:t>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 genitive.</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السُّوقُ أَرْخَصُ مِنَ المَرْكَزِ التِّجَارِيِّ.</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want to buy new trainers.</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ar-SA" altLang="en-US" sz="1350" dirty="0">
                <a:solidFill>
                  <a:srgbClr val="5A6472"/>
                </a:solidFill>
                <a:latin typeface="Amiri" pitchFamily="2" charset="-78"/>
                <a:ea typeface="Amiri" pitchFamily="2" charset="-78"/>
                <a:cs typeface="Amiri" pitchFamily="2" charset="-78"/>
              </a:rPr>
              <a:t>أُرِيدُ أَنْ</a:t>
            </a:r>
            <a:pPr algn="l" indent="0" marL="0">
              <a:buNone/>
            </a:pPr>
            <a:r>
              <a:rPr lang="en-US" sz="1050" i="1" dirty="0">
                <a:solidFill>
                  <a:srgbClr val="5A6472"/>
                </a:solidFill>
                <a:latin typeface="Calibri" pitchFamily="34" charset="0"/>
                <a:cs typeface="Amiri" pitchFamily="2" charset="-78"/>
              </a:rPr>
              <a:t> + verb in -a (</a:t>
            </a:r>
            <a:pPr algn="l" indent="0" marL="0">
              <a:buNone/>
            </a:pPr>
            <a:r>
              <a:rPr lang="ar-SA" altLang="en-US" sz="1350" dirty="0">
                <a:solidFill>
                  <a:srgbClr val="5A6472"/>
                </a:solidFill>
                <a:latin typeface="Amiri" pitchFamily="2" charset="-78"/>
                <a:ea typeface="Amiri" pitchFamily="2" charset="-78"/>
                <a:cs typeface="Amiri" pitchFamily="2" charset="-78"/>
              </a:rPr>
              <a:t>أَشْتَرِيَ</a:t>
            </a:r>
            <a:pPr algn="l" indent="0" marL="0">
              <a:buNone/>
            </a:pPr>
            <a:r>
              <a:rPr lang="en-US" sz="1050" i="1" dirty="0">
                <a:solidFill>
                  <a:srgbClr val="5A6472"/>
                </a:solidFill>
                <a:latin typeface="Calibri" pitchFamily="34" charset="0"/>
                <a:cs typeface="Amiri" pitchFamily="2" charset="-78"/>
              </a:rPr>
              <a:t>); object → -an.</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أُرِيدُ أَنْ أَشْتَرِيَ حِذَاءً رِيَاضِيًّا جَدِيدًا.</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كَمْ ثَمَنُهُ؟</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About a bag — </a:t>
            </a:r>
            <a:pPr algn="l" indent="0" marL="0">
              <a:buNone/>
            </a:pPr>
            <a:r>
              <a:rPr lang="ar-SA" altLang="en-US" sz="1700" dirty="0">
                <a:solidFill>
                  <a:srgbClr val="5A6472"/>
                </a:solidFill>
                <a:latin typeface="Amiri" pitchFamily="2" charset="-78"/>
                <a:ea typeface="Amiri" pitchFamily="2" charset="-78"/>
                <a:cs typeface="Amiri" pitchFamily="2" charset="-78"/>
              </a:rPr>
              <a:t>حَقِيبَةٌ</a:t>
            </a:r>
            <a:pPr algn="l" indent="0" marL="0">
              <a:buNone/>
            </a:pPr>
            <a:r>
              <a:rPr lang="en-US" sz="1300" i="1" dirty="0">
                <a:solidFill>
                  <a:srgbClr val="5A6472"/>
                </a:solidFill>
                <a:latin typeface="Calibri" pitchFamily="34" charset="0"/>
                <a:cs typeface="Amiri" pitchFamily="2" charset="-78"/>
              </a:rPr>
              <a:t> is feminine.</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الحَقِيبَةُ أَغْلَى عَنِ القَمِيصِ.</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more expensive THAN …</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ثَمَنُهُ ثَلَاثُونَ جُنَيْهَاتٍ.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11–99 + …</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كَمْ ثَمَنُهُ؟</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كَمْ ثَمَنُهَا؟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Feminine item → </a:t>
            </a:r>
            <a:pPr algn="l" indent="0" marL="0">
              <a:buNone/>
            </a:pPr>
            <a:r>
              <a:rPr lang="ar-SA" altLang="en-US" sz="1500" b="1" dirty="0">
                <a:solidFill>
                  <a:srgbClr val="1B3B6F"/>
                </a:solidFill>
                <a:latin typeface="Amiri" pitchFamily="2" charset="-78"/>
                <a:ea typeface="Amiri" pitchFamily="2" charset="-78"/>
                <a:cs typeface="Amiri" pitchFamily="2" charset="-78"/>
              </a:rPr>
              <a:t>ثَمَنُهَا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الحَقِيبَةُ أَغْلَى عَنِ القَمِيصِ.</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الحَقِيبَةُ أَغْلَى مِنَ القَمِيصِ.</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Comparative + </a:t>
            </a:r>
            <a:pPr algn="l" indent="0" marL="0">
              <a:buNone/>
            </a:pPr>
            <a:r>
              <a:rPr lang="ar-SA" altLang="en-US" sz="1500" b="1" dirty="0">
                <a:solidFill>
                  <a:srgbClr val="1B3B6F"/>
                </a:solidFill>
                <a:latin typeface="Amiri" pitchFamily="2" charset="-78"/>
                <a:ea typeface="Amiri" pitchFamily="2" charset="-78"/>
                <a:cs typeface="Amiri" pitchFamily="2" charset="-78"/>
              </a:rPr>
              <a:t>مِنْ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ثَمَنُهُ ثَلَاثُونَ جُنَيْهَاتٍ.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ثَمَنُهُ ثَلَاثُونَ جُنَيْهًا.</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11–99 → singular accusative </a:t>
            </a:r>
            <a:pPr algn="l" indent="0" marL="0">
              <a:buNone/>
            </a:pPr>
            <a:r>
              <a:rPr lang="ar-SA" altLang="en-US" sz="1500" b="1" dirty="0">
                <a:solidFill>
                  <a:srgbClr val="1B3B6F"/>
                </a:solidFill>
                <a:latin typeface="Amiri" pitchFamily="2" charset="-78"/>
                <a:ea typeface="Amiri" pitchFamily="2" charset="-78"/>
                <a:cs typeface="Amiri" pitchFamily="2" charset="-78"/>
              </a:rPr>
              <a:t>جُنَيْهًا</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2" charset="-78"/>
                <a:ea typeface="Amiri" pitchFamily="2" charset="-78"/>
                <a:cs typeface="Amiri" pitchFamily="2" charset="-78"/>
              </a:rPr>
              <a:t>هُنَاكَ خَصْمٌ ______ ، وَيُمْكِنُ أَنْ تَدْفَعَ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 … discount, and you can pay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______ ثَمَنُ ______ ______ جُنَيْهًا.</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 the … costs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 ______ ثَمَنُهُ / ثَمَنُهَا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in … it costs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أَرْخَصُ مِنْ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cheaper than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prefer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كَمْ ثَمَنُهُ؟ · كَمْ ثَمَنُهَا؟  ·  رَخِيصٌ · غَالٍ  ·  أَرْخَصُ مِنْ · أَغْلَى مِنْ  ·  خَصْمٌ  ·  نَقْدًا · بِالبِطَاقَةِ  ·  أُرِيدُ أَنْ أَشْتَرِيَ  ·  سُوقٌ · مَرْكَزٌ تِجَارِيٌّ  ·  جُنَيْهٌ · جُنَيْهَاتٌ</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Two shops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مُقَارَنَةُ مَحَلَّيْنِ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00" b="1" dirty="0">
                <a:solidFill>
                  <a:srgbClr val="1F2A37"/>
                </a:solidFill>
                <a:latin typeface="Calibri" pitchFamily="34" charset="0"/>
                <a:cs typeface="Amiri" pitchFamily="2" charset="-78"/>
              </a:rPr>
              <a:t>Write a short text (about 40–60 words) for a town guide comparing two shops or markets. Include: • the two places • two items and their prices • which is cheaper / more expensive • a discount or how you can pay • where you prefer to shop and why.</a:t>
            </a:r>
            <a:endParaRPr lang="en-US" sz="130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 ثَمَنُ … جُنَيْهًا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 the price of … is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 أَرْخَصُ مِنْ … · … أَغْلَى مِنْ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 cheaper than … · … more expensive than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تَدْفَعَ نَقْدًا أَوْ بِالبِطَاقَةِ</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you can pay cash or by card</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أُفَضِّلُ …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prefer …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ask and give prices with </a:t>
            </a:r>
            <a:pPr algn="l" indent="0" marL="0">
              <a:buNone/>
            </a:pPr>
            <a:r>
              <a:rPr lang="ar-SA" altLang="en-US" sz="1450" dirty="0">
                <a:solidFill>
                  <a:srgbClr val="5A6472"/>
                </a:solidFill>
                <a:latin typeface="Amiri" pitchFamily="2" charset="-78"/>
                <a:ea typeface="Amiri" pitchFamily="2" charset="-78"/>
                <a:cs typeface="Amiri" pitchFamily="2" charset="-78"/>
              </a:rPr>
              <a:t>ثَمَنُهُ / ثَمَنُهَا</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compare with </a:t>
            </a:r>
            <a:pPr algn="l" indent="0" marL="0">
              <a:buNone/>
            </a:pPr>
            <a:r>
              <a:rPr lang="ar-SA" altLang="en-US" sz="1450" dirty="0">
                <a:solidFill>
                  <a:srgbClr val="5A6472"/>
                </a:solidFill>
                <a:latin typeface="Amiri" pitchFamily="2" charset="-78"/>
                <a:ea typeface="Amiri" pitchFamily="2" charset="-78"/>
                <a:cs typeface="Amiri" pitchFamily="2" charset="-78"/>
              </a:rPr>
              <a:t>أَرْخَصُ / أَغْلَى مِنْ</a:t>
            </a:r>
            <a:pPr algn="l" indent="0" marL="0">
              <a:buNone/>
            </a:pPr>
            <a:r>
              <a:rPr lang="en-US" sz="1100" dirty="0">
                <a:solidFill>
                  <a:srgbClr val="5A6472"/>
                </a:solidFill>
                <a:latin typeface="Calibri" pitchFamily="34" charset="0"/>
                <a:cs typeface="Amiri" pitchFamily="2" charset="-78"/>
              </a:rPr>
              <a:t> and get the number + </a:t>
            </a:r>
            <a:pPr algn="l" indent="0" marL="0">
              <a:buNone/>
            </a:pPr>
            <a:r>
              <a:rPr lang="ar-SA" altLang="en-US" sz="1450" dirty="0">
                <a:solidFill>
                  <a:srgbClr val="5A6472"/>
                </a:solidFill>
                <a:latin typeface="Amiri" pitchFamily="2" charset="-78"/>
                <a:ea typeface="Amiri" pitchFamily="2" charset="-78"/>
                <a:cs typeface="Amiri" pitchFamily="2" charset="-78"/>
              </a:rPr>
              <a:t>جُنَيْهًا / جُنَيْهَاتٍ</a:t>
            </a:r>
            <a:pPr algn="l" indent="0" marL="0">
              <a:buNone/>
            </a:pPr>
            <a:r>
              <a:rPr lang="en-US" sz="1100" dirty="0">
                <a:solidFill>
                  <a:srgbClr val="5A6472"/>
                </a:solidFill>
                <a:latin typeface="Calibri" pitchFamily="34" charset="0"/>
                <a:cs typeface="Amiri" pitchFamily="2" charset="-78"/>
              </a:rPr>
              <a:t> right?</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أُرِيدُ أَنْ أَشْتَرِيَ هَدِيَّةً لِأُمِّي.</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want to buy a present for my mother.</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كَيْفَ أُسَاعِدُكَ؟</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كَمْ ثَمَنُ الوِشَاحِ؟</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How much is the scarf?</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عِنْدَنَا هٰذَا الوِشَاحُ وَهٰذِهِ السَّاعَةُ.</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الوِشَاحُ أَرْخَصُ مِنَ السَّاعَةِ، سَآخُذُهُ.</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The scarf is cheaper than the watch — I’ll take it.</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ثَمَنُهُ عَشَرَةُ جُنَيْهَاتٍ، وَالسَّاعَةُ ثَلَاثُونَ.</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أَدْفَعُ نَقْدًا. هَلْ عِنْدَكُمْ كِيسُ هَدَايَا؟</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I’ll pay cash. Do you have a gift bag?</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كَيْفَ تَدْفَعُ؟</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فِي مَدِينَتِي سُوقٌ قَدِيمٌ وَمَرْكَزٌ تِجَارِيٌّ حَدِيثٌ. فِي السُّوقِ ثَمَنُ القَمِيصِ عَشَرَةُ جُنَيْهَاتٍ، وَفِي المَرْكَزِ ثَمَنُهُ عِشْرُونَ جُنَيْهًا. الحَقِيبَةُ فِي السُّوقِ أَرْخَصُ أَيْضًا. لٰكِنْ فِي المَرْكَزِ هُنَاكَ خَصْمٌ يَوْمَ الجُمُعَةِ، وَيُمْكِنُ أَنْ تَدْفَعَ بِالبِطَاقَةِ. أُفَضِّلُ السُّوقَ، لِأَنَّهُ أَرْخَصُ وَأَجْمَلُ، وَالبَائِعُونَ لُطَفَاءُ.</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“In my town there is an old market and a modern shopping centre. At the market a shirt costs ten pounds, and at the centre it costs twenty. The bag is cheaper at the market too. But at the centre there is a discount on Friday, and you can pay by card. I prefer the market, because it is cheaper and nicer, and the sellers are kind.”</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ثَمَنُ القَمِيصِ عَشَرَةُ جُنَيْهَاتٍ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أَرْخَصُ أَيْضًا</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هُنَاكَ خَصْمٌ</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أُفَضِّلُ السُّوقَ</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F6-L06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F6 · My Town and Transport · F6-L06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F6-L06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650" b="1" dirty="0">
                <a:solidFill>
                  <a:srgbClr val="FFFFFF"/>
                </a:solidFill>
                <a:latin typeface="Cambria" pitchFamily="34" charset="0"/>
                <a:cs typeface="Amiri" pitchFamily="2" charset="-78"/>
              </a:rPr>
              <a:t>F6-L07 · The Built Environment: Buildings, Materials and Urban Life</a:t>
            </a:r>
            <a:endParaRPr lang="en-US" sz="16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البِيئَةُ المَبْنِيَّةُ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F6-L06 · Practice Room — Shopping in Town: Prices and Comparisons</dc:title>
  <dc:subject>PptxGenJS Presentation</dc:subject>
  <dc:creator>Al Madina Online School · Arabic Department</dc:creator>
  <cp:lastModifiedBy>Al Madina Online School · Arabic Department</cp:lastModifiedBy>
  <cp:revision>1</cp:revision>
  <dcterms:created xsi:type="dcterms:W3CDTF">2026-10-25T18:35:02Z</dcterms:created>
  <dcterms:modified xsi:type="dcterms:W3CDTF">2026-10-25T18:35:02Z</dcterms:modified>
</cp:coreProperties>
</file>