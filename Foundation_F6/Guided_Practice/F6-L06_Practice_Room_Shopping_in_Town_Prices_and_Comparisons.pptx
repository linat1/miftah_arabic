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PRACTICE ROOM AT A GLANCE — one combined lesson (speaking, then writing), 55–60 minutes: about 6 minutes in the main room, about 45 minutes in breakout rooms of two or three, about 6 minutes back together.
0–2 Welcome · 2–5 How the room works · ROOMS, Part A Speaking: Step 1 Word warm-up (5) · Step 2 Say the model dialogue (5) · Step 3 Question cards (7) · Step 4 Role-play card (7) · Step 5 Short talk (4) · Part B Writing: Step 6 Sentence builder (4) · Step 7 Spot and fix (3) · Step 8 Write your text (12) + buddy check (3) · back in the main room: Check yourself (4) · Self-check + close (2).
PURPOSE: students practise the lesson’s language ON THEIR OWN with a clear structure. The teacher visits each room (about 3 minutes per room), listens, reads one piece of writing per student and gives one live correction.
CONTENT: F6-L06 (Shopping in Town: Prices and Comparisons) — new practice tasks built on the lesson’s own word bank and grammar (kam thamanuhu (m. item) / kam thamanuhā (f. item)?; rakhīṣun / ghālin (ghāliya); arkhaṣu min / aghlā min; urīdu an ashtariya …; hal ʿindakum …?; naqdan / bi-l-biṭāqa; khaṣm).
SET-UP: rooms of two or three (same-level rooms keep the routes simple). Share this deck or its PDF in the chat so every room can follow the steps. Each student writes in their own book or document.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 — Part A is speaking, Part B is writing. The step number is always in the top-left of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ROOM WORKS (3 min, main room). Model the roles quickly with two volunteers using one question from Step 3. Stress: the Coach is kind and specific. Then open the breakout rooms.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(5 min in rooms). The two word slides that follow come from the F6-L06 lesson. Teacher: visit the first room straight away to model the 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the Leader picks the English, the Speaker gives the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(5 min). The dialogue models today’s language in a real exchange.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(7 min). The starter column is support, not the answer: students finish it with their OWN information. Coach listens for the key structure of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4 (7 min). SUPPORTED: the plan column models the thinking (first words), not the full answer. Everyone is Speaker once. To a girl the Leader says: أُسَاعِدُكِ · تَدْفَعِينَ. Language: thamanuhu / thamanuhā by item gender · arkhaṣu min · urīdu an ashtariya.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(4 min). A short talk builds fluency and confidence.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support. Core: use the Core frames for every sentence. Develop: use the Develop frames only if stuck. Stretch: no frames — add a reason, a time phrase and one extra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(10 min writing). Core: frames for every bullet (25–35 words). Develop: 40–60 words, frames only if stuck. Stretch: no frames, add reasons and another time frame. Teacher visits rooms and reads ONE sentence per student.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BUDDY CHECK (3 min). Then everyone returns to the main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YOURSELF (2 min, main room). Each student finds one task they answered less fully and says it again using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(41 words). CHECK YOURSELF (2 min). Find each bullet point in the model. Then each student copies ONE phrase from the model into their own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7  ·  FOUNDATION F6  ·  F6-L06 · PRACTICE ROOM</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F6-L06</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Practice Room — Shopping in Town: Prices and Comparisons</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غُرْفَةُ التَّدَرُّبِ — التَّسَوُّقُ فِي المَدِينَةِ</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Students run their own speaking and writing practice shopping in town: say the shopping words, act a short shop dialogue, answer price question cards, do a role-play card buying a present, give a 30-second talk, then build, fix and write a short comparison of two shops.</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F6-L06 · Foundation F6 · My Town and Transport</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Foundation · A1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Foundation › F6 › F6-L06</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F6-L06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F6-L06 · practice room</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F6-L06 · Speaking + writing practice room</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ROOM PLAN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Speak first, then write — you run it yourselves</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F6-L06 · practice room</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2F6FB0"/>
          </a:solidFill>
          <a:ln w="12700">
            <a:solidFill>
              <a:srgbClr val="2F6FB0"/>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10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1–2: word warm-up · say the model dialogue.</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الكَلِمَاتُ وَالحِوَارُ</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1E6B52"/>
          </a:solidFill>
          <a:ln w="12700">
            <a:solidFill>
              <a:srgbClr val="1E6B52"/>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3–5: question cards · role-play card · short talk.</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تَكَلَّمْ</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2F6FB0"/>
          </a:solidFill>
          <a:ln w="12700">
            <a:solidFill>
              <a:srgbClr val="2F6FB0"/>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6–7: sentence builder · spot and fix.</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ابْنِ وَصَحِّحْ</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15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8: write your text · buddy check.</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Check yourself with the models.</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قَارِنْ</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ROOM RUNS</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Everybody speaks in every step and everybody writes their own text. Swap roles after each task. If you finish early, do the step again with the Stretch route.</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22</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F6-L06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BEFORE THE ROOMS · HOW YOUR ROOM WORKS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Three roles — then write alone, check together</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نَعْمَلُ فِي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F6-L06 · practice room</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ROLES (SWAP AFTER EVERY TASK)</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LEADER — opens the next step, keeps the time and reads the questions.</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SPEAKER — answers in Arabic, in a full sentence. Think for a few seconds, then speak.</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COACH — listens, checks with the slide, then says one thing that went well and one thing to improve. (In a pair, the Leader is also the Coach.)</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WRITING (Part B): everyone writes their OWN text; then swap with a buddy and check.</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USEFUL ROOM PHRASES</a:t>
            </a:r>
            <a:endParaRPr lang="en-US" sz="1000" dirty="0"/>
          </a:p>
        </p:txBody>
      </p:sp>
      <p:sp>
        <p:nvSpPr>
          <p:cNvPr id="31" name="Text 28"/>
          <p:cNvSpPr txBox="1"/>
          <p:nvPr/>
        </p:nvSpPr>
        <p:spPr>
          <a:xfrm>
            <a:off x="6949440" y="2194560"/>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دَوْرُكَ! / دَوْرُكِ!</a:t>
            </a:r>
            <a:endParaRPr lang="ar-SA" sz="2800" dirty="0"/>
          </a:p>
        </p:txBody>
      </p:sp>
      <p:sp>
        <p:nvSpPr>
          <p:cNvPr id="32" name="Text 29"/>
          <p:cNvSpPr txBox="1"/>
          <p:nvPr/>
        </p:nvSpPr>
        <p:spPr>
          <a:xfrm>
            <a:off x="6949440" y="2955828"/>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Your turn! (m. / f.)</a:t>
            </a:r>
            <a:endParaRPr lang="en-US" sz="1100" dirty="0"/>
          </a:p>
        </p:txBody>
      </p:sp>
      <p:sp>
        <p:nvSpPr>
          <p:cNvPr id="33" name="Shape 30"/>
          <p:cNvSpPr/>
          <p:nvPr/>
        </p:nvSpPr>
        <p:spPr>
          <a:xfrm>
            <a:off x="6995160" y="3535680"/>
            <a:ext cx="4553712" cy="0"/>
          </a:xfrm>
          <a:prstGeom prst="line">
            <a:avLst/>
          </a:prstGeom>
          <a:noFill/>
          <a:ln w="9525">
            <a:solidFill>
              <a:srgbClr val="E4DCCB"/>
            </a:solidFill>
            <a:prstDash val="dash"/>
          </a:ln>
        </p:spPr>
      </p:sp>
      <p:sp>
        <p:nvSpPr>
          <p:cNvPr id="34" name="Text 31"/>
          <p:cNvSpPr txBox="1"/>
          <p:nvPr/>
        </p:nvSpPr>
        <p:spPr>
          <a:xfrm>
            <a:off x="6949440" y="3553968"/>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عَفْوًا، أَعِدْ مِنْ فَضْلِكَ.</a:t>
            </a:r>
            <a:endParaRPr lang="ar-SA" sz="2800" dirty="0"/>
          </a:p>
        </p:txBody>
      </p:sp>
      <p:sp>
        <p:nvSpPr>
          <p:cNvPr id="35" name="Text 32"/>
          <p:cNvSpPr txBox="1"/>
          <p:nvPr/>
        </p:nvSpPr>
        <p:spPr>
          <a:xfrm>
            <a:off x="6949440" y="4315236"/>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Sorry, repeat please.</a:t>
            </a:r>
            <a:endParaRPr lang="en-US" sz="1100" dirty="0"/>
          </a:p>
        </p:txBody>
      </p:sp>
      <p:sp>
        <p:nvSpPr>
          <p:cNvPr id="36" name="Shape 33"/>
          <p:cNvSpPr/>
          <p:nvPr/>
        </p:nvSpPr>
        <p:spPr>
          <a:xfrm>
            <a:off x="6995160" y="4895088"/>
            <a:ext cx="4553712" cy="0"/>
          </a:xfrm>
          <a:prstGeom prst="line">
            <a:avLst/>
          </a:prstGeom>
          <a:noFill/>
          <a:ln w="9525">
            <a:solidFill>
              <a:srgbClr val="E4DCCB"/>
            </a:solidFill>
            <a:prstDash val="dash"/>
          </a:ln>
        </p:spPr>
      </p:sp>
      <p:sp>
        <p:nvSpPr>
          <p:cNvPr id="37" name="Text 34"/>
          <p:cNvSpPr txBox="1"/>
          <p:nvPr/>
        </p:nvSpPr>
        <p:spPr>
          <a:xfrm>
            <a:off x="6949440" y="4913376"/>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لَحْظَةً، أُفَكِّرُ …</a:t>
            </a:r>
            <a:endParaRPr lang="ar-SA" sz="2800" dirty="0"/>
          </a:p>
        </p:txBody>
      </p:sp>
      <p:sp>
        <p:nvSpPr>
          <p:cNvPr id="38" name="Text 35"/>
          <p:cNvSpPr txBox="1"/>
          <p:nvPr/>
        </p:nvSpPr>
        <p:spPr>
          <a:xfrm>
            <a:off x="6949440" y="5674644"/>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One moment, I’m thinking …</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22</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F6-L06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A · STEP 1 · WORD WARM-UP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Say it — then use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قُلْهَا وَاسْتَعْمِلْهَا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F6-L06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1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Word ping-pong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The Leader says a word in ENGLISH from the next two slides. The Speaker says it in ARABIC. The Coach checks the Arabic (and the ending) on the slide.</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Leader: say 4 English words; Speaker answers in Arabic.</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checks the word on the slide.</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roles — new words each time.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Last round: use each word in a short sentence.</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Arabic word clearly.</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word, then a short sentence: </a:t>
            </a:r>
            <a:pPr algn="l" indent="0" marL="0">
              <a:buNone/>
            </a:pPr>
            <a:r>
              <a:rPr lang="ar-SA" altLang="en-US" sz="1500" dirty="0">
                <a:solidFill>
                  <a:srgbClr val="1F2A37"/>
                </a:solidFill>
                <a:latin typeface="Amiri" pitchFamily="2" charset="-78"/>
                <a:ea typeface="Amiri" pitchFamily="2" charset="-78"/>
                <a:cs typeface="Amiri" pitchFamily="2" charset="-78"/>
              </a:rPr>
              <a:t>أَنَا … / عِنْدِي … / هٰذَا</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Give the feminine or plural form too, then a sentence with two words.</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دَوْرُكَ! / دَوْرُكِ!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your turn! (m. / f.)</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أَعِدْ مِنْ فَضْلِكَ / أَعِيدِي</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repeat please (m. / f.)</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أَحْسَنْتَ! / أَحْسَنْتِ!</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well done! (m. / f.)</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بِبُطْءٍ مِنْ فَضْلِكَ</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slowly, please</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22</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F6-L06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(1)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Prices and paying</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F6-L06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ثَمَنٌ</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price</a:t>
            </a:r>
            <a:endParaRPr lang="en-US" sz="1350" dirty="0"/>
          </a:p>
          <a:p>
            <a:pPr indent="0" marL="0">
              <a:buNone/>
            </a:pPr>
            <a:r>
              <a:rPr lang="en-US" sz="1100" i="1" dirty="0">
                <a:solidFill>
                  <a:srgbClr val="5A6472"/>
                </a:solidFill>
                <a:latin typeface="Calibri" pitchFamily="34" charset="0"/>
                <a:cs typeface="Amiri" pitchFamily="2" charset="-78"/>
              </a:rPr>
              <a:t>tha-ma-nun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كَمْ ثَمَنُهُ؟</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How much is it? (m)</a:t>
            </a:r>
            <a:endParaRPr lang="en-US" sz="1350" dirty="0"/>
          </a:p>
          <a:p>
            <a:pPr indent="0" marL="0">
              <a:buNone/>
            </a:pPr>
            <a:r>
              <a:rPr lang="en-US" sz="1100" i="1" dirty="0">
                <a:solidFill>
                  <a:srgbClr val="5A6472"/>
                </a:solidFill>
                <a:latin typeface="Calibri" pitchFamily="34" charset="0"/>
                <a:cs typeface="Amiri" pitchFamily="2" charset="-78"/>
              </a:rPr>
              <a:t>kam tha-ma-nu-hu?</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كَمْ ثَمَنُهَا؟</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How much is it? (f)</a:t>
            </a:r>
            <a:endParaRPr lang="en-US" sz="1350" dirty="0"/>
          </a:p>
          <a:p>
            <a:pPr indent="0" marL="0">
              <a:buNone/>
            </a:pPr>
            <a:r>
              <a:rPr lang="en-US" sz="1100" i="1" dirty="0">
                <a:solidFill>
                  <a:srgbClr val="5A6472"/>
                </a:solidFill>
                <a:latin typeface="Calibri" pitchFamily="34" charset="0"/>
                <a:cs typeface="Amiri" pitchFamily="2" charset="-78"/>
              </a:rPr>
              <a:t>kam tha-ma-nu-hā?</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39" name="Shape 36"/>
          <p:cNvSpPr/>
          <p:nvPr/>
        </p:nvSpPr>
        <p:spPr>
          <a:xfrm>
            <a:off x="8604504" y="4279392"/>
            <a:ext cx="1020470" cy="256032"/>
          </a:xfrm>
          <a:prstGeom prst="roundRect">
            <a:avLst>
              <a:gd name="adj" fmla="val 50000"/>
            </a:avLst>
          </a:prstGeom>
          <a:solidFill>
            <a:srgbClr val="EFE7D2"/>
          </a:solidFill>
          <a:ln w="12700">
            <a:solidFill>
              <a:srgbClr val="EFE7D2"/>
            </a:solidFill>
            <a:prstDash val="solid"/>
          </a:ln>
        </p:spPr>
      </p:sp>
      <p:sp>
        <p:nvSpPr>
          <p:cNvPr id="40" name="Text 37"/>
          <p:cNvSpPr txBox="1"/>
          <p:nvPr/>
        </p:nvSpPr>
        <p:spPr>
          <a:xfrm>
            <a:off x="8604504" y="4279392"/>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more</a:t>
            </a:r>
            <a:endParaRPr lang="en-US" sz="800" dirty="0"/>
          </a:p>
        </p:txBody>
      </p:sp>
      <p:sp>
        <p:nvSpPr>
          <p:cNvPr id="41" name="Shape 38"/>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3" name="Text 40"/>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رَخِيصٌ / رَخِيصَةٌ</a:t>
            </a:r>
            <a:endParaRPr lang="ar-SA" sz="3000" dirty="0"/>
          </a:p>
        </p:txBody>
      </p:sp>
      <p:sp>
        <p:nvSpPr>
          <p:cNvPr id="44" name="Text 41"/>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cheap</a:t>
            </a:r>
            <a:endParaRPr lang="en-US" sz="1350" dirty="0"/>
          </a:p>
          <a:p>
            <a:pPr indent="0" marL="0">
              <a:buNone/>
            </a:pPr>
            <a:r>
              <a:rPr lang="en-US" sz="1100" i="1" dirty="0">
                <a:solidFill>
                  <a:srgbClr val="5A6472"/>
                </a:solidFill>
                <a:latin typeface="Calibri" pitchFamily="34" charset="0"/>
                <a:cs typeface="Amiri" pitchFamily="2" charset="-78"/>
              </a:rPr>
              <a:t>ra-khī-ṣun / ra-khī-ṣa-tun</a:t>
            </a:r>
            <a:endParaRPr lang="en-US" sz="1350" dirty="0"/>
          </a:p>
        </p:txBody>
      </p:sp>
      <p:sp>
        <p:nvSpPr>
          <p:cNvPr id="45" name="Shape 42"/>
          <p:cNvSpPr/>
          <p:nvPr/>
        </p:nvSpPr>
        <p:spPr>
          <a:xfrm>
            <a:off x="10543032" y="5779008"/>
            <a:ext cx="1060704" cy="438912"/>
          </a:xfrm>
          <a:prstGeom prst="roundRect">
            <a:avLst>
              <a:gd name="adj" fmla="val 10417"/>
            </a:avLst>
          </a:prstGeom>
          <a:solidFill>
            <a:srgbClr val="F4F1EA"/>
          </a:solidFill>
          <a:ln w="9525">
            <a:solidFill>
              <a:srgbClr val="F4F1EA"/>
            </a:solidFill>
            <a:prstDash val="solid"/>
          </a:ln>
        </p:spPr>
      </p:sp>
      <p:sp>
        <p:nvSpPr>
          <p:cNvPr id="46" name="Text 43"/>
          <p:cNvSpPr txBox="1"/>
          <p:nvPr/>
        </p:nvSpPr>
        <p:spPr>
          <a:xfrm>
            <a:off x="1059789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47" name="Text 44"/>
          <p:cNvSpPr txBox="1"/>
          <p:nvPr/>
        </p:nvSpPr>
        <p:spPr>
          <a:xfrm>
            <a:off x="1058875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رَخِيصٌ</a:t>
            </a:r>
            <a:endParaRPr lang="ar-SA" sz="1500" dirty="0"/>
          </a:p>
        </p:txBody>
      </p:sp>
      <p:sp>
        <p:nvSpPr>
          <p:cNvPr id="48" name="Shape 45"/>
          <p:cNvSpPr/>
          <p:nvPr/>
        </p:nvSpPr>
        <p:spPr>
          <a:xfrm>
            <a:off x="9390888" y="5779008"/>
            <a:ext cx="1060704" cy="438912"/>
          </a:xfrm>
          <a:prstGeom prst="roundRect">
            <a:avLst>
              <a:gd name="adj" fmla="val 10417"/>
            </a:avLst>
          </a:prstGeom>
          <a:solidFill>
            <a:srgbClr val="F4F1EA"/>
          </a:solidFill>
          <a:ln w="9525">
            <a:solidFill>
              <a:srgbClr val="F4F1EA"/>
            </a:solidFill>
            <a:prstDash val="solid"/>
          </a:ln>
        </p:spPr>
      </p:sp>
      <p:sp>
        <p:nvSpPr>
          <p:cNvPr id="49" name="Text 46"/>
          <p:cNvSpPr txBox="1"/>
          <p:nvPr/>
        </p:nvSpPr>
        <p:spPr>
          <a:xfrm>
            <a:off x="9445752"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50" name="Text 47"/>
          <p:cNvSpPr txBox="1"/>
          <p:nvPr/>
        </p:nvSpPr>
        <p:spPr>
          <a:xfrm>
            <a:off x="9436608"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رَخِيصَةٌ</a:t>
            </a:r>
            <a:endParaRPr lang="ar-SA" sz="1500" dirty="0"/>
          </a:p>
        </p:txBody>
      </p:sp>
      <p:sp>
        <p:nvSpPr>
          <p:cNvPr id="51" name="Shape 48"/>
          <p:cNvSpPr/>
          <p:nvPr/>
        </p:nvSpPr>
        <p:spPr>
          <a:xfrm>
            <a:off x="8238744" y="5779008"/>
            <a:ext cx="1060704" cy="438912"/>
          </a:xfrm>
          <a:prstGeom prst="roundRect">
            <a:avLst>
              <a:gd name="adj" fmla="val 10417"/>
            </a:avLst>
          </a:prstGeom>
          <a:solidFill>
            <a:srgbClr val="F4F1EA"/>
          </a:solidFill>
          <a:ln w="9525">
            <a:solidFill>
              <a:srgbClr val="F4F1EA"/>
            </a:solidFill>
            <a:prstDash val="solid"/>
          </a:ln>
        </p:spPr>
      </p:sp>
      <p:sp>
        <p:nvSpPr>
          <p:cNvPr id="52" name="Text 49"/>
          <p:cNvSpPr txBox="1"/>
          <p:nvPr/>
        </p:nvSpPr>
        <p:spPr>
          <a:xfrm>
            <a:off x="8293608" y="5788152"/>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cheaper</a:t>
            </a:r>
            <a:endParaRPr lang="en-US" sz="700" dirty="0"/>
          </a:p>
        </p:txBody>
      </p:sp>
      <p:sp>
        <p:nvSpPr>
          <p:cNvPr id="53" name="Text 50"/>
          <p:cNvSpPr txBox="1"/>
          <p:nvPr/>
        </p:nvSpPr>
        <p:spPr>
          <a:xfrm>
            <a:off x="8284464" y="5916168"/>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أَرْخَصُ</a:t>
            </a:r>
            <a:endParaRPr lang="ar-SA" sz="1350" dirty="0"/>
          </a:p>
        </p:txBody>
      </p:sp>
      <p:sp>
        <p:nvSpPr>
          <p:cNvPr id="54" name="Shape 51"/>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4389120" y="4261104"/>
            <a:ext cx="310896" cy="310896"/>
          </a:xfrm>
          <a:prstGeom prst="ellipse">
            <a:avLst/>
          </a:prstGeom>
          <a:solidFill>
            <a:srgbClr val="F4F1EA"/>
          </a:solidFill>
          <a:ln w="12700">
            <a:solidFill>
              <a:srgbClr val="F4F1EA"/>
            </a:solidFill>
            <a:prstDash val="solid"/>
          </a:ln>
        </p:spPr>
      </p:sp>
      <p:sp>
        <p:nvSpPr>
          <p:cNvPr id="56" name="Text 53"/>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57" name="Shape 54"/>
          <p:cNvSpPr/>
          <p:nvPr/>
        </p:nvSpPr>
        <p:spPr>
          <a:xfrm>
            <a:off x="4782312" y="4279392"/>
            <a:ext cx="1020470" cy="256032"/>
          </a:xfrm>
          <a:prstGeom prst="roundRect">
            <a:avLst>
              <a:gd name="adj" fmla="val 50000"/>
            </a:avLst>
          </a:prstGeom>
          <a:solidFill>
            <a:srgbClr val="EFE7D2"/>
          </a:solidFill>
          <a:ln w="12700">
            <a:solidFill>
              <a:srgbClr val="EFE7D2"/>
            </a:solidFill>
            <a:prstDash val="solid"/>
          </a:ln>
        </p:spPr>
      </p:sp>
      <p:sp>
        <p:nvSpPr>
          <p:cNvPr id="58" name="Text 55"/>
          <p:cNvSpPr txBox="1"/>
          <p:nvPr/>
        </p:nvSpPr>
        <p:spPr>
          <a:xfrm>
            <a:off x="4782312" y="4279392"/>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more</a:t>
            </a:r>
            <a:endParaRPr lang="en-US" sz="800" dirty="0"/>
          </a:p>
        </p:txBody>
      </p:sp>
      <p:sp>
        <p:nvSpPr>
          <p:cNvPr id="59" name="Shape 56"/>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60" name="Text 57"/>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1" name="Text 58"/>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غَالٍ / غَالِيَةٌ</a:t>
            </a:r>
            <a:endParaRPr lang="ar-SA" sz="3000" dirty="0"/>
          </a:p>
        </p:txBody>
      </p:sp>
      <p:sp>
        <p:nvSpPr>
          <p:cNvPr id="62" name="Text 59"/>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expensive</a:t>
            </a:r>
            <a:endParaRPr lang="en-US" sz="1350" dirty="0"/>
          </a:p>
          <a:p>
            <a:pPr indent="0" marL="0">
              <a:buNone/>
            </a:pPr>
            <a:r>
              <a:rPr lang="en-US" sz="1100" i="1" dirty="0">
                <a:solidFill>
                  <a:srgbClr val="5A6472"/>
                </a:solidFill>
                <a:latin typeface="Calibri" pitchFamily="34" charset="0"/>
                <a:cs typeface="Amiri" pitchFamily="2" charset="-78"/>
              </a:rPr>
              <a:t>ghā-lin / ghā-li-ya-tun</a:t>
            </a:r>
            <a:endParaRPr lang="en-US" sz="1350" dirty="0"/>
          </a:p>
        </p:txBody>
      </p:sp>
      <p:sp>
        <p:nvSpPr>
          <p:cNvPr id="63" name="Shape 60"/>
          <p:cNvSpPr/>
          <p:nvPr/>
        </p:nvSpPr>
        <p:spPr>
          <a:xfrm>
            <a:off x="6720840" y="5779008"/>
            <a:ext cx="1060704" cy="438912"/>
          </a:xfrm>
          <a:prstGeom prst="roundRect">
            <a:avLst>
              <a:gd name="adj" fmla="val 10417"/>
            </a:avLst>
          </a:prstGeom>
          <a:solidFill>
            <a:srgbClr val="F4F1EA"/>
          </a:solidFill>
          <a:ln w="9525">
            <a:solidFill>
              <a:srgbClr val="F4F1EA"/>
            </a:solidFill>
            <a:prstDash val="solid"/>
          </a:ln>
        </p:spPr>
      </p:sp>
      <p:sp>
        <p:nvSpPr>
          <p:cNvPr id="64" name="Text 61"/>
          <p:cNvSpPr txBox="1"/>
          <p:nvPr/>
        </p:nvSpPr>
        <p:spPr>
          <a:xfrm>
            <a:off x="6775704"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65" name="Text 62"/>
          <p:cNvSpPr txBox="1"/>
          <p:nvPr/>
        </p:nvSpPr>
        <p:spPr>
          <a:xfrm>
            <a:off x="6766560"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غَالٍ</a:t>
            </a:r>
            <a:endParaRPr lang="ar-SA" sz="1500" dirty="0"/>
          </a:p>
        </p:txBody>
      </p:sp>
      <p:sp>
        <p:nvSpPr>
          <p:cNvPr id="66" name="Shape 63"/>
          <p:cNvSpPr/>
          <p:nvPr/>
        </p:nvSpPr>
        <p:spPr>
          <a:xfrm>
            <a:off x="5568696" y="5779008"/>
            <a:ext cx="1060704" cy="438912"/>
          </a:xfrm>
          <a:prstGeom prst="roundRect">
            <a:avLst>
              <a:gd name="adj" fmla="val 10417"/>
            </a:avLst>
          </a:prstGeom>
          <a:solidFill>
            <a:srgbClr val="F4F1EA"/>
          </a:solidFill>
          <a:ln w="9525">
            <a:solidFill>
              <a:srgbClr val="F4F1EA"/>
            </a:solidFill>
            <a:prstDash val="solid"/>
          </a:ln>
        </p:spPr>
      </p:sp>
      <p:sp>
        <p:nvSpPr>
          <p:cNvPr id="67" name="Text 64"/>
          <p:cNvSpPr txBox="1"/>
          <p:nvPr/>
        </p:nvSpPr>
        <p:spPr>
          <a:xfrm>
            <a:off x="5623560"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68" name="Text 65"/>
          <p:cNvSpPr txBox="1"/>
          <p:nvPr/>
        </p:nvSpPr>
        <p:spPr>
          <a:xfrm>
            <a:off x="5614416"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غَالِيَةٌ</a:t>
            </a:r>
            <a:endParaRPr lang="ar-SA" sz="1500" dirty="0"/>
          </a:p>
        </p:txBody>
      </p:sp>
      <p:sp>
        <p:nvSpPr>
          <p:cNvPr id="69" name="Shape 66"/>
          <p:cNvSpPr/>
          <p:nvPr/>
        </p:nvSpPr>
        <p:spPr>
          <a:xfrm>
            <a:off x="4416552" y="5779008"/>
            <a:ext cx="1060704" cy="438912"/>
          </a:xfrm>
          <a:prstGeom prst="roundRect">
            <a:avLst>
              <a:gd name="adj" fmla="val 10417"/>
            </a:avLst>
          </a:prstGeom>
          <a:solidFill>
            <a:srgbClr val="F4F1EA"/>
          </a:solidFill>
          <a:ln w="9525">
            <a:solidFill>
              <a:srgbClr val="F4F1EA"/>
            </a:solidFill>
            <a:prstDash val="solid"/>
          </a:ln>
        </p:spPr>
      </p:sp>
      <p:sp>
        <p:nvSpPr>
          <p:cNvPr id="70" name="Text 67"/>
          <p:cNvSpPr txBox="1"/>
          <p:nvPr/>
        </p:nvSpPr>
        <p:spPr>
          <a:xfrm>
            <a:off x="4471416" y="5788152"/>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dearer</a:t>
            </a:r>
            <a:endParaRPr lang="en-US" sz="700" dirty="0"/>
          </a:p>
        </p:txBody>
      </p:sp>
      <p:sp>
        <p:nvSpPr>
          <p:cNvPr id="71" name="Text 68"/>
          <p:cNvSpPr txBox="1"/>
          <p:nvPr/>
        </p:nvSpPr>
        <p:spPr>
          <a:xfrm>
            <a:off x="4462272" y="5916168"/>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أَغْلَى</a:t>
            </a:r>
            <a:endParaRPr lang="ar-SA" sz="1350" dirty="0"/>
          </a:p>
        </p:txBody>
      </p:sp>
      <p:sp>
        <p:nvSpPr>
          <p:cNvPr id="72" name="Shape 69"/>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3" name="Shape 70"/>
          <p:cNvSpPr/>
          <p:nvPr/>
        </p:nvSpPr>
        <p:spPr>
          <a:xfrm>
            <a:off x="566928" y="4261104"/>
            <a:ext cx="310896" cy="310896"/>
          </a:xfrm>
          <a:prstGeom prst="ellipse">
            <a:avLst/>
          </a:prstGeom>
          <a:solidFill>
            <a:srgbClr val="F4F1EA"/>
          </a:solidFill>
          <a:ln w="12700">
            <a:solidFill>
              <a:srgbClr val="F4F1EA"/>
            </a:solidFill>
            <a:prstDash val="solid"/>
          </a:ln>
        </p:spPr>
      </p:sp>
      <p:sp>
        <p:nvSpPr>
          <p:cNvPr id="74" name="Text 71"/>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75" name="Shape 72"/>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76" name="Text 73"/>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77" name="Text 74"/>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أَرْخَصُ مِنْ</a:t>
            </a:r>
            <a:endParaRPr lang="ar-SA" sz="3000" dirty="0"/>
          </a:p>
        </p:txBody>
      </p:sp>
      <p:sp>
        <p:nvSpPr>
          <p:cNvPr id="78" name="Text 75"/>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cheaper than</a:t>
            </a:r>
            <a:endParaRPr lang="en-US" sz="1350" dirty="0"/>
          </a:p>
          <a:p>
            <a:pPr indent="0" marL="0">
              <a:buNone/>
            </a:pPr>
            <a:r>
              <a:rPr lang="en-US" sz="1100" i="1" dirty="0">
                <a:solidFill>
                  <a:srgbClr val="5A6472"/>
                </a:solidFill>
                <a:latin typeface="Calibri" pitchFamily="34" charset="0"/>
                <a:cs typeface="Amiri" pitchFamily="2" charset="-78"/>
              </a:rPr>
              <a:t>ar-kha-ṣu min</a:t>
            </a:r>
            <a:endParaRPr lang="en-US" sz="1350" dirty="0"/>
          </a:p>
        </p:txBody>
      </p:sp>
      <p:sp>
        <p:nvSpPr>
          <p:cNvPr id="79" name="Text 7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22</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F6-L06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(2)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Comparing and asking</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F6-L06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أَغْلَى مِنْ</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more expensive than</a:t>
            </a:r>
            <a:endParaRPr lang="en-US" sz="1350" dirty="0"/>
          </a:p>
          <a:p>
            <a:pPr indent="0" marL="0">
              <a:buNone/>
            </a:pPr>
            <a:r>
              <a:rPr lang="en-US" sz="1100" i="1" dirty="0">
                <a:solidFill>
                  <a:srgbClr val="5A6472"/>
                </a:solidFill>
                <a:latin typeface="Calibri" pitchFamily="34" charset="0"/>
                <a:cs typeface="Amiri" pitchFamily="2" charset="-78"/>
              </a:rPr>
              <a:t>agh-lā min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خَصْمٌ</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discount</a:t>
            </a:r>
            <a:endParaRPr lang="en-US" sz="1350" dirty="0"/>
          </a:p>
          <a:p>
            <a:pPr indent="0" marL="0">
              <a:buNone/>
            </a:pPr>
            <a:r>
              <a:rPr lang="en-US" sz="1100" i="1" dirty="0">
                <a:solidFill>
                  <a:srgbClr val="5A6472"/>
                </a:solidFill>
                <a:latin typeface="Calibri" pitchFamily="34" charset="0"/>
                <a:cs typeface="Amiri" pitchFamily="2" charset="-78"/>
              </a:rPr>
              <a:t>khaṣ-mun</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نَقْدًا</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 cash</a:t>
            </a:r>
            <a:endParaRPr lang="en-US" sz="1350" dirty="0"/>
          </a:p>
          <a:p>
            <a:pPr indent="0" marL="0">
              <a:buNone/>
            </a:pPr>
            <a:r>
              <a:rPr lang="en-US" sz="1100" i="1" dirty="0">
                <a:solidFill>
                  <a:srgbClr val="5A6472"/>
                </a:solidFill>
                <a:latin typeface="Calibri" pitchFamily="34" charset="0"/>
                <a:cs typeface="Amiri" pitchFamily="2" charset="-78"/>
              </a:rPr>
              <a:t>naq-dan</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39" name="Shape 36"/>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1" name="Text 38"/>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بِالبِطَاقَةِ</a:t>
            </a:r>
            <a:endParaRPr lang="ar-SA" sz="3000" dirty="0"/>
          </a:p>
        </p:txBody>
      </p:sp>
      <p:sp>
        <p:nvSpPr>
          <p:cNvPr id="42" name="Text 39"/>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by card</a:t>
            </a:r>
            <a:endParaRPr lang="en-US" sz="1350" dirty="0"/>
          </a:p>
          <a:p>
            <a:pPr indent="0" marL="0">
              <a:buNone/>
            </a:pPr>
            <a:r>
              <a:rPr lang="en-US" sz="1100" i="1" dirty="0">
                <a:solidFill>
                  <a:srgbClr val="5A6472"/>
                </a:solidFill>
                <a:latin typeface="Calibri" pitchFamily="34" charset="0"/>
                <a:cs typeface="Amiri" pitchFamily="2" charset="-78"/>
              </a:rPr>
              <a:t>bil-bi-ṭā-qa-ti</a:t>
            </a:r>
            <a:endParaRPr lang="en-US" sz="1350" dirty="0"/>
          </a:p>
        </p:txBody>
      </p:sp>
      <p:sp>
        <p:nvSpPr>
          <p:cNvPr id="43" name="Shape 4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4389120" y="4261104"/>
            <a:ext cx="310896" cy="310896"/>
          </a:xfrm>
          <a:prstGeom prst="ellipse">
            <a:avLst/>
          </a:prstGeom>
          <a:solidFill>
            <a:srgbClr val="F4F1EA"/>
          </a:solidFill>
          <a:ln w="12700">
            <a:solidFill>
              <a:srgbClr val="F4F1EA"/>
            </a:solidFill>
            <a:prstDash val="solid"/>
          </a:ln>
        </p:spPr>
      </p:sp>
      <p:sp>
        <p:nvSpPr>
          <p:cNvPr id="45" name="Text 4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46" name="Shape 43"/>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8" name="Text 45"/>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أُرِيدُ أَنْ أَشْتَرِيَ</a:t>
            </a:r>
            <a:endParaRPr lang="ar-SA" sz="3000" dirty="0"/>
          </a:p>
        </p:txBody>
      </p:sp>
      <p:sp>
        <p:nvSpPr>
          <p:cNvPr id="49" name="Text 46"/>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want to buy</a:t>
            </a:r>
            <a:endParaRPr lang="en-US" sz="1350" dirty="0"/>
          </a:p>
          <a:p>
            <a:pPr indent="0" marL="0">
              <a:buNone/>
            </a:pPr>
            <a:r>
              <a:rPr lang="en-US" sz="1100" i="1" dirty="0">
                <a:solidFill>
                  <a:srgbClr val="5A6472"/>
                </a:solidFill>
                <a:latin typeface="Calibri" pitchFamily="34" charset="0"/>
                <a:cs typeface="Amiri" pitchFamily="2" charset="-78"/>
              </a:rPr>
              <a:t>u-rī-du an ash-ta-ri-ya</a:t>
            </a:r>
            <a:endParaRPr lang="en-US" sz="1350" dirty="0"/>
          </a:p>
        </p:txBody>
      </p:sp>
      <p:sp>
        <p:nvSpPr>
          <p:cNvPr id="50" name="Shape 47"/>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1" name="Shape 48"/>
          <p:cNvSpPr/>
          <p:nvPr/>
        </p:nvSpPr>
        <p:spPr>
          <a:xfrm>
            <a:off x="566928" y="4261104"/>
            <a:ext cx="310896" cy="310896"/>
          </a:xfrm>
          <a:prstGeom prst="ellipse">
            <a:avLst/>
          </a:prstGeom>
          <a:solidFill>
            <a:srgbClr val="F4F1EA"/>
          </a:solidFill>
          <a:ln w="12700">
            <a:solidFill>
              <a:srgbClr val="F4F1EA"/>
            </a:solidFill>
            <a:prstDash val="solid"/>
          </a:ln>
        </p:spPr>
      </p:sp>
      <p:sp>
        <p:nvSpPr>
          <p:cNvPr id="52" name="Text 49"/>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53" name="Shape 50"/>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5" name="Text 52"/>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هَلْ عِنْدَكُمْ...؟</a:t>
            </a:r>
            <a:endParaRPr lang="ar-SA" sz="3000" dirty="0"/>
          </a:p>
        </p:txBody>
      </p:sp>
      <p:sp>
        <p:nvSpPr>
          <p:cNvPr id="56" name="Text 53"/>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Do you have...?</a:t>
            </a:r>
            <a:endParaRPr lang="en-US" sz="1350" dirty="0"/>
          </a:p>
          <a:p>
            <a:pPr indent="0" marL="0">
              <a:buNone/>
            </a:pPr>
            <a:r>
              <a:rPr lang="en-US" sz="1100" i="1" dirty="0">
                <a:solidFill>
                  <a:srgbClr val="5A6472"/>
                </a:solidFill>
                <a:latin typeface="Calibri" pitchFamily="34" charset="0"/>
                <a:cs typeface="Amiri" pitchFamily="2" charset="-78"/>
              </a:rPr>
              <a:t>hal ʿin-da-kum...?</a:t>
            </a:r>
            <a:endParaRPr lang="en-US" sz="13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22</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F6-L06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STEP 2 · SAY THE MODEL DIALOGUE · READ IT, THEN SAY IT WITHOUT LOOKING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How much is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كَمْ ثَمَنُهُ؟</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F6-L06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54112" y="1810512"/>
            <a:ext cx="3904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1444752" y="1810512"/>
            <a:ext cx="6163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Say it in Arabic</a:t>
            </a:r>
            <a:endParaRPr lang="en-US" sz="1100" dirty="0"/>
          </a:p>
        </p:txBody>
      </p:sp>
      <p:sp>
        <p:nvSpPr>
          <p:cNvPr id="18" name="Text 15"/>
          <p:cNvSpPr txBox="1"/>
          <p:nvPr/>
        </p:nvSpPr>
        <p:spPr>
          <a:xfrm>
            <a:off x="5303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Who</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7790688" y="226771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want to buy this shirt. How much is it?</a:t>
            </a:r>
            <a:endParaRPr lang="en-US" sz="1100" dirty="0"/>
          </a:p>
        </p:txBody>
      </p:sp>
      <p:sp>
        <p:nvSpPr>
          <p:cNvPr id="21" name="Text 18"/>
          <p:cNvSpPr txBox="1"/>
          <p:nvPr/>
        </p:nvSpPr>
        <p:spPr>
          <a:xfrm>
            <a:off x="1463040" y="226771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أُرِيدُ أَنْ أَشْتَرِيَ هٰذَا القَمِيصَ. كَمْ ثَمَنُهُ؟</a:t>
            </a:r>
            <a:endParaRPr lang="ar-SA" sz="2000" dirty="0"/>
          </a:p>
        </p:txBody>
      </p:sp>
      <p:sp>
        <p:nvSpPr>
          <p:cNvPr id="22" name="Text 19"/>
          <p:cNvSpPr txBox="1"/>
          <p:nvPr/>
        </p:nvSpPr>
        <p:spPr>
          <a:xfrm>
            <a:off x="566928" y="226771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23" name="Shape 20"/>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4" name="Text 21"/>
          <p:cNvSpPr txBox="1"/>
          <p:nvPr/>
        </p:nvSpPr>
        <p:spPr>
          <a:xfrm>
            <a:off x="7790688" y="2881884"/>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It costs fifteen pounds.</a:t>
            </a:r>
            <a:endParaRPr lang="en-US" sz="1100" dirty="0"/>
          </a:p>
        </p:txBody>
      </p:sp>
      <p:sp>
        <p:nvSpPr>
          <p:cNvPr id="25" name="Text 22"/>
          <p:cNvSpPr txBox="1"/>
          <p:nvPr/>
        </p:nvSpPr>
        <p:spPr>
          <a:xfrm>
            <a:off x="1463040" y="2881884"/>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ثَمَنُهُ خَمْسَةَ عَشَرَ جُنَيْهًا.</a:t>
            </a:r>
            <a:endParaRPr lang="ar-SA" sz="2000" dirty="0"/>
          </a:p>
        </p:txBody>
      </p:sp>
      <p:sp>
        <p:nvSpPr>
          <p:cNvPr id="26" name="Text 23"/>
          <p:cNvSpPr txBox="1"/>
          <p:nvPr/>
        </p:nvSpPr>
        <p:spPr>
          <a:xfrm>
            <a:off x="566928" y="2881884"/>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27" name="Shape 2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28" name="Text 25"/>
          <p:cNvSpPr txBox="1"/>
          <p:nvPr/>
        </p:nvSpPr>
        <p:spPr>
          <a:xfrm>
            <a:off x="7790688" y="3496056"/>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And this bag? How much is it?</a:t>
            </a:r>
            <a:endParaRPr lang="en-US" sz="1100" dirty="0"/>
          </a:p>
        </p:txBody>
      </p:sp>
      <p:sp>
        <p:nvSpPr>
          <p:cNvPr id="29" name="Text 26"/>
          <p:cNvSpPr txBox="1"/>
          <p:nvPr/>
        </p:nvSpPr>
        <p:spPr>
          <a:xfrm>
            <a:off x="1463040" y="3496056"/>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وَهٰذِهِ الحَقِيبَةُ؟ كَمْ ثَمَنُهَا؟</a:t>
            </a:r>
            <a:endParaRPr lang="ar-SA" sz="2000" dirty="0"/>
          </a:p>
        </p:txBody>
      </p:sp>
      <p:sp>
        <p:nvSpPr>
          <p:cNvPr id="30" name="Text 27"/>
          <p:cNvSpPr txBox="1"/>
          <p:nvPr/>
        </p:nvSpPr>
        <p:spPr>
          <a:xfrm>
            <a:off x="566928" y="3496056"/>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1" name="Shape 2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2" name="Text 29"/>
          <p:cNvSpPr txBox="1"/>
          <p:nvPr/>
        </p:nvSpPr>
        <p:spPr>
          <a:xfrm>
            <a:off x="7790688" y="4110228"/>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It costs twenty pounds. It is more expensive than the shirt.</a:t>
            </a:r>
            <a:endParaRPr lang="en-US" sz="1100" dirty="0"/>
          </a:p>
        </p:txBody>
      </p:sp>
      <p:sp>
        <p:nvSpPr>
          <p:cNvPr id="33" name="Text 30"/>
          <p:cNvSpPr txBox="1"/>
          <p:nvPr/>
        </p:nvSpPr>
        <p:spPr>
          <a:xfrm>
            <a:off x="1463040" y="4110228"/>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ثَمَنُهَا عِشْرُونَ جُنَيْهًا. هِيَ أَغْلَى مِنَ القَمِيصِ.</a:t>
            </a:r>
            <a:endParaRPr lang="ar-SA" sz="2000" dirty="0"/>
          </a:p>
        </p:txBody>
      </p:sp>
      <p:sp>
        <p:nvSpPr>
          <p:cNvPr id="34" name="Text 31"/>
          <p:cNvSpPr txBox="1"/>
          <p:nvPr/>
        </p:nvSpPr>
        <p:spPr>
          <a:xfrm>
            <a:off x="566928" y="4110228"/>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35" name="Shape 32"/>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36" name="Text 33"/>
          <p:cNvSpPr txBox="1"/>
          <p:nvPr/>
        </p:nvSpPr>
        <p:spPr>
          <a:xfrm>
            <a:off x="7790688" y="4724400"/>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Is there a discount?</a:t>
            </a:r>
            <a:endParaRPr lang="en-US" sz="1100" dirty="0"/>
          </a:p>
        </p:txBody>
      </p:sp>
      <p:sp>
        <p:nvSpPr>
          <p:cNvPr id="37" name="Text 34"/>
          <p:cNvSpPr txBox="1"/>
          <p:nvPr/>
        </p:nvSpPr>
        <p:spPr>
          <a:xfrm>
            <a:off x="1463040" y="4724400"/>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هَلْ هُنَاكَ خَصْمٌ؟</a:t>
            </a:r>
            <a:endParaRPr lang="ar-SA" sz="2000" dirty="0"/>
          </a:p>
        </p:txBody>
      </p:sp>
      <p:sp>
        <p:nvSpPr>
          <p:cNvPr id="38" name="Text 35"/>
          <p:cNvSpPr txBox="1"/>
          <p:nvPr/>
        </p:nvSpPr>
        <p:spPr>
          <a:xfrm>
            <a:off x="566928" y="4724400"/>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9" name="Shape 3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7790688" y="533857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Yes, ten per cent off. Are you paying cash or by card?</a:t>
            </a:r>
            <a:endParaRPr lang="en-US" sz="1100" dirty="0"/>
          </a:p>
        </p:txBody>
      </p:sp>
      <p:sp>
        <p:nvSpPr>
          <p:cNvPr id="41" name="Text 38"/>
          <p:cNvSpPr txBox="1"/>
          <p:nvPr/>
        </p:nvSpPr>
        <p:spPr>
          <a:xfrm>
            <a:off x="1463040" y="533857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نَعَمْ، خَصْمٌ عَشَرَةٌ فِي المِئَةِ. هَلْ تَدْفَعُ نَقْدًا أَمْ بِالبِطَاقَةِ؟</a:t>
            </a:r>
            <a:endParaRPr lang="ar-SA" sz="2000" dirty="0"/>
          </a:p>
        </p:txBody>
      </p:sp>
      <p:sp>
        <p:nvSpPr>
          <p:cNvPr id="42" name="Text 39"/>
          <p:cNvSpPr txBox="1"/>
          <p:nvPr/>
        </p:nvSpPr>
        <p:spPr>
          <a:xfrm>
            <a:off x="566928" y="533857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Round 1: read it in pairs. Round 2: swap letters. Round 3: “sell” real objects from your room — </a:t>
            </a:r>
            <a:pPr algn="l" indent="0" marL="0">
              <a:buNone/>
            </a:pPr>
            <a:r>
              <a:rPr lang="ar-SA" altLang="en-US" sz="1500" b="1" dirty="0">
                <a:solidFill>
                  <a:srgbClr val="1B3B6F"/>
                </a:solidFill>
                <a:latin typeface="Amiri" pitchFamily="2" charset="-78"/>
                <a:ea typeface="Amiri" pitchFamily="2" charset="-78"/>
                <a:cs typeface="Amiri" pitchFamily="2" charset="-78"/>
              </a:rPr>
              <a:t>ثَمَنُهُ</a:t>
            </a:r>
            <a:pPr algn="l" indent="0" marL="0">
              <a:buNone/>
            </a:pPr>
            <a:r>
              <a:rPr lang="en-US" sz="1150" b="1" dirty="0">
                <a:solidFill>
                  <a:srgbClr val="1B3B6F"/>
                </a:solidFill>
                <a:latin typeface="Calibri" pitchFamily="34" charset="0"/>
                <a:cs typeface="Amiri" pitchFamily="2" charset="-78"/>
              </a:rPr>
              <a:t> for masculine, </a:t>
            </a:r>
            <a:pPr algn="l" indent="0" marL="0">
              <a:buNone/>
            </a:pPr>
            <a:r>
              <a:rPr lang="ar-SA" altLang="en-US" sz="1500" b="1" dirty="0">
                <a:solidFill>
                  <a:srgbClr val="1B3B6F"/>
                </a:solidFill>
                <a:latin typeface="Amiri" pitchFamily="2" charset="-78"/>
                <a:ea typeface="Amiri" pitchFamily="2" charset="-78"/>
                <a:cs typeface="Amiri" pitchFamily="2" charset="-78"/>
              </a:rPr>
              <a:t>ثَمَنُهَا</a:t>
            </a:r>
            <a:pPr algn="l" indent="0" marL="0">
              <a:buNone/>
            </a:pPr>
            <a:r>
              <a:rPr lang="en-US" sz="1150" b="1" dirty="0">
                <a:solidFill>
                  <a:srgbClr val="1B3B6F"/>
                </a:solidFill>
                <a:latin typeface="Calibri" pitchFamily="34" charset="0"/>
                <a:cs typeface="Amiri" pitchFamily="2" charset="-78"/>
              </a:rPr>
              <a:t> for feminine.</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22</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F6-L06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3 · QUESTION CARDS · THE LEADER ASKS, THE SPEAKER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Answer in a full sentence — then add more</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وَأَجْوِبَةٌ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F6-L06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20072" y="1810512"/>
            <a:ext cx="1938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Add more (Develop · Stretch)</a:t>
            </a:r>
            <a:endParaRPr lang="en-US" sz="1100" dirty="0"/>
          </a:p>
        </p:txBody>
      </p:sp>
      <p:sp>
        <p:nvSpPr>
          <p:cNvPr id="17" name="Text 14"/>
          <p:cNvSpPr txBox="1"/>
          <p:nvPr/>
        </p:nvSpPr>
        <p:spPr>
          <a:xfrm>
            <a:off x="697687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Start your answer (Core)</a:t>
            </a:r>
            <a:endParaRPr lang="en-US" sz="1100" dirty="0"/>
          </a:p>
        </p:txBody>
      </p:sp>
      <p:sp>
        <p:nvSpPr>
          <p:cNvPr id="18" name="Text 15"/>
          <p:cNvSpPr txBox="1"/>
          <p:nvPr/>
        </p:nvSpPr>
        <p:spPr>
          <a:xfrm>
            <a:off x="459943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Text 16"/>
          <p:cNvSpPr txBox="1"/>
          <p:nvPr/>
        </p:nvSpPr>
        <p:spPr>
          <a:xfrm>
            <a:off x="1033272" y="1810512"/>
            <a:ext cx="3419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asks</a:t>
            </a:r>
            <a:endParaRPr lang="en-US" sz="1100" dirty="0"/>
          </a:p>
        </p:txBody>
      </p:sp>
      <p:sp>
        <p:nvSpPr>
          <p:cNvPr id="20" name="Text 17"/>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1" name="Shape 18"/>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2" name="Text 19"/>
          <p:cNvSpPr txBox="1"/>
          <p:nvPr/>
        </p:nvSpPr>
        <p:spPr>
          <a:xfrm>
            <a:off x="9738360" y="2267712"/>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وَهُوَ رَخِيصٌ</a:t>
            </a:r>
            <a:endParaRPr lang="ar-SA" sz="1500" dirty="0"/>
          </a:p>
        </p:txBody>
      </p:sp>
      <p:sp>
        <p:nvSpPr>
          <p:cNvPr id="23" name="Text 20"/>
          <p:cNvSpPr txBox="1"/>
          <p:nvPr/>
        </p:nvSpPr>
        <p:spPr>
          <a:xfrm>
            <a:off x="6995160" y="2267712"/>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ثَمَنُهُ ثَمَانِيَةُ جُنَيْهَاتٍ</a:t>
            </a:r>
            <a:endParaRPr lang="ar-SA" sz="1600" dirty="0"/>
          </a:p>
        </p:txBody>
      </p:sp>
      <p:sp>
        <p:nvSpPr>
          <p:cNvPr id="24" name="Text 21"/>
          <p:cNvSpPr txBox="1"/>
          <p:nvPr/>
        </p:nvSpPr>
        <p:spPr>
          <a:xfrm>
            <a:off x="4636008" y="2267712"/>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much is this book? (£8)</a:t>
            </a:r>
            <a:endParaRPr lang="en-US" sz="1100" dirty="0"/>
          </a:p>
        </p:txBody>
      </p:sp>
      <p:sp>
        <p:nvSpPr>
          <p:cNvPr id="25" name="Text 22"/>
          <p:cNvSpPr txBox="1"/>
          <p:nvPr/>
        </p:nvSpPr>
        <p:spPr>
          <a:xfrm>
            <a:off x="1051560" y="2267712"/>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كَمْ ثَمَنُ هٰذَا الكِتَابِ؟ (8 £)</a:t>
            </a:r>
            <a:endParaRPr lang="ar-SA" sz="1700" dirty="0"/>
          </a:p>
        </p:txBody>
      </p:sp>
      <p:sp>
        <p:nvSpPr>
          <p:cNvPr id="26" name="Text 23"/>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30" name="Text 27"/>
          <p:cNvSpPr txBox="1"/>
          <p:nvPr/>
        </p:nvSpPr>
        <p:spPr>
          <a:xfrm>
            <a:off x="9738360" y="3004718"/>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وَهِيَ غَالِيَةٌ</a:t>
            </a:r>
            <a:endParaRPr lang="ar-SA" sz="1500" dirty="0"/>
          </a:p>
        </p:txBody>
      </p:sp>
      <p:sp>
        <p:nvSpPr>
          <p:cNvPr id="31" name="Text 28"/>
          <p:cNvSpPr txBox="1"/>
          <p:nvPr/>
        </p:nvSpPr>
        <p:spPr>
          <a:xfrm>
            <a:off x="6995160" y="300471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ثَمَنُهَا أَرْبَعُونَ جُنَيْهًا</a:t>
            </a:r>
            <a:endParaRPr lang="ar-SA" sz="1600" dirty="0"/>
          </a:p>
        </p:txBody>
      </p:sp>
      <p:sp>
        <p:nvSpPr>
          <p:cNvPr id="32" name="Text 29"/>
          <p:cNvSpPr txBox="1"/>
          <p:nvPr/>
        </p:nvSpPr>
        <p:spPr>
          <a:xfrm>
            <a:off x="4636008" y="300471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much is this watch? (£40)</a:t>
            </a:r>
            <a:endParaRPr lang="en-US" sz="1100" dirty="0"/>
          </a:p>
        </p:txBody>
      </p:sp>
      <p:sp>
        <p:nvSpPr>
          <p:cNvPr id="33" name="Text 30"/>
          <p:cNvSpPr txBox="1"/>
          <p:nvPr/>
        </p:nvSpPr>
        <p:spPr>
          <a:xfrm>
            <a:off x="1051560" y="300471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كَمْ ثَمَنُ هٰذِهِ السَّاعَةِ؟ (40 £)</a:t>
            </a:r>
            <a:endParaRPr lang="ar-SA" sz="1700" dirty="0"/>
          </a:p>
        </p:txBody>
      </p:sp>
      <p:sp>
        <p:nvSpPr>
          <p:cNvPr id="34" name="Text 31"/>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8" name="Text 35"/>
          <p:cNvSpPr txBox="1"/>
          <p:nvPr/>
        </p:nvSpPr>
        <p:spPr>
          <a:xfrm>
            <a:off x="9738360" y="3741725"/>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لِأَنَّهُ أَرْخَصُ مِنْ …</a:t>
            </a:r>
            <a:endParaRPr lang="ar-SA" sz="1500" dirty="0"/>
          </a:p>
        </p:txBody>
      </p:sp>
      <p:sp>
        <p:nvSpPr>
          <p:cNvPr id="39" name="Text 36"/>
          <p:cNvSpPr txBox="1"/>
          <p:nvPr/>
        </p:nvSpPr>
        <p:spPr>
          <a:xfrm>
            <a:off x="6995160" y="3741725"/>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أَتَسَوَّقُ فِي …</a:t>
            </a:r>
            <a:endParaRPr lang="ar-SA" sz="1600" dirty="0"/>
          </a:p>
        </p:txBody>
      </p:sp>
      <p:sp>
        <p:nvSpPr>
          <p:cNvPr id="40" name="Text 37"/>
          <p:cNvSpPr txBox="1"/>
          <p:nvPr/>
        </p:nvSpPr>
        <p:spPr>
          <a:xfrm>
            <a:off x="4636008" y="3741725"/>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Where do you usually shop?</a:t>
            </a:r>
            <a:endParaRPr lang="en-US" sz="1100" dirty="0"/>
          </a:p>
        </p:txBody>
      </p:sp>
      <p:sp>
        <p:nvSpPr>
          <p:cNvPr id="41" name="Text 38"/>
          <p:cNvSpPr txBox="1"/>
          <p:nvPr/>
        </p:nvSpPr>
        <p:spPr>
          <a:xfrm>
            <a:off x="1051560" y="3741725"/>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أَيْنَ تَتَسَوَّقُ عَادَةً؟</a:t>
            </a:r>
            <a:endParaRPr lang="ar-SA" sz="1700" dirty="0"/>
          </a:p>
        </p:txBody>
      </p:sp>
      <p:sp>
        <p:nvSpPr>
          <p:cNvPr id="42" name="Text 39"/>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3" name="Shape 40"/>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6" name="Text 43"/>
          <p:cNvSpPr txBox="1"/>
          <p:nvPr/>
        </p:nvSpPr>
        <p:spPr>
          <a:xfrm>
            <a:off x="9738360" y="4478731"/>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لِأَنَّ …</a:t>
            </a:r>
            <a:endParaRPr lang="ar-SA" sz="1500" dirty="0"/>
          </a:p>
        </p:txBody>
      </p:sp>
      <p:sp>
        <p:nvSpPr>
          <p:cNvPr id="47" name="Text 44"/>
          <p:cNvSpPr txBox="1"/>
          <p:nvPr/>
        </p:nvSpPr>
        <p:spPr>
          <a:xfrm>
            <a:off x="6995160" y="4478731"/>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أَدْفَعُ …</a:t>
            </a:r>
            <a:endParaRPr lang="ar-SA" sz="1600" dirty="0"/>
          </a:p>
        </p:txBody>
      </p:sp>
      <p:sp>
        <p:nvSpPr>
          <p:cNvPr id="48" name="Text 45"/>
          <p:cNvSpPr txBox="1"/>
          <p:nvPr/>
        </p:nvSpPr>
        <p:spPr>
          <a:xfrm>
            <a:off x="4636008" y="4478731"/>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Do you pay cash or by card?</a:t>
            </a:r>
            <a:endParaRPr lang="en-US" sz="1100" dirty="0"/>
          </a:p>
        </p:txBody>
      </p:sp>
      <p:sp>
        <p:nvSpPr>
          <p:cNvPr id="49" name="Text 46"/>
          <p:cNvSpPr txBox="1"/>
          <p:nvPr/>
        </p:nvSpPr>
        <p:spPr>
          <a:xfrm>
            <a:off x="1051560" y="4478731"/>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هَلْ تَدْفَعُ نَقْدًا أَمْ بِالبِطَاقَةِ؟</a:t>
            </a:r>
            <a:endParaRPr lang="ar-SA" sz="1700" dirty="0"/>
          </a:p>
        </p:txBody>
      </p:sp>
      <p:sp>
        <p:nvSpPr>
          <p:cNvPr id="50" name="Text 47"/>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51" name="Shape 48"/>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52" name="Text 49"/>
          <p:cNvSpPr txBox="1"/>
          <p:nvPr/>
        </p:nvSpPr>
        <p:spPr>
          <a:xfrm>
            <a:off x="9738360" y="5215738"/>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مِنْ …</a:t>
            </a:r>
            <a:endParaRPr lang="ar-SA" sz="1500" dirty="0"/>
          </a:p>
        </p:txBody>
      </p:sp>
      <p:sp>
        <p:nvSpPr>
          <p:cNvPr id="53" name="Text 50"/>
          <p:cNvSpPr txBox="1"/>
          <p:nvPr/>
        </p:nvSpPr>
        <p:spPr>
          <a:xfrm>
            <a:off x="6995160" y="521573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أُرِيدُ أَنْ أَشْتَرِيَ …</a:t>
            </a:r>
            <a:endParaRPr lang="ar-SA" sz="1600" dirty="0"/>
          </a:p>
        </p:txBody>
      </p:sp>
      <p:sp>
        <p:nvSpPr>
          <p:cNvPr id="54" name="Text 51"/>
          <p:cNvSpPr txBox="1"/>
          <p:nvPr/>
        </p:nvSpPr>
        <p:spPr>
          <a:xfrm>
            <a:off x="4636008" y="521573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do you want to buy this week?</a:t>
            </a:r>
            <a:endParaRPr lang="en-US" sz="1100" dirty="0"/>
          </a:p>
        </p:txBody>
      </p:sp>
      <p:sp>
        <p:nvSpPr>
          <p:cNvPr id="55" name="Text 52"/>
          <p:cNvSpPr txBox="1"/>
          <p:nvPr/>
        </p:nvSpPr>
        <p:spPr>
          <a:xfrm>
            <a:off x="1051560" y="521573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تُرِيدُ أَنْ تَشْتَرِيَ هٰذَا الأُسْبُوعَ؟</a:t>
            </a:r>
            <a:endParaRPr lang="ar-SA" sz="1700" dirty="0"/>
          </a:p>
        </p:txBody>
      </p:sp>
      <p:sp>
        <p:nvSpPr>
          <p:cNvPr id="56" name="Text 53"/>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7" name="Text 5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Each Speaker answers every question. Core: a full sentence from the starter. Develop: add the “more” part. Stretch: add a reason with </a:t>
            </a:r>
            <a:pPr algn="l" indent="0" marL="0">
              <a:buNone/>
            </a:pPr>
            <a:r>
              <a:rPr lang="ar-SA" altLang="en-US" sz="1450" b="1" dirty="0">
                <a:solidFill>
                  <a:srgbClr val="1B3B6F"/>
                </a:solidFill>
                <a:latin typeface="Amiri" pitchFamily="2" charset="-78"/>
                <a:ea typeface="Amiri" pitchFamily="2" charset="-78"/>
                <a:cs typeface="Amiri" pitchFamily="2" charset="-78"/>
              </a:rPr>
              <a:t>لِأَنَّ</a:t>
            </a:r>
            <a:pPr algn="l" indent="0" marL="0">
              <a:buNone/>
            </a:pPr>
            <a:r>
              <a:rPr lang="en-US" sz="1100" b="1" dirty="0">
                <a:solidFill>
                  <a:srgbClr val="1B3B6F"/>
                </a:solidFill>
                <a:latin typeface="Calibri" pitchFamily="34" charset="0"/>
                <a:cs typeface="Amiri" pitchFamily="2" charset="-78"/>
              </a:rPr>
              <a:t> or a second detail. Swap after each question.</a:t>
            </a:r>
            <a:endParaRPr lang="en-US" sz="110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22</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F6-L06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4 · ROLE-PLAY CARD · USE THE PLAN, THEN HIDE IT AND SPEAK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900" b="1" dirty="0">
                <a:solidFill>
                  <a:srgbClr val="1B3B6F"/>
                </a:solidFill>
                <a:latin typeface="Cambria" pitchFamily="34" charset="0"/>
                <a:cs typeface="Amiri" pitchFamily="2" charset="-78"/>
              </a:rPr>
              <a:t>Role-play card — buying a present for your mother</a:t>
            </a:r>
            <a:endParaRPr lang="en-US" sz="19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هَدِيَّةٌ لِأُمِّي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F6-L06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57032" y="1810512"/>
            <a:ext cx="34015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Plan: first words</a:t>
            </a:r>
            <a:endParaRPr lang="en-US" sz="1100" dirty="0"/>
          </a:p>
        </p:txBody>
      </p:sp>
      <p:sp>
        <p:nvSpPr>
          <p:cNvPr id="17" name="Text 14"/>
          <p:cNvSpPr txBox="1"/>
          <p:nvPr/>
        </p:nvSpPr>
        <p:spPr>
          <a:xfrm>
            <a:off x="496519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Speaker’s task</a:t>
            </a:r>
            <a:endParaRPr lang="en-US" sz="1100" dirty="0"/>
          </a:p>
        </p:txBody>
      </p:sp>
      <p:sp>
        <p:nvSpPr>
          <p:cNvPr id="18" name="Text 15"/>
          <p:cNvSpPr txBox="1"/>
          <p:nvPr/>
        </p:nvSpPr>
        <p:spPr>
          <a:xfrm>
            <a:off x="1033272"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8275320" y="2267712"/>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كَيْفَ ← أُرِيدُ أَنْ أَشْتَرِيَ هَدِيَّةً لِ…</a:t>
            </a:r>
            <a:endParaRPr lang="ar-SA" sz="1600" dirty="0"/>
          </a:p>
        </p:txBody>
      </p:sp>
      <p:sp>
        <p:nvSpPr>
          <p:cNvPr id="22" name="Text 19"/>
          <p:cNvSpPr txBox="1"/>
          <p:nvPr/>
        </p:nvSpPr>
        <p:spPr>
          <a:xfrm>
            <a:off x="5001768" y="2267712"/>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Say what you want.</a:t>
            </a:r>
            <a:endParaRPr lang="en-US" sz="1100" dirty="0"/>
          </a:p>
        </p:txBody>
      </p:sp>
      <p:sp>
        <p:nvSpPr>
          <p:cNvPr id="23" name="Text 20"/>
          <p:cNvSpPr txBox="1"/>
          <p:nvPr/>
        </p:nvSpPr>
        <p:spPr>
          <a:xfrm>
            <a:off x="1051560" y="2267712"/>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أَهْلًا! كَيْفَ أُسَاعِدُكَ؟</a:t>
            </a:r>
            <a:endParaRPr lang="ar-SA" sz="1700" dirty="0"/>
          </a:p>
        </p:txBody>
      </p:sp>
      <p:sp>
        <p:nvSpPr>
          <p:cNvPr id="24" name="Text 21"/>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8275320" y="3054096"/>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اسْأَلْ ← كَمْ ثَمَنُ … ؟ ← كَمْ ثَمَنُهُ</a:t>
            </a:r>
            <a:endParaRPr lang="ar-SA" sz="1600" dirty="0"/>
          </a:p>
        </p:txBody>
      </p:sp>
      <p:sp>
        <p:nvSpPr>
          <p:cNvPr id="29" name="Text 26"/>
          <p:cNvSpPr txBox="1"/>
          <p:nvPr/>
        </p:nvSpPr>
        <p:spPr>
          <a:xfrm>
            <a:off x="5001768" y="3054096"/>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Ask the price of the scarf (m.).</a:t>
            </a:r>
            <a:endParaRPr lang="en-US" sz="1100" dirty="0"/>
          </a:p>
        </p:txBody>
      </p:sp>
      <p:sp>
        <p:nvSpPr>
          <p:cNvPr id="30" name="Text 27"/>
          <p:cNvSpPr txBox="1"/>
          <p:nvPr/>
        </p:nvSpPr>
        <p:spPr>
          <a:xfrm>
            <a:off x="1051560" y="3054096"/>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عِنْدَنَا هٰذَا الوِشَاحُ وَهٰذِهِ السَّاعَةُ.</a:t>
            </a:r>
            <a:endParaRPr lang="ar-SA" sz="1700" dirty="0"/>
          </a:p>
        </p:txBody>
      </p:sp>
      <p:sp>
        <p:nvSpPr>
          <p:cNvPr id="31" name="Text 28"/>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5" name="Text 32"/>
          <p:cNvSpPr txBox="1"/>
          <p:nvPr/>
        </p:nvSpPr>
        <p:spPr>
          <a:xfrm>
            <a:off x="8275320" y="3840480"/>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قَارِنْ ← الوِشَاحُ أَرْخَصُ … ، سَآخُذُ …</a:t>
            </a:r>
            <a:endParaRPr lang="ar-SA" sz="1600" dirty="0"/>
          </a:p>
        </p:txBody>
      </p:sp>
      <p:sp>
        <p:nvSpPr>
          <p:cNvPr id="36" name="Text 33"/>
          <p:cNvSpPr txBox="1"/>
          <p:nvPr/>
        </p:nvSpPr>
        <p:spPr>
          <a:xfrm>
            <a:off x="5001768" y="3840480"/>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Compare + choose.</a:t>
            </a:r>
            <a:endParaRPr lang="en-US" sz="1100" dirty="0"/>
          </a:p>
        </p:txBody>
      </p:sp>
      <p:sp>
        <p:nvSpPr>
          <p:cNvPr id="37" name="Text 34"/>
          <p:cNvSpPr txBox="1"/>
          <p:nvPr/>
        </p:nvSpPr>
        <p:spPr>
          <a:xfrm>
            <a:off x="1051560" y="3840480"/>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ثَمَنُهُ عَشَرَةُ جُنَيْهَاتٍ، وَالسَّاعَةُ ثَلَاثُونَ.</a:t>
            </a:r>
            <a:endParaRPr lang="ar-SA" sz="1700" dirty="0"/>
          </a:p>
        </p:txBody>
      </p:sp>
      <p:sp>
        <p:nvSpPr>
          <p:cNvPr id="38" name="Text 35"/>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2" name="Text 39"/>
          <p:cNvSpPr txBox="1"/>
          <p:nvPr/>
        </p:nvSpPr>
        <p:spPr>
          <a:xfrm>
            <a:off x="8275320" y="4626864"/>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كَيْفَ ← أَدْفَعُ … ، وَهَلْ عِنْدَكُمْ …؟</a:t>
            </a:r>
            <a:endParaRPr lang="ar-SA" sz="1600" dirty="0"/>
          </a:p>
        </p:txBody>
      </p:sp>
      <p:sp>
        <p:nvSpPr>
          <p:cNvPr id="43" name="Text 40"/>
          <p:cNvSpPr txBox="1"/>
          <p:nvPr/>
        </p:nvSpPr>
        <p:spPr>
          <a:xfrm>
            <a:off x="5001768" y="4626864"/>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Say how + ask for a bag.</a:t>
            </a:r>
            <a:endParaRPr lang="en-US" sz="1100" dirty="0"/>
          </a:p>
        </p:txBody>
      </p:sp>
      <p:sp>
        <p:nvSpPr>
          <p:cNvPr id="44" name="Text 41"/>
          <p:cNvSpPr txBox="1"/>
          <p:nvPr/>
        </p:nvSpPr>
        <p:spPr>
          <a:xfrm>
            <a:off x="1051560" y="4626864"/>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كَيْفَ تَدْفَعُ؟</a:t>
            </a:r>
            <a:endParaRPr lang="ar-SA" sz="1700" dirty="0"/>
          </a:p>
        </p:txBody>
      </p:sp>
      <p:sp>
        <p:nvSpPr>
          <p:cNvPr id="45" name="Text 42"/>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6" name="Shape 43"/>
          <p:cNvSpPr/>
          <p:nvPr/>
        </p:nvSpPr>
        <p:spPr>
          <a:xfrm>
            <a:off x="11091672" y="4672584"/>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467258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Text 45"/>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Speaker = a customer · Leader = the shop assistant. Read the plan for 1 minute, then hide it and speak. Then swap roles.</a:t>
            </a:r>
            <a:endParaRPr lang="en-US" sz="1150" dirty="0"/>
          </a:p>
        </p:txBody>
      </p:sp>
      <p:sp>
        <p:nvSpPr>
          <p:cNvPr id="49" name="Text 4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22</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F6-L06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5 · SHORT TALK · 30 SECONDS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30 seconds: a shopping trip in town</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التَّسَوُّقُ فِي المَدِينَةِ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F6-L06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5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Talk for 30 seconds — no stopping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In 30 seconds, describe a shopping trip: where you went, two things you looked at, their prices, which was cheaper or more expensive, and how you paid.</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Think for 30 seconds: 3–4 key words, no sentences.</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Speaker talks; the Leader times it.</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one thing that went well + one thing to improve.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until everyone has spoken.</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Two items with their prices.</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a comparison: </a:t>
            </a:r>
            <a:pPr algn="l" indent="0" marL="0">
              <a:buNone/>
            </a:pPr>
            <a:r>
              <a:rPr lang="ar-SA" altLang="en-US" sz="1500" dirty="0">
                <a:solidFill>
                  <a:srgbClr val="1F2A37"/>
                </a:solidFill>
                <a:latin typeface="Amiri" pitchFamily="2" charset="-78"/>
                <a:ea typeface="Amiri" pitchFamily="2" charset="-78"/>
                <a:cs typeface="Amiri" pitchFamily="2" charset="-78"/>
              </a:rPr>
              <a:t>أَرْخَصُ / أَغْلَى مِنْ</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a discount and how you paid.</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أَنَا … وَ…</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 am … and …</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عِنْدِي …</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 have …</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أُحِبُّ … لِأَنَّ …</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 like … because …</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وَأَيْضًا …</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and also …</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22</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F6-L06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PART B · STEP 6 · SENTENCE BUILDER · CHOOSE A OR B IN EACH COLUMN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Build three correct sentences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F6-L06 · practice room</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How much is this jacket?</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كَمْ ثَمَنُ</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كَمْ ثَمَنًا</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هٰذِهِ</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هٰذَا</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السُّتْرَةِ؟</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السُّتْرَةُ؟</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The market is cheaper than the shopping centre.</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السُّوقُ</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السُّوقَ</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أَرْخَصُ</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رَخِيصَةٌ</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مِنَ المَرْكَزِ التِّجَارِيِّ.</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المَرْكَزَ التِّجَارِيَّ.</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I want to buy new trainers.</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أُرِيدُ</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أُرِيدُ أَنَا أَنْ</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أَنْ أَشْتَرِيَ</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أَنْ أَشْتَرِي</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حِذَاءً رِيَاضِيًّا جَدِيدًا.</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حِذَاءٌ رِيَاضِيٌّ جَدِيدٌ.</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22</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F6-L06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6 · CHECK YOUR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builder: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F6-L06 · practice room</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How much is this jacket?</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سُتْرَةٌ</a:t>
            </a:r>
            <a:pPr algn="l" indent="0" marL="0">
              <a:buNone/>
            </a:pPr>
            <a:r>
              <a:rPr lang="en-US" sz="1050" i="1" dirty="0">
                <a:solidFill>
                  <a:srgbClr val="5A6472"/>
                </a:solidFill>
                <a:latin typeface="Calibri" pitchFamily="34" charset="0"/>
                <a:cs typeface="Amiri" pitchFamily="2" charset="-78"/>
              </a:rPr>
              <a:t> (f.) → </a:t>
            </a:r>
            <a:pPr algn="l" indent="0" marL="0">
              <a:buNone/>
            </a:pPr>
            <a:r>
              <a:rPr lang="ar-SA" altLang="en-US" sz="1350" dirty="0">
                <a:solidFill>
                  <a:srgbClr val="5A6472"/>
                </a:solidFill>
                <a:latin typeface="Amiri" pitchFamily="2" charset="-78"/>
                <a:ea typeface="Amiri" pitchFamily="2" charset="-78"/>
                <a:cs typeface="Amiri" pitchFamily="2" charset="-78"/>
              </a:rPr>
              <a:t>هٰذِهِ</a:t>
            </a:r>
            <a:pPr algn="l" indent="0" marL="0">
              <a:buNone/>
            </a:pPr>
            <a:r>
              <a:rPr lang="en-US" sz="1050" i="1" dirty="0">
                <a:solidFill>
                  <a:srgbClr val="5A6472"/>
                </a:solidFill>
                <a:latin typeface="Calibri" pitchFamily="34" charset="0"/>
                <a:cs typeface="Amiri" pitchFamily="2" charset="-78"/>
              </a:rPr>
              <a:t>; </a:t>
            </a:r>
            <a:pPr algn="l" indent="0" marL="0">
              <a:buNone/>
            </a:pPr>
            <a:r>
              <a:rPr lang="ar-SA" altLang="en-US" sz="1350" dirty="0">
                <a:solidFill>
                  <a:srgbClr val="5A6472"/>
                </a:solidFill>
                <a:latin typeface="Amiri" pitchFamily="2" charset="-78"/>
                <a:ea typeface="Amiri" pitchFamily="2" charset="-78"/>
                <a:cs typeface="Amiri" pitchFamily="2" charset="-78"/>
              </a:rPr>
              <a:t>كَمْ ثَمَنُ</a:t>
            </a:r>
            <a:pPr algn="l" indent="0" marL="0">
              <a:buNone/>
            </a:pPr>
            <a:r>
              <a:rPr lang="en-US" sz="1050" i="1" dirty="0">
                <a:solidFill>
                  <a:srgbClr val="5A6472"/>
                </a:solidFill>
                <a:latin typeface="Calibri" pitchFamily="34" charset="0"/>
                <a:cs typeface="Amiri" pitchFamily="2" charset="-78"/>
              </a:rPr>
              <a:t> + genitive.</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كَمْ ثَمَنُ هٰذِهِ السُّتْرَةِ؟</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The market is cheaper than the shopping centre.</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Comparative </a:t>
            </a:r>
            <a:pPr algn="l" indent="0" marL="0">
              <a:buNone/>
            </a:pPr>
            <a:r>
              <a:rPr lang="ar-SA" altLang="en-US" sz="1350" dirty="0">
                <a:solidFill>
                  <a:srgbClr val="5A6472"/>
                </a:solidFill>
                <a:latin typeface="Amiri" pitchFamily="2" charset="-78"/>
                <a:ea typeface="Amiri" pitchFamily="2" charset="-78"/>
                <a:cs typeface="Amiri" pitchFamily="2" charset="-78"/>
              </a:rPr>
              <a:t>أَرْخَصُ</a:t>
            </a:r>
            <a:pPr algn="l" indent="0" marL="0">
              <a:buNone/>
            </a:pPr>
            <a:r>
              <a:rPr lang="en-US" sz="1050" i="1" dirty="0">
                <a:solidFill>
                  <a:srgbClr val="5A6472"/>
                </a:solidFill>
                <a:latin typeface="Calibri" pitchFamily="34" charset="0"/>
                <a:cs typeface="Amiri" pitchFamily="2" charset="-78"/>
              </a:rPr>
              <a:t> + </a:t>
            </a:r>
            <a:pPr algn="l" indent="0" marL="0">
              <a:buNone/>
            </a:pPr>
            <a:r>
              <a:rPr lang="ar-SA" altLang="en-US" sz="1350" dirty="0">
                <a:solidFill>
                  <a:srgbClr val="5A6472"/>
                </a:solidFill>
                <a:latin typeface="Amiri" pitchFamily="2" charset="-78"/>
                <a:ea typeface="Amiri" pitchFamily="2" charset="-78"/>
                <a:cs typeface="Amiri" pitchFamily="2" charset="-78"/>
              </a:rPr>
              <a:t>مِنْ</a:t>
            </a:r>
            <a:pPr algn="l" indent="0" marL="0">
              <a:buNone/>
            </a:pPr>
            <a:r>
              <a:rPr lang="en-US" sz="1050" i="1" dirty="0">
                <a:solidFill>
                  <a:srgbClr val="5A6472"/>
                </a:solidFill>
                <a:latin typeface="Calibri" pitchFamily="34" charset="0"/>
                <a:cs typeface="Amiri" pitchFamily="2" charset="-78"/>
              </a:rPr>
              <a:t> + genitive.</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السُّوقُ أَرْخَصُ مِنَ المَرْكَزِ التِّجَارِيِّ.</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I want to buy new trainers.</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أُرِيدُ أَنْ</a:t>
            </a:r>
            <a:pPr algn="l" indent="0" marL="0">
              <a:buNone/>
            </a:pPr>
            <a:r>
              <a:rPr lang="en-US" sz="1050" i="1" dirty="0">
                <a:solidFill>
                  <a:srgbClr val="5A6472"/>
                </a:solidFill>
                <a:latin typeface="Calibri" pitchFamily="34" charset="0"/>
                <a:cs typeface="Amiri" pitchFamily="2" charset="-78"/>
              </a:rPr>
              <a:t> + verb in -a (</a:t>
            </a:r>
            <a:pPr algn="l" indent="0" marL="0">
              <a:buNone/>
            </a:pPr>
            <a:r>
              <a:rPr lang="ar-SA" altLang="en-US" sz="1350" dirty="0">
                <a:solidFill>
                  <a:srgbClr val="5A6472"/>
                </a:solidFill>
                <a:latin typeface="Amiri" pitchFamily="2" charset="-78"/>
                <a:ea typeface="Amiri" pitchFamily="2" charset="-78"/>
                <a:cs typeface="Amiri" pitchFamily="2" charset="-78"/>
              </a:rPr>
              <a:t>أَشْتَرِيَ</a:t>
            </a:r>
            <a:pPr algn="l" indent="0" marL="0">
              <a:buNone/>
            </a:pPr>
            <a:r>
              <a:rPr lang="en-US" sz="1050" i="1" dirty="0">
                <a:solidFill>
                  <a:srgbClr val="5A6472"/>
                </a:solidFill>
                <a:latin typeface="Calibri" pitchFamily="34" charset="0"/>
                <a:cs typeface="Amiri" pitchFamily="2" charset="-78"/>
              </a:rPr>
              <a:t>); object → -an.</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أُرِيدُ أَنْ أَشْتَرِيَ حِذَاءً رِيَاضِيًّا جَدِيدًا.</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22</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F6-L06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7 · SPOT AND FIX · MISTAKES STUDENTS OFTEN MAKE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F6-L06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algn="l" indent="0" marL="0">
              <a:buNone/>
            </a:pPr>
            <a:r>
              <a:rPr lang="ar-SA" altLang="en-US" sz="3900" b="1" dirty="0">
                <a:solidFill>
                  <a:srgbClr val="B83227"/>
                </a:solidFill>
                <a:latin typeface="Amiri" pitchFamily="2" charset="-78"/>
                <a:ea typeface="Amiri" pitchFamily="2" charset="-78"/>
                <a:cs typeface="Amiri" pitchFamily="2" charset="-78"/>
              </a:rPr>
              <a:t>كَمْ ثَمَنُهُ؟</a:t>
            </a:r>
            <a:pPr algn="l" indent="0" marL="0">
              <a:buNone/>
            </a:pPr>
            <a:r>
              <a:rPr lang="en-US" sz="3000" b="1" dirty="0">
                <a:solidFill>
                  <a:srgbClr val="B83227"/>
                </a:solidFill>
                <a:latin typeface="Calibri" pitchFamily="34" charset="0"/>
                <a:cs typeface="Amiri" pitchFamily="2" charset="-78"/>
              </a:rPr>
              <a:t> (about a bag)</a:t>
            </a:r>
            <a:endParaRPr lang="en-US"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ar-SA" altLang="en-US" sz="1700" dirty="0">
                <a:solidFill>
                  <a:srgbClr val="5A6472"/>
                </a:solidFill>
                <a:latin typeface="Amiri" pitchFamily="2" charset="-78"/>
                <a:ea typeface="Amiri" pitchFamily="2" charset="-78"/>
                <a:cs typeface="Amiri" pitchFamily="2" charset="-78"/>
              </a:rPr>
              <a:t>حَقِيبَةٌ</a:t>
            </a:r>
            <a:pPr algn="l" indent="0" marL="0">
              <a:buNone/>
            </a:pPr>
            <a:r>
              <a:rPr lang="en-US" sz="1300" i="1" dirty="0">
                <a:solidFill>
                  <a:srgbClr val="5A6472"/>
                </a:solidFill>
                <a:latin typeface="Calibri" pitchFamily="34" charset="0"/>
                <a:cs typeface="Amiri" pitchFamily="2" charset="-78"/>
              </a:rPr>
              <a:t> is feminine.</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الحَقِيبَةُ أَغْلَى عَنِ القَمِيصِ.</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more expensive THAN …</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ثَمَنُهُ ثَلَاثُونَ جُنَيْهَاتٍ.</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11–99 + …</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22</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F6-L06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7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F6-L06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algn="l" indent="0" marL="0">
              <a:buNone/>
            </a:pPr>
            <a:r>
              <a:rPr lang="ar-SA" altLang="en-US" sz="2350" dirty="0">
                <a:solidFill>
                  <a:srgbClr val="B83227"/>
                </a:solidFill>
                <a:latin typeface="Amiri" pitchFamily="2" charset="-78"/>
                <a:ea typeface="Amiri" pitchFamily="2" charset="-78"/>
                <a:cs typeface="Amiri" pitchFamily="2" charset="-78"/>
              </a:rPr>
              <a:t>كَمْ ثَمَنُهُ؟</a:t>
            </a:r>
            <a:pPr algn="l" indent="0" marL="0">
              <a:buNone/>
            </a:pPr>
            <a:r>
              <a:rPr lang="en-US" sz="1800" dirty="0">
                <a:solidFill>
                  <a:srgbClr val="B83227"/>
                </a:solidFill>
                <a:latin typeface="Calibri" pitchFamily="34" charset="0"/>
                <a:cs typeface="Amiri" pitchFamily="2" charset="-78"/>
              </a:rPr>
              <a:t> (about a bag)</a:t>
            </a:r>
            <a:endParaRPr lang="en-US"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كَمْ ثَمَنُهَا؟</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Feminine item → </a:t>
            </a:r>
            <a:pPr algn="l" indent="0" marL="0">
              <a:buNone/>
            </a:pPr>
            <a:r>
              <a:rPr lang="ar-SA" altLang="en-US" sz="1500" b="1" dirty="0">
                <a:solidFill>
                  <a:srgbClr val="1B3B6F"/>
                </a:solidFill>
                <a:latin typeface="Amiri" pitchFamily="2" charset="-78"/>
                <a:ea typeface="Amiri" pitchFamily="2" charset="-78"/>
                <a:cs typeface="Amiri" pitchFamily="2" charset="-78"/>
              </a:rPr>
              <a:t>ثَمَنُهَا</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الحَقِيبَةُ أَغْلَى عَنِ القَمِيصِ.</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الحَقِيبَةُ أَغْلَى مِنَ القَمِيصِ.</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Comparative + </a:t>
            </a:r>
            <a:pPr algn="l" indent="0" marL="0">
              <a:buNone/>
            </a:pPr>
            <a:r>
              <a:rPr lang="ar-SA" altLang="en-US" sz="1500" b="1" dirty="0">
                <a:solidFill>
                  <a:srgbClr val="1B3B6F"/>
                </a:solidFill>
                <a:latin typeface="Amiri" pitchFamily="2" charset="-78"/>
                <a:ea typeface="Amiri" pitchFamily="2" charset="-78"/>
                <a:cs typeface="Amiri" pitchFamily="2" charset="-78"/>
              </a:rPr>
              <a:t>مِنْ</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ثَمَنُهُ ثَلَاثُونَ جُنَيْهَاتٍ.</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ثَمَنُهُ ثَلَاثُونَ جُنَيْهًا.</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11–99 → singular accusative </a:t>
            </a:r>
            <a:pPr algn="l" indent="0" marL="0">
              <a:buNone/>
            </a:pPr>
            <a:r>
              <a:rPr lang="ar-SA" altLang="en-US" sz="1500" b="1" dirty="0">
                <a:solidFill>
                  <a:srgbClr val="1B3B6F"/>
                </a:solidFill>
                <a:latin typeface="Amiri" pitchFamily="2" charset="-78"/>
                <a:ea typeface="Amiri" pitchFamily="2" charset="-78"/>
                <a:cs typeface="Amiri" pitchFamily="2" charset="-78"/>
              </a:rPr>
              <a:t>جُنَيْهًا</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22</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F6-L06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writing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F6-L06 · practice room</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650" b="1" dirty="0">
                <a:solidFill>
                  <a:srgbClr val="1B3B6F"/>
                </a:solidFill>
                <a:latin typeface="Amiri" pitchFamily="2" charset="-78"/>
                <a:ea typeface="Amiri" pitchFamily="2" charset="-78"/>
                <a:cs typeface="Amiri" pitchFamily="2" charset="-78"/>
              </a:rPr>
              <a:t>هُنَاكَ خَصْمٌ ______ ، وَيُمْكِنُ أَنْ تَدْفَعَ ______ .</a:t>
            </a:r>
            <a:endParaRPr lang="ar-SA" sz="165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There is a … discount, and you can pay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أُفَضِّلُ ______ لِأَنَّ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prefer … because …</a:t>
            </a:r>
            <a:endParaRPr lang="en-US" sz="1050" dirty="0"/>
          </a:p>
        </p:txBody>
      </p:sp>
      <p:sp>
        <p:nvSpPr>
          <p:cNvPr id="22" name="Shape 19"/>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5" name="Text 22"/>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______ ثَمَنُ ______ ______ جُنَيْهًا.</a:t>
            </a:r>
            <a:endParaRPr lang="ar-SA" sz="1800" dirty="0"/>
          </a:p>
        </p:txBody>
      </p:sp>
      <p:sp>
        <p:nvSpPr>
          <p:cNvPr id="26" name="Text 23"/>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In … the … costs £…</a:t>
            </a:r>
            <a:endParaRPr lang="en-US" sz="1050" dirty="0"/>
          </a:p>
        </p:txBody>
      </p:sp>
      <p:sp>
        <p:nvSpPr>
          <p:cNvPr id="27" name="Text 24"/>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وَفِي ______ ثَمَنُهُ / ثَمَنُهَا ______ .</a:t>
            </a:r>
            <a:endParaRPr lang="ar-SA" sz="1800" dirty="0"/>
          </a:p>
        </p:txBody>
      </p:sp>
      <p:sp>
        <p:nvSpPr>
          <p:cNvPr id="28" name="Text 25"/>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And in … it costs …</a:t>
            </a:r>
            <a:endParaRPr lang="en-US" sz="1050" dirty="0"/>
          </a:p>
        </p:txBody>
      </p:sp>
      <p:sp>
        <p:nvSpPr>
          <p:cNvPr id="29" name="Text 26"/>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______ أَرْخَصُ مِنْ ______ .</a:t>
            </a:r>
            <a:endParaRPr lang="ar-SA" sz="1800" dirty="0"/>
          </a:p>
        </p:txBody>
      </p:sp>
      <p:sp>
        <p:nvSpPr>
          <p:cNvPr id="30" name="Text 27"/>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is cheaper than …</a:t>
            </a:r>
            <a:endParaRPr lang="en-US" sz="1050" dirty="0"/>
          </a:p>
        </p:txBody>
      </p:sp>
      <p:sp>
        <p:nvSpPr>
          <p:cNvPr id="31" name="Text 28"/>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أُفَضِّلُ ______ .</a:t>
            </a:r>
            <a:endParaRPr lang="ar-SA" sz="1800" dirty="0"/>
          </a:p>
        </p:txBody>
      </p:sp>
      <p:sp>
        <p:nvSpPr>
          <p:cNvPr id="32" name="Text 29"/>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prefer …</a:t>
            </a:r>
            <a:endParaRPr lang="en-US" sz="1050" dirty="0"/>
          </a:p>
        </p:txBody>
      </p:sp>
      <p:sp>
        <p:nvSpPr>
          <p:cNvPr id="33" name="Shape 30"/>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Text 31"/>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5" name="Text 32"/>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كَمْ ثَمَنُهُ؟ · كَمْ ثَمَنُهَا؟  ·  رَخِيصٌ · غَالٍ  ·  أَرْخَصُ مِنْ · أَغْلَى مِنْ  ·  خَصْمٌ  ·  نَقْدًا · بِالبِطَاقَةِ  ·  أُرِيدُ أَنْ أَشْتَرِيَ  ·  سُوقٌ · مَرْكَزٌ تِجَارِيٌّ  ·  جُنَيْهٌ · جُنَيْهَاتٌ</a:t>
            </a:r>
            <a:endParaRPr lang="ar-SA" sz="16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22</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F6-L06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10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ABOUT 40–60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Two shops compared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مُقَارَنَةُ مَحَلَّيْنِ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F6-L06 · practice room</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828800"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8288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WRITING · SHORT TEXT</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00" b="1" dirty="0">
                <a:solidFill>
                  <a:srgbClr val="1F2A37"/>
                </a:solidFill>
                <a:latin typeface="Calibri" pitchFamily="34" charset="0"/>
                <a:cs typeface="Amiri" pitchFamily="2" charset="-78"/>
              </a:rPr>
              <a:t>Write a short text (about 40–60 words) for a town guide comparing two shops or markets. Include: • the two places • two items and their prices • which is cheaper / more expensive • a discount or how you can pay • where you prefer to shop and why.</a:t>
            </a:r>
            <a:endParaRPr lang="en-US" sz="130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Every bullet point has at least one sentence.</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Full sentences with the right ending (I · my · he · she).</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Words from today’s word bank.</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At least one </a:t>
            </a:r>
            <a:pPr algn="l" indent="0" marL="0">
              <a:buNone/>
            </a:pPr>
            <a:r>
              <a:rPr lang="ar-SA" altLang="en-US" sz="1550" dirty="0">
                <a:solidFill>
                  <a:srgbClr val="1F2A37"/>
                </a:solidFill>
                <a:latin typeface="Amiri" pitchFamily="2" charset="-78"/>
                <a:ea typeface="Amiri" pitchFamily="2" charset="-78"/>
                <a:cs typeface="Amiri" pitchFamily="2" charset="-78"/>
              </a:rPr>
              <a:t>و</a:t>
            </a:r>
            <a:pPr algn="l" indent="0" marL="0">
              <a:buNone/>
            </a:pPr>
            <a:r>
              <a:rPr lang="en-US" sz="1200" dirty="0">
                <a:solidFill>
                  <a:srgbClr val="1F2A37"/>
                </a:solidFill>
                <a:latin typeface="Calibri" pitchFamily="34" charset="0"/>
                <a:cs typeface="Amiri" pitchFamily="2" charset="-78"/>
              </a:rPr>
              <a:t> and one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 (Develop).</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then fix one thing.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 ثَمَنُ … جُنَيْهًا</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in … the price of … is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 أَرْخَصُ مِنْ … · … أَغْلَى مِنْ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 cheaper than … · … more expensive than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يُمْكِنُ أَنْ تَدْفَعَ نَقْدًا أَوْ بِالبِطَاقَةِ</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you can pay cash or by card</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أُفَضِّلُ … لِأَنَّ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prefer … because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22</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F6-L06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BUDDY CHECK · SWAP AND READ YOUR BUDDY’S TEXT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F6-L06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EVERY bullet point?</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ask and give prices with </a:t>
            </a:r>
            <a:pPr algn="l" indent="0" marL="0">
              <a:buNone/>
            </a:pPr>
            <a:r>
              <a:rPr lang="ar-SA" altLang="en-US" sz="1450" dirty="0">
                <a:solidFill>
                  <a:srgbClr val="5A6472"/>
                </a:solidFill>
                <a:latin typeface="Amiri" pitchFamily="2" charset="-78"/>
                <a:ea typeface="Amiri" pitchFamily="2" charset="-78"/>
                <a:cs typeface="Amiri" pitchFamily="2" charset="-78"/>
              </a:rPr>
              <a:t>ثَمَنُهُ / ثَمَنُهَا</a:t>
            </a:r>
            <a:pPr algn="l" indent="0" marL="0">
              <a:buNone/>
            </a:pPr>
            <a:r>
              <a:rPr lang="en-US" sz="1100" dirty="0">
                <a:solidFill>
                  <a:srgbClr val="5A6472"/>
                </a:solidFill>
                <a:latin typeface="Calibri" pitchFamily="34" charset="0"/>
                <a:cs typeface="Amiri" pitchFamily="2" charset="-78"/>
              </a:rPr>
              <a:t> correctly?</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compare with </a:t>
            </a:r>
            <a:pPr algn="l" indent="0" marL="0">
              <a:buNone/>
            </a:pPr>
            <a:r>
              <a:rPr lang="ar-SA" altLang="en-US" sz="1450" dirty="0">
                <a:solidFill>
                  <a:srgbClr val="5A6472"/>
                </a:solidFill>
                <a:latin typeface="Amiri" pitchFamily="2" charset="-78"/>
                <a:ea typeface="Amiri" pitchFamily="2" charset="-78"/>
                <a:cs typeface="Amiri" pitchFamily="2" charset="-78"/>
              </a:rPr>
              <a:t>أَرْخَصُ / أَغْلَى مِنْ</a:t>
            </a:r>
            <a:pPr algn="l" indent="0" marL="0">
              <a:buNone/>
            </a:pPr>
            <a:r>
              <a:rPr lang="en-US" sz="1100" dirty="0">
                <a:solidFill>
                  <a:srgbClr val="5A6472"/>
                </a:solidFill>
                <a:latin typeface="Calibri" pitchFamily="34" charset="0"/>
                <a:cs typeface="Amiri" pitchFamily="2" charset="-78"/>
              </a:rPr>
              <a:t> and get the number + </a:t>
            </a:r>
            <a:pPr algn="l" indent="0" marL="0">
              <a:buNone/>
            </a:pPr>
            <a:r>
              <a:rPr lang="ar-SA" altLang="en-US" sz="1450" dirty="0">
                <a:solidFill>
                  <a:srgbClr val="5A6472"/>
                </a:solidFill>
                <a:latin typeface="Amiri" pitchFamily="2" charset="-78"/>
                <a:ea typeface="Amiri" pitchFamily="2" charset="-78"/>
                <a:cs typeface="Amiri" pitchFamily="2" charset="-78"/>
              </a:rPr>
              <a:t>جُنَيْهًا / جُنَيْهَاتٍ</a:t>
            </a:r>
            <a:pPr algn="l" indent="0" marL="0">
              <a:buNone/>
            </a:pPr>
            <a:r>
              <a:rPr lang="en-US" sz="1100" dirty="0">
                <a:solidFill>
                  <a:srgbClr val="5A6472"/>
                </a:solidFill>
                <a:latin typeface="Calibri" pitchFamily="34" charset="0"/>
                <a:cs typeface="Amiri" pitchFamily="2" charset="-78"/>
              </a:rPr>
              <a:t> right?</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linking words (</a:t>
            </a:r>
            <a:pPr algn="l" indent="0" marL="0">
              <a:buNone/>
            </a:pPr>
            <a:r>
              <a:rPr lang="ar-SA" altLang="en-US" sz="1450" dirty="0">
                <a:solidFill>
                  <a:srgbClr val="5A6472"/>
                </a:solidFill>
                <a:latin typeface="Amiri" pitchFamily="2" charset="-78"/>
                <a:ea typeface="Amiri" pitchFamily="2" charset="-78"/>
                <a:cs typeface="Amiri" pitchFamily="2" charset="-78"/>
              </a:rPr>
              <a:t>وَ</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ثُمَّ</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لِأَنَّ</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لٰكِنَّ</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add a reason, a time phrase or an opinion?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thing that went well + one thing to improve.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22</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F6-L06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ROLE-PLAY CARD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Role-play card: compare with a strong answer</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F6-L06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782312" y="1810512"/>
            <a:ext cx="6876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 strong answer (with English)</a:t>
            </a:r>
            <a:endParaRPr lang="en-US" sz="1100" dirty="0"/>
          </a:p>
        </p:txBody>
      </p:sp>
      <p:sp>
        <p:nvSpPr>
          <p:cNvPr id="17" name="Text 14"/>
          <p:cNvSpPr txBox="1"/>
          <p:nvPr/>
        </p:nvSpPr>
        <p:spPr>
          <a:xfrm>
            <a:off x="1033272"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8" name="Text 15"/>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4800600" y="2286000"/>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أُرِيدُ أَنْ أَشْتَرِيَ هَدِيَّةً لِأُمِّي.</a:t>
            </a:r>
            <a:endParaRPr lang="ar-SA" sz="1800" dirty="0"/>
          </a:p>
        </p:txBody>
      </p:sp>
      <p:sp>
        <p:nvSpPr>
          <p:cNvPr id="21" name="Text 18"/>
          <p:cNvSpPr txBox="1"/>
          <p:nvPr/>
        </p:nvSpPr>
        <p:spPr>
          <a:xfrm>
            <a:off x="4754880" y="2706624"/>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want to buy a present for my mother.</a:t>
            </a:r>
            <a:endParaRPr lang="en-US" sz="950" dirty="0"/>
          </a:p>
        </p:txBody>
      </p:sp>
      <p:sp>
        <p:nvSpPr>
          <p:cNvPr id="22" name="Text 19"/>
          <p:cNvSpPr txBox="1"/>
          <p:nvPr/>
        </p:nvSpPr>
        <p:spPr>
          <a:xfrm>
            <a:off x="1051560" y="2267712"/>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أَهْلًا! كَيْفَ أُسَاعِدُكَ؟</a:t>
            </a:r>
            <a:endParaRPr lang="ar-SA" sz="1600" dirty="0"/>
          </a:p>
        </p:txBody>
      </p:sp>
      <p:sp>
        <p:nvSpPr>
          <p:cNvPr id="23" name="Text 20"/>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4" name="Shape 21"/>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5" name="Text 22"/>
          <p:cNvSpPr txBox="1"/>
          <p:nvPr/>
        </p:nvSpPr>
        <p:spPr>
          <a:xfrm>
            <a:off x="4800600" y="3072384"/>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كَمْ ثَمَنُ الوِشَاحِ؟</a:t>
            </a:r>
            <a:endParaRPr lang="ar-SA" sz="1800" dirty="0"/>
          </a:p>
        </p:txBody>
      </p:sp>
      <p:sp>
        <p:nvSpPr>
          <p:cNvPr id="26" name="Text 23"/>
          <p:cNvSpPr txBox="1"/>
          <p:nvPr/>
        </p:nvSpPr>
        <p:spPr>
          <a:xfrm>
            <a:off x="4754880" y="3493008"/>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How much is the scarf?</a:t>
            </a:r>
            <a:endParaRPr lang="en-US" sz="950" dirty="0"/>
          </a:p>
        </p:txBody>
      </p:sp>
      <p:sp>
        <p:nvSpPr>
          <p:cNvPr id="27" name="Text 24"/>
          <p:cNvSpPr txBox="1"/>
          <p:nvPr/>
        </p:nvSpPr>
        <p:spPr>
          <a:xfrm>
            <a:off x="1051560" y="3054096"/>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عِنْدَنَا هٰذَا الوِشَاحُ وَهٰذِهِ السَّاعَةُ.</a:t>
            </a:r>
            <a:endParaRPr lang="ar-SA" sz="1600" dirty="0"/>
          </a:p>
        </p:txBody>
      </p:sp>
      <p:sp>
        <p:nvSpPr>
          <p:cNvPr id="28" name="Text 25"/>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29" name="Shape 26"/>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0" name="Text 27"/>
          <p:cNvSpPr txBox="1"/>
          <p:nvPr/>
        </p:nvSpPr>
        <p:spPr>
          <a:xfrm>
            <a:off x="4800600" y="3858768"/>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الوِشَاحُ أَرْخَصُ مِنَ السَّاعَةِ، سَآخُذُهُ.</a:t>
            </a:r>
            <a:endParaRPr lang="ar-SA" sz="1800" dirty="0"/>
          </a:p>
        </p:txBody>
      </p:sp>
      <p:sp>
        <p:nvSpPr>
          <p:cNvPr id="31" name="Text 28"/>
          <p:cNvSpPr txBox="1"/>
          <p:nvPr/>
        </p:nvSpPr>
        <p:spPr>
          <a:xfrm>
            <a:off x="4754880" y="4279392"/>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The scarf is cheaper than the watch — I’ll take it.</a:t>
            </a:r>
            <a:endParaRPr lang="en-US" sz="950" dirty="0"/>
          </a:p>
        </p:txBody>
      </p:sp>
      <p:sp>
        <p:nvSpPr>
          <p:cNvPr id="32" name="Text 29"/>
          <p:cNvSpPr txBox="1"/>
          <p:nvPr/>
        </p:nvSpPr>
        <p:spPr>
          <a:xfrm>
            <a:off x="1051560" y="3840480"/>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ثَمَنُهُ عَشَرَةُ جُنَيْهَاتٍ، وَالسَّاعَةُ ثَلَاثُونَ.</a:t>
            </a:r>
            <a:endParaRPr lang="ar-SA" sz="1600" dirty="0"/>
          </a:p>
        </p:txBody>
      </p:sp>
      <p:sp>
        <p:nvSpPr>
          <p:cNvPr id="33" name="Text 30"/>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4" name="Shape 31"/>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5" name="Text 32"/>
          <p:cNvSpPr txBox="1"/>
          <p:nvPr/>
        </p:nvSpPr>
        <p:spPr>
          <a:xfrm>
            <a:off x="4800600" y="4645152"/>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أَدْفَعُ نَقْدًا. هَلْ عِنْدَكُمْ كِيسُ هَدَايَا؟</a:t>
            </a:r>
            <a:endParaRPr lang="ar-SA" sz="1800" dirty="0"/>
          </a:p>
        </p:txBody>
      </p:sp>
      <p:sp>
        <p:nvSpPr>
          <p:cNvPr id="36" name="Text 33"/>
          <p:cNvSpPr txBox="1"/>
          <p:nvPr/>
        </p:nvSpPr>
        <p:spPr>
          <a:xfrm>
            <a:off x="4754880" y="5065776"/>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I’ll pay cash. Do you have a gift bag?</a:t>
            </a:r>
            <a:endParaRPr lang="en-US" sz="950" dirty="0"/>
          </a:p>
        </p:txBody>
      </p:sp>
      <p:sp>
        <p:nvSpPr>
          <p:cNvPr id="37" name="Text 34"/>
          <p:cNvSpPr txBox="1"/>
          <p:nvPr/>
        </p:nvSpPr>
        <p:spPr>
          <a:xfrm>
            <a:off x="1051560" y="4626864"/>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كَيْفَ تَدْفَعُ؟</a:t>
            </a:r>
            <a:endParaRPr lang="ar-SA" sz="1600" dirty="0"/>
          </a:p>
        </p:txBody>
      </p:sp>
      <p:sp>
        <p:nvSpPr>
          <p:cNvPr id="38" name="Text 35"/>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answer every task in a full sentence? Choose one phrase you did not use and say it aloud.</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22</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F6-L06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WRITE YOUR TEXT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Writing: compare with a strong answer</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F6-L06 · practice room</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فِي مَدِينَتِي سُوقٌ قَدِيمٌ وَمَرْكَزٌ تِجَارِيٌّ حَدِيثٌ. فِي السُّوقِ ثَمَنُ القَمِيصِ عَشَرَةُ جُنَيْهَاتٍ، وَفِي المَرْكَزِ ثَمَنُهُ عِشْرُونَ جُنَيْهًا. الحَقِيبَةُ فِي السُّوقِ أَرْخَصُ أَيْضًا. لٰكِنْ فِي المَرْكَزِ هُنَاكَ خَصْمٌ يَوْمَ الجُمُعَةِ، وَيُمْكِنُ أَنْ تَدْفَعَ بِالبِطَاقَةِ. أُفَضِّلُ السُّوقَ، لِأَنَّهُ أَرْخَصُ وَأَجْمَلُ، وَالبَائِعُونَ لُطَفَاءُ.</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“In my town there is an old market and a modern shopping centre. At the market a shirt costs ten pounds, and at the centre it costs twenty. The bag is cheaper at the market too. But at the centre there is a discount on Friday, and you can pay by card. I prefer the market, because it is cheaper and nicer, and the sellers are kind.”</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ثَمَنُ القَمِيصِ عَشَرَةُ جُنَيْهَاتٍ</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أَرْخَصُ أَيْضًا</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هُنَاكَ خَصْمٌ</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أُفَضِّلُ السُّوقَ</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22</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F6-L06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F6-L06 · practice room</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answered the questions and the role-play tasks in full sentences.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a sentence for every bullet point.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today’s key structure when I spoke AND when I wrote.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text and I fixed one mistake.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added reasons (</a:t>
            </a:r>
            <a:pPr algn="l" indent="0" marL="0">
              <a:buNone/>
            </a:pPr>
            <a:r>
              <a:rPr lang="ar-SA" altLang="en-US" sz="1700" dirty="0">
                <a:solidFill>
                  <a:srgbClr val="1F2A37"/>
                </a:solidFill>
                <a:latin typeface="Amiri" pitchFamily="2" charset="-78"/>
                <a:ea typeface="Amiri" pitchFamily="2" charset="-78"/>
                <a:cs typeface="Amiri" pitchFamily="2" charset="-78"/>
              </a:rPr>
              <a:t>لِأَنَّ</a:t>
            </a:r>
            <a:pPr algn="l" indent="0" marL="0">
              <a:buNone/>
            </a:pPr>
            <a:r>
              <a:rPr lang="en-US" sz="1300" dirty="0">
                <a:solidFill>
                  <a:srgbClr val="1F2A37"/>
                </a:solidFill>
                <a:latin typeface="Calibri" pitchFamily="34" charset="0"/>
                <a:cs typeface="Amiri" pitchFamily="2" charset="-78"/>
              </a:rPr>
              <a:t>) and extra details without frames.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22</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F6-L06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practised it yourselves!</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650" b="1" dirty="0">
                <a:solidFill>
                  <a:srgbClr val="FFFFFF"/>
                </a:solidFill>
                <a:latin typeface="Cambria" pitchFamily="34" charset="0"/>
                <a:cs typeface="Amiri" pitchFamily="2" charset="-78"/>
              </a:rPr>
              <a:t>F6-L07 · The Built Environment: Buildings, Materials and Urban Life</a:t>
            </a:r>
            <a:endParaRPr lang="en-US" sz="16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البِيئَةُ المَبْنِيَّةُ</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say it, then write it — full sentences, every time.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F6-L06 · Practice Room — Shopping in Town: Prices and Comparisons</dc:title>
  <dc:subject>PptxGenJS Presentation</dc:subject>
  <dc:creator>Al Madina Online School · Arabic Department</dc:creator>
  <cp:lastModifiedBy>Al Madina Online School · Arabic Department</cp:lastModifiedBy>
  <cp:revision>1</cp:revision>
  <dcterms:created xsi:type="dcterms:W3CDTF">2026-10-25T17:47:15Z</dcterms:created>
  <dcterms:modified xsi:type="dcterms:W3CDTF">2026-10-25T17:47:15Z</dcterms:modified>
</cp:coreProperties>
</file>