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F6-L03 (Transport: Types and How We Travel) — new practice tasks built on the lesson’s own word bank and grammar (adhhabu bi-l-ḥāfilati / bi-l-qiṭāri / bi-l-sayyārati; ʿalā al-darrājati; mashyan; yarkabu · yaqūdu · yusāfiru; kayfa tadhhabu / tadhhabīna …?).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F6-L03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أَخُوكِ. Language: bi- + vehicle (bi-l-qiṭāri) · ʿalā al-darrājati · mashyan · he / she verbs.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(37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F6-L03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Transport: Types and How We Travel</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المُوَاصَلَاتُ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run their own speaking and writing practice about transport: say the transport words, act a short dialogue, answer question cards, do a role-play card planning a day trip, give a 30-second talk, then build, fix and write about how their family travels.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F6-L03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Kinds of transport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حَافِلَةٌ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bus</a:t>
            </a:r>
            <a:endParaRPr lang="en-US" sz="1350" dirty="0"/>
          </a:p>
          <a:p>
            <a:pPr indent="0" marL="0">
              <a:buNone/>
            </a:pPr>
            <a:r>
              <a:rPr lang="en-US" sz="1100" i="1" dirty="0">
                <a:solidFill>
                  <a:srgbClr val="5A6472"/>
                </a:solidFill>
                <a:latin typeface="Calibri" pitchFamily="34" charset="0"/>
                <a:cs typeface="Amiri" pitchFamily="2" charset="-78"/>
              </a:rPr>
              <a:t>ḥā-fi-la-tun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حَافِلَةٌ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حَافِلَاتٌ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قِطَارٌ</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train</a:t>
            </a:r>
            <a:endParaRPr lang="en-US" sz="1350" dirty="0"/>
          </a:p>
          <a:p>
            <a:pPr indent="0" marL="0">
              <a:buNone/>
            </a:pPr>
            <a:r>
              <a:rPr lang="en-US" sz="1100" i="1" dirty="0">
                <a:solidFill>
                  <a:srgbClr val="5A6472"/>
                </a:solidFill>
                <a:latin typeface="Calibri" pitchFamily="34" charset="0"/>
                <a:cs typeface="Amiri" pitchFamily="2" charset="-78"/>
              </a:rPr>
              <a:t>qi-ṭā-run</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قِطَارٌ</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قِطَارَاتٌ</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مِتْرُو</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metro / underground</a:t>
            </a:r>
            <a:endParaRPr lang="en-US" sz="1350" dirty="0"/>
          </a:p>
          <a:p>
            <a:pPr indent="0" marL="0">
              <a:buNone/>
            </a:pPr>
            <a:r>
              <a:rPr lang="en-US" sz="1100" i="1" dirty="0">
                <a:solidFill>
                  <a:srgbClr val="5A6472"/>
                </a:solidFill>
                <a:latin typeface="Calibri" pitchFamily="34" charset="0"/>
                <a:cs typeface="Amiri" pitchFamily="2" charset="-78"/>
              </a:rPr>
              <a:t>mit-rū</a:t>
            </a:r>
            <a:endParaRPr lang="en-US" sz="135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5" name="Shape 52"/>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7" name="Shape 5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سَيَّارَةٌ</a:t>
            </a:r>
            <a:endParaRPr lang="ar-SA" sz="3000" dirty="0"/>
          </a:p>
        </p:txBody>
      </p:sp>
      <p:sp>
        <p:nvSpPr>
          <p:cNvPr id="60" name="Text 5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car</a:t>
            </a:r>
            <a:endParaRPr lang="en-US" sz="1350" dirty="0"/>
          </a:p>
          <a:p>
            <a:pPr indent="0" marL="0">
              <a:buNone/>
            </a:pPr>
            <a:r>
              <a:rPr lang="en-US" sz="1100" i="1" dirty="0">
                <a:solidFill>
                  <a:srgbClr val="5A6472"/>
                </a:solidFill>
                <a:latin typeface="Calibri" pitchFamily="34" charset="0"/>
                <a:cs typeface="Amiri" pitchFamily="2" charset="-78"/>
              </a:rPr>
              <a:t>say-yā-ra-tun</a:t>
            </a:r>
            <a:endParaRPr lang="en-US" sz="1350" dirty="0"/>
          </a:p>
        </p:txBody>
      </p:sp>
      <p:sp>
        <p:nvSpPr>
          <p:cNvPr id="61" name="Shape 5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63" name="Text 60"/>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سَيَّارَةٌ</a:t>
            </a:r>
            <a:endParaRPr lang="ar-SA" sz="1500" dirty="0"/>
          </a:p>
        </p:txBody>
      </p:sp>
      <p:sp>
        <p:nvSpPr>
          <p:cNvPr id="64" name="Shape 6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6" name="Text 63"/>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سَيَّارَاتٌ</a:t>
            </a:r>
            <a:endParaRPr lang="ar-SA" sz="1500" dirty="0"/>
          </a:p>
        </p:txBody>
      </p:sp>
      <p:sp>
        <p:nvSpPr>
          <p:cNvPr id="67" name="Shape 6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389120"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0" name="Shape 6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1" name="Text 6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2" name="Text 6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سَيَّارَةُ أُجْرَةٍ</a:t>
            </a:r>
            <a:endParaRPr lang="ar-SA" sz="3000" dirty="0"/>
          </a:p>
        </p:txBody>
      </p:sp>
      <p:sp>
        <p:nvSpPr>
          <p:cNvPr id="73" name="Text 7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taxi</a:t>
            </a:r>
            <a:endParaRPr lang="en-US" sz="1350" dirty="0"/>
          </a:p>
          <a:p>
            <a:pPr indent="0" marL="0">
              <a:buNone/>
            </a:pPr>
            <a:r>
              <a:rPr lang="en-US" sz="1100" i="1" dirty="0">
                <a:solidFill>
                  <a:srgbClr val="5A6472"/>
                </a:solidFill>
                <a:latin typeface="Calibri" pitchFamily="34" charset="0"/>
                <a:cs typeface="Amiri" pitchFamily="2" charset="-78"/>
              </a:rPr>
              <a:t>say-yā-ra-tu uj-ra-tin</a:t>
            </a:r>
            <a:endParaRPr lang="en-US" sz="1350" dirty="0"/>
          </a:p>
        </p:txBody>
      </p:sp>
      <p:sp>
        <p:nvSpPr>
          <p:cNvPr id="74" name="Shape 7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5" name="Shape 72"/>
          <p:cNvSpPr/>
          <p:nvPr/>
        </p:nvSpPr>
        <p:spPr>
          <a:xfrm>
            <a:off x="566928" y="4261104"/>
            <a:ext cx="310896" cy="310896"/>
          </a:xfrm>
          <a:prstGeom prst="ellipse">
            <a:avLst/>
          </a:prstGeom>
          <a:solidFill>
            <a:srgbClr val="F4F1EA"/>
          </a:solidFill>
          <a:ln w="12700">
            <a:solidFill>
              <a:srgbClr val="F4F1EA"/>
            </a:solidFill>
            <a:prstDash val="solid"/>
          </a:ln>
        </p:spPr>
      </p:sp>
      <p:sp>
        <p:nvSpPr>
          <p:cNvPr id="76" name="Text 7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7" name="Shape 74"/>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78" name="Text 75"/>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79" name="Shape 7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0" name="Text 7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1" name="Text 7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دَرَّاجَةٌ</a:t>
            </a:r>
            <a:endParaRPr lang="ar-SA" sz="3000" dirty="0"/>
          </a:p>
        </p:txBody>
      </p:sp>
      <p:sp>
        <p:nvSpPr>
          <p:cNvPr id="82" name="Text 7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bicycle</a:t>
            </a:r>
            <a:endParaRPr lang="en-US" sz="1350" dirty="0"/>
          </a:p>
          <a:p>
            <a:pPr indent="0" marL="0">
              <a:buNone/>
            </a:pPr>
            <a:r>
              <a:rPr lang="en-US" sz="1100" i="1" dirty="0">
                <a:solidFill>
                  <a:srgbClr val="5A6472"/>
                </a:solidFill>
                <a:latin typeface="Calibri" pitchFamily="34" charset="0"/>
                <a:cs typeface="Amiri" pitchFamily="2" charset="-78"/>
              </a:rPr>
              <a:t>dar-rā-ja-tun</a:t>
            </a:r>
            <a:endParaRPr lang="en-US" sz="1350" dirty="0"/>
          </a:p>
        </p:txBody>
      </p:sp>
      <p:sp>
        <p:nvSpPr>
          <p:cNvPr id="83" name="Shape 80"/>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85" name="Text 82"/>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دَرَّاجَةٌ</a:t>
            </a:r>
            <a:endParaRPr lang="ar-SA" sz="1500" dirty="0"/>
          </a:p>
        </p:txBody>
      </p:sp>
      <p:sp>
        <p:nvSpPr>
          <p:cNvPr id="86" name="Shape 83"/>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87" name="Text 84"/>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8" name="Text 85"/>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دَرَّاجَاتٌ</a:t>
            </a:r>
            <a:endParaRPr lang="ar-SA" sz="150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Travel verbs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طَائِرَةٌ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aeroplane</a:t>
            </a:r>
            <a:endParaRPr lang="en-US" sz="1350" dirty="0"/>
          </a:p>
          <a:p>
            <a:pPr indent="0" marL="0">
              <a:buNone/>
            </a:pPr>
            <a:r>
              <a:rPr lang="en-US" sz="1100" i="1" dirty="0">
                <a:solidFill>
                  <a:srgbClr val="5A6472"/>
                </a:solidFill>
                <a:latin typeface="Calibri" pitchFamily="34" charset="0"/>
                <a:cs typeface="Amiri" pitchFamily="2" charset="-78"/>
              </a:rPr>
              <a:t>ṭā-ʾi-ra-tun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طَائِرَةٌ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طَائِرَاتٌ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سَفِينَةٌ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ship</a:t>
            </a:r>
            <a:endParaRPr lang="en-US" sz="1350" dirty="0"/>
          </a:p>
          <a:p>
            <a:pPr indent="0" marL="0">
              <a:buNone/>
            </a:pPr>
            <a:r>
              <a:rPr lang="en-US" sz="1100" i="1" dirty="0">
                <a:solidFill>
                  <a:srgbClr val="5A6472"/>
                </a:solidFill>
                <a:latin typeface="Calibri" pitchFamily="34" charset="0"/>
                <a:cs typeface="Amiri" pitchFamily="2" charset="-78"/>
              </a:rPr>
              <a:t>sa-fī-na-tun</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سَفِينَةٌ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سُفُنٌ</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960120" y="1938528"/>
            <a:ext cx="1331366"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you 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يَرْكَبُ</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rides</a:t>
            </a:r>
            <a:endParaRPr lang="en-US" sz="1350" dirty="0"/>
          </a:p>
          <a:p>
            <a:pPr indent="0" marL="0">
              <a:buNone/>
            </a:pPr>
            <a:r>
              <a:rPr lang="en-US" sz="1100" i="1" dirty="0">
                <a:solidFill>
                  <a:srgbClr val="5A6472"/>
                </a:solidFill>
                <a:latin typeface="Calibri" pitchFamily="34" charset="0"/>
                <a:cs typeface="Amiri" pitchFamily="2" charset="-78"/>
              </a:rPr>
              <a:t>yar-ka-bu</a:t>
            </a:r>
            <a:endParaRPr lang="en-US" sz="1350" dirty="0"/>
          </a:p>
        </p:txBody>
      </p:sp>
      <p:sp>
        <p:nvSpPr>
          <p:cNvPr id="54" name="Shape 51"/>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6" name="Text 53"/>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يَرْكَبُ</a:t>
            </a:r>
            <a:endParaRPr lang="ar-SA" sz="1500" dirty="0"/>
          </a:p>
        </p:txBody>
      </p:sp>
      <p:sp>
        <p:nvSpPr>
          <p:cNvPr id="57" name="Shape 54"/>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9" name="Text 56"/>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تَرْكَبُ</a:t>
            </a:r>
            <a:endParaRPr lang="ar-SA" sz="1500" dirty="0"/>
          </a:p>
        </p:txBody>
      </p:sp>
      <p:sp>
        <p:nvSpPr>
          <p:cNvPr id="60" name="Shape 57"/>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62" name="Text 59"/>
          <p:cNvSpPr txBox="1"/>
          <p:nvPr/>
        </p:nvSpPr>
        <p:spPr>
          <a:xfrm>
            <a:off x="64008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تَرْكَبِينَ</a:t>
            </a:r>
            <a:endParaRPr lang="ar-SA" sz="1350" dirty="0"/>
          </a:p>
        </p:txBody>
      </p:sp>
      <p:sp>
        <p:nvSpPr>
          <p:cNvPr id="63" name="Shape 6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8211312"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6" name="Shape 63"/>
          <p:cNvSpPr/>
          <p:nvPr/>
        </p:nvSpPr>
        <p:spPr>
          <a:xfrm>
            <a:off x="8604504" y="4279392"/>
            <a:ext cx="1331366"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8604504"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you f.</a:t>
            </a:r>
            <a:endParaRPr lang="en-US" sz="800" dirty="0"/>
          </a:p>
        </p:txBody>
      </p:sp>
      <p:sp>
        <p:nvSpPr>
          <p:cNvPr id="68" name="Shape 6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يَقُودُ</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drives</a:t>
            </a:r>
            <a:endParaRPr lang="en-US" sz="1350" dirty="0"/>
          </a:p>
          <a:p>
            <a:pPr indent="0" marL="0">
              <a:buNone/>
            </a:pPr>
            <a:r>
              <a:rPr lang="en-US" sz="1100" i="1" dirty="0">
                <a:solidFill>
                  <a:srgbClr val="5A6472"/>
                </a:solidFill>
                <a:latin typeface="Calibri" pitchFamily="34" charset="0"/>
                <a:cs typeface="Amiri" pitchFamily="2" charset="-78"/>
              </a:rPr>
              <a:t>ya-qū-du</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يَقُودُ</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تَقُودُ</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80" name="Text 77"/>
          <p:cNvSpPr txBox="1"/>
          <p:nvPr/>
        </p:nvSpPr>
        <p:spPr>
          <a:xfrm>
            <a:off x="828446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تَقُودِينَ</a:t>
            </a:r>
            <a:endParaRPr lang="ar-SA" sz="135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84" name="Shape 8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5" name="Text 8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6" name="Text 8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يَسِيرُ مَشْيًا</a:t>
            </a:r>
            <a:endParaRPr lang="ar-SA" sz="3000" dirty="0"/>
          </a:p>
        </p:txBody>
      </p:sp>
      <p:sp>
        <p:nvSpPr>
          <p:cNvPr id="87" name="Text 8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walks / goes on foot</a:t>
            </a:r>
            <a:endParaRPr lang="en-US" sz="1350" dirty="0"/>
          </a:p>
          <a:p>
            <a:pPr indent="0" marL="0">
              <a:buNone/>
            </a:pPr>
            <a:r>
              <a:rPr lang="en-US" sz="1100" i="1" dirty="0">
                <a:solidFill>
                  <a:srgbClr val="5A6472"/>
                </a:solidFill>
                <a:latin typeface="Calibri" pitchFamily="34" charset="0"/>
                <a:cs typeface="Amiri" pitchFamily="2" charset="-78"/>
              </a:rPr>
              <a:t>ya-sī-ru mash-yan</a:t>
            </a:r>
            <a:endParaRPr lang="en-US" sz="1350" dirty="0"/>
          </a:p>
        </p:txBody>
      </p:sp>
      <p:sp>
        <p:nvSpPr>
          <p:cNvPr id="88" name="Shape 8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9" name="Shape 86"/>
          <p:cNvSpPr/>
          <p:nvPr/>
        </p:nvSpPr>
        <p:spPr>
          <a:xfrm>
            <a:off x="566928" y="4261104"/>
            <a:ext cx="310896" cy="310896"/>
          </a:xfrm>
          <a:prstGeom prst="ellipse">
            <a:avLst/>
          </a:prstGeom>
          <a:solidFill>
            <a:srgbClr val="F4F1EA"/>
          </a:solidFill>
          <a:ln w="12700">
            <a:solidFill>
              <a:srgbClr val="F4F1EA"/>
            </a:solidFill>
            <a:prstDash val="solid"/>
          </a:ln>
        </p:spPr>
      </p:sp>
      <p:sp>
        <p:nvSpPr>
          <p:cNvPr id="90" name="Text 8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91" name="Shape 88"/>
          <p:cNvSpPr/>
          <p:nvPr/>
        </p:nvSpPr>
        <p:spPr>
          <a:xfrm>
            <a:off x="960120" y="4279392"/>
            <a:ext cx="1331366" cy="256032"/>
          </a:xfrm>
          <a:prstGeom prst="roundRect">
            <a:avLst>
              <a:gd name="adj" fmla="val 50000"/>
            </a:avLst>
          </a:prstGeom>
          <a:solidFill>
            <a:srgbClr val="EFE7D2"/>
          </a:solidFill>
          <a:ln w="12700">
            <a:solidFill>
              <a:srgbClr val="EFE7D2"/>
            </a:solidFill>
            <a:prstDash val="solid"/>
          </a:ln>
        </p:spPr>
      </p:sp>
      <p:sp>
        <p:nvSpPr>
          <p:cNvPr id="92" name="Text 89"/>
          <p:cNvSpPr txBox="1"/>
          <p:nvPr/>
        </p:nvSpPr>
        <p:spPr>
          <a:xfrm>
            <a:off x="960120"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you f.</a:t>
            </a:r>
            <a:endParaRPr lang="en-US" sz="800" dirty="0"/>
          </a:p>
        </p:txBody>
      </p:sp>
      <p:sp>
        <p:nvSpPr>
          <p:cNvPr id="93" name="Shape 9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4" name="Text 9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5" name="Text 9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يُسَافِرُ</a:t>
            </a:r>
            <a:endParaRPr lang="ar-SA" sz="3000" dirty="0"/>
          </a:p>
        </p:txBody>
      </p:sp>
      <p:sp>
        <p:nvSpPr>
          <p:cNvPr id="96" name="Text 9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travels</a:t>
            </a:r>
            <a:endParaRPr lang="en-US" sz="1350" dirty="0"/>
          </a:p>
          <a:p>
            <a:pPr indent="0" marL="0">
              <a:buNone/>
            </a:pPr>
            <a:r>
              <a:rPr lang="en-US" sz="1100" i="1" dirty="0">
                <a:solidFill>
                  <a:srgbClr val="5A6472"/>
                </a:solidFill>
                <a:latin typeface="Calibri" pitchFamily="34" charset="0"/>
                <a:cs typeface="Amiri" pitchFamily="2" charset="-78"/>
              </a:rPr>
              <a:t>yu-sā-fi-ru</a:t>
            </a:r>
            <a:endParaRPr lang="en-US" sz="1350" dirty="0"/>
          </a:p>
        </p:txBody>
      </p:sp>
      <p:sp>
        <p:nvSpPr>
          <p:cNvPr id="97" name="Shape 94"/>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99" name="Text 96"/>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يُسَافِرُ</a:t>
            </a:r>
            <a:endParaRPr lang="ar-SA" sz="1500" dirty="0"/>
          </a:p>
        </p:txBody>
      </p:sp>
      <p:sp>
        <p:nvSpPr>
          <p:cNvPr id="100" name="Shape 97"/>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01" name="Text 98"/>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102" name="Text 99"/>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تُسَافِرُ</a:t>
            </a:r>
            <a:endParaRPr lang="ar-SA" sz="1500" dirty="0"/>
          </a:p>
        </p:txBody>
      </p:sp>
      <p:sp>
        <p:nvSpPr>
          <p:cNvPr id="103" name="Shape 100"/>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04" name="Text 101"/>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105" name="Text 102"/>
          <p:cNvSpPr txBox="1"/>
          <p:nvPr/>
        </p:nvSpPr>
        <p:spPr>
          <a:xfrm>
            <a:off x="64008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تُسَافِرِينَ</a:t>
            </a:r>
            <a:endParaRPr lang="ar-SA" sz="1350" dirty="0"/>
          </a:p>
        </p:txBody>
      </p:sp>
      <p:sp>
        <p:nvSpPr>
          <p:cNvPr id="106" name="Text 10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do you go to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تَذْهَبُ إِلَى 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go to school?</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كَيْفَ تَذْهَبُ إِلَى المَدْرَسَةِ؟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go by bus, because the school is far.</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أَذْهَبُ بِالحَافِلَةِ، لِأَنَّ المَدْرَسَةَ بَعِيدَةٌ.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 (to a girl)? How do you go?</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وَأَنْتِ؟ كَيْفَ تَذْهَبِينَ؟</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walk, and sometimes by bike.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أَذْهَبُ مَشْيًا، وَأَحْيَانًا عَلَى الدَّرَّاجَةِ.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how does your father go to work?</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وَكَيْفَ يَذْهَبُ أَبُوكِ إِلَى العَمَلِ؟</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drives the car, but my mum takes the train.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يَقُودُ السَّيَّارَةَ، لٰكِنَّ أُمِّي تَرْكَبُ القِطَارَ.</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Read in threes (A asks, B is a boy, C is a girl). Round 2: swap letters. Round 3: say how YOUR family really travels.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أَذْهَبُ بِالحَافِلَةِ / مَشْيًا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go to school?</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تَذْهَبُ إِلَى المَدْرَسَةِ؟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إِلَى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رَكِبْتُ … / لَا،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Have you been on a plane?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رَكِبْتَ طَائِرَةً؟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lnSpc>
                <a:spcPct val="120000"/>
              </a:lnSpc>
              <a:buNone/>
            </a:pPr>
            <a:r>
              <a:rPr lang="ar-SA" altLang="en-US" sz="1350" b="1" dirty="0">
                <a:solidFill>
                  <a:srgbClr val="1B3B6F"/>
                </a:solidFill>
                <a:latin typeface="Amiri" pitchFamily="2" charset="-78"/>
                <a:ea typeface="Amiri" pitchFamily="2" charset="-78"/>
                <a:cs typeface="Amiri" pitchFamily="2" charset="-78"/>
              </a:rPr>
              <a:t>… لِأَنَّهُ / لِأَنَّهَا سَرِيعٌ / سَرِيعَةٌ</a:t>
            </a:r>
            <a:endParaRPr lang="ar-SA" sz="135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transport?</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وَسِيلَةُ النَّقْلِ المُفَضَّلَةُ عِنْدَكَ؟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مَعَ أَبِيهِ</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يَذْهَبُ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does your friend go to the club?</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يَذْهَبُ صَدِيقُكَ إِلَى النَّادِي؟</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مُرِيحٌ / غَالٍ</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 لَا،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like travelling by train?</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تُحِبُّ السَّفَرَ بِالقِطَارِ؟</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Role-play card — planning a day trip to the seaside</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رِحْلَةٌ إِلَى البَحْرِ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نَذْهَبُ بِالقِطَارِ / بِالحَافِلَةِ</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Suggest a transport.</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نَذْهَبُ إِلَى البَحْرِ؟</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 لِأَنَّهُ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reason.</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القِطَارُ؟</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المَحَطَّةِ ← نَذْهَبُ مَشْيًا / عَلَى الدَّرَّاجَةِ</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how (on foot / bike).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وَمِنَ المَحَطَّةِ إِلَى الشَّاطِئِ؟</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يَأْتِي بِالسَّيَّارَةِ مَعَ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how he will come.</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يَأْتِي أَخُوكَ مَعَنَا؟</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yourself · Leader = a friend.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30 seconds: how my family travels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تُسَافِرُ عَائِلَتِي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about how you and your family travel: to school, to work, at the weekend — and your favourite transport.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sentences with </a:t>
            </a:r>
            <a:pPr algn="l" indent="0" marL="0">
              <a:buNone/>
            </a:pPr>
            <a:r>
              <a:rPr lang="ar-SA" altLang="en-US" sz="1500" dirty="0">
                <a:solidFill>
                  <a:srgbClr val="1F2A37"/>
                </a:solidFill>
                <a:latin typeface="Amiri" pitchFamily="2" charset="-78"/>
                <a:ea typeface="Amiri" pitchFamily="2" charset="-78"/>
                <a:cs typeface="Amiri" pitchFamily="2" charset="-78"/>
              </a:rPr>
              <a:t>بِالحَافِلَةِ / بِالسَّيَّارَةِ / مَشْيًا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he / she verbs (</a:t>
            </a:r>
            <a:pPr algn="l" indent="0" marL="0">
              <a:buNone/>
            </a:pPr>
            <a:r>
              <a:rPr lang="ar-SA" altLang="en-US" sz="1500" dirty="0">
                <a:solidFill>
                  <a:srgbClr val="1F2A37"/>
                </a:solidFill>
                <a:latin typeface="Amiri" pitchFamily="2" charset="-78"/>
                <a:ea typeface="Amiri" pitchFamily="2" charset="-78"/>
                <a:cs typeface="Amiri" pitchFamily="2" charset="-78"/>
              </a:rPr>
              <a:t>يَقُودُ</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تَرْكَبُ</a:t>
            </a:r>
            <a:pPr algn="l" indent="0" marL="0">
              <a:buNone/>
            </a:pPr>
            <a:r>
              <a:rPr lang="en-US" sz="1150" dirty="0">
                <a:solidFill>
                  <a:srgbClr val="1F2A37"/>
                </a:solidFill>
                <a:latin typeface="Calibri" pitchFamily="34" charset="0"/>
                <a:cs typeface="Amiri" pitchFamily="2" charset="-78"/>
              </a:rPr>
              <a:t>) and a reason.</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journey you made by plane or train, and a comparison (</a:t>
            </a:r>
            <a:pPr algn="l" indent="0" marL="0">
              <a:buNone/>
            </a:pPr>
            <a:r>
              <a:rPr lang="ar-SA" altLang="en-US" sz="1500" dirty="0">
                <a:solidFill>
                  <a:srgbClr val="1F2A37"/>
                </a:solidFill>
                <a:latin typeface="Amiri" pitchFamily="2" charset="-78"/>
                <a:ea typeface="Amiri" pitchFamily="2" charset="-78"/>
                <a:cs typeface="Amiri" pitchFamily="2" charset="-78"/>
              </a:rPr>
              <a:t>أَسْرَعُ مِنْ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go to school by bus.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أَذْهَبُ</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يَذْهَبُ</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المَدْرَسَةِ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المَدْرَسَةَ إِلَى</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بِالحَافِلَةِ.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الحَافِلَةَ.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sister rides her bike.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تَرْكَبُ</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يَرْكَبُ</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دَرَّاجَتَهَا.</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دَرَّاجَتَهُ.</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go to the park on foot.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نَذْهَبُ</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أَذْهَبُ نَحْنُ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الحَدِيقَةِ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الحَدِيقَةِ إِلَى</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مَشْيًا.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بِالمَشْيِ القَدَمِ.</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go to school by bus.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By + vehicle = bi- + the vehicle: </a:t>
            </a:r>
            <a:pPr algn="l" indent="0" marL="0">
              <a:buNone/>
            </a:pPr>
            <a:r>
              <a:rPr lang="ar-SA" altLang="en-US" sz="1350" dirty="0">
                <a:solidFill>
                  <a:srgbClr val="5A6472"/>
                </a:solidFill>
                <a:latin typeface="Amiri" pitchFamily="2" charset="-78"/>
                <a:ea typeface="Amiri" pitchFamily="2" charset="-78"/>
                <a:cs typeface="Amiri" pitchFamily="2" charset="-78"/>
              </a:rPr>
              <a:t>بِالحَافِلَةِ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أَذْهَبُ إِلَى المَدْرَسَةِ بِالحَافِلَةِ.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sister rides her bike.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a:r>
            <a:pPr algn="l" indent="0" marL="0">
              <a:buNone/>
            </a:pPr>
            <a:r>
              <a:rPr lang="ar-SA" altLang="en-US" sz="1350" dirty="0">
                <a:solidFill>
                  <a:srgbClr val="5A6472"/>
                </a:solidFill>
                <a:latin typeface="Amiri" pitchFamily="2" charset="-78"/>
                <a:ea typeface="Amiri" pitchFamily="2" charset="-78"/>
                <a:cs typeface="Amiri" pitchFamily="2" charset="-78"/>
              </a:rPr>
              <a:t>تَرْكَبُ</a:t>
            </a:r>
            <a:pPr algn="l" indent="0" marL="0">
              <a:buNone/>
            </a:pPr>
            <a:r>
              <a:rPr lang="en-US" sz="1050" i="1" dirty="0">
                <a:solidFill>
                  <a:srgbClr val="5A6472"/>
                </a:solidFill>
                <a:latin typeface="Calibri" pitchFamily="34" charset="0"/>
                <a:cs typeface="Amiri" pitchFamily="2" charset="-78"/>
              </a:rPr>
              <a:t>; her bike → </a:t>
            </a:r>
            <a:pPr algn="l" indent="0" marL="0">
              <a:buNone/>
            </a:pPr>
            <a:r>
              <a:rPr lang="ar-SA" altLang="en-US" sz="1350" dirty="0">
                <a:solidFill>
                  <a:srgbClr val="5A6472"/>
                </a:solidFill>
                <a:latin typeface="Amiri" pitchFamily="2" charset="-78"/>
                <a:ea typeface="Amiri" pitchFamily="2" charset="-78"/>
                <a:cs typeface="Amiri" pitchFamily="2" charset="-78"/>
              </a:rPr>
              <a:t>دَرَّاجَتَهَا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أُخْتِي تَرْكَبُ دَرَّاجَتَهَا.</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go to the park on foot.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 </a:t>
            </a:r>
            <a:pPr algn="l" indent="0" marL="0">
              <a:buNone/>
            </a:pPr>
            <a:r>
              <a:rPr lang="ar-SA" altLang="en-US" sz="1350" dirty="0">
                <a:solidFill>
                  <a:srgbClr val="5A6472"/>
                </a:solidFill>
                <a:latin typeface="Amiri" pitchFamily="2" charset="-78"/>
                <a:ea typeface="Amiri" pitchFamily="2" charset="-78"/>
                <a:cs typeface="Amiri" pitchFamily="2" charset="-78"/>
              </a:rPr>
              <a:t>نَذْهَبُ</a:t>
            </a:r>
            <a:pPr algn="l" indent="0" marL="0">
              <a:buNone/>
            </a:pPr>
            <a:r>
              <a:rPr lang="en-US" sz="1050" i="1" dirty="0">
                <a:solidFill>
                  <a:srgbClr val="5A6472"/>
                </a:solidFill>
                <a:latin typeface="Calibri" pitchFamily="34" charset="0"/>
                <a:cs typeface="Amiri" pitchFamily="2" charset="-78"/>
              </a:rPr>
              <a:t>; on foot = </a:t>
            </a:r>
            <a:pPr algn="l" indent="0" marL="0">
              <a:buNone/>
            </a:pPr>
            <a:r>
              <a:rPr lang="ar-SA" altLang="en-US" sz="1350" dirty="0">
                <a:solidFill>
                  <a:srgbClr val="5A6472"/>
                </a:solidFill>
                <a:latin typeface="Amiri" pitchFamily="2" charset="-78"/>
                <a:ea typeface="Amiri" pitchFamily="2" charset="-78"/>
                <a:cs typeface="Amiri" pitchFamily="2" charset="-78"/>
              </a:rPr>
              <a:t>مَشْيًا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نَذْهَبُ إِلَى الحَدِيقَةِ مَشْيًا.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أَذْهَبُ فِي الحَافِلَةِ إِلَى المَدْرَسَةِ.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“by bus” in Arabic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أَذْهَبُ بِالدَّرَّاجَةِ … عَلَى مَشْيًا.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On foot is one word.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كَيْفَ تَذْهَبُ يَا لَيْلَى؟</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Layla is a girl.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أَذْهَبُ فِي الحَافِلَةِ إِلَى المَدْرَسَةِ.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أَذْهَبُ بِالحَافِلَةِ إِلَى المَدْرَسَةِ.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By bus = </a:t>
            </a:r>
            <a:pPr algn="l" indent="0" marL="0">
              <a:buNone/>
            </a:pPr>
            <a:r>
              <a:rPr lang="ar-SA" altLang="en-US" sz="1500" b="1" dirty="0">
                <a:solidFill>
                  <a:srgbClr val="1B3B6F"/>
                </a:solidFill>
                <a:latin typeface="Amiri" pitchFamily="2" charset="-78"/>
                <a:ea typeface="Amiri" pitchFamily="2" charset="-78"/>
                <a:cs typeface="Amiri" pitchFamily="2" charset="-78"/>
              </a:rPr>
              <a:t>بِالحَافِلَةِ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أَذْهَبُ بِالدَّرَّاجَةِ … عَلَى مَشْيًا.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أَذْهَبُ مَشْيًا.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 foot = </a:t>
            </a:r>
            <a:pPr algn="l" indent="0" marL="0">
              <a:buNone/>
            </a:pPr>
            <a:r>
              <a:rPr lang="ar-SA" altLang="en-US" sz="1500" b="1" dirty="0">
                <a:solidFill>
                  <a:srgbClr val="1B3B6F"/>
                </a:solidFill>
                <a:latin typeface="Amiri" pitchFamily="2" charset="-78"/>
                <a:ea typeface="Amiri" pitchFamily="2" charset="-78"/>
                <a:cs typeface="Amiri" pitchFamily="2" charset="-78"/>
              </a:rPr>
              <a:t>مَشْيًا</a:t>
            </a:r>
            <a:pPr algn="l" indent="0" marL="0">
              <a:buNone/>
            </a:pPr>
            <a:r>
              <a:rPr lang="en-US" sz="1150" b="1" dirty="0">
                <a:solidFill>
                  <a:srgbClr val="1B3B6F"/>
                </a:solidFill>
                <a:latin typeface="Calibri" pitchFamily="34" charset="0"/>
                <a:cs typeface="Amiri" pitchFamily="2" charset="-78"/>
              </a:rPr>
              <a:t> (no preposition).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كَيْفَ تَذْهَبُ يَا لَيْلَى؟</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كَيْفَ تَذْهَبِينَ يَا لَيْلَى؟</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a girl → </a:t>
            </a:r>
            <a:pPr algn="l" indent="0" marL="0">
              <a:buNone/>
            </a:pPr>
            <a:r>
              <a:rPr lang="ar-SA" altLang="en-US" sz="1500" b="1" dirty="0">
                <a:solidFill>
                  <a:srgbClr val="1B3B6F"/>
                </a:solidFill>
                <a:latin typeface="Amiri" pitchFamily="2" charset="-78"/>
                <a:ea typeface="Amiri" pitchFamily="2" charset="-78"/>
                <a:cs typeface="Amiri" pitchFamily="2" charset="-78"/>
              </a:rPr>
              <a:t>تَذْهَبِينَ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______ لِأَنَّ المَدْرَسَةَ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 because the school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أُفَضِّلُ ______ لِأَنَّهُ / لِأَنَّهَا أَسْرَعُ / أَرْخَصُ مِنْ ______ .</a:t>
            </a:r>
            <a:endParaRPr lang="ar-SA" sz="13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because it is faster / cheaper than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إِلَى المَدْرَسَةِ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to school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أَبِي ______ ، وَأُمِّي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dad …, and my mum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العُطْلَةِ نُسَافِرُ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holiday we travel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بِالحَافِلَةِ · بِالقِطَارِ  ·  بِالسَّيَّارَةِ · بِالطَّائِرَةِ  ·  عَلَى الدَّرَّاجَةِ  ·  مَشْيًا  ·  يَقُودُ · يَرْكَبُ · تَرْكَبُ  ·  يُسَافِرُ · نُسَافِرُ  ·  سَرِيعٌ · مُرِيحٌ  ·  لِأَنَّ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my family travels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تَتَنَقَّلُ عَائِلَتِي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short text (about 40–60 words) for a class survey on transport. Include: • how you go to school and why • how two family members travel • how you travel at the weekend or on holiday • your favourite transport and why.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إِلَى المَدْرَسَةِ بِالقِطَارِ</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go to school by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أَبِي يَقُودُ … · أُمِّي تَرْكَبُ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dad drives … · my mum takes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العُطْلَةِ نُسَافِرُ بِالطَّائِرَةِ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holiday we travel by plane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 لِأَنَّهُ / لِأَنَّهَا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prefer … because it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bi- + vehicle, </a:t>
            </a:r>
            <a:pPr algn="l" indent="0" marL="0">
              <a:buNone/>
            </a:pPr>
            <a:r>
              <a:rPr lang="ar-SA" altLang="en-US" sz="1450" dirty="0">
                <a:solidFill>
                  <a:srgbClr val="5A6472"/>
                </a:solidFill>
                <a:latin typeface="Amiri" pitchFamily="2" charset="-78"/>
                <a:ea typeface="Amiri" pitchFamily="2" charset="-78"/>
                <a:cs typeface="Amiri" pitchFamily="2" charset="-78"/>
              </a:rPr>
              <a:t>عَلَى الدَّرَّاجَةِ</a:t>
            </a:r>
            <a:pPr algn="l" indent="0" marL="0">
              <a:buNone/>
            </a:pPr>
            <a:r>
              <a:rPr lang="en-US" sz="1100" dirty="0">
                <a:solidFill>
                  <a:srgbClr val="5A6472"/>
                </a:solidFill>
                <a:latin typeface="Calibri" pitchFamily="34" charset="0"/>
                <a:cs typeface="Amiri" pitchFamily="2" charset="-78"/>
              </a:rPr>
              <a:t> or </a:t>
            </a:r>
            <a:pPr algn="l" indent="0" marL="0">
              <a:buNone/>
            </a:pPr>
            <a:r>
              <a:rPr lang="ar-SA" altLang="en-US" sz="1450" dirty="0">
                <a:solidFill>
                  <a:srgbClr val="5A6472"/>
                </a:solidFill>
                <a:latin typeface="Amiri" pitchFamily="2" charset="-78"/>
                <a:ea typeface="Amiri" pitchFamily="2" charset="-78"/>
                <a:cs typeface="Amiri" pitchFamily="2" charset="-78"/>
              </a:rPr>
              <a:t>مَشْيًا</a:t>
            </a:r>
            <a:pPr algn="l" indent="0" marL="0">
              <a:buNone/>
            </a:pPr>
            <a:r>
              <a:rPr lang="en-US" sz="1100" dirty="0">
                <a:solidFill>
                  <a:srgbClr val="5A6472"/>
                </a:solidFill>
                <a:latin typeface="Calibri" pitchFamily="34" charset="0"/>
                <a:cs typeface="Amiri" pitchFamily="2" charset="-78"/>
              </a:rPr>
              <a:t> correctly?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he / she verbs for family members (</a:t>
            </a:r>
            <a:pPr algn="l" indent="0" marL="0">
              <a:buNone/>
            </a:pPr>
            <a:r>
              <a:rPr lang="ar-SA" altLang="en-US" sz="1450" dirty="0">
                <a:solidFill>
                  <a:srgbClr val="5A6472"/>
                </a:solidFill>
                <a:latin typeface="Amiri" pitchFamily="2" charset="-78"/>
                <a:ea typeface="Amiri" pitchFamily="2" charset="-78"/>
                <a:cs typeface="Amiri" pitchFamily="2" charset="-78"/>
              </a:rPr>
              <a:t>يَقُودُ</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تَرْكَبُ</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نَذْهَبُ بِالقِطَارِ.</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Let’s go by train.</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نَذْهَبُ إِلَى البَحْرِ؟</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 سَرِيعٌ وَمُرِيحٌ.</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Because it is fast and comfortable.</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القِطَارُ؟</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نَذْهَبُ مَشْيًا، لِأَنَّ الشَّاطِئَ قَرِيبٌ.</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walk, because the beach is near.</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وَمِنَ المَحَطَّةِ إِلَى الشَّاطِئِ؟</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يَأْتِي بِالسَّيَّارَةِ مَعَ أَبِي.</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he is coming by car with my dad.</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يَأْتِي أَخُوكَ مَعَنَا؟</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أَذْهَبُ إِلَى المَدْرَسَةِ بِالحَافِلَةِ، لِأَنَّ المَدْرَسَةَ بَعِيدَةٌ عَنْ بَيْتِي. أَبِي يَقُودُ السَّيَّارَةَ إِلَى عَمَلِهِ، وَأُمِّي تَرْكَبُ المِتْرُو. أُخْتِي الصَّغِيرَةُ تَذْهَبُ إِلَى المَدْرَسَةِ مَشْيًا. فِي العُطْلَةِ نُسَافِرُ بِالطَّائِرَةِ إِلَى مِصْرَ. أُفَضِّلُ القِطَارَ، لِأَنَّهُ مُرِيحٌ، وَأَسْتَطِيعُ أَنْ أَقْرَأَ فِيهِ.</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go to school by bus, because the school is far from my house. My dad drives to work, and my mum takes the underground. My little sister walks to school. On holiday we travel by plane to Egypt. I prefer the train, because it is comfortable and I can read on it.”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بِالحَافِلَةِ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أَبِي يَقُودُ</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وَأُمِّي تَرْكَبُ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تَذْهَبُ إِلَى المَدْرَسَةِ مَشْيًا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F6-L04 · Tickets, Timetables and Journey Duration</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التَّذَاكِرُ وَجَدَاوِلُ الرِّحْلَاتِ وَالمُدَّةُ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F6-L03 · Practice Room — Transport: Types and How We Travel</dc:title>
  <dc:subject>PptxGenJS Presentation</dc:subject>
  <dc:creator>Al Madina Online School · Arabic Department</dc:creator>
  <cp:lastModifiedBy>Al Madina Online School · Arabic Department</cp:lastModifiedBy>
  <cp:revision>1</cp:revision>
  <dcterms:created xsi:type="dcterms:W3CDTF">2026-10-25T17:44:42Z</dcterms:created>
  <dcterms:modified xsi:type="dcterms:W3CDTF">2026-10-25T17:44:42Z</dcterms:modified>
</cp:coreProperties>
</file>