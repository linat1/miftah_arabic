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F6-L02 (Locating Places: Maps, Distance and Position) — new practice tasks built on the lesson’s own word bank and grammar (ayna …?; positions + genitive (bi-jānibi · amāma · khalfa · bayna … wa … · muqābila · ʿalā yamīni / yasāri · fī wasaṭi); qarībun min / baʿīdun ʿan with agreement (qarībatun · baʿīdatun)).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F6-L02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(7 min). SUPPORTED: the plan column models the thinking (first words), not the full answer. Everyone is Speaker once. To a girl the Leader says: to a female visitor nothing in the Leader’s lines changes; a girl speaker says the same. Language: every position word + genitive · qarībun min / baʿīdun ʿan agree with the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(35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F6-L02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Locating Places: Maps, Distance and Position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تَحْدِيدُ الأَمَاكِنِ</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Students run their own speaking and writing practice locating places on a map: say the position words, act a short dialogue, answer map question cards, do a role-play card helping a visitor with a map, give a 30-second map description, then build, fix and write a description of a town centre map.</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F6-L02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is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t>
            </a:r>
            <a:endParaRPr lang="en-US" sz="1350" dirty="0"/>
          </a:p>
          <a:p>
            <a:pPr indent="0" marL="0">
              <a:buNone/>
            </a:pPr>
            <a:r>
              <a:rPr lang="en-US" sz="1100" i="1" dirty="0">
                <a:solidFill>
                  <a:srgbClr val="5A6472"/>
                </a:solidFill>
                <a:latin typeface="Calibri" pitchFamily="34" charset="0"/>
                <a:cs typeface="Amiri" pitchFamily="2" charset="-78"/>
              </a:rPr>
              <a:t>ay-na?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قَرِيبٌ مِنْ</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near</a:t>
            </a:r>
            <a:endParaRPr lang="en-US" sz="1350" dirty="0"/>
          </a:p>
          <a:p>
            <a:pPr indent="0" marL="0">
              <a:buNone/>
            </a:pPr>
            <a:r>
              <a:rPr lang="en-US" sz="1100" i="1" dirty="0">
                <a:solidFill>
                  <a:srgbClr val="5A6472"/>
                </a:solidFill>
                <a:latin typeface="Calibri" pitchFamily="34" charset="0"/>
                <a:cs typeface="Amiri" pitchFamily="2" charset="-78"/>
              </a:rPr>
              <a:t>qa-rī-bun min</a:t>
            </a:r>
            <a:endParaRPr lang="en-US" sz="1350" dirty="0"/>
          </a:p>
        </p:txBody>
      </p:sp>
      <p:sp>
        <p:nvSpPr>
          <p:cNvPr id="31" name="Shape 28"/>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3" name="Text 30"/>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قَرِيبٌ</a:t>
            </a:r>
            <a:endParaRPr lang="ar-SA" sz="1500" dirty="0"/>
          </a:p>
        </p:txBody>
      </p:sp>
      <p:sp>
        <p:nvSpPr>
          <p:cNvPr id="34" name="Shape 31"/>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6" name="Text 33"/>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قَرِيبَةٌ</a:t>
            </a:r>
            <a:endParaRPr lang="ar-SA" sz="1500" dirty="0"/>
          </a:p>
        </p:txBody>
      </p:sp>
      <p:sp>
        <p:nvSpPr>
          <p:cNvPr id="37" name="Shape 34"/>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nearest</a:t>
            </a:r>
            <a:endParaRPr lang="en-US" sz="700" dirty="0"/>
          </a:p>
        </p:txBody>
      </p:sp>
      <p:sp>
        <p:nvSpPr>
          <p:cNvPr id="39" name="Text 36"/>
          <p:cNvSpPr txBox="1"/>
          <p:nvPr/>
        </p:nvSpPr>
        <p:spPr>
          <a:xfrm>
            <a:off x="446227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أَقْرَبُ</a:t>
            </a:r>
            <a:endParaRPr lang="ar-SA"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Shape 40"/>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5" name="Shape 4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بَعِيدٌ عَنْ</a:t>
            </a:r>
            <a:endParaRPr lang="ar-SA" sz="3000" dirty="0"/>
          </a:p>
        </p:txBody>
      </p:sp>
      <p:sp>
        <p:nvSpPr>
          <p:cNvPr id="48" name="Text 4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far from</a:t>
            </a:r>
            <a:endParaRPr lang="en-US" sz="1350" dirty="0"/>
          </a:p>
          <a:p>
            <a:pPr indent="0" marL="0">
              <a:buNone/>
            </a:pPr>
            <a:r>
              <a:rPr lang="en-US" sz="1100" i="1" dirty="0">
                <a:solidFill>
                  <a:srgbClr val="5A6472"/>
                </a:solidFill>
                <a:latin typeface="Calibri" pitchFamily="34" charset="0"/>
                <a:cs typeface="Amiri" pitchFamily="2" charset="-78"/>
              </a:rPr>
              <a:t>ba-ʿī-dun ʿan</a:t>
            </a:r>
            <a:endParaRPr lang="en-US" sz="1350" dirty="0"/>
          </a:p>
        </p:txBody>
      </p:sp>
      <p:sp>
        <p:nvSpPr>
          <p:cNvPr id="49" name="Shape 46"/>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1" name="Text 48"/>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بَعِيدٌ</a:t>
            </a:r>
            <a:endParaRPr lang="ar-SA" sz="1500" dirty="0"/>
          </a:p>
        </p:txBody>
      </p:sp>
      <p:sp>
        <p:nvSpPr>
          <p:cNvPr id="52" name="Shape 49"/>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4" name="Text 51"/>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بَعِيدَةٌ</a:t>
            </a:r>
            <a:endParaRPr lang="ar-SA" sz="1500" dirty="0"/>
          </a:p>
        </p:txBody>
      </p:sp>
      <p:sp>
        <p:nvSpPr>
          <p:cNvPr id="55" name="Shape 52"/>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furthest</a:t>
            </a:r>
            <a:endParaRPr lang="en-US" sz="700" dirty="0"/>
          </a:p>
        </p:txBody>
      </p:sp>
      <p:sp>
        <p:nvSpPr>
          <p:cNvPr id="57" name="Text 54"/>
          <p:cNvSpPr txBox="1"/>
          <p:nvPr/>
        </p:nvSpPr>
        <p:spPr>
          <a:xfrm>
            <a:off x="64008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أَبْعَدُ</a:t>
            </a:r>
            <a:endParaRPr lang="ar-SA" sz="135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1" name="Shape 5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بِجَانِبِ</a:t>
            </a:r>
            <a:endParaRPr lang="ar-SA" sz="3000" dirty="0"/>
          </a:p>
        </p:txBody>
      </p:sp>
      <p:sp>
        <p:nvSpPr>
          <p:cNvPr id="64" name="Text 6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next to</a:t>
            </a:r>
            <a:endParaRPr lang="en-US" sz="1350" dirty="0"/>
          </a:p>
          <a:p>
            <a:pPr indent="0" marL="0">
              <a:buNone/>
            </a:pPr>
            <a:r>
              <a:rPr lang="en-US" sz="1100" i="1" dirty="0">
                <a:solidFill>
                  <a:srgbClr val="5A6472"/>
                </a:solidFill>
                <a:latin typeface="Calibri" pitchFamily="34" charset="0"/>
                <a:cs typeface="Amiri" pitchFamily="2" charset="-78"/>
              </a:rPr>
              <a:t>bi-jā-ni-bi</a:t>
            </a:r>
            <a:endParaRPr lang="en-US" sz="135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أَمَامَ</a:t>
            </a:r>
            <a:endParaRPr lang="ar-SA" sz="3000" dirty="0"/>
          </a:p>
        </p:txBody>
      </p:sp>
      <p:sp>
        <p:nvSpPr>
          <p:cNvPr id="71" name="Text 6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front of</a:t>
            </a:r>
            <a:endParaRPr lang="en-US" sz="1350" dirty="0"/>
          </a:p>
          <a:p>
            <a:pPr indent="0" marL="0">
              <a:buNone/>
            </a:pPr>
            <a:r>
              <a:rPr lang="en-US" sz="1100" i="1" dirty="0">
                <a:solidFill>
                  <a:srgbClr val="5A6472"/>
                </a:solidFill>
                <a:latin typeface="Calibri" pitchFamily="34" charset="0"/>
                <a:cs typeface="Amiri" pitchFamily="2" charset="-78"/>
              </a:rPr>
              <a:t>a-mā-ma</a:t>
            </a:r>
            <a:endParaRPr lang="en-US" sz="135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5" name="Shape 7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7" name="Text 7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خَلْفَ</a:t>
            </a:r>
            <a:endParaRPr lang="ar-SA" sz="3000" dirty="0"/>
          </a:p>
        </p:txBody>
      </p:sp>
      <p:sp>
        <p:nvSpPr>
          <p:cNvPr id="78" name="Text 7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behind</a:t>
            </a:r>
            <a:endParaRPr lang="en-US" sz="1350" dirty="0"/>
          </a:p>
          <a:p>
            <a:pPr indent="0" marL="0">
              <a:buNone/>
            </a:pPr>
            <a:r>
              <a:rPr lang="en-US" sz="1100" i="1" dirty="0">
                <a:solidFill>
                  <a:srgbClr val="5A6472"/>
                </a:solidFill>
                <a:latin typeface="Calibri" pitchFamily="34" charset="0"/>
                <a:cs typeface="Amiri" pitchFamily="2" charset="-78"/>
              </a:rPr>
              <a:t>khal-fa</a:t>
            </a:r>
            <a:endParaRPr lang="en-US" sz="13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positions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between</a:t>
            </a:r>
            <a:endParaRPr lang="en-US" sz="1350" dirty="0"/>
          </a:p>
          <a:p>
            <a:pPr indent="0" marL="0">
              <a:buNone/>
            </a:pPr>
            <a:r>
              <a:rPr lang="en-US" sz="1100" i="1" dirty="0">
                <a:solidFill>
                  <a:srgbClr val="5A6472"/>
                </a:solidFill>
                <a:latin typeface="Calibri" pitchFamily="34" charset="0"/>
                <a:cs typeface="Amiri" pitchFamily="2" charset="-78"/>
              </a:rPr>
              <a:t>bay-na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مُقَابِلَ</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opposite</a:t>
            </a:r>
            <a:endParaRPr lang="en-US" sz="1350" dirty="0"/>
          </a:p>
          <a:p>
            <a:pPr indent="0" marL="0">
              <a:buNone/>
            </a:pPr>
            <a:r>
              <a:rPr lang="en-US" sz="1100" i="1" dirty="0">
                <a:solidFill>
                  <a:srgbClr val="5A6472"/>
                </a:solidFill>
                <a:latin typeface="Calibri" pitchFamily="34" charset="0"/>
                <a:cs typeface="Amiri" pitchFamily="2" charset="-78"/>
              </a:rPr>
              <a:t>mu-qā-bi-la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يَمِينِ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the right of</a:t>
            </a:r>
            <a:endParaRPr lang="en-US" sz="1350" dirty="0"/>
          </a:p>
          <a:p>
            <a:pPr indent="0" marL="0">
              <a:buNone/>
            </a:pPr>
            <a:r>
              <a:rPr lang="en-US" sz="1100" i="1" dirty="0">
                <a:solidFill>
                  <a:srgbClr val="5A6472"/>
                </a:solidFill>
                <a:latin typeface="Calibri" pitchFamily="34" charset="0"/>
                <a:cs typeface="Amiri" pitchFamily="2" charset="-78"/>
              </a:rPr>
              <a:t>ʿa-lā ya-mī-ni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يَسَارِ</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the left of</a:t>
            </a:r>
            <a:endParaRPr lang="en-US" sz="1350" dirty="0"/>
          </a:p>
          <a:p>
            <a:pPr indent="0" marL="0">
              <a:buNone/>
            </a:pPr>
            <a:r>
              <a:rPr lang="en-US" sz="1100" i="1" dirty="0">
                <a:solidFill>
                  <a:srgbClr val="5A6472"/>
                </a:solidFill>
                <a:latin typeface="Calibri" pitchFamily="34" charset="0"/>
                <a:cs typeface="Amiri" pitchFamily="2" charset="-78"/>
              </a:rPr>
              <a:t>ʿa-lā ya-sā-ri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وَسَطِ</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middle of</a:t>
            </a:r>
            <a:endParaRPr lang="en-US" sz="1350" dirty="0"/>
          </a:p>
          <a:p>
            <a:pPr indent="0" marL="0">
              <a:buNone/>
            </a:pPr>
            <a:r>
              <a:rPr lang="en-US" sz="1100" i="1" dirty="0">
                <a:solidFill>
                  <a:srgbClr val="5A6472"/>
                </a:solidFill>
                <a:latin typeface="Calibri" pitchFamily="34" charset="0"/>
                <a:cs typeface="Amiri" pitchFamily="2" charset="-78"/>
              </a:rPr>
              <a:t>fī wa-sa-ṭi</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خَارِجَ</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outside</a:t>
            </a:r>
            <a:endParaRPr lang="en-US" sz="1350" dirty="0"/>
          </a:p>
          <a:p>
            <a:pPr indent="0" marL="0">
              <a:buNone/>
            </a:pPr>
            <a:r>
              <a:rPr lang="en-US" sz="1100" i="1" dirty="0">
                <a:solidFill>
                  <a:srgbClr val="5A6472"/>
                </a:solidFill>
                <a:latin typeface="Calibri" pitchFamily="34" charset="0"/>
                <a:cs typeface="Amiri" pitchFamily="2" charset="-78"/>
              </a:rPr>
              <a:t>khā-ri-ja</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is the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أَيْنَ البَنْكُ؟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the bank?</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أَيْنَ البَنْكُ؟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bank is between the restaurant and the pharmacy.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البَنْكُ بَيْنَ المَطْعَمِ وَالصَّيْدَلِيَّةِ.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where is the mosque?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وَأَيْنَ المَسْجِدُ؟</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mosque is opposite the park, to the right of the market.</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المَسْجِدُ مُقَابِلَ الحَدِيقَةِ، عَلَى يَمِينِ السُّوقِ.</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the station near here?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المَحَطَّةُ قَرِيبَةٌ مِنْ هُنَا؟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it is far from here, in the middle of town.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هِيَ بَعِيدَةٌ عَنْ هُنَا، فِي وَسَطِ المَدِينَةِ.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the Leader draws a quick map (or uses a real one) — the Speaker answers </a:t>
            </a:r>
            <a:pPr algn="l" indent="0" marL="0">
              <a:buNone/>
            </a:pPr>
            <a:r>
              <a:rPr lang="ar-SA" altLang="en-US" sz="1500" b="1" dirty="0">
                <a:solidFill>
                  <a:srgbClr val="1B3B6F"/>
                </a:solidFill>
                <a:latin typeface="Amiri" pitchFamily="2" charset="-78"/>
                <a:ea typeface="Amiri" pitchFamily="2" charset="-78"/>
                <a:cs typeface="Amiri" pitchFamily="2" charset="-78"/>
              </a:rPr>
              <a:t>أَيْنَ؟</a:t>
            </a:r>
            <a:pPr algn="l" indent="0" marL="0">
              <a:buNone/>
            </a:pPr>
            <a:r>
              <a:rPr lang="en-US" sz="1150" b="1" dirty="0">
                <a:solidFill>
                  <a:srgbClr val="1B3B6F"/>
                </a:solidFill>
                <a:latin typeface="Calibri" pitchFamily="34" charset="0"/>
                <a:cs typeface="Amiri" pitchFamily="2" charset="-78"/>
              </a:rPr>
              <a:t> questions from it.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وَهِيَ قَرِيبَةٌ مِنْ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مَدْرَسَتِي بِجَانِبِ / أَمَامَ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your school?</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مَدْرَسَتُكَ؟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وَخَلْفَهُ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أَمَامَ بَيْتِي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in front of your house?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أَمَامَ بَيْتِكَ؟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عَشْرُ دَقَائِقَ</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قَرِيبٌ … / لَا، بَعِيدٌ عَنْ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the hospital near your house?</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المُسْتَشْفَى قَرِيبٌ مِنْ بَيْتِكَ؟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بَيْنَ بَيْتِي وَالمَدْرَسَةِ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between your house and school?</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الَّذِي بَيْنَ بَيْتِكَ وَالمَدْرَسَةِ؟</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عَلَى يَسَارِ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الحَدِيقَةُ فِي وَسَطِ / خَارِجَ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the public park?</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تُوجَدُ الحَدِيقَةُ العَامَّةُ؟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Role-play card — helping a visitor read the town map</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الخَرِيطَةُ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المَتْحَفُ هُنَا ، بِجَانِبِ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Locate it (one position).</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عَفْوًا، أَيْنَ المَتْحَفُ عَلَى الخَرِيطَةِ؟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لَا، هُوَ قَرِيبٌ مِنْ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Near or far?</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هُوَ بَعِيدٌ عَنِ المَحَطَّةِ؟</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بَيْنَ … وَ…</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بَيْنَ … وَ</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وَأَيْنَ أَجِدُ مَطْعَمًا؟</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الصَّيْدَلِيَّةُ ← عَلَى يَمِينِ / يَسَارِ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Left / right of something.</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وَالصَّيْدَلِيَّةُ؟</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local student · Leader = a visitor with a map.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describe a map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أَصِفُ الخَرِيطَةَ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Describe a real or imagined town-centre map in 30 seconds: where five places are, using at least four different position words.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places with </a:t>
            </a:r>
            <a:pPr algn="l" indent="0" marL="0">
              <a:buNone/>
            </a:pPr>
            <a:r>
              <a:rPr lang="ar-SA" altLang="en-US" sz="1500" dirty="0">
                <a:solidFill>
                  <a:srgbClr val="1F2A37"/>
                </a:solidFill>
                <a:latin typeface="Amiri" pitchFamily="2" charset="-78"/>
                <a:ea typeface="Amiri" pitchFamily="2" charset="-78"/>
                <a:cs typeface="Amiri" pitchFamily="2" charset="-78"/>
              </a:rPr>
              <a:t>بِجَانِبِ</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أَمَامَ</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خَلْفَ</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بَيْنَ … وَ</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مُقَابِلَ</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عَلَى يَمِينِ / يَسَارِ</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فِي وَسَطِ</a:t>
            </a:r>
            <a:pPr algn="l" indent="0" marL="0">
              <a:buNone/>
            </a:pPr>
            <a:r>
              <a:rPr lang="en-US" sz="1150" dirty="0">
                <a:solidFill>
                  <a:srgbClr val="1F2A37"/>
                </a:solidFill>
                <a:latin typeface="Calibri" pitchFamily="34" charset="0"/>
                <a:cs typeface="Amiri" pitchFamily="2" charset="-78"/>
              </a:rPr>
              <a:t> … and near / far with agreement.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library is between the bank and the school.</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المَكْتَبَةُ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مَكْتَبَةٌ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بَيْنَ البَنْكِ</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بَيْنَ البَنْكُ</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وَالمَدْرَسَةِ.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وَالمَدْرَسَةُ.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station is far from the market.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المَحَطَّةُ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المَحَطَّةَ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بَعِيدَةٌ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بَعِيدٌ</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 السُّوقِ.</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السُّوقِ.</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mosque is to the right of the park.</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المَسْجِدُ</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المَسْجِدَ</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يَمِينِ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يَمِينٌ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الحَدِيقَةِ.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الحَدِيقَةُ.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library is between the bank and the school.</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بَيْنَ</a:t>
            </a:r>
            <a:pPr algn="l" indent="0" marL="0">
              <a:buNone/>
            </a:pPr>
            <a:r>
              <a:rPr lang="en-US" sz="1050" i="1" dirty="0">
                <a:solidFill>
                  <a:srgbClr val="5A6472"/>
                </a:solidFill>
                <a:latin typeface="Calibri" pitchFamily="34" charset="0"/>
                <a:cs typeface="Amiri" pitchFamily="2" charset="-78"/>
              </a:rPr>
              <a:t> X </a:t>
            </a:r>
            <a:pPr algn="l" indent="0" marL="0">
              <a:buNone/>
            </a:pPr>
            <a:r>
              <a:rPr lang="ar-SA" altLang="en-US" sz="1350" dirty="0">
                <a:solidFill>
                  <a:srgbClr val="5A6472"/>
                </a:solidFill>
                <a:latin typeface="Amiri" pitchFamily="2" charset="-78"/>
                <a:ea typeface="Amiri" pitchFamily="2" charset="-78"/>
                <a:cs typeface="Amiri" pitchFamily="2" charset="-78"/>
              </a:rPr>
              <a:t>وَ</a:t>
            </a:r>
            <a:pPr algn="l" indent="0" marL="0">
              <a:buNone/>
            </a:pPr>
            <a:r>
              <a:rPr lang="en-US" sz="1050" i="1" dirty="0">
                <a:solidFill>
                  <a:srgbClr val="5A6472"/>
                </a:solidFill>
                <a:latin typeface="Calibri" pitchFamily="34" charset="0"/>
                <a:cs typeface="Amiri" pitchFamily="2" charset="-78"/>
              </a:rPr>
              <a:t>Y: both in the genitive.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المَكْتَبَةُ بَيْنَ البَنْكِ وَالمَدْرَسَةِ.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station is far from the market.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Station (f.) → </a:t>
            </a:r>
            <a:pPr algn="l" indent="0" marL="0">
              <a:buNone/>
            </a:pPr>
            <a:r>
              <a:rPr lang="ar-SA" altLang="en-US" sz="1350" dirty="0">
                <a:solidFill>
                  <a:srgbClr val="5A6472"/>
                </a:solidFill>
                <a:latin typeface="Amiri" pitchFamily="2" charset="-78"/>
                <a:ea typeface="Amiri" pitchFamily="2" charset="-78"/>
                <a:cs typeface="Amiri" pitchFamily="2" charset="-78"/>
              </a:rPr>
              <a:t>بَعِيدَةٌ</a:t>
            </a:r>
            <a:pPr algn="l" indent="0" marL="0">
              <a:buNone/>
            </a:pPr>
            <a:r>
              <a:rPr lang="en-US" sz="1050" i="1" dirty="0">
                <a:solidFill>
                  <a:srgbClr val="5A6472"/>
                </a:solidFill>
                <a:latin typeface="Calibri" pitchFamily="34" charset="0"/>
                <a:cs typeface="Amiri" pitchFamily="2" charset="-78"/>
              </a:rPr>
              <a:t>; far FROM = </a:t>
            </a:r>
            <a:pPr algn="l" indent="0" marL="0">
              <a:buNone/>
            </a:pPr>
            <a:r>
              <a:rPr lang="ar-SA" altLang="en-US" sz="1350" dirty="0">
                <a:solidFill>
                  <a:srgbClr val="5A6472"/>
                </a:solidFill>
                <a:latin typeface="Amiri" pitchFamily="2" charset="-78"/>
                <a:ea typeface="Amiri" pitchFamily="2" charset="-78"/>
                <a:cs typeface="Amiri" pitchFamily="2" charset="-78"/>
              </a:rPr>
              <a:t>عَنْ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المَحَطَّةُ بَعِيدَةٌ عَنِ السُّوقِ.</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mosque is to the right of the park.</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عَلَى يَمِينِ</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المَسْجِدُ عَلَى يَمِينِ الحَدِيقَةِ.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المَدْرَسَةُ قَرِيبٌ مِنْ بَيْتِي.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مَدْرَسَةٌ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البَنْكُ أَمَامَ المَطْعَمُ.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after </a:t>
            </a:r>
            <a:pPr algn="l" indent="0" marL="0">
              <a:buNone/>
            </a:pPr>
            <a:r>
              <a:rPr lang="ar-SA" altLang="en-US" sz="1700" dirty="0">
                <a:solidFill>
                  <a:srgbClr val="5A6472"/>
                </a:solidFill>
                <a:latin typeface="Amiri" pitchFamily="2" charset="-78"/>
                <a:ea typeface="Amiri" pitchFamily="2" charset="-78"/>
                <a:cs typeface="Amiri" pitchFamily="2" charset="-78"/>
              </a:rPr>
              <a:t>أَمَامَ</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الحَدِيقَةُ بَعِيدَةٌ مِنَ المَحَطَّةِ.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far … which little word?</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المَدْرَسَةُ قَرِيبٌ مِنْ بَيْتِي.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المَدْرَسَةُ قَرِيبَةٌ مِنْ بَيْتِي.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قَرِيبَةٌ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البَنْكُ أَمَامَ المَطْعَمُ.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البَنْكُ أَمَامَ المَطْعَمِ.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Position words + genitive.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الحَدِيقَةُ بَعِيدَةٌ مِنَ المَحَطَّةِ.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الحَدِيقَةُ بَعِيدَةٌ عَنِ المَحَطَّةِ.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far from = </a:t>
            </a:r>
            <a:pPr algn="l" indent="0" marL="0">
              <a:buNone/>
            </a:pPr>
            <a:r>
              <a:rPr lang="ar-SA" altLang="en-US" sz="1500" b="1" dirty="0">
                <a:solidFill>
                  <a:srgbClr val="1B3B6F"/>
                </a:solidFill>
                <a:latin typeface="Amiri" pitchFamily="2" charset="-78"/>
                <a:ea typeface="Amiri" pitchFamily="2" charset="-78"/>
                <a:cs typeface="Amiri" pitchFamily="2" charset="-78"/>
              </a:rPr>
              <a:t>بَعِيدٌ عَنْ</a:t>
            </a:r>
            <a:pPr algn="l" indent="0" marL="0">
              <a:buNone/>
            </a:pPr>
            <a:r>
              <a:rPr lang="en-US" sz="1150" b="1" dirty="0">
                <a:solidFill>
                  <a:srgbClr val="1B3B6F"/>
                </a:solidFill>
                <a:latin typeface="Calibri" pitchFamily="34" charset="0"/>
                <a:cs typeface="Amiri" pitchFamily="2" charset="-78"/>
              </a:rPr>
              <a:t>; near = </a:t>
            </a:r>
            <a:pPr algn="l" indent="0" marL="0">
              <a:buNone/>
            </a:pPr>
            <a:r>
              <a:rPr lang="ar-SA" altLang="en-US" sz="1500" b="1" dirty="0">
                <a:solidFill>
                  <a:srgbClr val="1B3B6F"/>
                </a:solidFill>
                <a:latin typeface="Amiri" pitchFamily="2" charset="-78"/>
                <a:ea typeface="Amiri" pitchFamily="2" charset="-78"/>
                <a:cs typeface="Amiri" pitchFamily="2" charset="-78"/>
              </a:rPr>
              <a:t>قَرِيبٌ مِنْ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بَيْنَ ______ وَ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between …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______ عَلَى يَسَارِ ______ ، مُقَابِلَ ______ .</a:t>
            </a:r>
            <a:endParaRPr lang="ar-SA" sz="17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to the left of …, opposite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وَسَطِ المَدِينَةِ يُوجَدُ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middle of town there is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بِجَانِبِ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next to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أَمَامَ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in front of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قَرِيبٌ / قَرِيبَةٌ مِنَ المَحَطَّةِ.</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near the station.</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بِجَانِبِ · أَمَامَ · خَلْفَ  ·  بَيْنَ … وَ…  ·  مُقَابِلَ  ·  عَلَى يَمِينِ · عَلَى يَسَارِ  ·  فِي وَسَطِ · خَارِجَ  ·  قَرِيبٌ مِنْ · قَرِيبَةٌ مِنْ  ·  بَعِيدٌ عَنْ · بَعِيدَةٌ عَنْ  ·  أُوصِي بِزِيَارَةِ …</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town-centre map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وَسَطِ المَدِينَةِ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Draw a quick map of a town centre (real or imagined), then write a description (about 40–60 words) for a visitor. Include: • six places • at least five different position words • one place near and one far from the station • the place you recommend and why.</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وَسَطِ المَدِينَةِ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middle of town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بَيْنَ … وَ…</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between … and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مُقَابِلَ … · عَلَى يَمِينِ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opposite … · to the right of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قَرِيبٌ مِنْ … · بَعِيدٌ عَنْ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near … · far from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position words + genitive correctly?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 near / far with the place (</a:t>
            </a:r>
            <a:pPr algn="l" indent="0" marL="0">
              <a:buNone/>
            </a:pPr>
            <a:r>
              <a:rPr lang="ar-SA" altLang="en-US" sz="1450" dirty="0">
                <a:solidFill>
                  <a:srgbClr val="5A6472"/>
                </a:solidFill>
                <a:latin typeface="Amiri" pitchFamily="2" charset="-78"/>
                <a:ea typeface="Amiri" pitchFamily="2" charset="-78"/>
                <a:cs typeface="Amiri" pitchFamily="2" charset="-78"/>
              </a:rPr>
              <a:t>قَرِيبٌ / قَرِيبَةٌ</a:t>
            </a:r>
            <a:pPr algn="l" indent="0" marL="0">
              <a:buNone/>
            </a:pPr>
            <a:r>
              <a:rPr lang="en-US" sz="1100" dirty="0">
                <a:solidFill>
                  <a:srgbClr val="5A6472"/>
                </a:solidFill>
                <a:latin typeface="Calibri" pitchFamily="34" charset="0"/>
                <a:cs typeface="Amiri" pitchFamily="2" charset="-78"/>
              </a:rPr>
              <a:t>) and use </a:t>
            </a:r>
            <a:pPr algn="l" indent="0" marL="0">
              <a:buNone/>
            </a:pPr>
            <a:r>
              <a:rPr lang="ar-SA" altLang="en-US" sz="1450" dirty="0">
                <a:solidFill>
                  <a:srgbClr val="5A6472"/>
                </a:solidFill>
                <a:latin typeface="Amiri" pitchFamily="2" charset="-78"/>
                <a:ea typeface="Amiri" pitchFamily="2" charset="-78"/>
                <a:cs typeface="Amiri" pitchFamily="2" charset="-78"/>
              </a:rPr>
              <a:t>بَيْنَ … وَ</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المَتْحَفُ هُنَا، بِجَانِبِ المَكْتَبَةِ.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museum is here, next to the library.</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عَفْوًا، أَيْنَ المَتْحَفُ عَلَى الخَرِيطَةِ؟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هُوَ قَرِيبٌ مِنَ المَحَطَّةِ جِدًّا.</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 it is very near the station.</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هُوَ بَعِيدٌ عَنِ المَحَطَّةِ؟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يُوجَدُ مَطْعَمٌ بَيْنَ المَتْحَفِ وَالسُّوقِ.</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is a restaurant between the museum and the market.</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وَأَيْنَ أَجِدُ مَطْعَمًا؟</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الصَّيْدَلِيَّةُ عَلَى يَسَارِ المَسْجِدِ، مُقَابِلَ البَنْكِ.</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pharmacy is to the left of the mosque, opposite the bank.</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وَالصَّيْدَلِيَّةُ؟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وَسَطِ المَدِينَةِ يُوجَدُ مَيْدَانٌ كَبِيرٌ. المَسْجِدُ عَلَى يَمِينِ المَيْدَانِ، وَالسُّوقُ مُقَابِلَهُ. البَنْكُ بَيْنَ المَطْعَمِ وَالصَّيْدَلِيَّةِ، وَالمَكْتَبَةُ خَلْفَ البَنْكِ. المَتْحَفُ قَرِيبٌ مِنَ المَحَطَّةِ، لٰكِنَّ الحَدِيقَةَ العَامَّةَ بَعِيدَةٌ عَنْهَا. أُوصِي بِزِيَارَةِ المَتْحَفِ، لِأَنَّهُ قَدِيمٌ وَمُثِيرٌ لِلِاهْتِمَامِ.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the middle of town there is a big square. The mosque is to the right of the square, and the market is opposite it. The bank is between the restaurant and the pharmacy, and the library is behind the bank. The museum is near the station, but the public park is far from it. I recommend visiting the museum, because it is old and interesting.”</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عَلَى يَمِينِ المَيْدَانِ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 المَطْعَمِ وَالصَّيْدَلِيَّةِ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قَرِيبٌ مِنَ المَحَطَّةِ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بَعِيدَةٌ عَنْهَا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F6-L03 · Transport: Types and How We Travel</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المُوَاصَلَاتُ — أَنْوَاعُ النَّقْلِ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F6-L02 · Practice Room — Locating Places: Maps, Distance and Position</dc:title>
  <dc:subject>PptxGenJS Presentation</dc:subject>
  <dc:creator>Al Madina Online School · Arabic Department</dc:creator>
  <cp:lastModifiedBy>Al Madina Online School · Arabic Department</cp:lastModifiedBy>
  <cp:revision>1</cp:revision>
  <dcterms:created xsi:type="dcterms:W3CDTF">2026-10-25T17:44:19Z</dcterms:created>
  <dcterms:modified xsi:type="dcterms:W3CDTF">2026-10-25T17:44:19Z</dcterms:modified>
</cp:coreProperties>
</file>