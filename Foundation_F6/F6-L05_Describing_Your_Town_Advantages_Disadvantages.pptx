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F6 My Town and Transport › F6-L05. The website lesson “Describing Your Town: Advantages and Disadvantages”: vocabulary, grammar rules and quiz, patterns, common mistakes, sorter, listening, reading, speaking prompts and model, writing task and model, differentiation, final check and the lesson mission. Picture match: website visual game “Describing Your Town: Advantages and Disadvantages”.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four descriptive sentences with correct gender — مَدِينَتِي هَادِئَةٌ وَنَظِيفَةٌ (city = feminine!).
• Develop: one advantage and one disadvantage with أَنَّ in a connected paragraph.
• Stretch: a nuanced review with both argument frames, a distinctive feature (تَتَمَيَّزُ بِـ) and a recommendation (أُوصِي بِزِيَارَتِهَا).
• Website: “A strong opinion is supported by a precise feature, not just ‘good’ or ‘bad’.” · “Balanced writing is not negative writing.”
• Students may describe an imagined city (website task) — useful for anyone who prefers not to describe their real area.
• Synonyms: the prep word مُزْدَحِمٌ and the lesson word مُكْتَظٌّ both mean crowded.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F6-L04. Questions 3–5 retrieve F6-L04 (duration, platform) and F6-L01 (tūjadu).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City and town are feminine — and so are their adjectives. Then weigh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عیب (fault) → عَيْبٌ (a disadvantage). امتیاز (distinction) shares its root with مِيزَةٌ and تَتَمَيَّزُ (is distinguished). خطرناک (Persian ending on Arabic خطر) → خَطِيرٌ. امن (peace) → آمِنٌ (safe). “Despite” is new: Urdu باوجود vs Arabic بِالرَّغْمِ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Town description (website vocabulary (1 of 3)). Hear → Say → See → Use. Transliteration is printed for Core students (cover it for Develop/Stretch).
Every card: masculine / feminine. For a CITY use the feminine. For plural things (streets, parks) also use the feminine singular: الشَّوَارِعُ مُكْتَظَّةٌ، الحَدَائِقُ نَظِيفَةٌ.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Town description (website vocabulary (2 of 3)). Hear → Say → See → Use. Transliteration is printed for Core students (cover it for Develop/Stretch).
Every card: masculine / feminine. For a CITY use the feminine. For plural things (streets, parks) also use the feminine singular: الشَّوَارِعُ مُكْتَظَّةٌ، الحَدَائِقُ نَظِيفَةٌ.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Town description (website vocabulary (3 of 3)). Hear → Say → See → Use. Transliteration is printed for Core students (cover it for Develop/Stretch).
Every card: masculine / feminine. For a CITY use the feminine. For plural things (streets, parks) also use the feminine singular: الشَّوَارِعُ مُكْتَظَّةٌ، الحَدَائِقُ نَظِيفَةٌ.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Balanced opinion (website vocabulary (1 of 2)). Hear → Say → See → Use. Transliteration is printed for Core students (cover it for Develop/Stretch).
FLEX: teach if time allows; otherwise these are on the website vocabulary tab for homework.
FLEX: the argument frames are on the grammar slides. مِنْ نَاحِيَةٍ … وَمِنْ نَاحِيَةٍ أُخْرَى = on one hand … on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Balanced opinion (website vocabulary (2 of 2)). Hear → Say → See → Use. Transliteration is printed for Core students (cover it for Develop/Stretch).
FLEX: teach if time allows; otherwise these are on the website vocabulary tab for homework.
FLEX: the argument frames are on the grammar slides. مِنْ نَاحِيَةٍ … وَمِنْ نَاحِيَةٍ أُخْرَى = on one hand … on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“Make adjectives agree” (مَدِينَةٌ / بَلْدَةٌ / قَرْيَةٌ + feminine adjective) and “Highlight a distinctive feature” (تَتَمَيَّزُ + المَدِينَةُ + بِـ — the verb is feminine with مَدِينَةٌ).
Website mistakes: مَدِينَتِي حَدِيثٌ ✗ → حَدِيثَةٌ ✓ · يَتَمَيَّزُ المَدِينَةُ ✗ → تَتَمَيَّزُ المَدِينَةُ ✓.
Link: F5-L04 (agreement follows the noun) and F6-L04 (the verb agrees with its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“Introduce an advantage” and “Introduce a disadvantage” (مِنْ مَزَايَا / مِنْ عُيُوبِ + place + أَنَّ + clause).
After أَنَّ the subject ends in -a: أَنَّ المَوَاصَلَاتِ، أَنَّ الشَّوَارِعَ. With a pronoun: أَنَّهَا آمِنَةٌ (the city), أَنَّهُ آمِنٌ (the neighbourhood).
Website: “Use a real contrast rather than repeating the same idea negatively.”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“A mature description gives evidence on both sides. Use مِنْ مَزَايَا... أَنَّ and مِنْ عُيُوبِ... أَنَّ, then control adjective gender because مَدِينَةٌ and بَلْدَةٌ are feminine.”
• Introduce an advantage: The structure opens a complete clause after أَنَّ.
• Introduce a disadvantage: Use a real contrast rather than repeating the same idea negatively.
• Highlight a distinctive feature: The verb is feminine with مَدِينَةٌ. Attach بِـ to the feature.
• Make adjectives agree: The adjective follows the feminine form when describing the city, town or village.
Website common error: Do not write مَدِينَتِي جَمِيلٌ. Because مَدِينَةٌ is feminine, write مَدِينَتِي جَمِيلَةٌ.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built step by step. Students copy it, then replace the advantage and disadvantage with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Decide how each feature would normally function in a town review.
Turn two cards into full sentences: مِنْ مَزَايَا مَدِينَتِي أَنَّ … / مِنْ عُيُوبِهَا 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Decide how each feature would normally function in a town review.
Turn two cards into full sentences: مِنْ مَزَايَا مَدِينَتِي أَنَّ … / مِنْ عُيُوبِهَا 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4. Develop / Stretch: all 5, then say which town you prefer and why.
Listen 1: just listen. Listen 2: note answers. Then chat the letters.
Support: after the second listening, show the read-along slide (Arabic + English, line by line) for Core students.
SCRIPT (read aloud):
سَلْمَى: أُحِبُّ مَدِينَتِي لِأَنَّهَا حَدِيثَةٌ وَنَظِيفَةٌ. مِنْ مَزَايَاهَا أَنَّ المَوَاصَلَاتِ سَرِيعَةٌ وَأَنَّ فِيهَا حَدَائِقَ كَثِيرَةً. وَلٰكِنَّ الشَّوَارِعَ مُكْتَظَّةٌ. عُمَر: أَنَا أَسْكُنُ فِي بَلْدَةٍ صَغِيرَةٍ. هِيَ هَادِئَةٌ وَآمِنَةٌ، وَتَتَمَيَّزُ بِسُوقِهَا التَّقْلِيدِيِّ. مِنْ عُيُوبِهَا أَنَّهَا تَفْتَقِرُ إِلَى الجَامِعَاتِ وَالقِطَارَاتِ.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أَكْبَرُ عَيْبٍ؟ (And the biggest disadvantage?)
B: الشَّوَارِعُ مُكْتَظَّةٌ، وَلٰكِنِّي أُوصِي بِزِيَارَتِهَا. (The streets are crowded, but I recommend visiting it.)
Website “Town review panel” — all four prompts are the website’s. Panel format: one student describes, two “judges” ask about the advantage and disadvantage. Website model: مَا أَهَمُّ مِيزَةٍ فِي مَدِينَتِكَ؟ — مِنْ مَزَايَاهَا أَنَّ المَوَاصَلَاتِ جَيِّدَةٌ وَأَنَّ الأَحْيَاءَ آمِنَةٌ. — وَمَا أَكْبَرُ عَيْبٍ؟ — الشَّوَارِعُ مُكْتَظَّةٌ، وَلَكِنِّي أُوصِي بِزِيَارَتِهَا.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four descriptive sentences with correct gender. · Develop — Present one advantage and disadvantage in a connected paragraph. · Stretch — Write a nuanced review using both argument frames, a distinctive feature and a recommendation.
Website writing task (Stretch): Write a balanced 80–100-word review of your town, village or an imagined city.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تَتَمَيَّزُ بِحَدَائِقِهَا · مِنْ مَزَايَاهَا أَنَّ · مِنْ عُيُوبِهَا أَنَّ · بِالرَّغْمِ مِنْ ذَلِكَ، أُوصِي بِزِيَارَتِهَا. Adjectives: حَدِيثَةٌ، آمِنَةٌ، قَرِيبَةٌ، صَاخِبٌ، مُكْتَظَّةٌ.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(F6-L06 · Shopping in Town: Prices and Comparisons) will spend class time USING this language, so students prepare it tonight — short, simple, easy to access (school guidance: “Simple, Short, Interesting, Relevant, Easy to access”). The five words come from the website F6-L06 lesson (shopping, prices and comparisons).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F6  ·  F6-L05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F6-L05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Describing Your Town: Advantages and Disadvantages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وَصْفُ مَدِينَتِكَ — المَزَايَا وَالعُيُوبُ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a town with agreeing adjectives, then give a balanced view: </a:t>
            </a:r>
            <a:pPr algn="l" indent="0" marL="0">
              <a:buNone/>
            </a:pPr>
            <a:r>
              <a:rPr lang="ar-SA" altLang="en-US" sz="1800" dirty="0">
                <a:solidFill>
                  <a:srgbClr val="C6D2E6"/>
                </a:solidFill>
                <a:latin typeface="Amiri" pitchFamily="2" charset="-78"/>
                <a:ea typeface="Amiri" pitchFamily="2" charset="-78"/>
                <a:cs typeface="Amiri" pitchFamily="2" charset="-78"/>
              </a:rPr>
              <a:t>مِنْ مَزَايَا مَدِينَتِي أَنَّ</a:t>
            </a:r>
            <a:pPr algn="l" indent="0" marL="0">
              <a:buNone/>
            </a:pPr>
            <a:r>
              <a:rPr lang="en-US" sz="1400" dirty="0">
                <a:solidFill>
                  <a:srgbClr val="C6D2E6"/>
                </a:solidFill>
                <a:latin typeface="Calibri" pitchFamily="34" charset="0"/>
                <a:cs typeface="Amiri" pitchFamily="2" charset="-78"/>
              </a:rPr>
              <a:t> … · </a:t>
            </a:r>
            <a:pPr algn="l" indent="0" marL="0">
              <a:buNone/>
            </a:pPr>
            <a:r>
              <a:rPr lang="ar-SA" altLang="en-US" sz="1800" dirty="0">
                <a:solidFill>
                  <a:srgbClr val="C6D2E6"/>
                </a:solidFill>
                <a:latin typeface="Amiri" pitchFamily="2" charset="-78"/>
                <a:ea typeface="Amiri" pitchFamily="2" charset="-78"/>
                <a:cs typeface="Amiri" pitchFamily="2" charset="-78"/>
              </a:rPr>
              <a:t>مِنْ عُيُوبِهَا أَنَّ</a:t>
            </a:r>
            <a:pPr algn="l" indent="0" marL="0">
              <a:buNone/>
            </a:pPr>
            <a:r>
              <a:rPr lang="en-US" sz="1400" dirty="0">
                <a:solidFill>
                  <a:srgbClr val="C6D2E6"/>
                </a:solidFill>
                <a:latin typeface="Calibri" pitchFamily="34" charset="0"/>
                <a:cs typeface="Amiri" pitchFamily="2" charset="-78"/>
              </a:rPr>
              <a:t> … · </a:t>
            </a:r>
            <a:pPr algn="l" indent="0" marL="0">
              <a:buNone/>
            </a:pPr>
            <a:r>
              <a:rPr lang="ar-SA" altLang="en-US" sz="1800" dirty="0">
                <a:solidFill>
                  <a:srgbClr val="C6D2E6"/>
                </a:solidFill>
                <a:latin typeface="Amiri" pitchFamily="2" charset="-78"/>
                <a:ea typeface="Amiri" pitchFamily="2" charset="-78"/>
                <a:cs typeface="Amiri" pitchFamily="2" charset="-78"/>
              </a:rPr>
              <a:t>تَتَمَيَّزُ بِـ</a:t>
            </a:r>
            <a:pPr algn="l" indent="0" marL="0">
              <a:buNone/>
            </a:pPr>
            <a:r>
              <a:rPr lang="en-US" sz="1400" dirty="0">
                <a:solidFill>
                  <a:srgbClr val="C6D2E6"/>
                </a:solidFill>
                <a:latin typeface="Calibri" pitchFamily="34" charset="0"/>
                <a:cs typeface="Amiri" pitchFamily="2" charset="-78"/>
              </a:rPr>
              <a:t> … · </a:t>
            </a:r>
            <a:pPr algn="l" indent="0" marL="0">
              <a:buNone/>
            </a:pPr>
            <a:r>
              <a:rPr lang="ar-SA" altLang="en-US" sz="1800" dirty="0">
                <a:solidFill>
                  <a:srgbClr val="C6D2E6"/>
                </a:solidFill>
                <a:latin typeface="Amiri" pitchFamily="2" charset="-78"/>
                <a:ea typeface="Amiri" pitchFamily="2" charset="-78"/>
                <a:cs typeface="Amiri" pitchFamily="2" charset="-78"/>
              </a:rPr>
              <a:t>تَفْتَقِرُ إِلَى</a:t>
            </a:r>
            <a:pPr algn="l" indent="0" marL="0">
              <a:buNone/>
            </a:pPr>
            <a:r>
              <a:rPr lang="en-US" sz="1400" dirty="0">
                <a:solidFill>
                  <a:srgbClr val="C6D2E6"/>
                </a:solidFill>
                <a:latin typeface="Calibri" pitchFamily="34" charset="0"/>
                <a:cs typeface="Amiri" pitchFamily="2" charset="-78"/>
              </a:rPr>
              <a:t> …</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F6-L05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F6 › F6-L05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Town adjectives (m. / f.), then the argument frames with </a:t>
            </a:r>
            <a:pPr algn="ctr" indent="0" marL="0">
              <a:buNone/>
            </a:pPr>
            <a:r>
              <a:rPr lang="ar-SA" altLang="en-US" sz="1550" dirty="0">
                <a:solidFill>
                  <a:srgbClr val="1F2A37"/>
                </a:solidFill>
                <a:latin typeface="Amiri" pitchFamily="2" charset="-78"/>
                <a:ea typeface="Amiri" pitchFamily="2" charset="-78"/>
                <a:cs typeface="Amiri" pitchFamily="2" charset="-78"/>
              </a:rPr>
              <a:t>أَنَّ</a:t>
            </a:r>
            <a:pPr algn="ctr" indent="0" marL="0">
              <a:buNone/>
            </a:pPr>
            <a:r>
              <a:rPr lang="en-US" sz="1200" dirty="0">
                <a:solidFill>
                  <a:srgbClr val="1F2A37"/>
                </a:solidFill>
                <a:latin typeface="Calibri" pitchFamily="34" charset="0"/>
                <a:cs typeface="Amiri" pitchFamily="2" charset="-78"/>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100" dirty="0">
                <a:solidFill>
                  <a:srgbClr val="1F2A37"/>
                </a:solidFill>
                <a:latin typeface="Calibri" pitchFamily="34" charset="0"/>
                <a:cs typeface="Amiri" pitchFamily="2" charset="-78"/>
              </a:rPr>
              <a:t>Sort advantages and disadvantages, fix the agreement and listen to Salma and Omar compare towns.</a:t>
            </a:r>
            <a:endParaRPr lang="en-US" sz="11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F6-L06.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مَزَايَا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disadvantages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advantages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prices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مُزْدَحِمٌ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crowded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quiet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clean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____ </a:t>
            </a:r>
            <a:pPr algn="l" indent="0" marL="0">
              <a:buNone/>
            </a:pPr>
            <a:r>
              <a:rPr lang="ar-SA" altLang="en-US" sz="1650" b="1" dirty="0">
                <a:solidFill>
                  <a:srgbClr val="1B3B6F"/>
                </a:solidFill>
                <a:latin typeface="Amiri" pitchFamily="2" charset="-78"/>
                <a:ea typeface="Amiri" pitchFamily="2" charset="-78"/>
                <a:cs typeface="Amiri" pitchFamily="2" charset="-78"/>
              </a:rPr>
              <a:t>الرِّحْلَةُ سَاعَتَيْنِ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يَسْتَغْرِقُ</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أَسْتَغْرِقُ</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تَسْتَغْرِقُ</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“from which platform?”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الرَّصِيفُ؟</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رَصِيفًا؟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أَيِّ رَصِيفٍ؟</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“There is a school.”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 مَدْرَسَةٌ.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 مَدْرَسَةٌ.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هُنَاكَ المَدْرَسَةُ.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مَزَايَا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disadvantages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advantages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prices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(F6-L04).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مُزْدَحِمٌ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crowded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quiet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clean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(F6-L04). The lesson also uses </a:t>
            </a:r>
            <a:pPr algn="l" indent="0" marL="0">
              <a:buNone/>
            </a:pPr>
            <a:r>
              <a:rPr lang="ar-SA" altLang="en-US" sz="1350" dirty="0">
                <a:solidFill>
                  <a:srgbClr val="8A6D1E"/>
                </a:solidFill>
                <a:latin typeface="Amiri" pitchFamily="2" charset="-78"/>
                <a:ea typeface="Amiri" pitchFamily="2" charset="-78"/>
                <a:cs typeface="Amiri" pitchFamily="2" charset="-78"/>
              </a:rPr>
              <a:t>مُكْتَظٌّ</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____ </a:t>
            </a:r>
            <a:pPr algn="l" indent="0" marL="0">
              <a:buNone/>
            </a:pPr>
            <a:r>
              <a:rPr lang="ar-SA" altLang="en-US" sz="1650" b="1" dirty="0">
                <a:solidFill>
                  <a:srgbClr val="1B3B6F"/>
                </a:solidFill>
                <a:latin typeface="Amiri" pitchFamily="2" charset="-78"/>
                <a:ea typeface="Amiri" pitchFamily="2" charset="-78"/>
                <a:cs typeface="Amiri" pitchFamily="2" charset="-78"/>
              </a:rPr>
              <a:t>الرِّحْلَةُ سَاعَتَيْنِ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يَسْتَغْرِقُ</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أَسْتَغْرِقُ</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تَسْتَغْرِقُ</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F6-L04: journey is feminine.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“from which platform?”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 الرَّصِيفُ؟</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رَصِيفًا؟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أَيِّ رَصِيفٍ؟</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F6-L04 ticket questions.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“There is a school.”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تُوجَدُ مَدْرَسَةٌ.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يُوجَدُ مَدْرَسَةٌ.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هُنَاكَ المَدْرَسَةُ.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F6-L01: feminine place → tūjadu.</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City and town are feminine — and so are their adjectives. Then weigh both sides.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مَدِينَتِي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هَادِئَةٌ</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وَلَكِنَّ</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الشَّوَارِعَ مُكْتَظَّةٌ.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 wide adjective range to describe towns.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Control masculine and feminine agreement.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Present advantages and disadvantages.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balanced 70–80-word local-area description.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describe my town with four adjectives.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make them agree (</a:t>
            </a:r>
            <a:pPr algn="l" indent="0" marL="0">
              <a:buNone/>
            </a:pPr>
            <a:r>
              <a:rPr lang="ar-SA" altLang="en-US" sz="1700" b="1" dirty="0">
                <a:solidFill>
                  <a:srgbClr val="2E8B57"/>
                </a:solidFill>
                <a:latin typeface="Amiri" pitchFamily="2" charset="-78"/>
                <a:ea typeface="Amiri" pitchFamily="2" charset="-78"/>
                <a:cs typeface="Amiri" pitchFamily="2" charset="-78"/>
              </a:rPr>
              <a:t>مَدِينَتِي جَمِيلَةٌ</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an advantage and a disadvantage with </a:t>
            </a:r>
            <a:pPr algn="l" indent="0" marL="0">
              <a:buNone/>
            </a:pPr>
            <a:r>
              <a:rPr lang="ar-SA" altLang="en-US" sz="1700" b="1" dirty="0">
                <a:solidFill>
                  <a:srgbClr val="C9780A"/>
                </a:solidFill>
                <a:latin typeface="Amiri" pitchFamily="2" charset="-78"/>
                <a:ea typeface="Amiri" pitchFamily="2" charset="-78"/>
                <a:cs typeface="Amiri" pitchFamily="2" charset="-78"/>
              </a:rPr>
              <a:t>أَنَّ</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ea typeface="Amiri" pitchFamily="2" charset="-78"/>
                <a:cs typeface="Amiri" pitchFamily="2" charset="-78"/>
              </a:rPr>
              <a:t>تَتَمَيَّزُ بِـ</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balanced review.</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end with a recommendation.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23 words from the website in 2 groups. Learn the CORE words first. Hear it → say it → see it → use it.</a:t>
            </a:r>
            <a:endParaRPr lang="en-US" sz="1600" dirty="0"/>
          </a:p>
        </p:txBody>
      </p:sp>
      <p:sp>
        <p:nvSpPr>
          <p:cNvPr id="8" name="Shape 6"/>
          <p:cNvSpPr/>
          <p:nvPr/>
        </p:nvSpPr>
        <p:spPr>
          <a:xfrm>
            <a:off x="457200" y="4572000"/>
            <a:ext cx="3863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Town description · 14</a:t>
            </a:r>
            <a:endParaRPr lang="en-US" sz="900" dirty="0"/>
          </a:p>
        </p:txBody>
      </p:sp>
      <p:sp>
        <p:nvSpPr>
          <p:cNvPr id="10" name="Shape 8"/>
          <p:cNvSpPr/>
          <p:nvPr/>
        </p:nvSpPr>
        <p:spPr>
          <a:xfrm>
            <a:off x="4457700" y="4572000"/>
            <a:ext cx="3863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45948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Balanced opinion · 9</a:t>
            </a:r>
            <a:endParaRPr lang="en-US" sz="900" dirty="0"/>
          </a:p>
        </p:txBody>
      </p:sp>
      <p:sp>
        <p:nvSpPr>
          <p:cNvPr id="12" name="Shape 10"/>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3" name="Text 11"/>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4" name="Text 12"/>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عَيْبٌ</a:t>
            </a:r>
            <a:endParaRPr lang="ar-SA" sz="1900" dirty="0"/>
          </a:p>
        </p:txBody>
      </p:sp>
      <p:sp>
        <p:nvSpPr>
          <p:cNvPr id="15" name="Text 13"/>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‎عیب‎ </a:t>
            </a:r>
            <a:pPr indent="0" marL="0">
              <a:buNone/>
            </a:pPr>
            <a:r>
              <a:rPr lang="en-US" sz="950" b="1" dirty="0">
                <a:solidFill>
                  <a:srgbClr val="2E8B57"/>
                </a:solidFill>
                <a:latin typeface="Calibri" pitchFamily="34" charset="0"/>
                <a:cs typeface="Amiri" pitchFamily="2" charset="-78"/>
              </a:rPr>
              <a:t> aib · fault → disadvantage</a:t>
            </a:r>
            <a:endParaRPr lang="en-US" sz="1400" dirty="0"/>
          </a:p>
        </p:txBody>
      </p:sp>
      <p:sp>
        <p:nvSpPr>
          <p:cNvPr id="16" name="Text 14"/>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مُمْتَازٌ · مِيزَةٌ</a:t>
            </a:r>
            <a:endParaRPr lang="ar-SA" sz="1900" dirty="0"/>
          </a:p>
        </p:txBody>
      </p:sp>
      <p:sp>
        <p:nvSpPr>
          <p:cNvPr id="17" name="Text 15"/>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‎امتیاز‎ </a:t>
            </a:r>
            <a:pPr indent="0" marL="0">
              <a:buNone/>
            </a:pPr>
            <a:r>
              <a:rPr lang="en-US" sz="950" b="1" dirty="0">
                <a:solidFill>
                  <a:srgbClr val="2E8B57"/>
                </a:solidFill>
                <a:latin typeface="Calibri" pitchFamily="34" charset="0"/>
                <a:cs typeface="Amiri" pitchFamily="2" charset="-78"/>
              </a:rPr>
              <a:t> imtiyāz · distinction → advantage</a:t>
            </a:r>
            <a:endParaRPr lang="en-US" sz="1400" dirty="0"/>
          </a:p>
        </p:txBody>
      </p:sp>
      <p:sp>
        <p:nvSpPr>
          <p:cNvPr id="18" name="Text 16"/>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خَطِيرٌ</a:t>
            </a:r>
            <a:endParaRPr lang="ar-SA" sz="1900" dirty="0"/>
          </a:p>
        </p:txBody>
      </p:sp>
      <p:sp>
        <p:nvSpPr>
          <p:cNvPr id="19" name="Text 17"/>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‎خطرناک‎ </a:t>
            </a:r>
            <a:pPr indent="0" marL="0">
              <a:buNone/>
            </a:pPr>
            <a:r>
              <a:rPr lang="en-US" sz="950" b="1" dirty="0">
                <a:solidFill>
                  <a:srgbClr val="2E8B57"/>
                </a:solidFill>
                <a:latin typeface="Calibri" pitchFamily="34" charset="0"/>
                <a:cs typeface="Amiri" pitchFamily="2" charset="-78"/>
              </a:rPr>
              <a:t> khatarnāk · dangerous</a:t>
            </a:r>
            <a:endParaRPr lang="en-US" sz="1400" dirty="0"/>
          </a:p>
        </p:txBody>
      </p:sp>
      <p:sp>
        <p:nvSpPr>
          <p:cNvPr id="20" name="Text 18"/>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آمِنٌ</a:t>
            </a:r>
            <a:endParaRPr lang="ar-SA" sz="1900" dirty="0"/>
          </a:p>
        </p:txBody>
      </p:sp>
      <p:sp>
        <p:nvSpPr>
          <p:cNvPr id="21" name="Text 19"/>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‎امن‎ </a:t>
            </a:r>
            <a:pPr indent="0" marL="0">
              <a:buNone/>
            </a:pPr>
            <a:r>
              <a:rPr lang="en-US" sz="950" b="1" dirty="0">
                <a:solidFill>
                  <a:srgbClr val="2E8B57"/>
                </a:solidFill>
                <a:latin typeface="Calibri" pitchFamily="34" charset="0"/>
                <a:cs typeface="Amiri" pitchFamily="2" charset="-78"/>
              </a:rPr>
              <a:t> aman · peace → safe</a:t>
            </a:r>
            <a:endParaRPr lang="en-US" sz="1400" dirty="0"/>
          </a:p>
        </p:txBody>
      </p:sp>
      <p:sp>
        <p:nvSpPr>
          <p:cNvPr id="22" name="Text 20"/>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بِالرَّغْمِ</a:t>
            </a:r>
            <a:endParaRPr lang="ar-SA" sz="1900" dirty="0"/>
          </a:p>
        </p:txBody>
      </p:sp>
      <p:sp>
        <p:nvSpPr>
          <p:cNvPr id="23" name="Text 21"/>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‎باوجود‎ </a:t>
            </a:r>
            <a:pPr indent="0" marL="0">
              <a:buNone/>
            </a:pPr>
            <a:r>
              <a:rPr lang="en-US" sz="950" b="1" dirty="0">
                <a:solidFill>
                  <a:srgbClr val="2E8B57"/>
                </a:solidFill>
                <a:latin typeface="Calibri" pitchFamily="34" charset="0"/>
                <a:cs typeface="Amiri" pitchFamily="2" charset="-78"/>
              </a:rPr>
              <a:t> bāwujūd · despite (a new word)</a:t>
            </a:r>
            <a:endParaRPr lang="en-US" sz="1400" dirty="0"/>
          </a:p>
        </p:txBody>
      </p:sp>
      <p:sp>
        <p:nvSpPr>
          <p:cNvPr id="25" name="Text 2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Town description (1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مِيزَةٌ / مَزَايَا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advantage / advantages</a:t>
            </a:r>
            <a:endParaRPr lang="en-US" sz="1350" dirty="0"/>
          </a:p>
          <a:p>
            <a:pPr indent="0" marL="0">
              <a:buNone/>
            </a:pPr>
            <a:r>
              <a:rPr lang="en-US" sz="1100" i="1" dirty="0">
                <a:solidFill>
                  <a:srgbClr val="5A6472"/>
                </a:solidFill>
                <a:latin typeface="Calibri" pitchFamily="34" charset="0"/>
                <a:cs typeface="Amiri" pitchFamily="2" charset="-78"/>
              </a:rPr>
              <a:t>mī-za-tun / ma-zā-yā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عَيْبٌ / عُيُوبٌ</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disadvantage / disadvantages</a:t>
            </a:r>
            <a:endParaRPr lang="en-US" sz="1350" dirty="0"/>
          </a:p>
          <a:p>
            <a:pPr indent="0" marL="0">
              <a:buNone/>
            </a:pPr>
            <a:r>
              <a:rPr lang="en-US" sz="1100" i="1" dirty="0">
                <a:solidFill>
                  <a:srgbClr val="5A6472"/>
                </a:solidFill>
                <a:latin typeface="Calibri" pitchFamily="34" charset="0"/>
                <a:cs typeface="Amiri" pitchFamily="2" charset="-78"/>
              </a:rPr>
              <a:t>ʿay-bun / ʿu-yū-bun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مُكْتَظٌّ / مُكْتَظَّةٌ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crowded</a:t>
            </a:r>
            <a:endParaRPr lang="en-US" sz="1350" dirty="0"/>
          </a:p>
          <a:p>
            <a:pPr indent="0" marL="0">
              <a:buNone/>
            </a:pPr>
            <a:r>
              <a:rPr lang="en-US" sz="1100" i="1" dirty="0">
                <a:solidFill>
                  <a:srgbClr val="5A6472"/>
                </a:solidFill>
                <a:latin typeface="Calibri" pitchFamily="34" charset="0"/>
                <a:cs typeface="Amiri" pitchFamily="2" charset="-78"/>
              </a:rPr>
              <a:t>muk-taẓ-ẓun / muk-taẓ-ẓa-tun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هَادِئٌ / هَادِئَةٌ</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quiet</a:t>
            </a:r>
            <a:endParaRPr lang="en-US" sz="1350" dirty="0"/>
          </a:p>
          <a:p>
            <a:pPr indent="0" marL="0">
              <a:buNone/>
            </a:pPr>
            <a:r>
              <a:rPr lang="en-US" sz="1100" i="1" dirty="0">
                <a:solidFill>
                  <a:srgbClr val="5A6472"/>
                </a:solidFill>
                <a:latin typeface="Calibri" pitchFamily="34" charset="0"/>
                <a:cs typeface="Amiri" pitchFamily="2" charset="-78"/>
              </a:rPr>
              <a:t>hā-di-ʾun / hā-di-ʾa-tun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صَاخِبٌ / صَاخِبَةٌ</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noisy</a:t>
            </a:r>
            <a:endParaRPr lang="en-US" sz="1350" dirty="0"/>
          </a:p>
          <a:p>
            <a:pPr indent="0" marL="0">
              <a:buNone/>
            </a:pPr>
            <a:r>
              <a:rPr lang="en-US" sz="1100" i="1" dirty="0">
                <a:solidFill>
                  <a:srgbClr val="5A6472"/>
                </a:solidFill>
                <a:latin typeface="Calibri" pitchFamily="34" charset="0"/>
                <a:cs typeface="Amiri" pitchFamily="2" charset="-78"/>
              </a:rPr>
              <a:t>ṣā-khi-bun / ṣā-khi-ba-tun</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41</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Town description (2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نَظِيفٌ / نَظِيفَةٌ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clean</a:t>
            </a:r>
            <a:endParaRPr lang="en-US" sz="1350" dirty="0"/>
          </a:p>
          <a:p>
            <a:pPr indent="0" marL="0">
              <a:buNone/>
            </a:pPr>
            <a:r>
              <a:rPr lang="en-US" sz="1100" i="1" dirty="0">
                <a:solidFill>
                  <a:srgbClr val="5A6472"/>
                </a:solidFill>
                <a:latin typeface="Calibri" pitchFamily="34" charset="0"/>
                <a:cs typeface="Amiri" pitchFamily="2" charset="-78"/>
              </a:rPr>
              <a:t>na-ẓī-fun / na-ẓī-fa-tun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قَذِرٌ / قَذِرَةٌ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dirty</a:t>
            </a:r>
            <a:endParaRPr lang="en-US" sz="1350" dirty="0"/>
          </a:p>
          <a:p>
            <a:pPr indent="0" marL="0">
              <a:buNone/>
            </a:pPr>
            <a:r>
              <a:rPr lang="en-US" sz="1100" i="1" dirty="0">
                <a:solidFill>
                  <a:srgbClr val="5A6472"/>
                </a:solidFill>
                <a:latin typeface="Calibri" pitchFamily="34" charset="0"/>
                <a:cs typeface="Amiri" pitchFamily="2" charset="-78"/>
              </a:rPr>
              <a:t>qa-dhi-run / qa-dhi-ra-tun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آمِنٌ / آمِنَةٌ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safe</a:t>
            </a:r>
            <a:endParaRPr lang="en-US" sz="1350" dirty="0"/>
          </a:p>
          <a:p>
            <a:pPr indent="0" marL="0">
              <a:buNone/>
            </a:pPr>
            <a:r>
              <a:rPr lang="en-US" sz="1100" i="1" dirty="0">
                <a:solidFill>
                  <a:srgbClr val="5A6472"/>
                </a:solidFill>
                <a:latin typeface="Calibri" pitchFamily="34" charset="0"/>
                <a:cs typeface="Amiri" pitchFamily="2" charset="-78"/>
              </a:rPr>
              <a:t>ā-mi-nun / ā-mi-na-tun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خَطِيرٌ / خَطِيرَةٌ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dangerous</a:t>
            </a:r>
            <a:endParaRPr lang="en-US" sz="1350" dirty="0"/>
          </a:p>
          <a:p>
            <a:pPr indent="0" marL="0">
              <a:buNone/>
            </a:pPr>
            <a:r>
              <a:rPr lang="en-US" sz="1100" i="1" dirty="0">
                <a:solidFill>
                  <a:srgbClr val="5A6472"/>
                </a:solidFill>
                <a:latin typeface="Calibri" pitchFamily="34" charset="0"/>
                <a:cs typeface="Amiri" pitchFamily="2" charset="-78"/>
              </a:rPr>
              <a:t>kha-ṭī-run / kha-ṭī-ra-tun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جَمِيلٌ / جَمِيلَةٌ</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beautiful</a:t>
            </a:r>
            <a:endParaRPr lang="en-US" sz="1350" dirty="0"/>
          </a:p>
          <a:p>
            <a:pPr indent="0" marL="0">
              <a:buNone/>
            </a:pPr>
            <a:r>
              <a:rPr lang="en-US" sz="1100" i="1" dirty="0">
                <a:solidFill>
                  <a:srgbClr val="5A6472"/>
                </a:solidFill>
                <a:latin typeface="Calibri" pitchFamily="34" charset="0"/>
                <a:cs typeface="Amiri" pitchFamily="2" charset="-78"/>
              </a:rPr>
              <a:t>ja-mī-lun / ja-mī-la-tun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41</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Town description (3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حَدِيثٌ / حَدِيثَةٌ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modern</a:t>
            </a:r>
            <a:endParaRPr lang="en-US" sz="1350" dirty="0"/>
          </a:p>
          <a:p>
            <a:pPr indent="0" marL="0">
              <a:buNone/>
            </a:pPr>
            <a:r>
              <a:rPr lang="en-US" sz="1100" i="1" dirty="0">
                <a:solidFill>
                  <a:srgbClr val="5A6472"/>
                </a:solidFill>
                <a:latin typeface="Calibri" pitchFamily="34" charset="0"/>
                <a:cs typeface="Amiri" pitchFamily="2" charset="-78"/>
              </a:rPr>
              <a:t>ḥa-dī-thun / ḥa-dī-tha-tun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تَقْلِيدِيٌّ / تَقْلِيدِيَّةٌ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traditional</a:t>
            </a:r>
            <a:endParaRPr lang="en-US" sz="1350" dirty="0"/>
          </a:p>
          <a:p>
            <a:pPr indent="0" marL="0">
              <a:buNone/>
            </a:pPr>
            <a:r>
              <a:rPr lang="en-US" sz="1100" i="1" dirty="0">
                <a:solidFill>
                  <a:srgbClr val="5A6472"/>
                </a:solidFill>
                <a:latin typeface="Calibri" pitchFamily="34" charset="0"/>
                <a:cs typeface="Amiri" pitchFamily="2" charset="-78"/>
              </a:rPr>
              <a:t>taq-lī-diy-yun / taq-lī-diy-ya-tun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نَشِيطٌ / نَشِيطَةٌ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lively</a:t>
            </a:r>
            <a:endParaRPr lang="en-US" sz="1350" dirty="0"/>
          </a:p>
          <a:p>
            <a:pPr indent="0" marL="0">
              <a:buNone/>
            </a:pPr>
            <a:r>
              <a:rPr lang="en-US" sz="1100" i="1" dirty="0">
                <a:solidFill>
                  <a:srgbClr val="5A6472"/>
                </a:solidFill>
                <a:latin typeface="Calibri" pitchFamily="34" charset="0"/>
                <a:cs typeface="Amiri" pitchFamily="2" charset="-78"/>
              </a:rPr>
              <a:t>na-shī-ṭun / na-shī-ṭa-tun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مُمِلٌّ / مُمِلَّةٌ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boring</a:t>
            </a:r>
            <a:endParaRPr lang="en-US" sz="1350" dirty="0"/>
          </a:p>
          <a:p>
            <a:pPr indent="0" marL="0">
              <a:buNone/>
            </a:pPr>
            <a:r>
              <a:rPr lang="en-US" sz="1100" i="1" dirty="0">
                <a:solidFill>
                  <a:srgbClr val="5A6472"/>
                </a:solidFill>
                <a:latin typeface="Calibri" pitchFamily="34" charset="0"/>
                <a:cs typeface="Amiri" pitchFamily="2" charset="-78"/>
              </a:rPr>
              <a:t>mu-mil-lun / mu-mil-la-tun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41</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Balanced opinion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مَزَايَا مَدِينَتِي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one advantage of my city is that...</a:t>
            </a:r>
            <a:endParaRPr lang="en-US" sz="1350" dirty="0"/>
          </a:p>
          <a:p>
            <a:pPr indent="0" marL="0">
              <a:buNone/>
            </a:pPr>
            <a:r>
              <a:rPr lang="en-US" sz="1100" i="1" dirty="0">
                <a:solidFill>
                  <a:srgbClr val="5A6472"/>
                </a:solidFill>
                <a:latin typeface="Calibri" pitchFamily="34" charset="0"/>
                <a:cs typeface="Amiri" pitchFamily="2" charset="-78"/>
              </a:rPr>
              <a:t>min ma-zā-yā ma-dī-na-tī 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عُيُوبِ مَدِينَتِي أَنَّ...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one disadvantage of my city is that...</a:t>
            </a:r>
            <a:endParaRPr lang="en-US" sz="1350" dirty="0"/>
          </a:p>
          <a:p>
            <a:pPr indent="0" marL="0">
              <a:buNone/>
            </a:pPr>
            <a:r>
              <a:rPr lang="en-US" sz="1100" i="1" dirty="0">
                <a:solidFill>
                  <a:srgbClr val="5A6472"/>
                </a:solidFill>
                <a:latin typeface="Calibri" pitchFamily="34" charset="0"/>
                <a:cs typeface="Amiri" pitchFamily="2" charset="-78"/>
              </a:rPr>
              <a:t>min ʿu-yū-bi ma-dī-na-tī an-na...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تَتَمَيَّزُ بِـ</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distinguished by</a:t>
            </a:r>
            <a:endParaRPr lang="en-US" sz="1350" dirty="0"/>
          </a:p>
          <a:p>
            <a:pPr indent="0" marL="0">
              <a:buNone/>
            </a:pPr>
            <a:r>
              <a:rPr lang="en-US" sz="1100" i="1" dirty="0">
                <a:solidFill>
                  <a:srgbClr val="5A6472"/>
                </a:solidFill>
                <a:latin typeface="Calibri" pitchFamily="34" charset="0"/>
                <a:cs typeface="Amiri" pitchFamily="2" charset="-78"/>
              </a:rPr>
              <a:t>ta-ta-may-ya-zu bi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تَفْتَقِرُ إِلَى</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lacks</a:t>
            </a:r>
            <a:endParaRPr lang="en-US" sz="1350" dirty="0"/>
          </a:p>
          <a:p>
            <a:pPr indent="0" marL="0">
              <a:buNone/>
            </a:pPr>
            <a:r>
              <a:rPr lang="en-US" sz="1100" i="1" dirty="0">
                <a:solidFill>
                  <a:srgbClr val="5A6472"/>
                </a:solidFill>
                <a:latin typeface="Calibri" pitchFamily="34" charset="0"/>
                <a:cs typeface="Amiri" pitchFamily="2" charset="-78"/>
              </a:rPr>
              <a:t>taf-ta-qi-ru i-lā</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نَاحِيَةٍ</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nā-ḥi-ya-tin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Balanced opinion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وَمِنْ نَاحِيَةٍ أُخْرَى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wa-min nā-ḥi-ya-tin ukh-rā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بِالرَّغْمِ مِنْ 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despite that</a:t>
            </a:r>
            <a:endParaRPr lang="en-US" sz="1350" dirty="0"/>
          </a:p>
          <a:p>
            <a:pPr indent="0" marL="0">
              <a:buNone/>
            </a:pPr>
            <a:r>
              <a:rPr lang="en-US" sz="1100" i="1" dirty="0">
                <a:solidFill>
                  <a:srgbClr val="5A6472"/>
                </a:solidFill>
                <a:latin typeface="Calibri" pitchFamily="34" charset="0"/>
                <a:cs typeface="Amiri" pitchFamily="2" charset="-78"/>
              </a:rPr>
              <a:t>bilr-ragh-mi min 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بِصِفَةٍ عَامَّةٍ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overall</a:t>
            </a:r>
            <a:endParaRPr lang="en-US" sz="1350" dirty="0"/>
          </a:p>
          <a:p>
            <a:pPr indent="0" marL="0">
              <a:buNone/>
            </a:pPr>
            <a:r>
              <a:rPr lang="en-US" sz="1100" i="1" dirty="0">
                <a:solidFill>
                  <a:srgbClr val="5A6472"/>
                </a:solidFill>
                <a:latin typeface="Calibri" pitchFamily="34" charset="0"/>
                <a:cs typeface="Amiri" pitchFamily="2" charset="-78"/>
              </a:rPr>
              <a:t>bi-ṣi-fa-tin ʿām-ma-tin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أُوصِي بِزِيَارَةِ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recommend visiting</a:t>
            </a:r>
            <a:endParaRPr lang="en-US" sz="1350" dirty="0"/>
          </a:p>
          <a:p>
            <a:pPr indent="0" marL="0">
              <a:buNone/>
            </a:pPr>
            <a:r>
              <a:rPr lang="en-US" sz="1100" i="1" dirty="0">
                <a:solidFill>
                  <a:srgbClr val="5A6472"/>
                </a:solidFill>
                <a:latin typeface="Calibri" pitchFamily="34" charset="0"/>
                <a:cs typeface="Amiri" pitchFamily="2" charset="-78"/>
              </a:rPr>
              <a:t>ū-ṣī bi-zi-yā-ra-ti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1B3B6F"/>
                </a:solidFill>
                <a:latin typeface="Calibri" pitchFamily="34" charset="0"/>
                <a:cs typeface="Amiri" pitchFamily="2" charset="-78"/>
              </a:rPr>
              <a:t>GRAMMAR FOCUS · PART 1 · AGREEMENT AND DISTINCTIVE FEATURES (WEBSITE RULES 3 AND 4)</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city is modern and clean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مَدِينَةٌ حَدِيثَةٌ وَنَظِيفَةٌ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27064" y="1810512"/>
            <a:ext cx="5431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 place</a:t>
            </a:r>
            <a:endParaRPr lang="en-US" sz="1100" dirty="0"/>
          </a:p>
        </p:txBody>
      </p:sp>
      <p:sp>
        <p:nvSpPr>
          <p:cNvPr id="17" name="Text 14"/>
          <p:cNvSpPr txBox="1"/>
          <p:nvPr/>
        </p:nvSpPr>
        <p:spPr>
          <a:xfrm>
            <a:off x="530352" y="1810512"/>
            <a:ext cx="5550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 place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245352" y="2286000"/>
            <a:ext cx="53949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الحَيُّ </a:t>
            </a:r>
            <a:pPr rtl="1" algn="ctr" indent="0" marL="0">
              <a:buNone/>
            </a:pPr>
            <a:r>
              <a:rPr lang="ar-SA" altLang="en-US" sz="2100" b="1" dirty="0">
                <a:solidFill>
                  <a:srgbClr val="1D5FBF"/>
                </a:solidFill>
                <a:latin typeface="Amiri" pitchFamily="2" charset="-78"/>
                <a:ea typeface="Amiri" pitchFamily="2" charset="-78"/>
                <a:cs typeface="Amiri" pitchFamily="2" charset="-78"/>
              </a:rPr>
              <a:t>آمِنٌ</a:t>
            </a:r>
            <a:pPr rtl="1" algn="ctr" indent="0" marL="0">
              <a:buNone/>
            </a:pPr>
            <a:r>
              <a:rPr lang="ar-SA" altLang="en-US" sz="2100" b="1" dirty="0">
                <a:solidFill>
                  <a:srgbClr val="1B3B6F"/>
                </a:solidFill>
                <a:latin typeface="Amiri" pitchFamily="2" charset="-78"/>
                <a:ea typeface="Amiri" pitchFamily="2" charset="-78"/>
                <a:cs typeface="Amiri" pitchFamily="2" charset="-78"/>
              </a:rPr>
              <a:t> وَ</a:t>
            </a:r>
            <a:pPr rtl="1" algn="ctr" indent="0" marL="0">
              <a:buNone/>
            </a:pPr>
            <a:r>
              <a:rPr lang="ar-SA" altLang="en-US" sz="2100" b="1" dirty="0">
                <a:solidFill>
                  <a:srgbClr val="1D5FBF"/>
                </a:solidFill>
                <a:latin typeface="Amiri" pitchFamily="2" charset="-78"/>
                <a:ea typeface="Amiri" pitchFamily="2" charset="-78"/>
                <a:cs typeface="Amiri" pitchFamily="2" charset="-78"/>
              </a:rPr>
              <a:t>هَادِئٌ</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20" name="Text 17"/>
          <p:cNvSpPr txBox="1"/>
          <p:nvPr/>
        </p:nvSpPr>
        <p:spPr>
          <a:xfrm>
            <a:off x="6199632" y="2706624"/>
            <a:ext cx="54864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neighbourhood is safe and quiet.</a:t>
            </a:r>
            <a:endParaRPr lang="en-US" sz="950" dirty="0"/>
          </a:p>
        </p:txBody>
      </p:sp>
      <p:sp>
        <p:nvSpPr>
          <p:cNvPr id="21" name="Text 18"/>
          <p:cNvSpPr txBox="1"/>
          <p:nvPr/>
        </p:nvSpPr>
        <p:spPr>
          <a:xfrm>
            <a:off x="548640" y="2286000"/>
            <a:ext cx="551383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المَدِينَةُ </a:t>
            </a:r>
            <a:pPr rtl="1" algn="ctr" indent="0" marL="0">
              <a:buNone/>
            </a:pPr>
            <a:r>
              <a:rPr lang="ar-SA" altLang="en-US" sz="2100" b="1" dirty="0">
                <a:solidFill>
                  <a:srgbClr val="D6336C"/>
                </a:solidFill>
                <a:latin typeface="Amiri" pitchFamily="2" charset="-78"/>
                <a:ea typeface="Amiri" pitchFamily="2" charset="-78"/>
                <a:cs typeface="Amiri" pitchFamily="2" charset="-78"/>
              </a:rPr>
              <a:t>آمِنَةٌ</a:t>
            </a:r>
            <a:pPr rtl="1" algn="ctr" indent="0" marL="0">
              <a:buNone/>
            </a:pPr>
            <a:r>
              <a:rPr lang="ar-SA" altLang="en-US" sz="2100" b="1" dirty="0">
                <a:solidFill>
                  <a:srgbClr val="1B3B6F"/>
                </a:solidFill>
                <a:latin typeface="Amiri" pitchFamily="2" charset="-78"/>
                <a:ea typeface="Amiri" pitchFamily="2" charset="-78"/>
                <a:cs typeface="Amiri" pitchFamily="2" charset="-78"/>
              </a:rPr>
              <a:t> وَ</a:t>
            </a:r>
            <a:pPr rtl="1" algn="ctr" indent="0" marL="0">
              <a:buNone/>
            </a:pPr>
            <a:r>
              <a:rPr lang="ar-SA" altLang="en-US" sz="2100" b="1" dirty="0">
                <a:solidFill>
                  <a:srgbClr val="D6336C"/>
                </a:solidFill>
                <a:latin typeface="Amiri" pitchFamily="2" charset="-78"/>
                <a:ea typeface="Amiri" pitchFamily="2" charset="-78"/>
                <a:cs typeface="Amiri" pitchFamily="2" charset="-78"/>
              </a:rPr>
              <a:t>هَادِئَةٌ</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22" name="Text 19"/>
          <p:cNvSpPr txBox="1"/>
          <p:nvPr/>
        </p:nvSpPr>
        <p:spPr>
          <a:xfrm>
            <a:off x="502920" y="2706624"/>
            <a:ext cx="56052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city is safe and quiet.</a:t>
            </a:r>
            <a:endParaRPr lang="en-US" sz="95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6245352" y="3072384"/>
            <a:ext cx="53949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مَرْكَزُ المَدِينَةِ </a:t>
            </a:r>
            <a:pPr rtl="1" algn="ctr" indent="0" marL="0">
              <a:buNone/>
            </a:pPr>
            <a:r>
              <a:rPr lang="ar-SA" altLang="en-US" sz="2100" b="1" dirty="0">
                <a:solidFill>
                  <a:srgbClr val="1D5FBF"/>
                </a:solidFill>
                <a:latin typeface="Amiri" pitchFamily="2" charset="-78"/>
                <a:ea typeface="Amiri" pitchFamily="2" charset="-78"/>
                <a:cs typeface="Amiri" pitchFamily="2" charset="-78"/>
              </a:rPr>
              <a:t>صَاخِبٌ</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27" name="Text 24"/>
          <p:cNvSpPr txBox="1"/>
          <p:nvPr/>
        </p:nvSpPr>
        <p:spPr>
          <a:xfrm>
            <a:off x="6199632" y="3493008"/>
            <a:ext cx="54864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city centre is noisy.</a:t>
            </a:r>
            <a:endParaRPr lang="en-US" sz="950" dirty="0"/>
          </a:p>
        </p:txBody>
      </p:sp>
      <p:sp>
        <p:nvSpPr>
          <p:cNvPr id="28" name="Text 25"/>
          <p:cNvSpPr txBox="1"/>
          <p:nvPr/>
        </p:nvSpPr>
        <p:spPr>
          <a:xfrm>
            <a:off x="548640" y="3072384"/>
            <a:ext cx="551383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قَرْيَتِي </a:t>
            </a:r>
            <a:pPr rtl="1" algn="ctr" indent="0" marL="0">
              <a:buNone/>
            </a:pPr>
            <a:r>
              <a:rPr lang="ar-SA" altLang="en-US" sz="2100" b="1" dirty="0">
                <a:solidFill>
                  <a:srgbClr val="D6336C"/>
                </a:solidFill>
                <a:latin typeface="Amiri" pitchFamily="2" charset="-78"/>
                <a:ea typeface="Amiri" pitchFamily="2" charset="-78"/>
                <a:cs typeface="Amiri" pitchFamily="2" charset="-78"/>
              </a:rPr>
              <a:t>جَمِيلَةٌ</a:t>
            </a:r>
            <a:pPr rtl="1" algn="ctr" indent="0" marL="0">
              <a:buNone/>
            </a:pPr>
            <a:r>
              <a:rPr lang="ar-SA" altLang="en-US" sz="2100" b="1" dirty="0">
                <a:solidFill>
                  <a:srgbClr val="1B3B6F"/>
                </a:solidFill>
                <a:latin typeface="Amiri" pitchFamily="2" charset="-78"/>
                <a:ea typeface="Amiri" pitchFamily="2" charset="-78"/>
                <a:cs typeface="Amiri" pitchFamily="2" charset="-78"/>
              </a:rPr>
              <a:t> وَلَكِنَّهَا بَعِيدَةٌ.</a:t>
            </a:r>
            <a:endParaRPr lang="ar-SA" sz="2100" dirty="0"/>
          </a:p>
        </p:txBody>
      </p:sp>
      <p:sp>
        <p:nvSpPr>
          <p:cNvPr id="29" name="Text 26"/>
          <p:cNvSpPr txBox="1"/>
          <p:nvPr/>
        </p:nvSpPr>
        <p:spPr>
          <a:xfrm>
            <a:off x="502920" y="3493008"/>
            <a:ext cx="56052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village is beautiful but far away.</a:t>
            </a:r>
            <a:endParaRPr lang="en-US" sz="950" dirty="0"/>
          </a:p>
        </p:txBody>
      </p:sp>
      <p:sp>
        <p:nvSpPr>
          <p:cNvPr id="30" name="Shape 27"/>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2" name="Shape 29"/>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3" name="Text 30"/>
          <p:cNvSpPr txBox="1"/>
          <p:nvPr/>
        </p:nvSpPr>
        <p:spPr>
          <a:xfrm>
            <a:off x="6245352" y="3858768"/>
            <a:ext cx="539496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يَتَمَيَّزُ</a:t>
            </a:r>
            <a:pPr rtl="1" algn="ctr" indent="0" marL="0">
              <a:buNone/>
            </a:pPr>
            <a:r>
              <a:rPr lang="ar-SA" altLang="en-US" sz="2100" b="1" dirty="0">
                <a:solidFill>
                  <a:srgbClr val="1B3B6F"/>
                </a:solidFill>
                <a:latin typeface="Amiri" pitchFamily="2" charset="-78"/>
                <a:ea typeface="Amiri" pitchFamily="2" charset="-78"/>
                <a:cs typeface="Amiri" pitchFamily="2" charset="-78"/>
              </a:rPr>
              <a:t> الحَيُّ بِحَدَائِقِهِ.</a:t>
            </a:r>
            <a:endParaRPr lang="ar-SA" sz="2100" dirty="0"/>
          </a:p>
        </p:txBody>
      </p:sp>
      <p:sp>
        <p:nvSpPr>
          <p:cNvPr id="34" name="Text 31"/>
          <p:cNvSpPr txBox="1"/>
          <p:nvPr/>
        </p:nvSpPr>
        <p:spPr>
          <a:xfrm>
            <a:off x="6199632" y="4279392"/>
            <a:ext cx="54864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area is distinguished by its parks.</a:t>
            </a:r>
            <a:endParaRPr lang="en-US" sz="950" dirty="0"/>
          </a:p>
        </p:txBody>
      </p:sp>
      <p:sp>
        <p:nvSpPr>
          <p:cNvPr id="35" name="Text 32"/>
          <p:cNvSpPr txBox="1"/>
          <p:nvPr/>
        </p:nvSpPr>
        <p:spPr>
          <a:xfrm>
            <a:off x="548640" y="3858768"/>
            <a:ext cx="5513832"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تَتَمَيَّزُ</a:t>
            </a:r>
            <a:pPr rtl="1" algn="ctr" indent="0" marL="0">
              <a:buNone/>
            </a:pPr>
            <a:r>
              <a:rPr lang="ar-SA" altLang="en-US" sz="2100" b="1" dirty="0">
                <a:solidFill>
                  <a:srgbClr val="1B3B6F"/>
                </a:solidFill>
                <a:latin typeface="Amiri" pitchFamily="2" charset="-78"/>
                <a:ea typeface="Amiri" pitchFamily="2" charset="-78"/>
                <a:cs typeface="Amiri" pitchFamily="2" charset="-78"/>
              </a:rPr>
              <a:t> المَدِينَةُ بِأَسْوَاقِهَا القَدِيمَةِ.</a:t>
            </a:r>
            <a:endParaRPr lang="ar-SA" sz="2100" dirty="0"/>
          </a:p>
        </p:txBody>
      </p:sp>
      <p:sp>
        <p:nvSpPr>
          <p:cNvPr id="36" name="Text 33"/>
          <p:cNvSpPr txBox="1"/>
          <p:nvPr/>
        </p:nvSpPr>
        <p:spPr>
          <a:xfrm>
            <a:off x="502920" y="4279392"/>
            <a:ext cx="56052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city is known for its old markets.</a:t>
            </a:r>
            <a:endParaRPr lang="en-US" sz="9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6245352" y="4645152"/>
            <a:ext cx="539496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يَفْتَقِرُ</a:t>
            </a:r>
            <a:pPr rtl="1" algn="ctr" indent="0" marL="0">
              <a:buNone/>
            </a:pPr>
            <a:r>
              <a:rPr lang="ar-SA" altLang="en-US" sz="2100" b="1" dirty="0">
                <a:solidFill>
                  <a:srgbClr val="1B3B6F"/>
                </a:solidFill>
                <a:latin typeface="Amiri" pitchFamily="2" charset="-78"/>
                <a:ea typeface="Amiri" pitchFamily="2" charset="-78"/>
                <a:cs typeface="Amiri" pitchFamily="2" charset="-78"/>
              </a:rPr>
              <a:t> الحَيُّ إِلَى مَكْتَبَةٍ.</a:t>
            </a:r>
            <a:endParaRPr lang="ar-SA" sz="2100" dirty="0"/>
          </a:p>
        </p:txBody>
      </p:sp>
      <p:sp>
        <p:nvSpPr>
          <p:cNvPr id="39" name="Text 36"/>
          <p:cNvSpPr txBox="1"/>
          <p:nvPr/>
        </p:nvSpPr>
        <p:spPr>
          <a:xfrm>
            <a:off x="6199632" y="5065776"/>
            <a:ext cx="54864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area lacks a library.</a:t>
            </a:r>
            <a:endParaRPr lang="en-US" sz="950" dirty="0"/>
          </a:p>
        </p:txBody>
      </p:sp>
      <p:sp>
        <p:nvSpPr>
          <p:cNvPr id="40" name="Text 37"/>
          <p:cNvSpPr txBox="1"/>
          <p:nvPr/>
        </p:nvSpPr>
        <p:spPr>
          <a:xfrm>
            <a:off x="548640" y="4645152"/>
            <a:ext cx="5513832"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تَفْتَقِرُ</a:t>
            </a:r>
            <a:pPr rtl="1" algn="ctr" indent="0" marL="0">
              <a:buNone/>
            </a:pPr>
            <a:r>
              <a:rPr lang="ar-SA" altLang="en-US" sz="2100" b="1" dirty="0">
                <a:solidFill>
                  <a:srgbClr val="1B3B6F"/>
                </a:solidFill>
                <a:latin typeface="Amiri" pitchFamily="2" charset="-78"/>
                <a:ea typeface="Amiri" pitchFamily="2" charset="-78"/>
                <a:cs typeface="Amiri" pitchFamily="2" charset="-78"/>
              </a:rPr>
              <a:t> البَلْدَةُ إِلَى مُسْتَشْفًى.</a:t>
            </a:r>
            <a:endParaRPr lang="ar-SA" sz="2100" dirty="0"/>
          </a:p>
        </p:txBody>
      </p:sp>
      <p:sp>
        <p:nvSpPr>
          <p:cNvPr id="41" name="Text 38"/>
          <p:cNvSpPr txBox="1"/>
          <p:nvPr/>
        </p:nvSpPr>
        <p:spPr>
          <a:xfrm>
            <a:off x="502920" y="5065776"/>
            <a:ext cx="56052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town lacks a hospital.</a:t>
            </a:r>
            <a:endParaRPr lang="en-US" sz="950" dirty="0"/>
          </a:p>
        </p:txBody>
      </p:sp>
      <p:sp>
        <p:nvSpPr>
          <p:cNvPr id="42" name="Text 3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madīnatī jamīla, not jamīl. Plural things take the feminine too: ash-shawāriʿu muktaẓẓa.</a:t>
            </a:r>
            <a:endParaRPr lang="en-US" sz="11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41</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A BALANCED ARGUMENT (WEBSITE RULES 1 AND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One advantage … one disadvantage …</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مَزَايَا … مِنْ عُيُوبِ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9154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ADVANTAGE</a:t>
            </a:r>
            <a:endParaRPr lang="en-US" sz="850" dirty="0"/>
          </a:p>
        </p:txBody>
      </p:sp>
      <p:sp>
        <p:nvSpPr>
          <p:cNvPr id="18" name="Text 15"/>
          <p:cNvSpPr txBox="1"/>
          <p:nvPr/>
        </p:nvSpPr>
        <p:spPr>
          <a:xfrm>
            <a:off x="9169908"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مِنْ مَزَايَا … أَنَّ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مِنْ مَزَايَا مَدِينَتِي أَنَّ المَوَاصَلَاتِ سَرِيعَةٌ.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One advantage of my city is that transport is fast.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anna + a full sentence.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9728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DISADVANTAGE</a:t>
            </a:r>
            <a:endParaRPr lang="en-US" sz="850" dirty="0"/>
          </a:p>
        </p:txBody>
      </p:sp>
      <p:sp>
        <p:nvSpPr>
          <p:cNvPr id="26" name="Text 23"/>
          <p:cNvSpPr txBox="1"/>
          <p:nvPr/>
        </p:nvSpPr>
        <p:spPr>
          <a:xfrm>
            <a:off x="5556504"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مِنْ عُيُوبِ …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ea typeface="Amiri" pitchFamily="2" charset="-78"/>
                <a:cs typeface="Amiri" pitchFamily="2" charset="-78"/>
              </a:rPr>
              <a:t>مِنْ عُيُوبِهَا أَنَّ الشَّوَارِعَ مُكْتَظَّةٌ.</a:t>
            </a:r>
            <a:endParaRPr lang="ar-SA" sz="24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One disadvantage is that the streets are crowded.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real contrast.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7543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OVERALL</a:t>
            </a:r>
            <a:endParaRPr lang="en-US" sz="850" dirty="0"/>
          </a:p>
        </p:txBody>
      </p:sp>
      <p:sp>
        <p:nvSpPr>
          <p:cNvPr id="34" name="Text 31"/>
          <p:cNvSpPr txBox="1"/>
          <p:nvPr/>
        </p:nvSpPr>
        <p:spPr>
          <a:xfrm>
            <a:off x="1394460"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بِالرَّغْمِ مِنْ ذَلِكَ</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بِالرَّغْمِ مِنْ ذَلِكَ، أُوصِي بِزِيَارَتِهَا.</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Despite that, I recommend visiting it.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End with a judgement.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add anna before the clause.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مِنْ مَزَايَا مَدِينَتِي أَنَّ المَوَاصَلَاتِ جَيِّدَةٌ.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مِنْ مَزَايَا مَدِينَتِي المَوَاصَلَاتُ جَيِّدَةٌ.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00" b="1" dirty="0">
                <a:solidFill>
                  <a:srgbClr val="8A6D1E"/>
                </a:solidFill>
                <a:latin typeface="Amiri" pitchFamily="2" charset="-78"/>
                <a:ea typeface="Amiri" pitchFamily="2" charset="-78"/>
                <a:cs typeface="Amiri" pitchFamily="2" charset="-78"/>
              </a:rPr>
              <a:t>الوَصْفُ المُتَوَازِنُ لِلْمَدِينَةِ وَالمُطَابَقَةُ</a:t>
            </a:r>
            <a:endParaRPr lang="ar-SA" sz="26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Introduce an advantage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مِنْ مَزَايَا + المَكَانِ + أَنَّ...</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مِنْ مَزَايَا مَدِينَتِي أَنَّ المَوَاصَلَاتِ سَرِيعَةٌ.   ·   مِنْ مَزَايَا الحَيِّ أَنَّهُ آمِنٌ.</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Introduce a disadvantage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مِنْ عُيُوبِ + المَكَانِ + أَنَّ...</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F2A37"/>
                </a:solidFill>
                <a:latin typeface="Amiri" pitchFamily="2" charset="-78"/>
                <a:ea typeface="Amiri" pitchFamily="2" charset="-78"/>
                <a:cs typeface="Amiri" pitchFamily="2" charset="-78"/>
              </a:rPr>
              <a:t>مِنْ عُيُوبِ مَدِينَتِي أَنَّ الشَّوَارِعَ مُكْتَظَّةٌ.   ·   مِنْ عُيُوبِ القَرْيَةِ أَنَّهَا تَفْتَقِرُ إِلَى المَوَاصَلَاتِ.</a:t>
            </a:r>
            <a:endParaRPr lang="ar-SA" sz="19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Highlight a distinctive feature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تَتَمَيَّزُ + المَدِينَةُ + بِـ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تَتَمَيَّزُ المَدِينَةُ بِأَسْوَاقِهَا القَدِيمَةِ.   ·   يَتَمَيَّزُ الحَيُّ بِحَدَائِقِهِ الكَثِيرَةِ.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Make adjectives agree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مَدِينَةٌ + صِفَةٌ مُؤَنَّثَةٌ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مَدِينَةٌ حَدِيثَةٌ وَنَظِيفَةٌ.   ·   قَرْيَةٌ هَادِئَةٌ وَلٰكِنَّهَا بَعِيدَةٌ.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city description.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مَدِينَتِي جَمِيلٌ وَحَدِيثٌ.</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مَدِينَتِي جَمِيلَاتٌ.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مَدِينَتِي جَمِيلَةٌ وَحَدِيثَةٌ.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مِنْ مَزَايَا مَدِينَتِي ___ المَوَاصَلَاتِ جَيِّدَةٌ.</a:t>
            </a:r>
            <a:endParaRPr lang="ar-SA" sz="14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لٰكِنَّ</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introduces a disadvantage?</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مَزَايَا</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عُيُوبِ</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أُوصِي بِـ</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town lacks a hospital”?</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تَفْتَقِرُ البَلْدَةُ إِلَى مُسْتَشْفًى.</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تَتَمَيَّزُ البَلْدَةُ بِمُسْتَشْفًى.</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 البَلْدَةُ مُسْتَشْفًى.</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city description.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مَدِينَتِي جَمِيلٌ وَحَدِيثٌ.</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مَدِينَتِي جَمِيلَاتٌ.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مَدِينَتِي جَمِيلَةٌ وَحَدِيثَةٌ.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مَدِينَةٌ</a:t>
            </a:r>
            <a:pPr algn="l" indent="0" marL="0">
              <a:buNone/>
            </a:pPr>
            <a:r>
              <a:rPr lang="en-US" sz="1050" i="1" dirty="0">
                <a:solidFill>
                  <a:srgbClr val="8A6D1E"/>
                </a:solidFill>
                <a:latin typeface="Calibri" pitchFamily="34" charset="0"/>
                <a:cs typeface="Amiri" pitchFamily="2" charset="-78"/>
              </a:rPr>
              <a:t> is feminine singular.</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مِنْ مَزَايَا مَدِينَتِي ___ المَوَاصَلَاتِ جَيِّدَةٌ.</a:t>
            </a:r>
            <a:endParaRPr lang="ar-SA" sz="14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لٰكِنَّ</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balanced argument frame uses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introduces a disadvantage?</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مَزَايَا</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عُيُوبِ</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أُوصِي بِـ</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 عُيُوبِ</a:t>
            </a:r>
            <a:pPr algn="l" indent="0" marL="0">
              <a:buNone/>
            </a:pPr>
            <a:r>
              <a:rPr lang="en-US" sz="1050" i="1" dirty="0">
                <a:solidFill>
                  <a:srgbClr val="8A6D1E"/>
                </a:solidFill>
                <a:latin typeface="Calibri" pitchFamily="34" charset="0"/>
                <a:cs typeface="Amiri" pitchFamily="2" charset="-78"/>
              </a:rPr>
              <a:t> introduces a disadvantage.</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town lacks a hospital”?</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تَفْتَقِرُ البَلْدَةُ إِلَى مُسْتَشْفًى.</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تَتَمَيَّزُ البَلْدَةُ بِمُسْتَشْفًى.</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تُوجَدُ البَلْدَةُ مُسْتَشْفًى.</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تَفْتَقِرُ إِلَى</a:t>
            </a:r>
            <a:pPr algn="l" indent="0" marL="0">
              <a:buNone/>
            </a:pPr>
            <a:r>
              <a:rPr lang="en-US" sz="1050" i="1" dirty="0">
                <a:solidFill>
                  <a:srgbClr val="8A6D1E"/>
                </a:solidFill>
                <a:latin typeface="Calibri" pitchFamily="34" charset="0"/>
                <a:cs typeface="Amiri" pitchFamily="2" charset="-78"/>
              </a:rPr>
              <a:t> means lacks.</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41</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Watch me write a balanced town review</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Describe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مَدِينَتِي مُتَوَسِّطَةُ الحَجْمِ وَ</a:t>
            </a:r>
            <a:pPr rtl="1" algn="ctr" indent="0" marL="0">
              <a:lnSpc>
                <a:spcPct val="120000"/>
              </a:lnSpc>
              <a:buNone/>
            </a:pPr>
            <a:r>
              <a:rPr lang="ar-SA" altLang="en-US" sz="1800" b="1" dirty="0">
                <a:solidFill>
                  <a:srgbClr val="D6336C"/>
                </a:solidFill>
                <a:latin typeface="Amiri" pitchFamily="2" charset="-78"/>
                <a:ea typeface="Amiri" pitchFamily="2" charset="-78"/>
                <a:cs typeface="Amiri" pitchFamily="2" charset="-78"/>
              </a:rPr>
              <a:t>حَدِيثَةٌ</a:t>
            </a:r>
            <a:pPr rtl="1" algn="ctr" indent="0" marL="0">
              <a:lnSpc>
                <a:spcPct val="120000"/>
              </a:lnSpc>
              <a:buNone/>
            </a:pPr>
            <a:r>
              <a:rPr lang="ar-SA" altLang="en-US" sz="1800" b="1" dirty="0">
                <a:solidFill>
                  <a:srgbClr val="1B3B6F"/>
                </a:solidFill>
                <a:latin typeface="Amiri" pitchFamily="2" charset="-78"/>
                <a:cs typeface="Amiri" pitchFamily="2" charset="-78"/>
              </a:rPr>
              <a:t>.</a:t>
            </a:r>
            <a:endParaRPr lang="ar-SA" sz="1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City = f.</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Feature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تَتَمَيَّزُ</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بِحَدَائِقِهَا الكَبِيرَةِ وَمَكْتَبَاتِهَا.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tatamayyazu bi-.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For / against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0E7C86"/>
                </a:solidFill>
                <a:latin typeface="Amiri" pitchFamily="2" charset="-78"/>
                <a:ea typeface="Amiri" pitchFamily="2" charset="-78"/>
                <a:cs typeface="Amiri" pitchFamily="2" charset="-78"/>
              </a:rPr>
              <a:t>مِنْ مَزَايَاهَا أَنَّ</a:t>
            </a:r>
            <a:pPr rtl="1" algn="ct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 الأَحْيَاءَ آمِنَةٌ، وَ</a:t>
            </a:r>
            <a:pPr rtl="1" algn="ctr" indent="0" marL="0">
              <a:lnSpc>
                <a:spcPct val="120000"/>
              </a:lnSpc>
              <a:buNone/>
            </a:pPr>
            <a:r>
              <a:rPr lang="ar-SA" altLang="en-US" sz="1700" b="1" dirty="0">
                <a:solidFill>
                  <a:srgbClr val="1D5FBF"/>
                </a:solidFill>
                <a:latin typeface="Amiri" pitchFamily="2" charset="-78"/>
                <a:ea typeface="Amiri" pitchFamily="2" charset="-78"/>
                <a:cs typeface="Amiri" pitchFamily="2" charset="-78"/>
              </a:rPr>
              <a:t>مِنْ عُيُوبِهَا أَنَّ</a:t>
            </a:r>
            <a:pPr rtl="1" algn="ct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 الشَّوَارِعَ مُكْتَظَّةٌ.</a:t>
            </a:r>
            <a:endParaRPr lang="ar-SA" sz="1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Both sides + anna.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Judgement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بِالرَّغْمِ مِنْ ذَلِكَ، أُحِبُّ مَدِينَتِي وَأُوصِي بِزِيَارَتِهَا.</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Despite that …</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FOR</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AGAINST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مَدِينَتِي مُتَوَسِّطَةُ الحَجْمِ وَ</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حَدِيثَةٌ</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تَتَمَيَّزُ</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بِحَدَائِقِهَا الكَبِيرَةِ وَمَكْتَبَاتِهَا وَمَوَاصَلَاتِهَا العَامَّةِ.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مِنْ مَزَايَاهَا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الأَحْيَاءَ آمِنَةٌ وَأَنَّ المَحَطَّاتِ قَرِيبَةٌ مِنَ البُيُوتِ.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مِنْ عُيُوبِهَا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مَرْكَزَ المَدِينَةِ صَاخِبٌ وَأَنَّ الشَّوَارِعَ مُكْتَظَّةٌ فِي الصَّبَاحِ. كَمَا أَنَّ بَعْضَ المَنَاطِقِ تَفْتَقِرُ إِلَى المَلَاعِبِ. بِالرَّغْمِ مِنْ ذَلِكَ، أُحِبُّ مَدِينَتِي وَأُوصِي بِزِيَارَتِهَا.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My city is medium-sized and modern. It is distinguished by its big parks, its libraries and its public transport. One advantage is that the neighbourhoods are safe and the stations are close to the houses. One disadvantage is that the city centre is noisy and the streets are crowded in the morning. Also, some areas lack sports grounds. Despite that, I love my city and recommend visiting it.</a:t>
            </a:r>
            <a:endParaRPr lang="en-US" sz="9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41</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تَتَمَيَّزُ مَدِينَتِي بِحَدَائِقِهَا.</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city is distinguished by its parks.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Feminine city → تَتَمَيَّزُ.</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مِنْ مَزَايَا مَدِينَتِي أَنَّهَا آمِنَةٌ.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One advantage is that it is safe.</a:t>
            </a:r>
            <a:endParaRPr lang="en-US" sz="1250" dirty="0"/>
          </a:p>
          <a:p>
            <a:pPr indent="0" marL="0">
              <a:buNone/>
            </a:pPr>
            <a:r>
              <a:rPr lang="en-US" sz="1050" i="1" dirty="0">
                <a:solidFill>
                  <a:srgbClr val="8A6D1E"/>
                </a:solidFill>
                <a:latin typeface="Calibri" pitchFamily="34" charset="0"/>
                <a:cs typeface="Amiri" pitchFamily="2" charset="-78"/>
              </a:rPr>
              <a:t>Use the advantage frame.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مِنْ عُيُوبِهَا أَنَّ الشَّوَارِعَ مُكْتَظَّةٌ.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One disadvantage is that the streets are crowded.</a:t>
            </a:r>
            <a:endParaRPr lang="en-US" sz="1250" dirty="0"/>
          </a:p>
          <a:p>
            <a:pPr indent="0" marL="0">
              <a:buNone/>
            </a:pPr>
            <a:r>
              <a:rPr lang="en-US" sz="1050" i="1" dirty="0">
                <a:solidFill>
                  <a:srgbClr val="8A6D1E"/>
                </a:solidFill>
                <a:latin typeface="Calibri" pitchFamily="34" charset="0"/>
                <a:cs typeface="Amiri" pitchFamily="2" charset="-78"/>
              </a:rPr>
              <a:t>Use a real contrasting limitation.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بِصِفَةٍ عَامَّةٍ أُوصِي بِزِيَارَتِهَا.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Overall, I recommend visiting it.</a:t>
            </a:r>
            <a:endParaRPr lang="en-US" sz="1250" dirty="0"/>
          </a:p>
          <a:p>
            <a:pPr indent="0" marL="0">
              <a:buNone/>
            </a:pPr>
            <a:r>
              <a:rPr lang="en-US" sz="1050" i="1" dirty="0">
                <a:solidFill>
                  <a:srgbClr val="8A6D1E"/>
                </a:solidFill>
                <a:latin typeface="Calibri" pitchFamily="34" charset="0"/>
                <a:cs typeface="Amiri" pitchFamily="2" charset="-78"/>
              </a:rPr>
              <a:t>Finish with a judgement.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41</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Advantage or disadvantage?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مَوَاصَلَاتٌ سَرِيعَةٌ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حَدَائِقُ نَظِيفَةٌ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حَيٌّ آمِنٌ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مَكْتَبَاتٌ كَثِيرَةٌ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شَوَارِعُ مُكْتَظَّةٌ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هَوَاءٌ مُلَوَّثٌ</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مَوَاصَلَاتٌ قَلِيلَةٌ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ضَوْضَاءُ كَثِيرَةٌ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مِيزَةٌ · advantage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عَيْبٌ · disadvantage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41</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مِيزَةٌ · advantage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مَوَاصَلَاتٌ سَرِيعَةٌ</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حَدَائِقُ نَظِيفَةٌ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حَيٌّ آمِنٌ</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مَكْتَبَاتٌ كَثِيرَةٌ</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عَيْبٌ · disadvantage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شَوَارِعُ مُكْتَظَّةٌ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هَوَاءٌ مُلَوَّثٌ</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مَوَاصَلَاتٌ قَلِيلَةٌ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ضَوْضَاءُ كَثِيرَةٌ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المَدِينَةُ بِمَبَانِيهَا التَّارِيخِيَّةِ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يَتَمَيَّزُ</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تَمَيَّزْ</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تَتَمَيَّزُ</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contrast pair.</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 ... ثُمَّ</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نَاحِيَةٍ ... وَمِنْ نَاحِيَةٍ أُخْرَى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هُنَاكَ ... هُنَاكَ</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a balanced view?</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المَدِينَةُ جَمِيلَةٌ وَجَمِيلَةٌ.</a:t>
            </a:r>
            <a:endParaRPr lang="ar-SA" sz="170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المَدِينَةُ جَمِيلَةٌ، وَلٰكِنَّ شَوَارِعَهَا مُكْتَظَّةٌ.</a:t>
            </a:r>
            <a:endParaRPr lang="ar-SA" sz="170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المَدِينَةُ فِي المَدِينَةِ.</a:t>
            </a:r>
            <a:endParaRPr lang="ar-SA" sz="17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41</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المَدِينَةُ بِمَبَانِيهَا التَّارِيخِيَّةِ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يَتَمَيَّزُ</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تَمَيَّزْ</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تَتَمَيَّزُ</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subject </a:t>
            </a:r>
            <a:pPr algn="l" indent="0" marL="0">
              <a:buNone/>
            </a:pPr>
            <a:r>
              <a:rPr lang="ar-SA" altLang="en-US" sz="1350" dirty="0">
                <a:solidFill>
                  <a:srgbClr val="8A6D1E"/>
                </a:solidFill>
                <a:latin typeface="Amiri" pitchFamily="2" charset="-78"/>
                <a:ea typeface="Amiri" pitchFamily="2" charset="-78"/>
                <a:cs typeface="Amiri" pitchFamily="2" charset="-78"/>
              </a:rPr>
              <a:t>مَدِينَةٌ</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تَتَمَيَّزُ</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contrast pair.</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ثُمَّ ... ثُمَّ</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مِنْ نَاحِيَةٍ ... وَمِنْ نَاحِيَةٍ أُخْرَى</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هُنَاكَ ... هُنَاكَ</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pair presents two sides.</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a balanced view?</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المَدِينَةُ جَمِيلَةٌ وَجَمِيلَةٌ.</a:t>
            </a:r>
            <a:endParaRPr lang="ar-SA" sz="170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المَدِينَةُ جَمِيلَةٌ، وَلٰكِنَّ شَوَارِعَهَا مُكْتَظَّةٌ.</a:t>
            </a:r>
            <a:endParaRPr lang="ar-SA" sz="170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المَدِينَةُ فِي المَدِينَةِ.</a:t>
            </a:r>
            <a:endParaRPr lang="ar-SA" sz="170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includes a positive point and a real contrast.</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41</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مَدِينَتِي حَدِيثٌ.</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City is m. or f.?</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يَتَمَيَّزُ المَدِينَةُ بِالسُّوقِ.</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City is f.: which verb form?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مِنْ مَزَايَا مَدِينَتِي المَوَاصَلَاتُ جَيِّدَةٌ.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missing before the clause?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41</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مَدِينَتِي حَدِيثٌ.</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مَدِينَتِي حَدِيثَةٌ.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adjective agrees with feminine </a:t>
            </a:r>
            <a:pPr algn="l" indent="0" marL="0">
              <a:buNone/>
            </a:pPr>
            <a:r>
              <a:rPr lang="ar-SA" altLang="en-US" sz="1500" b="1" dirty="0">
                <a:solidFill>
                  <a:srgbClr val="1B3B6F"/>
                </a:solidFill>
                <a:latin typeface="Amiri" pitchFamily="2" charset="-78"/>
                <a:ea typeface="Amiri" pitchFamily="2" charset="-78"/>
                <a:cs typeface="Amiri" pitchFamily="2" charset="-78"/>
              </a:rPr>
              <a:t>مَدِينَةٌ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يَتَمَيَّزُ المَدِينَةُ بِالسُّوقِ.</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تَتَمَيَّزُ المَدِينَةُ بِالسُّوقِ.</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agrees with the feminine subject.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مِنْ مَزَايَا مَدِينَتِي المَوَاصَلَاتُ جَيِّدَةٌ.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مِنْ مَزَايَا مَدِينَتِي أَنَّ المَوَاصَلَاتِ جَيِّدَةٌ.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Add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before the clause.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41</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people compare their towns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city is modern and clean?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Omar’s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advantage does Salma mention?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traditional market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university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fast transport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problem does Salma mention?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dangerous parks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few shops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crowded streets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Omar’s town described?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quiet and safe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modern and noisy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large and dirty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Omar’s town lack?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markets and parks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universities and trains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schools and banks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مِنْ مَزَايَاهَا</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وَلَكِنَّ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مِنْ عُيُوبِهَا</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41</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سَلْمَى: أُحِبُّ مَدِينَتِي لِأَنَّهَا حَدِيثَةٌ وَنَظِيفَةٌ.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 I love my city because it is modern and clean.</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مِنْ مَزَايَاهَا أَنَّ المَوَاصَلَاتِ سَرِيعَةٌ وَأَنَّ فِيهَا حَدَائِقَ كَثِيرَةً. وَلَكِنَّ الشَّوَارِعَ مُكْتَظَّةٌ.</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Its advantages are that transport is fast and it has many parks. But the streets are crowded.</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عُمَرُ: أَنَا أَسْكُنُ فِي بَلْدَةٍ صَغِيرَةٍ. هِيَ هَادِئَةٌ وَآمِنَةٌ، وَتَتَمَيَّزُ بِسُوقِهَا التَّقْلِيدِيِّ.</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Omar: I live in a small town. It is quiet and safe, and known for its traditional market.</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عُيُوبِهَا أَنَّهَا تَفْتَقِرُ إِلَى الجَامِعَاتِ وَالقِطَارَاتِ.</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disadvantage is that it lacks universities and trains.</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41</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city is modern and clean?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Salma’s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Omar’s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Salma says </a:t>
            </a:r>
            <a:pPr algn="l" indent="0" marL="0">
              <a:buNone/>
            </a:pPr>
            <a:r>
              <a:rPr lang="ar-SA" altLang="en-US" sz="1350" dirty="0">
                <a:solidFill>
                  <a:srgbClr val="8A6D1E"/>
                </a:solidFill>
                <a:latin typeface="Amiri" pitchFamily="2" charset="-78"/>
                <a:ea typeface="Amiri" pitchFamily="2" charset="-78"/>
                <a:cs typeface="Amiri" pitchFamily="2" charset="-78"/>
              </a:rPr>
              <a:t>حَدِيثَةٌ وَنَظِيفَةٌ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advantage does Salma mention?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traditional market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university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fast transport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المَوَاصَلَاتُ سَرِيعَةٌ.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problem does Salma mention?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dangerous parks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few shops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crowded streets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الشَّوَارِعُ مُكْتَظَّةٌ.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Omar’s town described?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quiet and safe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modern and noisy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large and dirty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هَادِئَةٌ وَآمِنَةٌ.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Omar’s town lack?</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markets and parks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universities and trains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schools and banks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تَفْتَقِرُ إِلَى الجَامِعَاتِ وَالقِطَارَاتِ.</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مِنْ مَزَايَاهَا</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وَلَكِنَّ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مِنْ عُيُوبِهَا</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41</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Town review panel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مَدِينَتَكَ بِثَلَاثِ صِفَاتٍ.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أَهَمُّ مِيزَةٍ فِي مَدِينَتِكَ؟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أَكْبَرُ عَيْبٍ؟</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تُوصِي بِزِيَارَتِهَا؟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مَدِينَتِي ___ وَ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مِنْ مَزَايَاهَا أَنَّ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مِنْ عُيُوبِهَا 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بِالرَّغْمِ مِنْ ذَلِكَ، أُوصِي بِزِيَارَتِهَا لِأَنَّ …</a:t>
            </a:r>
            <a:endParaRPr lang="ar-SA" sz="15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أَهَمُّ مِيزَةٍ فِي مَدِينَتِكَ؟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 most important advantage of your city?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مِنْ مَزَايَاهَا أَنَّ المَوَاصَلَاتِ جَيِّدَةٌ وَأَنَّ الأَحْيَاءَ آمِنَةٌ.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Its advantages include good transport and safe neighbourhoods.</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41</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four descriptive sentences with correct gender.</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Four descriptive sentences with feminine adjectives for the city.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Present one advantage and disadvantage in a connected paragraph.</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advantage and one disadvantage with anna in a connected paragraph.</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nuanced review using both argument frames, a distinctive feature and a recommendation.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balanced review with a distinctive feature, both frames and a recommendation.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41</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مَزَايَا مَدِينَتِي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advantage of my city is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عُيُوبِهَا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disadvantage is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تَتَمَيَّزُ بِـ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distinguished by its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تَفْتَقِرُ إِلَى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lacks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بِصِفَةٍ عَامَّةٍ، أُوصِي بِزِيَارَتِهَا.</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Overall, I recommend visiting it.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مَدِينَتِي جَمِيلَةٌ وَنَظِيفَةٌ.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city is beautiful and clean.</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قَرْيَتِي هَادِئَةٌ وَآمِنَةٌ.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village is quiet and safe.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مَرْكَزُ المَدِينَةِ صَاخِبٌ.</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city centre is noisy.</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الشَّوَارِعُ مُكْتَظَّةٌ.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streets are crowded.</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مَدِينَتِي لِأَنَّهَا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my town because it is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هَادِئَةٌ  ·  صَاخِبَةٌ  ·  نَظِيفَةٌ  ·  آمِنَةٌ  ·  حَدِيثَةٌ  ·  تَقْلِيدِيَّةٌ  ·  نَشِيطَةٌ  ·  مُكْتَظَّةٌ  ·  مِنْ مَزَايَا … أَنَّ  ·  مِنْ عُيُوبِ … أَنَّ  ·  تَتَمَيَّزُ بِـ  ·  تَفْتَقِرُ إِلَى</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balanced 80–100-word review of your town, village or an imagined city.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six agreeing adjectives.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a:r>
            <a:pPr algn="l" indent="0" marL="0">
              <a:buNone/>
            </a:pPr>
            <a:r>
              <a:rPr lang="ar-SA" altLang="en-US" sz="1550" dirty="0">
                <a:solidFill>
                  <a:srgbClr val="1F2A37"/>
                </a:solidFill>
                <a:latin typeface="Amiri" pitchFamily="2" charset="-78"/>
                <a:ea typeface="Amiri" pitchFamily="2" charset="-78"/>
                <a:cs typeface="Amiri" pitchFamily="2" charset="-78"/>
              </a:rPr>
              <a:t>تَتَمَيَّزُ بِـ</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تَفْتَقِرُ إِلَى</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Give one advantage and one disadvantage with </a:t>
            </a:r>
            <a:pPr algn="l" indent="0" marL="0">
              <a:buNone/>
            </a:pPr>
            <a:r>
              <a:rPr lang="ar-SA" altLang="en-US" sz="1550" dirty="0">
                <a:solidFill>
                  <a:srgbClr val="1F2A37"/>
                </a:solidFill>
                <a:latin typeface="Amiri" pitchFamily="2" charset="-78"/>
                <a:ea typeface="Amiri" pitchFamily="2" charset="-78"/>
                <a:cs typeface="Amiri" pitchFamily="2" charset="-78"/>
              </a:rPr>
              <a:t>أَنَّ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End with an overall recommendation.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مَدِينَةٌ سَاحِلِيَّةٌ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coastal city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تَزْدَحِمُ الشَّوَارِعُ فِي الصَّيْفِ</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streets get crowded in summer</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نَاحِيَةٍ … وَمِنْ نَاحِيَةٍ أُخْرَى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one hand … on the other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كَمَا أَنَّ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also / moreover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لِأَنَّهَا مُرِيحَةٌ وَمُمْتِعَةٌ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it is comfortable and enjoyable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41</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مَدِينَتِي مُتَوَسِّطَةُ الحَجْمِ وَحَدِيثَةٌ. تَتَمَيَّزُ بِحَدَائِقِهَا الكَبِيرَةِ وَمَكْتَبَاتِهَا وَمَوَاصَلَاتِهَا العَامَّةِ. مِنْ مَزَايَاهَا أَنَّ الأَحْيَاءَ آمِنَةٌ وَأَنَّ المَحَطَّاتِ قَرِيبَةٌ مِنَ البُيُوتِ. مِنْ عُيُوبِهَا أَنَّ مَرْكَزَ المَدِينَةِ صَاخِبٌ وَأَنَّ الشَّوَارِعَ مُكْتَظَّةٌ فِي الصَّبَاحِ. كَمَا أَنَّ بَعْضَ المَنَاطِقِ تَفْتَقِرُ إِلَى المَلَاعِبِ. بِالرَّغْمِ مِنْ ذٰلِكَ، أُحِبُّ مَدِينَتِي وَأُوصِي بِزِيَارَتِهَا.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city is medium-sized and modern. It is distinguished by its big parks, its libraries and its public transport. One advantage is that the neighbourhoods are safe and the stations are close to the houses. One disadvantage is that the city centre is noisy and the streets are crowded in the morning. Also, some areas lack sports grounds. Despite that, I love my city and recommend visiting it.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feature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advantage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disadvantage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judgement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41</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City / town adjectives are feminine.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six different adjectives.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Advantage + disadvantage with </a:t>
            </a:r>
            <a:pPr algn="l" indent="0" marL="0">
              <a:buNone/>
            </a:pPr>
            <a:r>
              <a:rPr lang="ar-SA" altLang="en-US" sz="1700" dirty="0">
                <a:solidFill>
                  <a:srgbClr val="1F2A37"/>
                </a:solidFill>
                <a:latin typeface="Amiri" pitchFamily="2" charset="-78"/>
                <a:ea typeface="Amiri" pitchFamily="2" charset="-78"/>
                <a:cs typeface="Amiri" pitchFamily="2" charset="-78"/>
              </a:rPr>
              <a:t>أَنَّ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2" charset="-78"/>
                <a:ea typeface="Amiri" pitchFamily="2" charset="-78"/>
                <a:cs typeface="Amiri" pitchFamily="2" charset="-78"/>
              </a:rPr>
              <a:t>تَتَمَيَّزُ بِـ</a:t>
            </a:r>
            <a:pPr algn="l" indent="0" marL="0">
              <a:buNone/>
            </a:pPr>
            <a:r>
              <a:rPr lang="en-US" sz="1300" dirty="0">
                <a:solidFill>
                  <a:srgbClr val="1F2A37"/>
                </a:solidFill>
                <a:latin typeface="Calibri" pitchFamily="34" charset="0"/>
                <a:cs typeface="Amiri" pitchFamily="2" charset="-78"/>
              </a:rPr>
              <a:t> or </a:t>
            </a:r>
            <a:pPr algn="l" indent="0" marL="0">
              <a:buNone/>
            </a:pPr>
            <a:r>
              <a:rPr lang="ar-SA" altLang="en-US" sz="1700" dirty="0">
                <a:solidFill>
                  <a:srgbClr val="1F2A37"/>
                </a:solidFill>
                <a:latin typeface="Amiri" pitchFamily="2" charset="-78"/>
                <a:ea typeface="Amiri" pitchFamily="2" charset="-78"/>
                <a:cs typeface="Amiri" pitchFamily="2" charset="-78"/>
              </a:rPr>
              <a:t>تَفْتَقِرُ إِلَى</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ended with a recommendation.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41</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advantage?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مِيزَةٌ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مَوْقِعٌ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مِنْ عُيُوبِ مَدِينَتِي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الشَّوَارِعَ مُكْتَظَّةٌ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“lacks”?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تَفْتَقِرُ إِلَى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تَتَمَيَّزُ بِـ</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أُوصِي بِـ</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41</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advantage?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مِيزَةٌ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عَيْبٌ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مَوْقِعٌ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مِيزَةٌ</a:t>
            </a:r>
            <a:pPr algn="l" indent="0" marL="0">
              <a:buNone/>
            </a:pPr>
            <a:r>
              <a:rPr lang="en-US" sz="1050" i="1" dirty="0">
                <a:solidFill>
                  <a:srgbClr val="8A6D1E"/>
                </a:solidFill>
                <a:latin typeface="Calibri" pitchFamily="34" charset="0"/>
                <a:cs typeface="Amiri" pitchFamily="2" charset="-78"/>
              </a:rPr>
              <a:t> means advantage.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مِنْ عُيُوبِ مَدِينَتِي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الشَّوَارِعَ مُكْتَظَّةٌ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بِـ</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before the clause.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“lacks”?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تَفْتَقِرُ إِلَى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تَتَمَيَّزُ بِـ</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أُوصِي بِـ</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تَفْتَقِرُ إِلَى</a:t>
            </a:r>
            <a:pPr algn="l" indent="0" marL="0">
              <a:buNone/>
            </a:pPr>
            <a:r>
              <a:rPr lang="en-US" sz="1050" i="1" dirty="0">
                <a:solidFill>
                  <a:srgbClr val="8A6D1E"/>
                </a:solidFill>
                <a:latin typeface="Calibri" pitchFamily="34" charset="0"/>
                <a:cs typeface="Amiri" pitchFamily="2" charset="-78"/>
              </a:rPr>
              <a:t> means lacks.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41</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balanced local review</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أَسْكُنُ فِي مَدِينَةٍ سَاحِلِيَّةٍ جَمِيلَةٍ. تَتَمَيَّزُ بِشَاطِئِهَا وَمَطَاعِمِهَا وَمَبَانِيهَا القَدِيمَةِ. مِنْ مَزَايَاهَا أَنَّ الحَيَاةَ فِيهَا نَشِيطَةٌ وَأَنَّ المَوَاصَلَاتِ العَامَّةَ رَخِيصَةٌ. مِنْ نَاحِيَةٍ أُخْرَى، تَزْدَحِمُ الشَّوَارِعُ فِي الصَّيْفِ، وَتَفْتَقِرُ بَعْضُ الأَحْيَاءِ إِلَى الحَدَائِقِ. بِالرَّغْمِ مِنْ ذٰلِكَ، أُوصِي بِزِيَارَةِ المَدِينَةِ لِأَنَّهَا مُرِيحَةٌ وَمُمْتِعَةٌ.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سَاحِلِيَّةٍ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coastal</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بِشَاطِئِهَا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by its beach</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مَبَانِيهَا القَدِيمَةِ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old buildings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الحَيَاةَ فِيهَا نَشِيطَةٌ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life there is lively</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رَخِيصَةٌ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cheap</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مِنْ نَاحِيَةٍ أُخْرَى</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 the other hand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تَزْدَحِمُ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get crowded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بَعْضُ الأَحْيَاءِ</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some neighbourhoods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بِالرَّغْمِ مِنْ ذَلِكَ</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despite that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أُوصِي بِزِيَارَةِ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recommend visiting</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41</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type of city is it?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mountain</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coastal</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industrial</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it distinguished by?</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airport and university</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quiet streets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beach, restaurants and old buildings</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public transport described?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cheap</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expensive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slow</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are the streets crowded?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winter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summer</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night</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some neighbourhoods lack?</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parks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markets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overall view?</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entirely negative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opinion</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positive but balanced</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41</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type of city is it?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mountain</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coastal</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industrial</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مَدِينَةٍ سَاحِلِيَّةٍ.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it distinguished by?</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airport and university</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quiet streets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beach, restaurants and old buildings</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second sentence lists these features.</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public transport described?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cheap</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expensive</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slow</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المَوَاصَلَاتُ العَامَّةُ رَخِيصَةٌ.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are the streets crowded?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winter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summer</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night</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الصَّيْفِ.</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some neighbourhoods lack?</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parks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markets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schools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تَفْتَقِرُ ... إِلَى الحَدَائِقِ.</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overall view?</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entirely negative</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opinion</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positive but balanced</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writer recommends visiting despite limitations.</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41</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F6-L05 · Describing Your Town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F6-L06: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F6-L06 · Shopping in Town: Prices and Comparisons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مَتْجَرٌ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shop</a:t>
            </a:r>
            <a:pPr indent="0" marL="0">
              <a:buNone/>
            </a:pPr>
            <a:r>
              <a:rPr lang="ar-SA" sz="1000" i="1" dirty="0">
                <a:solidFill>
                  <a:srgbClr val="5A6472"/>
                </a:solidFill>
                <a:latin typeface="Calibri" pitchFamily="34" charset="0"/>
                <a:ea typeface="Amiri" pitchFamily="2" charset="-78"/>
                <a:cs typeface="Amiri" pitchFamily="2" charset="-78"/>
              </a:rPr>
              <a:t>  pl. مَتَاجِرُ</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أَرْخَصُ مِنْ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cheaper than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أَغْلَى مِنْ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more expensive than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خَصْمٌ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discount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يَشْتَرِي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buys</a:t>
            </a:r>
            <a:pPr indent="0" marL="0">
              <a:buNone/>
            </a:pPr>
            <a:r>
              <a:rPr lang="ar-SA" sz="1000" i="1" dirty="0">
                <a:solidFill>
                  <a:srgbClr val="5A6472"/>
                </a:solidFill>
                <a:latin typeface="Calibri" pitchFamily="34" charset="0"/>
                <a:ea typeface="Amiri" pitchFamily="2" charset="-78"/>
                <a:cs typeface="Amiri" pitchFamily="2" charset="-78"/>
              </a:rPr>
              <a:t>  she: تَشْتَرِي</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Where do you buy clothes: a shopping centre, a market or online?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أَشْتَرِي المَلَابِسَ مِنْ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F6-L05: the vocabulary tab and the “Advantage or disadvantage?”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70–80 words with one advantage and one disadvantage (anna).</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balanced 80–100-word review with a recommendation.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41</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F6-L05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F6-L06 · Shopping in Town: Prices and Comparisons</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التَّسَوُّقُ فِي المَدِينَةِ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ea typeface="Amiri" pitchFamily="2" charset="-78"/>
                <a:cs typeface="Amiri" pitchFamily="2" charset="-78"/>
              </a:rPr>
              <a:t>مَدِينَتِي</a:t>
            </a:r>
            <a:pPr algn="l" indent="0" marL="0">
              <a:buNone/>
            </a:pPr>
            <a:r>
              <a:rPr lang="en-US" sz="1300" b="1" dirty="0">
                <a:solidFill>
                  <a:srgbClr val="FFFFFF"/>
                </a:solidFill>
                <a:latin typeface="Calibri" pitchFamily="34" charset="0"/>
                <a:cs typeface="Amiri" pitchFamily="2" charset="-78"/>
              </a:rPr>
              <a:t> + feminine adjective · </a:t>
            </a:r>
            <a:pPr algn="l" indent="0" marL="0">
              <a:buNone/>
            </a:pPr>
            <a:r>
              <a:rPr lang="ar-SA" altLang="en-US" sz="1700" b="1" dirty="0">
                <a:solidFill>
                  <a:srgbClr val="FFFFFF"/>
                </a:solidFill>
                <a:latin typeface="Amiri" pitchFamily="2" charset="-78"/>
                <a:ea typeface="Amiri" pitchFamily="2" charset="-78"/>
                <a:cs typeface="Amiri" pitchFamily="2" charset="-78"/>
              </a:rPr>
              <a:t>مِنْ مَزَايَا / عُيُوبِ … أَنَّ</a:t>
            </a:r>
            <a:pPr algn="l" indent="0" marL="0">
              <a:buNone/>
            </a:pPr>
            <a:r>
              <a:rPr lang="en-US" sz="1300" b="1" dirty="0">
                <a:solidFill>
                  <a:srgbClr val="FFFFFF"/>
                </a:solidFill>
                <a:latin typeface="Calibri" pitchFamily="34" charset="0"/>
                <a:cs typeface="Amiri" pitchFamily="2" charset="-78"/>
              </a:rPr>
              <a:t> … · end with a judgement.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F6-L05 · Describing Your Town: Advantages and Disadvantages</dc:title>
  <dc:subject>PptxGenJS Presentation</dc:subject>
  <dc:creator>Al Madina Online School · Arabic Department</dc:creator>
  <cp:lastModifiedBy>Al Madina Online School · Arabic Department</cp:lastModifiedBy>
  <cp:revision>1</cp:revision>
  <dcterms:created xsi:type="dcterms:W3CDTF">2026-10-11T06:41:54Z</dcterms:created>
  <dcterms:modified xsi:type="dcterms:W3CDTF">2026-10-11T06:41:54Z</dcterms:modified>
</cp:coreProperties>
</file>