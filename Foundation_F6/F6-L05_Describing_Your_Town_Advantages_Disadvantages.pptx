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F6-L05. The website lesson “Describing Your Town: Advantages and Disadvantages”: vocabulary, grammar rules and quiz, patterns, common mistakes, sorter, listening, reading, speaking prompts and model, writing task and model, differentiation, final check and the lesson mission. Picture match: website visual game “Describing Your Town: Advantages and Disadvantages”.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descriptive sentences with correct gender — مَدِينَتِي هَادِئَةٌ وَنَظِيفَةٌ (city = feminine!).
• Develop: one advantage and one disadvantage with أَنَّ in a connected paragraph.
• Stretch: a nuanced review with both argument frames, a distinctive feature (تَتَمَيَّزُ بِـ) and a recommendation (أُوصِي بِزِيَارَتِهَا).
• Website: “A strong opinion is supported by a precise feature, not just ‘good’ or ‘bad’.” · “Balanced writing is not negative writing.”
• Students may describe an imagined city (website task) — useful for anyone who prefers not to describe their real area.
• Synonyms: the prep word مُزْدَحِمٌ and the lesson word مُكْتَظٌّ both mean crowded.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F6-L04. Questions 3–5 retrieve F6-L04 (duration, platform) and F6-L01 (tūjadu).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City and town are feminine — and so are their adjectives. Then weigh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عیب (fault) → عَيْبٌ (a disadvantage). امتیاز (distinction) shares its root with مِيزَةٌ and تَتَمَيَّزُ (is distinguished). خطرناک (Persian ending on Arabic خطر) → خَطِيرٌ. امن (peace) → آمِنٌ (safe). “Despite” is new: Urdu باوجود vs Arabic بِالرَّغْمِ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Town description (website vocabulary (1 of 3)). Hear → Say → See → Use. Transliteration is printed for Core students (cover it for Develop/Stretch).
Every card: masculine / feminine. For a CITY use the feminine. For plural things (streets, parks) also use the feminine singular: الشَّوَارِعُ مُكْتَظَّةٌ، الحَدَائِقُ 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Town description (website vocabulary (2 of 3)). Hear → Say → See → Use. Transliteration is printed for Core students (cover it for Develop/Stretch).
Every card: masculine / feminine. For a CITY use the feminine. For plural things (streets, parks) also use the feminine singular: الشَّوَارِعُ مُكْتَظَّةٌ، الحَدَائِقُ 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Town description (website vocabulary (3 of 3)). Hear → Say → See → Use. Transliteration is printed for Core students (cover it for Develop/Stretch).
Every card: masculine / feminine. For a CITY use the feminine. For plural things (streets, parks) also use the feminine singular: الشَّوَارِعُ مُكْتَظَّةٌ، الحَدَائِقُ 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Balanced opinion (website vocabulary (1 of 2)). Hear → Say → See → Use. Transliteration is printed for Core students (cover it for Develop/Stretch).
FLEX: teach if time allows; otherwise these are on the website vocabulary tab for homework.
FLEX: the argument frames are on the grammar slides. مِنْ نَاحِيَةٍ … وَمِنْ نَاحِيَةٍ أُخْرَى = on one hand … on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Balanced opinion (website vocabulary (2 of 2)). Hear → Say → See → Use. Transliteration is printed for Core students (cover it for Develop/Stretch).
FLEX: teach if time allows; otherwise these are on the website vocabulary tab for homework.
FLEX: the argument frames are on the grammar slides. مِنْ نَاحِيَةٍ … وَمِنْ نَاحِيَةٍ أُخْرَى = on one hand … on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“Make adjectives agree” (مَدِينَةٌ / بَلْدَةٌ / قَرْيَةٌ + feminine adjective) and “Highlight a distinctive feature” (تَتَمَيَّزُ + المَدِينَةُ + بِـ — the verb is feminine with مَدِينَةٌ).
Website mistakes: مَدِينَتِي حَدِيثٌ ✗ → حَدِيثَةٌ ✓ · يَتَمَيَّزُ المَدِينَةُ ✗ → تَتَمَيَّزُ المَدِينَةُ ✓.
Link: F5-L04 (agreement follows the noun) and F6-L04 (the verb agrees with its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“Introduce an advantage” and “Introduce a disadvantage” (مِنْ مَزَايَا / مِنْ عُيُوبِ + place + أَنَّ + clause).
After أَنَّ the subject ends in -a: أَنَّ المَوَاصَلَاتِ، أَنَّ الشَّوَارِعَ. With a pronoun: أَنَّهَا آمِنَةٌ (the city), أَنَّهُ آمِنٌ (the neighbourhood).
Website: “Use a real contrast rather than repeating the same idea negatively.”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mature description gives evidence on both sides. Use مِنْ مَزَايَا... أَنَّ and مِنْ عُيُوبِ... أَنَّ, then control adjective gender because مَدِينَةٌ and بَلْدَةٌ are feminine.”
• Introduce an advantage: The structure opens a complete clause after أَنَّ.
• Introduce a disadvantage: Use a real contrast rather than repeating the same idea negatively.
• Highlight a distinctive feature: The verb is feminine with مَدِينَةٌ. Attach بِـ to the feature.
• Make adjectives agree: The adjective follows the feminine form when describing the city, town or village.
Website common error: Do not write مَدِينَتِي جَمِيلٌ. Because مَدِينَةٌ is feminine, write مَدِينَتِي 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then replace the advantage and disadvantage with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how each feature would normally function in a town review.
Turn two cards into full sentences: مِنْ مَزَايَا مَدِينَتِي أَنَّ … / مِنْ عُيُوبِهَا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how each feature would normally function in a town review.
Turn two cards into full sentences: مِنْ مَزَايَا مَدِينَتِي أَنَّ … / مِنْ عُيُوبِهَا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then say which town you prefer and why.
Listen 1: just listen. Listen 2: note answers. Then chat the letters.
Support: after the second listening, show the read-along slide (Arabic + English, line by line) for Core students.
SCRIPT (read aloud):
سَلْمَى: أُحِبُّ مَدِينَتِي لِأَنَّهَا حَدِيثَةٌ وَنَظِيفَةٌ. مِنْ مَزَايَاهَا أَنَّ المَوَاصَلَاتِ سَرِيعَةٌ وَأَنَّ فِيهَا حَدَائِقَ كَثِيرَةً. وَلٰكِنَّ الشَّوَارِعَ مُكْتَظَّةٌ. عُمَر: أَنَا أَسْكُنُ فِي بَلْدَةٍ صَغِيرَةٍ. هِيَ هَادِئَةٌ وَآمِنَةٌ، وَتَتَمَيَّزُ بِسُوقِهَا التَّقْلِيدِيِّ. مِنْ عُيُوبِهَا أَنَّهَا تَفْتَقِرُ إِلَى الجَامِعَاتِ وَالقِطَارَاتِ.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أَكْبَرُ عَيْبٍ؟ (And the biggest disadvantage?)
B: الشَّوَارِعُ مُكْتَظَّةٌ، وَلٰكِنِّي أُوصِي بِزِيَارَتِهَا. (The streets are crowded, but I recommend visiting it.)
Website “Town review panel” — all four prompts are the website’s. Panel format: one student describes, two “judges” ask about the advantage and disadvantage. Website model: مَا أَهَمُّ مِيزَةٍ فِي مَدِينَتِكَ؟ — مِنْ مَزَايَاهَا أَنَّ المَوَاصَلَاتِ جَيِّدَةٌ وَأَنَّ الأَحْيَاءَ آمِنَةٌ. — وَمَا أَكْبَرُ عَيْبٍ؟ — الشَّوَارِعُ مُكْتَظَّةٌ، وَلَكِنِّي أُوصِي بِزِيَارَتِهَا.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descriptive sentences with correct gender. · Develop — Present one advantage and disadvantage in a connected paragraph. · Stretch — Write a nuanced review using both argument frames, a distinctive feature and a recommendation.
Website writing task (Stretch): Write a balanced 80–100-word review of your town, village or an imagined city.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تَتَمَيَّزُ بِحَدَائِقِهَا · مِنْ مَزَايَاهَا أَنَّ · مِنْ عُيُوبِهَا أَنَّ · بِالرَّغْمِ مِنْ ذَلِكَ، أُوصِي بِزِيَارَتِهَا. Adjectives: حَدِيثَةٌ، آمِنَةٌ، قَرِيبَةٌ، صَاخِبٌ، مُكْتَظَّةٌ.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(F6-L06 · Shopping in Town: Prices and Comparisons) will spend class time USING this language, so students prepare it tonight — short, simple, easy to access (school guidance: “Simple, Short, Interesting, Relevant, Easy to access”). The five words come from the website F6-L06 lesson (shopping, prices and comparisons).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Describing Your Town: Advantages and Disadvantages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وَصْفُ مَدِينَتِكَ — المَزَايَا وَالعُيُوبُ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town with agreeing adjectives, then give a balanced view: </a:t>
            </a:r>
            <a:pPr algn="l" indent="0" marL="0">
              <a:buNone/>
            </a:pPr>
            <a:r>
              <a:rPr lang="ar-SA" altLang="en-US" sz="1800" dirty="0">
                <a:solidFill>
                  <a:srgbClr val="C6D2E6"/>
                </a:solidFill>
                <a:latin typeface="Amiri" pitchFamily="34" charset="0"/>
                <a:ea typeface="Amiri" pitchFamily="34" charset="-122"/>
                <a:cs typeface="Amiri" pitchFamily="34" charset="-120"/>
              </a:rPr>
              <a:t>مِنْ مَزَايَا مَدِينَتِي أَنَّ</a:t>
            </a:r>
            <a:pPr algn="l" indent="0" marL="0">
              <a:buNone/>
            </a:pPr>
            <a:r>
              <a:rPr lang="en-US" sz="1400" dirty="0">
                <a:solidFill>
                  <a:srgbClr val="C6D2E6"/>
                </a:solidFill>
                <a:latin typeface="Calibri" pitchFamily="34" charset="0"/>
                <a:ea typeface="Calibri" pitchFamily="34" charset="-122"/>
                <a:cs typeface="Calibri" pitchFamily="34" charset="-120"/>
              </a:rPr>
              <a:t> … · </a:t>
            </a:r>
            <a:pPr algn="l" indent="0" marL="0">
              <a:buNone/>
            </a:pPr>
            <a:r>
              <a:rPr lang="ar-SA" altLang="en-US" sz="1800" dirty="0">
                <a:solidFill>
                  <a:srgbClr val="C6D2E6"/>
                </a:solidFill>
                <a:latin typeface="Amiri" pitchFamily="34" charset="0"/>
                <a:ea typeface="Amiri" pitchFamily="34" charset="-122"/>
                <a:cs typeface="Amiri" pitchFamily="34" charset="-120"/>
              </a:rPr>
              <a:t>مِنْ عُيُوبِهَا أَنَّ</a:t>
            </a:r>
            <a:pPr algn="l" indent="0" marL="0">
              <a:buNone/>
            </a:pPr>
            <a:r>
              <a:rPr lang="en-US" sz="1400" dirty="0">
                <a:solidFill>
                  <a:srgbClr val="C6D2E6"/>
                </a:solidFill>
                <a:latin typeface="Calibri" pitchFamily="34" charset="0"/>
                <a:ea typeface="Calibri" pitchFamily="34" charset="-122"/>
                <a:cs typeface="Calibri" pitchFamily="34" charset="-120"/>
              </a:rPr>
              <a:t> … · </a:t>
            </a:r>
            <a:pPr algn="l" indent="0" marL="0">
              <a:buNone/>
            </a:pPr>
            <a:r>
              <a:rPr lang="ar-SA" altLang="en-US" sz="1800" dirty="0">
                <a:solidFill>
                  <a:srgbClr val="C6D2E6"/>
                </a:solidFill>
                <a:latin typeface="Amiri" pitchFamily="34" charset="0"/>
                <a:ea typeface="Amiri" pitchFamily="34" charset="-122"/>
                <a:cs typeface="Amiri" pitchFamily="34" charset="-120"/>
              </a:rPr>
              <a:t>تَتَمَيَّزُ بِـ</a:t>
            </a:r>
            <a:pPr algn="l" indent="0" marL="0">
              <a:buNone/>
            </a:pPr>
            <a:r>
              <a:rPr lang="en-US" sz="1400" dirty="0">
                <a:solidFill>
                  <a:srgbClr val="C6D2E6"/>
                </a:solidFill>
                <a:latin typeface="Calibri" pitchFamily="34" charset="0"/>
                <a:ea typeface="Calibri" pitchFamily="34" charset="-122"/>
                <a:cs typeface="Calibri" pitchFamily="34" charset="-120"/>
              </a:rPr>
              <a:t> … · </a:t>
            </a:r>
            <a:pPr algn="l" indent="0" marL="0">
              <a:buNone/>
            </a:pPr>
            <a:r>
              <a:rPr lang="ar-SA" altLang="en-US" sz="1800" dirty="0">
                <a:solidFill>
                  <a:srgbClr val="C6D2E6"/>
                </a:solidFill>
                <a:latin typeface="Amiri" pitchFamily="34" charset="0"/>
                <a:ea typeface="Amiri" pitchFamily="34" charset="-122"/>
                <a:cs typeface="Amiri" pitchFamily="34" charset="-120"/>
              </a:rPr>
              <a:t>تَفْتَقِرُ إِلَى</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F6-L05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Town adjectives (m. / f.), then the argument frames with </a:t>
            </a:r>
            <a:pPr algn="ctr" indent="0" marL="0">
              <a:buNone/>
            </a:pPr>
            <a:r>
              <a:rPr lang="ar-SA" altLang="en-US" sz="1550" dirty="0">
                <a:solidFill>
                  <a:srgbClr val="1F2A37"/>
                </a:solidFill>
                <a:latin typeface="Amiri" pitchFamily="34" charset="0"/>
                <a:ea typeface="Amiri" pitchFamily="34" charset="-122"/>
                <a:cs typeface="Amiri" pitchFamily="34" charset="-120"/>
              </a:rPr>
              <a:t>أَنَّ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ea typeface="Calibri" pitchFamily="34" charset="-122"/>
                <a:cs typeface="Calibri" pitchFamily="34" charset="-120"/>
              </a:rPr>
              <a:t>Sort advantages and disadvantages, fix the agreement and listen to Salma and Omar compare towns.</a:t>
            </a:r>
            <a:endParaRPr lang="en-US" sz="11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مَزَايَا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disadvantages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advantages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prices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مُزْدَحِمٌ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crowded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____ </a:t>
            </a:r>
            <a:pPr algn="l" indent="0" marL="0">
              <a:buNone/>
            </a:pPr>
            <a:r>
              <a:rPr lang="ar-SA" altLang="en-US" sz="1650" b="1" dirty="0">
                <a:solidFill>
                  <a:srgbClr val="1B3B6F"/>
                </a:solidFill>
                <a:latin typeface="Amiri" pitchFamily="34" charset="0"/>
                <a:ea typeface="Amiri" pitchFamily="34" charset="-122"/>
                <a:cs typeface="Amiri" pitchFamily="34" charset="-120"/>
              </a:rPr>
              <a:t>الرِّحْلَةُ سَاعَتَيْنِ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أَسْتَغْرِقُ</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تَسْتَغْرِقُ</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“from which platform?”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الرَّصِيفُ؟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رَصِيفًا؟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 رَصِيفٍ؟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مَزَايَا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disadvantages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advantages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prices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مُزْدَحِمٌ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crowded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quiet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clean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(F6-L04). The lesson also uses </a:t>
            </a:r>
            <a:pPr algn="l" indent="0" marL="0">
              <a:buNone/>
            </a:pPr>
            <a:r>
              <a:rPr lang="ar-SA" altLang="en-US" sz="1350" dirty="0">
                <a:solidFill>
                  <a:srgbClr val="8A6D1E"/>
                </a:solidFill>
                <a:latin typeface="Amiri" pitchFamily="34" charset="0"/>
                <a:ea typeface="Amiri" pitchFamily="34" charset="-122"/>
                <a:cs typeface="Amiri" pitchFamily="34" charset="-120"/>
              </a:rPr>
              <a:t>مُكْتَظٌّ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____ </a:t>
            </a:r>
            <a:pPr algn="l" indent="0" marL="0">
              <a:buNone/>
            </a:pPr>
            <a:r>
              <a:rPr lang="ar-SA" altLang="en-US" sz="1650" b="1" dirty="0">
                <a:solidFill>
                  <a:srgbClr val="1B3B6F"/>
                </a:solidFill>
                <a:latin typeface="Amiri" pitchFamily="34" charset="0"/>
                <a:ea typeface="Amiri" pitchFamily="34" charset="-122"/>
                <a:cs typeface="Amiri" pitchFamily="34" charset="-120"/>
              </a:rPr>
              <a:t>الرِّحْلَةُ سَاعَتَيْنِ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يَسْتَغْرِقُ</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أَسْتَغْرِقُ</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تَسْتَغْرِقُ</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F6-L04: journey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“from which platform?”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الرَّصِيفُ؟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رَصِيفًا؟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أَيِّ رَصِيفٍ؟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F6-L04 ticket questions.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F6-L01: feminine place → tūjadu.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City and town are feminine — and so are their adjectives. Then weigh both sides.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مَدِينَتِي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هَادِئَةٌ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وَلَكِنَّ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الشَّوَارِعَ مُكْتَظَّةٌ.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wide adjective range to describe towns.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masculine and feminine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Present advantages and disadvantages.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balanced 70–80-word local-area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town with four adjectives.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them agree (</a:t>
            </a:r>
            <a:pPr algn="l" indent="0" marL="0">
              <a:buNone/>
            </a:pPr>
            <a:r>
              <a:rPr lang="ar-SA" altLang="en-US" sz="1700" b="1" dirty="0">
                <a:solidFill>
                  <a:srgbClr val="2E8B57"/>
                </a:solidFill>
                <a:latin typeface="Amiri" pitchFamily="34" charset="0"/>
                <a:ea typeface="Amiri" pitchFamily="34" charset="-122"/>
                <a:cs typeface="Amiri" pitchFamily="34" charset="-120"/>
              </a:rPr>
              <a:t>مَدِينَتِي جَمِيلَةٌ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an advantage and a disadvantage with </a:t>
            </a:r>
            <a:pPr algn="l" indent="0" marL="0">
              <a:buNone/>
            </a:pPr>
            <a:r>
              <a:rPr lang="ar-SA" altLang="en-US" sz="1700" b="1" dirty="0">
                <a:solidFill>
                  <a:srgbClr val="C9780A"/>
                </a:solidFill>
                <a:latin typeface="Amiri" pitchFamily="34" charset="0"/>
                <a:ea typeface="Amiri" pitchFamily="34" charset="-122"/>
                <a:cs typeface="Amiri" pitchFamily="34" charset="-120"/>
              </a:rPr>
              <a:t>أَنَّ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تَتَمَيَّزُ بِـ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review.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end with a recommendation.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23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Town description · 14</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Balanced opinion · 9</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عَيْبٌ</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‎عیب‎ </a:t>
            </a:r>
            <a:pPr indent="0" marL="0">
              <a:buNone/>
            </a:pPr>
            <a:r>
              <a:rPr lang="en-US" sz="950" b="1" dirty="0">
                <a:solidFill>
                  <a:srgbClr val="2E8B57"/>
                </a:solidFill>
                <a:latin typeface="Calibri" pitchFamily="34" charset="0"/>
                <a:ea typeface="Calibri" pitchFamily="34" charset="-122"/>
                <a:cs typeface="Calibri" pitchFamily="34" charset="-120"/>
              </a:rPr>
              <a:t> aib · fault → disadvantage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مُمْتَازٌ · مِيزَةٌ</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‎امتیاز‎ </a:t>
            </a:r>
            <a:pPr indent="0" marL="0">
              <a:buNone/>
            </a:pPr>
            <a:r>
              <a:rPr lang="en-US" sz="950" b="1" dirty="0">
                <a:solidFill>
                  <a:srgbClr val="2E8B57"/>
                </a:solidFill>
                <a:latin typeface="Calibri" pitchFamily="34" charset="0"/>
                <a:ea typeface="Calibri" pitchFamily="34" charset="-122"/>
                <a:cs typeface="Calibri" pitchFamily="34" charset="-120"/>
              </a:rPr>
              <a:t> imtiyāz · distinction → advantage</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خَطِيرٌ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‎خطرناک‎ </a:t>
            </a:r>
            <a:pPr indent="0" marL="0">
              <a:buNone/>
            </a:pPr>
            <a:r>
              <a:rPr lang="en-US" sz="950" b="1" dirty="0">
                <a:solidFill>
                  <a:srgbClr val="2E8B57"/>
                </a:solidFill>
                <a:latin typeface="Calibri" pitchFamily="34" charset="0"/>
                <a:ea typeface="Calibri" pitchFamily="34" charset="-122"/>
                <a:cs typeface="Calibri" pitchFamily="34" charset="-120"/>
              </a:rPr>
              <a:t> khatarnāk · dangerous</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آمِنٌ</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‎امن‎ </a:t>
            </a:r>
            <a:pPr indent="0" marL="0">
              <a:buNone/>
            </a:pPr>
            <a:r>
              <a:rPr lang="en-US" sz="950" b="1" dirty="0">
                <a:solidFill>
                  <a:srgbClr val="2E8B57"/>
                </a:solidFill>
                <a:latin typeface="Calibri" pitchFamily="34" charset="0"/>
                <a:ea typeface="Calibri" pitchFamily="34" charset="-122"/>
                <a:cs typeface="Calibri" pitchFamily="34" charset="-120"/>
              </a:rPr>
              <a:t> aman · peace → safe</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بِالرَّغْمِ</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‎باوجود‎ </a:t>
            </a:r>
            <a:pPr indent="0" marL="0">
              <a:buNone/>
            </a:pPr>
            <a:r>
              <a:rPr lang="en-US" sz="950" b="1" dirty="0">
                <a:solidFill>
                  <a:srgbClr val="2E8B57"/>
                </a:solidFill>
                <a:latin typeface="Calibri" pitchFamily="34" charset="0"/>
                <a:ea typeface="Calibri" pitchFamily="34" charset="-122"/>
                <a:cs typeface="Calibri" pitchFamily="34" charset="-120"/>
              </a:rPr>
              <a:t> bāwujūd · despite (a new word)</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Town description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مِيزَةٌ / مَزَايَا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advantage / advantages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mī-za-tun / ma-zā-yā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عَيْبٌ / عُيُوبٌ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disadvantage / disadvantages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ʿay-bun / ʿu-yū-bun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مُكْتَظٌّ / مُكْتَظَّةٌ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crowded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muk-taẓ-ẓun / muk-taẓ-ẓa-tun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صَاخِبٌ / صَاخِبَةٌ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noisy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ṣā-khi-bun / ṣā-khi-ba-tun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Town description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نَظِيفٌ / نَظِيفَةٌ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clean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na-ẓī-fun / na-ẓī-fa-tun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قَذِرٌ / قَذِرَةٌ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qa-dhi-run / qa-dhi-ra-tun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آمِنٌ / آمِنَةٌ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safe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ā-mi-nun / ā-mi-na-tun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خَطِيرٌ / خَطِيرَةٌ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dangerous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kha-ṭī-run / kha-ṭī-ra-tun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جَمِيلٌ / جَمِيلَةٌ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beautiful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ja-mī-lun / ja-mī-la-tun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Town description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حَدِيثٌ / حَدِيثَةٌ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ḥa-dī-thun / ḥa-dī-tha-tun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نَشِيطٌ / نَشِيطَةٌ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na-shī-ṭun / na-shī-ṭa-tun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مُمِلٌّ / مُمِلَّةٌ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mu-mil-lun / mu-mil-la-tun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Balanced opinion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مَزَايَا مَدِينَتِي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advantage of my city is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ma-zā-yā ma-dī-na-tī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عُيُوبِ مَدِينَتِي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disadvantage of my city is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ʿu-yū-bi ma-dī-na-tī an-na...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تَتَمَيَّزُ بِـ</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ta-ta-may-ya-zu bi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تَفْتَقِرُ إِلَى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taf-ta-qi-ru i-lā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Balanced opinion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وَمِنْ نَاحِيَةٍ أُخْرَى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بِالرَّغْمِ مِنْ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despite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bilr-ragh-mi min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بِصِفَةٍ عَامَّةٍ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overall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bi-ṣi-fa-tin ʿām-ma-tin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أُوصِي بِزِيَارَةِ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recommend visiting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ū-ṣī bi-zi-yā-ra-ti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1 · AGREEMENT AND DISTINCTIVE FEATURES (WEBSITE RULES 3 AND 4)</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city is modern and clean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مَدِينَةٌ حَدِيثَةٌ وَنَظِيفَةٌ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place</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place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245352" y="2286000"/>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الحَيُّ </a:t>
            </a:r>
            <a:pPr rtl="1" algn="ctr" indent="0" marL="0">
              <a:buNone/>
            </a:pPr>
            <a:r>
              <a:rPr lang="ar-SA" altLang="en-US" sz="2100" b="1" dirty="0">
                <a:solidFill>
                  <a:srgbClr val="1D5FBF"/>
                </a:solidFill>
                <a:latin typeface="Amiri" pitchFamily="34" charset="0"/>
                <a:ea typeface="Amiri" pitchFamily="34" charset="-122"/>
                <a:cs typeface="Amiri" pitchFamily="34" charset="-120"/>
              </a:rPr>
              <a:t>آمِنٌ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وَ</a:t>
            </a:r>
            <a:pPr rtl="1" algn="ctr" indent="0" marL="0">
              <a:buNone/>
            </a:pPr>
            <a:r>
              <a:rPr lang="ar-SA" altLang="en-US" sz="2100" b="1" dirty="0">
                <a:solidFill>
                  <a:srgbClr val="1D5FBF"/>
                </a:solidFill>
                <a:latin typeface="Amiri" pitchFamily="34" charset="0"/>
                <a:ea typeface="Amiri" pitchFamily="34" charset="-122"/>
                <a:cs typeface="Amiri" pitchFamily="34" charset="-120"/>
              </a:rPr>
              <a:t>هَادِئٌ</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0" name="Text 17"/>
          <p:cNvSpPr txBox="1"/>
          <p:nvPr/>
        </p:nvSpPr>
        <p:spPr>
          <a:xfrm>
            <a:off x="6199632" y="2706624"/>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neighbourhood is safe and quiet.</a:t>
            </a:r>
            <a:endParaRPr lang="en-US" sz="950" dirty="0"/>
          </a:p>
        </p:txBody>
      </p:sp>
      <p:sp>
        <p:nvSpPr>
          <p:cNvPr id="21" name="Text 18"/>
          <p:cNvSpPr txBox="1"/>
          <p:nvPr/>
        </p:nvSpPr>
        <p:spPr>
          <a:xfrm>
            <a:off x="548640" y="2286000"/>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المَدِينَةُ </a:t>
            </a:r>
            <a:pPr rtl="1" algn="ctr" indent="0" marL="0">
              <a:buNone/>
            </a:pPr>
            <a:r>
              <a:rPr lang="ar-SA" altLang="en-US" sz="2100" b="1" dirty="0">
                <a:solidFill>
                  <a:srgbClr val="D6336C"/>
                </a:solidFill>
                <a:latin typeface="Amiri" pitchFamily="34" charset="0"/>
                <a:ea typeface="Amiri" pitchFamily="34" charset="-122"/>
                <a:cs typeface="Amiri" pitchFamily="34" charset="-120"/>
              </a:rPr>
              <a:t>آمِنَةٌ</a:t>
            </a:r>
            <a:pPr rtl="1" algn="ctr" indent="0" marL="0">
              <a:buNone/>
            </a:pPr>
            <a:r>
              <a:rPr lang="ar-SA" altLang="en-US" sz="2100" b="1" dirty="0">
                <a:solidFill>
                  <a:srgbClr val="1B3B6F"/>
                </a:solidFill>
                <a:latin typeface="Amiri" pitchFamily="34" charset="0"/>
                <a:ea typeface="Amiri" pitchFamily="34" charset="-122"/>
                <a:cs typeface="Amiri" pitchFamily="34" charset="-120"/>
              </a:rPr>
              <a:t> وَ</a:t>
            </a:r>
            <a:pPr rtl="1" algn="ctr" indent="0" marL="0">
              <a:buNone/>
            </a:pPr>
            <a:r>
              <a:rPr lang="ar-SA" altLang="en-US" sz="21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2" name="Text 19"/>
          <p:cNvSpPr txBox="1"/>
          <p:nvPr/>
        </p:nvSpPr>
        <p:spPr>
          <a:xfrm>
            <a:off x="502920" y="2706624"/>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city is safe and quiet.</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45352" y="3072384"/>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مَرْكَزُ المَدِينَةِ </a:t>
            </a:r>
            <a:pPr rtl="1" algn="ctr" indent="0" marL="0">
              <a:buNone/>
            </a:pPr>
            <a:r>
              <a:rPr lang="ar-SA" altLang="en-US" sz="2100" b="1" dirty="0">
                <a:solidFill>
                  <a:srgbClr val="1D5FBF"/>
                </a:solidFill>
                <a:latin typeface="Amiri" pitchFamily="34" charset="0"/>
                <a:ea typeface="Amiri" pitchFamily="34" charset="-122"/>
                <a:cs typeface="Amiri" pitchFamily="34" charset="-120"/>
              </a:rPr>
              <a:t>صَاخِبٌ</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7" name="Text 24"/>
          <p:cNvSpPr txBox="1"/>
          <p:nvPr/>
        </p:nvSpPr>
        <p:spPr>
          <a:xfrm>
            <a:off x="6199632" y="3493008"/>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city centre is noisy.</a:t>
            </a:r>
            <a:endParaRPr lang="en-US" sz="950" dirty="0"/>
          </a:p>
        </p:txBody>
      </p:sp>
      <p:sp>
        <p:nvSpPr>
          <p:cNvPr id="28" name="Text 25"/>
          <p:cNvSpPr txBox="1"/>
          <p:nvPr/>
        </p:nvSpPr>
        <p:spPr>
          <a:xfrm>
            <a:off x="548640" y="3072384"/>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قَرْيَتِي </a:t>
            </a:r>
            <a:pPr rtl="1" algn="ctr" indent="0" marL="0">
              <a:buNone/>
            </a:pPr>
            <a:r>
              <a:rPr lang="ar-SA" altLang="en-US" sz="2100" b="1" dirty="0">
                <a:solidFill>
                  <a:srgbClr val="D6336C"/>
                </a:solidFill>
                <a:latin typeface="Amiri" pitchFamily="34" charset="0"/>
                <a:ea typeface="Amiri" pitchFamily="34" charset="-122"/>
                <a:cs typeface="Amiri" pitchFamily="34" charset="-120"/>
              </a:rPr>
              <a:t>جَمِيلَةٌ</a:t>
            </a:r>
            <a:pPr rtl="1" algn="ctr" indent="0" marL="0">
              <a:buNone/>
            </a:pPr>
            <a:r>
              <a:rPr lang="ar-SA" altLang="en-US" sz="2100" b="1" dirty="0">
                <a:solidFill>
                  <a:srgbClr val="1B3B6F"/>
                </a:solidFill>
                <a:latin typeface="Amiri" pitchFamily="34" charset="0"/>
                <a:ea typeface="Amiri" pitchFamily="34" charset="-122"/>
                <a:cs typeface="Amiri" pitchFamily="34" charset="-120"/>
              </a:rPr>
              <a:t> وَلَكِنَّهَا بَعِيدَةٌ.</a:t>
            </a:r>
            <a:endParaRPr lang="ar-SA" sz="2100" dirty="0"/>
          </a:p>
        </p:txBody>
      </p:sp>
      <p:sp>
        <p:nvSpPr>
          <p:cNvPr id="29" name="Text 26"/>
          <p:cNvSpPr txBox="1"/>
          <p:nvPr/>
        </p:nvSpPr>
        <p:spPr>
          <a:xfrm>
            <a:off x="502920" y="3493008"/>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village is beautiful but far away.</a:t>
            </a:r>
            <a:endParaRPr lang="en-US" sz="950" dirty="0"/>
          </a:p>
        </p:txBody>
      </p:sp>
      <p:sp>
        <p:nvSpPr>
          <p:cNvPr id="30" name="Shape 27"/>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6245352" y="3858768"/>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يَتَمَيَّزُ</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الحَيُّ بِحَدَائِقِهِ.</a:t>
            </a:r>
            <a:endParaRPr lang="ar-SA" sz="2100" dirty="0"/>
          </a:p>
        </p:txBody>
      </p:sp>
      <p:sp>
        <p:nvSpPr>
          <p:cNvPr id="34" name="Text 31"/>
          <p:cNvSpPr txBox="1"/>
          <p:nvPr/>
        </p:nvSpPr>
        <p:spPr>
          <a:xfrm>
            <a:off x="6199632" y="4279392"/>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area is distinguished by its parks.</a:t>
            </a:r>
            <a:endParaRPr lang="en-US" sz="950" dirty="0"/>
          </a:p>
        </p:txBody>
      </p:sp>
      <p:sp>
        <p:nvSpPr>
          <p:cNvPr id="35" name="Text 32"/>
          <p:cNvSpPr txBox="1"/>
          <p:nvPr/>
        </p:nvSpPr>
        <p:spPr>
          <a:xfrm>
            <a:off x="548640" y="3858768"/>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تَتَمَيَّزُ</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المَدِينَةُ بِأَسْوَاقِهَا القَدِيمَةِ.</a:t>
            </a:r>
            <a:endParaRPr lang="ar-SA" sz="2100" dirty="0"/>
          </a:p>
        </p:txBody>
      </p:sp>
      <p:sp>
        <p:nvSpPr>
          <p:cNvPr id="36" name="Text 33"/>
          <p:cNvSpPr txBox="1"/>
          <p:nvPr/>
        </p:nvSpPr>
        <p:spPr>
          <a:xfrm>
            <a:off x="502920" y="4279392"/>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city is known for its old markets.</a:t>
            </a:r>
            <a:endParaRPr lang="en-US" sz="9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245352" y="4645152"/>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يَفْتَقِرُ</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الحَيُّ إِلَى مَكْتَبَةٍ.</a:t>
            </a:r>
            <a:endParaRPr lang="ar-SA" sz="2100" dirty="0"/>
          </a:p>
        </p:txBody>
      </p:sp>
      <p:sp>
        <p:nvSpPr>
          <p:cNvPr id="39" name="Text 36"/>
          <p:cNvSpPr txBox="1"/>
          <p:nvPr/>
        </p:nvSpPr>
        <p:spPr>
          <a:xfrm>
            <a:off x="6199632" y="5065776"/>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area lacks a library.</a:t>
            </a:r>
            <a:endParaRPr lang="en-US" sz="950" dirty="0"/>
          </a:p>
        </p:txBody>
      </p:sp>
      <p:sp>
        <p:nvSpPr>
          <p:cNvPr id="40" name="Text 37"/>
          <p:cNvSpPr txBox="1"/>
          <p:nvPr/>
        </p:nvSpPr>
        <p:spPr>
          <a:xfrm>
            <a:off x="548640" y="4645152"/>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تَفْتَقِرُ</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البَلْدَةُ إِلَى مُسْتَشْفًى.</a:t>
            </a:r>
            <a:endParaRPr lang="ar-SA" sz="2100" dirty="0"/>
          </a:p>
        </p:txBody>
      </p:sp>
      <p:sp>
        <p:nvSpPr>
          <p:cNvPr id="41" name="Text 38"/>
          <p:cNvSpPr txBox="1"/>
          <p:nvPr/>
        </p:nvSpPr>
        <p:spPr>
          <a:xfrm>
            <a:off x="502920" y="5065776"/>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town lacks a hospital.</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madīnatī jamīla, not jamīl. Plural things take the feminine too: ash-shawāriʿu muktaẓẓa.</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A BALANCED ARGUMENT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One advantage … one disadvantage …</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مَزَايَا … مِنْ عُيُوبِ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ADVANTAGE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مَزَايَا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مَزَايَا مَدِينَتِي أَنَّ المَوَاصَلَاتِ سَرِيعَةٌ.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of my city is that transport is fast.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 full sentence.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DISADVANTAGE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عُيُوبِ …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مِنْ عُيُوبِهَا أَنَّ الشَّوَارِعَ مُكْتَظَّةٌ.</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disadvantage is that the streets are crowded.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real contrast.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OVERALL</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بِالرَّغْمِ مِنْ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بِالرَّغْمِ مِنْ ذَلِكَ، أُوصِي بِزِيَارَتِهَا.</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Despite that, I recommend visiting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End with a judgement.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add anna before the clause.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مِنْ مَزَايَا مَدِينَتِي أَنَّ المَوَاصَلَاتِ جَيِّدَةٌ.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مِنْ مَزَايَا مَدِينَتِي المَوَاصَلَاتُ جَيِّدَةٌ.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34" charset="0"/>
                <a:ea typeface="Amiri" pitchFamily="34" charset="-122"/>
                <a:cs typeface="Amiri" pitchFamily="34" charset="-120"/>
              </a:rPr>
              <a:t>الوَصْفُ المُتَوَازِنُ لِلْمَدِينَةِ وَالمُطَابَقَةُ</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Introduce an advantage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 المَكَانِ + أَنَّ...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مَزَايَا مَدِينَتِي أَنَّ المَوَاصَلَاتِ سَرِيعَةٌ.   ·   مِنْ مَزَايَا الحَيِّ أَنَّهُ آمِنٌ.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Introduce a disadvantage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عُيُوبِ + المَكَانِ +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مِنْ عُيُوبِ مَدِينَتِي أَنَّ الشَّوَارِعَ مُكْتَظَّةٌ.   ·   مِنْ عُيُوبِ القَرْيَةِ أَنَّهَا تَفْتَقِرُ إِلَى المَوَاصَلَاتِ.</a:t>
            </a:r>
            <a:endParaRPr lang="ar-SA" sz="19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Highlight a distinctive feature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تَتَمَيَّزُ + المَدِينَةُ +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تَتَمَيَّزُ المَدِينَةُ بِأَسْوَاقِهَا القَدِيمَةِ.   ·   يَتَمَيَّزُ الحَيُّ بِحَدَائِقِهِ الكَثِيرَةِ.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Make adjectives agree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مَدِينَةٌ + صِفَةٌ مُؤَنَّثَةٌ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مَدِينَةٌ حَدِيثَةٌ وَنَظِيفَةٌ.   ·   قَرْيَةٌ هَادِئَةٌ وَلٰكِنَّهَا بَعِيدَةٌ.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city description.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مَدِينَتِي جَمِيلٌ وَحَدِيثٌ.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مَدِينَتِي جَمِيلَاتٌ.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مَدِينَتِي جَمِيلَةٌ وَحَدِيثَةٌ.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مِنْ مَزَايَا مَدِينَتِي ___ المَوَاصَلَاتِ جَيِّدَةٌ.</a:t>
            </a:r>
            <a:endParaRPr lang="ar-SA" sz="14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 disadvantage?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أُوصِي 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town lacks a hospital”?</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 البَلْدَةُ إِلَى مُسْتَشْفًى.</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البَلْدَةُ بِمُسْتَشْفًى.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البَلْدَةُ مُسْتَشْفًى.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city description.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مَدِينَتِي جَمِيلٌ وَحَدِيثٌ.</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مَدِينَتِي جَمِيلَاتٌ.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مَدِينَتِي جَمِيلَةٌ وَحَدِيثَةٌ.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مَدِينَةٌ</a:t>
            </a:r>
            <a:pPr algn="l" indent="0" marL="0">
              <a:buNone/>
            </a:pPr>
            <a:r>
              <a:rPr lang="en-US" sz="1050" i="1" dirty="0">
                <a:solidFill>
                  <a:srgbClr val="8A6D1E"/>
                </a:solidFill>
                <a:latin typeface="Calibri" pitchFamily="34" charset="0"/>
                <a:ea typeface="Calibri" pitchFamily="34" charset="-122"/>
                <a:cs typeface="Calibri" pitchFamily="34" charset="-120"/>
              </a:rPr>
              <a:t> is feminine singular.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مِنْ مَزَايَا مَدِينَتِي ___ المَوَاصَلَاتِ جَيِّدَةٌ.</a:t>
            </a:r>
            <a:endParaRPr lang="ar-SA" sz="14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balanced argument frame uses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 disadvantage?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مَزَايَا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عُيُوبِ</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أُوصِي 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عُيُوبِ</a:t>
            </a:r>
            <a:pPr algn="l" indent="0" marL="0">
              <a:buNone/>
            </a:pPr>
            <a:r>
              <a:rPr lang="en-US" sz="1050" i="1" dirty="0">
                <a:solidFill>
                  <a:srgbClr val="8A6D1E"/>
                </a:solidFill>
                <a:latin typeface="Calibri" pitchFamily="34" charset="0"/>
                <a:ea typeface="Calibri" pitchFamily="34" charset="-122"/>
                <a:cs typeface="Calibri" pitchFamily="34" charset="-120"/>
              </a:rPr>
              <a:t> introduces a disadvantage.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town lacks a hospital”?</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تَفْتَقِرُ البَلْدَةُ إِلَى مُسْتَشْفًى.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البَلْدَةُ بِمُسْتَشْفًى.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 البَلْدَةُ مُسْتَشْفًى.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تَفْتَقِرُ إِلَى</a:t>
            </a:r>
            <a:pPr algn="l" indent="0" marL="0">
              <a:buNone/>
            </a:pPr>
            <a:r>
              <a:rPr lang="en-US" sz="1050" i="1" dirty="0">
                <a:solidFill>
                  <a:srgbClr val="8A6D1E"/>
                </a:solidFill>
                <a:latin typeface="Calibri" pitchFamily="34" charset="0"/>
                <a:ea typeface="Calibri" pitchFamily="34" charset="-122"/>
                <a:cs typeface="Calibri" pitchFamily="34" charset="-120"/>
              </a:rPr>
              <a:t> means lacks.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write a balanced town review</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Describe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مَدِينَتِي مُتَوَسِّطَةُ الحَجْمِ وَ</a:t>
            </a:r>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حَدِيثَةٌ</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City = f.</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Feature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تَتَمَيَّزُ</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بِحَدَائِقِهَا الكَبِيرَةِ وَمَكْتَبَاتِهَا.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tatamayyazu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For / against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مِنْ مَزَايَاهَا أَنَّ</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الأَحْيَاءَ آمِنَةٌ، وَ</a:t>
            </a:r>
            <a:pPr rtl="1" algn="ctr" indent="0" marL="0">
              <a:lnSpc>
                <a:spcPct val="120000"/>
              </a:lnSpc>
              <a:buNone/>
            </a:pPr>
            <a:r>
              <a:rPr lang="ar-SA" altLang="en-US" sz="1700" b="1" dirty="0">
                <a:solidFill>
                  <a:srgbClr val="1D5FBF"/>
                </a:solidFill>
                <a:latin typeface="Amiri" pitchFamily="34" charset="0"/>
                <a:ea typeface="Amiri" pitchFamily="34" charset="-122"/>
                <a:cs typeface="Amiri" pitchFamily="34" charset="-120"/>
              </a:rPr>
              <a:t>مِنْ عُيُوبِهَا أَنَّ</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الشَّوَارِعَ مُكْتَظَّةٌ.</a:t>
            </a:r>
            <a:endParaRPr lang="ar-SA" sz="1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sides + anna.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بِالرَّغْمِ مِنْ ذَلِكَ، أُحِبُّ مَدِينَتِي وَأُوصِي بِزِيَارَتِهَا.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Despite that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AGAINST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مَدِينَتِي مُتَوَسِّطَةُ الحَجْمِ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حَدِيثَةٌ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بِحَدَائِقِهَا الكَبِيرَةِ وَمَكْتَبَاتِهَا وَمَوَاصَلَاتِهَا العَامَّةِ.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مَزَايَاهَا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الأَحْيَاءَ آمِنَةٌ وَأَنَّ المَحَطَّاتِ قَرِيبَةٌ مِنَ البُيُوتِ.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مِنْ عُيُوبِهَا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مَرْكَزَ المَدِينَةِ صَاخِبٌ وَأَنَّ الشَّوَارِعَ مُكْتَظَّةٌ فِي الصَّبَاحِ. كَمَا أَنَّ بَعْضَ المَنَاطِقِ تَفْتَقِرُ إِلَى المَلَاعِبِ. بِالرَّغْمِ مِنْ ذَلِكَ، أُحِبُّ مَدِينَتِي وَأُوصِي بِزِيَارَتِهَا.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My city is medium-sized and modern. It is distinguished by its big parks, its libraries and its public transport. One advantage is that the neighbourhoods are safe and the stations are close to the houses. One disadvantage is that the city centre is noisy and the streets are crowded in the morning. Also, some areas lack sports grounds. Despite that, I love my city and recommend visiting it.</a:t>
            </a:r>
            <a:endParaRPr lang="en-US" sz="9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تَتَمَيَّزُ مَدِينَتِي بِحَدَائِقِهَا.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city is distinguished by its parks.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city → تَتَمَيَّزُ.</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 مَدِينَتِي أَنَّهَا آمِنَةٌ.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is that it is safe.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the advantage frame.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عُيُوبِهَا أَنَّ الشَّوَارِعَ مُكْتَظَّةٌ.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disadvantage is that the streets are crowded.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real contrasting limitation.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بِصِفَةٍ عَامَّةٍ أُوصِي بِزِيَارَتِهَا.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Overall, I recommend visiting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Finish with a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Advantage or disadvantage?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مَوَاصَلَاتٌ سَرِيعَةٌ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حَدَائِقُ نَظِيفَةٌ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حَيٌّ آمِنٌ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مَكْتَبَاتٌ كَثِيرَةٌ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شَوَارِعُ مُكْتَظَّةٌ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هَوَاءٌ مُلَوَّثٌ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مَوَاصَلَاتٌ قَلِيلَةٌ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ضَوْضَاءُ كَثِيرَةٌ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مِيزَةٌ · advantage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عَيْبٌ · disadvantage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مِيزَةٌ · advantage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مَوَاصَلَاتٌ سَرِيعَةٌ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حَدَائِقُ نَظِيفَةٌ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حَيٌّ آمِنٌ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مَكْتَبَاتٌ كَثِيرَةٌ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عَيْبٌ · disadvantage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شَوَارِعُ مُكْتَظَّةٌ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هَوَاءٌ مُلَوَّثٌ</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مَوَاصَلَاتٌ قَلِيلَةٌ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ضَوْضَاءُ كَثِيرَةٌ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 بِمَبَانِيهَا التَّارِيخِيَّةِ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تَمَيَّزْ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contrast pair.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 ثُمَّ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 وَمِنْ نَاحِيَةٍ أُخْرَى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 هُنَاكَ</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balanced view?</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المَدِينَةُ جَمِيلَةٌ وَجَمِيلَةٌ.</a:t>
            </a:r>
            <a:endParaRPr lang="ar-SA" sz="17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المَدِينَةُ جَمِيلَةٌ، وَلٰكِنَّ شَوَارِعَهَا مُكْتَظَّةٌ.</a:t>
            </a:r>
            <a:endParaRPr lang="ar-SA" sz="17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المَدِينَةُ فِي المَدِينَةِ.</a:t>
            </a:r>
            <a:endParaRPr lang="ar-SA" sz="17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 بِمَبَانِيهَا التَّارِيخِيَّةِ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يَتَمَيَّزُ</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تَمَيَّزْ</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تَتَمَيَّزُ</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a:t>
            </a:r>
            <a:pPr algn="l" indent="0" marL="0">
              <a:buNone/>
            </a:pPr>
            <a:r>
              <a:rPr lang="ar-SA" altLang="en-US" sz="1350" dirty="0">
                <a:solidFill>
                  <a:srgbClr val="8A6D1E"/>
                </a:solidFill>
                <a:latin typeface="Amiri" pitchFamily="34" charset="0"/>
                <a:ea typeface="Amiri" pitchFamily="34" charset="-122"/>
                <a:cs typeface="Amiri" pitchFamily="34" charset="-120"/>
              </a:rPr>
              <a:t>مَدِينَةٌ</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تَتَمَيَّزُ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contrast pair.</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 ... ثُمَّ</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نَاحِيَةٍ ... وَمِنْ نَاحِيَةٍ أُخْرَى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هُنَاكَ ... هُنَاكَ</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pair presents two sides.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balanced view?</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جَمِيلَةٌ وَجَمِيلَةٌ.</a:t>
            </a:r>
            <a:endParaRPr lang="ar-SA" sz="170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جَمِيلَةٌ، وَلٰكِنَّ شَوَارِعَهَا مُكْتَظَّةٌ.</a:t>
            </a:r>
            <a:endParaRPr lang="ar-SA" sz="170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فِي المَدِينَةِ.</a:t>
            </a:r>
            <a:endParaRPr lang="ar-SA" sz="170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includes a positive point and a real contrast.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مَدِينَتِي حَدِيثٌ.</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City is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يَتَمَيَّزُ المَدِينَةُ بِالسُّوقِ.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City is f.: which verb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مَزَايَا مَدِينَتِي المَوَاصَلَاتُ جَيِّدَةٌ.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مَدِينَتِي حَدِيثٌ.</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مَدِينَتِي حَدِيثَةٌ.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agrees with feminine </a:t>
            </a:r>
            <a:pPr algn="l" indent="0" marL="0">
              <a:buNone/>
            </a:pPr>
            <a:r>
              <a:rPr lang="ar-SA" altLang="en-US" sz="1500" b="1" dirty="0">
                <a:solidFill>
                  <a:srgbClr val="1B3B6F"/>
                </a:solidFill>
                <a:latin typeface="Amiri" pitchFamily="34" charset="0"/>
                <a:ea typeface="Amiri" pitchFamily="34" charset="-122"/>
                <a:cs typeface="Amiri" pitchFamily="34" charset="-120"/>
              </a:rPr>
              <a:t>مَدِينَةٌ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يَتَمَيَّزُ المَدِينَةُ بِالسُّوقِ.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تَتَمَيَّزُ المَدِينَةُ بِالسُّوقِ.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agrees with the feminine subject.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مِنْ مَزَايَا مَدِينَتِي المَوَاصَلَاتُ جَيِّدَةٌ.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مَزَايَا مَدِينَتِي أَنَّ المَوَاصَلَاتِ جَيِّدَةٌ.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people compare their towns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city is modern and clean?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does Salma mention?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traditional market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transport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does Salma mention?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dangerous parks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 shops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crowded streets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Omar’s town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and safe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 and noisy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and dirty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Omar’s town lack?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markets and parks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universities and trains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schools and banks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 مَزَايَاهَا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وَلَكِنَّ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 عُيُوبِهَا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أُحِبُّ مَدِينَتِي لِأَنَّهَا حَدِيثَةٌ وَنَظِيفَةٌ.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I love my city because it is modern and clean.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مِنْ مَزَايَاهَا أَنَّ المَوَاصَلَاتِ سَرِيعَةٌ وَأَنَّ فِيهَا حَدَائِقَ كَثِيرَةً. وَلَكِنَّ الشَّوَارِعَ مُكْتَظَّةٌ.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advantages are that transport is fast and it has many parks. But the streets are crowded.</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عُمَرُ: أَنَا أَسْكُنُ فِي بَلْدَةٍ صَغِيرَةٍ. هِيَ هَادِئَةٌ وَآمِنَةٌ، وَتَتَمَيَّزُ بِسُوقِهَا التَّقْلِيدِيِّ.</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I live in a small town. It is quiet and safe, and known for its traditional market.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عُيُوبِهَا أَنَّهَا تَفْتَقِرُ إِلَى الجَامِعَاتِ وَالقِطَارَاتِ.</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disadvantage is that it lacks universities and trains.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city is modern and clean?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Omar’s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Salma says </a:t>
            </a:r>
            <a:pPr algn="l" indent="0" marL="0">
              <a:buNone/>
            </a:pPr>
            <a:r>
              <a:rPr lang="ar-SA" altLang="en-US" sz="1350" dirty="0">
                <a:solidFill>
                  <a:srgbClr val="8A6D1E"/>
                </a:solidFill>
                <a:latin typeface="Amiri" pitchFamily="34" charset="0"/>
                <a:ea typeface="Amiri" pitchFamily="34" charset="-122"/>
                <a:cs typeface="Amiri" pitchFamily="34" charset="-120"/>
              </a:rPr>
              <a:t>حَدِيثَةٌ وَنَظِيفَةٌ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does Salma mention?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traditional market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fast transport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المَوَاصَلَاتُ سَرِيعَةٌ.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does Salma mention?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dangerous parks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few shops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crowded streets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الشَّوَارِعُ مُكْتَظَّةٌ.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Omar’s town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quiet and safe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modern and noisy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and dirty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هَادِئَةٌ وَآمِنَةٌ.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Omar’s town lack?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markets and parks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universities and trains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schools and banks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تَفْتَقِرُ إِلَى الجَامِعَاتِ وَالقِطَارَاتِ.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 مَزَايَاهَا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وَلَكِنَّ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 عُيُوبِهَا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Town review panel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مَدِينَتَكَ بِثَلَاثِ صِفَاتٍ.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مِيزَةٍ فِي مَدِينَتِكَ؟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أَكْبَرُ عَيْبٍ؟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تُوصِي بِزِيَارَتِهَا؟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مَدِينَتِي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مَزَايَاهَا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عُيُوبِهَا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بِالرَّغْمِ مِنْ ذَلِكَ، أُوصِي بِزِيَارَتِهَا لِأَنَّ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أَهَمُّ مِيزَةٍ فِي مَدِينَتِكَ؟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most important advantage of your city?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مَزَايَاهَا أَنَّ المَوَاصَلَاتِ جَيِّدَةٌ وَأَنَّ الأَحْيَاءَ آمِنَةٌ.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Its advantages include good transport and safe neighbourhoods.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four descriptive sentences with correct gender.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descriptive sentences with feminine adjectives for the city.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Present one advantage and disadvantage in a connected paragraph.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advantage and one disadvantage with anna in a connected paragraph.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nuanced review using both argument frames, a distinctive feature and a recommendation.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balanced review with a distinctive feature, both frames and a recommendation.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مَدِينَتِي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my city is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عُيُوبِهَا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disadvantage is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distinguished by its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تَفْتَقِرُ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lacks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بِصِفَةٍ عَامَّةٍ، أُوصِي بِزِيَارَتِهَا.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Overall, I recommend visiting it.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مَدِينَتِي جَمِيلَةٌ وَنَظِيفَةٌ.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city is beautiful and clean.</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قَرْيَتِي هَادِئَةٌ وَآمِنَةٌ.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village is quiet and safe.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مَرْكَزُ المَدِينَةِ صَاخِبٌ.</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city centre is noisy.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الشَّوَارِعُ مُكْتَظَّةٌ.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streets are crowded.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مَدِينَتِي لِأَنَّهَا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my town because it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هَادِئَةٌ  ·  صَاخِبَةٌ  ·  نَظِيفَةٌ  ·  آمِنَةٌ  ·  حَدِيثَةٌ  ·  تَقْلِيدِيَّةٌ  ·  نَشِيطَةٌ  ·  مُكْتَظَّةٌ  ·  مِنْ مَزَايَا … أَنَّ  ·  مِنْ عُيُوبِ … أَنَّ  ·  تَتَمَيَّزُ بِـ  ·  تَفْتَقِرُ إِلَى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balanced 80–100-word review of your town, village or an imagined city.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agreeing adjectives.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تَتَمَيَّزُ بِـ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تَفْتَقِرُ إِلَى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one advantage and one disadvantage with </a:t>
            </a:r>
            <a:pPr algn="l" indent="0" marL="0">
              <a:buNone/>
            </a:pPr>
            <a:r>
              <a:rPr lang="ar-SA" altLang="en-US" sz="1550" dirty="0">
                <a:solidFill>
                  <a:srgbClr val="1F2A37"/>
                </a:solidFill>
                <a:latin typeface="Amiri" pitchFamily="34" charset="0"/>
                <a:ea typeface="Amiri" pitchFamily="34" charset="-122"/>
                <a:cs typeface="Amiri" pitchFamily="34" charset="-120"/>
              </a:rPr>
              <a:t>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overall recommendation.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مَدِينَةٌ سَاحِلِيَّةٌ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coastal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تَزْدَحِمُ الشَّوَارِعُ فِي الصَّيْفِ</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streets get crowded in summer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 … وَمِنْ نَاحِيَةٍ أُخْرَى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one hand … on the other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also / moreover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لِأَنَّهَا مُرِيحَةٌ وَمُمْتِعَةٌ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it is comfortable and enjoyable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مَدِينَتِي مُتَوَسِّطَةُ الحَجْمِ وَحَدِيثَةٌ. تَتَمَيَّزُ بِحَدَائِقِهَا الكَبِيرَةِ وَمَكْتَبَاتِهَا وَمَوَاصَلَاتِهَا العَامَّةِ. مِنْ مَزَايَاهَا أَنَّ الأَحْيَاءَ آمِنَةٌ وَأَنَّ المَحَطَّاتِ قَرِيبَةٌ مِنَ البُيُوتِ. مِنْ عُيُوبِهَا أَنَّ مَرْكَزَ المَدِينَةِ صَاخِبٌ وَأَنَّ الشَّوَارِعَ مُكْتَظَّةٌ فِي الصَّبَاحِ. كَمَا أَنَّ بَعْضَ المَنَاطِقِ تَفْتَقِرُ إِلَى المَلَاعِبِ. بِالرَّغْمِ مِنْ ذٰلِكَ، أُحِبُّ مَدِينَتِي وَأُوصِي بِزِيَارَتِهَا.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city is medium-sized and modern. It is distinguished by its big parks, its libraries and its public transport. One advantage is that the neighbourhoods are safe and the stations are close to the houses. One disadvantage is that the city centre is noisy and the streets are crowded in the morning. Also, some areas lack sports grounds. Despite that, I love my city and recommend visiting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feature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City / town adjectives are feminine.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different adjectives.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Advantage + disadvantage with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تَتَمَيَّزُ بِـ</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تَفْتَقِرُ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ended with a recommendation.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advantage?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مِيزَةٌ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مَوْقِعٌ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عُيُوبِ مَدِينَتِي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الشَّوَارِعَ مُكْتَظَّةٌ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“lacks”?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 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أُوصِي 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advantage?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مِيزَةٌ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مَوْقِعٌ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مِيزَةٌ</a:t>
            </a:r>
            <a:pPr algn="l" indent="0" marL="0">
              <a:buNone/>
            </a:pPr>
            <a:r>
              <a:rPr lang="en-US" sz="1050" i="1" dirty="0">
                <a:solidFill>
                  <a:srgbClr val="8A6D1E"/>
                </a:solidFill>
                <a:latin typeface="Calibri" pitchFamily="34" charset="0"/>
                <a:ea typeface="Calibri" pitchFamily="34" charset="-122"/>
                <a:cs typeface="Calibri" pitchFamily="34" charset="-120"/>
              </a:rPr>
              <a:t> means advantage.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عُيُوبِ مَدِينَتِي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الشَّوَارِعَ مُكْتَظَّةٌ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before the clause.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“lacks”?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تَفْتَقِرُ 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تَتَمَيَّزُ 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أُوصِي 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تَفْتَقِرُ إِلَى</a:t>
            </a:r>
            <a:pPr algn="l" indent="0" marL="0">
              <a:buNone/>
            </a:pPr>
            <a:r>
              <a:rPr lang="en-US" sz="1050" i="1" dirty="0">
                <a:solidFill>
                  <a:srgbClr val="8A6D1E"/>
                </a:solidFill>
                <a:latin typeface="Calibri" pitchFamily="34" charset="0"/>
                <a:ea typeface="Calibri" pitchFamily="34" charset="-122"/>
                <a:cs typeface="Calibri" pitchFamily="34" charset="-120"/>
              </a:rPr>
              <a:t> means lacks.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balanced local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سَاحِلِيَّةٍ جَمِيلَةٍ. تَتَمَيَّزُ بِشَاطِئِهَا وَمَطَاعِمِهَا وَمَبَانِيهَا القَدِيمَةِ. مِنْ مَزَايَاهَا أَنَّ الحَيَاةَ فِيهَا نَشِيطَةٌ وَأَنَّ المَوَاصَلَاتِ العَامَّةَ رَخِيصَةٌ. مِنْ نَاحِيَةٍ أُخْرَى، تَزْدَحِمُ الشَّوَارِعُ فِي الصَّيْفِ، وَتَفْتَقِرُ بَعْضُ الأَحْيَاءِ إِلَى الحَدَائِقِ. بِالرَّغْمِ مِنْ ذٰلِكَ، أُوصِي بِزِيَارَةِ المَدِينَةِ لِأَنَّهَا مُرِيحَةٌ وَمُمْتِعَةٌ.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سَاحِلِيَّةٍ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coastal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بِشَاطِئِهَا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its beach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مَبَانِيهَا القَدِيمَةِ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old buildings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فِيهَا نَشِيطَةٌ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life there is lively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رَخِيصَةٌ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cheap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أُخْرَى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the other hand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تَزْدَحِمُ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get crowded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بَعْضُ الأَحْيَاءِ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 neighbourhoods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بِالرَّغْمِ مِنْ ذَلِكَ</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despite that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أُوصِي بِزِيَارَةِ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recommend visiting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city is it?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mountain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coastal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industrial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distinguished by?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airport and university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streets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beach, restaurants and old buildings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public transport described?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cheap</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slow</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are the streets crowded?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winter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summer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night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neighbourhoods lack?</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parks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markets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overall view?</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entirely negative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opinion</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positive but balanced</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city is it?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mountain</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coastal</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industrial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مَدِينَةٍ سَاحِلِيَّةٍ.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distinguished by?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airport and university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quiet streets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beach, restaurants and old buildings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second sentence lists these features.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public transport described?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cheap</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slow</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المَوَاصَلَاتُ العَامَّةُ رَخِيصَةٌ.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are the streets crowded?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winter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summer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night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الصَّيْفِ.</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neighbourhoods lack?</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parks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markets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تَفْتَقِرُ ... إِلَى الحَدَائِقِ.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overall view?</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entirely negative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opinion</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positive but balanced</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recommends visiting despite limitations.</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F6-L05 · Describing Your Town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F6-L06 · Shopping in Town: Prices and Comparisons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مَتْجَرٌ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shop</a:t>
            </a:r>
            <a:pPr indent="0" marL="0">
              <a:buNone/>
            </a:pPr>
            <a:r>
              <a:rPr lang="en-US" sz="1000" i="1" dirty="0">
                <a:solidFill>
                  <a:srgbClr val="5A6472"/>
                </a:solidFill>
                <a:latin typeface="Calibri" pitchFamily="34" charset="0"/>
                <a:ea typeface="Calibri" pitchFamily="34" charset="-122"/>
                <a:cs typeface="Calibri" pitchFamily="34" charset="-120"/>
              </a:rPr>
              <a:t>  pl. مَتَاجِرُ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أَرْخَصُ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cheaper than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أَغْلَى مِنْ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more expensive than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خَصْمٌ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discount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يَشْتَرِي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buys</a:t>
            </a:r>
            <a:pPr indent="0" marL="0">
              <a:buNone/>
            </a:pPr>
            <a:r>
              <a:rPr lang="en-US" sz="1000" i="1" dirty="0">
                <a:solidFill>
                  <a:srgbClr val="5A6472"/>
                </a:solidFill>
                <a:latin typeface="Calibri" pitchFamily="34" charset="0"/>
                <a:ea typeface="Calibri" pitchFamily="34" charset="-122"/>
                <a:cs typeface="Calibri" pitchFamily="34" charset="-120"/>
              </a:rPr>
              <a:t>  she: تَشْتَرِي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do you buy clothes: a shopping centre, a market or online?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أَشْتَرِي المَلَابِسَ مِنْ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F6-L05: the vocabulary tab and the “Advantage or disadvantage?”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70–80 words with one advantage and one disadvantage (anna).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balanced 80–100-word review with a recommendation.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F6-L06 · Shopping in Town: Prices and Comparisons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التَّسَوُّقُ فِي المَدِينَةِ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مَدِينَتِي</a:t>
            </a:r>
            <a:pPr algn="l" indent="0" marL="0">
              <a:buNone/>
            </a:pPr>
            <a:r>
              <a:rPr lang="en-US" sz="1300" b="1" dirty="0">
                <a:solidFill>
                  <a:srgbClr val="FFFFFF"/>
                </a:solidFill>
                <a:latin typeface="Calibri" pitchFamily="34" charset="0"/>
                <a:ea typeface="Calibri" pitchFamily="34" charset="-122"/>
                <a:cs typeface="Calibri" pitchFamily="34" charset="-120"/>
              </a:rPr>
              <a:t> + feminine adjective · </a:t>
            </a:r>
            <a:pPr algn="l" indent="0" marL="0">
              <a:buNone/>
            </a:pPr>
            <a:r>
              <a:rPr lang="ar-SA" altLang="en-US" sz="1700" b="1" dirty="0">
                <a:solidFill>
                  <a:srgbClr val="FFFFFF"/>
                </a:solidFill>
                <a:latin typeface="Amiri" pitchFamily="34" charset="0"/>
                <a:ea typeface="Amiri" pitchFamily="34" charset="-122"/>
                <a:cs typeface="Amiri" pitchFamily="34" charset="-120"/>
              </a:rPr>
              <a:t>مِنْ مَزَايَا / عُيُوبِ … أَنَّ</a:t>
            </a:r>
            <a:pPr algn="l" indent="0" marL="0">
              <a:buNone/>
            </a:pPr>
            <a:r>
              <a:rPr lang="en-US" sz="1300" b="1" dirty="0">
                <a:solidFill>
                  <a:srgbClr val="FFFFFF"/>
                </a:solidFill>
                <a:latin typeface="Calibri" pitchFamily="34" charset="0"/>
                <a:ea typeface="Calibri" pitchFamily="34" charset="-122"/>
                <a:cs typeface="Calibri" pitchFamily="34" charset="-120"/>
              </a:rPr>
              <a:t> … · end with a judgement.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F6-L05 · Describing Your Town: Advantages and Disadvantages</dc:title>
  <dc:subject>PptxGenJS Presentation</dc:subject>
  <dc:creator>Al Madina Online School · Arabic Department</dc:creator>
  <cp:lastModifiedBy>Al Madina Online School · Arabic Department</cp:lastModifiedBy>
  <cp:revision>1</cp:revision>
  <dcterms:created xsi:type="dcterms:W3CDTF">2026-09-27T22:08:08Z</dcterms:created>
  <dcterms:modified xsi:type="dcterms:W3CDTF">2026-09-27T22:08:08Z</dcterms:modified>
</cp:coreProperties>
</file>