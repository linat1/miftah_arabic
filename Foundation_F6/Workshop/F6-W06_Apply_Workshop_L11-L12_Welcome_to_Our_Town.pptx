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F6-L11 · Learn F6-L12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F6-L11 (F6 Consolidation: Complete Town and Transport Review) and F6-L12 (Final Review and Assessment: My Town and Transport).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F6-L11 and F6-L12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F6-L11? After F6-L12?” Take two answers in the chat for each lesson (one word or one sentence is enough). Then read objective 3 — today’s new situation that needs BOTH lessons. Students tick their route goals at the end of the lesson.
F6-L11 language: four F6 grammar families: (1) yūjadu / tūjadu + agreement; (2) transport patterns bi- / ʿalā / mashyan + tastaghriqu; (3) mabniyyun min · tatamayyazu bi- · min mazāyā / ʿuyūbi … anna; (4) commands m. / f. / pl.
F6-L12 language: all of F6: places + yūjadu / tūjadu; positions + genitive; transport patterns; tickets, times and tastaghriqu; describing a town (mazāyā / ʿuyūb); prices and comparatives; mabniyyun min; commands m. / f. / 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F6-L11 and F6-L12. Teacher reads it once with a confident student; then pairs. Ask: “Which lines are from F6-L11? Which from F6-L12?” All four F6 grammar families (F6-L11) appear: يُوجَدُ / تُوجَدُ + positions, transport + تَسْتَغْرِقُ, مَبْنِيٌّ مِنْ + مَزَايَا / عُيُوب, and group commands — the content of the F6-L12 assessment, given a real purpose. Note: سُوقٌ can be masculine or feminine; here it is feminine (سُوقٌ قَدِيمَةٌ).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the four F6 grammar families (F6-L11) in an assessment-style role play (F6-L12). SUPPORTED: the plan column gives the first words, not the full answer. To a girl Partner A says: task 5 is already to a girl; to a boy say: اذْهَبْ · انْعَطِفْ · اعْبُرْ.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F6-L11 and F6-L12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F6-L11 and F6-L12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(54 words). CHECK YOURSELF (2 min). Find each bullet point in the model, and one phrase from F6-L11 and one from F6-L12.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F6-L11 + F6-L12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Apply Workshop — Welcome to Our Town</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أَهْلًا بِكُمْ فِي مَدِينَتِنَا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use all of F6 for one real purpose: a group of students from Morocco is visiting, so they plan a welcome guide — places and where they are, how to travel and how long it takes, a building and its material, advantages and disadvantages, and a route with commands — then present it and write it up.</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F6-L11 + F6-L12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F6 and of the Foundation stage</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F6-L11 and F6-L12.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F6-L11 + F6-L12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F6-L11: F6 Consolidation: Complete Town and Transport Review</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F6-L12: Final Review and Assessment: My Town and Transport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visitors’ questions · Our welcome guide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F6-L11 and F6-L12.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F6-L11 · F6 Consolidation: Complete Town and Transport Review</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شَامِلَةٌ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comprehensive review</a:t>
            </a:r>
            <a:endParaRPr lang="en-US" sz="1350" dirty="0"/>
          </a:p>
          <a:p>
            <a:pPr indent="0" marL="0">
              <a:buNone/>
            </a:pPr>
            <a:r>
              <a:rPr lang="en-US" sz="1100" i="1" dirty="0">
                <a:solidFill>
                  <a:srgbClr val="5A6472"/>
                </a:solidFill>
                <a:latin typeface="Calibri" pitchFamily="34" charset="0"/>
                <a:cs typeface="Amiri" pitchFamily="2" charset="-78"/>
              </a:rPr>
              <a:t>mu-rā-ja-ʿa-tun shā-mi-la-tun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قُوَّةٍ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بِـ / عَلَى / مَشْيًا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transport patterns</a:t>
            </a:r>
            <a:endParaRPr lang="en-US" sz="1350" dirty="0"/>
          </a:p>
          <a:p>
            <a:pPr indent="0" marL="0">
              <a:buNone/>
            </a:pPr>
            <a:r>
              <a:rPr lang="en-US" sz="1100" i="1" dirty="0">
                <a:solidFill>
                  <a:srgbClr val="5A6472"/>
                </a:solidFill>
                <a:latin typeface="Calibri" pitchFamily="34" charset="0"/>
                <a:cs typeface="Amiri" pitchFamily="2" charset="-78"/>
              </a:rPr>
              <a:t>bi / ʿa-lā / mash-yan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تَتَمَيَّزُ بِـ</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ta-ta-may-ya-zu bi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مَزَايَا / مِنْ عُيُوبِ</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advantages / disadvantages</a:t>
            </a:r>
            <a:endParaRPr lang="en-US" sz="1350" dirty="0"/>
          </a:p>
          <a:p>
            <a:pPr indent="0" marL="0">
              <a:buNone/>
            </a:pPr>
            <a:r>
              <a:rPr lang="en-US" sz="1100" i="1" dirty="0">
                <a:solidFill>
                  <a:srgbClr val="5A6472"/>
                </a:solidFill>
                <a:latin typeface="Calibri" pitchFamily="34" charset="0"/>
                <a:cs typeface="Amiri" pitchFamily="2" charset="-78"/>
              </a:rPr>
              <a:t>min ma-zā-yā / min ʿu-yū-bi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F6-L12 · Final Review and Assessment: My Town and Transport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يُوجَدُ · تُوجَدُ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 is (m. · f.)</a:t>
            </a:r>
            <a:endParaRPr lang="en-US" sz="1350" dirty="0"/>
          </a:p>
          <a:p>
            <a:pPr indent="0" marL="0">
              <a:buNone/>
            </a:pPr>
            <a:r>
              <a:rPr lang="en-US" sz="1100" i="1" dirty="0">
                <a:solidFill>
                  <a:srgbClr val="5A6472"/>
                </a:solidFill>
                <a:latin typeface="Calibri" pitchFamily="34" charset="0"/>
                <a:cs typeface="Amiri" pitchFamily="2" charset="-78"/>
              </a:rPr>
              <a:t>yū-ja-du · tū-ja-du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سُوقٌ · مَكْتَبَةٌ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market · library</a:t>
            </a:r>
            <a:endParaRPr lang="en-US" sz="1350" dirty="0"/>
          </a:p>
          <a:p>
            <a:pPr indent="0" marL="0">
              <a:buNone/>
            </a:pPr>
            <a:r>
              <a:rPr lang="en-US" sz="1100" i="1" dirty="0">
                <a:solidFill>
                  <a:srgbClr val="5A6472"/>
                </a:solidFill>
                <a:latin typeface="Calibri" pitchFamily="34" charset="0"/>
                <a:cs typeface="Amiri" pitchFamily="2" charset="-78"/>
              </a:rPr>
              <a:t>sū-qun · mak-ta-ba-tun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قَرِيبٌ مِنْ · بَعِيدٌ عَنْ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 · far from</a:t>
            </a:r>
            <a:endParaRPr lang="en-US" sz="1350" dirty="0"/>
          </a:p>
          <a:p>
            <a:pPr indent="0" marL="0">
              <a:buNone/>
            </a:pPr>
            <a:r>
              <a:rPr lang="en-US" sz="1100" i="1" dirty="0">
                <a:solidFill>
                  <a:srgbClr val="5A6472"/>
                </a:solidFill>
                <a:latin typeface="Calibri" pitchFamily="34" charset="0"/>
                <a:cs typeface="Amiri" pitchFamily="2" charset="-78"/>
              </a:rPr>
              <a:t>qa-rī-bun min · ba-ʿī-dun ʿan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بِالحَافِلَةِ · مَشْيًا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bus · on foot</a:t>
            </a:r>
            <a:endParaRPr lang="en-US" sz="1350" dirty="0"/>
          </a:p>
          <a:p>
            <a:pPr indent="0" marL="0">
              <a:buNone/>
            </a:pPr>
            <a:r>
              <a:rPr lang="en-US" sz="1100" i="1" dirty="0">
                <a:solidFill>
                  <a:srgbClr val="5A6472"/>
                </a:solidFill>
                <a:latin typeface="Calibri" pitchFamily="34" charset="0"/>
                <a:cs typeface="Amiri" pitchFamily="2" charset="-78"/>
              </a:rPr>
              <a:t>bil-ḥā-fi-la-ti · mash-yan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تَسْتَغْرِقُ</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(time)</a:t>
            </a:r>
            <a:endParaRPr lang="en-US" sz="1350" dirty="0"/>
          </a:p>
          <a:p>
            <a:pPr indent="0" marL="0">
              <a:buNone/>
            </a:pPr>
            <a:r>
              <a:rPr lang="en-US" sz="1100" i="1" dirty="0">
                <a:solidFill>
                  <a:srgbClr val="5A6472"/>
                </a:solidFill>
                <a:latin typeface="Calibri" pitchFamily="34" charset="0"/>
                <a:cs typeface="Amiri" pitchFamily="2" charset="-78"/>
              </a:rPr>
              <a:t>tas-tagh-ri-qu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اذْهَبْ · انْعَطِفْ · اعْبُرْ</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 · turn · cross</a:t>
            </a:r>
            <a:endParaRPr lang="en-US" sz="1350" dirty="0"/>
          </a:p>
          <a:p>
            <a:pPr indent="0" marL="0">
              <a:buNone/>
            </a:pPr>
            <a:r>
              <a:rPr lang="en-US" sz="1100" i="1" dirty="0">
                <a:solidFill>
                  <a:srgbClr val="5A6472"/>
                </a:solidFill>
                <a:latin typeface="Calibri" pitchFamily="34" charset="0"/>
                <a:cs typeface="Amiri" pitchFamily="2" charset="-78"/>
              </a:rPr>
              <a:t>adh-hab · an-ʿa-ṭif · aʿ-bur</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 or transport?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مُقَابِلَ المَتْحَفِ</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تَذْكِرَةٌ مُفْرَدَةٌ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تَسْتَغْرِقُ الرِّحْلَةُ سَاعَةً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تُوجَدُ مَكْتَبَةٌ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الطُّوبِ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انْعَطِفُوا يَمِينًا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بِالحَافِلَةِ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وَسَطِ المَدِينَةِ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Places, positions and buildings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Transport, tickets and routes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Places, positions and buildings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مُقَابِلَ المَتْحَفِ</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تُوجَدُ مَكْتَبَةٌ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الطُّوبِ</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وَسَطِ المَدِينَةِ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Transport, tickets and routes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تَذْكِرَةٌ مُفْرَدَةٌ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تَسْتَغْرِقُ الرِّحْلَةُ سَاعَةً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انْعَطِفُوا يَمِينًا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بِالحَافِلَةِ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visitors arrive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وَصَلَ الزُّوَّارُ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Welcome to our town! Was the journey long?</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أَهْلًا بِكُمْ فِي مَدِينَتِنَا! هَلْ كَانَتِ الرِّحْلَةُ طَوِيلَةً؟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we travelled by plane and then by train, and the journey took six hours.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سَافَرْنَا بِالطَّائِرَةِ ثُمَّ بِالقِطَارِ، وَاسْتَغْرَقَتِ الرِّحْلَةُ سِتَّ سَاعَاتٍ.</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town centre there is a museum, and there is an old market next to the station.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وَسَطِ المَدِينَةِ يُوجَدُ مَتْحَفٌ، وَتُوجَدُ سُوقٌ قَدِيمَةٌ بِجَانِبِ المَحَطَّةِ.</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we get to the museum?</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كَيْفَ نَذْهَبُ إِلَى المَتْحَفِ؟</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 straight on, then turn left. It is built of red brick.</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اذْهَبُوا مُسْتَقِيمًا، ثُمَّ انْعَطِفُوا يَسَارًا. هُوَ مَبْنِيٌّ مِنَ الطُّوبِ الأَحْمَرِ.</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 of our town is that it is safe, but it lacks an airport!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 مَزَايَا مَدِينَتِنَا أَنَّهَا آمِنَةٌ، لٰكِنَّهَا تَفْتَقِرُ إِلَى مَطَارٍ!</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بِجَانِبِ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وَتُوجَدُ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town centre?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وَسَطِ مَدِينَتِكَ؟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مُقَابِلَ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وَتُوجَدُ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near your home?</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قُرْبَ بَيْتِكَ؟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56648" y="3496056"/>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أَذْهَبُ … ، وَتَسْتَغْرِقُ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 and how long does it take?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كَيْفَ تَذْهَبُ إِلَى المَدْرَسَةِ؟ وَكَمْ تَسْتَغْرِقُ الرِّحْلَةُ؟</a:t>
            </a:r>
            <a:endParaRPr lang="ar-SA" sz="165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56648" y="4110228"/>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المَحَطَّةُ … ، قَرِيبَةٌ مِنْ / بَعِيدَةٌ عَنْ …</a:t>
            </a:r>
            <a:endParaRPr lang="ar-SA" sz="155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station in your town?</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المَحَطَّةُ فِي مَدِينَتِكَ؟</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وَتَتَمَيَّزُ المَدِينَةُ بِهِ</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مَبْنِيٌّ / مَبْنِيَّةٌ مِنَ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building in your town.</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مَبْنًى فِي مَدِينَتِكَ.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وَاسْتَغْرَقَتِ الرِّحْلَةُ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سَافَرْتُ بِالقِطَارِ / بِالطَّائِرَةِ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did you travel on your last holiday?</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سَافَرْتَ فِي آخِرِ عُطْلَةٍ؟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F6-L11, even numbers from F6-L12.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Role-play card — the visitors’ questions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الزُّوَّارِ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يُوجَدُ … وَتُوجَدُ … بِجَانِبِ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places, one with a position.</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مَدِينَتِكُمْ؟</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كَمْ ← أَذْهَبُ بِالحَافِلَةِ … ، وَتَسْتَغْرِقُ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Transport + duration.</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 وَكَمْ تَسْتَغْرِقُ الرِّحْلَةُ؟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 … مَبْنِيٌّ مِنَ … ، وَهُوَ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it is, its material, two adjectives.</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مَبْنًى مُهِمًّا فِي مَدِينَتِكُمْ.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مِنْ مَزَايَاهَا أَنَّ … ، لٰكِنْ مِنْ عُيُوبِهَا أَنَّ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 one disadvantage.</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مَزَايَا مَدِينَتِكُمْ وَعُيُوبُهَا؟</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اذْهَبِي … ثُمَّ انْعَطِفِي … وَاعْبُرِي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Directions to a girl: three steps.</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أَذْهَبُ مِنْ هُنَا إِلَى السُّوقِ؟</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guide · Partner A = a visiting student from Morocco. Read the plan for 1 minute, then hide it and speak. Task ! is a surprise. Then swap roles.</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welcome speech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كَلِمَةُ التَّرْحِيبِ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a welcome speech of 30–45 seconds to the visitors: what there is in your town and where, how people travel and how long journeys take, one building and its material, one advantage and one disadvantage, and directions to your favourite place.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أَهْلًا بِكُمْ! فِي مَدِينَتِنَا يُوجَدُ … · أَذْهَبُ بِالحَافِلَةِ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building (</a:t>
            </a:r>
            <a:pPr algn="l" indent="0" marL="0">
              <a:buNone/>
            </a:pPr>
            <a:r>
              <a:rPr lang="ar-SA" altLang="en-US" sz="1500" dirty="0">
                <a:solidFill>
                  <a:srgbClr val="1F2A37"/>
                </a:solidFill>
                <a:latin typeface="Amiri" pitchFamily="2" charset="-78"/>
                <a:ea typeface="Amiri" pitchFamily="2" charset="-78"/>
                <a:cs typeface="Amiri" pitchFamily="2" charset="-78"/>
              </a:rPr>
              <a:t>مَبْنِيٌّ مِنَ</a:t>
            </a:r>
            <a:pPr algn="l" indent="0" marL="0">
              <a:buNone/>
            </a:pPr>
            <a:r>
              <a:rPr lang="en-US" sz="1150" dirty="0">
                <a:solidFill>
                  <a:srgbClr val="1F2A37"/>
                </a:solidFill>
                <a:latin typeface="Calibri" pitchFamily="34" charset="0"/>
                <a:cs typeface="Amiri" pitchFamily="2" charset="-78"/>
              </a:rPr>
              <a:t> …) and one advantage.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all four families, including group commands: </a:t>
            </a:r>
            <a:pPr algn="l" indent="0" marL="0">
              <a:buNone/>
            </a:pPr>
            <a:r>
              <a:rPr lang="ar-SA" altLang="en-US" sz="1500" dirty="0">
                <a:solidFill>
                  <a:srgbClr val="1F2A37"/>
                </a:solidFill>
                <a:latin typeface="Amiri" pitchFamily="2" charset="-78"/>
                <a:ea typeface="Amiri" pitchFamily="2" charset="-78"/>
                <a:cs typeface="Amiri" pitchFamily="2" charset="-78"/>
              </a:rPr>
              <a:t>اذْهَبُوا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انْعَطِفُوا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اعْبُرُوا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مَدِينَتِنَا يُوجَدُ … وَتُوجَدُ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our town there is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تَسْتَغْرِقُ الرِّحْلَةُ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journey takes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مَبْنِيٌّ مِنَ … · مِنْ مَزَايَاهَا 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built of … · an advantage is that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اذْهَبُوا … ثُمَّ انْعَطِفُوا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go (all) … then turn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are many old buildings built of stone.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 مَبَانٍ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 مَبَانٍ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قَدِيمَةٌ كَثِيرَةٌ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قَدِيمُونَ كَثِيرُونَ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مَبْنِيَّةٌ مِنَ الحَجَرِ.</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مَبْنِيُّونَ مِنَ الحَجَرِ.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station is opposite the hospital.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المُسْتَشْفَى.</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مُسْتَشْفًى.</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go by bike, and it takes a quarter of an hour.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 عَلَى الدَّرَّاجَةِ،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 بِالدَّرَّاجَةُ،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وَتَسْتَغْرِقُ الرِّحْلَةُ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وَتَسْتَغْرِقُ الرِّحْلَةَ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رُبْعَ سَاعَةٍ.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رُبْعُ سَاعَةٍ.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are many old buildings built of stone.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t>
            </a:r>
            <a:pPr algn="l" indent="0" marL="0">
              <a:buNone/>
            </a:pPr>
            <a:r>
              <a:rPr lang="ar-SA" altLang="en-US" sz="1350" dirty="0">
                <a:solidFill>
                  <a:srgbClr val="5A6472"/>
                </a:solidFill>
                <a:latin typeface="Amiri" pitchFamily="2" charset="-78"/>
                <a:ea typeface="Amiri" pitchFamily="2" charset="-78"/>
                <a:cs typeface="Amiri" pitchFamily="2" charset="-78"/>
              </a:rPr>
              <a:t>تُوجَدُ … قَدِيمَةٌ … مَبْنِيَّةٌ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مَبَانٍ قَدِيمَةٌ كَثِيرَةٌ مَبْنِيَّةٌ مِنَ الحَجَرِ.</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station is opposite the hospital.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Position word + genitive (</a:t>
            </a:r>
            <a:pPr algn="l" indent="0" marL="0">
              <a:buNone/>
            </a:pPr>
            <a:r>
              <a:rPr lang="ar-SA" altLang="en-US" sz="1350" dirty="0">
                <a:solidFill>
                  <a:srgbClr val="5A6472"/>
                </a:solidFill>
                <a:latin typeface="Amiri" pitchFamily="2" charset="-78"/>
                <a:ea typeface="Amiri" pitchFamily="2" charset="-78"/>
                <a:cs typeface="Amiri" pitchFamily="2" charset="-78"/>
              </a:rPr>
              <a:t>المُسْتَشْفَى</a:t>
            </a:r>
            <a:pPr algn="l" indent="0" marL="0">
              <a:buNone/>
            </a:pPr>
            <a:r>
              <a:rPr lang="en-US" sz="1050" i="1" dirty="0">
                <a:solidFill>
                  <a:srgbClr val="5A6472"/>
                </a:solidFill>
                <a:latin typeface="Calibri" pitchFamily="34" charset="0"/>
                <a:cs typeface="Amiri" pitchFamily="2" charset="-78"/>
              </a:rPr>
              <a:t> does not change).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المَحَطَّةُ مُقَابِلَ المُسْتَشْفَى.</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go by bike, and it takes a quarter of an hour.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Bike → </a:t>
            </a:r>
            <a:pPr algn="l" indent="0" marL="0">
              <a:buNone/>
            </a:pPr>
            <a:r>
              <a:rPr lang="ar-SA" altLang="en-US" sz="1350" dirty="0">
                <a:solidFill>
                  <a:srgbClr val="5A6472"/>
                </a:solidFill>
                <a:latin typeface="Amiri" pitchFamily="2" charset="-78"/>
                <a:ea typeface="Amiri" pitchFamily="2" charset="-78"/>
                <a:cs typeface="Amiri" pitchFamily="2" charset="-78"/>
              </a:rPr>
              <a:t>عَلَى الدَّرَّاجَةِ</a:t>
            </a:r>
            <a:pPr algn="l" indent="0" marL="0">
              <a:buNone/>
            </a:pPr>
            <a:r>
              <a:rPr lang="en-US" sz="1050" i="1" dirty="0">
                <a:solidFill>
                  <a:srgbClr val="5A6472"/>
                </a:solidFill>
                <a:latin typeface="Calibri" pitchFamily="34" charset="0"/>
                <a:cs typeface="Amiri" pitchFamily="2" charset="-78"/>
              </a:rPr>
              <a:t>; duration is the object → </a:t>
            </a:r>
            <a:pPr algn="l" indent="0" marL="0">
              <a:buNone/>
            </a:pPr>
            <a:r>
              <a:rPr lang="ar-SA" altLang="en-US" sz="1350" dirty="0">
                <a:solidFill>
                  <a:srgbClr val="5A6472"/>
                </a:solidFill>
                <a:latin typeface="Amiri" pitchFamily="2" charset="-78"/>
                <a:ea typeface="Amiri" pitchFamily="2" charset="-78"/>
                <a:cs typeface="Amiri" pitchFamily="2" charset="-78"/>
              </a:rPr>
              <a:t>رُبْعَ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أَذْهَبُ عَلَى الدَّرَّاجَةِ، وَتَسْتَغْرِقُ الرِّحْلَةُ رُبْعَ سَاعَةٍ.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الحَدَائِقُ جَمِيلُونَ.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Diagnose: plural of things.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صَيْدَلِيَّةٌ بِجَانِبِ البَنْكِ.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صَيْدَلِيَّةٌ</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بِالمَشْيِ.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Diagnose: on foot.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الحَدَائِقُ جَمِيلُونَ.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الحَدَائِقُ جَمِيلَةٌ.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Repair: non-human plural → feminine singular.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صَيْدَلِيَّةٌ بِجَانِبِ البَنْكِ.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صَيْدَلِيَّةٌ بِجَانِبِ البَنْكِ.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بِالمَشْيِ.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مَشْيًا.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Repair: on foot = </a:t>
            </a:r>
            <a:pPr algn="l" indent="0" marL="0">
              <a:buNone/>
            </a:pPr>
            <a:r>
              <a:rPr lang="ar-SA" altLang="en-US" sz="1500" b="1" dirty="0">
                <a:solidFill>
                  <a:srgbClr val="1B3B6F"/>
                </a:solidFill>
                <a:latin typeface="Amiri" pitchFamily="2" charset="-78"/>
                <a:ea typeface="Amiri" pitchFamily="2" charset="-78"/>
                <a:cs typeface="Amiri" pitchFamily="2" charset="-78"/>
              </a:rPr>
              <a:t>مَشْيًا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مَزَايَاهَا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 advantage is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لٰكِنَّهَا تَفْتَقِرُ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it lacks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وَتُوجَدُ ______ مُقَابِلَ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there is … opposite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بِكُمْ فِي مَدِينَةِ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Welcome to the town of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______ بِجَانِبِ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 next to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نَذْهَبُ بِالحَافِلَةِ، وَتَسْتَغْرِقُ الرِّحْلَةُ ______ .</a:t>
            </a:r>
            <a:endParaRPr lang="ar-SA" sz="175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go by bus, and the journey takes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مَبْنِيٌّ مِنَ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built of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اذْهَبُوا ______ ، ثُمَّ انْعَطِفُوا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 …, then turn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يُوجَدُ · تُوجَدُ  ·  بِجَانِبِ · مُقَابِلَ  ·  بِالحَافِلَةِ · مَشْيًا  ·  تَسْتَغْرِقُ  ·  مَبْنِيٌّ مِنَ  ·  مِنْ مَزَايَاهَا أَنَّ  ·  تَفْتَقِرُ إِلَى  ·  اذْهَبُوا · انْعَطِفُوا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55–75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welcome guide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دَلِيلُ التَّرْحِيبِ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welcome guide (about 55–75 words) for the visiting students. Include: • places with </a:t>
            </a:r>
            <a:pPr algn="l" indent="0" marL="0">
              <a:buNone/>
            </a:pPr>
            <a:r>
              <a:rPr lang="ar-SA" altLang="en-US" sz="1450" b="1" dirty="0">
                <a:solidFill>
                  <a:srgbClr val="1F2A37"/>
                </a:solidFill>
                <a:latin typeface="Amiri" pitchFamily="2" charset="-78"/>
                <a:ea typeface="Amiri" pitchFamily="2" charset="-78"/>
                <a:cs typeface="Amiri" pitchFamily="2" charset="-78"/>
              </a:rPr>
              <a:t>يُوجَدُ / تُوجَدُ</a:t>
            </a:r>
            <a:pPr algn="l" indent="0" marL="0">
              <a:buNone/>
            </a:pPr>
            <a:r>
              <a:rPr lang="en-US" sz="1100" b="1" dirty="0">
                <a:solidFill>
                  <a:srgbClr val="1F2A37"/>
                </a:solidFill>
                <a:latin typeface="Calibri" pitchFamily="34" charset="0"/>
                <a:cs typeface="Amiri" pitchFamily="2" charset="-78"/>
              </a:rPr>
              <a:t> and positions • how to travel around and how long it takes • one building and what it is built of • one advantage and one disadvantage of the town • a route to one place with group commands. Then underline one example of each F6 grammar family.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F6-L11 AND F6-L12.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بِكُمْ فِي مَدِينَةِ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welcome to the town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 بِجَانِبِ … وَتُوجَدُ … مُقَابِلَ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 next to … and … opposite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الرِّحْلَةُ بِالحَافِلَةِ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journey by bus takes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مِنْ مَزَايَاهَا أَنَّ … ، لٰكِنَّهَا تَفْتَقِرُ إِلَى …</a:t>
            </a:r>
            <a:endParaRPr lang="ar-SA" sz="175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advantage is that …, but it lacks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least one example from each grammar family?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get the F6 agreements right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ثَمَنُهُ / ثَمَنُهَا</a:t>
            </a:r>
            <a:pPr algn="l" indent="0" marL="0">
              <a:buNone/>
            </a:pPr>
            <a:r>
              <a:rPr lang="en-US" sz="1100" dirty="0">
                <a:solidFill>
                  <a:srgbClr val="5A6472"/>
                </a:solidFill>
                <a:latin typeface="Calibri" pitchFamily="34" charset="0"/>
                <a:cs typeface="Amiri" pitchFamily="2" charset="-78"/>
              </a:rPr>
              <a:t> · commands)?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مَتْحَفٌ وَمَسْجِدٌ، وَتُوجَدُ حَدِيقَةٌ عَامَّةٌ بِجَانِبِ النَّهْرِ.</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museum and a mosque, and there is a public park next to the river.</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يُوجَدُ فِي مَدِينَتِكُمْ؟</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بِالحَافِلَةِ، وَتَسْتَغْرِقُ الرِّحْلَةُ عِشْرِينَ دَقِيقَةً.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go by bus, and the journey takes twenty minutes.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تَذْهَبُ إِلَى المَدْرَسَةِ؟ وَكَمْ تَسْتَغْرِقُ الرِّحْلَةُ؟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المَكْتَبَةُ مَبْنِيَّةٌ مِنَ الزُّجَاجِ، وَهِيَ حَدِيثَةٌ وَمُضِيئَةٌ.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library is built of glass, and it is modern and bright.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مَبْنًى مُهِمًّا فِي مَدِينَتِكُمْ.</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مَزَايَاهَا أَنَّهَا هَادِئَةٌ، لٰكِنْ مِنْ عُيُوبِهَا أَنَّ المَحَلَّاتِ غَالِيَةٌ.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One advantage is that it is quiet, but one disadvantage is that the shops are expensive.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مَزَايَا مَدِينَتِكُمْ وَعُيُوبُهَا؟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اذْهَبِي مُسْتَقِيمًا، ثُمَّ انْعَطِفِي يَمِينًا، وَاعْبُرِي الشَّارِعَ. السُّوقُ مُقَابِلَ البَنْكِ.</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 straight on, then turn right, and cross the street. The market is opposite the bank.</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أَذْهَبُ مِنْ هُنَا إِلَى السُّوقِ؟</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بِكُمْ فِي مَدِينَةِ لِيسْتَر! فِي وَسَطِ المَدِينَةِ يُوجَدُ مَتْحَفٌ كَبِيرٌ بِجَانِبِ الجَامِعَةِ، وَتُوجَدُ سُوقٌ قَدِيمَةٌ مُقَابِلَ المَحَطَّةِ. نَذْهَبُ بِالحَافِلَةِ، وَتَسْتَغْرِقُ الرِّحْلَةُ إِلَى الوَسَطِ عِشْرِينَ دَقِيقَةً. المَتْحَفُ مَبْنِيٌّ مِنَ الطُّوبِ الأَحْمَرِ، وَهُوَ قَدِيمٌ وَجَمِيلٌ. مِنْ مَزَايَا مَدِينَتِنَا أَنَّهَا آمِنَةٌ وَنَشِيطَةٌ، لٰكِنَّهَا تَفْتَقِرُ إِلَى مَطَارٍ. لِلذَّهَابِ إِلَى المَتْحَفِ: اذْهَبُوا مُسْتَقِيمًا، ثُمَّ انْعَطِفُوا يَسَارًا، وَاعْبُرُوا الشَّارِعَ.</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“Welcome to Leicester! In the city centre there is a big museum next to the university, and there is an old market opposite the station. We go by bus, and the journey to the centre takes twenty minutes. The museum is built of red brick, and it is old and beautiful. One advantage of our city is that it is safe and lively, but it lacks an airport. To go to the museum: go straight on, then turn left, and cross the street.”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يُوجَدُ مَتْحَفٌ كَبِيرٌ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تَسْتَغْرِقُ الرِّحْلَةُ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 مِنَ الطُّوبِ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اذْهَبُوا مُسْتَقِيمًا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F6-W06 · Apply workshop (F6-L11 + F6-L12)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F6-L11 and F6-L12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F6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F6-W06 · Apply Workshop — Welcome to Our Town</dc:title>
  <dc:subject>PptxGenJS Presentation</dc:subject>
  <dc:creator>Al Madina Online School · Arabic Department</dc:creator>
  <cp:lastModifiedBy>Al Madina Online School · Arabic Department</cp:lastModifiedBy>
  <cp:revision>1</cp:revision>
  <dcterms:created xsi:type="dcterms:W3CDTF">2026-10-26T15:12:36Z</dcterms:created>
  <dcterms:modified xsi:type="dcterms:W3CDTF">2026-10-26T15:12:36Z</dcterms:modified>
</cp:coreProperties>
</file>