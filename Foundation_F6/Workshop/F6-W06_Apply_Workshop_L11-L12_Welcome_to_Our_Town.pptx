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F6-L11 · Learn F6-L12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F6-L11 (F6 Consolidation: Complete Town and Transport Review) and F6-L12 (Final Review and Assessment: My Town and Transport).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F6-L11 and F6-L12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F6-L11? After F6-L12?” Take two answers in the chat for each lesson (one word or one sentence is enough). Then read objective 3 — today’s new situation that needs BOTH lessons. Students tick their route goals at the end of the lesson.
F6-L11 language: four F6 grammar families: (1) yūjadu / tūjadu + agreement; (2) transport patterns bi- / ʿalā / mashyan + tastaghriqu; (3) mabniyyun min · tatamayyazu bi- · min mazāyā / ʿuyūbi … anna; (4) commands m. / f. / pl.
F6-L12 language: all of F6: places + yūjadu / tūjadu; positions + genitive; transport patterns; tickets, times and tastaghriqu; describing a town (mazāyā / ʿuyūb); prices and comparatives; mabniyyun min; commands m. / f. / pl.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F6-L11.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F6-L12.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F6-L11 and F6-L12. Teacher reads it once with a confident student; then pairs. Ask: “Which lines are from F6-L11? Which from F6-L12?” All four F6 grammar families (F6-L11) appear: يُوجَدُ / تُوجَدُ + positions, transport + تَسْتَغْرِقُ, مَبْنِيٌّ مِنْ + مَزَايَا / عُيُوب, and group commands — the content of the F6-L12 assessment, given a real purpose. Note: سُوقٌ can be masculine or feminine; here it is feminine (سُوقٌ قَدِيمَةٌ).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the four F6 grammar families (F6-L11) in an assessment-style role play (F6-L12). SUPPORTED: the plan column gives the first words, not the full answer. To a girl Partner A says: task 5 is already to a girl; to a boy say: اذْهَبْ · انْعَطِفْ · اعْبُرْ.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F6-L11 and F6-L12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F6-L11 and F6-L12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(54 words). CHECK YOURSELF (2 min). Find each bullet point in the model, and one phrase from F6-L11 and one from F6-L12.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F6  ·  F6-L11 + F6-L12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F6-W06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750" b="1" dirty="0">
                <a:solidFill>
                  <a:srgbClr val="FFFFFF"/>
                </a:solidFill>
                <a:latin typeface="Cambria" pitchFamily="34" charset="0"/>
                <a:cs typeface="Amiri" pitchFamily="2" charset="-78"/>
              </a:rPr>
              <a:t>Apply Workshop — Welcome to Our Town</a:t>
            </a:r>
            <a:endParaRPr lang="en-US" sz="27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أَهْلًا بِكُمْ فِي مَدِينَتِنَا</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250" dirty="0">
                <a:solidFill>
                  <a:srgbClr val="C6D2E6"/>
                </a:solidFill>
                <a:latin typeface="Calibri" pitchFamily="34" charset="0"/>
                <a:cs typeface="Amiri" pitchFamily="2" charset="-78"/>
              </a:rPr>
              <a:t>Students use all of F6 for one real purpose: a group of students from Morocco is visiting, so they plan a welcome guide — places and where they are, how to travel and how long it takes, a building and its material, advantages and disadvantages, and a route with commands — then present it and write it up.</a:t>
            </a:r>
            <a:endParaRPr lang="en-US" sz="125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F6-L11 + F6-L12</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end of F6 and of the Foundation stage</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F6 › F6-L12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F6-W06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F6-W06 · Apply workshop (F6-L11 + F6-L12)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F6-W06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F6-W06 · Apply workshop (F6-L11 + F6-L12)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F6-L11 and F6-L12.</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F6-W06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F6-L11 + F6-L12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F6-W06 · Apply workshop (F6-L11 + F6-L12)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F6-L11: F6 Consolidation: Complete Town and Transport Review</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F6-L12: Final Review and Assessment: My Town and Transport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the visitors’ questions · Our welcome guide</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F6-W06 · Apply workshop (F6-L11 + F6-L12)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F6-L11 and F6-L12.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F6-W06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F6-L11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F6-L11 · F6 Consolidation: Complete Town and Transport Review</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F6-W06 · Apply workshop (F6-L11 + F6-L12)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مُرَاجَعَةٌ شَامِلَةٌ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comprehensive review</a:t>
            </a:r>
            <a:endParaRPr lang="en-US" sz="1350" dirty="0"/>
          </a:p>
          <a:p>
            <a:pPr indent="0" marL="0">
              <a:buNone/>
            </a:pPr>
            <a:r>
              <a:rPr lang="en-US" sz="1100" i="1" dirty="0">
                <a:solidFill>
                  <a:srgbClr val="5A6472"/>
                </a:solidFill>
                <a:latin typeface="Calibri" pitchFamily="34" charset="0"/>
                <a:cs typeface="Amiri" pitchFamily="2" charset="-78"/>
              </a:rPr>
              <a:t>mu-rā-ja-ʿa-tun shā-mi-la-tun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نُقْطَةُ قُوَّةٍ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strength</a:t>
            </a:r>
            <a:endParaRPr lang="en-US" sz="1350" dirty="0"/>
          </a:p>
          <a:p>
            <a:pPr indent="0" marL="0">
              <a:buNone/>
            </a:pPr>
            <a:r>
              <a:rPr lang="en-US" sz="1100" i="1" dirty="0">
                <a:solidFill>
                  <a:srgbClr val="5A6472"/>
                </a:solidFill>
                <a:latin typeface="Calibri" pitchFamily="34" charset="0"/>
                <a:cs typeface="Amiri" pitchFamily="2" charset="-78"/>
              </a:rPr>
              <a:t>nuq-ṭa-tu quw-wa-tin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دَلِيلٌ</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evidence</a:t>
            </a:r>
            <a:endParaRPr lang="en-US" sz="1350" dirty="0"/>
          </a:p>
          <a:p>
            <a:pPr indent="0" marL="0">
              <a:buNone/>
            </a:pPr>
            <a:r>
              <a:rPr lang="en-US" sz="1100" i="1" dirty="0">
                <a:solidFill>
                  <a:srgbClr val="5A6472"/>
                </a:solidFill>
                <a:latin typeface="Calibri" pitchFamily="34" charset="0"/>
                <a:cs typeface="Amiri" pitchFamily="2" charset="-78"/>
              </a:rPr>
              <a:t>da-lī-lun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بِـ / عَلَى / مَشْيًا</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transport patterns</a:t>
            </a:r>
            <a:endParaRPr lang="en-US" sz="1350" dirty="0"/>
          </a:p>
          <a:p>
            <a:pPr indent="0" marL="0">
              <a:buNone/>
            </a:pPr>
            <a:r>
              <a:rPr lang="en-US" sz="1100" i="1" dirty="0">
                <a:solidFill>
                  <a:srgbClr val="5A6472"/>
                </a:solidFill>
                <a:latin typeface="Calibri" pitchFamily="34" charset="0"/>
                <a:cs typeface="Amiri" pitchFamily="2" charset="-78"/>
              </a:rPr>
              <a:t>bi / ʿa-lā / mash-yan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تَتَمَيَّزُ بِـ</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distinguished by</a:t>
            </a:r>
            <a:endParaRPr lang="en-US" sz="1350" dirty="0"/>
          </a:p>
          <a:p>
            <a:pPr indent="0" marL="0">
              <a:buNone/>
            </a:pPr>
            <a:r>
              <a:rPr lang="en-US" sz="1100" i="1" dirty="0">
                <a:solidFill>
                  <a:srgbClr val="5A6472"/>
                </a:solidFill>
                <a:latin typeface="Calibri" pitchFamily="34" charset="0"/>
                <a:cs typeface="Amiri" pitchFamily="2" charset="-78"/>
              </a:rPr>
              <a:t>ta-ta-may-ya-zu bi</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مَزَايَا / مِنْ عُيُوبِ</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advantages / disadvantages</a:t>
            </a:r>
            <a:endParaRPr lang="en-US" sz="1350" dirty="0"/>
          </a:p>
          <a:p>
            <a:pPr indent="0" marL="0">
              <a:buNone/>
            </a:pPr>
            <a:r>
              <a:rPr lang="en-US" sz="1100" i="1" dirty="0">
                <a:solidFill>
                  <a:srgbClr val="5A6472"/>
                </a:solidFill>
                <a:latin typeface="Calibri" pitchFamily="34" charset="0"/>
                <a:cs typeface="Amiri" pitchFamily="2" charset="-78"/>
              </a:rPr>
              <a:t>min ma-zā-yā / min ʿu-yū-bi</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F6-W06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F6-L12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F6-L12 · Final Review and Assessment: My Town and Transport</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F6-W06 · Apply workshop (F6-L11 + F6-L12)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يُوجَدُ · تُوجَدُ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 is (m. · f.)</a:t>
            </a:r>
            <a:endParaRPr lang="en-US" sz="1350" dirty="0"/>
          </a:p>
          <a:p>
            <a:pPr indent="0" marL="0">
              <a:buNone/>
            </a:pPr>
            <a:r>
              <a:rPr lang="en-US" sz="1100" i="1" dirty="0">
                <a:solidFill>
                  <a:srgbClr val="5A6472"/>
                </a:solidFill>
                <a:latin typeface="Calibri" pitchFamily="34" charset="0"/>
                <a:cs typeface="Amiri" pitchFamily="2" charset="-78"/>
              </a:rPr>
              <a:t>yū-ja-du · tū-ja-du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سُوقٌ · مَكْتَبَةٌ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market · library</a:t>
            </a:r>
            <a:endParaRPr lang="en-US" sz="1350" dirty="0"/>
          </a:p>
          <a:p>
            <a:pPr indent="0" marL="0">
              <a:buNone/>
            </a:pPr>
            <a:r>
              <a:rPr lang="en-US" sz="1100" i="1" dirty="0">
                <a:solidFill>
                  <a:srgbClr val="5A6472"/>
                </a:solidFill>
                <a:latin typeface="Calibri" pitchFamily="34" charset="0"/>
                <a:cs typeface="Amiri" pitchFamily="2" charset="-78"/>
              </a:rPr>
              <a:t>sū-qun · mak-ta-ba-tun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قَرِيبٌ مِنْ · بَعِيدٌ عَنْ</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near · far from</a:t>
            </a:r>
            <a:endParaRPr lang="en-US" sz="1350" dirty="0"/>
          </a:p>
          <a:p>
            <a:pPr indent="0" marL="0">
              <a:buNone/>
            </a:pPr>
            <a:r>
              <a:rPr lang="en-US" sz="1100" i="1" dirty="0">
                <a:solidFill>
                  <a:srgbClr val="5A6472"/>
                </a:solidFill>
                <a:latin typeface="Calibri" pitchFamily="34" charset="0"/>
                <a:cs typeface="Amiri" pitchFamily="2" charset="-78"/>
              </a:rPr>
              <a:t>qa-rī-bun min · ba-ʿī-dun ʿan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بِالحَافِلَةِ · مَشْيًا</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by bus · on foot</a:t>
            </a:r>
            <a:endParaRPr lang="en-US" sz="1350" dirty="0"/>
          </a:p>
          <a:p>
            <a:pPr indent="0" marL="0">
              <a:buNone/>
            </a:pPr>
            <a:r>
              <a:rPr lang="en-US" sz="1100" i="1" dirty="0">
                <a:solidFill>
                  <a:srgbClr val="5A6472"/>
                </a:solidFill>
                <a:latin typeface="Calibri" pitchFamily="34" charset="0"/>
                <a:cs typeface="Amiri" pitchFamily="2" charset="-78"/>
              </a:rPr>
              <a:t>bil-ḥā-fi-la-ti · mash-yan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تَسْتَغْرِقُ</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takes (time)</a:t>
            </a:r>
            <a:endParaRPr lang="en-US" sz="1350" dirty="0"/>
          </a:p>
          <a:p>
            <a:pPr indent="0" marL="0">
              <a:buNone/>
            </a:pPr>
            <a:r>
              <a:rPr lang="en-US" sz="1100" i="1" dirty="0">
                <a:solidFill>
                  <a:srgbClr val="5A6472"/>
                </a:solidFill>
                <a:latin typeface="Calibri" pitchFamily="34" charset="0"/>
                <a:cs typeface="Amiri" pitchFamily="2" charset="-78"/>
              </a:rPr>
              <a:t>tas-tagh-ri-qu</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اذْهَبْ · انْعَطِفْ · اعْبُرْ</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go · turn · cross</a:t>
            </a:r>
            <a:endParaRPr lang="en-US" sz="1350" dirty="0"/>
          </a:p>
          <a:p>
            <a:pPr indent="0" marL="0">
              <a:buNone/>
            </a:pPr>
            <a:r>
              <a:rPr lang="en-US" sz="1100" i="1" dirty="0">
                <a:solidFill>
                  <a:srgbClr val="5A6472"/>
                </a:solidFill>
                <a:latin typeface="Calibri" pitchFamily="34" charset="0"/>
                <a:cs typeface="Amiri" pitchFamily="2" charset="-78"/>
              </a:rPr>
              <a:t>adh-hab · an-ʿa-ṭif · aʿ-bur</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2 · SORT IT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Place or transport?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 البِطَاقَاتِ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F6-W06 · Apply workshop (F6-L11 + F6-L12)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مُقَابِلَ المَتْحَفِ</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تَذْكِرَةٌ مُفْرَدَةٌ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تَسْتَغْرِقُ الرِّحْلَةُ سَاعَةً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تُوجَدُ مَكْتَبَةٌ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مَبْنِيٌّ مِنَ الطُّوبِ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انْعَطِفُوا يَمِينًا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أَذْهَبُ بِالحَافِلَةِ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وَسَطِ المَدِينَةِ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Places, positions and buildings</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Transport, tickets and routes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 البِطَاقَاتِ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F6-W06 · Apply workshop (F6-L11 + F6-L12)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Places, positions and buildings</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مُقَابِلَ المَتْحَفِ</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تُوجَدُ مَكْتَبَةٌ</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مَبْنِيٌّ مِنَ الطُّوبِ</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وَسَطِ المَدِينَةِ</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Transport, tickets and routes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تَذْكِرَةٌ مُفْرَدَةٌ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تَسْتَغْرِقُ الرِّحْلَةُ سَاعَةً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انْعَطِفُوا يَمِينًا</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أَذْهَبُ بِالحَافِلَةِ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visitors arrive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وَصَلَ الزُّوَّارُ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F6-W06 · Apply workshop (F6-L11 + F6-L12)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Welcome to our town! Was the journey long?</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أَهْلًا بِكُمْ فِي مَدِينَتِنَا! هَلْ كَانَتِ الرِّحْلَةُ طَوِيلَةً؟</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 we travelled by plane and then by train, and the journey took six hours.</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نَعَمْ، سَافَرْنَا بِالطَّائِرَةِ ثُمَّ بِالقِطَارِ، وَاسْتَغْرَقَتِ الرِّحْلَةُ سِتَّ سَاعَاتٍ.</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the town centre there is a museum, and there is an old market next to the station.</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فِي وَسَطِ المَدِينَةِ يُوجَدُ مَتْحَفٌ، وَتُوجَدُ سُوقٌ قَدِيمَةٌ بِجَانِبِ المَحَطَّةِ.</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do we get to the museum?</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كَيْفَ نَذْهَبُ إِلَى المَتْحَفِ؟</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 straight on, then turn left. It is built of red brick.</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اذْهَبُوا مُسْتَقِيمًا، ثُمَّ انْعَطِفُوا يَسَارًا. هُوَ مَبْنِيٌّ مِنَ الطُّوبِ الأَحْمَرِ.</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advantage of our town is that it is safe, but it lacks an airport!</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مِنْ مَزَايَا مَدِينَتِنَا أَنَّهَا آمِنَةٌ، لٰكِنَّهَا تَفْتَقِرُ إِلَى مَطَارٍ!</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F6-W06 · Apply workshop (F6-L11 + F6-L12)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بِجَانِبِ …</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يُوجَدُ … وَتُوجَدُ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in your town centre?</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يُوجَدُ فِي وَسَطِ مَدِينَتِكَ؟</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مُقَابِلَ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يُوجَدُ … وَتُوجَدُ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near your home?</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يُوجَدُ قُرْبَ بَيْتِكَ؟</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56648" y="3496056"/>
            <a:ext cx="1901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أَذْهَبُ … ، وَتَسْتَغْرِقُ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do you go to school, and how long does it take?</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كَيْفَ تَذْهَبُ إِلَى المَدْرَسَةِ؟ وَكَمْ تَسْتَغْرِقُ الرِّحْلَةُ؟</a:t>
            </a:r>
            <a:endParaRPr lang="ar-SA" sz="165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56648" y="4110228"/>
            <a:ext cx="1901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ea typeface="Amiri" pitchFamily="2" charset="-78"/>
                <a:cs typeface="Amiri" pitchFamily="2" charset="-78"/>
              </a:rPr>
              <a:t>المَحَطَّةُ … ، قَرِيبَةٌ مِنْ / بَعِيدَةٌ عَنْ …</a:t>
            </a:r>
            <a:endParaRPr lang="ar-SA" sz="155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is the station in your town?</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المَحَطَّةُ فِي مَدِينَتِكَ؟</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وَتَتَمَيَّزُ المَدِينَةُ بِهِ</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 مَبْنِيٌّ / مَبْنِيَّةٌ مِنَ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a building in your town.</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 مَبْنًى فِي مَدِينَتِكَ.</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وَاسْتَغْرَقَتِ الرِّحْلَةُ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سَافَرْتُ بِالقِطَارِ / بِالطَّائِرَةِ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did you travel on your last holiday?</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سَافَرْتَ فِي آخِرِ عُطْلَةٍ؟</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F6-L11, even numbers from F6-L12.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Role-play card — the visitors’ questions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الزُّوَّارِ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F6-W06 · Apply workshop (F6-L11 + F6-L12)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يُوجَدُ … وَتُوجَدُ … بِجَانِبِ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places, one with a position.</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يُوجَدُ فِي مَدِينَتِكُمْ؟</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 كَمْ ← أَذْهَبُ بِالحَافِلَةِ … ، وَتَسْتَغْرِقُ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Transport + duration.</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تَذْهَبُ إِلَى المَدْرَسَةِ؟ وَكَمْ تَسْتَغْرِقُ الرِّحْلَةُ؟</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صِفْ ← … مَبْنِيٌّ مِنَ … ، وَهُوَ …</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it is, its material, two adjectives.</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 مَبْنًى مُهِمًّا فِي مَدِينَتِكُمْ.</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 مِنْ مَزَايَاهَا أَنَّ … ، لٰكِنْ مِنْ عُيُوبِهَا أَنَّ …</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advantage, one disadvantage.</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مَزَايَا مَدِينَتِكُمْ وَعُيُوبُهَا؟</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 اذْهَبِي … ثُمَّ انْعَطِفِي … وَاعْبُرِي …</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Directions to a girl: three steps.</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أَذْهَبُ مِنْ هُنَا إِلَى السُّوقِ؟</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the student guide · Partner A = a visiting student from Morocco. Read the plan for 1 minute, then hide it and speak. Task ! is a surprise. Then swap roles.</a:t>
            </a:r>
            <a:endParaRPr lang="en-US" sz="11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welcome speech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كَلِمَةُ التَّرْحِيبِ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F6-W06 · Apply workshop (F6-L11 + F6-L12)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Give a welcome speech of 30–45 seconds to the visitors: what there is in your town and where, how people travel and how long journeys take, one building and its material, one advantage and one disadvantage, and directions to your favourite place.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أَهْلًا بِكُمْ! فِي مَدِينَتِنَا يُوجَدُ … · أَذْهَبُ بِالحَافِلَةِ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 building (</a:t>
            </a:r>
            <a:pPr algn="l" indent="0" marL="0">
              <a:buNone/>
            </a:pPr>
            <a:r>
              <a:rPr lang="ar-SA" altLang="en-US" sz="1500" dirty="0">
                <a:solidFill>
                  <a:srgbClr val="1F2A37"/>
                </a:solidFill>
                <a:latin typeface="Amiri" pitchFamily="2" charset="-78"/>
                <a:ea typeface="Amiri" pitchFamily="2" charset="-78"/>
                <a:cs typeface="Amiri" pitchFamily="2" charset="-78"/>
              </a:rPr>
              <a:t>مَبْنِيٌّ مِنَ</a:t>
            </a:r>
            <a:pPr algn="l" indent="0" marL="0">
              <a:buNone/>
            </a:pPr>
            <a:r>
              <a:rPr lang="en-US" sz="1150" dirty="0">
                <a:solidFill>
                  <a:srgbClr val="1F2A37"/>
                </a:solidFill>
                <a:latin typeface="Calibri" pitchFamily="34" charset="0"/>
                <a:cs typeface="Amiri" pitchFamily="2" charset="-78"/>
              </a:rPr>
              <a:t> …) and one advantage.</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Use all four families, including group commands: </a:t>
            </a:r>
            <a:pPr algn="l" indent="0" marL="0">
              <a:buNone/>
            </a:pPr>
            <a:r>
              <a:rPr lang="ar-SA" altLang="en-US" sz="1500" dirty="0">
                <a:solidFill>
                  <a:srgbClr val="1F2A37"/>
                </a:solidFill>
                <a:latin typeface="Amiri" pitchFamily="2" charset="-78"/>
                <a:ea typeface="Amiri" pitchFamily="2" charset="-78"/>
                <a:cs typeface="Amiri" pitchFamily="2" charset="-78"/>
              </a:rPr>
              <a:t>اذْهَبُوا</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انْعَطِفُوا</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اعْبُرُوا</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مَدِينَتِنَا يُوجَدُ … وَتُوجَدُ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our town there is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تَسْتَغْرِقُ الرِّحْلَةُ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 journey takes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مَبْنِيٌّ مِنَ … · مِنْ مَزَايَاهَا أَنَّ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built of … · an advantage is that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اذْهَبُوا … ثُمَّ انْعَطِفُوا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go (all) … then turn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F6-W06 · Apply workshop (F6-L11 + F6-L12)</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There are many old buildings built of stone.</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تُوجَدُ مَبَانٍ</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يُوجَدُ مَبَانٍ</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قَدِيمَةٌ كَثِيرَةٌ</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قَدِيمُونَ كَثِيرُونَ</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مَبْنِيَّةٌ مِنَ الحَجَرِ.</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مَبْنِيُّونَ مِنَ الحَجَرِ.</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station is opposite the hospital.</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المَحَطَّةُ</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المَحَطَّةَ</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مُقَابِلَ</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مُقَابِلُ</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المُسْتَشْفَى.</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مُسْتَشْفًى.</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go by bike, and it takes a quarter of an hour.</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أَذْهَبُ عَلَى الدَّرَّاجَةِ،</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أَذْهَبُ بِالدَّرَّاجَةُ،</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وَتَسْتَغْرِقُ الرِّحْلَةُ</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وَتَسْتَغْرِقُ الرِّحْلَةَ</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رُبْعَ سَاعَةٍ.</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رُبْعُ سَاعَةٍ.</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F6-W06 · Apply workshop (F6-L11 + F6-L12)</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There are many old buildings built of stone.</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Non-human plural → feminine singular: </a:t>
            </a:r>
            <a:pPr algn="l" indent="0" marL="0">
              <a:buNone/>
            </a:pPr>
            <a:r>
              <a:rPr lang="ar-SA" altLang="en-US" sz="1350" dirty="0">
                <a:solidFill>
                  <a:srgbClr val="5A6472"/>
                </a:solidFill>
                <a:latin typeface="Amiri" pitchFamily="2" charset="-78"/>
                <a:ea typeface="Amiri" pitchFamily="2" charset="-78"/>
                <a:cs typeface="Amiri" pitchFamily="2" charset="-78"/>
              </a:rPr>
              <a:t>تُوجَدُ … قَدِيمَةٌ … مَبْنِيَّةٌ</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تُوجَدُ مَبَانٍ قَدِيمَةٌ كَثِيرَةٌ مَبْنِيَّةٌ مِنَ الحَجَرِ.</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station is opposite the hospital.</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Position word + genitive (</a:t>
            </a:r>
            <a:pPr algn="l" indent="0" marL="0">
              <a:buNone/>
            </a:pPr>
            <a:r>
              <a:rPr lang="ar-SA" altLang="en-US" sz="1350" dirty="0">
                <a:solidFill>
                  <a:srgbClr val="5A6472"/>
                </a:solidFill>
                <a:latin typeface="Amiri" pitchFamily="2" charset="-78"/>
                <a:ea typeface="Amiri" pitchFamily="2" charset="-78"/>
                <a:cs typeface="Amiri" pitchFamily="2" charset="-78"/>
              </a:rPr>
              <a:t>المُسْتَشْفَى</a:t>
            </a:r>
            <a:pPr algn="l" indent="0" marL="0">
              <a:buNone/>
            </a:pPr>
            <a:r>
              <a:rPr lang="en-US" sz="1050" i="1" dirty="0">
                <a:solidFill>
                  <a:srgbClr val="5A6472"/>
                </a:solidFill>
                <a:latin typeface="Calibri" pitchFamily="34" charset="0"/>
                <a:cs typeface="Amiri" pitchFamily="2" charset="-78"/>
              </a:rPr>
              <a:t> does not change).</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المَحَطَّةُ مُقَابِلَ المُسْتَشْفَى.</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go by bike, and it takes a quarter of an hour.</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Bike → </a:t>
            </a:r>
            <a:pPr algn="l" indent="0" marL="0">
              <a:buNone/>
            </a:pPr>
            <a:r>
              <a:rPr lang="ar-SA" altLang="en-US" sz="1350" dirty="0">
                <a:solidFill>
                  <a:srgbClr val="5A6472"/>
                </a:solidFill>
                <a:latin typeface="Amiri" pitchFamily="2" charset="-78"/>
                <a:ea typeface="Amiri" pitchFamily="2" charset="-78"/>
                <a:cs typeface="Amiri" pitchFamily="2" charset="-78"/>
              </a:rPr>
              <a:t>عَلَى الدَّرَّاجَةِ</a:t>
            </a:r>
            <a:pPr algn="l" indent="0" marL="0">
              <a:buNone/>
            </a:pPr>
            <a:r>
              <a:rPr lang="en-US" sz="1050" i="1" dirty="0">
                <a:solidFill>
                  <a:srgbClr val="5A6472"/>
                </a:solidFill>
                <a:latin typeface="Calibri" pitchFamily="34" charset="0"/>
                <a:cs typeface="Amiri" pitchFamily="2" charset="-78"/>
              </a:rPr>
              <a:t>; duration is the object → </a:t>
            </a:r>
            <a:pPr algn="l" indent="0" marL="0">
              <a:buNone/>
            </a:pPr>
            <a:r>
              <a:rPr lang="ar-SA" altLang="en-US" sz="1350" dirty="0">
                <a:solidFill>
                  <a:srgbClr val="5A6472"/>
                </a:solidFill>
                <a:latin typeface="Amiri" pitchFamily="2" charset="-78"/>
                <a:ea typeface="Amiri" pitchFamily="2" charset="-78"/>
                <a:cs typeface="Amiri" pitchFamily="2" charset="-78"/>
              </a:rPr>
              <a:t>رُبْعَ</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أَذْهَبُ عَلَى الدَّرَّاجَةِ، وَتَسْتَغْرِقُ الرِّحْلَةُ رُبْعَ سَاعَةٍ.</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F6-W06 · Apply workshop (F6-L11 + F6-L12)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الحَدَائِقُ جَمِيلُونَ.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Diagnose: plural of things.</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يُوجَدُ صَيْدَلِيَّةٌ بِجَانِبِ البَنْكِ.</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صَيْدَلِيَّةٌ</a:t>
            </a:r>
            <a:pPr algn="l" indent="0" marL="0">
              <a:buNone/>
            </a:pPr>
            <a:r>
              <a:rPr lang="en-US" sz="1300" i="1" dirty="0">
                <a:solidFill>
                  <a:srgbClr val="5A6472"/>
                </a:solidFill>
                <a:latin typeface="Calibri" pitchFamily="34" charset="0"/>
                <a:cs typeface="Amiri" pitchFamily="2" charset="-78"/>
              </a:rPr>
              <a:t>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أَذْهَبُ بِالمَشْيِ.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Diagnose: on foot.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F6-W06 · Apply workshop (F6-L11 + F6-L12)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الحَدَائِقُ جَمِيلُونَ.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الحَدَائِقُ جَمِيلَةٌ.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Repair: non-human plural → feminine singular.</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يُوجَدُ صَيْدَلِيَّةٌ بِجَانِبِ البَنْكِ.</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تُوجَدُ صَيْدَلِيَّةٌ بِجَانِبِ البَنْكِ.</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 </a:t>
            </a:r>
            <a:pPr algn="l" indent="0" marL="0">
              <a:buNone/>
            </a:pPr>
            <a:r>
              <a:rPr lang="ar-SA" altLang="en-US" sz="1500" b="1" dirty="0">
                <a:solidFill>
                  <a:srgbClr val="1B3B6F"/>
                </a:solidFill>
                <a:latin typeface="Amiri" pitchFamily="2" charset="-78"/>
                <a:ea typeface="Amiri" pitchFamily="2" charset="-78"/>
                <a:cs typeface="Amiri" pitchFamily="2" charset="-78"/>
              </a:rPr>
              <a:t>تُوجَدُ</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أَذْهَبُ بِالمَشْيِ.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أَذْهَبُ مَشْيًا.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Repair: on foot = </a:t>
            </a:r>
            <a:pPr algn="l" indent="0" marL="0">
              <a:buNone/>
            </a:pPr>
            <a:r>
              <a:rPr lang="ar-SA" altLang="en-US" sz="1500" b="1" dirty="0">
                <a:solidFill>
                  <a:srgbClr val="1B3B6F"/>
                </a:solidFill>
                <a:latin typeface="Amiri" pitchFamily="2" charset="-78"/>
                <a:ea typeface="Amiri" pitchFamily="2" charset="-78"/>
                <a:cs typeface="Amiri" pitchFamily="2" charset="-78"/>
              </a:rPr>
              <a:t>مَشْيًا</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F6-W06 · Apply workshop (F6-L11 + F6-L12)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مَزَايَاهَا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 advantage is that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لٰكِنَّهَا تَفْتَقِرُ إِلَى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But it lacks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وَتُوجَدُ ______ مُقَابِلَ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there is … opposite …</a:t>
            </a:r>
            <a:endParaRPr lang="en-US" sz="1050" dirty="0"/>
          </a:p>
        </p:txBody>
      </p:sp>
      <p:sp>
        <p:nvSpPr>
          <p:cNvPr id="24" name="Shape 21"/>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7" name="Text 24"/>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أَهْلًا بِكُمْ فِي مَدِينَةِ ______ !</a:t>
            </a:r>
            <a:endParaRPr lang="ar-SA" sz="1800" dirty="0"/>
          </a:p>
        </p:txBody>
      </p:sp>
      <p:sp>
        <p:nvSpPr>
          <p:cNvPr id="28" name="Text 25"/>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Welcome to the town of …!</a:t>
            </a:r>
            <a:endParaRPr lang="en-US" sz="1050" dirty="0"/>
          </a:p>
        </p:txBody>
      </p:sp>
      <p:sp>
        <p:nvSpPr>
          <p:cNvPr id="29" name="Text 26"/>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يُوجَدُ ______ بِجَانِبِ ______ .</a:t>
            </a:r>
            <a:endParaRPr lang="ar-SA" sz="1800" dirty="0"/>
          </a:p>
        </p:txBody>
      </p:sp>
      <p:sp>
        <p:nvSpPr>
          <p:cNvPr id="30" name="Text 27"/>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is … next to …</a:t>
            </a:r>
            <a:endParaRPr lang="en-US" sz="1050" dirty="0"/>
          </a:p>
        </p:txBody>
      </p:sp>
      <p:sp>
        <p:nvSpPr>
          <p:cNvPr id="31" name="Text 28"/>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نَذْهَبُ بِالحَافِلَةِ، وَتَسْتَغْرِقُ الرِّحْلَةُ ______ .</a:t>
            </a:r>
            <a:endParaRPr lang="ar-SA" sz="1750" dirty="0"/>
          </a:p>
        </p:txBody>
      </p:sp>
      <p:sp>
        <p:nvSpPr>
          <p:cNvPr id="32" name="Text 29"/>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go by bus, and the journey takes …</a:t>
            </a:r>
            <a:endParaRPr lang="en-US" sz="1050" dirty="0"/>
          </a:p>
        </p:txBody>
      </p:sp>
      <p:sp>
        <p:nvSpPr>
          <p:cNvPr id="33" name="Text 30"/>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مَبْنِيٌّ مِنَ ______ .</a:t>
            </a:r>
            <a:endParaRPr lang="ar-SA" sz="1800" dirty="0"/>
          </a:p>
        </p:txBody>
      </p:sp>
      <p:sp>
        <p:nvSpPr>
          <p:cNvPr id="34" name="Text 31"/>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built of …</a:t>
            </a:r>
            <a:endParaRPr lang="en-US" sz="1050" dirty="0"/>
          </a:p>
        </p:txBody>
      </p:sp>
      <p:sp>
        <p:nvSpPr>
          <p:cNvPr id="35" name="Text 32"/>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اذْهَبُوا ______ ، ثُمَّ انْعَطِفُوا ______ .</a:t>
            </a:r>
            <a:endParaRPr lang="ar-SA" sz="1800" dirty="0"/>
          </a:p>
        </p:txBody>
      </p:sp>
      <p:sp>
        <p:nvSpPr>
          <p:cNvPr id="36" name="Text 33"/>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Go …, then turn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يُوجَدُ · تُوجَدُ  ·  بِجَانِبِ · مُقَابِلَ  ·  بِالحَافِلَةِ · مَشْيًا  ·  تَسْتَغْرِقُ  ·  مَبْنِيٌّ مِنَ  ·  مِنْ مَزَايَاهَا أَنَّ  ·  تَفْتَقِرُ إِلَى  ·  اذْهَبُوا · انْعَطِفُوا</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F6-W06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55–75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welcome guide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دَلِيلُ التَّرْحِيبِ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F6-W06 · Apply workshop (F6-L11 + F6-L12)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 welcome guide (about 55–75 words) for the visiting students. Include: • places with </a:t>
            </a:r>
            <a:pPr algn="l" indent="0" marL="0">
              <a:buNone/>
            </a:pPr>
            <a:r>
              <a:rPr lang="ar-SA" altLang="en-US" sz="1450" b="1" dirty="0">
                <a:solidFill>
                  <a:srgbClr val="1F2A37"/>
                </a:solidFill>
                <a:latin typeface="Amiri" pitchFamily="2" charset="-78"/>
                <a:ea typeface="Amiri" pitchFamily="2" charset="-78"/>
                <a:cs typeface="Amiri" pitchFamily="2" charset="-78"/>
              </a:rPr>
              <a:t>يُوجَدُ / تُوجَدُ</a:t>
            </a:r>
            <a:pPr algn="l" indent="0" marL="0">
              <a:buNone/>
            </a:pPr>
            <a:r>
              <a:rPr lang="en-US" sz="1100" b="1" dirty="0">
                <a:solidFill>
                  <a:srgbClr val="1F2A37"/>
                </a:solidFill>
                <a:latin typeface="Calibri" pitchFamily="34" charset="0"/>
                <a:cs typeface="Amiri" pitchFamily="2" charset="-78"/>
              </a:rPr>
              <a:t> and positions • how to travel around and how long it takes • one building and what it is built of • one advantage and one disadvantage of the town • a route to one place with group commands. Then underline one example of each F6 grammar family.</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F6-L11 AND F6-L12.</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أَهْلًا بِكُمْ فِي مَدِينَةِ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welcome to the town of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يُوجَدُ … بِجَانِبِ … وَتُوجَدُ … مُقَابِلَ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there is … next to … and … opposite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تَسْتَغْرِقُ الرِّحْلَةُ بِالحَافِلَةِ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journey by bus takes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مِنْ مَزَايَاهَا أَنَّ … ، لٰكِنَّهَا تَفْتَقِرُ إِلَى …</a:t>
            </a:r>
            <a:endParaRPr lang="ar-SA" sz="175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 advantage is that …, but it lacks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F6-W06 · Apply workshop (F6-L11 + F6-L12)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least one example from each grammar family?</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get the F6 agreements right (</a:t>
            </a:r>
            <a:pPr algn="l" indent="0" marL="0">
              <a:buNone/>
            </a:pPr>
            <a:r>
              <a:rPr lang="ar-SA" altLang="en-US" sz="1450" dirty="0">
                <a:solidFill>
                  <a:srgbClr val="5A6472"/>
                </a:solidFill>
                <a:latin typeface="Amiri" pitchFamily="2" charset="-78"/>
                <a:ea typeface="Amiri" pitchFamily="2" charset="-78"/>
                <a:cs typeface="Amiri" pitchFamily="2" charset="-78"/>
              </a:rPr>
              <a:t>يُوجَدُ / تُوجَدُ</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ثَمَنُهُ / ثَمَنُهَا</a:t>
            </a:r>
            <a:pPr algn="l" indent="0" marL="0">
              <a:buNone/>
            </a:pPr>
            <a:r>
              <a:rPr lang="en-US" sz="1100" dirty="0">
                <a:solidFill>
                  <a:srgbClr val="5A6472"/>
                </a:solidFill>
                <a:latin typeface="Calibri" pitchFamily="34" charset="0"/>
                <a:cs typeface="Amiri" pitchFamily="2" charset="-78"/>
              </a:rPr>
              <a:t> · commands)?</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F6-W06 · Apply workshop (F6-L11 + F6-L12)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يُوجَدُ مَتْحَفٌ وَمَسْجِدٌ، وَتُوجَدُ حَدِيقَةٌ عَامَّةٌ بِجَانِبِ النَّهْرِ.</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is a museum and a mosque, and there is a public park next to the river.</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يُوجَدُ فِي مَدِينَتِكُمْ؟</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أَذْهَبُ بِالحَافِلَةِ، وَتَسْتَغْرِقُ الرِّحْلَةُ عِشْرِينَ دَقِيقَةً.</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go by bus, and the journey takes twenty minutes.</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تَذْهَبُ إِلَى المَدْرَسَةِ؟ وَكَمْ تَسْتَغْرِقُ الرِّحْلَةُ؟</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المَكْتَبَةُ مَبْنِيَّةٌ مِنَ الزُّجَاجِ، وَهِيَ حَدِيثَةٌ وَمُضِيئَةٌ.</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library is built of glass, and it is modern and bright.</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صِفْ مَبْنًى مُهِمًّا فِي مَدِينَتِكُمْ.</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مَزَايَاهَا أَنَّهَا هَادِئَةٌ، لٰكِنْ مِنْ عُيُوبِهَا أَنَّ المَحَلَّاتِ غَالِيَةٌ.</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One advantage is that it is quiet, but one disadvantage is that the shops are expensive.</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مَزَايَا مَدِينَتِكُمْ وَعُيُوبُهَا؟</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اذْهَبِي مُسْتَقِيمًا، ثُمَّ انْعَطِفِي يَمِينًا، وَاعْبُرِي الشَّارِعَ. السُّوقُ مُقَابِلَ البَنْكِ.</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Go straight on, then turn right, and cross the street. The market is opposite the bank.</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أَذْهَبُ مِنْ هُنَا إِلَى السُّوقِ؟</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F6-W06 · Apply workshop (F6-L11 + F6-L12)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أَهْلًا بِكُمْ فِي مَدِينَةِ لِيسْتَر! فِي وَسَطِ المَدِينَةِ يُوجَدُ مَتْحَفٌ كَبِيرٌ بِجَانِبِ الجَامِعَةِ، وَتُوجَدُ سُوقٌ قَدِيمَةٌ مُقَابِلَ المَحَطَّةِ. نَذْهَبُ بِالحَافِلَةِ، وَتَسْتَغْرِقُ الرِّحْلَةُ إِلَى الوَسَطِ عِشْرِينَ دَقِيقَةً. المَتْحَفُ مَبْنِيٌّ مِنَ الطُّوبِ الأَحْمَرِ، وَهُوَ قَدِيمٌ وَجَمِيلٌ. مِنْ مَزَايَا مَدِينَتِنَا أَنَّهَا آمِنَةٌ وَنَشِيطَةٌ، لٰكِنَّهَا تَفْتَقِرُ إِلَى مَطَارٍ. لِلذَّهَابِ إِلَى المَتْحَفِ: اذْهَبُوا مُسْتَقِيمًا، ثُمَّ انْعَطِفُوا يَسَارًا، وَاعْبُرُوا الشَّارِعَ.</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“Welcome to Leicester! In the city centre there is a big museum next to the university, and there is an old market opposite the station. We go by bus, and the journey to the centre takes twenty minutes. The museum is built of red brick, and it is old and beautiful. One advantage of our city is that it is safe and lively, but it lacks an airport. To go to the museum: go straight on, then turn left, and cross the street.”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يُوجَدُ مَتْحَفٌ كَبِيرٌ</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تَسْتَغْرِقُ الرِّحْلَةُ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مَبْنِيٌّ مِنَ الطُّوبِ</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اذْهَبُوا مُسْتَقِيمًا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F6-W06 · Apply workshop (F6-L11 + F6-L12)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F6-L11 and F6-L12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F6-W06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cs typeface="Amiri" pitchFamily="2" charset="-78"/>
              </a:rPr>
              <a:t>F6 complete · Well done — the unit is complete</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أَحْسَنْتُمْ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unit’s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F6-W06 · Apply Workshop — Welcome to Our Town</dc:title>
  <dc:subject>PptxGenJS Presentation</dc:subject>
  <dc:creator>Al Madina Online School · Arabic Department</dc:creator>
  <cp:lastModifiedBy>Al Madina Online School · Arabic Department</cp:lastModifiedBy>
  <cp:revision>1</cp:revision>
  <dcterms:created xsi:type="dcterms:W3CDTF">2026-10-26T15:17:41Z</dcterms:created>
  <dcterms:modified xsi:type="dcterms:W3CDTF">2026-10-26T15:17:41Z</dcterms:modified>
</cp:coreProperties>
</file>