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F6-L05 · Learn F6-L06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F6-L05 (Describing Your Town: Advantages and Disadvantages) and F6-L06 (Shopping in Town: Prices and Comparisons).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F6-L05 and F6-L06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F6-L05? After F6-L06?” Take two answers in the chat for each lesson (one word or one sentence is enough). Then read objective 3 — today’s new situation that needs BOTH lessons. Students tick their route goals at the end of the lesson.
F6-L05 language: madīnatī + feminine adjectives (hādiʾa · muktaẓẓa · āmina); min mazāyā madīnatī anna …; min ʿuyūbihā anna …; tatamayyazu bi- …; taftaqiru ilā …; lākinna
F6-L06 language: kam thamanuhu (m. item) / kam thamanuhā (f. item)?; rakhīṣun / ghālin (ghāliya); arkhaṣu min / aghlā min; urīdu an ashtariya …; hal ʿindakum …?; naqdan / bi-l-biṭāqa; khaṣm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F6-L05 and F6-L06. Teacher reads it once with a confident student; then pairs. Ask: “Which lines are from F6-L05? Which from F6-L06?” Advantages and disadvantages (مِنْ مَزَايَا … أَنَّ · مُكْتَظٌّ · صَاخِبٌ) come from F6-L05; prices, ثَمَنُهُ / ثَمَنُهَا, comparatives and paying from F6-L06. Numbers: 3–10 + جُنَيْهَاتٍ · 11–99 +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prices, comparisons and paying (F6-L06) with opinions about places in town — advantages and disadvantages (F6-L05). SUPPORTED: the plan column gives the first words, not the full answer. To a girl Partner A says: مَاذَا تُرِيدِينَ؟ · مَا رَأْيُكِ …؟ — and for a feminine item: هٰذِهِ الحَقِيبَةُ … كَمْ ثَمَنُهَا؟.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F6-L05 and F6-L06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F6-L05 and F6-L06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(49 words). CHECK YOURSELF (2 min). Find each bullet point in the model, and one phrase from F6-L05 and one from F6-L06.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F6-L05 + F6-L06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Market or Shopping Centre?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السُّوقُ أَمِ المَرْكَزُ التِّجَارِيُّ؟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a balanced view of the town with shopping and prices: they compare the old market and the new shopping centre (advantages, disadvantages, prices, cheaper / more expensive, how to pay), act a shopping scene and write a balanced shopping guide for their town.</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F6-L05 + F6-L06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F6-L05 and F6-L06.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F6-L05 + F6-L06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F6-L05: Describing Your Town: Advantages and Disadvantages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F6-L06: Shopping in Town: Prices and Comparisons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shopping in town · A balanced shopping guide to my town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F6-L05 and F6-L06.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F6-L05 · Describing Your Town: Advantages and Disadvantages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مِيزَةٌ / مَزَايَا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 / advantages</a:t>
            </a:r>
            <a:endParaRPr lang="en-US" sz="1350" dirty="0"/>
          </a:p>
          <a:p>
            <a:pPr indent="0" marL="0">
              <a:buNone/>
            </a:pPr>
            <a:r>
              <a:rPr lang="en-US" sz="1100" i="1" dirty="0">
                <a:solidFill>
                  <a:srgbClr val="5A6472"/>
                </a:solidFill>
                <a:latin typeface="Calibri" pitchFamily="34" charset="0"/>
                <a:cs typeface="Amiri" pitchFamily="2" charset="-78"/>
              </a:rPr>
              <a:t>mī-za-tun / ma-zā-yā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مُكْتَظٌّ / مُكْتَظَّةٌ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crowded</a:t>
            </a:r>
            <a:endParaRPr lang="en-US" sz="1350" dirty="0"/>
          </a:p>
          <a:p>
            <a:pPr indent="0" marL="0">
              <a:buNone/>
            </a:pPr>
            <a:r>
              <a:rPr lang="en-US" sz="1100" i="1" dirty="0">
                <a:solidFill>
                  <a:srgbClr val="5A6472"/>
                </a:solidFill>
                <a:latin typeface="Calibri" pitchFamily="34" charset="0"/>
                <a:cs typeface="Amiri" pitchFamily="2" charset="-78"/>
              </a:rPr>
              <a:t>muk-taẓ-ẓun / muk-taẓ-ẓa-tun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صَاخِبٌ / صَاخِبَةٌ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noisy</a:t>
            </a:r>
            <a:endParaRPr lang="en-US" sz="1350" dirty="0"/>
          </a:p>
          <a:p>
            <a:pPr indent="0" marL="0">
              <a:buNone/>
            </a:pPr>
            <a:r>
              <a:rPr lang="en-US" sz="1100" i="1" dirty="0">
                <a:solidFill>
                  <a:srgbClr val="5A6472"/>
                </a:solidFill>
                <a:latin typeface="Calibri" pitchFamily="34" charset="0"/>
                <a:cs typeface="Amiri" pitchFamily="2" charset="-78"/>
              </a:rPr>
              <a:t>ṣā-khi-bun / ṣā-khi-ba-tun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آمِنٌ / آمِنَةٌ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safe</a:t>
            </a:r>
            <a:endParaRPr lang="en-US" sz="1350" dirty="0"/>
          </a:p>
          <a:p>
            <a:pPr indent="0" marL="0">
              <a:buNone/>
            </a:pPr>
            <a:r>
              <a:rPr lang="en-US" sz="1100" i="1" dirty="0">
                <a:solidFill>
                  <a:srgbClr val="5A6472"/>
                </a:solidFill>
                <a:latin typeface="Calibri" pitchFamily="34" charset="0"/>
                <a:cs typeface="Amiri" pitchFamily="2" charset="-78"/>
              </a:rPr>
              <a:t>ā-mi-nun / ā-mi-na-tun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حَدِيثٌ / حَدِيثَةٌ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ḥa-dī-thun / ḥa-dī-tha-tun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F6-L06 · Shopping in Town: Prices and Comparisons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(f)</a:t>
            </a:r>
            <a:endParaRPr lang="en-US" sz="1350" dirty="0"/>
          </a:p>
          <a:p>
            <a:pPr indent="0" marL="0">
              <a:buNone/>
            </a:pPr>
            <a:r>
              <a:rPr lang="en-US" sz="1100" i="1" dirty="0">
                <a:solidFill>
                  <a:srgbClr val="5A6472"/>
                </a:solidFill>
                <a:latin typeface="Calibri" pitchFamily="34" charset="0"/>
                <a:cs typeface="Amiri" pitchFamily="2" charset="-78"/>
              </a:rPr>
              <a:t>kam tha-ma-nu-hā?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غَالِيَةٌ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ghā-li-ya-tun</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غَالِيَةٌ</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dearer</a:t>
            </a:r>
            <a:endParaRPr lang="en-US" sz="700" dirty="0"/>
          </a:p>
        </p:txBody>
      </p:sp>
      <p:sp>
        <p:nvSpPr>
          <p:cNvPr id="46" name="Text 4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أَغْلَى</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نَقْدًا</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a:t>
            </a:r>
            <a:endParaRPr lang="en-US" sz="1350" dirty="0"/>
          </a:p>
          <a:p>
            <a:pPr indent="0" marL="0">
              <a:buNone/>
            </a:pPr>
            <a:r>
              <a:rPr lang="en-US" sz="1100" i="1" dirty="0">
                <a:solidFill>
                  <a:srgbClr val="5A6472"/>
                </a:solidFill>
                <a:latin typeface="Calibri" pitchFamily="34" charset="0"/>
                <a:cs typeface="Amiri" pitchFamily="2" charset="-78"/>
              </a:rPr>
              <a:t>naq-dan</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أَشْتَرِيَ</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buy</a:t>
            </a:r>
            <a:endParaRPr lang="en-US" sz="1350" dirty="0"/>
          </a:p>
          <a:p>
            <a:pPr indent="0" marL="0">
              <a:buNone/>
            </a:pPr>
            <a:r>
              <a:rPr lang="en-US" sz="1100" i="1" dirty="0">
                <a:solidFill>
                  <a:srgbClr val="5A6472"/>
                </a:solidFill>
                <a:latin typeface="Calibri" pitchFamily="34" charset="0"/>
                <a:cs typeface="Amiri" pitchFamily="2" charset="-78"/>
              </a:rPr>
              <a:t>u-rī-du an ash-ta-ri-ya</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 وَ… ، لٰكِنَّهَا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 ثَمَنُ … جُنَيْهًا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أَرْخَصُ مِنْ … · … أَغْلَى مِنْ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 أَنَّ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يُمْكِنُ أَنْ تَدْفَعَ نَقْدًا أَوْ بِالبِطَاقَةِ</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بِصِفَةٍ عَامَّةٍ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F6-L05 · Describing Your Town: Advantages and Disadvantages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F6-L06 · Shopping in Town: Prices and Comparisons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F6-L05 · Describing Your Town: Advantages and Disadvantages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مَدِينَتِي … وَ… ، لٰكِنَّهَا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 مَدِينَتِي أَنَّ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عُيُوبِهَا أَنَّ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بِصِفَةٍ عَامَّةٍ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F6-L06 · Shopping in Town: Prices and Comparisons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 ثَمَنُ … جُنَيْهًا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أَرْخَصُ مِنْ … · … أَغْلَى مِنْ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يُمْكِنُ أَنْ تَدْفَعَ نَقْدًا أَوْ بِالبِطَاقَةِ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shall we shop?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نَتَسَوَّقُ؟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usually shop: in the market or in the shopping centre?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تَتَسَوَّقِينَ عَادَةً: فِي السُّوقِ أَمْ فِي المَرْكَزِ التِّجَارِيِّ؟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market, because it is cheaper than the shopping centre.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السُّوقِ، لِأَنَّهُ أَرْخَصُ مِنَ المَرْكَزِ التِّجَارِيِّ.</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 in the market?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ثَمَنُ هٰذِهِ الحَقِيبَةِ فِي السُّوقِ؟</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costs only ten pounds, and in the centre thirty pounds!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ثَمَنُهَا عَشَرَةُ جُنَيْهَاتٍ فَقَطْ، وَفِي المَرْكَزِ ثَلَاثُونَ جُنَيْهًا!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the market is crowded and noisy.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لٰكِنَّ السُّوقَ مُكْتَظٌّ وَصَاخِبٌ.</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One advantage of the centre is that it is modern and clean, and you can pay by card.</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صَحِيحٌ. مِنْ مَزَايَا المَرْكَزِ أَنَّهُ حَدِيثٌ وَنَظِيفٌ، وَيُمْكِنُ أَنْ تَدْفَعَ بِالبِطَاقَةِ.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جِدًّا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مَدِينَتِي … وَ… وَ…</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town in three adjectives.</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مَدِينَتَكَ بِثَلَاثِ صِفَاتٍ.</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رَخِيصٌ</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ثَمَانِيَةُ جُنَيْهَاتٍ</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book? (£8)</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هٰذَا الكِتَابِ؟ (8 £)</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مَزَايَا مَدِينَتِي أَنَّ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advantage of your town?</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أَكْبَرُ مِيزَةٍ فِي مَدِينَتِكَ؟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غَالِيَةٌ</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ثَمَنُهَا أَرْبَعُونَ جُنَيْهًا</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watch? (£40)</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هٰذِهِ السَّاعَةِ؟ (40 £)</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عُيُوبِهَا أَنَّ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biggest disadvantage?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 أَكْبَرُ عَيْبٍ؟</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أَرْخَصُ مِنْ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أَتَسَوَّقُ فِي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usually shop?</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تَتَسَوَّقُ عَادَةً؟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F6-L05, even numbers from F6-L06.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shopping in town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التَّسَوُّقُ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أُرِيدُ أَنْ أَشْتَرِيَ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want to buy.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مَاذَا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 كَمْ ثَمَنُهُ؟</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price (masculine item).</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هٰذَا القَمِيصُ جَمِيلٌ.</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 هُوَ أَغْلَى مِنْ … / فِي السُّوقِ أَرْخَصُ</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the market price.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ثَمَنُهُ خَمْسَةٌ وَعِشْرُونَ جُنَيْهًا.</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خَصْمٌ ← طَيِّبٌ … أَدْفَعُ نَقْدًا / بِالبِطَاقَةِ</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Accept and say how you will pay.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عِنْدَنَا خَصْمٌ اليَوْمَ: عِشْرُونَ جُنَيْهًا فَقَطْ.</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مِنْ مَزَايَاهُ أَنَّ … ، لٰكِنَّ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one advantage and one disadvantage.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مَرْكَزِنَا التِّجَارِيِّ؟</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shopper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Shopping in my town: a balanced view</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التَّسَوُّقُ فِي مَدِينَتِي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shopping in your town: two places to shop, two items and their prices, which place is cheaper, one advantage and one disadvantage of each, and where you prefer to shop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أَتَسَوَّقُ فِي … · ثَمَنُ … جُنَيْهًا</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 </a:t>
            </a:r>
            <a:pPr algn="l" indent="0" marL="0">
              <a:buNone/>
            </a:pPr>
            <a:r>
              <a:rPr lang="ar-SA" altLang="en-US" sz="1500" dirty="0">
                <a:solidFill>
                  <a:srgbClr val="1F2A37"/>
                </a:solidFill>
                <a:latin typeface="Amiri" pitchFamily="2" charset="-78"/>
                <a:ea typeface="Amiri" pitchFamily="2" charset="-78"/>
                <a:cs typeface="Amiri" pitchFamily="2" charset="-78"/>
              </a:rPr>
              <a:t>أَرْخَصُ مِنْ</a:t>
            </a:r>
            <a:pPr algn="l" indent="0" marL="0">
              <a:buNone/>
            </a:pPr>
            <a:r>
              <a:rPr lang="en-US" sz="1150" dirty="0">
                <a:solidFill>
                  <a:srgbClr val="1F2A37"/>
                </a:solidFill>
                <a:latin typeface="Calibri" pitchFamily="34" charset="0"/>
                <a:cs typeface="Amiri" pitchFamily="2" charset="-78"/>
              </a:rPr>
              <a:t> … · … </a:t>
            </a:r>
            <a:pPr algn="l" indent="0" marL="0">
              <a:buNone/>
            </a:pPr>
            <a:r>
              <a:rPr lang="ar-SA" altLang="en-US" sz="1500" dirty="0">
                <a:solidFill>
                  <a:srgbClr val="1F2A37"/>
                </a:solidFill>
                <a:latin typeface="Amiri" pitchFamily="2" charset="-78"/>
                <a:ea typeface="Amiri" pitchFamily="2" charset="-78"/>
                <a:cs typeface="Amiri" pitchFamily="2" charset="-78"/>
              </a:rPr>
              <a:t>أَغْلَى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مِنْ مَزَايَا … أَنَّ</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مِنْ عُيُوبِ … أَنَّ</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بِصِفَةٍ عَامَّةٍ</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ثَمَنُهُ / ثَمَنُهَا … جُنَيْهًا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costs … pounds</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أَرْخَصُ مِنْ · أَغْلَى مِنْ</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cheaper than · more expensive than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مَزَايَا … 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advantage of … is that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عُيُوبِ …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one disadvantage of … is that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town is quiet and safe.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مَدِينَتُكَ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هَادِئَةٌ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هَادِئٌ</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وَآمِنَةٌ.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وَآمِنٌ.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much is this jacket?</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One advantage is that the park is big.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مَزَايَاهَا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عُيُوبِهَا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الحَدِيقَةَ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الحَدِيقَةُ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town is quiet and safe.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مَدِينَةٌ</a:t>
            </a:r>
            <a:pPr algn="l" indent="0" marL="0">
              <a:buNone/>
            </a:pPr>
            <a:r>
              <a:rPr lang="en-US" sz="1050" i="1" dirty="0">
                <a:solidFill>
                  <a:srgbClr val="5A6472"/>
                </a:solidFill>
                <a:latin typeface="Calibri" pitchFamily="34" charset="0"/>
                <a:cs typeface="Amiri" pitchFamily="2" charset="-78"/>
              </a:rPr>
              <a:t> (f.) → feminine adjectives.</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مَدِينَتِي هَادِئَةٌ وَآمِنَةٌ.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much is this jacket?</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سُتْرَةٌ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كَمْ ثَمَنُ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ثَمَنُ هٰذِهِ السُّتْرَةِ؟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One advantage is that the park is big.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أَنَّ</a:t>
            </a:r>
            <a:pPr algn="l" indent="0" marL="0">
              <a:buNone/>
            </a:pPr>
            <a:r>
              <a:rPr lang="en-US" sz="1050" i="1" dirty="0">
                <a:solidFill>
                  <a:srgbClr val="5A6472"/>
                </a:solidFill>
                <a:latin typeface="Calibri" pitchFamily="34" charset="0"/>
                <a:cs typeface="Amiri" pitchFamily="2" charset="-78"/>
              </a:rPr>
              <a:t> + noun in -a + adjective in -un.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مِنْ مَزَايَاهَا أَنَّ الحَدِيقَةَ كَبِيرَةٌ.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مَدِينَتِي مُكْتَظٌّ وَصَاخِبٌ.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مَدِينَةٌ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ثَمَنُهُ؟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About a bag — </a:t>
            </a:r>
            <a:pPr algn="l" indent="0" marL="0">
              <a:buNone/>
            </a:pPr>
            <a:r>
              <a:rPr lang="ar-SA" altLang="en-US" sz="1700" dirty="0">
                <a:solidFill>
                  <a:srgbClr val="5A6472"/>
                </a:solidFill>
                <a:latin typeface="Amiri" pitchFamily="2" charset="-78"/>
                <a:ea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مِنْ مَزَايَاهَا أَنَّ المُوَاصَلَاتُ سَهْلَةٌ.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مَدِينَتِي مُكْتَظٌّ وَصَاخِبٌ.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مَدِينَتِي مُكْتَظَّةٌ وَصَاخِبَةٌ.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on both adjectives.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ثَمَنُهُ؟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مِنْ مَزَايَاهَا أَنَّ المُوَاصَلَاتُ سَهْلَةٌ.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مِنْ مَزَايَاهَا أَنَّ المُوَاصَلَاتِ سَهْلَةٌ.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noun in the accusative (-a / -i for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______ أَنَّهُ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 is that it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وَمِنْ عُيُوبِهِ أَنَّهُ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one disadvantage is that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تَدْفَعَ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can pay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مَدِينَتِي ______ وَ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town there is … and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السُّوقِ ثَمَنُ ______ ______ جُنَيْهَاتٍ.</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market … costs … pounds.</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المَرْكَزِ التِّجَارِيِّ ثَمَنُهُ ______ جُنَيْهًا.</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shopping centre it costs … pounds.</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السُّوقُ أَرْخَصُ مِنَ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market is cheaper than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سُوقٌ · مَرْكَزٌ تِجَارِيٌّ  ·  ثَمَنُهُ · ثَمَنُهَا  ·  رَخِيصٌ · غَالٍ  ·  أَرْخَصُ مِنْ · أَغْلَى مِنْ  ·  مُكْتَظٌّ · صَاخِبٌ  ·  حَدِيثٌ · نَظِيفٌ  ·  نَقْدًا · بِالبِطَاقَةِ  ·  بِصِفَةٍ عَامَّةٍ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balanced shopping guide to my town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دَلِيلُ التَّسَوُّقِ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guide (about 45–65 words) for visitors comparing two places to shop in your town. Include: • the two places and a description of each • two items and their prices • which is cheaper or more expensive • one advantage and one disadvantage • how you can pay or a discount • where you prefer to shop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F6-L05 AND F6-L06.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مَدِينَتِي سُوقٌ قَدِيمٌ وَمَرْكَزٌ تِجَارِيٌّ حَدِيثٌ</a:t>
            </a:r>
            <a:endParaRPr lang="ar-SA" sz="175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town there is an old market and a modern shopping centre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السُّوقِ ثَمَنُ … جُنَيْهَاتٍ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market … costs …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مَزَايَا … أَنَّ … · مِنْ عُيُوبِهِ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advantage of … is that … · a disadvantage is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بِصِفَةٍ عَامَّةٍ أُفَضِّلُ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overall I prefer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town with feminine adjectives?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أَرْخَصُ / أَغْلَى مِنْ</a:t>
            </a:r>
            <a:pPr algn="l" indent="0" marL="0">
              <a:buNone/>
            </a:pPr>
            <a:r>
              <a:rPr lang="en-US" sz="1100" dirty="0">
                <a:solidFill>
                  <a:srgbClr val="5A6472"/>
                </a:solidFill>
                <a:latin typeface="Calibri" pitchFamily="34" charset="0"/>
                <a:cs typeface="Amiri" pitchFamily="2" charset="-78"/>
              </a:rPr>
              <a:t> and get the number + </a:t>
            </a:r>
            <a:pPr algn="l" indent="0" marL="0">
              <a:buNone/>
            </a:pPr>
            <a:r>
              <a:rPr lang="ar-SA" altLang="en-US" sz="1450" dirty="0">
                <a:solidFill>
                  <a:srgbClr val="5A6472"/>
                </a:solidFill>
                <a:latin typeface="Amiri" pitchFamily="2" charset="-78"/>
                <a:ea typeface="Amiri" pitchFamily="2" charset="-78"/>
                <a:cs typeface="Amiri" pitchFamily="2" charset="-78"/>
              </a:rPr>
              <a:t>جُنَيْهًا / جُنَيْهَاتٍ</a:t>
            </a:r>
            <a:pPr algn="l" indent="0" marL="0">
              <a:buNone/>
            </a:pPr>
            <a:r>
              <a:rPr lang="en-US" sz="1100" dirty="0">
                <a:solidFill>
                  <a:srgbClr val="5A6472"/>
                </a:solidFill>
                <a:latin typeface="Calibri" pitchFamily="34" charset="0"/>
                <a:cs typeface="Amiri" pitchFamily="2" charset="-78"/>
              </a:rPr>
              <a:t> right?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أَشْتَرِيَ قَمِيصًا أَزْرَقَ،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buy a blue shirt,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مَاذَا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ثَمَنُهُ؟</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it?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القَمِيصُ جَمِيلٌ.</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غَالٍ! فِي السُّوقِ هُوَ أَرْخَصُ؛ ثَمَنُهُ خَمْسَةَ عَشَرَ جُنَيْهًا.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That is expensive! In the market it is cheaper; it costs fifteen pounds.</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خَمْسَةٌ وَعِشْرُونَ جُنَيْهًا.</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طَيِّبٌ، شُكْرًا. أَدْفَعُ بِالبِطَاقَةِ.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OK, thank you. I will pay by card.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عِنْدَنَا خَصْمٌ اليَوْمَ: عِشْرُونَ جُنَيْهًا فَقَطْ.</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مَزَايَاهُ أَنَّهُ نَظِيفٌ وَحَدِيثٌ، لٰكِنَّ الأَسْعَارَ غَالِيَةٌ.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One advantage is that it is clean and modern, but the prices are high.</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رَأْيُكَ فِي مَرْكَزِنَا التِّجَارِيِّ؟</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سُوقٌ قَدِيمٌ وَمَرْكَزٌ تِجَارِيٌّ حَدِيثٌ. فِي السُّوقِ ثَمَنُ الحَقِيبَةِ عَشَرَةُ جُنَيْهَاتٍ، وَفِي المَرْكَزِ ثَمَنُهَا ثَلَاثُونَ جُنَيْهًا. السُّوقُ أَرْخَصُ مِنَ المَرْكَزِ، وَهُوَ نَشِيطٌ وَجَمِيلٌ، لٰكِنَّهُ مُكْتَظٌّ وَصَاخِبٌ. مِنْ مَزَايَا المَرْكَزِ أَنَّهُ نَظِيفٌ وَآمِنٌ، وَيُمْكِنُ أَنْ تَدْفَعَ بِالبِطَاقَةِ، وَمِنْ عُيُوبِهِ أَنَّهُ غَالٍ. بِصِفَةٍ عَامَّةٍ أُفَضِّلُ السُّوقَ لِأَنَّ الأَسْعَارَ رَخِيصَةٌ.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town there is an old market and a modern shopping centre. In the market a bag costs ten pounds, and in the centre it costs thirty pounds. The market is cheaper than the centre, and it is lively and beautiful, but it is crowded and noisy. One advantage of the centre is that it is clean and safe, and you can pay by card; one disadvantage is that it is expensive. Overall I prefer the market because the prices are cheap.”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عَشَرَةُ جُنَيْهَاتٍ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أَرْخَصُ مِنَ المَرْكَزِ</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مَزَايَا المَرْكَزِ</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بِصِفَةٍ عَامَّةٍ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F6-W03 · Apply workshop (F6-L05 + F6-L06)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F6-L05 and F6-L06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F6-W03 · Apply Workshop — Market or Shopping Centre?</dc:title>
  <dc:subject>PptxGenJS Presentation</dc:subject>
  <dc:creator>Al Madina Online School · Arabic Department</dc:creator>
  <cp:lastModifiedBy>Al Madina Online School · Arabic Department</cp:lastModifiedBy>
  <cp:revision>1</cp:revision>
  <dcterms:created xsi:type="dcterms:W3CDTF">2026-10-26T15:17:39Z</dcterms:created>
  <dcterms:modified xsi:type="dcterms:W3CDTF">2026-10-26T15:17:39Z</dcterms:modified>
</cp:coreProperties>
</file>