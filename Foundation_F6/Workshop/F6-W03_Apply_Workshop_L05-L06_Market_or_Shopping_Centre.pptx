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F6-L05 · Learn F6-L06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F6-L05 (Describing Your Town: Advantages and Disadvantages) and F6-L06 (Shopping in Town: Prices and Comparisons).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F6-L05 and F6-L06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F6-L05? After F6-L06?” Take two answers in the chat for each lesson (one word or one sentence is enough). Then read objective 3 — today’s new situation that needs BOTH lessons. Students tick their route goals at the end of the lesson.
F6-L05 language: madīnatī + feminine adjectives (hādiʾa · muktaẓẓa · āmina); min mazāyā madīnatī anna …; min ʿuyūbihā anna …; tatamayyazu bi- …; taftaqiru ilā …; lākinna
F6-L06 language: kam thamanuhu (m. item) / kam thamanuhā (f. item)?; rakhīṣun / ghālin (ghāliya); arkhaṣu min / aghlā min; urīdu an ashtariya …; hal ʿindakum …?; naqdan / bi-l-biṭāqa; khaṣm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F6-L05 and F6-L06. Teacher reads it once with a confident student; then pairs. Ask: “Which lines are from F6-L05? Which from F6-L06?” Advantages and disadvantages (مِنْ مَزَايَا … أَنَّ · مُكْتَظٌّ · صَاخِبٌ) come from F6-L05; prices, ثَمَنُهُ / ثَمَنُهَا, comparatives and paying from F6-L06. Numbers: 3–10 + جُنَيْهَاتٍ · 11–99 + جُنَيْهًا.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prices, comparisons and paying (F6-L06) with opinions about places in town — advantages and disadvantages (F6-L05). SUPPORTED: the plan column gives the first words, not the full answer. To a girl Partner A says: مَاذَا تُرِيدِينَ؟ · مَا رَأْيُكِ …؟ — and for a feminine item: هٰذِهِ الحَقِيبَةُ … كَمْ ثَمَنُهَا؟.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F6-L05 and F6-L06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F6-L05 and F6-L06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(49 words). CHECK YOURSELF (2 min). Find each bullet point in the model, and one phrase from F6-L05 and one from F6-L06.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F6-L05 + F6-L06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F6-W03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Market or Shopping Centre?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السُّوقُ أَمِ المَرْكَزُ التِّجَارِيُّ؟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Students join a balanced view of the town with shopping and prices: they compare the old market and the new shopping centre (advantages, disadvantages, prices, cheaper / more expensive, how to pay), act a shopping scene and write a balanced shopping guide for their town.</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F6-L05 + F6-L06</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F6-L05 and F6-L06.</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F6-L05 + F6-L06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F6-L05: Describing Your Town: Advantages and Disadvantages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F6-L06: Shopping in Town: Prices and Comparisons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shopping in town · A balanced shopping guide to my town</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F6-L05 and F6-L06.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F6-L05 · Describing Your Town: Advantages and Disadvantages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مِيزَةٌ / مَزَايَا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advantage / advantages</a:t>
            </a:r>
            <a:endParaRPr lang="en-US" sz="1350" dirty="0"/>
          </a:p>
          <a:p>
            <a:pPr indent="0" marL="0">
              <a:buNone/>
            </a:pPr>
            <a:r>
              <a:rPr lang="en-US" sz="1100" i="1" dirty="0">
                <a:solidFill>
                  <a:srgbClr val="5A6472"/>
                </a:solidFill>
                <a:latin typeface="Calibri" pitchFamily="34" charset="0"/>
                <a:cs typeface="Amiri" pitchFamily="2" charset="-78"/>
              </a:rPr>
              <a:t>mī-za-tun / ma-zā-yā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مُكْتَظٌّ / مُكْتَظَّةٌ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crowded</a:t>
            </a:r>
            <a:endParaRPr lang="en-US" sz="1350" dirty="0"/>
          </a:p>
          <a:p>
            <a:pPr indent="0" marL="0">
              <a:buNone/>
            </a:pPr>
            <a:r>
              <a:rPr lang="en-US" sz="1100" i="1" dirty="0">
                <a:solidFill>
                  <a:srgbClr val="5A6472"/>
                </a:solidFill>
                <a:latin typeface="Calibri" pitchFamily="34" charset="0"/>
                <a:cs typeface="Amiri" pitchFamily="2" charset="-78"/>
              </a:rPr>
              <a:t>muk-taẓ-ẓun / muk-taẓ-ẓa-tun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صَاخِبٌ / صَاخِبَةٌ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noisy</a:t>
            </a:r>
            <a:endParaRPr lang="en-US" sz="1350" dirty="0"/>
          </a:p>
          <a:p>
            <a:pPr indent="0" marL="0">
              <a:buNone/>
            </a:pPr>
            <a:r>
              <a:rPr lang="en-US" sz="1100" i="1" dirty="0">
                <a:solidFill>
                  <a:srgbClr val="5A6472"/>
                </a:solidFill>
                <a:latin typeface="Calibri" pitchFamily="34" charset="0"/>
                <a:cs typeface="Amiri" pitchFamily="2" charset="-78"/>
              </a:rPr>
              <a:t>ṣā-khi-bun / ṣā-khi-ba-tun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آمِنٌ / آمِنَةٌ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safe</a:t>
            </a:r>
            <a:endParaRPr lang="en-US" sz="1350" dirty="0"/>
          </a:p>
          <a:p>
            <a:pPr indent="0" marL="0">
              <a:buNone/>
            </a:pPr>
            <a:r>
              <a:rPr lang="en-US" sz="1100" i="1" dirty="0">
                <a:solidFill>
                  <a:srgbClr val="5A6472"/>
                </a:solidFill>
                <a:latin typeface="Calibri" pitchFamily="34" charset="0"/>
                <a:cs typeface="Amiri" pitchFamily="2" charset="-78"/>
              </a:rPr>
              <a:t>ā-mi-nun / ā-mi-na-tun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حَدِيثٌ / حَدِيثَةٌ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ḥa-dī-thun / ḥa-dī-tha-tun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تَتَمَيَّزُ بِـ</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ta-ta-may-ya-zu bi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F6-L06 · Shopping in Town: Prices and Comparisons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price</a:t>
            </a:r>
            <a:endParaRPr lang="en-US" sz="1350" dirty="0"/>
          </a:p>
          <a:p>
            <a:pPr indent="0" marL="0">
              <a:buNone/>
            </a:pPr>
            <a:r>
              <a:rPr lang="en-US" sz="1100" i="1" dirty="0">
                <a:solidFill>
                  <a:srgbClr val="5A6472"/>
                </a:solidFill>
                <a:latin typeface="Calibri" pitchFamily="34" charset="0"/>
                <a:cs typeface="Amiri" pitchFamily="2" charset="-78"/>
              </a:rPr>
              <a:t>tha-ma-nun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ثَمَنُهَا؟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 (f)</a:t>
            </a:r>
            <a:endParaRPr lang="en-US" sz="1350" dirty="0"/>
          </a:p>
          <a:p>
            <a:pPr indent="0" marL="0">
              <a:buNone/>
            </a:pPr>
            <a:r>
              <a:rPr lang="en-US" sz="1100" i="1" dirty="0">
                <a:solidFill>
                  <a:srgbClr val="5A6472"/>
                </a:solidFill>
                <a:latin typeface="Calibri" pitchFamily="34" charset="0"/>
                <a:cs typeface="Amiri" pitchFamily="2" charset="-78"/>
              </a:rPr>
              <a:t>kam tha-ma-nu-hā?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more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غَالٍ / غَالِيَةٌ</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expensive</a:t>
            </a:r>
            <a:endParaRPr lang="en-US" sz="1350" dirty="0"/>
          </a:p>
          <a:p>
            <a:pPr indent="0" marL="0">
              <a:buNone/>
            </a:pPr>
            <a:r>
              <a:rPr lang="en-US" sz="1100" i="1" dirty="0">
                <a:solidFill>
                  <a:srgbClr val="5A6472"/>
                </a:solidFill>
                <a:latin typeface="Calibri" pitchFamily="34" charset="0"/>
                <a:cs typeface="Amiri" pitchFamily="2" charset="-78"/>
              </a:rPr>
              <a:t>ghā-lin / ghā-li-ya-tun</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غَالٍ</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غَالِيَةٌ</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dearer</a:t>
            </a:r>
            <a:endParaRPr lang="en-US" sz="700" dirty="0"/>
          </a:p>
        </p:txBody>
      </p:sp>
      <p:sp>
        <p:nvSpPr>
          <p:cNvPr id="46" name="Text 43"/>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أَغْلَى</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أَغْلَى مِنْ</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expensive than</a:t>
            </a:r>
            <a:endParaRPr lang="en-US" sz="1350" dirty="0"/>
          </a:p>
          <a:p>
            <a:pPr indent="0" marL="0">
              <a:buNone/>
            </a:pPr>
            <a:r>
              <a:rPr lang="en-US" sz="1100" i="1" dirty="0">
                <a:solidFill>
                  <a:srgbClr val="5A6472"/>
                </a:solidFill>
                <a:latin typeface="Calibri" pitchFamily="34" charset="0"/>
                <a:cs typeface="Amiri" pitchFamily="2" charset="-78"/>
              </a:rPr>
              <a:t>agh-lā min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نَقْدًا</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cash</a:t>
            </a:r>
            <a:endParaRPr lang="en-US" sz="1350" dirty="0"/>
          </a:p>
          <a:p>
            <a:pPr indent="0" marL="0">
              <a:buNone/>
            </a:pPr>
            <a:r>
              <a:rPr lang="en-US" sz="1100" i="1" dirty="0">
                <a:solidFill>
                  <a:srgbClr val="5A6472"/>
                </a:solidFill>
                <a:latin typeface="Calibri" pitchFamily="34" charset="0"/>
                <a:cs typeface="Amiri" pitchFamily="2" charset="-78"/>
              </a:rPr>
              <a:t>naq-dan</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4" name="Shape 6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أَنْ أَشْتَرِيَ</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buy</a:t>
            </a:r>
            <a:endParaRPr lang="en-US" sz="1350" dirty="0"/>
          </a:p>
          <a:p>
            <a:pPr indent="0" marL="0">
              <a:buNone/>
            </a:pPr>
            <a:r>
              <a:rPr lang="en-US" sz="1100" i="1" dirty="0">
                <a:solidFill>
                  <a:srgbClr val="5A6472"/>
                </a:solidFill>
                <a:latin typeface="Calibri" pitchFamily="34" charset="0"/>
                <a:cs typeface="Amiri" pitchFamily="2" charset="-78"/>
              </a:rPr>
              <a:t>u-rī-du an ash-ta-ri-ya</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مَدِينَتِي … وَ… ، لٰكِنَّهَا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 ثَمَنُ … جُنَيْهًا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أَرْخَصُ مِنْ … · … أَغْلَى مِنْ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مَزَايَا مَدِينَتِي أَنَّ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عُيُوبِهَا أَنَّ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يُمْكِنُ أَنْ تَدْفَعَ نَقْدًا أَوْ بِالبِطَاقَةِ</a:t>
            </a:r>
            <a:endParaRPr lang="ar-SA" sz="17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لِأَنَّ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بِصِفَةٍ عَامَّةٍ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F6-L05 · Describing Your Town: Advantages and Disadvantages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F6-L06 · Shopping in Town: Prices and Comparisons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F6-L05 · Describing Your Town: Advantages and Disadvantages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مَدِينَتِي … وَ… ، لٰكِنَّهَا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مَزَايَا مَدِينَتِي أَنَّ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عُيُوبِهَا أَنَّ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بِصِفَةٍ عَامَّةٍ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F6-L06 · Shopping in Town: Prices and Comparisons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 ثَمَنُ … جُنَيْهًا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أَرْخَصُ مِنْ … · … أَغْلَى مِنْ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يُمْكِنُ أَنْ تَدْفَعَ نَقْدًا أَوْ بِالبِطَاقَةِ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لِأَنَّ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shall we shop?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أَيْنَ نَتَسَوَّقُ؟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usually shop: in the market or in the shopping centre?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أَيْنَ تَتَسَوَّقِينَ عَادَةً: فِي السُّوقِ أَمْ فِي المَرْكَزِ التِّجَارِيِّ؟</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market, because it is cheaper than the shopping centre.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فِي السُّوقِ، لِأَنَّهُ أَرْخَصُ مِنَ المَرْكَزِ التِّجَارِيِّ.</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this bag in the market?</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كَمْ ثَمَنُ هٰذِهِ الحَقِيبَةِ فِي السُّوقِ؟</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costs only ten pounds, and in the centre thirty pounds!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ثَمَنُهَا عَشَرَةُ جُنَيْهَاتٍ فَقَطْ، وَفِي المَرْكَزِ ثَلَاثُونَ جُنَيْهًا!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But the market is crowded and noisy.</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لٰكِنَّ السُّوقَ مُكْتَظٌّ وَصَاخِبٌ.</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True. One advantage of the centre is that it is modern and clean, and you can pay by card.</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صَحِيحٌ. مِنْ مَزَايَا المَرْكَزِ أَنَّهُ حَدِيثٌ وَنَظِيفٌ، وَيُمْكِنُ أَنْ تَدْفَعَ بِالبِطَاقَةِ.</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جِدًّا</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مَدِينَتِي … وَ… وَ…</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town in three adjectives.</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مَدِينَتَكَ بِثَلَاثِ صِفَاتٍ.</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وَهُوَ رَخِيصٌ</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ثَمَنُهُ ثَمَانِيَةُ جُنَيْهَاتٍ</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this book? (£8)</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ثَمَنُ هٰذَا الكِتَابِ؟ (8 £)</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لِذٰلِكَ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مَزَايَا مَدِينَتِي أَنَّ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biggest advantage of your town?</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أَكْبَرُ مِيزَةٍ فِي مَدِينَتِكَ؟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وَهِيَ غَالِيَةٌ</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ثَمَنُهَا أَرْبَعُونَ جُنَيْهًا</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this watch? (£40)</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ثَمَنُ هٰذِهِ السَّاعَةِ؟ (40 £)</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عُيُوبِهَا أَنَّ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the biggest disadvantage?</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 أَكْبَرُ عَيْبٍ؟</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أَرْخَصُ مِنْ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أَتَسَوَّقُ فِي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usually shop?</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تَتَسَوَّقُ عَادَةً؟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F6-L05, even numbers from F6-L06.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Role-play card — shopping in town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التَّسَوُّقُ 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أُرِيدُ أَنْ أَشْتَرِيَ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want to buy.</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مَاذَا تُرِيدُ؟</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 كَمْ ثَمَنُهُ؟</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the price (masculine item).</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هٰذَا القَمِيصُ جَمِيلٌ.</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ثَمَنُهُ ← هُوَ أَغْلَى مِنْ … / فِي السُّوقِ أَرْخَصُ</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with the market price.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ثَمَنُهُ خَمْسَةٌ وَعِشْرُونَ جُنَيْهًا.</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خَصْمٌ ← طَيِّبٌ … أَدْفَعُ نَقْدًا / بِالبِطَاقَةِ</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Accept and say how you will pay.</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عِنْدَنَا خَصْمٌ اليَوْمَ: عِشْرُونَ جُنَيْهًا فَقَطْ.</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مِنْ مَزَايَاهُ أَنَّ … ، لٰكِنَّ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one advantage and one disadvantage.</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رَأْيُكَ فِي مَرْكَزِنَا التِّجَارِيِّ؟</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shopper · Partner A = the shop assistant.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Shopping in my town: a balanced view</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التَّسَوُّقُ فِي مَدِينَتِي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shopping in your town: two places to shop, two items and their prices, which place is cheaper, one advantage and one disadvantage of each, and where you prefer to shop and why.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أَتَسَوَّقُ فِي … · ثَمَنُ … جُنَيْهًا</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 ‏</a:t>
            </a:r>
            <a:pPr algn="l" indent="0" marL="0">
              <a:buNone/>
            </a:pPr>
            <a:r>
              <a:rPr lang="ar-SA" altLang="en-US" sz="1500" dirty="0">
                <a:solidFill>
                  <a:srgbClr val="1F2A37"/>
                </a:solidFill>
                <a:latin typeface="Amiri" pitchFamily="2" charset="-78"/>
                <a:ea typeface="Amiri" pitchFamily="2" charset="-78"/>
                <a:cs typeface="Amiri" pitchFamily="2" charset="-78"/>
              </a:rPr>
              <a:t>أَرْخَصُ مِنْ</a:t>
            </a:r>
            <a:pPr algn="l" indent="0" marL="0">
              <a:buNone/>
            </a:pPr>
            <a:r>
              <a:rPr lang="en-US" sz="1150" dirty="0">
                <a:solidFill>
                  <a:srgbClr val="1F2A37"/>
                </a:solidFill>
                <a:latin typeface="Calibri" pitchFamily="34" charset="0"/>
                <a:cs typeface="Amiri" pitchFamily="2" charset="-78"/>
              </a:rPr>
              <a:t> … · … </a:t>
            </a:r>
            <a:pPr algn="l" indent="0" marL="0">
              <a:buNone/>
            </a:pPr>
            <a:r>
              <a:rPr lang="ar-SA" altLang="en-US" sz="1500" dirty="0">
                <a:solidFill>
                  <a:srgbClr val="1F2A37"/>
                </a:solidFill>
                <a:latin typeface="Amiri" pitchFamily="2" charset="-78"/>
                <a:ea typeface="Amiri" pitchFamily="2" charset="-78"/>
                <a:cs typeface="Amiri" pitchFamily="2" charset="-78"/>
              </a:rPr>
              <a:t>أَغْلَى مِنْ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مِنْ مَزَايَا … أَنَّ</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مِنْ عُيُوبِ … أَنَّ</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بِصِفَةٍ عَامَّةٍ</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ثَمَنُهُ / ثَمَنُهَا … جُنَيْهًا</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it costs … pounds</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أَرْخَصُ مِنْ · أَغْلَى مِنْ</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cheaper than · more expensive than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 مَزَايَا … 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one advantage of … is that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 عُيُوبِ … 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one disadvantage of … is that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town is quiet and safe.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مَدِينَتِي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مَدِينَتُكَ</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هَادِئَةٌ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هَادِئٌ</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وَآمِنَةٌ.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وَآمِنٌ.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How much is this jacket?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كَمْ ثَمَنُ</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كَمْ ثَمَنًا</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السُّتْرَةِ؟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السُّتْرَةُ؟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One advantage is that the park is big.</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مَزَايَاهَا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عُيُوبِهَا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الحَدِيقَةَ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الحَدِيقَةُ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كَبِيرَةٌ.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كَبِيرَةً.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town is quiet and safe.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مَدِينَةٌ</a:t>
            </a:r>
            <a:pPr algn="l" indent="0" marL="0">
              <a:buNone/>
            </a:pPr>
            <a:r>
              <a:rPr lang="en-US" sz="1050" i="1" dirty="0">
                <a:solidFill>
                  <a:srgbClr val="5A6472"/>
                </a:solidFill>
                <a:latin typeface="Calibri" pitchFamily="34" charset="0"/>
                <a:cs typeface="Amiri" pitchFamily="2" charset="-78"/>
              </a:rPr>
              <a:t> (f.) → feminine adjectives.</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مَدِينَتِي هَادِئَةٌ وَآمِنَةٌ.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How much is this jacket?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سُتْرَةٌ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هٰذِهِ</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كَمْ ثَمَنُ</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كَمْ ثَمَنُ هٰذِهِ السُّتْرَةِ؟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One advantage is that the park is big.</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noun in -a + adjective in -un.</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مِنْ مَزَايَاهَا أَنَّ الحَدِيقَةَ كَبِيرَةٌ.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مَدِينَتِي مُكْتَظٌّ وَصَاخِبٌ.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مَدِينَةٌ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كَمْ ثَمَنُهُ؟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About a bag — </a:t>
            </a:r>
            <a:pPr algn="l" indent="0" marL="0">
              <a:buNone/>
            </a:pPr>
            <a:r>
              <a:rPr lang="ar-SA" altLang="en-US" sz="1700" dirty="0">
                <a:solidFill>
                  <a:srgbClr val="5A6472"/>
                </a:solidFill>
                <a:latin typeface="Amiri" pitchFamily="2" charset="-78"/>
                <a:ea typeface="Amiri" pitchFamily="2" charset="-78"/>
                <a:cs typeface="Amiri" pitchFamily="2" charset="-78"/>
              </a:rPr>
              <a:t>حَقِيبَةٌ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مِنْ مَزَايَاهَا أَنَّ المُوَاصَلَاتُ سَهْلَةٌ.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مَدِينَتِي مُكْتَظٌّ وَصَاخِبٌ.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مَدِينَتِي مُكْتَظَّةٌ وَصَاخِبَةٌ.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on both adjectives.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كَمْ ثَمَنُهُ؟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كَمْ ثَمَنُهَا؟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item → ‏</a:t>
            </a:r>
            <a:pPr algn="l" indent="0" marL="0">
              <a:buNone/>
            </a:pPr>
            <a:r>
              <a:rPr lang="ar-SA" altLang="en-US" sz="1500" b="1" dirty="0">
                <a:solidFill>
                  <a:srgbClr val="1B3B6F"/>
                </a:solidFill>
                <a:latin typeface="Amiri" pitchFamily="2" charset="-78"/>
                <a:ea typeface="Amiri" pitchFamily="2" charset="-78"/>
                <a:cs typeface="Amiri" pitchFamily="2" charset="-78"/>
              </a:rPr>
              <a:t>ثَمَنُهَا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مِنْ مَزَايَاهَا أَنَّ المُوَاصَلَاتُ سَهْلَةٌ.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مِنْ مَزَايَاهَا أَنَّ المُوَاصَلَاتِ سَهْلَةٌ.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noun in the accusative (-a / -i for plural).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 ______ أَنَّهُ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advantage of … is that it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وَمِنْ عُيُوبِهِ أَنَّهُ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one disadvantage is that it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يُمْكِنُ أَنْ تَدْفَعَ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can pay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مَدِينَتِي ______ وَ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town there is … and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السُّوقِ ثَمَنُ ______ ______ جُنَيْهَاتٍ.</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market … costs … pounds.</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المَرْكَزِ التِّجَارِيِّ ثَمَنُهُ ______ جُنَيْهًا.</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shopping centre it costs … pounds.</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السُّوقُ أَرْخَصُ مِنَ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market is cheaper than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لِأَنَّ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سُوقٌ · مَرْكَزٌ تِجَارِيٌّ  ·  ثَمَنُهُ · ثَمَنُهَا  ·  رَخِيصٌ · غَالٍ  ·  أَرْخَصُ مِنْ · أَغْلَى مِنْ  ·  مُكْتَظٌّ · صَاخِبٌ  ·  حَدِيثٌ · نَظِيفٌ  ·  نَقْدًا · بِالبِطَاقَةِ  ·  بِصِفَةٍ عَامَّةٍ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 balanced shopping guide to my town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دَلِيلُ التَّسَوُّقِ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guide (about 45–65 words) for visitors comparing two places to shop in your town. Include: • the two places and a description of each • two items and their prices • which is cheaper or more expensive • one advantage and one disadvantage • how you can pay or a discount • where you prefer to shop and why.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F6-L05 AND F6-L06.</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فِي مَدِينَتِي سُوقٌ قَدِيمٌ وَمَرْكَزٌ تِجَارِيٌّ حَدِيثٌ</a:t>
            </a:r>
            <a:endParaRPr lang="ar-SA" sz="175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town there is an old market and a modern shopping centre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السُّوقِ ثَمَنُ … جُنَيْهَاتٍ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market … costs … pounds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 … أَنَّ … · مِنْ عُيُوبِهِ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advantage of … is that … · a disadvantage is that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بِصِفَةٍ عَامَّةٍ أُفَضِّلُ …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overall I prefer …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town with feminine adjectives?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with ‏</a:t>
            </a:r>
            <a:pPr algn="l" indent="0" marL="0">
              <a:buNone/>
            </a:pPr>
            <a:r>
              <a:rPr lang="ar-SA" altLang="en-US" sz="1450" dirty="0">
                <a:solidFill>
                  <a:srgbClr val="5A6472"/>
                </a:solidFill>
                <a:latin typeface="Amiri" pitchFamily="2" charset="-78"/>
                <a:ea typeface="Amiri" pitchFamily="2" charset="-78"/>
                <a:cs typeface="Amiri" pitchFamily="2" charset="-78"/>
              </a:rPr>
              <a:t>أَرْخَصُ / أَغْلَى مِنْ</a:t>
            </a:r>
            <a:pPr algn="l" indent="0" marL="0">
              <a:buNone/>
            </a:pPr>
            <a:r>
              <a:rPr lang="en-US" sz="1100" dirty="0">
                <a:solidFill>
                  <a:srgbClr val="5A6472"/>
                </a:solidFill>
                <a:latin typeface="Calibri" pitchFamily="34" charset="0"/>
                <a:cs typeface="Amiri" pitchFamily="2" charset="-78"/>
              </a:rPr>
              <a:t>‏ and get the number + ‏</a:t>
            </a:r>
            <a:pPr algn="l" indent="0" marL="0">
              <a:buNone/>
            </a:pPr>
            <a:r>
              <a:rPr lang="ar-SA" altLang="en-US" sz="1450" dirty="0">
                <a:solidFill>
                  <a:srgbClr val="5A6472"/>
                </a:solidFill>
                <a:latin typeface="Amiri" pitchFamily="2" charset="-78"/>
                <a:ea typeface="Amiri" pitchFamily="2" charset="-78"/>
                <a:cs typeface="Amiri" pitchFamily="2" charset="-78"/>
              </a:rPr>
              <a:t>جُنَيْهًا / جُنَيْهَاتٍ</a:t>
            </a:r>
            <a:pPr algn="l" indent="0" marL="0">
              <a:buNone/>
            </a:pPr>
            <a:r>
              <a:rPr lang="en-US" sz="1100" dirty="0">
                <a:solidFill>
                  <a:srgbClr val="5A6472"/>
                </a:solidFill>
                <a:latin typeface="Calibri" pitchFamily="34" charset="0"/>
                <a:cs typeface="Amiri" pitchFamily="2" charset="-78"/>
              </a:rPr>
              <a:t>‏ right?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أَشْتَرِيَ قَمِيصًا أَزْرَقَ، مِنْ فَضْلِكَ.</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want to buy a blue shirt, please.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مَاذَا تُرِيدُ؟</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ثَمَنُهُ؟</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is it?</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القَمِيصُ جَمِيلٌ.</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غَالٍ! فِي السُّوقِ هُوَ أَرْخَصُ؛ ثَمَنُهُ خَمْسَةَ عَشَرَ جُنَيْهًا.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That is expensive! In the market it is cheaper; it costs fifteen pounds.</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ثَمَنُهُ خَمْسَةٌ وَعِشْرُونَ جُنَيْهًا.</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طَيِّبٌ، شُكْرًا. أَدْفَعُ بِالبِطَاقَةِ.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OK, thank you. I will pay by card.</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عِنْدَنَا خَصْمٌ اليَوْمَ: عِشْرُونَ جُنَيْهًا فَقَطْ.</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مَزَايَاهُ أَنَّهُ نَظِيفٌ وَحَدِيثٌ، لٰكِنَّ الأَسْعَارَ غَالِيَةٌ.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One advantage is that it is clean and modern, but the prices are high.</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رَأْيُكَ فِي مَرْكَزِنَا التِّجَارِيِّ؟</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مَدِينَتِي سُوقٌ قَدِيمٌ وَمَرْكَزٌ تِجَارِيٌّ حَدِيثٌ. فِي السُّوقِ ثَمَنُ الحَقِيبَةِ عَشَرَةُ جُنَيْهَاتٍ، وَفِي المَرْكَزِ ثَمَنُهَا ثَلَاثُونَ جُنَيْهًا. السُّوقُ أَرْخَصُ مِنَ المَرْكَزِ، وَهُوَ نَشِيطٌ وَجَمِيلٌ، لٰكِنَّهُ مُكْتَظٌّ وَصَاخِبٌ. مِنْ مَزَايَا المَرْكَزِ أَنَّهُ نَظِيفٌ وَآمِنٌ، وَيُمْكِنُ أَنْ تَدْفَعَ بِالبِطَاقَةِ، وَمِنْ عُيُوبِهِ أَنَّهُ غَالٍ. بِصِفَةٍ عَامَّةٍ أُفَضِّلُ السُّوقَ لِأَنَّ الأَسْعَارَ رَخِيصَةٌ.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town there is an old market and a modern shopping centre. In the market a bag costs ten pounds, and in the centre it costs thirty pounds. The market is cheaper than the centre, and it is lively and beautiful, but it is crowded and noisy. One advantage of the centre is that it is clean and safe, and you can pay by card; one disadvantage is that it is expensive. Overall I prefer the market because the prices are cheap.”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عَشَرَةُ جُنَيْهَاتٍ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أَرْخَصُ مِنَ المَرْكَزِ</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مَزَايَا المَرْكَزِ</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بِصِفَةٍ عَامَّةٍ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F6-L05 and F6-L06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F6-W03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F6-L07 · The Built Environment: Buildings, Materials and Urban Life</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البِيئَةُ المَبْنِيَّةُ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F6-W03 · Apply Workshop — Market or Shopping Centre?</dc:title>
  <dc:subject>PptxGenJS Presentation</dc:subject>
  <dc:creator>Al Madina Online School · Arabic Department</dc:creator>
  <cp:lastModifiedBy>Al Madina Online School · Arabic Department</cp:lastModifiedBy>
  <cp:revision>1</cp:revision>
  <dcterms:created xsi:type="dcterms:W3CDTF">2026-10-26T15:47:45Z</dcterms:created>
  <dcterms:modified xsi:type="dcterms:W3CDTF">2026-10-26T15:47:45Z</dcterms:modified>
</cp:coreProperties>
</file>