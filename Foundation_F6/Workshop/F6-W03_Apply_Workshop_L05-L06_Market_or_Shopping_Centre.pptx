
<file path=[Content_Types].xml><?xml version="1.0" encoding="utf-8"?>
<Types xmlns="http://schemas.openxmlformats.org/package/2006/content-types">
  <Default Extension="fntdata" ContentType="application/x-fontdata"/>
  <Default Extension="xml" ContentType="application/xml"/>
  <Default Extension="rels" ContentType="application/vnd.openxmlformats-package.relationships+xml"/>
  <Default Extension="jpeg" ContentType="image/jpeg"/>
  <Default Extension="jpg" ContentType="image/jpg"/>
  <Default Extension="svg" ContentType="image/svg+xml"/>
  <Default Extension="png" ContentType="image/png"/>
  <Default Extension="gif" ContentType="image/gif"/>
  <Default Extension="m4v" ContentType="video/mp4"/>
  <Default Extension="mp4" ContentType="video/mp4"/>
  <Default Extension="vml" ContentType="application/vnd.openxmlformats-officedocument.vmlDrawing"/>
  <Default Extension="xlsx" ContentType="application/vnd.openxmlformats-officedocument.spreadsheetml.sheet"/>
  <Override PartName="/ppt/presentation.xml" ContentType="application/vnd.openxmlformats-officedocument.presentationml.presentation.main+xml"/>
  <Override PartName="/ppt/notesMasters/notesMaster1.xml" ContentType="application/vnd.openxmlformats-officedocument.presentationml.notesMaster+xml"/>
  <Override PartName="/ppt/slideMasters/slideMaster1.xml" ContentType="application/vnd.openxmlformats-officedocument.presentationml.slideMaster+xml"/>
  <Override PartName="/ppt/slides/slide1.xml" ContentType="application/vnd.openxmlformats-officedocument.presentationml.slide+xml"/>
  <Override PartName="/ppt/slideMasters/slideMaster2.xml" ContentType="application/vnd.openxmlformats-officedocument.presentationml.slideMaster+xml"/>
  <Override PartName="/ppt/slides/slide2.xml" ContentType="application/vnd.openxmlformats-officedocument.presentationml.slide+xml"/>
  <Override PartName="/ppt/slideMasters/slideMaster3.xml" ContentType="application/vnd.openxmlformats-officedocument.presentationml.slideMaster+xml"/>
  <Override PartName="/ppt/slides/slide3.xml" ContentType="application/vnd.openxmlformats-officedocument.presentationml.slide+xml"/>
  <Override PartName="/ppt/slideMasters/slideMaster4.xml" ContentType="application/vnd.openxmlformats-officedocument.presentationml.slideMaster+xml"/>
  <Override PartName="/ppt/slides/slide4.xml" ContentType="application/vnd.openxmlformats-officedocument.presentationml.slide+xml"/>
  <Override PartName="/ppt/slideMasters/slideMaster5.xml" ContentType="application/vnd.openxmlformats-officedocument.presentationml.slideMaster+xml"/>
  <Override PartName="/ppt/slides/slide5.xml" ContentType="application/vnd.openxmlformats-officedocument.presentationml.slide+xml"/>
  <Override PartName="/ppt/slideMasters/slideMaster6.xml" ContentType="application/vnd.openxmlformats-officedocument.presentationml.slideMaster+xml"/>
  <Override PartName="/ppt/slides/slide6.xml" ContentType="application/vnd.openxmlformats-officedocument.presentationml.slide+xml"/>
  <Override PartName="/ppt/slideMasters/slideMaster7.xml" ContentType="application/vnd.openxmlformats-officedocument.presentationml.slideMaster+xml"/>
  <Override PartName="/ppt/slides/slide7.xml" ContentType="application/vnd.openxmlformats-officedocument.presentationml.slide+xml"/>
  <Override PartName="/ppt/slideMasters/slideMaster8.xml" ContentType="application/vnd.openxmlformats-officedocument.presentationml.slideMaster+xml"/>
  <Override PartName="/ppt/slides/slide8.xml" ContentType="application/vnd.openxmlformats-officedocument.presentationml.slide+xml"/>
  <Override PartName="/ppt/slideMasters/slideMaster9.xml" ContentType="application/vnd.openxmlformats-officedocument.presentationml.slideMaster+xml"/>
  <Override PartName="/ppt/slides/slide9.xml" ContentType="application/vnd.openxmlformats-officedocument.presentationml.slide+xml"/>
  <Override PartName="/ppt/slideMasters/slideMaster10.xml" ContentType="application/vnd.openxmlformats-officedocument.presentationml.slideMaster+xml"/>
  <Override PartName="/ppt/slides/slide10.xml" ContentType="application/vnd.openxmlformats-officedocument.presentationml.slide+xml"/>
  <Override PartName="/ppt/slideMasters/slideMaster11.xml" ContentType="application/vnd.openxmlformats-officedocument.presentationml.slideMaster+xml"/>
  <Override PartName="/ppt/slides/slide11.xml" ContentType="application/vnd.openxmlformats-officedocument.presentationml.slide+xml"/>
  <Override PartName="/ppt/slideMasters/slideMaster12.xml" ContentType="application/vnd.openxmlformats-officedocument.presentationml.slideMaster+xml"/>
  <Override PartName="/ppt/slides/slide12.xml" ContentType="application/vnd.openxmlformats-officedocument.presentationml.slide+xml"/>
  <Override PartName="/ppt/slideMasters/slideMaster13.xml" ContentType="application/vnd.openxmlformats-officedocument.presentationml.slideMaster+xml"/>
  <Override PartName="/ppt/slides/slide13.xml" ContentType="application/vnd.openxmlformats-officedocument.presentationml.slide+xml"/>
  <Override PartName="/ppt/slideMasters/slideMaster14.xml" ContentType="application/vnd.openxmlformats-officedocument.presentationml.slideMaster+xml"/>
  <Override PartName="/ppt/slides/slide14.xml" ContentType="application/vnd.openxmlformats-officedocument.presentationml.slide+xml"/>
  <Override PartName="/ppt/slideMasters/slideMaster15.xml" ContentType="application/vnd.openxmlformats-officedocument.presentationml.slideMaster+xml"/>
  <Override PartName="/ppt/slides/slide15.xml" ContentType="application/vnd.openxmlformats-officedocument.presentationml.slide+xml"/>
  <Override PartName="/ppt/slideMasters/slideMaster16.xml" ContentType="application/vnd.openxmlformats-officedocument.presentationml.slideMaster+xml"/>
  <Override PartName="/ppt/slides/slide16.xml" ContentType="application/vnd.openxmlformats-officedocument.presentationml.slide+xml"/>
  <Override PartName="/ppt/slideMasters/slideMaster17.xml" ContentType="application/vnd.openxmlformats-officedocument.presentationml.slideMaster+xml"/>
  <Override PartName="/ppt/slides/slide17.xml" ContentType="application/vnd.openxmlformats-officedocument.presentationml.slide+xml"/>
  <Override PartName="/ppt/slideMasters/slideMaster18.xml" ContentType="application/vnd.openxmlformats-officedocument.presentationml.slideMaster+xml"/>
  <Override PartName="/ppt/slides/slide18.xml" ContentType="application/vnd.openxmlformats-officedocument.presentationml.slide+xml"/>
  <Override PartName="/ppt/slideMasters/slideMaster19.xml" ContentType="application/vnd.openxmlformats-officedocument.presentationml.slideMaster+xml"/>
  <Override PartName="/ppt/slides/slide19.xml" ContentType="application/vnd.openxmlformats-officedocument.presentationml.slide+xml"/>
  <Override PartName="/ppt/slideMasters/slideMaster20.xml" ContentType="application/vnd.openxmlformats-officedocument.presentationml.slideMaster+xml"/>
  <Override PartName="/ppt/slides/slide20.xml" ContentType="application/vnd.openxmlformats-officedocument.presentationml.slide+xml"/>
  <Override PartName="/ppt/slideMasters/slideMaster21.xml" ContentType="application/vnd.openxmlformats-officedocument.presentationml.slideMaster+xml"/>
  <Override PartName="/ppt/slides/slide21.xml" ContentType="application/vnd.openxmlformats-officedocument.presentationml.slide+xml"/>
  <Override PartName="/ppt/slideMasters/slideMaster22.xml" ContentType="application/vnd.openxmlformats-officedocument.presentationml.slideMaster+xml"/>
  <Override PartName="/ppt/slides/slide22.xml" ContentType="application/vnd.openxmlformats-officedocument.presentationml.slide+xml"/>
  <Override PartName="/ppt/slideMasters/slideMaster23.xml" ContentType="application/vnd.openxmlformats-officedocument.presentationml.slideMaster+xml"/>
  <Override PartName="/ppt/slides/slide23.xml" ContentType="application/vnd.openxmlformats-officedocument.presentationml.slide+xml"/>
  <Override PartName="/ppt/slideMasters/slideMaster24.xml" ContentType="application/vnd.openxmlformats-officedocument.presentationml.slideMaster+xml"/>
  <Override PartName="/ppt/slides/slide24.xml" ContentType="application/vnd.openxmlformats-officedocument.presentationml.slide+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notesSlides/notesSlide1.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ppt/notesSlides/notesSlide7.xml" ContentType="application/vnd.openxmlformats-officedocument.presentationml.notesSlide+xml"/>
  <Override PartName="/ppt/notesSlides/notesSlide8.xml" ContentType="application/vnd.openxmlformats-officedocument.presentationml.notesSlide+xml"/>
  <Override PartName="/ppt/notesSlides/notesSlide9.xml" ContentType="application/vnd.openxmlformats-officedocument.presentationml.notesSlide+xml"/>
  <Override PartName="/ppt/notesSlides/notesSlide10.xml" ContentType="application/vnd.openxmlformats-officedocument.presentationml.notesSlide+xml"/>
  <Override PartName="/ppt/notesSlides/notesSlide11.xml" ContentType="application/vnd.openxmlformats-officedocument.presentationml.notesSlide+xml"/>
  <Override PartName="/ppt/notesSlides/notesSlide12.xml" ContentType="application/vnd.openxmlformats-officedocument.presentationml.notesSlide+xml"/>
  <Override PartName="/ppt/notesSlides/notesSlide13.xml" ContentType="application/vnd.openxmlformats-officedocument.presentationml.notesSlide+xml"/>
  <Override PartName="/ppt/notesSlides/notesSlide14.xml" ContentType="application/vnd.openxmlformats-officedocument.presentationml.notesSlide+xml"/>
  <Override PartName="/ppt/notesSlides/notesSlide15.xml" ContentType="application/vnd.openxmlformats-officedocument.presentationml.notesSlide+xml"/>
  <Override PartName="/ppt/notesSlides/notesSlide16.xml" ContentType="application/vnd.openxmlformats-officedocument.presentationml.notesSlide+xml"/>
  <Override PartName="/ppt/notesSlides/notesSlide17.xml" ContentType="application/vnd.openxmlformats-officedocument.presentationml.notesSlide+xml"/>
  <Override PartName="/ppt/notesSlides/notesSlide18.xml" ContentType="application/vnd.openxmlformats-officedocument.presentationml.notesSlide+xml"/>
  <Override PartName="/ppt/notesSlides/notesSlide19.xml" ContentType="application/vnd.openxmlformats-officedocument.presentationml.notesSlide+xml"/>
  <Override PartName="/ppt/notesSlides/notesSlide20.xml" ContentType="application/vnd.openxmlformats-officedocument.presentationml.notesSlide+xml"/>
  <Override PartName="/ppt/notesSlides/notesSlide21.xml" ContentType="application/vnd.openxmlformats-officedocument.presentationml.notesSlide+xml"/>
  <Override PartName="/ppt/notesSlides/notesSlide22.xml" ContentType="application/vnd.openxmlformats-officedocument.presentationml.notesSlide+xml"/>
  <Override PartName="/ppt/notesSlides/notesSlide23.xml" ContentType="application/vnd.openxmlformats-officedocument.presentationml.notesSlide+xml"/>
  <Override PartName="/ppt/notesSlides/notesSlide24.xml" ContentType="application/vnd.openxmlformats-officedocument.presentationml.notesSlide+xml"/>
  <Override PartName="/docProps/core.xml" ContentType="application/vnd.openxmlformats-package.core-properties+xml"/>
  <Override PartName="/docProps/app.xml" ContentType="application/vnd.openxmlformats-officedocument.extended-properties+xml"/>
</Types>
</file>

<file path=_rels/.rels><?xml version="1.0" encoding="UTF-8" standalone="yes"?>
<Relationships xmlns="http://schemas.openxmlformats.org/package/2006/relationships">
		<Relationship Id="rId1" Type="http://schemas.openxmlformats.org/officeDocument/2006/relationships/extended-properties" Target="docProps/app.xml"/>
		<Relationship Id="rId2" Type="http://schemas.openxmlformats.org/package/2006/relationships/metadata/core-properties" Target="docProps/core.xml"/>
		<Relationship Id="rId3" Type="http://schemas.openxmlformats.org/officeDocument/2006/relationships/officeDocument" Target="ppt/presentation.xml"/>
		</Relationships>
</file>

<file path=ppt/presentation.xml><?xml version="1.0" encoding="utf-8"?>
<p:presentation xmlns:a="http://schemas.openxmlformats.org/drawingml/2006/main" xmlns:r="http://schemas.openxmlformats.org/officeDocument/2006/relationships" xmlns:p="http://schemas.openxmlformats.org/presentationml/2006/main" embedTrueTypeFonts="1" saveSubsetFonts="1" autoCompressPictures="0">
  <p:sldMasterIdLst>
    <p:sldMasterId id="2147483648" r:id="rId1"/>
  </p:sldMasterIdLst>
  <p:sldIdLst>
    <p:sldId id="256" r:id="rId2"/>
    <p:sldId id="257" r:id="rId3"/>
    <p:sldId id="258" r:id="rId4"/>
    <p:sldId id="259" r:id="rId5"/>
    <p:sldId id="260" r:id="rId6"/>
    <p:sldId id="261" r:id="rId7"/>
    <p:sldId id="262" r:id="rId8"/>
    <p:sldId id="263" r:id="rId9"/>
    <p:sldId id="264" r:id="rId10"/>
    <p:sldId id="265" r:id="rId11"/>
    <p:sldId id="266" r:id="rId12"/>
    <p:sldId id="267" r:id="rId13"/>
    <p:sldId id="268" r:id="rId14"/>
    <p:sldId id="269" r:id="rId15"/>
    <p:sldId id="270" r:id="rId16"/>
    <p:sldId id="271" r:id="rId17"/>
    <p:sldId id="272" r:id="rId18"/>
    <p:sldId id="273" r:id="rId19"/>
    <p:sldId id="274" r:id="rId20"/>
    <p:sldId id="275" r:id="rId21"/>
    <p:sldId id="276" r:id="rId22"/>
    <p:sldId id="277" r:id="rId23"/>
    <p:sldId id="278" r:id="rId24"/>
    <p:sldId id="279" r:id="rId25"/>
  </p:sldIdLst>
  <p:notesMasterIdLst>
    <p:notesMasterId r:id="rId26"/>
  </p:notesMasterIdLst>
  <p:sldSz cx="12192000" cy="6858000"/>
  <p:notesSz cx="6858000" cy="12192000"/>
  <p:embeddedFontLst>
    <p:embeddedFont>
      <p:font typeface="Amiri" pitchFamily="2" charset="-78"/>
      <p:regular r:id="rIdFont1"/>
      <p:bold r:id="rIdFont2"/>
    </p:embeddedFont>
  </p:embeddedFontLst>
  <p:defaultTextStyle>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presentation>
</file>

<file path=ppt/presProps.xml><?xml version="1.0" encoding="utf-8"?>
<p:presentationPr xmlns:a="http://schemas.openxmlformats.org/drawingml/2006/main" xmlns:r="http://schemas.openxmlformats.org/officeDocument/2006/relationships" xmlns:p="http://schemas.openxmlformats.org/presentationml/2006/main"/>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p:normalViewPr horzBarState="maximized">
    <p:restoredLeft sz="15611"/>
    <p:restoredTop sz="94610"/>
  </p:normalViewPr>
  <p:slideViewPr>
    <p:cSldViewPr snapToGrid="0" snapToObjects="1">
      <p:cViewPr varScale="1">
        <p:scale>
          <a:sx n="136" d="100"/>
          <a:sy n="136" d="100"/>
        </p:scale>
        <p:origin x="216" y="312"/>
      </p:cViewPr>
      <p:guideLst/>
    </p:cSldViewPr>
  </p:slideViewPr>
  <p:notesTextViewPr>
    <p:cViewPr>
      <p:scale>
        <a:sx n="1" d="1"/>
        <a:sy n="1" d="1"/>
      </p:scale>
      <p:origin x="0" y="0"/>
    </p:cViewPr>
  </p:notesTextViewPr>
  <p:gridSpacing cx="76200" cy="76200"/>
</p:viewPr>
</file>

<file path=ppt/_rels/presentation.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slide" Target="slides/slide1.xml"/><Relationship Id="rId3" Type="http://schemas.openxmlformats.org/officeDocument/2006/relationships/slide" Target="slides/slide2.xml"/><Relationship Id="rId4" Type="http://schemas.openxmlformats.org/officeDocument/2006/relationships/slide" Target="slides/slide3.xml"/><Relationship Id="rId5" Type="http://schemas.openxmlformats.org/officeDocument/2006/relationships/slide" Target="slides/slide4.xml"/><Relationship Id="rId6" Type="http://schemas.openxmlformats.org/officeDocument/2006/relationships/slide" Target="slides/slide5.xml"/><Relationship Id="rId7" Type="http://schemas.openxmlformats.org/officeDocument/2006/relationships/slide" Target="slides/slide6.xml"/><Relationship Id="rId8" Type="http://schemas.openxmlformats.org/officeDocument/2006/relationships/slide" Target="slides/slide7.xml"/><Relationship Id="rId9" Type="http://schemas.openxmlformats.org/officeDocument/2006/relationships/slide" Target="slides/slide8.xml"/><Relationship Id="rId10" Type="http://schemas.openxmlformats.org/officeDocument/2006/relationships/slide" Target="slides/slide9.xml"/><Relationship Id="rId11" Type="http://schemas.openxmlformats.org/officeDocument/2006/relationships/slide" Target="slides/slide10.xml"/><Relationship Id="rId12" Type="http://schemas.openxmlformats.org/officeDocument/2006/relationships/slide" Target="slides/slide11.xml"/><Relationship Id="rId13" Type="http://schemas.openxmlformats.org/officeDocument/2006/relationships/slide" Target="slides/slide12.xml"/><Relationship Id="rId14" Type="http://schemas.openxmlformats.org/officeDocument/2006/relationships/slide" Target="slides/slide13.xml"/><Relationship Id="rId15" Type="http://schemas.openxmlformats.org/officeDocument/2006/relationships/slide" Target="slides/slide14.xml"/><Relationship Id="rId16" Type="http://schemas.openxmlformats.org/officeDocument/2006/relationships/slide" Target="slides/slide15.xml"/><Relationship Id="rId17" Type="http://schemas.openxmlformats.org/officeDocument/2006/relationships/slide" Target="slides/slide16.xml"/><Relationship Id="rId18" Type="http://schemas.openxmlformats.org/officeDocument/2006/relationships/slide" Target="slides/slide17.xml"/><Relationship Id="rId19" Type="http://schemas.openxmlformats.org/officeDocument/2006/relationships/slide" Target="slides/slide18.xml"/><Relationship Id="rId20" Type="http://schemas.openxmlformats.org/officeDocument/2006/relationships/slide" Target="slides/slide19.xml"/><Relationship Id="rId21" Type="http://schemas.openxmlformats.org/officeDocument/2006/relationships/slide" Target="slides/slide20.xml"/><Relationship Id="rId22" Type="http://schemas.openxmlformats.org/officeDocument/2006/relationships/slide" Target="slides/slide21.xml"/><Relationship Id="rId23" Type="http://schemas.openxmlformats.org/officeDocument/2006/relationships/slide" Target="slides/slide22.xml"/><Relationship Id="rId24" Type="http://schemas.openxmlformats.org/officeDocument/2006/relationships/slide" Target="slides/slide23.xml"/><Relationship Id="rId25" Type="http://schemas.openxmlformats.org/officeDocument/2006/relationships/slide" Target="slides/slide24.xml"/><Relationship Id="rId26" Type="http://schemas.openxmlformats.org/officeDocument/2006/relationships/notesMaster" Target="notesMasters/notesMaster1.xml"/><Relationship Id="rId27" Type="http://schemas.openxmlformats.org/officeDocument/2006/relationships/presProps" Target="presProps.xml"/><Relationship Id="rId28" Type="http://schemas.openxmlformats.org/officeDocument/2006/relationships/viewProps" Target="viewProps.xml"/><Relationship Id="rId29" Type="http://schemas.openxmlformats.org/officeDocument/2006/relationships/theme" Target="theme/theme1.xml"/><Relationship Id="rId30" Type="http://schemas.openxmlformats.org/officeDocument/2006/relationships/tableStyles" Target="tableStyles.xml"/><Relationship Id="rIdFont1" Type="http://schemas.openxmlformats.org/officeDocument/2006/relationships/font" Target="fonts/font1.fntdata"/><Relationship Id="rIdFont2" Type="http://schemas.openxmlformats.org/officeDocument/2006/relationships/font" Target="fonts/font2.fntdata"/></Relationships>
</file>

<file path=ppt/notesMasters/_rels/notesMaster1.xml.rels><?xml version="1.0" encoding="UTF-8" standalone="yes"?>
<Relationships xmlns="http://schemas.openxmlformats.org/package/2006/relationships">
		<Relationship Id="rId1" Type="http://schemas.openxmlformats.org/officeDocument/2006/relationships/theme" Target="../theme/theme1.xml"/>
		</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2971800" cy="458788"/>
          </a:xfrm>
          <a:prstGeom prst="rect">
            <a:avLst/>
          </a:prstGeom>
        </p:spPr>
        <p:txBody>
          <a:bodyPr vert="horz" lIns="91440" tIns="45720" rIns="91440" bIns="45720" rtlCol="0"/>
          <a:lstStyle>
            <a:lvl1pPr algn="l">
              <a:defRPr sz="1200"/>
            </a:lvl1pPr>
          </a:lstStyle>
          <a:p>
            <a:endParaRPr lang="en-US"/>
          </a:p>
        </p:txBody>
      </p:sp>
      <p:sp>
        <p:nvSpPr>
          <p:cNvPr id="3" name="Date Placeholder 2"/>
          <p:cNvSpPr>
            <a:spLocks noGrp="1"/>
          </p:cNvSpPr>
          <p:nvPr>
            <p:ph type="dt" idx="1"/>
          </p:nvPr>
        </p:nvSpPr>
        <p:spPr>
          <a:xfrm>
            <a:off x="3884613" y="0"/>
            <a:ext cx="2971800" cy="458788"/>
          </a:xfrm>
          <a:prstGeom prst="rect">
            <a:avLst/>
          </a:prstGeom>
        </p:spPr>
        <p:txBody>
          <a:bodyPr vert="horz" lIns="91440" tIns="45720" rIns="91440" bIns="45720" rtlCol="0"/>
          <a:lstStyle>
            <a:lvl1pPr algn="r">
              <a:defRPr sz="1200"/>
            </a:lvl1pPr>
          </a:lstStyle>
          <a:p>
            <a:fld id="{5282F153-3F37-0F45-9E97-73ACFA13230C}" type="datetimeFigureOut">
              <a:rPr lang="en-US"/>
              <a:t>7/23/19</a:t>
            </a:fld>
            <a:endParaRPr lang="en-US"/>
          </a:p>
        </p:txBody>
      </p:sp>
      <p:sp>
        <p:nvSpPr>
          <p:cNvPr id="4" name="Slide Image Placeholder 3"/>
          <p:cNvSpPr>
            <a:spLocks noGrp="1" noRot="1" noChangeAspect="1"/>
          </p:cNvSpPr>
          <p:nvPr>
            <p:ph type="sldImg" idx="2"/>
          </p:nvPr>
        </p:nvSpPr>
        <p:spPr>
          <a:xfrm>
            <a:off x="685800" y="1143000"/>
            <a:ext cx="5486400" cy="3086100"/>
          </a:xfrm>
          <a:prstGeom prst="rect">
            <a:avLst/>
          </a:prstGeom>
          <a:noFill/>
          <a:ln w="12700">
            <a:solidFill>
              <a:prstClr val="black"/>
            </a:solidFill>
          </a:ln>
        </p:spPr>
        <p:txBody>
          <a:bodyPr vert="horz" lIns="91440" tIns="45720" rIns="91440" bIns="45720" rtlCol="0" anchor="ctr"/>
          <a:lstStyle/>
          <a:p>
            <a:endParaRPr lang="en-US"/>
          </a:p>
        </p:txBody>
      </p:sp>
      <p:sp>
        <p:nvSpPr>
          <p:cNvPr id="5" name="Notes Placeholder 4"/>
          <p:cNvSpPr>
            <a:spLocks noGrp="1"/>
          </p:cNvSpPr>
          <p:nvPr>
            <p:ph type="body" sz="quarter" idx="3"/>
          </p:nvPr>
        </p:nvSpPr>
        <p:spPr>
          <a:xfrm>
            <a:off x="685800" y="4400550"/>
            <a:ext cx="5486400" cy="3600450"/>
          </a:xfrm>
          <a:prstGeom prst="rect">
            <a:avLst/>
          </a:prstGeom>
        </p:spPr>
        <p:txBody>
          <a:bodyPr vert="horz" lIns="91440" tIns="45720" rIns="91440" bIns="45720" rtlCol="0"/>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6" name="Footer Placeholder 5"/>
          <p:cNvSpPr>
            <a:spLocks noGrp="1"/>
          </p:cNvSpPr>
          <p:nvPr>
            <p:ph type="ftr" sz="quarter" idx="4"/>
          </p:nvPr>
        </p:nvSpPr>
        <p:spPr>
          <a:xfrm>
            <a:off x="0" y="8685213"/>
            <a:ext cx="2971800" cy="458787"/>
          </a:xfrm>
          <a:prstGeom prst="rect">
            <a:avLst/>
          </a:prstGeom>
        </p:spPr>
        <p:txBody>
          <a:bodyPr vert="horz" lIns="91440" tIns="45720" rIns="91440" bIns="45720" rtlCol="0" anchor="b"/>
          <a:lstStyle>
            <a:lvl1pPr algn="l">
              <a:defRPr sz="1200"/>
            </a:lvl1pPr>
          </a:lstStyle>
          <a:p>
            <a:endParaRPr lang="en-US"/>
          </a:p>
        </p:txBody>
      </p:sp>
      <p:sp>
        <p:nvSpPr>
          <p:cNvPr id="7" name="Slide Number Placeholder 6"/>
          <p:cNvSpPr>
            <a:spLocks noGrp="1"/>
          </p:cNvSpPr>
          <p:nvPr>
            <p:ph type="sldNum" sz="quarter" idx="5"/>
          </p:nvPr>
        </p:nvSpPr>
        <p:spPr>
          <a:xfrm>
            <a:off x="3884613" y="8685213"/>
            <a:ext cx="2971800" cy="458787"/>
          </a:xfrm>
          <a:prstGeom prst="rect">
            <a:avLst/>
          </a:prstGeom>
        </p:spPr>
        <p:txBody>
          <a:bodyPr vert="horz" lIns="91440" tIns="45720" rIns="91440" bIns="45720" rtlCol="0" anchor="b"/>
          <a:lstStyle>
            <a:lvl1pPr algn="r">
              <a:defRPr sz="1200"/>
            </a:lvl1pPr>
          </a:lstStyle>
          <a:p>
            <a:fld id="{CE5E9CC1-C706-0F49-92D6-E571CC5EEA8F}" type="slidenum">
              <a:rPr lang="en-US"/>
              <a:t>‹#›</a:t>
            </a:fld>
            <a:endParaRPr lang="en-US"/>
          </a:p>
        </p:txBody>
      </p:sp>
    </p:spTree>
    <p:extLst>
      <p:ext uri="{BB962C8B-B14F-4D97-AF65-F5344CB8AC3E}">
        <p14:creationId xmlns:p14="http://schemas.microsoft.com/office/powerpoint/2010/main" val="1024086991"/>
      </p:ext>
    </p:extLst>
  </p:cSld>
  <p:clrMap bg1="lt1" tx1="dk1" bg2="lt2" tx2="dk2" accent1="accent1" accent2="accent2" accent3="accent3" accent4="accent4" accent5="accent5" accent6="accent6" hlink="hlink" folHlink="folHlink"/>
  <p:notesStyle>
    <a:lvl1pPr marL="0" algn="l" defTabSz="914400" rtl="0" eaLnBrk="1" latinLnBrk="0" hangingPunct="1">
      <a:defRPr sz="1200" kern="1200">
        <a:solidFill>
          <a:schemeClr val="tx1"/>
        </a:solidFill>
        <a:latin typeface="+mn-lt"/>
        <a:cs typeface="Amiri" pitchFamily="2" charset="-78"/>
      </a:defRPr>
    </a:lvl1pPr>
    <a:lvl2pPr marL="457200" algn="l" defTabSz="914400" rtl="0" eaLnBrk="1" latinLnBrk="0" hangingPunct="1">
      <a:defRPr sz="1200" kern="1200">
        <a:solidFill>
          <a:schemeClr val="tx1"/>
        </a:solidFill>
        <a:latin typeface="+mn-lt"/>
        <a:cs typeface="Amiri" pitchFamily="2" charset="-78"/>
      </a:defRPr>
    </a:lvl2pPr>
    <a:lvl3pPr marL="914400" algn="l" defTabSz="914400" rtl="0" eaLnBrk="1" latinLnBrk="0" hangingPunct="1">
      <a:defRPr sz="1200" kern="1200">
        <a:solidFill>
          <a:schemeClr val="tx1"/>
        </a:solidFill>
        <a:latin typeface="+mn-lt"/>
        <a:cs typeface="Amiri" pitchFamily="2" charset="-78"/>
      </a:defRPr>
    </a:lvl3pPr>
    <a:lvl4pPr marL="1371600" algn="l" defTabSz="914400" rtl="0" eaLnBrk="1" latinLnBrk="0" hangingPunct="1">
      <a:defRPr sz="1200" kern="1200">
        <a:solidFill>
          <a:schemeClr val="tx1"/>
        </a:solidFill>
        <a:latin typeface="+mn-lt"/>
        <a:cs typeface="Amiri" pitchFamily="2" charset="-78"/>
      </a:defRPr>
    </a:lvl4pPr>
    <a:lvl5pPr marL="1828800" algn="l" defTabSz="914400" rtl="0" eaLnBrk="1" latinLnBrk="0" hangingPunct="1">
      <a:defRPr sz="1200" kern="1200">
        <a:solidFill>
          <a:schemeClr val="tx1"/>
        </a:solidFill>
        <a:latin typeface="+mn-lt"/>
        <a:cs typeface="Amiri" pitchFamily="2" charset="-78"/>
      </a:defRPr>
    </a:lvl5pPr>
    <a:lvl6pPr marL="2286000" algn="l" defTabSz="914400" rtl="0" eaLnBrk="1" latinLnBrk="0" hangingPunct="1">
      <a:defRPr sz="1200" kern="1200">
        <a:solidFill>
          <a:schemeClr val="tx1"/>
        </a:solidFill>
        <a:latin typeface="+mn-lt"/>
        <a:cs typeface="Amiri" pitchFamily="2" charset="-78"/>
      </a:defRPr>
    </a:lvl6pPr>
    <a:lvl7pPr marL="2743200" algn="l" defTabSz="914400" rtl="0" eaLnBrk="1" latinLnBrk="0" hangingPunct="1">
      <a:defRPr sz="1200" kern="1200">
        <a:solidFill>
          <a:schemeClr val="tx1"/>
        </a:solidFill>
        <a:latin typeface="+mn-lt"/>
        <a:cs typeface="Amiri" pitchFamily="2" charset="-78"/>
      </a:defRPr>
    </a:lvl7pPr>
    <a:lvl8pPr marL="3200400" algn="l" defTabSz="914400" rtl="0" eaLnBrk="1" latinLnBrk="0" hangingPunct="1">
      <a:defRPr sz="1200" kern="1200">
        <a:solidFill>
          <a:schemeClr val="tx1"/>
        </a:solidFill>
        <a:latin typeface="+mn-lt"/>
        <a:cs typeface="Amiri" pitchFamily="2" charset="-78"/>
      </a:defRPr>
    </a:lvl8pPr>
    <a:lvl9pPr marL="3657600" algn="l" defTabSz="914400" rtl="0" eaLnBrk="1" latinLnBrk="0" hangingPunct="1">
      <a:defRPr sz="1200" kern="1200">
        <a:solidFill>
          <a:schemeClr val="tx1"/>
        </a:solidFill>
        <a:latin typeface="+mn-lt"/>
        <a:cs typeface="Amiri" pitchFamily="2" charset="-78"/>
      </a:defRPr>
    </a:lvl9pPr>
  </p:notesStyle>
</p:notesMaster>
</file>

<file path=ppt/notesSlides/_rels/notesSlide1.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xml"/>
		</Relationships>
</file>

<file path=ppt/notesSlides/_rels/notesSlide2.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xml"/>
		</Relationships>
</file>

<file path=ppt/notesSlides/_rels/notesSlide3.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3.xml"/>
		</Relationships>
</file>

<file path=ppt/notesSlides/_rels/notesSlide4.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4.xml"/>
		</Relationships>
</file>

<file path=ppt/notesSlides/_rels/notesSlide5.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5.xml"/>
		</Relationships>
</file>

<file path=ppt/notesSlides/_rels/notesSlide6.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6.xml"/>
		</Relationships>
</file>

<file path=ppt/notesSlides/_rels/notesSlide7.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7.xml"/>
		</Relationships>
</file>

<file path=ppt/notesSlides/_rels/notesSlide8.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8.xml"/>
		</Relationships>
</file>

<file path=ppt/notesSlides/_rels/notesSlide9.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9.xml"/>
		</Relationships>
</file>

<file path=ppt/notesSlides/_rels/notesSlide10.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0.xml"/>
		</Relationships>
</file>

<file path=ppt/notesSlides/_rels/notesSlide11.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1.xml"/>
		</Relationships>
</file>

<file path=ppt/notesSlides/_rels/notesSlide12.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2.xml"/>
		</Relationships>
</file>

<file path=ppt/notesSlides/_rels/notesSlide13.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3.xml"/>
		</Relationships>
</file>

<file path=ppt/notesSlides/_rels/notesSlide14.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4.xml"/>
		</Relationships>
</file>

<file path=ppt/notesSlides/_rels/notesSlide15.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5.xml"/>
		</Relationships>
</file>

<file path=ppt/notesSlides/_rels/notesSlide16.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6.xml"/>
		</Relationships>
</file>

<file path=ppt/notesSlides/_rels/notesSlide17.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7.xml"/>
		</Relationships>
</file>

<file path=ppt/notesSlides/_rels/notesSlide18.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8.xml"/>
		</Relationships>
</file>

<file path=ppt/notesSlides/_rels/notesSlide19.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9.xml"/>
		</Relationships>
</file>

<file path=ppt/notesSlides/_rels/notesSlide20.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0.xml"/>
		</Relationships>
</file>

<file path=ppt/notesSlides/_rels/notesSlide21.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1.xml"/>
		</Relationships>
</file>

<file path=ppt/notesSlides/_rels/notesSlide22.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2.xml"/>
		</Relationships>
</file>

<file path=ppt/notesSlides/_rels/notesSlide23.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3.xml"/>
		</Relationships>
</file>

<file path=ppt/notesSlides/_rels/notesSlide24.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4.xml"/>
		</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APPLY WORKSHOP AT A GLANCE — the third lesson of the week (Learn F6-L05 · Learn F6-L06 · Apply). 60 minutes on Teams: teacher-led in the main room for the short whole-class steps, pairs or breakout rooms of two or three for speaking, individual writing.
0–3 Welcome + plan · 3–6 What we learnt this week · PART 1 REMEMBER: word race (4) · which lesson? sort (4) · PART 2 SPEAK: new dialogue (5) · mixed question cards (6) · role-play card (7) · 30–45 seconds talk (4) · PART 3 WRITE: sentence builder (3) · spot and fix (3) · connected writing (12) + buddy check (3) · CHECK YOURSELF: models + self-check (5).
PURPOSE: students APPLY the language of BOTH lessons in new contexts — the question cards, builder and common mistakes come from the two practice rooms; the dialogue, role-play, talk and writing task are new and join the lessons together.
CONTENT: F6-L05 (Describing Your Town: Advantages and Disadvantages) and F6-L06 (Shopping in Town: Prices and Comparisons).
SET-UP: share this deck or its PDF in the chat. Pairs or breakout rooms for Part 2 (same-level rooms keep the routes simple). Everyone writes in their own book or document in Part 3.</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ar-SA" dirty="0">
                <a:latin typeface="Amiri" pitchFamily="2" charset="-78"/>
                <a:ea typeface="Amiri" pitchFamily="2" charset="-78"/>
                <a:cs typeface="Amiri" pitchFamily="2" charset="-78"/>
              </a:rPr>
              <a:t>WELCOME (1 min) — while students join.
• Greet each student by name as they arrive: السَّلَامُ عَلَيْكُمْ. Take the register (Pastoral Tracker: attendance 0/1).
• 2-MINUTE CHECK-IN (SEND training): a private chat to any student who seemed unsettled last lesson — “Are you okay today? 👍 / 👎”.
• Point to the four expectations — brief and positive: this is our class agreement.
• Talk code: “I will always give you thinking and practice time before I ask anyone.” Reading aloud is by invitation — a student may say “pass” and you return to them later.
• Follow-up on preparation: who learnt the five words? Quick private reminder to anyone who did not (Flipped Learning: follow up every time).</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MAP (1 min). Apply = use what you learnt in F6-L05 and F6-L06 in a NEW situation. Point out the step number in the top-left of each slide.</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3</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WHAT WE LEARNT (3 min, main room). Ask: “What can you say after F6-L05? After F6-L06?” Take two answers in the chat for each lesson (one word or one sentence is enough). Then read objective 3 — today’s new situation that needs BOTH lessons. Students tick their route goals at the end of the lesson.
F6-L05 language: madīnatī + feminine adjectives (hādiʾa · muktaẓẓa · āmina); min mazāyā madīnatī anna …; min ʿuyūbihā anna …; tatamayyazu bi- …; taftaqiru ilā …; lākinna
F6-L06 language: kam thamanuhu (m. item) / kam thamanuhā (f. item)?; rakhīṣun / ghālin (ghāliya); arkhaṣu min / aghlā min; urīdu an ashtariya …; hal ʿindakum …?; naqdan / bi-l-biṭāqa; khaṣm</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4</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STEP 1 (4 min). Quick, energetic retrieval. Model one round with a student, then pairs race. Collect the best score in the chat. Listen for words students hesitate over and revisit them in Part 2.</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5</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Step 1 reference — six words from F6-L05.</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6</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Step 1 reference — six words from F6-L06.</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7</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STEP 2 (4 min). Students read each card ALOUD (by invitation), then type its number in the chat with 1 or 2 (for example “card 3 → 2”). Then check the answer slide. Ask: “Which card could you use in BOTH lessons?” — this links the two lessons before Part 2.</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8</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STEP 2 (4 min). Students read each card ALOUD (by invitation), then type its number in the chat with 1 or 2 (for example “card 3 → 2”). Then check the answer slide. Ask: “Which card could you use in BOTH lessons?” — this links the two lessons before Part 2.</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9</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ar-SA" dirty="0">
                <a:latin typeface="Amiri" pitchFamily="2" charset="-78"/>
                <a:ea typeface="Amiri" pitchFamily="2" charset="-78"/>
                <a:cs typeface="Amiri" pitchFamily="2" charset="-78"/>
              </a:rPr>
              <a:t>STEP 3 (5 min). A NEW dialogue that joins F6-L05 and F6-L06. Teacher reads it once with a confident student; then pairs. Ask: “Which lines are from F6-L05? Which from F6-L06?” Advantages and disadvantages (مِنْ مَزَايَا … أَنَّ · مُكْتَظٌّ · صَاخِبٌ) come from F6-L05; prices, ثَمَنُهُ / ثَمَنُهَا, comparatives and paying from F6-L06. Numbers: 3–10 + جُنَيْهَاتٍ · 11–99 + جُنَيْهًا.</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10</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STEP 4 (6 min, pairs or rooms). The questions come from the two practice rooms, now mixed so students switch between the lessons. Teacher: visit rooms and ask one Stretch follow-up question in each.</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11</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ar-SA" dirty="0">
                <a:latin typeface="Amiri" pitchFamily="2" charset="-78"/>
                <a:ea typeface="Amiri" pitchFamily="2" charset="-78"/>
                <a:cs typeface="Amiri" pitchFamily="2" charset="-78"/>
              </a:rPr>
              <a:t>STEP 5 (7 min). One NEW situation that needs both lessons: prices, comparisons and paying (F6-L06) with opinions about places in town — advantages and disadvantages (F6-L05). SUPPORTED: the plan column gives the first words, not the full answer. To a girl Partner A says: مَاذَا تُرِيدِينَ؟ · مَا رَأْيُكِ …؟ — and for a feminine item: هٰذِهِ الحَقِيبَةُ … كَمْ ثَمَنُهَا؟.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12</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STEP 6 (4 min). Fluency: one talk that uses BOTH lessons. Two volunteers speak to the whole class at the end (open mic).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13</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STEP 7 (3 min). Rows come from the F6-L05 and F6-L06 practice rooms. Read the English, choose the correct part from each column (start on the RIGHT). Pairs agree, then check. Students copy the correct sentences — they help in Step 9.</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14</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STEP 7 (3 min). Rows come from the F6-L05 and F6-L06 practice rooms. Read the English, choose the correct part from each column (start on the RIGHT). Pairs agree, then check. Students copy the correct sentences — they help in Step 9.</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15</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STEP 8 (3 min). Common mistakes from both lessons. Students type the corrected version in the chat before the answer slide. These are the mistakes to look for in the buddy check.</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16</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STEP 8 (3 min). Common mistakes from both lessons. Students type the corrected version in the chat before the answer slide. These are the mistakes to look for in the buddy check.</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17</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STEP 9 support. Core: use the Core frames for every bullet. Develop: use the Develop frames only if stuck. Stretch: no frames — add reasons, a time phrase and an extra detail.</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18</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STEP 9 (10 min writing, everyone on their own). Core: frames for every bullet (30–40 words). Develop: 40–70 words, frames only if stuck. Stretch: no frames, add reasons. Teacher reads ONE sentence per student (in the chat or the shared document) and gives one live correction.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19</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BUDDY CHECK (3 min). Pairs swap texts (or share screens). Then everyone returns to the main room.</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20</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CHECK YOURSELF (2 min, main room). Each student finds one task they answered less fully and says it again using the model.</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21</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MODEL ANSWER (49 words). CHECK YOURSELF (2 min). Find each bullet point in the model, and one phrase from F6-L05 and one from F6-L06. Then each student copies ONE phrase from the model into their own text.</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22</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SELF-CHECK (1 min) against the website success criteria. Students tick privately, then type one WWW and one EBI in the chat (English is fine).
Teacher: one whole-class feedback point from live feedback. Pastoral: Curiosity &amp; Growth for honest reflection and a harder target next lesson.</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23</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CLOSE — thank students, dismiss calmly. After the lesson: complete the Pastoral Tracker (attendance, character, self-management, curiosity; demerits only for the five listed concerns). Note any student below 2/3 on the exit ticket for a Do Now check-in next lesson.</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24</a:t>
            </a:fld>
            <a:endParaRPr lang="en-US"/>
          </a:p>
        </p:txBody>
      </p:sp>
    </p:spTree>
    <p:extLst>
      <p:ext uri="{BB962C8B-B14F-4D97-AF65-F5344CB8AC3E}">
        <p14:creationId xmlns:p14="http://schemas.microsoft.com/office/powerpoint/2010/main" val="1024086991"/>
      </p:ext>
    </p:extLst>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preserve="1">
  <p:cSld name="DEFAULT">
    <p:bg>
      <p:bgRef idx="1001">
        <a:schemeClr val="bg1"/>
      </p:bgRef>
    </p:bg>
    <p:spTree>
      <p:nvGrpSpPr>
        <p:cNvPr id="1" name=""/>
        <p:cNvGrpSpPr/>
        <p:nvPr/>
      </p:nvGrpSpPr>
      <p:grpSpPr>
        <a:xfrm>
          <a:off x="0" y="0"/>
          <a:ext cx="0" cy="0"/>
          <a:chOff x="0" y="0"/>
          <a:chExt cx="0" cy="0"/>
        </a:xfrm>
      </p:grpSpPr>
    </p:spTree>
  </p:cSld>
  <p:clrMapOvr>
    <a:masterClrMapping/>
  </p:clrMapOvr>
</p:sldLayout>
</file>

<file path=ppt/slideMasters/_rels/slideMaster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theme" Target="../theme/theme1.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Tree>
  </p:cSld>
  <p:clrMap bg1="lt1" tx1="dk1" bg2="lt2" tx2="dk2" accent1="accent1" accent2="accent2" accent3="accent3" accent4="accent4" accent5="accent5" accent6="accent6" hlink="hlink" folHlink="folHlink"/>
  <p:sldLayoutIdLst>
    <p:sldLayoutId id="2147483649" r:id="rId1"/>
  </p:sldLayoutIdLst>
  <p:hf sldNum="0" hdr="0" ftr="0" dt="0"/>
  <p:txStyles>
    <p:titleStyle>
      <a:lvl1pPr algn="ctr" defTabSz="914400" rtl="0" eaLnBrk="1" latinLnBrk="0" hangingPunct="1">
        <a:spcBef>
          <a:spcPct val="0"/>
        </a:spcBef>
        <a:buNone/>
        <a:defRPr sz="4400" kern="1200">
          <a:solidFill>
            <a:schemeClr val="tx1"/>
          </a:solidFill>
          <a:latin typeface="+mj-lt"/>
          <a:cs typeface="Amiri" pitchFamily="2" charset="-78"/>
        </a:defRPr>
      </a:lvl1pPr>
    </p:titleStyle>
    <p:bodyStyle>
      <a:lvl1pPr marL="342900" indent="-342900" algn="l" defTabSz="914400" rtl="0" eaLnBrk="1" latinLnBrk="0" hangingPunct="1">
        <a:spcBef>
          <a:spcPct val="20000"/>
        </a:spcBef>
        <a:buFont typeface="Arial" pitchFamily="34" charset="0"/>
        <a:buChar char="•"/>
        <a:defRPr sz="3200" kern="1200">
          <a:solidFill>
            <a:schemeClr val="tx1"/>
          </a:solidFill>
          <a:latin typeface="+mn-lt"/>
          <a:cs typeface="Amiri" pitchFamily="2" charset="-78"/>
        </a:defRPr>
      </a:lvl1pPr>
      <a:lvl2pPr marL="742950" indent="-285750" algn="l" defTabSz="914400" rtl="0" eaLnBrk="1" latinLnBrk="0" hangingPunct="1">
        <a:spcBef>
          <a:spcPct val="20000"/>
        </a:spcBef>
        <a:buFont typeface="Arial" pitchFamily="34" charset="0"/>
        <a:buChar char="–"/>
        <a:defRPr sz="2800" kern="1200">
          <a:solidFill>
            <a:schemeClr val="tx1"/>
          </a:solidFill>
          <a:latin typeface="+mn-lt"/>
          <a:cs typeface="Amiri" pitchFamily="2" charset="-78"/>
        </a:defRPr>
      </a:lvl2pPr>
      <a:lvl3pPr marL="1143000" indent="-228600" algn="l" defTabSz="914400" rtl="0" eaLnBrk="1" latinLnBrk="0" hangingPunct="1">
        <a:spcBef>
          <a:spcPct val="20000"/>
        </a:spcBef>
        <a:buFont typeface="Arial" pitchFamily="34" charset="0"/>
        <a:buChar char="•"/>
        <a:defRPr sz="2400" kern="1200">
          <a:solidFill>
            <a:schemeClr val="tx1"/>
          </a:solidFill>
          <a:latin typeface="+mn-lt"/>
          <a:cs typeface="Amiri" pitchFamily="2" charset="-78"/>
        </a:defRPr>
      </a:lvl3pPr>
      <a:lvl4pPr marL="1600200" indent="-228600" algn="l" defTabSz="914400" rtl="0" eaLnBrk="1" latinLnBrk="0" hangingPunct="1">
        <a:spcBef>
          <a:spcPct val="20000"/>
        </a:spcBef>
        <a:buFont typeface="Arial" pitchFamily="34" charset="0"/>
        <a:buChar char="–"/>
        <a:defRPr sz="2000" kern="1200">
          <a:solidFill>
            <a:schemeClr val="tx1"/>
          </a:solidFill>
          <a:latin typeface="+mn-lt"/>
          <a:cs typeface="Amiri" pitchFamily="2" charset="-78"/>
        </a:defRPr>
      </a:lvl4pPr>
      <a:lvl5pPr marL="2057400" indent="-228600" algn="l" defTabSz="914400" rtl="0" eaLnBrk="1" latinLnBrk="0" hangingPunct="1">
        <a:spcBef>
          <a:spcPct val="20000"/>
        </a:spcBef>
        <a:buFont typeface="Arial" pitchFamily="34" charset="0"/>
        <a:buChar char="»"/>
        <a:defRPr sz="2000" kern="1200">
          <a:solidFill>
            <a:schemeClr val="tx1"/>
          </a:solidFill>
          <a:latin typeface="+mn-lt"/>
          <a:cs typeface="Amiri" pitchFamily="2" charset="-78"/>
        </a:defRPr>
      </a:lvl5pPr>
      <a:lvl6pPr marL="2514600" indent="-228600" algn="l" defTabSz="914400" rtl="0" eaLnBrk="1" latinLnBrk="0" hangingPunct="1">
        <a:spcBef>
          <a:spcPct val="20000"/>
        </a:spcBef>
        <a:buFont typeface="Arial" pitchFamily="34" charset="0"/>
        <a:buChar char="•"/>
        <a:defRPr sz="2000" kern="1200">
          <a:solidFill>
            <a:schemeClr val="tx1"/>
          </a:solidFill>
          <a:latin typeface="+mn-lt"/>
          <a:cs typeface="Amiri" pitchFamily="2" charset="-78"/>
        </a:defRPr>
      </a:lvl6pPr>
      <a:lvl7pPr marL="2971800" indent="-228600" algn="l" defTabSz="914400" rtl="0" eaLnBrk="1" latinLnBrk="0" hangingPunct="1">
        <a:spcBef>
          <a:spcPct val="20000"/>
        </a:spcBef>
        <a:buFont typeface="Arial" pitchFamily="34" charset="0"/>
        <a:buChar char="•"/>
        <a:defRPr sz="2000" kern="1200">
          <a:solidFill>
            <a:schemeClr val="tx1"/>
          </a:solidFill>
          <a:latin typeface="+mn-lt"/>
          <a:cs typeface="Amiri" pitchFamily="2" charset="-78"/>
        </a:defRPr>
      </a:lvl7pPr>
      <a:lvl8pPr marL="3429000" indent="-228600" algn="l" defTabSz="914400" rtl="0" eaLnBrk="1" latinLnBrk="0" hangingPunct="1">
        <a:spcBef>
          <a:spcPct val="20000"/>
        </a:spcBef>
        <a:buFont typeface="Arial" pitchFamily="34" charset="0"/>
        <a:buChar char="•"/>
        <a:defRPr sz="2000" kern="1200">
          <a:solidFill>
            <a:schemeClr val="tx1"/>
          </a:solidFill>
          <a:latin typeface="+mn-lt"/>
          <a:cs typeface="Amiri" pitchFamily="2" charset="-78"/>
        </a:defRPr>
      </a:lvl8pPr>
      <a:lvl9pPr marL="3886200" indent="-228600" algn="l" defTabSz="914400" rtl="0" eaLnBrk="1" latinLnBrk="0" hangingPunct="1">
        <a:spcBef>
          <a:spcPct val="20000"/>
        </a:spcBef>
        <a:buFont typeface="Arial" pitchFamily="34" charset="0"/>
        <a:buChar char="•"/>
        <a:defRPr sz="2000" kern="1200">
          <a:solidFill>
            <a:schemeClr val="tx1"/>
          </a:solidFill>
          <a:latin typeface="+mn-lt"/>
          <a:cs typeface="Amiri" pitchFamily="2" charset="-78"/>
        </a:defRPr>
      </a:lvl9pPr>
    </p:bodyStyle>
    <p:otherStyle>
      <a:defPPr>
        <a:defRPr lang="en-US"/>
      </a:defPPr>
      <a:lvl1pPr marL="0" algn="l" defTabSz="914400" rtl="0" eaLnBrk="1" latinLnBrk="0" hangingPunct="1">
        <a:defRPr sz="1800" kern="1200">
          <a:solidFill>
            <a:schemeClr val="tx1"/>
          </a:solidFill>
          <a:latin typeface="+mn-lt"/>
          <a:cs typeface="Amiri" pitchFamily="2" charset="-78"/>
        </a:defRPr>
      </a:lvl1pPr>
      <a:lvl2pPr marL="457200" algn="l" defTabSz="914400" rtl="0" eaLnBrk="1" latinLnBrk="0" hangingPunct="1">
        <a:defRPr sz="1800" kern="1200">
          <a:solidFill>
            <a:schemeClr val="tx1"/>
          </a:solidFill>
          <a:latin typeface="+mn-lt"/>
          <a:cs typeface="Amiri" pitchFamily="2" charset="-78"/>
        </a:defRPr>
      </a:lvl2pPr>
      <a:lvl3pPr marL="914400" algn="l" defTabSz="914400" rtl="0" eaLnBrk="1" latinLnBrk="0" hangingPunct="1">
        <a:defRPr sz="1800" kern="1200">
          <a:solidFill>
            <a:schemeClr val="tx1"/>
          </a:solidFill>
          <a:latin typeface="+mn-lt"/>
          <a:cs typeface="Amiri" pitchFamily="2" charset="-78"/>
        </a:defRPr>
      </a:lvl3pPr>
      <a:lvl4pPr marL="1371600" algn="l" defTabSz="914400" rtl="0" eaLnBrk="1" latinLnBrk="0" hangingPunct="1">
        <a:defRPr sz="1800" kern="1200">
          <a:solidFill>
            <a:schemeClr val="tx1"/>
          </a:solidFill>
          <a:latin typeface="+mn-lt"/>
          <a:cs typeface="Amiri" pitchFamily="2" charset="-78"/>
        </a:defRPr>
      </a:lvl4pPr>
      <a:lvl5pPr marL="1828800" algn="l" defTabSz="914400" rtl="0" eaLnBrk="1" latinLnBrk="0" hangingPunct="1">
        <a:defRPr sz="1800" kern="1200">
          <a:solidFill>
            <a:schemeClr val="tx1"/>
          </a:solidFill>
          <a:latin typeface="+mn-lt"/>
          <a:cs typeface="Amiri" pitchFamily="2" charset="-78"/>
        </a:defRPr>
      </a:lvl5pPr>
      <a:lvl6pPr marL="2286000" algn="l" defTabSz="914400" rtl="0" eaLnBrk="1" latinLnBrk="0" hangingPunct="1">
        <a:defRPr sz="1800" kern="1200">
          <a:solidFill>
            <a:schemeClr val="tx1"/>
          </a:solidFill>
          <a:latin typeface="+mn-lt"/>
          <a:cs typeface="Amiri" pitchFamily="2" charset="-78"/>
        </a:defRPr>
      </a:lvl6pPr>
      <a:lvl7pPr marL="2743200" algn="l" defTabSz="914400" rtl="0" eaLnBrk="1" latinLnBrk="0" hangingPunct="1">
        <a:defRPr sz="1800" kern="1200">
          <a:solidFill>
            <a:schemeClr val="tx1"/>
          </a:solidFill>
          <a:latin typeface="+mn-lt"/>
          <a:cs typeface="Amiri" pitchFamily="2" charset="-78"/>
        </a:defRPr>
      </a:lvl7pPr>
      <a:lvl8pPr marL="3200400" algn="l" defTabSz="914400" rtl="0" eaLnBrk="1" latinLnBrk="0" hangingPunct="1">
        <a:defRPr sz="1800" kern="1200">
          <a:solidFill>
            <a:schemeClr val="tx1"/>
          </a:solidFill>
          <a:latin typeface="+mn-lt"/>
          <a:cs typeface="Amiri" pitchFamily="2" charset="-78"/>
        </a:defRPr>
      </a:lvl8pPr>
      <a:lvl9pPr marL="3657600" algn="l" defTabSz="914400" rtl="0" eaLnBrk="1" latinLnBrk="0" hangingPunct="1">
        <a:defRPr sz="1800" kern="1200">
          <a:solidFill>
            <a:schemeClr val="tx1"/>
          </a:solidFill>
          <a:latin typeface="+mn-lt"/>
          <a:cs typeface="Amiri" pitchFamily="2" charset="-78"/>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image" Target="../media/image-1-1.png"/><Relationship Id="rId2" Type="http://schemas.openxmlformats.org/officeDocument/2006/relationships/slideLayout" Target="../slideLayouts/slideLayout1.xml"/><Relationship Id="rId3" Type="http://schemas.openxmlformats.org/officeDocument/2006/relationships/notesSlide" Target="../notesSlides/notesSlide1.xml"/></Relationships>
</file>

<file path=ppt/slides/_rels/slide2.xml.rels><?xml version="1.0" encoding="UTF-8" standalone="yes"?>
<Relationships xmlns="http://schemas.openxmlformats.org/package/2006/relationships"><Relationship Id="rId1" Type="http://schemas.openxmlformats.org/officeDocument/2006/relationships/image" Target="../media/image-2-1.png"/><Relationship Id="rId2" Type="http://schemas.openxmlformats.org/officeDocument/2006/relationships/image" Target="../media/image-2-2.png"/><Relationship Id="rId3" Type="http://schemas.openxmlformats.org/officeDocument/2006/relationships/image" Target="../media/image-2-3.png"/><Relationship Id="rId4" Type="http://schemas.openxmlformats.org/officeDocument/2006/relationships/image" Target="../media/image-2-4.png"/><Relationship Id="rId5" Type="http://schemas.openxmlformats.org/officeDocument/2006/relationships/slideLayout" Target="../slideLayouts/slideLayout1.xml"/><Relationship Id="rId6" Type="http://schemas.openxmlformats.org/officeDocument/2006/relationships/notesSlide" Target="../notesSlides/notesSlide2.xml"/></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3.xml"/></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4.xml"/></Relationships>
</file>

<file path=ppt/slides/_rels/slide5.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5.xml"/></Relationships>
</file>

<file path=ppt/slides/_rels/slide6.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6.xml"/></Relationships>
</file>

<file path=ppt/slides/_rels/slide7.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7.xml"/></Relationships>
</file>

<file path=ppt/slides/_rels/slide8.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8.xml"/></Relationships>
</file>

<file path=ppt/slides/_rels/slide9.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9.xml"/></Relationships>
</file>

<file path=ppt/slides/_rels/slide10.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0.xml"/></Relationships>
</file>

<file path=ppt/slides/_rels/slide1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1.xml"/></Relationships>
</file>

<file path=ppt/slides/_rels/slide12.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2.xml"/></Relationships>
</file>

<file path=ppt/slides/_rels/slide13.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3.xml"/></Relationships>
</file>

<file path=ppt/slides/_rels/slide14.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4.xml"/></Relationships>
</file>

<file path=ppt/slides/_rels/slide15.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5.xml"/></Relationships>
</file>

<file path=ppt/slides/_rels/slide16.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6.xml"/></Relationships>
</file>

<file path=ppt/slides/_rels/slide17.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7.xml"/></Relationships>
</file>

<file path=ppt/slides/_rels/slide18.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8.xml"/></Relationships>
</file>

<file path=ppt/slides/_rels/slide19.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9.xml"/></Relationships>
</file>

<file path=ppt/slides/_rels/slide20.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20.xml"/></Relationships>
</file>

<file path=ppt/slides/_rels/slide2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21.xml"/></Relationships>
</file>

<file path=ppt/slides/_rels/slide22.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22.xml"/></Relationships>
</file>

<file path=ppt/slides/_rels/slide23.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23.xml"/></Relationships>
</file>

<file path=ppt/slides/_rels/slide24.xml.rels><?xml version="1.0" encoding="UTF-8" standalone="yes"?>
<Relationships xmlns="http://schemas.openxmlformats.org/package/2006/relationships"><Relationship Id="rId1" Type="http://schemas.openxmlformats.org/officeDocument/2006/relationships/image" Target="../media/image-24-1.png"/><Relationship Id="rId2" Type="http://schemas.openxmlformats.org/officeDocument/2006/relationships/slideLayout" Target="../slideLayouts/slideLayout1.xml"/><Relationship Id="rId3" Type="http://schemas.openxmlformats.org/officeDocument/2006/relationships/notesSlide" Target="../notesSlides/notesSlide24.xml"/></Relationships>
</file>

<file path=ppt/slides/slide1.xml><?xml version="1.0" encoding="utf-8"?>
<p:sld xmlns:a="http://schemas.openxmlformats.org/drawingml/2006/main" xmlns:r="http://schemas.openxmlformats.org/officeDocument/2006/relationships" xmlns:p="http://schemas.openxmlformats.org/presentationml/2006/main">
  <p:cSld name="Slide 1">
    <p:bg>
      <p:bgPr>
        <a:solidFill>
          <a:srgbClr val="0D1F3C"/>
        </a:solidFill>
      </p:bgPr>
    </p:bg>
    <p:spTree>
      <p:nvGrpSpPr>
        <p:cNvPr id="1" name=""/>
        <p:cNvGrpSpPr/>
        <p:nvPr/>
      </p:nvGrpSpPr>
      <p:grpSpPr>
        <a:xfrm>
          <a:off x="0" y="0"/>
          <a:ext cx="0" cy="0"/>
          <a:chOff x="0" y="0"/>
          <a:chExt cx="0" cy="0"/>
        </a:xfrm>
      </p:grpSpPr>
      <p:sp>
        <p:nvSpPr>
          <p:cNvPr id="2" name="Shape 0"/>
          <p:cNvSpPr/>
          <p:nvPr/>
        </p:nvSpPr>
        <p:spPr>
          <a:xfrm>
            <a:off x="7863840" y="-1463040"/>
            <a:ext cx="5852160" cy="5852160"/>
          </a:xfrm>
          <a:prstGeom prst="ellipse">
            <a:avLst/>
          </a:prstGeom>
          <a:solidFill>
            <a:srgbClr val="14315C"/>
          </a:solidFill>
          <a:ln w="12700">
            <a:solidFill>
              <a:srgbClr val="14315C"/>
            </a:solidFill>
            <a:prstDash val="solid"/>
          </a:ln>
        </p:spPr>
      </p:sp>
      <p:sp>
        <p:nvSpPr>
          <p:cNvPr id="3" name="Shape 1"/>
          <p:cNvSpPr/>
          <p:nvPr/>
        </p:nvSpPr>
        <p:spPr>
          <a:xfrm>
            <a:off x="8778240" y="-548640"/>
            <a:ext cx="4023360" cy="4023360"/>
          </a:xfrm>
          <a:prstGeom prst="ellipse">
            <a:avLst/>
          </a:prstGeom>
          <a:solidFill>
            <a:srgbClr val="1B3B6F"/>
          </a:solidFill>
          <a:ln w="12700">
            <a:solidFill>
              <a:srgbClr val="1B3B6F"/>
            </a:solidFill>
            <a:prstDash val="solid"/>
          </a:ln>
        </p:spPr>
      </p:sp>
      <p:pic>
        <p:nvPicPr>
          <p:cNvPr id="4" name="Image 0" descr="preencoded.png">    </p:cNvPr>
          <p:cNvPicPr>
            <a:picLocks noChangeAspect="1"/>
          </p:cNvPicPr>
          <p:nvPr/>
        </p:nvPicPr>
        <p:blipFill>
          <a:blip r:embed="rId1"/>
          <a:stretch>
            <a:fillRect/>
          </a:stretch>
        </p:blipFill>
        <p:spPr>
          <a:xfrm>
            <a:off x="10012680" y="685800"/>
            <a:ext cx="1554480" cy="1554480"/>
          </a:xfrm>
          <a:prstGeom prst="rect">
            <a:avLst/>
          </a:prstGeom>
        </p:spPr>
      </p:pic>
      <p:sp>
        <p:nvSpPr>
          <p:cNvPr id="5" name="Shape 2"/>
          <p:cNvSpPr/>
          <p:nvPr/>
        </p:nvSpPr>
        <p:spPr>
          <a:xfrm>
            <a:off x="457200" y="411480"/>
            <a:ext cx="502920" cy="502920"/>
          </a:xfrm>
          <a:prstGeom prst="ellipse">
            <a:avLst/>
          </a:prstGeom>
          <a:solidFill>
            <a:srgbClr val="1B3B6F"/>
          </a:solidFill>
          <a:ln w="15875">
            <a:solidFill>
              <a:srgbClr val="D4AF37"/>
            </a:solidFill>
            <a:prstDash val="solid"/>
          </a:ln>
        </p:spPr>
      </p:sp>
      <p:sp>
        <p:nvSpPr>
          <p:cNvPr id="6" name="Text 3"/>
          <p:cNvSpPr txBox="1"/>
          <p:nvPr/>
        </p:nvSpPr>
        <p:spPr>
          <a:xfrm>
            <a:off x="457200" y="393192"/>
            <a:ext cx="502920" cy="502920"/>
          </a:xfrm>
          <a:prstGeom prst="rect">
            <a:avLst/>
          </a:prstGeom>
          <a:noFill/>
          <a:ln/>
        </p:spPr>
        <p:txBody>
          <a:bodyPr wrap="square" lIns="0" tIns="0" rIns="0" bIns="0" rtlCol="0" anchor="ctr"/>
          <a:lstStyle/>
          <a:p>
            <a:pPr rtl="1" algn="ctr" indent="0" marL="0">
              <a:buNone/>
            </a:pPr>
            <a:r>
              <a:rPr lang="ar-SA" altLang="en-US" sz="2200" b="1" dirty="0">
                <a:solidFill>
                  <a:srgbClr val="D4AF37"/>
                </a:solidFill>
                <a:latin typeface="Amiri" pitchFamily="2" charset="-78"/>
                <a:ea typeface="Amiri" pitchFamily="2" charset="-78"/>
                <a:cs typeface="Amiri" pitchFamily="2" charset="-78"/>
              </a:rPr>
              <a:t>م</a:t>
            </a:r>
            <a:endParaRPr lang="ar-SA" sz="2200" dirty="0"/>
          </a:p>
        </p:txBody>
      </p:sp>
      <p:sp>
        <p:nvSpPr>
          <p:cNvPr id="7" name="Text 4"/>
          <p:cNvSpPr txBox="1"/>
          <p:nvPr/>
        </p:nvSpPr>
        <p:spPr>
          <a:xfrm>
            <a:off x="1078992" y="384048"/>
            <a:ext cx="5486400" cy="566928"/>
          </a:xfrm>
          <a:prstGeom prst="rect">
            <a:avLst/>
          </a:prstGeom>
          <a:noFill/>
          <a:ln/>
        </p:spPr>
        <p:txBody>
          <a:bodyPr wrap="square" lIns="0" tIns="0" rIns="0" bIns="0" rtlCol="0" anchor="ctr"/>
          <a:lstStyle/>
          <a:p>
            <a:pPr indent="0" marL="0">
              <a:buNone/>
            </a:pPr>
            <a:r>
              <a:rPr lang="en-US" sz="1400" b="1" dirty="0">
                <a:solidFill>
                  <a:srgbClr val="FFFFFF"/>
                </a:solidFill>
                <a:latin typeface="Cambria" pitchFamily="34" charset="0"/>
                <a:cs typeface="Amiri" pitchFamily="2" charset="-78"/>
              </a:rPr>
              <a:t>Al Madina Online School</a:t>
            </a:r>
            <a:endParaRPr lang="en-US" sz="1400" dirty="0"/>
          </a:p>
          <a:p>
            <a:pPr indent="0" marL="0">
              <a:buNone/>
            </a:pPr>
            <a:r>
              <a:rPr lang="en-US" sz="800" b="1" spc="200" kern="0" dirty="0">
                <a:solidFill>
                  <a:srgbClr val="D4AF37"/>
                </a:solidFill>
                <a:latin typeface="Calibri" pitchFamily="34" charset="0"/>
                <a:cs typeface="Amiri" pitchFamily="2" charset="-78"/>
              </a:rPr>
              <a:t>ARABIC DEPARTMENT · MIFTAH ARABIC</a:t>
            </a:r>
            <a:endParaRPr lang="en-US" sz="1400" dirty="0"/>
          </a:p>
        </p:txBody>
      </p:sp>
      <p:sp>
        <p:nvSpPr>
          <p:cNvPr id="8" name="Text 5"/>
          <p:cNvSpPr txBox="1"/>
          <p:nvPr/>
        </p:nvSpPr>
        <p:spPr>
          <a:xfrm>
            <a:off x="457200" y="1600200"/>
            <a:ext cx="8686800" cy="274320"/>
          </a:xfrm>
          <a:prstGeom prst="rect">
            <a:avLst/>
          </a:prstGeom>
          <a:noFill/>
          <a:ln/>
        </p:spPr>
        <p:txBody>
          <a:bodyPr wrap="square" lIns="0" tIns="0" rIns="0" bIns="0" rtlCol="0" anchor="ctr"/>
          <a:lstStyle/>
          <a:p>
            <a:pPr algn="l" indent="0" marL="0">
              <a:buNone/>
            </a:pPr>
            <a:r>
              <a:rPr lang="en-US" sz="1100" b="1" spc="200" kern="0" dirty="0">
                <a:solidFill>
                  <a:srgbClr val="D4AF37"/>
                </a:solidFill>
                <a:latin typeface="Calibri" pitchFamily="34" charset="0"/>
                <a:cs typeface="Amiri" pitchFamily="2" charset="-78"/>
              </a:rPr>
              <a:t>CAMBRIDGE IGCSE ARABIC 0544  ·  YEAR 7  ·  FOUNDATION F6  ·  F6-L05 + F6-L06 · APPLY WORKSHOP</a:t>
            </a:r>
            <a:endParaRPr lang="en-US" sz="1100" dirty="0"/>
          </a:p>
        </p:txBody>
      </p:sp>
      <p:sp>
        <p:nvSpPr>
          <p:cNvPr id="9" name="Text 6"/>
          <p:cNvSpPr txBox="1"/>
          <p:nvPr/>
        </p:nvSpPr>
        <p:spPr>
          <a:xfrm>
            <a:off x="457200" y="1965960"/>
            <a:ext cx="7315200" cy="548640"/>
          </a:xfrm>
          <a:prstGeom prst="rect">
            <a:avLst/>
          </a:prstGeom>
          <a:noFill/>
          <a:ln/>
        </p:spPr>
        <p:txBody>
          <a:bodyPr wrap="square" lIns="0" tIns="0" rIns="0" bIns="0" rtlCol="0" anchor="ctr"/>
          <a:lstStyle/>
          <a:p>
            <a:pPr algn="l" indent="0" marL="0">
              <a:buNone/>
            </a:pPr>
            <a:r>
              <a:rPr lang="en-US" sz="2600" b="1" dirty="0">
                <a:solidFill>
                  <a:srgbClr val="9FB3D1"/>
                </a:solidFill>
                <a:latin typeface="Cambria" pitchFamily="34" charset="0"/>
                <a:cs typeface="Amiri" pitchFamily="2" charset="-78"/>
              </a:rPr>
              <a:t>F6-W03</a:t>
            </a:r>
            <a:endParaRPr lang="en-US" sz="2600" dirty="0"/>
          </a:p>
        </p:txBody>
      </p:sp>
      <p:sp>
        <p:nvSpPr>
          <p:cNvPr id="10" name="Text 7"/>
          <p:cNvSpPr txBox="1"/>
          <p:nvPr/>
        </p:nvSpPr>
        <p:spPr>
          <a:xfrm>
            <a:off x="457200" y="2487168"/>
            <a:ext cx="8046720" cy="868680"/>
          </a:xfrm>
          <a:prstGeom prst="rect">
            <a:avLst/>
          </a:prstGeom>
          <a:noFill/>
          <a:ln/>
        </p:spPr>
        <p:txBody>
          <a:bodyPr wrap="square" lIns="0" tIns="0" rIns="0" bIns="0" rtlCol="0" anchor="ctr"/>
          <a:lstStyle/>
          <a:p>
            <a:pPr algn="l" indent="0" marL="0">
              <a:buNone/>
            </a:pPr>
            <a:r>
              <a:rPr lang="en-US" sz="2650" b="1" dirty="0">
                <a:solidFill>
                  <a:srgbClr val="FFFFFF"/>
                </a:solidFill>
                <a:latin typeface="Cambria" pitchFamily="34" charset="0"/>
                <a:cs typeface="Amiri" pitchFamily="2" charset="-78"/>
              </a:rPr>
              <a:t>Apply Workshop — Market or Shopping Centre?</a:t>
            </a:r>
            <a:endParaRPr lang="en-US" sz="2650" dirty="0"/>
          </a:p>
        </p:txBody>
      </p:sp>
      <p:sp>
        <p:nvSpPr>
          <p:cNvPr id="11" name="Text 8"/>
          <p:cNvSpPr txBox="1"/>
          <p:nvPr/>
        </p:nvSpPr>
        <p:spPr>
          <a:xfrm>
            <a:off x="457200" y="3310128"/>
            <a:ext cx="8046720" cy="868680"/>
          </a:xfrm>
          <a:prstGeom prst="rect">
            <a:avLst/>
          </a:prstGeom>
          <a:noFill/>
          <a:ln/>
        </p:spPr>
        <p:txBody>
          <a:bodyPr wrap="square" lIns="0" tIns="0" rIns="0" bIns="0" rtlCol="0" anchor="ctr"/>
          <a:lstStyle/>
          <a:p>
            <a:pPr rtl="1" algn="l" indent="0" marL="0">
              <a:buNone/>
            </a:pPr>
            <a:r>
              <a:rPr lang="ar-SA" altLang="en-US" sz="3600" b="1" dirty="0">
                <a:solidFill>
                  <a:srgbClr val="D4AF37"/>
                </a:solidFill>
                <a:latin typeface="Amiri" pitchFamily="2" charset="-78"/>
                <a:ea typeface="Amiri" pitchFamily="2" charset="-78"/>
                <a:cs typeface="Amiri" pitchFamily="2" charset="-78"/>
              </a:rPr>
              <a:t>وَرْشَةُ التَّطْبِيقِ — السُّوقُ أَمِ المَرْكَزُ التِّجَارِيُّ؟</a:t>
            </a:r>
            <a:endParaRPr lang="ar-SA" sz="3600" dirty="0"/>
          </a:p>
        </p:txBody>
      </p:sp>
      <p:sp>
        <p:nvSpPr>
          <p:cNvPr id="12" name="Text 9"/>
          <p:cNvSpPr txBox="1"/>
          <p:nvPr/>
        </p:nvSpPr>
        <p:spPr>
          <a:xfrm>
            <a:off x="457200" y="4224528"/>
            <a:ext cx="7863840" cy="731520"/>
          </a:xfrm>
          <a:prstGeom prst="rect">
            <a:avLst/>
          </a:prstGeom>
          <a:noFill/>
          <a:ln/>
        </p:spPr>
        <p:txBody>
          <a:bodyPr wrap="square" lIns="0" tIns="0" rIns="0" bIns="0" rtlCol="0" anchor="t"/>
          <a:lstStyle/>
          <a:p>
            <a:pPr algn="l" indent="0" marL="0">
              <a:buNone/>
            </a:pPr>
            <a:r>
              <a:rPr lang="en-US" sz="1350" dirty="0">
                <a:solidFill>
                  <a:srgbClr val="C6D2E6"/>
                </a:solidFill>
                <a:latin typeface="Calibri" pitchFamily="34" charset="0"/>
                <a:cs typeface="Amiri" pitchFamily="2" charset="-78"/>
              </a:rPr>
              <a:t>Students join a balanced view of the town with shopping and prices: they compare the old market and the new shopping centre (advantages, disadvantages, prices, cheaper / more expensive, how to pay), act a shopping scene and write a balanced shopping guide for their town.</a:t>
            </a:r>
            <a:endParaRPr lang="en-US" sz="1350" dirty="0"/>
          </a:p>
        </p:txBody>
      </p:sp>
      <p:sp>
        <p:nvSpPr>
          <p:cNvPr id="13" name="Shape 10"/>
          <p:cNvSpPr/>
          <p:nvPr/>
        </p:nvSpPr>
        <p:spPr>
          <a:xfrm>
            <a:off x="457200" y="5166360"/>
            <a:ext cx="2651760" cy="868680"/>
          </a:xfrm>
          <a:prstGeom prst="roundRect">
            <a:avLst>
              <a:gd name="adj" fmla="val 8421"/>
            </a:avLst>
          </a:prstGeom>
          <a:solidFill>
            <a:srgbClr val="16335F"/>
          </a:solidFill>
          <a:ln w="12700">
            <a:solidFill>
              <a:srgbClr val="2A4B7C"/>
            </a:solidFill>
            <a:prstDash val="solid"/>
          </a:ln>
        </p:spPr>
      </p:sp>
      <p:sp>
        <p:nvSpPr>
          <p:cNvPr id="14" name="Text 11"/>
          <p:cNvSpPr txBox="1"/>
          <p:nvPr/>
        </p:nvSpPr>
        <p:spPr>
          <a:xfrm>
            <a:off x="621792" y="5212080"/>
            <a:ext cx="2377440" cy="777240"/>
          </a:xfrm>
          <a:prstGeom prst="rect">
            <a:avLst/>
          </a:prstGeom>
          <a:noFill/>
          <a:ln/>
        </p:spPr>
        <p:txBody>
          <a:bodyPr wrap="square" lIns="0" tIns="0" rIns="0" bIns="0" rtlCol="0" anchor="ctr"/>
          <a:lstStyle/>
          <a:p>
            <a:pPr indent="0" marL="0">
              <a:buNone/>
            </a:pPr>
            <a:r>
              <a:rPr lang="en-US" sz="850" b="1" spc="200" kern="0" dirty="0">
                <a:solidFill>
                  <a:srgbClr val="D4AF37"/>
                </a:solidFill>
                <a:latin typeface="Calibri" pitchFamily="34" charset="0"/>
                <a:cs typeface="Amiri" pitchFamily="2" charset="-78"/>
              </a:rPr>
              <a:t>LESSON</a:t>
            </a:r>
            <a:endParaRPr lang="en-US" sz="850" dirty="0"/>
          </a:p>
          <a:p>
            <a:pPr indent="0" marL="0">
              <a:buNone/>
            </a:pPr>
            <a:r>
              <a:rPr lang="en-US" sz="1200" b="1" dirty="0">
                <a:solidFill>
                  <a:srgbClr val="FFFFFF"/>
                </a:solidFill>
                <a:latin typeface="Calibri" pitchFamily="34" charset="0"/>
                <a:cs typeface="Amiri" pitchFamily="2" charset="-78"/>
              </a:rPr>
              <a:t>Apply workshop · F6-L05 + F6-L06</a:t>
            </a:r>
            <a:endParaRPr lang="en-US" sz="850" dirty="0"/>
          </a:p>
        </p:txBody>
      </p:sp>
      <p:sp>
        <p:nvSpPr>
          <p:cNvPr id="15" name="Shape 12"/>
          <p:cNvSpPr/>
          <p:nvPr/>
        </p:nvSpPr>
        <p:spPr>
          <a:xfrm>
            <a:off x="3273552" y="5166360"/>
            <a:ext cx="2651760" cy="868680"/>
          </a:xfrm>
          <a:prstGeom prst="roundRect">
            <a:avLst>
              <a:gd name="adj" fmla="val 8421"/>
            </a:avLst>
          </a:prstGeom>
          <a:solidFill>
            <a:srgbClr val="16335F"/>
          </a:solidFill>
          <a:ln w="12700">
            <a:solidFill>
              <a:srgbClr val="2A4B7C"/>
            </a:solidFill>
            <a:prstDash val="solid"/>
          </a:ln>
        </p:spPr>
      </p:sp>
      <p:sp>
        <p:nvSpPr>
          <p:cNvPr id="16" name="Text 13"/>
          <p:cNvSpPr txBox="1"/>
          <p:nvPr/>
        </p:nvSpPr>
        <p:spPr>
          <a:xfrm>
            <a:off x="3438144" y="5212080"/>
            <a:ext cx="2377440" cy="777240"/>
          </a:xfrm>
          <a:prstGeom prst="rect">
            <a:avLst/>
          </a:prstGeom>
          <a:noFill/>
          <a:ln/>
        </p:spPr>
        <p:txBody>
          <a:bodyPr wrap="square" lIns="0" tIns="0" rIns="0" bIns="0" rtlCol="0" anchor="ctr"/>
          <a:lstStyle/>
          <a:p>
            <a:pPr indent="0" marL="0">
              <a:buNone/>
            </a:pPr>
            <a:r>
              <a:rPr lang="en-US" sz="850" b="1" spc="200" kern="0" dirty="0">
                <a:solidFill>
                  <a:srgbClr val="D4AF37"/>
                </a:solidFill>
                <a:latin typeface="Calibri" pitchFamily="34" charset="0"/>
                <a:cs typeface="Amiri" pitchFamily="2" charset="-78"/>
              </a:rPr>
              <a:t>DURATION</a:t>
            </a:r>
            <a:endParaRPr lang="en-US" sz="850" dirty="0"/>
          </a:p>
          <a:p>
            <a:pPr indent="0" marL="0">
              <a:buNone/>
            </a:pPr>
            <a:r>
              <a:rPr lang="en-US" sz="1200" b="1" dirty="0">
                <a:solidFill>
                  <a:srgbClr val="FFFFFF"/>
                </a:solidFill>
                <a:latin typeface="Calibri" pitchFamily="34" charset="0"/>
                <a:cs typeface="Amiri" pitchFamily="2" charset="-78"/>
              </a:rPr>
              <a:t>60 minutes · Teams</a:t>
            </a:r>
            <a:endParaRPr lang="en-US" sz="850" dirty="0"/>
          </a:p>
        </p:txBody>
      </p:sp>
      <p:sp>
        <p:nvSpPr>
          <p:cNvPr id="17" name="Shape 14"/>
          <p:cNvSpPr/>
          <p:nvPr/>
        </p:nvSpPr>
        <p:spPr>
          <a:xfrm>
            <a:off x="6089904" y="5166360"/>
            <a:ext cx="2651760" cy="868680"/>
          </a:xfrm>
          <a:prstGeom prst="roundRect">
            <a:avLst>
              <a:gd name="adj" fmla="val 8421"/>
            </a:avLst>
          </a:prstGeom>
          <a:solidFill>
            <a:srgbClr val="16335F"/>
          </a:solidFill>
          <a:ln w="12700">
            <a:solidFill>
              <a:srgbClr val="2A4B7C"/>
            </a:solidFill>
            <a:prstDash val="solid"/>
          </a:ln>
        </p:spPr>
      </p:sp>
      <p:sp>
        <p:nvSpPr>
          <p:cNvPr id="18" name="Text 15"/>
          <p:cNvSpPr txBox="1"/>
          <p:nvPr/>
        </p:nvSpPr>
        <p:spPr>
          <a:xfrm>
            <a:off x="6254496" y="5212080"/>
            <a:ext cx="2377440" cy="777240"/>
          </a:xfrm>
          <a:prstGeom prst="rect">
            <a:avLst/>
          </a:prstGeom>
          <a:noFill/>
          <a:ln/>
        </p:spPr>
        <p:txBody>
          <a:bodyPr wrap="square" lIns="0" tIns="0" rIns="0" bIns="0" rtlCol="0" anchor="ctr"/>
          <a:lstStyle/>
          <a:p>
            <a:pPr indent="0" marL="0">
              <a:buNone/>
            </a:pPr>
            <a:r>
              <a:rPr lang="en-US" sz="850" b="1" spc="200" kern="0" dirty="0">
                <a:solidFill>
                  <a:srgbClr val="D4AF37"/>
                </a:solidFill>
                <a:latin typeface="Calibri" pitchFamily="34" charset="0"/>
                <a:cs typeface="Amiri" pitchFamily="2" charset="-78"/>
              </a:rPr>
              <a:t>LEVEL</a:t>
            </a:r>
            <a:endParaRPr lang="en-US" sz="850" dirty="0"/>
          </a:p>
          <a:p>
            <a:pPr indent="0" marL="0">
              <a:buNone/>
            </a:pPr>
            <a:r>
              <a:rPr lang="en-US" sz="1200" b="1" dirty="0">
                <a:solidFill>
                  <a:srgbClr val="FFFFFF"/>
                </a:solidFill>
                <a:latin typeface="Calibri" pitchFamily="34" charset="0"/>
                <a:cs typeface="Amiri" pitchFamily="2" charset="-78"/>
              </a:rPr>
              <a:t>Foundation · A1</a:t>
            </a:r>
            <a:endParaRPr lang="en-US" sz="850" dirty="0"/>
          </a:p>
        </p:txBody>
      </p:sp>
      <p:sp>
        <p:nvSpPr>
          <p:cNvPr id="19" name="Shape 16"/>
          <p:cNvSpPr/>
          <p:nvPr/>
        </p:nvSpPr>
        <p:spPr>
          <a:xfrm>
            <a:off x="8906256" y="5166360"/>
            <a:ext cx="2651760" cy="868680"/>
          </a:xfrm>
          <a:prstGeom prst="roundRect">
            <a:avLst>
              <a:gd name="adj" fmla="val 8421"/>
            </a:avLst>
          </a:prstGeom>
          <a:solidFill>
            <a:srgbClr val="16335F"/>
          </a:solidFill>
          <a:ln w="12700">
            <a:solidFill>
              <a:srgbClr val="2A4B7C"/>
            </a:solidFill>
            <a:prstDash val="solid"/>
          </a:ln>
        </p:spPr>
      </p:sp>
      <p:sp>
        <p:nvSpPr>
          <p:cNvPr id="20" name="Text 17"/>
          <p:cNvSpPr txBox="1"/>
          <p:nvPr/>
        </p:nvSpPr>
        <p:spPr>
          <a:xfrm>
            <a:off x="9070848" y="5212080"/>
            <a:ext cx="2377440" cy="777240"/>
          </a:xfrm>
          <a:prstGeom prst="rect">
            <a:avLst/>
          </a:prstGeom>
          <a:noFill/>
          <a:ln/>
        </p:spPr>
        <p:txBody>
          <a:bodyPr wrap="square" lIns="0" tIns="0" rIns="0" bIns="0" rtlCol="0" anchor="ctr"/>
          <a:lstStyle/>
          <a:p>
            <a:pPr indent="0" marL="0">
              <a:buNone/>
            </a:pPr>
            <a:r>
              <a:rPr lang="en-US" sz="850" b="1" spc="200" kern="0" dirty="0">
                <a:solidFill>
                  <a:srgbClr val="D4AF37"/>
                </a:solidFill>
                <a:latin typeface="Calibri" pitchFamily="34" charset="0"/>
                <a:cs typeface="Amiri" pitchFamily="2" charset="-78"/>
              </a:rPr>
              <a:t>ON THE WEBSITE</a:t>
            </a:r>
            <a:endParaRPr lang="en-US" sz="850" dirty="0"/>
          </a:p>
          <a:p>
            <a:pPr indent="0" marL="0">
              <a:buNone/>
            </a:pPr>
            <a:r>
              <a:rPr lang="en-US" sz="1200" b="1" dirty="0">
                <a:solidFill>
                  <a:srgbClr val="FFFFFF"/>
                </a:solidFill>
                <a:latin typeface="Calibri" pitchFamily="34" charset="0"/>
                <a:cs typeface="Amiri" pitchFamily="2" charset="-78"/>
              </a:rPr>
              <a:t>Pathways › Foundation › F6 › F6-L06</a:t>
            </a:r>
            <a:endParaRPr lang="en-US" sz="850" dirty="0"/>
          </a:p>
        </p:txBody>
      </p:sp>
    </p:spTree>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name="Slide 2">
    <p:bg>
      <p:bgPr>
        <a:solidFill>
          <a:srgbClr val="FFFDF8"/>
        </a:solidFill>
      </p:bgPr>
    </p:bg>
    <p:spTree>
      <p:nvGrpSpPr>
        <p:cNvPr id="1" name=""/>
        <p:cNvGrpSpPr/>
        <p:nvPr/>
      </p:nvGrpSpPr>
      <p:grpSpPr>
        <a:xfrm>
          <a:off x="0" y="0"/>
          <a:ext cx="0" cy="0"/>
          <a:chOff x="0" y="0"/>
          <a:chExt cx="0" cy="0"/>
        </a:xfrm>
      </p:grpSpPr>
      <p:sp>
        <p:nvSpPr>
          <p:cNvPr id="2" name="Shape 0"/>
          <p:cNvSpPr/>
          <p:nvPr/>
        </p:nvSpPr>
        <p:spPr>
          <a:xfrm>
            <a:off x="457200" y="237744"/>
            <a:ext cx="420624" cy="420624"/>
          </a:xfrm>
          <a:prstGeom prst="ellipse">
            <a:avLst/>
          </a:prstGeom>
          <a:solidFill>
            <a:srgbClr val="1B3B6F"/>
          </a:solidFill>
          <a:ln w="12700">
            <a:solidFill>
              <a:srgbClr val="D4AF37"/>
            </a:solidFill>
            <a:prstDash val="solid"/>
          </a:ln>
        </p:spPr>
      </p:sp>
      <p:sp>
        <p:nvSpPr>
          <p:cNvPr id="3" name="Text 1"/>
          <p:cNvSpPr txBox="1"/>
          <p:nvPr/>
        </p:nvSpPr>
        <p:spPr>
          <a:xfrm>
            <a:off x="457200" y="219456"/>
            <a:ext cx="420624" cy="420624"/>
          </a:xfrm>
          <a:prstGeom prst="rect">
            <a:avLst/>
          </a:prstGeom>
          <a:noFill/>
          <a:ln/>
        </p:spPr>
        <p:txBody>
          <a:bodyPr wrap="square" lIns="0" tIns="0" rIns="0" bIns="0" rtlCol="0" anchor="ctr"/>
          <a:lstStyle/>
          <a:p>
            <a:pPr rtl="1" algn="ctr" indent="0" marL="0">
              <a:buNone/>
            </a:pPr>
            <a:r>
              <a:rPr lang="ar-SA" altLang="en-US" sz="1800" b="1" dirty="0">
                <a:solidFill>
                  <a:srgbClr val="D4AF37"/>
                </a:solidFill>
                <a:latin typeface="Amiri" pitchFamily="2" charset="-78"/>
                <a:ea typeface="Amiri" pitchFamily="2" charset="-78"/>
                <a:cs typeface="Amiri" pitchFamily="2" charset="-78"/>
              </a:rPr>
              <a:t>م</a:t>
            </a:r>
            <a:endParaRPr lang="ar-SA" sz="1800" dirty="0"/>
          </a:p>
        </p:txBody>
      </p:sp>
      <p:sp>
        <p:nvSpPr>
          <p:cNvPr id="4" name="Text 2"/>
          <p:cNvSpPr txBox="1"/>
          <p:nvPr/>
        </p:nvSpPr>
        <p:spPr>
          <a:xfrm>
            <a:off x="960120" y="219456"/>
            <a:ext cx="3657600" cy="256032"/>
          </a:xfrm>
          <a:prstGeom prst="rect">
            <a:avLst/>
          </a:prstGeom>
          <a:noFill/>
          <a:ln/>
        </p:spPr>
        <p:txBody>
          <a:bodyPr wrap="square" lIns="0" tIns="0" rIns="0" bIns="0" rtlCol="0" anchor="ctr"/>
          <a:lstStyle/>
          <a:p>
            <a:pPr indent="0" marL="0">
              <a:buNone/>
            </a:pPr>
            <a:r>
              <a:rPr lang="en-US" sz="1200" b="1" dirty="0">
                <a:solidFill>
                  <a:srgbClr val="1B3B6F"/>
                </a:solidFill>
                <a:latin typeface="Cambria" pitchFamily="34" charset="0"/>
                <a:cs typeface="Amiri" pitchFamily="2" charset="-78"/>
              </a:rPr>
              <a:t>Al Madina Online School</a:t>
            </a:r>
            <a:endParaRPr lang="en-US" sz="1200" dirty="0"/>
          </a:p>
        </p:txBody>
      </p:sp>
      <p:sp>
        <p:nvSpPr>
          <p:cNvPr id="5" name="Text 3"/>
          <p:cNvSpPr txBox="1"/>
          <p:nvPr/>
        </p:nvSpPr>
        <p:spPr>
          <a:xfrm>
            <a:off x="960120" y="457200"/>
            <a:ext cx="4572000" cy="182880"/>
          </a:xfrm>
          <a:prstGeom prst="rect">
            <a:avLst/>
          </a:prstGeom>
          <a:noFill/>
          <a:ln/>
        </p:spPr>
        <p:txBody>
          <a:bodyPr wrap="square" lIns="0" tIns="0" rIns="0" bIns="0" rtlCol="0" anchor="ctr"/>
          <a:lstStyle/>
          <a:p>
            <a:pPr indent="0" marL="0">
              <a:buNone/>
            </a:pPr>
            <a:r>
              <a:rPr lang="en-US" sz="800" b="1" spc="200" kern="0" dirty="0">
                <a:solidFill>
                  <a:srgbClr val="8A6D1E"/>
                </a:solidFill>
                <a:latin typeface="Calibri" pitchFamily="34" charset="0"/>
                <a:cs typeface="Amiri" pitchFamily="2" charset="-78"/>
              </a:rPr>
              <a:t>ARABIC DEPARTMENT · MIFTAH ARABIC · IGCSE 0544</a:t>
            </a:r>
            <a:endParaRPr lang="en-US" sz="800" dirty="0"/>
          </a:p>
        </p:txBody>
      </p:sp>
      <p:sp>
        <p:nvSpPr>
          <p:cNvPr id="6" name="Shape 4"/>
          <p:cNvSpPr/>
          <p:nvPr/>
        </p:nvSpPr>
        <p:spPr>
          <a:xfrm>
            <a:off x="8897112" y="274320"/>
            <a:ext cx="2834640" cy="329184"/>
          </a:xfrm>
          <a:prstGeom prst="roundRect">
            <a:avLst>
              <a:gd name="adj" fmla="val 50000"/>
            </a:avLst>
          </a:prstGeom>
          <a:solidFill>
            <a:srgbClr val="1B3B6F"/>
          </a:solidFill>
          <a:ln w="12700">
            <a:solidFill>
              <a:srgbClr val="1B3B6F"/>
            </a:solidFill>
            <a:prstDash val="solid"/>
          </a:ln>
        </p:spPr>
      </p:sp>
      <p:sp>
        <p:nvSpPr>
          <p:cNvPr id="7" name="Text 5"/>
          <p:cNvSpPr txBox="1"/>
          <p:nvPr/>
        </p:nvSpPr>
        <p:spPr>
          <a:xfrm>
            <a:off x="8897112" y="274320"/>
            <a:ext cx="2834640" cy="329184"/>
          </a:xfrm>
          <a:prstGeom prst="rect">
            <a:avLst/>
          </a:prstGeom>
          <a:noFill/>
          <a:ln/>
        </p:spPr>
        <p:txBody>
          <a:bodyPr wrap="square" lIns="0" tIns="0" rIns="0" bIns="0" rtlCol="0" anchor="ctr"/>
          <a:lstStyle/>
          <a:p>
            <a:pPr algn="ctr" indent="0" marL="0">
              <a:buNone/>
            </a:pPr>
            <a:r>
              <a:rPr lang="en-US" sz="950" b="1" spc="100" kern="0" dirty="0">
                <a:solidFill>
                  <a:srgbClr val="FFFFFF"/>
                </a:solidFill>
                <a:latin typeface="Calibri" pitchFamily="34" charset="0"/>
                <a:cs typeface="Amiri" pitchFamily="2" charset="-78"/>
              </a:rPr>
              <a:t>F6-W03 · Apply workshop</a:t>
            </a:r>
            <a:endParaRPr lang="en-US" sz="950" dirty="0"/>
          </a:p>
        </p:txBody>
      </p:sp>
      <p:sp>
        <p:nvSpPr>
          <p:cNvPr id="8" name="Shape 6"/>
          <p:cNvSpPr/>
          <p:nvPr/>
        </p:nvSpPr>
        <p:spPr>
          <a:xfrm>
            <a:off x="7219188" y="274320"/>
            <a:ext cx="1540764" cy="329184"/>
          </a:xfrm>
          <a:prstGeom prst="roundRect">
            <a:avLst>
              <a:gd name="adj" fmla="val 50000"/>
            </a:avLst>
          </a:prstGeom>
          <a:solidFill>
            <a:srgbClr val="5A6472"/>
          </a:solidFill>
          <a:ln w="12700">
            <a:solidFill>
              <a:srgbClr val="5A6472"/>
            </a:solidFill>
            <a:prstDash val="solid"/>
          </a:ln>
        </p:spPr>
      </p:sp>
      <p:sp>
        <p:nvSpPr>
          <p:cNvPr id="9" name="Text 7"/>
          <p:cNvSpPr txBox="1"/>
          <p:nvPr/>
        </p:nvSpPr>
        <p:spPr>
          <a:xfrm>
            <a:off x="7219188" y="274320"/>
            <a:ext cx="1540764" cy="329184"/>
          </a:xfrm>
          <a:prstGeom prst="rect">
            <a:avLst/>
          </a:prstGeom>
          <a:noFill/>
          <a:ln/>
        </p:spPr>
        <p:txBody>
          <a:bodyPr wrap="square" lIns="0" tIns="0" rIns="0" bIns="0" rtlCol="0" anchor="ctr"/>
          <a:lstStyle/>
          <a:p>
            <a:pPr algn="ctr" indent="0" marL="0">
              <a:buNone/>
            </a:pPr>
            <a:r>
              <a:rPr lang="en-US" sz="900" b="1" spc="100" kern="0" dirty="0">
                <a:solidFill>
                  <a:srgbClr val="FFFFFF"/>
                </a:solidFill>
                <a:latin typeface="Calibri" pitchFamily="34" charset="0"/>
                <a:cs typeface="Amiri" pitchFamily="2" charset="-78"/>
              </a:rPr>
              <a:t>WELCOME · 1 MIN</a:t>
            </a:r>
            <a:endParaRPr lang="en-US" sz="900" dirty="0"/>
          </a:p>
        </p:txBody>
      </p:sp>
      <p:sp>
        <p:nvSpPr>
          <p:cNvPr id="10" name="Text 8"/>
          <p:cNvSpPr txBox="1"/>
          <p:nvPr/>
        </p:nvSpPr>
        <p:spPr>
          <a:xfrm>
            <a:off x="457200" y="822960"/>
            <a:ext cx="6949440" cy="237744"/>
          </a:xfrm>
          <a:prstGeom prst="rect">
            <a:avLst/>
          </a:prstGeom>
          <a:noFill/>
          <a:ln/>
        </p:spPr>
        <p:txBody>
          <a:bodyPr wrap="square" lIns="0" tIns="0" rIns="0" bIns="0" rtlCol="0" anchor="ctr"/>
          <a:lstStyle/>
          <a:p>
            <a:pPr algn="l" indent="0" marL="0">
              <a:buNone/>
            </a:pPr>
            <a:r>
              <a:rPr lang="en-US" sz="1000" b="1" spc="300" kern="0" dirty="0">
                <a:solidFill>
                  <a:srgbClr val="5A6472"/>
                </a:solidFill>
                <a:latin typeface="Calibri" pitchFamily="34" charset="0"/>
                <a:cs typeface="Amiri" pitchFamily="2" charset="-78"/>
              </a:rPr>
              <a:t>BEFORE WE BEGIN</a:t>
            </a:r>
            <a:endParaRPr lang="en-US" sz="1000" dirty="0"/>
          </a:p>
        </p:txBody>
      </p:sp>
      <p:sp>
        <p:nvSpPr>
          <p:cNvPr id="11" name="Text 9"/>
          <p:cNvSpPr txBox="1"/>
          <p:nvPr/>
        </p:nvSpPr>
        <p:spPr>
          <a:xfrm>
            <a:off x="457200" y="1033272"/>
            <a:ext cx="6949440" cy="566928"/>
          </a:xfrm>
          <a:prstGeom prst="rect">
            <a:avLst/>
          </a:prstGeom>
          <a:noFill/>
          <a:ln/>
        </p:spPr>
        <p:txBody>
          <a:bodyPr wrap="square" lIns="0" tIns="0" rIns="0" bIns="0" rtlCol="0" anchor="ctr"/>
          <a:lstStyle/>
          <a:p>
            <a:pPr algn="l" indent="0" marL="0">
              <a:buNone/>
            </a:pPr>
            <a:r>
              <a:rPr lang="en-US" sz="2800" b="1" dirty="0">
                <a:solidFill>
                  <a:srgbClr val="1B3B6F"/>
                </a:solidFill>
                <a:latin typeface="Cambria" pitchFamily="34" charset="0"/>
                <a:cs typeface="Amiri" pitchFamily="2" charset="-78"/>
              </a:rPr>
              <a:t>Our online classroom</a:t>
            </a:r>
            <a:endParaRPr lang="en-US" sz="2800" dirty="0"/>
          </a:p>
        </p:txBody>
      </p:sp>
      <p:sp>
        <p:nvSpPr>
          <p:cNvPr id="12" name="Text 10"/>
          <p:cNvSpPr txBox="1"/>
          <p:nvPr/>
        </p:nvSpPr>
        <p:spPr>
          <a:xfrm>
            <a:off x="7498080" y="868680"/>
            <a:ext cx="4233672" cy="749808"/>
          </a:xfrm>
          <a:prstGeom prst="rect">
            <a:avLst/>
          </a:prstGeom>
          <a:noFill/>
          <a:ln/>
        </p:spPr>
        <p:txBody>
          <a:bodyPr wrap="square" lIns="0" tIns="0" rIns="0" bIns="0" rtlCol="0" anchor="ctr"/>
          <a:lstStyle/>
          <a:p>
            <a:pPr rtl="1" algn="r" indent="0" marL="0">
              <a:buNone/>
            </a:pPr>
            <a:r>
              <a:rPr lang="ar-SA" altLang="en-US" sz="2800" b="1" dirty="0">
                <a:solidFill>
                  <a:srgbClr val="8A6D1E"/>
                </a:solidFill>
                <a:latin typeface="Amiri" pitchFamily="2" charset="-78"/>
                <a:ea typeface="Amiri" pitchFamily="2" charset="-78"/>
                <a:cs typeface="Amiri" pitchFamily="2" charset="-78"/>
              </a:rPr>
              <a:t>آدَابُ الصَّفِّ</a:t>
            </a:r>
            <a:endParaRPr lang="ar-SA" sz="2800" dirty="0"/>
          </a:p>
        </p:txBody>
      </p:sp>
      <p:sp>
        <p:nvSpPr>
          <p:cNvPr id="13" name="Text 11"/>
          <p:cNvSpPr txBox="1"/>
          <p:nvPr/>
        </p:nvSpPr>
        <p:spPr>
          <a:xfrm>
            <a:off x="457200" y="6455664"/>
            <a:ext cx="6400800" cy="219456"/>
          </a:xfrm>
          <a:prstGeom prst="rect">
            <a:avLst/>
          </a:prstGeom>
          <a:noFill/>
          <a:ln/>
        </p:spPr>
        <p:txBody>
          <a:bodyPr wrap="square" lIns="0" tIns="0" rIns="0" bIns="0" rtlCol="0" anchor="ctr"/>
          <a:lstStyle/>
          <a:p>
            <a:pPr indent="0" marL="0">
              <a:buNone/>
            </a:pPr>
            <a:r>
              <a:rPr lang="en-US" sz="850" dirty="0">
                <a:solidFill>
                  <a:srgbClr val="8A93A0"/>
                </a:solidFill>
                <a:latin typeface="Calibri" pitchFamily="34" charset="0"/>
                <a:cs typeface="Amiri" pitchFamily="2" charset="-78"/>
              </a:rPr>
              <a:t>Miftah Arabic · Foundation F6 · My Town and Transport · F6-W03 · Apply workshop (F6-L05 + F6-L06)</a:t>
            </a:r>
            <a:endParaRPr lang="en-US" sz="850" dirty="0"/>
          </a:p>
        </p:txBody>
      </p:sp>
      <p:sp>
        <p:nvSpPr>
          <p:cNvPr id="15" name="Shape 12"/>
          <p:cNvSpPr/>
          <p:nvPr/>
        </p:nvSpPr>
        <p:spPr>
          <a:xfrm>
            <a:off x="457200" y="1828800"/>
            <a:ext cx="5394960" cy="932688"/>
          </a:xfrm>
          <a:prstGeom prst="roundRect">
            <a:avLst>
              <a:gd name="adj" fmla="val 7843"/>
            </a:avLst>
          </a:prstGeom>
          <a:solidFill>
            <a:srgbClr val="FFFFFF"/>
          </a:solidFill>
          <a:ln w="9525">
            <a:solidFill>
              <a:srgbClr val="D8D0BF"/>
            </a:solidFill>
            <a:prstDash val="solid"/>
          </a:ln>
          <a:effectLst>
            <a:outerShdw sx="100000" sy="100000" kx="0" ky="0" algn="bl" rotWithShape="0" blurRad="50800" dist="19050" dir="5400000">
              <a:srgbClr val="000000">
                <a:alpha val="10000"/>
              </a:srgbClr>
            </a:outerShdw>
          </a:effectLst>
        </p:spPr>
      </p:sp>
      <p:sp>
        <p:nvSpPr>
          <p:cNvPr id="16" name="Shape 13"/>
          <p:cNvSpPr/>
          <p:nvPr/>
        </p:nvSpPr>
        <p:spPr>
          <a:xfrm>
            <a:off x="640080" y="2002536"/>
            <a:ext cx="585216" cy="585216"/>
          </a:xfrm>
          <a:prstGeom prst="ellipse">
            <a:avLst/>
          </a:prstGeom>
          <a:solidFill>
            <a:srgbClr val="EEF3FA"/>
          </a:solidFill>
          <a:ln w="12700">
            <a:solidFill>
              <a:srgbClr val="EEF3FA"/>
            </a:solidFill>
            <a:prstDash val="solid"/>
          </a:ln>
        </p:spPr>
      </p:sp>
      <p:pic>
        <p:nvPicPr>
          <p:cNvPr id="17" name="Image 0" descr="preencoded.png">    </p:cNvPr>
          <p:cNvPicPr>
            <a:picLocks noChangeAspect="1"/>
          </p:cNvPicPr>
          <p:nvPr/>
        </p:nvPicPr>
        <p:blipFill>
          <a:blip r:embed="rId1"/>
          <a:stretch>
            <a:fillRect/>
          </a:stretch>
        </p:blipFill>
        <p:spPr>
          <a:xfrm>
            <a:off x="777240" y="2139696"/>
            <a:ext cx="310896" cy="310896"/>
          </a:xfrm>
          <a:prstGeom prst="rect">
            <a:avLst/>
          </a:prstGeom>
        </p:spPr>
      </p:pic>
      <p:sp>
        <p:nvSpPr>
          <p:cNvPr id="18" name="Text 14"/>
          <p:cNvSpPr txBox="1"/>
          <p:nvPr/>
        </p:nvSpPr>
        <p:spPr>
          <a:xfrm>
            <a:off x="1371600" y="1901952"/>
            <a:ext cx="4389120" cy="786384"/>
          </a:xfrm>
          <a:prstGeom prst="rect">
            <a:avLst/>
          </a:prstGeom>
          <a:noFill/>
          <a:ln/>
        </p:spPr>
        <p:txBody>
          <a:bodyPr wrap="square" lIns="0" tIns="0" rIns="0" bIns="0" rtlCol="0" anchor="ctr"/>
          <a:lstStyle/>
          <a:p>
            <a:pPr indent="0" marL="0">
              <a:buNone/>
            </a:pPr>
            <a:r>
              <a:rPr lang="en-US" sz="1500" b="1" dirty="0">
                <a:solidFill>
                  <a:srgbClr val="1B3B6F"/>
                </a:solidFill>
                <a:latin typeface="Calibri" pitchFamily="34" charset="0"/>
                <a:cs typeface="Amiri" pitchFamily="2" charset="-78"/>
              </a:rPr>
              <a:t>Camera on</a:t>
            </a:r>
            <a:endParaRPr lang="en-US" sz="1500" dirty="0"/>
          </a:p>
          <a:p>
            <a:pPr indent="0" marL="0">
              <a:buNone/>
            </a:pPr>
            <a:r>
              <a:rPr lang="en-US" sz="1150" dirty="0">
                <a:solidFill>
                  <a:srgbClr val="5A6472"/>
                </a:solidFill>
                <a:latin typeface="Calibri" pitchFamily="34" charset="0"/>
                <a:cs typeface="Amiri" pitchFamily="2" charset="-78"/>
              </a:rPr>
              <a:t>So I can see you learning and help you quickly.</a:t>
            </a:r>
            <a:endParaRPr lang="en-US" sz="1500" dirty="0"/>
          </a:p>
        </p:txBody>
      </p:sp>
      <p:sp>
        <p:nvSpPr>
          <p:cNvPr id="19" name="Shape 15"/>
          <p:cNvSpPr/>
          <p:nvPr/>
        </p:nvSpPr>
        <p:spPr>
          <a:xfrm>
            <a:off x="457200" y="2907792"/>
            <a:ext cx="5394960" cy="932688"/>
          </a:xfrm>
          <a:prstGeom prst="roundRect">
            <a:avLst>
              <a:gd name="adj" fmla="val 7843"/>
            </a:avLst>
          </a:prstGeom>
          <a:solidFill>
            <a:srgbClr val="FFFFFF"/>
          </a:solidFill>
          <a:ln w="9525">
            <a:solidFill>
              <a:srgbClr val="D8D0BF"/>
            </a:solidFill>
            <a:prstDash val="solid"/>
          </a:ln>
          <a:effectLst>
            <a:outerShdw sx="100000" sy="100000" kx="0" ky="0" algn="bl" rotWithShape="0" blurRad="50800" dist="19050" dir="5400000">
              <a:srgbClr val="000000">
                <a:alpha val="10000"/>
              </a:srgbClr>
            </a:outerShdw>
          </a:effectLst>
        </p:spPr>
      </p:sp>
      <p:sp>
        <p:nvSpPr>
          <p:cNvPr id="20" name="Shape 16"/>
          <p:cNvSpPr/>
          <p:nvPr/>
        </p:nvSpPr>
        <p:spPr>
          <a:xfrm>
            <a:off x="640080" y="3081528"/>
            <a:ext cx="585216" cy="585216"/>
          </a:xfrm>
          <a:prstGeom prst="ellipse">
            <a:avLst/>
          </a:prstGeom>
          <a:solidFill>
            <a:srgbClr val="EEF3FA"/>
          </a:solidFill>
          <a:ln w="12700">
            <a:solidFill>
              <a:srgbClr val="EEF3FA"/>
            </a:solidFill>
            <a:prstDash val="solid"/>
          </a:ln>
        </p:spPr>
      </p:sp>
      <p:pic>
        <p:nvPicPr>
          <p:cNvPr id="21" name="Image 1" descr="preencoded.png">    </p:cNvPr>
          <p:cNvPicPr>
            <a:picLocks noChangeAspect="1"/>
          </p:cNvPicPr>
          <p:nvPr/>
        </p:nvPicPr>
        <p:blipFill>
          <a:blip r:embed="rId2"/>
          <a:stretch>
            <a:fillRect/>
          </a:stretch>
        </p:blipFill>
        <p:spPr>
          <a:xfrm>
            <a:off x="777240" y="3218688"/>
            <a:ext cx="310896" cy="310896"/>
          </a:xfrm>
          <a:prstGeom prst="rect">
            <a:avLst/>
          </a:prstGeom>
        </p:spPr>
      </p:pic>
      <p:sp>
        <p:nvSpPr>
          <p:cNvPr id="22" name="Text 17"/>
          <p:cNvSpPr txBox="1"/>
          <p:nvPr/>
        </p:nvSpPr>
        <p:spPr>
          <a:xfrm>
            <a:off x="1371600" y="2980944"/>
            <a:ext cx="4389120" cy="786384"/>
          </a:xfrm>
          <a:prstGeom prst="rect">
            <a:avLst/>
          </a:prstGeom>
          <a:noFill/>
          <a:ln/>
        </p:spPr>
        <p:txBody>
          <a:bodyPr wrap="square" lIns="0" tIns="0" rIns="0" bIns="0" rtlCol="0" anchor="ctr"/>
          <a:lstStyle/>
          <a:p>
            <a:pPr indent="0" marL="0">
              <a:buNone/>
            </a:pPr>
            <a:r>
              <a:rPr lang="en-US" sz="1500" b="1" dirty="0">
                <a:solidFill>
                  <a:srgbClr val="1B3B6F"/>
                </a:solidFill>
                <a:latin typeface="Calibri" pitchFamily="34" charset="0"/>
                <a:cs typeface="Amiri" pitchFamily="2" charset="-78"/>
              </a:rPr>
              <a:t>Mic muted</a:t>
            </a:r>
            <a:endParaRPr lang="en-US" sz="1500" dirty="0"/>
          </a:p>
          <a:p>
            <a:pPr indent="0" marL="0">
              <a:buNone/>
            </a:pPr>
            <a:r>
              <a:rPr lang="en-US" sz="1150" dirty="0">
                <a:solidFill>
                  <a:srgbClr val="5A6472"/>
                </a:solidFill>
                <a:latin typeface="Calibri" pitchFamily="34" charset="0"/>
                <a:cs typeface="Amiri" pitchFamily="2" charset="-78"/>
              </a:rPr>
              <a:t>Unmute only when invited to speak.</a:t>
            </a:r>
            <a:endParaRPr lang="en-US" sz="1500" dirty="0"/>
          </a:p>
        </p:txBody>
      </p:sp>
      <p:sp>
        <p:nvSpPr>
          <p:cNvPr id="23" name="Shape 18"/>
          <p:cNvSpPr/>
          <p:nvPr/>
        </p:nvSpPr>
        <p:spPr>
          <a:xfrm>
            <a:off x="457200" y="3986784"/>
            <a:ext cx="5394960" cy="932688"/>
          </a:xfrm>
          <a:prstGeom prst="roundRect">
            <a:avLst>
              <a:gd name="adj" fmla="val 7843"/>
            </a:avLst>
          </a:prstGeom>
          <a:solidFill>
            <a:srgbClr val="FFFFFF"/>
          </a:solidFill>
          <a:ln w="9525">
            <a:solidFill>
              <a:srgbClr val="D8D0BF"/>
            </a:solidFill>
            <a:prstDash val="solid"/>
          </a:ln>
          <a:effectLst>
            <a:outerShdw sx="100000" sy="100000" kx="0" ky="0" algn="bl" rotWithShape="0" blurRad="50800" dist="19050" dir="5400000">
              <a:srgbClr val="000000">
                <a:alpha val="10000"/>
              </a:srgbClr>
            </a:outerShdw>
          </a:effectLst>
        </p:spPr>
      </p:sp>
      <p:sp>
        <p:nvSpPr>
          <p:cNvPr id="24" name="Shape 19"/>
          <p:cNvSpPr/>
          <p:nvPr/>
        </p:nvSpPr>
        <p:spPr>
          <a:xfrm>
            <a:off x="640080" y="4160520"/>
            <a:ext cx="585216" cy="585216"/>
          </a:xfrm>
          <a:prstGeom prst="ellipse">
            <a:avLst/>
          </a:prstGeom>
          <a:solidFill>
            <a:srgbClr val="EEF3FA"/>
          </a:solidFill>
          <a:ln w="12700">
            <a:solidFill>
              <a:srgbClr val="EEF3FA"/>
            </a:solidFill>
            <a:prstDash val="solid"/>
          </a:ln>
        </p:spPr>
      </p:sp>
      <p:pic>
        <p:nvPicPr>
          <p:cNvPr id="25" name="Image 2" descr="preencoded.png">    </p:cNvPr>
          <p:cNvPicPr>
            <a:picLocks noChangeAspect="1"/>
          </p:cNvPicPr>
          <p:nvPr/>
        </p:nvPicPr>
        <p:blipFill>
          <a:blip r:embed="rId3"/>
          <a:stretch>
            <a:fillRect/>
          </a:stretch>
        </p:blipFill>
        <p:spPr>
          <a:xfrm>
            <a:off x="777240" y="4297680"/>
            <a:ext cx="310896" cy="310896"/>
          </a:xfrm>
          <a:prstGeom prst="rect">
            <a:avLst/>
          </a:prstGeom>
        </p:spPr>
      </p:pic>
      <p:sp>
        <p:nvSpPr>
          <p:cNvPr id="26" name="Text 20"/>
          <p:cNvSpPr txBox="1"/>
          <p:nvPr/>
        </p:nvSpPr>
        <p:spPr>
          <a:xfrm>
            <a:off x="1371600" y="4059936"/>
            <a:ext cx="4389120" cy="786384"/>
          </a:xfrm>
          <a:prstGeom prst="rect">
            <a:avLst/>
          </a:prstGeom>
          <a:noFill/>
          <a:ln/>
        </p:spPr>
        <p:txBody>
          <a:bodyPr wrap="square" lIns="0" tIns="0" rIns="0" bIns="0" rtlCol="0" anchor="ctr"/>
          <a:lstStyle/>
          <a:p>
            <a:pPr indent="0" marL="0">
              <a:buNone/>
            </a:pPr>
            <a:r>
              <a:rPr lang="en-US" sz="1500" b="1" dirty="0">
                <a:solidFill>
                  <a:srgbClr val="1B3B6F"/>
                </a:solidFill>
                <a:latin typeface="Calibri" pitchFamily="34" charset="0"/>
                <a:cs typeface="Amiri" pitchFamily="2" charset="-78"/>
              </a:rPr>
              <a:t>Chat for learning</a:t>
            </a:r>
            <a:endParaRPr lang="en-US" sz="1500" dirty="0"/>
          </a:p>
          <a:p>
            <a:pPr indent="0" marL="0">
              <a:buNone/>
            </a:pPr>
            <a:r>
              <a:rPr lang="en-US" sz="1150" dirty="0">
                <a:solidFill>
                  <a:srgbClr val="5A6472"/>
                </a:solidFill>
                <a:latin typeface="Calibri" pitchFamily="34" charset="0"/>
                <a:cs typeface="Amiri" pitchFamily="2" charset="-78"/>
              </a:rPr>
              <a:t>Answers, questions and Arabic only.</a:t>
            </a:r>
            <a:endParaRPr lang="en-US" sz="1500" dirty="0"/>
          </a:p>
        </p:txBody>
      </p:sp>
      <p:sp>
        <p:nvSpPr>
          <p:cNvPr id="27" name="Shape 21"/>
          <p:cNvSpPr/>
          <p:nvPr/>
        </p:nvSpPr>
        <p:spPr>
          <a:xfrm>
            <a:off x="457200" y="5065776"/>
            <a:ext cx="5394960" cy="932688"/>
          </a:xfrm>
          <a:prstGeom prst="roundRect">
            <a:avLst>
              <a:gd name="adj" fmla="val 7843"/>
            </a:avLst>
          </a:prstGeom>
          <a:solidFill>
            <a:srgbClr val="FFFFFF"/>
          </a:solidFill>
          <a:ln w="9525">
            <a:solidFill>
              <a:srgbClr val="D8D0BF"/>
            </a:solidFill>
            <a:prstDash val="solid"/>
          </a:ln>
          <a:effectLst>
            <a:outerShdw sx="100000" sy="100000" kx="0" ky="0" algn="bl" rotWithShape="0" blurRad="50800" dist="19050" dir="5400000">
              <a:srgbClr val="000000">
                <a:alpha val="10000"/>
              </a:srgbClr>
            </a:outerShdw>
          </a:effectLst>
        </p:spPr>
      </p:sp>
      <p:sp>
        <p:nvSpPr>
          <p:cNvPr id="28" name="Shape 22"/>
          <p:cNvSpPr/>
          <p:nvPr/>
        </p:nvSpPr>
        <p:spPr>
          <a:xfrm>
            <a:off x="640080" y="5239512"/>
            <a:ext cx="585216" cy="585216"/>
          </a:xfrm>
          <a:prstGeom prst="ellipse">
            <a:avLst/>
          </a:prstGeom>
          <a:solidFill>
            <a:srgbClr val="EEF3FA"/>
          </a:solidFill>
          <a:ln w="12700">
            <a:solidFill>
              <a:srgbClr val="EEF3FA"/>
            </a:solidFill>
            <a:prstDash val="solid"/>
          </a:ln>
        </p:spPr>
      </p:sp>
      <p:pic>
        <p:nvPicPr>
          <p:cNvPr id="29" name="Image 3" descr="preencoded.png">    </p:cNvPr>
          <p:cNvPicPr>
            <a:picLocks noChangeAspect="1"/>
          </p:cNvPicPr>
          <p:nvPr/>
        </p:nvPicPr>
        <p:blipFill>
          <a:blip r:embed="rId4"/>
          <a:stretch>
            <a:fillRect/>
          </a:stretch>
        </p:blipFill>
        <p:spPr>
          <a:xfrm>
            <a:off x="777240" y="5376672"/>
            <a:ext cx="310896" cy="310896"/>
          </a:xfrm>
          <a:prstGeom prst="rect">
            <a:avLst/>
          </a:prstGeom>
        </p:spPr>
      </p:pic>
      <p:sp>
        <p:nvSpPr>
          <p:cNvPr id="30" name="Text 23"/>
          <p:cNvSpPr txBox="1"/>
          <p:nvPr/>
        </p:nvSpPr>
        <p:spPr>
          <a:xfrm>
            <a:off x="1371600" y="5138928"/>
            <a:ext cx="4389120" cy="786384"/>
          </a:xfrm>
          <a:prstGeom prst="rect">
            <a:avLst/>
          </a:prstGeom>
          <a:noFill/>
          <a:ln/>
        </p:spPr>
        <p:txBody>
          <a:bodyPr wrap="square" lIns="0" tIns="0" rIns="0" bIns="0" rtlCol="0" anchor="ctr"/>
          <a:lstStyle/>
          <a:p>
            <a:pPr indent="0" marL="0">
              <a:buNone/>
            </a:pPr>
            <a:r>
              <a:rPr lang="en-US" sz="1500" b="1" dirty="0">
                <a:solidFill>
                  <a:srgbClr val="1B3B6F"/>
                </a:solidFill>
                <a:latin typeface="Calibri" pitchFamily="34" charset="0"/>
                <a:cs typeface="Amiri" pitchFamily="2" charset="-78"/>
              </a:rPr>
              <a:t>Raise your hand</a:t>
            </a:r>
            <a:endParaRPr lang="en-US" sz="1500" dirty="0"/>
          </a:p>
          <a:p>
            <a:pPr indent="0" marL="0">
              <a:buNone/>
            </a:pPr>
            <a:r>
              <a:rPr lang="en-US" sz="1150" dirty="0">
                <a:solidFill>
                  <a:srgbClr val="5A6472"/>
                </a:solidFill>
                <a:latin typeface="Calibri" pitchFamily="34" charset="0"/>
                <a:cs typeface="Amiri" pitchFamily="2" charset="-78"/>
              </a:rPr>
              <a:t>Use the hand button to ask for help.</a:t>
            </a:r>
            <a:endParaRPr lang="en-US" sz="1500" dirty="0"/>
          </a:p>
        </p:txBody>
      </p:sp>
      <p:sp>
        <p:nvSpPr>
          <p:cNvPr id="31" name="Shape 24"/>
          <p:cNvSpPr/>
          <p:nvPr/>
        </p:nvSpPr>
        <p:spPr>
          <a:xfrm>
            <a:off x="6172200" y="1828800"/>
            <a:ext cx="5559552" cy="4169664"/>
          </a:xfrm>
          <a:prstGeom prst="roundRect">
            <a:avLst>
              <a:gd name="adj" fmla="val 1754"/>
            </a:avLst>
          </a:prstGeom>
          <a:solidFill>
            <a:srgbClr val="F7F9FC"/>
          </a:solidFill>
          <a:ln w="9525">
            <a:solidFill>
              <a:srgbClr val="C9D6EA"/>
            </a:solidFill>
            <a:prstDash val="solid"/>
          </a:ln>
          <a:effectLst>
            <a:outerShdw sx="100000" sy="100000" kx="0" ky="0" algn="bl" rotWithShape="0" blurRad="50800" dist="19050" dir="5400000">
              <a:srgbClr val="000000">
                <a:alpha val="10000"/>
              </a:srgbClr>
            </a:outerShdw>
          </a:effectLst>
        </p:spPr>
      </p:sp>
      <p:sp>
        <p:nvSpPr>
          <p:cNvPr id="32" name="Text 25"/>
          <p:cNvSpPr txBox="1"/>
          <p:nvPr/>
        </p:nvSpPr>
        <p:spPr>
          <a:xfrm>
            <a:off x="6400800" y="1938528"/>
            <a:ext cx="5102352" cy="310896"/>
          </a:xfrm>
          <a:prstGeom prst="rect">
            <a:avLst/>
          </a:prstGeom>
          <a:noFill/>
          <a:ln/>
        </p:spPr>
        <p:txBody>
          <a:bodyPr wrap="square" lIns="0" tIns="0" rIns="0" bIns="0" rtlCol="0" anchor="ctr"/>
          <a:lstStyle/>
          <a:p>
            <a:pPr algn="l" indent="0" marL="0">
              <a:buNone/>
            </a:pPr>
            <a:r>
              <a:rPr lang="en-US" sz="1100" b="1" spc="200" kern="0" dirty="0">
                <a:solidFill>
                  <a:srgbClr val="1B3B6F"/>
                </a:solidFill>
                <a:latin typeface="Calibri" pitchFamily="34" charset="0"/>
                <a:cs typeface="Amiri" pitchFamily="2" charset="-78"/>
              </a:rPr>
              <a:t>HOW WE TALK — THE ORACY CODE</a:t>
            </a:r>
            <a:endParaRPr lang="en-US" sz="1100" dirty="0"/>
          </a:p>
        </p:txBody>
      </p:sp>
      <p:sp>
        <p:nvSpPr>
          <p:cNvPr id="33" name="Shape 26"/>
          <p:cNvSpPr/>
          <p:nvPr/>
        </p:nvSpPr>
        <p:spPr>
          <a:xfrm>
            <a:off x="6400800" y="2450592"/>
            <a:ext cx="548640" cy="548640"/>
          </a:xfrm>
          <a:prstGeom prst="ellipse">
            <a:avLst/>
          </a:prstGeom>
          <a:solidFill>
            <a:srgbClr val="1B3B6F"/>
          </a:solidFill>
          <a:ln w="12700">
            <a:solidFill>
              <a:srgbClr val="1B3B6F"/>
            </a:solidFill>
            <a:prstDash val="solid"/>
          </a:ln>
        </p:spPr>
      </p:sp>
      <p:sp>
        <p:nvSpPr>
          <p:cNvPr id="34" name="Text 27"/>
          <p:cNvSpPr txBox="1"/>
          <p:nvPr/>
        </p:nvSpPr>
        <p:spPr>
          <a:xfrm>
            <a:off x="6400800" y="2450592"/>
            <a:ext cx="548640" cy="548640"/>
          </a:xfrm>
          <a:prstGeom prst="rect">
            <a:avLst/>
          </a:prstGeom>
          <a:noFill/>
          <a:ln/>
        </p:spPr>
        <p:txBody>
          <a:bodyPr wrap="square" lIns="0" tIns="0" rIns="0" bIns="0" rtlCol="0" anchor="ctr"/>
          <a:lstStyle/>
          <a:p>
            <a:pPr algn="ctr" indent="0" marL="0">
              <a:buNone/>
            </a:pPr>
            <a:r>
              <a:rPr lang="en-US" sz="1800" b="1" dirty="0">
                <a:solidFill>
                  <a:srgbClr val="D4AF37"/>
                </a:solidFill>
                <a:latin typeface="Arial" pitchFamily="34" charset="0"/>
                <a:cs typeface="Amiri" pitchFamily="2" charset="-78"/>
              </a:rPr>
              <a:t>●</a:t>
            </a:r>
            <a:endParaRPr lang="en-US" sz="1800" dirty="0"/>
          </a:p>
        </p:txBody>
      </p:sp>
      <p:sp>
        <p:nvSpPr>
          <p:cNvPr id="35" name="Text 28"/>
          <p:cNvSpPr txBox="1"/>
          <p:nvPr/>
        </p:nvSpPr>
        <p:spPr>
          <a:xfrm>
            <a:off x="7059168" y="2377440"/>
            <a:ext cx="2011680" cy="694944"/>
          </a:xfrm>
          <a:prstGeom prst="rect">
            <a:avLst/>
          </a:prstGeom>
          <a:noFill/>
          <a:ln/>
        </p:spPr>
        <p:txBody>
          <a:bodyPr wrap="square" lIns="0" tIns="0" rIns="0" bIns="0" rtlCol="0" anchor="ctr"/>
          <a:lstStyle/>
          <a:p>
            <a:pPr indent="0" marL="0">
              <a:buNone/>
            </a:pPr>
            <a:r>
              <a:rPr lang="en-US" sz="1400" b="1" dirty="0">
                <a:solidFill>
                  <a:srgbClr val="1B3B6F"/>
                </a:solidFill>
                <a:latin typeface="Calibri" pitchFamily="34" charset="0"/>
                <a:cs typeface="Amiri" pitchFamily="2" charset="-78"/>
              </a:rPr>
              <a:t>Think</a:t>
            </a:r>
            <a:endParaRPr lang="en-US" sz="1400" dirty="0"/>
          </a:p>
          <a:p>
            <a:pPr indent="0" marL="0">
              <a:buNone/>
            </a:pPr>
            <a:r>
              <a:rPr lang="en-US" sz="1100" dirty="0">
                <a:solidFill>
                  <a:srgbClr val="5A6472"/>
                </a:solidFill>
                <a:latin typeface="Calibri" pitchFamily="34" charset="0"/>
                <a:cs typeface="Amiri" pitchFamily="2" charset="-78"/>
              </a:rPr>
              <a:t>silent preparation</a:t>
            </a:r>
            <a:endParaRPr lang="en-US" sz="1400" dirty="0"/>
          </a:p>
        </p:txBody>
      </p:sp>
      <p:sp>
        <p:nvSpPr>
          <p:cNvPr id="36" name="Shape 29"/>
          <p:cNvSpPr/>
          <p:nvPr/>
        </p:nvSpPr>
        <p:spPr>
          <a:xfrm>
            <a:off x="8997696" y="2450592"/>
            <a:ext cx="548640" cy="548640"/>
          </a:xfrm>
          <a:prstGeom prst="ellipse">
            <a:avLst/>
          </a:prstGeom>
          <a:solidFill>
            <a:srgbClr val="1B3B6F"/>
          </a:solidFill>
          <a:ln w="12700">
            <a:solidFill>
              <a:srgbClr val="1B3B6F"/>
            </a:solidFill>
            <a:prstDash val="solid"/>
          </a:ln>
        </p:spPr>
      </p:sp>
      <p:sp>
        <p:nvSpPr>
          <p:cNvPr id="37" name="Text 30"/>
          <p:cNvSpPr txBox="1"/>
          <p:nvPr/>
        </p:nvSpPr>
        <p:spPr>
          <a:xfrm>
            <a:off x="8997696" y="2450592"/>
            <a:ext cx="548640" cy="548640"/>
          </a:xfrm>
          <a:prstGeom prst="rect">
            <a:avLst/>
          </a:prstGeom>
          <a:noFill/>
          <a:ln/>
        </p:spPr>
        <p:txBody>
          <a:bodyPr wrap="square" lIns="0" tIns="0" rIns="0" bIns="0" rtlCol="0" anchor="ctr"/>
          <a:lstStyle/>
          <a:p>
            <a:pPr algn="ctr" indent="0" marL="0">
              <a:buNone/>
            </a:pPr>
            <a:r>
              <a:rPr lang="en-US" sz="1800" b="1" dirty="0">
                <a:solidFill>
                  <a:srgbClr val="D4AF37"/>
                </a:solidFill>
                <a:latin typeface="Arial" pitchFamily="34" charset="0"/>
                <a:cs typeface="Amiri" pitchFamily="2" charset="-78"/>
              </a:rPr>
              <a:t>↔</a:t>
            </a:r>
            <a:endParaRPr lang="en-US" sz="1800" dirty="0"/>
          </a:p>
        </p:txBody>
      </p:sp>
      <p:sp>
        <p:nvSpPr>
          <p:cNvPr id="38" name="Text 31"/>
          <p:cNvSpPr txBox="1"/>
          <p:nvPr/>
        </p:nvSpPr>
        <p:spPr>
          <a:xfrm>
            <a:off x="9656064" y="2377440"/>
            <a:ext cx="2011680" cy="694944"/>
          </a:xfrm>
          <a:prstGeom prst="rect">
            <a:avLst/>
          </a:prstGeom>
          <a:noFill/>
          <a:ln/>
        </p:spPr>
        <p:txBody>
          <a:bodyPr wrap="square" lIns="0" tIns="0" rIns="0" bIns="0" rtlCol="0" anchor="ctr"/>
          <a:lstStyle/>
          <a:p>
            <a:pPr indent="0" marL="0">
              <a:buNone/>
            </a:pPr>
            <a:r>
              <a:rPr lang="en-US" sz="1400" b="1" dirty="0">
                <a:solidFill>
                  <a:srgbClr val="1B3B6F"/>
                </a:solidFill>
                <a:latin typeface="Calibri" pitchFamily="34" charset="0"/>
                <a:cs typeface="Amiri" pitchFamily="2" charset="-78"/>
              </a:rPr>
              <a:t>Rehearse</a:t>
            </a:r>
            <a:endParaRPr lang="en-US" sz="1400" dirty="0"/>
          </a:p>
          <a:p>
            <a:pPr indent="0" marL="0">
              <a:buNone/>
            </a:pPr>
            <a:r>
              <a:rPr lang="en-US" sz="1100" dirty="0">
                <a:solidFill>
                  <a:srgbClr val="5A6472"/>
                </a:solidFill>
                <a:latin typeface="Calibri" pitchFamily="34" charset="0"/>
                <a:cs typeface="Amiri" pitchFamily="2" charset="-78"/>
              </a:rPr>
              <a:t>both partners speak</a:t>
            </a:r>
            <a:endParaRPr lang="en-US" sz="1400" dirty="0"/>
          </a:p>
        </p:txBody>
      </p:sp>
      <p:sp>
        <p:nvSpPr>
          <p:cNvPr id="39" name="Shape 32"/>
          <p:cNvSpPr/>
          <p:nvPr/>
        </p:nvSpPr>
        <p:spPr>
          <a:xfrm>
            <a:off x="6400800" y="3364992"/>
            <a:ext cx="548640" cy="548640"/>
          </a:xfrm>
          <a:prstGeom prst="ellipse">
            <a:avLst/>
          </a:prstGeom>
          <a:solidFill>
            <a:srgbClr val="1B3B6F"/>
          </a:solidFill>
          <a:ln w="12700">
            <a:solidFill>
              <a:srgbClr val="1B3B6F"/>
            </a:solidFill>
            <a:prstDash val="solid"/>
          </a:ln>
        </p:spPr>
      </p:sp>
      <p:sp>
        <p:nvSpPr>
          <p:cNvPr id="40" name="Text 33"/>
          <p:cNvSpPr txBox="1"/>
          <p:nvPr/>
        </p:nvSpPr>
        <p:spPr>
          <a:xfrm>
            <a:off x="6400800" y="3364992"/>
            <a:ext cx="548640" cy="548640"/>
          </a:xfrm>
          <a:prstGeom prst="rect">
            <a:avLst/>
          </a:prstGeom>
          <a:noFill/>
          <a:ln/>
        </p:spPr>
        <p:txBody>
          <a:bodyPr wrap="square" lIns="0" tIns="0" rIns="0" bIns="0" rtlCol="0" anchor="ctr"/>
          <a:lstStyle/>
          <a:p>
            <a:pPr algn="ctr" indent="0" marL="0">
              <a:buNone/>
            </a:pPr>
            <a:r>
              <a:rPr lang="en-US" sz="1800" b="1" dirty="0">
                <a:solidFill>
                  <a:srgbClr val="D4AF37"/>
                </a:solidFill>
                <a:latin typeface="Arial" pitchFamily="34" charset="0"/>
                <a:cs typeface="Amiri" pitchFamily="2" charset="-78"/>
              </a:rPr>
              <a:t>+</a:t>
            </a:r>
            <a:endParaRPr lang="en-US" sz="1800" dirty="0"/>
          </a:p>
        </p:txBody>
      </p:sp>
      <p:sp>
        <p:nvSpPr>
          <p:cNvPr id="41" name="Text 34"/>
          <p:cNvSpPr txBox="1"/>
          <p:nvPr/>
        </p:nvSpPr>
        <p:spPr>
          <a:xfrm>
            <a:off x="7059168" y="3291840"/>
            <a:ext cx="2011680" cy="694944"/>
          </a:xfrm>
          <a:prstGeom prst="rect">
            <a:avLst/>
          </a:prstGeom>
          <a:noFill/>
          <a:ln/>
        </p:spPr>
        <p:txBody>
          <a:bodyPr wrap="square" lIns="0" tIns="0" rIns="0" bIns="0" rtlCol="0" anchor="ctr"/>
          <a:lstStyle/>
          <a:p>
            <a:pPr indent="0" marL="0">
              <a:buNone/>
            </a:pPr>
            <a:r>
              <a:rPr lang="en-US" sz="1400" b="1" dirty="0">
                <a:solidFill>
                  <a:srgbClr val="1B3B6F"/>
                </a:solidFill>
                <a:latin typeface="Calibri" pitchFamily="34" charset="0"/>
                <a:cs typeface="Amiri" pitchFamily="2" charset="-78"/>
              </a:rPr>
              <a:t>Build</a:t>
            </a:r>
            <a:endParaRPr lang="en-US" sz="1400" dirty="0"/>
          </a:p>
          <a:p>
            <a:pPr indent="0" marL="0">
              <a:buNone/>
            </a:pPr>
            <a:r>
              <a:rPr lang="en-US" sz="1100" dirty="0">
                <a:solidFill>
                  <a:srgbClr val="5A6472"/>
                </a:solidFill>
                <a:latin typeface="Calibri" pitchFamily="34" charset="0"/>
                <a:cs typeface="Amiri" pitchFamily="2" charset="-78"/>
              </a:rPr>
              <a:t>add a reason or detail</a:t>
            </a:r>
            <a:endParaRPr lang="en-US" sz="1400" dirty="0"/>
          </a:p>
        </p:txBody>
      </p:sp>
      <p:sp>
        <p:nvSpPr>
          <p:cNvPr id="42" name="Shape 35"/>
          <p:cNvSpPr/>
          <p:nvPr/>
        </p:nvSpPr>
        <p:spPr>
          <a:xfrm>
            <a:off x="8997696" y="3364992"/>
            <a:ext cx="548640" cy="548640"/>
          </a:xfrm>
          <a:prstGeom prst="ellipse">
            <a:avLst/>
          </a:prstGeom>
          <a:solidFill>
            <a:srgbClr val="1B3B6F"/>
          </a:solidFill>
          <a:ln w="12700">
            <a:solidFill>
              <a:srgbClr val="1B3B6F"/>
            </a:solidFill>
            <a:prstDash val="solid"/>
          </a:ln>
        </p:spPr>
      </p:sp>
      <p:sp>
        <p:nvSpPr>
          <p:cNvPr id="43" name="Text 36"/>
          <p:cNvSpPr txBox="1"/>
          <p:nvPr/>
        </p:nvSpPr>
        <p:spPr>
          <a:xfrm>
            <a:off x="8997696" y="3364992"/>
            <a:ext cx="548640" cy="548640"/>
          </a:xfrm>
          <a:prstGeom prst="rect">
            <a:avLst/>
          </a:prstGeom>
          <a:noFill/>
          <a:ln/>
        </p:spPr>
        <p:txBody>
          <a:bodyPr wrap="square" lIns="0" tIns="0" rIns="0" bIns="0" rtlCol="0" anchor="ctr"/>
          <a:lstStyle/>
          <a:p>
            <a:pPr algn="ctr" indent="0" marL="0">
              <a:buNone/>
            </a:pPr>
            <a:r>
              <a:rPr lang="en-US" sz="1800" b="1" dirty="0">
                <a:solidFill>
                  <a:srgbClr val="D4AF37"/>
                </a:solidFill>
                <a:latin typeface="Arial" pitchFamily="34" charset="0"/>
                <a:cs typeface="Amiri" pitchFamily="2" charset="-78"/>
              </a:rPr>
              <a:t>?</a:t>
            </a:r>
            <a:endParaRPr lang="en-US" sz="1800" dirty="0"/>
          </a:p>
        </p:txBody>
      </p:sp>
      <p:sp>
        <p:nvSpPr>
          <p:cNvPr id="44" name="Text 37"/>
          <p:cNvSpPr txBox="1"/>
          <p:nvPr/>
        </p:nvSpPr>
        <p:spPr>
          <a:xfrm>
            <a:off x="9656064" y="3291840"/>
            <a:ext cx="2011680" cy="694944"/>
          </a:xfrm>
          <a:prstGeom prst="rect">
            <a:avLst/>
          </a:prstGeom>
          <a:noFill/>
          <a:ln/>
        </p:spPr>
        <p:txBody>
          <a:bodyPr wrap="square" lIns="0" tIns="0" rIns="0" bIns="0" rtlCol="0" anchor="ctr"/>
          <a:lstStyle/>
          <a:p>
            <a:pPr indent="0" marL="0">
              <a:buNone/>
            </a:pPr>
            <a:r>
              <a:rPr lang="en-US" sz="1400" b="1" dirty="0">
                <a:solidFill>
                  <a:srgbClr val="1B3B6F"/>
                </a:solidFill>
                <a:latin typeface="Calibri" pitchFamily="34" charset="0"/>
                <a:cs typeface="Amiri" pitchFamily="2" charset="-78"/>
              </a:rPr>
              <a:t>Challenge</a:t>
            </a:r>
            <a:endParaRPr lang="en-US" sz="1400" dirty="0"/>
          </a:p>
          <a:p>
            <a:pPr indent="0" marL="0">
              <a:buNone/>
            </a:pPr>
            <a:r>
              <a:rPr lang="en-US" sz="1100" dirty="0">
                <a:solidFill>
                  <a:srgbClr val="5A6472"/>
                </a:solidFill>
                <a:latin typeface="Calibri" pitchFamily="34" charset="0"/>
                <a:cs typeface="Amiri" pitchFamily="2" charset="-78"/>
              </a:rPr>
              <a:t>question respectfully</a:t>
            </a:r>
            <a:endParaRPr lang="en-US" sz="1400" dirty="0"/>
          </a:p>
        </p:txBody>
      </p:sp>
      <p:sp>
        <p:nvSpPr>
          <p:cNvPr id="45" name="Shape 38"/>
          <p:cNvSpPr/>
          <p:nvPr/>
        </p:nvSpPr>
        <p:spPr>
          <a:xfrm>
            <a:off x="6400800" y="4279392"/>
            <a:ext cx="548640" cy="548640"/>
          </a:xfrm>
          <a:prstGeom prst="ellipse">
            <a:avLst/>
          </a:prstGeom>
          <a:solidFill>
            <a:srgbClr val="1B3B6F"/>
          </a:solidFill>
          <a:ln w="12700">
            <a:solidFill>
              <a:srgbClr val="1B3B6F"/>
            </a:solidFill>
            <a:prstDash val="solid"/>
          </a:ln>
        </p:spPr>
      </p:sp>
      <p:sp>
        <p:nvSpPr>
          <p:cNvPr id="46" name="Text 39"/>
          <p:cNvSpPr txBox="1"/>
          <p:nvPr/>
        </p:nvSpPr>
        <p:spPr>
          <a:xfrm>
            <a:off x="6400800" y="4279392"/>
            <a:ext cx="548640" cy="548640"/>
          </a:xfrm>
          <a:prstGeom prst="rect">
            <a:avLst/>
          </a:prstGeom>
          <a:noFill/>
          <a:ln/>
        </p:spPr>
        <p:txBody>
          <a:bodyPr wrap="square" lIns="0" tIns="0" rIns="0" bIns="0" rtlCol="0" anchor="ctr"/>
          <a:lstStyle/>
          <a:p>
            <a:pPr algn="ctr" indent="0" marL="0">
              <a:buNone/>
            </a:pPr>
            <a:r>
              <a:rPr lang="en-US" sz="1800" b="1" dirty="0">
                <a:solidFill>
                  <a:srgbClr val="D4AF37"/>
                </a:solidFill>
                <a:latin typeface="Arial" pitchFamily="34" charset="0"/>
                <a:cs typeface="Amiri" pitchFamily="2" charset="-78"/>
              </a:rPr>
              <a:t>◎</a:t>
            </a:r>
            <a:endParaRPr lang="en-US" sz="1800" dirty="0"/>
          </a:p>
        </p:txBody>
      </p:sp>
      <p:sp>
        <p:nvSpPr>
          <p:cNvPr id="47" name="Text 40"/>
          <p:cNvSpPr txBox="1"/>
          <p:nvPr/>
        </p:nvSpPr>
        <p:spPr>
          <a:xfrm>
            <a:off x="7059168" y="4206240"/>
            <a:ext cx="2011680" cy="694944"/>
          </a:xfrm>
          <a:prstGeom prst="rect">
            <a:avLst/>
          </a:prstGeom>
          <a:noFill/>
          <a:ln/>
        </p:spPr>
        <p:txBody>
          <a:bodyPr wrap="square" lIns="0" tIns="0" rIns="0" bIns="0" rtlCol="0" anchor="ctr"/>
          <a:lstStyle/>
          <a:p>
            <a:pPr indent="0" marL="0">
              <a:buNone/>
            </a:pPr>
            <a:r>
              <a:rPr lang="en-US" sz="1400" b="1" dirty="0">
                <a:solidFill>
                  <a:srgbClr val="1B3B6F"/>
                </a:solidFill>
                <a:latin typeface="Calibri" pitchFamily="34" charset="0"/>
                <a:cs typeface="Amiri" pitchFamily="2" charset="-78"/>
              </a:rPr>
              <a:t>Share</a:t>
            </a:r>
            <a:endParaRPr lang="en-US" sz="1400" dirty="0"/>
          </a:p>
          <a:p>
            <a:pPr indent="0" marL="0">
              <a:buNone/>
            </a:pPr>
            <a:r>
              <a:rPr lang="en-US" sz="1100" dirty="0">
                <a:solidFill>
                  <a:srgbClr val="5A6472"/>
                </a:solidFill>
                <a:latin typeface="Calibri" pitchFamily="34" charset="0"/>
                <a:cs typeface="Amiri" pitchFamily="2" charset="-78"/>
              </a:rPr>
              <a:t>anyone may be invited</a:t>
            </a:r>
            <a:endParaRPr lang="en-US" sz="1400" dirty="0"/>
          </a:p>
        </p:txBody>
      </p:sp>
      <p:sp>
        <p:nvSpPr>
          <p:cNvPr id="48" name="Shape 41"/>
          <p:cNvSpPr/>
          <p:nvPr/>
        </p:nvSpPr>
        <p:spPr>
          <a:xfrm>
            <a:off x="8997696" y="4279392"/>
            <a:ext cx="548640" cy="548640"/>
          </a:xfrm>
          <a:prstGeom prst="ellipse">
            <a:avLst/>
          </a:prstGeom>
          <a:solidFill>
            <a:srgbClr val="1B3B6F"/>
          </a:solidFill>
          <a:ln w="12700">
            <a:solidFill>
              <a:srgbClr val="1B3B6F"/>
            </a:solidFill>
            <a:prstDash val="solid"/>
          </a:ln>
        </p:spPr>
      </p:sp>
      <p:sp>
        <p:nvSpPr>
          <p:cNvPr id="49" name="Text 42"/>
          <p:cNvSpPr txBox="1"/>
          <p:nvPr/>
        </p:nvSpPr>
        <p:spPr>
          <a:xfrm>
            <a:off x="8997696" y="4279392"/>
            <a:ext cx="548640" cy="548640"/>
          </a:xfrm>
          <a:prstGeom prst="rect">
            <a:avLst/>
          </a:prstGeom>
          <a:noFill/>
          <a:ln/>
        </p:spPr>
        <p:txBody>
          <a:bodyPr wrap="square" lIns="0" tIns="0" rIns="0" bIns="0" rtlCol="0" anchor="ctr"/>
          <a:lstStyle/>
          <a:p>
            <a:pPr algn="ctr" indent="0" marL="0">
              <a:buNone/>
            </a:pPr>
            <a:r>
              <a:rPr lang="en-US" sz="1800" b="1" dirty="0">
                <a:solidFill>
                  <a:srgbClr val="D4AF37"/>
                </a:solidFill>
                <a:latin typeface="Arial" pitchFamily="34" charset="0"/>
                <a:cs typeface="Amiri" pitchFamily="2" charset="-78"/>
              </a:rPr>
              <a:t>↺</a:t>
            </a:r>
            <a:endParaRPr lang="en-US" sz="1800" dirty="0"/>
          </a:p>
        </p:txBody>
      </p:sp>
      <p:sp>
        <p:nvSpPr>
          <p:cNvPr id="50" name="Text 43"/>
          <p:cNvSpPr txBox="1"/>
          <p:nvPr/>
        </p:nvSpPr>
        <p:spPr>
          <a:xfrm>
            <a:off x="9656064" y="4206240"/>
            <a:ext cx="2011680" cy="694944"/>
          </a:xfrm>
          <a:prstGeom prst="rect">
            <a:avLst/>
          </a:prstGeom>
          <a:noFill/>
          <a:ln/>
        </p:spPr>
        <p:txBody>
          <a:bodyPr wrap="square" lIns="0" tIns="0" rIns="0" bIns="0" rtlCol="0" anchor="ctr"/>
          <a:lstStyle/>
          <a:p>
            <a:pPr indent="0" marL="0">
              <a:buNone/>
            </a:pPr>
            <a:r>
              <a:rPr lang="en-US" sz="1400" b="1" dirty="0">
                <a:solidFill>
                  <a:srgbClr val="1B3B6F"/>
                </a:solidFill>
                <a:latin typeface="Calibri" pitchFamily="34" charset="0"/>
                <a:cs typeface="Amiri" pitchFamily="2" charset="-78"/>
              </a:rPr>
              <a:t>Summarise</a:t>
            </a:r>
            <a:endParaRPr lang="en-US" sz="1400" dirty="0"/>
          </a:p>
          <a:p>
            <a:pPr indent="0" marL="0">
              <a:buNone/>
            </a:pPr>
            <a:r>
              <a:rPr lang="en-US" sz="1100" dirty="0">
                <a:solidFill>
                  <a:srgbClr val="5A6472"/>
                </a:solidFill>
                <a:latin typeface="Calibri" pitchFamily="34" charset="0"/>
                <a:cs typeface="Amiri" pitchFamily="2" charset="-78"/>
              </a:rPr>
              <a:t>say it more precisely</a:t>
            </a:r>
            <a:endParaRPr lang="en-US" sz="1400" dirty="0"/>
          </a:p>
        </p:txBody>
      </p:sp>
      <p:sp>
        <p:nvSpPr>
          <p:cNvPr id="51" name="Text 44"/>
          <p:cNvSpPr txBox="1"/>
          <p:nvPr/>
        </p:nvSpPr>
        <p:spPr>
          <a:xfrm>
            <a:off x="6400800" y="5230368"/>
            <a:ext cx="5102352" cy="694944"/>
          </a:xfrm>
          <a:prstGeom prst="rect">
            <a:avLst/>
          </a:prstGeom>
          <a:noFill/>
          <a:ln/>
        </p:spPr>
        <p:txBody>
          <a:bodyPr wrap="square" lIns="0" tIns="0" rIns="0" bIns="0" rtlCol="0" anchor="ctr"/>
          <a:lstStyle/>
          <a:p>
            <a:pPr algn="l" indent="0" marL="0">
              <a:buNone/>
            </a:pPr>
            <a:r>
              <a:rPr lang="en-US" sz="1150" i="1" dirty="0">
                <a:solidFill>
                  <a:srgbClr val="8A6D1E"/>
                </a:solidFill>
                <a:latin typeface="Calibri" pitchFamily="34" charset="0"/>
                <a:cs typeface="Amiri" pitchFamily="2" charset="-78"/>
              </a:rPr>
              <a:t>I will always give you thinking and practice time before I ask anyone. Reading aloud is by invitation — you can always say “pass, please come back to me”.</a:t>
            </a:r>
            <a:endParaRPr lang="en-US" sz="1150" dirty="0"/>
          </a:p>
        </p:txBody>
      </p:sp>
      <p:sp>
        <p:nvSpPr>
          <p:cNvPr id="52" name="Text 45"/>
          <p:cNvSpPr txBox="1"/>
          <p:nvPr/>
        </p:nvSpPr>
        <p:spPr>
          <a:xfrm>
            <a:off x="10360152" y="6455664"/>
            <a:ext cx="1371600" cy="219456"/>
          </a:xfrm>
          <a:prstGeom prst="rect">
            <a:avLst/>
          </a:prstGeom>
          <a:noFill/>
          <a:ln/>
        </p:spPr>
        <p:txBody>
          <a:bodyPr wrap="square" lIns="0" tIns="0" rIns="0" bIns="0" rtlCol="0" anchor="ctr"/>
          <a:lstStyle/>
          <a:p>
            <a:pPr algn="r" indent="0" marL="0">
              <a:buNone/>
            </a:pPr>
            <a:r>
              <a:rPr lang="en-US" sz="850" dirty="0">
                <a:solidFill>
                  <a:srgbClr val="8A93A0"/>
                </a:solidFill>
                <a:latin typeface="Calibri" pitchFamily="34" charset="0"/>
                <a:cs typeface="Amiri" pitchFamily="2" charset="-78"/>
              </a:rPr>
              <a:t>2 / 24</a:t>
            </a:r>
            <a:endParaRPr lang="en-US" sz="850" dirty="0"/>
          </a:p>
        </p:txBody>
      </p:sp>
    </p:spTree>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name="Slide 3">
    <p:bg>
      <p:bgPr>
        <a:solidFill>
          <a:srgbClr val="FFFDF8"/>
        </a:solidFill>
      </p:bgPr>
    </p:bg>
    <p:spTree>
      <p:nvGrpSpPr>
        <p:cNvPr id="1" name=""/>
        <p:cNvGrpSpPr/>
        <p:nvPr/>
      </p:nvGrpSpPr>
      <p:grpSpPr>
        <a:xfrm>
          <a:off x="0" y="0"/>
          <a:ext cx="0" cy="0"/>
          <a:chOff x="0" y="0"/>
          <a:chExt cx="0" cy="0"/>
        </a:xfrm>
      </p:grpSpPr>
      <p:sp>
        <p:nvSpPr>
          <p:cNvPr id="2" name="Shape 0"/>
          <p:cNvSpPr/>
          <p:nvPr/>
        </p:nvSpPr>
        <p:spPr>
          <a:xfrm>
            <a:off x="457200" y="237744"/>
            <a:ext cx="420624" cy="420624"/>
          </a:xfrm>
          <a:prstGeom prst="ellipse">
            <a:avLst/>
          </a:prstGeom>
          <a:solidFill>
            <a:srgbClr val="1B3B6F"/>
          </a:solidFill>
          <a:ln w="12700">
            <a:solidFill>
              <a:srgbClr val="D4AF37"/>
            </a:solidFill>
            <a:prstDash val="solid"/>
          </a:ln>
        </p:spPr>
      </p:sp>
      <p:sp>
        <p:nvSpPr>
          <p:cNvPr id="3" name="Text 1"/>
          <p:cNvSpPr txBox="1"/>
          <p:nvPr/>
        </p:nvSpPr>
        <p:spPr>
          <a:xfrm>
            <a:off x="457200" y="219456"/>
            <a:ext cx="420624" cy="420624"/>
          </a:xfrm>
          <a:prstGeom prst="rect">
            <a:avLst/>
          </a:prstGeom>
          <a:noFill/>
          <a:ln/>
        </p:spPr>
        <p:txBody>
          <a:bodyPr wrap="square" lIns="0" tIns="0" rIns="0" bIns="0" rtlCol="0" anchor="ctr"/>
          <a:lstStyle/>
          <a:p>
            <a:pPr rtl="1" algn="ctr" indent="0" marL="0">
              <a:buNone/>
            </a:pPr>
            <a:r>
              <a:rPr lang="ar-SA" altLang="en-US" sz="1800" b="1" dirty="0">
                <a:solidFill>
                  <a:srgbClr val="D4AF37"/>
                </a:solidFill>
                <a:latin typeface="Amiri" pitchFamily="2" charset="-78"/>
                <a:ea typeface="Amiri" pitchFamily="2" charset="-78"/>
                <a:cs typeface="Amiri" pitchFamily="2" charset="-78"/>
              </a:rPr>
              <a:t>م</a:t>
            </a:r>
            <a:endParaRPr lang="ar-SA" sz="1800" dirty="0"/>
          </a:p>
        </p:txBody>
      </p:sp>
      <p:sp>
        <p:nvSpPr>
          <p:cNvPr id="4" name="Text 2"/>
          <p:cNvSpPr txBox="1"/>
          <p:nvPr/>
        </p:nvSpPr>
        <p:spPr>
          <a:xfrm>
            <a:off x="960120" y="219456"/>
            <a:ext cx="3657600" cy="256032"/>
          </a:xfrm>
          <a:prstGeom prst="rect">
            <a:avLst/>
          </a:prstGeom>
          <a:noFill/>
          <a:ln/>
        </p:spPr>
        <p:txBody>
          <a:bodyPr wrap="square" lIns="0" tIns="0" rIns="0" bIns="0" rtlCol="0" anchor="ctr"/>
          <a:lstStyle/>
          <a:p>
            <a:pPr indent="0" marL="0">
              <a:buNone/>
            </a:pPr>
            <a:r>
              <a:rPr lang="en-US" sz="1200" b="1" dirty="0">
                <a:solidFill>
                  <a:srgbClr val="1B3B6F"/>
                </a:solidFill>
                <a:latin typeface="Cambria" pitchFamily="34" charset="0"/>
                <a:cs typeface="Amiri" pitchFamily="2" charset="-78"/>
              </a:rPr>
              <a:t>Al Madina Online School</a:t>
            </a:r>
            <a:endParaRPr lang="en-US" sz="1200" dirty="0"/>
          </a:p>
        </p:txBody>
      </p:sp>
      <p:sp>
        <p:nvSpPr>
          <p:cNvPr id="5" name="Text 3"/>
          <p:cNvSpPr txBox="1"/>
          <p:nvPr/>
        </p:nvSpPr>
        <p:spPr>
          <a:xfrm>
            <a:off x="960120" y="457200"/>
            <a:ext cx="4572000" cy="182880"/>
          </a:xfrm>
          <a:prstGeom prst="rect">
            <a:avLst/>
          </a:prstGeom>
          <a:noFill/>
          <a:ln/>
        </p:spPr>
        <p:txBody>
          <a:bodyPr wrap="square" lIns="0" tIns="0" rIns="0" bIns="0" rtlCol="0" anchor="ctr"/>
          <a:lstStyle/>
          <a:p>
            <a:pPr indent="0" marL="0">
              <a:buNone/>
            </a:pPr>
            <a:r>
              <a:rPr lang="en-US" sz="800" b="1" spc="200" kern="0" dirty="0">
                <a:solidFill>
                  <a:srgbClr val="8A6D1E"/>
                </a:solidFill>
                <a:latin typeface="Calibri" pitchFamily="34" charset="0"/>
                <a:cs typeface="Amiri" pitchFamily="2" charset="-78"/>
              </a:rPr>
              <a:t>ARABIC DEPARTMENT · MIFTAH ARABIC · IGCSE 0544</a:t>
            </a:r>
            <a:endParaRPr lang="en-US" sz="800" dirty="0"/>
          </a:p>
        </p:txBody>
      </p:sp>
      <p:sp>
        <p:nvSpPr>
          <p:cNvPr id="6" name="Shape 4"/>
          <p:cNvSpPr/>
          <p:nvPr/>
        </p:nvSpPr>
        <p:spPr>
          <a:xfrm>
            <a:off x="8897112" y="274320"/>
            <a:ext cx="2834640" cy="329184"/>
          </a:xfrm>
          <a:prstGeom prst="roundRect">
            <a:avLst>
              <a:gd name="adj" fmla="val 50000"/>
            </a:avLst>
          </a:prstGeom>
          <a:solidFill>
            <a:srgbClr val="1B3B6F"/>
          </a:solidFill>
          <a:ln w="12700">
            <a:solidFill>
              <a:srgbClr val="1B3B6F"/>
            </a:solidFill>
            <a:prstDash val="solid"/>
          </a:ln>
        </p:spPr>
      </p:sp>
      <p:sp>
        <p:nvSpPr>
          <p:cNvPr id="7" name="Text 5"/>
          <p:cNvSpPr txBox="1"/>
          <p:nvPr/>
        </p:nvSpPr>
        <p:spPr>
          <a:xfrm>
            <a:off x="8897112" y="274320"/>
            <a:ext cx="2834640" cy="329184"/>
          </a:xfrm>
          <a:prstGeom prst="rect">
            <a:avLst/>
          </a:prstGeom>
          <a:noFill/>
          <a:ln/>
        </p:spPr>
        <p:txBody>
          <a:bodyPr wrap="square" lIns="0" tIns="0" rIns="0" bIns="0" rtlCol="0" anchor="ctr"/>
          <a:lstStyle/>
          <a:p>
            <a:pPr algn="ctr" indent="0" marL="0">
              <a:buNone/>
            </a:pPr>
            <a:r>
              <a:rPr lang="en-US" sz="950" b="1" spc="100" kern="0" dirty="0">
                <a:solidFill>
                  <a:srgbClr val="FFFFFF"/>
                </a:solidFill>
                <a:latin typeface="Calibri" pitchFamily="34" charset="0"/>
                <a:cs typeface="Amiri" pitchFamily="2" charset="-78"/>
              </a:rPr>
              <a:t>F6-W03 · Apply workshop</a:t>
            </a:r>
            <a:endParaRPr lang="en-US" sz="950" dirty="0"/>
          </a:p>
        </p:txBody>
      </p:sp>
      <p:sp>
        <p:nvSpPr>
          <p:cNvPr id="8" name="Shape 6"/>
          <p:cNvSpPr/>
          <p:nvPr/>
        </p:nvSpPr>
        <p:spPr>
          <a:xfrm>
            <a:off x="7388352" y="274320"/>
            <a:ext cx="1371600" cy="329184"/>
          </a:xfrm>
          <a:prstGeom prst="roundRect">
            <a:avLst>
              <a:gd name="adj" fmla="val 50000"/>
            </a:avLst>
          </a:prstGeom>
          <a:solidFill>
            <a:srgbClr val="5A6472"/>
          </a:solidFill>
          <a:ln w="12700">
            <a:solidFill>
              <a:srgbClr val="5A6472"/>
            </a:solidFill>
            <a:prstDash val="solid"/>
          </a:ln>
        </p:spPr>
      </p:sp>
      <p:sp>
        <p:nvSpPr>
          <p:cNvPr id="9" name="Text 7"/>
          <p:cNvSpPr txBox="1"/>
          <p:nvPr/>
        </p:nvSpPr>
        <p:spPr>
          <a:xfrm>
            <a:off x="7388352" y="274320"/>
            <a:ext cx="1371600" cy="329184"/>
          </a:xfrm>
          <a:prstGeom prst="rect">
            <a:avLst/>
          </a:prstGeom>
          <a:noFill/>
          <a:ln/>
        </p:spPr>
        <p:txBody>
          <a:bodyPr wrap="square" lIns="0" tIns="0" rIns="0" bIns="0" rtlCol="0" anchor="ctr"/>
          <a:lstStyle/>
          <a:p>
            <a:pPr algn="ctr" indent="0" marL="0">
              <a:buNone/>
            </a:pPr>
            <a:r>
              <a:rPr lang="en-US" sz="900" b="1" spc="100" kern="0" dirty="0">
                <a:solidFill>
                  <a:srgbClr val="FFFFFF"/>
                </a:solidFill>
                <a:latin typeface="Calibri" pitchFamily="34" charset="0"/>
                <a:cs typeface="Amiri" pitchFamily="2" charset="-78"/>
              </a:rPr>
              <a:t>WELCOME</a:t>
            </a:r>
            <a:endParaRPr lang="en-US" sz="900" dirty="0"/>
          </a:p>
        </p:txBody>
      </p:sp>
      <p:sp>
        <p:nvSpPr>
          <p:cNvPr id="10" name="Text 8"/>
          <p:cNvSpPr txBox="1"/>
          <p:nvPr/>
        </p:nvSpPr>
        <p:spPr>
          <a:xfrm>
            <a:off x="457200" y="822960"/>
            <a:ext cx="6949440" cy="237744"/>
          </a:xfrm>
          <a:prstGeom prst="rect">
            <a:avLst/>
          </a:prstGeom>
          <a:noFill/>
          <a:ln/>
        </p:spPr>
        <p:txBody>
          <a:bodyPr wrap="square" lIns="0" tIns="0" rIns="0" bIns="0" rtlCol="0" anchor="ctr"/>
          <a:lstStyle/>
          <a:p>
            <a:pPr algn="l" indent="0" marL="0">
              <a:buNone/>
            </a:pPr>
            <a:r>
              <a:rPr lang="en-US" sz="1000" b="1" spc="300" kern="0" dirty="0">
                <a:solidFill>
                  <a:srgbClr val="5A6472"/>
                </a:solidFill>
                <a:latin typeface="Calibri" pitchFamily="34" charset="0"/>
                <a:cs typeface="Amiri" pitchFamily="2" charset="-78"/>
              </a:rPr>
              <a:t>TODAY’S PLAN · LEARN, LEARN, APPLY</a:t>
            </a:r>
            <a:endParaRPr lang="en-US" sz="1000" dirty="0"/>
          </a:p>
        </p:txBody>
      </p:sp>
      <p:sp>
        <p:nvSpPr>
          <p:cNvPr id="11" name="Text 9"/>
          <p:cNvSpPr txBox="1"/>
          <p:nvPr/>
        </p:nvSpPr>
        <p:spPr>
          <a:xfrm>
            <a:off x="457200" y="1033272"/>
            <a:ext cx="6949440" cy="566928"/>
          </a:xfrm>
          <a:prstGeom prst="rect">
            <a:avLst/>
          </a:prstGeom>
          <a:noFill/>
          <a:ln/>
        </p:spPr>
        <p:txBody>
          <a:bodyPr wrap="square" lIns="0" tIns="0" rIns="0" bIns="0" rtlCol="0" anchor="ctr"/>
          <a:lstStyle/>
          <a:p>
            <a:pPr algn="l" indent="0" marL="0">
              <a:buNone/>
            </a:pPr>
            <a:r>
              <a:rPr lang="en-US" sz="2500" b="1" dirty="0">
                <a:solidFill>
                  <a:srgbClr val="1B3B6F"/>
                </a:solidFill>
                <a:latin typeface="Cambria" pitchFamily="34" charset="0"/>
                <a:cs typeface="Amiri" pitchFamily="2" charset="-78"/>
              </a:rPr>
              <a:t>Two lessons — now use them together</a:t>
            </a:r>
            <a:endParaRPr lang="en-US" sz="2500" dirty="0"/>
          </a:p>
        </p:txBody>
      </p:sp>
      <p:sp>
        <p:nvSpPr>
          <p:cNvPr id="12" name="Text 10"/>
          <p:cNvSpPr txBox="1"/>
          <p:nvPr/>
        </p:nvSpPr>
        <p:spPr>
          <a:xfrm>
            <a:off x="7498080" y="868680"/>
            <a:ext cx="4233672" cy="749808"/>
          </a:xfrm>
          <a:prstGeom prst="rect">
            <a:avLst/>
          </a:prstGeom>
          <a:noFill/>
          <a:ln/>
        </p:spPr>
        <p:txBody>
          <a:bodyPr wrap="square" lIns="0" tIns="0" rIns="0" bIns="0" rtlCol="0" anchor="ctr"/>
          <a:lstStyle/>
          <a:p>
            <a:pPr rtl="1" algn="r" indent="0" marL="0">
              <a:buNone/>
            </a:pPr>
            <a:r>
              <a:rPr lang="ar-SA" altLang="en-US" sz="2800" b="1" dirty="0">
                <a:solidFill>
                  <a:srgbClr val="8A6D1E"/>
                </a:solidFill>
                <a:latin typeface="Amiri" pitchFamily="2" charset="-78"/>
                <a:ea typeface="Amiri" pitchFamily="2" charset="-78"/>
                <a:cs typeface="Amiri" pitchFamily="2" charset="-78"/>
              </a:rPr>
              <a:t>خُطُوَاتُ الوَرْشَةِ</a:t>
            </a:r>
            <a:endParaRPr lang="ar-SA" sz="2800" dirty="0"/>
          </a:p>
        </p:txBody>
      </p:sp>
      <p:sp>
        <p:nvSpPr>
          <p:cNvPr id="13" name="Text 11"/>
          <p:cNvSpPr txBox="1"/>
          <p:nvPr/>
        </p:nvSpPr>
        <p:spPr>
          <a:xfrm>
            <a:off x="457200" y="6455664"/>
            <a:ext cx="6400800" cy="219456"/>
          </a:xfrm>
          <a:prstGeom prst="rect">
            <a:avLst/>
          </a:prstGeom>
          <a:noFill/>
          <a:ln/>
        </p:spPr>
        <p:txBody>
          <a:bodyPr wrap="square" lIns="0" tIns="0" rIns="0" bIns="0" rtlCol="0" anchor="ctr"/>
          <a:lstStyle/>
          <a:p>
            <a:pPr indent="0" marL="0">
              <a:buNone/>
            </a:pPr>
            <a:r>
              <a:rPr lang="en-US" sz="850" dirty="0">
                <a:solidFill>
                  <a:srgbClr val="8A93A0"/>
                </a:solidFill>
                <a:latin typeface="Calibri" pitchFamily="34" charset="0"/>
                <a:cs typeface="Amiri" pitchFamily="2" charset="-78"/>
              </a:rPr>
              <a:t>Miftah Arabic · Foundation F6 · My Town and Transport · F6-W03 · Apply workshop (F6-L05 + F6-L06)</a:t>
            </a:r>
            <a:endParaRPr lang="en-US" sz="850" dirty="0"/>
          </a:p>
        </p:txBody>
      </p:sp>
      <p:sp>
        <p:nvSpPr>
          <p:cNvPr id="15" name="Shape 12"/>
          <p:cNvSpPr/>
          <p:nvPr/>
        </p:nvSpPr>
        <p:spPr>
          <a:xfrm>
            <a:off x="457200" y="1828800"/>
            <a:ext cx="2152498" cy="3246120"/>
          </a:xfrm>
          <a:prstGeom prst="roundRect">
            <a:avLst>
              <a:gd name="adj" fmla="val 3398"/>
            </a:avLst>
          </a:prstGeom>
          <a:solidFill>
            <a:srgbClr val="FFFFFF"/>
          </a:solidFill>
          <a:ln w="9525">
            <a:solidFill>
              <a:srgbClr val="D8D0BF"/>
            </a:solidFill>
            <a:prstDash val="solid"/>
          </a:ln>
          <a:effectLst>
            <a:outerShdw sx="100000" sy="100000" kx="0" ky="0" algn="bl" rotWithShape="0" blurRad="50800" dist="19050" dir="5400000">
              <a:srgbClr val="000000">
                <a:alpha val="10000"/>
              </a:srgbClr>
            </a:outerShdw>
          </a:effectLst>
        </p:spPr>
      </p:sp>
      <p:sp>
        <p:nvSpPr>
          <p:cNvPr id="16" name="Shape 13"/>
          <p:cNvSpPr/>
          <p:nvPr/>
        </p:nvSpPr>
        <p:spPr>
          <a:xfrm>
            <a:off x="566928" y="1938528"/>
            <a:ext cx="1933042" cy="566928"/>
          </a:xfrm>
          <a:prstGeom prst="roundRect">
            <a:avLst>
              <a:gd name="adj" fmla="val 9677"/>
            </a:avLst>
          </a:prstGeom>
          <a:solidFill>
            <a:srgbClr val="1B3B6F"/>
          </a:solidFill>
          <a:ln w="12700">
            <a:solidFill>
              <a:srgbClr val="1B3B6F"/>
            </a:solidFill>
            <a:prstDash val="solid"/>
          </a:ln>
        </p:spPr>
      </p:sp>
      <p:sp>
        <p:nvSpPr>
          <p:cNvPr id="17" name="Text 14"/>
          <p:cNvSpPr txBox="1"/>
          <p:nvPr/>
        </p:nvSpPr>
        <p:spPr>
          <a:xfrm>
            <a:off x="603504" y="1956816"/>
            <a:ext cx="1859890" cy="329184"/>
          </a:xfrm>
          <a:prstGeom prst="rect">
            <a:avLst/>
          </a:prstGeom>
          <a:noFill/>
          <a:ln/>
        </p:spPr>
        <p:txBody>
          <a:bodyPr wrap="square" lIns="0" tIns="0" rIns="0" bIns="0" rtlCol="0" anchor="ctr"/>
          <a:lstStyle/>
          <a:p>
            <a:pPr algn="ctr" indent="0" marL="0">
              <a:buNone/>
            </a:pPr>
            <a:r>
              <a:rPr lang="en-US" sz="1000" b="1" spc="100" kern="0" dirty="0">
                <a:solidFill>
                  <a:srgbClr val="FFFFFF"/>
                </a:solidFill>
                <a:latin typeface="Calibri" pitchFamily="34" charset="0"/>
                <a:cs typeface="Amiri" pitchFamily="2" charset="-78"/>
              </a:rPr>
              <a:t>TEACHER INSTRUCTION</a:t>
            </a:r>
            <a:endParaRPr lang="en-US" sz="1000" dirty="0"/>
          </a:p>
        </p:txBody>
      </p:sp>
      <p:sp>
        <p:nvSpPr>
          <p:cNvPr id="18" name="Text 15"/>
          <p:cNvSpPr txBox="1"/>
          <p:nvPr/>
        </p:nvSpPr>
        <p:spPr>
          <a:xfrm>
            <a:off x="603504" y="2249424"/>
            <a:ext cx="1859890" cy="237744"/>
          </a:xfrm>
          <a:prstGeom prst="rect">
            <a:avLst/>
          </a:prstGeom>
          <a:noFill/>
          <a:ln/>
        </p:spPr>
        <p:txBody>
          <a:bodyPr wrap="square" lIns="0" tIns="0" rIns="0" bIns="0" rtlCol="0" anchor="ctr"/>
          <a:lstStyle/>
          <a:p>
            <a:pPr algn="ctr" indent="0" marL="0">
              <a:buNone/>
            </a:pPr>
            <a:r>
              <a:rPr lang="en-US" sz="1000" dirty="0">
                <a:solidFill>
                  <a:srgbClr val="E8EDF5"/>
                </a:solidFill>
                <a:latin typeface="Calibri" pitchFamily="34" charset="0"/>
                <a:cs typeface="Amiri" pitchFamily="2" charset="-78"/>
              </a:rPr>
              <a:t>6 min</a:t>
            </a:r>
            <a:endParaRPr lang="en-US" sz="1000" dirty="0"/>
          </a:p>
        </p:txBody>
      </p:sp>
      <p:sp>
        <p:nvSpPr>
          <p:cNvPr id="19" name="Shape 16"/>
          <p:cNvSpPr/>
          <p:nvPr/>
        </p:nvSpPr>
        <p:spPr>
          <a:xfrm>
            <a:off x="1332281" y="2651760"/>
            <a:ext cx="402336" cy="402336"/>
          </a:xfrm>
          <a:prstGeom prst="ellipse">
            <a:avLst/>
          </a:prstGeom>
          <a:solidFill>
            <a:srgbClr val="F4F1EA"/>
          </a:solidFill>
          <a:ln w="12700">
            <a:solidFill>
              <a:srgbClr val="F4F1EA"/>
            </a:solidFill>
            <a:prstDash val="solid"/>
          </a:ln>
        </p:spPr>
      </p:sp>
      <p:sp>
        <p:nvSpPr>
          <p:cNvPr id="20" name="Text 17"/>
          <p:cNvSpPr txBox="1"/>
          <p:nvPr/>
        </p:nvSpPr>
        <p:spPr>
          <a:xfrm>
            <a:off x="1332281" y="2651760"/>
            <a:ext cx="402336" cy="402336"/>
          </a:xfrm>
          <a:prstGeom prst="rect">
            <a:avLst/>
          </a:prstGeom>
          <a:noFill/>
          <a:ln/>
        </p:spPr>
        <p:txBody>
          <a:bodyPr wrap="square" lIns="0" tIns="0" rIns="0" bIns="0" rtlCol="0" anchor="ctr"/>
          <a:lstStyle/>
          <a:p>
            <a:pPr algn="ctr" indent="0" marL="0">
              <a:buNone/>
            </a:pPr>
            <a:r>
              <a:rPr lang="en-US" sz="1300" b="1" dirty="0">
                <a:solidFill>
                  <a:srgbClr val="1B3B6F"/>
                </a:solidFill>
                <a:latin typeface="Calibri" pitchFamily="34" charset="0"/>
                <a:cs typeface="Amiri" pitchFamily="2" charset="-78"/>
              </a:rPr>
              <a:t>1</a:t>
            </a:r>
            <a:endParaRPr lang="en-US" sz="1300" dirty="0"/>
          </a:p>
        </p:txBody>
      </p:sp>
      <p:sp>
        <p:nvSpPr>
          <p:cNvPr id="21" name="Text 18"/>
          <p:cNvSpPr txBox="1"/>
          <p:nvPr/>
        </p:nvSpPr>
        <p:spPr>
          <a:xfrm>
            <a:off x="585216" y="3145536"/>
            <a:ext cx="1896466" cy="1417320"/>
          </a:xfrm>
          <a:prstGeom prst="rect">
            <a:avLst/>
          </a:prstGeom>
          <a:noFill/>
          <a:ln/>
        </p:spPr>
        <p:txBody>
          <a:bodyPr wrap="square" lIns="0" tIns="0" rIns="0" bIns="0" rtlCol="0" anchor="t"/>
          <a:lstStyle/>
          <a:p>
            <a:pPr algn="ctr" indent="0" marL="0">
              <a:buNone/>
            </a:pPr>
            <a:r>
              <a:rPr lang="en-US" sz="1200" dirty="0">
                <a:solidFill>
                  <a:srgbClr val="1F2A37"/>
                </a:solidFill>
                <a:latin typeface="Calibri" pitchFamily="34" charset="0"/>
                <a:cs typeface="Amiri" pitchFamily="2" charset="-78"/>
              </a:rPr>
              <a:t>What we learnt: F6-L05 and F6-L06.</a:t>
            </a:r>
            <a:endParaRPr lang="en-US" sz="1200" dirty="0"/>
          </a:p>
        </p:txBody>
      </p:sp>
      <p:sp>
        <p:nvSpPr>
          <p:cNvPr id="22" name="Text 19"/>
          <p:cNvSpPr txBox="1"/>
          <p:nvPr/>
        </p:nvSpPr>
        <p:spPr>
          <a:xfrm>
            <a:off x="548640" y="4526280"/>
            <a:ext cx="1969618" cy="438912"/>
          </a:xfrm>
          <a:prstGeom prst="rect">
            <a:avLst/>
          </a:prstGeom>
          <a:noFill/>
          <a:ln/>
        </p:spPr>
        <p:txBody>
          <a:bodyPr wrap="square" lIns="0" tIns="0" rIns="0" bIns="0" rtlCol="0" anchor="ctr"/>
          <a:lstStyle/>
          <a:p>
            <a:pPr rtl="1" algn="ctr" indent="0" marL="0">
              <a:buNone/>
            </a:pPr>
            <a:r>
              <a:rPr lang="ar-SA" altLang="en-US" sz="1500" b="1" dirty="0">
                <a:solidFill>
                  <a:srgbClr val="1B3B6F"/>
                </a:solidFill>
                <a:latin typeface="Amiri" pitchFamily="2" charset="-78"/>
                <a:ea typeface="Amiri" pitchFamily="2" charset="-78"/>
                <a:cs typeface="Amiri" pitchFamily="2" charset="-78"/>
              </a:rPr>
              <a:t>مَاذَا تَعَلَّمْنَا؟</a:t>
            </a:r>
            <a:endParaRPr lang="ar-SA" sz="1500" dirty="0"/>
          </a:p>
        </p:txBody>
      </p:sp>
      <p:sp>
        <p:nvSpPr>
          <p:cNvPr id="23" name="Shape 20"/>
          <p:cNvSpPr/>
          <p:nvPr/>
        </p:nvSpPr>
        <p:spPr>
          <a:xfrm>
            <a:off x="2737714" y="1828800"/>
            <a:ext cx="2152498" cy="3246120"/>
          </a:xfrm>
          <a:prstGeom prst="roundRect">
            <a:avLst>
              <a:gd name="adj" fmla="val 3398"/>
            </a:avLst>
          </a:prstGeom>
          <a:solidFill>
            <a:srgbClr val="FFFFFF"/>
          </a:solidFill>
          <a:ln w="9525">
            <a:solidFill>
              <a:srgbClr val="D8D0BF"/>
            </a:solidFill>
            <a:prstDash val="solid"/>
          </a:ln>
          <a:effectLst>
            <a:outerShdw sx="100000" sy="100000" kx="0" ky="0" algn="bl" rotWithShape="0" blurRad="50800" dist="19050" dir="5400000">
              <a:srgbClr val="000000">
                <a:alpha val="10000"/>
              </a:srgbClr>
            </a:outerShdw>
          </a:effectLst>
        </p:spPr>
      </p:sp>
      <p:sp>
        <p:nvSpPr>
          <p:cNvPr id="24" name="Shape 21"/>
          <p:cNvSpPr/>
          <p:nvPr/>
        </p:nvSpPr>
        <p:spPr>
          <a:xfrm>
            <a:off x="2847442" y="1938528"/>
            <a:ext cx="1933042" cy="566928"/>
          </a:xfrm>
          <a:prstGeom prst="roundRect">
            <a:avLst>
              <a:gd name="adj" fmla="val 9677"/>
            </a:avLst>
          </a:prstGeom>
          <a:solidFill>
            <a:srgbClr val="2F6FB0"/>
          </a:solidFill>
          <a:ln w="12700">
            <a:solidFill>
              <a:srgbClr val="2F6FB0"/>
            </a:solidFill>
            <a:prstDash val="solid"/>
          </a:ln>
        </p:spPr>
      </p:sp>
      <p:sp>
        <p:nvSpPr>
          <p:cNvPr id="25" name="Text 22"/>
          <p:cNvSpPr txBox="1"/>
          <p:nvPr/>
        </p:nvSpPr>
        <p:spPr>
          <a:xfrm>
            <a:off x="2884018" y="1956816"/>
            <a:ext cx="1859890" cy="329184"/>
          </a:xfrm>
          <a:prstGeom prst="rect">
            <a:avLst/>
          </a:prstGeom>
          <a:noFill/>
          <a:ln/>
        </p:spPr>
        <p:txBody>
          <a:bodyPr wrap="square" lIns="0" tIns="0" rIns="0" bIns="0" rtlCol="0" anchor="ctr"/>
          <a:lstStyle/>
          <a:p>
            <a:pPr algn="ctr" indent="0" marL="0">
              <a:buNone/>
            </a:pPr>
            <a:r>
              <a:rPr lang="en-US" sz="1000" b="1" spc="100" kern="0" dirty="0">
                <a:solidFill>
                  <a:srgbClr val="FFFFFF"/>
                </a:solidFill>
                <a:latin typeface="Calibri" pitchFamily="34" charset="0"/>
                <a:cs typeface="Amiri" pitchFamily="2" charset="-78"/>
              </a:rPr>
              <a:t>WE DO</a:t>
            </a:r>
            <a:endParaRPr lang="en-US" sz="1000" dirty="0"/>
          </a:p>
        </p:txBody>
      </p:sp>
      <p:sp>
        <p:nvSpPr>
          <p:cNvPr id="26" name="Text 23"/>
          <p:cNvSpPr txBox="1"/>
          <p:nvPr/>
        </p:nvSpPr>
        <p:spPr>
          <a:xfrm>
            <a:off x="2884018" y="2249424"/>
            <a:ext cx="1859890" cy="237744"/>
          </a:xfrm>
          <a:prstGeom prst="rect">
            <a:avLst/>
          </a:prstGeom>
          <a:noFill/>
          <a:ln/>
        </p:spPr>
        <p:txBody>
          <a:bodyPr wrap="square" lIns="0" tIns="0" rIns="0" bIns="0" rtlCol="0" anchor="ctr"/>
          <a:lstStyle/>
          <a:p>
            <a:pPr algn="ctr" indent="0" marL="0">
              <a:buNone/>
            </a:pPr>
            <a:r>
              <a:rPr lang="en-US" sz="1000" dirty="0">
                <a:solidFill>
                  <a:srgbClr val="E8EDF5"/>
                </a:solidFill>
                <a:latin typeface="Calibri" pitchFamily="34" charset="0"/>
                <a:cs typeface="Amiri" pitchFamily="2" charset="-78"/>
              </a:rPr>
              <a:t>8 min</a:t>
            </a:r>
            <a:endParaRPr lang="en-US" sz="1000" dirty="0"/>
          </a:p>
        </p:txBody>
      </p:sp>
      <p:sp>
        <p:nvSpPr>
          <p:cNvPr id="27" name="Shape 24"/>
          <p:cNvSpPr/>
          <p:nvPr/>
        </p:nvSpPr>
        <p:spPr>
          <a:xfrm>
            <a:off x="3612794" y="2651760"/>
            <a:ext cx="402336" cy="402336"/>
          </a:xfrm>
          <a:prstGeom prst="ellipse">
            <a:avLst/>
          </a:prstGeom>
          <a:solidFill>
            <a:srgbClr val="F4F1EA"/>
          </a:solidFill>
          <a:ln w="12700">
            <a:solidFill>
              <a:srgbClr val="F4F1EA"/>
            </a:solidFill>
            <a:prstDash val="solid"/>
          </a:ln>
        </p:spPr>
      </p:sp>
      <p:sp>
        <p:nvSpPr>
          <p:cNvPr id="28" name="Text 25"/>
          <p:cNvSpPr txBox="1"/>
          <p:nvPr/>
        </p:nvSpPr>
        <p:spPr>
          <a:xfrm>
            <a:off x="3612794" y="2651760"/>
            <a:ext cx="402336" cy="402336"/>
          </a:xfrm>
          <a:prstGeom prst="rect">
            <a:avLst/>
          </a:prstGeom>
          <a:noFill/>
          <a:ln/>
        </p:spPr>
        <p:txBody>
          <a:bodyPr wrap="square" lIns="0" tIns="0" rIns="0" bIns="0" rtlCol="0" anchor="ctr"/>
          <a:lstStyle/>
          <a:p>
            <a:pPr algn="ctr" indent="0" marL="0">
              <a:buNone/>
            </a:pPr>
            <a:r>
              <a:rPr lang="en-US" sz="1300" b="1" dirty="0">
                <a:solidFill>
                  <a:srgbClr val="1B3B6F"/>
                </a:solidFill>
                <a:latin typeface="Calibri" pitchFamily="34" charset="0"/>
                <a:cs typeface="Amiri" pitchFamily="2" charset="-78"/>
              </a:rPr>
              <a:t>2</a:t>
            </a:r>
            <a:endParaRPr lang="en-US" sz="1300" dirty="0"/>
          </a:p>
        </p:txBody>
      </p:sp>
      <p:sp>
        <p:nvSpPr>
          <p:cNvPr id="29" name="Text 26"/>
          <p:cNvSpPr txBox="1"/>
          <p:nvPr/>
        </p:nvSpPr>
        <p:spPr>
          <a:xfrm>
            <a:off x="2865730" y="3145536"/>
            <a:ext cx="1896466" cy="1417320"/>
          </a:xfrm>
          <a:prstGeom prst="rect">
            <a:avLst/>
          </a:prstGeom>
          <a:noFill/>
          <a:ln/>
        </p:spPr>
        <p:txBody>
          <a:bodyPr wrap="square" lIns="0" tIns="0" rIns="0" bIns="0" rtlCol="0" anchor="t"/>
          <a:lstStyle/>
          <a:p>
            <a:pPr algn="ctr" indent="0" marL="0">
              <a:buNone/>
            </a:pPr>
            <a:r>
              <a:rPr lang="en-US" sz="1200" dirty="0">
                <a:solidFill>
                  <a:srgbClr val="1F2A37"/>
                </a:solidFill>
                <a:latin typeface="Calibri" pitchFamily="34" charset="0"/>
                <a:cs typeface="Amiri" pitchFamily="2" charset="-78"/>
              </a:rPr>
              <a:t>Part 1 · Remember: word race and “which lesson?” sort.</a:t>
            </a:r>
            <a:endParaRPr lang="en-US" sz="1200" dirty="0"/>
          </a:p>
        </p:txBody>
      </p:sp>
      <p:sp>
        <p:nvSpPr>
          <p:cNvPr id="30" name="Text 27"/>
          <p:cNvSpPr txBox="1"/>
          <p:nvPr/>
        </p:nvSpPr>
        <p:spPr>
          <a:xfrm>
            <a:off x="2829154" y="4526280"/>
            <a:ext cx="1969618" cy="438912"/>
          </a:xfrm>
          <a:prstGeom prst="rect">
            <a:avLst/>
          </a:prstGeom>
          <a:noFill/>
          <a:ln/>
        </p:spPr>
        <p:txBody>
          <a:bodyPr wrap="square" lIns="0" tIns="0" rIns="0" bIns="0" rtlCol="0" anchor="ctr"/>
          <a:lstStyle/>
          <a:p>
            <a:pPr rtl="1" algn="ctr" indent="0" marL="0">
              <a:buNone/>
            </a:pPr>
            <a:r>
              <a:rPr lang="ar-SA" altLang="en-US" sz="1500" b="1" dirty="0">
                <a:solidFill>
                  <a:srgbClr val="2F6FB0"/>
                </a:solidFill>
                <a:latin typeface="Amiri" pitchFamily="2" charset="-78"/>
                <a:ea typeface="Amiri" pitchFamily="2" charset="-78"/>
                <a:cs typeface="Amiri" pitchFamily="2" charset="-78"/>
              </a:rPr>
              <a:t>تَذَكَّرْ</a:t>
            </a:r>
            <a:endParaRPr lang="ar-SA" sz="1500" dirty="0"/>
          </a:p>
        </p:txBody>
      </p:sp>
      <p:sp>
        <p:nvSpPr>
          <p:cNvPr id="31" name="Shape 28"/>
          <p:cNvSpPr/>
          <p:nvPr/>
        </p:nvSpPr>
        <p:spPr>
          <a:xfrm>
            <a:off x="5018227" y="1828800"/>
            <a:ext cx="2152498" cy="3246120"/>
          </a:xfrm>
          <a:prstGeom prst="roundRect">
            <a:avLst>
              <a:gd name="adj" fmla="val 3398"/>
            </a:avLst>
          </a:prstGeom>
          <a:solidFill>
            <a:srgbClr val="FFFFFF"/>
          </a:solidFill>
          <a:ln w="9525">
            <a:solidFill>
              <a:srgbClr val="D8D0BF"/>
            </a:solidFill>
            <a:prstDash val="solid"/>
          </a:ln>
          <a:effectLst>
            <a:outerShdw sx="100000" sy="100000" kx="0" ky="0" algn="bl" rotWithShape="0" blurRad="50800" dist="19050" dir="5400000">
              <a:srgbClr val="000000">
                <a:alpha val="10000"/>
              </a:srgbClr>
            </a:outerShdw>
          </a:effectLst>
        </p:spPr>
      </p:sp>
      <p:sp>
        <p:nvSpPr>
          <p:cNvPr id="32" name="Shape 29"/>
          <p:cNvSpPr/>
          <p:nvPr/>
        </p:nvSpPr>
        <p:spPr>
          <a:xfrm>
            <a:off x="5127955" y="1938528"/>
            <a:ext cx="1933042" cy="566928"/>
          </a:xfrm>
          <a:prstGeom prst="roundRect">
            <a:avLst>
              <a:gd name="adj" fmla="val 9677"/>
            </a:avLst>
          </a:prstGeom>
          <a:solidFill>
            <a:srgbClr val="1E6B52"/>
          </a:solidFill>
          <a:ln w="12700">
            <a:solidFill>
              <a:srgbClr val="1E6B52"/>
            </a:solidFill>
            <a:prstDash val="solid"/>
          </a:ln>
        </p:spPr>
      </p:sp>
      <p:sp>
        <p:nvSpPr>
          <p:cNvPr id="33" name="Text 30"/>
          <p:cNvSpPr txBox="1"/>
          <p:nvPr/>
        </p:nvSpPr>
        <p:spPr>
          <a:xfrm>
            <a:off x="5164531" y="1956816"/>
            <a:ext cx="1859890" cy="329184"/>
          </a:xfrm>
          <a:prstGeom prst="rect">
            <a:avLst/>
          </a:prstGeom>
          <a:noFill/>
          <a:ln/>
        </p:spPr>
        <p:txBody>
          <a:bodyPr wrap="square" lIns="0" tIns="0" rIns="0" bIns="0" rtlCol="0" anchor="ctr"/>
          <a:lstStyle/>
          <a:p>
            <a:pPr algn="ctr" indent="0" marL="0">
              <a:buNone/>
            </a:pPr>
            <a:r>
              <a:rPr lang="en-US" sz="1000" b="1" spc="100" kern="0" dirty="0">
                <a:solidFill>
                  <a:srgbClr val="FFFFFF"/>
                </a:solidFill>
                <a:latin typeface="Calibri" pitchFamily="34" charset="0"/>
                <a:cs typeface="Amiri" pitchFamily="2" charset="-78"/>
              </a:rPr>
              <a:t>YOU DO</a:t>
            </a:r>
            <a:endParaRPr lang="en-US" sz="1000" dirty="0"/>
          </a:p>
        </p:txBody>
      </p:sp>
      <p:sp>
        <p:nvSpPr>
          <p:cNvPr id="34" name="Text 31"/>
          <p:cNvSpPr txBox="1"/>
          <p:nvPr/>
        </p:nvSpPr>
        <p:spPr>
          <a:xfrm>
            <a:off x="5164531" y="2249424"/>
            <a:ext cx="1859890" cy="237744"/>
          </a:xfrm>
          <a:prstGeom prst="rect">
            <a:avLst/>
          </a:prstGeom>
          <a:noFill/>
          <a:ln/>
        </p:spPr>
        <p:txBody>
          <a:bodyPr wrap="square" lIns="0" tIns="0" rIns="0" bIns="0" rtlCol="0" anchor="ctr"/>
          <a:lstStyle/>
          <a:p>
            <a:pPr algn="ctr" indent="0" marL="0">
              <a:buNone/>
            </a:pPr>
            <a:r>
              <a:rPr lang="en-US" sz="1000" dirty="0">
                <a:solidFill>
                  <a:srgbClr val="E8EDF5"/>
                </a:solidFill>
                <a:latin typeface="Calibri" pitchFamily="34" charset="0"/>
                <a:cs typeface="Amiri" pitchFamily="2" charset="-78"/>
              </a:rPr>
              <a:t>22 min</a:t>
            </a:r>
            <a:endParaRPr lang="en-US" sz="1000" dirty="0"/>
          </a:p>
        </p:txBody>
      </p:sp>
      <p:sp>
        <p:nvSpPr>
          <p:cNvPr id="35" name="Shape 32"/>
          <p:cNvSpPr/>
          <p:nvPr/>
        </p:nvSpPr>
        <p:spPr>
          <a:xfrm>
            <a:off x="5893308" y="2651760"/>
            <a:ext cx="402336" cy="402336"/>
          </a:xfrm>
          <a:prstGeom prst="ellipse">
            <a:avLst/>
          </a:prstGeom>
          <a:solidFill>
            <a:srgbClr val="F4F1EA"/>
          </a:solidFill>
          <a:ln w="12700">
            <a:solidFill>
              <a:srgbClr val="F4F1EA"/>
            </a:solidFill>
            <a:prstDash val="solid"/>
          </a:ln>
        </p:spPr>
      </p:sp>
      <p:sp>
        <p:nvSpPr>
          <p:cNvPr id="36" name="Text 33"/>
          <p:cNvSpPr txBox="1"/>
          <p:nvPr/>
        </p:nvSpPr>
        <p:spPr>
          <a:xfrm>
            <a:off x="5893308" y="2651760"/>
            <a:ext cx="402336" cy="402336"/>
          </a:xfrm>
          <a:prstGeom prst="rect">
            <a:avLst/>
          </a:prstGeom>
          <a:noFill/>
          <a:ln/>
        </p:spPr>
        <p:txBody>
          <a:bodyPr wrap="square" lIns="0" tIns="0" rIns="0" bIns="0" rtlCol="0" anchor="ctr"/>
          <a:lstStyle/>
          <a:p>
            <a:pPr algn="ctr" indent="0" marL="0">
              <a:buNone/>
            </a:pPr>
            <a:r>
              <a:rPr lang="en-US" sz="1300" b="1" dirty="0">
                <a:solidFill>
                  <a:srgbClr val="1B3B6F"/>
                </a:solidFill>
                <a:latin typeface="Calibri" pitchFamily="34" charset="0"/>
                <a:cs typeface="Amiri" pitchFamily="2" charset="-78"/>
              </a:rPr>
              <a:t>3</a:t>
            </a:r>
            <a:endParaRPr lang="en-US" sz="1300" dirty="0"/>
          </a:p>
        </p:txBody>
      </p:sp>
      <p:sp>
        <p:nvSpPr>
          <p:cNvPr id="37" name="Text 34"/>
          <p:cNvSpPr txBox="1"/>
          <p:nvPr/>
        </p:nvSpPr>
        <p:spPr>
          <a:xfrm>
            <a:off x="5146243" y="3145536"/>
            <a:ext cx="1896466" cy="1417320"/>
          </a:xfrm>
          <a:prstGeom prst="rect">
            <a:avLst/>
          </a:prstGeom>
          <a:noFill/>
          <a:ln/>
        </p:spPr>
        <p:txBody>
          <a:bodyPr wrap="square" lIns="0" tIns="0" rIns="0" bIns="0" rtlCol="0" anchor="t"/>
          <a:lstStyle/>
          <a:p>
            <a:pPr algn="ctr" indent="0" marL="0">
              <a:buNone/>
            </a:pPr>
            <a:r>
              <a:rPr lang="en-US" sz="1200" dirty="0">
                <a:solidFill>
                  <a:srgbClr val="1F2A37"/>
                </a:solidFill>
                <a:latin typeface="Calibri" pitchFamily="34" charset="0"/>
                <a:cs typeface="Amiri" pitchFamily="2" charset="-78"/>
              </a:rPr>
              <a:t>Part 2 · Speak: say the model dialogue · question cards · role-play card · short talk.</a:t>
            </a:r>
            <a:endParaRPr lang="en-US" sz="1200" dirty="0"/>
          </a:p>
        </p:txBody>
      </p:sp>
      <p:sp>
        <p:nvSpPr>
          <p:cNvPr id="38" name="Text 35"/>
          <p:cNvSpPr txBox="1"/>
          <p:nvPr/>
        </p:nvSpPr>
        <p:spPr>
          <a:xfrm>
            <a:off x="5109667" y="4526280"/>
            <a:ext cx="1969618" cy="438912"/>
          </a:xfrm>
          <a:prstGeom prst="rect">
            <a:avLst/>
          </a:prstGeom>
          <a:noFill/>
          <a:ln/>
        </p:spPr>
        <p:txBody>
          <a:bodyPr wrap="square" lIns="0" tIns="0" rIns="0" bIns="0" rtlCol="0" anchor="ctr"/>
          <a:lstStyle/>
          <a:p>
            <a:pPr rtl="1" algn="ctr" indent="0" marL="0">
              <a:buNone/>
            </a:pPr>
            <a:r>
              <a:rPr lang="ar-SA" altLang="en-US" sz="1500" b="1" dirty="0">
                <a:solidFill>
                  <a:srgbClr val="1E6B52"/>
                </a:solidFill>
                <a:latin typeface="Amiri" pitchFamily="2" charset="-78"/>
                <a:ea typeface="Amiri" pitchFamily="2" charset="-78"/>
                <a:cs typeface="Amiri" pitchFamily="2" charset="-78"/>
              </a:rPr>
              <a:t>تَكَلَّمْ</a:t>
            </a:r>
            <a:endParaRPr lang="ar-SA" sz="1500" dirty="0"/>
          </a:p>
        </p:txBody>
      </p:sp>
      <p:sp>
        <p:nvSpPr>
          <p:cNvPr id="39" name="Shape 36"/>
          <p:cNvSpPr/>
          <p:nvPr/>
        </p:nvSpPr>
        <p:spPr>
          <a:xfrm>
            <a:off x="7298741" y="1828800"/>
            <a:ext cx="2152498" cy="3246120"/>
          </a:xfrm>
          <a:prstGeom prst="roundRect">
            <a:avLst>
              <a:gd name="adj" fmla="val 3398"/>
            </a:avLst>
          </a:prstGeom>
          <a:solidFill>
            <a:srgbClr val="FFFFFF"/>
          </a:solidFill>
          <a:ln w="9525">
            <a:solidFill>
              <a:srgbClr val="D8D0BF"/>
            </a:solidFill>
            <a:prstDash val="solid"/>
          </a:ln>
          <a:effectLst>
            <a:outerShdw sx="100000" sy="100000" kx="0" ky="0" algn="bl" rotWithShape="0" blurRad="50800" dist="19050" dir="5400000">
              <a:srgbClr val="000000">
                <a:alpha val="10000"/>
              </a:srgbClr>
            </a:outerShdw>
          </a:effectLst>
        </p:spPr>
      </p:sp>
      <p:sp>
        <p:nvSpPr>
          <p:cNvPr id="40" name="Shape 37"/>
          <p:cNvSpPr/>
          <p:nvPr/>
        </p:nvSpPr>
        <p:spPr>
          <a:xfrm>
            <a:off x="7408469" y="1938528"/>
            <a:ext cx="1933042" cy="566928"/>
          </a:xfrm>
          <a:prstGeom prst="roundRect">
            <a:avLst>
              <a:gd name="adj" fmla="val 9677"/>
            </a:avLst>
          </a:prstGeom>
          <a:solidFill>
            <a:srgbClr val="1E6B52"/>
          </a:solidFill>
          <a:ln w="12700">
            <a:solidFill>
              <a:srgbClr val="1E6B52"/>
            </a:solidFill>
            <a:prstDash val="solid"/>
          </a:ln>
        </p:spPr>
      </p:sp>
      <p:sp>
        <p:nvSpPr>
          <p:cNvPr id="41" name="Text 38"/>
          <p:cNvSpPr txBox="1"/>
          <p:nvPr/>
        </p:nvSpPr>
        <p:spPr>
          <a:xfrm>
            <a:off x="7445045" y="1956816"/>
            <a:ext cx="1859890" cy="329184"/>
          </a:xfrm>
          <a:prstGeom prst="rect">
            <a:avLst/>
          </a:prstGeom>
          <a:noFill/>
          <a:ln/>
        </p:spPr>
        <p:txBody>
          <a:bodyPr wrap="square" lIns="0" tIns="0" rIns="0" bIns="0" rtlCol="0" anchor="ctr"/>
          <a:lstStyle/>
          <a:p>
            <a:pPr algn="ctr" indent="0" marL="0">
              <a:buNone/>
            </a:pPr>
            <a:r>
              <a:rPr lang="en-US" sz="1000" b="1" spc="100" kern="0" dirty="0">
                <a:solidFill>
                  <a:srgbClr val="FFFFFF"/>
                </a:solidFill>
                <a:latin typeface="Calibri" pitchFamily="34" charset="0"/>
                <a:cs typeface="Amiri" pitchFamily="2" charset="-78"/>
              </a:rPr>
              <a:t>YOU DO</a:t>
            </a:r>
            <a:endParaRPr lang="en-US" sz="1000" dirty="0"/>
          </a:p>
        </p:txBody>
      </p:sp>
      <p:sp>
        <p:nvSpPr>
          <p:cNvPr id="42" name="Text 39"/>
          <p:cNvSpPr txBox="1"/>
          <p:nvPr/>
        </p:nvSpPr>
        <p:spPr>
          <a:xfrm>
            <a:off x="7445045" y="2249424"/>
            <a:ext cx="1859890" cy="237744"/>
          </a:xfrm>
          <a:prstGeom prst="rect">
            <a:avLst/>
          </a:prstGeom>
          <a:noFill/>
          <a:ln/>
        </p:spPr>
        <p:txBody>
          <a:bodyPr wrap="square" lIns="0" tIns="0" rIns="0" bIns="0" rtlCol="0" anchor="ctr"/>
          <a:lstStyle/>
          <a:p>
            <a:pPr algn="ctr" indent="0" marL="0">
              <a:buNone/>
            </a:pPr>
            <a:r>
              <a:rPr lang="en-US" sz="1000" dirty="0">
                <a:solidFill>
                  <a:srgbClr val="E8EDF5"/>
                </a:solidFill>
                <a:latin typeface="Calibri" pitchFamily="34" charset="0"/>
                <a:cs typeface="Amiri" pitchFamily="2" charset="-78"/>
              </a:rPr>
              <a:t>19 min</a:t>
            </a:r>
            <a:endParaRPr lang="en-US" sz="1000" dirty="0"/>
          </a:p>
        </p:txBody>
      </p:sp>
      <p:sp>
        <p:nvSpPr>
          <p:cNvPr id="43" name="Shape 40"/>
          <p:cNvSpPr/>
          <p:nvPr/>
        </p:nvSpPr>
        <p:spPr>
          <a:xfrm>
            <a:off x="8173822" y="2651760"/>
            <a:ext cx="402336" cy="402336"/>
          </a:xfrm>
          <a:prstGeom prst="ellipse">
            <a:avLst/>
          </a:prstGeom>
          <a:solidFill>
            <a:srgbClr val="F4F1EA"/>
          </a:solidFill>
          <a:ln w="12700">
            <a:solidFill>
              <a:srgbClr val="F4F1EA"/>
            </a:solidFill>
            <a:prstDash val="solid"/>
          </a:ln>
        </p:spPr>
      </p:sp>
      <p:sp>
        <p:nvSpPr>
          <p:cNvPr id="44" name="Text 41"/>
          <p:cNvSpPr txBox="1"/>
          <p:nvPr/>
        </p:nvSpPr>
        <p:spPr>
          <a:xfrm>
            <a:off x="8173822" y="2651760"/>
            <a:ext cx="402336" cy="402336"/>
          </a:xfrm>
          <a:prstGeom prst="rect">
            <a:avLst/>
          </a:prstGeom>
          <a:noFill/>
          <a:ln/>
        </p:spPr>
        <p:txBody>
          <a:bodyPr wrap="square" lIns="0" tIns="0" rIns="0" bIns="0" rtlCol="0" anchor="ctr"/>
          <a:lstStyle/>
          <a:p>
            <a:pPr algn="ctr" indent="0" marL="0">
              <a:buNone/>
            </a:pPr>
            <a:r>
              <a:rPr lang="en-US" sz="1300" b="1" dirty="0">
                <a:solidFill>
                  <a:srgbClr val="1B3B6F"/>
                </a:solidFill>
                <a:latin typeface="Calibri" pitchFamily="34" charset="0"/>
                <a:cs typeface="Amiri" pitchFamily="2" charset="-78"/>
              </a:rPr>
              <a:t>4</a:t>
            </a:r>
            <a:endParaRPr lang="en-US" sz="1300" dirty="0"/>
          </a:p>
        </p:txBody>
      </p:sp>
      <p:sp>
        <p:nvSpPr>
          <p:cNvPr id="45" name="Text 42"/>
          <p:cNvSpPr txBox="1"/>
          <p:nvPr/>
        </p:nvSpPr>
        <p:spPr>
          <a:xfrm>
            <a:off x="7426757" y="3145536"/>
            <a:ext cx="1896466" cy="1417320"/>
          </a:xfrm>
          <a:prstGeom prst="rect">
            <a:avLst/>
          </a:prstGeom>
          <a:noFill/>
          <a:ln/>
        </p:spPr>
        <p:txBody>
          <a:bodyPr wrap="square" lIns="0" tIns="0" rIns="0" bIns="0" rtlCol="0" anchor="t"/>
          <a:lstStyle/>
          <a:p>
            <a:pPr algn="ctr" indent="0" marL="0">
              <a:buNone/>
            </a:pPr>
            <a:r>
              <a:rPr lang="en-US" sz="1200" dirty="0">
                <a:solidFill>
                  <a:srgbClr val="1F2A37"/>
                </a:solidFill>
                <a:latin typeface="Calibri" pitchFamily="34" charset="0"/>
                <a:cs typeface="Amiri" pitchFamily="2" charset="-78"/>
              </a:rPr>
              <a:t>Part 3 · Write: sentence builder · spot and fix · write your text · buddy check.</a:t>
            </a:r>
            <a:endParaRPr lang="en-US" sz="1200" dirty="0"/>
          </a:p>
        </p:txBody>
      </p:sp>
      <p:sp>
        <p:nvSpPr>
          <p:cNvPr id="46" name="Text 43"/>
          <p:cNvSpPr txBox="1"/>
          <p:nvPr/>
        </p:nvSpPr>
        <p:spPr>
          <a:xfrm>
            <a:off x="7390181" y="4526280"/>
            <a:ext cx="1969618" cy="438912"/>
          </a:xfrm>
          <a:prstGeom prst="rect">
            <a:avLst/>
          </a:prstGeom>
          <a:noFill/>
          <a:ln/>
        </p:spPr>
        <p:txBody>
          <a:bodyPr wrap="square" lIns="0" tIns="0" rIns="0" bIns="0" rtlCol="0" anchor="ctr"/>
          <a:lstStyle/>
          <a:p>
            <a:pPr rtl="1" algn="ctr" indent="0" marL="0">
              <a:buNone/>
            </a:pPr>
            <a:r>
              <a:rPr lang="ar-SA" altLang="en-US" sz="1500" b="1" dirty="0">
                <a:solidFill>
                  <a:srgbClr val="1E6B52"/>
                </a:solidFill>
                <a:latin typeface="Amiri" pitchFamily="2" charset="-78"/>
                <a:ea typeface="Amiri" pitchFamily="2" charset="-78"/>
                <a:cs typeface="Amiri" pitchFamily="2" charset="-78"/>
              </a:rPr>
              <a:t>اكْتُبْ</a:t>
            </a:r>
            <a:endParaRPr lang="ar-SA" sz="1500" dirty="0"/>
          </a:p>
        </p:txBody>
      </p:sp>
      <p:sp>
        <p:nvSpPr>
          <p:cNvPr id="47" name="Shape 44"/>
          <p:cNvSpPr/>
          <p:nvPr/>
        </p:nvSpPr>
        <p:spPr>
          <a:xfrm>
            <a:off x="9579254" y="1828800"/>
            <a:ext cx="2152498" cy="3246120"/>
          </a:xfrm>
          <a:prstGeom prst="roundRect">
            <a:avLst>
              <a:gd name="adj" fmla="val 3398"/>
            </a:avLst>
          </a:prstGeom>
          <a:solidFill>
            <a:srgbClr val="FFFFFF"/>
          </a:solidFill>
          <a:ln w="9525">
            <a:solidFill>
              <a:srgbClr val="D8D0BF"/>
            </a:solidFill>
            <a:prstDash val="solid"/>
          </a:ln>
          <a:effectLst>
            <a:outerShdw sx="100000" sy="100000" kx="0" ky="0" algn="bl" rotWithShape="0" blurRad="50800" dist="19050" dir="5400000">
              <a:srgbClr val="000000">
                <a:alpha val="10000"/>
              </a:srgbClr>
            </a:outerShdw>
          </a:effectLst>
        </p:spPr>
      </p:sp>
      <p:sp>
        <p:nvSpPr>
          <p:cNvPr id="48" name="Shape 45"/>
          <p:cNvSpPr/>
          <p:nvPr/>
        </p:nvSpPr>
        <p:spPr>
          <a:xfrm>
            <a:off x="9688982" y="1938528"/>
            <a:ext cx="1933042" cy="566928"/>
          </a:xfrm>
          <a:prstGeom prst="roundRect">
            <a:avLst>
              <a:gd name="adj" fmla="val 9677"/>
            </a:avLst>
          </a:prstGeom>
          <a:solidFill>
            <a:srgbClr val="8A6D1E"/>
          </a:solidFill>
          <a:ln w="12700">
            <a:solidFill>
              <a:srgbClr val="8A6D1E"/>
            </a:solidFill>
            <a:prstDash val="solid"/>
          </a:ln>
        </p:spPr>
      </p:sp>
      <p:sp>
        <p:nvSpPr>
          <p:cNvPr id="49" name="Text 46"/>
          <p:cNvSpPr txBox="1"/>
          <p:nvPr/>
        </p:nvSpPr>
        <p:spPr>
          <a:xfrm>
            <a:off x="9725558" y="1956816"/>
            <a:ext cx="1859890" cy="329184"/>
          </a:xfrm>
          <a:prstGeom prst="rect">
            <a:avLst/>
          </a:prstGeom>
          <a:noFill/>
          <a:ln/>
        </p:spPr>
        <p:txBody>
          <a:bodyPr wrap="square" lIns="0" tIns="0" rIns="0" bIns="0" rtlCol="0" anchor="ctr"/>
          <a:lstStyle/>
          <a:p>
            <a:pPr algn="ctr" indent="0" marL="0">
              <a:buNone/>
            </a:pPr>
            <a:r>
              <a:rPr lang="en-US" sz="1000" b="1" spc="100" kern="0" dirty="0">
                <a:solidFill>
                  <a:srgbClr val="FFFFFF"/>
                </a:solidFill>
                <a:latin typeface="Calibri" pitchFamily="34" charset="0"/>
                <a:cs typeface="Amiri" pitchFamily="2" charset="-78"/>
              </a:rPr>
              <a:t>FEEDBACK</a:t>
            </a:r>
            <a:endParaRPr lang="en-US" sz="1000" dirty="0"/>
          </a:p>
        </p:txBody>
      </p:sp>
      <p:sp>
        <p:nvSpPr>
          <p:cNvPr id="50" name="Text 47"/>
          <p:cNvSpPr txBox="1"/>
          <p:nvPr/>
        </p:nvSpPr>
        <p:spPr>
          <a:xfrm>
            <a:off x="9725558" y="2249424"/>
            <a:ext cx="1859890" cy="237744"/>
          </a:xfrm>
          <a:prstGeom prst="rect">
            <a:avLst/>
          </a:prstGeom>
          <a:noFill/>
          <a:ln/>
        </p:spPr>
        <p:txBody>
          <a:bodyPr wrap="square" lIns="0" tIns="0" rIns="0" bIns="0" rtlCol="0" anchor="ctr"/>
          <a:lstStyle/>
          <a:p>
            <a:pPr algn="ctr" indent="0" marL="0">
              <a:buNone/>
            </a:pPr>
            <a:r>
              <a:rPr lang="en-US" sz="1000" dirty="0">
                <a:solidFill>
                  <a:srgbClr val="E8EDF5"/>
                </a:solidFill>
                <a:latin typeface="Calibri" pitchFamily="34" charset="0"/>
                <a:cs typeface="Amiri" pitchFamily="2" charset="-78"/>
              </a:rPr>
              <a:t>5 min</a:t>
            </a:r>
            <a:endParaRPr lang="en-US" sz="1000" dirty="0"/>
          </a:p>
        </p:txBody>
      </p:sp>
      <p:sp>
        <p:nvSpPr>
          <p:cNvPr id="51" name="Shape 48"/>
          <p:cNvSpPr/>
          <p:nvPr/>
        </p:nvSpPr>
        <p:spPr>
          <a:xfrm>
            <a:off x="10454335" y="2651760"/>
            <a:ext cx="402336" cy="402336"/>
          </a:xfrm>
          <a:prstGeom prst="ellipse">
            <a:avLst/>
          </a:prstGeom>
          <a:solidFill>
            <a:srgbClr val="F4F1EA"/>
          </a:solidFill>
          <a:ln w="12700">
            <a:solidFill>
              <a:srgbClr val="F4F1EA"/>
            </a:solidFill>
            <a:prstDash val="solid"/>
          </a:ln>
        </p:spPr>
      </p:sp>
      <p:sp>
        <p:nvSpPr>
          <p:cNvPr id="52" name="Text 49"/>
          <p:cNvSpPr txBox="1"/>
          <p:nvPr/>
        </p:nvSpPr>
        <p:spPr>
          <a:xfrm>
            <a:off x="10454335" y="2651760"/>
            <a:ext cx="402336" cy="402336"/>
          </a:xfrm>
          <a:prstGeom prst="rect">
            <a:avLst/>
          </a:prstGeom>
          <a:noFill/>
          <a:ln/>
        </p:spPr>
        <p:txBody>
          <a:bodyPr wrap="square" lIns="0" tIns="0" rIns="0" bIns="0" rtlCol="0" anchor="ctr"/>
          <a:lstStyle/>
          <a:p>
            <a:pPr algn="ctr" indent="0" marL="0">
              <a:buNone/>
            </a:pPr>
            <a:r>
              <a:rPr lang="en-US" sz="1300" b="1" dirty="0">
                <a:solidFill>
                  <a:srgbClr val="1B3B6F"/>
                </a:solidFill>
                <a:latin typeface="Calibri" pitchFamily="34" charset="0"/>
                <a:cs typeface="Amiri" pitchFamily="2" charset="-78"/>
              </a:rPr>
              <a:t>5</a:t>
            </a:r>
            <a:endParaRPr lang="en-US" sz="1300" dirty="0"/>
          </a:p>
        </p:txBody>
      </p:sp>
      <p:sp>
        <p:nvSpPr>
          <p:cNvPr id="53" name="Text 50"/>
          <p:cNvSpPr txBox="1"/>
          <p:nvPr/>
        </p:nvSpPr>
        <p:spPr>
          <a:xfrm>
            <a:off x="9707270" y="3145536"/>
            <a:ext cx="1896466" cy="1417320"/>
          </a:xfrm>
          <a:prstGeom prst="rect">
            <a:avLst/>
          </a:prstGeom>
          <a:noFill/>
          <a:ln/>
        </p:spPr>
        <p:txBody>
          <a:bodyPr wrap="square" lIns="0" tIns="0" rIns="0" bIns="0" rtlCol="0" anchor="t"/>
          <a:lstStyle/>
          <a:p>
            <a:pPr algn="ctr" indent="0" marL="0">
              <a:buNone/>
            </a:pPr>
            <a:r>
              <a:rPr lang="en-US" sz="1200" dirty="0">
                <a:solidFill>
                  <a:srgbClr val="1F2A37"/>
                </a:solidFill>
                <a:latin typeface="Calibri" pitchFamily="34" charset="0"/>
                <a:cs typeface="Amiri" pitchFamily="2" charset="-78"/>
              </a:rPr>
              <a:t>Check yourself with the models.</a:t>
            </a:r>
            <a:endParaRPr lang="en-US" sz="1200" dirty="0"/>
          </a:p>
        </p:txBody>
      </p:sp>
      <p:sp>
        <p:nvSpPr>
          <p:cNvPr id="54" name="Text 51"/>
          <p:cNvSpPr txBox="1"/>
          <p:nvPr/>
        </p:nvSpPr>
        <p:spPr>
          <a:xfrm>
            <a:off x="9670694" y="4526280"/>
            <a:ext cx="1969618" cy="438912"/>
          </a:xfrm>
          <a:prstGeom prst="rect">
            <a:avLst/>
          </a:prstGeom>
          <a:noFill/>
          <a:ln/>
        </p:spPr>
        <p:txBody>
          <a:bodyPr wrap="square" lIns="0" tIns="0" rIns="0" bIns="0" rtlCol="0" anchor="ctr"/>
          <a:lstStyle/>
          <a:p>
            <a:pPr rtl="1" algn="ctr" indent="0" marL="0">
              <a:buNone/>
            </a:pPr>
            <a:r>
              <a:rPr lang="ar-SA" altLang="en-US" sz="1500" b="1" dirty="0">
                <a:solidFill>
                  <a:srgbClr val="8A6D1E"/>
                </a:solidFill>
                <a:latin typeface="Amiri" pitchFamily="2" charset="-78"/>
                <a:ea typeface="Amiri" pitchFamily="2" charset="-78"/>
                <a:cs typeface="Amiri" pitchFamily="2" charset="-78"/>
              </a:rPr>
              <a:t>قَارِنْ</a:t>
            </a:r>
            <a:endParaRPr lang="ar-SA" sz="1500" dirty="0"/>
          </a:p>
        </p:txBody>
      </p:sp>
      <p:sp>
        <p:nvSpPr>
          <p:cNvPr id="55" name="Shape 52"/>
          <p:cNvSpPr/>
          <p:nvPr/>
        </p:nvSpPr>
        <p:spPr>
          <a:xfrm>
            <a:off x="457200" y="5285232"/>
            <a:ext cx="11274552" cy="1024128"/>
          </a:xfrm>
          <a:prstGeom prst="roundRect">
            <a:avLst>
              <a:gd name="adj" fmla="val 7143"/>
            </a:avLst>
          </a:prstGeom>
          <a:solidFill>
            <a:srgbClr val="E9F5EE"/>
          </a:solidFill>
          <a:ln w="9525">
            <a:solidFill>
              <a:srgbClr val="9CCFB0"/>
            </a:solidFill>
            <a:prstDash val="solid"/>
          </a:ln>
          <a:effectLst>
            <a:outerShdw sx="100000" sy="100000" kx="0" ky="0" algn="bl" rotWithShape="0" blurRad="50800" dist="19050" dir="5400000">
              <a:srgbClr val="000000">
                <a:alpha val="10000"/>
              </a:srgbClr>
            </a:outerShdw>
          </a:effectLst>
        </p:spPr>
      </p:sp>
      <p:sp>
        <p:nvSpPr>
          <p:cNvPr id="56" name="Text 53"/>
          <p:cNvSpPr txBox="1"/>
          <p:nvPr/>
        </p:nvSpPr>
        <p:spPr>
          <a:xfrm>
            <a:off x="685800" y="5358384"/>
            <a:ext cx="4572000" cy="274320"/>
          </a:xfrm>
          <a:prstGeom prst="rect">
            <a:avLst/>
          </a:prstGeom>
          <a:noFill/>
          <a:ln/>
        </p:spPr>
        <p:txBody>
          <a:bodyPr wrap="square" lIns="0" tIns="0" rIns="0" bIns="0" rtlCol="0" anchor="ctr"/>
          <a:lstStyle/>
          <a:p>
            <a:pPr algn="l" indent="0" marL="0">
              <a:buNone/>
            </a:pPr>
            <a:r>
              <a:rPr lang="en-US" sz="1000" b="1" spc="200" kern="0" dirty="0">
                <a:solidFill>
                  <a:srgbClr val="1E6B52"/>
                </a:solidFill>
                <a:latin typeface="Calibri" pitchFamily="34" charset="0"/>
                <a:cs typeface="Amiri" pitchFamily="2" charset="-78"/>
              </a:rPr>
              <a:t>HOW THE WORKSHOP RUNS</a:t>
            </a:r>
            <a:endParaRPr lang="en-US" sz="1000" dirty="0"/>
          </a:p>
        </p:txBody>
      </p:sp>
      <p:sp>
        <p:nvSpPr>
          <p:cNvPr id="57" name="Text 54"/>
          <p:cNvSpPr txBox="1"/>
          <p:nvPr/>
        </p:nvSpPr>
        <p:spPr>
          <a:xfrm>
            <a:off x="685800" y="5632704"/>
            <a:ext cx="10881360" cy="621792"/>
          </a:xfrm>
          <a:prstGeom prst="rect">
            <a:avLst/>
          </a:prstGeom>
          <a:noFill/>
          <a:ln/>
        </p:spPr>
        <p:txBody>
          <a:bodyPr wrap="square" lIns="0" tIns="0" rIns="0" bIns="0" rtlCol="0" anchor="t"/>
          <a:lstStyle/>
          <a:p>
            <a:pPr algn="l" indent="0" marL="0">
              <a:buNone/>
            </a:pPr>
            <a:r>
              <a:rPr lang="en-US" sz="1250" dirty="0">
                <a:solidFill>
                  <a:srgbClr val="1F2A37"/>
                </a:solidFill>
                <a:latin typeface="Calibri" pitchFamily="34" charset="0"/>
                <a:cs typeface="Amiri" pitchFamily="2" charset="-78"/>
              </a:rPr>
              <a:t>Today there is no new language: you USE the words and structures of the last two lessons together. Everybody speaks in every step and everybody writes their own text. Choose your route — Core, Develop or Stretch — and move up when you are ready.</a:t>
            </a:r>
            <a:endParaRPr lang="en-US" sz="1250" dirty="0"/>
          </a:p>
        </p:txBody>
      </p:sp>
      <p:sp>
        <p:nvSpPr>
          <p:cNvPr id="58" name="Text 55"/>
          <p:cNvSpPr txBox="1"/>
          <p:nvPr/>
        </p:nvSpPr>
        <p:spPr>
          <a:xfrm>
            <a:off x="10360152" y="6455664"/>
            <a:ext cx="1371600" cy="219456"/>
          </a:xfrm>
          <a:prstGeom prst="rect">
            <a:avLst/>
          </a:prstGeom>
          <a:noFill/>
          <a:ln/>
        </p:spPr>
        <p:txBody>
          <a:bodyPr wrap="square" lIns="0" tIns="0" rIns="0" bIns="0" rtlCol="0" anchor="ctr"/>
          <a:lstStyle/>
          <a:p>
            <a:pPr algn="r" indent="0" marL="0">
              <a:buNone/>
            </a:pPr>
            <a:r>
              <a:rPr lang="en-US" sz="850" dirty="0">
                <a:solidFill>
                  <a:srgbClr val="8A93A0"/>
                </a:solidFill>
                <a:latin typeface="Calibri" pitchFamily="34" charset="0"/>
                <a:cs typeface="Amiri" pitchFamily="2" charset="-78"/>
              </a:rPr>
              <a:t>3 / 24</a:t>
            </a:r>
            <a:endParaRPr lang="en-US" sz="850" dirty="0"/>
          </a:p>
        </p:txBody>
      </p:sp>
    </p:spTree>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name="Slide 4">
    <p:bg>
      <p:bgPr>
        <a:solidFill>
          <a:srgbClr val="FFFDF8"/>
        </a:solidFill>
      </p:bgPr>
    </p:bg>
    <p:spTree>
      <p:nvGrpSpPr>
        <p:cNvPr id="1" name=""/>
        <p:cNvGrpSpPr/>
        <p:nvPr/>
      </p:nvGrpSpPr>
      <p:grpSpPr>
        <a:xfrm>
          <a:off x="0" y="0"/>
          <a:ext cx="0" cy="0"/>
          <a:chOff x="0" y="0"/>
          <a:chExt cx="0" cy="0"/>
        </a:xfrm>
      </p:grpSpPr>
      <p:sp>
        <p:nvSpPr>
          <p:cNvPr id="2" name="Shape 0"/>
          <p:cNvSpPr/>
          <p:nvPr/>
        </p:nvSpPr>
        <p:spPr>
          <a:xfrm>
            <a:off x="457200" y="237744"/>
            <a:ext cx="420624" cy="420624"/>
          </a:xfrm>
          <a:prstGeom prst="ellipse">
            <a:avLst/>
          </a:prstGeom>
          <a:solidFill>
            <a:srgbClr val="1B3B6F"/>
          </a:solidFill>
          <a:ln w="12700">
            <a:solidFill>
              <a:srgbClr val="D4AF37"/>
            </a:solidFill>
            <a:prstDash val="solid"/>
          </a:ln>
        </p:spPr>
      </p:sp>
      <p:sp>
        <p:nvSpPr>
          <p:cNvPr id="3" name="Text 1"/>
          <p:cNvSpPr txBox="1"/>
          <p:nvPr/>
        </p:nvSpPr>
        <p:spPr>
          <a:xfrm>
            <a:off x="457200" y="219456"/>
            <a:ext cx="420624" cy="420624"/>
          </a:xfrm>
          <a:prstGeom prst="rect">
            <a:avLst/>
          </a:prstGeom>
          <a:noFill/>
          <a:ln/>
        </p:spPr>
        <p:txBody>
          <a:bodyPr wrap="square" lIns="0" tIns="0" rIns="0" bIns="0" rtlCol="0" anchor="ctr"/>
          <a:lstStyle/>
          <a:p>
            <a:pPr rtl="1" algn="ctr" indent="0" marL="0">
              <a:buNone/>
            </a:pPr>
            <a:r>
              <a:rPr lang="ar-SA" altLang="en-US" sz="1800" b="1" dirty="0">
                <a:solidFill>
                  <a:srgbClr val="D4AF37"/>
                </a:solidFill>
                <a:latin typeface="Amiri" pitchFamily="2" charset="-78"/>
                <a:ea typeface="Amiri" pitchFamily="2" charset="-78"/>
                <a:cs typeface="Amiri" pitchFamily="2" charset="-78"/>
              </a:rPr>
              <a:t>م</a:t>
            </a:r>
            <a:endParaRPr lang="ar-SA" sz="1800" dirty="0"/>
          </a:p>
        </p:txBody>
      </p:sp>
      <p:sp>
        <p:nvSpPr>
          <p:cNvPr id="4" name="Text 2"/>
          <p:cNvSpPr txBox="1"/>
          <p:nvPr/>
        </p:nvSpPr>
        <p:spPr>
          <a:xfrm>
            <a:off x="960120" y="219456"/>
            <a:ext cx="3657600" cy="256032"/>
          </a:xfrm>
          <a:prstGeom prst="rect">
            <a:avLst/>
          </a:prstGeom>
          <a:noFill/>
          <a:ln/>
        </p:spPr>
        <p:txBody>
          <a:bodyPr wrap="square" lIns="0" tIns="0" rIns="0" bIns="0" rtlCol="0" anchor="ctr"/>
          <a:lstStyle/>
          <a:p>
            <a:pPr indent="0" marL="0">
              <a:buNone/>
            </a:pPr>
            <a:r>
              <a:rPr lang="en-US" sz="1200" b="1" dirty="0">
                <a:solidFill>
                  <a:srgbClr val="1B3B6F"/>
                </a:solidFill>
                <a:latin typeface="Cambria" pitchFamily="34" charset="0"/>
                <a:cs typeface="Amiri" pitchFamily="2" charset="-78"/>
              </a:rPr>
              <a:t>Al Madina Online School</a:t>
            </a:r>
            <a:endParaRPr lang="en-US" sz="1200" dirty="0"/>
          </a:p>
        </p:txBody>
      </p:sp>
      <p:sp>
        <p:nvSpPr>
          <p:cNvPr id="5" name="Text 3"/>
          <p:cNvSpPr txBox="1"/>
          <p:nvPr/>
        </p:nvSpPr>
        <p:spPr>
          <a:xfrm>
            <a:off x="960120" y="457200"/>
            <a:ext cx="4572000" cy="182880"/>
          </a:xfrm>
          <a:prstGeom prst="rect">
            <a:avLst/>
          </a:prstGeom>
          <a:noFill/>
          <a:ln/>
        </p:spPr>
        <p:txBody>
          <a:bodyPr wrap="square" lIns="0" tIns="0" rIns="0" bIns="0" rtlCol="0" anchor="ctr"/>
          <a:lstStyle/>
          <a:p>
            <a:pPr indent="0" marL="0">
              <a:buNone/>
            </a:pPr>
            <a:r>
              <a:rPr lang="en-US" sz="800" b="1" spc="200" kern="0" dirty="0">
                <a:solidFill>
                  <a:srgbClr val="8A6D1E"/>
                </a:solidFill>
                <a:latin typeface="Calibri" pitchFamily="34" charset="0"/>
                <a:cs typeface="Amiri" pitchFamily="2" charset="-78"/>
              </a:rPr>
              <a:t>ARABIC DEPARTMENT · MIFTAH ARABIC · IGCSE 0544</a:t>
            </a:r>
            <a:endParaRPr lang="en-US" sz="800" dirty="0"/>
          </a:p>
        </p:txBody>
      </p:sp>
      <p:sp>
        <p:nvSpPr>
          <p:cNvPr id="6" name="Shape 4"/>
          <p:cNvSpPr/>
          <p:nvPr/>
        </p:nvSpPr>
        <p:spPr>
          <a:xfrm>
            <a:off x="8897112" y="274320"/>
            <a:ext cx="2834640" cy="329184"/>
          </a:xfrm>
          <a:prstGeom prst="roundRect">
            <a:avLst>
              <a:gd name="adj" fmla="val 50000"/>
            </a:avLst>
          </a:prstGeom>
          <a:solidFill>
            <a:srgbClr val="1B3B6F"/>
          </a:solidFill>
          <a:ln w="12700">
            <a:solidFill>
              <a:srgbClr val="1B3B6F"/>
            </a:solidFill>
            <a:prstDash val="solid"/>
          </a:ln>
        </p:spPr>
      </p:sp>
      <p:sp>
        <p:nvSpPr>
          <p:cNvPr id="7" name="Text 5"/>
          <p:cNvSpPr txBox="1"/>
          <p:nvPr/>
        </p:nvSpPr>
        <p:spPr>
          <a:xfrm>
            <a:off x="8897112" y="274320"/>
            <a:ext cx="2834640" cy="329184"/>
          </a:xfrm>
          <a:prstGeom prst="rect">
            <a:avLst/>
          </a:prstGeom>
          <a:noFill/>
          <a:ln/>
        </p:spPr>
        <p:txBody>
          <a:bodyPr wrap="square" lIns="0" tIns="0" rIns="0" bIns="0" rtlCol="0" anchor="ctr"/>
          <a:lstStyle/>
          <a:p>
            <a:pPr algn="ctr" indent="0" marL="0">
              <a:buNone/>
            </a:pPr>
            <a:r>
              <a:rPr lang="en-US" sz="950" b="1" spc="100" kern="0" dirty="0">
                <a:solidFill>
                  <a:srgbClr val="FFFFFF"/>
                </a:solidFill>
                <a:latin typeface="Calibri" pitchFamily="34" charset="0"/>
                <a:cs typeface="Amiri" pitchFamily="2" charset="-78"/>
              </a:rPr>
              <a:t>F6-W03 · Apply workshop</a:t>
            </a:r>
            <a:endParaRPr lang="en-US" sz="950" dirty="0"/>
          </a:p>
        </p:txBody>
      </p:sp>
      <p:sp>
        <p:nvSpPr>
          <p:cNvPr id="8" name="Shape 6"/>
          <p:cNvSpPr/>
          <p:nvPr/>
        </p:nvSpPr>
        <p:spPr>
          <a:xfrm>
            <a:off x="6308446" y="274320"/>
            <a:ext cx="2451506" cy="329184"/>
          </a:xfrm>
          <a:prstGeom prst="roundRect">
            <a:avLst>
              <a:gd name="adj" fmla="val 50000"/>
            </a:avLst>
          </a:prstGeom>
          <a:solidFill>
            <a:srgbClr val="1B3B6F"/>
          </a:solidFill>
          <a:ln w="12700">
            <a:solidFill>
              <a:srgbClr val="1B3B6F"/>
            </a:solidFill>
            <a:prstDash val="solid"/>
          </a:ln>
        </p:spPr>
      </p:sp>
      <p:sp>
        <p:nvSpPr>
          <p:cNvPr id="9" name="Text 7"/>
          <p:cNvSpPr txBox="1"/>
          <p:nvPr/>
        </p:nvSpPr>
        <p:spPr>
          <a:xfrm>
            <a:off x="6308446" y="274320"/>
            <a:ext cx="2451506" cy="329184"/>
          </a:xfrm>
          <a:prstGeom prst="rect">
            <a:avLst/>
          </a:prstGeom>
          <a:noFill/>
          <a:ln/>
        </p:spPr>
        <p:txBody>
          <a:bodyPr wrap="square" lIns="0" tIns="0" rIns="0" bIns="0" rtlCol="0" anchor="ctr"/>
          <a:lstStyle/>
          <a:p>
            <a:pPr algn="ctr" indent="0" marL="0">
              <a:buNone/>
            </a:pPr>
            <a:r>
              <a:rPr lang="en-US" sz="900" b="1" spc="100" kern="0" dirty="0">
                <a:solidFill>
                  <a:srgbClr val="FFFFFF"/>
                </a:solidFill>
                <a:latin typeface="Calibri" pitchFamily="34" charset="0"/>
                <a:cs typeface="Amiri" pitchFamily="2" charset="-78"/>
              </a:rPr>
              <a:t>TEACHER INSTRUCTION · 3 MIN</a:t>
            </a:r>
            <a:endParaRPr lang="en-US" sz="900" dirty="0"/>
          </a:p>
        </p:txBody>
      </p:sp>
      <p:sp>
        <p:nvSpPr>
          <p:cNvPr id="10" name="Text 8"/>
          <p:cNvSpPr txBox="1"/>
          <p:nvPr/>
        </p:nvSpPr>
        <p:spPr>
          <a:xfrm>
            <a:off x="457200" y="822960"/>
            <a:ext cx="6949440" cy="237744"/>
          </a:xfrm>
          <a:prstGeom prst="rect">
            <a:avLst/>
          </a:prstGeom>
          <a:noFill/>
          <a:ln/>
        </p:spPr>
        <p:txBody>
          <a:bodyPr wrap="square" lIns="0" tIns="0" rIns="0" bIns="0" rtlCol="0" anchor="ctr"/>
          <a:lstStyle/>
          <a:p>
            <a:pPr algn="l" indent="0" marL="0">
              <a:buNone/>
            </a:pPr>
            <a:r>
              <a:rPr lang="en-US" sz="1000" b="1" spc="300" kern="0" dirty="0">
                <a:solidFill>
                  <a:srgbClr val="1B3B6F"/>
                </a:solidFill>
                <a:latin typeface="Calibri" pitchFamily="34" charset="0"/>
                <a:cs typeface="Amiri" pitchFamily="2" charset="-78"/>
              </a:rPr>
              <a:t>WHAT WE LEARNT THIS WEEK · F6-L05 + F6-L06</a:t>
            </a:r>
            <a:endParaRPr lang="en-US" sz="1000" dirty="0"/>
          </a:p>
        </p:txBody>
      </p:sp>
      <p:sp>
        <p:nvSpPr>
          <p:cNvPr id="11" name="Text 9"/>
          <p:cNvSpPr txBox="1"/>
          <p:nvPr/>
        </p:nvSpPr>
        <p:spPr>
          <a:xfrm>
            <a:off x="457200" y="1033272"/>
            <a:ext cx="6949440" cy="566928"/>
          </a:xfrm>
          <a:prstGeom prst="rect">
            <a:avLst/>
          </a:prstGeom>
          <a:noFill/>
          <a:ln/>
        </p:spPr>
        <p:txBody>
          <a:bodyPr wrap="square" lIns="0" tIns="0" rIns="0" bIns="0" rtlCol="0" anchor="ctr"/>
          <a:lstStyle/>
          <a:p>
            <a:pPr algn="l" indent="0" marL="0">
              <a:buNone/>
            </a:pPr>
            <a:r>
              <a:rPr lang="en-US" sz="2250" b="1" dirty="0">
                <a:solidFill>
                  <a:srgbClr val="1B3B6F"/>
                </a:solidFill>
                <a:latin typeface="Cambria" pitchFamily="34" charset="0"/>
                <a:cs typeface="Amiri" pitchFamily="2" charset="-78"/>
              </a:rPr>
              <a:t>This week’s two lessons — and today’s goal</a:t>
            </a:r>
            <a:endParaRPr lang="en-US" sz="2250" dirty="0"/>
          </a:p>
        </p:txBody>
      </p:sp>
      <p:sp>
        <p:nvSpPr>
          <p:cNvPr id="12" name="Text 10"/>
          <p:cNvSpPr txBox="1"/>
          <p:nvPr/>
        </p:nvSpPr>
        <p:spPr>
          <a:xfrm>
            <a:off x="7498080" y="868680"/>
            <a:ext cx="4233672" cy="749808"/>
          </a:xfrm>
          <a:prstGeom prst="rect">
            <a:avLst/>
          </a:prstGeom>
          <a:noFill/>
          <a:ln/>
        </p:spPr>
        <p:txBody>
          <a:bodyPr wrap="square" lIns="0" tIns="0" rIns="0" bIns="0" rtlCol="0" anchor="ctr"/>
          <a:lstStyle/>
          <a:p>
            <a:pPr rtl="1" algn="r" indent="0" marL="0">
              <a:buNone/>
            </a:pPr>
            <a:r>
              <a:rPr lang="ar-SA" altLang="en-US" sz="2800" b="1" dirty="0">
                <a:solidFill>
                  <a:srgbClr val="8A6D1E"/>
                </a:solidFill>
                <a:latin typeface="Amiri" pitchFamily="2" charset="-78"/>
                <a:ea typeface="Amiri" pitchFamily="2" charset="-78"/>
                <a:cs typeface="Amiri" pitchFamily="2" charset="-78"/>
              </a:rPr>
              <a:t>نُطَبِّقُ مَا تَعَلَّمْنَا</a:t>
            </a:r>
            <a:endParaRPr lang="ar-SA" sz="2800" dirty="0"/>
          </a:p>
        </p:txBody>
      </p:sp>
      <p:sp>
        <p:nvSpPr>
          <p:cNvPr id="13" name="Text 11"/>
          <p:cNvSpPr txBox="1"/>
          <p:nvPr/>
        </p:nvSpPr>
        <p:spPr>
          <a:xfrm>
            <a:off x="457200" y="6455664"/>
            <a:ext cx="6400800" cy="219456"/>
          </a:xfrm>
          <a:prstGeom prst="rect">
            <a:avLst/>
          </a:prstGeom>
          <a:noFill/>
          <a:ln/>
        </p:spPr>
        <p:txBody>
          <a:bodyPr wrap="square" lIns="0" tIns="0" rIns="0" bIns="0" rtlCol="0" anchor="ctr"/>
          <a:lstStyle/>
          <a:p>
            <a:pPr indent="0" marL="0">
              <a:buNone/>
            </a:pPr>
            <a:r>
              <a:rPr lang="en-US" sz="850" dirty="0">
                <a:solidFill>
                  <a:srgbClr val="8A93A0"/>
                </a:solidFill>
                <a:latin typeface="Calibri" pitchFamily="34" charset="0"/>
                <a:cs typeface="Amiri" pitchFamily="2" charset="-78"/>
              </a:rPr>
              <a:t>Miftah Arabic · Foundation F6 · My Town and Transport · F6-W03 · Apply workshop (F6-L05 + F6-L06)</a:t>
            </a:r>
            <a:endParaRPr lang="en-US" sz="850" dirty="0"/>
          </a:p>
        </p:txBody>
      </p:sp>
      <p:sp>
        <p:nvSpPr>
          <p:cNvPr id="15" name="Shape 12"/>
          <p:cNvSpPr/>
          <p:nvPr/>
        </p:nvSpPr>
        <p:spPr>
          <a:xfrm>
            <a:off x="457200" y="1810512"/>
            <a:ext cx="4663440" cy="4315968"/>
          </a:xfrm>
          <a:prstGeom prst="roundRect">
            <a:avLst>
              <a:gd name="adj" fmla="val 1695"/>
            </a:avLst>
          </a:prstGeom>
          <a:solidFill>
            <a:srgbClr val="F7F9FC"/>
          </a:solidFill>
          <a:ln w="9525">
            <a:solidFill>
              <a:srgbClr val="C9D6EA"/>
            </a:solidFill>
            <a:prstDash val="solid"/>
          </a:ln>
          <a:effectLst>
            <a:outerShdw sx="100000" sy="100000" kx="0" ky="0" algn="bl" rotWithShape="0" blurRad="50800" dist="19050" dir="5400000">
              <a:srgbClr val="000000">
                <a:alpha val="10000"/>
              </a:srgbClr>
            </a:outerShdw>
          </a:effectLst>
        </p:spPr>
      </p:sp>
      <p:sp>
        <p:nvSpPr>
          <p:cNvPr id="16" name="Text 13"/>
          <p:cNvSpPr txBox="1"/>
          <p:nvPr/>
        </p:nvSpPr>
        <p:spPr>
          <a:xfrm>
            <a:off x="685800" y="1920240"/>
            <a:ext cx="2743200" cy="292608"/>
          </a:xfrm>
          <a:prstGeom prst="rect">
            <a:avLst/>
          </a:prstGeom>
          <a:noFill/>
          <a:ln/>
        </p:spPr>
        <p:txBody>
          <a:bodyPr wrap="square" lIns="0" tIns="0" rIns="0" bIns="0" rtlCol="0" anchor="ctr"/>
          <a:lstStyle/>
          <a:p>
            <a:pPr algn="l" indent="0" marL="0">
              <a:buNone/>
            </a:pPr>
            <a:r>
              <a:rPr lang="en-US" sz="1100" b="1" spc="200" kern="0" dirty="0">
                <a:solidFill>
                  <a:srgbClr val="1B3B6F"/>
                </a:solidFill>
                <a:latin typeface="Calibri" pitchFamily="34" charset="0"/>
                <a:cs typeface="Amiri" pitchFamily="2" charset="-78"/>
              </a:rPr>
              <a:t>TODAY YOU WILL</a:t>
            </a:r>
            <a:endParaRPr lang="en-US" sz="1100" dirty="0"/>
          </a:p>
        </p:txBody>
      </p:sp>
      <p:sp>
        <p:nvSpPr>
          <p:cNvPr id="17" name="Text 14"/>
          <p:cNvSpPr txBox="1"/>
          <p:nvPr/>
        </p:nvSpPr>
        <p:spPr>
          <a:xfrm>
            <a:off x="2834640" y="1874520"/>
            <a:ext cx="2103120" cy="365760"/>
          </a:xfrm>
          <a:prstGeom prst="rect">
            <a:avLst/>
          </a:prstGeom>
          <a:noFill/>
          <a:ln/>
        </p:spPr>
        <p:txBody>
          <a:bodyPr wrap="square" lIns="0" tIns="0" rIns="0" bIns="0" rtlCol="0" anchor="ctr"/>
          <a:lstStyle/>
          <a:p>
            <a:pPr rtl="1" algn="r" indent="0" marL="0">
              <a:buNone/>
            </a:pPr>
            <a:r>
              <a:rPr lang="ar-SA" altLang="en-US" sz="1600" dirty="0">
                <a:solidFill>
                  <a:srgbClr val="8A6D1E"/>
                </a:solidFill>
                <a:latin typeface="Amiri" pitchFamily="2" charset="-78"/>
                <a:ea typeface="Amiri" pitchFamily="2" charset="-78"/>
                <a:cs typeface="Amiri" pitchFamily="2" charset="-78"/>
              </a:rPr>
              <a:t>سَتَتَعَلَّمُ اليَوْمَ</a:t>
            </a:r>
            <a:endParaRPr lang="ar-SA" sz="1600" dirty="0"/>
          </a:p>
        </p:txBody>
      </p:sp>
      <p:sp>
        <p:nvSpPr>
          <p:cNvPr id="18" name="Shape 15"/>
          <p:cNvSpPr/>
          <p:nvPr/>
        </p:nvSpPr>
        <p:spPr>
          <a:xfrm>
            <a:off x="685800" y="2395728"/>
            <a:ext cx="365760" cy="365760"/>
          </a:xfrm>
          <a:prstGeom prst="ellipse">
            <a:avLst/>
          </a:prstGeom>
          <a:solidFill>
            <a:srgbClr val="1B3B6F"/>
          </a:solidFill>
          <a:ln w="12700">
            <a:solidFill>
              <a:srgbClr val="1B3B6F"/>
            </a:solidFill>
            <a:prstDash val="solid"/>
          </a:ln>
        </p:spPr>
      </p:sp>
      <p:sp>
        <p:nvSpPr>
          <p:cNvPr id="19" name="Text 16"/>
          <p:cNvSpPr txBox="1"/>
          <p:nvPr/>
        </p:nvSpPr>
        <p:spPr>
          <a:xfrm>
            <a:off x="685800" y="2395728"/>
            <a:ext cx="365760" cy="365760"/>
          </a:xfrm>
          <a:prstGeom prst="rect">
            <a:avLst/>
          </a:prstGeom>
          <a:noFill/>
          <a:ln/>
        </p:spPr>
        <p:txBody>
          <a:bodyPr wrap="square" lIns="0" tIns="0" rIns="0" bIns="0" rtlCol="0" anchor="ctr"/>
          <a:lstStyle/>
          <a:p>
            <a:pPr algn="ctr" indent="0" marL="0">
              <a:buNone/>
            </a:pPr>
            <a:r>
              <a:rPr lang="en-US" sz="1200" b="1" dirty="0">
                <a:solidFill>
                  <a:srgbClr val="D4AF37"/>
                </a:solidFill>
                <a:latin typeface="Calibri" pitchFamily="34" charset="0"/>
                <a:cs typeface="Amiri" pitchFamily="2" charset="-78"/>
              </a:rPr>
              <a:t>1</a:t>
            </a:r>
            <a:endParaRPr lang="en-US" sz="1200" dirty="0"/>
          </a:p>
        </p:txBody>
      </p:sp>
      <p:sp>
        <p:nvSpPr>
          <p:cNvPr id="20" name="Text 17"/>
          <p:cNvSpPr txBox="1"/>
          <p:nvPr/>
        </p:nvSpPr>
        <p:spPr>
          <a:xfrm>
            <a:off x="1188720" y="2286000"/>
            <a:ext cx="3749040" cy="841248"/>
          </a:xfrm>
          <a:prstGeom prst="rect">
            <a:avLst/>
          </a:prstGeom>
          <a:noFill/>
          <a:ln/>
        </p:spPr>
        <p:txBody>
          <a:bodyPr wrap="square" lIns="0" tIns="0" rIns="0" bIns="0" rtlCol="0" anchor="ctr"/>
          <a:lstStyle/>
          <a:p>
            <a:pPr algn="l" indent="0" marL="0">
              <a:buNone/>
            </a:pPr>
            <a:r>
              <a:rPr lang="en-US" sz="1300" dirty="0">
                <a:solidFill>
                  <a:srgbClr val="1F2A37"/>
                </a:solidFill>
                <a:latin typeface="Calibri" pitchFamily="34" charset="0"/>
                <a:cs typeface="Amiri" pitchFamily="2" charset="-78"/>
              </a:rPr>
              <a:t>F6-L05: Describing Your Town: Advantages and Disadvantages</a:t>
            </a:r>
            <a:endParaRPr lang="en-US" sz="1300" dirty="0"/>
          </a:p>
        </p:txBody>
      </p:sp>
      <p:sp>
        <p:nvSpPr>
          <p:cNvPr id="21" name="Shape 18"/>
          <p:cNvSpPr/>
          <p:nvPr/>
        </p:nvSpPr>
        <p:spPr>
          <a:xfrm>
            <a:off x="685800" y="3291840"/>
            <a:ext cx="365760" cy="365760"/>
          </a:xfrm>
          <a:prstGeom prst="ellipse">
            <a:avLst/>
          </a:prstGeom>
          <a:solidFill>
            <a:srgbClr val="1B3B6F"/>
          </a:solidFill>
          <a:ln w="12700">
            <a:solidFill>
              <a:srgbClr val="1B3B6F"/>
            </a:solidFill>
            <a:prstDash val="solid"/>
          </a:ln>
        </p:spPr>
      </p:sp>
      <p:sp>
        <p:nvSpPr>
          <p:cNvPr id="22" name="Text 19"/>
          <p:cNvSpPr txBox="1"/>
          <p:nvPr/>
        </p:nvSpPr>
        <p:spPr>
          <a:xfrm>
            <a:off x="685800" y="3291840"/>
            <a:ext cx="365760" cy="365760"/>
          </a:xfrm>
          <a:prstGeom prst="rect">
            <a:avLst/>
          </a:prstGeom>
          <a:noFill/>
          <a:ln/>
        </p:spPr>
        <p:txBody>
          <a:bodyPr wrap="square" lIns="0" tIns="0" rIns="0" bIns="0" rtlCol="0" anchor="ctr"/>
          <a:lstStyle/>
          <a:p>
            <a:pPr algn="ctr" indent="0" marL="0">
              <a:buNone/>
            </a:pPr>
            <a:r>
              <a:rPr lang="en-US" sz="1200" b="1" dirty="0">
                <a:solidFill>
                  <a:srgbClr val="D4AF37"/>
                </a:solidFill>
                <a:latin typeface="Calibri" pitchFamily="34" charset="0"/>
                <a:cs typeface="Amiri" pitchFamily="2" charset="-78"/>
              </a:rPr>
              <a:t>2</a:t>
            </a:r>
            <a:endParaRPr lang="en-US" sz="1200" dirty="0"/>
          </a:p>
        </p:txBody>
      </p:sp>
      <p:sp>
        <p:nvSpPr>
          <p:cNvPr id="23" name="Text 20"/>
          <p:cNvSpPr txBox="1"/>
          <p:nvPr/>
        </p:nvSpPr>
        <p:spPr>
          <a:xfrm>
            <a:off x="1188720" y="3182112"/>
            <a:ext cx="3749040" cy="841248"/>
          </a:xfrm>
          <a:prstGeom prst="rect">
            <a:avLst/>
          </a:prstGeom>
          <a:noFill/>
          <a:ln/>
        </p:spPr>
        <p:txBody>
          <a:bodyPr wrap="square" lIns="0" tIns="0" rIns="0" bIns="0" rtlCol="0" anchor="ctr"/>
          <a:lstStyle/>
          <a:p>
            <a:pPr algn="l" indent="0" marL="0">
              <a:buNone/>
            </a:pPr>
            <a:r>
              <a:rPr lang="en-US" sz="1300" dirty="0">
                <a:solidFill>
                  <a:srgbClr val="1F2A37"/>
                </a:solidFill>
                <a:latin typeface="Calibri" pitchFamily="34" charset="0"/>
                <a:cs typeface="Amiri" pitchFamily="2" charset="-78"/>
              </a:rPr>
              <a:t>F6-L06: Shopping in Town: Prices and Comparisons</a:t>
            </a:r>
            <a:endParaRPr lang="en-US" sz="1300" dirty="0"/>
          </a:p>
        </p:txBody>
      </p:sp>
      <p:sp>
        <p:nvSpPr>
          <p:cNvPr id="24" name="Shape 21"/>
          <p:cNvSpPr/>
          <p:nvPr/>
        </p:nvSpPr>
        <p:spPr>
          <a:xfrm>
            <a:off x="685800" y="4187952"/>
            <a:ext cx="365760" cy="365760"/>
          </a:xfrm>
          <a:prstGeom prst="ellipse">
            <a:avLst/>
          </a:prstGeom>
          <a:solidFill>
            <a:srgbClr val="1B3B6F"/>
          </a:solidFill>
          <a:ln w="12700">
            <a:solidFill>
              <a:srgbClr val="1B3B6F"/>
            </a:solidFill>
            <a:prstDash val="solid"/>
          </a:ln>
        </p:spPr>
      </p:sp>
      <p:sp>
        <p:nvSpPr>
          <p:cNvPr id="25" name="Text 22"/>
          <p:cNvSpPr txBox="1"/>
          <p:nvPr/>
        </p:nvSpPr>
        <p:spPr>
          <a:xfrm>
            <a:off x="685800" y="4187952"/>
            <a:ext cx="365760" cy="365760"/>
          </a:xfrm>
          <a:prstGeom prst="rect">
            <a:avLst/>
          </a:prstGeom>
          <a:noFill/>
          <a:ln/>
        </p:spPr>
        <p:txBody>
          <a:bodyPr wrap="square" lIns="0" tIns="0" rIns="0" bIns="0" rtlCol="0" anchor="ctr"/>
          <a:lstStyle/>
          <a:p>
            <a:pPr algn="ctr" indent="0" marL="0">
              <a:buNone/>
            </a:pPr>
            <a:r>
              <a:rPr lang="en-US" sz="1200" b="1" dirty="0">
                <a:solidFill>
                  <a:srgbClr val="D4AF37"/>
                </a:solidFill>
                <a:latin typeface="Calibri" pitchFamily="34" charset="0"/>
                <a:cs typeface="Amiri" pitchFamily="2" charset="-78"/>
              </a:rPr>
              <a:t>3</a:t>
            </a:r>
            <a:endParaRPr lang="en-US" sz="1200" dirty="0"/>
          </a:p>
        </p:txBody>
      </p:sp>
      <p:sp>
        <p:nvSpPr>
          <p:cNvPr id="26" name="Text 23"/>
          <p:cNvSpPr txBox="1"/>
          <p:nvPr/>
        </p:nvSpPr>
        <p:spPr>
          <a:xfrm>
            <a:off x="1188720" y="4078224"/>
            <a:ext cx="3749040" cy="841248"/>
          </a:xfrm>
          <a:prstGeom prst="rect">
            <a:avLst/>
          </a:prstGeom>
          <a:noFill/>
          <a:ln/>
        </p:spPr>
        <p:txBody>
          <a:bodyPr wrap="square" lIns="0" tIns="0" rIns="0" bIns="0" rtlCol="0" anchor="ctr"/>
          <a:lstStyle/>
          <a:p>
            <a:pPr algn="l" indent="0" marL="0">
              <a:buNone/>
            </a:pPr>
            <a:r>
              <a:rPr lang="en-US" sz="1300" dirty="0">
                <a:solidFill>
                  <a:srgbClr val="1F2A37"/>
                </a:solidFill>
                <a:latin typeface="Calibri" pitchFamily="34" charset="0"/>
                <a:cs typeface="Amiri" pitchFamily="2" charset="-78"/>
              </a:rPr>
              <a:t>Apply both: shopping in town · A balanced shopping guide to my town</a:t>
            </a:r>
            <a:endParaRPr lang="en-US" sz="1300" dirty="0"/>
          </a:p>
        </p:txBody>
      </p:sp>
      <p:sp>
        <p:nvSpPr>
          <p:cNvPr id="27" name="Shape 24"/>
          <p:cNvSpPr/>
          <p:nvPr/>
        </p:nvSpPr>
        <p:spPr>
          <a:xfrm>
            <a:off x="5349240" y="1810512"/>
            <a:ext cx="6382512" cy="1353312"/>
          </a:xfrm>
          <a:prstGeom prst="roundRect">
            <a:avLst>
              <a:gd name="adj" fmla="val 5405"/>
            </a:avLst>
          </a:prstGeom>
          <a:solidFill>
            <a:srgbClr val="E9F5EE"/>
          </a:solidFill>
          <a:ln w="9525">
            <a:solidFill>
              <a:srgbClr val="2E8B57"/>
            </a:solidFill>
            <a:prstDash val="solid"/>
          </a:ln>
        </p:spPr>
      </p:sp>
      <p:sp>
        <p:nvSpPr>
          <p:cNvPr id="28" name="Shape 25"/>
          <p:cNvSpPr/>
          <p:nvPr/>
        </p:nvSpPr>
        <p:spPr>
          <a:xfrm>
            <a:off x="5532120" y="1947672"/>
            <a:ext cx="1143000" cy="292608"/>
          </a:xfrm>
          <a:prstGeom prst="roundRect">
            <a:avLst>
              <a:gd name="adj" fmla="val 50000"/>
            </a:avLst>
          </a:prstGeom>
          <a:solidFill>
            <a:srgbClr val="2E8B57"/>
          </a:solidFill>
          <a:ln w="12700">
            <a:solidFill>
              <a:srgbClr val="2E8B57"/>
            </a:solidFill>
            <a:prstDash val="solid"/>
          </a:ln>
        </p:spPr>
      </p:sp>
      <p:sp>
        <p:nvSpPr>
          <p:cNvPr id="29" name="Text 26"/>
          <p:cNvSpPr txBox="1"/>
          <p:nvPr/>
        </p:nvSpPr>
        <p:spPr>
          <a:xfrm>
            <a:off x="5532120" y="1947672"/>
            <a:ext cx="1143000" cy="292608"/>
          </a:xfrm>
          <a:prstGeom prst="rect">
            <a:avLst/>
          </a:prstGeom>
          <a:noFill/>
          <a:ln/>
        </p:spPr>
        <p:txBody>
          <a:bodyPr wrap="square" lIns="0" tIns="0" rIns="0" bIns="0" rtlCol="0" anchor="ctr"/>
          <a:lstStyle/>
          <a:p>
            <a:pPr algn="ctr" indent="0" marL="0">
              <a:buNone/>
            </a:pPr>
            <a:r>
              <a:rPr lang="en-US" sz="950" b="1" spc="100" kern="0" dirty="0">
                <a:solidFill>
                  <a:srgbClr val="FFFFFF"/>
                </a:solidFill>
                <a:latin typeface="Calibri" pitchFamily="34" charset="0"/>
                <a:cs typeface="Amiri" pitchFamily="2" charset="-78"/>
              </a:rPr>
              <a:t>CORE</a:t>
            </a:r>
            <a:endParaRPr lang="en-US" sz="950" dirty="0"/>
          </a:p>
        </p:txBody>
      </p:sp>
      <p:sp>
        <p:nvSpPr>
          <p:cNvPr id="30" name="Text 27"/>
          <p:cNvSpPr txBox="1"/>
          <p:nvPr/>
        </p:nvSpPr>
        <p:spPr>
          <a:xfrm>
            <a:off x="6766560" y="1947672"/>
            <a:ext cx="1828800" cy="292608"/>
          </a:xfrm>
          <a:prstGeom prst="rect">
            <a:avLst/>
          </a:prstGeom>
          <a:noFill/>
          <a:ln/>
        </p:spPr>
        <p:txBody>
          <a:bodyPr wrap="square" lIns="0" tIns="0" rIns="0" bIns="0" rtlCol="0" anchor="ctr"/>
          <a:lstStyle/>
          <a:p>
            <a:pPr algn="l" indent="0" marL="0">
              <a:buNone/>
            </a:pPr>
            <a:r>
              <a:rPr lang="en-US" sz="1050" b="1" i="1" dirty="0">
                <a:solidFill>
                  <a:srgbClr val="2E8B57"/>
                </a:solidFill>
                <a:latin typeface="Calibri" pitchFamily="34" charset="0"/>
                <a:cs typeface="Amiri" pitchFamily="2" charset="-78"/>
              </a:rPr>
              <a:t>Everyone</a:t>
            </a:r>
            <a:endParaRPr lang="en-US" sz="1050" dirty="0"/>
          </a:p>
        </p:txBody>
      </p:sp>
      <p:sp>
        <p:nvSpPr>
          <p:cNvPr id="31" name="Text 28"/>
          <p:cNvSpPr txBox="1"/>
          <p:nvPr/>
        </p:nvSpPr>
        <p:spPr>
          <a:xfrm>
            <a:off x="5532120" y="2286000"/>
            <a:ext cx="6016752" cy="393192"/>
          </a:xfrm>
          <a:prstGeom prst="rect">
            <a:avLst/>
          </a:prstGeom>
          <a:noFill/>
          <a:ln/>
        </p:spPr>
        <p:txBody>
          <a:bodyPr wrap="square" lIns="0" tIns="0" rIns="0" bIns="0" rtlCol="0" anchor="ctr"/>
          <a:lstStyle/>
          <a:p>
            <a:pPr algn="l" indent="0" marL="0">
              <a:buNone/>
            </a:pPr>
            <a:r>
              <a:rPr lang="en-US" sz="1300" b="1" dirty="0">
                <a:solidFill>
                  <a:srgbClr val="2E8B57"/>
                </a:solidFill>
                <a:latin typeface="Calibri" pitchFamily="34" charset="0"/>
                <a:cs typeface="Amiri" pitchFamily="2" charset="-78"/>
              </a:rPr>
              <a:t>☐  Answer questions from BOTH lessons in full sentences.</a:t>
            </a:r>
            <a:endParaRPr lang="en-US" sz="1300" dirty="0"/>
          </a:p>
        </p:txBody>
      </p:sp>
      <p:sp>
        <p:nvSpPr>
          <p:cNvPr id="32" name="Text 29"/>
          <p:cNvSpPr txBox="1"/>
          <p:nvPr/>
        </p:nvSpPr>
        <p:spPr>
          <a:xfrm>
            <a:off x="5532120" y="2697480"/>
            <a:ext cx="6016752" cy="393192"/>
          </a:xfrm>
          <a:prstGeom prst="rect">
            <a:avLst/>
          </a:prstGeom>
          <a:noFill/>
          <a:ln/>
        </p:spPr>
        <p:txBody>
          <a:bodyPr wrap="square" lIns="0" tIns="0" rIns="0" bIns="0" rtlCol="0" anchor="ctr"/>
          <a:lstStyle/>
          <a:p>
            <a:pPr algn="l" indent="0" marL="0">
              <a:buNone/>
            </a:pPr>
            <a:r>
              <a:rPr lang="en-US" sz="1300" b="1" dirty="0">
                <a:solidFill>
                  <a:srgbClr val="2E8B57"/>
                </a:solidFill>
                <a:latin typeface="Calibri" pitchFamily="34" charset="0"/>
                <a:cs typeface="Amiri" pitchFamily="2" charset="-78"/>
              </a:rPr>
              <a:t>☐  Write the text using the frames.</a:t>
            </a:r>
            <a:endParaRPr lang="en-US" sz="1300" dirty="0"/>
          </a:p>
        </p:txBody>
      </p:sp>
      <p:sp>
        <p:nvSpPr>
          <p:cNvPr id="33" name="Shape 30"/>
          <p:cNvSpPr/>
          <p:nvPr/>
        </p:nvSpPr>
        <p:spPr>
          <a:xfrm>
            <a:off x="5349240" y="3273552"/>
            <a:ext cx="6382512" cy="1353312"/>
          </a:xfrm>
          <a:prstGeom prst="roundRect">
            <a:avLst>
              <a:gd name="adj" fmla="val 5405"/>
            </a:avLst>
          </a:prstGeom>
          <a:solidFill>
            <a:srgbClr val="FCF1E0"/>
          </a:solidFill>
          <a:ln w="9525">
            <a:solidFill>
              <a:srgbClr val="C9780A"/>
            </a:solidFill>
            <a:prstDash val="solid"/>
          </a:ln>
        </p:spPr>
      </p:sp>
      <p:sp>
        <p:nvSpPr>
          <p:cNvPr id="34" name="Shape 31"/>
          <p:cNvSpPr/>
          <p:nvPr/>
        </p:nvSpPr>
        <p:spPr>
          <a:xfrm>
            <a:off x="5532120" y="3410712"/>
            <a:ext cx="1143000" cy="292608"/>
          </a:xfrm>
          <a:prstGeom prst="roundRect">
            <a:avLst>
              <a:gd name="adj" fmla="val 50000"/>
            </a:avLst>
          </a:prstGeom>
          <a:solidFill>
            <a:srgbClr val="C9780A"/>
          </a:solidFill>
          <a:ln w="12700">
            <a:solidFill>
              <a:srgbClr val="C9780A"/>
            </a:solidFill>
            <a:prstDash val="solid"/>
          </a:ln>
        </p:spPr>
      </p:sp>
      <p:sp>
        <p:nvSpPr>
          <p:cNvPr id="35" name="Text 32"/>
          <p:cNvSpPr txBox="1"/>
          <p:nvPr/>
        </p:nvSpPr>
        <p:spPr>
          <a:xfrm>
            <a:off x="5532120" y="3410712"/>
            <a:ext cx="1143000" cy="292608"/>
          </a:xfrm>
          <a:prstGeom prst="rect">
            <a:avLst/>
          </a:prstGeom>
          <a:noFill/>
          <a:ln/>
        </p:spPr>
        <p:txBody>
          <a:bodyPr wrap="square" lIns="0" tIns="0" rIns="0" bIns="0" rtlCol="0" anchor="ctr"/>
          <a:lstStyle/>
          <a:p>
            <a:pPr algn="ctr" indent="0" marL="0">
              <a:buNone/>
            </a:pPr>
            <a:r>
              <a:rPr lang="en-US" sz="950" b="1" spc="100" kern="0" dirty="0">
                <a:solidFill>
                  <a:srgbClr val="FFFFFF"/>
                </a:solidFill>
                <a:latin typeface="Calibri" pitchFamily="34" charset="0"/>
                <a:cs typeface="Amiri" pitchFamily="2" charset="-78"/>
              </a:rPr>
              <a:t>DEVELOP</a:t>
            </a:r>
            <a:endParaRPr lang="en-US" sz="950" dirty="0"/>
          </a:p>
        </p:txBody>
      </p:sp>
      <p:sp>
        <p:nvSpPr>
          <p:cNvPr id="36" name="Text 33"/>
          <p:cNvSpPr txBox="1"/>
          <p:nvPr/>
        </p:nvSpPr>
        <p:spPr>
          <a:xfrm>
            <a:off x="6766560" y="3410712"/>
            <a:ext cx="1828800" cy="292608"/>
          </a:xfrm>
          <a:prstGeom prst="rect">
            <a:avLst/>
          </a:prstGeom>
          <a:noFill/>
          <a:ln/>
        </p:spPr>
        <p:txBody>
          <a:bodyPr wrap="square" lIns="0" tIns="0" rIns="0" bIns="0" rtlCol="0" anchor="ctr"/>
          <a:lstStyle/>
          <a:p>
            <a:pPr algn="l" indent="0" marL="0">
              <a:buNone/>
            </a:pPr>
            <a:r>
              <a:rPr lang="en-US" sz="1050" b="1" i="1" dirty="0">
                <a:solidFill>
                  <a:srgbClr val="C9780A"/>
                </a:solidFill>
                <a:latin typeface="Calibri" pitchFamily="34" charset="0"/>
                <a:cs typeface="Amiri" pitchFamily="2" charset="-78"/>
              </a:rPr>
              <a:t>Most of us</a:t>
            </a:r>
            <a:endParaRPr lang="en-US" sz="1050" dirty="0"/>
          </a:p>
        </p:txBody>
      </p:sp>
      <p:sp>
        <p:nvSpPr>
          <p:cNvPr id="37" name="Text 34"/>
          <p:cNvSpPr txBox="1"/>
          <p:nvPr/>
        </p:nvSpPr>
        <p:spPr>
          <a:xfrm>
            <a:off x="5532120" y="3749040"/>
            <a:ext cx="6016752" cy="393192"/>
          </a:xfrm>
          <a:prstGeom prst="rect">
            <a:avLst/>
          </a:prstGeom>
          <a:noFill/>
          <a:ln/>
        </p:spPr>
        <p:txBody>
          <a:bodyPr wrap="square" lIns="0" tIns="0" rIns="0" bIns="0" rtlCol="0" anchor="ctr"/>
          <a:lstStyle/>
          <a:p>
            <a:pPr algn="l" indent="0" marL="0">
              <a:buNone/>
            </a:pPr>
            <a:r>
              <a:rPr lang="en-US" sz="1300" b="1" dirty="0">
                <a:solidFill>
                  <a:srgbClr val="C9780A"/>
                </a:solidFill>
                <a:latin typeface="Calibri" pitchFamily="34" charset="0"/>
                <a:cs typeface="Amiri" pitchFamily="2" charset="-78"/>
              </a:rPr>
              <a:t>☐  Join both lessons in one conversation and a 30–45 seconds talk.</a:t>
            </a:r>
            <a:endParaRPr lang="en-US" sz="1300" dirty="0"/>
          </a:p>
        </p:txBody>
      </p:sp>
      <p:sp>
        <p:nvSpPr>
          <p:cNvPr id="38" name="Text 35"/>
          <p:cNvSpPr txBox="1"/>
          <p:nvPr/>
        </p:nvSpPr>
        <p:spPr>
          <a:xfrm>
            <a:off x="5532120" y="4160520"/>
            <a:ext cx="6016752" cy="393192"/>
          </a:xfrm>
          <a:prstGeom prst="rect">
            <a:avLst/>
          </a:prstGeom>
          <a:noFill/>
          <a:ln/>
        </p:spPr>
        <p:txBody>
          <a:bodyPr wrap="square" lIns="0" tIns="0" rIns="0" bIns="0" rtlCol="0" anchor="ctr"/>
          <a:lstStyle/>
          <a:p>
            <a:pPr algn="l" indent="0" marL="0">
              <a:buNone/>
            </a:pPr>
            <a:r>
              <a:rPr lang="en-US" sz="1300" b="1" dirty="0">
                <a:solidFill>
                  <a:srgbClr val="C9780A"/>
                </a:solidFill>
                <a:latin typeface="Calibri" pitchFamily="34" charset="0"/>
                <a:cs typeface="Amiri" pitchFamily="2" charset="-78"/>
              </a:rPr>
              <a:t>☐  Write the text, frames only if stuck.</a:t>
            </a:r>
            <a:endParaRPr lang="en-US" sz="1300" dirty="0"/>
          </a:p>
        </p:txBody>
      </p:sp>
      <p:sp>
        <p:nvSpPr>
          <p:cNvPr id="39" name="Shape 36"/>
          <p:cNvSpPr/>
          <p:nvPr/>
        </p:nvSpPr>
        <p:spPr>
          <a:xfrm>
            <a:off x="5349240" y="4736592"/>
            <a:ext cx="6382512" cy="1353312"/>
          </a:xfrm>
          <a:prstGeom prst="roundRect">
            <a:avLst>
              <a:gd name="adj" fmla="val 5405"/>
            </a:avLst>
          </a:prstGeom>
          <a:solidFill>
            <a:srgbClr val="FBEAEA"/>
          </a:solidFill>
          <a:ln w="9525">
            <a:solidFill>
              <a:srgbClr val="B83227"/>
            </a:solidFill>
            <a:prstDash val="solid"/>
          </a:ln>
        </p:spPr>
      </p:sp>
      <p:sp>
        <p:nvSpPr>
          <p:cNvPr id="40" name="Shape 37"/>
          <p:cNvSpPr/>
          <p:nvPr/>
        </p:nvSpPr>
        <p:spPr>
          <a:xfrm>
            <a:off x="5532120" y="4873752"/>
            <a:ext cx="1143000" cy="292608"/>
          </a:xfrm>
          <a:prstGeom prst="roundRect">
            <a:avLst>
              <a:gd name="adj" fmla="val 50000"/>
            </a:avLst>
          </a:prstGeom>
          <a:solidFill>
            <a:srgbClr val="B83227"/>
          </a:solidFill>
          <a:ln w="12700">
            <a:solidFill>
              <a:srgbClr val="B83227"/>
            </a:solidFill>
            <a:prstDash val="solid"/>
          </a:ln>
        </p:spPr>
      </p:sp>
      <p:sp>
        <p:nvSpPr>
          <p:cNvPr id="41" name="Text 38"/>
          <p:cNvSpPr txBox="1"/>
          <p:nvPr/>
        </p:nvSpPr>
        <p:spPr>
          <a:xfrm>
            <a:off x="5532120" y="4873752"/>
            <a:ext cx="1143000" cy="292608"/>
          </a:xfrm>
          <a:prstGeom prst="rect">
            <a:avLst/>
          </a:prstGeom>
          <a:noFill/>
          <a:ln/>
        </p:spPr>
        <p:txBody>
          <a:bodyPr wrap="square" lIns="0" tIns="0" rIns="0" bIns="0" rtlCol="0" anchor="ctr"/>
          <a:lstStyle/>
          <a:p>
            <a:pPr algn="ctr" indent="0" marL="0">
              <a:buNone/>
            </a:pPr>
            <a:r>
              <a:rPr lang="en-US" sz="950" b="1" spc="100" kern="0" dirty="0">
                <a:solidFill>
                  <a:srgbClr val="FFFFFF"/>
                </a:solidFill>
                <a:latin typeface="Calibri" pitchFamily="34" charset="0"/>
                <a:cs typeface="Amiri" pitchFamily="2" charset="-78"/>
              </a:rPr>
              <a:t>STRETCH</a:t>
            </a:r>
            <a:endParaRPr lang="en-US" sz="950" dirty="0"/>
          </a:p>
        </p:txBody>
      </p:sp>
      <p:sp>
        <p:nvSpPr>
          <p:cNvPr id="42" name="Text 39"/>
          <p:cNvSpPr txBox="1"/>
          <p:nvPr/>
        </p:nvSpPr>
        <p:spPr>
          <a:xfrm>
            <a:off x="6766560" y="4873752"/>
            <a:ext cx="1828800" cy="292608"/>
          </a:xfrm>
          <a:prstGeom prst="rect">
            <a:avLst/>
          </a:prstGeom>
          <a:noFill/>
          <a:ln/>
        </p:spPr>
        <p:txBody>
          <a:bodyPr wrap="square" lIns="0" tIns="0" rIns="0" bIns="0" rtlCol="0" anchor="ctr"/>
          <a:lstStyle/>
          <a:p>
            <a:pPr algn="l" indent="0" marL="0">
              <a:buNone/>
            </a:pPr>
            <a:r>
              <a:rPr lang="en-US" sz="1050" b="1" i="1" dirty="0">
                <a:solidFill>
                  <a:srgbClr val="B83227"/>
                </a:solidFill>
                <a:latin typeface="Calibri" pitchFamily="34" charset="0"/>
                <a:cs typeface="Amiri" pitchFamily="2" charset="-78"/>
              </a:rPr>
              <a:t>Aim high</a:t>
            </a:r>
            <a:endParaRPr lang="en-US" sz="1050" dirty="0"/>
          </a:p>
        </p:txBody>
      </p:sp>
      <p:sp>
        <p:nvSpPr>
          <p:cNvPr id="43" name="Text 40"/>
          <p:cNvSpPr txBox="1"/>
          <p:nvPr/>
        </p:nvSpPr>
        <p:spPr>
          <a:xfrm>
            <a:off x="5532120" y="5212080"/>
            <a:ext cx="6016752" cy="393192"/>
          </a:xfrm>
          <a:prstGeom prst="rect">
            <a:avLst/>
          </a:prstGeom>
          <a:noFill/>
          <a:ln/>
        </p:spPr>
        <p:txBody>
          <a:bodyPr wrap="square" lIns="0" tIns="0" rIns="0" bIns="0" rtlCol="0" anchor="ctr"/>
          <a:lstStyle/>
          <a:p>
            <a:pPr algn="l" indent="0" marL="0">
              <a:buNone/>
            </a:pPr>
            <a:r>
              <a:rPr lang="en-US" sz="1300" b="1" dirty="0">
                <a:solidFill>
                  <a:srgbClr val="B83227"/>
                </a:solidFill>
                <a:latin typeface="Calibri" pitchFamily="34" charset="0"/>
                <a:cs typeface="Amiri" pitchFamily="2" charset="-78"/>
              </a:rPr>
              <a:t>☐  Speak without notes; add reasons and opinions.</a:t>
            </a:r>
            <a:endParaRPr lang="en-US" sz="1300" dirty="0"/>
          </a:p>
        </p:txBody>
      </p:sp>
      <p:sp>
        <p:nvSpPr>
          <p:cNvPr id="44" name="Text 41"/>
          <p:cNvSpPr txBox="1"/>
          <p:nvPr/>
        </p:nvSpPr>
        <p:spPr>
          <a:xfrm>
            <a:off x="5532120" y="5623560"/>
            <a:ext cx="6016752" cy="393192"/>
          </a:xfrm>
          <a:prstGeom prst="rect">
            <a:avLst/>
          </a:prstGeom>
          <a:noFill/>
          <a:ln/>
        </p:spPr>
        <p:txBody>
          <a:bodyPr wrap="square" lIns="0" tIns="0" rIns="0" bIns="0" rtlCol="0" anchor="ctr"/>
          <a:lstStyle/>
          <a:p>
            <a:pPr algn="l" indent="0" marL="0">
              <a:buNone/>
            </a:pPr>
            <a:r>
              <a:rPr lang="en-US" sz="1300" b="1" dirty="0">
                <a:solidFill>
                  <a:srgbClr val="B83227"/>
                </a:solidFill>
                <a:latin typeface="Calibri" pitchFamily="34" charset="0"/>
                <a:cs typeface="Amiri" pitchFamily="2" charset="-78"/>
              </a:rPr>
              <a:t>☐  Add a reason (</a:t>
            </a:r>
            <a:pPr algn="l" indent="0" marL="0">
              <a:buNone/>
            </a:pPr>
            <a:r>
              <a:rPr lang="ar-SA" altLang="en-US" sz="1700" b="1" dirty="0">
                <a:solidFill>
                  <a:srgbClr val="B83227"/>
                </a:solidFill>
                <a:latin typeface="Amiri" pitchFamily="2" charset="-78"/>
                <a:ea typeface="Amiri" pitchFamily="2" charset="-78"/>
                <a:cs typeface="Amiri" pitchFamily="2" charset="-78"/>
              </a:rPr>
              <a:t>لِأَنَّ</a:t>
            </a:r>
            <a:pPr algn="l" indent="0" marL="0">
              <a:buNone/>
            </a:pPr>
            <a:r>
              <a:rPr lang="en-US" sz="1300" b="1" dirty="0">
                <a:solidFill>
                  <a:srgbClr val="B83227"/>
                </a:solidFill>
                <a:latin typeface="Calibri" pitchFamily="34" charset="0"/>
                <a:cs typeface="Amiri" pitchFamily="2" charset="-78"/>
              </a:rPr>
              <a:t>) and an extra detail to every point.</a:t>
            </a:r>
            <a:endParaRPr lang="en-US" sz="1300" dirty="0"/>
          </a:p>
        </p:txBody>
      </p:sp>
      <p:sp>
        <p:nvSpPr>
          <p:cNvPr id="45" name="Text 42"/>
          <p:cNvSpPr txBox="1"/>
          <p:nvPr/>
        </p:nvSpPr>
        <p:spPr>
          <a:xfrm>
            <a:off x="10360152" y="6455664"/>
            <a:ext cx="1371600" cy="219456"/>
          </a:xfrm>
          <a:prstGeom prst="rect">
            <a:avLst/>
          </a:prstGeom>
          <a:noFill/>
          <a:ln/>
        </p:spPr>
        <p:txBody>
          <a:bodyPr wrap="square" lIns="0" tIns="0" rIns="0" bIns="0" rtlCol="0" anchor="ctr"/>
          <a:lstStyle/>
          <a:p>
            <a:pPr algn="r" indent="0" marL="0">
              <a:buNone/>
            </a:pPr>
            <a:r>
              <a:rPr lang="en-US" sz="850" dirty="0">
                <a:solidFill>
                  <a:srgbClr val="8A93A0"/>
                </a:solidFill>
                <a:latin typeface="Calibri" pitchFamily="34" charset="0"/>
                <a:cs typeface="Amiri" pitchFamily="2" charset="-78"/>
              </a:rPr>
              <a:t>4 / 24</a:t>
            </a:r>
            <a:endParaRPr lang="en-US" sz="850" dirty="0"/>
          </a:p>
        </p:txBody>
      </p:sp>
    </p:spTree>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name="Slide 5">
    <p:bg>
      <p:bgPr>
        <a:solidFill>
          <a:srgbClr val="FFFDF8"/>
        </a:solidFill>
      </p:bgPr>
    </p:bg>
    <p:spTree>
      <p:nvGrpSpPr>
        <p:cNvPr id="1" name=""/>
        <p:cNvGrpSpPr/>
        <p:nvPr/>
      </p:nvGrpSpPr>
      <p:grpSpPr>
        <a:xfrm>
          <a:off x="0" y="0"/>
          <a:ext cx="0" cy="0"/>
          <a:chOff x="0" y="0"/>
          <a:chExt cx="0" cy="0"/>
        </a:xfrm>
      </p:grpSpPr>
      <p:sp>
        <p:nvSpPr>
          <p:cNvPr id="2" name="Shape 0"/>
          <p:cNvSpPr/>
          <p:nvPr/>
        </p:nvSpPr>
        <p:spPr>
          <a:xfrm>
            <a:off x="457200" y="237744"/>
            <a:ext cx="420624" cy="420624"/>
          </a:xfrm>
          <a:prstGeom prst="ellipse">
            <a:avLst/>
          </a:prstGeom>
          <a:solidFill>
            <a:srgbClr val="1B3B6F"/>
          </a:solidFill>
          <a:ln w="12700">
            <a:solidFill>
              <a:srgbClr val="D4AF37"/>
            </a:solidFill>
            <a:prstDash val="solid"/>
          </a:ln>
        </p:spPr>
      </p:sp>
      <p:sp>
        <p:nvSpPr>
          <p:cNvPr id="3" name="Text 1"/>
          <p:cNvSpPr txBox="1"/>
          <p:nvPr/>
        </p:nvSpPr>
        <p:spPr>
          <a:xfrm>
            <a:off x="457200" y="219456"/>
            <a:ext cx="420624" cy="420624"/>
          </a:xfrm>
          <a:prstGeom prst="rect">
            <a:avLst/>
          </a:prstGeom>
          <a:noFill/>
          <a:ln/>
        </p:spPr>
        <p:txBody>
          <a:bodyPr wrap="square" lIns="0" tIns="0" rIns="0" bIns="0" rtlCol="0" anchor="ctr"/>
          <a:lstStyle/>
          <a:p>
            <a:pPr rtl="1" algn="ctr" indent="0" marL="0">
              <a:buNone/>
            </a:pPr>
            <a:r>
              <a:rPr lang="ar-SA" altLang="en-US" sz="1800" b="1" dirty="0">
                <a:solidFill>
                  <a:srgbClr val="D4AF37"/>
                </a:solidFill>
                <a:latin typeface="Amiri" pitchFamily="2" charset="-78"/>
                <a:ea typeface="Amiri" pitchFamily="2" charset="-78"/>
                <a:cs typeface="Amiri" pitchFamily="2" charset="-78"/>
              </a:rPr>
              <a:t>م</a:t>
            </a:r>
            <a:endParaRPr lang="ar-SA" sz="1800" dirty="0"/>
          </a:p>
        </p:txBody>
      </p:sp>
      <p:sp>
        <p:nvSpPr>
          <p:cNvPr id="4" name="Text 2"/>
          <p:cNvSpPr txBox="1"/>
          <p:nvPr/>
        </p:nvSpPr>
        <p:spPr>
          <a:xfrm>
            <a:off x="960120" y="219456"/>
            <a:ext cx="3657600" cy="256032"/>
          </a:xfrm>
          <a:prstGeom prst="rect">
            <a:avLst/>
          </a:prstGeom>
          <a:noFill/>
          <a:ln/>
        </p:spPr>
        <p:txBody>
          <a:bodyPr wrap="square" lIns="0" tIns="0" rIns="0" bIns="0" rtlCol="0" anchor="ctr"/>
          <a:lstStyle/>
          <a:p>
            <a:pPr indent="0" marL="0">
              <a:buNone/>
            </a:pPr>
            <a:r>
              <a:rPr lang="en-US" sz="1200" b="1" dirty="0">
                <a:solidFill>
                  <a:srgbClr val="1B3B6F"/>
                </a:solidFill>
                <a:latin typeface="Cambria" pitchFamily="34" charset="0"/>
                <a:cs typeface="Amiri" pitchFamily="2" charset="-78"/>
              </a:rPr>
              <a:t>Al Madina Online School</a:t>
            </a:r>
            <a:endParaRPr lang="en-US" sz="1200" dirty="0"/>
          </a:p>
        </p:txBody>
      </p:sp>
      <p:sp>
        <p:nvSpPr>
          <p:cNvPr id="5" name="Text 3"/>
          <p:cNvSpPr txBox="1"/>
          <p:nvPr/>
        </p:nvSpPr>
        <p:spPr>
          <a:xfrm>
            <a:off x="960120" y="457200"/>
            <a:ext cx="4572000" cy="182880"/>
          </a:xfrm>
          <a:prstGeom prst="rect">
            <a:avLst/>
          </a:prstGeom>
          <a:noFill/>
          <a:ln/>
        </p:spPr>
        <p:txBody>
          <a:bodyPr wrap="square" lIns="0" tIns="0" rIns="0" bIns="0" rtlCol="0" anchor="ctr"/>
          <a:lstStyle/>
          <a:p>
            <a:pPr indent="0" marL="0">
              <a:buNone/>
            </a:pPr>
            <a:r>
              <a:rPr lang="en-US" sz="800" b="1" spc="200" kern="0" dirty="0">
                <a:solidFill>
                  <a:srgbClr val="8A6D1E"/>
                </a:solidFill>
                <a:latin typeface="Calibri" pitchFamily="34" charset="0"/>
                <a:cs typeface="Amiri" pitchFamily="2" charset="-78"/>
              </a:rPr>
              <a:t>ARABIC DEPARTMENT · MIFTAH ARABIC · IGCSE 0544</a:t>
            </a:r>
            <a:endParaRPr lang="en-US" sz="800" dirty="0"/>
          </a:p>
        </p:txBody>
      </p:sp>
      <p:sp>
        <p:nvSpPr>
          <p:cNvPr id="6" name="Shape 4"/>
          <p:cNvSpPr/>
          <p:nvPr/>
        </p:nvSpPr>
        <p:spPr>
          <a:xfrm>
            <a:off x="8897112" y="274320"/>
            <a:ext cx="2834640" cy="329184"/>
          </a:xfrm>
          <a:prstGeom prst="roundRect">
            <a:avLst>
              <a:gd name="adj" fmla="val 50000"/>
            </a:avLst>
          </a:prstGeom>
          <a:solidFill>
            <a:srgbClr val="1B3B6F"/>
          </a:solidFill>
          <a:ln w="12700">
            <a:solidFill>
              <a:srgbClr val="1B3B6F"/>
            </a:solidFill>
            <a:prstDash val="solid"/>
          </a:ln>
        </p:spPr>
      </p:sp>
      <p:sp>
        <p:nvSpPr>
          <p:cNvPr id="7" name="Text 5"/>
          <p:cNvSpPr txBox="1"/>
          <p:nvPr/>
        </p:nvSpPr>
        <p:spPr>
          <a:xfrm>
            <a:off x="8897112" y="274320"/>
            <a:ext cx="2834640" cy="329184"/>
          </a:xfrm>
          <a:prstGeom prst="rect">
            <a:avLst/>
          </a:prstGeom>
          <a:noFill/>
          <a:ln/>
        </p:spPr>
        <p:txBody>
          <a:bodyPr wrap="square" lIns="0" tIns="0" rIns="0" bIns="0" rtlCol="0" anchor="ctr"/>
          <a:lstStyle/>
          <a:p>
            <a:pPr algn="ctr" indent="0" marL="0">
              <a:buNone/>
            </a:pPr>
            <a:r>
              <a:rPr lang="en-US" sz="950" b="1" spc="100" kern="0" dirty="0">
                <a:solidFill>
                  <a:srgbClr val="FFFFFF"/>
                </a:solidFill>
                <a:latin typeface="Calibri" pitchFamily="34" charset="0"/>
                <a:cs typeface="Amiri" pitchFamily="2" charset="-78"/>
              </a:rPr>
              <a:t>F6-W03 · Apply workshop</a:t>
            </a:r>
            <a:endParaRPr lang="en-US" sz="950" dirty="0"/>
          </a:p>
        </p:txBody>
      </p:sp>
      <p:sp>
        <p:nvSpPr>
          <p:cNvPr id="8" name="Shape 6"/>
          <p:cNvSpPr/>
          <p:nvPr/>
        </p:nvSpPr>
        <p:spPr>
          <a:xfrm>
            <a:off x="7370978" y="274320"/>
            <a:ext cx="1388974" cy="329184"/>
          </a:xfrm>
          <a:prstGeom prst="roundRect">
            <a:avLst>
              <a:gd name="adj" fmla="val 50000"/>
            </a:avLst>
          </a:prstGeom>
          <a:solidFill>
            <a:srgbClr val="2F6FB0"/>
          </a:solidFill>
          <a:ln w="12700">
            <a:solidFill>
              <a:srgbClr val="2F6FB0"/>
            </a:solidFill>
            <a:prstDash val="solid"/>
          </a:ln>
        </p:spPr>
      </p:sp>
      <p:sp>
        <p:nvSpPr>
          <p:cNvPr id="9" name="Text 7"/>
          <p:cNvSpPr txBox="1"/>
          <p:nvPr/>
        </p:nvSpPr>
        <p:spPr>
          <a:xfrm>
            <a:off x="7370978" y="274320"/>
            <a:ext cx="1388974" cy="329184"/>
          </a:xfrm>
          <a:prstGeom prst="rect">
            <a:avLst/>
          </a:prstGeom>
          <a:noFill/>
          <a:ln/>
        </p:spPr>
        <p:txBody>
          <a:bodyPr wrap="square" lIns="0" tIns="0" rIns="0" bIns="0" rtlCol="0" anchor="ctr"/>
          <a:lstStyle/>
          <a:p>
            <a:pPr algn="ctr" indent="0" marL="0">
              <a:buNone/>
            </a:pPr>
            <a:r>
              <a:rPr lang="en-US" sz="900" b="1" spc="100" kern="0" dirty="0">
                <a:solidFill>
                  <a:srgbClr val="FFFFFF"/>
                </a:solidFill>
                <a:latin typeface="Calibri" pitchFamily="34" charset="0"/>
                <a:cs typeface="Amiri" pitchFamily="2" charset="-78"/>
              </a:rPr>
              <a:t>WE DO · 4 MIN</a:t>
            </a:r>
            <a:endParaRPr lang="en-US" sz="900" dirty="0"/>
          </a:p>
        </p:txBody>
      </p:sp>
      <p:sp>
        <p:nvSpPr>
          <p:cNvPr id="10" name="Text 8"/>
          <p:cNvSpPr txBox="1"/>
          <p:nvPr/>
        </p:nvSpPr>
        <p:spPr>
          <a:xfrm>
            <a:off x="457200" y="822960"/>
            <a:ext cx="6949440" cy="237744"/>
          </a:xfrm>
          <a:prstGeom prst="rect">
            <a:avLst/>
          </a:prstGeom>
          <a:noFill/>
          <a:ln/>
        </p:spPr>
        <p:txBody>
          <a:bodyPr wrap="square" lIns="0" tIns="0" rIns="0" bIns="0" rtlCol="0" anchor="ctr"/>
          <a:lstStyle/>
          <a:p>
            <a:pPr algn="l" indent="0" marL="0">
              <a:buNone/>
            </a:pPr>
            <a:r>
              <a:rPr lang="en-US" sz="1000" b="1" spc="300" kern="0" dirty="0">
                <a:solidFill>
                  <a:srgbClr val="2F6FB0"/>
                </a:solidFill>
                <a:latin typeface="Calibri" pitchFamily="34" charset="0"/>
                <a:cs typeface="Amiri" pitchFamily="2" charset="-78"/>
              </a:rPr>
              <a:t>PART 1 · STEP 1 · WORD RACE · 4 MINUTES</a:t>
            </a:r>
            <a:endParaRPr lang="en-US" sz="1000" dirty="0"/>
          </a:p>
        </p:txBody>
      </p:sp>
      <p:sp>
        <p:nvSpPr>
          <p:cNvPr id="11" name="Text 9"/>
          <p:cNvSpPr txBox="1"/>
          <p:nvPr/>
        </p:nvSpPr>
        <p:spPr>
          <a:xfrm>
            <a:off x="457200" y="1033272"/>
            <a:ext cx="6949440" cy="566928"/>
          </a:xfrm>
          <a:prstGeom prst="rect">
            <a:avLst/>
          </a:prstGeom>
          <a:noFill/>
          <a:ln/>
        </p:spPr>
        <p:txBody>
          <a:bodyPr wrap="square" lIns="0" tIns="0" rIns="0" bIns="0" rtlCol="0" anchor="ctr"/>
          <a:lstStyle/>
          <a:p>
            <a:pPr algn="l" indent="0" marL="0">
              <a:buNone/>
            </a:pPr>
            <a:r>
              <a:rPr lang="en-US" sz="2800" b="1" dirty="0">
                <a:solidFill>
                  <a:srgbClr val="1B3B6F"/>
                </a:solidFill>
                <a:latin typeface="Cambria" pitchFamily="34" charset="0"/>
                <a:cs typeface="Amiri" pitchFamily="2" charset="-78"/>
              </a:rPr>
              <a:t>Word race: two lessons, one race</a:t>
            </a:r>
            <a:endParaRPr lang="en-US" sz="2800" dirty="0"/>
          </a:p>
        </p:txBody>
      </p:sp>
      <p:sp>
        <p:nvSpPr>
          <p:cNvPr id="12" name="Text 10"/>
          <p:cNvSpPr txBox="1"/>
          <p:nvPr/>
        </p:nvSpPr>
        <p:spPr>
          <a:xfrm>
            <a:off x="7498080" y="868680"/>
            <a:ext cx="4233672" cy="749808"/>
          </a:xfrm>
          <a:prstGeom prst="rect">
            <a:avLst/>
          </a:prstGeom>
          <a:noFill/>
          <a:ln/>
        </p:spPr>
        <p:txBody>
          <a:bodyPr wrap="square" lIns="0" tIns="0" rIns="0" bIns="0" rtlCol="0" anchor="ctr"/>
          <a:lstStyle/>
          <a:p>
            <a:pPr rtl="1" algn="r" indent="0" marL="0">
              <a:buNone/>
            </a:pPr>
            <a:r>
              <a:rPr lang="ar-SA" altLang="en-US" sz="2800" b="1" dirty="0">
                <a:solidFill>
                  <a:srgbClr val="8A6D1E"/>
                </a:solidFill>
                <a:latin typeface="Amiri" pitchFamily="2" charset="-78"/>
                <a:ea typeface="Amiri" pitchFamily="2" charset="-78"/>
                <a:cs typeface="Amiri" pitchFamily="2" charset="-78"/>
              </a:rPr>
              <a:t>سِبَاقُ الكَلِمَاتِ</a:t>
            </a:r>
            <a:endParaRPr lang="ar-SA" sz="2800" dirty="0"/>
          </a:p>
        </p:txBody>
      </p:sp>
      <p:sp>
        <p:nvSpPr>
          <p:cNvPr id="13" name="Text 11"/>
          <p:cNvSpPr txBox="1"/>
          <p:nvPr/>
        </p:nvSpPr>
        <p:spPr>
          <a:xfrm>
            <a:off x="457200" y="6455664"/>
            <a:ext cx="6400800" cy="219456"/>
          </a:xfrm>
          <a:prstGeom prst="rect">
            <a:avLst/>
          </a:prstGeom>
          <a:noFill/>
          <a:ln/>
        </p:spPr>
        <p:txBody>
          <a:bodyPr wrap="square" lIns="0" tIns="0" rIns="0" bIns="0" rtlCol="0" anchor="ctr"/>
          <a:lstStyle/>
          <a:p>
            <a:pPr indent="0" marL="0">
              <a:buNone/>
            </a:pPr>
            <a:r>
              <a:rPr lang="en-US" sz="850" dirty="0">
                <a:solidFill>
                  <a:srgbClr val="8A93A0"/>
                </a:solidFill>
                <a:latin typeface="Calibri" pitchFamily="34" charset="0"/>
                <a:cs typeface="Amiri" pitchFamily="2" charset="-78"/>
              </a:rPr>
              <a:t>Miftah Arabic · Foundation F6 · My Town and Transport · F6-W03 · Apply workshop (F6-L05 + F6-L06)</a:t>
            </a:r>
            <a:endParaRPr lang="en-US" sz="850" dirty="0"/>
          </a:p>
        </p:txBody>
      </p:sp>
      <p:sp>
        <p:nvSpPr>
          <p:cNvPr id="15" name="Shape 12"/>
          <p:cNvSpPr/>
          <p:nvPr/>
        </p:nvSpPr>
        <p:spPr>
          <a:xfrm>
            <a:off x="457200" y="1810512"/>
            <a:ext cx="5715000" cy="4498848"/>
          </a:xfrm>
          <a:prstGeom prst="roundRect">
            <a:avLst>
              <a:gd name="adj" fmla="val 1626"/>
            </a:avLst>
          </a:prstGeom>
          <a:solidFill>
            <a:srgbClr val="F4F1EA"/>
          </a:solidFill>
          <a:ln w="9525">
            <a:solidFill>
              <a:srgbClr val="E8D49A"/>
            </a:solidFill>
            <a:prstDash val="solid"/>
          </a:ln>
          <a:effectLst>
            <a:outerShdw sx="100000" sy="100000" kx="0" ky="0" algn="bl" rotWithShape="0" blurRad="50800" dist="19050" dir="5400000">
              <a:srgbClr val="000000">
                <a:alpha val="10000"/>
              </a:srgbClr>
            </a:outerShdw>
          </a:effectLst>
        </p:spPr>
      </p:sp>
      <p:sp>
        <p:nvSpPr>
          <p:cNvPr id="16" name="Shape 13"/>
          <p:cNvSpPr/>
          <p:nvPr/>
        </p:nvSpPr>
        <p:spPr>
          <a:xfrm>
            <a:off x="640080" y="1920240"/>
            <a:ext cx="3108960" cy="292608"/>
          </a:xfrm>
          <a:prstGeom prst="roundRect">
            <a:avLst>
              <a:gd name="adj" fmla="val 50000"/>
            </a:avLst>
          </a:prstGeom>
          <a:solidFill>
            <a:srgbClr val="8A6D1E"/>
          </a:solidFill>
          <a:ln w="12700">
            <a:solidFill>
              <a:srgbClr val="8A6D1E"/>
            </a:solidFill>
            <a:prstDash val="solid"/>
          </a:ln>
        </p:spPr>
      </p:sp>
      <p:sp>
        <p:nvSpPr>
          <p:cNvPr id="17" name="Text 14"/>
          <p:cNvSpPr txBox="1"/>
          <p:nvPr/>
        </p:nvSpPr>
        <p:spPr>
          <a:xfrm>
            <a:off x="640080" y="1920240"/>
            <a:ext cx="3108960" cy="292608"/>
          </a:xfrm>
          <a:prstGeom prst="rect">
            <a:avLst/>
          </a:prstGeom>
          <a:noFill/>
          <a:ln/>
        </p:spPr>
        <p:txBody>
          <a:bodyPr wrap="square" lIns="0" tIns="0" rIns="0" bIns="0" rtlCol="0" anchor="ctr"/>
          <a:lstStyle/>
          <a:p>
            <a:pPr algn="ctr" indent="0" marL="0">
              <a:buNone/>
            </a:pPr>
            <a:r>
              <a:rPr lang="en-US" sz="900" b="1" spc="100" kern="0" dirty="0">
                <a:solidFill>
                  <a:srgbClr val="FFFFFF"/>
                </a:solidFill>
                <a:latin typeface="Calibri" pitchFamily="34" charset="0"/>
                <a:cs typeface="Amiri" pitchFamily="2" charset="-78"/>
              </a:rPr>
              <a:t>STEP 1 · PAIRS</a:t>
            </a:r>
            <a:endParaRPr lang="en-US" sz="900" dirty="0"/>
          </a:p>
        </p:txBody>
      </p:sp>
      <p:sp>
        <p:nvSpPr>
          <p:cNvPr id="18" name="Text 15"/>
          <p:cNvSpPr txBox="1"/>
          <p:nvPr/>
        </p:nvSpPr>
        <p:spPr>
          <a:xfrm>
            <a:off x="640080" y="2286000"/>
            <a:ext cx="5349240" cy="502920"/>
          </a:xfrm>
          <a:prstGeom prst="rect">
            <a:avLst/>
          </a:prstGeom>
          <a:noFill/>
          <a:ln/>
        </p:spPr>
        <p:txBody>
          <a:bodyPr wrap="square" lIns="0" tIns="0" rIns="0" bIns="0" rtlCol="0" anchor="ctr"/>
          <a:lstStyle/>
          <a:p>
            <a:pPr algn="l" indent="0" marL="0">
              <a:buNone/>
            </a:pPr>
            <a:r>
              <a:rPr lang="en-US" sz="2200" b="1" dirty="0">
                <a:solidFill>
                  <a:srgbClr val="1B3B6F"/>
                </a:solidFill>
                <a:latin typeface="Calibri" pitchFamily="34" charset="0"/>
                <a:cs typeface="Amiri" pitchFamily="2" charset="-78"/>
              </a:rPr>
              <a:t>🏁  English → Arabic, from both lessons</a:t>
            </a:r>
            <a:endParaRPr lang="en-US" sz="2200" dirty="0"/>
          </a:p>
        </p:txBody>
      </p:sp>
      <p:sp>
        <p:nvSpPr>
          <p:cNvPr id="19" name="Text 16"/>
          <p:cNvSpPr txBox="1"/>
          <p:nvPr/>
        </p:nvSpPr>
        <p:spPr>
          <a:xfrm>
            <a:off x="640080" y="2816352"/>
            <a:ext cx="5349240" cy="1188720"/>
          </a:xfrm>
          <a:prstGeom prst="rect">
            <a:avLst/>
          </a:prstGeom>
          <a:noFill/>
          <a:ln/>
        </p:spPr>
        <p:txBody>
          <a:bodyPr wrap="square" lIns="0" tIns="0" rIns="0" bIns="0" rtlCol="0" anchor="t"/>
          <a:lstStyle/>
          <a:p>
            <a:pPr algn="l" indent="0" marL="0">
              <a:buNone/>
            </a:pPr>
            <a:r>
              <a:rPr lang="en-US" sz="1350" dirty="0">
                <a:solidFill>
                  <a:srgbClr val="1F2A37"/>
                </a:solidFill>
                <a:latin typeface="Calibri" pitchFamily="34" charset="0"/>
                <a:cs typeface="Amiri" pitchFamily="2" charset="-78"/>
              </a:rPr>
              <a:t>The next two slides show words from F6-L05 and F6-L06. Partner A says a word in ENGLISH; Partner B says it in ARABIC. One point for every correct answer in 90 seconds — then swap.</a:t>
            </a:r>
            <a:endParaRPr lang="en-US" sz="1350" dirty="0"/>
          </a:p>
        </p:txBody>
      </p:sp>
      <p:sp>
        <p:nvSpPr>
          <p:cNvPr id="20" name="Text 17"/>
          <p:cNvSpPr txBox="1"/>
          <p:nvPr/>
        </p:nvSpPr>
        <p:spPr>
          <a:xfrm>
            <a:off x="640080" y="4041648"/>
            <a:ext cx="5303520" cy="256032"/>
          </a:xfrm>
          <a:prstGeom prst="rect">
            <a:avLst/>
          </a:prstGeom>
          <a:noFill/>
          <a:ln/>
        </p:spPr>
        <p:txBody>
          <a:bodyPr wrap="square" lIns="0" tIns="0" rIns="0" bIns="0" rtlCol="0" anchor="ctr"/>
          <a:lstStyle/>
          <a:p>
            <a:pPr algn="l" indent="0" marL="0">
              <a:buNone/>
            </a:pPr>
            <a:r>
              <a:rPr lang="en-US" sz="950" b="1" spc="200" kern="0" dirty="0">
                <a:solidFill>
                  <a:srgbClr val="8A6D1E"/>
                </a:solidFill>
                <a:latin typeface="Calibri" pitchFamily="34" charset="0"/>
                <a:cs typeface="Amiri" pitchFamily="2" charset="-78"/>
              </a:rPr>
              <a:t>HOW WE RUN IT ONLINE</a:t>
            </a:r>
            <a:endParaRPr lang="en-US" sz="950" dirty="0"/>
          </a:p>
        </p:txBody>
      </p:sp>
      <p:sp>
        <p:nvSpPr>
          <p:cNvPr id="21" name="Shape 18"/>
          <p:cNvSpPr/>
          <p:nvPr/>
        </p:nvSpPr>
        <p:spPr>
          <a:xfrm>
            <a:off x="658368" y="4407408"/>
            <a:ext cx="274320" cy="274320"/>
          </a:xfrm>
          <a:prstGeom prst="ellipse">
            <a:avLst/>
          </a:prstGeom>
          <a:solidFill>
            <a:srgbClr val="1B3B6F"/>
          </a:solidFill>
          <a:ln w="12700">
            <a:solidFill>
              <a:srgbClr val="1B3B6F"/>
            </a:solidFill>
            <a:prstDash val="solid"/>
          </a:ln>
        </p:spPr>
      </p:sp>
      <p:sp>
        <p:nvSpPr>
          <p:cNvPr id="22" name="Text 19"/>
          <p:cNvSpPr txBox="1"/>
          <p:nvPr/>
        </p:nvSpPr>
        <p:spPr>
          <a:xfrm>
            <a:off x="658368" y="4407408"/>
            <a:ext cx="274320" cy="274320"/>
          </a:xfrm>
          <a:prstGeom prst="rect">
            <a:avLst/>
          </a:prstGeom>
          <a:noFill/>
          <a:ln/>
        </p:spPr>
        <p:txBody>
          <a:bodyPr wrap="square" lIns="0" tIns="0" rIns="0" bIns="0" rtlCol="0" anchor="ctr"/>
          <a:lstStyle/>
          <a:p>
            <a:pPr algn="ctr" indent="0" marL="0">
              <a:buNone/>
            </a:pPr>
            <a:r>
              <a:rPr lang="en-US" sz="1000" b="1" dirty="0">
                <a:solidFill>
                  <a:srgbClr val="FFFFFF"/>
                </a:solidFill>
                <a:latin typeface="Calibri" pitchFamily="34" charset="0"/>
                <a:cs typeface="Amiri" pitchFamily="2" charset="-78"/>
              </a:rPr>
              <a:t>1</a:t>
            </a:r>
            <a:endParaRPr lang="en-US" sz="1000" dirty="0"/>
          </a:p>
        </p:txBody>
      </p:sp>
      <p:sp>
        <p:nvSpPr>
          <p:cNvPr id="23" name="Text 20"/>
          <p:cNvSpPr txBox="1"/>
          <p:nvPr/>
        </p:nvSpPr>
        <p:spPr>
          <a:xfrm>
            <a:off x="1024128" y="4334256"/>
            <a:ext cx="4983480" cy="457200"/>
          </a:xfrm>
          <a:prstGeom prst="rect">
            <a:avLst/>
          </a:prstGeom>
          <a:noFill/>
          <a:ln/>
        </p:spPr>
        <p:txBody>
          <a:bodyPr wrap="square" lIns="0" tIns="0" rIns="0" bIns="0" rtlCol="0" anchor="ctr"/>
          <a:lstStyle/>
          <a:p>
            <a:pPr algn="l" indent="0" marL="0">
              <a:buNone/>
            </a:pPr>
            <a:r>
              <a:rPr lang="en-US" sz="1150" dirty="0">
                <a:solidFill>
                  <a:srgbClr val="1F2A37"/>
                </a:solidFill>
                <a:latin typeface="Calibri" pitchFamily="34" charset="0"/>
                <a:cs typeface="Amiri" pitchFamily="2" charset="-78"/>
              </a:rPr>
              <a:t>Teacher: first round together (3 words from each slide).</a:t>
            </a:r>
            <a:endParaRPr lang="en-US" sz="1150" dirty="0"/>
          </a:p>
        </p:txBody>
      </p:sp>
      <p:sp>
        <p:nvSpPr>
          <p:cNvPr id="24" name="Shape 21"/>
          <p:cNvSpPr/>
          <p:nvPr/>
        </p:nvSpPr>
        <p:spPr>
          <a:xfrm>
            <a:off x="658368" y="4864608"/>
            <a:ext cx="274320" cy="274320"/>
          </a:xfrm>
          <a:prstGeom prst="ellipse">
            <a:avLst/>
          </a:prstGeom>
          <a:solidFill>
            <a:srgbClr val="1B3B6F"/>
          </a:solidFill>
          <a:ln w="12700">
            <a:solidFill>
              <a:srgbClr val="1B3B6F"/>
            </a:solidFill>
            <a:prstDash val="solid"/>
          </a:ln>
        </p:spPr>
      </p:sp>
      <p:sp>
        <p:nvSpPr>
          <p:cNvPr id="25" name="Text 22"/>
          <p:cNvSpPr txBox="1"/>
          <p:nvPr/>
        </p:nvSpPr>
        <p:spPr>
          <a:xfrm>
            <a:off x="658368" y="4864608"/>
            <a:ext cx="274320" cy="274320"/>
          </a:xfrm>
          <a:prstGeom prst="rect">
            <a:avLst/>
          </a:prstGeom>
          <a:noFill/>
          <a:ln/>
        </p:spPr>
        <p:txBody>
          <a:bodyPr wrap="square" lIns="0" tIns="0" rIns="0" bIns="0" rtlCol="0" anchor="ctr"/>
          <a:lstStyle/>
          <a:p>
            <a:pPr algn="ctr" indent="0" marL="0">
              <a:buNone/>
            </a:pPr>
            <a:r>
              <a:rPr lang="en-US" sz="1000" b="1" dirty="0">
                <a:solidFill>
                  <a:srgbClr val="FFFFFF"/>
                </a:solidFill>
                <a:latin typeface="Calibri" pitchFamily="34" charset="0"/>
                <a:cs typeface="Amiri" pitchFamily="2" charset="-78"/>
              </a:rPr>
              <a:t>2</a:t>
            </a:r>
            <a:endParaRPr lang="en-US" sz="1000" dirty="0"/>
          </a:p>
        </p:txBody>
      </p:sp>
      <p:sp>
        <p:nvSpPr>
          <p:cNvPr id="26" name="Text 23"/>
          <p:cNvSpPr txBox="1"/>
          <p:nvPr/>
        </p:nvSpPr>
        <p:spPr>
          <a:xfrm>
            <a:off x="1024128" y="4791456"/>
            <a:ext cx="4983480" cy="457200"/>
          </a:xfrm>
          <a:prstGeom prst="rect">
            <a:avLst/>
          </a:prstGeom>
          <a:noFill/>
          <a:ln/>
        </p:spPr>
        <p:txBody>
          <a:bodyPr wrap="square" lIns="0" tIns="0" rIns="0" bIns="0" rtlCol="0" anchor="ctr"/>
          <a:lstStyle/>
          <a:p>
            <a:pPr algn="l" indent="0" marL="0">
              <a:buNone/>
            </a:pPr>
            <a:r>
              <a:rPr lang="en-US" sz="1150" dirty="0">
                <a:solidFill>
                  <a:srgbClr val="1F2A37"/>
                </a:solidFill>
                <a:latin typeface="Calibri" pitchFamily="34" charset="0"/>
                <a:cs typeface="Amiri" pitchFamily="2" charset="-78"/>
              </a:rPr>
              <a:t>Pairs: 90 seconds each, as many as you can.</a:t>
            </a:r>
            <a:endParaRPr lang="en-US" sz="1150" dirty="0"/>
          </a:p>
        </p:txBody>
      </p:sp>
      <p:sp>
        <p:nvSpPr>
          <p:cNvPr id="27" name="Shape 24"/>
          <p:cNvSpPr/>
          <p:nvPr/>
        </p:nvSpPr>
        <p:spPr>
          <a:xfrm>
            <a:off x="658368" y="5321808"/>
            <a:ext cx="274320" cy="274320"/>
          </a:xfrm>
          <a:prstGeom prst="ellipse">
            <a:avLst/>
          </a:prstGeom>
          <a:solidFill>
            <a:srgbClr val="1B3B6F"/>
          </a:solidFill>
          <a:ln w="12700">
            <a:solidFill>
              <a:srgbClr val="1B3B6F"/>
            </a:solidFill>
            <a:prstDash val="solid"/>
          </a:ln>
        </p:spPr>
      </p:sp>
      <p:sp>
        <p:nvSpPr>
          <p:cNvPr id="28" name="Text 25"/>
          <p:cNvSpPr txBox="1"/>
          <p:nvPr/>
        </p:nvSpPr>
        <p:spPr>
          <a:xfrm>
            <a:off x="658368" y="5321808"/>
            <a:ext cx="274320" cy="274320"/>
          </a:xfrm>
          <a:prstGeom prst="rect">
            <a:avLst/>
          </a:prstGeom>
          <a:noFill/>
          <a:ln/>
        </p:spPr>
        <p:txBody>
          <a:bodyPr wrap="square" lIns="0" tIns="0" rIns="0" bIns="0" rtlCol="0" anchor="ctr"/>
          <a:lstStyle/>
          <a:p>
            <a:pPr algn="ctr" indent="0" marL="0">
              <a:buNone/>
            </a:pPr>
            <a:r>
              <a:rPr lang="en-US" sz="1000" b="1" dirty="0">
                <a:solidFill>
                  <a:srgbClr val="FFFFFF"/>
                </a:solidFill>
                <a:latin typeface="Calibri" pitchFamily="34" charset="0"/>
                <a:cs typeface="Amiri" pitchFamily="2" charset="-78"/>
              </a:rPr>
              <a:t>3</a:t>
            </a:r>
            <a:endParaRPr lang="en-US" sz="1000" dirty="0"/>
          </a:p>
        </p:txBody>
      </p:sp>
      <p:sp>
        <p:nvSpPr>
          <p:cNvPr id="29" name="Text 26"/>
          <p:cNvSpPr txBox="1"/>
          <p:nvPr/>
        </p:nvSpPr>
        <p:spPr>
          <a:xfrm>
            <a:off x="1024128" y="5248656"/>
            <a:ext cx="4983480" cy="457200"/>
          </a:xfrm>
          <a:prstGeom prst="rect">
            <a:avLst/>
          </a:prstGeom>
          <a:noFill/>
          <a:ln/>
        </p:spPr>
        <p:txBody>
          <a:bodyPr wrap="square" lIns="0" tIns="0" rIns="0" bIns="0" rtlCol="0" anchor="ctr"/>
          <a:lstStyle/>
          <a:p>
            <a:pPr algn="l" indent="0" marL="0">
              <a:buNone/>
            </a:pPr>
            <a:r>
              <a:rPr lang="en-US" sz="1150" dirty="0">
                <a:solidFill>
                  <a:srgbClr val="1F2A37"/>
                </a:solidFill>
                <a:latin typeface="Calibri" pitchFamily="34" charset="0"/>
                <a:cs typeface="Amiri" pitchFamily="2" charset="-78"/>
              </a:rPr>
              <a:t>Mix the lessons: one word from slide 1, one from slide 2.</a:t>
            </a:r>
            <a:endParaRPr lang="en-US" sz="1150" dirty="0"/>
          </a:p>
        </p:txBody>
      </p:sp>
      <p:sp>
        <p:nvSpPr>
          <p:cNvPr id="30" name="Shape 27"/>
          <p:cNvSpPr/>
          <p:nvPr/>
        </p:nvSpPr>
        <p:spPr>
          <a:xfrm>
            <a:off x="658368" y="5779008"/>
            <a:ext cx="274320" cy="274320"/>
          </a:xfrm>
          <a:prstGeom prst="ellipse">
            <a:avLst/>
          </a:prstGeom>
          <a:solidFill>
            <a:srgbClr val="1B3B6F"/>
          </a:solidFill>
          <a:ln w="12700">
            <a:solidFill>
              <a:srgbClr val="1B3B6F"/>
            </a:solidFill>
            <a:prstDash val="solid"/>
          </a:ln>
        </p:spPr>
      </p:sp>
      <p:sp>
        <p:nvSpPr>
          <p:cNvPr id="31" name="Text 28"/>
          <p:cNvSpPr txBox="1"/>
          <p:nvPr/>
        </p:nvSpPr>
        <p:spPr>
          <a:xfrm>
            <a:off x="658368" y="5779008"/>
            <a:ext cx="274320" cy="274320"/>
          </a:xfrm>
          <a:prstGeom prst="rect">
            <a:avLst/>
          </a:prstGeom>
          <a:noFill/>
          <a:ln/>
        </p:spPr>
        <p:txBody>
          <a:bodyPr wrap="square" lIns="0" tIns="0" rIns="0" bIns="0" rtlCol="0" anchor="ctr"/>
          <a:lstStyle/>
          <a:p>
            <a:pPr algn="ctr" indent="0" marL="0">
              <a:buNone/>
            </a:pPr>
            <a:r>
              <a:rPr lang="en-US" sz="1000" b="1" dirty="0">
                <a:solidFill>
                  <a:srgbClr val="FFFFFF"/>
                </a:solidFill>
                <a:latin typeface="Calibri" pitchFamily="34" charset="0"/>
                <a:cs typeface="Amiri" pitchFamily="2" charset="-78"/>
              </a:rPr>
              <a:t>4</a:t>
            </a:r>
            <a:endParaRPr lang="en-US" sz="1000" dirty="0"/>
          </a:p>
        </p:txBody>
      </p:sp>
      <p:sp>
        <p:nvSpPr>
          <p:cNvPr id="32" name="Text 29"/>
          <p:cNvSpPr txBox="1"/>
          <p:nvPr/>
        </p:nvSpPr>
        <p:spPr>
          <a:xfrm>
            <a:off x="1024128" y="5705856"/>
            <a:ext cx="4983480" cy="457200"/>
          </a:xfrm>
          <a:prstGeom prst="rect">
            <a:avLst/>
          </a:prstGeom>
          <a:noFill/>
          <a:ln/>
        </p:spPr>
        <p:txBody>
          <a:bodyPr wrap="square" lIns="0" tIns="0" rIns="0" bIns="0" rtlCol="0" anchor="ctr"/>
          <a:lstStyle/>
          <a:p>
            <a:pPr algn="l" indent="0" marL="0">
              <a:buNone/>
            </a:pPr>
            <a:r>
              <a:rPr lang="en-US" sz="1150" dirty="0">
                <a:solidFill>
                  <a:srgbClr val="1F2A37"/>
                </a:solidFill>
                <a:latin typeface="Calibri" pitchFamily="34" charset="0"/>
                <a:cs typeface="Amiri" pitchFamily="2" charset="-78"/>
              </a:rPr>
              <a:t>Last round: use two words — one from each lesson — in ONE sentence.</a:t>
            </a:r>
            <a:endParaRPr lang="en-US" sz="1150" dirty="0"/>
          </a:p>
        </p:txBody>
      </p:sp>
      <p:sp>
        <p:nvSpPr>
          <p:cNvPr id="33" name="Shape 30"/>
          <p:cNvSpPr/>
          <p:nvPr/>
        </p:nvSpPr>
        <p:spPr>
          <a:xfrm>
            <a:off x="6355080" y="1810512"/>
            <a:ext cx="5376672" cy="896112"/>
          </a:xfrm>
          <a:prstGeom prst="roundRect">
            <a:avLst>
              <a:gd name="adj" fmla="val 8163"/>
            </a:avLst>
          </a:prstGeom>
          <a:solidFill>
            <a:srgbClr val="E9F5EE"/>
          </a:solidFill>
          <a:ln w="9525">
            <a:solidFill>
              <a:srgbClr val="2E8B57"/>
            </a:solidFill>
            <a:prstDash val="solid"/>
          </a:ln>
          <a:effectLst>
            <a:outerShdw sx="100000" sy="100000" kx="0" ky="0" algn="bl" rotWithShape="0" blurRad="50800" dist="19050" dir="5400000">
              <a:srgbClr val="000000">
                <a:alpha val="10000"/>
              </a:srgbClr>
            </a:outerShdw>
          </a:effectLst>
        </p:spPr>
      </p:sp>
      <p:sp>
        <p:nvSpPr>
          <p:cNvPr id="34" name="Shape 31"/>
          <p:cNvSpPr/>
          <p:nvPr/>
        </p:nvSpPr>
        <p:spPr>
          <a:xfrm>
            <a:off x="6473952" y="1901952"/>
            <a:ext cx="1051560" cy="256032"/>
          </a:xfrm>
          <a:prstGeom prst="roundRect">
            <a:avLst>
              <a:gd name="adj" fmla="val 50000"/>
            </a:avLst>
          </a:prstGeom>
          <a:solidFill>
            <a:srgbClr val="2E8B57"/>
          </a:solidFill>
          <a:ln w="12700">
            <a:solidFill>
              <a:srgbClr val="2E8B57"/>
            </a:solidFill>
            <a:prstDash val="solid"/>
          </a:ln>
        </p:spPr>
      </p:sp>
      <p:sp>
        <p:nvSpPr>
          <p:cNvPr id="35" name="Text 32"/>
          <p:cNvSpPr txBox="1"/>
          <p:nvPr/>
        </p:nvSpPr>
        <p:spPr>
          <a:xfrm>
            <a:off x="6473952" y="1901952"/>
            <a:ext cx="1051560" cy="256032"/>
          </a:xfrm>
          <a:prstGeom prst="rect">
            <a:avLst/>
          </a:prstGeom>
          <a:noFill/>
          <a:ln/>
        </p:spPr>
        <p:txBody>
          <a:bodyPr wrap="square" lIns="0" tIns="0" rIns="0" bIns="0" rtlCol="0" anchor="ctr"/>
          <a:lstStyle/>
          <a:p>
            <a:pPr algn="ctr" indent="0" marL="0">
              <a:buNone/>
            </a:pPr>
            <a:r>
              <a:rPr lang="en-US" sz="850" b="1" spc="100" kern="0" dirty="0">
                <a:solidFill>
                  <a:srgbClr val="FFFFFF"/>
                </a:solidFill>
                <a:latin typeface="Calibri" pitchFamily="34" charset="0"/>
                <a:cs typeface="Amiri" pitchFamily="2" charset="-78"/>
              </a:rPr>
              <a:t>CORE</a:t>
            </a:r>
            <a:endParaRPr lang="en-US" sz="850" dirty="0"/>
          </a:p>
        </p:txBody>
      </p:sp>
      <p:sp>
        <p:nvSpPr>
          <p:cNvPr id="36" name="Text 33"/>
          <p:cNvSpPr txBox="1"/>
          <p:nvPr/>
        </p:nvSpPr>
        <p:spPr>
          <a:xfrm>
            <a:off x="6473952" y="2176272"/>
            <a:ext cx="5120640" cy="475488"/>
          </a:xfrm>
          <a:prstGeom prst="rect">
            <a:avLst/>
          </a:prstGeom>
          <a:noFill/>
          <a:ln/>
        </p:spPr>
        <p:txBody>
          <a:bodyPr wrap="square" lIns="0" tIns="0" rIns="0" bIns="0" rtlCol="0" anchor="ctr"/>
          <a:lstStyle/>
          <a:p>
            <a:pPr algn="l" indent="0" marL="0">
              <a:buNone/>
            </a:pPr>
            <a:r>
              <a:rPr lang="en-US" sz="1150" dirty="0">
                <a:solidFill>
                  <a:srgbClr val="1F2A37"/>
                </a:solidFill>
                <a:latin typeface="Calibri" pitchFamily="34" charset="0"/>
                <a:cs typeface="Amiri" pitchFamily="2" charset="-78"/>
              </a:rPr>
              <a:t>Say the Arabic word clearly.</a:t>
            </a:r>
            <a:endParaRPr lang="en-US" sz="1150" dirty="0"/>
          </a:p>
        </p:txBody>
      </p:sp>
      <p:sp>
        <p:nvSpPr>
          <p:cNvPr id="37" name="Shape 34"/>
          <p:cNvSpPr/>
          <p:nvPr/>
        </p:nvSpPr>
        <p:spPr>
          <a:xfrm>
            <a:off x="6355080" y="2816352"/>
            <a:ext cx="5376672" cy="896112"/>
          </a:xfrm>
          <a:prstGeom prst="roundRect">
            <a:avLst>
              <a:gd name="adj" fmla="val 8163"/>
            </a:avLst>
          </a:prstGeom>
          <a:solidFill>
            <a:srgbClr val="FCF1E0"/>
          </a:solidFill>
          <a:ln w="9525">
            <a:solidFill>
              <a:srgbClr val="C9780A"/>
            </a:solidFill>
            <a:prstDash val="solid"/>
          </a:ln>
          <a:effectLst>
            <a:outerShdw sx="100000" sy="100000" kx="0" ky="0" algn="bl" rotWithShape="0" blurRad="50800" dist="19050" dir="5400000">
              <a:srgbClr val="000000">
                <a:alpha val="10000"/>
              </a:srgbClr>
            </a:outerShdw>
          </a:effectLst>
        </p:spPr>
      </p:sp>
      <p:sp>
        <p:nvSpPr>
          <p:cNvPr id="38" name="Shape 35"/>
          <p:cNvSpPr/>
          <p:nvPr/>
        </p:nvSpPr>
        <p:spPr>
          <a:xfrm>
            <a:off x="6473952" y="2907792"/>
            <a:ext cx="1051560" cy="256032"/>
          </a:xfrm>
          <a:prstGeom prst="roundRect">
            <a:avLst>
              <a:gd name="adj" fmla="val 50000"/>
            </a:avLst>
          </a:prstGeom>
          <a:solidFill>
            <a:srgbClr val="C9780A"/>
          </a:solidFill>
          <a:ln w="12700">
            <a:solidFill>
              <a:srgbClr val="C9780A"/>
            </a:solidFill>
            <a:prstDash val="solid"/>
          </a:ln>
        </p:spPr>
      </p:sp>
      <p:sp>
        <p:nvSpPr>
          <p:cNvPr id="39" name="Text 36"/>
          <p:cNvSpPr txBox="1"/>
          <p:nvPr/>
        </p:nvSpPr>
        <p:spPr>
          <a:xfrm>
            <a:off x="6473952" y="2907792"/>
            <a:ext cx="1051560" cy="256032"/>
          </a:xfrm>
          <a:prstGeom prst="rect">
            <a:avLst/>
          </a:prstGeom>
          <a:noFill/>
          <a:ln/>
        </p:spPr>
        <p:txBody>
          <a:bodyPr wrap="square" lIns="0" tIns="0" rIns="0" bIns="0" rtlCol="0" anchor="ctr"/>
          <a:lstStyle/>
          <a:p>
            <a:pPr algn="ctr" indent="0" marL="0">
              <a:buNone/>
            </a:pPr>
            <a:r>
              <a:rPr lang="en-US" sz="850" b="1" spc="100" kern="0" dirty="0">
                <a:solidFill>
                  <a:srgbClr val="FFFFFF"/>
                </a:solidFill>
                <a:latin typeface="Calibri" pitchFamily="34" charset="0"/>
                <a:cs typeface="Amiri" pitchFamily="2" charset="-78"/>
              </a:rPr>
              <a:t>DEVELOP</a:t>
            </a:r>
            <a:endParaRPr lang="en-US" sz="850" dirty="0"/>
          </a:p>
        </p:txBody>
      </p:sp>
      <p:sp>
        <p:nvSpPr>
          <p:cNvPr id="40" name="Text 37"/>
          <p:cNvSpPr txBox="1"/>
          <p:nvPr/>
        </p:nvSpPr>
        <p:spPr>
          <a:xfrm>
            <a:off x="6473952" y="3182112"/>
            <a:ext cx="5120640" cy="475488"/>
          </a:xfrm>
          <a:prstGeom prst="rect">
            <a:avLst/>
          </a:prstGeom>
          <a:noFill/>
          <a:ln/>
        </p:spPr>
        <p:txBody>
          <a:bodyPr wrap="square" lIns="0" tIns="0" rIns="0" bIns="0" rtlCol="0" anchor="ctr"/>
          <a:lstStyle/>
          <a:p>
            <a:pPr algn="l" indent="0" marL="0">
              <a:buNone/>
            </a:pPr>
            <a:r>
              <a:rPr lang="en-US" sz="1150" dirty="0">
                <a:solidFill>
                  <a:srgbClr val="1F2A37"/>
                </a:solidFill>
                <a:latin typeface="Calibri" pitchFamily="34" charset="0"/>
                <a:cs typeface="Amiri" pitchFamily="2" charset="-78"/>
              </a:rPr>
              <a:t>Say the word, then a short sentence with it.</a:t>
            </a:r>
            <a:endParaRPr lang="en-US" sz="1150" dirty="0"/>
          </a:p>
        </p:txBody>
      </p:sp>
      <p:sp>
        <p:nvSpPr>
          <p:cNvPr id="41" name="Shape 38"/>
          <p:cNvSpPr/>
          <p:nvPr/>
        </p:nvSpPr>
        <p:spPr>
          <a:xfrm>
            <a:off x="6355080" y="3822192"/>
            <a:ext cx="5376672" cy="896112"/>
          </a:xfrm>
          <a:prstGeom prst="roundRect">
            <a:avLst>
              <a:gd name="adj" fmla="val 8163"/>
            </a:avLst>
          </a:prstGeom>
          <a:solidFill>
            <a:srgbClr val="FBEAEA"/>
          </a:solidFill>
          <a:ln w="9525">
            <a:solidFill>
              <a:srgbClr val="B83227"/>
            </a:solidFill>
            <a:prstDash val="solid"/>
          </a:ln>
          <a:effectLst>
            <a:outerShdw sx="100000" sy="100000" kx="0" ky="0" algn="bl" rotWithShape="0" blurRad="50800" dist="19050" dir="5400000">
              <a:srgbClr val="000000">
                <a:alpha val="10000"/>
              </a:srgbClr>
            </a:outerShdw>
          </a:effectLst>
        </p:spPr>
      </p:sp>
      <p:sp>
        <p:nvSpPr>
          <p:cNvPr id="42" name="Shape 39"/>
          <p:cNvSpPr/>
          <p:nvPr/>
        </p:nvSpPr>
        <p:spPr>
          <a:xfrm>
            <a:off x="6473952" y="3913632"/>
            <a:ext cx="1051560" cy="256032"/>
          </a:xfrm>
          <a:prstGeom prst="roundRect">
            <a:avLst>
              <a:gd name="adj" fmla="val 50000"/>
            </a:avLst>
          </a:prstGeom>
          <a:solidFill>
            <a:srgbClr val="B83227"/>
          </a:solidFill>
          <a:ln w="12700">
            <a:solidFill>
              <a:srgbClr val="B83227"/>
            </a:solidFill>
            <a:prstDash val="solid"/>
          </a:ln>
        </p:spPr>
      </p:sp>
      <p:sp>
        <p:nvSpPr>
          <p:cNvPr id="43" name="Text 40"/>
          <p:cNvSpPr txBox="1"/>
          <p:nvPr/>
        </p:nvSpPr>
        <p:spPr>
          <a:xfrm>
            <a:off x="6473952" y="3913632"/>
            <a:ext cx="1051560" cy="256032"/>
          </a:xfrm>
          <a:prstGeom prst="rect">
            <a:avLst/>
          </a:prstGeom>
          <a:noFill/>
          <a:ln/>
        </p:spPr>
        <p:txBody>
          <a:bodyPr wrap="square" lIns="0" tIns="0" rIns="0" bIns="0" rtlCol="0" anchor="ctr"/>
          <a:lstStyle/>
          <a:p>
            <a:pPr algn="ctr" indent="0" marL="0">
              <a:buNone/>
            </a:pPr>
            <a:r>
              <a:rPr lang="en-US" sz="850" b="1" spc="100" kern="0" dirty="0">
                <a:solidFill>
                  <a:srgbClr val="FFFFFF"/>
                </a:solidFill>
                <a:latin typeface="Calibri" pitchFamily="34" charset="0"/>
                <a:cs typeface="Amiri" pitchFamily="2" charset="-78"/>
              </a:rPr>
              <a:t>STRETCH</a:t>
            </a:r>
            <a:endParaRPr lang="en-US" sz="850" dirty="0"/>
          </a:p>
        </p:txBody>
      </p:sp>
      <p:sp>
        <p:nvSpPr>
          <p:cNvPr id="44" name="Text 41"/>
          <p:cNvSpPr txBox="1"/>
          <p:nvPr/>
        </p:nvSpPr>
        <p:spPr>
          <a:xfrm>
            <a:off x="6473952" y="4187952"/>
            <a:ext cx="5120640" cy="475488"/>
          </a:xfrm>
          <a:prstGeom prst="rect">
            <a:avLst/>
          </a:prstGeom>
          <a:noFill/>
          <a:ln/>
        </p:spPr>
        <p:txBody>
          <a:bodyPr wrap="square" lIns="0" tIns="0" rIns="0" bIns="0" rtlCol="0" anchor="ctr"/>
          <a:lstStyle/>
          <a:p>
            <a:pPr algn="l" indent="0" marL="0">
              <a:buNone/>
            </a:pPr>
            <a:r>
              <a:rPr lang="en-US" sz="1150" dirty="0">
                <a:solidFill>
                  <a:srgbClr val="1F2A37"/>
                </a:solidFill>
                <a:latin typeface="Calibri" pitchFamily="34" charset="0"/>
                <a:cs typeface="Amiri" pitchFamily="2" charset="-78"/>
              </a:rPr>
              <a:t>Join a word from each lesson in one sentence with </a:t>
            </a:r>
            <a:pPr algn="l" indent="0" marL="0">
              <a:buNone/>
            </a:pPr>
            <a:r>
              <a:rPr lang="ar-SA" altLang="en-US" sz="1500" dirty="0">
                <a:solidFill>
                  <a:srgbClr val="1F2A37"/>
                </a:solidFill>
                <a:latin typeface="Amiri" pitchFamily="2" charset="-78"/>
                <a:ea typeface="Amiri" pitchFamily="2" charset="-78"/>
                <a:cs typeface="Amiri" pitchFamily="2" charset="-78"/>
              </a:rPr>
              <a:t>وَ</a:t>
            </a:r>
            <a:pPr algn="l" indent="0" marL="0">
              <a:buNone/>
            </a:pPr>
            <a:r>
              <a:rPr lang="en-US" sz="1150" dirty="0">
                <a:solidFill>
                  <a:srgbClr val="1F2A37"/>
                </a:solidFill>
                <a:latin typeface="Calibri" pitchFamily="34" charset="0"/>
                <a:cs typeface="Amiri" pitchFamily="2" charset="-78"/>
              </a:rPr>
              <a:t> or </a:t>
            </a:r>
            <a:pPr algn="l" indent="0" marL="0">
              <a:buNone/>
            </a:pPr>
            <a:r>
              <a:rPr lang="ar-SA" altLang="en-US" sz="1500" dirty="0">
                <a:solidFill>
                  <a:srgbClr val="1F2A37"/>
                </a:solidFill>
                <a:latin typeface="Amiri" pitchFamily="2" charset="-78"/>
                <a:ea typeface="Amiri" pitchFamily="2" charset="-78"/>
                <a:cs typeface="Amiri" pitchFamily="2" charset="-78"/>
              </a:rPr>
              <a:t>لِأَنَّ</a:t>
            </a:r>
            <a:pPr algn="l" indent="0" marL="0">
              <a:buNone/>
            </a:pPr>
            <a:r>
              <a:rPr lang="en-US" sz="1150" dirty="0">
                <a:solidFill>
                  <a:srgbClr val="1F2A37"/>
                </a:solidFill>
                <a:latin typeface="Calibri" pitchFamily="34" charset="0"/>
                <a:cs typeface="Amiri" pitchFamily="2" charset="-78"/>
              </a:rPr>
              <a:t>.</a:t>
            </a:r>
            <a:endParaRPr lang="en-US" sz="1150" dirty="0"/>
          </a:p>
        </p:txBody>
      </p:sp>
      <p:sp>
        <p:nvSpPr>
          <p:cNvPr id="45" name="Shape 42"/>
          <p:cNvSpPr/>
          <p:nvPr/>
        </p:nvSpPr>
        <p:spPr>
          <a:xfrm>
            <a:off x="6355080" y="4828032"/>
            <a:ext cx="5376672" cy="1481328"/>
          </a:xfrm>
          <a:prstGeom prst="roundRect">
            <a:avLst>
              <a:gd name="adj" fmla="val 4938"/>
            </a:avLst>
          </a:prstGeom>
          <a:solidFill>
            <a:srgbClr val="FFFFFF"/>
          </a:solidFill>
          <a:ln w="9525">
            <a:solidFill>
              <a:srgbClr val="D8D0BF"/>
            </a:solidFill>
            <a:prstDash val="solid"/>
          </a:ln>
          <a:effectLst>
            <a:outerShdw sx="100000" sy="100000" kx="0" ky="0" algn="bl" rotWithShape="0" blurRad="50800" dist="19050" dir="5400000">
              <a:srgbClr val="000000">
                <a:alpha val="10000"/>
              </a:srgbClr>
            </a:outerShdw>
          </a:effectLst>
        </p:spPr>
      </p:sp>
      <p:sp>
        <p:nvSpPr>
          <p:cNvPr id="46" name="Text 43"/>
          <p:cNvSpPr txBox="1"/>
          <p:nvPr/>
        </p:nvSpPr>
        <p:spPr>
          <a:xfrm>
            <a:off x="6492240" y="4882896"/>
            <a:ext cx="2743200" cy="237744"/>
          </a:xfrm>
          <a:prstGeom prst="rect">
            <a:avLst/>
          </a:prstGeom>
          <a:noFill/>
          <a:ln/>
        </p:spPr>
        <p:txBody>
          <a:bodyPr wrap="square" lIns="0" tIns="0" rIns="0" bIns="0" rtlCol="0" anchor="ctr"/>
          <a:lstStyle/>
          <a:p>
            <a:pPr algn="l" indent="0" marL="0">
              <a:buNone/>
            </a:pPr>
            <a:r>
              <a:rPr lang="en-US" sz="950" b="1" spc="200" kern="0" dirty="0">
                <a:solidFill>
                  <a:srgbClr val="8A6D1E"/>
                </a:solidFill>
                <a:latin typeface="Calibri" pitchFamily="34" charset="0"/>
                <a:cs typeface="Amiri" pitchFamily="2" charset="-78"/>
              </a:rPr>
              <a:t>USEFUL LANGUAGE</a:t>
            </a:r>
            <a:endParaRPr lang="en-US" sz="950" dirty="0"/>
          </a:p>
        </p:txBody>
      </p:sp>
      <p:sp>
        <p:nvSpPr>
          <p:cNvPr id="47" name="Text 44"/>
          <p:cNvSpPr txBox="1"/>
          <p:nvPr/>
        </p:nvSpPr>
        <p:spPr>
          <a:xfrm>
            <a:off x="8732520" y="5138928"/>
            <a:ext cx="2880360" cy="283464"/>
          </a:xfrm>
          <a:prstGeom prst="rect">
            <a:avLst/>
          </a:prstGeom>
          <a:noFill/>
          <a:ln/>
        </p:spPr>
        <p:txBody>
          <a:bodyPr wrap="square" lIns="0" tIns="0" rIns="0" bIns="0" rtlCol="0" anchor="ctr"/>
          <a:lstStyle/>
          <a:p>
            <a:pPr rtl="1" algn="r" indent="0" marL="0">
              <a:buNone/>
            </a:pPr>
            <a:r>
              <a:rPr lang="ar-SA" altLang="en-US" sz="1300" b="1" dirty="0">
                <a:solidFill>
                  <a:srgbClr val="1B3B6F"/>
                </a:solidFill>
                <a:latin typeface="Amiri" pitchFamily="2" charset="-78"/>
                <a:ea typeface="Amiri" pitchFamily="2" charset="-78"/>
                <a:cs typeface="Amiri" pitchFamily="2" charset="-78"/>
              </a:rPr>
              <a:t>دَوْرُكَ! / دَوْرُكِ!</a:t>
            </a:r>
            <a:endParaRPr lang="ar-SA" sz="1300" dirty="0"/>
          </a:p>
        </p:txBody>
      </p:sp>
      <p:sp>
        <p:nvSpPr>
          <p:cNvPr id="48" name="Text 45"/>
          <p:cNvSpPr txBox="1"/>
          <p:nvPr/>
        </p:nvSpPr>
        <p:spPr>
          <a:xfrm>
            <a:off x="6492240" y="5138928"/>
            <a:ext cx="2194560" cy="283464"/>
          </a:xfrm>
          <a:prstGeom prst="rect">
            <a:avLst/>
          </a:prstGeom>
          <a:noFill/>
          <a:ln/>
        </p:spPr>
        <p:txBody>
          <a:bodyPr wrap="square" lIns="0" tIns="0" rIns="0" bIns="0" rtlCol="0" anchor="ctr"/>
          <a:lstStyle/>
          <a:p>
            <a:pPr algn="l" indent="0" marL="0">
              <a:buNone/>
            </a:pPr>
            <a:r>
              <a:rPr lang="en-US" sz="1000" i="1" dirty="0">
                <a:solidFill>
                  <a:srgbClr val="5A6472"/>
                </a:solidFill>
                <a:latin typeface="Calibri" pitchFamily="34" charset="0"/>
                <a:cs typeface="Amiri" pitchFamily="2" charset="-78"/>
              </a:rPr>
              <a:t>your turn! (m. / f.)</a:t>
            </a:r>
            <a:endParaRPr lang="en-US" sz="1000" dirty="0"/>
          </a:p>
        </p:txBody>
      </p:sp>
      <p:sp>
        <p:nvSpPr>
          <p:cNvPr id="49" name="Text 46"/>
          <p:cNvSpPr txBox="1"/>
          <p:nvPr/>
        </p:nvSpPr>
        <p:spPr>
          <a:xfrm>
            <a:off x="8732520" y="5422392"/>
            <a:ext cx="2880360" cy="283464"/>
          </a:xfrm>
          <a:prstGeom prst="rect">
            <a:avLst/>
          </a:prstGeom>
          <a:noFill/>
          <a:ln/>
        </p:spPr>
        <p:txBody>
          <a:bodyPr wrap="square" lIns="0" tIns="0" rIns="0" bIns="0" rtlCol="0" anchor="ctr"/>
          <a:lstStyle/>
          <a:p>
            <a:pPr rtl="1" algn="r" indent="0" marL="0">
              <a:buNone/>
            </a:pPr>
            <a:r>
              <a:rPr lang="ar-SA" altLang="en-US" sz="1300" b="1" dirty="0">
                <a:solidFill>
                  <a:srgbClr val="1B3B6F"/>
                </a:solidFill>
                <a:latin typeface="Amiri" pitchFamily="2" charset="-78"/>
                <a:ea typeface="Amiri" pitchFamily="2" charset="-78"/>
                <a:cs typeface="Amiri" pitchFamily="2" charset="-78"/>
              </a:rPr>
              <a:t>صَحِيحٌ!</a:t>
            </a:r>
            <a:endParaRPr lang="ar-SA" sz="1300" dirty="0"/>
          </a:p>
        </p:txBody>
      </p:sp>
      <p:sp>
        <p:nvSpPr>
          <p:cNvPr id="50" name="Text 47"/>
          <p:cNvSpPr txBox="1"/>
          <p:nvPr/>
        </p:nvSpPr>
        <p:spPr>
          <a:xfrm>
            <a:off x="6492240" y="5422392"/>
            <a:ext cx="2194560" cy="283464"/>
          </a:xfrm>
          <a:prstGeom prst="rect">
            <a:avLst/>
          </a:prstGeom>
          <a:noFill/>
          <a:ln/>
        </p:spPr>
        <p:txBody>
          <a:bodyPr wrap="square" lIns="0" tIns="0" rIns="0" bIns="0" rtlCol="0" anchor="ctr"/>
          <a:lstStyle/>
          <a:p>
            <a:pPr algn="l" indent="0" marL="0">
              <a:buNone/>
            </a:pPr>
            <a:r>
              <a:rPr lang="en-US" sz="1000" i="1" dirty="0">
                <a:solidFill>
                  <a:srgbClr val="5A6472"/>
                </a:solidFill>
                <a:latin typeface="Calibri" pitchFamily="34" charset="0"/>
                <a:cs typeface="Amiri" pitchFamily="2" charset="-78"/>
              </a:rPr>
              <a:t>correct!</a:t>
            </a:r>
            <a:endParaRPr lang="en-US" sz="1000" dirty="0"/>
          </a:p>
        </p:txBody>
      </p:sp>
      <p:sp>
        <p:nvSpPr>
          <p:cNvPr id="51" name="Text 48"/>
          <p:cNvSpPr txBox="1"/>
          <p:nvPr/>
        </p:nvSpPr>
        <p:spPr>
          <a:xfrm>
            <a:off x="8732520" y="5705856"/>
            <a:ext cx="2880360" cy="283464"/>
          </a:xfrm>
          <a:prstGeom prst="rect">
            <a:avLst/>
          </a:prstGeom>
          <a:noFill/>
          <a:ln/>
        </p:spPr>
        <p:txBody>
          <a:bodyPr wrap="square" lIns="0" tIns="0" rIns="0" bIns="0" rtlCol="0" anchor="ctr"/>
          <a:lstStyle/>
          <a:p>
            <a:pPr rtl="1" algn="r" indent="0" marL="0">
              <a:buNone/>
            </a:pPr>
            <a:r>
              <a:rPr lang="ar-SA" altLang="en-US" sz="1300" b="1" dirty="0">
                <a:solidFill>
                  <a:srgbClr val="1B3B6F"/>
                </a:solidFill>
                <a:latin typeface="Amiri" pitchFamily="2" charset="-78"/>
                <a:ea typeface="Amiri" pitchFamily="2" charset="-78"/>
                <a:cs typeface="Amiri" pitchFamily="2" charset="-78"/>
              </a:rPr>
              <a:t>حَاوِلْ مَرَّةً أُخْرَى</a:t>
            </a:r>
            <a:endParaRPr lang="ar-SA" sz="1300" dirty="0"/>
          </a:p>
        </p:txBody>
      </p:sp>
      <p:sp>
        <p:nvSpPr>
          <p:cNvPr id="52" name="Text 49"/>
          <p:cNvSpPr txBox="1"/>
          <p:nvPr/>
        </p:nvSpPr>
        <p:spPr>
          <a:xfrm>
            <a:off x="6492240" y="5705856"/>
            <a:ext cx="2194560" cy="283464"/>
          </a:xfrm>
          <a:prstGeom prst="rect">
            <a:avLst/>
          </a:prstGeom>
          <a:noFill/>
          <a:ln/>
        </p:spPr>
        <p:txBody>
          <a:bodyPr wrap="square" lIns="0" tIns="0" rIns="0" bIns="0" rtlCol="0" anchor="ctr"/>
          <a:lstStyle/>
          <a:p>
            <a:pPr algn="l" indent="0" marL="0">
              <a:buNone/>
            </a:pPr>
            <a:r>
              <a:rPr lang="en-US" sz="1000" i="1" dirty="0">
                <a:solidFill>
                  <a:srgbClr val="5A6472"/>
                </a:solidFill>
                <a:latin typeface="Calibri" pitchFamily="34" charset="0"/>
                <a:cs typeface="Amiri" pitchFamily="2" charset="-78"/>
              </a:rPr>
              <a:t>try again</a:t>
            </a:r>
            <a:endParaRPr lang="en-US" sz="1000" dirty="0"/>
          </a:p>
        </p:txBody>
      </p:sp>
      <p:sp>
        <p:nvSpPr>
          <p:cNvPr id="53" name="Text 50"/>
          <p:cNvSpPr txBox="1"/>
          <p:nvPr/>
        </p:nvSpPr>
        <p:spPr>
          <a:xfrm>
            <a:off x="8732520" y="5989320"/>
            <a:ext cx="2880360" cy="283464"/>
          </a:xfrm>
          <a:prstGeom prst="rect">
            <a:avLst/>
          </a:prstGeom>
          <a:noFill/>
          <a:ln/>
        </p:spPr>
        <p:txBody>
          <a:bodyPr wrap="square" lIns="0" tIns="0" rIns="0" bIns="0" rtlCol="0" anchor="ctr"/>
          <a:lstStyle/>
          <a:p>
            <a:pPr rtl="1" algn="r" indent="0" marL="0">
              <a:buNone/>
            </a:pPr>
            <a:r>
              <a:rPr lang="ar-SA" altLang="en-US" sz="1300" b="1" dirty="0">
                <a:solidFill>
                  <a:srgbClr val="1B3B6F"/>
                </a:solidFill>
                <a:latin typeface="Amiri" pitchFamily="2" charset="-78"/>
                <a:ea typeface="Amiri" pitchFamily="2" charset="-78"/>
                <a:cs typeface="Amiri" pitchFamily="2" charset="-78"/>
              </a:rPr>
              <a:t>نُقْطَةٌ لَكَ / لَكِ</a:t>
            </a:r>
            <a:endParaRPr lang="ar-SA" sz="1300" dirty="0"/>
          </a:p>
        </p:txBody>
      </p:sp>
      <p:sp>
        <p:nvSpPr>
          <p:cNvPr id="54" name="Text 51"/>
          <p:cNvSpPr txBox="1"/>
          <p:nvPr/>
        </p:nvSpPr>
        <p:spPr>
          <a:xfrm>
            <a:off x="6492240" y="5989320"/>
            <a:ext cx="2194560" cy="283464"/>
          </a:xfrm>
          <a:prstGeom prst="rect">
            <a:avLst/>
          </a:prstGeom>
          <a:noFill/>
          <a:ln/>
        </p:spPr>
        <p:txBody>
          <a:bodyPr wrap="square" lIns="0" tIns="0" rIns="0" bIns="0" rtlCol="0" anchor="ctr"/>
          <a:lstStyle/>
          <a:p>
            <a:pPr algn="l" indent="0" marL="0">
              <a:buNone/>
            </a:pPr>
            <a:r>
              <a:rPr lang="en-US" sz="1000" i="1" dirty="0">
                <a:solidFill>
                  <a:srgbClr val="5A6472"/>
                </a:solidFill>
                <a:latin typeface="Calibri" pitchFamily="34" charset="0"/>
                <a:cs typeface="Amiri" pitchFamily="2" charset="-78"/>
              </a:rPr>
              <a:t>a point for you (m. / f.)</a:t>
            </a:r>
            <a:endParaRPr lang="en-US" sz="1000" dirty="0"/>
          </a:p>
        </p:txBody>
      </p:sp>
      <p:sp>
        <p:nvSpPr>
          <p:cNvPr id="55" name="Text 52"/>
          <p:cNvSpPr txBox="1"/>
          <p:nvPr/>
        </p:nvSpPr>
        <p:spPr>
          <a:xfrm>
            <a:off x="10360152" y="6455664"/>
            <a:ext cx="1371600" cy="219456"/>
          </a:xfrm>
          <a:prstGeom prst="rect">
            <a:avLst/>
          </a:prstGeom>
          <a:noFill/>
          <a:ln/>
        </p:spPr>
        <p:txBody>
          <a:bodyPr wrap="square" lIns="0" tIns="0" rIns="0" bIns="0" rtlCol="0" anchor="ctr"/>
          <a:lstStyle/>
          <a:p>
            <a:pPr algn="r" indent="0" marL="0">
              <a:buNone/>
            </a:pPr>
            <a:r>
              <a:rPr lang="en-US" sz="850" dirty="0">
                <a:solidFill>
                  <a:srgbClr val="8A93A0"/>
                </a:solidFill>
                <a:latin typeface="Calibri" pitchFamily="34" charset="0"/>
                <a:cs typeface="Amiri" pitchFamily="2" charset="-78"/>
              </a:rPr>
              <a:t>5 / 24</a:t>
            </a:r>
            <a:endParaRPr lang="en-US" sz="850" dirty="0"/>
          </a:p>
        </p:txBody>
      </p:sp>
    </p:spTree>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name="Slide 6">
    <p:bg>
      <p:bgPr>
        <a:solidFill>
          <a:srgbClr val="FFFDF8"/>
        </a:solidFill>
      </p:bgPr>
    </p:bg>
    <p:spTree>
      <p:nvGrpSpPr>
        <p:cNvPr id="1" name=""/>
        <p:cNvGrpSpPr/>
        <p:nvPr/>
      </p:nvGrpSpPr>
      <p:grpSpPr>
        <a:xfrm>
          <a:off x="0" y="0"/>
          <a:ext cx="0" cy="0"/>
          <a:chOff x="0" y="0"/>
          <a:chExt cx="0" cy="0"/>
        </a:xfrm>
      </p:grpSpPr>
      <p:sp>
        <p:nvSpPr>
          <p:cNvPr id="2" name="Shape 0"/>
          <p:cNvSpPr/>
          <p:nvPr/>
        </p:nvSpPr>
        <p:spPr>
          <a:xfrm>
            <a:off x="457200" y="237744"/>
            <a:ext cx="420624" cy="420624"/>
          </a:xfrm>
          <a:prstGeom prst="ellipse">
            <a:avLst/>
          </a:prstGeom>
          <a:solidFill>
            <a:srgbClr val="1B3B6F"/>
          </a:solidFill>
          <a:ln w="12700">
            <a:solidFill>
              <a:srgbClr val="D4AF37"/>
            </a:solidFill>
            <a:prstDash val="solid"/>
          </a:ln>
        </p:spPr>
      </p:sp>
      <p:sp>
        <p:nvSpPr>
          <p:cNvPr id="3" name="Text 1"/>
          <p:cNvSpPr txBox="1"/>
          <p:nvPr/>
        </p:nvSpPr>
        <p:spPr>
          <a:xfrm>
            <a:off x="457200" y="219456"/>
            <a:ext cx="420624" cy="420624"/>
          </a:xfrm>
          <a:prstGeom prst="rect">
            <a:avLst/>
          </a:prstGeom>
          <a:noFill/>
          <a:ln/>
        </p:spPr>
        <p:txBody>
          <a:bodyPr wrap="square" lIns="0" tIns="0" rIns="0" bIns="0" rtlCol="0" anchor="ctr"/>
          <a:lstStyle/>
          <a:p>
            <a:pPr rtl="1" algn="ctr" indent="0" marL="0">
              <a:buNone/>
            </a:pPr>
            <a:r>
              <a:rPr lang="ar-SA" altLang="en-US" sz="1800" b="1" dirty="0">
                <a:solidFill>
                  <a:srgbClr val="D4AF37"/>
                </a:solidFill>
                <a:latin typeface="Amiri" pitchFamily="2" charset="-78"/>
                <a:ea typeface="Amiri" pitchFamily="2" charset="-78"/>
                <a:cs typeface="Amiri" pitchFamily="2" charset="-78"/>
              </a:rPr>
              <a:t>م</a:t>
            </a:r>
            <a:endParaRPr lang="ar-SA" sz="1800" dirty="0"/>
          </a:p>
        </p:txBody>
      </p:sp>
      <p:sp>
        <p:nvSpPr>
          <p:cNvPr id="4" name="Text 2"/>
          <p:cNvSpPr txBox="1"/>
          <p:nvPr/>
        </p:nvSpPr>
        <p:spPr>
          <a:xfrm>
            <a:off x="960120" y="219456"/>
            <a:ext cx="3657600" cy="256032"/>
          </a:xfrm>
          <a:prstGeom prst="rect">
            <a:avLst/>
          </a:prstGeom>
          <a:noFill/>
          <a:ln/>
        </p:spPr>
        <p:txBody>
          <a:bodyPr wrap="square" lIns="0" tIns="0" rIns="0" bIns="0" rtlCol="0" anchor="ctr"/>
          <a:lstStyle/>
          <a:p>
            <a:pPr indent="0" marL="0">
              <a:buNone/>
            </a:pPr>
            <a:r>
              <a:rPr lang="en-US" sz="1200" b="1" dirty="0">
                <a:solidFill>
                  <a:srgbClr val="1B3B6F"/>
                </a:solidFill>
                <a:latin typeface="Cambria" pitchFamily="34" charset="0"/>
                <a:cs typeface="Amiri" pitchFamily="2" charset="-78"/>
              </a:rPr>
              <a:t>Al Madina Online School</a:t>
            </a:r>
            <a:endParaRPr lang="en-US" sz="1200" dirty="0"/>
          </a:p>
        </p:txBody>
      </p:sp>
      <p:sp>
        <p:nvSpPr>
          <p:cNvPr id="5" name="Text 3"/>
          <p:cNvSpPr txBox="1"/>
          <p:nvPr/>
        </p:nvSpPr>
        <p:spPr>
          <a:xfrm>
            <a:off x="960120" y="457200"/>
            <a:ext cx="4572000" cy="182880"/>
          </a:xfrm>
          <a:prstGeom prst="rect">
            <a:avLst/>
          </a:prstGeom>
          <a:noFill/>
          <a:ln/>
        </p:spPr>
        <p:txBody>
          <a:bodyPr wrap="square" lIns="0" tIns="0" rIns="0" bIns="0" rtlCol="0" anchor="ctr"/>
          <a:lstStyle/>
          <a:p>
            <a:pPr indent="0" marL="0">
              <a:buNone/>
            </a:pPr>
            <a:r>
              <a:rPr lang="en-US" sz="800" b="1" spc="200" kern="0" dirty="0">
                <a:solidFill>
                  <a:srgbClr val="8A6D1E"/>
                </a:solidFill>
                <a:latin typeface="Calibri" pitchFamily="34" charset="0"/>
                <a:cs typeface="Amiri" pitchFamily="2" charset="-78"/>
              </a:rPr>
              <a:t>ARABIC DEPARTMENT · MIFTAH ARABIC · IGCSE 0544</a:t>
            </a:r>
            <a:endParaRPr lang="en-US" sz="800" dirty="0"/>
          </a:p>
        </p:txBody>
      </p:sp>
      <p:sp>
        <p:nvSpPr>
          <p:cNvPr id="6" name="Shape 4"/>
          <p:cNvSpPr/>
          <p:nvPr/>
        </p:nvSpPr>
        <p:spPr>
          <a:xfrm>
            <a:off x="8897112" y="274320"/>
            <a:ext cx="2834640" cy="329184"/>
          </a:xfrm>
          <a:prstGeom prst="roundRect">
            <a:avLst>
              <a:gd name="adj" fmla="val 50000"/>
            </a:avLst>
          </a:prstGeom>
          <a:solidFill>
            <a:srgbClr val="1B3B6F"/>
          </a:solidFill>
          <a:ln w="12700">
            <a:solidFill>
              <a:srgbClr val="1B3B6F"/>
            </a:solidFill>
            <a:prstDash val="solid"/>
          </a:ln>
        </p:spPr>
      </p:sp>
      <p:sp>
        <p:nvSpPr>
          <p:cNvPr id="7" name="Text 5"/>
          <p:cNvSpPr txBox="1"/>
          <p:nvPr/>
        </p:nvSpPr>
        <p:spPr>
          <a:xfrm>
            <a:off x="8897112" y="274320"/>
            <a:ext cx="2834640" cy="329184"/>
          </a:xfrm>
          <a:prstGeom prst="rect">
            <a:avLst/>
          </a:prstGeom>
          <a:noFill/>
          <a:ln/>
        </p:spPr>
        <p:txBody>
          <a:bodyPr wrap="square" lIns="0" tIns="0" rIns="0" bIns="0" rtlCol="0" anchor="ctr"/>
          <a:lstStyle/>
          <a:p>
            <a:pPr algn="ctr" indent="0" marL="0">
              <a:buNone/>
            </a:pPr>
            <a:r>
              <a:rPr lang="en-US" sz="950" b="1" spc="100" kern="0" dirty="0">
                <a:solidFill>
                  <a:srgbClr val="FFFFFF"/>
                </a:solidFill>
                <a:latin typeface="Calibri" pitchFamily="34" charset="0"/>
                <a:cs typeface="Amiri" pitchFamily="2" charset="-78"/>
              </a:rPr>
              <a:t>F6-W03 · Apply workshop</a:t>
            </a:r>
            <a:endParaRPr lang="en-US" sz="950" dirty="0"/>
          </a:p>
        </p:txBody>
      </p:sp>
      <p:sp>
        <p:nvSpPr>
          <p:cNvPr id="8" name="Shape 6"/>
          <p:cNvSpPr/>
          <p:nvPr/>
        </p:nvSpPr>
        <p:spPr>
          <a:xfrm>
            <a:off x="6308446" y="274320"/>
            <a:ext cx="2451506" cy="329184"/>
          </a:xfrm>
          <a:prstGeom prst="roundRect">
            <a:avLst>
              <a:gd name="adj" fmla="val 50000"/>
            </a:avLst>
          </a:prstGeom>
          <a:solidFill>
            <a:srgbClr val="1B3B6F"/>
          </a:solidFill>
          <a:ln w="12700">
            <a:solidFill>
              <a:srgbClr val="1B3B6F"/>
            </a:solidFill>
            <a:prstDash val="solid"/>
          </a:ln>
        </p:spPr>
      </p:sp>
      <p:sp>
        <p:nvSpPr>
          <p:cNvPr id="9" name="Text 7"/>
          <p:cNvSpPr txBox="1"/>
          <p:nvPr/>
        </p:nvSpPr>
        <p:spPr>
          <a:xfrm>
            <a:off x="6308446" y="274320"/>
            <a:ext cx="2451506" cy="329184"/>
          </a:xfrm>
          <a:prstGeom prst="rect">
            <a:avLst/>
          </a:prstGeom>
          <a:noFill/>
          <a:ln/>
        </p:spPr>
        <p:txBody>
          <a:bodyPr wrap="square" lIns="0" tIns="0" rIns="0" bIns="0" rtlCol="0" anchor="ctr"/>
          <a:lstStyle/>
          <a:p>
            <a:pPr algn="ctr" indent="0" marL="0">
              <a:buNone/>
            </a:pPr>
            <a:r>
              <a:rPr lang="en-US" sz="900" b="1" spc="100" kern="0" dirty="0">
                <a:solidFill>
                  <a:srgbClr val="FFFFFF"/>
                </a:solidFill>
                <a:latin typeface="Calibri" pitchFamily="34" charset="0"/>
                <a:cs typeface="Amiri" pitchFamily="2" charset="-78"/>
              </a:rPr>
              <a:t>TEACHER INSTRUCTION · 2 MIN</a:t>
            </a:r>
            <a:endParaRPr lang="en-US" sz="900" dirty="0"/>
          </a:p>
        </p:txBody>
      </p:sp>
      <p:sp>
        <p:nvSpPr>
          <p:cNvPr id="10" name="Text 8"/>
          <p:cNvSpPr txBox="1"/>
          <p:nvPr/>
        </p:nvSpPr>
        <p:spPr>
          <a:xfrm>
            <a:off x="457200" y="822960"/>
            <a:ext cx="6949440" cy="237744"/>
          </a:xfrm>
          <a:prstGeom prst="rect">
            <a:avLst/>
          </a:prstGeom>
          <a:noFill/>
          <a:ln/>
        </p:spPr>
        <p:txBody>
          <a:bodyPr wrap="square" lIns="0" tIns="0" rIns="0" bIns="0" rtlCol="0" anchor="ctr"/>
          <a:lstStyle/>
          <a:p>
            <a:pPr algn="l" indent="0" marL="0">
              <a:buNone/>
            </a:pPr>
            <a:r>
              <a:rPr lang="en-US" sz="1000" b="1" spc="300" kern="0" dirty="0">
                <a:solidFill>
                  <a:srgbClr val="1B3B6F"/>
                </a:solidFill>
                <a:latin typeface="Calibri" pitchFamily="34" charset="0"/>
                <a:cs typeface="Amiri" pitchFamily="2" charset="-78"/>
              </a:rPr>
              <a:t>STEP 1 · WORDS FROM F6-L05</a:t>
            </a:r>
            <a:endParaRPr lang="en-US" sz="1000" dirty="0"/>
          </a:p>
        </p:txBody>
      </p:sp>
      <p:sp>
        <p:nvSpPr>
          <p:cNvPr id="11" name="Text 9"/>
          <p:cNvSpPr txBox="1"/>
          <p:nvPr/>
        </p:nvSpPr>
        <p:spPr>
          <a:xfrm>
            <a:off x="457200" y="1033272"/>
            <a:ext cx="6949440" cy="566928"/>
          </a:xfrm>
          <a:prstGeom prst="rect">
            <a:avLst/>
          </a:prstGeom>
          <a:noFill/>
          <a:ln/>
        </p:spPr>
        <p:txBody>
          <a:bodyPr wrap="square" lIns="0" tIns="0" rIns="0" bIns="0" rtlCol="0" anchor="ctr"/>
          <a:lstStyle/>
          <a:p>
            <a:pPr algn="l" indent="0" marL="0">
              <a:buNone/>
            </a:pPr>
            <a:r>
              <a:rPr lang="en-US" sz="1750" b="1" dirty="0">
                <a:solidFill>
                  <a:srgbClr val="1B3B6F"/>
                </a:solidFill>
                <a:latin typeface="Cambria" pitchFamily="34" charset="0"/>
                <a:cs typeface="Amiri" pitchFamily="2" charset="-78"/>
              </a:rPr>
              <a:t>F6-L05 · Describing Your Town: Advantages and Disadvantages</a:t>
            </a:r>
            <a:endParaRPr lang="en-US" sz="1750" dirty="0"/>
          </a:p>
        </p:txBody>
      </p:sp>
      <p:sp>
        <p:nvSpPr>
          <p:cNvPr id="12" name="Text 10"/>
          <p:cNvSpPr txBox="1"/>
          <p:nvPr/>
        </p:nvSpPr>
        <p:spPr>
          <a:xfrm>
            <a:off x="7498080" y="868680"/>
            <a:ext cx="4233672" cy="749808"/>
          </a:xfrm>
          <a:prstGeom prst="rect">
            <a:avLst/>
          </a:prstGeom>
          <a:noFill/>
          <a:ln/>
        </p:spPr>
        <p:txBody>
          <a:bodyPr wrap="square" lIns="0" tIns="0" rIns="0" bIns="0" rtlCol="0" anchor="ctr"/>
          <a:lstStyle/>
          <a:p>
            <a:pPr rtl="1" algn="r" indent="0" marL="0">
              <a:buNone/>
            </a:pPr>
            <a:r>
              <a:rPr lang="ar-SA" altLang="en-US" sz="2800" b="1" dirty="0">
                <a:solidFill>
                  <a:srgbClr val="8A6D1E"/>
                </a:solidFill>
                <a:latin typeface="Amiri" pitchFamily="2" charset="-78"/>
                <a:ea typeface="Amiri" pitchFamily="2" charset="-78"/>
                <a:cs typeface="Amiri" pitchFamily="2" charset="-78"/>
              </a:rPr>
              <a:t>كَلِمَاتُ الدَّرْسِ الأَوَّلِ</a:t>
            </a:r>
            <a:endParaRPr lang="ar-SA" sz="2800" dirty="0"/>
          </a:p>
        </p:txBody>
      </p:sp>
      <p:sp>
        <p:nvSpPr>
          <p:cNvPr id="13" name="Text 11"/>
          <p:cNvSpPr txBox="1"/>
          <p:nvPr/>
        </p:nvSpPr>
        <p:spPr>
          <a:xfrm>
            <a:off x="457200" y="6455664"/>
            <a:ext cx="6400800" cy="219456"/>
          </a:xfrm>
          <a:prstGeom prst="rect">
            <a:avLst/>
          </a:prstGeom>
          <a:noFill/>
          <a:ln/>
        </p:spPr>
        <p:txBody>
          <a:bodyPr wrap="square" lIns="0" tIns="0" rIns="0" bIns="0" rtlCol="0" anchor="ctr"/>
          <a:lstStyle/>
          <a:p>
            <a:pPr indent="0" marL="0">
              <a:buNone/>
            </a:pPr>
            <a:r>
              <a:rPr lang="en-US" sz="850" dirty="0">
                <a:solidFill>
                  <a:srgbClr val="8A93A0"/>
                </a:solidFill>
                <a:latin typeface="Calibri" pitchFamily="34" charset="0"/>
                <a:cs typeface="Amiri" pitchFamily="2" charset="-78"/>
              </a:rPr>
              <a:t>Miftah Arabic · Foundation F6 · My Town and Transport · F6-W03 · Apply workshop (F6-L05 + F6-L06)</a:t>
            </a:r>
            <a:endParaRPr lang="en-US" sz="850" dirty="0"/>
          </a:p>
        </p:txBody>
      </p:sp>
      <p:sp>
        <p:nvSpPr>
          <p:cNvPr id="15" name="Shape 12"/>
          <p:cNvSpPr/>
          <p:nvPr/>
        </p:nvSpPr>
        <p:spPr>
          <a:xfrm>
            <a:off x="8101584" y="1810512"/>
            <a:ext cx="3639312" cy="2157984"/>
          </a:xfrm>
          <a:prstGeom prst="roundRect">
            <a:avLst>
              <a:gd name="adj" fmla="val 3390"/>
            </a:avLst>
          </a:prstGeom>
          <a:solidFill>
            <a:srgbClr val="FFFFFF"/>
          </a:solidFill>
          <a:ln w="9525">
            <a:solidFill>
              <a:srgbClr val="D8D0BF"/>
            </a:solidFill>
            <a:prstDash val="solid"/>
          </a:ln>
          <a:effectLst>
            <a:outerShdw sx="100000" sy="100000" kx="0" ky="0" algn="bl" rotWithShape="0" blurRad="50800" dist="19050" dir="5400000">
              <a:srgbClr val="000000">
                <a:alpha val="10000"/>
              </a:srgbClr>
            </a:outerShdw>
          </a:effectLst>
        </p:spPr>
      </p:sp>
      <p:sp>
        <p:nvSpPr>
          <p:cNvPr id="16" name="Shape 13"/>
          <p:cNvSpPr/>
          <p:nvPr/>
        </p:nvSpPr>
        <p:spPr>
          <a:xfrm>
            <a:off x="8211312" y="1920240"/>
            <a:ext cx="310896" cy="310896"/>
          </a:xfrm>
          <a:prstGeom prst="ellipse">
            <a:avLst/>
          </a:prstGeom>
          <a:solidFill>
            <a:srgbClr val="F4F1EA"/>
          </a:solidFill>
          <a:ln w="12700">
            <a:solidFill>
              <a:srgbClr val="F4F1EA"/>
            </a:solidFill>
            <a:prstDash val="solid"/>
          </a:ln>
        </p:spPr>
      </p:sp>
      <p:sp>
        <p:nvSpPr>
          <p:cNvPr id="17" name="Text 14"/>
          <p:cNvSpPr txBox="1"/>
          <p:nvPr/>
        </p:nvSpPr>
        <p:spPr>
          <a:xfrm>
            <a:off x="8211312" y="1920240"/>
            <a:ext cx="310896" cy="310896"/>
          </a:xfrm>
          <a:prstGeom prst="rect">
            <a:avLst/>
          </a:prstGeom>
          <a:noFill/>
          <a:ln/>
        </p:spPr>
        <p:txBody>
          <a:bodyPr wrap="square" lIns="0" tIns="0" rIns="0" bIns="0" rtlCol="0" anchor="ctr"/>
          <a:lstStyle/>
          <a:p>
            <a:pPr algn="ctr" indent="0" marL="0">
              <a:buNone/>
            </a:pPr>
            <a:r>
              <a:rPr lang="en-US" sz="1000" b="1" dirty="0">
                <a:solidFill>
                  <a:srgbClr val="1B3B6F"/>
                </a:solidFill>
                <a:latin typeface="Calibri" pitchFamily="34" charset="0"/>
                <a:cs typeface="Amiri" pitchFamily="2" charset="-78"/>
              </a:rPr>
              <a:t>1</a:t>
            </a:r>
            <a:endParaRPr lang="en-US" sz="1000" dirty="0"/>
          </a:p>
        </p:txBody>
      </p:sp>
      <p:sp>
        <p:nvSpPr>
          <p:cNvPr id="18" name="Shape 15"/>
          <p:cNvSpPr/>
          <p:nvPr/>
        </p:nvSpPr>
        <p:spPr>
          <a:xfrm>
            <a:off x="10872216" y="1938528"/>
            <a:ext cx="731520" cy="256032"/>
          </a:xfrm>
          <a:prstGeom prst="roundRect">
            <a:avLst>
              <a:gd name="adj" fmla="val 50000"/>
            </a:avLst>
          </a:prstGeom>
          <a:solidFill>
            <a:srgbClr val="2E8B57"/>
          </a:solidFill>
          <a:ln w="12700">
            <a:solidFill>
              <a:srgbClr val="2E8B57"/>
            </a:solidFill>
            <a:prstDash val="solid"/>
          </a:ln>
        </p:spPr>
      </p:sp>
      <p:sp>
        <p:nvSpPr>
          <p:cNvPr id="19" name="Text 16"/>
          <p:cNvSpPr txBox="1"/>
          <p:nvPr/>
        </p:nvSpPr>
        <p:spPr>
          <a:xfrm>
            <a:off x="10872216" y="1938528"/>
            <a:ext cx="731520" cy="256032"/>
          </a:xfrm>
          <a:prstGeom prst="rect">
            <a:avLst/>
          </a:prstGeom>
          <a:noFill/>
          <a:ln/>
        </p:spPr>
        <p:txBody>
          <a:bodyPr wrap="square" lIns="0" tIns="0" rIns="0" bIns="0" rtlCol="0" anchor="ctr"/>
          <a:lstStyle/>
          <a:p>
            <a:pPr algn="ctr" indent="0" marL="0">
              <a:buNone/>
            </a:pPr>
            <a:r>
              <a:rPr lang="en-US" sz="800" b="1" spc="100" kern="0" dirty="0">
                <a:solidFill>
                  <a:srgbClr val="FFFFFF"/>
                </a:solidFill>
                <a:latin typeface="Calibri" pitchFamily="34" charset="0"/>
                <a:cs typeface="Amiri" pitchFamily="2" charset="-78"/>
              </a:rPr>
              <a:t>CORE</a:t>
            </a:r>
            <a:endParaRPr lang="en-US" sz="800" dirty="0"/>
          </a:p>
        </p:txBody>
      </p:sp>
      <p:sp>
        <p:nvSpPr>
          <p:cNvPr id="20" name="Text 17"/>
          <p:cNvSpPr txBox="1"/>
          <p:nvPr/>
        </p:nvSpPr>
        <p:spPr>
          <a:xfrm>
            <a:off x="8211312" y="2212848"/>
            <a:ext cx="3401568" cy="868680"/>
          </a:xfrm>
          <a:prstGeom prst="rect">
            <a:avLst/>
          </a:prstGeom>
          <a:noFill/>
          <a:ln/>
        </p:spPr>
        <p:txBody>
          <a:bodyPr wrap="square" lIns="0" tIns="0" rIns="0" bIns="0" rtlCol="0" anchor="ctr"/>
          <a:lstStyle/>
          <a:p>
            <a:pPr rtl="1" algn="r" indent="0" marL="0">
              <a:buNone/>
            </a:pPr>
            <a:r>
              <a:rPr lang="ar-SA" altLang="en-US" sz="3000" b="1" dirty="0">
                <a:solidFill>
                  <a:srgbClr val="1B3B6F"/>
                </a:solidFill>
                <a:latin typeface="Amiri" pitchFamily="2" charset="-78"/>
                <a:ea typeface="Amiri" pitchFamily="2" charset="-78"/>
                <a:cs typeface="Amiri" pitchFamily="2" charset="-78"/>
              </a:rPr>
              <a:t>مِيزَةٌ / مَزَايَا</a:t>
            </a:r>
            <a:endParaRPr lang="ar-SA" sz="3000" dirty="0"/>
          </a:p>
        </p:txBody>
      </p:sp>
      <p:sp>
        <p:nvSpPr>
          <p:cNvPr id="21" name="Text 18"/>
          <p:cNvSpPr txBox="1"/>
          <p:nvPr/>
        </p:nvSpPr>
        <p:spPr>
          <a:xfrm>
            <a:off x="8238744" y="3127248"/>
            <a:ext cx="3364992" cy="512064"/>
          </a:xfrm>
          <a:prstGeom prst="rect">
            <a:avLst/>
          </a:prstGeom>
          <a:noFill/>
          <a:ln/>
        </p:spPr>
        <p:txBody>
          <a:bodyPr wrap="square" lIns="0" tIns="0" rIns="0" bIns="0" rtlCol="0" anchor="t"/>
          <a:lstStyle/>
          <a:p>
            <a:pPr indent="0" marL="0">
              <a:buNone/>
            </a:pPr>
            <a:r>
              <a:rPr lang="en-US" sz="1350" b="1" dirty="0">
                <a:solidFill>
                  <a:srgbClr val="1F2A37"/>
                </a:solidFill>
                <a:latin typeface="Calibri" pitchFamily="34" charset="0"/>
                <a:cs typeface="Amiri" pitchFamily="2" charset="-78"/>
              </a:rPr>
              <a:t>advantage / advantages</a:t>
            </a:r>
            <a:endParaRPr lang="en-US" sz="1350" dirty="0"/>
          </a:p>
          <a:p>
            <a:pPr indent="0" marL="0">
              <a:buNone/>
            </a:pPr>
            <a:r>
              <a:rPr lang="en-US" sz="1100" i="1" dirty="0">
                <a:solidFill>
                  <a:srgbClr val="5A6472"/>
                </a:solidFill>
                <a:latin typeface="Calibri" pitchFamily="34" charset="0"/>
                <a:cs typeface="Amiri" pitchFamily="2" charset="-78"/>
              </a:rPr>
              <a:t>mī-za-tun / ma-zā-yā</a:t>
            </a:r>
            <a:endParaRPr lang="en-US" sz="1350" dirty="0"/>
          </a:p>
        </p:txBody>
      </p:sp>
      <p:sp>
        <p:nvSpPr>
          <p:cNvPr id="22" name="Shape 19"/>
          <p:cNvSpPr/>
          <p:nvPr/>
        </p:nvSpPr>
        <p:spPr>
          <a:xfrm>
            <a:off x="4279392" y="1810512"/>
            <a:ext cx="3639312" cy="2157984"/>
          </a:xfrm>
          <a:prstGeom prst="roundRect">
            <a:avLst>
              <a:gd name="adj" fmla="val 3390"/>
            </a:avLst>
          </a:prstGeom>
          <a:solidFill>
            <a:srgbClr val="FFFFFF"/>
          </a:solidFill>
          <a:ln w="9525">
            <a:solidFill>
              <a:srgbClr val="D8D0BF"/>
            </a:solidFill>
            <a:prstDash val="solid"/>
          </a:ln>
          <a:effectLst>
            <a:outerShdw sx="100000" sy="100000" kx="0" ky="0" algn="bl" rotWithShape="0" blurRad="50800" dist="19050" dir="5400000">
              <a:srgbClr val="000000">
                <a:alpha val="10000"/>
              </a:srgbClr>
            </a:outerShdw>
          </a:effectLst>
        </p:spPr>
      </p:sp>
      <p:sp>
        <p:nvSpPr>
          <p:cNvPr id="23" name="Shape 20"/>
          <p:cNvSpPr/>
          <p:nvPr/>
        </p:nvSpPr>
        <p:spPr>
          <a:xfrm>
            <a:off x="4389120" y="1920240"/>
            <a:ext cx="310896" cy="310896"/>
          </a:xfrm>
          <a:prstGeom prst="ellipse">
            <a:avLst/>
          </a:prstGeom>
          <a:solidFill>
            <a:srgbClr val="F4F1EA"/>
          </a:solidFill>
          <a:ln w="12700">
            <a:solidFill>
              <a:srgbClr val="F4F1EA"/>
            </a:solidFill>
            <a:prstDash val="solid"/>
          </a:ln>
        </p:spPr>
      </p:sp>
      <p:sp>
        <p:nvSpPr>
          <p:cNvPr id="24" name="Text 21"/>
          <p:cNvSpPr txBox="1"/>
          <p:nvPr/>
        </p:nvSpPr>
        <p:spPr>
          <a:xfrm>
            <a:off x="4389120" y="1920240"/>
            <a:ext cx="310896" cy="310896"/>
          </a:xfrm>
          <a:prstGeom prst="rect">
            <a:avLst/>
          </a:prstGeom>
          <a:noFill/>
          <a:ln/>
        </p:spPr>
        <p:txBody>
          <a:bodyPr wrap="square" lIns="0" tIns="0" rIns="0" bIns="0" rtlCol="0" anchor="ctr"/>
          <a:lstStyle/>
          <a:p>
            <a:pPr algn="ctr" indent="0" marL="0">
              <a:buNone/>
            </a:pPr>
            <a:r>
              <a:rPr lang="en-US" sz="1000" b="1" dirty="0">
                <a:solidFill>
                  <a:srgbClr val="1B3B6F"/>
                </a:solidFill>
                <a:latin typeface="Calibri" pitchFamily="34" charset="0"/>
                <a:cs typeface="Amiri" pitchFamily="2" charset="-78"/>
              </a:rPr>
              <a:t>2</a:t>
            </a:r>
            <a:endParaRPr lang="en-US" sz="1000" dirty="0"/>
          </a:p>
        </p:txBody>
      </p:sp>
      <p:sp>
        <p:nvSpPr>
          <p:cNvPr id="25" name="Shape 22"/>
          <p:cNvSpPr/>
          <p:nvPr/>
        </p:nvSpPr>
        <p:spPr>
          <a:xfrm>
            <a:off x="7050024" y="1938528"/>
            <a:ext cx="731520" cy="256032"/>
          </a:xfrm>
          <a:prstGeom prst="roundRect">
            <a:avLst>
              <a:gd name="adj" fmla="val 50000"/>
            </a:avLst>
          </a:prstGeom>
          <a:solidFill>
            <a:srgbClr val="2E8B57"/>
          </a:solidFill>
          <a:ln w="12700">
            <a:solidFill>
              <a:srgbClr val="2E8B57"/>
            </a:solidFill>
            <a:prstDash val="solid"/>
          </a:ln>
        </p:spPr>
      </p:sp>
      <p:sp>
        <p:nvSpPr>
          <p:cNvPr id="26" name="Text 23"/>
          <p:cNvSpPr txBox="1"/>
          <p:nvPr/>
        </p:nvSpPr>
        <p:spPr>
          <a:xfrm>
            <a:off x="7050024" y="1938528"/>
            <a:ext cx="731520" cy="256032"/>
          </a:xfrm>
          <a:prstGeom prst="rect">
            <a:avLst/>
          </a:prstGeom>
          <a:noFill/>
          <a:ln/>
        </p:spPr>
        <p:txBody>
          <a:bodyPr wrap="square" lIns="0" tIns="0" rIns="0" bIns="0" rtlCol="0" anchor="ctr"/>
          <a:lstStyle/>
          <a:p>
            <a:pPr algn="ctr" indent="0" marL="0">
              <a:buNone/>
            </a:pPr>
            <a:r>
              <a:rPr lang="en-US" sz="800" b="1" spc="100" kern="0" dirty="0">
                <a:solidFill>
                  <a:srgbClr val="FFFFFF"/>
                </a:solidFill>
                <a:latin typeface="Calibri" pitchFamily="34" charset="0"/>
                <a:cs typeface="Amiri" pitchFamily="2" charset="-78"/>
              </a:rPr>
              <a:t>CORE</a:t>
            </a:r>
            <a:endParaRPr lang="en-US" sz="800" dirty="0"/>
          </a:p>
        </p:txBody>
      </p:sp>
      <p:sp>
        <p:nvSpPr>
          <p:cNvPr id="27" name="Text 24"/>
          <p:cNvSpPr txBox="1"/>
          <p:nvPr/>
        </p:nvSpPr>
        <p:spPr>
          <a:xfrm>
            <a:off x="4389120" y="2212848"/>
            <a:ext cx="3401568" cy="868680"/>
          </a:xfrm>
          <a:prstGeom prst="rect">
            <a:avLst/>
          </a:prstGeom>
          <a:noFill/>
          <a:ln/>
        </p:spPr>
        <p:txBody>
          <a:bodyPr wrap="square" lIns="0" tIns="0" rIns="0" bIns="0" rtlCol="0" anchor="ctr"/>
          <a:lstStyle/>
          <a:p>
            <a:pPr rtl="1" algn="r" indent="0" marL="0">
              <a:buNone/>
            </a:pPr>
            <a:r>
              <a:rPr lang="ar-SA" altLang="en-US" sz="3000" b="1" dirty="0">
                <a:solidFill>
                  <a:srgbClr val="1B3B6F"/>
                </a:solidFill>
                <a:latin typeface="Amiri" pitchFamily="2" charset="-78"/>
                <a:ea typeface="Amiri" pitchFamily="2" charset="-78"/>
                <a:cs typeface="Amiri" pitchFamily="2" charset="-78"/>
              </a:rPr>
              <a:t>مُكْتَظٌّ / مُكْتَظَّةٌ</a:t>
            </a:r>
            <a:endParaRPr lang="ar-SA" sz="3000" dirty="0"/>
          </a:p>
        </p:txBody>
      </p:sp>
      <p:sp>
        <p:nvSpPr>
          <p:cNvPr id="28" name="Text 25"/>
          <p:cNvSpPr txBox="1"/>
          <p:nvPr/>
        </p:nvSpPr>
        <p:spPr>
          <a:xfrm>
            <a:off x="4416552" y="3127248"/>
            <a:ext cx="3364992" cy="512064"/>
          </a:xfrm>
          <a:prstGeom prst="rect">
            <a:avLst/>
          </a:prstGeom>
          <a:noFill/>
          <a:ln/>
        </p:spPr>
        <p:txBody>
          <a:bodyPr wrap="square" lIns="0" tIns="0" rIns="0" bIns="0" rtlCol="0" anchor="t"/>
          <a:lstStyle/>
          <a:p>
            <a:pPr indent="0" marL="0">
              <a:buNone/>
            </a:pPr>
            <a:r>
              <a:rPr lang="en-US" sz="1350" b="1" dirty="0">
                <a:solidFill>
                  <a:srgbClr val="1F2A37"/>
                </a:solidFill>
                <a:latin typeface="Calibri" pitchFamily="34" charset="0"/>
                <a:cs typeface="Amiri" pitchFamily="2" charset="-78"/>
              </a:rPr>
              <a:t>crowded</a:t>
            </a:r>
            <a:endParaRPr lang="en-US" sz="1350" dirty="0"/>
          </a:p>
          <a:p>
            <a:pPr indent="0" marL="0">
              <a:buNone/>
            </a:pPr>
            <a:r>
              <a:rPr lang="en-US" sz="1100" i="1" dirty="0">
                <a:solidFill>
                  <a:srgbClr val="5A6472"/>
                </a:solidFill>
                <a:latin typeface="Calibri" pitchFamily="34" charset="0"/>
                <a:cs typeface="Amiri" pitchFamily="2" charset="-78"/>
              </a:rPr>
              <a:t>muk-taẓ-ẓun / muk-taẓ-ẓa-tun</a:t>
            </a:r>
            <a:endParaRPr lang="en-US" sz="1350" dirty="0"/>
          </a:p>
        </p:txBody>
      </p:sp>
      <p:sp>
        <p:nvSpPr>
          <p:cNvPr id="29" name="Shape 26"/>
          <p:cNvSpPr/>
          <p:nvPr/>
        </p:nvSpPr>
        <p:spPr>
          <a:xfrm>
            <a:off x="457200" y="1810512"/>
            <a:ext cx="3639312" cy="2157984"/>
          </a:xfrm>
          <a:prstGeom prst="roundRect">
            <a:avLst>
              <a:gd name="adj" fmla="val 3390"/>
            </a:avLst>
          </a:prstGeom>
          <a:solidFill>
            <a:srgbClr val="FFFFFF"/>
          </a:solidFill>
          <a:ln w="9525">
            <a:solidFill>
              <a:srgbClr val="D8D0BF"/>
            </a:solidFill>
            <a:prstDash val="solid"/>
          </a:ln>
          <a:effectLst>
            <a:outerShdw sx="100000" sy="100000" kx="0" ky="0" algn="bl" rotWithShape="0" blurRad="50800" dist="19050" dir="5400000">
              <a:srgbClr val="000000">
                <a:alpha val="10000"/>
              </a:srgbClr>
            </a:outerShdw>
          </a:effectLst>
        </p:spPr>
      </p:sp>
      <p:sp>
        <p:nvSpPr>
          <p:cNvPr id="30" name="Shape 27"/>
          <p:cNvSpPr/>
          <p:nvPr/>
        </p:nvSpPr>
        <p:spPr>
          <a:xfrm>
            <a:off x="566928" y="1920240"/>
            <a:ext cx="310896" cy="310896"/>
          </a:xfrm>
          <a:prstGeom prst="ellipse">
            <a:avLst/>
          </a:prstGeom>
          <a:solidFill>
            <a:srgbClr val="F4F1EA"/>
          </a:solidFill>
          <a:ln w="12700">
            <a:solidFill>
              <a:srgbClr val="F4F1EA"/>
            </a:solidFill>
            <a:prstDash val="solid"/>
          </a:ln>
        </p:spPr>
      </p:sp>
      <p:sp>
        <p:nvSpPr>
          <p:cNvPr id="31" name="Text 28"/>
          <p:cNvSpPr txBox="1"/>
          <p:nvPr/>
        </p:nvSpPr>
        <p:spPr>
          <a:xfrm>
            <a:off x="566928" y="1920240"/>
            <a:ext cx="310896" cy="310896"/>
          </a:xfrm>
          <a:prstGeom prst="rect">
            <a:avLst/>
          </a:prstGeom>
          <a:noFill/>
          <a:ln/>
        </p:spPr>
        <p:txBody>
          <a:bodyPr wrap="square" lIns="0" tIns="0" rIns="0" bIns="0" rtlCol="0" anchor="ctr"/>
          <a:lstStyle/>
          <a:p>
            <a:pPr algn="ctr" indent="0" marL="0">
              <a:buNone/>
            </a:pPr>
            <a:r>
              <a:rPr lang="en-US" sz="1000" b="1" dirty="0">
                <a:solidFill>
                  <a:srgbClr val="1B3B6F"/>
                </a:solidFill>
                <a:latin typeface="Calibri" pitchFamily="34" charset="0"/>
                <a:cs typeface="Amiri" pitchFamily="2" charset="-78"/>
              </a:rPr>
              <a:t>3</a:t>
            </a:r>
            <a:endParaRPr lang="en-US" sz="1000" dirty="0"/>
          </a:p>
        </p:txBody>
      </p:sp>
      <p:sp>
        <p:nvSpPr>
          <p:cNvPr id="32" name="Shape 29"/>
          <p:cNvSpPr/>
          <p:nvPr/>
        </p:nvSpPr>
        <p:spPr>
          <a:xfrm>
            <a:off x="3227832" y="1938528"/>
            <a:ext cx="731520" cy="256032"/>
          </a:xfrm>
          <a:prstGeom prst="roundRect">
            <a:avLst>
              <a:gd name="adj" fmla="val 50000"/>
            </a:avLst>
          </a:prstGeom>
          <a:solidFill>
            <a:srgbClr val="2E8B57"/>
          </a:solidFill>
          <a:ln w="12700">
            <a:solidFill>
              <a:srgbClr val="2E8B57"/>
            </a:solidFill>
            <a:prstDash val="solid"/>
          </a:ln>
        </p:spPr>
      </p:sp>
      <p:sp>
        <p:nvSpPr>
          <p:cNvPr id="33" name="Text 30"/>
          <p:cNvSpPr txBox="1"/>
          <p:nvPr/>
        </p:nvSpPr>
        <p:spPr>
          <a:xfrm>
            <a:off x="3227832" y="1938528"/>
            <a:ext cx="731520" cy="256032"/>
          </a:xfrm>
          <a:prstGeom prst="rect">
            <a:avLst/>
          </a:prstGeom>
          <a:noFill/>
          <a:ln/>
        </p:spPr>
        <p:txBody>
          <a:bodyPr wrap="square" lIns="0" tIns="0" rIns="0" bIns="0" rtlCol="0" anchor="ctr"/>
          <a:lstStyle/>
          <a:p>
            <a:pPr algn="ctr" indent="0" marL="0">
              <a:buNone/>
            </a:pPr>
            <a:r>
              <a:rPr lang="en-US" sz="800" b="1" spc="100" kern="0" dirty="0">
                <a:solidFill>
                  <a:srgbClr val="FFFFFF"/>
                </a:solidFill>
                <a:latin typeface="Calibri" pitchFamily="34" charset="0"/>
                <a:cs typeface="Amiri" pitchFamily="2" charset="-78"/>
              </a:rPr>
              <a:t>CORE</a:t>
            </a:r>
            <a:endParaRPr lang="en-US" sz="800" dirty="0"/>
          </a:p>
        </p:txBody>
      </p:sp>
      <p:sp>
        <p:nvSpPr>
          <p:cNvPr id="34" name="Text 31"/>
          <p:cNvSpPr txBox="1"/>
          <p:nvPr/>
        </p:nvSpPr>
        <p:spPr>
          <a:xfrm>
            <a:off x="566928" y="2212848"/>
            <a:ext cx="3401568" cy="868680"/>
          </a:xfrm>
          <a:prstGeom prst="rect">
            <a:avLst/>
          </a:prstGeom>
          <a:noFill/>
          <a:ln/>
        </p:spPr>
        <p:txBody>
          <a:bodyPr wrap="square" lIns="0" tIns="0" rIns="0" bIns="0" rtlCol="0" anchor="ctr"/>
          <a:lstStyle/>
          <a:p>
            <a:pPr rtl="1" algn="r" indent="0" marL="0">
              <a:buNone/>
            </a:pPr>
            <a:r>
              <a:rPr lang="ar-SA" altLang="en-US" sz="3000" b="1" dirty="0">
                <a:solidFill>
                  <a:srgbClr val="1B3B6F"/>
                </a:solidFill>
                <a:latin typeface="Amiri" pitchFamily="2" charset="-78"/>
                <a:ea typeface="Amiri" pitchFamily="2" charset="-78"/>
                <a:cs typeface="Amiri" pitchFamily="2" charset="-78"/>
              </a:rPr>
              <a:t>صَاخِبٌ / صَاخِبَةٌ</a:t>
            </a:r>
            <a:endParaRPr lang="ar-SA" sz="3000" dirty="0"/>
          </a:p>
        </p:txBody>
      </p:sp>
      <p:sp>
        <p:nvSpPr>
          <p:cNvPr id="35" name="Text 32"/>
          <p:cNvSpPr txBox="1"/>
          <p:nvPr/>
        </p:nvSpPr>
        <p:spPr>
          <a:xfrm>
            <a:off x="594360" y="3127248"/>
            <a:ext cx="3364992" cy="512064"/>
          </a:xfrm>
          <a:prstGeom prst="rect">
            <a:avLst/>
          </a:prstGeom>
          <a:noFill/>
          <a:ln/>
        </p:spPr>
        <p:txBody>
          <a:bodyPr wrap="square" lIns="0" tIns="0" rIns="0" bIns="0" rtlCol="0" anchor="t"/>
          <a:lstStyle/>
          <a:p>
            <a:pPr indent="0" marL="0">
              <a:buNone/>
            </a:pPr>
            <a:r>
              <a:rPr lang="en-US" sz="1350" b="1" dirty="0">
                <a:solidFill>
                  <a:srgbClr val="1F2A37"/>
                </a:solidFill>
                <a:latin typeface="Calibri" pitchFamily="34" charset="0"/>
                <a:cs typeface="Amiri" pitchFamily="2" charset="-78"/>
              </a:rPr>
              <a:t>noisy</a:t>
            </a:r>
            <a:endParaRPr lang="en-US" sz="1350" dirty="0"/>
          </a:p>
          <a:p>
            <a:pPr indent="0" marL="0">
              <a:buNone/>
            </a:pPr>
            <a:r>
              <a:rPr lang="en-US" sz="1100" i="1" dirty="0">
                <a:solidFill>
                  <a:srgbClr val="5A6472"/>
                </a:solidFill>
                <a:latin typeface="Calibri" pitchFamily="34" charset="0"/>
                <a:cs typeface="Amiri" pitchFamily="2" charset="-78"/>
              </a:rPr>
              <a:t>ṣā-khi-bun / ṣā-khi-ba-tun</a:t>
            </a:r>
            <a:endParaRPr lang="en-US" sz="1350" dirty="0"/>
          </a:p>
        </p:txBody>
      </p:sp>
      <p:sp>
        <p:nvSpPr>
          <p:cNvPr id="36" name="Shape 33"/>
          <p:cNvSpPr/>
          <p:nvPr/>
        </p:nvSpPr>
        <p:spPr>
          <a:xfrm>
            <a:off x="8101584" y="4151376"/>
            <a:ext cx="3639312" cy="2157984"/>
          </a:xfrm>
          <a:prstGeom prst="roundRect">
            <a:avLst>
              <a:gd name="adj" fmla="val 3390"/>
            </a:avLst>
          </a:prstGeom>
          <a:solidFill>
            <a:srgbClr val="FFFFFF"/>
          </a:solidFill>
          <a:ln w="9525">
            <a:solidFill>
              <a:srgbClr val="D8D0BF"/>
            </a:solidFill>
            <a:prstDash val="solid"/>
          </a:ln>
          <a:effectLst>
            <a:outerShdw sx="100000" sy="100000" kx="0" ky="0" algn="bl" rotWithShape="0" blurRad="50800" dist="19050" dir="5400000">
              <a:srgbClr val="000000">
                <a:alpha val="10000"/>
              </a:srgbClr>
            </a:outerShdw>
          </a:effectLst>
        </p:spPr>
      </p:sp>
      <p:sp>
        <p:nvSpPr>
          <p:cNvPr id="37" name="Shape 34"/>
          <p:cNvSpPr/>
          <p:nvPr/>
        </p:nvSpPr>
        <p:spPr>
          <a:xfrm>
            <a:off x="8211312" y="4261104"/>
            <a:ext cx="310896" cy="310896"/>
          </a:xfrm>
          <a:prstGeom prst="ellipse">
            <a:avLst/>
          </a:prstGeom>
          <a:solidFill>
            <a:srgbClr val="F4F1EA"/>
          </a:solidFill>
          <a:ln w="12700">
            <a:solidFill>
              <a:srgbClr val="F4F1EA"/>
            </a:solidFill>
            <a:prstDash val="solid"/>
          </a:ln>
        </p:spPr>
      </p:sp>
      <p:sp>
        <p:nvSpPr>
          <p:cNvPr id="38" name="Text 35"/>
          <p:cNvSpPr txBox="1"/>
          <p:nvPr/>
        </p:nvSpPr>
        <p:spPr>
          <a:xfrm>
            <a:off x="8211312" y="4261104"/>
            <a:ext cx="310896" cy="310896"/>
          </a:xfrm>
          <a:prstGeom prst="rect">
            <a:avLst/>
          </a:prstGeom>
          <a:noFill/>
          <a:ln/>
        </p:spPr>
        <p:txBody>
          <a:bodyPr wrap="square" lIns="0" tIns="0" rIns="0" bIns="0" rtlCol="0" anchor="ctr"/>
          <a:lstStyle/>
          <a:p>
            <a:pPr algn="ctr" indent="0" marL="0">
              <a:buNone/>
            </a:pPr>
            <a:r>
              <a:rPr lang="en-US" sz="1000" b="1" dirty="0">
                <a:solidFill>
                  <a:srgbClr val="1B3B6F"/>
                </a:solidFill>
                <a:latin typeface="Calibri" pitchFamily="34" charset="0"/>
                <a:cs typeface="Amiri" pitchFamily="2" charset="-78"/>
              </a:rPr>
              <a:t>4</a:t>
            </a:r>
            <a:endParaRPr lang="en-US" sz="1000" dirty="0"/>
          </a:p>
        </p:txBody>
      </p:sp>
      <p:sp>
        <p:nvSpPr>
          <p:cNvPr id="39" name="Shape 36"/>
          <p:cNvSpPr/>
          <p:nvPr/>
        </p:nvSpPr>
        <p:spPr>
          <a:xfrm>
            <a:off x="10872216" y="4279392"/>
            <a:ext cx="731520" cy="256032"/>
          </a:xfrm>
          <a:prstGeom prst="roundRect">
            <a:avLst>
              <a:gd name="adj" fmla="val 50000"/>
            </a:avLst>
          </a:prstGeom>
          <a:solidFill>
            <a:srgbClr val="2E8B57"/>
          </a:solidFill>
          <a:ln w="12700">
            <a:solidFill>
              <a:srgbClr val="2E8B57"/>
            </a:solidFill>
            <a:prstDash val="solid"/>
          </a:ln>
        </p:spPr>
      </p:sp>
      <p:sp>
        <p:nvSpPr>
          <p:cNvPr id="40" name="Text 37"/>
          <p:cNvSpPr txBox="1"/>
          <p:nvPr/>
        </p:nvSpPr>
        <p:spPr>
          <a:xfrm>
            <a:off x="10872216" y="4279392"/>
            <a:ext cx="731520" cy="256032"/>
          </a:xfrm>
          <a:prstGeom prst="rect">
            <a:avLst/>
          </a:prstGeom>
          <a:noFill/>
          <a:ln/>
        </p:spPr>
        <p:txBody>
          <a:bodyPr wrap="square" lIns="0" tIns="0" rIns="0" bIns="0" rtlCol="0" anchor="ctr"/>
          <a:lstStyle/>
          <a:p>
            <a:pPr algn="ctr" indent="0" marL="0">
              <a:buNone/>
            </a:pPr>
            <a:r>
              <a:rPr lang="en-US" sz="800" b="1" spc="100" kern="0" dirty="0">
                <a:solidFill>
                  <a:srgbClr val="FFFFFF"/>
                </a:solidFill>
                <a:latin typeface="Calibri" pitchFamily="34" charset="0"/>
                <a:cs typeface="Amiri" pitchFamily="2" charset="-78"/>
              </a:rPr>
              <a:t>CORE</a:t>
            </a:r>
            <a:endParaRPr lang="en-US" sz="800" dirty="0"/>
          </a:p>
        </p:txBody>
      </p:sp>
      <p:sp>
        <p:nvSpPr>
          <p:cNvPr id="41" name="Text 38"/>
          <p:cNvSpPr txBox="1"/>
          <p:nvPr/>
        </p:nvSpPr>
        <p:spPr>
          <a:xfrm>
            <a:off x="8211312" y="4553712"/>
            <a:ext cx="3401568" cy="868680"/>
          </a:xfrm>
          <a:prstGeom prst="rect">
            <a:avLst/>
          </a:prstGeom>
          <a:noFill/>
          <a:ln/>
        </p:spPr>
        <p:txBody>
          <a:bodyPr wrap="square" lIns="0" tIns="0" rIns="0" bIns="0" rtlCol="0" anchor="ctr"/>
          <a:lstStyle/>
          <a:p>
            <a:pPr rtl="1" algn="r" indent="0" marL="0">
              <a:buNone/>
            </a:pPr>
            <a:r>
              <a:rPr lang="ar-SA" altLang="en-US" sz="3000" b="1" dirty="0">
                <a:solidFill>
                  <a:srgbClr val="1B3B6F"/>
                </a:solidFill>
                <a:latin typeface="Amiri" pitchFamily="2" charset="-78"/>
                <a:ea typeface="Amiri" pitchFamily="2" charset="-78"/>
                <a:cs typeface="Amiri" pitchFamily="2" charset="-78"/>
              </a:rPr>
              <a:t>آمِنٌ / آمِنَةٌ</a:t>
            </a:r>
            <a:endParaRPr lang="ar-SA" sz="3000" dirty="0"/>
          </a:p>
        </p:txBody>
      </p:sp>
      <p:sp>
        <p:nvSpPr>
          <p:cNvPr id="42" name="Text 39"/>
          <p:cNvSpPr txBox="1"/>
          <p:nvPr/>
        </p:nvSpPr>
        <p:spPr>
          <a:xfrm>
            <a:off x="8238744" y="5468112"/>
            <a:ext cx="3364992" cy="512064"/>
          </a:xfrm>
          <a:prstGeom prst="rect">
            <a:avLst/>
          </a:prstGeom>
          <a:noFill/>
          <a:ln/>
        </p:spPr>
        <p:txBody>
          <a:bodyPr wrap="square" lIns="0" tIns="0" rIns="0" bIns="0" rtlCol="0" anchor="t"/>
          <a:lstStyle/>
          <a:p>
            <a:pPr indent="0" marL="0">
              <a:buNone/>
            </a:pPr>
            <a:r>
              <a:rPr lang="en-US" sz="1350" b="1" dirty="0">
                <a:solidFill>
                  <a:srgbClr val="1F2A37"/>
                </a:solidFill>
                <a:latin typeface="Calibri" pitchFamily="34" charset="0"/>
                <a:cs typeface="Amiri" pitchFamily="2" charset="-78"/>
              </a:rPr>
              <a:t>safe</a:t>
            </a:r>
            <a:endParaRPr lang="en-US" sz="1350" dirty="0"/>
          </a:p>
          <a:p>
            <a:pPr indent="0" marL="0">
              <a:buNone/>
            </a:pPr>
            <a:r>
              <a:rPr lang="en-US" sz="1100" i="1" dirty="0">
                <a:solidFill>
                  <a:srgbClr val="5A6472"/>
                </a:solidFill>
                <a:latin typeface="Calibri" pitchFamily="34" charset="0"/>
                <a:cs typeface="Amiri" pitchFamily="2" charset="-78"/>
              </a:rPr>
              <a:t>ā-mi-nun / ā-mi-na-tun</a:t>
            </a:r>
            <a:endParaRPr lang="en-US" sz="1350" dirty="0"/>
          </a:p>
        </p:txBody>
      </p:sp>
      <p:sp>
        <p:nvSpPr>
          <p:cNvPr id="43" name="Shape 40"/>
          <p:cNvSpPr/>
          <p:nvPr/>
        </p:nvSpPr>
        <p:spPr>
          <a:xfrm>
            <a:off x="4279392" y="4151376"/>
            <a:ext cx="3639312" cy="2157984"/>
          </a:xfrm>
          <a:prstGeom prst="roundRect">
            <a:avLst>
              <a:gd name="adj" fmla="val 3390"/>
            </a:avLst>
          </a:prstGeom>
          <a:solidFill>
            <a:srgbClr val="FFFFFF"/>
          </a:solidFill>
          <a:ln w="9525">
            <a:solidFill>
              <a:srgbClr val="D8D0BF"/>
            </a:solidFill>
            <a:prstDash val="solid"/>
          </a:ln>
          <a:effectLst>
            <a:outerShdw sx="100000" sy="100000" kx="0" ky="0" algn="bl" rotWithShape="0" blurRad="50800" dist="19050" dir="5400000">
              <a:srgbClr val="000000">
                <a:alpha val="10000"/>
              </a:srgbClr>
            </a:outerShdw>
          </a:effectLst>
        </p:spPr>
      </p:sp>
      <p:sp>
        <p:nvSpPr>
          <p:cNvPr id="44" name="Shape 41"/>
          <p:cNvSpPr/>
          <p:nvPr/>
        </p:nvSpPr>
        <p:spPr>
          <a:xfrm>
            <a:off x="4389120" y="4261104"/>
            <a:ext cx="310896" cy="310896"/>
          </a:xfrm>
          <a:prstGeom prst="ellipse">
            <a:avLst/>
          </a:prstGeom>
          <a:solidFill>
            <a:srgbClr val="F4F1EA"/>
          </a:solidFill>
          <a:ln w="12700">
            <a:solidFill>
              <a:srgbClr val="F4F1EA"/>
            </a:solidFill>
            <a:prstDash val="solid"/>
          </a:ln>
        </p:spPr>
      </p:sp>
      <p:sp>
        <p:nvSpPr>
          <p:cNvPr id="45" name="Text 42"/>
          <p:cNvSpPr txBox="1"/>
          <p:nvPr/>
        </p:nvSpPr>
        <p:spPr>
          <a:xfrm>
            <a:off x="4389120" y="4261104"/>
            <a:ext cx="310896" cy="310896"/>
          </a:xfrm>
          <a:prstGeom prst="rect">
            <a:avLst/>
          </a:prstGeom>
          <a:noFill/>
          <a:ln/>
        </p:spPr>
        <p:txBody>
          <a:bodyPr wrap="square" lIns="0" tIns="0" rIns="0" bIns="0" rtlCol="0" anchor="ctr"/>
          <a:lstStyle/>
          <a:p>
            <a:pPr algn="ctr" indent="0" marL="0">
              <a:buNone/>
            </a:pPr>
            <a:r>
              <a:rPr lang="en-US" sz="1000" b="1" dirty="0">
                <a:solidFill>
                  <a:srgbClr val="1B3B6F"/>
                </a:solidFill>
                <a:latin typeface="Calibri" pitchFamily="34" charset="0"/>
                <a:cs typeface="Amiri" pitchFamily="2" charset="-78"/>
              </a:rPr>
              <a:t>5</a:t>
            </a:r>
            <a:endParaRPr lang="en-US" sz="1000" dirty="0"/>
          </a:p>
        </p:txBody>
      </p:sp>
      <p:sp>
        <p:nvSpPr>
          <p:cNvPr id="46" name="Shape 43"/>
          <p:cNvSpPr/>
          <p:nvPr/>
        </p:nvSpPr>
        <p:spPr>
          <a:xfrm>
            <a:off x="7050024" y="4279392"/>
            <a:ext cx="731520" cy="256032"/>
          </a:xfrm>
          <a:prstGeom prst="roundRect">
            <a:avLst>
              <a:gd name="adj" fmla="val 50000"/>
            </a:avLst>
          </a:prstGeom>
          <a:solidFill>
            <a:srgbClr val="2E8B57"/>
          </a:solidFill>
          <a:ln w="12700">
            <a:solidFill>
              <a:srgbClr val="2E8B57"/>
            </a:solidFill>
            <a:prstDash val="solid"/>
          </a:ln>
        </p:spPr>
      </p:sp>
      <p:sp>
        <p:nvSpPr>
          <p:cNvPr id="47" name="Text 44"/>
          <p:cNvSpPr txBox="1"/>
          <p:nvPr/>
        </p:nvSpPr>
        <p:spPr>
          <a:xfrm>
            <a:off x="7050024" y="4279392"/>
            <a:ext cx="731520" cy="256032"/>
          </a:xfrm>
          <a:prstGeom prst="rect">
            <a:avLst/>
          </a:prstGeom>
          <a:noFill/>
          <a:ln/>
        </p:spPr>
        <p:txBody>
          <a:bodyPr wrap="square" lIns="0" tIns="0" rIns="0" bIns="0" rtlCol="0" anchor="ctr"/>
          <a:lstStyle/>
          <a:p>
            <a:pPr algn="ctr" indent="0" marL="0">
              <a:buNone/>
            </a:pPr>
            <a:r>
              <a:rPr lang="en-US" sz="800" b="1" spc="100" kern="0" dirty="0">
                <a:solidFill>
                  <a:srgbClr val="FFFFFF"/>
                </a:solidFill>
                <a:latin typeface="Calibri" pitchFamily="34" charset="0"/>
                <a:cs typeface="Amiri" pitchFamily="2" charset="-78"/>
              </a:rPr>
              <a:t>CORE</a:t>
            </a:r>
            <a:endParaRPr lang="en-US" sz="800" dirty="0"/>
          </a:p>
        </p:txBody>
      </p:sp>
      <p:sp>
        <p:nvSpPr>
          <p:cNvPr id="48" name="Text 45"/>
          <p:cNvSpPr txBox="1"/>
          <p:nvPr/>
        </p:nvSpPr>
        <p:spPr>
          <a:xfrm>
            <a:off x="4389120" y="4553712"/>
            <a:ext cx="3401568" cy="868680"/>
          </a:xfrm>
          <a:prstGeom prst="rect">
            <a:avLst/>
          </a:prstGeom>
          <a:noFill/>
          <a:ln/>
        </p:spPr>
        <p:txBody>
          <a:bodyPr wrap="square" lIns="0" tIns="0" rIns="0" bIns="0" rtlCol="0" anchor="ctr"/>
          <a:lstStyle/>
          <a:p>
            <a:pPr rtl="1" algn="r" indent="0" marL="0">
              <a:buNone/>
            </a:pPr>
            <a:r>
              <a:rPr lang="ar-SA" altLang="en-US" sz="3000" b="1" dirty="0">
                <a:solidFill>
                  <a:srgbClr val="1B3B6F"/>
                </a:solidFill>
                <a:latin typeface="Amiri" pitchFamily="2" charset="-78"/>
                <a:ea typeface="Amiri" pitchFamily="2" charset="-78"/>
                <a:cs typeface="Amiri" pitchFamily="2" charset="-78"/>
              </a:rPr>
              <a:t>حَدِيثٌ / حَدِيثَةٌ</a:t>
            </a:r>
            <a:endParaRPr lang="ar-SA" sz="3000" dirty="0"/>
          </a:p>
        </p:txBody>
      </p:sp>
      <p:sp>
        <p:nvSpPr>
          <p:cNvPr id="49" name="Text 46"/>
          <p:cNvSpPr txBox="1"/>
          <p:nvPr/>
        </p:nvSpPr>
        <p:spPr>
          <a:xfrm>
            <a:off x="4416552" y="5468112"/>
            <a:ext cx="3364992" cy="512064"/>
          </a:xfrm>
          <a:prstGeom prst="rect">
            <a:avLst/>
          </a:prstGeom>
          <a:noFill/>
          <a:ln/>
        </p:spPr>
        <p:txBody>
          <a:bodyPr wrap="square" lIns="0" tIns="0" rIns="0" bIns="0" rtlCol="0" anchor="t"/>
          <a:lstStyle/>
          <a:p>
            <a:pPr indent="0" marL="0">
              <a:buNone/>
            </a:pPr>
            <a:r>
              <a:rPr lang="en-US" sz="1350" b="1" dirty="0">
                <a:solidFill>
                  <a:srgbClr val="1F2A37"/>
                </a:solidFill>
                <a:latin typeface="Calibri" pitchFamily="34" charset="0"/>
                <a:cs typeface="Amiri" pitchFamily="2" charset="-78"/>
              </a:rPr>
              <a:t>modern</a:t>
            </a:r>
            <a:endParaRPr lang="en-US" sz="1350" dirty="0"/>
          </a:p>
          <a:p>
            <a:pPr indent="0" marL="0">
              <a:buNone/>
            </a:pPr>
            <a:r>
              <a:rPr lang="en-US" sz="1100" i="1" dirty="0">
                <a:solidFill>
                  <a:srgbClr val="5A6472"/>
                </a:solidFill>
                <a:latin typeface="Calibri" pitchFamily="34" charset="0"/>
                <a:cs typeface="Amiri" pitchFamily="2" charset="-78"/>
              </a:rPr>
              <a:t>ḥa-dī-thun / ḥa-dī-tha-tun</a:t>
            </a:r>
            <a:endParaRPr lang="en-US" sz="1350" dirty="0"/>
          </a:p>
        </p:txBody>
      </p:sp>
      <p:sp>
        <p:nvSpPr>
          <p:cNvPr id="50" name="Shape 47"/>
          <p:cNvSpPr/>
          <p:nvPr/>
        </p:nvSpPr>
        <p:spPr>
          <a:xfrm>
            <a:off x="457200" y="4151376"/>
            <a:ext cx="3639312" cy="2157984"/>
          </a:xfrm>
          <a:prstGeom prst="roundRect">
            <a:avLst>
              <a:gd name="adj" fmla="val 3390"/>
            </a:avLst>
          </a:prstGeom>
          <a:solidFill>
            <a:srgbClr val="FFFFFF"/>
          </a:solidFill>
          <a:ln w="9525">
            <a:solidFill>
              <a:srgbClr val="D8D0BF"/>
            </a:solidFill>
            <a:prstDash val="solid"/>
          </a:ln>
          <a:effectLst>
            <a:outerShdw sx="100000" sy="100000" kx="0" ky="0" algn="bl" rotWithShape="0" blurRad="50800" dist="19050" dir="5400000">
              <a:srgbClr val="000000">
                <a:alpha val="10000"/>
              </a:srgbClr>
            </a:outerShdw>
          </a:effectLst>
        </p:spPr>
      </p:sp>
      <p:sp>
        <p:nvSpPr>
          <p:cNvPr id="51" name="Shape 48"/>
          <p:cNvSpPr/>
          <p:nvPr/>
        </p:nvSpPr>
        <p:spPr>
          <a:xfrm>
            <a:off x="566928" y="4261104"/>
            <a:ext cx="310896" cy="310896"/>
          </a:xfrm>
          <a:prstGeom prst="ellipse">
            <a:avLst/>
          </a:prstGeom>
          <a:solidFill>
            <a:srgbClr val="F4F1EA"/>
          </a:solidFill>
          <a:ln w="12700">
            <a:solidFill>
              <a:srgbClr val="F4F1EA"/>
            </a:solidFill>
            <a:prstDash val="solid"/>
          </a:ln>
        </p:spPr>
      </p:sp>
      <p:sp>
        <p:nvSpPr>
          <p:cNvPr id="52" name="Text 49"/>
          <p:cNvSpPr txBox="1"/>
          <p:nvPr/>
        </p:nvSpPr>
        <p:spPr>
          <a:xfrm>
            <a:off x="566928" y="4261104"/>
            <a:ext cx="310896" cy="310896"/>
          </a:xfrm>
          <a:prstGeom prst="rect">
            <a:avLst/>
          </a:prstGeom>
          <a:noFill/>
          <a:ln/>
        </p:spPr>
        <p:txBody>
          <a:bodyPr wrap="square" lIns="0" tIns="0" rIns="0" bIns="0" rtlCol="0" anchor="ctr"/>
          <a:lstStyle/>
          <a:p>
            <a:pPr algn="ctr" indent="0" marL="0">
              <a:buNone/>
            </a:pPr>
            <a:r>
              <a:rPr lang="en-US" sz="1000" b="1" dirty="0">
                <a:solidFill>
                  <a:srgbClr val="1B3B6F"/>
                </a:solidFill>
                <a:latin typeface="Calibri" pitchFamily="34" charset="0"/>
                <a:cs typeface="Amiri" pitchFamily="2" charset="-78"/>
              </a:rPr>
              <a:t>6</a:t>
            </a:r>
            <a:endParaRPr lang="en-US" sz="1000" dirty="0"/>
          </a:p>
        </p:txBody>
      </p:sp>
      <p:sp>
        <p:nvSpPr>
          <p:cNvPr id="53" name="Shape 50"/>
          <p:cNvSpPr/>
          <p:nvPr/>
        </p:nvSpPr>
        <p:spPr>
          <a:xfrm>
            <a:off x="3227832" y="4279392"/>
            <a:ext cx="731520" cy="256032"/>
          </a:xfrm>
          <a:prstGeom prst="roundRect">
            <a:avLst>
              <a:gd name="adj" fmla="val 50000"/>
            </a:avLst>
          </a:prstGeom>
          <a:solidFill>
            <a:srgbClr val="2E8B57"/>
          </a:solidFill>
          <a:ln w="12700">
            <a:solidFill>
              <a:srgbClr val="2E8B57"/>
            </a:solidFill>
            <a:prstDash val="solid"/>
          </a:ln>
        </p:spPr>
      </p:sp>
      <p:sp>
        <p:nvSpPr>
          <p:cNvPr id="54" name="Text 51"/>
          <p:cNvSpPr txBox="1"/>
          <p:nvPr/>
        </p:nvSpPr>
        <p:spPr>
          <a:xfrm>
            <a:off x="3227832" y="4279392"/>
            <a:ext cx="731520" cy="256032"/>
          </a:xfrm>
          <a:prstGeom prst="rect">
            <a:avLst/>
          </a:prstGeom>
          <a:noFill/>
          <a:ln/>
        </p:spPr>
        <p:txBody>
          <a:bodyPr wrap="square" lIns="0" tIns="0" rIns="0" bIns="0" rtlCol="0" anchor="ctr"/>
          <a:lstStyle/>
          <a:p>
            <a:pPr algn="ctr" indent="0" marL="0">
              <a:buNone/>
            </a:pPr>
            <a:r>
              <a:rPr lang="en-US" sz="800" b="1" spc="100" kern="0" dirty="0">
                <a:solidFill>
                  <a:srgbClr val="FFFFFF"/>
                </a:solidFill>
                <a:latin typeface="Calibri" pitchFamily="34" charset="0"/>
                <a:cs typeface="Amiri" pitchFamily="2" charset="-78"/>
              </a:rPr>
              <a:t>CORE</a:t>
            </a:r>
            <a:endParaRPr lang="en-US" sz="800" dirty="0"/>
          </a:p>
        </p:txBody>
      </p:sp>
      <p:sp>
        <p:nvSpPr>
          <p:cNvPr id="55" name="Text 52"/>
          <p:cNvSpPr txBox="1"/>
          <p:nvPr/>
        </p:nvSpPr>
        <p:spPr>
          <a:xfrm>
            <a:off x="566928" y="4553712"/>
            <a:ext cx="3401568" cy="868680"/>
          </a:xfrm>
          <a:prstGeom prst="rect">
            <a:avLst/>
          </a:prstGeom>
          <a:noFill/>
          <a:ln/>
        </p:spPr>
        <p:txBody>
          <a:bodyPr wrap="square" lIns="0" tIns="0" rIns="0" bIns="0" rtlCol="0" anchor="ctr"/>
          <a:lstStyle/>
          <a:p>
            <a:pPr rtl="1" algn="r" indent="0" marL="0">
              <a:buNone/>
            </a:pPr>
            <a:r>
              <a:rPr lang="ar-SA" altLang="en-US" sz="3000" b="1" dirty="0">
                <a:solidFill>
                  <a:srgbClr val="1B3B6F"/>
                </a:solidFill>
                <a:latin typeface="Amiri" pitchFamily="2" charset="-78"/>
                <a:ea typeface="Amiri" pitchFamily="2" charset="-78"/>
                <a:cs typeface="Amiri" pitchFamily="2" charset="-78"/>
              </a:rPr>
              <a:t>تَتَمَيَّزُ بِـ</a:t>
            </a:r>
            <a:endParaRPr lang="ar-SA" sz="3000" dirty="0"/>
          </a:p>
        </p:txBody>
      </p:sp>
      <p:sp>
        <p:nvSpPr>
          <p:cNvPr id="56" name="Text 53"/>
          <p:cNvSpPr txBox="1"/>
          <p:nvPr/>
        </p:nvSpPr>
        <p:spPr>
          <a:xfrm>
            <a:off x="594360" y="5468112"/>
            <a:ext cx="3364992" cy="512064"/>
          </a:xfrm>
          <a:prstGeom prst="rect">
            <a:avLst/>
          </a:prstGeom>
          <a:noFill/>
          <a:ln/>
        </p:spPr>
        <p:txBody>
          <a:bodyPr wrap="square" lIns="0" tIns="0" rIns="0" bIns="0" rtlCol="0" anchor="t"/>
          <a:lstStyle/>
          <a:p>
            <a:pPr indent="0" marL="0">
              <a:buNone/>
            </a:pPr>
            <a:r>
              <a:rPr lang="en-US" sz="1350" b="1" dirty="0">
                <a:solidFill>
                  <a:srgbClr val="1F2A37"/>
                </a:solidFill>
                <a:latin typeface="Calibri" pitchFamily="34" charset="0"/>
                <a:cs typeface="Amiri" pitchFamily="2" charset="-78"/>
              </a:rPr>
              <a:t>is distinguished by</a:t>
            </a:r>
            <a:endParaRPr lang="en-US" sz="1350" dirty="0"/>
          </a:p>
          <a:p>
            <a:pPr indent="0" marL="0">
              <a:buNone/>
            </a:pPr>
            <a:r>
              <a:rPr lang="en-US" sz="1100" i="1" dirty="0">
                <a:solidFill>
                  <a:srgbClr val="5A6472"/>
                </a:solidFill>
                <a:latin typeface="Calibri" pitchFamily="34" charset="0"/>
                <a:cs typeface="Amiri" pitchFamily="2" charset="-78"/>
              </a:rPr>
              <a:t>ta-ta-may-ya-zu bi</a:t>
            </a:r>
            <a:endParaRPr lang="en-US" sz="1350" dirty="0"/>
          </a:p>
        </p:txBody>
      </p:sp>
      <p:sp>
        <p:nvSpPr>
          <p:cNvPr id="57" name="Text 54"/>
          <p:cNvSpPr txBox="1"/>
          <p:nvPr/>
        </p:nvSpPr>
        <p:spPr>
          <a:xfrm>
            <a:off x="10360152" y="6455664"/>
            <a:ext cx="1371600" cy="219456"/>
          </a:xfrm>
          <a:prstGeom prst="rect">
            <a:avLst/>
          </a:prstGeom>
          <a:noFill/>
          <a:ln/>
        </p:spPr>
        <p:txBody>
          <a:bodyPr wrap="square" lIns="0" tIns="0" rIns="0" bIns="0" rtlCol="0" anchor="ctr"/>
          <a:lstStyle/>
          <a:p>
            <a:pPr algn="r" indent="0" marL="0">
              <a:buNone/>
            </a:pPr>
            <a:r>
              <a:rPr lang="en-US" sz="850" dirty="0">
                <a:solidFill>
                  <a:srgbClr val="8A93A0"/>
                </a:solidFill>
                <a:latin typeface="Calibri" pitchFamily="34" charset="0"/>
                <a:cs typeface="Amiri" pitchFamily="2" charset="-78"/>
              </a:rPr>
              <a:t>6 / 24</a:t>
            </a:r>
            <a:endParaRPr lang="en-US" sz="850" dirty="0"/>
          </a:p>
        </p:txBody>
      </p:sp>
    </p:spTree>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name="Slide 7">
    <p:bg>
      <p:bgPr>
        <a:solidFill>
          <a:srgbClr val="FFFDF8"/>
        </a:solidFill>
      </p:bgPr>
    </p:bg>
    <p:spTree>
      <p:nvGrpSpPr>
        <p:cNvPr id="1" name=""/>
        <p:cNvGrpSpPr/>
        <p:nvPr/>
      </p:nvGrpSpPr>
      <p:grpSpPr>
        <a:xfrm>
          <a:off x="0" y="0"/>
          <a:ext cx="0" cy="0"/>
          <a:chOff x="0" y="0"/>
          <a:chExt cx="0" cy="0"/>
        </a:xfrm>
      </p:grpSpPr>
      <p:sp>
        <p:nvSpPr>
          <p:cNvPr id="2" name="Shape 0"/>
          <p:cNvSpPr/>
          <p:nvPr/>
        </p:nvSpPr>
        <p:spPr>
          <a:xfrm>
            <a:off x="457200" y="237744"/>
            <a:ext cx="420624" cy="420624"/>
          </a:xfrm>
          <a:prstGeom prst="ellipse">
            <a:avLst/>
          </a:prstGeom>
          <a:solidFill>
            <a:srgbClr val="1B3B6F"/>
          </a:solidFill>
          <a:ln w="12700">
            <a:solidFill>
              <a:srgbClr val="D4AF37"/>
            </a:solidFill>
            <a:prstDash val="solid"/>
          </a:ln>
        </p:spPr>
      </p:sp>
      <p:sp>
        <p:nvSpPr>
          <p:cNvPr id="3" name="Text 1"/>
          <p:cNvSpPr txBox="1"/>
          <p:nvPr/>
        </p:nvSpPr>
        <p:spPr>
          <a:xfrm>
            <a:off x="457200" y="219456"/>
            <a:ext cx="420624" cy="420624"/>
          </a:xfrm>
          <a:prstGeom prst="rect">
            <a:avLst/>
          </a:prstGeom>
          <a:noFill/>
          <a:ln/>
        </p:spPr>
        <p:txBody>
          <a:bodyPr wrap="square" lIns="0" tIns="0" rIns="0" bIns="0" rtlCol="0" anchor="ctr"/>
          <a:lstStyle/>
          <a:p>
            <a:pPr rtl="1" algn="ctr" indent="0" marL="0">
              <a:buNone/>
            </a:pPr>
            <a:r>
              <a:rPr lang="ar-SA" altLang="en-US" sz="1800" b="1" dirty="0">
                <a:solidFill>
                  <a:srgbClr val="D4AF37"/>
                </a:solidFill>
                <a:latin typeface="Amiri" pitchFamily="2" charset="-78"/>
                <a:ea typeface="Amiri" pitchFamily="2" charset="-78"/>
                <a:cs typeface="Amiri" pitchFamily="2" charset="-78"/>
              </a:rPr>
              <a:t>م</a:t>
            </a:r>
            <a:endParaRPr lang="ar-SA" sz="1800" dirty="0"/>
          </a:p>
        </p:txBody>
      </p:sp>
      <p:sp>
        <p:nvSpPr>
          <p:cNvPr id="4" name="Text 2"/>
          <p:cNvSpPr txBox="1"/>
          <p:nvPr/>
        </p:nvSpPr>
        <p:spPr>
          <a:xfrm>
            <a:off x="960120" y="219456"/>
            <a:ext cx="3657600" cy="256032"/>
          </a:xfrm>
          <a:prstGeom prst="rect">
            <a:avLst/>
          </a:prstGeom>
          <a:noFill/>
          <a:ln/>
        </p:spPr>
        <p:txBody>
          <a:bodyPr wrap="square" lIns="0" tIns="0" rIns="0" bIns="0" rtlCol="0" anchor="ctr"/>
          <a:lstStyle/>
          <a:p>
            <a:pPr indent="0" marL="0">
              <a:buNone/>
            </a:pPr>
            <a:r>
              <a:rPr lang="en-US" sz="1200" b="1" dirty="0">
                <a:solidFill>
                  <a:srgbClr val="1B3B6F"/>
                </a:solidFill>
                <a:latin typeface="Cambria" pitchFamily="34" charset="0"/>
                <a:cs typeface="Amiri" pitchFamily="2" charset="-78"/>
              </a:rPr>
              <a:t>Al Madina Online School</a:t>
            </a:r>
            <a:endParaRPr lang="en-US" sz="1200" dirty="0"/>
          </a:p>
        </p:txBody>
      </p:sp>
      <p:sp>
        <p:nvSpPr>
          <p:cNvPr id="5" name="Text 3"/>
          <p:cNvSpPr txBox="1"/>
          <p:nvPr/>
        </p:nvSpPr>
        <p:spPr>
          <a:xfrm>
            <a:off x="960120" y="457200"/>
            <a:ext cx="4572000" cy="182880"/>
          </a:xfrm>
          <a:prstGeom prst="rect">
            <a:avLst/>
          </a:prstGeom>
          <a:noFill/>
          <a:ln/>
        </p:spPr>
        <p:txBody>
          <a:bodyPr wrap="square" lIns="0" tIns="0" rIns="0" bIns="0" rtlCol="0" anchor="ctr"/>
          <a:lstStyle/>
          <a:p>
            <a:pPr indent="0" marL="0">
              <a:buNone/>
            </a:pPr>
            <a:r>
              <a:rPr lang="en-US" sz="800" b="1" spc="200" kern="0" dirty="0">
                <a:solidFill>
                  <a:srgbClr val="8A6D1E"/>
                </a:solidFill>
                <a:latin typeface="Calibri" pitchFamily="34" charset="0"/>
                <a:cs typeface="Amiri" pitchFamily="2" charset="-78"/>
              </a:rPr>
              <a:t>ARABIC DEPARTMENT · MIFTAH ARABIC · IGCSE 0544</a:t>
            </a:r>
            <a:endParaRPr lang="en-US" sz="800" dirty="0"/>
          </a:p>
        </p:txBody>
      </p:sp>
      <p:sp>
        <p:nvSpPr>
          <p:cNvPr id="6" name="Shape 4"/>
          <p:cNvSpPr/>
          <p:nvPr/>
        </p:nvSpPr>
        <p:spPr>
          <a:xfrm>
            <a:off x="8897112" y="274320"/>
            <a:ext cx="2834640" cy="329184"/>
          </a:xfrm>
          <a:prstGeom prst="roundRect">
            <a:avLst>
              <a:gd name="adj" fmla="val 50000"/>
            </a:avLst>
          </a:prstGeom>
          <a:solidFill>
            <a:srgbClr val="1B3B6F"/>
          </a:solidFill>
          <a:ln w="12700">
            <a:solidFill>
              <a:srgbClr val="1B3B6F"/>
            </a:solidFill>
            <a:prstDash val="solid"/>
          </a:ln>
        </p:spPr>
      </p:sp>
      <p:sp>
        <p:nvSpPr>
          <p:cNvPr id="7" name="Text 5"/>
          <p:cNvSpPr txBox="1"/>
          <p:nvPr/>
        </p:nvSpPr>
        <p:spPr>
          <a:xfrm>
            <a:off x="8897112" y="274320"/>
            <a:ext cx="2834640" cy="329184"/>
          </a:xfrm>
          <a:prstGeom prst="rect">
            <a:avLst/>
          </a:prstGeom>
          <a:noFill/>
          <a:ln/>
        </p:spPr>
        <p:txBody>
          <a:bodyPr wrap="square" lIns="0" tIns="0" rIns="0" bIns="0" rtlCol="0" anchor="ctr"/>
          <a:lstStyle/>
          <a:p>
            <a:pPr algn="ctr" indent="0" marL="0">
              <a:buNone/>
            </a:pPr>
            <a:r>
              <a:rPr lang="en-US" sz="950" b="1" spc="100" kern="0" dirty="0">
                <a:solidFill>
                  <a:srgbClr val="FFFFFF"/>
                </a:solidFill>
                <a:latin typeface="Calibri" pitchFamily="34" charset="0"/>
                <a:cs typeface="Amiri" pitchFamily="2" charset="-78"/>
              </a:rPr>
              <a:t>F6-W03 · Apply workshop</a:t>
            </a:r>
            <a:endParaRPr lang="en-US" sz="950" dirty="0"/>
          </a:p>
        </p:txBody>
      </p:sp>
      <p:sp>
        <p:nvSpPr>
          <p:cNvPr id="8" name="Shape 6"/>
          <p:cNvSpPr/>
          <p:nvPr/>
        </p:nvSpPr>
        <p:spPr>
          <a:xfrm>
            <a:off x="6308446" y="274320"/>
            <a:ext cx="2451506" cy="329184"/>
          </a:xfrm>
          <a:prstGeom prst="roundRect">
            <a:avLst>
              <a:gd name="adj" fmla="val 50000"/>
            </a:avLst>
          </a:prstGeom>
          <a:solidFill>
            <a:srgbClr val="1B3B6F"/>
          </a:solidFill>
          <a:ln w="12700">
            <a:solidFill>
              <a:srgbClr val="1B3B6F"/>
            </a:solidFill>
            <a:prstDash val="solid"/>
          </a:ln>
        </p:spPr>
      </p:sp>
      <p:sp>
        <p:nvSpPr>
          <p:cNvPr id="9" name="Text 7"/>
          <p:cNvSpPr txBox="1"/>
          <p:nvPr/>
        </p:nvSpPr>
        <p:spPr>
          <a:xfrm>
            <a:off x="6308446" y="274320"/>
            <a:ext cx="2451506" cy="329184"/>
          </a:xfrm>
          <a:prstGeom prst="rect">
            <a:avLst/>
          </a:prstGeom>
          <a:noFill/>
          <a:ln/>
        </p:spPr>
        <p:txBody>
          <a:bodyPr wrap="square" lIns="0" tIns="0" rIns="0" bIns="0" rtlCol="0" anchor="ctr"/>
          <a:lstStyle/>
          <a:p>
            <a:pPr algn="ctr" indent="0" marL="0">
              <a:buNone/>
            </a:pPr>
            <a:r>
              <a:rPr lang="en-US" sz="900" b="1" spc="100" kern="0" dirty="0">
                <a:solidFill>
                  <a:srgbClr val="FFFFFF"/>
                </a:solidFill>
                <a:latin typeface="Calibri" pitchFamily="34" charset="0"/>
                <a:cs typeface="Amiri" pitchFamily="2" charset="-78"/>
              </a:rPr>
              <a:t>TEACHER INSTRUCTION · 2 MIN</a:t>
            </a:r>
            <a:endParaRPr lang="en-US" sz="900" dirty="0"/>
          </a:p>
        </p:txBody>
      </p:sp>
      <p:sp>
        <p:nvSpPr>
          <p:cNvPr id="10" name="Text 8"/>
          <p:cNvSpPr txBox="1"/>
          <p:nvPr/>
        </p:nvSpPr>
        <p:spPr>
          <a:xfrm>
            <a:off x="457200" y="822960"/>
            <a:ext cx="6949440" cy="237744"/>
          </a:xfrm>
          <a:prstGeom prst="rect">
            <a:avLst/>
          </a:prstGeom>
          <a:noFill/>
          <a:ln/>
        </p:spPr>
        <p:txBody>
          <a:bodyPr wrap="square" lIns="0" tIns="0" rIns="0" bIns="0" rtlCol="0" anchor="ctr"/>
          <a:lstStyle/>
          <a:p>
            <a:pPr algn="l" indent="0" marL="0">
              <a:buNone/>
            </a:pPr>
            <a:r>
              <a:rPr lang="en-US" sz="1000" b="1" spc="300" kern="0" dirty="0">
                <a:solidFill>
                  <a:srgbClr val="1B3B6F"/>
                </a:solidFill>
                <a:latin typeface="Calibri" pitchFamily="34" charset="0"/>
                <a:cs typeface="Amiri" pitchFamily="2" charset="-78"/>
              </a:rPr>
              <a:t>STEP 1 · WORDS FROM F6-L06</a:t>
            </a:r>
            <a:endParaRPr lang="en-US" sz="1000" dirty="0"/>
          </a:p>
        </p:txBody>
      </p:sp>
      <p:sp>
        <p:nvSpPr>
          <p:cNvPr id="11" name="Text 9"/>
          <p:cNvSpPr txBox="1"/>
          <p:nvPr/>
        </p:nvSpPr>
        <p:spPr>
          <a:xfrm>
            <a:off x="457200" y="1033272"/>
            <a:ext cx="6949440" cy="566928"/>
          </a:xfrm>
          <a:prstGeom prst="rect">
            <a:avLst/>
          </a:prstGeom>
          <a:noFill/>
          <a:ln/>
        </p:spPr>
        <p:txBody>
          <a:bodyPr wrap="square" lIns="0" tIns="0" rIns="0" bIns="0" rtlCol="0" anchor="ctr"/>
          <a:lstStyle/>
          <a:p>
            <a:pPr algn="l" indent="0" marL="0">
              <a:buNone/>
            </a:pPr>
            <a:r>
              <a:rPr lang="en-US" sz="1850" b="1" dirty="0">
                <a:solidFill>
                  <a:srgbClr val="1B3B6F"/>
                </a:solidFill>
                <a:latin typeface="Cambria" pitchFamily="34" charset="0"/>
                <a:cs typeface="Amiri" pitchFamily="2" charset="-78"/>
              </a:rPr>
              <a:t>F6-L06 · Shopping in Town: Prices and Comparisons</a:t>
            </a:r>
            <a:endParaRPr lang="en-US" sz="1850" dirty="0"/>
          </a:p>
        </p:txBody>
      </p:sp>
      <p:sp>
        <p:nvSpPr>
          <p:cNvPr id="12" name="Text 10"/>
          <p:cNvSpPr txBox="1"/>
          <p:nvPr/>
        </p:nvSpPr>
        <p:spPr>
          <a:xfrm>
            <a:off x="7498080" y="868680"/>
            <a:ext cx="4233672" cy="749808"/>
          </a:xfrm>
          <a:prstGeom prst="rect">
            <a:avLst/>
          </a:prstGeom>
          <a:noFill/>
          <a:ln/>
        </p:spPr>
        <p:txBody>
          <a:bodyPr wrap="square" lIns="0" tIns="0" rIns="0" bIns="0" rtlCol="0" anchor="ctr"/>
          <a:lstStyle/>
          <a:p>
            <a:pPr rtl="1" algn="r" indent="0" marL="0">
              <a:buNone/>
            </a:pPr>
            <a:r>
              <a:rPr lang="ar-SA" altLang="en-US" sz="2800" b="1" dirty="0">
                <a:solidFill>
                  <a:srgbClr val="8A6D1E"/>
                </a:solidFill>
                <a:latin typeface="Amiri" pitchFamily="2" charset="-78"/>
                <a:ea typeface="Amiri" pitchFamily="2" charset="-78"/>
                <a:cs typeface="Amiri" pitchFamily="2" charset="-78"/>
              </a:rPr>
              <a:t>كَلِمَاتُ الدَّرْسِ الثَّانِي</a:t>
            </a:r>
            <a:endParaRPr lang="ar-SA" sz="2800" dirty="0"/>
          </a:p>
        </p:txBody>
      </p:sp>
      <p:sp>
        <p:nvSpPr>
          <p:cNvPr id="13" name="Text 11"/>
          <p:cNvSpPr txBox="1"/>
          <p:nvPr/>
        </p:nvSpPr>
        <p:spPr>
          <a:xfrm>
            <a:off x="457200" y="6455664"/>
            <a:ext cx="6400800" cy="219456"/>
          </a:xfrm>
          <a:prstGeom prst="rect">
            <a:avLst/>
          </a:prstGeom>
          <a:noFill/>
          <a:ln/>
        </p:spPr>
        <p:txBody>
          <a:bodyPr wrap="square" lIns="0" tIns="0" rIns="0" bIns="0" rtlCol="0" anchor="ctr"/>
          <a:lstStyle/>
          <a:p>
            <a:pPr indent="0" marL="0">
              <a:buNone/>
            </a:pPr>
            <a:r>
              <a:rPr lang="en-US" sz="850" dirty="0">
                <a:solidFill>
                  <a:srgbClr val="8A93A0"/>
                </a:solidFill>
                <a:latin typeface="Calibri" pitchFamily="34" charset="0"/>
                <a:cs typeface="Amiri" pitchFamily="2" charset="-78"/>
              </a:rPr>
              <a:t>Miftah Arabic · Foundation F6 · My Town and Transport · F6-W03 · Apply workshop (F6-L05 + F6-L06)</a:t>
            </a:r>
            <a:endParaRPr lang="en-US" sz="850" dirty="0"/>
          </a:p>
        </p:txBody>
      </p:sp>
      <p:sp>
        <p:nvSpPr>
          <p:cNvPr id="15" name="Shape 12"/>
          <p:cNvSpPr/>
          <p:nvPr/>
        </p:nvSpPr>
        <p:spPr>
          <a:xfrm>
            <a:off x="8101584" y="1810512"/>
            <a:ext cx="3639312" cy="2157984"/>
          </a:xfrm>
          <a:prstGeom prst="roundRect">
            <a:avLst>
              <a:gd name="adj" fmla="val 3390"/>
            </a:avLst>
          </a:prstGeom>
          <a:solidFill>
            <a:srgbClr val="FFFFFF"/>
          </a:solidFill>
          <a:ln w="9525">
            <a:solidFill>
              <a:srgbClr val="D8D0BF"/>
            </a:solidFill>
            <a:prstDash val="solid"/>
          </a:ln>
          <a:effectLst>
            <a:outerShdw sx="100000" sy="100000" kx="0" ky="0" algn="bl" rotWithShape="0" blurRad="50800" dist="19050" dir="5400000">
              <a:srgbClr val="000000">
                <a:alpha val="10000"/>
              </a:srgbClr>
            </a:outerShdw>
          </a:effectLst>
        </p:spPr>
      </p:sp>
      <p:sp>
        <p:nvSpPr>
          <p:cNvPr id="16" name="Shape 13"/>
          <p:cNvSpPr/>
          <p:nvPr/>
        </p:nvSpPr>
        <p:spPr>
          <a:xfrm>
            <a:off x="8211312" y="1920240"/>
            <a:ext cx="310896" cy="310896"/>
          </a:xfrm>
          <a:prstGeom prst="ellipse">
            <a:avLst/>
          </a:prstGeom>
          <a:solidFill>
            <a:srgbClr val="F4F1EA"/>
          </a:solidFill>
          <a:ln w="12700">
            <a:solidFill>
              <a:srgbClr val="F4F1EA"/>
            </a:solidFill>
            <a:prstDash val="solid"/>
          </a:ln>
        </p:spPr>
      </p:sp>
      <p:sp>
        <p:nvSpPr>
          <p:cNvPr id="17" name="Text 14"/>
          <p:cNvSpPr txBox="1"/>
          <p:nvPr/>
        </p:nvSpPr>
        <p:spPr>
          <a:xfrm>
            <a:off x="8211312" y="1920240"/>
            <a:ext cx="310896" cy="310896"/>
          </a:xfrm>
          <a:prstGeom prst="rect">
            <a:avLst/>
          </a:prstGeom>
          <a:noFill/>
          <a:ln/>
        </p:spPr>
        <p:txBody>
          <a:bodyPr wrap="square" lIns="0" tIns="0" rIns="0" bIns="0" rtlCol="0" anchor="ctr"/>
          <a:lstStyle/>
          <a:p>
            <a:pPr algn="ctr" indent="0" marL="0">
              <a:buNone/>
            </a:pPr>
            <a:r>
              <a:rPr lang="en-US" sz="1000" b="1" dirty="0">
                <a:solidFill>
                  <a:srgbClr val="1B3B6F"/>
                </a:solidFill>
                <a:latin typeface="Calibri" pitchFamily="34" charset="0"/>
                <a:cs typeface="Amiri" pitchFamily="2" charset="-78"/>
              </a:rPr>
              <a:t>7</a:t>
            </a:r>
            <a:endParaRPr lang="en-US" sz="1000" dirty="0"/>
          </a:p>
        </p:txBody>
      </p:sp>
      <p:sp>
        <p:nvSpPr>
          <p:cNvPr id="18" name="Shape 15"/>
          <p:cNvSpPr/>
          <p:nvPr/>
        </p:nvSpPr>
        <p:spPr>
          <a:xfrm>
            <a:off x="10872216" y="1938528"/>
            <a:ext cx="731520" cy="256032"/>
          </a:xfrm>
          <a:prstGeom prst="roundRect">
            <a:avLst>
              <a:gd name="adj" fmla="val 50000"/>
            </a:avLst>
          </a:prstGeom>
          <a:solidFill>
            <a:srgbClr val="2E8B57"/>
          </a:solidFill>
          <a:ln w="12700">
            <a:solidFill>
              <a:srgbClr val="2E8B57"/>
            </a:solidFill>
            <a:prstDash val="solid"/>
          </a:ln>
        </p:spPr>
      </p:sp>
      <p:sp>
        <p:nvSpPr>
          <p:cNvPr id="19" name="Text 16"/>
          <p:cNvSpPr txBox="1"/>
          <p:nvPr/>
        </p:nvSpPr>
        <p:spPr>
          <a:xfrm>
            <a:off x="10872216" y="1938528"/>
            <a:ext cx="731520" cy="256032"/>
          </a:xfrm>
          <a:prstGeom prst="rect">
            <a:avLst/>
          </a:prstGeom>
          <a:noFill/>
          <a:ln/>
        </p:spPr>
        <p:txBody>
          <a:bodyPr wrap="square" lIns="0" tIns="0" rIns="0" bIns="0" rtlCol="0" anchor="ctr"/>
          <a:lstStyle/>
          <a:p>
            <a:pPr algn="ctr" indent="0" marL="0">
              <a:buNone/>
            </a:pPr>
            <a:r>
              <a:rPr lang="en-US" sz="800" b="1" spc="100" kern="0" dirty="0">
                <a:solidFill>
                  <a:srgbClr val="FFFFFF"/>
                </a:solidFill>
                <a:latin typeface="Calibri" pitchFamily="34" charset="0"/>
                <a:cs typeface="Amiri" pitchFamily="2" charset="-78"/>
              </a:rPr>
              <a:t>CORE</a:t>
            </a:r>
            <a:endParaRPr lang="en-US" sz="800" dirty="0"/>
          </a:p>
        </p:txBody>
      </p:sp>
      <p:sp>
        <p:nvSpPr>
          <p:cNvPr id="20" name="Text 17"/>
          <p:cNvSpPr txBox="1"/>
          <p:nvPr/>
        </p:nvSpPr>
        <p:spPr>
          <a:xfrm>
            <a:off x="8211312" y="2212848"/>
            <a:ext cx="3401568" cy="868680"/>
          </a:xfrm>
          <a:prstGeom prst="rect">
            <a:avLst/>
          </a:prstGeom>
          <a:noFill/>
          <a:ln/>
        </p:spPr>
        <p:txBody>
          <a:bodyPr wrap="square" lIns="0" tIns="0" rIns="0" bIns="0" rtlCol="0" anchor="ctr"/>
          <a:lstStyle/>
          <a:p>
            <a:pPr rtl="1" algn="r" indent="0" marL="0">
              <a:buNone/>
            </a:pPr>
            <a:r>
              <a:rPr lang="ar-SA" altLang="en-US" sz="3000" b="1" dirty="0">
                <a:solidFill>
                  <a:srgbClr val="1B3B6F"/>
                </a:solidFill>
                <a:latin typeface="Amiri" pitchFamily="2" charset="-78"/>
                <a:ea typeface="Amiri" pitchFamily="2" charset="-78"/>
                <a:cs typeface="Amiri" pitchFamily="2" charset="-78"/>
              </a:rPr>
              <a:t>ثَمَنٌ</a:t>
            </a:r>
            <a:endParaRPr lang="ar-SA" sz="3000" dirty="0"/>
          </a:p>
        </p:txBody>
      </p:sp>
      <p:sp>
        <p:nvSpPr>
          <p:cNvPr id="21" name="Text 18"/>
          <p:cNvSpPr txBox="1"/>
          <p:nvPr/>
        </p:nvSpPr>
        <p:spPr>
          <a:xfrm>
            <a:off x="8238744" y="3127248"/>
            <a:ext cx="3364992" cy="512064"/>
          </a:xfrm>
          <a:prstGeom prst="rect">
            <a:avLst/>
          </a:prstGeom>
          <a:noFill/>
          <a:ln/>
        </p:spPr>
        <p:txBody>
          <a:bodyPr wrap="square" lIns="0" tIns="0" rIns="0" bIns="0" rtlCol="0" anchor="t"/>
          <a:lstStyle/>
          <a:p>
            <a:pPr indent="0" marL="0">
              <a:buNone/>
            </a:pPr>
            <a:r>
              <a:rPr lang="en-US" sz="1350" b="1" dirty="0">
                <a:solidFill>
                  <a:srgbClr val="1F2A37"/>
                </a:solidFill>
                <a:latin typeface="Calibri" pitchFamily="34" charset="0"/>
                <a:cs typeface="Amiri" pitchFamily="2" charset="-78"/>
              </a:rPr>
              <a:t>price</a:t>
            </a:r>
            <a:endParaRPr lang="en-US" sz="1350" dirty="0"/>
          </a:p>
          <a:p>
            <a:pPr indent="0" marL="0">
              <a:buNone/>
            </a:pPr>
            <a:r>
              <a:rPr lang="en-US" sz="1100" i="1" dirty="0">
                <a:solidFill>
                  <a:srgbClr val="5A6472"/>
                </a:solidFill>
                <a:latin typeface="Calibri" pitchFamily="34" charset="0"/>
                <a:cs typeface="Amiri" pitchFamily="2" charset="-78"/>
              </a:rPr>
              <a:t>tha-ma-nun</a:t>
            </a:r>
            <a:endParaRPr lang="en-US" sz="1350" dirty="0"/>
          </a:p>
        </p:txBody>
      </p:sp>
      <p:sp>
        <p:nvSpPr>
          <p:cNvPr id="22" name="Shape 19"/>
          <p:cNvSpPr/>
          <p:nvPr/>
        </p:nvSpPr>
        <p:spPr>
          <a:xfrm>
            <a:off x="4279392" y="1810512"/>
            <a:ext cx="3639312" cy="2157984"/>
          </a:xfrm>
          <a:prstGeom prst="roundRect">
            <a:avLst>
              <a:gd name="adj" fmla="val 3390"/>
            </a:avLst>
          </a:prstGeom>
          <a:solidFill>
            <a:srgbClr val="FFFFFF"/>
          </a:solidFill>
          <a:ln w="9525">
            <a:solidFill>
              <a:srgbClr val="D8D0BF"/>
            </a:solidFill>
            <a:prstDash val="solid"/>
          </a:ln>
          <a:effectLst>
            <a:outerShdw sx="100000" sy="100000" kx="0" ky="0" algn="bl" rotWithShape="0" blurRad="50800" dist="19050" dir="5400000">
              <a:srgbClr val="000000">
                <a:alpha val="10000"/>
              </a:srgbClr>
            </a:outerShdw>
          </a:effectLst>
        </p:spPr>
      </p:sp>
      <p:sp>
        <p:nvSpPr>
          <p:cNvPr id="23" name="Shape 20"/>
          <p:cNvSpPr/>
          <p:nvPr/>
        </p:nvSpPr>
        <p:spPr>
          <a:xfrm>
            <a:off x="4389120" y="1920240"/>
            <a:ext cx="310896" cy="310896"/>
          </a:xfrm>
          <a:prstGeom prst="ellipse">
            <a:avLst/>
          </a:prstGeom>
          <a:solidFill>
            <a:srgbClr val="F4F1EA"/>
          </a:solidFill>
          <a:ln w="12700">
            <a:solidFill>
              <a:srgbClr val="F4F1EA"/>
            </a:solidFill>
            <a:prstDash val="solid"/>
          </a:ln>
        </p:spPr>
      </p:sp>
      <p:sp>
        <p:nvSpPr>
          <p:cNvPr id="24" name="Text 21"/>
          <p:cNvSpPr txBox="1"/>
          <p:nvPr/>
        </p:nvSpPr>
        <p:spPr>
          <a:xfrm>
            <a:off x="4389120" y="1920240"/>
            <a:ext cx="310896" cy="310896"/>
          </a:xfrm>
          <a:prstGeom prst="rect">
            <a:avLst/>
          </a:prstGeom>
          <a:noFill/>
          <a:ln/>
        </p:spPr>
        <p:txBody>
          <a:bodyPr wrap="square" lIns="0" tIns="0" rIns="0" bIns="0" rtlCol="0" anchor="ctr"/>
          <a:lstStyle/>
          <a:p>
            <a:pPr algn="ctr" indent="0" marL="0">
              <a:buNone/>
            </a:pPr>
            <a:r>
              <a:rPr lang="en-US" sz="1000" b="1" dirty="0">
                <a:solidFill>
                  <a:srgbClr val="1B3B6F"/>
                </a:solidFill>
                <a:latin typeface="Calibri" pitchFamily="34" charset="0"/>
                <a:cs typeface="Amiri" pitchFamily="2" charset="-78"/>
              </a:rPr>
              <a:t>8</a:t>
            </a:r>
            <a:endParaRPr lang="en-US" sz="1000" dirty="0"/>
          </a:p>
        </p:txBody>
      </p:sp>
      <p:sp>
        <p:nvSpPr>
          <p:cNvPr id="25" name="Shape 22"/>
          <p:cNvSpPr/>
          <p:nvPr/>
        </p:nvSpPr>
        <p:spPr>
          <a:xfrm>
            <a:off x="7050024" y="1938528"/>
            <a:ext cx="731520" cy="256032"/>
          </a:xfrm>
          <a:prstGeom prst="roundRect">
            <a:avLst>
              <a:gd name="adj" fmla="val 50000"/>
            </a:avLst>
          </a:prstGeom>
          <a:solidFill>
            <a:srgbClr val="2E8B57"/>
          </a:solidFill>
          <a:ln w="12700">
            <a:solidFill>
              <a:srgbClr val="2E8B57"/>
            </a:solidFill>
            <a:prstDash val="solid"/>
          </a:ln>
        </p:spPr>
      </p:sp>
      <p:sp>
        <p:nvSpPr>
          <p:cNvPr id="26" name="Text 23"/>
          <p:cNvSpPr txBox="1"/>
          <p:nvPr/>
        </p:nvSpPr>
        <p:spPr>
          <a:xfrm>
            <a:off x="7050024" y="1938528"/>
            <a:ext cx="731520" cy="256032"/>
          </a:xfrm>
          <a:prstGeom prst="rect">
            <a:avLst/>
          </a:prstGeom>
          <a:noFill/>
          <a:ln/>
        </p:spPr>
        <p:txBody>
          <a:bodyPr wrap="square" lIns="0" tIns="0" rIns="0" bIns="0" rtlCol="0" anchor="ctr"/>
          <a:lstStyle/>
          <a:p>
            <a:pPr algn="ctr" indent="0" marL="0">
              <a:buNone/>
            </a:pPr>
            <a:r>
              <a:rPr lang="en-US" sz="800" b="1" spc="100" kern="0" dirty="0">
                <a:solidFill>
                  <a:srgbClr val="FFFFFF"/>
                </a:solidFill>
                <a:latin typeface="Calibri" pitchFamily="34" charset="0"/>
                <a:cs typeface="Amiri" pitchFamily="2" charset="-78"/>
              </a:rPr>
              <a:t>CORE</a:t>
            </a:r>
            <a:endParaRPr lang="en-US" sz="800" dirty="0"/>
          </a:p>
        </p:txBody>
      </p:sp>
      <p:sp>
        <p:nvSpPr>
          <p:cNvPr id="27" name="Text 24"/>
          <p:cNvSpPr txBox="1"/>
          <p:nvPr/>
        </p:nvSpPr>
        <p:spPr>
          <a:xfrm>
            <a:off x="4389120" y="2212848"/>
            <a:ext cx="3401568" cy="868680"/>
          </a:xfrm>
          <a:prstGeom prst="rect">
            <a:avLst/>
          </a:prstGeom>
          <a:noFill/>
          <a:ln/>
        </p:spPr>
        <p:txBody>
          <a:bodyPr wrap="square" lIns="0" tIns="0" rIns="0" bIns="0" rtlCol="0" anchor="ctr"/>
          <a:lstStyle/>
          <a:p>
            <a:pPr rtl="1" algn="r" indent="0" marL="0">
              <a:buNone/>
            </a:pPr>
            <a:r>
              <a:rPr lang="ar-SA" altLang="en-US" sz="3000" b="1" dirty="0">
                <a:solidFill>
                  <a:srgbClr val="1B3B6F"/>
                </a:solidFill>
                <a:latin typeface="Amiri" pitchFamily="2" charset="-78"/>
                <a:ea typeface="Amiri" pitchFamily="2" charset="-78"/>
                <a:cs typeface="Amiri" pitchFamily="2" charset="-78"/>
              </a:rPr>
              <a:t>كَمْ ثَمَنُهَا؟</a:t>
            </a:r>
            <a:endParaRPr lang="ar-SA" sz="3000" dirty="0"/>
          </a:p>
        </p:txBody>
      </p:sp>
      <p:sp>
        <p:nvSpPr>
          <p:cNvPr id="28" name="Text 25"/>
          <p:cNvSpPr txBox="1"/>
          <p:nvPr/>
        </p:nvSpPr>
        <p:spPr>
          <a:xfrm>
            <a:off x="4416552" y="3127248"/>
            <a:ext cx="3364992" cy="512064"/>
          </a:xfrm>
          <a:prstGeom prst="rect">
            <a:avLst/>
          </a:prstGeom>
          <a:noFill/>
          <a:ln/>
        </p:spPr>
        <p:txBody>
          <a:bodyPr wrap="square" lIns="0" tIns="0" rIns="0" bIns="0" rtlCol="0" anchor="t"/>
          <a:lstStyle/>
          <a:p>
            <a:pPr indent="0" marL="0">
              <a:buNone/>
            </a:pPr>
            <a:r>
              <a:rPr lang="en-US" sz="1350" b="1" dirty="0">
                <a:solidFill>
                  <a:srgbClr val="1F2A37"/>
                </a:solidFill>
                <a:latin typeface="Calibri" pitchFamily="34" charset="0"/>
                <a:cs typeface="Amiri" pitchFamily="2" charset="-78"/>
              </a:rPr>
              <a:t>How much is it? (f)</a:t>
            </a:r>
            <a:endParaRPr lang="en-US" sz="1350" dirty="0"/>
          </a:p>
          <a:p>
            <a:pPr indent="0" marL="0">
              <a:buNone/>
            </a:pPr>
            <a:r>
              <a:rPr lang="en-US" sz="1100" i="1" dirty="0">
                <a:solidFill>
                  <a:srgbClr val="5A6472"/>
                </a:solidFill>
                <a:latin typeface="Calibri" pitchFamily="34" charset="0"/>
                <a:cs typeface="Amiri" pitchFamily="2" charset="-78"/>
              </a:rPr>
              <a:t>kam tha-ma-nu-hā?</a:t>
            </a:r>
            <a:endParaRPr lang="en-US" sz="1350" dirty="0"/>
          </a:p>
        </p:txBody>
      </p:sp>
      <p:sp>
        <p:nvSpPr>
          <p:cNvPr id="29" name="Shape 26"/>
          <p:cNvSpPr/>
          <p:nvPr/>
        </p:nvSpPr>
        <p:spPr>
          <a:xfrm>
            <a:off x="457200" y="1810512"/>
            <a:ext cx="3639312" cy="2157984"/>
          </a:xfrm>
          <a:prstGeom prst="roundRect">
            <a:avLst>
              <a:gd name="adj" fmla="val 3390"/>
            </a:avLst>
          </a:prstGeom>
          <a:solidFill>
            <a:srgbClr val="FFFFFF"/>
          </a:solidFill>
          <a:ln w="9525">
            <a:solidFill>
              <a:srgbClr val="D8D0BF"/>
            </a:solidFill>
            <a:prstDash val="solid"/>
          </a:ln>
          <a:effectLst>
            <a:outerShdw sx="100000" sy="100000" kx="0" ky="0" algn="bl" rotWithShape="0" blurRad="50800" dist="19050" dir="5400000">
              <a:srgbClr val="000000">
                <a:alpha val="10000"/>
              </a:srgbClr>
            </a:outerShdw>
          </a:effectLst>
        </p:spPr>
      </p:sp>
      <p:sp>
        <p:nvSpPr>
          <p:cNvPr id="30" name="Shape 27"/>
          <p:cNvSpPr/>
          <p:nvPr/>
        </p:nvSpPr>
        <p:spPr>
          <a:xfrm>
            <a:off x="566928" y="1920240"/>
            <a:ext cx="310896" cy="310896"/>
          </a:xfrm>
          <a:prstGeom prst="ellipse">
            <a:avLst/>
          </a:prstGeom>
          <a:solidFill>
            <a:srgbClr val="F4F1EA"/>
          </a:solidFill>
          <a:ln w="12700">
            <a:solidFill>
              <a:srgbClr val="F4F1EA"/>
            </a:solidFill>
            <a:prstDash val="solid"/>
          </a:ln>
        </p:spPr>
      </p:sp>
      <p:sp>
        <p:nvSpPr>
          <p:cNvPr id="31" name="Text 28"/>
          <p:cNvSpPr txBox="1"/>
          <p:nvPr/>
        </p:nvSpPr>
        <p:spPr>
          <a:xfrm>
            <a:off x="566928" y="1920240"/>
            <a:ext cx="310896" cy="310896"/>
          </a:xfrm>
          <a:prstGeom prst="rect">
            <a:avLst/>
          </a:prstGeom>
          <a:noFill/>
          <a:ln/>
        </p:spPr>
        <p:txBody>
          <a:bodyPr wrap="square" lIns="0" tIns="0" rIns="0" bIns="0" rtlCol="0" anchor="ctr"/>
          <a:lstStyle/>
          <a:p>
            <a:pPr algn="ctr" indent="0" marL="0">
              <a:buNone/>
            </a:pPr>
            <a:r>
              <a:rPr lang="en-US" sz="1000" b="1" dirty="0">
                <a:solidFill>
                  <a:srgbClr val="1B3B6F"/>
                </a:solidFill>
                <a:latin typeface="Calibri" pitchFamily="34" charset="0"/>
                <a:cs typeface="Amiri" pitchFamily="2" charset="-78"/>
              </a:rPr>
              <a:t>9</a:t>
            </a:r>
            <a:endParaRPr lang="en-US" sz="1000" dirty="0"/>
          </a:p>
        </p:txBody>
      </p:sp>
      <p:sp>
        <p:nvSpPr>
          <p:cNvPr id="32" name="Shape 29"/>
          <p:cNvSpPr/>
          <p:nvPr/>
        </p:nvSpPr>
        <p:spPr>
          <a:xfrm>
            <a:off x="960120" y="1938528"/>
            <a:ext cx="1020470" cy="256032"/>
          </a:xfrm>
          <a:prstGeom prst="roundRect">
            <a:avLst>
              <a:gd name="adj" fmla="val 50000"/>
            </a:avLst>
          </a:prstGeom>
          <a:solidFill>
            <a:srgbClr val="EFE7D2"/>
          </a:solidFill>
          <a:ln w="12700">
            <a:solidFill>
              <a:srgbClr val="EFE7D2"/>
            </a:solidFill>
            <a:prstDash val="solid"/>
          </a:ln>
        </p:spPr>
      </p:sp>
      <p:sp>
        <p:nvSpPr>
          <p:cNvPr id="33" name="Text 30"/>
          <p:cNvSpPr txBox="1"/>
          <p:nvPr/>
        </p:nvSpPr>
        <p:spPr>
          <a:xfrm>
            <a:off x="960120" y="1938528"/>
            <a:ext cx="1020470" cy="256032"/>
          </a:xfrm>
          <a:prstGeom prst="rect">
            <a:avLst/>
          </a:prstGeom>
          <a:noFill/>
          <a:ln/>
        </p:spPr>
        <p:txBody>
          <a:bodyPr wrap="square" lIns="0" tIns="0" rIns="0" bIns="0" rtlCol="0" anchor="ctr"/>
          <a:lstStyle/>
          <a:p>
            <a:pPr algn="ctr" indent="0" marL="0">
              <a:buNone/>
            </a:pPr>
            <a:r>
              <a:rPr lang="en-US" sz="800" b="1" dirty="0">
                <a:solidFill>
                  <a:srgbClr val="8A6D1E"/>
                </a:solidFill>
                <a:latin typeface="Calibri" pitchFamily="34" charset="0"/>
                <a:cs typeface="Amiri" pitchFamily="2" charset="-78"/>
              </a:rPr>
              <a:t>m · f · more</a:t>
            </a:r>
            <a:endParaRPr lang="en-US" sz="800" dirty="0"/>
          </a:p>
        </p:txBody>
      </p:sp>
      <p:sp>
        <p:nvSpPr>
          <p:cNvPr id="34" name="Shape 31"/>
          <p:cNvSpPr/>
          <p:nvPr/>
        </p:nvSpPr>
        <p:spPr>
          <a:xfrm>
            <a:off x="3227832" y="1938528"/>
            <a:ext cx="731520" cy="256032"/>
          </a:xfrm>
          <a:prstGeom prst="roundRect">
            <a:avLst>
              <a:gd name="adj" fmla="val 50000"/>
            </a:avLst>
          </a:prstGeom>
          <a:solidFill>
            <a:srgbClr val="2E8B57"/>
          </a:solidFill>
          <a:ln w="12700">
            <a:solidFill>
              <a:srgbClr val="2E8B57"/>
            </a:solidFill>
            <a:prstDash val="solid"/>
          </a:ln>
        </p:spPr>
      </p:sp>
      <p:sp>
        <p:nvSpPr>
          <p:cNvPr id="35" name="Text 32"/>
          <p:cNvSpPr txBox="1"/>
          <p:nvPr/>
        </p:nvSpPr>
        <p:spPr>
          <a:xfrm>
            <a:off x="3227832" y="1938528"/>
            <a:ext cx="731520" cy="256032"/>
          </a:xfrm>
          <a:prstGeom prst="rect">
            <a:avLst/>
          </a:prstGeom>
          <a:noFill/>
          <a:ln/>
        </p:spPr>
        <p:txBody>
          <a:bodyPr wrap="square" lIns="0" tIns="0" rIns="0" bIns="0" rtlCol="0" anchor="ctr"/>
          <a:lstStyle/>
          <a:p>
            <a:pPr algn="ctr" indent="0" marL="0">
              <a:buNone/>
            </a:pPr>
            <a:r>
              <a:rPr lang="en-US" sz="800" b="1" spc="100" kern="0" dirty="0">
                <a:solidFill>
                  <a:srgbClr val="FFFFFF"/>
                </a:solidFill>
                <a:latin typeface="Calibri" pitchFamily="34" charset="0"/>
                <a:cs typeface="Amiri" pitchFamily="2" charset="-78"/>
              </a:rPr>
              <a:t>CORE</a:t>
            </a:r>
            <a:endParaRPr lang="en-US" sz="800" dirty="0"/>
          </a:p>
        </p:txBody>
      </p:sp>
      <p:sp>
        <p:nvSpPr>
          <p:cNvPr id="36" name="Text 33"/>
          <p:cNvSpPr txBox="1"/>
          <p:nvPr/>
        </p:nvSpPr>
        <p:spPr>
          <a:xfrm>
            <a:off x="566928" y="2212848"/>
            <a:ext cx="3401568" cy="713232"/>
          </a:xfrm>
          <a:prstGeom prst="rect">
            <a:avLst/>
          </a:prstGeom>
          <a:noFill/>
          <a:ln/>
        </p:spPr>
        <p:txBody>
          <a:bodyPr wrap="square" lIns="0" tIns="0" rIns="0" bIns="0" rtlCol="0" anchor="ctr"/>
          <a:lstStyle/>
          <a:p>
            <a:pPr rtl="1" algn="r" indent="0" marL="0">
              <a:buNone/>
            </a:pPr>
            <a:r>
              <a:rPr lang="ar-SA" altLang="en-US" sz="3000" b="1" dirty="0">
                <a:solidFill>
                  <a:srgbClr val="1B3B6F"/>
                </a:solidFill>
                <a:latin typeface="Amiri" pitchFamily="2" charset="-78"/>
                <a:ea typeface="Amiri" pitchFamily="2" charset="-78"/>
                <a:cs typeface="Amiri" pitchFamily="2" charset="-78"/>
              </a:rPr>
              <a:t>غَالٍ / غَالِيَةٌ</a:t>
            </a:r>
            <a:endParaRPr lang="ar-SA" sz="3000" dirty="0"/>
          </a:p>
        </p:txBody>
      </p:sp>
      <p:sp>
        <p:nvSpPr>
          <p:cNvPr id="37" name="Text 34"/>
          <p:cNvSpPr txBox="1"/>
          <p:nvPr/>
        </p:nvSpPr>
        <p:spPr>
          <a:xfrm>
            <a:off x="594360" y="2907792"/>
            <a:ext cx="3364992" cy="512064"/>
          </a:xfrm>
          <a:prstGeom prst="rect">
            <a:avLst/>
          </a:prstGeom>
          <a:noFill/>
          <a:ln/>
        </p:spPr>
        <p:txBody>
          <a:bodyPr wrap="square" lIns="0" tIns="0" rIns="0" bIns="0" rtlCol="0" anchor="t"/>
          <a:lstStyle/>
          <a:p>
            <a:pPr indent="0" marL="0">
              <a:buNone/>
            </a:pPr>
            <a:r>
              <a:rPr lang="en-US" sz="1350" b="1" dirty="0">
                <a:solidFill>
                  <a:srgbClr val="1F2A37"/>
                </a:solidFill>
                <a:latin typeface="Calibri" pitchFamily="34" charset="0"/>
                <a:cs typeface="Amiri" pitchFamily="2" charset="-78"/>
              </a:rPr>
              <a:t>expensive</a:t>
            </a:r>
            <a:endParaRPr lang="en-US" sz="1350" dirty="0"/>
          </a:p>
          <a:p>
            <a:pPr indent="0" marL="0">
              <a:buNone/>
            </a:pPr>
            <a:r>
              <a:rPr lang="en-US" sz="1100" i="1" dirty="0">
                <a:solidFill>
                  <a:srgbClr val="5A6472"/>
                </a:solidFill>
                <a:latin typeface="Calibri" pitchFamily="34" charset="0"/>
                <a:cs typeface="Amiri" pitchFamily="2" charset="-78"/>
              </a:rPr>
              <a:t>ghā-lin / ghā-li-ya-tun</a:t>
            </a:r>
            <a:endParaRPr lang="en-US" sz="1350" dirty="0"/>
          </a:p>
        </p:txBody>
      </p:sp>
      <p:sp>
        <p:nvSpPr>
          <p:cNvPr id="38" name="Shape 35"/>
          <p:cNvSpPr/>
          <p:nvPr/>
        </p:nvSpPr>
        <p:spPr>
          <a:xfrm>
            <a:off x="2898648" y="3438144"/>
            <a:ext cx="1060704" cy="438912"/>
          </a:xfrm>
          <a:prstGeom prst="roundRect">
            <a:avLst>
              <a:gd name="adj" fmla="val 10417"/>
            </a:avLst>
          </a:prstGeom>
          <a:solidFill>
            <a:srgbClr val="F4F1EA"/>
          </a:solidFill>
          <a:ln w="9525">
            <a:solidFill>
              <a:srgbClr val="F4F1EA"/>
            </a:solidFill>
            <a:prstDash val="solid"/>
          </a:ln>
        </p:spPr>
      </p:sp>
      <p:sp>
        <p:nvSpPr>
          <p:cNvPr id="39" name="Text 36"/>
          <p:cNvSpPr txBox="1"/>
          <p:nvPr/>
        </p:nvSpPr>
        <p:spPr>
          <a:xfrm>
            <a:off x="2953512" y="3447288"/>
            <a:ext cx="950976" cy="155448"/>
          </a:xfrm>
          <a:prstGeom prst="rect">
            <a:avLst/>
          </a:prstGeom>
          <a:noFill/>
          <a:ln/>
        </p:spPr>
        <p:txBody>
          <a:bodyPr wrap="square" lIns="0" tIns="0" rIns="0" bIns="0" rtlCol="0" anchor="ctr"/>
          <a:lstStyle/>
          <a:p>
            <a:pPr algn="l" indent="0" marL="0">
              <a:buNone/>
            </a:pPr>
            <a:r>
              <a:rPr lang="en-US" sz="750" b="1" dirty="0">
                <a:solidFill>
                  <a:srgbClr val="8A6D1E"/>
                </a:solidFill>
                <a:latin typeface="Calibri" pitchFamily="34" charset="0"/>
                <a:cs typeface="Amiri" pitchFamily="2" charset="-78"/>
              </a:rPr>
              <a:t>m.</a:t>
            </a:r>
            <a:endParaRPr lang="en-US" sz="750" dirty="0"/>
          </a:p>
        </p:txBody>
      </p:sp>
      <p:sp>
        <p:nvSpPr>
          <p:cNvPr id="40" name="Text 37"/>
          <p:cNvSpPr txBox="1"/>
          <p:nvPr/>
        </p:nvSpPr>
        <p:spPr>
          <a:xfrm>
            <a:off x="2944368" y="3483864"/>
            <a:ext cx="969264" cy="384048"/>
          </a:xfrm>
          <a:prstGeom prst="rect">
            <a:avLst/>
          </a:prstGeom>
          <a:noFill/>
          <a:ln/>
        </p:spPr>
        <p:txBody>
          <a:bodyPr wrap="square" lIns="0" tIns="0" rIns="0" bIns="0" rtlCol="0" anchor="ctr"/>
          <a:lstStyle/>
          <a:p>
            <a:pPr rtl="1" algn="ctr" indent="0" marL="0">
              <a:buNone/>
            </a:pPr>
            <a:r>
              <a:rPr lang="ar-SA" altLang="en-US" sz="1500" b="1" dirty="0">
                <a:solidFill>
                  <a:srgbClr val="1B3B6F"/>
                </a:solidFill>
                <a:latin typeface="Amiri" pitchFamily="2" charset="-78"/>
                <a:ea typeface="Amiri" pitchFamily="2" charset="-78"/>
                <a:cs typeface="Amiri" pitchFamily="2" charset="-78"/>
              </a:rPr>
              <a:t>غَالٍ</a:t>
            </a:r>
            <a:endParaRPr lang="ar-SA" sz="1500" dirty="0"/>
          </a:p>
        </p:txBody>
      </p:sp>
      <p:sp>
        <p:nvSpPr>
          <p:cNvPr id="41" name="Shape 38"/>
          <p:cNvSpPr/>
          <p:nvPr/>
        </p:nvSpPr>
        <p:spPr>
          <a:xfrm>
            <a:off x="1746504" y="3438144"/>
            <a:ext cx="1060704" cy="438912"/>
          </a:xfrm>
          <a:prstGeom prst="roundRect">
            <a:avLst>
              <a:gd name="adj" fmla="val 10417"/>
            </a:avLst>
          </a:prstGeom>
          <a:solidFill>
            <a:srgbClr val="F4F1EA"/>
          </a:solidFill>
          <a:ln w="9525">
            <a:solidFill>
              <a:srgbClr val="F4F1EA"/>
            </a:solidFill>
            <a:prstDash val="solid"/>
          </a:ln>
        </p:spPr>
      </p:sp>
      <p:sp>
        <p:nvSpPr>
          <p:cNvPr id="42" name="Text 39"/>
          <p:cNvSpPr txBox="1"/>
          <p:nvPr/>
        </p:nvSpPr>
        <p:spPr>
          <a:xfrm>
            <a:off x="1801368" y="3447288"/>
            <a:ext cx="950976" cy="155448"/>
          </a:xfrm>
          <a:prstGeom prst="rect">
            <a:avLst/>
          </a:prstGeom>
          <a:noFill/>
          <a:ln/>
        </p:spPr>
        <p:txBody>
          <a:bodyPr wrap="square" lIns="0" tIns="0" rIns="0" bIns="0" rtlCol="0" anchor="ctr"/>
          <a:lstStyle/>
          <a:p>
            <a:pPr algn="l" indent="0" marL="0">
              <a:buNone/>
            </a:pPr>
            <a:r>
              <a:rPr lang="en-US" sz="750" b="1" dirty="0">
                <a:solidFill>
                  <a:srgbClr val="8A6D1E"/>
                </a:solidFill>
                <a:latin typeface="Calibri" pitchFamily="34" charset="0"/>
                <a:cs typeface="Amiri" pitchFamily="2" charset="-78"/>
              </a:rPr>
              <a:t>f.</a:t>
            </a:r>
            <a:endParaRPr lang="en-US" sz="750" dirty="0"/>
          </a:p>
        </p:txBody>
      </p:sp>
      <p:sp>
        <p:nvSpPr>
          <p:cNvPr id="43" name="Text 40"/>
          <p:cNvSpPr txBox="1"/>
          <p:nvPr/>
        </p:nvSpPr>
        <p:spPr>
          <a:xfrm>
            <a:off x="1792224" y="3483864"/>
            <a:ext cx="969264" cy="384048"/>
          </a:xfrm>
          <a:prstGeom prst="rect">
            <a:avLst/>
          </a:prstGeom>
          <a:noFill/>
          <a:ln/>
        </p:spPr>
        <p:txBody>
          <a:bodyPr wrap="square" lIns="0" tIns="0" rIns="0" bIns="0" rtlCol="0" anchor="ctr"/>
          <a:lstStyle/>
          <a:p>
            <a:pPr rtl="1" algn="ctr" indent="0" marL="0">
              <a:buNone/>
            </a:pPr>
            <a:r>
              <a:rPr lang="ar-SA" altLang="en-US" sz="1500" b="1" dirty="0">
                <a:solidFill>
                  <a:srgbClr val="1B3B6F"/>
                </a:solidFill>
                <a:latin typeface="Amiri" pitchFamily="2" charset="-78"/>
                <a:ea typeface="Amiri" pitchFamily="2" charset="-78"/>
                <a:cs typeface="Amiri" pitchFamily="2" charset="-78"/>
              </a:rPr>
              <a:t>غَالِيَةٌ</a:t>
            </a:r>
            <a:endParaRPr lang="ar-SA" sz="1500" dirty="0"/>
          </a:p>
        </p:txBody>
      </p:sp>
      <p:sp>
        <p:nvSpPr>
          <p:cNvPr id="44" name="Shape 41"/>
          <p:cNvSpPr/>
          <p:nvPr/>
        </p:nvSpPr>
        <p:spPr>
          <a:xfrm>
            <a:off x="594360" y="3438144"/>
            <a:ext cx="1060704" cy="438912"/>
          </a:xfrm>
          <a:prstGeom prst="roundRect">
            <a:avLst>
              <a:gd name="adj" fmla="val 10417"/>
            </a:avLst>
          </a:prstGeom>
          <a:solidFill>
            <a:srgbClr val="F4F1EA"/>
          </a:solidFill>
          <a:ln w="9525">
            <a:solidFill>
              <a:srgbClr val="F4F1EA"/>
            </a:solidFill>
            <a:prstDash val="solid"/>
          </a:ln>
        </p:spPr>
      </p:sp>
      <p:sp>
        <p:nvSpPr>
          <p:cNvPr id="45" name="Text 42"/>
          <p:cNvSpPr txBox="1"/>
          <p:nvPr/>
        </p:nvSpPr>
        <p:spPr>
          <a:xfrm>
            <a:off x="649224" y="3447288"/>
            <a:ext cx="950976" cy="155448"/>
          </a:xfrm>
          <a:prstGeom prst="rect">
            <a:avLst/>
          </a:prstGeom>
          <a:noFill/>
          <a:ln/>
        </p:spPr>
        <p:txBody>
          <a:bodyPr wrap="square" lIns="0" tIns="0" rIns="0" bIns="0" rtlCol="0" anchor="ctr"/>
          <a:lstStyle/>
          <a:p>
            <a:pPr algn="l" indent="0" marL="0">
              <a:buNone/>
            </a:pPr>
            <a:r>
              <a:rPr lang="en-US" sz="700" b="1" dirty="0">
                <a:solidFill>
                  <a:srgbClr val="8A6D1E"/>
                </a:solidFill>
                <a:latin typeface="Calibri" pitchFamily="34" charset="0"/>
                <a:cs typeface="Amiri" pitchFamily="2" charset="-78"/>
              </a:rPr>
              <a:t>dearer</a:t>
            </a:r>
            <a:endParaRPr lang="en-US" sz="700" dirty="0"/>
          </a:p>
        </p:txBody>
      </p:sp>
      <p:sp>
        <p:nvSpPr>
          <p:cNvPr id="46" name="Text 43"/>
          <p:cNvSpPr txBox="1"/>
          <p:nvPr/>
        </p:nvSpPr>
        <p:spPr>
          <a:xfrm>
            <a:off x="640080" y="3575304"/>
            <a:ext cx="969264" cy="292608"/>
          </a:xfrm>
          <a:prstGeom prst="rect">
            <a:avLst/>
          </a:prstGeom>
          <a:noFill/>
          <a:ln/>
        </p:spPr>
        <p:txBody>
          <a:bodyPr wrap="square" lIns="0" tIns="0" rIns="0" bIns="0" rtlCol="0" anchor="ctr"/>
          <a:lstStyle/>
          <a:p>
            <a:pPr rtl="1" algn="ctr" indent="0" marL="0">
              <a:buNone/>
            </a:pPr>
            <a:r>
              <a:rPr lang="ar-SA" altLang="en-US" sz="1350" b="1" dirty="0">
                <a:solidFill>
                  <a:srgbClr val="1B3B6F"/>
                </a:solidFill>
                <a:latin typeface="Amiri" pitchFamily="2" charset="-78"/>
                <a:ea typeface="Amiri" pitchFamily="2" charset="-78"/>
                <a:cs typeface="Amiri" pitchFamily="2" charset="-78"/>
              </a:rPr>
              <a:t>أَغْلَى</a:t>
            </a:r>
            <a:endParaRPr lang="ar-SA" sz="1350" dirty="0"/>
          </a:p>
        </p:txBody>
      </p:sp>
      <p:sp>
        <p:nvSpPr>
          <p:cNvPr id="47" name="Shape 44"/>
          <p:cNvSpPr/>
          <p:nvPr/>
        </p:nvSpPr>
        <p:spPr>
          <a:xfrm>
            <a:off x="8101584" y="4151376"/>
            <a:ext cx="3639312" cy="2157984"/>
          </a:xfrm>
          <a:prstGeom prst="roundRect">
            <a:avLst>
              <a:gd name="adj" fmla="val 3390"/>
            </a:avLst>
          </a:prstGeom>
          <a:solidFill>
            <a:srgbClr val="FFFFFF"/>
          </a:solidFill>
          <a:ln w="9525">
            <a:solidFill>
              <a:srgbClr val="D8D0BF"/>
            </a:solidFill>
            <a:prstDash val="solid"/>
          </a:ln>
          <a:effectLst>
            <a:outerShdw sx="100000" sy="100000" kx="0" ky="0" algn="bl" rotWithShape="0" blurRad="50800" dist="19050" dir="5400000">
              <a:srgbClr val="000000">
                <a:alpha val="10000"/>
              </a:srgbClr>
            </a:outerShdw>
          </a:effectLst>
        </p:spPr>
      </p:sp>
      <p:sp>
        <p:nvSpPr>
          <p:cNvPr id="48" name="Shape 45"/>
          <p:cNvSpPr/>
          <p:nvPr/>
        </p:nvSpPr>
        <p:spPr>
          <a:xfrm>
            <a:off x="8211312" y="4261104"/>
            <a:ext cx="310896" cy="310896"/>
          </a:xfrm>
          <a:prstGeom prst="ellipse">
            <a:avLst/>
          </a:prstGeom>
          <a:solidFill>
            <a:srgbClr val="F4F1EA"/>
          </a:solidFill>
          <a:ln w="12700">
            <a:solidFill>
              <a:srgbClr val="F4F1EA"/>
            </a:solidFill>
            <a:prstDash val="solid"/>
          </a:ln>
        </p:spPr>
      </p:sp>
      <p:sp>
        <p:nvSpPr>
          <p:cNvPr id="49" name="Text 46"/>
          <p:cNvSpPr txBox="1"/>
          <p:nvPr/>
        </p:nvSpPr>
        <p:spPr>
          <a:xfrm>
            <a:off x="8211312" y="4261104"/>
            <a:ext cx="310896" cy="310896"/>
          </a:xfrm>
          <a:prstGeom prst="rect">
            <a:avLst/>
          </a:prstGeom>
          <a:noFill/>
          <a:ln/>
        </p:spPr>
        <p:txBody>
          <a:bodyPr wrap="square" lIns="0" tIns="0" rIns="0" bIns="0" rtlCol="0" anchor="ctr"/>
          <a:lstStyle/>
          <a:p>
            <a:pPr algn="ctr" indent="0" marL="0">
              <a:buNone/>
            </a:pPr>
            <a:r>
              <a:rPr lang="en-US" sz="1000" b="1" dirty="0">
                <a:solidFill>
                  <a:srgbClr val="1B3B6F"/>
                </a:solidFill>
                <a:latin typeface="Calibri" pitchFamily="34" charset="0"/>
                <a:cs typeface="Amiri" pitchFamily="2" charset="-78"/>
              </a:rPr>
              <a:t>10</a:t>
            </a:r>
            <a:endParaRPr lang="en-US" sz="1000" dirty="0"/>
          </a:p>
        </p:txBody>
      </p:sp>
      <p:sp>
        <p:nvSpPr>
          <p:cNvPr id="50" name="Shape 47"/>
          <p:cNvSpPr/>
          <p:nvPr/>
        </p:nvSpPr>
        <p:spPr>
          <a:xfrm>
            <a:off x="10872216" y="4279392"/>
            <a:ext cx="731520" cy="256032"/>
          </a:xfrm>
          <a:prstGeom prst="roundRect">
            <a:avLst>
              <a:gd name="adj" fmla="val 50000"/>
            </a:avLst>
          </a:prstGeom>
          <a:solidFill>
            <a:srgbClr val="2E8B57"/>
          </a:solidFill>
          <a:ln w="12700">
            <a:solidFill>
              <a:srgbClr val="2E8B57"/>
            </a:solidFill>
            <a:prstDash val="solid"/>
          </a:ln>
        </p:spPr>
      </p:sp>
      <p:sp>
        <p:nvSpPr>
          <p:cNvPr id="51" name="Text 48"/>
          <p:cNvSpPr txBox="1"/>
          <p:nvPr/>
        </p:nvSpPr>
        <p:spPr>
          <a:xfrm>
            <a:off x="10872216" y="4279392"/>
            <a:ext cx="731520" cy="256032"/>
          </a:xfrm>
          <a:prstGeom prst="rect">
            <a:avLst/>
          </a:prstGeom>
          <a:noFill/>
          <a:ln/>
        </p:spPr>
        <p:txBody>
          <a:bodyPr wrap="square" lIns="0" tIns="0" rIns="0" bIns="0" rtlCol="0" anchor="ctr"/>
          <a:lstStyle/>
          <a:p>
            <a:pPr algn="ctr" indent="0" marL="0">
              <a:buNone/>
            </a:pPr>
            <a:r>
              <a:rPr lang="en-US" sz="800" b="1" spc="100" kern="0" dirty="0">
                <a:solidFill>
                  <a:srgbClr val="FFFFFF"/>
                </a:solidFill>
                <a:latin typeface="Calibri" pitchFamily="34" charset="0"/>
                <a:cs typeface="Amiri" pitchFamily="2" charset="-78"/>
              </a:rPr>
              <a:t>CORE</a:t>
            </a:r>
            <a:endParaRPr lang="en-US" sz="800" dirty="0"/>
          </a:p>
        </p:txBody>
      </p:sp>
      <p:sp>
        <p:nvSpPr>
          <p:cNvPr id="52" name="Text 49"/>
          <p:cNvSpPr txBox="1"/>
          <p:nvPr/>
        </p:nvSpPr>
        <p:spPr>
          <a:xfrm>
            <a:off x="8211312" y="4553712"/>
            <a:ext cx="3401568" cy="868680"/>
          </a:xfrm>
          <a:prstGeom prst="rect">
            <a:avLst/>
          </a:prstGeom>
          <a:noFill/>
          <a:ln/>
        </p:spPr>
        <p:txBody>
          <a:bodyPr wrap="square" lIns="0" tIns="0" rIns="0" bIns="0" rtlCol="0" anchor="ctr"/>
          <a:lstStyle/>
          <a:p>
            <a:pPr rtl="1" algn="r" indent="0" marL="0">
              <a:buNone/>
            </a:pPr>
            <a:r>
              <a:rPr lang="ar-SA" altLang="en-US" sz="3000" b="1" dirty="0">
                <a:solidFill>
                  <a:srgbClr val="1B3B6F"/>
                </a:solidFill>
                <a:latin typeface="Amiri" pitchFamily="2" charset="-78"/>
                <a:ea typeface="Amiri" pitchFamily="2" charset="-78"/>
                <a:cs typeface="Amiri" pitchFamily="2" charset="-78"/>
              </a:rPr>
              <a:t>أَغْلَى مِنْ</a:t>
            </a:r>
            <a:endParaRPr lang="ar-SA" sz="3000" dirty="0"/>
          </a:p>
        </p:txBody>
      </p:sp>
      <p:sp>
        <p:nvSpPr>
          <p:cNvPr id="53" name="Text 50"/>
          <p:cNvSpPr txBox="1"/>
          <p:nvPr/>
        </p:nvSpPr>
        <p:spPr>
          <a:xfrm>
            <a:off x="8238744" y="5468112"/>
            <a:ext cx="3364992" cy="512064"/>
          </a:xfrm>
          <a:prstGeom prst="rect">
            <a:avLst/>
          </a:prstGeom>
          <a:noFill/>
          <a:ln/>
        </p:spPr>
        <p:txBody>
          <a:bodyPr wrap="square" lIns="0" tIns="0" rIns="0" bIns="0" rtlCol="0" anchor="t"/>
          <a:lstStyle/>
          <a:p>
            <a:pPr indent="0" marL="0">
              <a:buNone/>
            </a:pPr>
            <a:r>
              <a:rPr lang="en-US" sz="1350" b="1" dirty="0">
                <a:solidFill>
                  <a:srgbClr val="1F2A37"/>
                </a:solidFill>
                <a:latin typeface="Calibri" pitchFamily="34" charset="0"/>
                <a:cs typeface="Amiri" pitchFamily="2" charset="-78"/>
              </a:rPr>
              <a:t>more expensive than</a:t>
            </a:r>
            <a:endParaRPr lang="en-US" sz="1350" dirty="0"/>
          </a:p>
          <a:p>
            <a:pPr indent="0" marL="0">
              <a:buNone/>
            </a:pPr>
            <a:r>
              <a:rPr lang="en-US" sz="1100" i="1" dirty="0">
                <a:solidFill>
                  <a:srgbClr val="5A6472"/>
                </a:solidFill>
                <a:latin typeface="Calibri" pitchFamily="34" charset="0"/>
                <a:cs typeface="Amiri" pitchFamily="2" charset="-78"/>
              </a:rPr>
              <a:t>agh-lā min</a:t>
            </a:r>
            <a:endParaRPr lang="en-US" sz="1350" dirty="0"/>
          </a:p>
        </p:txBody>
      </p:sp>
      <p:sp>
        <p:nvSpPr>
          <p:cNvPr id="54" name="Shape 51"/>
          <p:cNvSpPr/>
          <p:nvPr/>
        </p:nvSpPr>
        <p:spPr>
          <a:xfrm>
            <a:off x="4279392" y="4151376"/>
            <a:ext cx="3639312" cy="2157984"/>
          </a:xfrm>
          <a:prstGeom prst="roundRect">
            <a:avLst>
              <a:gd name="adj" fmla="val 3390"/>
            </a:avLst>
          </a:prstGeom>
          <a:solidFill>
            <a:srgbClr val="FFFFFF"/>
          </a:solidFill>
          <a:ln w="9525">
            <a:solidFill>
              <a:srgbClr val="D8D0BF"/>
            </a:solidFill>
            <a:prstDash val="solid"/>
          </a:ln>
          <a:effectLst>
            <a:outerShdw sx="100000" sy="100000" kx="0" ky="0" algn="bl" rotWithShape="0" blurRad="50800" dist="19050" dir="5400000">
              <a:srgbClr val="000000">
                <a:alpha val="10000"/>
              </a:srgbClr>
            </a:outerShdw>
          </a:effectLst>
        </p:spPr>
      </p:sp>
      <p:sp>
        <p:nvSpPr>
          <p:cNvPr id="55" name="Shape 52"/>
          <p:cNvSpPr/>
          <p:nvPr/>
        </p:nvSpPr>
        <p:spPr>
          <a:xfrm>
            <a:off x="4389120" y="4261104"/>
            <a:ext cx="310896" cy="310896"/>
          </a:xfrm>
          <a:prstGeom prst="ellipse">
            <a:avLst/>
          </a:prstGeom>
          <a:solidFill>
            <a:srgbClr val="F4F1EA"/>
          </a:solidFill>
          <a:ln w="12700">
            <a:solidFill>
              <a:srgbClr val="F4F1EA"/>
            </a:solidFill>
            <a:prstDash val="solid"/>
          </a:ln>
        </p:spPr>
      </p:sp>
      <p:sp>
        <p:nvSpPr>
          <p:cNvPr id="56" name="Text 53"/>
          <p:cNvSpPr txBox="1"/>
          <p:nvPr/>
        </p:nvSpPr>
        <p:spPr>
          <a:xfrm>
            <a:off x="4389120" y="4261104"/>
            <a:ext cx="310896" cy="310896"/>
          </a:xfrm>
          <a:prstGeom prst="rect">
            <a:avLst/>
          </a:prstGeom>
          <a:noFill/>
          <a:ln/>
        </p:spPr>
        <p:txBody>
          <a:bodyPr wrap="square" lIns="0" tIns="0" rIns="0" bIns="0" rtlCol="0" anchor="ctr"/>
          <a:lstStyle/>
          <a:p>
            <a:pPr algn="ctr" indent="0" marL="0">
              <a:buNone/>
            </a:pPr>
            <a:r>
              <a:rPr lang="en-US" sz="1000" b="1" dirty="0">
                <a:solidFill>
                  <a:srgbClr val="1B3B6F"/>
                </a:solidFill>
                <a:latin typeface="Calibri" pitchFamily="34" charset="0"/>
                <a:cs typeface="Amiri" pitchFamily="2" charset="-78"/>
              </a:rPr>
              <a:t>11</a:t>
            </a:r>
            <a:endParaRPr lang="en-US" sz="1000" dirty="0"/>
          </a:p>
        </p:txBody>
      </p:sp>
      <p:sp>
        <p:nvSpPr>
          <p:cNvPr id="57" name="Shape 54"/>
          <p:cNvSpPr/>
          <p:nvPr/>
        </p:nvSpPr>
        <p:spPr>
          <a:xfrm>
            <a:off x="7050024" y="4279392"/>
            <a:ext cx="731520" cy="256032"/>
          </a:xfrm>
          <a:prstGeom prst="roundRect">
            <a:avLst>
              <a:gd name="adj" fmla="val 50000"/>
            </a:avLst>
          </a:prstGeom>
          <a:solidFill>
            <a:srgbClr val="2E8B57"/>
          </a:solidFill>
          <a:ln w="12700">
            <a:solidFill>
              <a:srgbClr val="2E8B57"/>
            </a:solidFill>
            <a:prstDash val="solid"/>
          </a:ln>
        </p:spPr>
      </p:sp>
      <p:sp>
        <p:nvSpPr>
          <p:cNvPr id="58" name="Text 55"/>
          <p:cNvSpPr txBox="1"/>
          <p:nvPr/>
        </p:nvSpPr>
        <p:spPr>
          <a:xfrm>
            <a:off x="7050024" y="4279392"/>
            <a:ext cx="731520" cy="256032"/>
          </a:xfrm>
          <a:prstGeom prst="rect">
            <a:avLst/>
          </a:prstGeom>
          <a:noFill/>
          <a:ln/>
        </p:spPr>
        <p:txBody>
          <a:bodyPr wrap="square" lIns="0" tIns="0" rIns="0" bIns="0" rtlCol="0" anchor="ctr"/>
          <a:lstStyle/>
          <a:p>
            <a:pPr algn="ctr" indent="0" marL="0">
              <a:buNone/>
            </a:pPr>
            <a:r>
              <a:rPr lang="en-US" sz="800" b="1" spc="100" kern="0" dirty="0">
                <a:solidFill>
                  <a:srgbClr val="FFFFFF"/>
                </a:solidFill>
                <a:latin typeface="Calibri" pitchFamily="34" charset="0"/>
                <a:cs typeface="Amiri" pitchFamily="2" charset="-78"/>
              </a:rPr>
              <a:t>CORE</a:t>
            </a:r>
            <a:endParaRPr lang="en-US" sz="800" dirty="0"/>
          </a:p>
        </p:txBody>
      </p:sp>
      <p:sp>
        <p:nvSpPr>
          <p:cNvPr id="59" name="Text 56"/>
          <p:cNvSpPr txBox="1"/>
          <p:nvPr/>
        </p:nvSpPr>
        <p:spPr>
          <a:xfrm>
            <a:off x="4389120" y="4553712"/>
            <a:ext cx="3401568" cy="868680"/>
          </a:xfrm>
          <a:prstGeom prst="rect">
            <a:avLst/>
          </a:prstGeom>
          <a:noFill/>
          <a:ln/>
        </p:spPr>
        <p:txBody>
          <a:bodyPr wrap="square" lIns="0" tIns="0" rIns="0" bIns="0" rtlCol="0" anchor="ctr"/>
          <a:lstStyle/>
          <a:p>
            <a:pPr rtl="1" algn="r" indent="0" marL="0">
              <a:buNone/>
            </a:pPr>
            <a:r>
              <a:rPr lang="ar-SA" altLang="en-US" sz="3000" b="1" dirty="0">
                <a:solidFill>
                  <a:srgbClr val="1B3B6F"/>
                </a:solidFill>
                <a:latin typeface="Amiri" pitchFamily="2" charset="-78"/>
                <a:ea typeface="Amiri" pitchFamily="2" charset="-78"/>
                <a:cs typeface="Amiri" pitchFamily="2" charset="-78"/>
              </a:rPr>
              <a:t>نَقْدًا</a:t>
            </a:r>
            <a:endParaRPr lang="ar-SA" sz="3000" dirty="0"/>
          </a:p>
        </p:txBody>
      </p:sp>
      <p:sp>
        <p:nvSpPr>
          <p:cNvPr id="60" name="Text 57"/>
          <p:cNvSpPr txBox="1"/>
          <p:nvPr/>
        </p:nvSpPr>
        <p:spPr>
          <a:xfrm>
            <a:off x="4416552" y="5468112"/>
            <a:ext cx="3364992" cy="512064"/>
          </a:xfrm>
          <a:prstGeom prst="rect">
            <a:avLst/>
          </a:prstGeom>
          <a:noFill/>
          <a:ln/>
        </p:spPr>
        <p:txBody>
          <a:bodyPr wrap="square" lIns="0" tIns="0" rIns="0" bIns="0" rtlCol="0" anchor="t"/>
          <a:lstStyle/>
          <a:p>
            <a:pPr indent="0" marL="0">
              <a:buNone/>
            </a:pPr>
            <a:r>
              <a:rPr lang="en-US" sz="1350" b="1" dirty="0">
                <a:solidFill>
                  <a:srgbClr val="1F2A37"/>
                </a:solidFill>
                <a:latin typeface="Calibri" pitchFamily="34" charset="0"/>
                <a:cs typeface="Amiri" pitchFamily="2" charset="-78"/>
              </a:rPr>
              <a:t>in cash</a:t>
            </a:r>
            <a:endParaRPr lang="en-US" sz="1350" dirty="0"/>
          </a:p>
          <a:p>
            <a:pPr indent="0" marL="0">
              <a:buNone/>
            </a:pPr>
            <a:r>
              <a:rPr lang="en-US" sz="1100" i="1" dirty="0">
                <a:solidFill>
                  <a:srgbClr val="5A6472"/>
                </a:solidFill>
                <a:latin typeface="Calibri" pitchFamily="34" charset="0"/>
                <a:cs typeface="Amiri" pitchFamily="2" charset="-78"/>
              </a:rPr>
              <a:t>naq-dan</a:t>
            </a:r>
            <a:endParaRPr lang="en-US" sz="1350" dirty="0"/>
          </a:p>
        </p:txBody>
      </p:sp>
      <p:sp>
        <p:nvSpPr>
          <p:cNvPr id="61" name="Shape 58"/>
          <p:cNvSpPr/>
          <p:nvPr/>
        </p:nvSpPr>
        <p:spPr>
          <a:xfrm>
            <a:off x="457200" y="4151376"/>
            <a:ext cx="3639312" cy="2157984"/>
          </a:xfrm>
          <a:prstGeom prst="roundRect">
            <a:avLst>
              <a:gd name="adj" fmla="val 3390"/>
            </a:avLst>
          </a:prstGeom>
          <a:solidFill>
            <a:srgbClr val="FFFFFF"/>
          </a:solidFill>
          <a:ln w="9525">
            <a:solidFill>
              <a:srgbClr val="D8D0BF"/>
            </a:solidFill>
            <a:prstDash val="solid"/>
          </a:ln>
          <a:effectLst>
            <a:outerShdw sx="100000" sy="100000" kx="0" ky="0" algn="bl" rotWithShape="0" blurRad="50800" dist="19050" dir="5400000">
              <a:srgbClr val="000000">
                <a:alpha val="10000"/>
              </a:srgbClr>
            </a:outerShdw>
          </a:effectLst>
        </p:spPr>
      </p:sp>
      <p:sp>
        <p:nvSpPr>
          <p:cNvPr id="62" name="Shape 59"/>
          <p:cNvSpPr/>
          <p:nvPr/>
        </p:nvSpPr>
        <p:spPr>
          <a:xfrm>
            <a:off x="566928" y="4261104"/>
            <a:ext cx="310896" cy="310896"/>
          </a:xfrm>
          <a:prstGeom prst="ellipse">
            <a:avLst/>
          </a:prstGeom>
          <a:solidFill>
            <a:srgbClr val="F4F1EA"/>
          </a:solidFill>
          <a:ln w="12700">
            <a:solidFill>
              <a:srgbClr val="F4F1EA"/>
            </a:solidFill>
            <a:prstDash val="solid"/>
          </a:ln>
        </p:spPr>
      </p:sp>
      <p:sp>
        <p:nvSpPr>
          <p:cNvPr id="63" name="Text 60"/>
          <p:cNvSpPr txBox="1"/>
          <p:nvPr/>
        </p:nvSpPr>
        <p:spPr>
          <a:xfrm>
            <a:off x="566928" y="4261104"/>
            <a:ext cx="310896" cy="310896"/>
          </a:xfrm>
          <a:prstGeom prst="rect">
            <a:avLst/>
          </a:prstGeom>
          <a:noFill/>
          <a:ln/>
        </p:spPr>
        <p:txBody>
          <a:bodyPr wrap="square" lIns="0" tIns="0" rIns="0" bIns="0" rtlCol="0" anchor="ctr"/>
          <a:lstStyle/>
          <a:p>
            <a:pPr algn="ctr" indent="0" marL="0">
              <a:buNone/>
            </a:pPr>
            <a:r>
              <a:rPr lang="en-US" sz="1000" b="1" dirty="0">
                <a:solidFill>
                  <a:srgbClr val="1B3B6F"/>
                </a:solidFill>
                <a:latin typeface="Calibri" pitchFamily="34" charset="0"/>
                <a:cs typeface="Amiri" pitchFamily="2" charset="-78"/>
              </a:rPr>
              <a:t>12</a:t>
            </a:r>
            <a:endParaRPr lang="en-US" sz="1000" dirty="0"/>
          </a:p>
        </p:txBody>
      </p:sp>
      <p:sp>
        <p:nvSpPr>
          <p:cNvPr id="64" name="Shape 61"/>
          <p:cNvSpPr/>
          <p:nvPr/>
        </p:nvSpPr>
        <p:spPr>
          <a:xfrm>
            <a:off x="3227832" y="4279392"/>
            <a:ext cx="731520" cy="256032"/>
          </a:xfrm>
          <a:prstGeom prst="roundRect">
            <a:avLst>
              <a:gd name="adj" fmla="val 50000"/>
            </a:avLst>
          </a:prstGeom>
          <a:solidFill>
            <a:srgbClr val="2E8B57"/>
          </a:solidFill>
          <a:ln w="12700">
            <a:solidFill>
              <a:srgbClr val="2E8B57"/>
            </a:solidFill>
            <a:prstDash val="solid"/>
          </a:ln>
        </p:spPr>
      </p:sp>
      <p:sp>
        <p:nvSpPr>
          <p:cNvPr id="65" name="Text 62"/>
          <p:cNvSpPr txBox="1"/>
          <p:nvPr/>
        </p:nvSpPr>
        <p:spPr>
          <a:xfrm>
            <a:off x="3227832" y="4279392"/>
            <a:ext cx="731520" cy="256032"/>
          </a:xfrm>
          <a:prstGeom prst="rect">
            <a:avLst/>
          </a:prstGeom>
          <a:noFill/>
          <a:ln/>
        </p:spPr>
        <p:txBody>
          <a:bodyPr wrap="square" lIns="0" tIns="0" rIns="0" bIns="0" rtlCol="0" anchor="ctr"/>
          <a:lstStyle/>
          <a:p>
            <a:pPr algn="ctr" indent="0" marL="0">
              <a:buNone/>
            </a:pPr>
            <a:r>
              <a:rPr lang="en-US" sz="800" b="1" spc="100" kern="0" dirty="0">
                <a:solidFill>
                  <a:srgbClr val="FFFFFF"/>
                </a:solidFill>
                <a:latin typeface="Calibri" pitchFamily="34" charset="0"/>
                <a:cs typeface="Amiri" pitchFamily="2" charset="-78"/>
              </a:rPr>
              <a:t>CORE</a:t>
            </a:r>
            <a:endParaRPr lang="en-US" sz="800" dirty="0"/>
          </a:p>
        </p:txBody>
      </p:sp>
      <p:sp>
        <p:nvSpPr>
          <p:cNvPr id="66" name="Text 63"/>
          <p:cNvSpPr txBox="1"/>
          <p:nvPr/>
        </p:nvSpPr>
        <p:spPr>
          <a:xfrm>
            <a:off x="566928" y="4553712"/>
            <a:ext cx="3401568" cy="868680"/>
          </a:xfrm>
          <a:prstGeom prst="rect">
            <a:avLst/>
          </a:prstGeom>
          <a:noFill/>
          <a:ln/>
        </p:spPr>
        <p:txBody>
          <a:bodyPr wrap="square" lIns="0" tIns="0" rIns="0" bIns="0" rtlCol="0" anchor="ctr"/>
          <a:lstStyle/>
          <a:p>
            <a:pPr rtl="1" algn="r" indent="0" marL="0">
              <a:buNone/>
            </a:pPr>
            <a:r>
              <a:rPr lang="ar-SA" altLang="en-US" sz="3000" b="1" dirty="0">
                <a:solidFill>
                  <a:srgbClr val="1B3B6F"/>
                </a:solidFill>
                <a:latin typeface="Amiri" pitchFamily="2" charset="-78"/>
                <a:ea typeface="Amiri" pitchFamily="2" charset="-78"/>
                <a:cs typeface="Amiri" pitchFamily="2" charset="-78"/>
              </a:rPr>
              <a:t>أُرِيدُ أَنْ أَشْتَرِيَ</a:t>
            </a:r>
            <a:endParaRPr lang="ar-SA" sz="3000" dirty="0"/>
          </a:p>
        </p:txBody>
      </p:sp>
      <p:sp>
        <p:nvSpPr>
          <p:cNvPr id="67" name="Text 64"/>
          <p:cNvSpPr txBox="1"/>
          <p:nvPr/>
        </p:nvSpPr>
        <p:spPr>
          <a:xfrm>
            <a:off x="594360" y="5468112"/>
            <a:ext cx="3364992" cy="512064"/>
          </a:xfrm>
          <a:prstGeom prst="rect">
            <a:avLst/>
          </a:prstGeom>
          <a:noFill/>
          <a:ln/>
        </p:spPr>
        <p:txBody>
          <a:bodyPr wrap="square" lIns="0" tIns="0" rIns="0" bIns="0" rtlCol="0" anchor="t"/>
          <a:lstStyle/>
          <a:p>
            <a:pPr indent="0" marL="0">
              <a:buNone/>
            </a:pPr>
            <a:r>
              <a:rPr lang="en-US" sz="1350" b="1" dirty="0">
                <a:solidFill>
                  <a:srgbClr val="1F2A37"/>
                </a:solidFill>
                <a:latin typeface="Calibri" pitchFamily="34" charset="0"/>
                <a:cs typeface="Amiri" pitchFamily="2" charset="-78"/>
              </a:rPr>
              <a:t>I want to buy</a:t>
            </a:r>
            <a:endParaRPr lang="en-US" sz="1350" dirty="0"/>
          </a:p>
          <a:p>
            <a:pPr indent="0" marL="0">
              <a:buNone/>
            </a:pPr>
            <a:r>
              <a:rPr lang="en-US" sz="1100" i="1" dirty="0">
                <a:solidFill>
                  <a:srgbClr val="5A6472"/>
                </a:solidFill>
                <a:latin typeface="Calibri" pitchFamily="34" charset="0"/>
                <a:cs typeface="Amiri" pitchFamily="2" charset="-78"/>
              </a:rPr>
              <a:t>u-rī-du an ash-ta-ri-ya</a:t>
            </a:r>
            <a:endParaRPr lang="en-US" sz="1350" dirty="0"/>
          </a:p>
        </p:txBody>
      </p:sp>
      <p:sp>
        <p:nvSpPr>
          <p:cNvPr id="68" name="Text 65"/>
          <p:cNvSpPr txBox="1"/>
          <p:nvPr/>
        </p:nvSpPr>
        <p:spPr>
          <a:xfrm>
            <a:off x="10360152" y="6455664"/>
            <a:ext cx="1371600" cy="219456"/>
          </a:xfrm>
          <a:prstGeom prst="rect">
            <a:avLst/>
          </a:prstGeom>
          <a:noFill/>
          <a:ln/>
        </p:spPr>
        <p:txBody>
          <a:bodyPr wrap="square" lIns="0" tIns="0" rIns="0" bIns="0" rtlCol="0" anchor="ctr"/>
          <a:lstStyle/>
          <a:p>
            <a:pPr algn="r" indent="0" marL="0">
              <a:buNone/>
            </a:pPr>
            <a:r>
              <a:rPr lang="en-US" sz="850" dirty="0">
                <a:solidFill>
                  <a:srgbClr val="8A93A0"/>
                </a:solidFill>
                <a:latin typeface="Calibri" pitchFamily="34" charset="0"/>
                <a:cs typeface="Amiri" pitchFamily="2" charset="-78"/>
              </a:rPr>
              <a:t>7 / 24</a:t>
            </a:r>
            <a:endParaRPr lang="en-US" sz="850" dirty="0"/>
          </a:p>
        </p:txBody>
      </p:sp>
    </p:spTree>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name="Slide 8">
    <p:bg>
      <p:bgPr>
        <a:solidFill>
          <a:srgbClr val="FFFDF8"/>
        </a:solidFill>
      </p:bgPr>
    </p:bg>
    <p:spTree>
      <p:nvGrpSpPr>
        <p:cNvPr id="1" name=""/>
        <p:cNvGrpSpPr/>
        <p:nvPr/>
      </p:nvGrpSpPr>
      <p:grpSpPr>
        <a:xfrm>
          <a:off x="0" y="0"/>
          <a:ext cx="0" cy="0"/>
          <a:chOff x="0" y="0"/>
          <a:chExt cx="0" cy="0"/>
        </a:xfrm>
      </p:grpSpPr>
      <p:sp>
        <p:nvSpPr>
          <p:cNvPr id="2" name="Shape 0"/>
          <p:cNvSpPr/>
          <p:nvPr/>
        </p:nvSpPr>
        <p:spPr>
          <a:xfrm>
            <a:off x="457200" y="237744"/>
            <a:ext cx="420624" cy="420624"/>
          </a:xfrm>
          <a:prstGeom prst="ellipse">
            <a:avLst/>
          </a:prstGeom>
          <a:solidFill>
            <a:srgbClr val="1B3B6F"/>
          </a:solidFill>
          <a:ln w="12700">
            <a:solidFill>
              <a:srgbClr val="D4AF37"/>
            </a:solidFill>
            <a:prstDash val="solid"/>
          </a:ln>
        </p:spPr>
      </p:sp>
      <p:sp>
        <p:nvSpPr>
          <p:cNvPr id="3" name="Text 1"/>
          <p:cNvSpPr txBox="1"/>
          <p:nvPr/>
        </p:nvSpPr>
        <p:spPr>
          <a:xfrm>
            <a:off x="457200" y="219456"/>
            <a:ext cx="420624" cy="420624"/>
          </a:xfrm>
          <a:prstGeom prst="rect">
            <a:avLst/>
          </a:prstGeom>
          <a:noFill/>
          <a:ln/>
        </p:spPr>
        <p:txBody>
          <a:bodyPr wrap="square" lIns="0" tIns="0" rIns="0" bIns="0" rtlCol="0" anchor="ctr"/>
          <a:lstStyle/>
          <a:p>
            <a:pPr rtl="1" algn="ctr" indent="0" marL="0">
              <a:buNone/>
            </a:pPr>
            <a:r>
              <a:rPr lang="ar-SA" altLang="en-US" sz="1800" b="1" dirty="0">
                <a:solidFill>
                  <a:srgbClr val="D4AF37"/>
                </a:solidFill>
                <a:latin typeface="Amiri" pitchFamily="2" charset="-78"/>
                <a:ea typeface="Amiri" pitchFamily="2" charset="-78"/>
                <a:cs typeface="Amiri" pitchFamily="2" charset="-78"/>
              </a:rPr>
              <a:t>م</a:t>
            </a:r>
            <a:endParaRPr lang="ar-SA" sz="1800" dirty="0"/>
          </a:p>
        </p:txBody>
      </p:sp>
      <p:sp>
        <p:nvSpPr>
          <p:cNvPr id="4" name="Text 2"/>
          <p:cNvSpPr txBox="1"/>
          <p:nvPr/>
        </p:nvSpPr>
        <p:spPr>
          <a:xfrm>
            <a:off x="960120" y="219456"/>
            <a:ext cx="3657600" cy="256032"/>
          </a:xfrm>
          <a:prstGeom prst="rect">
            <a:avLst/>
          </a:prstGeom>
          <a:noFill/>
          <a:ln/>
        </p:spPr>
        <p:txBody>
          <a:bodyPr wrap="square" lIns="0" tIns="0" rIns="0" bIns="0" rtlCol="0" anchor="ctr"/>
          <a:lstStyle/>
          <a:p>
            <a:pPr indent="0" marL="0">
              <a:buNone/>
            </a:pPr>
            <a:r>
              <a:rPr lang="en-US" sz="1200" b="1" dirty="0">
                <a:solidFill>
                  <a:srgbClr val="1B3B6F"/>
                </a:solidFill>
                <a:latin typeface="Cambria" pitchFamily="34" charset="0"/>
                <a:cs typeface="Amiri" pitchFamily="2" charset="-78"/>
              </a:rPr>
              <a:t>Al Madina Online School</a:t>
            </a:r>
            <a:endParaRPr lang="en-US" sz="1200" dirty="0"/>
          </a:p>
        </p:txBody>
      </p:sp>
      <p:sp>
        <p:nvSpPr>
          <p:cNvPr id="5" name="Text 3"/>
          <p:cNvSpPr txBox="1"/>
          <p:nvPr/>
        </p:nvSpPr>
        <p:spPr>
          <a:xfrm>
            <a:off x="960120" y="457200"/>
            <a:ext cx="4572000" cy="182880"/>
          </a:xfrm>
          <a:prstGeom prst="rect">
            <a:avLst/>
          </a:prstGeom>
          <a:noFill/>
          <a:ln/>
        </p:spPr>
        <p:txBody>
          <a:bodyPr wrap="square" lIns="0" tIns="0" rIns="0" bIns="0" rtlCol="0" anchor="ctr"/>
          <a:lstStyle/>
          <a:p>
            <a:pPr indent="0" marL="0">
              <a:buNone/>
            </a:pPr>
            <a:r>
              <a:rPr lang="en-US" sz="800" b="1" spc="200" kern="0" dirty="0">
                <a:solidFill>
                  <a:srgbClr val="8A6D1E"/>
                </a:solidFill>
                <a:latin typeface="Calibri" pitchFamily="34" charset="0"/>
                <a:cs typeface="Amiri" pitchFamily="2" charset="-78"/>
              </a:rPr>
              <a:t>ARABIC DEPARTMENT · MIFTAH ARABIC · IGCSE 0544</a:t>
            </a:r>
            <a:endParaRPr lang="en-US" sz="800" dirty="0"/>
          </a:p>
        </p:txBody>
      </p:sp>
      <p:sp>
        <p:nvSpPr>
          <p:cNvPr id="6" name="Shape 4"/>
          <p:cNvSpPr/>
          <p:nvPr/>
        </p:nvSpPr>
        <p:spPr>
          <a:xfrm>
            <a:off x="8897112" y="274320"/>
            <a:ext cx="2834640" cy="329184"/>
          </a:xfrm>
          <a:prstGeom prst="roundRect">
            <a:avLst>
              <a:gd name="adj" fmla="val 50000"/>
            </a:avLst>
          </a:prstGeom>
          <a:solidFill>
            <a:srgbClr val="1B3B6F"/>
          </a:solidFill>
          <a:ln w="12700">
            <a:solidFill>
              <a:srgbClr val="1B3B6F"/>
            </a:solidFill>
            <a:prstDash val="solid"/>
          </a:ln>
        </p:spPr>
      </p:sp>
      <p:sp>
        <p:nvSpPr>
          <p:cNvPr id="7" name="Text 5"/>
          <p:cNvSpPr txBox="1"/>
          <p:nvPr/>
        </p:nvSpPr>
        <p:spPr>
          <a:xfrm>
            <a:off x="8897112" y="274320"/>
            <a:ext cx="2834640" cy="329184"/>
          </a:xfrm>
          <a:prstGeom prst="rect">
            <a:avLst/>
          </a:prstGeom>
          <a:noFill/>
          <a:ln/>
        </p:spPr>
        <p:txBody>
          <a:bodyPr wrap="square" lIns="0" tIns="0" rIns="0" bIns="0" rtlCol="0" anchor="ctr"/>
          <a:lstStyle/>
          <a:p>
            <a:pPr algn="ctr" indent="0" marL="0">
              <a:buNone/>
            </a:pPr>
            <a:r>
              <a:rPr lang="en-US" sz="950" b="1" spc="100" kern="0" dirty="0">
                <a:solidFill>
                  <a:srgbClr val="FFFFFF"/>
                </a:solidFill>
                <a:latin typeface="Calibri" pitchFamily="34" charset="0"/>
                <a:cs typeface="Amiri" pitchFamily="2" charset="-78"/>
              </a:rPr>
              <a:t>F6-W03 · Apply workshop</a:t>
            </a:r>
            <a:endParaRPr lang="en-US" sz="950" dirty="0"/>
          </a:p>
        </p:txBody>
      </p:sp>
      <p:sp>
        <p:nvSpPr>
          <p:cNvPr id="8" name="Shape 6"/>
          <p:cNvSpPr/>
          <p:nvPr/>
        </p:nvSpPr>
        <p:spPr>
          <a:xfrm>
            <a:off x="7370978" y="274320"/>
            <a:ext cx="1388974" cy="329184"/>
          </a:xfrm>
          <a:prstGeom prst="roundRect">
            <a:avLst>
              <a:gd name="adj" fmla="val 50000"/>
            </a:avLst>
          </a:prstGeom>
          <a:solidFill>
            <a:srgbClr val="2F6FB0"/>
          </a:solidFill>
          <a:ln w="12700">
            <a:solidFill>
              <a:srgbClr val="2F6FB0"/>
            </a:solidFill>
            <a:prstDash val="solid"/>
          </a:ln>
        </p:spPr>
      </p:sp>
      <p:sp>
        <p:nvSpPr>
          <p:cNvPr id="9" name="Text 7"/>
          <p:cNvSpPr txBox="1"/>
          <p:nvPr/>
        </p:nvSpPr>
        <p:spPr>
          <a:xfrm>
            <a:off x="7370978" y="274320"/>
            <a:ext cx="1388974" cy="329184"/>
          </a:xfrm>
          <a:prstGeom prst="rect">
            <a:avLst/>
          </a:prstGeom>
          <a:noFill/>
          <a:ln/>
        </p:spPr>
        <p:txBody>
          <a:bodyPr wrap="square" lIns="0" tIns="0" rIns="0" bIns="0" rtlCol="0" anchor="ctr"/>
          <a:lstStyle/>
          <a:p>
            <a:pPr algn="ctr" indent="0" marL="0">
              <a:buNone/>
            </a:pPr>
            <a:r>
              <a:rPr lang="en-US" sz="900" b="1" spc="100" kern="0" dirty="0">
                <a:solidFill>
                  <a:srgbClr val="FFFFFF"/>
                </a:solidFill>
                <a:latin typeface="Calibri" pitchFamily="34" charset="0"/>
                <a:cs typeface="Amiri" pitchFamily="2" charset="-78"/>
              </a:rPr>
              <a:t>WE DO · 4 MIN</a:t>
            </a:r>
            <a:endParaRPr lang="en-US" sz="900" dirty="0"/>
          </a:p>
        </p:txBody>
      </p:sp>
      <p:sp>
        <p:nvSpPr>
          <p:cNvPr id="10" name="Text 8"/>
          <p:cNvSpPr txBox="1"/>
          <p:nvPr/>
        </p:nvSpPr>
        <p:spPr>
          <a:xfrm>
            <a:off x="457200" y="822960"/>
            <a:ext cx="6949440" cy="237744"/>
          </a:xfrm>
          <a:prstGeom prst="rect">
            <a:avLst/>
          </a:prstGeom>
          <a:noFill/>
          <a:ln/>
        </p:spPr>
        <p:txBody>
          <a:bodyPr wrap="square" lIns="0" tIns="0" rIns="0" bIns="0" rtlCol="0" anchor="ctr"/>
          <a:lstStyle/>
          <a:p>
            <a:pPr algn="l" indent="0" marL="0">
              <a:buNone/>
            </a:pPr>
            <a:r>
              <a:rPr lang="en-US" sz="1000" b="1" spc="150" kern="0" dirty="0">
                <a:solidFill>
                  <a:srgbClr val="2F6FB0"/>
                </a:solidFill>
                <a:latin typeface="Calibri" pitchFamily="34" charset="0"/>
                <a:cs typeface="Amiri" pitchFamily="2" charset="-78"/>
              </a:rPr>
              <a:t>PART 1 · STEP 2 · WHICH LESSON? · READ EACH CARD, THEN SORT IT</a:t>
            </a:r>
            <a:endParaRPr lang="en-US" sz="1000" dirty="0"/>
          </a:p>
        </p:txBody>
      </p:sp>
      <p:sp>
        <p:nvSpPr>
          <p:cNvPr id="11" name="Text 9"/>
          <p:cNvSpPr txBox="1"/>
          <p:nvPr/>
        </p:nvSpPr>
        <p:spPr>
          <a:xfrm>
            <a:off x="457200" y="1033272"/>
            <a:ext cx="6949440" cy="566928"/>
          </a:xfrm>
          <a:prstGeom prst="rect">
            <a:avLst/>
          </a:prstGeom>
          <a:noFill/>
          <a:ln/>
        </p:spPr>
        <p:txBody>
          <a:bodyPr wrap="square" lIns="0" tIns="0" rIns="0" bIns="0" rtlCol="0" anchor="ctr"/>
          <a:lstStyle/>
          <a:p>
            <a:pPr algn="l" indent="0" marL="0">
              <a:buNone/>
            </a:pPr>
            <a:r>
              <a:rPr lang="en-US" sz="2800" b="1" dirty="0">
                <a:solidFill>
                  <a:srgbClr val="1B3B6F"/>
                </a:solidFill>
                <a:latin typeface="Cambria" pitchFamily="34" charset="0"/>
                <a:cs typeface="Amiri" pitchFamily="2" charset="-78"/>
              </a:rPr>
              <a:t>Which lesson does it come from?</a:t>
            </a:r>
            <a:endParaRPr lang="en-US" sz="2800" dirty="0"/>
          </a:p>
        </p:txBody>
      </p:sp>
      <p:sp>
        <p:nvSpPr>
          <p:cNvPr id="12" name="Text 10"/>
          <p:cNvSpPr txBox="1"/>
          <p:nvPr/>
        </p:nvSpPr>
        <p:spPr>
          <a:xfrm>
            <a:off x="7498080" y="868680"/>
            <a:ext cx="4233672" cy="749808"/>
          </a:xfrm>
          <a:prstGeom prst="rect">
            <a:avLst/>
          </a:prstGeom>
          <a:noFill/>
          <a:ln/>
        </p:spPr>
        <p:txBody>
          <a:bodyPr wrap="square" lIns="0" tIns="0" rIns="0" bIns="0" rtlCol="0" anchor="ctr"/>
          <a:lstStyle/>
          <a:p>
            <a:pPr rtl="1" algn="r" indent="0" marL="0">
              <a:buNone/>
            </a:pPr>
            <a:r>
              <a:rPr lang="ar-SA" altLang="en-US" sz="2800" b="1" dirty="0">
                <a:solidFill>
                  <a:srgbClr val="8A6D1E"/>
                </a:solidFill>
                <a:latin typeface="Amiri" pitchFamily="2" charset="-78"/>
                <a:ea typeface="Amiri" pitchFamily="2" charset="-78"/>
                <a:cs typeface="Amiri" pitchFamily="2" charset="-78"/>
              </a:rPr>
              <a:t>مِنْ أَيِّ دَرْسٍ؟</a:t>
            </a:r>
            <a:endParaRPr lang="ar-SA" sz="2800" dirty="0"/>
          </a:p>
        </p:txBody>
      </p:sp>
      <p:sp>
        <p:nvSpPr>
          <p:cNvPr id="13" name="Text 11"/>
          <p:cNvSpPr txBox="1"/>
          <p:nvPr/>
        </p:nvSpPr>
        <p:spPr>
          <a:xfrm>
            <a:off x="457200" y="6455664"/>
            <a:ext cx="6400800" cy="219456"/>
          </a:xfrm>
          <a:prstGeom prst="rect">
            <a:avLst/>
          </a:prstGeom>
          <a:noFill/>
          <a:ln/>
        </p:spPr>
        <p:txBody>
          <a:bodyPr wrap="square" lIns="0" tIns="0" rIns="0" bIns="0" rtlCol="0" anchor="ctr"/>
          <a:lstStyle/>
          <a:p>
            <a:pPr indent="0" marL="0">
              <a:buNone/>
            </a:pPr>
            <a:r>
              <a:rPr lang="en-US" sz="850" dirty="0">
                <a:solidFill>
                  <a:srgbClr val="8A93A0"/>
                </a:solidFill>
                <a:latin typeface="Calibri" pitchFamily="34" charset="0"/>
                <a:cs typeface="Amiri" pitchFamily="2" charset="-78"/>
              </a:rPr>
              <a:t>Miftah Arabic · Foundation F6 · My Town and Transport · F6-W03 · Apply workshop (F6-L05 + F6-L06)</a:t>
            </a:r>
            <a:endParaRPr lang="en-US" sz="850" dirty="0"/>
          </a:p>
        </p:txBody>
      </p:sp>
      <p:sp>
        <p:nvSpPr>
          <p:cNvPr id="15" name="Shape 12"/>
          <p:cNvSpPr/>
          <p:nvPr/>
        </p:nvSpPr>
        <p:spPr>
          <a:xfrm>
            <a:off x="9015984" y="1810512"/>
            <a:ext cx="2715768" cy="438912"/>
          </a:xfrm>
          <a:prstGeom prst="roundRect">
            <a:avLst>
              <a:gd name="adj" fmla="val 12500"/>
            </a:avLst>
          </a:prstGeom>
          <a:solidFill>
            <a:srgbClr val="FFF4DC"/>
          </a:solidFill>
          <a:ln w="9525">
            <a:solidFill>
              <a:srgbClr val="E6C98A"/>
            </a:solidFill>
            <a:prstDash val="solid"/>
          </a:ln>
          <a:effectLst>
            <a:outerShdw sx="100000" sy="100000" kx="0" ky="0" algn="bl" rotWithShape="0" blurRad="50800" dist="19050" dir="5400000">
              <a:srgbClr val="000000">
                <a:alpha val="10000"/>
              </a:srgbClr>
            </a:outerShdw>
          </a:effectLst>
        </p:spPr>
      </p:sp>
      <p:sp>
        <p:nvSpPr>
          <p:cNvPr id="16" name="Text 13"/>
          <p:cNvSpPr txBox="1"/>
          <p:nvPr/>
        </p:nvSpPr>
        <p:spPr>
          <a:xfrm>
            <a:off x="9107424" y="1810512"/>
            <a:ext cx="2532888" cy="438912"/>
          </a:xfrm>
          <a:prstGeom prst="rect">
            <a:avLst/>
          </a:prstGeom>
          <a:noFill/>
          <a:ln/>
        </p:spPr>
        <p:txBody>
          <a:bodyPr wrap="square" lIns="0" tIns="0" rIns="0" bIns="0" rtlCol="0" anchor="ctr"/>
          <a:lstStyle/>
          <a:p>
            <a:pPr rtl="1" algn="ctr" indent="0" marL="0">
              <a:buNone/>
            </a:pPr>
            <a:r>
              <a:rPr lang="ar-SA" altLang="en-US" sz="1800" b="1" dirty="0">
                <a:solidFill>
                  <a:srgbClr val="1B3B6F"/>
                </a:solidFill>
                <a:latin typeface="Amiri" pitchFamily="2" charset="-78"/>
                <a:ea typeface="Amiri" pitchFamily="2" charset="-78"/>
                <a:cs typeface="Amiri" pitchFamily="2" charset="-78"/>
              </a:rPr>
              <a:t>مَدِينَتِي … وَ… ، لٰكِنَّهَا …</a:t>
            </a:r>
            <a:endParaRPr lang="ar-SA" sz="1800" dirty="0"/>
          </a:p>
        </p:txBody>
      </p:sp>
      <p:sp>
        <p:nvSpPr>
          <p:cNvPr id="17" name="Shape 14"/>
          <p:cNvSpPr/>
          <p:nvPr/>
        </p:nvSpPr>
        <p:spPr>
          <a:xfrm>
            <a:off x="6163056" y="1810512"/>
            <a:ext cx="2715768" cy="438912"/>
          </a:xfrm>
          <a:prstGeom prst="roundRect">
            <a:avLst>
              <a:gd name="adj" fmla="val 12500"/>
            </a:avLst>
          </a:prstGeom>
          <a:solidFill>
            <a:srgbClr val="FFF4DC"/>
          </a:solidFill>
          <a:ln w="9525">
            <a:solidFill>
              <a:srgbClr val="E6C98A"/>
            </a:solidFill>
            <a:prstDash val="solid"/>
          </a:ln>
          <a:effectLst>
            <a:outerShdw sx="100000" sy="100000" kx="0" ky="0" algn="bl" rotWithShape="0" blurRad="50800" dist="19050" dir="5400000">
              <a:srgbClr val="000000">
                <a:alpha val="10000"/>
              </a:srgbClr>
            </a:outerShdw>
          </a:effectLst>
        </p:spPr>
      </p:sp>
      <p:sp>
        <p:nvSpPr>
          <p:cNvPr id="18" name="Text 15"/>
          <p:cNvSpPr txBox="1"/>
          <p:nvPr/>
        </p:nvSpPr>
        <p:spPr>
          <a:xfrm>
            <a:off x="6254496" y="1810512"/>
            <a:ext cx="2532888" cy="438912"/>
          </a:xfrm>
          <a:prstGeom prst="rect">
            <a:avLst/>
          </a:prstGeom>
          <a:noFill/>
          <a:ln/>
        </p:spPr>
        <p:txBody>
          <a:bodyPr wrap="square" lIns="0" tIns="0" rIns="0" bIns="0" rtlCol="0" anchor="ctr"/>
          <a:lstStyle/>
          <a:p>
            <a:pPr rtl="1" algn="ctr" indent="0" marL="0">
              <a:buNone/>
            </a:pPr>
            <a:r>
              <a:rPr lang="ar-SA" altLang="en-US" sz="1800" b="1" dirty="0">
                <a:solidFill>
                  <a:srgbClr val="1B3B6F"/>
                </a:solidFill>
                <a:latin typeface="Amiri" pitchFamily="2" charset="-78"/>
                <a:ea typeface="Amiri" pitchFamily="2" charset="-78"/>
                <a:cs typeface="Amiri" pitchFamily="2" charset="-78"/>
              </a:rPr>
              <a:t>فِي … ثَمَنُ … جُنَيْهًا</a:t>
            </a:r>
            <a:endParaRPr lang="ar-SA" sz="1800" dirty="0"/>
          </a:p>
        </p:txBody>
      </p:sp>
      <p:sp>
        <p:nvSpPr>
          <p:cNvPr id="19" name="Shape 16"/>
          <p:cNvSpPr/>
          <p:nvPr/>
        </p:nvSpPr>
        <p:spPr>
          <a:xfrm>
            <a:off x="3310128" y="1810512"/>
            <a:ext cx="2715768" cy="438912"/>
          </a:xfrm>
          <a:prstGeom prst="roundRect">
            <a:avLst>
              <a:gd name="adj" fmla="val 12500"/>
            </a:avLst>
          </a:prstGeom>
          <a:solidFill>
            <a:srgbClr val="FFF4DC"/>
          </a:solidFill>
          <a:ln w="9525">
            <a:solidFill>
              <a:srgbClr val="E6C98A"/>
            </a:solidFill>
            <a:prstDash val="solid"/>
          </a:ln>
          <a:effectLst>
            <a:outerShdw sx="100000" sy="100000" kx="0" ky="0" algn="bl" rotWithShape="0" blurRad="50800" dist="19050" dir="5400000">
              <a:srgbClr val="000000">
                <a:alpha val="10000"/>
              </a:srgbClr>
            </a:outerShdw>
          </a:effectLst>
        </p:spPr>
      </p:sp>
      <p:sp>
        <p:nvSpPr>
          <p:cNvPr id="20" name="Text 17"/>
          <p:cNvSpPr txBox="1"/>
          <p:nvPr/>
        </p:nvSpPr>
        <p:spPr>
          <a:xfrm>
            <a:off x="3401568" y="1810512"/>
            <a:ext cx="2532888" cy="438912"/>
          </a:xfrm>
          <a:prstGeom prst="rect">
            <a:avLst/>
          </a:prstGeom>
          <a:noFill/>
          <a:ln/>
        </p:spPr>
        <p:txBody>
          <a:bodyPr wrap="square" lIns="0" tIns="0" rIns="0" bIns="0" rtlCol="0" anchor="ctr"/>
          <a:lstStyle/>
          <a:p>
            <a:pPr rtl="1" algn="ctr" indent="0" marL="0">
              <a:buNone/>
            </a:pPr>
            <a:r>
              <a:rPr lang="ar-SA" altLang="en-US" sz="1800" b="1" dirty="0">
                <a:solidFill>
                  <a:srgbClr val="1B3B6F"/>
                </a:solidFill>
                <a:latin typeface="Amiri" pitchFamily="2" charset="-78"/>
                <a:ea typeface="Amiri" pitchFamily="2" charset="-78"/>
                <a:cs typeface="Amiri" pitchFamily="2" charset="-78"/>
              </a:rPr>
              <a:t>… أَرْخَصُ مِنْ … · … أَغْلَى مِنْ …</a:t>
            </a:r>
            <a:endParaRPr lang="ar-SA" sz="1800" dirty="0"/>
          </a:p>
        </p:txBody>
      </p:sp>
      <p:sp>
        <p:nvSpPr>
          <p:cNvPr id="21" name="Shape 18"/>
          <p:cNvSpPr/>
          <p:nvPr/>
        </p:nvSpPr>
        <p:spPr>
          <a:xfrm>
            <a:off x="457200" y="1810512"/>
            <a:ext cx="2715768" cy="438912"/>
          </a:xfrm>
          <a:prstGeom prst="roundRect">
            <a:avLst>
              <a:gd name="adj" fmla="val 12500"/>
            </a:avLst>
          </a:prstGeom>
          <a:solidFill>
            <a:srgbClr val="FFF4DC"/>
          </a:solidFill>
          <a:ln w="9525">
            <a:solidFill>
              <a:srgbClr val="E6C98A"/>
            </a:solidFill>
            <a:prstDash val="solid"/>
          </a:ln>
          <a:effectLst>
            <a:outerShdw sx="100000" sy="100000" kx="0" ky="0" algn="bl" rotWithShape="0" blurRad="50800" dist="19050" dir="5400000">
              <a:srgbClr val="000000">
                <a:alpha val="10000"/>
              </a:srgbClr>
            </a:outerShdw>
          </a:effectLst>
        </p:spPr>
      </p:sp>
      <p:sp>
        <p:nvSpPr>
          <p:cNvPr id="22" name="Text 19"/>
          <p:cNvSpPr txBox="1"/>
          <p:nvPr/>
        </p:nvSpPr>
        <p:spPr>
          <a:xfrm>
            <a:off x="548640" y="1810512"/>
            <a:ext cx="2532888" cy="438912"/>
          </a:xfrm>
          <a:prstGeom prst="rect">
            <a:avLst/>
          </a:prstGeom>
          <a:noFill/>
          <a:ln/>
        </p:spPr>
        <p:txBody>
          <a:bodyPr wrap="square" lIns="0" tIns="0" rIns="0" bIns="0" rtlCol="0" anchor="ctr"/>
          <a:lstStyle/>
          <a:p>
            <a:pPr rtl="1" algn="ctr" indent="0" marL="0">
              <a:buNone/>
            </a:pPr>
            <a:r>
              <a:rPr lang="ar-SA" altLang="en-US" sz="1800" b="1" dirty="0">
                <a:solidFill>
                  <a:srgbClr val="1B3B6F"/>
                </a:solidFill>
                <a:latin typeface="Amiri" pitchFamily="2" charset="-78"/>
                <a:ea typeface="Amiri" pitchFamily="2" charset="-78"/>
                <a:cs typeface="Amiri" pitchFamily="2" charset="-78"/>
              </a:rPr>
              <a:t>مِنْ مَزَايَا مَدِينَتِي أَنَّ …</a:t>
            </a:r>
            <a:endParaRPr lang="ar-SA" sz="1800" dirty="0"/>
          </a:p>
        </p:txBody>
      </p:sp>
      <p:sp>
        <p:nvSpPr>
          <p:cNvPr id="23" name="Shape 20"/>
          <p:cNvSpPr/>
          <p:nvPr/>
        </p:nvSpPr>
        <p:spPr>
          <a:xfrm>
            <a:off x="9015984" y="2322576"/>
            <a:ext cx="2715768" cy="438912"/>
          </a:xfrm>
          <a:prstGeom prst="roundRect">
            <a:avLst>
              <a:gd name="adj" fmla="val 12500"/>
            </a:avLst>
          </a:prstGeom>
          <a:solidFill>
            <a:srgbClr val="FFF4DC"/>
          </a:solidFill>
          <a:ln w="9525">
            <a:solidFill>
              <a:srgbClr val="E6C98A"/>
            </a:solidFill>
            <a:prstDash val="solid"/>
          </a:ln>
          <a:effectLst>
            <a:outerShdw sx="100000" sy="100000" kx="0" ky="0" algn="bl" rotWithShape="0" blurRad="50800" dist="19050" dir="5400000">
              <a:srgbClr val="000000">
                <a:alpha val="10000"/>
              </a:srgbClr>
            </a:outerShdw>
          </a:effectLst>
        </p:spPr>
      </p:sp>
      <p:sp>
        <p:nvSpPr>
          <p:cNvPr id="24" name="Text 21"/>
          <p:cNvSpPr txBox="1"/>
          <p:nvPr/>
        </p:nvSpPr>
        <p:spPr>
          <a:xfrm>
            <a:off x="9107424" y="2322576"/>
            <a:ext cx="2532888" cy="438912"/>
          </a:xfrm>
          <a:prstGeom prst="rect">
            <a:avLst/>
          </a:prstGeom>
          <a:noFill/>
          <a:ln/>
        </p:spPr>
        <p:txBody>
          <a:bodyPr wrap="square" lIns="0" tIns="0" rIns="0" bIns="0" rtlCol="0" anchor="ctr"/>
          <a:lstStyle/>
          <a:p>
            <a:pPr rtl="1" algn="ctr" indent="0" marL="0">
              <a:buNone/>
            </a:pPr>
            <a:r>
              <a:rPr lang="ar-SA" altLang="en-US" sz="1800" b="1" dirty="0">
                <a:solidFill>
                  <a:srgbClr val="1B3B6F"/>
                </a:solidFill>
                <a:latin typeface="Amiri" pitchFamily="2" charset="-78"/>
                <a:ea typeface="Amiri" pitchFamily="2" charset="-78"/>
                <a:cs typeface="Amiri" pitchFamily="2" charset="-78"/>
              </a:rPr>
              <a:t>مِنْ عُيُوبِهَا أَنَّ …</a:t>
            </a:r>
            <a:endParaRPr lang="ar-SA" sz="1800" dirty="0"/>
          </a:p>
        </p:txBody>
      </p:sp>
      <p:sp>
        <p:nvSpPr>
          <p:cNvPr id="25" name="Shape 22"/>
          <p:cNvSpPr/>
          <p:nvPr/>
        </p:nvSpPr>
        <p:spPr>
          <a:xfrm>
            <a:off x="6163056" y="2322576"/>
            <a:ext cx="2715768" cy="438912"/>
          </a:xfrm>
          <a:prstGeom prst="roundRect">
            <a:avLst>
              <a:gd name="adj" fmla="val 12500"/>
            </a:avLst>
          </a:prstGeom>
          <a:solidFill>
            <a:srgbClr val="FFF4DC"/>
          </a:solidFill>
          <a:ln w="9525">
            <a:solidFill>
              <a:srgbClr val="E6C98A"/>
            </a:solidFill>
            <a:prstDash val="solid"/>
          </a:ln>
          <a:effectLst>
            <a:outerShdw sx="100000" sy="100000" kx="0" ky="0" algn="bl" rotWithShape="0" blurRad="50800" dist="19050" dir="5400000">
              <a:srgbClr val="000000">
                <a:alpha val="10000"/>
              </a:srgbClr>
            </a:outerShdw>
          </a:effectLst>
        </p:spPr>
      </p:sp>
      <p:sp>
        <p:nvSpPr>
          <p:cNvPr id="26" name="Text 23"/>
          <p:cNvSpPr txBox="1"/>
          <p:nvPr/>
        </p:nvSpPr>
        <p:spPr>
          <a:xfrm>
            <a:off x="6254496" y="2322576"/>
            <a:ext cx="2532888" cy="438912"/>
          </a:xfrm>
          <a:prstGeom prst="rect">
            <a:avLst/>
          </a:prstGeom>
          <a:noFill/>
          <a:ln/>
        </p:spPr>
        <p:txBody>
          <a:bodyPr wrap="square" lIns="0" tIns="0" rIns="0" bIns="0" rtlCol="0" anchor="ctr"/>
          <a:lstStyle/>
          <a:p>
            <a:pPr rtl="1" algn="ctr" indent="0" marL="0">
              <a:buNone/>
            </a:pPr>
            <a:r>
              <a:rPr lang="ar-SA" altLang="en-US" sz="1700" b="1" dirty="0">
                <a:solidFill>
                  <a:srgbClr val="1B3B6F"/>
                </a:solidFill>
                <a:latin typeface="Amiri" pitchFamily="2" charset="-78"/>
                <a:ea typeface="Amiri" pitchFamily="2" charset="-78"/>
                <a:cs typeface="Amiri" pitchFamily="2" charset="-78"/>
              </a:rPr>
              <a:t>يُمْكِنُ أَنْ تَدْفَعَ نَقْدًا أَوْ بِالبِطَاقَةِ</a:t>
            </a:r>
            <a:endParaRPr lang="ar-SA" sz="1700" dirty="0"/>
          </a:p>
        </p:txBody>
      </p:sp>
      <p:sp>
        <p:nvSpPr>
          <p:cNvPr id="27" name="Shape 24"/>
          <p:cNvSpPr/>
          <p:nvPr/>
        </p:nvSpPr>
        <p:spPr>
          <a:xfrm>
            <a:off x="3310128" y="2322576"/>
            <a:ext cx="2715768" cy="438912"/>
          </a:xfrm>
          <a:prstGeom prst="roundRect">
            <a:avLst>
              <a:gd name="adj" fmla="val 12500"/>
            </a:avLst>
          </a:prstGeom>
          <a:solidFill>
            <a:srgbClr val="FFF4DC"/>
          </a:solidFill>
          <a:ln w="9525">
            <a:solidFill>
              <a:srgbClr val="E6C98A"/>
            </a:solidFill>
            <a:prstDash val="solid"/>
          </a:ln>
          <a:effectLst>
            <a:outerShdw sx="100000" sy="100000" kx="0" ky="0" algn="bl" rotWithShape="0" blurRad="50800" dist="19050" dir="5400000">
              <a:srgbClr val="000000">
                <a:alpha val="10000"/>
              </a:srgbClr>
            </a:outerShdw>
          </a:effectLst>
        </p:spPr>
      </p:sp>
      <p:sp>
        <p:nvSpPr>
          <p:cNvPr id="28" name="Text 25"/>
          <p:cNvSpPr txBox="1"/>
          <p:nvPr/>
        </p:nvSpPr>
        <p:spPr>
          <a:xfrm>
            <a:off x="3401568" y="2322576"/>
            <a:ext cx="2532888" cy="438912"/>
          </a:xfrm>
          <a:prstGeom prst="rect">
            <a:avLst/>
          </a:prstGeom>
          <a:noFill/>
          <a:ln/>
        </p:spPr>
        <p:txBody>
          <a:bodyPr wrap="square" lIns="0" tIns="0" rIns="0" bIns="0" rtlCol="0" anchor="ctr"/>
          <a:lstStyle/>
          <a:p>
            <a:pPr rtl="1" algn="ctr" indent="0" marL="0">
              <a:buNone/>
            </a:pPr>
            <a:r>
              <a:rPr lang="ar-SA" altLang="en-US" sz="1800" b="1" dirty="0">
                <a:solidFill>
                  <a:srgbClr val="1B3B6F"/>
                </a:solidFill>
                <a:latin typeface="Amiri" pitchFamily="2" charset="-78"/>
                <a:ea typeface="Amiri" pitchFamily="2" charset="-78"/>
                <a:cs typeface="Amiri" pitchFamily="2" charset="-78"/>
              </a:rPr>
              <a:t>أُفَضِّلُ … لِأَنَّ …</a:t>
            </a:r>
            <a:endParaRPr lang="ar-SA" sz="1800" dirty="0"/>
          </a:p>
        </p:txBody>
      </p:sp>
      <p:sp>
        <p:nvSpPr>
          <p:cNvPr id="29" name="Shape 26"/>
          <p:cNvSpPr/>
          <p:nvPr/>
        </p:nvSpPr>
        <p:spPr>
          <a:xfrm>
            <a:off x="457200" y="2322576"/>
            <a:ext cx="2715768" cy="438912"/>
          </a:xfrm>
          <a:prstGeom prst="roundRect">
            <a:avLst>
              <a:gd name="adj" fmla="val 12500"/>
            </a:avLst>
          </a:prstGeom>
          <a:solidFill>
            <a:srgbClr val="FFF4DC"/>
          </a:solidFill>
          <a:ln w="9525">
            <a:solidFill>
              <a:srgbClr val="E6C98A"/>
            </a:solidFill>
            <a:prstDash val="solid"/>
          </a:ln>
          <a:effectLst>
            <a:outerShdw sx="100000" sy="100000" kx="0" ky="0" algn="bl" rotWithShape="0" blurRad="50800" dist="19050" dir="5400000">
              <a:srgbClr val="000000">
                <a:alpha val="10000"/>
              </a:srgbClr>
            </a:outerShdw>
          </a:effectLst>
        </p:spPr>
      </p:sp>
      <p:sp>
        <p:nvSpPr>
          <p:cNvPr id="30" name="Text 27"/>
          <p:cNvSpPr txBox="1"/>
          <p:nvPr/>
        </p:nvSpPr>
        <p:spPr>
          <a:xfrm>
            <a:off x="548640" y="2322576"/>
            <a:ext cx="2532888" cy="438912"/>
          </a:xfrm>
          <a:prstGeom prst="rect">
            <a:avLst/>
          </a:prstGeom>
          <a:noFill/>
          <a:ln/>
        </p:spPr>
        <p:txBody>
          <a:bodyPr wrap="square" lIns="0" tIns="0" rIns="0" bIns="0" rtlCol="0" anchor="ctr"/>
          <a:lstStyle/>
          <a:p>
            <a:pPr rtl="1" algn="ctr" indent="0" marL="0">
              <a:buNone/>
            </a:pPr>
            <a:r>
              <a:rPr lang="ar-SA" altLang="en-US" sz="1800" b="1" dirty="0">
                <a:solidFill>
                  <a:srgbClr val="1B3B6F"/>
                </a:solidFill>
                <a:latin typeface="Amiri" pitchFamily="2" charset="-78"/>
                <a:ea typeface="Amiri" pitchFamily="2" charset="-78"/>
                <a:cs typeface="Amiri" pitchFamily="2" charset="-78"/>
              </a:rPr>
              <a:t>بِصِفَةٍ عَامَّةٍ …</a:t>
            </a:r>
            <a:endParaRPr lang="ar-SA" sz="1800" dirty="0"/>
          </a:p>
        </p:txBody>
      </p:sp>
      <p:sp>
        <p:nvSpPr>
          <p:cNvPr id="31" name="Shape 28"/>
          <p:cNvSpPr/>
          <p:nvPr/>
        </p:nvSpPr>
        <p:spPr>
          <a:xfrm>
            <a:off x="6185916" y="3017520"/>
            <a:ext cx="5545836" cy="3291840"/>
          </a:xfrm>
          <a:prstGeom prst="roundRect">
            <a:avLst>
              <a:gd name="adj" fmla="val 2222"/>
            </a:avLst>
          </a:prstGeom>
          <a:solidFill>
            <a:srgbClr val="EEF3FA"/>
          </a:solidFill>
          <a:ln w="9525">
            <a:solidFill>
              <a:srgbClr val="C9D6EA"/>
            </a:solidFill>
            <a:prstDash val="solid"/>
          </a:ln>
        </p:spPr>
      </p:sp>
      <p:sp>
        <p:nvSpPr>
          <p:cNvPr id="32" name="Shape 29"/>
          <p:cNvSpPr/>
          <p:nvPr/>
        </p:nvSpPr>
        <p:spPr>
          <a:xfrm>
            <a:off x="6323076" y="3127248"/>
            <a:ext cx="5271516" cy="310896"/>
          </a:xfrm>
          <a:prstGeom prst="roundRect">
            <a:avLst>
              <a:gd name="adj" fmla="val 50000"/>
            </a:avLst>
          </a:prstGeom>
          <a:solidFill>
            <a:srgbClr val="2F6FB0"/>
          </a:solidFill>
          <a:ln w="12700">
            <a:solidFill>
              <a:srgbClr val="2F6FB0"/>
            </a:solidFill>
            <a:prstDash val="solid"/>
          </a:ln>
        </p:spPr>
      </p:sp>
      <p:sp>
        <p:nvSpPr>
          <p:cNvPr id="33" name="Text 30"/>
          <p:cNvSpPr txBox="1"/>
          <p:nvPr/>
        </p:nvSpPr>
        <p:spPr>
          <a:xfrm>
            <a:off x="6323076" y="3127248"/>
            <a:ext cx="5271516" cy="310896"/>
          </a:xfrm>
          <a:prstGeom prst="rect">
            <a:avLst/>
          </a:prstGeom>
          <a:noFill/>
          <a:ln/>
        </p:spPr>
        <p:txBody>
          <a:bodyPr wrap="square" lIns="0" tIns="0" rIns="0" bIns="0" rtlCol="0" anchor="ctr"/>
          <a:lstStyle/>
          <a:p>
            <a:pPr algn="ctr" indent="0" marL="0">
              <a:buNone/>
            </a:pPr>
            <a:r>
              <a:rPr lang="en-US" sz="950" b="1" dirty="0">
                <a:solidFill>
                  <a:srgbClr val="FFFFFF"/>
                </a:solidFill>
                <a:latin typeface="Calibri" pitchFamily="34" charset="0"/>
                <a:cs typeface="Amiri" pitchFamily="2" charset="-78"/>
              </a:rPr>
              <a:t>1 · F6-L05 · Describing Your Town: Advantages and Disadvantages</a:t>
            </a:r>
            <a:endParaRPr lang="en-US" sz="950" dirty="0"/>
          </a:p>
        </p:txBody>
      </p:sp>
      <p:sp>
        <p:nvSpPr>
          <p:cNvPr id="34" name="Shape 31"/>
          <p:cNvSpPr/>
          <p:nvPr/>
        </p:nvSpPr>
        <p:spPr>
          <a:xfrm>
            <a:off x="457200" y="3017520"/>
            <a:ext cx="5545836" cy="3291840"/>
          </a:xfrm>
          <a:prstGeom prst="roundRect">
            <a:avLst>
              <a:gd name="adj" fmla="val 2222"/>
            </a:avLst>
          </a:prstGeom>
          <a:solidFill>
            <a:srgbClr val="EEF3FA"/>
          </a:solidFill>
          <a:ln w="9525">
            <a:solidFill>
              <a:srgbClr val="C9D6EA"/>
            </a:solidFill>
            <a:prstDash val="solid"/>
          </a:ln>
        </p:spPr>
      </p:sp>
      <p:sp>
        <p:nvSpPr>
          <p:cNvPr id="35" name="Shape 32"/>
          <p:cNvSpPr/>
          <p:nvPr/>
        </p:nvSpPr>
        <p:spPr>
          <a:xfrm>
            <a:off x="594360" y="3127248"/>
            <a:ext cx="5271516" cy="310896"/>
          </a:xfrm>
          <a:prstGeom prst="roundRect">
            <a:avLst>
              <a:gd name="adj" fmla="val 50000"/>
            </a:avLst>
          </a:prstGeom>
          <a:solidFill>
            <a:srgbClr val="2F6FB0"/>
          </a:solidFill>
          <a:ln w="12700">
            <a:solidFill>
              <a:srgbClr val="2F6FB0"/>
            </a:solidFill>
            <a:prstDash val="solid"/>
          </a:ln>
        </p:spPr>
      </p:sp>
      <p:sp>
        <p:nvSpPr>
          <p:cNvPr id="36" name="Text 33"/>
          <p:cNvSpPr txBox="1"/>
          <p:nvPr/>
        </p:nvSpPr>
        <p:spPr>
          <a:xfrm>
            <a:off x="594360" y="3127248"/>
            <a:ext cx="5271516" cy="310896"/>
          </a:xfrm>
          <a:prstGeom prst="rect">
            <a:avLst/>
          </a:prstGeom>
          <a:noFill/>
          <a:ln/>
        </p:spPr>
        <p:txBody>
          <a:bodyPr wrap="square" lIns="0" tIns="0" rIns="0" bIns="0" rtlCol="0" anchor="ctr"/>
          <a:lstStyle/>
          <a:p>
            <a:pPr algn="ctr" indent="0" marL="0">
              <a:buNone/>
            </a:pPr>
            <a:r>
              <a:rPr lang="en-US" sz="950" b="1" dirty="0">
                <a:solidFill>
                  <a:srgbClr val="FFFFFF"/>
                </a:solidFill>
                <a:latin typeface="Calibri" pitchFamily="34" charset="0"/>
                <a:cs typeface="Amiri" pitchFamily="2" charset="-78"/>
              </a:rPr>
              <a:t>2 · F6-L06 · Shopping in Town: Prices and Comparisons</a:t>
            </a:r>
            <a:endParaRPr lang="en-US" sz="950" dirty="0"/>
          </a:p>
        </p:txBody>
      </p:sp>
      <p:sp>
        <p:nvSpPr>
          <p:cNvPr id="37" name="Text 34"/>
          <p:cNvSpPr txBox="1"/>
          <p:nvPr/>
        </p:nvSpPr>
        <p:spPr>
          <a:xfrm>
            <a:off x="10360152" y="6455664"/>
            <a:ext cx="1371600" cy="219456"/>
          </a:xfrm>
          <a:prstGeom prst="rect">
            <a:avLst/>
          </a:prstGeom>
          <a:noFill/>
          <a:ln/>
        </p:spPr>
        <p:txBody>
          <a:bodyPr wrap="square" lIns="0" tIns="0" rIns="0" bIns="0" rtlCol="0" anchor="ctr"/>
          <a:lstStyle/>
          <a:p>
            <a:pPr algn="r" indent="0" marL="0">
              <a:buNone/>
            </a:pPr>
            <a:r>
              <a:rPr lang="en-US" sz="850" dirty="0">
                <a:solidFill>
                  <a:srgbClr val="8A93A0"/>
                </a:solidFill>
                <a:latin typeface="Calibri" pitchFamily="34" charset="0"/>
                <a:cs typeface="Amiri" pitchFamily="2" charset="-78"/>
              </a:rPr>
              <a:t>8 / 24</a:t>
            </a:r>
            <a:endParaRPr lang="en-US" sz="850" dirty="0"/>
          </a:p>
        </p:txBody>
      </p:sp>
    </p:spTree>
  </p:cSld>
  <p:clrMapOvr>
    <a:masterClrMapping/>
  </p:clrMapOvr>
</p:sld>
</file>

<file path=ppt/slides/slide9.xml><?xml version="1.0" encoding="utf-8"?>
<p:sld xmlns:a="http://schemas.openxmlformats.org/drawingml/2006/main" xmlns:r="http://schemas.openxmlformats.org/officeDocument/2006/relationships" xmlns:p="http://schemas.openxmlformats.org/presentationml/2006/main">
  <p:cSld name="Slide 9">
    <p:bg>
      <p:bgPr>
        <a:solidFill>
          <a:srgbClr val="FFFDF8"/>
        </a:solidFill>
      </p:bgPr>
    </p:bg>
    <p:spTree>
      <p:nvGrpSpPr>
        <p:cNvPr id="1" name=""/>
        <p:cNvGrpSpPr/>
        <p:nvPr/>
      </p:nvGrpSpPr>
      <p:grpSpPr>
        <a:xfrm>
          <a:off x="0" y="0"/>
          <a:ext cx="0" cy="0"/>
          <a:chOff x="0" y="0"/>
          <a:chExt cx="0" cy="0"/>
        </a:xfrm>
      </p:grpSpPr>
      <p:sp>
        <p:nvSpPr>
          <p:cNvPr id="2" name="Shape 0"/>
          <p:cNvSpPr/>
          <p:nvPr/>
        </p:nvSpPr>
        <p:spPr>
          <a:xfrm>
            <a:off x="457200" y="237744"/>
            <a:ext cx="420624" cy="420624"/>
          </a:xfrm>
          <a:prstGeom prst="ellipse">
            <a:avLst/>
          </a:prstGeom>
          <a:solidFill>
            <a:srgbClr val="1B3B6F"/>
          </a:solidFill>
          <a:ln w="12700">
            <a:solidFill>
              <a:srgbClr val="D4AF37"/>
            </a:solidFill>
            <a:prstDash val="solid"/>
          </a:ln>
        </p:spPr>
      </p:sp>
      <p:sp>
        <p:nvSpPr>
          <p:cNvPr id="3" name="Text 1"/>
          <p:cNvSpPr txBox="1"/>
          <p:nvPr/>
        </p:nvSpPr>
        <p:spPr>
          <a:xfrm>
            <a:off x="457200" y="219456"/>
            <a:ext cx="420624" cy="420624"/>
          </a:xfrm>
          <a:prstGeom prst="rect">
            <a:avLst/>
          </a:prstGeom>
          <a:noFill/>
          <a:ln/>
        </p:spPr>
        <p:txBody>
          <a:bodyPr wrap="square" lIns="0" tIns="0" rIns="0" bIns="0" rtlCol="0" anchor="ctr"/>
          <a:lstStyle/>
          <a:p>
            <a:pPr rtl="1" algn="ctr" indent="0" marL="0">
              <a:buNone/>
            </a:pPr>
            <a:r>
              <a:rPr lang="ar-SA" altLang="en-US" sz="1800" b="1" dirty="0">
                <a:solidFill>
                  <a:srgbClr val="D4AF37"/>
                </a:solidFill>
                <a:latin typeface="Amiri" pitchFamily="2" charset="-78"/>
                <a:ea typeface="Amiri" pitchFamily="2" charset="-78"/>
                <a:cs typeface="Amiri" pitchFamily="2" charset="-78"/>
              </a:rPr>
              <a:t>م</a:t>
            </a:r>
            <a:endParaRPr lang="ar-SA" sz="1800" dirty="0"/>
          </a:p>
        </p:txBody>
      </p:sp>
      <p:sp>
        <p:nvSpPr>
          <p:cNvPr id="4" name="Text 2"/>
          <p:cNvSpPr txBox="1"/>
          <p:nvPr/>
        </p:nvSpPr>
        <p:spPr>
          <a:xfrm>
            <a:off x="960120" y="219456"/>
            <a:ext cx="3657600" cy="256032"/>
          </a:xfrm>
          <a:prstGeom prst="rect">
            <a:avLst/>
          </a:prstGeom>
          <a:noFill/>
          <a:ln/>
        </p:spPr>
        <p:txBody>
          <a:bodyPr wrap="square" lIns="0" tIns="0" rIns="0" bIns="0" rtlCol="0" anchor="ctr"/>
          <a:lstStyle/>
          <a:p>
            <a:pPr indent="0" marL="0">
              <a:buNone/>
            </a:pPr>
            <a:r>
              <a:rPr lang="en-US" sz="1200" b="1" dirty="0">
                <a:solidFill>
                  <a:srgbClr val="1B3B6F"/>
                </a:solidFill>
                <a:latin typeface="Cambria" pitchFamily="34" charset="0"/>
                <a:cs typeface="Amiri" pitchFamily="2" charset="-78"/>
              </a:rPr>
              <a:t>Al Madina Online School</a:t>
            </a:r>
            <a:endParaRPr lang="en-US" sz="1200" dirty="0"/>
          </a:p>
        </p:txBody>
      </p:sp>
      <p:sp>
        <p:nvSpPr>
          <p:cNvPr id="5" name="Text 3"/>
          <p:cNvSpPr txBox="1"/>
          <p:nvPr/>
        </p:nvSpPr>
        <p:spPr>
          <a:xfrm>
            <a:off x="960120" y="457200"/>
            <a:ext cx="4572000" cy="182880"/>
          </a:xfrm>
          <a:prstGeom prst="rect">
            <a:avLst/>
          </a:prstGeom>
          <a:noFill/>
          <a:ln/>
        </p:spPr>
        <p:txBody>
          <a:bodyPr wrap="square" lIns="0" tIns="0" rIns="0" bIns="0" rtlCol="0" anchor="ctr"/>
          <a:lstStyle/>
          <a:p>
            <a:pPr indent="0" marL="0">
              <a:buNone/>
            </a:pPr>
            <a:r>
              <a:rPr lang="en-US" sz="800" b="1" spc="200" kern="0" dirty="0">
                <a:solidFill>
                  <a:srgbClr val="8A6D1E"/>
                </a:solidFill>
                <a:latin typeface="Calibri" pitchFamily="34" charset="0"/>
                <a:cs typeface="Amiri" pitchFamily="2" charset="-78"/>
              </a:rPr>
              <a:t>ARABIC DEPARTMENT · MIFTAH ARABIC · IGCSE 0544</a:t>
            </a:r>
            <a:endParaRPr lang="en-US" sz="800" dirty="0"/>
          </a:p>
        </p:txBody>
      </p:sp>
      <p:sp>
        <p:nvSpPr>
          <p:cNvPr id="6" name="Shape 4"/>
          <p:cNvSpPr/>
          <p:nvPr/>
        </p:nvSpPr>
        <p:spPr>
          <a:xfrm>
            <a:off x="8897112" y="274320"/>
            <a:ext cx="2834640" cy="329184"/>
          </a:xfrm>
          <a:prstGeom prst="roundRect">
            <a:avLst>
              <a:gd name="adj" fmla="val 50000"/>
            </a:avLst>
          </a:prstGeom>
          <a:solidFill>
            <a:srgbClr val="1B3B6F"/>
          </a:solidFill>
          <a:ln w="12700">
            <a:solidFill>
              <a:srgbClr val="1B3B6F"/>
            </a:solidFill>
            <a:prstDash val="solid"/>
          </a:ln>
        </p:spPr>
      </p:sp>
      <p:sp>
        <p:nvSpPr>
          <p:cNvPr id="7" name="Text 5"/>
          <p:cNvSpPr txBox="1"/>
          <p:nvPr/>
        </p:nvSpPr>
        <p:spPr>
          <a:xfrm>
            <a:off x="8897112" y="274320"/>
            <a:ext cx="2834640" cy="329184"/>
          </a:xfrm>
          <a:prstGeom prst="rect">
            <a:avLst/>
          </a:prstGeom>
          <a:noFill/>
          <a:ln/>
        </p:spPr>
        <p:txBody>
          <a:bodyPr wrap="square" lIns="0" tIns="0" rIns="0" bIns="0" rtlCol="0" anchor="ctr"/>
          <a:lstStyle/>
          <a:p>
            <a:pPr algn="ctr" indent="0" marL="0">
              <a:buNone/>
            </a:pPr>
            <a:r>
              <a:rPr lang="en-US" sz="950" b="1" spc="100" kern="0" dirty="0">
                <a:solidFill>
                  <a:srgbClr val="FFFFFF"/>
                </a:solidFill>
                <a:latin typeface="Calibri" pitchFamily="34" charset="0"/>
                <a:cs typeface="Amiri" pitchFamily="2" charset="-78"/>
              </a:rPr>
              <a:t>F6-W03 · Apply workshop</a:t>
            </a:r>
            <a:endParaRPr lang="en-US" sz="950" dirty="0"/>
          </a:p>
        </p:txBody>
      </p:sp>
      <p:sp>
        <p:nvSpPr>
          <p:cNvPr id="8" name="Shape 6"/>
          <p:cNvSpPr/>
          <p:nvPr/>
        </p:nvSpPr>
        <p:spPr>
          <a:xfrm>
            <a:off x="7143293" y="274320"/>
            <a:ext cx="1616659" cy="329184"/>
          </a:xfrm>
          <a:prstGeom prst="roundRect">
            <a:avLst>
              <a:gd name="adj" fmla="val 50000"/>
            </a:avLst>
          </a:prstGeom>
          <a:solidFill>
            <a:srgbClr val="8A6D1E"/>
          </a:solidFill>
          <a:ln w="12700">
            <a:solidFill>
              <a:srgbClr val="8A6D1E"/>
            </a:solidFill>
            <a:prstDash val="solid"/>
          </a:ln>
        </p:spPr>
      </p:sp>
      <p:sp>
        <p:nvSpPr>
          <p:cNvPr id="9" name="Text 7"/>
          <p:cNvSpPr txBox="1"/>
          <p:nvPr/>
        </p:nvSpPr>
        <p:spPr>
          <a:xfrm>
            <a:off x="7143293" y="274320"/>
            <a:ext cx="1616659" cy="329184"/>
          </a:xfrm>
          <a:prstGeom prst="rect">
            <a:avLst/>
          </a:prstGeom>
          <a:noFill/>
          <a:ln/>
        </p:spPr>
        <p:txBody>
          <a:bodyPr wrap="square" lIns="0" tIns="0" rIns="0" bIns="0" rtlCol="0" anchor="ctr"/>
          <a:lstStyle/>
          <a:p>
            <a:pPr algn="ctr" indent="0" marL="0">
              <a:buNone/>
            </a:pPr>
            <a:r>
              <a:rPr lang="en-US" sz="900" b="1" spc="100" kern="0" dirty="0">
                <a:solidFill>
                  <a:srgbClr val="FFFFFF"/>
                </a:solidFill>
                <a:latin typeface="Calibri" pitchFamily="34" charset="0"/>
                <a:cs typeface="Amiri" pitchFamily="2" charset="-78"/>
              </a:rPr>
              <a:t>FEEDBACK · 1 MIN</a:t>
            </a:r>
            <a:endParaRPr lang="en-US" sz="900" dirty="0"/>
          </a:p>
        </p:txBody>
      </p:sp>
      <p:sp>
        <p:nvSpPr>
          <p:cNvPr id="10" name="Text 8"/>
          <p:cNvSpPr txBox="1"/>
          <p:nvPr/>
        </p:nvSpPr>
        <p:spPr>
          <a:xfrm>
            <a:off x="457200" y="822960"/>
            <a:ext cx="6949440" cy="237744"/>
          </a:xfrm>
          <a:prstGeom prst="rect">
            <a:avLst/>
          </a:prstGeom>
          <a:noFill/>
          <a:ln/>
        </p:spPr>
        <p:txBody>
          <a:bodyPr wrap="square" lIns="0" tIns="0" rIns="0" bIns="0" rtlCol="0" anchor="ctr"/>
          <a:lstStyle/>
          <a:p>
            <a:pPr algn="l" indent="0" marL="0">
              <a:buNone/>
            </a:pPr>
            <a:r>
              <a:rPr lang="en-US" sz="1000" b="1" spc="300" kern="0" dirty="0">
                <a:solidFill>
                  <a:srgbClr val="8A6D1E"/>
                </a:solidFill>
                <a:latin typeface="Calibri" pitchFamily="34" charset="0"/>
                <a:cs typeface="Amiri" pitchFamily="2" charset="-78"/>
              </a:rPr>
              <a:t>STEP 2 · ANSWERS</a:t>
            </a:r>
            <a:endParaRPr lang="en-US" sz="1000" dirty="0"/>
          </a:p>
        </p:txBody>
      </p:sp>
      <p:sp>
        <p:nvSpPr>
          <p:cNvPr id="11" name="Text 9"/>
          <p:cNvSpPr txBox="1"/>
          <p:nvPr/>
        </p:nvSpPr>
        <p:spPr>
          <a:xfrm>
            <a:off x="457200" y="1033272"/>
            <a:ext cx="6949440" cy="566928"/>
          </a:xfrm>
          <a:prstGeom prst="rect">
            <a:avLst/>
          </a:prstGeom>
          <a:noFill/>
          <a:ln/>
        </p:spPr>
        <p:txBody>
          <a:bodyPr wrap="square" lIns="0" tIns="0" rIns="0" bIns="0" rtlCol="0" anchor="ctr"/>
          <a:lstStyle/>
          <a:p>
            <a:pPr algn="l" indent="0" marL="0">
              <a:buNone/>
            </a:pPr>
            <a:r>
              <a:rPr lang="en-US" sz="2800" b="1" dirty="0">
                <a:solidFill>
                  <a:srgbClr val="1B3B6F"/>
                </a:solidFill>
                <a:latin typeface="Cambria" pitchFamily="34" charset="0"/>
                <a:cs typeface="Amiri" pitchFamily="2" charset="-78"/>
              </a:rPr>
              <a:t>Which lesson? Answers</a:t>
            </a:r>
            <a:endParaRPr lang="en-US" sz="2800" dirty="0"/>
          </a:p>
        </p:txBody>
      </p:sp>
      <p:sp>
        <p:nvSpPr>
          <p:cNvPr id="12" name="Text 10"/>
          <p:cNvSpPr txBox="1"/>
          <p:nvPr/>
        </p:nvSpPr>
        <p:spPr>
          <a:xfrm>
            <a:off x="7498080" y="868680"/>
            <a:ext cx="4233672" cy="749808"/>
          </a:xfrm>
          <a:prstGeom prst="rect">
            <a:avLst/>
          </a:prstGeom>
          <a:noFill/>
          <a:ln/>
        </p:spPr>
        <p:txBody>
          <a:bodyPr wrap="square" lIns="0" tIns="0" rIns="0" bIns="0" rtlCol="0" anchor="ctr"/>
          <a:lstStyle/>
          <a:p>
            <a:pPr rtl="1" algn="r" indent="0" marL="0">
              <a:buNone/>
            </a:pPr>
            <a:r>
              <a:rPr lang="ar-SA" altLang="en-US" sz="2800" b="1" dirty="0">
                <a:solidFill>
                  <a:srgbClr val="8A6D1E"/>
                </a:solidFill>
                <a:latin typeface="Amiri" pitchFamily="2" charset="-78"/>
                <a:ea typeface="Amiri" pitchFamily="2" charset="-78"/>
                <a:cs typeface="Amiri" pitchFamily="2" charset="-78"/>
              </a:rPr>
              <a:t>مِنْ أَيِّ دَرْسٍ؟</a:t>
            </a:r>
            <a:endParaRPr lang="ar-SA" sz="2800" dirty="0"/>
          </a:p>
        </p:txBody>
      </p:sp>
      <p:sp>
        <p:nvSpPr>
          <p:cNvPr id="13" name="Text 11"/>
          <p:cNvSpPr txBox="1"/>
          <p:nvPr/>
        </p:nvSpPr>
        <p:spPr>
          <a:xfrm>
            <a:off x="457200" y="6455664"/>
            <a:ext cx="6400800" cy="219456"/>
          </a:xfrm>
          <a:prstGeom prst="rect">
            <a:avLst/>
          </a:prstGeom>
          <a:noFill/>
          <a:ln/>
        </p:spPr>
        <p:txBody>
          <a:bodyPr wrap="square" lIns="0" tIns="0" rIns="0" bIns="0" rtlCol="0" anchor="ctr"/>
          <a:lstStyle/>
          <a:p>
            <a:pPr indent="0" marL="0">
              <a:buNone/>
            </a:pPr>
            <a:r>
              <a:rPr lang="en-US" sz="850" dirty="0">
                <a:solidFill>
                  <a:srgbClr val="8A93A0"/>
                </a:solidFill>
                <a:latin typeface="Calibri" pitchFamily="34" charset="0"/>
                <a:cs typeface="Amiri" pitchFamily="2" charset="-78"/>
              </a:rPr>
              <a:t>Miftah Arabic · Foundation F6 · My Town and Transport · F6-W03 · Apply workshop (F6-L05 + F6-L06)</a:t>
            </a:r>
            <a:endParaRPr lang="en-US" sz="850" dirty="0"/>
          </a:p>
        </p:txBody>
      </p:sp>
      <p:sp>
        <p:nvSpPr>
          <p:cNvPr id="15" name="Shape 12"/>
          <p:cNvSpPr/>
          <p:nvPr/>
        </p:nvSpPr>
        <p:spPr>
          <a:xfrm>
            <a:off x="6185916" y="1810512"/>
            <a:ext cx="5545836" cy="4498848"/>
          </a:xfrm>
          <a:prstGeom prst="roundRect">
            <a:avLst>
              <a:gd name="adj" fmla="val 1626"/>
            </a:avLst>
          </a:prstGeom>
          <a:solidFill>
            <a:srgbClr val="EEF3FA"/>
          </a:solidFill>
          <a:ln w="9525">
            <a:solidFill>
              <a:srgbClr val="C9D6EA"/>
            </a:solidFill>
            <a:prstDash val="solid"/>
          </a:ln>
        </p:spPr>
      </p:sp>
      <p:sp>
        <p:nvSpPr>
          <p:cNvPr id="16" name="Shape 13"/>
          <p:cNvSpPr/>
          <p:nvPr/>
        </p:nvSpPr>
        <p:spPr>
          <a:xfrm>
            <a:off x="6323076" y="1920240"/>
            <a:ext cx="5271516" cy="310896"/>
          </a:xfrm>
          <a:prstGeom prst="roundRect">
            <a:avLst>
              <a:gd name="adj" fmla="val 50000"/>
            </a:avLst>
          </a:prstGeom>
          <a:solidFill>
            <a:srgbClr val="2F6FB0"/>
          </a:solidFill>
          <a:ln w="12700">
            <a:solidFill>
              <a:srgbClr val="2F6FB0"/>
            </a:solidFill>
            <a:prstDash val="solid"/>
          </a:ln>
        </p:spPr>
      </p:sp>
      <p:sp>
        <p:nvSpPr>
          <p:cNvPr id="17" name="Text 14"/>
          <p:cNvSpPr txBox="1"/>
          <p:nvPr/>
        </p:nvSpPr>
        <p:spPr>
          <a:xfrm>
            <a:off x="6323076" y="1920240"/>
            <a:ext cx="5271516" cy="310896"/>
          </a:xfrm>
          <a:prstGeom prst="rect">
            <a:avLst/>
          </a:prstGeom>
          <a:noFill/>
          <a:ln/>
        </p:spPr>
        <p:txBody>
          <a:bodyPr wrap="square" lIns="0" tIns="0" rIns="0" bIns="0" rtlCol="0" anchor="ctr"/>
          <a:lstStyle/>
          <a:p>
            <a:pPr algn="ctr" indent="0" marL="0">
              <a:buNone/>
            </a:pPr>
            <a:r>
              <a:rPr lang="en-US" sz="950" b="1" dirty="0">
                <a:solidFill>
                  <a:srgbClr val="FFFFFF"/>
                </a:solidFill>
                <a:latin typeface="Calibri" pitchFamily="34" charset="0"/>
                <a:cs typeface="Amiri" pitchFamily="2" charset="-78"/>
              </a:rPr>
              <a:t>1 · F6-L05 · Describing Your Town: Advantages and Disadvantages</a:t>
            </a:r>
            <a:endParaRPr lang="en-US" sz="950" dirty="0"/>
          </a:p>
        </p:txBody>
      </p:sp>
      <p:sp>
        <p:nvSpPr>
          <p:cNvPr id="18" name="Shape 15"/>
          <p:cNvSpPr/>
          <p:nvPr/>
        </p:nvSpPr>
        <p:spPr>
          <a:xfrm>
            <a:off x="6323076" y="2377440"/>
            <a:ext cx="5271516" cy="438912"/>
          </a:xfrm>
          <a:prstGeom prst="roundRect">
            <a:avLst>
              <a:gd name="adj" fmla="val 12500"/>
            </a:avLst>
          </a:prstGeom>
          <a:solidFill>
            <a:srgbClr val="FFF4DC"/>
          </a:solidFill>
          <a:ln w="9525">
            <a:solidFill>
              <a:srgbClr val="E6C98A"/>
            </a:solidFill>
            <a:prstDash val="solid"/>
          </a:ln>
        </p:spPr>
      </p:sp>
      <p:sp>
        <p:nvSpPr>
          <p:cNvPr id="19" name="Text 16"/>
          <p:cNvSpPr txBox="1"/>
          <p:nvPr/>
        </p:nvSpPr>
        <p:spPr>
          <a:xfrm>
            <a:off x="6414516" y="2377440"/>
            <a:ext cx="5088636" cy="438912"/>
          </a:xfrm>
          <a:prstGeom prst="rect">
            <a:avLst/>
          </a:prstGeom>
          <a:noFill/>
          <a:ln/>
        </p:spPr>
        <p:txBody>
          <a:bodyPr wrap="square" lIns="0" tIns="0" rIns="0" bIns="0" rtlCol="0" anchor="ctr"/>
          <a:lstStyle/>
          <a:p>
            <a:pPr rtl="1" algn="ctr" indent="0" marL="0">
              <a:buNone/>
            </a:pPr>
            <a:r>
              <a:rPr lang="ar-SA" altLang="en-US" sz="1800" b="1" dirty="0">
                <a:solidFill>
                  <a:srgbClr val="1B3B6F"/>
                </a:solidFill>
                <a:latin typeface="Amiri" pitchFamily="2" charset="-78"/>
                <a:ea typeface="Amiri" pitchFamily="2" charset="-78"/>
                <a:cs typeface="Amiri" pitchFamily="2" charset="-78"/>
              </a:rPr>
              <a:t>مَدِينَتِي … وَ… ، لٰكِنَّهَا …</a:t>
            </a:r>
            <a:endParaRPr lang="ar-SA" sz="1800" dirty="0"/>
          </a:p>
        </p:txBody>
      </p:sp>
      <p:sp>
        <p:nvSpPr>
          <p:cNvPr id="20" name="Shape 17"/>
          <p:cNvSpPr/>
          <p:nvPr/>
        </p:nvSpPr>
        <p:spPr>
          <a:xfrm>
            <a:off x="6323076" y="2889504"/>
            <a:ext cx="5271516" cy="438912"/>
          </a:xfrm>
          <a:prstGeom prst="roundRect">
            <a:avLst>
              <a:gd name="adj" fmla="val 12500"/>
            </a:avLst>
          </a:prstGeom>
          <a:solidFill>
            <a:srgbClr val="FFF4DC"/>
          </a:solidFill>
          <a:ln w="9525">
            <a:solidFill>
              <a:srgbClr val="E6C98A"/>
            </a:solidFill>
            <a:prstDash val="solid"/>
          </a:ln>
        </p:spPr>
      </p:sp>
      <p:sp>
        <p:nvSpPr>
          <p:cNvPr id="21" name="Text 18"/>
          <p:cNvSpPr txBox="1"/>
          <p:nvPr/>
        </p:nvSpPr>
        <p:spPr>
          <a:xfrm>
            <a:off x="6414516" y="2889504"/>
            <a:ext cx="5088636" cy="438912"/>
          </a:xfrm>
          <a:prstGeom prst="rect">
            <a:avLst/>
          </a:prstGeom>
          <a:noFill/>
          <a:ln/>
        </p:spPr>
        <p:txBody>
          <a:bodyPr wrap="square" lIns="0" tIns="0" rIns="0" bIns="0" rtlCol="0" anchor="ctr"/>
          <a:lstStyle/>
          <a:p>
            <a:pPr rtl="1" algn="ctr" indent="0" marL="0">
              <a:buNone/>
            </a:pPr>
            <a:r>
              <a:rPr lang="ar-SA" altLang="en-US" sz="1800" b="1" dirty="0">
                <a:solidFill>
                  <a:srgbClr val="1B3B6F"/>
                </a:solidFill>
                <a:latin typeface="Amiri" pitchFamily="2" charset="-78"/>
                <a:ea typeface="Amiri" pitchFamily="2" charset="-78"/>
                <a:cs typeface="Amiri" pitchFamily="2" charset="-78"/>
              </a:rPr>
              <a:t>مِنْ مَزَايَا مَدِينَتِي أَنَّ …</a:t>
            </a:r>
            <a:endParaRPr lang="ar-SA" sz="1800" dirty="0"/>
          </a:p>
        </p:txBody>
      </p:sp>
      <p:sp>
        <p:nvSpPr>
          <p:cNvPr id="22" name="Shape 19"/>
          <p:cNvSpPr/>
          <p:nvPr/>
        </p:nvSpPr>
        <p:spPr>
          <a:xfrm>
            <a:off x="6323076" y="3401568"/>
            <a:ext cx="5271516" cy="438912"/>
          </a:xfrm>
          <a:prstGeom prst="roundRect">
            <a:avLst>
              <a:gd name="adj" fmla="val 12500"/>
            </a:avLst>
          </a:prstGeom>
          <a:solidFill>
            <a:srgbClr val="FFF4DC"/>
          </a:solidFill>
          <a:ln w="9525">
            <a:solidFill>
              <a:srgbClr val="E6C98A"/>
            </a:solidFill>
            <a:prstDash val="solid"/>
          </a:ln>
        </p:spPr>
      </p:sp>
      <p:sp>
        <p:nvSpPr>
          <p:cNvPr id="23" name="Text 20"/>
          <p:cNvSpPr txBox="1"/>
          <p:nvPr/>
        </p:nvSpPr>
        <p:spPr>
          <a:xfrm>
            <a:off x="6414516" y="3401568"/>
            <a:ext cx="5088636" cy="438912"/>
          </a:xfrm>
          <a:prstGeom prst="rect">
            <a:avLst/>
          </a:prstGeom>
          <a:noFill/>
          <a:ln/>
        </p:spPr>
        <p:txBody>
          <a:bodyPr wrap="square" lIns="0" tIns="0" rIns="0" bIns="0" rtlCol="0" anchor="ctr"/>
          <a:lstStyle/>
          <a:p>
            <a:pPr rtl="1" algn="ctr" indent="0" marL="0">
              <a:buNone/>
            </a:pPr>
            <a:r>
              <a:rPr lang="ar-SA" altLang="en-US" sz="1800" b="1" dirty="0">
                <a:solidFill>
                  <a:srgbClr val="1B3B6F"/>
                </a:solidFill>
                <a:latin typeface="Amiri" pitchFamily="2" charset="-78"/>
                <a:ea typeface="Amiri" pitchFamily="2" charset="-78"/>
                <a:cs typeface="Amiri" pitchFamily="2" charset="-78"/>
              </a:rPr>
              <a:t>مِنْ عُيُوبِهَا أَنَّ …</a:t>
            </a:r>
            <a:endParaRPr lang="ar-SA" sz="1800" dirty="0"/>
          </a:p>
        </p:txBody>
      </p:sp>
      <p:sp>
        <p:nvSpPr>
          <p:cNvPr id="24" name="Shape 21"/>
          <p:cNvSpPr/>
          <p:nvPr/>
        </p:nvSpPr>
        <p:spPr>
          <a:xfrm>
            <a:off x="6323076" y="3913632"/>
            <a:ext cx="5271516" cy="438912"/>
          </a:xfrm>
          <a:prstGeom prst="roundRect">
            <a:avLst>
              <a:gd name="adj" fmla="val 12500"/>
            </a:avLst>
          </a:prstGeom>
          <a:solidFill>
            <a:srgbClr val="FFF4DC"/>
          </a:solidFill>
          <a:ln w="9525">
            <a:solidFill>
              <a:srgbClr val="E6C98A"/>
            </a:solidFill>
            <a:prstDash val="solid"/>
          </a:ln>
        </p:spPr>
      </p:sp>
      <p:sp>
        <p:nvSpPr>
          <p:cNvPr id="25" name="Text 22"/>
          <p:cNvSpPr txBox="1"/>
          <p:nvPr/>
        </p:nvSpPr>
        <p:spPr>
          <a:xfrm>
            <a:off x="6414516" y="3913632"/>
            <a:ext cx="5088636" cy="438912"/>
          </a:xfrm>
          <a:prstGeom prst="rect">
            <a:avLst/>
          </a:prstGeom>
          <a:noFill/>
          <a:ln/>
        </p:spPr>
        <p:txBody>
          <a:bodyPr wrap="square" lIns="0" tIns="0" rIns="0" bIns="0" rtlCol="0" anchor="ctr"/>
          <a:lstStyle/>
          <a:p>
            <a:pPr rtl="1" algn="ctr" indent="0" marL="0">
              <a:buNone/>
            </a:pPr>
            <a:r>
              <a:rPr lang="ar-SA" altLang="en-US" sz="1800" b="1" dirty="0">
                <a:solidFill>
                  <a:srgbClr val="1B3B6F"/>
                </a:solidFill>
                <a:latin typeface="Amiri" pitchFamily="2" charset="-78"/>
                <a:ea typeface="Amiri" pitchFamily="2" charset="-78"/>
                <a:cs typeface="Amiri" pitchFamily="2" charset="-78"/>
              </a:rPr>
              <a:t>بِصِفَةٍ عَامَّةٍ …</a:t>
            </a:r>
            <a:endParaRPr lang="ar-SA" sz="1800" dirty="0"/>
          </a:p>
        </p:txBody>
      </p:sp>
      <p:sp>
        <p:nvSpPr>
          <p:cNvPr id="26" name="Shape 23"/>
          <p:cNvSpPr/>
          <p:nvPr/>
        </p:nvSpPr>
        <p:spPr>
          <a:xfrm>
            <a:off x="457200" y="1810512"/>
            <a:ext cx="5545836" cy="4498848"/>
          </a:xfrm>
          <a:prstGeom prst="roundRect">
            <a:avLst>
              <a:gd name="adj" fmla="val 1626"/>
            </a:avLst>
          </a:prstGeom>
          <a:solidFill>
            <a:srgbClr val="EEF3FA"/>
          </a:solidFill>
          <a:ln w="9525">
            <a:solidFill>
              <a:srgbClr val="C9D6EA"/>
            </a:solidFill>
            <a:prstDash val="solid"/>
          </a:ln>
        </p:spPr>
      </p:sp>
      <p:sp>
        <p:nvSpPr>
          <p:cNvPr id="27" name="Shape 24"/>
          <p:cNvSpPr/>
          <p:nvPr/>
        </p:nvSpPr>
        <p:spPr>
          <a:xfrm>
            <a:off x="594360" y="1920240"/>
            <a:ext cx="5271516" cy="310896"/>
          </a:xfrm>
          <a:prstGeom prst="roundRect">
            <a:avLst>
              <a:gd name="adj" fmla="val 50000"/>
            </a:avLst>
          </a:prstGeom>
          <a:solidFill>
            <a:srgbClr val="2F6FB0"/>
          </a:solidFill>
          <a:ln w="12700">
            <a:solidFill>
              <a:srgbClr val="2F6FB0"/>
            </a:solidFill>
            <a:prstDash val="solid"/>
          </a:ln>
        </p:spPr>
      </p:sp>
      <p:sp>
        <p:nvSpPr>
          <p:cNvPr id="28" name="Text 25"/>
          <p:cNvSpPr txBox="1"/>
          <p:nvPr/>
        </p:nvSpPr>
        <p:spPr>
          <a:xfrm>
            <a:off x="594360" y="1920240"/>
            <a:ext cx="5271516" cy="310896"/>
          </a:xfrm>
          <a:prstGeom prst="rect">
            <a:avLst/>
          </a:prstGeom>
          <a:noFill/>
          <a:ln/>
        </p:spPr>
        <p:txBody>
          <a:bodyPr wrap="square" lIns="0" tIns="0" rIns="0" bIns="0" rtlCol="0" anchor="ctr"/>
          <a:lstStyle/>
          <a:p>
            <a:pPr algn="ctr" indent="0" marL="0">
              <a:buNone/>
            </a:pPr>
            <a:r>
              <a:rPr lang="en-US" sz="950" b="1" dirty="0">
                <a:solidFill>
                  <a:srgbClr val="FFFFFF"/>
                </a:solidFill>
                <a:latin typeface="Calibri" pitchFamily="34" charset="0"/>
                <a:cs typeface="Amiri" pitchFamily="2" charset="-78"/>
              </a:rPr>
              <a:t>2 · F6-L06 · Shopping in Town: Prices and Comparisons</a:t>
            </a:r>
            <a:endParaRPr lang="en-US" sz="950" dirty="0"/>
          </a:p>
        </p:txBody>
      </p:sp>
      <p:sp>
        <p:nvSpPr>
          <p:cNvPr id="29" name="Shape 26"/>
          <p:cNvSpPr/>
          <p:nvPr/>
        </p:nvSpPr>
        <p:spPr>
          <a:xfrm>
            <a:off x="594360" y="2377440"/>
            <a:ext cx="5271516" cy="438912"/>
          </a:xfrm>
          <a:prstGeom prst="roundRect">
            <a:avLst>
              <a:gd name="adj" fmla="val 12500"/>
            </a:avLst>
          </a:prstGeom>
          <a:solidFill>
            <a:srgbClr val="FFF4DC"/>
          </a:solidFill>
          <a:ln w="9525">
            <a:solidFill>
              <a:srgbClr val="E6C98A"/>
            </a:solidFill>
            <a:prstDash val="solid"/>
          </a:ln>
        </p:spPr>
      </p:sp>
      <p:sp>
        <p:nvSpPr>
          <p:cNvPr id="30" name="Text 27"/>
          <p:cNvSpPr txBox="1"/>
          <p:nvPr/>
        </p:nvSpPr>
        <p:spPr>
          <a:xfrm>
            <a:off x="685800" y="2377440"/>
            <a:ext cx="5088636" cy="438912"/>
          </a:xfrm>
          <a:prstGeom prst="rect">
            <a:avLst/>
          </a:prstGeom>
          <a:noFill/>
          <a:ln/>
        </p:spPr>
        <p:txBody>
          <a:bodyPr wrap="square" lIns="0" tIns="0" rIns="0" bIns="0" rtlCol="0" anchor="ctr"/>
          <a:lstStyle/>
          <a:p>
            <a:pPr rtl="1" algn="ctr" indent="0" marL="0">
              <a:buNone/>
            </a:pPr>
            <a:r>
              <a:rPr lang="ar-SA" altLang="en-US" sz="1800" b="1" dirty="0">
                <a:solidFill>
                  <a:srgbClr val="1B3B6F"/>
                </a:solidFill>
                <a:latin typeface="Amiri" pitchFamily="2" charset="-78"/>
                <a:ea typeface="Amiri" pitchFamily="2" charset="-78"/>
                <a:cs typeface="Amiri" pitchFamily="2" charset="-78"/>
              </a:rPr>
              <a:t>فِي … ثَمَنُ … جُنَيْهًا</a:t>
            </a:r>
            <a:endParaRPr lang="ar-SA" sz="1800" dirty="0"/>
          </a:p>
        </p:txBody>
      </p:sp>
      <p:sp>
        <p:nvSpPr>
          <p:cNvPr id="31" name="Shape 28"/>
          <p:cNvSpPr/>
          <p:nvPr/>
        </p:nvSpPr>
        <p:spPr>
          <a:xfrm>
            <a:off x="594360" y="2889504"/>
            <a:ext cx="5271516" cy="438912"/>
          </a:xfrm>
          <a:prstGeom prst="roundRect">
            <a:avLst>
              <a:gd name="adj" fmla="val 12500"/>
            </a:avLst>
          </a:prstGeom>
          <a:solidFill>
            <a:srgbClr val="FFF4DC"/>
          </a:solidFill>
          <a:ln w="9525">
            <a:solidFill>
              <a:srgbClr val="E6C98A"/>
            </a:solidFill>
            <a:prstDash val="solid"/>
          </a:ln>
        </p:spPr>
      </p:sp>
      <p:sp>
        <p:nvSpPr>
          <p:cNvPr id="32" name="Text 29"/>
          <p:cNvSpPr txBox="1"/>
          <p:nvPr/>
        </p:nvSpPr>
        <p:spPr>
          <a:xfrm>
            <a:off x="685800" y="2889504"/>
            <a:ext cx="5088636" cy="438912"/>
          </a:xfrm>
          <a:prstGeom prst="rect">
            <a:avLst/>
          </a:prstGeom>
          <a:noFill/>
          <a:ln/>
        </p:spPr>
        <p:txBody>
          <a:bodyPr wrap="square" lIns="0" tIns="0" rIns="0" bIns="0" rtlCol="0" anchor="ctr"/>
          <a:lstStyle/>
          <a:p>
            <a:pPr rtl="1" algn="ctr" indent="0" marL="0">
              <a:buNone/>
            </a:pPr>
            <a:r>
              <a:rPr lang="ar-SA" altLang="en-US" sz="1800" b="1" dirty="0">
                <a:solidFill>
                  <a:srgbClr val="1B3B6F"/>
                </a:solidFill>
                <a:latin typeface="Amiri" pitchFamily="2" charset="-78"/>
                <a:ea typeface="Amiri" pitchFamily="2" charset="-78"/>
                <a:cs typeface="Amiri" pitchFamily="2" charset="-78"/>
              </a:rPr>
              <a:t>… أَرْخَصُ مِنْ … · … أَغْلَى مِنْ …</a:t>
            </a:r>
            <a:endParaRPr lang="ar-SA" sz="1800" dirty="0"/>
          </a:p>
        </p:txBody>
      </p:sp>
      <p:sp>
        <p:nvSpPr>
          <p:cNvPr id="33" name="Shape 30"/>
          <p:cNvSpPr/>
          <p:nvPr/>
        </p:nvSpPr>
        <p:spPr>
          <a:xfrm>
            <a:off x="594360" y="3401568"/>
            <a:ext cx="5271516" cy="438912"/>
          </a:xfrm>
          <a:prstGeom prst="roundRect">
            <a:avLst>
              <a:gd name="adj" fmla="val 12500"/>
            </a:avLst>
          </a:prstGeom>
          <a:solidFill>
            <a:srgbClr val="FFF4DC"/>
          </a:solidFill>
          <a:ln w="9525">
            <a:solidFill>
              <a:srgbClr val="E6C98A"/>
            </a:solidFill>
            <a:prstDash val="solid"/>
          </a:ln>
        </p:spPr>
      </p:sp>
      <p:sp>
        <p:nvSpPr>
          <p:cNvPr id="34" name="Text 31"/>
          <p:cNvSpPr txBox="1"/>
          <p:nvPr/>
        </p:nvSpPr>
        <p:spPr>
          <a:xfrm>
            <a:off x="685800" y="3401568"/>
            <a:ext cx="5088636" cy="438912"/>
          </a:xfrm>
          <a:prstGeom prst="rect">
            <a:avLst/>
          </a:prstGeom>
          <a:noFill/>
          <a:ln/>
        </p:spPr>
        <p:txBody>
          <a:bodyPr wrap="square" lIns="0" tIns="0" rIns="0" bIns="0" rtlCol="0" anchor="ctr"/>
          <a:lstStyle/>
          <a:p>
            <a:pPr rtl="1" algn="ctr" indent="0" marL="0">
              <a:buNone/>
            </a:pPr>
            <a:r>
              <a:rPr lang="ar-SA" altLang="en-US" sz="1800" b="1" dirty="0">
                <a:solidFill>
                  <a:srgbClr val="1B3B6F"/>
                </a:solidFill>
                <a:latin typeface="Amiri" pitchFamily="2" charset="-78"/>
                <a:ea typeface="Amiri" pitchFamily="2" charset="-78"/>
                <a:cs typeface="Amiri" pitchFamily="2" charset="-78"/>
              </a:rPr>
              <a:t>يُمْكِنُ أَنْ تَدْفَعَ نَقْدًا أَوْ بِالبِطَاقَةِ</a:t>
            </a:r>
            <a:endParaRPr lang="ar-SA" sz="1800" dirty="0"/>
          </a:p>
        </p:txBody>
      </p:sp>
      <p:sp>
        <p:nvSpPr>
          <p:cNvPr id="35" name="Shape 32"/>
          <p:cNvSpPr/>
          <p:nvPr/>
        </p:nvSpPr>
        <p:spPr>
          <a:xfrm>
            <a:off x="594360" y="3913632"/>
            <a:ext cx="5271516" cy="438912"/>
          </a:xfrm>
          <a:prstGeom prst="roundRect">
            <a:avLst>
              <a:gd name="adj" fmla="val 12500"/>
            </a:avLst>
          </a:prstGeom>
          <a:solidFill>
            <a:srgbClr val="FFF4DC"/>
          </a:solidFill>
          <a:ln w="9525">
            <a:solidFill>
              <a:srgbClr val="E6C98A"/>
            </a:solidFill>
            <a:prstDash val="solid"/>
          </a:ln>
        </p:spPr>
      </p:sp>
      <p:sp>
        <p:nvSpPr>
          <p:cNvPr id="36" name="Text 33"/>
          <p:cNvSpPr txBox="1"/>
          <p:nvPr/>
        </p:nvSpPr>
        <p:spPr>
          <a:xfrm>
            <a:off x="685800" y="3913632"/>
            <a:ext cx="5088636" cy="438912"/>
          </a:xfrm>
          <a:prstGeom prst="rect">
            <a:avLst/>
          </a:prstGeom>
          <a:noFill/>
          <a:ln/>
        </p:spPr>
        <p:txBody>
          <a:bodyPr wrap="square" lIns="0" tIns="0" rIns="0" bIns="0" rtlCol="0" anchor="ctr"/>
          <a:lstStyle/>
          <a:p>
            <a:pPr rtl="1" algn="ctr" indent="0" marL="0">
              <a:buNone/>
            </a:pPr>
            <a:r>
              <a:rPr lang="ar-SA" altLang="en-US" sz="1800" b="1" dirty="0">
                <a:solidFill>
                  <a:srgbClr val="1B3B6F"/>
                </a:solidFill>
                <a:latin typeface="Amiri" pitchFamily="2" charset="-78"/>
                <a:ea typeface="Amiri" pitchFamily="2" charset="-78"/>
                <a:cs typeface="Amiri" pitchFamily="2" charset="-78"/>
              </a:rPr>
              <a:t>أُفَضِّلُ … لِأَنَّ …</a:t>
            </a:r>
            <a:endParaRPr lang="ar-SA" sz="1800" dirty="0"/>
          </a:p>
        </p:txBody>
      </p:sp>
      <p:sp>
        <p:nvSpPr>
          <p:cNvPr id="37" name="Text 34"/>
          <p:cNvSpPr txBox="1"/>
          <p:nvPr/>
        </p:nvSpPr>
        <p:spPr>
          <a:xfrm>
            <a:off x="10360152" y="6455664"/>
            <a:ext cx="1371600" cy="219456"/>
          </a:xfrm>
          <a:prstGeom prst="rect">
            <a:avLst/>
          </a:prstGeom>
          <a:noFill/>
          <a:ln/>
        </p:spPr>
        <p:txBody>
          <a:bodyPr wrap="square" lIns="0" tIns="0" rIns="0" bIns="0" rtlCol="0" anchor="ctr"/>
          <a:lstStyle/>
          <a:p>
            <a:pPr algn="r" indent="0" marL="0">
              <a:buNone/>
            </a:pPr>
            <a:r>
              <a:rPr lang="en-US" sz="850" dirty="0">
                <a:solidFill>
                  <a:srgbClr val="8A93A0"/>
                </a:solidFill>
                <a:latin typeface="Calibri" pitchFamily="34" charset="0"/>
                <a:cs typeface="Amiri" pitchFamily="2" charset="-78"/>
              </a:rPr>
              <a:t>9 / 24</a:t>
            </a:r>
            <a:endParaRPr lang="en-US" sz="850" dirty="0"/>
          </a:p>
        </p:txBody>
      </p:sp>
    </p:spTree>
  </p:cSld>
  <p:clrMapOvr>
    <a:masterClrMapping/>
  </p:clrMapOvr>
</p:sld>
</file>

<file path=ppt/slides/slide10.xml><?xml version="1.0" encoding="utf-8"?>
<p:sld xmlns:a="http://schemas.openxmlformats.org/drawingml/2006/main" xmlns:r="http://schemas.openxmlformats.org/officeDocument/2006/relationships" xmlns:p="http://schemas.openxmlformats.org/presentationml/2006/main">
  <p:cSld name="Slide 10">
    <p:bg>
      <p:bgPr>
        <a:solidFill>
          <a:srgbClr val="FFFDF8"/>
        </a:solidFill>
      </p:bgPr>
    </p:bg>
    <p:spTree>
      <p:nvGrpSpPr>
        <p:cNvPr id="1" name=""/>
        <p:cNvGrpSpPr/>
        <p:nvPr/>
      </p:nvGrpSpPr>
      <p:grpSpPr>
        <a:xfrm>
          <a:off x="0" y="0"/>
          <a:ext cx="0" cy="0"/>
          <a:chOff x="0" y="0"/>
          <a:chExt cx="0" cy="0"/>
        </a:xfrm>
      </p:grpSpPr>
      <p:sp>
        <p:nvSpPr>
          <p:cNvPr id="2" name="Shape 0"/>
          <p:cNvSpPr/>
          <p:nvPr/>
        </p:nvSpPr>
        <p:spPr>
          <a:xfrm>
            <a:off x="457200" y="237744"/>
            <a:ext cx="420624" cy="420624"/>
          </a:xfrm>
          <a:prstGeom prst="ellipse">
            <a:avLst/>
          </a:prstGeom>
          <a:solidFill>
            <a:srgbClr val="1B3B6F"/>
          </a:solidFill>
          <a:ln w="12700">
            <a:solidFill>
              <a:srgbClr val="D4AF37"/>
            </a:solidFill>
            <a:prstDash val="solid"/>
          </a:ln>
        </p:spPr>
      </p:sp>
      <p:sp>
        <p:nvSpPr>
          <p:cNvPr id="3" name="Text 1"/>
          <p:cNvSpPr txBox="1"/>
          <p:nvPr/>
        </p:nvSpPr>
        <p:spPr>
          <a:xfrm>
            <a:off x="457200" y="219456"/>
            <a:ext cx="420624" cy="420624"/>
          </a:xfrm>
          <a:prstGeom prst="rect">
            <a:avLst/>
          </a:prstGeom>
          <a:noFill/>
          <a:ln/>
        </p:spPr>
        <p:txBody>
          <a:bodyPr wrap="square" lIns="0" tIns="0" rIns="0" bIns="0" rtlCol="0" anchor="ctr"/>
          <a:lstStyle/>
          <a:p>
            <a:pPr rtl="1" algn="ctr" indent="0" marL="0">
              <a:buNone/>
            </a:pPr>
            <a:r>
              <a:rPr lang="ar-SA" altLang="en-US" sz="1800" b="1" dirty="0">
                <a:solidFill>
                  <a:srgbClr val="D4AF37"/>
                </a:solidFill>
                <a:latin typeface="Amiri" pitchFamily="2" charset="-78"/>
                <a:ea typeface="Amiri" pitchFamily="2" charset="-78"/>
                <a:cs typeface="Amiri" pitchFamily="2" charset="-78"/>
              </a:rPr>
              <a:t>م</a:t>
            </a:r>
            <a:endParaRPr lang="ar-SA" sz="1800" dirty="0"/>
          </a:p>
        </p:txBody>
      </p:sp>
      <p:sp>
        <p:nvSpPr>
          <p:cNvPr id="4" name="Text 2"/>
          <p:cNvSpPr txBox="1"/>
          <p:nvPr/>
        </p:nvSpPr>
        <p:spPr>
          <a:xfrm>
            <a:off x="960120" y="219456"/>
            <a:ext cx="3657600" cy="256032"/>
          </a:xfrm>
          <a:prstGeom prst="rect">
            <a:avLst/>
          </a:prstGeom>
          <a:noFill/>
          <a:ln/>
        </p:spPr>
        <p:txBody>
          <a:bodyPr wrap="square" lIns="0" tIns="0" rIns="0" bIns="0" rtlCol="0" anchor="ctr"/>
          <a:lstStyle/>
          <a:p>
            <a:pPr indent="0" marL="0">
              <a:buNone/>
            </a:pPr>
            <a:r>
              <a:rPr lang="en-US" sz="1200" b="1" dirty="0">
                <a:solidFill>
                  <a:srgbClr val="1B3B6F"/>
                </a:solidFill>
                <a:latin typeface="Cambria" pitchFamily="34" charset="0"/>
                <a:cs typeface="Amiri" pitchFamily="2" charset="-78"/>
              </a:rPr>
              <a:t>Al Madina Online School</a:t>
            </a:r>
            <a:endParaRPr lang="en-US" sz="1200" dirty="0"/>
          </a:p>
        </p:txBody>
      </p:sp>
      <p:sp>
        <p:nvSpPr>
          <p:cNvPr id="5" name="Text 3"/>
          <p:cNvSpPr txBox="1"/>
          <p:nvPr/>
        </p:nvSpPr>
        <p:spPr>
          <a:xfrm>
            <a:off x="960120" y="457200"/>
            <a:ext cx="4572000" cy="182880"/>
          </a:xfrm>
          <a:prstGeom prst="rect">
            <a:avLst/>
          </a:prstGeom>
          <a:noFill/>
          <a:ln/>
        </p:spPr>
        <p:txBody>
          <a:bodyPr wrap="square" lIns="0" tIns="0" rIns="0" bIns="0" rtlCol="0" anchor="ctr"/>
          <a:lstStyle/>
          <a:p>
            <a:pPr indent="0" marL="0">
              <a:buNone/>
            </a:pPr>
            <a:r>
              <a:rPr lang="en-US" sz="800" b="1" spc="200" kern="0" dirty="0">
                <a:solidFill>
                  <a:srgbClr val="8A6D1E"/>
                </a:solidFill>
                <a:latin typeface="Calibri" pitchFamily="34" charset="0"/>
                <a:cs typeface="Amiri" pitchFamily="2" charset="-78"/>
              </a:rPr>
              <a:t>ARABIC DEPARTMENT · MIFTAH ARABIC · IGCSE 0544</a:t>
            </a:r>
            <a:endParaRPr lang="en-US" sz="800" dirty="0"/>
          </a:p>
        </p:txBody>
      </p:sp>
      <p:sp>
        <p:nvSpPr>
          <p:cNvPr id="6" name="Shape 4"/>
          <p:cNvSpPr/>
          <p:nvPr/>
        </p:nvSpPr>
        <p:spPr>
          <a:xfrm>
            <a:off x="8897112" y="274320"/>
            <a:ext cx="2834640" cy="329184"/>
          </a:xfrm>
          <a:prstGeom prst="roundRect">
            <a:avLst>
              <a:gd name="adj" fmla="val 50000"/>
            </a:avLst>
          </a:prstGeom>
          <a:solidFill>
            <a:srgbClr val="1B3B6F"/>
          </a:solidFill>
          <a:ln w="12700">
            <a:solidFill>
              <a:srgbClr val="1B3B6F"/>
            </a:solidFill>
            <a:prstDash val="solid"/>
          </a:ln>
        </p:spPr>
      </p:sp>
      <p:sp>
        <p:nvSpPr>
          <p:cNvPr id="7" name="Text 5"/>
          <p:cNvSpPr txBox="1"/>
          <p:nvPr/>
        </p:nvSpPr>
        <p:spPr>
          <a:xfrm>
            <a:off x="8897112" y="274320"/>
            <a:ext cx="2834640" cy="329184"/>
          </a:xfrm>
          <a:prstGeom prst="rect">
            <a:avLst/>
          </a:prstGeom>
          <a:noFill/>
          <a:ln/>
        </p:spPr>
        <p:txBody>
          <a:bodyPr wrap="square" lIns="0" tIns="0" rIns="0" bIns="0" rtlCol="0" anchor="ctr"/>
          <a:lstStyle/>
          <a:p>
            <a:pPr algn="ctr" indent="0" marL="0">
              <a:buNone/>
            </a:pPr>
            <a:r>
              <a:rPr lang="en-US" sz="950" b="1" spc="100" kern="0" dirty="0">
                <a:solidFill>
                  <a:srgbClr val="FFFFFF"/>
                </a:solidFill>
                <a:latin typeface="Calibri" pitchFamily="34" charset="0"/>
                <a:cs typeface="Amiri" pitchFamily="2" charset="-78"/>
              </a:rPr>
              <a:t>F6-W03 · Apply workshop</a:t>
            </a:r>
            <a:endParaRPr lang="en-US" sz="950" dirty="0"/>
          </a:p>
        </p:txBody>
      </p:sp>
      <p:sp>
        <p:nvSpPr>
          <p:cNvPr id="8" name="Shape 6"/>
          <p:cNvSpPr/>
          <p:nvPr/>
        </p:nvSpPr>
        <p:spPr>
          <a:xfrm>
            <a:off x="7370978" y="274320"/>
            <a:ext cx="1388974" cy="329184"/>
          </a:xfrm>
          <a:prstGeom prst="roundRect">
            <a:avLst>
              <a:gd name="adj" fmla="val 50000"/>
            </a:avLst>
          </a:prstGeom>
          <a:solidFill>
            <a:srgbClr val="2F6FB0"/>
          </a:solidFill>
          <a:ln w="12700">
            <a:solidFill>
              <a:srgbClr val="2F6FB0"/>
            </a:solidFill>
            <a:prstDash val="solid"/>
          </a:ln>
        </p:spPr>
      </p:sp>
      <p:sp>
        <p:nvSpPr>
          <p:cNvPr id="9" name="Text 7"/>
          <p:cNvSpPr txBox="1"/>
          <p:nvPr/>
        </p:nvSpPr>
        <p:spPr>
          <a:xfrm>
            <a:off x="7370978" y="274320"/>
            <a:ext cx="1388974" cy="329184"/>
          </a:xfrm>
          <a:prstGeom prst="rect">
            <a:avLst/>
          </a:prstGeom>
          <a:noFill/>
          <a:ln/>
        </p:spPr>
        <p:txBody>
          <a:bodyPr wrap="square" lIns="0" tIns="0" rIns="0" bIns="0" rtlCol="0" anchor="ctr"/>
          <a:lstStyle/>
          <a:p>
            <a:pPr algn="ctr" indent="0" marL="0">
              <a:buNone/>
            </a:pPr>
            <a:r>
              <a:rPr lang="en-US" sz="900" b="1" spc="100" kern="0" dirty="0">
                <a:solidFill>
                  <a:srgbClr val="FFFFFF"/>
                </a:solidFill>
                <a:latin typeface="Calibri" pitchFamily="34" charset="0"/>
                <a:cs typeface="Amiri" pitchFamily="2" charset="-78"/>
              </a:rPr>
              <a:t>WE DO · 5 MIN</a:t>
            </a:r>
            <a:endParaRPr lang="en-US" sz="900" dirty="0"/>
          </a:p>
        </p:txBody>
      </p:sp>
      <p:sp>
        <p:nvSpPr>
          <p:cNvPr id="10" name="Text 8"/>
          <p:cNvSpPr txBox="1"/>
          <p:nvPr/>
        </p:nvSpPr>
        <p:spPr>
          <a:xfrm>
            <a:off x="457200" y="822960"/>
            <a:ext cx="6949440" cy="237744"/>
          </a:xfrm>
          <a:prstGeom prst="rect">
            <a:avLst/>
          </a:prstGeom>
          <a:noFill/>
          <a:ln/>
        </p:spPr>
        <p:txBody>
          <a:bodyPr wrap="square" lIns="0" tIns="0" rIns="0" bIns="0" rtlCol="0" anchor="ctr"/>
          <a:lstStyle/>
          <a:p>
            <a:pPr algn="l" indent="0" marL="0">
              <a:buNone/>
            </a:pPr>
            <a:r>
              <a:rPr lang="en-US" sz="934" b="1" spc="150" kern="0" dirty="0">
                <a:solidFill>
                  <a:srgbClr val="2F6FB0"/>
                </a:solidFill>
                <a:latin typeface="Calibri" pitchFamily="34" charset="0"/>
                <a:cs typeface="Amiri" pitchFamily="2" charset="-78"/>
              </a:rPr>
              <a:t>PART 2 · STEP 3 · SAY THE MODEL DIALOGUE · BOTH LESSONS IN ONE CONVERSATION</a:t>
            </a:r>
            <a:endParaRPr lang="en-US" sz="934" dirty="0"/>
          </a:p>
        </p:txBody>
      </p:sp>
      <p:sp>
        <p:nvSpPr>
          <p:cNvPr id="11" name="Text 9"/>
          <p:cNvSpPr txBox="1"/>
          <p:nvPr/>
        </p:nvSpPr>
        <p:spPr>
          <a:xfrm>
            <a:off x="457200" y="1033272"/>
            <a:ext cx="6949440" cy="566928"/>
          </a:xfrm>
          <a:prstGeom prst="rect">
            <a:avLst/>
          </a:prstGeom>
          <a:noFill/>
          <a:ln/>
        </p:spPr>
        <p:txBody>
          <a:bodyPr wrap="square" lIns="0" tIns="0" rIns="0" bIns="0" rtlCol="0" anchor="ctr"/>
          <a:lstStyle/>
          <a:p>
            <a:pPr algn="l" indent="0" marL="0">
              <a:buNone/>
            </a:pPr>
            <a:r>
              <a:rPr lang="en-US" sz="2800" b="1" dirty="0">
                <a:solidFill>
                  <a:srgbClr val="1B3B6F"/>
                </a:solidFill>
                <a:latin typeface="Cambria" pitchFamily="34" charset="0"/>
                <a:cs typeface="Amiri" pitchFamily="2" charset="-78"/>
              </a:rPr>
              <a:t>Where shall we shop?</a:t>
            </a:r>
            <a:endParaRPr lang="en-US" sz="2800" dirty="0"/>
          </a:p>
        </p:txBody>
      </p:sp>
      <p:sp>
        <p:nvSpPr>
          <p:cNvPr id="12" name="Text 10"/>
          <p:cNvSpPr txBox="1"/>
          <p:nvPr/>
        </p:nvSpPr>
        <p:spPr>
          <a:xfrm>
            <a:off x="7498080" y="868680"/>
            <a:ext cx="4233672" cy="749808"/>
          </a:xfrm>
          <a:prstGeom prst="rect">
            <a:avLst/>
          </a:prstGeom>
          <a:noFill/>
          <a:ln/>
        </p:spPr>
        <p:txBody>
          <a:bodyPr wrap="square" lIns="0" tIns="0" rIns="0" bIns="0" rtlCol="0" anchor="ctr"/>
          <a:lstStyle/>
          <a:p>
            <a:pPr rtl="1" algn="r" indent="0" marL="0">
              <a:buNone/>
            </a:pPr>
            <a:r>
              <a:rPr lang="ar-SA" altLang="en-US" sz="2800" b="1" dirty="0">
                <a:solidFill>
                  <a:srgbClr val="8A6D1E"/>
                </a:solidFill>
                <a:latin typeface="Amiri" pitchFamily="2" charset="-78"/>
                <a:ea typeface="Amiri" pitchFamily="2" charset="-78"/>
                <a:cs typeface="Amiri" pitchFamily="2" charset="-78"/>
              </a:rPr>
              <a:t>أَيْنَ نَتَسَوَّقُ؟</a:t>
            </a:r>
            <a:endParaRPr lang="ar-SA" sz="2800" dirty="0"/>
          </a:p>
        </p:txBody>
      </p:sp>
      <p:sp>
        <p:nvSpPr>
          <p:cNvPr id="13" name="Text 11"/>
          <p:cNvSpPr txBox="1"/>
          <p:nvPr/>
        </p:nvSpPr>
        <p:spPr>
          <a:xfrm>
            <a:off x="457200" y="6455664"/>
            <a:ext cx="6400800" cy="219456"/>
          </a:xfrm>
          <a:prstGeom prst="rect">
            <a:avLst/>
          </a:prstGeom>
          <a:noFill/>
          <a:ln/>
        </p:spPr>
        <p:txBody>
          <a:bodyPr wrap="square" lIns="0" tIns="0" rIns="0" bIns="0" rtlCol="0" anchor="ctr"/>
          <a:lstStyle/>
          <a:p>
            <a:pPr indent="0" marL="0">
              <a:buNone/>
            </a:pPr>
            <a:r>
              <a:rPr lang="en-US" sz="850" dirty="0">
                <a:solidFill>
                  <a:srgbClr val="8A93A0"/>
                </a:solidFill>
                <a:latin typeface="Calibri" pitchFamily="34" charset="0"/>
                <a:cs typeface="Amiri" pitchFamily="2" charset="-78"/>
              </a:rPr>
              <a:t>Miftah Arabic · Foundation F6 · My Town and Transport · F6-W03 · Apply workshop (F6-L05 + F6-L06)</a:t>
            </a:r>
            <a:endParaRPr lang="en-US" sz="850" dirty="0"/>
          </a:p>
        </p:txBody>
      </p:sp>
      <p:sp>
        <p:nvSpPr>
          <p:cNvPr id="15" name="Shape 12"/>
          <p:cNvSpPr/>
          <p:nvPr/>
        </p:nvSpPr>
        <p:spPr>
          <a:xfrm>
            <a:off x="457200" y="1810512"/>
            <a:ext cx="11274552" cy="384048"/>
          </a:xfrm>
          <a:prstGeom prst="rect">
            <a:avLst/>
          </a:prstGeom>
          <a:solidFill>
            <a:srgbClr val="1B3B6F"/>
          </a:solidFill>
          <a:ln w="12700">
            <a:solidFill>
              <a:srgbClr val="1B3B6F"/>
            </a:solidFill>
            <a:prstDash val="solid"/>
          </a:ln>
        </p:spPr>
      </p:sp>
      <p:sp>
        <p:nvSpPr>
          <p:cNvPr id="16" name="Text 13"/>
          <p:cNvSpPr txBox="1"/>
          <p:nvPr/>
        </p:nvSpPr>
        <p:spPr>
          <a:xfrm>
            <a:off x="7754112" y="1810512"/>
            <a:ext cx="3904488" cy="384048"/>
          </a:xfrm>
          <a:prstGeom prst="rect">
            <a:avLst/>
          </a:prstGeom>
          <a:noFill/>
          <a:ln/>
        </p:spPr>
        <p:txBody>
          <a:bodyPr wrap="square" lIns="0" tIns="0" rIns="0" bIns="0" rtlCol="0" anchor="ctr"/>
          <a:lstStyle/>
          <a:p>
            <a:pPr algn="ctr" indent="0" marL="0">
              <a:buNone/>
            </a:pPr>
            <a:r>
              <a:rPr lang="en-US" sz="1100" b="1" dirty="0">
                <a:solidFill>
                  <a:srgbClr val="FFFFFF"/>
                </a:solidFill>
                <a:latin typeface="Calibri" pitchFamily="34" charset="0"/>
                <a:cs typeface="Amiri" pitchFamily="2" charset="-78"/>
              </a:rPr>
              <a:t>Meaning</a:t>
            </a:r>
            <a:endParaRPr lang="en-US" sz="1100" dirty="0"/>
          </a:p>
        </p:txBody>
      </p:sp>
      <p:sp>
        <p:nvSpPr>
          <p:cNvPr id="17" name="Text 14"/>
          <p:cNvSpPr txBox="1"/>
          <p:nvPr/>
        </p:nvSpPr>
        <p:spPr>
          <a:xfrm>
            <a:off x="1444752" y="1810512"/>
            <a:ext cx="6163056" cy="384048"/>
          </a:xfrm>
          <a:prstGeom prst="rect">
            <a:avLst/>
          </a:prstGeom>
          <a:noFill/>
          <a:ln/>
        </p:spPr>
        <p:txBody>
          <a:bodyPr wrap="square" lIns="0" tIns="0" rIns="0" bIns="0" rtlCol="0" anchor="ctr"/>
          <a:lstStyle/>
          <a:p>
            <a:pPr algn="ctr" indent="0" marL="0">
              <a:buNone/>
            </a:pPr>
            <a:r>
              <a:rPr lang="en-US" sz="1100" b="1" dirty="0">
                <a:solidFill>
                  <a:srgbClr val="FFFFFF"/>
                </a:solidFill>
                <a:latin typeface="Calibri" pitchFamily="34" charset="0"/>
                <a:cs typeface="Amiri" pitchFamily="2" charset="-78"/>
              </a:rPr>
              <a:t>Say it in Arabic</a:t>
            </a:r>
            <a:endParaRPr lang="en-US" sz="1100" dirty="0"/>
          </a:p>
        </p:txBody>
      </p:sp>
      <p:sp>
        <p:nvSpPr>
          <p:cNvPr id="18" name="Text 15"/>
          <p:cNvSpPr txBox="1"/>
          <p:nvPr/>
        </p:nvSpPr>
        <p:spPr>
          <a:xfrm>
            <a:off x="530352" y="1810512"/>
            <a:ext cx="768096" cy="384048"/>
          </a:xfrm>
          <a:prstGeom prst="rect">
            <a:avLst/>
          </a:prstGeom>
          <a:noFill/>
          <a:ln/>
        </p:spPr>
        <p:txBody>
          <a:bodyPr wrap="square" lIns="0" tIns="0" rIns="0" bIns="0" rtlCol="0" anchor="ctr"/>
          <a:lstStyle/>
          <a:p>
            <a:pPr algn="ctr" indent="0" marL="0">
              <a:buNone/>
            </a:pPr>
            <a:r>
              <a:rPr lang="en-US" sz="1100" b="1" dirty="0">
                <a:solidFill>
                  <a:srgbClr val="FFFFFF"/>
                </a:solidFill>
                <a:latin typeface="Calibri" pitchFamily="34" charset="0"/>
                <a:cs typeface="Amiri" pitchFamily="2" charset="-78"/>
              </a:rPr>
              <a:t>Who</a:t>
            </a:r>
            <a:endParaRPr lang="en-US" sz="1100" dirty="0"/>
          </a:p>
        </p:txBody>
      </p:sp>
      <p:sp>
        <p:nvSpPr>
          <p:cNvPr id="19" name="Shape 16"/>
          <p:cNvSpPr/>
          <p:nvPr/>
        </p:nvSpPr>
        <p:spPr>
          <a:xfrm>
            <a:off x="457200" y="2267712"/>
            <a:ext cx="11274552" cy="559308"/>
          </a:xfrm>
          <a:prstGeom prst="roundRect">
            <a:avLst>
              <a:gd name="adj" fmla="val 8174"/>
            </a:avLst>
          </a:prstGeom>
          <a:solidFill>
            <a:srgbClr val="FFFFFF"/>
          </a:solidFill>
          <a:ln w="9525">
            <a:solidFill>
              <a:srgbClr val="D8D0BF"/>
            </a:solidFill>
            <a:prstDash val="solid"/>
          </a:ln>
        </p:spPr>
      </p:sp>
      <p:sp>
        <p:nvSpPr>
          <p:cNvPr id="20" name="Text 17"/>
          <p:cNvSpPr txBox="1"/>
          <p:nvPr/>
        </p:nvSpPr>
        <p:spPr>
          <a:xfrm>
            <a:off x="7790688" y="2267712"/>
            <a:ext cx="3867912" cy="559308"/>
          </a:xfrm>
          <a:prstGeom prst="rect">
            <a:avLst/>
          </a:prstGeom>
          <a:noFill/>
          <a:ln/>
        </p:spPr>
        <p:txBody>
          <a:bodyPr wrap="square" lIns="0" tIns="0" rIns="0" bIns="0" rtlCol="0" anchor="ctr"/>
          <a:lstStyle/>
          <a:p>
            <a:pPr algn="l" indent="0" marL="0">
              <a:buNone/>
            </a:pPr>
            <a:r>
              <a:rPr lang="en-US" sz="1100" dirty="0">
                <a:solidFill>
                  <a:srgbClr val="5A6472"/>
                </a:solidFill>
                <a:latin typeface="Calibri" pitchFamily="34" charset="0"/>
                <a:cs typeface="Amiri" pitchFamily="2" charset="-78"/>
              </a:rPr>
              <a:t>Where do you usually shop: in the market or in the shopping centre?</a:t>
            </a:r>
            <a:endParaRPr lang="en-US" sz="1100" dirty="0"/>
          </a:p>
        </p:txBody>
      </p:sp>
      <p:sp>
        <p:nvSpPr>
          <p:cNvPr id="21" name="Text 18"/>
          <p:cNvSpPr txBox="1"/>
          <p:nvPr/>
        </p:nvSpPr>
        <p:spPr>
          <a:xfrm>
            <a:off x="1463040" y="2267712"/>
            <a:ext cx="6126480" cy="559308"/>
          </a:xfrm>
          <a:prstGeom prst="rect">
            <a:avLst/>
          </a:prstGeom>
          <a:noFill/>
          <a:ln/>
        </p:spPr>
        <p:txBody>
          <a:bodyPr wrap="square" lIns="0" tIns="0" rIns="0" bIns="0" rtlCol="0" anchor="ctr"/>
          <a:lstStyle/>
          <a:p>
            <a:pPr rtl="1" algn="ctr" indent="0" marL="0">
              <a:buNone/>
            </a:pPr>
            <a:r>
              <a:rPr lang="ar-SA" altLang="en-US" sz="1900" b="1" dirty="0">
                <a:solidFill>
                  <a:srgbClr val="1B3B6F"/>
                </a:solidFill>
                <a:latin typeface="Amiri" pitchFamily="2" charset="-78"/>
                <a:ea typeface="Amiri" pitchFamily="2" charset="-78"/>
                <a:cs typeface="Amiri" pitchFamily="2" charset="-78"/>
              </a:rPr>
              <a:t>أَيْنَ تَتَسَوَّقِينَ عَادَةً: فِي السُّوقِ أَمْ فِي المَرْكَزِ التِّجَارِيِّ؟</a:t>
            </a:r>
            <a:endParaRPr lang="ar-SA" sz="1900" dirty="0"/>
          </a:p>
        </p:txBody>
      </p:sp>
      <p:sp>
        <p:nvSpPr>
          <p:cNvPr id="22" name="Text 19"/>
          <p:cNvSpPr txBox="1"/>
          <p:nvPr/>
        </p:nvSpPr>
        <p:spPr>
          <a:xfrm>
            <a:off x="566928" y="2267712"/>
            <a:ext cx="731520" cy="559308"/>
          </a:xfrm>
          <a:prstGeom prst="rect">
            <a:avLst/>
          </a:prstGeom>
          <a:noFill/>
          <a:ln/>
        </p:spPr>
        <p:txBody>
          <a:bodyPr wrap="square" lIns="0" tIns="0" rIns="0" bIns="0" rtlCol="0" anchor="ctr"/>
          <a:lstStyle/>
          <a:p>
            <a:pPr algn="l" indent="0" marL="0">
              <a:buNone/>
            </a:pPr>
            <a:r>
              <a:rPr lang="en-US" sz="1100" dirty="0">
                <a:solidFill>
                  <a:srgbClr val="5A6472"/>
                </a:solidFill>
                <a:latin typeface="Calibri" pitchFamily="34" charset="0"/>
                <a:cs typeface="Amiri" pitchFamily="2" charset="-78"/>
              </a:rPr>
              <a:t>A</a:t>
            </a:r>
            <a:endParaRPr lang="en-US" sz="1100" dirty="0"/>
          </a:p>
        </p:txBody>
      </p:sp>
      <p:sp>
        <p:nvSpPr>
          <p:cNvPr id="23" name="Shape 20"/>
          <p:cNvSpPr/>
          <p:nvPr/>
        </p:nvSpPr>
        <p:spPr>
          <a:xfrm>
            <a:off x="457200" y="2881884"/>
            <a:ext cx="11274552" cy="559308"/>
          </a:xfrm>
          <a:prstGeom prst="roundRect">
            <a:avLst>
              <a:gd name="adj" fmla="val 8174"/>
            </a:avLst>
          </a:prstGeom>
          <a:solidFill>
            <a:srgbClr val="F4F1EA"/>
          </a:solidFill>
          <a:ln w="9525">
            <a:solidFill>
              <a:srgbClr val="D8D0BF"/>
            </a:solidFill>
            <a:prstDash val="solid"/>
          </a:ln>
        </p:spPr>
      </p:sp>
      <p:sp>
        <p:nvSpPr>
          <p:cNvPr id="24" name="Text 21"/>
          <p:cNvSpPr txBox="1"/>
          <p:nvPr/>
        </p:nvSpPr>
        <p:spPr>
          <a:xfrm>
            <a:off x="7790688" y="2881884"/>
            <a:ext cx="3867912" cy="559308"/>
          </a:xfrm>
          <a:prstGeom prst="rect">
            <a:avLst/>
          </a:prstGeom>
          <a:noFill/>
          <a:ln/>
        </p:spPr>
        <p:txBody>
          <a:bodyPr wrap="square" lIns="0" tIns="0" rIns="0" bIns="0" rtlCol="0" anchor="ctr"/>
          <a:lstStyle/>
          <a:p>
            <a:pPr algn="l" indent="0" marL="0">
              <a:buNone/>
            </a:pPr>
            <a:r>
              <a:rPr lang="en-US" sz="1100" dirty="0">
                <a:solidFill>
                  <a:srgbClr val="5A6472"/>
                </a:solidFill>
                <a:latin typeface="Calibri" pitchFamily="34" charset="0"/>
                <a:cs typeface="Amiri" pitchFamily="2" charset="-78"/>
              </a:rPr>
              <a:t>In the market, because it is cheaper than the shopping centre.</a:t>
            </a:r>
            <a:endParaRPr lang="en-US" sz="1100" dirty="0"/>
          </a:p>
        </p:txBody>
      </p:sp>
      <p:sp>
        <p:nvSpPr>
          <p:cNvPr id="25" name="Text 22"/>
          <p:cNvSpPr txBox="1"/>
          <p:nvPr/>
        </p:nvSpPr>
        <p:spPr>
          <a:xfrm>
            <a:off x="1463040" y="2881884"/>
            <a:ext cx="6126480" cy="559308"/>
          </a:xfrm>
          <a:prstGeom prst="rect">
            <a:avLst/>
          </a:prstGeom>
          <a:noFill/>
          <a:ln/>
        </p:spPr>
        <p:txBody>
          <a:bodyPr wrap="square" lIns="0" tIns="0" rIns="0" bIns="0" rtlCol="0" anchor="ctr"/>
          <a:lstStyle/>
          <a:p>
            <a:pPr rtl="1" algn="ctr" indent="0" marL="0">
              <a:buNone/>
            </a:pPr>
            <a:r>
              <a:rPr lang="ar-SA" altLang="en-US" sz="1900" b="1" dirty="0">
                <a:solidFill>
                  <a:srgbClr val="1B3B6F"/>
                </a:solidFill>
                <a:latin typeface="Amiri" pitchFamily="2" charset="-78"/>
                <a:ea typeface="Amiri" pitchFamily="2" charset="-78"/>
                <a:cs typeface="Amiri" pitchFamily="2" charset="-78"/>
              </a:rPr>
              <a:t>فِي السُّوقِ، لِأَنَّهُ أَرْخَصُ مِنَ المَرْكَزِ التِّجَارِيِّ.</a:t>
            </a:r>
            <a:endParaRPr lang="ar-SA" sz="1900" dirty="0"/>
          </a:p>
        </p:txBody>
      </p:sp>
      <p:sp>
        <p:nvSpPr>
          <p:cNvPr id="26" name="Text 23"/>
          <p:cNvSpPr txBox="1"/>
          <p:nvPr/>
        </p:nvSpPr>
        <p:spPr>
          <a:xfrm>
            <a:off x="566928" y="2881884"/>
            <a:ext cx="731520" cy="559308"/>
          </a:xfrm>
          <a:prstGeom prst="rect">
            <a:avLst/>
          </a:prstGeom>
          <a:noFill/>
          <a:ln/>
        </p:spPr>
        <p:txBody>
          <a:bodyPr wrap="square" lIns="0" tIns="0" rIns="0" bIns="0" rtlCol="0" anchor="ctr"/>
          <a:lstStyle/>
          <a:p>
            <a:pPr algn="l" indent="0" marL="0">
              <a:buNone/>
            </a:pPr>
            <a:r>
              <a:rPr lang="en-US" sz="1100" dirty="0">
                <a:solidFill>
                  <a:srgbClr val="5A6472"/>
                </a:solidFill>
                <a:latin typeface="Calibri" pitchFamily="34" charset="0"/>
                <a:cs typeface="Amiri" pitchFamily="2" charset="-78"/>
              </a:rPr>
              <a:t>B</a:t>
            </a:r>
            <a:endParaRPr lang="en-US" sz="1100" dirty="0"/>
          </a:p>
        </p:txBody>
      </p:sp>
      <p:sp>
        <p:nvSpPr>
          <p:cNvPr id="27" name="Shape 24"/>
          <p:cNvSpPr/>
          <p:nvPr/>
        </p:nvSpPr>
        <p:spPr>
          <a:xfrm>
            <a:off x="457200" y="3496056"/>
            <a:ext cx="11274552" cy="559308"/>
          </a:xfrm>
          <a:prstGeom prst="roundRect">
            <a:avLst>
              <a:gd name="adj" fmla="val 8174"/>
            </a:avLst>
          </a:prstGeom>
          <a:solidFill>
            <a:srgbClr val="FFFFFF"/>
          </a:solidFill>
          <a:ln w="9525">
            <a:solidFill>
              <a:srgbClr val="D8D0BF"/>
            </a:solidFill>
            <a:prstDash val="solid"/>
          </a:ln>
        </p:spPr>
      </p:sp>
      <p:sp>
        <p:nvSpPr>
          <p:cNvPr id="28" name="Text 25"/>
          <p:cNvSpPr txBox="1"/>
          <p:nvPr/>
        </p:nvSpPr>
        <p:spPr>
          <a:xfrm>
            <a:off x="7790688" y="3496056"/>
            <a:ext cx="3867912" cy="559308"/>
          </a:xfrm>
          <a:prstGeom prst="rect">
            <a:avLst/>
          </a:prstGeom>
          <a:noFill/>
          <a:ln/>
        </p:spPr>
        <p:txBody>
          <a:bodyPr wrap="square" lIns="0" tIns="0" rIns="0" bIns="0" rtlCol="0" anchor="ctr"/>
          <a:lstStyle/>
          <a:p>
            <a:pPr algn="l" indent="0" marL="0">
              <a:buNone/>
            </a:pPr>
            <a:r>
              <a:rPr lang="en-US" sz="1100" dirty="0">
                <a:solidFill>
                  <a:srgbClr val="5A6472"/>
                </a:solidFill>
                <a:latin typeface="Calibri" pitchFamily="34" charset="0"/>
                <a:cs typeface="Amiri" pitchFamily="2" charset="-78"/>
              </a:rPr>
              <a:t>How much is this bag in the market?</a:t>
            </a:r>
            <a:endParaRPr lang="en-US" sz="1100" dirty="0"/>
          </a:p>
        </p:txBody>
      </p:sp>
      <p:sp>
        <p:nvSpPr>
          <p:cNvPr id="29" name="Text 26"/>
          <p:cNvSpPr txBox="1"/>
          <p:nvPr/>
        </p:nvSpPr>
        <p:spPr>
          <a:xfrm>
            <a:off x="1463040" y="3496056"/>
            <a:ext cx="6126480" cy="559308"/>
          </a:xfrm>
          <a:prstGeom prst="rect">
            <a:avLst/>
          </a:prstGeom>
          <a:noFill/>
          <a:ln/>
        </p:spPr>
        <p:txBody>
          <a:bodyPr wrap="square" lIns="0" tIns="0" rIns="0" bIns="0" rtlCol="0" anchor="ctr"/>
          <a:lstStyle/>
          <a:p>
            <a:pPr rtl="1" algn="ctr" indent="0" marL="0">
              <a:buNone/>
            </a:pPr>
            <a:r>
              <a:rPr lang="ar-SA" altLang="en-US" sz="1900" b="1" dirty="0">
                <a:solidFill>
                  <a:srgbClr val="1B3B6F"/>
                </a:solidFill>
                <a:latin typeface="Amiri" pitchFamily="2" charset="-78"/>
                <a:ea typeface="Amiri" pitchFamily="2" charset="-78"/>
                <a:cs typeface="Amiri" pitchFamily="2" charset="-78"/>
              </a:rPr>
              <a:t>كَمْ ثَمَنُ هٰذِهِ الحَقِيبَةِ فِي السُّوقِ؟</a:t>
            </a:r>
            <a:endParaRPr lang="ar-SA" sz="1900" dirty="0"/>
          </a:p>
        </p:txBody>
      </p:sp>
      <p:sp>
        <p:nvSpPr>
          <p:cNvPr id="30" name="Text 27"/>
          <p:cNvSpPr txBox="1"/>
          <p:nvPr/>
        </p:nvSpPr>
        <p:spPr>
          <a:xfrm>
            <a:off x="566928" y="3496056"/>
            <a:ext cx="731520" cy="559308"/>
          </a:xfrm>
          <a:prstGeom prst="rect">
            <a:avLst/>
          </a:prstGeom>
          <a:noFill/>
          <a:ln/>
        </p:spPr>
        <p:txBody>
          <a:bodyPr wrap="square" lIns="0" tIns="0" rIns="0" bIns="0" rtlCol="0" anchor="ctr"/>
          <a:lstStyle/>
          <a:p>
            <a:pPr algn="l" indent="0" marL="0">
              <a:buNone/>
            </a:pPr>
            <a:r>
              <a:rPr lang="en-US" sz="1100" dirty="0">
                <a:solidFill>
                  <a:srgbClr val="5A6472"/>
                </a:solidFill>
                <a:latin typeface="Calibri" pitchFamily="34" charset="0"/>
                <a:cs typeface="Amiri" pitchFamily="2" charset="-78"/>
              </a:rPr>
              <a:t>A</a:t>
            </a:r>
            <a:endParaRPr lang="en-US" sz="1100" dirty="0"/>
          </a:p>
        </p:txBody>
      </p:sp>
      <p:sp>
        <p:nvSpPr>
          <p:cNvPr id="31" name="Shape 28"/>
          <p:cNvSpPr/>
          <p:nvPr/>
        </p:nvSpPr>
        <p:spPr>
          <a:xfrm>
            <a:off x="457200" y="4110228"/>
            <a:ext cx="11274552" cy="559308"/>
          </a:xfrm>
          <a:prstGeom prst="roundRect">
            <a:avLst>
              <a:gd name="adj" fmla="val 8174"/>
            </a:avLst>
          </a:prstGeom>
          <a:solidFill>
            <a:srgbClr val="F4F1EA"/>
          </a:solidFill>
          <a:ln w="9525">
            <a:solidFill>
              <a:srgbClr val="D8D0BF"/>
            </a:solidFill>
            <a:prstDash val="solid"/>
          </a:ln>
        </p:spPr>
      </p:sp>
      <p:sp>
        <p:nvSpPr>
          <p:cNvPr id="32" name="Text 29"/>
          <p:cNvSpPr txBox="1"/>
          <p:nvPr/>
        </p:nvSpPr>
        <p:spPr>
          <a:xfrm>
            <a:off x="7790688" y="4110228"/>
            <a:ext cx="3867912" cy="559308"/>
          </a:xfrm>
          <a:prstGeom prst="rect">
            <a:avLst/>
          </a:prstGeom>
          <a:noFill/>
          <a:ln/>
        </p:spPr>
        <p:txBody>
          <a:bodyPr wrap="square" lIns="0" tIns="0" rIns="0" bIns="0" rtlCol="0" anchor="ctr"/>
          <a:lstStyle/>
          <a:p>
            <a:pPr algn="l" indent="0" marL="0">
              <a:buNone/>
            </a:pPr>
            <a:r>
              <a:rPr lang="en-US" sz="1100" dirty="0">
                <a:solidFill>
                  <a:srgbClr val="5A6472"/>
                </a:solidFill>
                <a:latin typeface="Calibri" pitchFamily="34" charset="0"/>
                <a:cs typeface="Amiri" pitchFamily="2" charset="-78"/>
              </a:rPr>
              <a:t>It costs only ten pounds, and in the centre thirty pounds!</a:t>
            </a:r>
            <a:endParaRPr lang="en-US" sz="1100" dirty="0"/>
          </a:p>
        </p:txBody>
      </p:sp>
      <p:sp>
        <p:nvSpPr>
          <p:cNvPr id="33" name="Text 30"/>
          <p:cNvSpPr txBox="1"/>
          <p:nvPr/>
        </p:nvSpPr>
        <p:spPr>
          <a:xfrm>
            <a:off x="1463040" y="4110228"/>
            <a:ext cx="6126480" cy="559308"/>
          </a:xfrm>
          <a:prstGeom prst="rect">
            <a:avLst/>
          </a:prstGeom>
          <a:noFill/>
          <a:ln/>
        </p:spPr>
        <p:txBody>
          <a:bodyPr wrap="square" lIns="0" tIns="0" rIns="0" bIns="0" rtlCol="0" anchor="ctr"/>
          <a:lstStyle/>
          <a:p>
            <a:pPr rtl="1" algn="ctr" indent="0" marL="0">
              <a:buNone/>
            </a:pPr>
            <a:r>
              <a:rPr lang="ar-SA" altLang="en-US" sz="1900" b="1" dirty="0">
                <a:solidFill>
                  <a:srgbClr val="1B3B6F"/>
                </a:solidFill>
                <a:latin typeface="Amiri" pitchFamily="2" charset="-78"/>
                <a:ea typeface="Amiri" pitchFamily="2" charset="-78"/>
                <a:cs typeface="Amiri" pitchFamily="2" charset="-78"/>
              </a:rPr>
              <a:t>ثَمَنُهَا عَشَرَةُ جُنَيْهَاتٍ فَقَطْ، وَفِي المَرْكَزِ ثَلَاثُونَ جُنَيْهًا!</a:t>
            </a:r>
            <a:endParaRPr lang="ar-SA" sz="1900" dirty="0"/>
          </a:p>
        </p:txBody>
      </p:sp>
      <p:sp>
        <p:nvSpPr>
          <p:cNvPr id="34" name="Text 31"/>
          <p:cNvSpPr txBox="1"/>
          <p:nvPr/>
        </p:nvSpPr>
        <p:spPr>
          <a:xfrm>
            <a:off x="566928" y="4110228"/>
            <a:ext cx="731520" cy="559308"/>
          </a:xfrm>
          <a:prstGeom prst="rect">
            <a:avLst/>
          </a:prstGeom>
          <a:noFill/>
          <a:ln/>
        </p:spPr>
        <p:txBody>
          <a:bodyPr wrap="square" lIns="0" tIns="0" rIns="0" bIns="0" rtlCol="0" anchor="ctr"/>
          <a:lstStyle/>
          <a:p>
            <a:pPr algn="l" indent="0" marL="0">
              <a:buNone/>
            </a:pPr>
            <a:r>
              <a:rPr lang="en-US" sz="1100" dirty="0">
                <a:solidFill>
                  <a:srgbClr val="5A6472"/>
                </a:solidFill>
                <a:latin typeface="Calibri" pitchFamily="34" charset="0"/>
                <a:cs typeface="Amiri" pitchFamily="2" charset="-78"/>
              </a:rPr>
              <a:t>B</a:t>
            </a:r>
            <a:endParaRPr lang="en-US" sz="1100" dirty="0"/>
          </a:p>
        </p:txBody>
      </p:sp>
      <p:sp>
        <p:nvSpPr>
          <p:cNvPr id="35" name="Shape 32"/>
          <p:cNvSpPr/>
          <p:nvPr/>
        </p:nvSpPr>
        <p:spPr>
          <a:xfrm>
            <a:off x="457200" y="4724400"/>
            <a:ext cx="11274552" cy="559308"/>
          </a:xfrm>
          <a:prstGeom prst="roundRect">
            <a:avLst>
              <a:gd name="adj" fmla="val 8174"/>
            </a:avLst>
          </a:prstGeom>
          <a:solidFill>
            <a:srgbClr val="FFFFFF"/>
          </a:solidFill>
          <a:ln w="9525">
            <a:solidFill>
              <a:srgbClr val="D8D0BF"/>
            </a:solidFill>
            <a:prstDash val="solid"/>
          </a:ln>
        </p:spPr>
      </p:sp>
      <p:sp>
        <p:nvSpPr>
          <p:cNvPr id="36" name="Text 33"/>
          <p:cNvSpPr txBox="1"/>
          <p:nvPr/>
        </p:nvSpPr>
        <p:spPr>
          <a:xfrm>
            <a:off x="7790688" y="4724400"/>
            <a:ext cx="3867912" cy="559308"/>
          </a:xfrm>
          <a:prstGeom prst="rect">
            <a:avLst/>
          </a:prstGeom>
          <a:noFill/>
          <a:ln/>
        </p:spPr>
        <p:txBody>
          <a:bodyPr wrap="square" lIns="0" tIns="0" rIns="0" bIns="0" rtlCol="0" anchor="ctr"/>
          <a:lstStyle/>
          <a:p>
            <a:pPr algn="l" indent="0" marL="0">
              <a:buNone/>
            </a:pPr>
            <a:r>
              <a:rPr lang="en-US" sz="1100" dirty="0">
                <a:solidFill>
                  <a:srgbClr val="5A6472"/>
                </a:solidFill>
                <a:latin typeface="Calibri" pitchFamily="34" charset="0"/>
                <a:cs typeface="Amiri" pitchFamily="2" charset="-78"/>
              </a:rPr>
              <a:t>But the market is crowded and noisy.</a:t>
            </a:r>
            <a:endParaRPr lang="en-US" sz="1100" dirty="0"/>
          </a:p>
        </p:txBody>
      </p:sp>
      <p:sp>
        <p:nvSpPr>
          <p:cNvPr id="37" name="Text 34"/>
          <p:cNvSpPr txBox="1"/>
          <p:nvPr/>
        </p:nvSpPr>
        <p:spPr>
          <a:xfrm>
            <a:off x="1463040" y="4724400"/>
            <a:ext cx="6126480" cy="559308"/>
          </a:xfrm>
          <a:prstGeom prst="rect">
            <a:avLst/>
          </a:prstGeom>
          <a:noFill/>
          <a:ln/>
        </p:spPr>
        <p:txBody>
          <a:bodyPr wrap="square" lIns="0" tIns="0" rIns="0" bIns="0" rtlCol="0" anchor="ctr"/>
          <a:lstStyle/>
          <a:p>
            <a:pPr rtl="1" algn="ctr" indent="0" marL="0">
              <a:buNone/>
            </a:pPr>
            <a:r>
              <a:rPr lang="ar-SA" altLang="en-US" sz="1900" b="1" dirty="0">
                <a:solidFill>
                  <a:srgbClr val="1B3B6F"/>
                </a:solidFill>
                <a:latin typeface="Amiri" pitchFamily="2" charset="-78"/>
                <a:ea typeface="Amiri" pitchFamily="2" charset="-78"/>
                <a:cs typeface="Amiri" pitchFamily="2" charset="-78"/>
              </a:rPr>
              <a:t>لٰكِنَّ السُّوقَ مُكْتَظٌّ وَصَاخِبٌ.</a:t>
            </a:r>
            <a:endParaRPr lang="ar-SA" sz="1900" dirty="0"/>
          </a:p>
        </p:txBody>
      </p:sp>
      <p:sp>
        <p:nvSpPr>
          <p:cNvPr id="38" name="Text 35"/>
          <p:cNvSpPr txBox="1"/>
          <p:nvPr/>
        </p:nvSpPr>
        <p:spPr>
          <a:xfrm>
            <a:off x="566928" y="4724400"/>
            <a:ext cx="731520" cy="559308"/>
          </a:xfrm>
          <a:prstGeom prst="rect">
            <a:avLst/>
          </a:prstGeom>
          <a:noFill/>
          <a:ln/>
        </p:spPr>
        <p:txBody>
          <a:bodyPr wrap="square" lIns="0" tIns="0" rIns="0" bIns="0" rtlCol="0" anchor="ctr"/>
          <a:lstStyle/>
          <a:p>
            <a:pPr algn="l" indent="0" marL="0">
              <a:buNone/>
            </a:pPr>
            <a:r>
              <a:rPr lang="en-US" sz="1100" dirty="0">
                <a:solidFill>
                  <a:srgbClr val="5A6472"/>
                </a:solidFill>
                <a:latin typeface="Calibri" pitchFamily="34" charset="0"/>
                <a:cs typeface="Amiri" pitchFamily="2" charset="-78"/>
              </a:rPr>
              <a:t>A</a:t>
            </a:r>
            <a:endParaRPr lang="en-US" sz="1100" dirty="0"/>
          </a:p>
        </p:txBody>
      </p:sp>
      <p:sp>
        <p:nvSpPr>
          <p:cNvPr id="39" name="Shape 36"/>
          <p:cNvSpPr/>
          <p:nvPr/>
        </p:nvSpPr>
        <p:spPr>
          <a:xfrm>
            <a:off x="457200" y="5338572"/>
            <a:ext cx="11274552" cy="559308"/>
          </a:xfrm>
          <a:prstGeom prst="roundRect">
            <a:avLst>
              <a:gd name="adj" fmla="val 8174"/>
            </a:avLst>
          </a:prstGeom>
          <a:solidFill>
            <a:srgbClr val="F4F1EA"/>
          </a:solidFill>
          <a:ln w="9525">
            <a:solidFill>
              <a:srgbClr val="D8D0BF"/>
            </a:solidFill>
            <a:prstDash val="solid"/>
          </a:ln>
        </p:spPr>
      </p:sp>
      <p:sp>
        <p:nvSpPr>
          <p:cNvPr id="40" name="Text 37"/>
          <p:cNvSpPr txBox="1"/>
          <p:nvPr/>
        </p:nvSpPr>
        <p:spPr>
          <a:xfrm>
            <a:off x="7790688" y="5338572"/>
            <a:ext cx="3867912" cy="559308"/>
          </a:xfrm>
          <a:prstGeom prst="rect">
            <a:avLst/>
          </a:prstGeom>
          <a:noFill/>
          <a:ln/>
        </p:spPr>
        <p:txBody>
          <a:bodyPr wrap="square" lIns="0" tIns="0" rIns="0" bIns="0" rtlCol="0" anchor="ctr"/>
          <a:lstStyle/>
          <a:p>
            <a:pPr algn="l" indent="0" marL="0">
              <a:buNone/>
            </a:pPr>
            <a:r>
              <a:rPr lang="en-US" sz="1100" dirty="0">
                <a:solidFill>
                  <a:srgbClr val="5A6472"/>
                </a:solidFill>
                <a:latin typeface="Calibri" pitchFamily="34" charset="0"/>
                <a:cs typeface="Amiri" pitchFamily="2" charset="-78"/>
              </a:rPr>
              <a:t>True. One advantage of the centre is that it is modern and clean, and you can pay by card.</a:t>
            </a:r>
            <a:endParaRPr lang="en-US" sz="1100" dirty="0"/>
          </a:p>
        </p:txBody>
      </p:sp>
      <p:sp>
        <p:nvSpPr>
          <p:cNvPr id="41" name="Text 38"/>
          <p:cNvSpPr txBox="1"/>
          <p:nvPr/>
        </p:nvSpPr>
        <p:spPr>
          <a:xfrm>
            <a:off x="1463040" y="5338572"/>
            <a:ext cx="6126480" cy="559308"/>
          </a:xfrm>
          <a:prstGeom prst="rect">
            <a:avLst/>
          </a:prstGeom>
          <a:noFill/>
          <a:ln/>
        </p:spPr>
        <p:txBody>
          <a:bodyPr wrap="square" lIns="0" tIns="0" rIns="0" bIns="0" rtlCol="0" anchor="ctr"/>
          <a:lstStyle/>
          <a:p>
            <a:pPr rtl="1" algn="ctr" indent="0" marL="0">
              <a:buNone/>
            </a:pPr>
            <a:r>
              <a:rPr lang="ar-SA" altLang="en-US" sz="1900" b="1" dirty="0">
                <a:solidFill>
                  <a:srgbClr val="1B3B6F"/>
                </a:solidFill>
                <a:latin typeface="Amiri" pitchFamily="2" charset="-78"/>
                <a:ea typeface="Amiri" pitchFamily="2" charset="-78"/>
                <a:cs typeface="Amiri" pitchFamily="2" charset="-78"/>
              </a:rPr>
              <a:t>صَحِيحٌ. مِنْ مَزَايَا المَرْكَزِ أَنَّهُ حَدِيثٌ وَنَظِيفٌ، وَيُمْكِنُ أَنْ تَدْفَعَ بِالبِطَاقَةِ.</a:t>
            </a:r>
            <a:endParaRPr lang="ar-SA" sz="1900" dirty="0"/>
          </a:p>
        </p:txBody>
      </p:sp>
      <p:sp>
        <p:nvSpPr>
          <p:cNvPr id="42" name="Text 39"/>
          <p:cNvSpPr txBox="1"/>
          <p:nvPr/>
        </p:nvSpPr>
        <p:spPr>
          <a:xfrm>
            <a:off x="566928" y="5338572"/>
            <a:ext cx="731520" cy="559308"/>
          </a:xfrm>
          <a:prstGeom prst="rect">
            <a:avLst/>
          </a:prstGeom>
          <a:noFill/>
          <a:ln/>
        </p:spPr>
        <p:txBody>
          <a:bodyPr wrap="square" lIns="0" tIns="0" rIns="0" bIns="0" rtlCol="0" anchor="ctr"/>
          <a:lstStyle/>
          <a:p>
            <a:pPr algn="l" indent="0" marL="0">
              <a:buNone/>
            </a:pPr>
            <a:r>
              <a:rPr lang="en-US" sz="1100" dirty="0">
                <a:solidFill>
                  <a:srgbClr val="5A6472"/>
                </a:solidFill>
                <a:latin typeface="Calibri" pitchFamily="34" charset="0"/>
                <a:cs typeface="Amiri" pitchFamily="2" charset="-78"/>
              </a:rPr>
              <a:t>B</a:t>
            </a:r>
            <a:endParaRPr lang="en-US" sz="1100" dirty="0"/>
          </a:p>
        </p:txBody>
      </p:sp>
      <p:sp>
        <p:nvSpPr>
          <p:cNvPr id="43" name="Text 40"/>
          <p:cNvSpPr txBox="1"/>
          <p:nvPr/>
        </p:nvSpPr>
        <p:spPr>
          <a:xfrm>
            <a:off x="457200" y="5943600"/>
            <a:ext cx="11274552" cy="365760"/>
          </a:xfrm>
          <a:prstGeom prst="rect">
            <a:avLst/>
          </a:prstGeom>
          <a:noFill/>
          <a:ln/>
        </p:spPr>
        <p:txBody>
          <a:bodyPr wrap="square" lIns="0" tIns="0" rIns="0" bIns="0" rtlCol="0" anchor="ctr"/>
          <a:lstStyle/>
          <a:p>
            <a:pPr algn="l" indent="0" marL="0">
              <a:buNone/>
            </a:pPr>
            <a:r>
              <a:rPr lang="en-US" sz="1100" b="1" dirty="0">
                <a:solidFill>
                  <a:srgbClr val="1B3B6F"/>
                </a:solidFill>
                <a:latin typeface="Calibri" pitchFamily="34" charset="0"/>
                <a:cs typeface="Amiri" pitchFamily="2" charset="-78"/>
              </a:rPr>
              <a:t>Round 1: read it in pairs (A and B). Round 2: swap letters. Round 3: cover the Arabic and say it from the English. Then change TWO details — one from each lesson — and say it again.</a:t>
            </a:r>
            <a:endParaRPr lang="en-US" sz="1100" dirty="0"/>
          </a:p>
        </p:txBody>
      </p:sp>
      <p:sp>
        <p:nvSpPr>
          <p:cNvPr id="44" name="Text 41"/>
          <p:cNvSpPr txBox="1"/>
          <p:nvPr/>
        </p:nvSpPr>
        <p:spPr>
          <a:xfrm>
            <a:off x="10360152" y="6455664"/>
            <a:ext cx="1371600" cy="219456"/>
          </a:xfrm>
          <a:prstGeom prst="rect">
            <a:avLst/>
          </a:prstGeom>
          <a:noFill/>
          <a:ln/>
        </p:spPr>
        <p:txBody>
          <a:bodyPr wrap="square" lIns="0" tIns="0" rIns="0" bIns="0" rtlCol="0" anchor="ctr"/>
          <a:lstStyle/>
          <a:p>
            <a:pPr algn="r" indent="0" marL="0">
              <a:buNone/>
            </a:pPr>
            <a:r>
              <a:rPr lang="en-US" sz="850" dirty="0">
                <a:solidFill>
                  <a:srgbClr val="8A93A0"/>
                </a:solidFill>
                <a:latin typeface="Calibri" pitchFamily="34" charset="0"/>
                <a:cs typeface="Amiri" pitchFamily="2" charset="-78"/>
              </a:rPr>
              <a:t>10 / 24</a:t>
            </a:r>
            <a:endParaRPr lang="en-US" sz="850" dirty="0"/>
          </a:p>
        </p:txBody>
      </p:sp>
    </p:spTree>
  </p:cSld>
  <p:clrMapOvr>
    <a:masterClrMapping/>
  </p:clrMapOvr>
</p:sld>
</file>

<file path=ppt/slides/slide11.xml><?xml version="1.0" encoding="utf-8"?>
<p:sld xmlns:a="http://schemas.openxmlformats.org/drawingml/2006/main" xmlns:r="http://schemas.openxmlformats.org/officeDocument/2006/relationships" xmlns:p="http://schemas.openxmlformats.org/presentationml/2006/main">
  <p:cSld name="Slide 11">
    <p:bg>
      <p:bgPr>
        <a:solidFill>
          <a:srgbClr val="FFFDF8"/>
        </a:solidFill>
      </p:bgPr>
    </p:bg>
    <p:spTree>
      <p:nvGrpSpPr>
        <p:cNvPr id="1" name=""/>
        <p:cNvGrpSpPr/>
        <p:nvPr/>
      </p:nvGrpSpPr>
      <p:grpSpPr>
        <a:xfrm>
          <a:off x="0" y="0"/>
          <a:ext cx="0" cy="0"/>
          <a:chOff x="0" y="0"/>
          <a:chExt cx="0" cy="0"/>
        </a:xfrm>
      </p:grpSpPr>
      <p:sp>
        <p:nvSpPr>
          <p:cNvPr id="2" name="Shape 0"/>
          <p:cNvSpPr/>
          <p:nvPr/>
        </p:nvSpPr>
        <p:spPr>
          <a:xfrm>
            <a:off x="457200" y="237744"/>
            <a:ext cx="420624" cy="420624"/>
          </a:xfrm>
          <a:prstGeom prst="ellipse">
            <a:avLst/>
          </a:prstGeom>
          <a:solidFill>
            <a:srgbClr val="1B3B6F"/>
          </a:solidFill>
          <a:ln w="12700">
            <a:solidFill>
              <a:srgbClr val="D4AF37"/>
            </a:solidFill>
            <a:prstDash val="solid"/>
          </a:ln>
        </p:spPr>
      </p:sp>
      <p:sp>
        <p:nvSpPr>
          <p:cNvPr id="3" name="Text 1"/>
          <p:cNvSpPr txBox="1"/>
          <p:nvPr/>
        </p:nvSpPr>
        <p:spPr>
          <a:xfrm>
            <a:off x="457200" y="219456"/>
            <a:ext cx="420624" cy="420624"/>
          </a:xfrm>
          <a:prstGeom prst="rect">
            <a:avLst/>
          </a:prstGeom>
          <a:noFill/>
          <a:ln/>
        </p:spPr>
        <p:txBody>
          <a:bodyPr wrap="square" lIns="0" tIns="0" rIns="0" bIns="0" rtlCol="0" anchor="ctr"/>
          <a:lstStyle/>
          <a:p>
            <a:pPr rtl="1" algn="ctr" indent="0" marL="0">
              <a:buNone/>
            </a:pPr>
            <a:r>
              <a:rPr lang="ar-SA" altLang="en-US" sz="1800" b="1" dirty="0">
                <a:solidFill>
                  <a:srgbClr val="D4AF37"/>
                </a:solidFill>
                <a:latin typeface="Amiri" pitchFamily="2" charset="-78"/>
                <a:ea typeface="Amiri" pitchFamily="2" charset="-78"/>
                <a:cs typeface="Amiri" pitchFamily="2" charset="-78"/>
              </a:rPr>
              <a:t>م</a:t>
            </a:r>
            <a:endParaRPr lang="ar-SA" sz="1800" dirty="0"/>
          </a:p>
        </p:txBody>
      </p:sp>
      <p:sp>
        <p:nvSpPr>
          <p:cNvPr id="4" name="Text 2"/>
          <p:cNvSpPr txBox="1"/>
          <p:nvPr/>
        </p:nvSpPr>
        <p:spPr>
          <a:xfrm>
            <a:off x="960120" y="219456"/>
            <a:ext cx="3657600" cy="256032"/>
          </a:xfrm>
          <a:prstGeom prst="rect">
            <a:avLst/>
          </a:prstGeom>
          <a:noFill/>
          <a:ln/>
        </p:spPr>
        <p:txBody>
          <a:bodyPr wrap="square" lIns="0" tIns="0" rIns="0" bIns="0" rtlCol="0" anchor="ctr"/>
          <a:lstStyle/>
          <a:p>
            <a:pPr indent="0" marL="0">
              <a:buNone/>
            </a:pPr>
            <a:r>
              <a:rPr lang="en-US" sz="1200" b="1" dirty="0">
                <a:solidFill>
                  <a:srgbClr val="1B3B6F"/>
                </a:solidFill>
                <a:latin typeface="Cambria" pitchFamily="34" charset="0"/>
                <a:cs typeface="Amiri" pitchFamily="2" charset="-78"/>
              </a:rPr>
              <a:t>Al Madina Online School</a:t>
            </a:r>
            <a:endParaRPr lang="en-US" sz="1200" dirty="0"/>
          </a:p>
        </p:txBody>
      </p:sp>
      <p:sp>
        <p:nvSpPr>
          <p:cNvPr id="5" name="Text 3"/>
          <p:cNvSpPr txBox="1"/>
          <p:nvPr/>
        </p:nvSpPr>
        <p:spPr>
          <a:xfrm>
            <a:off x="960120" y="457200"/>
            <a:ext cx="4572000" cy="182880"/>
          </a:xfrm>
          <a:prstGeom prst="rect">
            <a:avLst/>
          </a:prstGeom>
          <a:noFill/>
          <a:ln/>
        </p:spPr>
        <p:txBody>
          <a:bodyPr wrap="square" lIns="0" tIns="0" rIns="0" bIns="0" rtlCol="0" anchor="ctr"/>
          <a:lstStyle/>
          <a:p>
            <a:pPr indent="0" marL="0">
              <a:buNone/>
            </a:pPr>
            <a:r>
              <a:rPr lang="en-US" sz="800" b="1" spc="200" kern="0" dirty="0">
                <a:solidFill>
                  <a:srgbClr val="8A6D1E"/>
                </a:solidFill>
                <a:latin typeface="Calibri" pitchFamily="34" charset="0"/>
                <a:cs typeface="Amiri" pitchFamily="2" charset="-78"/>
              </a:rPr>
              <a:t>ARABIC DEPARTMENT · MIFTAH ARABIC · IGCSE 0544</a:t>
            </a:r>
            <a:endParaRPr lang="en-US" sz="800" dirty="0"/>
          </a:p>
        </p:txBody>
      </p:sp>
      <p:sp>
        <p:nvSpPr>
          <p:cNvPr id="6" name="Shape 4"/>
          <p:cNvSpPr/>
          <p:nvPr/>
        </p:nvSpPr>
        <p:spPr>
          <a:xfrm>
            <a:off x="8897112" y="274320"/>
            <a:ext cx="2834640" cy="329184"/>
          </a:xfrm>
          <a:prstGeom prst="roundRect">
            <a:avLst>
              <a:gd name="adj" fmla="val 50000"/>
            </a:avLst>
          </a:prstGeom>
          <a:solidFill>
            <a:srgbClr val="1B3B6F"/>
          </a:solidFill>
          <a:ln w="12700">
            <a:solidFill>
              <a:srgbClr val="1B3B6F"/>
            </a:solidFill>
            <a:prstDash val="solid"/>
          </a:ln>
        </p:spPr>
      </p:sp>
      <p:sp>
        <p:nvSpPr>
          <p:cNvPr id="7" name="Text 5"/>
          <p:cNvSpPr txBox="1"/>
          <p:nvPr/>
        </p:nvSpPr>
        <p:spPr>
          <a:xfrm>
            <a:off x="8897112" y="274320"/>
            <a:ext cx="2834640" cy="329184"/>
          </a:xfrm>
          <a:prstGeom prst="rect">
            <a:avLst/>
          </a:prstGeom>
          <a:noFill/>
          <a:ln/>
        </p:spPr>
        <p:txBody>
          <a:bodyPr wrap="square" lIns="0" tIns="0" rIns="0" bIns="0" rtlCol="0" anchor="ctr"/>
          <a:lstStyle/>
          <a:p>
            <a:pPr algn="ctr" indent="0" marL="0">
              <a:buNone/>
            </a:pPr>
            <a:r>
              <a:rPr lang="en-US" sz="950" b="1" spc="100" kern="0" dirty="0">
                <a:solidFill>
                  <a:srgbClr val="FFFFFF"/>
                </a:solidFill>
                <a:latin typeface="Calibri" pitchFamily="34" charset="0"/>
                <a:cs typeface="Amiri" pitchFamily="2" charset="-78"/>
              </a:rPr>
              <a:t>F6-W03 · Apply workshop</a:t>
            </a:r>
            <a:endParaRPr lang="en-US" sz="950" dirty="0"/>
          </a:p>
        </p:txBody>
      </p:sp>
      <p:sp>
        <p:nvSpPr>
          <p:cNvPr id="8" name="Shape 6"/>
          <p:cNvSpPr/>
          <p:nvPr/>
        </p:nvSpPr>
        <p:spPr>
          <a:xfrm>
            <a:off x="7295083" y="274320"/>
            <a:ext cx="1464869" cy="329184"/>
          </a:xfrm>
          <a:prstGeom prst="roundRect">
            <a:avLst>
              <a:gd name="adj" fmla="val 50000"/>
            </a:avLst>
          </a:prstGeom>
          <a:solidFill>
            <a:srgbClr val="1E6B52"/>
          </a:solidFill>
          <a:ln w="12700">
            <a:solidFill>
              <a:srgbClr val="1E6B52"/>
            </a:solidFill>
            <a:prstDash val="solid"/>
          </a:ln>
        </p:spPr>
      </p:sp>
      <p:sp>
        <p:nvSpPr>
          <p:cNvPr id="9" name="Text 7"/>
          <p:cNvSpPr txBox="1"/>
          <p:nvPr/>
        </p:nvSpPr>
        <p:spPr>
          <a:xfrm>
            <a:off x="7295083" y="274320"/>
            <a:ext cx="1464869" cy="329184"/>
          </a:xfrm>
          <a:prstGeom prst="rect">
            <a:avLst/>
          </a:prstGeom>
          <a:noFill/>
          <a:ln/>
        </p:spPr>
        <p:txBody>
          <a:bodyPr wrap="square" lIns="0" tIns="0" rIns="0" bIns="0" rtlCol="0" anchor="ctr"/>
          <a:lstStyle/>
          <a:p>
            <a:pPr algn="ctr" indent="0" marL="0">
              <a:buNone/>
            </a:pPr>
            <a:r>
              <a:rPr lang="en-US" sz="900" b="1" spc="100" kern="0" dirty="0">
                <a:solidFill>
                  <a:srgbClr val="FFFFFF"/>
                </a:solidFill>
                <a:latin typeface="Calibri" pitchFamily="34" charset="0"/>
                <a:cs typeface="Amiri" pitchFamily="2" charset="-78"/>
              </a:rPr>
              <a:t>YOU DO · 6 MIN</a:t>
            </a:r>
            <a:endParaRPr lang="en-US" sz="900" dirty="0"/>
          </a:p>
        </p:txBody>
      </p:sp>
      <p:sp>
        <p:nvSpPr>
          <p:cNvPr id="10" name="Text 8"/>
          <p:cNvSpPr txBox="1"/>
          <p:nvPr/>
        </p:nvSpPr>
        <p:spPr>
          <a:xfrm>
            <a:off x="457200" y="822960"/>
            <a:ext cx="6949440" cy="237744"/>
          </a:xfrm>
          <a:prstGeom prst="rect">
            <a:avLst/>
          </a:prstGeom>
          <a:noFill/>
          <a:ln/>
        </p:spPr>
        <p:txBody>
          <a:bodyPr wrap="square" lIns="0" tIns="0" rIns="0" bIns="0" rtlCol="0" anchor="ctr"/>
          <a:lstStyle/>
          <a:p>
            <a:pPr algn="l" indent="0" marL="0">
              <a:buNone/>
            </a:pPr>
            <a:r>
              <a:rPr lang="en-US" sz="1000" b="1" spc="150" kern="0" dirty="0">
                <a:solidFill>
                  <a:srgbClr val="1E6B52"/>
                </a:solidFill>
                <a:latin typeface="Calibri" pitchFamily="34" charset="0"/>
                <a:cs typeface="Amiri" pitchFamily="2" charset="-78"/>
              </a:rPr>
              <a:t>STEP 4 · QUESTION CARDS · QUESTIONS FROM BOTH LESSONS, MIXED</a:t>
            </a:r>
            <a:endParaRPr lang="en-US" sz="1000" dirty="0"/>
          </a:p>
        </p:txBody>
      </p:sp>
      <p:sp>
        <p:nvSpPr>
          <p:cNvPr id="11" name="Text 9"/>
          <p:cNvSpPr txBox="1"/>
          <p:nvPr/>
        </p:nvSpPr>
        <p:spPr>
          <a:xfrm>
            <a:off x="457200" y="1033272"/>
            <a:ext cx="6949440" cy="566928"/>
          </a:xfrm>
          <a:prstGeom prst="rect">
            <a:avLst/>
          </a:prstGeom>
          <a:noFill/>
          <a:ln/>
        </p:spPr>
        <p:txBody>
          <a:bodyPr wrap="square" lIns="0" tIns="0" rIns="0" bIns="0" rtlCol="0" anchor="ctr"/>
          <a:lstStyle/>
          <a:p>
            <a:pPr algn="l" indent="0" marL="0">
              <a:buNone/>
            </a:pPr>
            <a:r>
              <a:rPr lang="en-US" sz="2300" b="1" dirty="0">
                <a:solidFill>
                  <a:srgbClr val="1B3B6F"/>
                </a:solidFill>
                <a:latin typeface="Cambria" pitchFamily="34" charset="0"/>
                <a:cs typeface="Amiri" pitchFamily="2" charset="-78"/>
              </a:rPr>
              <a:t>Mixed questions — answer, then add more</a:t>
            </a:r>
            <a:endParaRPr lang="en-US" sz="2300" dirty="0"/>
          </a:p>
        </p:txBody>
      </p:sp>
      <p:sp>
        <p:nvSpPr>
          <p:cNvPr id="12" name="Text 10"/>
          <p:cNvSpPr txBox="1"/>
          <p:nvPr/>
        </p:nvSpPr>
        <p:spPr>
          <a:xfrm>
            <a:off x="7498080" y="868680"/>
            <a:ext cx="4233672" cy="749808"/>
          </a:xfrm>
          <a:prstGeom prst="rect">
            <a:avLst/>
          </a:prstGeom>
          <a:noFill/>
          <a:ln/>
        </p:spPr>
        <p:txBody>
          <a:bodyPr wrap="square" lIns="0" tIns="0" rIns="0" bIns="0" rtlCol="0" anchor="ctr"/>
          <a:lstStyle/>
          <a:p>
            <a:pPr rtl="1" algn="r" indent="0" marL="0">
              <a:buNone/>
            </a:pPr>
            <a:r>
              <a:rPr lang="ar-SA" altLang="en-US" sz="2800" b="1" dirty="0">
                <a:solidFill>
                  <a:srgbClr val="8A6D1E"/>
                </a:solidFill>
                <a:latin typeface="Amiri" pitchFamily="2" charset="-78"/>
                <a:ea typeface="Amiri" pitchFamily="2" charset="-78"/>
                <a:cs typeface="Amiri" pitchFamily="2" charset="-78"/>
              </a:rPr>
              <a:t>أَسْئِلَةٌ مِنَ الدَّرْسَيْنِ</a:t>
            </a:r>
            <a:endParaRPr lang="ar-SA" sz="2800" dirty="0"/>
          </a:p>
        </p:txBody>
      </p:sp>
      <p:sp>
        <p:nvSpPr>
          <p:cNvPr id="13" name="Text 11"/>
          <p:cNvSpPr txBox="1"/>
          <p:nvPr/>
        </p:nvSpPr>
        <p:spPr>
          <a:xfrm>
            <a:off x="457200" y="6455664"/>
            <a:ext cx="6400800" cy="219456"/>
          </a:xfrm>
          <a:prstGeom prst="rect">
            <a:avLst/>
          </a:prstGeom>
          <a:noFill/>
          <a:ln/>
        </p:spPr>
        <p:txBody>
          <a:bodyPr wrap="square" lIns="0" tIns="0" rIns="0" bIns="0" rtlCol="0" anchor="ctr"/>
          <a:lstStyle/>
          <a:p>
            <a:pPr indent="0" marL="0">
              <a:buNone/>
            </a:pPr>
            <a:r>
              <a:rPr lang="en-US" sz="850" dirty="0">
                <a:solidFill>
                  <a:srgbClr val="8A93A0"/>
                </a:solidFill>
                <a:latin typeface="Calibri" pitchFamily="34" charset="0"/>
                <a:cs typeface="Amiri" pitchFamily="2" charset="-78"/>
              </a:rPr>
              <a:t>Miftah Arabic · Foundation F6 · My Town and Transport · F6-W03 · Apply workshop (F6-L05 + F6-L06)</a:t>
            </a:r>
            <a:endParaRPr lang="en-US" sz="850" dirty="0"/>
          </a:p>
        </p:txBody>
      </p:sp>
      <p:sp>
        <p:nvSpPr>
          <p:cNvPr id="15" name="Shape 12"/>
          <p:cNvSpPr/>
          <p:nvPr/>
        </p:nvSpPr>
        <p:spPr>
          <a:xfrm>
            <a:off x="457200" y="1810512"/>
            <a:ext cx="11274552" cy="384048"/>
          </a:xfrm>
          <a:prstGeom prst="rect">
            <a:avLst/>
          </a:prstGeom>
          <a:solidFill>
            <a:srgbClr val="1B3B6F"/>
          </a:solidFill>
          <a:ln w="12700">
            <a:solidFill>
              <a:srgbClr val="1B3B6F"/>
            </a:solidFill>
            <a:prstDash val="solid"/>
          </a:ln>
        </p:spPr>
      </p:sp>
      <p:sp>
        <p:nvSpPr>
          <p:cNvPr id="16" name="Text 13"/>
          <p:cNvSpPr txBox="1"/>
          <p:nvPr/>
        </p:nvSpPr>
        <p:spPr>
          <a:xfrm>
            <a:off x="9720072" y="1810512"/>
            <a:ext cx="1938528" cy="384048"/>
          </a:xfrm>
          <a:prstGeom prst="rect">
            <a:avLst/>
          </a:prstGeom>
          <a:noFill/>
          <a:ln/>
        </p:spPr>
        <p:txBody>
          <a:bodyPr wrap="square" lIns="0" tIns="0" rIns="0" bIns="0" rtlCol="0" anchor="ctr"/>
          <a:lstStyle/>
          <a:p>
            <a:pPr algn="ctr" indent="0" marL="0">
              <a:buNone/>
            </a:pPr>
            <a:r>
              <a:rPr lang="en-US" sz="1100" b="1" dirty="0">
                <a:solidFill>
                  <a:srgbClr val="FFFFFF"/>
                </a:solidFill>
                <a:latin typeface="Calibri" pitchFamily="34" charset="0"/>
                <a:cs typeface="Amiri" pitchFamily="2" charset="-78"/>
              </a:rPr>
              <a:t>Add more (Develop · Stretch)</a:t>
            </a:r>
            <a:endParaRPr lang="en-US" sz="1100" dirty="0"/>
          </a:p>
        </p:txBody>
      </p:sp>
      <p:sp>
        <p:nvSpPr>
          <p:cNvPr id="17" name="Text 14"/>
          <p:cNvSpPr txBox="1"/>
          <p:nvPr/>
        </p:nvSpPr>
        <p:spPr>
          <a:xfrm>
            <a:off x="6976872" y="1810512"/>
            <a:ext cx="2596896" cy="384048"/>
          </a:xfrm>
          <a:prstGeom prst="rect">
            <a:avLst/>
          </a:prstGeom>
          <a:noFill/>
          <a:ln/>
        </p:spPr>
        <p:txBody>
          <a:bodyPr wrap="square" lIns="0" tIns="0" rIns="0" bIns="0" rtlCol="0" anchor="ctr"/>
          <a:lstStyle/>
          <a:p>
            <a:pPr algn="ctr" indent="0" marL="0">
              <a:buNone/>
            </a:pPr>
            <a:r>
              <a:rPr lang="en-US" sz="1100" b="1" dirty="0">
                <a:solidFill>
                  <a:srgbClr val="FFFFFF"/>
                </a:solidFill>
                <a:latin typeface="Calibri" pitchFamily="34" charset="0"/>
                <a:cs typeface="Amiri" pitchFamily="2" charset="-78"/>
              </a:rPr>
              <a:t>Start your answer (Core)</a:t>
            </a:r>
            <a:endParaRPr lang="en-US" sz="1100" dirty="0"/>
          </a:p>
        </p:txBody>
      </p:sp>
      <p:sp>
        <p:nvSpPr>
          <p:cNvPr id="18" name="Text 15"/>
          <p:cNvSpPr txBox="1"/>
          <p:nvPr/>
        </p:nvSpPr>
        <p:spPr>
          <a:xfrm>
            <a:off x="4599432" y="1810512"/>
            <a:ext cx="2231136" cy="384048"/>
          </a:xfrm>
          <a:prstGeom prst="rect">
            <a:avLst/>
          </a:prstGeom>
          <a:noFill/>
          <a:ln/>
        </p:spPr>
        <p:txBody>
          <a:bodyPr wrap="square" lIns="0" tIns="0" rIns="0" bIns="0" rtlCol="0" anchor="ctr"/>
          <a:lstStyle/>
          <a:p>
            <a:pPr algn="ctr" indent="0" marL="0">
              <a:buNone/>
            </a:pPr>
            <a:r>
              <a:rPr lang="en-US" sz="1100" b="1" dirty="0">
                <a:solidFill>
                  <a:srgbClr val="FFFFFF"/>
                </a:solidFill>
                <a:latin typeface="Calibri" pitchFamily="34" charset="0"/>
                <a:cs typeface="Amiri" pitchFamily="2" charset="-78"/>
              </a:rPr>
              <a:t>Meaning</a:t>
            </a:r>
            <a:endParaRPr lang="en-US" sz="1100" dirty="0"/>
          </a:p>
        </p:txBody>
      </p:sp>
      <p:sp>
        <p:nvSpPr>
          <p:cNvPr id="19" name="Text 16"/>
          <p:cNvSpPr txBox="1"/>
          <p:nvPr/>
        </p:nvSpPr>
        <p:spPr>
          <a:xfrm>
            <a:off x="1033272" y="1810512"/>
            <a:ext cx="3419856" cy="384048"/>
          </a:xfrm>
          <a:prstGeom prst="rect">
            <a:avLst/>
          </a:prstGeom>
          <a:noFill/>
          <a:ln/>
        </p:spPr>
        <p:txBody>
          <a:bodyPr wrap="square" lIns="0" tIns="0" rIns="0" bIns="0" rtlCol="0" anchor="ctr"/>
          <a:lstStyle/>
          <a:p>
            <a:pPr algn="ctr" indent="0" marL="0">
              <a:buNone/>
            </a:pPr>
            <a:r>
              <a:rPr lang="en-US" sz="1100" b="1" dirty="0">
                <a:solidFill>
                  <a:srgbClr val="FFFFFF"/>
                </a:solidFill>
                <a:latin typeface="Calibri" pitchFamily="34" charset="0"/>
                <a:cs typeface="Amiri" pitchFamily="2" charset="-78"/>
              </a:rPr>
              <a:t>Partner A asks</a:t>
            </a:r>
            <a:endParaRPr lang="en-US" sz="1100" dirty="0"/>
          </a:p>
        </p:txBody>
      </p:sp>
      <p:sp>
        <p:nvSpPr>
          <p:cNvPr id="20" name="Text 17"/>
          <p:cNvSpPr txBox="1"/>
          <p:nvPr/>
        </p:nvSpPr>
        <p:spPr>
          <a:xfrm>
            <a:off x="530352" y="1810512"/>
            <a:ext cx="356616" cy="384048"/>
          </a:xfrm>
          <a:prstGeom prst="rect">
            <a:avLst/>
          </a:prstGeom>
          <a:noFill/>
          <a:ln/>
        </p:spPr>
        <p:txBody>
          <a:bodyPr wrap="square" lIns="0" tIns="0" rIns="0" bIns="0" rtlCol="0" anchor="ctr"/>
          <a:lstStyle/>
          <a:p>
            <a:pPr algn="ctr" indent="0" marL="0">
              <a:buNone/>
            </a:pPr>
            <a:r>
              <a:rPr lang="en-US" sz="1100" b="1" dirty="0">
                <a:solidFill>
                  <a:srgbClr val="FFFFFF"/>
                </a:solidFill>
                <a:latin typeface="Calibri" pitchFamily="34" charset="0"/>
                <a:cs typeface="Amiri" pitchFamily="2" charset="-78"/>
              </a:rPr>
              <a:t>#</a:t>
            </a:r>
            <a:endParaRPr lang="en-US" sz="1100" dirty="0"/>
          </a:p>
        </p:txBody>
      </p:sp>
      <p:sp>
        <p:nvSpPr>
          <p:cNvPr id="21" name="Shape 18"/>
          <p:cNvSpPr/>
          <p:nvPr/>
        </p:nvSpPr>
        <p:spPr>
          <a:xfrm>
            <a:off x="457200" y="2267712"/>
            <a:ext cx="11274552" cy="559308"/>
          </a:xfrm>
          <a:prstGeom prst="roundRect">
            <a:avLst>
              <a:gd name="adj" fmla="val 8174"/>
            </a:avLst>
          </a:prstGeom>
          <a:solidFill>
            <a:srgbClr val="FFFFFF"/>
          </a:solidFill>
          <a:ln w="9525">
            <a:solidFill>
              <a:srgbClr val="D8D0BF"/>
            </a:solidFill>
            <a:prstDash val="solid"/>
          </a:ln>
        </p:spPr>
      </p:sp>
      <p:sp>
        <p:nvSpPr>
          <p:cNvPr id="22" name="Text 19"/>
          <p:cNvSpPr txBox="1"/>
          <p:nvPr/>
        </p:nvSpPr>
        <p:spPr>
          <a:xfrm>
            <a:off x="9738360" y="2267712"/>
            <a:ext cx="1901952" cy="559308"/>
          </a:xfrm>
          <a:prstGeom prst="rect">
            <a:avLst/>
          </a:prstGeom>
          <a:noFill/>
          <a:ln/>
        </p:spPr>
        <p:txBody>
          <a:bodyPr wrap="square" lIns="0" tIns="0" rIns="0" bIns="0" rtlCol="0" anchor="ctr"/>
          <a:lstStyle/>
          <a:p>
            <a:pPr rtl="1" algn="ctr" indent="0" marL="0">
              <a:buNone/>
            </a:pPr>
            <a:r>
              <a:rPr lang="ar-SA" altLang="en-US" sz="1500" b="1" dirty="0">
                <a:solidFill>
                  <a:srgbClr val="1B3B6F"/>
                </a:solidFill>
                <a:latin typeface="Amiri" pitchFamily="2" charset="-78"/>
                <a:ea typeface="Amiri" pitchFamily="2" charset="-78"/>
                <a:cs typeface="Amiri" pitchFamily="2" charset="-78"/>
              </a:rPr>
              <a:t>… جِدًّا</a:t>
            </a:r>
            <a:endParaRPr lang="ar-SA" sz="1500" dirty="0"/>
          </a:p>
        </p:txBody>
      </p:sp>
      <p:sp>
        <p:nvSpPr>
          <p:cNvPr id="23" name="Text 20"/>
          <p:cNvSpPr txBox="1"/>
          <p:nvPr/>
        </p:nvSpPr>
        <p:spPr>
          <a:xfrm>
            <a:off x="6995160" y="2267712"/>
            <a:ext cx="2560320" cy="559308"/>
          </a:xfrm>
          <a:prstGeom prst="rect">
            <a:avLst/>
          </a:prstGeom>
          <a:noFill/>
          <a:ln/>
        </p:spPr>
        <p:txBody>
          <a:bodyPr wrap="square" lIns="0" tIns="0" rIns="0" bIns="0" rtlCol="0" anchor="ctr"/>
          <a:lstStyle/>
          <a:p>
            <a:pPr rtl="1" algn="ctr" indent="0" marL="0">
              <a:buNone/>
            </a:pPr>
            <a:r>
              <a:rPr lang="ar-SA" altLang="en-US" sz="1600" b="1" dirty="0">
                <a:solidFill>
                  <a:srgbClr val="1B3B6F"/>
                </a:solidFill>
                <a:latin typeface="Amiri" pitchFamily="2" charset="-78"/>
                <a:ea typeface="Amiri" pitchFamily="2" charset="-78"/>
                <a:cs typeface="Amiri" pitchFamily="2" charset="-78"/>
              </a:rPr>
              <a:t>مَدِينَتِي … وَ… وَ…</a:t>
            </a:r>
            <a:endParaRPr lang="ar-SA" sz="1600" dirty="0"/>
          </a:p>
        </p:txBody>
      </p:sp>
      <p:sp>
        <p:nvSpPr>
          <p:cNvPr id="24" name="Text 21"/>
          <p:cNvSpPr txBox="1"/>
          <p:nvPr/>
        </p:nvSpPr>
        <p:spPr>
          <a:xfrm>
            <a:off x="4636008" y="2267712"/>
            <a:ext cx="2194560" cy="559308"/>
          </a:xfrm>
          <a:prstGeom prst="rect">
            <a:avLst/>
          </a:prstGeom>
          <a:noFill/>
          <a:ln/>
        </p:spPr>
        <p:txBody>
          <a:bodyPr wrap="square" lIns="0" tIns="0" rIns="0" bIns="0" rtlCol="0" anchor="ctr"/>
          <a:lstStyle/>
          <a:p>
            <a:pPr algn="l" indent="0" marL="0">
              <a:buNone/>
            </a:pPr>
            <a:r>
              <a:rPr lang="en-US" sz="1100" dirty="0">
                <a:solidFill>
                  <a:srgbClr val="5A6472"/>
                </a:solidFill>
                <a:latin typeface="Calibri" pitchFamily="34" charset="0"/>
                <a:cs typeface="Amiri" pitchFamily="2" charset="-78"/>
              </a:rPr>
              <a:t>Describe your town in three adjectives.</a:t>
            </a:r>
            <a:endParaRPr lang="en-US" sz="1100" dirty="0"/>
          </a:p>
        </p:txBody>
      </p:sp>
      <p:sp>
        <p:nvSpPr>
          <p:cNvPr id="25" name="Text 22"/>
          <p:cNvSpPr txBox="1"/>
          <p:nvPr/>
        </p:nvSpPr>
        <p:spPr>
          <a:xfrm>
            <a:off x="1051560" y="2267712"/>
            <a:ext cx="3383280" cy="559308"/>
          </a:xfrm>
          <a:prstGeom prst="rect">
            <a:avLst/>
          </a:prstGeom>
          <a:noFill/>
          <a:ln/>
        </p:spPr>
        <p:txBody>
          <a:bodyPr wrap="square" lIns="0" tIns="0" rIns="0" bIns="0" rtlCol="0" anchor="ctr"/>
          <a:lstStyle/>
          <a:p>
            <a:pPr rtl="1" algn="ctr" indent="0" marL="0">
              <a:buNone/>
            </a:pPr>
            <a:r>
              <a:rPr lang="ar-SA" altLang="en-US" sz="1700" b="1" dirty="0">
                <a:solidFill>
                  <a:srgbClr val="1B3B6F"/>
                </a:solidFill>
                <a:latin typeface="Amiri" pitchFamily="2" charset="-78"/>
                <a:ea typeface="Amiri" pitchFamily="2" charset="-78"/>
                <a:cs typeface="Amiri" pitchFamily="2" charset="-78"/>
              </a:rPr>
              <a:t>صِفْ مَدِينَتَكَ بِثَلَاثِ صِفَاتٍ.</a:t>
            </a:r>
            <a:endParaRPr lang="ar-SA" sz="1700" dirty="0"/>
          </a:p>
        </p:txBody>
      </p:sp>
      <p:sp>
        <p:nvSpPr>
          <p:cNvPr id="26" name="Text 23"/>
          <p:cNvSpPr txBox="1"/>
          <p:nvPr/>
        </p:nvSpPr>
        <p:spPr>
          <a:xfrm>
            <a:off x="566928" y="2267712"/>
            <a:ext cx="320040" cy="559308"/>
          </a:xfrm>
          <a:prstGeom prst="rect">
            <a:avLst/>
          </a:prstGeom>
          <a:noFill/>
          <a:ln/>
        </p:spPr>
        <p:txBody>
          <a:bodyPr wrap="square" lIns="0" tIns="0" rIns="0" bIns="0" rtlCol="0" anchor="ctr"/>
          <a:lstStyle/>
          <a:p>
            <a:pPr algn="l" indent="0" marL="0">
              <a:buNone/>
            </a:pPr>
            <a:r>
              <a:rPr lang="en-US" sz="1100" dirty="0">
                <a:solidFill>
                  <a:srgbClr val="5A6472"/>
                </a:solidFill>
                <a:latin typeface="Calibri" pitchFamily="34" charset="0"/>
                <a:cs typeface="Amiri" pitchFamily="2" charset="-78"/>
              </a:rPr>
              <a:t>1</a:t>
            </a:r>
            <a:endParaRPr lang="en-US" sz="1100" dirty="0"/>
          </a:p>
        </p:txBody>
      </p:sp>
      <p:sp>
        <p:nvSpPr>
          <p:cNvPr id="27" name="Shape 24"/>
          <p:cNvSpPr/>
          <p:nvPr/>
        </p:nvSpPr>
        <p:spPr>
          <a:xfrm>
            <a:off x="11091672" y="2313432"/>
            <a:ext cx="548640" cy="182880"/>
          </a:xfrm>
          <a:prstGeom prst="roundRect">
            <a:avLst>
              <a:gd name="adj" fmla="val 50000"/>
            </a:avLst>
          </a:prstGeom>
          <a:solidFill>
            <a:srgbClr val="2E8B57"/>
          </a:solidFill>
          <a:ln w="12700">
            <a:solidFill>
              <a:srgbClr val="2E8B57"/>
            </a:solidFill>
            <a:prstDash val="solid"/>
          </a:ln>
        </p:spPr>
      </p:sp>
      <p:sp>
        <p:nvSpPr>
          <p:cNvPr id="28" name="Text 25"/>
          <p:cNvSpPr txBox="1"/>
          <p:nvPr/>
        </p:nvSpPr>
        <p:spPr>
          <a:xfrm>
            <a:off x="11091672" y="2313432"/>
            <a:ext cx="548640" cy="182880"/>
          </a:xfrm>
          <a:prstGeom prst="rect">
            <a:avLst/>
          </a:prstGeom>
          <a:noFill/>
          <a:ln/>
        </p:spPr>
        <p:txBody>
          <a:bodyPr wrap="square" lIns="0" tIns="0" rIns="0" bIns="0" rtlCol="0" anchor="ctr"/>
          <a:lstStyle/>
          <a:p>
            <a:pPr algn="ctr" indent="0" marL="0">
              <a:buNone/>
            </a:pPr>
            <a:r>
              <a:rPr lang="en-US" sz="650" b="1" spc="100" kern="0" dirty="0">
                <a:solidFill>
                  <a:srgbClr val="FFFFFF"/>
                </a:solidFill>
                <a:latin typeface="Calibri" pitchFamily="34" charset="0"/>
                <a:cs typeface="Amiri" pitchFamily="2" charset="-78"/>
              </a:rPr>
              <a:t>CORE</a:t>
            </a:r>
            <a:endParaRPr lang="en-US" sz="650" dirty="0"/>
          </a:p>
        </p:txBody>
      </p:sp>
      <p:sp>
        <p:nvSpPr>
          <p:cNvPr id="29" name="Shape 26"/>
          <p:cNvSpPr/>
          <p:nvPr/>
        </p:nvSpPr>
        <p:spPr>
          <a:xfrm>
            <a:off x="457200" y="2881884"/>
            <a:ext cx="11274552" cy="559308"/>
          </a:xfrm>
          <a:prstGeom prst="roundRect">
            <a:avLst>
              <a:gd name="adj" fmla="val 8174"/>
            </a:avLst>
          </a:prstGeom>
          <a:solidFill>
            <a:srgbClr val="F4F1EA"/>
          </a:solidFill>
          <a:ln w="9525">
            <a:solidFill>
              <a:srgbClr val="D8D0BF"/>
            </a:solidFill>
            <a:prstDash val="solid"/>
          </a:ln>
        </p:spPr>
      </p:sp>
      <p:sp>
        <p:nvSpPr>
          <p:cNvPr id="30" name="Text 27"/>
          <p:cNvSpPr txBox="1"/>
          <p:nvPr/>
        </p:nvSpPr>
        <p:spPr>
          <a:xfrm>
            <a:off x="9738360" y="2881884"/>
            <a:ext cx="1901952" cy="559308"/>
          </a:xfrm>
          <a:prstGeom prst="rect">
            <a:avLst/>
          </a:prstGeom>
          <a:noFill/>
          <a:ln/>
        </p:spPr>
        <p:txBody>
          <a:bodyPr wrap="square" lIns="0" tIns="0" rIns="0" bIns="0" rtlCol="0" anchor="ctr"/>
          <a:lstStyle/>
          <a:p>
            <a:pPr rtl="1" algn="ctr" indent="0" marL="0">
              <a:buNone/>
            </a:pPr>
            <a:r>
              <a:rPr lang="ar-SA" altLang="en-US" sz="1500" b="1" dirty="0">
                <a:solidFill>
                  <a:srgbClr val="1B3B6F"/>
                </a:solidFill>
                <a:latin typeface="Amiri" pitchFamily="2" charset="-78"/>
                <a:ea typeface="Amiri" pitchFamily="2" charset="-78"/>
                <a:cs typeface="Amiri" pitchFamily="2" charset="-78"/>
              </a:rPr>
              <a:t>… وَهُوَ رَخِيصٌ</a:t>
            </a:r>
            <a:endParaRPr lang="ar-SA" sz="1500" dirty="0"/>
          </a:p>
        </p:txBody>
      </p:sp>
      <p:sp>
        <p:nvSpPr>
          <p:cNvPr id="31" name="Text 28"/>
          <p:cNvSpPr txBox="1"/>
          <p:nvPr/>
        </p:nvSpPr>
        <p:spPr>
          <a:xfrm>
            <a:off x="6995160" y="2881884"/>
            <a:ext cx="2560320" cy="559308"/>
          </a:xfrm>
          <a:prstGeom prst="rect">
            <a:avLst/>
          </a:prstGeom>
          <a:noFill/>
          <a:ln/>
        </p:spPr>
        <p:txBody>
          <a:bodyPr wrap="square" lIns="0" tIns="0" rIns="0" bIns="0" rtlCol="0" anchor="ctr"/>
          <a:lstStyle/>
          <a:p>
            <a:pPr rtl="1" algn="ctr" indent="0" marL="0">
              <a:buNone/>
            </a:pPr>
            <a:r>
              <a:rPr lang="ar-SA" altLang="en-US" sz="1600" b="1" dirty="0">
                <a:solidFill>
                  <a:srgbClr val="1B3B6F"/>
                </a:solidFill>
                <a:latin typeface="Amiri" pitchFamily="2" charset="-78"/>
                <a:ea typeface="Amiri" pitchFamily="2" charset="-78"/>
                <a:cs typeface="Amiri" pitchFamily="2" charset="-78"/>
              </a:rPr>
              <a:t>ثَمَنُهُ ثَمَانِيَةُ جُنَيْهَاتٍ</a:t>
            </a:r>
            <a:endParaRPr lang="ar-SA" sz="1600" dirty="0"/>
          </a:p>
        </p:txBody>
      </p:sp>
      <p:sp>
        <p:nvSpPr>
          <p:cNvPr id="32" name="Text 29"/>
          <p:cNvSpPr txBox="1"/>
          <p:nvPr/>
        </p:nvSpPr>
        <p:spPr>
          <a:xfrm>
            <a:off x="4636008" y="2881884"/>
            <a:ext cx="2194560" cy="559308"/>
          </a:xfrm>
          <a:prstGeom prst="rect">
            <a:avLst/>
          </a:prstGeom>
          <a:noFill/>
          <a:ln/>
        </p:spPr>
        <p:txBody>
          <a:bodyPr wrap="square" lIns="0" tIns="0" rIns="0" bIns="0" rtlCol="0" anchor="ctr"/>
          <a:lstStyle/>
          <a:p>
            <a:pPr algn="l" indent="0" marL="0">
              <a:buNone/>
            </a:pPr>
            <a:r>
              <a:rPr lang="en-US" sz="1100" dirty="0">
                <a:solidFill>
                  <a:srgbClr val="5A6472"/>
                </a:solidFill>
                <a:latin typeface="Calibri" pitchFamily="34" charset="0"/>
                <a:cs typeface="Amiri" pitchFamily="2" charset="-78"/>
              </a:rPr>
              <a:t>How much is this book? (£8)</a:t>
            </a:r>
            <a:endParaRPr lang="en-US" sz="1100" dirty="0"/>
          </a:p>
        </p:txBody>
      </p:sp>
      <p:sp>
        <p:nvSpPr>
          <p:cNvPr id="33" name="Text 30"/>
          <p:cNvSpPr txBox="1"/>
          <p:nvPr/>
        </p:nvSpPr>
        <p:spPr>
          <a:xfrm>
            <a:off x="1051560" y="2881884"/>
            <a:ext cx="3383280" cy="559308"/>
          </a:xfrm>
          <a:prstGeom prst="rect">
            <a:avLst/>
          </a:prstGeom>
          <a:noFill/>
          <a:ln/>
        </p:spPr>
        <p:txBody>
          <a:bodyPr wrap="square" lIns="0" tIns="0" rIns="0" bIns="0" rtlCol="0" anchor="ctr"/>
          <a:lstStyle/>
          <a:p>
            <a:pPr rtl="1" algn="ctr" indent="0" marL="0">
              <a:buNone/>
            </a:pPr>
            <a:r>
              <a:rPr lang="ar-SA" altLang="en-US" sz="1700" b="1" dirty="0">
                <a:solidFill>
                  <a:srgbClr val="1B3B6F"/>
                </a:solidFill>
                <a:latin typeface="Amiri" pitchFamily="2" charset="-78"/>
                <a:ea typeface="Amiri" pitchFamily="2" charset="-78"/>
                <a:cs typeface="Amiri" pitchFamily="2" charset="-78"/>
              </a:rPr>
              <a:t>كَمْ ثَمَنُ هٰذَا الكِتَابِ؟ (8 £)</a:t>
            </a:r>
            <a:endParaRPr lang="ar-SA" sz="1700" dirty="0"/>
          </a:p>
        </p:txBody>
      </p:sp>
      <p:sp>
        <p:nvSpPr>
          <p:cNvPr id="34" name="Text 31"/>
          <p:cNvSpPr txBox="1"/>
          <p:nvPr/>
        </p:nvSpPr>
        <p:spPr>
          <a:xfrm>
            <a:off x="566928" y="2881884"/>
            <a:ext cx="320040" cy="559308"/>
          </a:xfrm>
          <a:prstGeom prst="rect">
            <a:avLst/>
          </a:prstGeom>
          <a:noFill/>
          <a:ln/>
        </p:spPr>
        <p:txBody>
          <a:bodyPr wrap="square" lIns="0" tIns="0" rIns="0" bIns="0" rtlCol="0" anchor="ctr"/>
          <a:lstStyle/>
          <a:p>
            <a:pPr algn="l" indent="0" marL="0">
              <a:buNone/>
            </a:pPr>
            <a:r>
              <a:rPr lang="en-US" sz="1100" dirty="0">
                <a:solidFill>
                  <a:srgbClr val="5A6472"/>
                </a:solidFill>
                <a:latin typeface="Calibri" pitchFamily="34" charset="0"/>
                <a:cs typeface="Amiri" pitchFamily="2" charset="-78"/>
              </a:rPr>
              <a:t>2</a:t>
            </a:r>
            <a:endParaRPr lang="en-US" sz="1100" dirty="0"/>
          </a:p>
        </p:txBody>
      </p:sp>
      <p:sp>
        <p:nvSpPr>
          <p:cNvPr id="35" name="Shape 32"/>
          <p:cNvSpPr/>
          <p:nvPr/>
        </p:nvSpPr>
        <p:spPr>
          <a:xfrm>
            <a:off x="11091672" y="2927604"/>
            <a:ext cx="548640" cy="182880"/>
          </a:xfrm>
          <a:prstGeom prst="roundRect">
            <a:avLst>
              <a:gd name="adj" fmla="val 50000"/>
            </a:avLst>
          </a:prstGeom>
          <a:solidFill>
            <a:srgbClr val="2E8B57"/>
          </a:solidFill>
          <a:ln w="12700">
            <a:solidFill>
              <a:srgbClr val="2E8B57"/>
            </a:solidFill>
            <a:prstDash val="solid"/>
          </a:ln>
        </p:spPr>
      </p:sp>
      <p:sp>
        <p:nvSpPr>
          <p:cNvPr id="36" name="Text 33"/>
          <p:cNvSpPr txBox="1"/>
          <p:nvPr/>
        </p:nvSpPr>
        <p:spPr>
          <a:xfrm>
            <a:off x="11091672" y="2927604"/>
            <a:ext cx="548640" cy="182880"/>
          </a:xfrm>
          <a:prstGeom prst="rect">
            <a:avLst/>
          </a:prstGeom>
          <a:noFill/>
          <a:ln/>
        </p:spPr>
        <p:txBody>
          <a:bodyPr wrap="square" lIns="0" tIns="0" rIns="0" bIns="0" rtlCol="0" anchor="ctr"/>
          <a:lstStyle/>
          <a:p>
            <a:pPr algn="ctr" indent="0" marL="0">
              <a:buNone/>
            </a:pPr>
            <a:r>
              <a:rPr lang="en-US" sz="650" b="1" spc="100" kern="0" dirty="0">
                <a:solidFill>
                  <a:srgbClr val="FFFFFF"/>
                </a:solidFill>
                <a:latin typeface="Calibri" pitchFamily="34" charset="0"/>
                <a:cs typeface="Amiri" pitchFamily="2" charset="-78"/>
              </a:rPr>
              <a:t>CORE</a:t>
            </a:r>
            <a:endParaRPr lang="en-US" sz="650" dirty="0"/>
          </a:p>
        </p:txBody>
      </p:sp>
      <p:sp>
        <p:nvSpPr>
          <p:cNvPr id="37" name="Shape 34"/>
          <p:cNvSpPr/>
          <p:nvPr/>
        </p:nvSpPr>
        <p:spPr>
          <a:xfrm>
            <a:off x="457200" y="3496056"/>
            <a:ext cx="11274552" cy="559308"/>
          </a:xfrm>
          <a:prstGeom prst="roundRect">
            <a:avLst>
              <a:gd name="adj" fmla="val 8174"/>
            </a:avLst>
          </a:prstGeom>
          <a:solidFill>
            <a:srgbClr val="FFFFFF"/>
          </a:solidFill>
          <a:ln w="9525">
            <a:solidFill>
              <a:srgbClr val="D8D0BF"/>
            </a:solidFill>
            <a:prstDash val="solid"/>
          </a:ln>
        </p:spPr>
      </p:sp>
      <p:sp>
        <p:nvSpPr>
          <p:cNvPr id="38" name="Text 35"/>
          <p:cNvSpPr txBox="1"/>
          <p:nvPr/>
        </p:nvSpPr>
        <p:spPr>
          <a:xfrm>
            <a:off x="9738360" y="3496056"/>
            <a:ext cx="1901952" cy="559308"/>
          </a:xfrm>
          <a:prstGeom prst="rect">
            <a:avLst/>
          </a:prstGeom>
          <a:noFill/>
          <a:ln/>
        </p:spPr>
        <p:txBody>
          <a:bodyPr wrap="square" lIns="0" tIns="0" rIns="0" bIns="0" rtlCol="0" anchor="ctr"/>
          <a:lstStyle/>
          <a:p>
            <a:pPr rtl="1" algn="ctr" indent="0" marL="0">
              <a:buNone/>
            </a:pPr>
            <a:r>
              <a:rPr lang="ar-SA" altLang="en-US" sz="1500" b="1" dirty="0">
                <a:solidFill>
                  <a:srgbClr val="1B3B6F"/>
                </a:solidFill>
                <a:latin typeface="Amiri" pitchFamily="2" charset="-78"/>
                <a:ea typeface="Amiri" pitchFamily="2" charset="-78"/>
                <a:cs typeface="Amiri" pitchFamily="2" charset="-78"/>
              </a:rPr>
              <a:t>… لِذٰلِكَ …</a:t>
            </a:r>
            <a:endParaRPr lang="ar-SA" sz="1500" dirty="0"/>
          </a:p>
        </p:txBody>
      </p:sp>
      <p:sp>
        <p:nvSpPr>
          <p:cNvPr id="39" name="Text 36"/>
          <p:cNvSpPr txBox="1"/>
          <p:nvPr/>
        </p:nvSpPr>
        <p:spPr>
          <a:xfrm>
            <a:off x="6995160" y="3496056"/>
            <a:ext cx="2560320" cy="559308"/>
          </a:xfrm>
          <a:prstGeom prst="rect">
            <a:avLst/>
          </a:prstGeom>
          <a:noFill/>
          <a:ln/>
        </p:spPr>
        <p:txBody>
          <a:bodyPr wrap="square" lIns="0" tIns="0" rIns="0" bIns="0" rtlCol="0" anchor="ctr"/>
          <a:lstStyle/>
          <a:p>
            <a:pPr rtl="1" algn="ctr" indent="0" marL="0">
              <a:buNone/>
            </a:pPr>
            <a:r>
              <a:rPr lang="ar-SA" altLang="en-US" sz="1600" b="1" dirty="0">
                <a:solidFill>
                  <a:srgbClr val="1B3B6F"/>
                </a:solidFill>
                <a:latin typeface="Amiri" pitchFamily="2" charset="-78"/>
                <a:ea typeface="Amiri" pitchFamily="2" charset="-78"/>
                <a:cs typeface="Amiri" pitchFamily="2" charset="-78"/>
              </a:rPr>
              <a:t>مِنْ مَزَايَا مَدِينَتِي أَنَّ …</a:t>
            </a:r>
            <a:endParaRPr lang="ar-SA" sz="1600" dirty="0"/>
          </a:p>
        </p:txBody>
      </p:sp>
      <p:sp>
        <p:nvSpPr>
          <p:cNvPr id="40" name="Text 37"/>
          <p:cNvSpPr txBox="1"/>
          <p:nvPr/>
        </p:nvSpPr>
        <p:spPr>
          <a:xfrm>
            <a:off x="4636008" y="3496056"/>
            <a:ext cx="2194560" cy="559308"/>
          </a:xfrm>
          <a:prstGeom prst="rect">
            <a:avLst/>
          </a:prstGeom>
          <a:noFill/>
          <a:ln/>
        </p:spPr>
        <p:txBody>
          <a:bodyPr wrap="square" lIns="0" tIns="0" rIns="0" bIns="0" rtlCol="0" anchor="ctr"/>
          <a:lstStyle/>
          <a:p>
            <a:pPr algn="l" indent="0" marL="0">
              <a:buNone/>
            </a:pPr>
            <a:r>
              <a:rPr lang="en-US" sz="1100" dirty="0">
                <a:solidFill>
                  <a:srgbClr val="5A6472"/>
                </a:solidFill>
                <a:latin typeface="Calibri" pitchFamily="34" charset="0"/>
                <a:cs typeface="Amiri" pitchFamily="2" charset="-78"/>
              </a:rPr>
              <a:t>What is the biggest advantage of your town?</a:t>
            </a:r>
            <a:endParaRPr lang="en-US" sz="1100" dirty="0"/>
          </a:p>
        </p:txBody>
      </p:sp>
      <p:sp>
        <p:nvSpPr>
          <p:cNvPr id="41" name="Text 38"/>
          <p:cNvSpPr txBox="1"/>
          <p:nvPr/>
        </p:nvSpPr>
        <p:spPr>
          <a:xfrm>
            <a:off x="1051560" y="3496056"/>
            <a:ext cx="3383280" cy="559308"/>
          </a:xfrm>
          <a:prstGeom prst="rect">
            <a:avLst/>
          </a:prstGeom>
          <a:noFill/>
          <a:ln/>
        </p:spPr>
        <p:txBody>
          <a:bodyPr wrap="square" lIns="0" tIns="0" rIns="0" bIns="0" rtlCol="0" anchor="ctr"/>
          <a:lstStyle/>
          <a:p>
            <a:pPr rtl="1" algn="ctr" indent="0" marL="0">
              <a:buNone/>
            </a:pPr>
            <a:r>
              <a:rPr lang="ar-SA" altLang="en-US" sz="1700" b="1" dirty="0">
                <a:solidFill>
                  <a:srgbClr val="1B3B6F"/>
                </a:solidFill>
                <a:latin typeface="Amiri" pitchFamily="2" charset="-78"/>
                <a:ea typeface="Amiri" pitchFamily="2" charset="-78"/>
                <a:cs typeface="Amiri" pitchFamily="2" charset="-78"/>
              </a:rPr>
              <a:t>مَا أَكْبَرُ مِيزَةٍ فِي مَدِينَتِكَ؟</a:t>
            </a:r>
            <a:endParaRPr lang="ar-SA" sz="1700" dirty="0"/>
          </a:p>
        </p:txBody>
      </p:sp>
      <p:sp>
        <p:nvSpPr>
          <p:cNvPr id="42" name="Text 39"/>
          <p:cNvSpPr txBox="1"/>
          <p:nvPr/>
        </p:nvSpPr>
        <p:spPr>
          <a:xfrm>
            <a:off x="566928" y="3496056"/>
            <a:ext cx="320040" cy="559308"/>
          </a:xfrm>
          <a:prstGeom prst="rect">
            <a:avLst/>
          </a:prstGeom>
          <a:noFill/>
          <a:ln/>
        </p:spPr>
        <p:txBody>
          <a:bodyPr wrap="square" lIns="0" tIns="0" rIns="0" bIns="0" rtlCol="0" anchor="ctr"/>
          <a:lstStyle/>
          <a:p>
            <a:pPr algn="l" indent="0" marL="0">
              <a:buNone/>
            </a:pPr>
            <a:r>
              <a:rPr lang="en-US" sz="1100" dirty="0">
                <a:solidFill>
                  <a:srgbClr val="5A6472"/>
                </a:solidFill>
                <a:latin typeface="Calibri" pitchFamily="34" charset="0"/>
                <a:cs typeface="Amiri" pitchFamily="2" charset="-78"/>
              </a:rPr>
              <a:t>3</a:t>
            </a:r>
            <a:endParaRPr lang="en-US" sz="1100" dirty="0"/>
          </a:p>
        </p:txBody>
      </p:sp>
      <p:sp>
        <p:nvSpPr>
          <p:cNvPr id="43" name="Shape 40"/>
          <p:cNvSpPr/>
          <p:nvPr/>
        </p:nvSpPr>
        <p:spPr>
          <a:xfrm>
            <a:off x="11091672" y="3541776"/>
            <a:ext cx="548640" cy="182880"/>
          </a:xfrm>
          <a:prstGeom prst="roundRect">
            <a:avLst>
              <a:gd name="adj" fmla="val 50000"/>
            </a:avLst>
          </a:prstGeom>
          <a:solidFill>
            <a:srgbClr val="2E8B57"/>
          </a:solidFill>
          <a:ln w="12700">
            <a:solidFill>
              <a:srgbClr val="2E8B57"/>
            </a:solidFill>
            <a:prstDash val="solid"/>
          </a:ln>
        </p:spPr>
      </p:sp>
      <p:sp>
        <p:nvSpPr>
          <p:cNvPr id="44" name="Text 41"/>
          <p:cNvSpPr txBox="1"/>
          <p:nvPr/>
        </p:nvSpPr>
        <p:spPr>
          <a:xfrm>
            <a:off x="11091672" y="3541776"/>
            <a:ext cx="548640" cy="182880"/>
          </a:xfrm>
          <a:prstGeom prst="rect">
            <a:avLst/>
          </a:prstGeom>
          <a:noFill/>
          <a:ln/>
        </p:spPr>
        <p:txBody>
          <a:bodyPr wrap="square" lIns="0" tIns="0" rIns="0" bIns="0" rtlCol="0" anchor="ctr"/>
          <a:lstStyle/>
          <a:p>
            <a:pPr algn="ctr" indent="0" marL="0">
              <a:buNone/>
            </a:pPr>
            <a:r>
              <a:rPr lang="en-US" sz="650" b="1" spc="100" kern="0" dirty="0">
                <a:solidFill>
                  <a:srgbClr val="FFFFFF"/>
                </a:solidFill>
                <a:latin typeface="Calibri" pitchFamily="34" charset="0"/>
                <a:cs typeface="Amiri" pitchFamily="2" charset="-78"/>
              </a:rPr>
              <a:t>CORE</a:t>
            </a:r>
            <a:endParaRPr lang="en-US" sz="650" dirty="0"/>
          </a:p>
        </p:txBody>
      </p:sp>
      <p:sp>
        <p:nvSpPr>
          <p:cNvPr id="45" name="Shape 42"/>
          <p:cNvSpPr/>
          <p:nvPr/>
        </p:nvSpPr>
        <p:spPr>
          <a:xfrm>
            <a:off x="457200" y="4110228"/>
            <a:ext cx="11274552" cy="559308"/>
          </a:xfrm>
          <a:prstGeom prst="roundRect">
            <a:avLst>
              <a:gd name="adj" fmla="val 8174"/>
            </a:avLst>
          </a:prstGeom>
          <a:solidFill>
            <a:srgbClr val="F4F1EA"/>
          </a:solidFill>
          <a:ln w="9525">
            <a:solidFill>
              <a:srgbClr val="D8D0BF"/>
            </a:solidFill>
            <a:prstDash val="solid"/>
          </a:ln>
        </p:spPr>
      </p:sp>
      <p:sp>
        <p:nvSpPr>
          <p:cNvPr id="46" name="Text 43"/>
          <p:cNvSpPr txBox="1"/>
          <p:nvPr/>
        </p:nvSpPr>
        <p:spPr>
          <a:xfrm>
            <a:off x="9738360" y="4110228"/>
            <a:ext cx="1901952" cy="559308"/>
          </a:xfrm>
          <a:prstGeom prst="rect">
            <a:avLst/>
          </a:prstGeom>
          <a:noFill/>
          <a:ln/>
        </p:spPr>
        <p:txBody>
          <a:bodyPr wrap="square" lIns="0" tIns="0" rIns="0" bIns="0" rtlCol="0" anchor="ctr"/>
          <a:lstStyle/>
          <a:p>
            <a:pPr rtl="1" algn="ctr" indent="0" marL="0">
              <a:buNone/>
            </a:pPr>
            <a:r>
              <a:rPr lang="ar-SA" altLang="en-US" sz="1500" b="1" dirty="0">
                <a:solidFill>
                  <a:srgbClr val="1B3B6F"/>
                </a:solidFill>
                <a:latin typeface="Amiri" pitchFamily="2" charset="-78"/>
                <a:ea typeface="Amiri" pitchFamily="2" charset="-78"/>
                <a:cs typeface="Amiri" pitchFamily="2" charset="-78"/>
              </a:rPr>
              <a:t>… وَهِيَ غَالِيَةٌ</a:t>
            </a:r>
            <a:endParaRPr lang="ar-SA" sz="1500" dirty="0"/>
          </a:p>
        </p:txBody>
      </p:sp>
      <p:sp>
        <p:nvSpPr>
          <p:cNvPr id="47" name="Text 44"/>
          <p:cNvSpPr txBox="1"/>
          <p:nvPr/>
        </p:nvSpPr>
        <p:spPr>
          <a:xfrm>
            <a:off x="6995160" y="4110228"/>
            <a:ext cx="2560320" cy="559308"/>
          </a:xfrm>
          <a:prstGeom prst="rect">
            <a:avLst/>
          </a:prstGeom>
          <a:noFill/>
          <a:ln/>
        </p:spPr>
        <p:txBody>
          <a:bodyPr wrap="square" lIns="0" tIns="0" rIns="0" bIns="0" rtlCol="0" anchor="ctr"/>
          <a:lstStyle/>
          <a:p>
            <a:pPr rtl="1" algn="ctr" indent="0" marL="0">
              <a:buNone/>
            </a:pPr>
            <a:r>
              <a:rPr lang="ar-SA" altLang="en-US" sz="1600" b="1" dirty="0">
                <a:solidFill>
                  <a:srgbClr val="1B3B6F"/>
                </a:solidFill>
                <a:latin typeface="Amiri" pitchFamily="2" charset="-78"/>
                <a:ea typeface="Amiri" pitchFamily="2" charset="-78"/>
                <a:cs typeface="Amiri" pitchFamily="2" charset="-78"/>
              </a:rPr>
              <a:t>ثَمَنُهَا أَرْبَعُونَ جُنَيْهًا</a:t>
            </a:r>
            <a:endParaRPr lang="ar-SA" sz="1600" dirty="0"/>
          </a:p>
        </p:txBody>
      </p:sp>
      <p:sp>
        <p:nvSpPr>
          <p:cNvPr id="48" name="Text 45"/>
          <p:cNvSpPr txBox="1"/>
          <p:nvPr/>
        </p:nvSpPr>
        <p:spPr>
          <a:xfrm>
            <a:off x="4636008" y="4110228"/>
            <a:ext cx="2194560" cy="559308"/>
          </a:xfrm>
          <a:prstGeom prst="rect">
            <a:avLst/>
          </a:prstGeom>
          <a:noFill/>
          <a:ln/>
        </p:spPr>
        <p:txBody>
          <a:bodyPr wrap="square" lIns="0" tIns="0" rIns="0" bIns="0" rtlCol="0" anchor="ctr"/>
          <a:lstStyle/>
          <a:p>
            <a:pPr algn="l" indent="0" marL="0">
              <a:buNone/>
            </a:pPr>
            <a:r>
              <a:rPr lang="en-US" sz="1100" dirty="0">
                <a:solidFill>
                  <a:srgbClr val="5A6472"/>
                </a:solidFill>
                <a:latin typeface="Calibri" pitchFamily="34" charset="0"/>
                <a:cs typeface="Amiri" pitchFamily="2" charset="-78"/>
              </a:rPr>
              <a:t>How much is this watch? (£40)</a:t>
            </a:r>
            <a:endParaRPr lang="en-US" sz="1100" dirty="0"/>
          </a:p>
        </p:txBody>
      </p:sp>
      <p:sp>
        <p:nvSpPr>
          <p:cNvPr id="49" name="Text 46"/>
          <p:cNvSpPr txBox="1"/>
          <p:nvPr/>
        </p:nvSpPr>
        <p:spPr>
          <a:xfrm>
            <a:off x="1051560" y="4110228"/>
            <a:ext cx="3383280" cy="559308"/>
          </a:xfrm>
          <a:prstGeom prst="rect">
            <a:avLst/>
          </a:prstGeom>
          <a:noFill/>
          <a:ln/>
        </p:spPr>
        <p:txBody>
          <a:bodyPr wrap="square" lIns="0" tIns="0" rIns="0" bIns="0" rtlCol="0" anchor="ctr"/>
          <a:lstStyle/>
          <a:p>
            <a:pPr rtl="1" algn="ctr" indent="0" marL="0">
              <a:buNone/>
            </a:pPr>
            <a:r>
              <a:rPr lang="ar-SA" altLang="en-US" sz="1700" b="1" dirty="0">
                <a:solidFill>
                  <a:srgbClr val="1B3B6F"/>
                </a:solidFill>
                <a:latin typeface="Amiri" pitchFamily="2" charset="-78"/>
                <a:ea typeface="Amiri" pitchFamily="2" charset="-78"/>
                <a:cs typeface="Amiri" pitchFamily="2" charset="-78"/>
              </a:rPr>
              <a:t>كَمْ ثَمَنُ هٰذِهِ السَّاعَةِ؟ (40 £)</a:t>
            </a:r>
            <a:endParaRPr lang="ar-SA" sz="1700" dirty="0"/>
          </a:p>
        </p:txBody>
      </p:sp>
      <p:sp>
        <p:nvSpPr>
          <p:cNvPr id="50" name="Text 47"/>
          <p:cNvSpPr txBox="1"/>
          <p:nvPr/>
        </p:nvSpPr>
        <p:spPr>
          <a:xfrm>
            <a:off x="566928" y="4110228"/>
            <a:ext cx="320040" cy="559308"/>
          </a:xfrm>
          <a:prstGeom prst="rect">
            <a:avLst/>
          </a:prstGeom>
          <a:noFill/>
          <a:ln/>
        </p:spPr>
        <p:txBody>
          <a:bodyPr wrap="square" lIns="0" tIns="0" rIns="0" bIns="0" rtlCol="0" anchor="ctr"/>
          <a:lstStyle/>
          <a:p>
            <a:pPr algn="l" indent="0" marL="0">
              <a:buNone/>
            </a:pPr>
            <a:r>
              <a:rPr lang="en-US" sz="1100" dirty="0">
                <a:solidFill>
                  <a:srgbClr val="5A6472"/>
                </a:solidFill>
                <a:latin typeface="Calibri" pitchFamily="34" charset="0"/>
                <a:cs typeface="Amiri" pitchFamily="2" charset="-78"/>
              </a:rPr>
              <a:t>4</a:t>
            </a:r>
            <a:endParaRPr lang="en-US" sz="1100" dirty="0"/>
          </a:p>
        </p:txBody>
      </p:sp>
      <p:sp>
        <p:nvSpPr>
          <p:cNvPr id="51" name="Shape 48"/>
          <p:cNvSpPr/>
          <p:nvPr/>
        </p:nvSpPr>
        <p:spPr>
          <a:xfrm>
            <a:off x="11091672" y="4155948"/>
            <a:ext cx="548640" cy="182880"/>
          </a:xfrm>
          <a:prstGeom prst="roundRect">
            <a:avLst>
              <a:gd name="adj" fmla="val 50000"/>
            </a:avLst>
          </a:prstGeom>
          <a:solidFill>
            <a:srgbClr val="2E8B57"/>
          </a:solidFill>
          <a:ln w="12700">
            <a:solidFill>
              <a:srgbClr val="2E8B57"/>
            </a:solidFill>
            <a:prstDash val="solid"/>
          </a:ln>
        </p:spPr>
      </p:sp>
      <p:sp>
        <p:nvSpPr>
          <p:cNvPr id="52" name="Text 49"/>
          <p:cNvSpPr txBox="1"/>
          <p:nvPr/>
        </p:nvSpPr>
        <p:spPr>
          <a:xfrm>
            <a:off x="11091672" y="4155948"/>
            <a:ext cx="548640" cy="182880"/>
          </a:xfrm>
          <a:prstGeom prst="rect">
            <a:avLst/>
          </a:prstGeom>
          <a:noFill/>
          <a:ln/>
        </p:spPr>
        <p:txBody>
          <a:bodyPr wrap="square" lIns="0" tIns="0" rIns="0" bIns="0" rtlCol="0" anchor="ctr"/>
          <a:lstStyle/>
          <a:p>
            <a:pPr algn="ctr" indent="0" marL="0">
              <a:buNone/>
            </a:pPr>
            <a:r>
              <a:rPr lang="en-US" sz="650" b="1" spc="100" kern="0" dirty="0">
                <a:solidFill>
                  <a:srgbClr val="FFFFFF"/>
                </a:solidFill>
                <a:latin typeface="Calibri" pitchFamily="34" charset="0"/>
                <a:cs typeface="Amiri" pitchFamily="2" charset="-78"/>
              </a:rPr>
              <a:t>CORE</a:t>
            </a:r>
            <a:endParaRPr lang="en-US" sz="650" dirty="0"/>
          </a:p>
        </p:txBody>
      </p:sp>
      <p:sp>
        <p:nvSpPr>
          <p:cNvPr id="53" name="Shape 50"/>
          <p:cNvSpPr/>
          <p:nvPr/>
        </p:nvSpPr>
        <p:spPr>
          <a:xfrm>
            <a:off x="457200" y="4724400"/>
            <a:ext cx="11274552" cy="559308"/>
          </a:xfrm>
          <a:prstGeom prst="roundRect">
            <a:avLst>
              <a:gd name="adj" fmla="val 8174"/>
            </a:avLst>
          </a:prstGeom>
          <a:solidFill>
            <a:srgbClr val="FFFFFF"/>
          </a:solidFill>
          <a:ln w="9525">
            <a:solidFill>
              <a:srgbClr val="D8D0BF"/>
            </a:solidFill>
            <a:prstDash val="solid"/>
          </a:ln>
        </p:spPr>
      </p:sp>
      <p:sp>
        <p:nvSpPr>
          <p:cNvPr id="54" name="Text 51"/>
          <p:cNvSpPr txBox="1"/>
          <p:nvPr/>
        </p:nvSpPr>
        <p:spPr>
          <a:xfrm>
            <a:off x="9738360" y="4724400"/>
            <a:ext cx="1901952" cy="559308"/>
          </a:xfrm>
          <a:prstGeom prst="rect">
            <a:avLst/>
          </a:prstGeom>
          <a:noFill/>
          <a:ln/>
        </p:spPr>
        <p:txBody>
          <a:bodyPr wrap="square" lIns="0" tIns="0" rIns="0" bIns="0" rtlCol="0" anchor="ctr"/>
          <a:lstStyle/>
          <a:p>
            <a:pPr rtl="1" algn="ctr" indent="0" marL="0">
              <a:buNone/>
            </a:pPr>
            <a:r>
              <a:rPr lang="ar-SA" altLang="en-US" sz="1500" b="1" dirty="0">
                <a:solidFill>
                  <a:srgbClr val="1B3B6F"/>
                </a:solidFill>
                <a:latin typeface="Amiri" pitchFamily="2" charset="-78"/>
                <a:ea typeface="Amiri" pitchFamily="2" charset="-78"/>
                <a:cs typeface="Amiri" pitchFamily="2" charset="-78"/>
              </a:rPr>
              <a:t>… لٰكِنَّ …</a:t>
            </a:r>
            <a:endParaRPr lang="ar-SA" sz="1500" dirty="0"/>
          </a:p>
        </p:txBody>
      </p:sp>
      <p:sp>
        <p:nvSpPr>
          <p:cNvPr id="55" name="Text 52"/>
          <p:cNvSpPr txBox="1"/>
          <p:nvPr/>
        </p:nvSpPr>
        <p:spPr>
          <a:xfrm>
            <a:off x="6995160" y="4724400"/>
            <a:ext cx="2560320" cy="559308"/>
          </a:xfrm>
          <a:prstGeom prst="rect">
            <a:avLst/>
          </a:prstGeom>
          <a:noFill/>
          <a:ln/>
        </p:spPr>
        <p:txBody>
          <a:bodyPr wrap="square" lIns="0" tIns="0" rIns="0" bIns="0" rtlCol="0" anchor="ctr"/>
          <a:lstStyle/>
          <a:p>
            <a:pPr rtl="1" algn="ctr" indent="0" marL="0">
              <a:buNone/>
            </a:pPr>
            <a:r>
              <a:rPr lang="ar-SA" altLang="en-US" sz="1600" b="1" dirty="0">
                <a:solidFill>
                  <a:srgbClr val="1B3B6F"/>
                </a:solidFill>
                <a:latin typeface="Amiri" pitchFamily="2" charset="-78"/>
                <a:ea typeface="Amiri" pitchFamily="2" charset="-78"/>
                <a:cs typeface="Amiri" pitchFamily="2" charset="-78"/>
              </a:rPr>
              <a:t>مِنْ عُيُوبِهَا أَنَّ …</a:t>
            </a:r>
            <a:endParaRPr lang="ar-SA" sz="1600" dirty="0"/>
          </a:p>
        </p:txBody>
      </p:sp>
      <p:sp>
        <p:nvSpPr>
          <p:cNvPr id="56" name="Text 53"/>
          <p:cNvSpPr txBox="1"/>
          <p:nvPr/>
        </p:nvSpPr>
        <p:spPr>
          <a:xfrm>
            <a:off x="4636008" y="4724400"/>
            <a:ext cx="2194560" cy="559308"/>
          </a:xfrm>
          <a:prstGeom prst="rect">
            <a:avLst/>
          </a:prstGeom>
          <a:noFill/>
          <a:ln/>
        </p:spPr>
        <p:txBody>
          <a:bodyPr wrap="square" lIns="0" tIns="0" rIns="0" bIns="0" rtlCol="0" anchor="ctr"/>
          <a:lstStyle/>
          <a:p>
            <a:pPr algn="l" indent="0" marL="0">
              <a:buNone/>
            </a:pPr>
            <a:r>
              <a:rPr lang="en-US" sz="1100" dirty="0">
                <a:solidFill>
                  <a:srgbClr val="5A6472"/>
                </a:solidFill>
                <a:latin typeface="Calibri" pitchFamily="34" charset="0"/>
                <a:cs typeface="Amiri" pitchFamily="2" charset="-78"/>
              </a:rPr>
              <a:t>And the biggest disadvantage?</a:t>
            </a:r>
            <a:endParaRPr lang="en-US" sz="1100" dirty="0"/>
          </a:p>
        </p:txBody>
      </p:sp>
      <p:sp>
        <p:nvSpPr>
          <p:cNvPr id="57" name="Text 54"/>
          <p:cNvSpPr txBox="1"/>
          <p:nvPr/>
        </p:nvSpPr>
        <p:spPr>
          <a:xfrm>
            <a:off x="1051560" y="4724400"/>
            <a:ext cx="3383280" cy="559308"/>
          </a:xfrm>
          <a:prstGeom prst="rect">
            <a:avLst/>
          </a:prstGeom>
          <a:noFill/>
          <a:ln/>
        </p:spPr>
        <p:txBody>
          <a:bodyPr wrap="square" lIns="0" tIns="0" rIns="0" bIns="0" rtlCol="0" anchor="ctr"/>
          <a:lstStyle/>
          <a:p>
            <a:pPr rtl="1" algn="ctr" indent="0" marL="0">
              <a:buNone/>
            </a:pPr>
            <a:r>
              <a:rPr lang="ar-SA" altLang="en-US" sz="1700" b="1" dirty="0">
                <a:solidFill>
                  <a:srgbClr val="1B3B6F"/>
                </a:solidFill>
                <a:latin typeface="Amiri" pitchFamily="2" charset="-78"/>
                <a:ea typeface="Amiri" pitchFamily="2" charset="-78"/>
                <a:cs typeface="Amiri" pitchFamily="2" charset="-78"/>
              </a:rPr>
              <a:t>وَمَا أَكْبَرُ عَيْبٍ؟</a:t>
            </a:r>
            <a:endParaRPr lang="ar-SA" sz="1700" dirty="0"/>
          </a:p>
        </p:txBody>
      </p:sp>
      <p:sp>
        <p:nvSpPr>
          <p:cNvPr id="58" name="Text 55"/>
          <p:cNvSpPr txBox="1"/>
          <p:nvPr/>
        </p:nvSpPr>
        <p:spPr>
          <a:xfrm>
            <a:off x="566928" y="4724400"/>
            <a:ext cx="320040" cy="559308"/>
          </a:xfrm>
          <a:prstGeom prst="rect">
            <a:avLst/>
          </a:prstGeom>
          <a:noFill/>
          <a:ln/>
        </p:spPr>
        <p:txBody>
          <a:bodyPr wrap="square" lIns="0" tIns="0" rIns="0" bIns="0" rtlCol="0" anchor="ctr"/>
          <a:lstStyle/>
          <a:p>
            <a:pPr algn="l" indent="0" marL="0">
              <a:buNone/>
            </a:pPr>
            <a:r>
              <a:rPr lang="en-US" sz="1100" dirty="0">
                <a:solidFill>
                  <a:srgbClr val="5A6472"/>
                </a:solidFill>
                <a:latin typeface="Calibri" pitchFamily="34" charset="0"/>
                <a:cs typeface="Amiri" pitchFamily="2" charset="-78"/>
              </a:rPr>
              <a:t>5</a:t>
            </a:r>
            <a:endParaRPr lang="en-US" sz="1100" dirty="0"/>
          </a:p>
        </p:txBody>
      </p:sp>
      <p:sp>
        <p:nvSpPr>
          <p:cNvPr id="59" name="Shape 56"/>
          <p:cNvSpPr/>
          <p:nvPr/>
        </p:nvSpPr>
        <p:spPr>
          <a:xfrm>
            <a:off x="457200" y="5338572"/>
            <a:ext cx="11274552" cy="559308"/>
          </a:xfrm>
          <a:prstGeom prst="roundRect">
            <a:avLst>
              <a:gd name="adj" fmla="val 8174"/>
            </a:avLst>
          </a:prstGeom>
          <a:solidFill>
            <a:srgbClr val="F4F1EA"/>
          </a:solidFill>
          <a:ln w="9525">
            <a:solidFill>
              <a:srgbClr val="D8D0BF"/>
            </a:solidFill>
            <a:prstDash val="solid"/>
          </a:ln>
        </p:spPr>
      </p:sp>
      <p:sp>
        <p:nvSpPr>
          <p:cNvPr id="60" name="Text 57"/>
          <p:cNvSpPr txBox="1"/>
          <p:nvPr/>
        </p:nvSpPr>
        <p:spPr>
          <a:xfrm>
            <a:off x="9738360" y="5338572"/>
            <a:ext cx="1901952" cy="559308"/>
          </a:xfrm>
          <a:prstGeom prst="rect">
            <a:avLst/>
          </a:prstGeom>
          <a:noFill/>
          <a:ln/>
        </p:spPr>
        <p:txBody>
          <a:bodyPr wrap="square" lIns="0" tIns="0" rIns="0" bIns="0" rtlCol="0" anchor="ctr"/>
          <a:lstStyle/>
          <a:p>
            <a:pPr rtl="1" algn="ctr" indent="0" marL="0">
              <a:buNone/>
            </a:pPr>
            <a:r>
              <a:rPr lang="ar-SA" altLang="en-US" sz="1500" b="1" dirty="0">
                <a:solidFill>
                  <a:srgbClr val="1B3B6F"/>
                </a:solidFill>
                <a:latin typeface="Amiri" pitchFamily="2" charset="-78"/>
                <a:ea typeface="Amiri" pitchFamily="2" charset="-78"/>
                <a:cs typeface="Amiri" pitchFamily="2" charset="-78"/>
              </a:rPr>
              <a:t>… لِأَنَّهُ أَرْخَصُ مِنْ …</a:t>
            </a:r>
            <a:endParaRPr lang="ar-SA" sz="1500" dirty="0"/>
          </a:p>
        </p:txBody>
      </p:sp>
      <p:sp>
        <p:nvSpPr>
          <p:cNvPr id="61" name="Text 58"/>
          <p:cNvSpPr txBox="1"/>
          <p:nvPr/>
        </p:nvSpPr>
        <p:spPr>
          <a:xfrm>
            <a:off x="6995160" y="5338572"/>
            <a:ext cx="2560320" cy="559308"/>
          </a:xfrm>
          <a:prstGeom prst="rect">
            <a:avLst/>
          </a:prstGeom>
          <a:noFill/>
          <a:ln/>
        </p:spPr>
        <p:txBody>
          <a:bodyPr wrap="square" lIns="0" tIns="0" rIns="0" bIns="0" rtlCol="0" anchor="ctr"/>
          <a:lstStyle/>
          <a:p>
            <a:pPr rtl="1" algn="ctr" indent="0" marL="0">
              <a:buNone/>
            </a:pPr>
            <a:r>
              <a:rPr lang="ar-SA" altLang="en-US" sz="1600" b="1" dirty="0">
                <a:solidFill>
                  <a:srgbClr val="1B3B6F"/>
                </a:solidFill>
                <a:latin typeface="Amiri" pitchFamily="2" charset="-78"/>
                <a:ea typeface="Amiri" pitchFamily="2" charset="-78"/>
                <a:cs typeface="Amiri" pitchFamily="2" charset="-78"/>
              </a:rPr>
              <a:t>أَتَسَوَّقُ فِي …</a:t>
            </a:r>
            <a:endParaRPr lang="ar-SA" sz="1600" dirty="0"/>
          </a:p>
        </p:txBody>
      </p:sp>
      <p:sp>
        <p:nvSpPr>
          <p:cNvPr id="62" name="Text 59"/>
          <p:cNvSpPr txBox="1"/>
          <p:nvPr/>
        </p:nvSpPr>
        <p:spPr>
          <a:xfrm>
            <a:off x="4636008" y="5338572"/>
            <a:ext cx="2194560" cy="559308"/>
          </a:xfrm>
          <a:prstGeom prst="rect">
            <a:avLst/>
          </a:prstGeom>
          <a:noFill/>
          <a:ln/>
        </p:spPr>
        <p:txBody>
          <a:bodyPr wrap="square" lIns="0" tIns="0" rIns="0" bIns="0" rtlCol="0" anchor="ctr"/>
          <a:lstStyle/>
          <a:p>
            <a:pPr algn="l" indent="0" marL="0">
              <a:buNone/>
            </a:pPr>
            <a:r>
              <a:rPr lang="en-US" sz="1100" dirty="0">
                <a:solidFill>
                  <a:srgbClr val="5A6472"/>
                </a:solidFill>
                <a:latin typeface="Calibri" pitchFamily="34" charset="0"/>
                <a:cs typeface="Amiri" pitchFamily="2" charset="-78"/>
              </a:rPr>
              <a:t>Where do you usually shop?</a:t>
            </a:r>
            <a:endParaRPr lang="en-US" sz="1100" dirty="0"/>
          </a:p>
        </p:txBody>
      </p:sp>
      <p:sp>
        <p:nvSpPr>
          <p:cNvPr id="63" name="Text 60"/>
          <p:cNvSpPr txBox="1"/>
          <p:nvPr/>
        </p:nvSpPr>
        <p:spPr>
          <a:xfrm>
            <a:off x="1051560" y="5338572"/>
            <a:ext cx="3383280" cy="559308"/>
          </a:xfrm>
          <a:prstGeom prst="rect">
            <a:avLst/>
          </a:prstGeom>
          <a:noFill/>
          <a:ln/>
        </p:spPr>
        <p:txBody>
          <a:bodyPr wrap="square" lIns="0" tIns="0" rIns="0" bIns="0" rtlCol="0" anchor="ctr"/>
          <a:lstStyle/>
          <a:p>
            <a:pPr rtl="1" algn="ctr" indent="0" marL="0">
              <a:buNone/>
            </a:pPr>
            <a:r>
              <a:rPr lang="ar-SA" altLang="en-US" sz="1700" b="1" dirty="0">
                <a:solidFill>
                  <a:srgbClr val="1B3B6F"/>
                </a:solidFill>
                <a:latin typeface="Amiri" pitchFamily="2" charset="-78"/>
                <a:ea typeface="Amiri" pitchFamily="2" charset="-78"/>
                <a:cs typeface="Amiri" pitchFamily="2" charset="-78"/>
              </a:rPr>
              <a:t>أَيْنَ تَتَسَوَّقُ عَادَةً؟</a:t>
            </a:r>
            <a:endParaRPr lang="ar-SA" sz="1700" dirty="0"/>
          </a:p>
        </p:txBody>
      </p:sp>
      <p:sp>
        <p:nvSpPr>
          <p:cNvPr id="64" name="Text 61"/>
          <p:cNvSpPr txBox="1"/>
          <p:nvPr/>
        </p:nvSpPr>
        <p:spPr>
          <a:xfrm>
            <a:off x="566928" y="5338572"/>
            <a:ext cx="320040" cy="559308"/>
          </a:xfrm>
          <a:prstGeom prst="rect">
            <a:avLst/>
          </a:prstGeom>
          <a:noFill/>
          <a:ln/>
        </p:spPr>
        <p:txBody>
          <a:bodyPr wrap="square" lIns="0" tIns="0" rIns="0" bIns="0" rtlCol="0" anchor="ctr"/>
          <a:lstStyle/>
          <a:p>
            <a:pPr algn="l" indent="0" marL="0">
              <a:buNone/>
            </a:pPr>
            <a:r>
              <a:rPr lang="en-US" sz="1100" dirty="0">
                <a:solidFill>
                  <a:srgbClr val="5A6472"/>
                </a:solidFill>
                <a:latin typeface="Calibri" pitchFamily="34" charset="0"/>
                <a:cs typeface="Amiri" pitchFamily="2" charset="-78"/>
              </a:rPr>
              <a:t>6</a:t>
            </a:r>
            <a:endParaRPr lang="en-US" sz="1100" dirty="0"/>
          </a:p>
        </p:txBody>
      </p:sp>
      <p:sp>
        <p:nvSpPr>
          <p:cNvPr id="65" name="Text 62"/>
          <p:cNvSpPr txBox="1"/>
          <p:nvPr/>
        </p:nvSpPr>
        <p:spPr>
          <a:xfrm>
            <a:off x="457200" y="5943600"/>
            <a:ext cx="11274552" cy="365760"/>
          </a:xfrm>
          <a:prstGeom prst="rect">
            <a:avLst/>
          </a:prstGeom>
          <a:noFill/>
          <a:ln/>
        </p:spPr>
        <p:txBody>
          <a:bodyPr wrap="square" lIns="0" tIns="0" rIns="0" bIns="0" rtlCol="0" anchor="ctr"/>
          <a:lstStyle/>
          <a:p>
            <a:pPr algn="l" indent="0" marL="0">
              <a:buNone/>
            </a:pPr>
            <a:r>
              <a:rPr lang="en-US" sz="1100" b="1" dirty="0">
                <a:solidFill>
                  <a:srgbClr val="1B3B6F"/>
                </a:solidFill>
                <a:latin typeface="Calibri" pitchFamily="34" charset="0"/>
                <a:cs typeface="Amiri" pitchFamily="2" charset="-78"/>
              </a:rPr>
              <a:t>Odd numbers come from F6-L05, even numbers from F6-L06. Core: a full sentence from the starter. Develop: add the “more” part. Stretch: link two answers with </a:t>
            </a:r>
            <a:pPr algn="l" indent="0" marL="0">
              <a:buNone/>
            </a:pPr>
            <a:r>
              <a:rPr lang="ar-SA" altLang="en-US" sz="1450" b="1" dirty="0">
                <a:solidFill>
                  <a:srgbClr val="1B3B6F"/>
                </a:solidFill>
                <a:latin typeface="Amiri" pitchFamily="2" charset="-78"/>
                <a:ea typeface="Amiri" pitchFamily="2" charset="-78"/>
                <a:cs typeface="Amiri" pitchFamily="2" charset="-78"/>
              </a:rPr>
              <a:t>وَ</a:t>
            </a:r>
            <a:pPr algn="l" indent="0" marL="0">
              <a:buNone/>
            </a:pPr>
            <a:r>
              <a:rPr lang="en-US" sz="1100" b="1" dirty="0">
                <a:solidFill>
                  <a:srgbClr val="1B3B6F"/>
                </a:solidFill>
                <a:latin typeface="Calibri" pitchFamily="34" charset="0"/>
                <a:cs typeface="Amiri" pitchFamily="2" charset="-78"/>
              </a:rPr>
              <a:t>, </a:t>
            </a:r>
            <a:pPr algn="l" indent="0" marL="0">
              <a:buNone/>
            </a:pPr>
            <a:r>
              <a:rPr lang="ar-SA" altLang="en-US" sz="1450" b="1" dirty="0">
                <a:solidFill>
                  <a:srgbClr val="1B3B6F"/>
                </a:solidFill>
                <a:latin typeface="Amiri" pitchFamily="2" charset="-78"/>
                <a:ea typeface="Amiri" pitchFamily="2" charset="-78"/>
                <a:cs typeface="Amiri" pitchFamily="2" charset="-78"/>
              </a:rPr>
              <a:t>لِأَنَّ</a:t>
            </a:r>
            <a:pPr algn="l" indent="0" marL="0">
              <a:buNone/>
            </a:pPr>
            <a:r>
              <a:rPr lang="en-US" sz="1100" b="1" dirty="0">
                <a:solidFill>
                  <a:srgbClr val="1B3B6F"/>
                </a:solidFill>
                <a:latin typeface="Calibri" pitchFamily="34" charset="0"/>
                <a:cs typeface="Amiri" pitchFamily="2" charset="-78"/>
              </a:rPr>
              <a:t> or </a:t>
            </a:r>
            <a:pPr algn="l" indent="0" marL="0">
              <a:buNone/>
            </a:pPr>
            <a:r>
              <a:rPr lang="ar-SA" altLang="en-US" sz="1450" b="1" dirty="0">
                <a:solidFill>
                  <a:srgbClr val="1B3B6F"/>
                </a:solidFill>
                <a:latin typeface="Amiri" pitchFamily="2" charset="-78"/>
                <a:ea typeface="Amiri" pitchFamily="2" charset="-78"/>
                <a:cs typeface="Amiri" pitchFamily="2" charset="-78"/>
              </a:rPr>
              <a:t>لٰكِنَّ</a:t>
            </a:r>
            <a:pPr algn="l" indent="0" marL="0">
              <a:buNone/>
            </a:pPr>
            <a:r>
              <a:rPr lang="en-US" sz="1100" b="1" dirty="0">
                <a:solidFill>
                  <a:srgbClr val="1B3B6F"/>
                </a:solidFill>
                <a:latin typeface="Calibri" pitchFamily="34" charset="0"/>
                <a:cs typeface="Amiri" pitchFamily="2" charset="-78"/>
              </a:rPr>
              <a:t>. Swap after each question.</a:t>
            </a:r>
            <a:endParaRPr lang="en-US" sz="1100" dirty="0"/>
          </a:p>
        </p:txBody>
      </p:sp>
      <p:sp>
        <p:nvSpPr>
          <p:cNvPr id="66" name="Text 63"/>
          <p:cNvSpPr txBox="1"/>
          <p:nvPr/>
        </p:nvSpPr>
        <p:spPr>
          <a:xfrm>
            <a:off x="10360152" y="6455664"/>
            <a:ext cx="1371600" cy="219456"/>
          </a:xfrm>
          <a:prstGeom prst="rect">
            <a:avLst/>
          </a:prstGeom>
          <a:noFill/>
          <a:ln/>
        </p:spPr>
        <p:txBody>
          <a:bodyPr wrap="square" lIns="0" tIns="0" rIns="0" bIns="0" rtlCol="0" anchor="ctr"/>
          <a:lstStyle/>
          <a:p>
            <a:pPr algn="r" indent="0" marL="0">
              <a:buNone/>
            </a:pPr>
            <a:r>
              <a:rPr lang="en-US" sz="850" dirty="0">
                <a:solidFill>
                  <a:srgbClr val="8A93A0"/>
                </a:solidFill>
                <a:latin typeface="Calibri" pitchFamily="34" charset="0"/>
                <a:cs typeface="Amiri" pitchFamily="2" charset="-78"/>
              </a:rPr>
              <a:t>11 / 24</a:t>
            </a:r>
            <a:endParaRPr lang="en-US" sz="850" dirty="0"/>
          </a:p>
        </p:txBody>
      </p:sp>
    </p:spTree>
  </p:cSld>
  <p:clrMapOvr>
    <a:masterClrMapping/>
  </p:clrMapOvr>
</p:sld>
</file>

<file path=ppt/slides/slide12.xml><?xml version="1.0" encoding="utf-8"?>
<p:sld xmlns:a="http://schemas.openxmlformats.org/drawingml/2006/main" xmlns:r="http://schemas.openxmlformats.org/officeDocument/2006/relationships" xmlns:p="http://schemas.openxmlformats.org/presentationml/2006/main">
  <p:cSld name="Slide 12">
    <p:bg>
      <p:bgPr>
        <a:solidFill>
          <a:srgbClr val="FFFDF8"/>
        </a:solidFill>
      </p:bgPr>
    </p:bg>
    <p:spTree>
      <p:nvGrpSpPr>
        <p:cNvPr id="1" name=""/>
        <p:cNvGrpSpPr/>
        <p:nvPr/>
      </p:nvGrpSpPr>
      <p:grpSpPr>
        <a:xfrm>
          <a:off x="0" y="0"/>
          <a:ext cx="0" cy="0"/>
          <a:chOff x="0" y="0"/>
          <a:chExt cx="0" cy="0"/>
        </a:xfrm>
      </p:grpSpPr>
      <p:sp>
        <p:nvSpPr>
          <p:cNvPr id="2" name="Shape 0"/>
          <p:cNvSpPr/>
          <p:nvPr/>
        </p:nvSpPr>
        <p:spPr>
          <a:xfrm>
            <a:off x="457200" y="237744"/>
            <a:ext cx="420624" cy="420624"/>
          </a:xfrm>
          <a:prstGeom prst="ellipse">
            <a:avLst/>
          </a:prstGeom>
          <a:solidFill>
            <a:srgbClr val="1B3B6F"/>
          </a:solidFill>
          <a:ln w="12700">
            <a:solidFill>
              <a:srgbClr val="D4AF37"/>
            </a:solidFill>
            <a:prstDash val="solid"/>
          </a:ln>
        </p:spPr>
      </p:sp>
      <p:sp>
        <p:nvSpPr>
          <p:cNvPr id="3" name="Text 1"/>
          <p:cNvSpPr txBox="1"/>
          <p:nvPr/>
        </p:nvSpPr>
        <p:spPr>
          <a:xfrm>
            <a:off x="457200" y="219456"/>
            <a:ext cx="420624" cy="420624"/>
          </a:xfrm>
          <a:prstGeom prst="rect">
            <a:avLst/>
          </a:prstGeom>
          <a:noFill/>
          <a:ln/>
        </p:spPr>
        <p:txBody>
          <a:bodyPr wrap="square" lIns="0" tIns="0" rIns="0" bIns="0" rtlCol="0" anchor="ctr"/>
          <a:lstStyle/>
          <a:p>
            <a:pPr rtl="1" algn="ctr" indent="0" marL="0">
              <a:buNone/>
            </a:pPr>
            <a:r>
              <a:rPr lang="ar-SA" altLang="en-US" sz="1800" b="1" dirty="0">
                <a:solidFill>
                  <a:srgbClr val="D4AF37"/>
                </a:solidFill>
                <a:latin typeface="Amiri" pitchFamily="2" charset="-78"/>
                <a:ea typeface="Amiri" pitchFamily="2" charset="-78"/>
                <a:cs typeface="Amiri" pitchFamily="2" charset="-78"/>
              </a:rPr>
              <a:t>م</a:t>
            </a:r>
            <a:endParaRPr lang="ar-SA" sz="1800" dirty="0"/>
          </a:p>
        </p:txBody>
      </p:sp>
      <p:sp>
        <p:nvSpPr>
          <p:cNvPr id="4" name="Text 2"/>
          <p:cNvSpPr txBox="1"/>
          <p:nvPr/>
        </p:nvSpPr>
        <p:spPr>
          <a:xfrm>
            <a:off x="960120" y="219456"/>
            <a:ext cx="3657600" cy="256032"/>
          </a:xfrm>
          <a:prstGeom prst="rect">
            <a:avLst/>
          </a:prstGeom>
          <a:noFill/>
          <a:ln/>
        </p:spPr>
        <p:txBody>
          <a:bodyPr wrap="square" lIns="0" tIns="0" rIns="0" bIns="0" rtlCol="0" anchor="ctr"/>
          <a:lstStyle/>
          <a:p>
            <a:pPr indent="0" marL="0">
              <a:buNone/>
            </a:pPr>
            <a:r>
              <a:rPr lang="en-US" sz="1200" b="1" dirty="0">
                <a:solidFill>
                  <a:srgbClr val="1B3B6F"/>
                </a:solidFill>
                <a:latin typeface="Cambria" pitchFamily="34" charset="0"/>
                <a:cs typeface="Amiri" pitchFamily="2" charset="-78"/>
              </a:rPr>
              <a:t>Al Madina Online School</a:t>
            </a:r>
            <a:endParaRPr lang="en-US" sz="1200" dirty="0"/>
          </a:p>
        </p:txBody>
      </p:sp>
      <p:sp>
        <p:nvSpPr>
          <p:cNvPr id="5" name="Text 3"/>
          <p:cNvSpPr txBox="1"/>
          <p:nvPr/>
        </p:nvSpPr>
        <p:spPr>
          <a:xfrm>
            <a:off x="960120" y="457200"/>
            <a:ext cx="4572000" cy="182880"/>
          </a:xfrm>
          <a:prstGeom prst="rect">
            <a:avLst/>
          </a:prstGeom>
          <a:noFill/>
          <a:ln/>
        </p:spPr>
        <p:txBody>
          <a:bodyPr wrap="square" lIns="0" tIns="0" rIns="0" bIns="0" rtlCol="0" anchor="ctr"/>
          <a:lstStyle/>
          <a:p>
            <a:pPr indent="0" marL="0">
              <a:buNone/>
            </a:pPr>
            <a:r>
              <a:rPr lang="en-US" sz="800" b="1" spc="200" kern="0" dirty="0">
                <a:solidFill>
                  <a:srgbClr val="8A6D1E"/>
                </a:solidFill>
                <a:latin typeface="Calibri" pitchFamily="34" charset="0"/>
                <a:cs typeface="Amiri" pitchFamily="2" charset="-78"/>
              </a:rPr>
              <a:t>ARABIC DEPARTMENT · MIFTAH ARABIC · IGCSE 0544</a:t>
            </a:r>
            <a:endParaRPr lang="en-US" sz="800" dirty="0"/>
          </a:p>
        </p:txBody>
      </p:sp>
      <p:sp>
        <p:nvSpPr>
          <p:cNvPr id="6" name="Shape 4"/>
          <p:cNvSpPr/>
          <p:nvPr/>
        </p:nvSpPr>
        <p:spPr>
          <a:xfrm>
            <a:off x="8897112" y="274320"/>
            <a:ext cx="2834640" cy="329184"/>
          </a:xfrm>
          <a:prstGeom prst="roundRect">
            <a:avLst>
              <a:gd name="adj" fmla="val 50000"/>
            </a:avLst>
          </a:prstGeom>
          <a:solidFill>
            <a:srgbClr val="1B3B6F"/>
          </a:solidFill>
          <a:ln w="12700">
            <a:solidFill>
              <a:srgbClr val="1B3B6F"/>
            </a:solidFill>
            <a:prstDash val="solid"/>
          </a:ln>
        </p:spPr>
      </p:sp>
      <p:sp>
        <p:nvSpPr>
          <p:cNvPr id="7" name="Text 5"/>
          <p:cNvSpPr txBox="1"/>
          <p:nvPr/>
        </p:nvSpPr>
        <p:spPr>
          <a:xfrm>
            <a:off x="8897112" y="274320"/>
            <a:ext cx="2834640" cy="329184"/>
          </a:xfrm>
          <a:prstGeom prst="rect">
            <a:avLst/>
          </a:prstGeom>
          <a:noFill/>
          <a:ln/>
        </p:spPr>
        <p:txBody>
          <a:bodyPr wrap="square" lIns="0" tIns="0" rIns="0" bIns="0" rtlCol="0" anchor="ctr"/>
          <a:lstStyle/>
          <a:p>
            <a:pPr algn="ctr" indent="0" marL="0">
              <a:buNone/>
            </a:pPr>
            <a:r>
              <a:rPr lang="en-US" sz="950" b="1" spc="100" kern="0" dirty="0">
                <a:solidFill>
                  <a:srgbClr val="FFFFFF"/>
                </a:solidFill>
                <a:latin typeface="Calibri" pitchFamily="34" charset="0"/>
                <a:cs typeface="Amiri" pitchFamily="2" charset="-78"/>
              </a:rPr>
              <a:t>F6-W03 · Apply workshop</a:t>
            </a:r>
            <a:endParaRPr lang="en-US" sz="950" dirty="0"/>
          </a:p>
        </p:txBody>
      </p:sp>
      <p:sp>
        <p:nvSpPr>
          <p:cNvPr id="8" name="Shape 6"/>
          <p:cNvSpPr/>
          <p:nvPr/>
        </p:nvSpPr>
        <p:spPr>
          <a:xfrm>
            <a:off x="7295083" y="274320"/>
            <a:ext cx="1464869" cy="329184"/>
          </a:xfrm>
          <a:prstGeom prst="roundRect">
            <a:avLst>
              <a:gd name="adj" fmla="val 50000"/>
            </a:avLst>
          </a:prstGeom>
          <a:solidFill>
            <a:srgbClr val="1E6B52"/>
          </a:solidFill>
          <a:ln w="12700">
            <a:solidFill>
              <a:srgbClr val="1E6B52"/>
            </a:solidFill>
            <a:prstDash val="solid"/>
          </a:ln>
        </p:spPr>
      </p:sp>
      <p:sp>
        <p:nvSpPr>
          <p:cNvPr id="9" name="Text 7"/>
          <p:cNvSpPr txBox="1"/>
          <p:nvPr/>
        </p:nvSpPr>
        <p:spPr>
          <a:xfrm>
            <a:off x="7295083" y="274320"/>
            <a:ext cx="1464869" cy="329184"/>
          </a:xfrm>
          <a:prstGeom prst="rect">
            <a:avLst/>
          </a:prstGeom>
          <a:noFill/>
          <a:ln/>
        </p:spPr>
        <p:txBody>
          <a:bodyPr wrap="square" lIns="0" tIns="0" rIns="0" bIns="0" rtlCol="0" anchor="ctr"/>
          <a:lstStyle/>
          <a:p>
            <a:pPr algn="ctr" indent="0" marL="0">
              <a:buNone/>
            </a:pPr>
            <a:r>
              <a:rPr lang="en-US" sz="900" b="1" spc="100" kern="0" dirty="0">
                <a:solidFill>
                  <a:srgbClr val="FFFFFF"/>
                </a:solidFill>
                <a:latin typeface="Calibri" pitchFamily="34" charset="0"/>
                <a:cs typeface="Amiri" pitchFamily="2" charset="-78"/>
              </a:rPr>
              <a:t>YOU DO · 7 MIN</a:t>
            </a:r>
            <a:endParaRPr lang="en-US" sz="900" dirty="0"/>
          </a:p>
        </p:txBody>
      </p:sp>
      <p:sp>
        <p:nvSpPr>
          <p:cNvPr id="10" name="Text 8"/>
          <p:cNvSpPr txBox="1"/>
          <p:nvPr/>
        </p:nvSpPr>
        <p:spPr>
          <a:xfrm>
            <a:off x="457200" y="822960"/>
            <a:ext cx="6949440" cy="237744"/>
          </a:xfrm>
          <a:prstGeom prst="rect">
            <a:avLst/>
          </a:prstGeom>
          <a:noFill/>
          <a:ln/>
        </p:spPr>
        <p:txBody>
          <a:bodyPr wrap="square" lIns="0" tIns="0" rIns="0" bIns="0" rtlCol="0" anchor="ctr"/>
          <a:lstStyle/>
          <a:p>
            <a:pPr algn="l" indent="0" marL="0">
              <a:buNone/>
            </a:pPr>
            <a:r>
              <a:rPr lang="en-US" sz="1000" b="1" spc="150" kern="0" dirty="0">
                <a:solidFill>
                  <a:srgbClr val="1E6B52"/>
                </a:solidFill>
                <a:latin typeface="Calibri" pitchFamily="34" charset="0"/>
                <a:cs typeface="Amiri" pitchFamily="2" charset="-78"/>
              </a:rPr>
              <a:t>STEP 5 · ROLE-PLAY CARD · USE THE PLAN, THEN HIDE IT AND SPEAK</a:t>
            </a:r>
            <a:endParaRPr lang="en-US" sz="1000" dirty="0"/>
          </a:p>
        </p:txBody>
      </p:sp>
      <p:sp>
        <p:nvSpPr>
          <p:cNvPr id="11" name="Text 9"/>
          <p:cNvSpPr txBox="1"/>
          <p:nvPr/>
        </p:nvSpPr>
        <p:spPr>
          <a:xfrm>
            <a:off x="457200" y="1033272"/>
            <a:ext cx="6949440" cy="566928"/>
          </a:xfrm>
          <a:prstGeom prst="rect">
            <a:avLst/>
          </a:prstGeom>
          <a:noFill/>
          <a:ln/>
        </p:spPr>
        <p:txBody>
          <a:bodyPr wrap="square" lIns="0" tIns="0" rIns="0" bIns="0" rtlCol="0" anchor="ctr"/>
          <a:lstStyle/>
          <a:p>
            <a:pPr algn="l" indent="0" marL="0">
              <a:buNone/>
            </a:pPr>
            <a:r>
              <a:rPr lang="en-US" sz="2800" b="1" dirty="0">
                <a:solidFill>
                  <a:srgbClr val="1B3B6F"/>
                </a:solidFill>
                <a:latin typeface="Cambria" pitchFamily="34" charset="0"/>
                <a:cs typeface="Amiri" pitchFamily="2" charset="-78"/>
              </a:rPr>
              <a:t>Role-play card — shopping in town</a:t>
            </a:r>
            <a:endParaRPr lang="en-US" sz="2800" dirty="0"/>
          </a:p>
        </p:txBody>
      </p:sp>
      <p:sp>
        <p:nvSpPr>
          <p:cNvPr id="12" name="Text 10"/>
          <p:cNvSpPr txBox="1"/>
          <p:nvPr/>
        </p:nvSpPr>
        <p:spPr>
          <a:xfrm>
            <a:off x="7498080" y="868680"/>
            <a:ext cx="4233672" cy="749808"/>
          </a:xfrm>
          <a:prstGeom prst="rect">
            <a:avLst/>
          </a:prstGeom>
          <a:noFill/>
          <a:ln/>
        </p:spPr>
        <p:txBody>
          <a:bodyPr wrap="square" lIns="0" tIns="0" rIns="0" bIns="0" rtlCol="0" anchor="ctr"/>
          <a:lstStyle/>
          <a:p>
            <a:pPr rtl="1" algn="r" indent="0" marL="0">
              <a:buNone/>
            </a:pPr>
            <a:r>
              <a:rPr lang="ar-SA" altLang="en-US" sz="2800" b="1" dirty="0">
                <a:solidFill>
                  <a:srgbClr val="8A6D1E"/>
                </a:solidFill>
                <a:latin typeface="Amiri" pitchFamily="2" charset="-78"/>
                <a:ea typeface="Amiri" pitchFamily="2" charset="-78"/>
                <a:cs typeface="Amiri" pitchFamily="2" charset="-78"/>
              </a:rPr>
              <a:t>التَّسَوُّقُ فِي المَدِينَةِ</a:t>
            </a:r>
            <a:endParaRPr lang="ar-SA" sz="2800" dirty="0"/>
          </a:p>
        </p:txBody>
      </p:sp>
      <p:sp>
        <p:nvSpPr>
          <p:cNvPr id="13" name="Text 11"/>
          <p:cNvSpPr txBox="1"/>
          <p:nvPr/>
        </p:nvSpPr>
        <p:spPr>
          <a:xfrm>
            <a:off x="457200" y="6455664"/>
            <a:ext cx="6400800" cy="219456"/>
          </a:xfrm>
          <a:prstGeom prst="rect">
            <a:avLst/>
          </a:prstGeom>
          <a:noFill/>
          <a:ln/>
        </p:spPr>
        <p:txBody>
          <a:bodyPr wrap="square" lIns="0" tIns="0" rIns="0" bIns="0" rtlCol="0" anchor="ctr"/>
          <a:lstStyle/>
          <a:p>
            <a:pPr indent="0" marL="0">
              <a:buNone/>
            </a:pPr>
            <a:r>
              <a:rPr lang="en-US" sz="850" dirty="0">
                <a:solidFill>
                  <a:srgbClr val="8A93A0"/>
                </a:solidFill>
                <a:latin typeface="Calibri" pitchFamily="34" charset="0"/>
                <a:cs typeface="Amiri" pitchFamily="2" charset="-78"/>
              </a:rPr>
              <a:t>Miftah Arabic · Foundation F6 · My Town and Transport · F6-W03 · Apply workshop (F6-L05 + F6-L06)</a:t>
            </a:r>
            <a:endParaRPr lang="en-US" sz="850" dirty="0"/>
          </a:p>
        </p:txBody>
      </p:sp>
      <p:sp>
        <p:nvSpPr>
          <p:cNvPr id="15" name="Shape 12"/>
          <p:cNvSpPr/>
          <p:nvPr/>
        </p:nvSpPr>
        <p:spPr>
          <a:xfrm>
            <a:off x="457200" y="1810512"/>
            <a:ext cx="11274552" cy="384048"/>
          </a:xfrm>
          <a:prstGeom prst="rect">
            <a:avLst/>
          </a:prstGeom>
          <a:solidFill>
            <a:srgbClr val="1B3B6F"/>
          </a:solidFill>
          <a:ln w="12700">
            <a:solidFill>
              <a:srgbClr val="1B3B6F"/>
            </a:solidFill>
            <a:prstDash val="solid"/>
          </a:ln>
        </p:spPr>
      </p:sp>
      <p:sp>
        <p:nvSpPr>
          <p:cNvPr id="16" name="Text 13"/>
          <p:cNvSpPr txBox="1"/>
          <p:nvPr/>
        </p:nvSpPr>
        <p:spPr>
          <a:xfrm>
            <a:off x="8257032" y="1810512"/>
            <a:ext cx="3401568" cy="384048"/>
          </a:xfrm>
          <a:prstGeom prst="rect">
            <a:avLst/>
          </a:prstGeom>
          <a:noFill/>
          <a:ln/>
        </p:spPr>
        <p:txBody>
          <a:bodyPr wrap="square" lIns="0" tIns="0" rIns="0" bIns="0" rtlCol="0" anchor="ctr"/>
          <a:lstStyle/>
          <a:p>
            <a:pPr algn="ctr" indent="0" marL="0">
              <a:buNone/>
            </a:pPr>
            <a:r>
              <a:rPr lang="en-US" sz="1100" b="1" dirty="0">
                <a:solidFill>
                  <a:srgbClr val="FFFFFF"/>
                </a:solidFill>
                <a:latin typeface="Calibri" pitchFamily="34" charset="0"/>
                <a:cs typeface="Amiri" pitchFamily="2" charset="-78"/>
              </a:rPr>
              <a:t>Plan: first words</a:t>
            </a:r>
            <a:endParaRPr lang="en-US" sz="1100" dirty="0"/>
          </a:p>
        </p:txBody>
      </p:sp>
      <p:sp>
        <p:nvSpPr>
          <p:cNvPr id="17" name="Text 14"/>
          <p:cNvSpPr txBox="1"/>
          <p:nvPr/>
        </p:nvSpPr>
        <p:spPr>
          <a:xfrm>
            <a:off x="4965192" y="1810512"/>
            <a:ext cx="3145536" cy="384048"/>
          </a:xfrm>
          <a:prstGeom prst="rect">
            <a:avLst/>
          </a:prstGeom>
          <a:noFill/>
          <a:ln/>
        </p:spPr>
        <p:txBody>
          <a:bodyPr wrap="square" lIns="0" tIns="0" rIns="0" bIns="0" rtlCol="0" anchor="ctr"/>
          <a:lstStyle/>
          <a:p>
            <a:pPr algn="ctr" indent="0" marL="0">
              <a:buNone/>
            </a:pPr>
            <a:r>
              <a:rPr lang="en-US" sz="1100" b="1" dirty="0">
                <a:solidFill>
                  <a:srgbClr val="FFFFFF"/>
                </a:solidFill>
                <a:latin typeface="Calibri" pitchFamily="34" charset="0"/>
                <a:cs typeface="Amiri" pitchFamily="2" charset="-78"/>
              </a:rPr>
              <a:t>Speaker’s task</a:t>
            </a:r>
            <a:endParaRPr lang="en-US" sz="1100" dirty="0"/>
          </a:p>
        </p:txBody>
      </p:sp>
      <p:sp>
        <p:nvSpPr>
          <p:cNvPr id="18" name="Text 15"/>
          <p:cNvSpPr txBox="1"/>
          <p:nvPr/>
        </p:nvSpPr>
        <p:spPr>
          <a:xfrm>
            <a:off x="1033272" y="1810512"/>
            <a:ext cx="3785616" cy="384048"/>
          </a:xfrm>
          <a:prstGeom prst="rect">
            <a:avLst/>
          </a:prstGeom>
          <a:noFill/>
          <a:ln/>
        </p:spPr>
        <p:txBody>
          <a:bodyPr wrap="square" lIns="0" tIns="0" rIns="0" bIns="0" rtlCol="0" anchor="ctr"/>
          <a:lstStyle/>
          <a:p>
            <a:pPr algn="ctr" indent="0" marL="0">
              <a:buNone/>
            </a:pPr>
            <a:r>
              <a:rPr lang="en-US" sz="1100" b="1" dirty="0">
                <a:solidFill>
                  <a:srgbClr val="FFFFFF"/>
                </a:solidFill>
                <a:latin typeface="Calibri" pitchFamily="34" charset="0"/>
                <a:cs typeface="Amiri" pitchFamily="2" charset="-78"/>
              </a:rPr>
              <a:t>Partner A reads</a:t>
            </a:r>
            <a:endParaRPr lang="en-US" sz="1100" dirty="0"/>
          </a:p>
        </p:txBody>
      </p:sp>
      <p:sp>
        <p:nvSpPr>
          <p:cNvPr id="19" name="Text 16"/>
          <p:cNvSpPr txBox="1"/>
          <p:nvPr/>
        </p:nvSpPr>
        <p:spPr>
          <a:xfrm>
            <a:off x="530352" y="1810512"/>
            <a:ext cx="356616" cy="384048"/>
          </a:xfrm>
          <a:prstGeom prst="rect">
            <a:avLst/>
          </a:prstGeom>
          <a:noFill/>
          <a:ln/>
        </p:spPr>
        <p:txBody>
          <a:bodyPr wrap="square" lIns="0" tIns="0" rIns="0" bIns="0" rtlCol="0" anchor="ctr"/>
          <a:lstStyle/>
          <a:p>
            <a:pPr algn="ctr" indent="0" marL="0">
              <a:buNone/>
            </a:pPr>
            <a:r>
              <a:rPr lang="en-US" sz="1100" b="1" dirty="0">
                <a:solidFill>
                  <a:srgbClr val="FFFFFF"/>
                </a:solidFill>
                <a:latin typeface="Calibri" pitchFamily="34" charset="0"/>
                <a:cs typeface="Amiri" pitchFamily="2" charset="-78"/>
              </a:rPr>
              <a:t>#</a:t>
            </a:r>
            <a:endParaRPr lang="en-US" sz="1100" dirty="0"/>
          </a:p>
        </p:txBody>
      </p:sp>
      <p:sp>
        <p:nvSpPr>
          <p:cNvPr id="20" name="Shape 17"/>
          <p:cNvSpPr/>
          <p:nvPr/>
        </p:nvSpPr>
        <p:spPr>
          <a:xfrm>
            <a:off x="457200" y="2267712"/>
            <a:ext cx="11274552" cy="682142"/>
          </a:xfrm>
          <a:prstGeom prst="roundRect">
            <a:avLst>
              <a:gd name="adj" fmla="val 6702"/>
            </a:avLst>
          </a:prstGeom>
          <a:solidFill>
            <a:srgbClr val="FFFFFF"/>
          </a:solidFill>
          <a:ln w="9525">
            <a:solidFill>
              <a:srgbClr val="D8D0BF"/>
            </a:solidFill>
            <a:prstDash val="solid"/>
          </a:ln>
        </p:spPr>
      </p:sp>
      <p:sp>
        <p:nvSpPr>
          <p:cNvPr id="21" name="Text 18"/>
          <p:cNvSpPr txBox="1"/>
          <p:nvPr/>
        </p:nvSpPr>
        <p:spPr>
          <a:xfrm>
            <a:off x="8275320" y="2267712"/>
            <a:ext cx="3364992" cy="682142"/>
          </a:xfrm>
          <a:prstGeom prst="rect">
            <a:avLst/>
          </a:prstGeom>
          <a:noFill/>
          <a:ln/>
        </p:spPr>
        <p:txBody>
          <a:bodyPr wrap="square" lIns="0" tIns="0" rIns="0" bIns="0" rtlCol="0" anchor="ctr"/>
          <a:lstStyle/>
          <a:p>
            <a:pPr rtl="1" algn="ctr" indent="0" marL="0">
              <a:buNone/>
            </a:pPr>
            <a:r>
              <a:rPr lang="ar-SA" altLang="en-US" sz="1600" b="1" dirty="0">
                <a:solidFill>
                  <a:srgbClr val="1B3B6F"/>
                </a:solidFill>
                <a:latin typeface="Amiri" pitchFamily="2" charset="-78"/>
                <a:ea typeface="Amiri" pitchFamily="2" charset="-78"/>
                <a:cs typeface="Amiri" pitchFamily="2" charset="-78"/>
              </a:rPr>
              <a:t>مَاذَا ← أُرِيدُ أَنْ أَشْتَرِيَ …</a:t>
            </a:r>
            <a:endParaRPr lang="ar-SA" sz="1600" dirty="0"/>
          </a:p>
        </p:txBody>
      </p:sp>
      <p:sp>
        <p:nvSpPr>
          <p:cNvPr id="22" name="Text 19"/>
          <p:cNvSpPr txBox="1"/>
          <p:nvPr/>
        </p:nvSpPr>
        <p:spPr>
          <a:xfrm>
            <a:off x="5001768" y="2267712"/>
            <a:ext cx="3108960" cy="682142"/>
          </a:xfrm>
          <a:prstGeom prst="rect">
            <a:avLst/>
          </a:prstGeom>
          <a:noFill/>
          <a:ln/>
        </p:spPr>
        <p:txBody>
          <a:bodyPr wrap="square" lIns="0" tIns="0" rIns="0" bIns="0" rtlCol="0" anchor="ctr"/>
          <a:lstStyle/>
          <a:p>
            <a:pPr algn="l" indent="0" marL="0">
              <a:buNone/>
            </a:pPr>
            <a:r>
              <a:rPr lang="en-US" sz="1100" dirty="0">
                <a:solidFill>
                  <a:srgbClr val="5A6472"/>
                </a:solidFill>
                <a:latin typeface="Calibri" pitchFamily="34" charset="0"/>
                <a:cs typeface="Amiri" pitchFamily="2" charset="-78"/>
              </a:rPr>
              <a:t>Say what you want to buy.</a:t>
            </a:r>
            <a:endParaRPr lang="en-US" sz="1100" dirty="0"/>
          </a:p>
        </p:txBody>
      </p:sp>
      <p:sp>
        <p:nvSpPr>
          <p:cNvPr id="23" name="Text 20"/>
          <p:cNvSpPr txBox="1"/>
          <p:nvPr/>
        </p:nvSpPr>
        <p:spPr>
          <a:xfrm>
            <a:off x="1051560" y="2267712"/>
            <a:ext cx="3749040" cy="682142"/>
          </a:xfrm>
          <a:prstGeom prst="rect">
            <a:avLst/>
          </a:prstGeom>
          <a:noFill/>
          <a:ln/>
        </p:spPr>
        <p:txBody>
          <a:bodyPr wrap="square" lIns="0" tIns="0" rIns="0" bIns="0" rtlCol="0" anchor="ctr"/>
          <a:lstStyle/>
          <a:p>
            <a:pPr rtl="1" algn="ctr" indent="0" marL="0">
              <a:buNone/>
            </a:pPr>
            <a:r>
              <a:rPr lang="ar-SA" altLang="en-US" sz="1700" b="1" dirty="0">
                <a:solidFill>
                  <a:srgbClr val="1B3B6F"/>
                </a:solidFill>
                <a:latin typeface="Amiri" pitchFamily="2" charset="-78"/>
                <a:ea typeface="Amiri" pitchFamily="2" charset="-78"/>
                <a:cs typeface="Amiri" pitchFamily="2" charset="-78"/>
              </a:rPr>
              <a:t>أَهْلًا! مَاذَا تُرِيدُ؟</a:t>
            </a:r>
            <a:endParaRPr lang="ar-SA" sz="1700" dirty="0"/>
          </a:p>
        </p:txBody>
      </p:sp>
      <p:sp>
        <p:nvSpPr>
          <p:cNvPr id="24" name="Text 21"/>
          <p:cNvSpPr txBox="1"/>
          <p:nvPr/>
        </p:nvSpPr>
        <p:spPr>
          <a:xfrm>
            <a:off x="566928" y="2267712"/>
            <a:ext cx="320040" cy="682142"/>
          </a:xfrm>
          <a:prstGeom prst="rect">
            <a:avLst/>
          </a:prstGeom>
          <a:noFill/>
          <a:ln/>
        </p:spPr>
        <p:txBody>
          <a:bodyPr wrap="square" lIns="0" tIns="0" rIns="0" bIns="0" rtlCol="0" anchor="ctr"/>
          <a:lstStyle/>
          <a:p>
            <a:pPr algn="l" indent="0" marL="0">
              <a:buNone/>
            </a:pPr>
            <a:r>
              <a:rPr lang="en-US" sz="1100" dirty="0">
                <a:solidFill>
                  <a:srgbClr val="5A6472"/>
                </a:solidFill>
                <a:latin typeface="Calibri" pitchFamily="34" charset="0"/>
                <a:cs typeface="Amiri" pitchFamily="2" charset="-78"/>
              </a:rPr>
              <a:t>1</a:t>
            </a:r>
            <a:endParaRPr lang="en-US" sz="1100" dirty="0"/>
          </a:p>
        </p:txBody>
      </p:sp>
      <p:sp>
        <p:nvSpPr>
          <p:cNvPr id="25" name="Shape 22"/>
          <p:cNvSpPr/>
          <p:nvPr/>
        </p:nvSpPr>
        <p:spPr>
          <a:xfrm>
            <a:off x="11091672" y="2313432"/>
            <a:ext cx="548640" cy="182880"/>
          </a:xfrm>
          <a:prstGeom prst="roundRect">
            <a:avLst>
              <a:gd name="adj" fmla="val 50000"/>
            </a:avLst>
          </a:prstGeom>
          <a:solidFill>
            <a:srgbClr val="2E8B57"/>
          </a:solidFill>
          <a:ln w="12700">
            <a:solidFill>
              <a:srgbClr val="2E8B57"/>
            </a:solidFill>
            <a:prstDash val="solid"/>
          </a:ln>
        </p:spPr>
      </p:sp>
      <p:sp>
        <p:nvSpPr>
          <p:cNvPr id="26" name="Text 23"/>
          <p:cNvSpPr txBox="1"/>
          <p:nvPr/>
        </p:nvSpPr>
        <p:spPr>
          <a:xfrm>
            <a:off x="11091672" y="2313432"/>
            <a:ext cx="548640" cy="182880"/>
          </a:xfrm>
          <a:prstGeom prst="rect">
            <a:avLst/>
          </a:prstGeom>
          <a:noFill/>
          <a:ln/>
        </p:spPr>
        <p:txBody>
          <a:bodyPr wrap="square" lIns="0" tIns="0" rIns="0" bIns="0" rtlCol="0" anchor="ctr"/>
          <a:lstStyle/>
          <a:p>
            <a:pPr algn="ctr" indent="0" marL="0">
              <a:buNone/>
            </a:pPr>
            <a:r>
              <a:rPr lang="en-US" sz="650" b="1" spc="100" kern="0" dirty="0">
                <a:solidFill>
                  <a:srgbClr val="FFFFFF"/>
                </a:solidFill>
                <a:latin typeface="Calibri" pitchFamily="34" charset="0"/>
                <a:cs typeface="Amiri" pitchFamily="2" charset="-78"/>
              </a:rPr>
              <a:t>CORE</a:t>
            </a:r>
            <a:endParaRPr lang="en-US" sz="650" dirty="0"/>
          </a:p>
        </p:txBody>
      </p:sp>
      <p:sp>
        <p:nvSpPr>
          <p:cNvPr id="27" name="Shape 24"/>
          <p:cNvSpPr/>
          <p:nvPr/>
        </p:nvSpPr>
        <p:spPr>
          <a:xfrm>
            <a:off x="457200" y="3004718"/>
            <a:ext cx="11274552" cy="682142"/>
          </a:xfrm>
          <a:prstGeom prst="roundRect">
            <a:avLst>
              <a:gd name="adj" fmla="val 6702"/>
            </a:avLst>
          </a:prstGeom>
          <a:solidFill>
            <a:srgbClr val="F4F1EA"/>
          </a:solidFill>
          <a:ln w="9525">
            <a:solidFill>
              <a:srgbClr val="D8D0BF"/>
            </a:solidFill>
            <a:prstDash val="solid"/>
          </a:ln>
        </p:spPr>
      </p:sp>
      <p:sp>
        <p:nvSpPr>
          <p:cNvPr id="28" name="Text 25"/>
          <p:cNvSpPr txBox="1"/>
          <p:nvPr/>
        </p:nvSpPr>
        <p:spPr>
          <a:xfrm>
            <a:off x="8275320" y="3004718"/>
            <a:ext cx="3364992" cy="682142"/>
          </a:xfrm>
          <a:prstGeom prst="rect">
            <a:avLst/>
          </a:prstGeom>
          <a:noFill/>
          <a:ln/>
        </p:spPr>
        <p:txBody>
          <a:bodyPr wrap="square" lIns="0" tIns="0" rIns="0" bIns="0" rtlCol="0" anchor="ctr"/>
          <a:lstStyle/>
          <a:p>
            <a:pPr rtl="1" algn="ctr" indent="0" marL="0">
              <a:buNone/>
            </a:pPr>
            <a:r>
              <a:rPr lang="ar-SA" altLang="en-US" sz="1600" b="1" dirty="0">
                <a:solidFill>
                  <a:srgbClr val="1B3B6F"/>
                </a:solidFill>
                <a:latin typeface="Amiri" pitchFamily="2" charset="-78"/>
                <a:ea typeface="Amiri" pitchFamily="2" charset="-78"/>
                <a:cs typeface="Amiri" pitchFamily="2" charset="-78"/>
              </a:rPr>
              <a:t>هٰذَا ← كَمْ ثَمَنُهُ؟</a:t>
            </a:r>
            <a:endParaRPr lang="ar-SA" sz="1600" dirty="0"/>
          </a:p>
        </p:txBody>
      </p:sp>
      <p:sp>
        <p:nvSpPr>
          <p:cNvPr id="29" name="Text 26"/>
          <p:cNvSpPr txBox="1"/>
          <p:nvPr/>
        </p:nvSpPr>
        <p:spPr>
          <a:xfrm>
            <a:off x="5001768" y="3004718"/>
            <a:ext cx="3108960" cy="682142"/>
          </a:xfrm>
          <a:prstGeom prst="rect">
            <a:avLst/>
          </a:prstGeom>
          <a:noFill/>
          <a:ln/>
        </p:spPr>
        <p:txBody>
          <a:bodyPr wrap="square" lIns="0" tIns="0" rIns="0" bIns="0" rtlCol="0" anchor="ctr"/>
          <a:lstStyle/>
          <a:p>
            <a:pPr algn="l" indent="0" marL="0">
              <a:buNone/>
            </a:pPr>
            <a:r>
              <a:rPr lang="en-US" sz="1100" dirty="0">
                <a:solidFill>
                  <a:srgbClr val="5A6472"/>
                </a:solidFill>
                <a:latin typeface="Calibri" pitchFamily="34" charset="0"/>
                <a:cs typeface="Amiri" pitchFamily="2" charset="-78"/>
              </a:rPr>
              <a:t>Ask the price (masculine item).</a:t>
            </a:r>
            <a:endParaRPr lang="en-US" sz="1100" dirty="0"/>
          </a:p>
        </p:txBody>
      </p:sp>
      <p:sp>
        <p:nvSpPr>
          <p:cNvPr id="30" name="Text 27"/>
          <p:cNvSpPr txBox="1"/>
          <p:nvPr/>
        </p:nvSpPr>
        <p:spPr>
          <a:xfrm>
            <a:off x="1051560" y="3004718"/>
            <a:ext cx="3749040" cy="682142"/>
          </a:xfrm>
          <a:prstGeom prst="rect">
            <a:avLst/>
          </a:prstGeom>
          <a:noFill/>
          <a:ln/>
        </p:spPr>
        <p:txBody>
          <a:bodyPr wrap="square" lIns="0" tIns="0" rIns="0" bIns="0" rtlCol="0" anchor="ctr"/>
          <a:lstStyle/>
          <a:p>
            <a:pPr rtl="1" algn="ctr" indent="0" marL="0">
              <a:buNone/>
            </a:pPr>
            <a:r>
              <a:rPr lang="ar-SA" altLang="en-US" sz="1700" b="1" dirty="0">
                <a:solidFill>
                  <a:srgbClr val="1B3B6F"/>
                </a:solidFill>
                <a:latin typeface="Amiri" pitchFamily="2" charset="-78"/>
                <a:ea typeface="Amiri" pitchFamily="2" charset="-78"/>
                <a:cs typeface="Amiri" pitchFamily="2" charset="-78"/>
              </a:rPr>
              <a:t>هٰذَا القَمِيصُ جَمِيلٌ.</a:t>
            </a:r>
            <a:endParaRPr lang="ar-SA" sz="1700" dirty="0"/>
          </a:p>
        </p:txBody>
      </p:sp>
      <p:sp>
        <p:nvSpPr>
          <p:cNvPr id="31" name="Text 28"/>
          <p:cNvSpPr txBox="1"/>
          <p:nvPr/>
        </p:nvSpPr>
        <p:spPr>
          <a:xfrm>
            <a:off x="566928" y="3004718"/>
            <a:ext cx="320040" cy="682142"/>
          </a:xfrm>
          <a:prstGeom prst="rect">
            <a:avLst/>
          </a:prstGeom>
          <a:noFill/>
          <a:ln/>
        </p:spPr>
        <p:txBody>
          <a:bodyPr wrap="square" lIns="0" tIns="0" rIns="0" bIns="0" rtlCol="0" anchor="ctr"/>
          <a:lstStyle/>
          <a:p>
            <a:pPr algn="l" indent="0" marL="0">
              <a:buNone/>
            </a:pPr>
            <a:r>
              <a:rPr lang="en-US" sz="1100" dirty="0">
                <a:solidFill>
                  <a:srgbClr val="5A6472"/>
                </a:solidFill>
                <a:latin typeface="Calibri" pitchFamily="34" charset="0"/>
                <a:cs typeface="Amiri" pitchFamily="2" charset="-78"/>
              </a:rPr>
              <a:t>2</a:t>
            </a:r>
            <a:endParaRPr lang="en-US" sz="1100" dirty="0"/>
          </a:p>
        </p:txBody>
      </p:sp>
      <p:sp>
        <p:nvSpPr>
          <p:cNvPr id="32" name="Shape 29"/>
          <p:cNvSpPr/>
          <p:nvPr/>
        </p:nvSpPr>
        <p:spPr>
          <a:xfrm>
            <a:off x="11091672" y="3050438"/>
            <a:ext cx="548640" cy="182880"/>
          </a:xfrm>
          <a:prstGeom prst="roundRect">
            <a:avLst>
              <a:gd name="adj" fmla="val 50000"/>
            </a:avLst>
          </a:prstGeom>
          <a:solidFill>
            <a:srgbClr val="2E8B57"/>
          </a:solidFill>
          <a:ln w="12700">
            <a:solidFill>
              <a:srgbClr val="2E8B57"/>
            </a:solidFill>
            <a:prstDash val="solid"/>
          </a:ln>
        </p:spPr>
      </p:sp>
      <p:sp>
        <p:nvSpPr>
          <p:cNvPr id="33" name="Text 30"/>
          <p:cNvSpPr txBox="1"/>
          <p:nvPr/>
        </p:nvSpPr>
        <p:spPr>
          <a:xfrm>
            <a:off x="11091672" y="3050438"/>
            <a:ext cx="548640" cy="182880"/>
          </a:xfrm>
          <a:prstGeom prst="rect">
            <a:avLst/>
          </a:prstGeom>
          <a:noFill/>
          <a:ln/>
        </p:spPr>
        <p:txBody>
          <a:bodyPr wrap="square" lIns="0" tIns="0" rIns="0" bIns="0" rtlCol="0" anchor="ctr"/>
          <a:lstStyle/>
          <a:p>
            <a:pPr algn="ctr" indent="0" marL="0">
              <a:buNone/>
            </a:pPr>
            <a:r>
              <a:rPr lang="en-US" sz="650" b="1" spc="100" kern="0" dirty="0">
                <a:solidFill>
                  <a:srgbClr val="FFFFFF"/>
                </a:solidFill>
                <a:latin typeface="Calibri" pitchFamily="34" charset="0"/>
                <a:cs typeface="Amiri" pitchFamily="2" charset="-78"/>
              </a:rPr>
              <a:t>CORE</a:t>
            </a:r>
            <a:endParaRPr lang="en-US" sz="650" dirty="0"/>
          </a:p>
        </p:txBody>
      </p:sp>
      <p:sp>
        <p:nvSpPr>
          <p:cNvPr id="34" name="Shape 31"/>
          <p:cNvSpPr/>
          <p:nvPr/>
        </p:nvSpPr>
        <p:spPr>
          <a:xfrm>
            <a:off x="457200" y="3741725"/>
            <a:ext cx="11274552" cy="682142"/>
          </a:xfrm>
          <a:prstGeom prst="roundRect">
            <a:avLst>
              <a:gd name="adj" fmla="val 6702"/>
            </a:avLst>
          </a:prstGeom>
          <a:solidFill>
            <a:srgbClr val="FFFFFF"/>
          </a:solidFill>
          <a:ln w="9525">
            <a:solidFill>
              <a:srgbClr val="D8D0BF"/>
            </a:solidFill>
            <a:prstDash val="solid"/>
          </a:ln>
        </p:spPr>
      </p:sp>
      <p:sp>
        <p:nvSpPr>
          <p:cNvPr id="35" name="Text 32"/>
          <p:cNvSpPr txBox="1"/>
          <p:nvPr/>
        </p:nvSpPr>
        <p:spPr>
          <a:xfrm>
            <a:off x="8275320" y="3741725"/>
            <a:ext cx="3364992" cy="682142"/>
          </a:xfrm>
          <a:prstGeom prst="rect">
            <a:avLst/>
          </a:prstGeom>
          <a:noFill/>
          <a:ln/>
        </p:spPr>
        <p:txBody>
          <a:bodyPr wrap="square" lIns="0" tIns="0" rIns="0" bIns="0" rtlCol="0" anchor="ctr"/>
          <a:lstStyle/>
          <a:p>
            <a:pPr rtl="1" algn="ctr" indent="0" marL="0">
              <a:buNone/>
            </a:pPr>
            <a:r>
              <a:rPr lang="ar-SA" altLang="en-US" sz="1600" b="1" dirty="0">
                <a:solidFill>
                  <a:srgbClr val="1B3B6F"/>
                </a:solidFill>
                <a:latin typeface="Amiri" pitchFamily="2" charset="-78"/>
                <a:ea typeface="Amiri" pitchFamily="2" charset="-78"/>
                <a:cs typeface="Amiri" pitchFamily="2" charset="-78"/>
              </a:rPr>
              <a:t>ثَمَنُهُ ← هُوَ أَغْلَى مِنْ … / فِي السُّوقِ أَرْخَصُ</a:t>
            </a:r>
            <a:endParaRPr lang="ar-SA" sz="1600" dirty="0"/>
          </a:p>
        </p:txBody>
      </p:sp>
      <p:sp>
        <p:nvSpPr>
          <p:cNvPr id="36" name="Text 33"/>
          <p:cNvSpPr txBox="1"/>
          <p:nvPr/>
        </p:nvSpPr>
        <p:spPr>
          <a:xfrm>
            <a:off x="5001768" y="3741725"/>
            <a:ext cx="3108960" cy="682142"/>
          </a:xfrm>
          <a:prstGeom prst="rect">
            <a:avLst/>
          </a:prstGeom>
          <a:noFill/>
          <a:ln/>
        </p:spPr>
        <p:txBody>
          <a:bodyPr wrap="square" lIns="0" tIns="0" rIns="0" bIns="0" rtlCol="0" anchor="ctr"/>
          <a:lstStyle/>
          <a:p>
            <a:pPr algn="l" indent="0" marL="0">
              <a:buNone/>
            </a:pPr>
            <a:r>
              <a:rPr lang="en-US" sz="1100" dirty="0">
                <a:solidFill>
                  <a:srgbClr val="5A6472"/>
                </a:solidFill>
                <a:latin typeface="Calibri" pitchFamily="34" charset="0"/>
                <a:cs typeface="Amiri" pitchFamily="2" charset="-78"/>
              </a:rPr>
              <a:t>Compare with the market price.</a:t>
            </a:r>
            <a:endParaRPr lang="en-US" sz="1100" dirty="0"/>
          </a:p>
        </p:txBody>
      </p:sp>
      <p:sp>
        <p:nvSpPr>
          <p:cNvPr id="37" name="Text 34"/>
          <p:cNvSpPr txBox="1"/>
          <p:nvPr/>
        </p:nvSpPr>
        <p:spPr>
          <a:xfrm>
            <a:off x="1051560" y="3741725"/>
            <a:ext cx="3749040" cy="682142"/>
          </a:xfrm>
          <a:prstGeom prst="rect">
            <a:avLst/>
          </a:prstGeom>
          <a:noFill/>
          <a:ln/>
        </p:spPr>
        <p:txBody>
          <a:bodyPr wrap="square" lIns="0" tIns="0" rIns="0" bIns="0" rtlCol="0" anchor="ctr"/>
          <a:lstStyle/>
          <a:p>
            <a:pPr rtl="1" algn="ctr" indent="0" marL="0">
              <a:buNone/>
            </a:pPr>
            <a:r>
              <a:rPr lang="ar-SA" altLang="en-US" sz="1700" b="1" dirty="0">
                <a:solidFill>
                  <a:srgbClr val="1B3B6F"/>
                </a:solidFill>
                <a:latin typeface="Amiri" pitchFamily="2" charset="-78"/>
                <a:ea typeface="Amiri" pitchFamily="2" charset="-78"/>
                <a:cs typeface="Amiri" pitchFamily="2" charset="-78"/>
              </a:rPr>
              <a:t>ثَمَنُهُ خَمْسَةٌ وَعِشْرُونَ جُنَيْهًا.</a:t>
            </a:r>
            <a:endParaRPr lang="ar-SA" sz="1700" dirty="0"/>
          </a:p>
        </p:txBody>
      </p:sp>
      <p:sp>
        <p:nvSpPr>
          <p:cNvPr id="38" name="Text 35"/>
          <p:cNvSpPr txBox="1"/>
          <p:nvPr/>
        </p:nvSpPr>
        <p:spPr>
          <a:xfrm>
            <a:off x="566928" y="3741725"/>
            <a:ext cx="320040" cy="682142"/>
          </a:xfrm>
          <a:prstGeom prst="rect">
            <a:avLst/>
          </a:prstGeom>
          <a:noFill/>
          <a:ln/>
        </p:spPr>
        <p:txBody>
          <a:bodyPr wrap="square" lIns="0" tIns="0" rIns="0" bIns="0" rtlCol="0" anchor="ctr"/>
          <a:lstStyle/>
          <a:p>
            <a:pPr algn="l" indent="0" marL="0">
              <a:buNone/>
            </a:pPr>
            <a:r>
              <a:rPr lang="en-US" sz="1100" dirty="0">
                <a:solidFill>
                  <a:srgbClr val="5A6472"/>
                </a:solidFill>
                <a:latin typeface="Calibri" pitchFamily="34" charset="0"/>
                <a:cs typeface="Amiri" pitchFamily="2" charset="-78"/>
              </a:rPr>
              <a:t>3</a:t>
            </a:r>
            <a:endParaRPr lang="en-US" sz="1100" dirty="0"/>
          </a:p>
        </p:txBody>
      </p:sp>
      <p:sp>
        <p:nvSpPr>
          <p:cNvPr id="39" name="Shape 36"/>
          <p:cNvSpPr/>
          <p:nvPr/>
        </p:nvSpPr>
        <p:spPr>
          <a:xfrm>
            <a:off x="11091672" y="3787445"/>
            <a:ext cx="548640" cy="182880"/>
          </a:xfrm>
          <a:prstGeom prst="roundRect">
            <a:avLst>
              <a:gd name="adj" fmla="val 50000"/>
            </a:avLst>
          </a:prstGeom>
          <a:solidFill>
            <a:srgbClr val="2E8B57"/>
          </a:solidFill>
          <a:ln w="12700">
            <a:solidFill>
              <a:srgbClr val="2E8B57"/>
            </a:solidFill>
            <a:prstDash val="solid"/>
          </a:ln>
        </p:spPr>
      </p:sp>
      <p:sp>
        <p:nvSpPr>
          <p:cNvPr id="40" name="Text 37"/>
          <p:cNvSpPr txBox="1"/>
          <p:nvPr/>
        </p:nvSpPr>
        <p:spPr>
          <a:xfrm>
            <a:off x="11091672" y="3787445"/>
            <a:ext cx="548640" cy="182880"/>
          </a:xfrm>
          <a:prstGeom prst="rect">
            <a:avLst/>
          </a:prstGeom>
          <a:noFill/>
          <a:ln/>
        </p:spPr>
        <p:txBody>
          <a:bodyPr wrap="square" lIns="0" tIns="0" rIns="0" bIns="0" rtlCol="0" anchor="ctr"/>
          <a:lstStyle/>
          <a:p>
            <a:pPr algn="ctr" indent="0" marL="0">
              <a:buNone/>
            </a:pPr>
            <a:r>
              <a:rPr lang="en-US" sz="650" b="1" spc="100" kern="0" dirty="0">
                <a:solidFill>
                  <a:srgbClr val="FFFFFF"/>
                </a:solidFill>
                <a:latin typeface="Calibri" pitchFamily="34" charset="0"/>
                <a:cs typeface="Amiri" pitchFamily="2" charset="-78"/>
              </a:rPr>
              <a:t>CORE</a:t>
            </a:r>
            <a:endParaRPr lang="en-US" sz="650" dirty="0"/>
          </a:p>
        </p:txBody>
      </p:sp>
      <p:sp>
        <p:nvSpPr>
          <p:cNvPr id="41" name="Shape 38"/>
          <p:cNvSpPr/>
          <p:nvPr/>
        </p:nvSpPr>
        <p:spPr>
          <a:xfrm>
            <a:off x="457200" y="4478731"/>
            <a:ext cx="11274552" cy="682142"/>
          </a:xfrm>
          <a:prstGeom prst="roundRect">
            <a:avLst>
              <a:gd name="adj" fmla="val 6702"/>
            </a:avLst>
          </a:prstGeom>
          <a:solidFill>
            <a:srgbClr val="F4F1EA"/>
          </a:solidFill>
          <a:ln w="9525">
            <a:solidFill>
              <a:srgbClr val="D8D0BF"/>
            </a:solidFill>
            <a:prstDash val="solid"/>
          </a:ln>
        </p:spPr>
      </p:sp>
      <p:sp>
        <p:nvSpPr>
          <p:cNvPr id="42" name="Text 39"/>
          <p:cNvSpPr txBox="1"/>
          <p:nvPr/>
        </p:nvSpPr>
        <p:spPr>
          <a:xfrm>
            <a:off x="8275320" y="4478731"/>
            <a:ext cx="3364992" cy="682142"/>
          </a:xfrm>
          <a:prstGeom prst="rect">
            <a:avLst/>
          </a:prstGeom>
          <a:noFill/>
          <a:ln/>
        </p:spPr>
        <p:txBody>
          <a:bodyPr wrap="square" lIns="0" tIns="0" rIns="0" bIns="0" rtlCol="0" anchor="ctr"/>
          <a:lstStyle/>
          <a:p>
            <a:pPr rtl="1" algn="ctr" indent="0" marL="0">
              <a:buNone/>
            </a:pPr>
            <a:r>
              <a:rPr lang="ar-SA" altLang="en-US" sz="1600" b="1" dirty="0">
                <a:solidFill>
                  <a:srgbClr val="1B3B6F"/>
                </a:solidFill>
                <a:latin typeface="Amiri" pitchFamily="2" charset="-78"/>
                <a:ea typeface="Amiri" pitchFamily="2" charset="-78"/>
                <a:cs typeface="Amiri" pitchFamily="2" charset="-78"/>
              </a:rPr>
              <a:t>خَصْمٌ ← طَيِّبٌ … أَدْفَعُ نَقْدًا / بِالبِطَاقَةِ</a:t>
            </a:r>
            <a:endParaRPr lang="ar-SA" sz="1600" dirty="0"/>
          </a:p>
        </p:txBody>
      </p:sp>
      <p:sp>
        <p:nvSpPr>
          <p:cNvPr id="43" name="Text 40"/>
          <p:cNvSpPr txBox="1"/>
          <p:nvPr/>
        </p:nvSpPr>
        <p:spPr>
          <a:xfrm>
            <a:off x="5001768" y="4478731"/>
            <a:ext cx="3108960" cy="682142"/>
          </a:xfrm>
          <a:prstGeom prst="rect">
            <a:avLst/>
          </a:prstGeom>
          <a:noFill/>
          <a:ln/>
        </p:spPr>
        <p:txBody>
          <a:bodyPr wrap="square" lIns="0" tIns="0" rIns="0" bIns="0" rtlCol="0" anchor="ctr"/>
          <a:lstStyle/>
          <a:p>
            <a:pPr algn="l" indent="0" marL="0">
              <a:buNone/>
            </a:pPr>
            <a:r>
              <a:rPr lang="en-US" sz="1100" dirty="0">
                <a:solidFill>
                  <a:srgbClr val="5A6472"/>
                </a:solidFill>
                <a:latin typeface="Calibri" pitchFamily="34" charset="0"/>
                <a:cs typeface="Amiri" pitchFamily="2" charset="-78"/>
              </a:rPr>
              <a:t>Accept and say how you will pay.</a:t>
            </a:r>
            <a:endParaRPr lang="en-US" sz="1100" dirty="0"/>
          </a:p>
        </p:txBody>
      </p:sp>
      <p:sp>
        <p:nvSpPr>
          <p:cNvPr id="44" name="Text 41"/>
          <p:cNvSpPr txBox="1"/>
          <p:nvPr/>
        </p:nvSpPr>
        <p:spPr>
          <a:xfrm>
            <a:off x="1051560" y="4478731"/>
            <a:ext cx="3749040" cy="682142"/>
          </a:xfrm>
          <a:prstGeom prst="rect">
            <a:avLst/>
          </a:prstGeom>
          <a:noFill/>
          <a:ln/>
        </p:spPr>
        <p:txBody>
          <a:bodyPr wrap="square" lIns="0" tIns="0" rIns="0" bIns="0" rtlCol="0" anchor="ctr"/>
          <a:lstStyle/>
          <a:p>
            <a:pPr rtl="1" algn="ctr" indent="0" marL="0">
              <a:buNone/>
            </a:pPr>
            <a:r>
              <a:rPr lang="ar-SA" altLang="en-US" sz="1700" b="1" dirty="0">
                <a:solidFill>
                  <a:srgbClr val="1B3B6F"/>
                </a:solidFill>
                <a:latin typeface="Amiri" pitchFamily="2" charset="-78"/>
                <a:ea typeface="Amiri" pitchFamily="2" charset="-78"/>
                <a:cs typeface="Amiri" pitchFamily="2" charset="-78"/>
              </a:rPr>
              <a:t>عِنْدَنَا خَصْمٌ اليَوْمَ: عِشْرُونَ جُنَيْهًا فَقَطْ.</a:t>
            </a:r>
            <a:endParaRPr lang="ar-SA" sz="1700" dirty="0"/>
          </a:p>
        </p:txBody>
      </p:sp>
      <p:sp>
        <p:nvSpPr>
          <p:cNvPr id="45" name="Text 42"/>
          <p:cNvSpPr txBox="1"/>
          <p:nvPr/>
        </p:nvSpPr>
        <p:spPr>
          <a:xfrm>
            <a:off x="566928" y="4478731"/>
            <a:ext cx="320040" cy="682142"/>
          </a:xfrm>
          <a:prstGeom prst="rect">
            <a:avLst/>
          </a:prstGeom>
          <a:noFill/>
          <a:ln/>
        </p:spPr>
        <p:txBody>
          <a:bodyPr wrap="square" lIns="0" tIns="0" rIns="0" bIns="0" rtlCol="0" anchor="ctr"/>
          <a:lstStyle/>
          <a:p>
            <a:pPr algn="l" indent="0" marL="0">
              <a:buNone/>
            </a:pPr>
            <a:r>
              <a:rPr lang="en-US" sz="1100" dirty="0">
                <a:solidFill>
                  <a:srgbClr val="5A6472"/>
                </a:solidFill>
                <a:latin typeface="Calibri" pitchFamily="34" charset="0"/>
                <a:cs typeface="Amiri" pitchFamily="2" charset="-78"/>
              </a:rPr>
              <a:t>4</a:t>
            </a:r>
            <a:endParaRPr lang="en-US" sz="1100" dirty="0"/>
          </a:p>
        </p:txBody>
      </p:sp>
      <p:sp>
        <p:nvSpPr>
          <p:cNvPr id="46" name="Shape 43"/>
          <p:cNvSpPr/>
          <p:nvPr/>
        </p:nvSpPr>
        <p:spPr>
          <a:xfrm>
            <a:off x="11091672" y="4524451"/>
            <a:ext cx="548640" cy="182880"/>
          </a:xfrm>
          <a:prstGeom prst="roundRect">
            <a:avLst>
              <a:gd name="adj" fmla="val 50000"/>
            </a:avLst>
          </a:prstGeom>
          <a:solidFill>
            <a:srgbClr val="2E8B57"/>
          </a:solidFill>
          <a:ln w="12700">
            <a:solidFill>
              <a:srgbClr val="2E8B57"/>
            </a:solidFill>
            <a:prstDash val="solid"/>
          </a:ln>
        </p:spPr>
      </p:sp>
      <p:sp>
        <p:nvSpPr>
          <p:cNvPr id="47" name="Text 44"/>
          <p:cNvSpPr txBox="1"/>
          <p:nvPr/>
        </p:nvSpPr>
        <p:spPr>
          <a:xfrm>
            <a:off x="11091672" y="4524451"/>
            <a:ext cx="548640" cy="182880"/>
          </a:xfrm>
          <a:prstGeom prst="rect">
            <a:avLst/>
          </a:prstGeom>
          <a:noFill/>
          <a:ln/>
        </p:spPr>
        <p:txBody>
          <a:bodyPr wrap="square" lIns="0" tIns="0" rIns="0" bIns="0" rtlCol="0" anchor="ctr"/>
          <a:lstStyle/>
          <a:p>
            <a:pPr algn="ctr" indent="0" marL="0">
              <a:buNone/>
            </a:pPr>
            <a:r>
              <a:rPr lang="en-US" sz="650" b="1" spc="100" kern="0" dirty="0">
                <a:solidFill>
                  <a:srgbClr val="FFFFFF"/>
                </a:solidFill>
                <a:latin typeface="Calibri" pitchFamily="34" charset="0"/>
                <a:cs typeface="Amiri" pitchFamily="2" charset="-78"/>
              </a:rPr>
              <a:t>CORE</a:t>
            </a:r>
            <a:endParaRPr lang="en-US" sz="650" dirty="0"/>
          </a:p>
        </p:txBody>
      </p:sp>
      <p:sp>
        <p:nvSpPr>
          <p:cNvPr id="48" name="Shape 45"/>
          <p:cNvSpPr/>
          <p:nvPr/>
        </p:nvSpPr>
        <p:spPr>
          <a:xfrm>
            <a:off x="457200" y="5215738"/>
            <a:ext cx="11274552" cy="682142"/>
          </a:xfrm>
          <a:prstGeom prst="roundRect">
            <a:avLst>
              <a:gd name="adj" fmla="val 6702"/>
            </a:avLst>
          </a:prstGeom>
          <a:solidFill>
            <a:srgbClr val="FFFFFF"/>
          </a:solidFill>
          <a:ln w="9525">
            <a:solidFill>
              <a:srgbClr val="D8D0BF"/>
            </a:solidFill>
            <a:prstDash val="solid"/>
          </a:ln>
        </p:spPr>
      </p:sp>
      <p:sp>
        <p:nvSpPr>
          <p:cNvPr id="49" name="Text 46"/>
          <p:cNvSpPr txBox="1"/>
          <p:nvPr/>
        </p:nvSpPr>
        <p:spPr>
          <a:xfrm>
            <a:off x="8275320" y="5215738"/>
            <a:ext cx="3364992" cy="682142"/>
          </a:xfrm>
          <a:prstGeom prst="rect">
            <a:avLst/>
          </a:prstGeom>
          <a:noFill/>
          <a:ln/>
        </p:spPr>
        <p:txBody>
          <a:bodyPr wrap="square" lIns="0" tIns="0" rIns="0" bIns="0" rtlCol="0" anchor="ctr"/>
          <a:lstStyle/>
          <a:p>
            <a:pPr rtl="1" algn="ctr" indent="0" marL="0">
              <a:buNone/>
            </a:pPr>
            <a:r>
              <a:rPr lang="ar-SA" altLang="en-US" sz="1600" b="1" dirty="0">
                <a:solidFill>
                  <a:srgbClr val="1B3B6F"/>
                </a:solidFill>
                <a:latin typeface="Amiri" pitchFamily="2" charset="-78"/>
                <a:ea typeface="Amiri" pitchFamily="2" charset="-78"/>
                <a:cs typeface="Amiri" pitchFamily="2" charset="-78"/>
              </a:rPr>
              <a:t>مَا ← مِنْ مَزَايَاهُ أَنَّ … ، لٰكِنَّ …</a:t>
            </a:r>
            <a:endParaRPr lang="ar-SA" sz="1600" dirty="0"/>
          </a:p>
        </p:txBody>
      </p:sp>
      <p:sp>
        <p:nvSpPr>
          <p:cNvPr id="50" name="Text 47"/>
          <p:cNvSpPr txBox="1"/>
          <p:nvPr/>
        </p:nvSpPr>
        <p:spPr>
          <a:xfrm>
            <a:off x="5001768" y="5215738"/>
            <a:ext cx="3108960" cy="682142"/>
          </a:xfrm>
          <a:prstGeom prst="rect">
            <a:avLst/>
          </a:prstGeom>
          <a:noFill/>
          <a:ln/>
        </p:spPr>
        <p:txBody>
          <a:bodyPr wrap="square" lIns="0" tIns="0" rIns="0" bIns="0" rtlCol="0" anchor="ctr"/>
          <a:lstStyle/>
          <a:p>
            <a:pPr algn="l" indent="0" marL="0">
              <a:buNone/>
            </a:pPr>
            <a:r>
              <a:rPr lang="en-US" sz="1100" dirty="0">
                <a:solidFill>
                  <a:srgbClr val="5A6472"/>
                </a:solidFill>
                <a:latin typeface="Calibri" pitchFamily="34" charset="0"/>
                <a:cs typeface="Amiri" pitchFamily="2" charset="-78"/>
              </a:rPr>
              <a:t>Give one advantage and one disadvantage.</a:t>
            </a:r>
            <a:endParaRPr lang="en-US" sz="1100" dirty="0"/>
          </a:p>
        </p:txBody>
      </p:sp>
      <p:sp>
        <p:nvSpPr>
          <p:cNvPr id="51" name="Text 48"/>
          <p:cNvSpPr txBox="1"/>
          <p:nvPr/>
        </p:nvSpPr>
        <p:spPr>
          <a:xfrm>
            <a:off x="1051560" y="5215738"/>
            <a:ext cx="3749040" cy="682142"/>
          </a:xfrm>
          <a:prstGeom prst="rect">
            <a:avLst/>
          </a:prstGeom>
          <a:noFill/>
          <a:ln/>
        </p:spPr>
        <p:txBody>
          <a:bodyPr wrap="square" lIns="0" tIns="0" rIns="0" bIns="0" rtlCol="0" anchor="ctr"/>
          <a:lstStyle/>
          <a:p>
            <a:pPr rtl="1" algn="ctr" indent="0" marL="0">
              <a:buNone/>
            </a:pPr>
            <a:r>
              <a:rPr lang="ar-SA" altLang="en-US" sz="1700" b="1" dirty="0">
                <a:solidFill>
                  <a:srgbClr val="1B3B6F"/>
                </a:solidFill>
                <a:latin typeface="Amiri" pitchFamily="2" charset="-78"/>
                <a:ea typeface="Amiri" pitchFamily="2" charset="-78"/>
                <a:cs typeface="Amiri" pitchFamily="2" charset="-78"/>
              </a:rPr>
              <a:t>مَا رَأْيُكَ فِي مَرْكَزِنَا التِّجَارِيِّ؟</a:t>
            </a:r>
            <a:endParaRPr lang="ar-SA" sz="1700" dirty="0"/>
          </a:p>
        </p:txBody>
      </p:sp>
      <p:sp>
        <p:nvSpPr>
          <p:cNvPr id="52" name="Text 49"/>
          <p:cNvSpPr txBox="1"/>
          <p:nvPr/>
        </p:nvSpPr>
        <p:spPr>
          <a:xfrm>
            <a:off x="566928" y="5215738"/>
            <a:ext cx="320040" cy="682142"/>
          </a:xfrm>
          <a:prstGeom prst="rect">
            <a:avLst/>
          </a:prstGeom>
          <a:noFill/>
          <a:ln/>
        </p:spPr>
        <p:txBody>
          <a:bodyPr wrap="square" lIns="0" tIns="0" rIns="0" bIns="0" rtlCol="0" anchor="ctr"/>
          <a:lstStyle/>
          <a:p>
            <a:pPr algn="l" indent="0" marL="0">
              <a:buNone/>
            </a:pPr>
            <a:r>
              <a:rPr lang="en-US" sz="1100" dirty="0">
                <a:solidFill>
                  <a:srgbClr val="5A6472"/>
                </a:solidFill>
                <a:latin typeface="Calibri" pitchFamily="34" charset="0"/>
                <a:cs typeface="Amiri" pitchFamily="2" charset="-78"/>
              </a:rPr>
              <a:t>5 !</a:t>
            </a:r>
            <a:endParaRPr lang="en-US" sz="1100" dirty="0"/>
          </a:p>
        </p:txBody>
      </p:sp>
      <p:sp>
        <p:nvSpPr>
          <p:cNvPr id="53" name="Shape 50"/>
          <p:cNvSpPr/>
          <p:nvPr/>
        </p:nvSpPr>
        <p:spPr>
          <a:xfrm>
            <a:off x="11091672" y="5261458"/>
            <a:ext cx="548640" cy="182880"/>
          </a:xfrm>
          <a:prstGeom prst="roundRect">
            <a:avLst>
              <a:gd name="adj" fmla="val 50000"/>
            </a:avLst>
          </a:prstGeom>
          <a:solidFill>
            <a:srgbClr val="2E8B57"/>
          </a:solidFill>
          <a:ln w="12700">
            <a:solidFill>
              <a:srgbClr val="2E8B57"/>
            </a:solidFill>
            <a:prstDash val="solid"/>
          </a:ln>
        </p:spPr>
      </p:sp>
      <p:sp>
        <p:nvSpPr>
          <p:cNvPr id="54" name="Text 51"/>
          <p:cNvSpPr txBox="1"/>
          <p:nvPr/>
        </p:nvSpPr>
        <p:spPr>
          <a:xfrm>
            <a:off x="11091672" y="5261458"/>
            <a:ext cx="548640" cy="182880"/>
          </a:xfrm>
          <a:prstGeom prst="rect">
            <a:avLst/>
          </a:prstGeom>
          <a:noFill/>
          <a:ln/>
        </p:spPr>
        <p:txBody>
          <a:bodyPr wrap="square" lIns="0" tIns="0" rIns="0" bIns="0" rtlCol="0" anchor="ctr"/>
          <a:lstStyle/>
          <a:p>
            <a:pPr algn="ctr" indent="0" marL="0">
              <a:buNone/>
            </a:pPr>
            <a:r>
              <a:rPr lang="en-US" sz="650" b="1" spc="100" kern="0" dirty="0">
                <a:solidFill>
                  <a:srgbClr val="FFFFFF"/>
                </a:solidFill>
                <a:latin typeface="Calibri" pitchFamily="34" charset="0"/>
                <a:cs typeface="Amiri" pitchFamily="2" charset="-78"/>
              </a:rPr>
              <a:t>CORE</a:t>
            </a:r>
            <a:endParaRPr lang="en-US" sz="650" dirty="0"/>
          </a:p>
        </p:txBody>
      </p:sp>
      <p:sp>
        <p:nvSpPr>
          <p:cNvPr id="55" name="Text 52"/>
          <p:cNvSpPr txBox="1"/>
          <p:nvPr/>
        </p:nvSpPr>
        <p:spPr>
          <a:xfrm>
            <a:off x="457200" y="5943600"/>
            <a:ext cx="11274552" cy="365760"/>
          </a:xfrm>
          <a:prstGeom prst="rect">
            <a:avLst/>
          </a:prstGeom>
          <a:noFill/>
          <a:ln/>
        </p:spPr>
        <p:txBody>
          <a:bodyPr wrap="square" lIns="0" tIns="0" rIns="0" bIns="0" rtlCol="0" anchor="ctr"/>
          <a:lstStyle/>
          <a:p>
            <a:pPr algn="l" indent="0" marL="0">
              <a:buNone/>
            </a:pPr>
            <a:r>
              <a:rPr lang="en-US" sz="1150" b="1" dirty="0">
                <a:solidFill>
                  <a:srgbClr val="1B3B6F"/>
                </a:solidFill>
                <a:latin typeface="Calibri" pitchFamily="34" charset="0"/>
                <a:cs typeface="Amiri" pitchFamily="2" charset="-78"/>
              </a:rPr>
              <a:t>Speaker = the shopper · Partner A = the shop assistant. Read the plan for 1 minute, then hide it and speak. Task ! is a surprise. Then swap roles.</a:t>
            </a:r>
            <a:endParaRPr lang="en-US" sz="1150" dirty="0"/>
          </a:p>
        </p:txBody>
      </p:sp>
      <p:sp>
        <p:nvSpPr>
          <p:cNvPr id="56" name="Text 53"/>
          <p:cNvSpPr txBox="1"/>
          <p:nvPr/>
        </p:nvSpPr>
        <p:spPr>
          <a:xfrm>
            <a:off x="10360152" y="6455664"/>
            <a:ext cx="1371600" cy="219456"/>
          </a:xfrm>
          <a:prstGeom prst="rect">
            <a:avLst/>
          </a:prstGeom>
          <a:noFill/>
          <a:ln/>
        </p:spPr>
        <p:txBody>
          <a:bodyPr wrap="square" lIns="0" tIns="0" rIns="0" bIns="0" rtlCol="0" anchor="ctr"/>
          <a:lstStyle/>
          <a:p>
            <a:pPr algn="r" indent="0" marL="0">
              <a:buNone/>
            </a:pPr>
            <a:r>
              <a:rPr lang="en-US" sz="850" dirty="0">
                <a:solidFill>
                  <a:srgbClr val="8A93A0"/>
                </a:solidFill>
                <a:latin typeface="Calibri" pitchFamily="34" charset="0"/>
                <a:cs typeface="Amiri" pitchFamily="2" charset="-78"/>
              </a:rPr>
              <a:t>12 / 24</a:t>
            </a:r>
            <a:endParaRPr lang="en-US" sz="850" dirty="0"/>
          </a:p>
        </p:txBody>
      </p:sp>
    </p:spTree>
  </p:cSld>
  <p:clrMapOvr>
    <a:masterClrMapping/>
  </p:clrMapOvr>
</p:sld>
</file>

<file path=ppt/slides/slide13.xml><?xml version="1.0" encoding="utf-8"?>
<p:sld xmlns:a="http://schemas.openxmlformats.org/drawingml/2006/main" xmlns:r="http://schemas.openxmlformats.org/officeDocument/2006/relationships" xmlns:p="http://schemas.openxmlformats.org/presentationml/2006/main">
  <p:cSld name="Slide 13">
    <p:bg>
      <p:bgPr>
        <a:solidFill>
          <a:srgbClr val="FFFDF8"/>
        </a:solidFill>
      </p:bgPr>
    </p:bg>
    <p:spTree>
      <p:nvGrpSpPr>
        <p:cNvPr id="1" name=""/>
        <p:cNvGrpSpPr/>
        <p:nvPr/>
      </p:nvGrpSpPr>
      <p:grpSpPr>
        <a:xfrm>
          <a:off x="0" y="0"/>
          <a:ext cx="0" cy="0"/>
          <a:chOff x="0" y="0"/>
          <a:chExt cx="0" cy="0"/>
        </a:xfrm>
      </p:grpSpPr>
      <p:sp>
        <p:nvSpPr>
          <p:cNvPr id="2" name="Shape 0"/>
          <p:cNvSpPr/>
          <p:nvPr/>
        </p:nvSpPr>
        <p:spPr>
          <a:xfrm>
            <a:off x="457200" y="237744"/>
            <a:ext cx="420624" cy="420624"/>
          </a:xfrm>
          <a:prstGeom prst="ellipse">
            <a:avLst/>
          </a:prstGeom>
          <a:solidFill>
            <a:srgbClr val="1B3B6F"/>
          </a:solidFill>
          <a:ln w="12700">
            <a:solidFill>
              <a:srgbClr val="D4AF37"/>
            </a:solidFill>
            <a:prstDash val="solid"/>
          </a:ln>
        </p:spPr>
      </p:sp>
      <p:sp>
        <p:nvSpPr>
          <p:cNvPr id="3" name="Text 1"/>
          <p:cNvSpPr txBox="1"/>
          <p:nvPr/>
        </p:nvSpPr>
        <p:spPr>
          <a:xfrm>
            <a:off x="457200" y="219456"/>
            <a:ext cx="420624" cy="420624"/>
          </a:xfrm>
          <a:prstGeom prst="rect">
            <a:avLst/>
          </a:prstGeom>
          <a:noFill/>
          <a:ln/>
        </p:spPr>
        <p:txBody>
          <a:bodyPr wrap="square" lIns="0" tIns="0" rIns="0" bIns="0" rtlCol="0" anchor="ctr"/>
          <a:lstStyle/>
          <a:p>
            <a:pPr rtl="1" algn="ctr" indent="0" marL="0">
              <a:buNone/>
            </a:pPr>
            <a:r>
              <a:rPr lang="ar-SA" altLang="en-US" sz="1800" b="1" dirty="0">
                <a:solidFill>
                  <a:srgbClr val="D4AF37"/>
                </a:solidFill>
                <a:latin typeface="Amiri" pitchFamily="2" charset="-78"/>
                <a:ea typeface="Amiri" pitchFamily="2" charset="-78"/>
                <a:cs typeface="Amiri" pitchFamily="2" charset="-78"/>
              </a:rPr>
              <a:t>م</a:t>
            </a:r>
            <a:endParaRPr lang="ar-SA" sz="1800" dirty="0"/>
          </a:p>
        </p:txBody>
      </p:sp>
      <p:sp>
        <p:nvSpPr>
          <p:cNvPr id="4" name="Text 2"/>
          <p:cNvSpPr txBox="1"/>
          <p:nvPr/>
        </p:nvSpPr>
        <p:spPr>
          <a:xfrm>
            <a:off x="960120" y="219456"/>
            <a:ext cx="3657600" cy="256032"/>
          </a:xfrm>
          <a:prstGeom prst="rect">
            <a:avLst/>
          </a:prstGeom>
          <a:noFill/>
          <a:ln/>
        </p:spPr>
        <p:txBody>
          <a:bodyPr wrap="square" lIns="0" tIns="0" rIns="0" bIns="0" rtlCol="0" anchor="ctr"/>
          <a:lstStyle/>
          <a:p>
            <a:pPr indent="0" marL="0">
              <a:buNone/>
            </a:pPr>
            <a:r>
              <a:rPr lang="en-US" sz="1200" b="1" dirty="0">
                <a:solidFill>
                  <a:srgbClr val="1B3B6F"/>
                </a:solidFill>
                <a:latin typeface="Cambria" pitchFamily="34" charset="0"/>
                <a:cs typeface="Amiri" pitchFamily="2" charset="-78"/>
              </a:rPr>
              <a:t>Al Madina Online School</a:t>
            </a:r>
            <a:endParaRPr lang="en-US" sz="1200" dirty="0"/>
          </a:p>
        </p:txBody>
      </p:sp>
      <p:sp>
        <p:nvSpPr>
          <p:cNvPr id="5" name="Text 3"/>
          <p:cNvSpPr txBox="1"/>
          <p:nvPr/>
        </p:nvSpPr>
        <p:spPr>
          <a:xfrm>
            <a:off x="960120" y="457200"/>
            <a:ext cx="4572000" cy="182880"/>
          </a:xfrm>
          <a:prstGeom prst="rect">
            <a:avLst/>
          </a:prstGeom>
          <a:noFill/>
          <a:ln/>
        </p:spPr>
        <p:txBody>
          <a:bodyPr wrap="square" lIns="0" tIns="0" rIns="0" bIns="0" rtlCol="0" anchor="ctr"/>
          <a:lstStyle/>
          <a:p>
            <a:pPr indent="0" marL="0">
              <a:buNone/>
            </a:pPr>
            <a:r>
              <a:rPr lang="en-US" sz="800" b="1" spc="200" kern="0" dirty="0">
                <a:solidFill>
                  <a:srgbClr val="8A6D1E"/>
                </a:solidFill>
                <a:latin typeface="Calibri" pitchFamily="34" charset="0"/>
                <a:cs typeface="Amiri" pitchFamily="2" charset="-78"/>
              </a:rPr>
              <a:t>ARABIC DEPARTMENT · MIFTAH ARABIC · IGCSE 0544</a:t>
            </a:r>
            <a:endParaRPr lang="en-US" sz="800" dirty="0"/>
          </a:p>
        </p:txBody>
      </p:sp>
      <p:sp>
        <p:nvSpPr>
          <p:cNvPr id="6" name="Shape 4"/>
          <p:cNvSpPr/>
          <p:nvPr/>
        </p:nvSpPr>
        <p:spPr>
          <a:xfrm>
            <a:off x="8897112" y="274320"/>
            <a:ext cx="2834640" cy="329184"/>
          </a:xfrm>
          <a:prstGeom prst="roundRect">
            <a:avLst>
              <a:gd name="adj" fmla="val 50000"/>
            </a:avLst>
          </a:prstGeom>
          <a:solidFill>
            <a:srgbClr val="1B3B6F"/>
          </a:solidFill>
          <a:ln w="12700">
            <a:solidFill>
              <a:srgbClr val="1B3B6F"/>
            </a:solidFill>
            <a:prstDash val="solid"/>
          </a:ln>
        </p:spPr>
      </p:sp>
      <p:sp>
        <p:nvSpPr>
          <p:cNvPr id="7" name="Text 5"/>
          <p:cNvSpPr txBox="1"/>
          <p:nvPr/>
        </p:nvSpPr>
        <p:spPr>
          <a:xfrm>
            <a:off x="8897112" y="274320"/>
            <a:ext cx="2834640" cy="329184"/>
          </a:xfrm>
          <a:prstGeom prst="rect">
            <a:avLst/>
          </a:prstGeom>
          <a:noFill/>
          <a:ln/>
        </p:spPr>
        <p:txBody>
          <a:bodyPr wrap="square" lIns="0" tIns="0" rIns="0" bIns="0" rtlCol="0" anchor="ctr"/>
          <a:lstStyle/>
          <a:p>
            <a:pPr algn="ctr" indent="0" marL="0">
              <a:buNone/>
            </a:pPr>
            <a:r>
              <a:rPr lang="en-US" sz="950" b="1" spc="100" kern="0" dirty="0">
                <a:solidFill>
                  <a:srgbClr val="FFFFFF"/>
                </a:solidFill>
                <a:latin typeface="Calibri" pitchFamily="34" charset="0"/>
                <a:cs typeface="Amiri" pitchFamily="2" charset="-78"/>
              </a:rPr>
              <a:t>F6-W03 · Apply workshop</a:t>
            </a:r>
            <a:endParaRPr lang="en-US" sz="950" dirty="0"/>
          </a:p>
        </p:txBody>
      </p:sp>
      <p:sp>
        <p:nvSpPr>
          <p:cNvPr id="8" name="Shape 6"/>
          <p:cNvSpPr/>
          <p:nvPr/>
        </p:nvSpPr>
        <p:spPr>
          <a:xfrm>
            <a:off x="7295083" y="274320"/>
            <a:ext cx="1464869" cy="329184"/>
          </a:xfrm>
          <a:prstGeom prst="roundRect">
            <a:avLst>
              <a:gd name="adj" fmla="val 50000"/>
            </a:avLst>
          </a:prstGeom>
          <a:solidFill>
            <a:srgbClr val="1E6B52"/>
          </a:solidFill>
          <a:ln w="12700">
            <a:solidFill>
              <a:srgbClr val="1E6B52"/>
            </a:solidFill>
            <a:prstDash val="solid"/>
          </a:ln>
        </p:spPr>
      </p:sp>
      <p:sp>
        <p:nvSpPr>
          <p:cNvPr id="9" name="Text 7"/>
          <p:cNvSpPr txBox="1"/>
          <p:nvPr/>
        </p:nvSpPr>
        <p:spPr>
          <a:xfrm>
            <a:off x="7295083" y="274320"/>
            <a:ext cx="1464869" cy="329184"/>
          </a:xfrm>
          <a:prstGeom prst="rect">
            <a:avLst/>
          </a:prstGeom>
          <a:noFill/>
          <a:ln/>
        </p:spPr>
        <p:txBody>
          <a:bodyPr wrap="square" lIns="0" tIns="0" rIns="0" bIns="0" rtlCol="0" anchor="ctr"/>
          <a:lstStyle/>
          <a:p>
            <a:pPr algn="ctr" indent="0" marL="0">
              <a:buNone/>
            </a:pPr>
            <a:r>
              <a:rPr lang="en-US" sz="900" b="1" spc="100" kern="0" dirty="0">
                <a:solidFill>
                  <a:srgbClr val="FFFFFF"/>
                </a:solidFill>
                <a:latin typeface="Calibri" pitchFamily="34" charset="0"/>
                <a:cs typeface="Amiri" pitchFamily="2" charset="-78"/>
              </a:rPr>
              <a:t>YOU DO · 4 MIN</a:t>
            </a:r>
            <a:endParaRPr lang="en-US" sz="900" dirty="0"/>
          </a:p>
        </p:txBody>
      </p:sp>
      <p:sp>
        <p:nvSpPr>
          <p:cNvPr id="10" name="Text 8"/>
          <p:cNvSpPr txBox="1"/>
          <p:nvPr/>
        </p:nvSpPr>
        <p:spPr>
          <a:xfrm>
            <a:off x="457200" y="822960"/>
            <a:ext cx="6949440" cy="237744"/>
          </a:xfrm>
          <a:prstGeom prst="rect">
            <a:avLst/>
          </a:prstGeom>
          <a:noFill/>
          <a:ln/>
        </p:spPr>
        <p:txBody>
          <a:bodyPr wrap="square" lIns="0" tIns="0" rIns="0" bIns="0" rtlCol="0" anchor="ctr"/>
          <a:lstStyle/>
          <a:p>
            <a:pPr algn="l" indent="0" marL="0">
              <a:buNone/>
            </a:pPr>
            <a:r>
              <a:rPr lang="en-US" sz="1000" b="1" spc="300" kern="0" dirty="0">
                <a:solidFill>
                  <a:srgbClr val="1E6B52"/>
                </a:solidFill>
                <a:latin typeface="Calibri" pitchFamily="34" charset="0"/>
                <a:cs typeface="Amiri" pitchFamily="2" charset="-78"/>
              </a:rPr>
              <a:t>STEP 6 · SHORT TALK · 30–45 SECONDS</a:t>
            </a:r>
            <a:endParaRPr lang="en-US" sz="1000" dirty="0"/>
          </a:p>
        </p:txBody>
      </p:sp>
      <p:sp>
        <p:nvSpPr>
          <p:cNvPr id="11" name="Text 9"/>
          <p:cNvSpPr txBox="1"/>
          <p:nvPr/>
        </p:nvSpPr>
        <p:spPr>
          <a:xfrm>
            <a:off x="457200" y="1033272"/>
            <a:ext cx="6949440" cy="566928"/>
          </a:xfrm>
          <a:prstGeom prst="rect">
            <a:avLst/>
          </a:prstGeom>
          <a:noFill/>
          <a:ln/>
        </p:spPr>
        <p:txBody>
          <a:bodyPr wrap="square" lIns="0" tIns="0" rIns="0" bIns="0" rtlCol="0" anchor="ctr"/>
          <a:lstStyle/>
          <a:p>
            <a:pPr algn="l" indent="0" marL="0">
              <a:buNone/>
            </a:pPr>
            <a:r>
              <a:rPr lang="en-US" sz="2550" b="1" dirty="0">
                <a:solidFill>
                  <a:srgbClr val="1B3B6F"/>
                </a:solidFill>
                <a:latin typeface="Cambria" pitchFamily="34" charset="0"/>
                <a:cs typeface="Amiri" pitchFamily="2" charset="-78"/>
              </a:rPr>
              <a:t>Shopping in my town: a balanced view</a:t>
            </a:r>
            <a:endParaRPr lang="en-US" sz="2550" dirty="0"/>
          </a:p>
        </p:txBody>
      </p:sp>
      <p:sp>
        <p:nvSpPr>
          <p:cNvPr id="12" name="Text 10"/>
          <p:cNvSpPr txBox="1"/>
          <p:nvPr/>
        </p:nvSpPr>
        <p:spPr>
          <a:xfrm>
            <a:off x="7498080" y="868680"/>
            <a:ext cx="4233672" cy="749808"/>
          </a:xfrm>
          <a:prstGeom prst="rect">
            <a:avLst/>
          </a:prstGeom>
          <a:noFill/>
          <a:ln/>
        </p:spPr>
        <p:txBody>
          <a:bodyPr wrap="square" lIns="0" tIns="0" rIns="0" bIns="0" rtlCol="0" anchor="ctr"/>
          <a:lstStyle/>
          <a:p>
            <a:pPr rtl="1" algn="r" indent="0" marL="0">
              <a:buNone/>
            </a:pPr>
            <a:r>
              <a:rPr lang="ar-SA" altLang="en-US" sz="2800" b="1" dirty="0">
                <a:solidFill>
                  <a:srgbClr val="8A6D1E"/>
                </a:solidFill>
                <a:latin typeface="Amiri" pitchFamily="2" charset="-78"/>
                <a:ea typeface="Amiri" pitchFamily="2" charset="-78"/>
                <a:cs typeface="Amiri" pitchFamily="2" charset="-78"/>
              </a:rPr>
              <a:t>التَّسَوُّقُ فِي مَدِينَتِي</a:t>
            </a:r>
            <a:endParaRPr lang="ar-SA" sz="2800" dirty="0"/>
          </a:p>
        </p:txBody>
      </p:sp>
      <p:sp>
        <p:nvSpPr>
          <p:cNvPr id="13" name="Text 11"/>
          <p:cNvSpPr txBox="1"/>
          <p:nvPr/>
        </p:nvSpPr>
        <p:spPr>
          <a:xfrm>
            <a:off x="457200" y="6455664"/>
            <a:ext cx="6400800" cy="219456"/>
          </a:xfrm>
          <a:prstGeom prst="rect">
            <a:avLst/>
          </a:prstGeom>
          <a:noFill/>
          <a:ln/>
        </p:spPr>
        <p:txBody>
          <a:bodyPr wrap="square" lIns="0" tIns="0" rIns="0" bIns="0" rtlCol="0" anchor="ctr"/>
          <a:lstStyle/>
          <a:p>
            <a:pPr indent="0" marL="0">
              <a:buNone/>
            </a:pPr>
            <a:r>
              <a:rPr lang="en-US" sz="850" dirty="0">
                <a:solidFill>
                  <a:srgbClr val="8A93A0"/>
                </a:solidFill>
                <a:latin typeface="Calibri" pitchFamily="34" charset="0"/>
                <a:cs typeface="Amiri" pitchFamily="2" charset="-78"/>
              </a:rPr>
              <a:t>Miftah Arabic · Foundation F6 · My Town and Transport · F6-W03 · Apply workshop (F6-L05 + F6-L06)</a:t>
            </a:r>
            <a:endParaRPr lang="en-US" sz="850" dirty="0"/>
          </a:p>
        </p:txBody>
      </p:sp>
      <p:sp>
        <p:nvSpPr>
          <p:cNvPr id="15" name="Shape 12"/>
          <p:cNvSpPr/>
          <p:nvPr/>
        </p:nvSpPr>
        <p:spPr>
          <a:xfrm>
            <a:off x="457200" y="1810512"/>
            <a:ext cx="5715000" cy="4498848"/>
          </a:xfrm>
          <a:prstGeom prst="roundRect">
            <a:avLst>
              <a:gd name="adj" fmla="val 1626"/>
            </a:avLst>
          </a:prstGeom>
          <a:solidFill>
            <a:srgbClr val="F4F1EA"/>
          </a:solidFill>
          <a:ln w="9525">
            <a:solidFill>
              <a:srgbClr val="E8D49A"/>
            </a:solidFill>
            <a:prstDash val="solid"/>
          </a:ln>
          <a:effectLst>
            <a:outerShdw sx="100000" sy="100000" kx="0" ky="0" algn="bl" rotWithShape="0" blurRad="50800" dist="19050" dir="5400000">
              <a:srgbClr val="000000">
                <a:alpha val="10000"/>
              </a:srgbClr>
            </a:outerShdw>
          </a:effectLst>
        </p:spPr>
      </p:sp>
      <p:sp>
        <p:nvSpPr>
          <p:cNvPr id="16" name="Shape 13"/>
          <p:cNvSpPr/>
          <p:nvPr/>
        </p:nvSpPr>
        <p:spPr>
          <a:xfrm>
            <a:off x="640080" y="1920240"/>
            <a:ext cx="3108960" cy="292608"/>
          </a:xfrm>
          <a:prstGeom prst="roundRect">
            <a:avLst>
              <a:gd name="adj" fmla="val 50000"/>
            </a:avLst>
          </a:prstGeom>
          <a:solidFill>
            <a:srgbClr val="8A6D1E"/>
          </a:solidFill>
          <a:ln w="12700">
            <a:solidFill>
              <a:srgbClr val="8A6D1E"/>
            </a:solidFill>
            <a:prstDash val="solid"/>
          </a:ln>
        </p:spPr>
      </p:sp>
      <p:sp>
        <p:nvSpPr>
          <p:cNvPr id="17" name="Text 14"/>
          <p:cNvSpPr txBox="1"/>
          <p:nvPr/>
        </p:nvSpPr>
        <p:spPr>
          <a:xfrm>
            <a:off x="640080" y="1920240"/>
            <a:ext cx="3108960" cy="292608"/>
          </a:xfrm>
          <a:prstGeom prst="rect">
            <a:avLst/>
          </a:prstGeom>
          <a:noFill/>
          <a:ln/>
        </p:spPr>
        <p:txBody>
          <a:bodyPr wrap="square" lIns="0" tIns="0" rIns="0" bIns="0" rtlCol="0" anchor="ctr"/>
          <a:lstStyle/>
          <a:p>
            <a:pPr algn="ctr" indent="0" marL="0">
              <a:buNone/>
            </a:pPr>
            <a:r>
              <a:rPr lang="en-US" sz="900" b="1" spc="100" kern="0" dirty="0">
                <a:solidFill>
                  <a:srgbClr val="FFFFFF"/>
                </a:solidFill>
                <a:latin typeface="Calibri" pitchFamily="34" charset="0"/>
                <a:cs typeface="Amiri" pitchFamily="2" charset="-78"/>
              </a:rPr>
              <a:t>STEP 6 · PAIRS</a:t>
            </a:r>
            <a:endParaRPr lang="en-US" sz="900" dirty="0"/>
          </a:p>
        </p:txBody>
      </p:sp>
      <p:sp>
        <p:nvSpPr>
          <p:cNvPr id="18" name="Text 15"/>
          <p:cNvSpPr txBox="1"/>
          <p:nvPr/>
        </p:nvSpPr>
        <p:spPr>
          <a:xfrm>
            <a:off x="640080" y="2286000"/>
            <a:ext cx="5349240" cy="502920"/>
          </a:xfrm>
          <a:prstGeom prst="rect">
            <a:avLst/>
          </a:prstGeom>
          <a:noFill/>
          <a:ln/>
        </p:spPr>
        <p:txBody>
          <a:bodyPr wrap="square" lIns="0" tIns="0" rIns="0" bIns="0" rtlCol="0" anchor="ctr"/>
          <a:lstStyle/>
          <a:p>
            <a:pPr algn="l" indent="0" marL="0">
              <a:buNone/>
            </a:pPr>
            <a:r>
              <a:rPr lang="en-US" sz="2000" b="1" dirty="0">
                <a:solidFill>
                  <a:srgbClr val="1B3B6F"/>
                </a:solidFill>
                <a:latin typeface="Calibri" pitchFamily="34" charset="0"/>
                <a:cs typeface="Amiri" pitchFamily="2" charset="-78"/>
              </a:rPr>
              <a:t>⏱  Talk for 30–45 seconds — use both lessons</a:t>
            </a:r>
            <a:endParaRPr lang="en-US" sz="2000" dirty="0"/>
          </a:p>
        </p:txBody>
      </p:sp>
      <p:sp>
        <p:nvSpPr>
          <p:cNvPr id="19" name="Text 16"/>
          <p:cNvSpPr txBox="1"/>
          <p:nvPr/>
        </p:nvSpPr>
        <p:spPr>
          <a:xfrm>
            <a:off x="640080" y="2816352"/>
            <a:ext cx="5349240" cy="1188720"/>
          </a:xfrm>
          <a:prstGeom prst="rect">
            <a:avLst/>
          </a:prstGeom>
          <a:noFill/>
          <a:ln/>
        </p:spPr>
        <p:txBody>
          <a:bodyPr wrap="square" lIns="0" tIns="0" rIns="0" bIns="0" rtlCol="0" anchor="t"/>
          <a:lstStyle/>
          <a:p>
            <a:pPr algn="l" indent="0" marL="0">
              <a:buNone/>
            </a:pPr>
            <a:r>
              <a:rPr lang="en-US" sz="1350" dirty="0">
                <a:solidFill>
                  <a:srgbClr val="1F2A37"/>
                </a:solidFill>
                <a:latin typeface="Calibri" pitchFamily="34" charset="0"/>
                <a:cs typeface="Amiri" pitchFamily="2" charset="-78"/>
              </a:rPr>
              <a:t>Talk for 30–45 seconds about shopping in your town: two places to shop, two items and their prices, which place is cheaper, one advantage and one disadvantage of each, and where you prefer to shop and why.</a:t>
            </a:r>
            <a:endParaRPr lang="en-US" sz="1350" dirty="0"/>
          </a:p>
        </p:txBody>
      </p:sp>
      <p:sp>
        <p:nvSpPr>
          <p:cNvPr id="20" name="Text 17"/>
          <p:cNvSpPr txBox="1"/>
          <p:nvPr/>
        </p:nvSpPr>
        <p:spPr>
          <a:xfrm>
            <a:off x="640080" y="4041648"/>
            <a:ext cx="5303520" cy="256032"/>
          </a:xfrm>
          <a:prstGeom prst="rect">
            <a:avLst/>
          </a:prstGeom>
          <a:noFill/>
          <a:ln/>
        </p:spPr>
        <p:txBody>
          <a:bodyPr wrap="square" lIns="0" tIns="0" rIns="0" bIns="0" rtlCol="0" anchor="ctr"/>
          <a:lstStyle/>
          <a:p>
            <a:pPr algn="l" indent="0" marL="0">
              <a:buNone/>
            </a:pPr>
            <a:r>
              <a:rPr lang="en-US" sz="950" b="1" spc="200" kern="0" dirty="0">
                <a:solidFill>
                  <a:srgbClr val="8A6D1E"/>
                </a:solidFill>
                <a:latin typeface="Calibri" pitchFamily="34" charset="0"/>
                <a:cs typeface="Amiri" pitchFamily="2" charset="-78"/>
              </a:rPr>
              <a:t>HOW WE RUN IT ONLINE</a:t>
            </a:r>
            <a:endParaRPr lang="en-US" sz="950" dirty="0"/>
          </a:p>
        </p:txBody>
      </p:sp>
      <p:sp>
        <p:nvSpPr>
          <p:cNvPr id="21" name="Shape 18"/>
          <p:cNvSpPr/>
          <p:nvPr/>
        </p:nvSpPr>
        <p:spPr>
          <a:xfrm>
            <a:off x="658368" y="4407408"/>
            <a:ext cx="274320" cy="274320"/>
          </a:xfrm>
          <a:prstGeom prst="ellipse">
            <a:avLst/>
          </a:prstGeom>
          <a:solidFill>
            <a:srgbClr val="1B3B6F"/>
          </a:solidFill>
          <a:ln w="12700">
            <a:solidFill>
              <a:srgbClr val="1B3B6F"/>
            </a:solidFill>
            <a:prstDash val="solid"/>
          </a:ln>
        </p:spPr>
      </p:sp>
      <p:sp>
        <p:nvSpPr>
          <p:cNvPr id="22" name="Text 19"/>
          <p:cNvSpPr txBox="1"/>
          <p:nvPr/>
        </p:nvSpPr>
        <p:spPr>
          <a:xfrm>
            <a:off x="658368" y="4407408"/>
            <a:ext cx="274320" cy="274320"/>
          </a:xfrm>
          <a:prstGeom prst="rect">
            <a:avLst/>
          </a:prstGeom>
          <a:noFill/>
          <a:ln/>
        </p:spPr>
        <p:txBody>
          <a:bodyPr wrap="square" lIns="0" tIns="0" rIns="0" bIns="0" rtlCol="0" anchor="ctr"/>
          <a:lstStyle/>
          <a:p>
            <a:pPr algn="ctr" indent="0" marL="0">
              <a:buNone/>
            </a:pPr>
            <a:r>
              <a:rPr lang="en-US" sz="1000" b="1" dirty="0">
                <a:solidFill>
                  <a:srgbClr val="FFFFFF"/>
                </a:solidFill>
                <a:latin typeface="Calibri" pitchFamily="34" charset="0"/>
                <a:cs typeface="Amiri" pitchFamily="2" charset="-78"/>
              </a:rPr>
              <a:t>1</a:t>
            </a:r>
            <a:endParaRPr lang="en-US" sz="1000" dirty="0"/>
          </a:p>
        </p:txBody>
      </p:sp>
      <p:sp>
        <p:nvSpPr>
          <p:cNvPr id="23" name="Text 20"/>
          <p:cNvSpPr txBox="1"/>
          <p:nvPr/>
        </p:nvSpPr>
        <p:spPr>
          <a:xfrm>
            <a:off x="1024128" y="4334256"/>
            <a:ext cx="4983480" cy="457200"/>
          </a:xfrm>
          <a:prstGeom prst="rect">
            <a:avLst/>
          </a:prstGeom>
          <a:noFill/>
          <a:ln/>
        </p:spPr>
        <p:txBody>
          <a:bodyPr wrap="square" lIns="0" tIns="0" rIns="0" bIns="0" rtlCol="0" anchor="ctr"/>
          <a:lstStyle/>
          <a:p>
            <a:pPr algn="l" indent="0" marL="0">
              <a:buNone/>
            </a:pPr>
            <a:r>
              <a:rPr lang="en-US" sz="1150" dirty="0">
                <a:solidFill>
                  <a:srgbClr val="1F2A37"/>
                </a:solidFill>
                <a:latin typeface="Calibri" pitchFamily="34" charset="0"/>
                <a:cs typeface="Amiri" pitchFamily="2" charset="-78"/>
              </a:rPr>
              <a:t>Think for 30 seconds: 2 key words from EACH lesson, no sentences.</a:t>
            </a:r>
            <a:endParaRPr lang="en-US" sz="1150" dirty="0"/>
          </a:p>
        </p:txBody>
      </p:sp>
      <p:sp>
        <p:nvSpPr>
          <p:cNvPr id="24" name="Shape 21"/>
          <p:cNvSpPr/>
          <p:nvPr/>
        </p:nvSpPr>
        <p:spPr>
          <a:xfrm>
            <a:off x="658368" y="4864608"/>
            <a:ext cx="274320" cy="274320"/>
          </a:xfrm>
          <a:prstGeom prst="ellipse">
            <a:avLst/>
          </a:prstGeom>
          <a:solidFill>
            <a:srgbClr val="1B3B6F"/>
          </a:solidFill>
          <a:ln w="12700">
            <a:solidFill>
              <a:srgbClr val="1B3B6F"/>
            </a:solidFill>
            <a:prstDash val="solid"/>
          </a:ln>
        </p:spPr>
      </p:sp>
      <p:sp>
        <p:nvSpPr>
          <p:cNvPr id="25" name="Text 22"/>
          <p:cNvSpPr txBox="1"/>
          <p:nvPr/>
        </p:nvSpPr>
        <p:spPr>
          <a:xfrm>
            <a:off x="658368" y="4864608"/>
            <a:ext cx="274320" cy="274320"/>
          </a:xfrm>
          <a:prstGeom prst="rect">
            <a:avLst/>
          </a:prstGeom>
          <a:noFill/>
          <a:ln/>
        </p:spPr>
        <p:txBody>
          <a:bodyPr wrap="square" lIns="0" tIns="0" rIns="0" bIns="0" rtlCol="0" anchor="ctr"/>
          <a:lstStyle/>
          <a:p>
            <a:pPr algn="ctr" indent="0" marL="0">
              <a:buNone/>
            </a:pPr>
            <a:r>
              <a:rPr lang="en-US" sz="1000" b="1" dirty="0">
                <a:solidFill>
                  <a:srgbClr val="FFFFFF"/>
                </a:solidFill>
                <a:latin typeface="Calibri" pitchFamily="34" charset="0"/>
                <a:cs typeface="Amiri" pitchFamily="2" charset="-78"/>
              </a:rPr>
              <a:t>2</a:t>
            </a:r>
            <a:endParaRPr lang="en-US" sz="1000" dirty="0"/>
          </a:p>
        </p:txBody>
      </p:sp>
      <p:sp>
        <p:nvSpPr>
          <p:cNvPr id="26" name="Text 23"/>
          <p:cNvSpPr txBox="1"/>
          <p:nvPr/>
        </p:nvSpPr>
        <p:spPr>
          <a:xfrm>
            <a:off x="1024128" y="4791456"/>
            <a:ext cx="4983480" cy="457200"/>
          </a:xfrm>
          <a:prstGeom prst="rect">
            <a:avLst/>
          </a:prstGeom>
          <a:noFill/>
          <a:ln/>
        </p:spPr>
        <p:txBody>
          <a:bodyPr wrap="square" lIns="0" tIns="0" rIns="0" bIns="0" rtlCol="0" anchor="ctr"/>
          <a:lstStyle/>
          <a:p>
            <a:pPr algn="l" indent="0" marL="0">
              <a:buNone/>
            </a:pPr>
            <a:r>
              <a:rPr lang="en-US" sz="1150" dirty="0">
                <a:solidFill>
                  <a:srgbClr val="1F2A37"/>
                </a:solidFill>
                <a:latin typeface="Calibri" pitchFamily="34" charset="0"/>
                <a:cs typeface="Amiri" pitchFamily="2" charset="-78"/>
              </a:rPr>
              <a:t>Speaker talks; the partner times it.</a:t>
            </a:r>
            <a:endParaRPr lang="en-US" sz="1150" dirty="0"/>
          </a:p>
        </p:txBody>
      </p:sp>
      <p:sp>
        <p:nvSpPr>
          <p:cNvPr id="27" name="Shape 24"/>
          <p:cNvSpPr/>
          <p:nvPr/>
        </p:nvSpPr>
        <p:spPr>
          <a:xfrm>
            <a:off x="658368" y="5321808"/>
            <a:ext cx="274320" cy="274320"/>
          </a:xfrm>
          <a:prstGeom prst="ellipse">
            <a:avLst/>
          </a:prstGeom>
          <a:solidFill>
            <a:srgbClr val="1B3B6F"/>
          </a:solidFill>
          <a:ln w="12700">
            <a:solidFill>
              <a:srgbClr val="1B3B6F"/>
            </a:solidFill>
            <a:prstDash val="solid"/>
          </a:ln>
        </p:spPr>
      </p:sp>
      <p:sp>
        <p:nvSpPr>
          <p:cNvPr id="28" name="Text 25"/>
          <p:cNvSpPr txBox="1"/>
          <p:nvPr/>
        </p:nvSpPr>
        <p:spPr>
          <a:xfrm>
            <a:off x="658368" y="5321808"/>
            <a:ext cx="274320" cy="274320"/>
          </a:xfrm>
          <a:prstGeom prst="rect">
            <a:avLst/>
          </a:prstGeom>
          <a:noFill/>
          <a:ln/>
        </p:spPr>
        <p:txBody>
          <a:bodyPr wrap="square" lIns="0" tIns="0" rIns="0" bIns="0" rtlCol="0" anchor="ctr"/>
          <a:lstStyle/>
          <a:p>
            <a:pPr algn="ctr" indent="0" marL="0">
              <a:buNone/>
            </a:pPr>
            <a:r>
              <a:rPr lang="en-US" sz="1000" b="1" dirty="0">
                <a:solidFill>
                  <a:srgbClr val="FFFFFF"/>
                </a:solidFill>
                <a:latin typeface="Calibri" pitchFamily="34" charset="0"/>
                <a:cs typeface="Amiri" pitchFamily="2" charset="-78"/>
              </a:rPr>
              <a:t>3</a:t>
            </a:r>
            <a:endParaRPr lang="en-US" sz="1000" dirty="0"/>
          </a:p>
        </p:txBody>
      </p:sp>
      <p:sp>
        <p:nvSpPr>
          <p:cNvPr id="29" name="Text 26"/>
          <p:cNvSpPr txBox="1"/>
          <p:nvPr/>
        </p:nvSpPr>
        <p:spPr>
          <a:xfrm>
            <a:off x="1024128" y="5248656"/>
            <a:ext cx="4983480" cy="457200"/>
          </a:xfrm>
          <a:prstGeom prst="rect">
            <a:avLst/>
          </a:prstGeom>
          <a:noFill/>
          <a:ln/>
        </p:spPr>
        <p:txBody>
          <a:bodyPr wrap="square" lIns="0" tIns="0" rIns="0" bIns="0" rtlCol="0" anchor="ctr"/>
          <a:lstStyle/>
          <a:p>
            <a:pPr algn="l" indent="0" marL="0">
              <a:buNone/>
            </a:pPr>
            <a:r>
              <a:rPr lang="en-US" sz="1150" dirty="0">
                <a:solidFill>
                  <a:srgbClr val="1F2A37"/>
                </a:solidFill>
                <a:latin typeface="Calibri" pitchFamily="34" charset="0"/>
                <a:cs typeface="Amiri" pitchFamily="2" charset="-78"/>
              </a:rPr>
              <a:t>Partner: one thing that went well + one thing to improve.</a:t>
            </a:r>
            <a:endParaRPr lang="en-US" sz="1150" dirty="0"/>
          </a:p>
        </p:txBody>
      </p:sp>
      <p:sp>
        <p:nvSpPr>
          <p:cNvPr id="30" name="Shape 27"/>
          <p:cNvSpPr/>
          <p:nvPr/>
        </p:nvSpPr>
        <p:spPr>
          <a:xfrm>
            <a:off x="658368" y="5779008"/>
            <a:ext cx="274320" cy="274320"/>
          </a:xfrm>
          <a:prstGeom prst="ellipse">
            <a:avLst/>
          </a:prstGeom>
          <a:solidFill>
            <a:srgbClr val="1B3B6F"/>
          </a:solidFill>
          <a:ln w="12700">
            <a:solidFill>
              <a:srgbClr val="1B3B6F"/>
            </a:solidFill>
            <a:prstDash val="solid"/>
          </a:ln>
        </p:spPr>
      </p:sp>
      <p:sp>
        <p:nvSpPr>
          <p:cNvPr id="31" name="Text 28"/>
          <p:cNvSpPr txBox="1"/>
          <p:nvPr/>
        </p:nvSpPr>
        <p:spPr>
          <a:xfrm>
            <a:off x="658368" y="5779008"/>
            <a:ext cx="274320" cy="274320"/>
          </a:xfrm>
          <a:prstGeom prst="rect">
            <a:avLst/>
          </a:prstGeom>
          <a:noFill/>
          <a:ln/>
        </p:spPr>
        <p:txBody>
          <a:bodyPr wrap="square" lIns="0" tIns="0" rIns="0" bIns="0" rtlCol="0" anchor="ctr"/>
          <a:lstStyle/>
          <a:p>
            <a:pPr algn="ctr" indent="0" marL="0">
              <a:buNone/>
            </a:pPr>
            <a:r>
              <a:rPr lang="en-US" sz="1000" b="1" dirty="0">
                <a:solidFill>
                  <a:srgbClr val="FFFFFF"/>
                </a:solidFill>
                <a:latin typeface="Calibri" pitchFamily="34" charset="0"/>
                <a:cs typeface="Amiri" pitchFamily="2" charset="-78"/>
              </a:rPr>
              <a:t>4</a:t>
            </a:r>
            <a:endParaRPr lang="en-US" sz="1000" dirty="0"/>
          </a:p>
        </p:txBody>
      </p:sp>
      <p:sp>
        <p:nvSpPr>
          <p:cNvPr id="32" name="Text 29"/>
          <p:cNvSpPr txBox="1"/>
          <p:nvPr/>
        </p:nvSpPr>
        <p:spPr>
          <a:xfrm>
            <a:off x="1024128" y="5705856"/>
            <a:ext cx="4983480" cy="457200"/>
          </a:xfrm>
          <a:prstGeom prst="rect">
            <a:avLst/>
          </a:prstGeom>
          <a:noFill/>
          <a:ln/>
        </p:spPr>
        <p:txBody>
          <a:bodyPr wrap="square" lIns="0" tIns="0" rIns="0" bIns="0" rtlCol="0" anchor="ctr"/>
          <a:lstStyle/>
          <a:p>
            <a:pPr algn="l" indent="0" marL="0">
              <a:buNone/>
            </a:pPr>
            <a:r>
              <a:rPr lang="en-US" sz="1150" dirty="0">
                <a:solidFill>
                  <a:srgbClr val="1F2A37"/>
                </a:solidFill>
                <a:latin typeface="Calibri" pitchFamily="34" charset="0"/>
                <a:cs typeface="Amiri" pitchFamily="2" charset="-78"/>
              </a:rPr>
              <a:t>Swap — then the teacher invites two volunteers.</a:t>
            </a:r>
            <a:endParaRPr lang="en-US" sz="1150" dirty="0"/>
          </a:p>
        </p:txBody>
      </p:sp>
      <p:sp>
        <p:nvSpPr>
          <p:cNvPr id="33" name="Shape 30"/>
          <p:cNvSpPr/>
          <p:nvPr/>
        </p:nvSpPr>
        <p:spPr>
          <a:xfrm>
            <a:off x="6355080" y="1810512"/>
            <a:ext cx="5376672" cy="896112"/>
          </a:xfrm>
          <a:prstGeom prst="roundRect">
            <a:avLst>
              <a:gd name="adj" fmla="val 8163"/>
            </a:avLst>
          </a:prstGeom>
          <a:solidFill>
            <a:srgbClr val="E9F5EE"/>
          </a:solidFill>
          <a:ln w="9525">
            <a:solidFill>
              <a:srgbClr val="2E8B57"/>
            </a:solidFill>
            <a:prstDash val="solid"/>
          </a:ln>
          <a:effectLst>
            <a:outerShdw sx="100000" sy="100000" kx="0" ky="0" algn="bl" rotWithShape="0" blurRad="50800" dist="19050" dir="5400000">
              <a:srgbClr val="000000">
                <a:alpha val="10000"/>
              </a:srgbClr>
            </a:outerShdw>
          </a:effectLst>
        </p:spPr>
      </p:sp>
      <p:sp>
        <p:nvSpPr>
          <p:cNvPr id="34" name="Shape 31"/>
          <p:cNvSpPr/>
          <p:nvPr/>
        </p:nvSpPr>
        <p:spPr>
          <a:xfrm>
            <a:off x="6473952" y="1901952"/>
            <a:ext cx="1051560" cy="256032"/>
          </a:xfrm>
          <a:prstGeom prst="roundRect">
            <a:avLst>
              <a:gd name="adj" fmla="val 50000"/>
            </a:avLst>
          </a:prstGeom>
          <a:solidFill>
            <a:srgbClr val="2E8B57"/>
          </a:solidFill>
          <a:ln w="12700">
            <a:solidFill>
              <a:srgbClr val="2E8B57"/>
            </a:solidFill>
            <a:prstDash val="solid"/>
          </a:ln>
        </p:spPr>
      </p:sp>
      <p:sp>
        <p:nvSpPr>
          <p:cNvPr id="35" name="Text 32"/>
          <p:cNvSpPr txBox="1"/>
          <p:nvPr/>
        </p:nvSpPr>
        <p:spPr>
          <a:xfrm>
            <a:off x="6473952" y="1901952"/>
            <a:ext cx="1051560" cy="256032"/>
          </a:xfrm>
          <a:prstGeom prst="rect">
            <a:avLst/>
          </a:prstGeom>
          <a:noFill/>
          <a:ln/>
        </p:spPr>
        <p:txBody>
          <a:bodyPr wrap="square" lIns="0" tIns="0" rIns="0" bIns="0" rtlCol="0" anchor="ctr"/>
          <a:lstStyle/>
          <a:p>
            <a:pPr algn="ctr" indent="0" marL="0">
              <a:buNone/>
            </a:pPr>
            <a:r>
              <a:rPr lang="en-US" sz="850" b="1" spc="100" kern="0" dirty="0">
                <a:solidFill>
                  <a:srgbClr val="FFFFFF"/>
                </a:solidFill>
                <a:latin typeface="Calibri" pitchFamily="34" charset="0"/>
                <a:cs typeface="Amiri" pitchFamily="2" charset="-78"/>
              </a:rPr>
              <a:t>CORE</a:t>
            </a:r>
            <a:endParaRPr lang="en-US" sz="850" dirty="0"/>
          </a:p>
        </p:txBody>
      </p:sp>
      <p:sp>
        <p:nvSpPr>
          <p:cNvPr id="36" name="Text 33"/>
          <p:cNvSpPr txBox="1"/>
          <p:nvPr/>
        </p:nvSpPr>
        <p:spPr>
          <a:xfrm>
            <a:off x="6473952" y="2176272"/>
            <a:ext cx="5120640" cy="475488"/>
          </a:xfrm>
          <a:prstGeom prst="rect">
            <a:avLst/>
          </a:prstGeom>
          <a:noFill/>
          <a:ln/>
        </p:spPr>
        <p:txBody>
          <a:bodyPr wrap="square" lIns="0" tIns="0" rIns="0" bIns="0" rtlCol="0" anchor="ctr"/>
          <a:lstStyle/>
          <a:p>
            <a:pPr rtl="1" algn="r" indent="0" marL="0">
              <a:buNone/>
            </a:pPr>
            <a:r>
              <a:rPr lang="ar-SA" altLang="en-US" sz="1450" dirty="0">
                <a:solidFill>
                  <a:srgbClr val="1F2A37"/>
                </a:solidFill>
                <a:latin typeface="Amiri" pitchFamily="2" charset="-78"/>
                <a:ea typeface="Amiri" pitchFamily="2" charset="-78"/>
                <a:cs typeface="Amiri" pitchFamily="2" charset="-78"/>
              </a:rPr>
              <a:t>أَتَسَوَّقُ فِي … · ثَمَنُ … جُنَيْهًا</a:t>
            </a:r>
            <a:endParaRPr lang="ar-SA" sz="1450" dirty="0"/>
          </a:p>
        </p:txBody>
      </p:sp>
      <p:sp>
        <p:nvSpPr>
          <p:cNvPr id="37" name="Shape 34"/>
          <p:cNvSpPr/>
          <p:nvPr/>
        </p:nvSpPr>
        <p:spPr>
          <a:xfrm>
            <a:off x="6355080" y="2816352"/>
            <a:ext cx="5376672" cy="896112"/>
          </a:xfrm>
          <a:prstGeom prst="roundRect">
            <a:avLst>
              <a:gd name="adj" fmla="val 8163"/>
            </a:avLst>
          </a:prstGeom>
          <a:solidFill>
            <a:srgbClr val="FCF1E0"/>
          </a:solidFill>
          <a:ln w="9525">
            <a:solidFill>
              <a:srgbClr val="C9780A"/>
            </a:solidFill>
            <a:prstDash val="solid"/>
          </a:ln>
          <a:effectLst>
            <a:outerShdw sx="100000" sy="100000" kx="0" ky="0" algn="bl" rotWithShape="0" blurRad="50800" dist="19050" dir="5400000">
              <a:srgbClr val="000000">
                <a:alpha val="10000"/>
              </a:srgbClr>
            </a:outerShdw>
          </a:effectLst>
        </p:spPr>
      </p:sp>
      <p:sp>
        <p:nvSpPr>
          <p:cNvPr id="38" name="Shape 35"/>
          <p:cNvSpPr/>
          <p:nvPr/>
        </p:nvSpPr>
        <p:spPr>
          <a:xfrm>
            <a:off x="6473952" y="2907792"/>
            <a:ext cx="1051560" cy="256032"/>
          </a:xfrm>
          <a:prstGeom prst="roundRect">
            <a:avLst>
              <a:gd name="adj" fmla="val 50000"/>
            </a:avLst>
          </a:prstGeom>
          <a:solidFill>
            <a:srgbClr val="C9780A"/>
          </a:solidFill>
          <a:ln w="12700">
            <a:solidFill>
              <a:srgbClr val="C9780A"/>
            </a:solidFill>
            <a:prstDash val="solid"/>
          </a:ln>
        </p:spPr>
      </p:sp>
      <p:sp>
        <p:nvSpPr>
          <p:cNvPr id="39" name="Text 36"/>
          <p:cNvSpPr txBox="1"/>
          <p:nvPr/>
        </p:nvSpPr>
        <p:spPr>
          <a:xfrm>
            <a:off x="6473952" y="2907792"/>
            <a:ext cx="1051560" cy="256032"/>
          </a:xfrm>
          <a:prstGeom prst="rect">
            <a:avLst/>
          </a:prstGeom>
          <a:noFill/>
          <a:ln/>
        </p:spPr>
        <p:txBody>
          <a:bodyPr wrap="square" lIns="0" tIns="0" rIns="0" bIns="0" rtlCol="0" anchor="ctr"/>
          <a:lstStyle/>
          <a:p>
            <a:pPr algn="ctr" indent="0" marL="0">
              <a:buNone/>
            </a:pPr>
            <a:r>
              <a:rPr lang="en-US" sz="850" b="1" spc="100" kern="0" dirty="0">
                <a:solidFill>
                  <a:srgbClr val="FFFFFF"/>
                </a:solidFill>
                <a:latin typeface="Calibri" pitchFamily="34" charset="0"/>
                <a:cs typeface="Amiri" pitchFamily="2" charset="-78"/>
              </a:rPr>
              <a:t>DEVELOP</a:t>
            </a:r>
            <a:endParaRPr lang="en-US" sz="850" dirty="0"/>
          </a:p>
        </p:txBody>
      </p:sp>
      <p:sp>
        <p:nvSpPr>
          <p:cNvPr id="40" name="Text 37"/>
          <p:cNvSpPr txBox="1"/>
          <p:nvPr/>
        </p:nvSpPr>
        <p:spPr>
          <a:xfrm>
            <a:off x="6473952" y="3182112"/>
            <a:ext cx="5120640" cy="475488"/>
          </a:xfrm>
          <a:prstGeom prst="rect">
            <a:avLst/>
          </a:prstGeom>
          <a:noFill/>
          <a:ln/>
        </p:spPr>
        <p:txBody>
          <a:bodyPr wrap="square" lIns="0" tIns="0" rIns="0" bIns="0" rtlCol="0" anchor="ctr"/>
          <a:lstStyle/>
          <a:p>
            <a:pPr algn="l" indent="0" marL="0">
              <a:buNone/>
            </a:pPr>
            <a:r>
              <a:rPr lang="en-US" sz="1150" dirty="0">
                <a:solidFill>
                  <a:srgbClr val="1F2A37"/>
                </a:solidFill>
                <a:latin typeface="Calibri" pitchFamily="34" charset="0"/>
                <a:cs typeface="Amiri" pitchFamily="2" charset="-78"/>
              </a:rPr>
              <a:t>Compare: … </a:t>
            </a:r>
            <a:pPr algn="l" indent="0" marL="0">
              <a:buNone/>
            </a:pPr>
            <a:r>
              <a:rPr lang="ar-SA" altLang="en-US" sz="1500" dirty="0">
                <a:solidFill>
                  <a:srgbClr val="1F2A37"/>
                </a:solidFill>
                <a:latin typeface="Amiri" pitchFamily="2" charset="-78"/>
                <a:ea typeface="Amiri" pitchFamily="2" charset="-78"/>
                <a:cs typeface="Amiri" pitchFamily="2" charset="-78"/>
              </a:rPr>
              <a:t>أَرْخَصُ مِنْ</a:t>
            </a:r>
            <a:pPr algn="l" indent="0" marL="0">
              <a:buNone/>
            </a:pPr>
            <a:r>
              <a:rPr lang="en-US" sz="1150" dirty="0">
                <a:solidFill>
                  <a:srgbClr val="1F2A37"/>
                </a:solidFill>
                <a:latin typeface="Calibri" pitchFamily="34" charset="0"/>
                <a:cs typeface="Amiri" pitchFamily="2" charset="-78"/>
              </a:rPr>
              <a:t> … · … </a:t>
            </a:r>
            <a:pPr algn="l" indent="0" marL="0">
              <a:buNone/>
            </a:pPr>
            <a:r>
              <a:rPr lang="ar-SA" altLang="en-US" sz="1500" dirty="0">
                <a:solidFill>
                  <a:srgbClr val="1F2A37"/>
                </a:solidFill>
                <a:latin typeface="Amiri" pitchFamily="2" charset="-78"/>
                <a:ea typeface="Amiri" pitchFamily="2" charset="-78"/>
                <a:cs typeface="Amiri" pitchFamily="2" charset="-78"/>
              </a:rPr>
              <a:t>أَغْلَى مِنْ</a:t>
            </a:r>
            <a:pPr algn="l" indent="0" marL="0">
              <a:buNone/>
            </a:pPr>
            <a:r>
              <a:rPr lang="en-US" sz="1150" dirty="0">
                <a:solidFill>
                  <a:srgbClr val="1F2A37"/>
                </a:solidFill>
                <a:latin typeface="Calibri" pitchFamily="34" charset="0"/>
                <a:cs typeface="Amiri" pitchFamily="2" charset="-78"/>
              </a:rPr>
              <a:t> …</a:t>
            </a:r>
            <a:endParaRPr lang="en-US" sz="1150" dirty="0"/>
          </a:p>
        </p:txBody>
      </p:sp>
      <p:sp>
        <p:nvSpPr>
          <p:cNvPr id="41" name="Shape 38"/>
          <p:cNvSpPr/>
          <p:nvPr/>
        </p:nvSpPr>
        <p:spPr>
          <a:xfrm>
            <a:off x="6355080" y="3822192"/>
            <a:ext cx="5376672" cy="896112"/>
          </a:xfrm>
          <a:prstGeom prst="roundRect">
            <a:avLst>
              <a:gd name="adj" fmla="val 8163"/>
            </a:avLst>
          </a:prstGeom>
          <a:solidFill>
            <a:srgbClr val="FBEAEA"/>
          </a:solidFill>
          <a:ln w="9525">
            <a:solidFill>
              <a:srgbClr val="B83227"/>
            </a:solidFill>
            <a:prstDash val="solid"/>
          </a:ln>
          <a:effectLst>
            <a:outerShdw sx="100000" sy="100000" kx="0" ky="0" algn="bl" rotWithShape="0" blurRad="50800" dist="19050" dir="5400000">
              <a:srgbClr val="000000">
                <a:alpha val="10000"/>
              </a:srgbClr>
            </a:outerShdw>
          </a:effectLst>
        </p:spPr>
      </p:sp>
      <p:sp>
        <p:nvSpPr>
          <p:cNvPr id="42" name="Shape 39"/>
          <p:cNvSpPr/>
          <p:nvPr/>
        </p:nvSpPr>
        <p:spPr>
          <a:xfrm>
            <a:off x="6473952" y="3913632"/>
            <a:ext cx="1051560" cy="256032"/>
          </a:xfrm>
          <a:prstGeom prst="roundRect">
            <a:avLst>
              <a:gd name="adj" fmla="val 50000"/>
            </a:avLst>
          </a:prstGeom>
          <a:solidFill>
            <a:srgbClr val="B83227"/>
          </a:solidFill>
          <a:ln w="12700">
            <a:solidFill>
              <a:srgbClr val="B83227"/>
            </a:solidFill>
            <a:prstDash val="solid"/>
          </a:ln>
        </p:spPr>
      </p:sp>
      <p:sp>
        <p:nvSpPr>
          <p:cNvPr id="43" name="Text 40"/>
          <p:cNvSpPr txBox="1"/>
          <p:nvPr/>
        </p:nvSpPr>
        <p:spPr>
          <a:xfrm>
            <a:off x="6473952" y="3913632"/>
            <a:ext cx="1051560" cy="256032"/>
          </a:xfrm>
          <a:prstGeom prst="rect">
            <a:avLst/>
          </a:prstGeom>
          <a:noFill/>
          <a:ln/>
        </p:spPr>
        <p:txBody>
          <a:bodyPr wrap="square" lIns="0" tIns="0" rIns="0" bIns="0" rtlCol="0" anchor="ctr"/>
          <a:lstStyle/>
          <a:p>
            <a:pPr algn="ctr" indent="0" marL="0">
              <a:buNone/>
            </a:pPr>
            <a:r>
              <a:rPr lang="en-US" sz="850" b="1" spc="100" kern="0" dirty="0">
                <a:solidFill>
                  <a:srgbClr val="FFFFFF"/>
                </a:solidFill>
                <a:latin typeface="Calibri" pitchFamily="34" charset="0"/>
                <a:cs typeface="Amiri" pitchFamily="2" charset="-78"/>
              </a:rPr>
              <a:t>STRETCH</a:t>
            </a:r>
            <a:endParaRPr lang="en-US" sz="850" dirty="0"/>
          </a:p>
        </p:txBody>
      </p:sp>
      <p:sp>
        <p:nvSpPr>
          <p:cNvPr id="44" name="Text 41"/>
          <p:cNvSpPr txBox="1"/>
          <p:nvPr/>
        </p:nvSpPr>
        <p:spPr>
          <a:xfrm>
            <a:off x="6473952" y="4187952"/>
            <a:ext cx="5120640" cy="475488"/>
          </a:xfrm>
          <a:prstGeom prst="rect">
            <a:avLst/>
          </a:prstGeom>
          <a:noFill/>
          <a:ln/>
        </p:spPr>
        <p:txBody>
          <a:bodyPr wrap="square" lIns="0" tIns="0" rIns="0" bIns="0" rtlCol="0" anchor="ctr"/>
          <a:lstStyle/>
          <a:p>
            <a:pPr algn="l" indent="0" marL="0">
              <a:buNone/>
            </a:pPr>
            <a:r>
              <a:rPr lang="en-US" sz="1150" dirty="0">
                <a:solidFill>
                  <a:srgbClr val="1F2A37"/>
                </a:solidFill>
                <a:latin typeface="Calibri" pitchFamily="34" charset="0"/>
                <a:cs typeface="Amiri" pitchFamily="2" charset="-78"/>
              </a:rPr>
              <a:t>Add </a:t>
            </a:r>
            <a:pPr algn="l" indent="0" marL="0">
              <a:buNone/>
            </a:pPr>
            <a:r>
              <a:rPr lang="ar-SA" altLang="en-US" sz="1500" dirty="0">
                <a:solidFill>
                  <a:srgbClr val="1F2A37"/>
                </a:solidFill>
                <a:latin typeface="Amiri" pitchFamily="2" charset="-78"/>
                <a:ea typeface="Amiri" pitchFamily="2" charset="-78"/>
                <a:cs typeface="Amiri" pitchFamily="2" charset="-78"/>
              </a:rPr>
              <a:t>مِنْ مَزَايَا … أَنَّ</a:t>
            </a:r>
            <a:pPr algn="l" indent="0" marL="0">
              <a:buNone/>
            </a:pPr>
            <a:r>
              <a:rPr lang="en-US" sz="1150" dirty="0">
                <a:solidFill>
                  <a:srgbClr val="1F2A37"/>
                </a:solidFill>
                <a:latin typeface="Calibri" pitchFamily="34" charset="0"/>
                <a:cs typeface="Amiri" pitchFamily="2" charset="-78"/>
              </a:rPr>
              <a:t> … · </a:t>
            </a:r>
            <a:pPr algn="l" indent="0" marL="0">
              <a:buNone/>
            </a:pPr>
            <a:r>
              <a:rPr lang="ar-SA" altLang="en-US" sz="1500" dirty="0">
                <a:solidFill>
                  <a:srgbClr val="1F2A37"/>
                </a:solidFill>
                <a:latin typeface="Amiri" pitchFamily="2" charset="-78"/>
                <a:ea typeface="Amiri" pitchFamily="2" charset="-78"/>
                <a:cs typeface="Amiri" pitchFamily="2" charset="-78"/>
              </a:rPr>
              <a:t>مِنْ عُيُوبِ … أَنَّ</a:t>
            </a:r>
            <a:pPr algn="l" indent="0" marL="0">
              <a:buNone/>
            </a:pPr>
            <a:r>
              <a:rPr lang="en-US" sz="1150" dirty="0">
                <a:solidFill>
                  <a:srgbClr val="1F2A37"/>
                </a:solidFill>
                <a:latin typeface="Calibri" pitchFamily="34" charset="0"/>
                <a:cs typeface="Amiri" pitchFamily="2" charset="-78"/>
              </a:rPr>
              <a:t> … and </a:t>
            </a:r>
            <a:pPr algn="l" indent="0" marL="0">
              <a:buNone/>
            </a:pPr>
            <a:r>
              <a:rPr lang="ar-SA" altLang="en-US" sz="1500" dirty="0">
                <a:solidFill>
                  <a:srgbClr val="1F2A37"/>
                </a:solidFill>
                <a:latin typeface="Amiri" pitchFamily="2" charset="-78"/>
                <a:ea typeface="Amiri" pitchFamily="2" charset="-78"/>
                <a:cs typeface="Amiri" pitchFamily="2" charset="-78"/>
              </a:rPr>
              <a:t>بِصِفَةٍ عَامَّةٍ</a:t>
            </a:r>
            <a:pPr algn="l" indent="0" marL="0">
              <a:buNone/>
            </a:pPr>
            <a:r>
              <a:rPr lang="en-US" sz="1150" dirty="0">
                <a:solidFill>
                  <a:srgbClr val="1F2A37"/>
                </a:solidFill>
                <a:latin typeface="Calibri" pitchFamily="34" charset="0"/>
                <a:cs typeface="Amiri" pitchFamily="2" charset="-78"/>
              </a:rPr>
              <a:t> …</a:t>
            </a:r>
            <a:endParaRPr lang="en-US" sz="1150" dirty="0"/>
          </a:p>
        </p:txBody>
      </p:sp>
      <p:sp>
        <p:nvSpPr>
          <p:cNvPr id="45" name="Shape 42"/>
          <p:cNvSpPr/>
          <p:nvPr/>
        </p:nvSpPr>
        <p:spPr>
          <a:xfrm>
            <a:off x="6355080" y="4828032"/>
            <a:ext cx="5376672" cy="1481328"/>
          </a:xfrm>
          <a:prstGeom prst="roundRect">
            <a:avLst>
              <a:gd name="adj" fmla="val 4938"/>
            </a:avLst>
          </a:prstGeom>
          <a:solidFill>
            <a:srgbClr val="FFFFFF"/>
          </a:solidFill>
          <a:ln w="9525">
            <a:solidFill>
              <a:srgbClr val="D8D0BF"/>
            </a:solidFill>
            <a:prstDash val="solid"/>
          </a:ln>
          <a:effectLst>
            <a:outerShdw sx="100000" sy="100000" kx="0" ky="0" algn="bl" rotWithShape="0" blurRad="50800" dist="19050" dir="5400000">
              <a:srgbClr val="000000">
                <a:alpha val="10000"/>
              </a:srgbClr>
            </a:outerShdw>
          </a:effectLst>
        </p:spPr>
      </p:sp>
      <p:sp>
        <p:nvSpPr>
          <p:cNvPr id="46" name="Text 43"/>
          <p:cNvSpPr txBox="1"/>
          <p:nvPr/>
        </p:nvSpPr>
        <p:spPr>
          <a:xfrm>
            <a:off x="6492240" y="4882896"/>
            <a:ext cx="2743200" cy="237744"/>
          </a:xfrm>
          <a:prstGeom prst="rect">
            <a:avLst/>
          </a:prstGeom>
          <a:noFill/>
          <a:ln/>
        </p:spPr>
        <p:txBody>
          <a:bodyPr wrap="square" lIns="0" tIns="0" rIns="0" bIns="0" rtlCol="0" anchor="ctr"/>
          <a:lstStyle/>
          <a:p>
            <a:pPr algn="l" indent="0" marL="0">
              <a:buNone/>
            </a:pPr>
            <a:r>
              <a:rPr lang="en-US" sz="950" b="1" spc="200" kern="0" dirty="0">
                <a:solidFill>
                  <a:srgbClr val="8A6D1E"/>
                </a:solidFill>
                <a:latin typeface="Calibri" pitchFamily="34" charset="0"/>
                <a:cs typeface="Amiri" pitchFamily="2" charset="-78"/>
              </a:rPr>
              <a:t>USEFUL LANGUAGE</a:t>
            </a:r>
            <a:endParaRPr lang="en-US" sz="950" dirty="0"/>
          </a:p>
        </p:txBody>
      </p:sp>
      <p:sp>
        <p:nvSpPr>
          <p:cNvPr id="47" name="Text 44"/>
          <p:cNvSpPr txBox="1"/>
          <p:nvPr/>
        </p:nvSpPr>
        <p:spPr>
          <a:xfrm>
            <a:off x="8732520" y="5138928"/>
            <a:ext cx="2880360" cy="283464"/>
          </a:xfrm>
          <a:prstGeom prst="rect">
            <a:avLst/>
          </a:prstGeom>
          <a:noFill/>
          <a:ln/>
        </p:spPr>
        <p:txBody>
          <a:bodyPr wrap="square" lIns="0" tIns="0" rIns="0" bIns="0" rtlCol="0" anchor="ctr"/>
          <a:lstStyle/>
          <a:p>
            <a:pPr rtl="1" algn="r" indent="0" marL="0">
              <a:buNone/>
            </a:pPr>
            <a:r>
              <a:rPr lang="ar-SA" altLang="en-US" sz="1300" b="1" dirty="0">
                <a:solidFill>
                  <a:srgbClr val="1B3B6F"/>
                </a:solidFill>
                <a:latin typeface="Amiri" pitchFamily="2" charset="-78"/>
                <a:ea typeface="Amiri" pitchFamily="2" charset="-78"/>
                <a:cs typeface="Amiri" pitchFamily="2" charset="-78"/>
              </a:rPr>
              <a:t>ثَمَنُهُ / ثَمَنُهَا … جُنَيْهًا</a:t>
            </a:r>
            <a:endParaRPr lang="ar-SA" sz="1300" dirty="0"/>
          </a:p>
        </p:txBody>
      </p:sp>
      <p:sp>
        <p:nvSpPr>
          <p:cNvPr id="48" name="Text 45"/>
          <p:cNvSpPr txBox="1"/>
          <p:nvPr/>
        </p:nvSpPr>
        <p:spPr>
          <a:xfrm>
            <a:off x="6492240" y="5138928"/>
            <a:ext cx="2194560" cy="283464"/>
          </a:xfrm>
          <a:prstGeom prst="rect">
            <a:avLst/>
          </a:prstGeom>
          <a:noFill/>
          <a:ln/>
        </p:spPr>
        <p:txBody>
          <a:bodyPr wrap="square" lIns="0" tIns="0" rIns="0" bIns="0" rtlCol="0" anchor="ctr"/>
          <a:lstStyle/>
          <a:p>
            <a:pPr algn="l" indent="0" marL="0">
              <a:buNone/>
            </a:pPr>
            <a:r>
              <a:rPr lang="en-US" sz="1000" i="1" dirty="0">
                <a:solidFill>
                  <a:srgbClr val="5A6472"/>
                </a:solidFill>
                <a:latin typeface="Calibri" pitchFamily="34" charset="0"/>
                <a:cs typeface="Amiri" pitchFamily="2" charset="-78"/>
              </a:rPr>
              <a:t>it costs … pounds</a:t>
            </a:r>
            <a:endParaRPr lang="en-US" sz="1000" dirty="0"/>
          </a:p>
        </p:txBody>
      </p:sp>
      <p:sp>
        <p:nvSpPr>
          <p:cNvPr id="49" name="Text 46"/>
          <p:cNvSpPr txBox="1"/>
          <p:nvPr/>
        </p:nvSpPr>
        <p:spPr>
          <a:xfrm>
            <a:off x="8732520" y="5422392"/>
            <a:ext cx="2880360" cy="283464"/>
          </a:xfrm>
          <a:prstGeom prst="rect">
            <a:avLst/>
          </a:prstGeom>
          <a:noFill/>
          <a:ln/>
        </p:spPr>
        <p:txBody>
          <a:bodyPr wrap="square" lIns="0" tIns="0" rIns="0" bIns="0" rtlCol="0" anchor="ctr"/>
          <a:lstStyle/>
          <a:p>
            <a:pPr rtl="1" algn="r" indent="0" marL="0">
              <a:buNone/>
            </a:pPr>
            <a:r>
              <a:rPr lang="ar-SA" altLang="en-US" sz="1300" b="1" dirty="0">
                <a:solidFill>
                  <a:srgbClr val="1B3B6F"/>
                </a:solidFill>
                <a:latin typeface="Amiri" pitchFamily="2" charset="-78"/>
                <a:ea typeface="Amiri" pitchFamily="2" charset="-78"/>
                <a:cs typeface="Amiri" pitchFamily="2" charset="-78"/>
              </a:rPr>
              <a:t>أَرْخَصُ مِنْ · أَغْلَى مِنْ</a:t>
            </a:r>
            <a:endParaRPr lang="ar-SA" sz="1300" dirty="0"/>
          </a:p>
        </p:txBody>
      </p:sp>
      <p:sp>
        <p:nvSpPr>
          <p:cNvPr id="50" name="Text 47"/>
          <p:cNvSpPr txBox="1"/>
          <p:nvPr/>
        </p:nvSpPr>
        <p:spPr>
          <a:xfrm>
            <a:off x="6492240" y="5422392"/>
            <a:ext cx="2194560" cy="283464"/>
          </a:xfrm>
          <a:prstGeom prst="rect">
            <a:avLst/>
          </a:prstGeom>
          <a:noFill/>
          <a:ln/>
        </p:spPr>
        <p:txBody>
          <a:bodyPr wrap="square" lIns="0" tIns="0" rIns="0" bIns="0" rtlCol="0" anchor="ctr"/>
          <a:lstStyle/>
          <a:p>
            <a:pPr algn="l" indent="0" marL="0">
              <a:buNone/>
            </a:pPr>
            <a:r>
              <a:rPr lang="en-US" sz="1000" i="1" dirty="0">
                <a:solidFill>
                  <a:srgbClr val="5A6472"/>
                </a:solidFill>
                <a:latin typeface="Calibri" pitchFamily="34" charset="0"/>
                <a:cs typeface="Amiri" pitchFamily="2" charset="-78"/>
              </a:rPr>
              <a:t>cheaper than · more expensive than</a:t>
            </a:r>
            <a:endParaRPr lang="en-US" sz="1000" dirty="0"/>
          </a:p>
        </p:txBody>
      </p:sp>
      <p:sp>
        <p:nvSpPr>
          <p:cNvPr id="51" name="Text 48"/>
          <p:cNvSpPr txBox="1"/>
          <p:nvPr/>
        </p:nvSpPr>
        <p:spPr>
          <a:xfrm>
            <a:off x="8732520" y="5705856"/>
            <a:ext cx="2880360" cy="283464"/>
          </a:xfrm>
          <a:prstGeom prst="rect">
            <a:avLst/>
          </a:prstGeom>
          <a:noFill/>
          <a:ln/>
        </p:spPr>
        <p:txBody>
          <a:bodyPr wrap="square" lIns="0" tIns="0" rIns="0" bIns="0" rtlCol="0" anchor="ctr"/>
          <a:lstStyle/>
          <a:p>
            <a:pPr rtl="1" algn="r" indent="0" marL="0">
              <a:buNone/>
            </a:pPr>
            <a:r>
              <a:rPr lang="ar-SA" altLang="en-US" sz="1300" b="1" dirty="0">
                <a:solidFill>
                  <a:srgbClr val="1B3B6F"/>
                </a:solidFill>
                <a:latin typeface="Amiri" pitchFamily="2" charset="-78"/>
                <a:ea typeface="Amiri" pitchFamily="2" charset="-78"/>
                <a:cs typeface="Amiri" pitchFamily="2" charset="-78"/>
              </a:rPr>
              <a:t>مِنْ مَزَايَا … أَنَّ …</a:t>
            </a:r>
            <a:endParaRPr lang="ar-SA" sz="1300" dirty="0"/>
          </a:p>
        </p:txBody>
      </p:sp>
      <p:sp>
        <p:nvSpPr>
          <p:cNvPr id="52" name="Text 49"/>
          <p:cNvSpPr txBox="1"/>
          <p:nvPr/>
        </p:nvSpPr>
        <p:spPr>
          <a:xfrm>
            <a:off x="6492240" y="5705856"/>
            <a:ext cx="2194560" cy="283464"/>
          </a:xfrm>
          <a:prstGeom prst="rect">
            <a:avLst/>
          </a:prstGeom>
          <a:noFill/>
          <a:ln/>
        </p:spPr>
        <p:txBody>
          <a:bodyPr wrap="square" lIns="0" tIns="0" rIns="0" bIns="0" rtlCol="0" anchor="ctr"/>
          <a:lstStyle/>
          <a:p>
            <a:pPr algn="l" indent="0" marL="0">
              <a:buNone/>
            </a:pPr>
            <a:r>
              <a:rPr lang="en-US" sz="1000" i="1" dirty="0">
                <a:solidFill>
                  <a:srgbClr val="5A6472"/>
                </a:solidFill>
                <a:latin typeface="Calibri" pitchFamily="34" charset="0"/>
                <a:cs typeface="Amiri" pitchFamily="2" charset="-78"/>
              </a:rPr>
              <a:t>one advantage of … is that …</a:t>
            </a:r>
            <a:endParaRPr lang="en-US" sz="1000" dirty="0"/>
          </a:p>
        </p:txBody>
      </p:sp>
      <p:sp>
        <p:nvSpPr>
          <p:cNvPr id="53" name="Text 50"/>
          <p:cNvSpPr txBox="1"/>
          <p:nvPr/>
        </p:nvSpPr>
        <p:spPr>
          <a:xfrm>
            <a:off x="8732520" y="5989320"/>
            <a:ext cx="2880360" cy="283464"/>
          </a:xfrm>
          <a:prstGeom prst="rect">
            <a:avLst/>
          </a:prstGeom>
          <a:noFill/>
          <a:ln/>
        </p:spPr>
        <p:txBody>
          <a:bodyPr wrap="square" lIns="0" tIns="0" rIns="0" bIns="0" rtlCol="0" anchor="ctr"/>
          <a:lstStyle/>
          <a:p>
            <a:pPr rtl="1" algn="r" indent="0" marL="0">
              <a:buNone/>
            </a:pPr>
            <a:r>
              <a:rPr lang="ar-SA" altLang="en-US" sz="1300" b="1" dirty="0">
                <a:solidFill>
                  <a:srgbClr val="1B3B6F"/>
                </a:solidFill>
                <a:latin typeface="Amiri" pitchFamily="2" charset="-78"/>
                <a:ea typeface="Amiri" pitchFamily="2" charset="-78"/>
                <a:cs typeface="Amiri" pitchFamily="2" charset="-78"/>
              </a:rPr>
              <a:t>مِنْ عُيُوبِ … أَنَّ …</a:t>
            </a:r>
            <a:endParaRPr lang="ar-SA" sz="1300" dirty="0"/>
          </a:p>
        </p:txBody>
      </p:sp>
      <p:sp>
        <p:nvSpPr>
          <p:cNvPr id="54" name="Text 51"/>
          <p:cNvSpPr txBox="1"/>
          <p:nvPr/>
        </p:nvSpPr>
        <p:spPr>
          <a:xfrm>
            <a:off x="6492240" y="5989320"/>
            <a:ext cx="2194560" cy="283464"/>
          </a:xfrm>
          <a:prstGeom prst="rect">
            <a:avLst/>
          </a:prstGeom>
          <a:noFill/>
          <a:ln/>
        </p:spPr>
        <p:txBody>
          <a:bodyPr wrap="square" lIns="0" tIns="0" rIns="0" bIns="0" rtlCol="0" anchor="ctr"/>
          <a:lstStyle/>
          <a:p>
            <a:pPr algn="l" indent="0" marL="0">
              <a:buNone/>
            </a:pPr>
            <a:r>
              <a:rPr lang="en-US" sz="1000" i="1" dirty="0">
                <a:solidFill>
                  <a:srgbClr val="5A6472"/>
                </a:solidFill>
                <a:latin typeface="Calibri" pitchFamily="34" charset="0"/>
                <a:cs typeface="Amiri" pitchFamily="2" charset="-78"/>
              </a:rPr>
              <a:t>one disadvantage of … is that …</a:t>
            </a:r>
            <a:endParaRPr lang="en-US" sz="1000" dirty="0"/>
          </a:p>
        </p:txBody>
      </p:sp>
      <p:sp>
        <p:nvSpPr>
          <p:cNvPr id="55" name="Text 52"/>
          <p:cNvSpPr txBox="1"/>
          <p:nvPr/>
        </p:nvSpPr>
        <p:spPr>
          <a:xfrm>
            <a:off x="10360152" y="6455664"/>
            <a:ext cx="1371600" cy="219456"/>
          </a:xfrm>
          <a:prstGeom prst="rect">
            <a:avLst/>
          </a:prstGeom>
          <a:noFill/>
          <a:ln/>
        </p:spPr>
        <p:txBody>
          <a:bodyPr wrap="square" lIns="0" tIns="0" rIns="0" bIns="0" rtlCol="0" anchor="ctr"/>
          <a:lstStyle/>
          <a:p>
            <a:pPr algn="r" indent="0" marL="0">
              <a:buNone/>
            </a:pPr>
            <a:r>
              <a:rPr lang="en-US" sz="850" dirty="0">
                <a:solidFill>
                  <a:srgbClr val="8A93A0"/>
                </a:solidFill>
                <a:latin typeface="Calibri" pitchFamily="34" charset="0"/>
                <a:cs typeface="Amiri" pitchFamily="2" charset="-78"/>
              </a:rPr>
              <a:t>13 / 24</a:t>
            </a:r>
            <a:endParaRPr lang="en-US" sz="850" dirty="0"/>
          </a:p>
        </p:txBody>
      </p:sp>
    </p:spTree>
  </p:cSld>
  <p:clrMapOvr>
    <a:masterClrMapping/>
  </p:clrMapOvr>
</p:sld>
</file>

<file path=ppt/slides/slide14.xml><?xml version="1.0" encoding="utf-8"?>
<p:sld xmlns:a="http://schemas.openxmlformats.org/drawingml/2006/main" xmlns:r="http://schemas.openxmlformats.org/officeDocument/2006/relationships" xmlns:p="http://schemas.openxmlformats.org/presentationml/2006/main">
  <p:cSld name="Slide 14">
    <p:bg>
      <p:bgPr>
        <a:solidFill>
          <a:srgbClr val="FFFDF8"/>
        </a:solidFill>
      </p:bgPr>
    </p:bg>
    <p:spTree>
      <p:nvGrpSpPr>
        <p:cNvPr id="1" name=""/>
        <p:cNvGrpSpPr/>
        <p:nvPr/>
      </p:nvGrpSpPr>
      <p:grpSpPr>
        <a:xfrm>
          <a:off x="0" y="0"/>
          <a:ext cx="0" cy="0"/>
          <a:chOff x="0" y="0"/>
          <a:chExt cx="0" cy="0"/>
        </a:xfrm>
      </p:grpSpPr>
      <p:sp>
        <p:nvSpPr>
          <p:cNvPr id="2" name="Shape 0"/>
          <p:cNvSpPr/>
          <p:nvPr/>
        </p:nvSpPr>
        <p:spPr>
          <a:xfrm>
            <a:off x="457200" y="237744"/>
            <a:ext cx="420624" cy="420624"/>
          </a:xfrm>
          <a:prstGeom prst="ellipse">
            <a:avLst/>
          </a:prstGeom>
          <a:solidFill>
            <a:srgbClr val="1B3B6F"/>
          </a:solidFill>
          <a:ln w="12700">
            <a:solidFill>
              <a:srgbClr val="D4AF37"/>
            </a:solidFill>
            <a:prstDash val="solid"/>
          </a:ln>
        </p:spPr>
      </p:sp>
      <p:sp>
        <p:nvSpPr>
          <p:cNvPr id="3" name="Text 1"/>
          <p:cNvSpPr txBox="1"/>
          <p:nvPr/>
        </p:nvSpPr>
        <p:spPr>
          <a:xfrm>
            <a:off x="457200" y="219456"/>
            <a:ext cx="420624" cy="420624"/>
          </a:xfrm>
          <a:prstGeom prst="rect">
            <a:avLst/>
          </a:prstGeom>
          <a:noFill/>
          <a:ln/>
        </p:spPr>
        <p:txBody>
          <a:bodyPr wrap="square" lIns="0" tIns="0" rIns="0" bIns="0" rtlCol="0" anchor="ctr"/>
          <a:lstStyle/>
          <a:p>
            <a:pPr rtl="1" algn="ctr" indent="0" marL="0">
              <a:buNone/>
            </a:pPr>
            <a:r>
              <a:rPr lang="ar-SA" altLang="en-US" sz="1800" b="1" dirty="0">
                <a:solidFill>
                  <a:srgbClr val="D4AF37"/>
                </a:solidFill>
                <a:latin typeface="Amiri" pitchFamily="2" charset="-78"/>
                <a:ea typeface="Amiri" pitchFamily="2" charset="-78"/>
                <a:cs typeface="Amiri" pitchFamily="2" charset="-78"/>
              </a:rPr>
              <a:t>م</a:t>
            </a:r>
            <a:endParaRPr lang="ar-SA" sz="1800" dirty="0"/>
          </a:p>
        </p:txBody>
      </p:sp>
      <p:sp>
        <p:nvSpPr>
          <p:cNvPr id="4" name="Text 2"/>
          <p:cNvSpPr txBox="1"/>
          <p:nvPr/>
        </p:nvSpPr>
        <p:spPr>
          <a:xfrm>
            <a:off x="960120" y="219456"/>
            <a:ext cx="3657600" cy="256032"/>
          </a:xfrm>
          <a:prstGeom prst="rect">
            <a:avLst/>
          </a:prstGeom>
          <a:noFill/>
          <a:ln/>
        </p:spPr>
        <p:txBody>
          <a:bodyPr wrap="square" lIns="0" tIns="0" rIns="0" bIns="0" rtlCol="0" anchor="ctr"/>
          <a:lstStyle/>
          <a:p>
            <a:pPr indent="0" marL="0">
              <a:buNone/>
            </a:pPr>
            <a:r>
              <a:rPr lang="en-US" sz="1200" b="1" dirty="0">
                <a:solidFill>
                  <a:srgbClr val="1B3B6F"/>
                </a:solidFill>
                <a:latin typeface="Cambria" pitchFamily="34" charset="0"/>
                <a:cs typeface="Amiri" pitchFamily="2" charset="-78"/>
              </a:rPr>
              <a:t>Al Madina Online School</a:t>
            </a:r>
            <a:endParaRPr lang="en-US" sz="1200" dirty="0"/>
          </a:p>
        </p:txBody>
      </p:sp>
      <p:sp>
        <p:nvSpPr>
          <p:cNvPr id="5" name="Text 3"/>
          <p:cNvSpPr txBox="1"/>
          <p:nvPr/>
        </p:nvSpPr>
        <p:spPr>
          <a:xfrm>
            <a:off x="960120" y="457200"/>
            <a:ext cx="4572000" cy="182880"/>
          </a:xfrm>
          <a:prstGeom prst="rect">
            <a:avLst/>
          </a:prstGeom>
          <a:noFill/>
          <a:ln/>
        </p:spPr>
        <p:txBody>
          <a:bodyPr wrap="square" lIns="0" tIns="0" rIns="0" bIns="0" rtlCol="0" anchor="ctr"/>
          <a:lstStyle/>
          <a:p>
            <a:pPr indent="0" marL="0">
              <a:buNone/>
            </a:pPr>
            <a:r>
              <a:rPr lang="en-US" sz="800" b="1" spc="200" kern="0" dirty="0">
                <a:solidFill>
                  <a:srgbClr val="8A6D1E"/>
                </a:solidFill>
                <a:latin typeface="Calibri" pitchFamily="34" charset="0"/>
                <a:cs typeface="Amiri" pitchFamily="2" charset="-78"/>
              </a:rPr>
              <a:t>ARABIC DEPARTMENT · MIFTAH ARABIC · IGCSE 0544</a:t>
            </a:r>
            <a:endParaRPr lang="en-US" sz="800" dirty="0"/>
          </a:p>
        </p:txBody>
      </p:sp>
      <p:sp>
        <p:nvSpPr>
          <p:cNvPr id="6" name="Shape 4"/>
          <p:cNvSpPr/>
          <p:nvPr/>
        </p:nvSpPr>
        <p:spPr>
          <a:xfrm>
            <a:off x="8897112" y="274320"/>
            <a:ext cx="2834640" cy="329184"/>
          </a:xfrm>
          <a:prstGeom prst="roundRect">
            <a:avLst>
              <a:gd name="adj" fmla="val 50000"/>
            </a:avLst>
          </a:prstGeom>
          <a:solidFill>
            <a:srgbClr val="1B3B6F"/>
          </a:solidFill>
          <a:ln w="12700">
            <a:solidFill>
              <a:srgbClr val="1B3B6F"/>
            </a:solidFill>
            <a:prstDash val="solid"/>
          </a:ln>
        </p:spPr>
      </p:sp>
      <p:sp>
        <p:nvSpPr>
          <p:cNvPr id="7" name="Text 5"/>
          <p:cNvSpPr txBox="1"/>
          <p:nvPr/>
        </p:nvSpPr>
        <p:spPr>
          <a:xfrm>
            <a:off x="8897112" y="274320"/>
            <a:ext cx="2834640" cy="329184"/>
          </a:xfrm>
          <a:prstGeom prst="rect">
            <a:avLst/>
          </a:prstGeom>
          <a:noFill/>
          <a:ln/>
        </p:spPr>
        <p:txBody>
          <a:bodyPr wrap="square" lIns="0" tIns="0" rIns="0" bIns="0" rtlCol="0" anchor="ctr"/>
          <a:lstStyle/>
          <a:p>
            <a:pPr algn="ctr" indent="0" marL="0">
              <a:buNone/>
            </a:pPr>
            <a:r>
              <a:rPr lang="en-US" sz="950" b="1" spc="100" kern="0" dirty="0">
                <a:solidFill>
                  <a:srgbClr val="FFFFFF"/>
                </a:solidFill>
                <a:latin typeface="Calibri" pitchFamily="34" charset="0"/>
                <a:cs typeface="Amiri" pitchFamily="2" charset="-78"/>
              </a:rPr>
              <a:t>F6-W03 · Apply workshop</a:t>
            </a:r>
            <a:endParaRPr lang="en-US" sz="950" dirty="0"/>
          </a:p>
        </p:txBody>
      </p:sp>
      <p:sp>
        <p:nvSpPr>
          <p:cNvPr id="8" name="Shape 6"/>
          <p:cNvSpPr/>
          <p:nvPr/>
        </p:nvSpPr>
        <p:spPr>
          <a:xfrm>
            <a:off x="7370978" y="274320"/>
            <a:ext cx="1388974" cy="329184"/>
          </a:xfrm>
          <a:prstGeom prst="roundRect">
            <a:avLst>
              <a:gd name="adj" fmla="val 50000"/>
            </a:avLst>
          </a:prstGeom>
          <a:solidFill>
            <a:srgbClr val="2F6FB0"/>
          </a:solidFill>
          <a:ln w="12700">
            <a:solidFill>
              <a:srgbClr val="2F6FB0"/>
            </a:solidFill>
            <a:prstDash val="solid"/>
          </a:ln>
        </p:spPr>
      </p:sp>
      <p:sp>
        <p:nvSpPr>
          <p:cNvPr id="9" name="Text 7"/>
          <p:cNvSpPr txBox="1"/>
          <p:nvPr/>
        </p:nvSpPr>
        <p:spPr>
          <a:xfrm>
            <a:off x="7370978" y="274320"/>
            <a:ext cx="1388974" cy="329184"/>
          </a:xfrm>
          <a:prstGeom prst="rect">
            <a:avLst/>
          </a:prstGeom>
          <a:noFill/>
          <a:ln/>
        </p:spPr>
        <p:txBody>
          <a:bodyPr wrap="square" lIns="0" tIns="0" rIns="0" bIns="0" rtlCol="0" anchor="ctr"/>
          <a:lstStyle/>
          <a:p>
            <a:pPr algn="ctr" indent="0" marL="0">
              <a:buNone/>
            </a:pPr>
            <a:r>
              <a:rPr lang="en-US" sz="900" b="1" spc="100" kern="0" dirty="0">
                <a:solidFill>
                  <a:srgbClr val="FFFFFF"/>
                </a:solidFill>
                <a:latin typeface="Calibri" pitchFamily="34" charset="0"/>
                <a:cs typeface="Amiri" pitchFamily="2" charset="-78"/>
              </a:rPr>
              <a:t>WE DO · 3 MIN</a:t>
            </a:r>
            <a:endParaRPr lang="en-US" sz="900" dirty="0"/>
          </a:p>
        </p:txBody>
      </p:sp>
      <p:sp>
        <p:nvSpPr>
          <p:cNvPr id="10" name="Text 8"/>
          <p:cNvSpPr txBox="1"/>
          <p:nvPr/>
        </p:nvSpPr>
        <p:spPr>
          <a:xfrm>
            <a:off x="457200" y="822960"/>
            <a:ext cx="6949440" cy="237744"/>
          </a:xfrm>
          <a:prstGeom prst="rect">
            <a:avLst/>
          </a:prstGeom>
          <a:noFill/>
          <a:ln/>
        </p:spPr>
        <p:txBody>
          <a:bodyPr wrap="square" lIns="0" tIns="0" rIns="0" bIns="0" rtlCol="0" anchor="ctr"/>
          <a:lstStyle/>
          <a:p>
            <a:pPr algn="l" indent="0" marL="0">
              <a:buNone/>
            </a:pPr>
            <a:r>
              <a:rPr lang="en-US" sz="1000" b="1" spc="300" kern="0" dirty="0">
                <a:solidFill>
                  <a:srgbClr val="2F6FB0"/>
                </a:solidFill>
                <a:latin typeface="Calibri" pitchFamily="34" charset="0"/>
                <a:cs typeface="Amiri" pitchFamily="2" charset="-78"/>
              </a:rPr>
              <a:t>PART 3 · STEP 7 · SENTENCE BUILDER · FROM BOTH LESSONS</a:t>
            </a:r>
            <a:endParaRPr lang="en-US" sz="1000" dirty="0"/>
          </a:p>
        </p:txBody>
      </p:sp>
      <p:sp>
        <p:nvSpPr>
          <p:cNvPr id="11" name="Text 9"/>
          <p:cNvSpPr txBox="1"/>
          <p:nvPr/>
        </p:nvSpPr>
        <p:spPr>
          <a:xfrm>
            <a:off x="457200" y="1033272"/>
            <a:ext cx="6949440" cy="566928"/>
          </a:xfrm>
          <a:prstGeom prst="rect">
            <a:avLst/>
          </a:prstGeom>
          <a:noFill/>
          <a:ln/>
        </p:spPr>
        <p:txBody>
          <a:bodyPr wrap="square" lIns="0" tIns="0" rIns="0" bIns="0" rtlCol="0" anchor="ctr"/>
          <a:lstStyle/>
          <a:p>
            <a:pPr algn="l" indent="0" marL="0">
              <a:buNone/>
            </a:pPr>
            <a:r>
              <a:rPr lang="en-US" sz="2800" b="1" dirty="0">
                <a:solidFill>
                  <a:srgbClr val="1B3B6F"/>
                </a:solidFill>
                <a:latin typeface="Cambria" pitchFamily="34" charset="0"/>
                <a:cs typeface="Amiri" pitchFamily="2" charset="-78"/>
              </a:rPr>
              <a:t>Build three correct sentences</a:t>
            </a:r>
            <a:endParaRPr lang="en-US" sz="2800" dirty="0"/>
          </a:p>
        </p:txBody>
      </p:sp>
      <p:sp>
        <p:nvSpPr>
          <p:cNvPr id="12" name="Text 10"/>
          <p:cNvSpPr txBox="1"/>
          <p:nvPr/>
        </p:nvSpPr>
        <p:spPr>
          <a:xfrm>
            <a:off x="7498080" y="868680"/>
            <a:ext cx="4233672" cy="749808"/>
          </a:xfrm>
          <a:prstGeom prst="rect">
            <a:avLst/>
          </a:prstGeom>
          <a:noFill/>
          <a:ln/>
        </p:spPr>
        <p:txBody>
          <a:bodyPr wrap="square" lIns="0" tIns="0" rIns="0" bIns="0" rtlCol="0" anchor="ctr"/>
          <a:lstStyle/>
          <a:p>
            <a:pPr rtl="1" algn="r" indent="0" marL="0">
              <a:buNone/>
            </a:pPr>
            <a:r>
              <a:rPr lang="ar-SA" altLang="en-US" sz="2800" b="1" dirty="0">
                <a:solidFill>
                  <a:srgbClr val="8A6D1E"/>
                </a:solidFill>
                <a:latin typeface="Amiri" pitchFamily="2" charset="-78"/>
                <a:ea typeface="Amiri" pitchFamily="2" charset="-78"/>
                <a:cs typeface="Amiri" pitchFamily="2" charset="-78"/>
              </a:rPr>
              <a:t>ابْنِ الجُمْلَةَ</a:t>
            </a:r>
            <a:endParaRPr lang="ar-SA" sz="2800" dirty="0"/>
          </a:p>
        </p:txBody>
      </p:sp>
      <p:sp>
        <p:nvSpPr>
          <p:cNvPr id="13" name="Text 11"/>
          <p:cNvSpPr txBox="1"/>
          <p:nvPr/>
        </p:nvSpPr>
        <p:spPr>
          <a:xfrm>
            <a:off x="457200" y="6455664"/>
            <a:ext cx="6400800" cy="219456"/>
          </a:xfrm>
          <a:prstGeom prst="rect">
            <a:avLst/>
          </a:prstGeom>
          <a:noFill/>
          <a:ln/>
        </p:spPr>
        <p:txBody>
          <a:bodyPr wrap="square" lIns="0" tIns="0" rIns="0" bIns="0" rtlCol="0" anchor="ctr"/>
          <a:lstStyle/>
          <a:p>
            <a:pPr indent="0" marL="0">
              <a:buNone/>
            </a:pPr>
            <a:r>
              <a:rPr lang="en-US" sz="850" dirty="0">
                <a:solidFill>
                  <a:srgbClr val="8A93A0"/>
                </a:solidFill>
                <a:latin typeface="Calibri" pitchFamily="34" charset="0"/>
                <a:cs typeface="Amiri" pitchFamily="2" charset="-78"/>
              </a:rPr>
              <a:t>Miftah Arabic · Foundation F6 · My Town and Transport · F6-W03 · Apply workshop (F6-L05 + F6-L06)</a:t>
            </a:r>
            <a:endParaRPr lang="en-US" sz="850" dirty="0"/>
          </a:p>
        </p:txBody>
      </p:sp>
      <p:sp>
        <p:nvSpPr>
          <p:cNvPr id="15" name="Text 12"/>
          <p:cNvSpPr txBox="1"/>
          <p:nvPr/>
        </p:nvSpPr>
        <p:spPr>
          <a:xfrm>
            <a:off x="9180576" y="1700784"/>
            <a:ext cx="2414016" cy="256032"/>
          </a:xfrm>
          <a:prstGeom prst="rect">
            <a:avLst/>
          </a:prstGeom>
          <a:noFill/>
          <a:ln/>
        </p:spPr>
        <p:txBody>
          <a:bodyPr wrap="square" lIns="0" tIns="0" rIns="0" bIns="0" rtlCol="0" anchor="ctr"/>
          <a:lstStyle/>
          <a:p>
            <a:pPr algn="ctr" indent="0" marL="0">
              <a:buNone/>
            </a:pPr>
            <a:r>
              <a:rPr lang="en-US" sz="1000" b="1" dirty="0">
                <a:solidFill>
                  <a:srgbClr val="2F6FB0"/>
                </a:solidFill>
                <a:latin typeface="Calibri" pitchFamily="34" charset="0"/>
                <a:cs typeface="Amiri" pitchFamily="2" charset="-78"/>
              </a:rPr>
              <a:t>Column 1 · start here</a:t>
            </a:r>
            <a:endParaRPr lang="en-US" sz="1000" dirty="0"/>
          </a:p>
        </p:txBody>
      </p:sp>
      <p:sp>
        <p:nvSpPr>
          <p:cNvPr id="16" name="Text 13"/>
          <p:cNvSpPr txBox="1"/>
          <p:nvPr/>
        </p:nvSpPr>
        <p:spPr>
          <a:xfrm>
            <a:off x="6624828" y="1700784"/>
            <a:ext cx="2414016" cy="256032"/>
          </a:xfrm>
          <a:prstGeom prst="rect">
            <a:avLst/>
          </a:prstGeom>
          <a:noFill/>
          <a:ln/>
        </p:spPr>
        <p:txBody>
          <a:bodyPr wrap="square" lIns="0" tIns="0" rIns="0" bIns="0" rtlCol="0" anchor="ctr"/>
          <a:lstStyle/>
          <a:p>
            <a:pPr algn="ctr" indent="0" marL="0">
              <a:buNone/>
            </a:pPr>
            <a:r>
              <a:rPr lang="en-US" sz="1000" b="1" dirty="0">
                <a:solidFill>
                  <a:srgbClr val="2F6FB0"/>
                </a:solidFill>
                <a:latin typeface="Calibri" pitchFamily="34" charset="0"/>
                <a:cs typeface="Amiri" pitchFamily="2" charset="-78"/>
              </a:rPr>
              <a:t>Column 2</a:t>
            </a:r>
            <a:endParaRPr lang="en-US" sz="1000" dirty="0"/>
          </a:p>
        </p:txBody>
      </p:sp>
      <p:sp>
        <p:nvSpPr>
          <p:cNvPr id="17" name="Text 14"/>
          <p:cNvSpPr txBox="1"/>
          <p:nvPr/>
        </p:nvSpPr>
        <p:spPr>
          <a:xfrm>
            <a:off x="4069080" y="1700784"/>
            <a:ext cx="2414016" cy="256032"/>
          </a:xfrm>
          <a:prstGeom prst="rect">
            <a:avLst/>
          </a:prstGeom>
          <a:noFill/>
          <a:ln/>
        </p:spPr>
        <p:txBody>
          <a:bodyPr wrap="square" lIns="0" tIns="0" rIns="0" bIns="0" rtlCol="0" anchor="ctr"/>
          <a:lstStyle/>
          <a:p>
            <a:pPr algn="ctr" indent="0" marL="0">
              <a:buNone/>
            </a:pPr>
            <a:r>
              <a:rPr lang="en-US" sz="1000" b="1" dirty="0">
                <a:solidFill>
                  <a:srgbClr val="2F6FB0"/>
                </a:solidFill>
                <a:latin typeface="Calibri" pitchFamily="34" charset="0"/>
                <a:cs typeface="Amiri" pitchFamily="2" charset="-78"/>
              </a:rPr>
              <a:t>Column 3</a:t>
            </a:r>
            <a:endParaRPr lang="en-US" sz="1000" dirty="0"/>
          </a:p>
        </p:txBody>
      </p:sp>
      <p:sp>
        <p:nvSpPr>
          <p:cNvPr id="18" name="Shape 15"/>
          <p:cNvSpPr/>
          <p:nvPr/>
        </p:nvSpPr>
        <p:spPr>
          <a:xfrm>
            <a:off x="457200" y="2011680"/>
            <a:ext cx="11274552" cy="1261872"/>
          </a:xfrm>
          <a:prstGeom prst="roundRect">
            <a:avLst>
              <a:gd name="adj" fmla="val 5797"/>
            </a:avLst>
          </a:prstGeom>
          <a:solidFill>
            <a:srgbClr val="FFFFFF"/>
          </a:solidFill>
          <a:ln w="9525">
            <a:solidFill>
              <a:srgbClr val="D8D0BF"/>
            </a:solidFill>
            <a:prstDash val="solid"/>
          </a:ln>
          <a:effectLst>
            <a:outerShdw sx="100000" sy="100000" kx="0" ky="0" algn="bl" rotWithShape="0" blurRad="50800" dist="19050" dir="5400000">
              <a:srgbClr val="000000">
                <a:alpha val="10000"/>
              </a:srgbClr>
            </a:outerShdw>
          </a:effectLst>
        </p:spPr>
      </p:sp>
      <p:sp>
        <p:nvSpPr>
          <p:cNvPr id="19" name="Shape 16"/>
          <p:cNvSpPr/>
          <p:nvPr/>
        </p:nvSpPr>
        <p:spPr>
          <a:xfrm>
            <a:off x="594360" y="2148840"/>
            <a:ext cx="365760" cy="365760"/>
          </a:xfrm>
          <a:prstGeom prst="ellipse">
            <a:avLst/>
          </a:prstGeom>
          <a:solidFill>
            <a:srgbClr val="2F6FB0"/>
          </a:solidFill>
          <a:ln w="12700">
            <a:solidFill>
              <a:srgbClr val="2F6FB0"/>
            </a:solidFill>
            <a:prstDash val="solid"/>
          </a:ln>
        </p:spPr>
      </p:sp>
      <p:sp>
        <p:nvSpPr>
          <p:cNvPr id="20" name="Text 17"/>
          <p:cNvSpPr txBox="1"/>
          <p:nvPr/>
        </p:nvSpPr>
        <p:spPr>
          <a:xfrm>
            <a:off x="594360" y="2148840"/>
            <a:ext cx="365760" cy="365760"/>
          </a:xfrm>
          <a:prstGeom prst="rect">
            <a:avLst/>
          </a:prstGeom>
          <a:noFill/>
          <a:ln/>
        </p:spPr>
        <p:txBody>
          <a:bodyPr wrap="square" lIns="0" tIns="0" rIns="0" bIns="0" rtlCol="0" anchor="ctr"/>
          <a:lstStyle/>
          <a:p>
            <a:pPr algn="ctr" indent="0" marL="0">
              <a:buNone/>
            </a:pPr>
            <a:r>
              <a:rPr lang="en-US" sz="1200" b="1" dirty="0">
                <a:solidFill>
                  <a:srgbClr val="FFFFFF"/>
                </a:solidFill>
                <a:latin typeface="Calibri" pitchFamily="34" charset="0"/>
                <a:cs typeface="Amiri" pitchFamily="2" charset="-78"/>
              </a:rPr>
              <a:t>1</a:t>
            </a:r>
            <a:endParaRPr lang="en-US" sz="1200" dirty="0"/>
          </a:p>
        </p:txBody>
      </p:sp>
      <p:sp>
        <p:nvSpPr>
          <p:cNvPr id="21" name="Text 18"/>
          <p:cNvSpPr txBox="1"/>
          <p:nvPr/>
        </p:nvSpPr>
        <p:spPr>
          <a:xfrm>
            <a:off x="1051560" y="2121408"/>
            <a:ext cx="2834640" cy="1042416"/>
          </a:xfrm>
          <a:prstGeom prst="rect">
            <a:avLst/>
          </a:prstGeom>
          <a:noFill/>
          <a:ln/>
        </p:spPr>
        <p:txBody>
          <a:bodyPr wrap="square" lIns="0" tIns="0" rIns="0" bIns="0" rtlCol="0" anchor="t"/>
          <a:lstStyle/>
          <a:p>
            <a:pPr algn="l" indent="0" marL="0">
              <a:buNone/>
            </a:pPr>
            <a:r>
              <a:rPr lang="en-US" sz="1400" b="1" dirty="0">
                <a:solidFill>
                  <a:srgbClr val="1B3B6F"/>
                </a:solidFill>
                <a:latin typeface="Calibri" pitchFamily="34" charset="0"/>
                <a:cs typeface="Amiri" pitchFamily="2" charset="-78"/>
              </a:rPr>
              <a:t>My town is quiet and safe.</a:t>
            </a:r>
            <a:endParaRPr lang="en-US" sz="1400" dirty="0"/>
          </a:p>
        </p:txBody>
      </p:sp>
      <p:sp>
        <p:nvSpPr>
          <p:cNvPr id="22" name="Shape 19"/>
          <p:cNvSpPr/>
          <p:nvPr/>
        </p:nvSpPr>
        <p:spPr>
          <a:xfrm>
            <a:off x="9180576" y="2103120"/>
            <a:ext cx="2414016" cy="512064"/>
          </a:xfrm>
          <a:prstGeom prst="roundRect">
            <a:avLst>
              <a:gd name="adj" fmla="val 10714"/>
            </a:avLst>
          </a:prstGeom>
          <a:solidFill>
            <a:srgbClr val="EEF3FA"/>
          </a:solidFill>
          <a:ln w="9525">
            <a:solidFill>
              <a:srgbClr val="C9D6EA"/>
            </a:solidFill>
            <a:prstDash val="solid"/>
          </a:ln>
        </p:spPr>
      </p:sp>
      <p:sp>
        <p:nvSpPr>
          <p:cNvPr id="23" name="Text 20"/>
          <p:cNvSpPr txBox="1"/>
          <p:nvPr/>
        </p:nvSpPr>
        <p:spPr>
          <a:xfrm>
            <a:off x="9235440" y="2103120"/>
            <a:ext cx="274320" cy="512064"/>
          </a:xfrm>
          <a:prstGeom prst="rect">
            <a:avLst/>
          </a:prstGeom>
          <a:noFill/>
          <a:ln/>
        </p:spPr>
        <p:txBody>
          <a:bodyPr wrap="square" lIns="0" tIns="0" rIns="0" bIns="0" rtlCol="0" anchor="ctr"/>
          <a:lstStyle/>
          <a:p>
            <a:pPr algn="l" indent="0" marL="0">
              <a:buNone/>
            </a:pPr>
            <a:r>
              <a:rPr lang="en-US" sz="1000" b="1" dirty="0">
                <a:solidFill>
                  <a:srgbClr val="2F6FB0"/>
                </a:solidFill>
                <a:latin typeface="Calibri" pitchFamily="34" charset="0"/>
                <a:cs typeface="Amiri" pitchFamily="2" charset="-78"/>
              </a:rPr>
              <a:t>A</a:t>
            </a:r>
            <a:endParaRPr lang="en-US" sz="1000" dirty="0"/>
          </a:p>
        </p:txBody>
      </p:sp>
      <p:sp>
        <p:nvSpPr>
          <p:cNvPr id="24" name="Text 21"/>
          <p:cNvSpPr txBox="1"/>
          <p:nvPr/>
        </p:nvSpPr>
        <p:spPr>
          <a:xfrm>
            <a:off x="9500616" y="2103120"/>
            <a:ext cx="2002536" cy="512064"/>
          </a:xfrm>
          <a:prstGeom prst="rect">
            <a:avLst/>
          </a:prstGeom>
          <a:noFill/>
          <a:ln/>
        </p:spPr>
        <p:txBody>
          <a:bodyPr wrap="square" lIns="0" tIns="0" rIns="0" bIns="0" rtlCol="0" anchor="ctr"/>
          <a:lstStyle/>
          <a:p>
            <a:pPr rtl="1" algn="r" indent="0" marL="0">
              <a:buNone/>
            </a:pPr>
            <a:r>
              <a:rPr lang="ar-SA" altLang="en-US" sz="1800" dirty="0">
                <a:solidFill>
                  <a:srgbClr val="1F2A37"/>
                </a:solidFill>
                <a:latin typeface="Amiri" pitchFamily="2" charset="-78"/>
                <a:ea typeface="Amiri" pitchFamily="2" charset="-78"/>
                <a:cs typeface="Amiri" pitchFamily="2" charset="-78"/>
              </a:rPr>
              <a:t>مَدِينَتِي</a:t>
            </a:r>
            <a:endParaRPr lang="ar-SA" sz="1800" dirty="0"/>
          </a:p>
        </p:txBody>
      </p:sp>
      <p:sp>
        <p:nvSpPr>
          <p:cNvPr id="25" name="Shape 22"/>
          <p:cNvSpPr/>
          <p:nvPr/>
        </p:nvSpPr>
        <p:spPr>
          <a:xfrm>
            <a:off x="9180576" y="2670048"/>
            <a:ext cx="2414016" cy="512064"/>
          </a:xfrm>
          <a:prstGeom prst="roundRect">
            <a:avLst>
              <a:gd name="adj" fmla="val 10714"/>
            </a:avLst>
          </a:prstGeom>
          <a:solidFill>
            <a:srgbClr val="EEF3FA"/>
          </a:solidFill>
          <a:ln w="9525">
            <a:solidFill>
              <a:srgbClr val="C9D6EA"/>
            </a:solidFill>
            <a:prstDash val="solid"/>
          </a:ln>
        </p:spPr>
      </p:sp>
      <p:sp>
        <p:nvSpPr>
          <p:cNvPr id="26" name="Text 23"/>
          <p:cNvSpPr txBox="1"/>
          <p:nvPr/>
        </p:nvSpPr>
        <p:spPr>
          <a:xfrm>
            <a:off x="9235440" y="2670048"/>
            <a:ext cx="274320" cy="512064"/>
          </a:xfrm>
          <a:prstGeom prst="rect">
            <a:avLst/>
          </a:prstGeom>
          <a:noFill/>
          <a:ln/>
        </p:spPr>
        <p:txBody>
          <a:bodyPr wrap="square" lIns="0" tIns="0" rIns="0" bIns="0" rtlCol="0" anchor="ctr"/>
          <a:lstStyle/>
          <a:p>
            <a:pPr algn="l" indent="0" marL="0">
              <a:buNone/>
            </a:pPr>
            <a:r>
              <a:rPr lang="en-US" sz="1000" b="1" dirty="0">
                <a:solidFill>
                  <a:srgbClr val="2F6FB0"/>
                </a:solidFill>
                <a:latin typeface="Calibri" pitchFamily="34" charset="0"/>
                <a:cs typeface="Amiri" pitchFamily="2" charset="-78"/>
              </a:rPr>
              <a:t>B</a:t>
            </a:r>
            <a:endParaRPr lang="en-US" sz="1000" dirty="0"/>
          </a:p>
        </p:txBody>
      </p:sp>
      <p:sp>
        <p:nvSpPr>
          <p:cNvPr id="27" name="Text 24"/>
          <p:cNvSpPr txBox="1"/>
          <p:nvPr/>
        </p:nvSpPr>
        <p:spPr>
          <a:xfrm>
            <a:off x="9500616" y="2670048"/>
            <a:ext cx="2002536" cy="512064"/>
          </a:xfrm>
          <a:prstGeom prst="rect">
            <a:avLst/>
          </a:prstGeom>
          <a:noFill/>
          <a:ln/>
        </p:spPr>
        <p:txBody>
          <a:bodyPr wrap="square" lIns="0" tIns="0" rIns="0" bIns="0" rtlCol="0" anchor="ctr"/>
          <a:lstStyle/>
          <a:p>
            <a:pPr rtl="1" algn="r" indent="0" marL="0">
              <a:buNone/>
            </a:pPr>
            <a:r>
              <a:rPr lang="ar-SA" altLang="en-US" sz="1800" dirty="0">
                <a:solidFill>
                  <a:srgbClr val="1F2A37"/>
                </a:solidFill>
                <a:latin typeface="Amiri" pitchFamily="2" charset="-78"/>
                <a:ea typeface="Amiri" pitchFamily="2" charset="-78"/>
                <a:cs typeface="Amiri" pitchFamily="2" charset="-78"/>
              </a:rPr>
              <a:t>مَدِينَتُكَ</a:t>
            </a:r>
            <a:endParaRPr lang="ar-SA" sz="1800" dirty="0"/>
          </a:p>
        </p:txBody>
      </p:sp>
      <p:sp>
        <p:nvSpPr>
          <p:cNvPr id="28" name="Shape 25"/>
          <p:cNvSpPr/>
          <p:nvPr/>
        </p:nvSpPr>
        <p:spPr>
          <a:xfrm>
            <a:off x="6624828" y="2103120"/>
            <a:ext cx="2414016" cy="512064"/>
          </a:xfrm>
          <a:prstGeom prst="roundRect">
            <a:avLst>
              <a:gd name="adj" fmla="val 10714"/>
            </a:avLst>
          </a:prstGeom>
          <a:solidFill>
            <a:srgbClr val="EEF3FA"/>
          </a:solidFill>
          <a:ln w="9525">
            <a:solidFill>
              <a:srgbClr val="C9D6EA"/>
            </a:solidFill>
            <a:prstDash val="solid"/>
          </a:ln>
        </p:spPr>
      </p:sp>
      <p:sp>
        <p:nvSpPr>
          <p:cNvPr id="29" name="Text 26"/>
          <p:cNvSpPr txBox="1"/>
          <p:nvPr/>
        </p:nvSpPr>
        <p:spPr>
          <a:xfrm>
            <a:off x="6679692" y="2103120"/>
            <a:ext cx="274320" cy="512064"/>
          </a:xfrm>
          <a:prstGeom prst="rect">
            <a:avLst/>
          </a:prstGeom>
          <a:noFill/>
          <a:ln/>
        </p:spPr>
        <p:txBody>
          <a:bodyPr wrap="square" lIns="0" tIns="0" rIns="0" bIns="0" rtlCol="0" anchor="ctr"/>
          <a:lstStyle/>
          <a:p>
            <a:pPr algn="l" indent="0" marL="0">
              <a:buNone/>
            </a:pPr>
            <a:r>
              <a:rPr lang="en-US" sz="1000" b="1" dirty="0">
                <a:solidFill>
                  <a:srgbClr val="2F6FB0"/>
                </a:solidFill>
                <a:latin typeface="Calibri" pitchFamily="34" charset="0"/>
                <a:cs typeface="Amiri" pitchFamily="2" charset="-78"/>
              </a:rPr>
              <a:t>A</a:t>
            </a:r>
            <a:endParaRPr lang="en-US" sz="1000" dirty="0"/>
          </a:p>
        </p:txBody>
      </p:sp>
      <p:sp>
        <p:nvSpPr>
          <p:cNvPr id="30" name="Text 27"/>
          <p:cNvSpPr txBox="1"/>
          <p:nvPr/>
        </p:nvSpPr>
        <p:spPr>
          <a:xfrm>
            <a:off x="6944868" y="2103120"/>
            <a:ext cx="2002536" cy="512064"/>
          </a:xfrm>
          <a:prstGeom prst="rect">
            <a:avLst/>
          </a:prstGeom>
          <a:noFill/>
          <a:ln/>
        </p:spPr>
        <p:txBody>
          <a:bodyPr wrap="square" lIns="0" tIns="0" rIns="0" bIns="0" rtlCol="0" anchor="ctr"/>
          <a:lstStyle/>
          <a:p>
            <a:pPr rtl="1" algn="r" indent="0" marL="0">
              <a:buNone/>
            </a:pPr>
            <a:r>
              <a:rPr lang="ar-SA" altLang="en-US" sz="1800" dirty="0">
                <a:solidFill>
                  <a:srgbClr val="1F2A37"/>
                </a:solidFill>
                <a:latin typeface="Amiri" pitchFamily="2" charset="-78"/>
                <a:ea typeface="Amiri" pitchFamily="2" charset="-78"/>
                <a:cs typeface="Amiri" pitchFamily="2" charset="-78"/>
              </a:rPr>
              <a:t>هَادِئَةٌ</a:t>
            </a:r>
            <a:endParaRPr lang="ar-SA" sz="1800" dirty="0"/>
          </a:p>
        </p:txBody>
      </p:sp>
      <p:sp>
        <p:nvSpPr>
          <p:cNvPr id="31" name="Shape 28"/>
          <p:cNvSpPr/>
          <p:nvPr/>
        </p:nvSpPr>
        <p:spPr>
          <a:xfrm>
            <a:off x="6624828" y="2670048"/>
            <a:ext cx="2414016" cy="512064"/>
          </a:xfrm>
          <a:prstGeom prst="roundRect">
            <a:avLst>
              <a:gd name="adj" fmla="val 10714"/>
            </a:avLst>
          </a:prstGeom>
          <a:solidFill>
            <a:srgbClr val="EEF3FA"/>
          </a:solidFill>
          <a:ln w="9525">
            <a:solidFill>
              <a:srgbClr val="C9D6EA"/>
            </a:solidFill>
            <a:prstDash val="solid"/>
          </a:ln>
        </p:spPr>
      </p:sp>
      <p:sp>
        <p:nvSpPr>
          <p:cNvPr id="32" name="Text 29"/>
          <p:cNvSpPr txBox="1"/>
          <p:nvPr/>
        </p:nvSpPr>
        <p:spPr>
          <a:xfrm>
            <a:off x="6679692" y="2670048"/>
            <a:ext cx="274320" cy="512064"/>
          </a:xfrm>
          <a:prstGeom prst="rect">
            <a:avLst/>
          </a:prstGeom>
          <a:noFill/>
          <a:ln/>
        </p:spPr>
        <p:txBody>
          <a:bodyPr wrap="square" lIns="0" tIns="0" rIns="0" bIns="0" rtlCol="0" anchor="ctr"/>
          <a:lstStyle/>
          <a:p>
            <a:pPr algn="l" indent="0" marL="0">
              <a:buNone/>
            </a:pPr>
            <a:r>
              <a:rPr lang="en-US" sz="1000" b="1" dirty="0">
                <a:solidFill>
                  <a:srgbClr val="2F6FB0"/>
                </a:solidFill>
                <a:latin typeface="Calibri" pitchFamily="34" charset="0"/>
                <a:cs typeface="Amiri" pitchFamily="2" charset="-78"/>
              </a:rPr>
              <a:t>B</a:t>
            </a:r>
            <a:endParaRPr lang="en-US" sz="1000" dirty="0"/>
          </a:p>
        </p:txBody>
      </p:sp>
      <p:sp>
        <p:nvSpPr>
          <p:cNvPr id="33" name="Text 30"/>
          <p:cNvSpPr txBox="1"/>
          <p:nvPr/>
        </p:nvSpPr>
        <p:spPr>
          <a:xfrm>
            <a:off x="6944868" y="2670048"/>
            <a:ext cx="2002536" cy="512064"/>
          </a:xfrm>
          <a:prstGeom prst="rect">
            <a:avLst/>
          </a:prstGeom>
          <a:noFill/>
          <a:ln/>
        </p:spPr>
        <p:txBody>
          <a:bodyPr wrap="square" lIns="0" tIns="0" rIns="0" bIns="0" rtlCol="0" anchor="ctr"/>
          <a:lstStyle/>
          <a:p>
            <a:pPr rtl="1" algn="r" indent="0" marL="0">
              <a:buNone/>
            </a:pPr>
            <a:r>
              <a:rPr lang="ar-SA" altLang="en-US" sz="1800" dirty="0">
                <a:solidFill>
                  <a:srgbClr val="1F2A37"/>
                </a:solidFill>
                <a:latin typeface="Amiri" pitchFamily="2" charset="-78"/>
                <a:ea typeface="Amiri" pitchFamily="2" charset="-78"/>
                <a:cs typeface="Amiri" pitchFamily="2" charset="-78"/>
              </a:rPr>
              <a:t>هَادِئٌ</a:t>
            </a:r>
            <a:endParaRPr lang="ar-SA" sz="1800" dirty="0"/>
          </a:p>
        </p:txBody>
      </p:sp>
      <p:sp>
        <p:nvSpPr>
          <p:cNvPr id="34" name="Shape 31"/>
          <p:cNvSpPr/>
          <p:nvPr/>
        </p:nvSpPr>
        <p:spPr>
          <a:xfrm>
            <a:off x="4069080" y="2103120"/>
            <a:ext cx="2414016" cy="512064"/>
          </a:xfrm>
          <a:prstGeom prst="roundRect">
            <a:avLst>
              <a:gd name="adj" fmla="val 10714"/>
            </a:avLst>
          </a:prstGeom>
          <a:solidFill>
            <a:srgbClr val="EEF3FA"/>
          </a:solidFill>
          <a:ln w="9525">
            <a:solidFill>
              <a:srgbClr val="C9D6EA"/>
            </a:solidFill>
            <a:prstDash val="solid"/>
          </a:ln>
        </p:spPr>
      </p:sp>
      <p:sp>
        <p:nvSpPr>
          <p:cNvPr id="35" name="Text 32"/>
          <p:cNvSpPr txBox="1"/>
          <p:nvPr/>
        </p:nvSpPr>
        <p:spPr>
          <a:xfrm>
            <a:off x="4123944" y="2103120"/>
            <a:ext cx="274320" cy="512064"/>
          </a:xfrm>
          <a:prstGeom prst="rect">
            <a:avLst/>
          </a:prstGeom>
          <a:noFill/>
          <a:ln/>
        </p:spPr>
        <p:txBody>
          <a:bodyPr wrap="square" lIns="0" tIns="0" rIns="0" bIns="0" rtlCol="0" anchor="ctr"/>
          <a:lstStyle/>
          <a:p>
            <a:pPr algn="l" indent="0" marL="0">
              <a:buNone/>
            </a:pPr>
            <a:r>
              <a:rPr lang="en-US" sz="1000" b="1" dirty="0">
                <a:solidFill>
                  <a:srgbClr val="2F6FB0"/>
                </a:solidFill>
                <a:latin typeface="Calibri" pitchFamily="34" charset="0"/>
                <a:cs typeface="Amiri" pitchFamily="2" charset="-78"/>
              </a:rPr>
              <a:t>A</a:t>
            </a:r>
            <a:endParaRPr lang="en-US" sz="1000" dirty="0"/>
          </a:p>
        </p:txBody>
      </p:sp>
      <p:sp>
        <p:nvSpPr>
          <p:cNvPr id="36" name="Text 33"/>
          <p:cNvSpPr txBox="1"/>
          <p:nvPr/>
        </p:nvSpPr>
        <p:spPr>
          <a:xfrm>
            <a:off x="4389120" y="2103120"/>
            <a:ext cx="2002536" cy="512064"/>
          </a:xfrm>
          <a:prstGeom prst="rect">
            <a:avLst/>
          </a:prstGeom>
          <a:noFill/>
          <a:ln/>
        </p:spPr>
        <p:txBody>
          <a:bodyPr wrap="square" lIns="0" tIns="0" rIns="0" bIns="0" rtlCol="0" anchor="ctr"/>
          <a:lstStyle/>
          <a:p>
            <a:pPr rtl="1" algn="r" indent="0" marL="0">
              <a:buNone/>
            </a:pPr>
            <a:r>
              <a:rPr lang="ar-SA" altLang="en-US" sz="1800" dirty="0">
                <a:solidFill>
                  <a:srgbClr val="1F2A37"/>
                </a:solidFill>
                <a:latin typeface="Amiri" pitchFamily="2" charset="-78"/>
                <a:ea typeface="Amiri" pitchFamily="2" charset="-78"/>
                <a:cs typeface="Amiri" pitchFamily="2" charset="-78"/>
              </a:rPr>
              <a:t>وَآمِنَةٌ.</a:t>
            </a:r>
            <a:endParaRPr lang="ar-SA" sz="1800" dirty="0"/>
          </a:p>
        </p:txBody>
      </p:sp>
      <p:sp>
        <p:nvSpPr>
          <p:cNvPr id="37" name="Shape 34"/>
          <p:cNvSpPr/>
          <p:nvPr/>
        </p:nvSpPr>
        <p:spPr>
          <a:xfrm>
            <a:off x="4069080" y="2670048"/>
            <a:ext cx="2414016" cy="512064"/>
          </a:xfrm>
          <a:prstGeom prst="roundRect">
            <a:avLst>
              <a:gd name="adj" fmla="val 10714"/>
            </a:avLst>
          </a:prstGeom>
          <a:solidFill>
            <a:srgbClr val="EEF3FA"/>
          </a:solidFill>
          <a:ln w="9525">
            <a:solidFill>
              <a:srgbClr val="C9D6EA"/>
            </a:solidFill>
            <a:prstDash val="solid"/>
          </a:ln>
        </p:spPr>
      </p:sp>
      <p:sp>
        <p:nvSpPr>
          <p:cNvPr id="38" name="Text 35"/>
          <p:cNvSpPr txBox="1"/>
          <p:nvPr/>
        </p:nvSpPr>
        <p:spPr>
          <a:xfrm>
            <a:off x="4123944" y="2670048"/>
            <a:ext cx="274320" cy="512064"/>
          </a:xfrm>
          <a:prstGeom prst="rect">
            <a:avLst/>
          </a:prstGeom>
          <a:noFill/>
          <a:ln/>
        </p:spPr>
        <p:txBody>
          <a:bodyPr wrap="square" lIns="0" tIns="0" rIns="0" bIns="0" rtlCol="0" anchor="ctr"/>
          <a:lstStyle/>
          <a:p>
            <a:pPr algn="l" indent="0" marL="0">
              <a:buNone/>
            </a:pPr>
            <a:r>
              <a:rPr lang="en-US" sz="1000" b="1" dirty="0">
                <a:solidFill>
                  <a:srgbClr val="2F6FB0"/>
                </a:solidFill>
                <a:latin typeface="Calibri" pitchFamily="34" charset="0"/>
                <a:cs typeface="Amiri" pitchFamily="2" charset="-78"/>
              </a:rPr>
              <a:t>B</a:t>
            </a:r>
            <a:endParaRPr lang="en-US" sz="1000" dirty="0"/>
          </a:p>
        </p:txBody>
      </p:sp>
      <p:sp>
        <p:nvSpPr>
          <p:cNvPr id="39" name="Text 36"/>
          <p:cNvSpPr txBox="1"/>
          <p:nvPr/>
        </p:nvSpPr>
        <p:spPr>
          <a:xfrm>
            <a:off x="4389120" y="2670048"/>
            <a:ext cx="2002536" cy="512064"/>
          </a:xfrm>
          <a:prstGeom prst="rect">
            <a:avLst/>
          </a:prstGeom>
          <a:noFill/>
          <a:ln/>
        </p:spPr>
        <p:txBody>
          <a:bodyPr wrap="square" lIns="0" tIns="0" rIns="0" bIns="0" rtlCol="0" anchor="ctr"/>
          <a:lstStyle/>
          <a:p>
            <a:pPr rtl="1" algn="r" indent="0" marL="0">
              <a:buNone/>
            </a:pPr>
            <a:r>
              <a:rPr lang="ar-SA" altLang="en-US" sz="1800" dirty="0">
                <a:solidFill>
                  <a:srgbClr val="1F2A37"/>
                </a:solidFill>
                <a:latin typeface="Amiri" pitchFamily="2" charset="-78"/>
                <a:ea typeface="Amiri" pitchFamily="2" charset="-78"/>
                <a:cs typeface="Amiri" pitchFamily="2" charset="-78"/>
              </a:rPr>
              <a:t>وَآمِنٌ.</a:t>
            </a:r>
            <a:endParaRPr lang="ar-SA" sz="1800" dirty="0"/>
          </a:p>
        </p:txBody>
      </p:sp>
      <p:sp>
        <p:nvSpPr>
          <p:cNvPr id="40" name="Shape 37"/>
          <p:cNvSpPr/>
          <p:nvPr/>
        </p:nvSpPr>
        <p:spPr>
          <a:xfrm>
            <a:off x="457200" y="3392424"/>
            <a:ext cx="11274552" cy="1261872"/>
          </a:xfrm>
          <a:prstGeom prst="roundRect">
            <a:avLst>
              <a:gd name="adj" fmla="val 5797"/>
            </a:avLst>
          </a:prstGeom>
          <a:solidFill>
            <a:srgbClr val="FFFFFF"/>
          </a:solidFill>
          <a:ln w="9525">
            <a:solidFill>
              <a:srgbClr val="D8D0BF"/>
            </a:solidFill>
            <a:prstDash val="solid"/>
          </a:ln>
          <a:effectLst>
            <a:outerShdw sx="100000" sy="100000" kx="0" ky="0" algn="bl" rotWithShape="0" blurRad="50800" dist="19050" dir="5400000">
              <a:srgbClr val="000000">
                <a:alpha val="10000"/>
              </a:srgbClr>
            </a:outerShdw>
          </a:effectLst>
        </p:spPr>
      </p:sp>
      <p:sp>
        <p:nvSpPr>
          <p:cNvPr id="41" name="Shape 38"/>
          <p:cNvSpPr/>
          <p:nvPr/>
        </p:nvSpPr>
        <p:spPr>
          <a:xfrm>
            <a:off x="594360" y="3529584"/>
            <a:ext cx="365760" cy="365760"/>
          </a:xfrm>
          <a:prstGeom prst="ellipse">
            <a:avLst/>
          </a:prstGeom>
          <a:solidFill>
            <a:srgbClr val="2F6FB0"/>
          </a:solidFill>
          <a:ln w="12700">
            <a:solidFill>
              <a:srgbClr val="2F6FB0"/>
            </a:solidFill>
            <a:prstDash val="solid"/>
          </a:ln>
        </p:spPr>
      </p:sp>
      <p:sp>
        <p:nvSpPr>
          <p:cNvPr id="42" name="Text 39"/>
          <p:cNvSpPr txBox="1"/>
          <p:nvPr/>
        </p:nvSpPr>
        <p:spPr>
          <a:xfrm>
            <a:off x="594360" y="3529584"/>
            <a:ext cx="365760" cy="365760"/>
          </a:xfrm>
          <a:prstGeom prst="rect">
            <a:avLst/>
          </a:prstGeom>
          <a:noFill/>
          <a:ln/>
        </p:spPr>
        <p:txBody>
          <a:bodyPr wrap="square" lIns="0" tIns="0" rIns="0" bIns="0" rtlCol="0" anchor="ctr"/>
          <a:lstStyle/>
          <a:p>
            <a:pPr algn="ctr" indent="0" marL="0">
              <a:buNone/>
            </a:pPr>
            <a:r>
              <a:rPr lang="en-US" sz="1200" b="1" dirty="0">
                <a:solidFill>
                  <a:srgbClr val="FFFFFF"/>
                </a:solidFill>
                <a:latin typeface="Calibri" pitchFamily="34" charset="0"/>
                <a:cs typeface="Amiri" pitchFamily="2" charset="-78"/>
              </a:rPr>
              <a:t>2</a:t>
            </a:r>
            <a:endParaRPr lang="en-US" sz="1200" dirty="0"/>
          </a:p>
        </p:txBody>
      </p:sp>
      <p:sp>
        <p:nvSpPr>
          <p:cNvPr id="43" name="Text 40"/>
          <p:cNvSpPr txBox="1"/>
          <p:nvPr/>
        </p:nvSpPr>
        <p:spPr>
          <a:xfrm>
            <a:off x="1051560" y="3502152"/>
            <a:ext cx="2834640" cy="1042416"/>
          </a:xfrm>
          <a:prstGeom prst="rect">
            <a:avLst/>
          </a:prstGeom>
          <a:noFill/>
          <a:ln/>
        </p:spPr>
        <p:txBody>
          <a:bodyPr wrap="square" lIns="0" tIns="0" rIns="0" bIns="0" rtlCol="0" anchor="t"/>
          <a:lstStyle/>
          <a:p>
            <a:pPr algn="l" indent="0" marL="0">
              <a:buNone/>
            </a:pPr>
            <a:r>
              <a:rPr lang="en-US" sz="1400" b="1" dirty="0">
                <a:solidFill>
                  <a:srgbClr val="1B3B6F"/>
                </a:solidFill>
                <a:latin typeface="Calibri" pitchFamily="34" charset="0"/>
                <a:cs typeface="Amiri" pitchFamily="2" charset="-78"/>
              </a:rPr>
              <a:t>How much is this jacket?</a:t>
            </a:r>
            <a:endParaRPr lang="en-US" sz="1400" dirty="0"/>
          </a:p>
        </p:txBody>
      </p:sp>
      <p:sp>
        <p:nvSpPr>
          <p:cNvPr id="44" name="Shape 41"/>
          <p:cNvSpPr/>
          <p:nvPr/>
        </p:nvSpPr>
        <p:spPr>
          <a:xfrm>
            <a:off x="9180576" y="3483864"/>
            <a:ext cx="2414016" cy="512064"/>
          </a:xfrm>
          <a:prstGeom prst="roundRect">
            <a:avLst>
              <a:gd name="adj" fmla="val 10714"/>
            </a:avLst>
          </a:prstGeom>
          <a:solidFill>
            <a:srgbClr val="EEF3FA"/>
          </a:solidFill>
          <a:ln w="9525">
            <a:solidFill>
              <a:srgbClr val="C9D6EA"/>
            </a:solidFill>
            <a:prstDash val="solid"/>
          </a:ln>
        </p:spPr>
      </p:sp>
      <p:sp>
        <p:nvSpPr>
          <p:cNvPr id="45" name="Text 42"/>
          <p:cNvSpPr txBox="1"/>
          <p:nvPr/>
        </p:nvSpPr>
        <p:spPr>
          <a:xfrm>
            <a:off x="9235440" y="3483864"/>
            <a:ext cx="274320" cy="512064"/>
          </a:xfrm>
          <a:prstGeom prst="rect">
            <a:avLst/>
          </a:prstGeom>
          <a:noFill/>
          <a:ln/>
        </p:spPr>
        <p:txBody>
          <a:bodyPr wrap="square" lIns="0" tIns="0" rIns="0" bIns="0" rtlCol="0" anchor="ctr"/>
          <a:lstStyle/>
          <a:p>
            <a:pPr algn="l" indent="0" marL="0">
              <a:buNone/>
            </a:pPr>
            <a:r>
              <a:rPr lang="en-US" sz="1000" b="1" dirty="0">
                <a:solidFill>
                  <a:srgbClr val="2F6FB0"/>
                </a:solidFill>
                <a:latin typeface="Calibri" pitchFamily="34" charset="0"/>
                <a:cs typeface="Amiri" pitchFamily="2" charset="-78"/>
              </a:rPr>
              <a:t>A</a:t>
            </a:r>
            <a:endParaRPr lang="en-US" sz="1000" dirty="0"/>
          </a:p>
        </p:txBody>
      </p:sp>
      <p:sp>
        <p:nvSpPr>
          <p:cNvPr id="46" name="Text 43"/>
          <p:cNvSpPr txBox="1"/>
          <p:nvPr/>
        </p:nvSpPr>
        <p:spPr>
          <a:xfrm>
            <a:off x="9500616" y="3483864"/>
            <a:ext cx="2002536" cy="512064"/>
          </a:xfrm>
          <a:prstGeom prst="rect">
            <a:avLst/>
          </a:prstGeom>
          <a:noFill/>
          <a:ln/>
        </p:spPr>
        <p:txBody>
          <a:bodyPr wrap="square" lIns="0" tIns="0" rIns="0" bIns="0" rtlCol="0" anchor="ctr"/>
          <a:lstStyle/>
          <a:p>
            <a:pPr rtl="1" algn="r" indent="0" marL="0">
              <a:buNone/>
            </a:pPr>
            <a:r>
              <a:rPr lang="ar-SA" altLang="en-US" sz="1800" dirty="0">
                <a:solidFill>
                  <a:srgbClr val="1F2A37"/>
                </a:solidFill>
                <a:latin typeface="Amiri" pitchFamily="2" charset="-78"/>
                <a:ea typeface="Amiri" pitchFamily="2" charset="-78"/>
                <a:cs typeface="Amiri" pitchFamily="2" charset="-78"/>
              </a:rPr>
              <a:t>كَمْ ثَمَنُ</a:t>
            </a:r>
            <a:endParaRPr lang="ar-SA" sz="1800" dirty="0"/>
          </a:p>
        </p:txBody>
      </p:sp>
      <p:sp>
        <p:nvSpPr>
          <p:cNvPr id="47" name="Shape 44"/>
          <p:cNvSpPr/>
          <p:nvPr/>
        </p:nvSpPr>
        <p:spPr>
          <a:xfrm>
            <a:off x="9180576" y="4050792"/>
            <a:ext cx="2414016" cy="512064"/>
          </a:xfrm>
          <a:prstGeom prst="roundRect">
            <a:avLst>
              <a:gd name="adj" fmla="val 10714"/>
            </a:avLst>
          </a:prstGeom>
          <a:solidFill>
            <a:srgbClr val="EEF3FA"/>
          </a:solidFill>
          <a:ln w="9525">
            <a:solidFill>
              <a:srgbClr val="C9D6EA"/>
            </a:solidFill>
            <a:prstDash val="solid"/>
          </a:ln>
        </p:spPr>
      </p:sp>
      <p:sp>
        <p:nvSpPr>
          <p:cNvPr id="48" name="Text 45"/>
          <p:cNvSpPr txBox="1"/>
          <p:nvPr/>
        </p:nvSpPr>
        <p:spPr>
          <a:xfrm>
            <a:off x="9235440" y="4050792"/>
            <a:ext cx="274320" cy="512064"/>
          </a:xfrm>
          <a:prstGeom prst="rect">
            <a:avLst/>
          </a:prstGeom>
          <a:noFill/>
          <a:ln/>
        </p:spPr>
        <p:txBody>
          <a:bodyPr wrap="square" lIns="0" tIns="0" rIns="0" bIns="0" rtlCol="0" anchor="ctr"/>
          <a:lstStyle/>
          <a:p>
            <a:pPr algn="l" indent="0" marL="0">
              <a:buNone/>
            </a:pPr>
            <a:r>
              <a:rPr lang="en-US" sz="1000" b="1" dirty="0">
                <a:solidFill>
                  <a:srgbClr val="2F6FB0"/>
                </a:solidFill>
                <a:latin typeface="Calibri" pitchFamily="34" charset="0"/>
                <a:cs typeface="Amiri" pitchFamily="2" charset="-78"/>
              </a:rPr>
              <a:t>B</a:t>
            </a:r>
            <a:endParaRPr lang="en-US" sz="1000" dirty="0"/>
          </a:p>
        </p:txBody>
      </p:sp>
      <p:sp>
        <p:nvSpPr>
          <p:cNvPr id="49" name="Text 46"/>
          <p:cNvSpPr txBox="1"/>
          <p:nvPr/>
        </p:nvSpPr>
        <p:spPr>
          <a:xfrm>
            <a:off x="9500616" y="4050792"/>
            <a:ext cx="2002536" cy="512064"/>
          </a:xfrm>
          <a:prstGeom prst="rect">
            <a:avLst/>
          </a:prstGeom>
          <a:noFill/>
          <a:ln/>
        </p:spPr>
        <p:txBody>
          <a:bodyPr wrap="square" lIns="0" tIns="0" rIns="0" bIns="0" rtlCol="0" anchor="ctr"/>
          <a:lstStyle/>
          <a:p>
            <a:pPr rtl="1" algn="r" indent="0" marL="0">
              <a:buNone/>
            </a:pPr>
            <a:r>
              <a:rPr lang="ar-SA" altLang="en-US" sz="1800" dirty="0">
                <a:solidFill>
                  <a:srgbClr val="1F2A37"/>
                </a:solidFill>
                <a:latin typeface="Amiri" pitchFamily="2" charset="-78"/>
                <a:ea typeface="Amiri" pitchFamily="2" charset="-78"/>
                <a:cs typeface="Amiri" pitchFamily="2" charset="-78"/>
              </a:rPr>
              <a:t>كَمْ ثَمَنًا</a:t>
            </a:r>
            <a:endParaRPr lang="ar-SA" sz="1800" dirty="0"/>
          </a:p>
        </p:txBody>
      </p:sp>
      <p:sp>
        <p:nvSpPr>
          <p:cNvPr id="50" name="Shape 47"/>
          <p:cNvSpPr/>
          <p:nvPr/>
        </p:nvSpPr>
        <p:spPr>
          <a:xfrm>
            <a:off x="6624828" y="3483864"/>
            <a:ext cx="2414016" cy="512064"/>
          </a:xfrm>
          <a:prstGeom prst="roundRect">
            <a:avLst>
              <a:gd name="adj" fmla="val 10714"/>
            </a:avLst>
          </a:prstGeom>
          <a:solidFill>
            <a:srgbClr val="EEF3FA"/>
          </a:solidFill>
          <a:ln w="9525">
            <a:solidFill>
              <a:srgbClr val="C9D6EA"/>
            </a:solidFill>
            <a:prstDash val="solid"/>
          </a:ln>
        </p:spPr>
      </p:sp>
      <p:sp>
        <p:nvSpPr>
          <p:cNvPr id="51" name="Text 48"/>
          <p:cNvSpPr txBox="1"/>
          <p:nvPr/>
        </p:nvSpPr>
        <p:spPr>
          <a:xfrm>
            <a:off x="6679692" y="3483864"/>
            <a:ext cx="274320" cy="512064"/>
          </a:xfrm>
          <a:prstGeom prst="rect">
            <a:avLst/>
          </a:prstGeom>
          <a:noFill/>
          <a:ln/>
        </p:spPr>
        <p:txBody>
          <a:bodyPr wrap="square" lIns="0" tIns="0" rIns="0" bIns="0" rtlCol="0" anchor="ctr"/>
          <a:lstStyle/>
          <a:p>
            <a:pPr algn="l" indent="0" marL="0">
              <a:buNone/>
            </a:pPr>
            <a:r>
              <a:rPr lang="en-US" sz="1000" b="1" dirty="0">
                <a:solidFill>
                  <a:srgbClr val="2F6FB0"/>
                </a:solidFill>
                <a:latin typeface="Calibri" pitchFamily="34" charset="0"/>
                <a:cs typeface="Amiri" pitchFamily="2" charset="-78"/>
              </a:rPr>
              <a:t>A</a:t>
            </a:r>
            <a:endParaRPr lang="en-US" sz="1000" dirty="0"/>
          </a:p>
        </p:txBody>
      </p:sp>
      <p:sp>
        <p:nvSpPr>
          <p:cNvPr id="52" name="Text 49"/>
          <p:cNvSpPr txBox="1"/>
          <p:nvPr/>
        </p:nvSpPr>
        <p:spPr>
          <a:xfrm>
            <a:off x="6944868" y="3483864"/>
            <a:ext cx="2002536" cy="512064"/>
          </a:xfrm>
          <a:prstGeom prst="rect">
            <a:avLst/>
          </a:prstGeom>
          <a:noFill/>
          <a:ln/>
        </p:spPr>
        <p:txBody>
          <a:bodyPr wrap="square" lIns="0" tIns="0" rIns="0" bIns="0" rtlCol="0" anchor="ctr"/>
          <a:lstStyle/>
          <a:p>
            <a:pPr rtl="1" algn="r" indent="0" marL="0">
              <a:buNone/>
            </a:pPr>
            <a:r>
              <a:rPr lang="ar-SA" altLang="en-US" sz="1800" dirty="0">
                <a:solidFill>
                  <a:srgbClr val="1F2A37"/>
                </a:solidFill>
                <a:latin typeface="Amiri" pitchFamily="2" charset="-78"/>
                <a:ea typeface="Amiri" pitchFamily="2" charset="-78"/>
                <a:cs typeface="Amiri" pitchFamily="2" charset="-78"/>
              </a:rPr>
              <a:t>هٰذِهِ</a:t>
            </a:r>
            <a:endParaRPr lang="ar-SA" sz="1800" dirty="0"/>
          </a:p>
        </p:txBody>
      </p:sp>
      <p:sp>
        <p:nvSpPr>
          <p:cNvPr id="53" name="Shape 50"/>
          <p:cNvSpPr/>
          <p:nvPr/>
        </p:nvSpPr>
        <p:spPr>
          <a:xfrm>
            <a:off x="6624828" y="4050792"/>
            <a:ext cx="2414016" cy="512064"/>
          </a:xfrm>
          <a:prstGeom prst="roundRect">
            <a:avLst>
              <a:gd name="adj" fmla="val 10714"/>
            </a:avLst>
          </a:prstGeom>
          <a:solidFill>
            <a:srgbClr val="EEF3FA"/>
          </a:solidFill>
          <a:ln w="9525">
            <a:solidFill>
              <a:srgbClr val="C9D6EA"/>
            </a:solidFill>
            <a:prstDash val="solid"/>
          </a:ln>
        </p:spPr>
      </p:sp>
      <p:sp>
        <p:nvSpPr>
          <p:cNvPr id="54" name="Text 51"/>
          <p:cNvSpPr txBox="1"/>
          <p:nvPr/>
        </p:nvSpPr>
        <p:spPr>
          <a:xfrm>
            <a:off x="6679692" y="4050792"/>
            <a:ext cx="274320" cy="512064"/>
          </a:xfrm>
          <a:prstGeom prst="rect">
            <a:avLst/>
          </a:prstGeom>
          <a:noFill/>
          <a:ln/>
        </p:spPr>
        <p:txBody>
          <a:bodyPr wrap="square" lIns="0" tIns="0" rIns="0" bIns="0" rtlCol="0" anchor="ctr"/>
          <a:lstStyle/>
          <a:p>
            <a:pPr algn="l" indent="0" marL="0">
              <a:buNone/>
            </a:pPr>
            <a:r>
              <a:rPr lang="en-US" sz="1000" b="1" dirty="0">
                <a:solidFill>
                  <a:srgbClr val="2F6FB0"/>
                </a:solidFill>
                <a:latin typeface="Calibri" pitchFamily="34" charset="0"/>
                <a:cs typeface="Amiri" pitchFamily="2" charset="-78"/>
              </a:rPr>
              <a:t>B</a:t>
            </a:r>
            <a:endParaRPr lang="en-US" sz="1000" dirty="0"/>
          </a:p>
        </p:txBody>
      </p:sp>
      <p:sp>
        <p:nvSpPr>
          <p:cNvPr id="55" name="Text 52"/>
          <p:cNvSpPr txBox="1"/>
          <p:nvPr/>
        </p:nvSpPr>
        <p:spPr>
          <a:xfrm>
            <a:off x="6944868" y="4050792"/>
            <a:ext cx="2002536" cy="512064"/>
          </a:xfrm>
          <a:prstGeom prst="rect">
            <a:avLst/>
          </a:prstGeom>
          <a:noFill/>
          <a:ln/>
        </p:spPr>
        <p:txBody>
          <a:bodyPr wrap="square" lIns="0" tIns="0" rIns="0" bIns="0" rtlCol="0" anchor="ctr"/>
          <a:lstStyle/>
          <a:p>
            <a:pPr rtl="1" algn="r" indent="0" marL="0">
              <a:buNone/>
            </a:pPr>
            <a:r>
              <a:rPr lang="ar-SA" altLang="en-US" sz="1800" dirty="0">
                <a:solidFill>
                  <a:srgbClr val="1F2A37"/>
                </a:solidFill>
                <a:latin typeface="Amiri" pitchFamily="2" charset="-78"/>
                <a:ea typeface="Amiri" pitchFamily="2" charset="-78"/>
                <a:cs typeface="Amiri" pitchFamily="2" charset="-78"/>
              </a:rPr>
              <a:t>هٰذَا</a:t>
            </a:r>
            <a:endParaRPr lang="ar-SA" sz="1800" dirty="0"/>
          </a:p>
        </p:txBody>
      </p:sp>
      <p:sp>
        <p:nvSpPr>
          <p:cNvPr id="56" name="Shape 53"/>
          <p:cNvSpPr/>
          <p:nvPr/>
        </p:nvSpPr>
        <p:spPr>
          <a:xfrm>
            <a:off x="4069080" y="3483864"/>
            <a:ext cx="2414016" cy="512064"/>
          </a:xfrm>
          <a:prstGeom prst="roundRect">
            <a:avLst>
              <a:gd name="adj" fmla="val 10714"/>
            </a:avLst>
          </a:prstGeom>
          <a:solidFill>
            <a:srgbClr val="EEF3FA"/>
          </a:solidFill>
          <a:ln w="9525">
            <a:solidFill>
              <a:srgbClr val="C9D6EA"/>
            </a:solidFill>
            <a:prstDash val="solid"/>
          </a:ln>
        </p:spPr>
      </p:sp>
      <p:sp>
        <p:nvSpPr>
          <p:cNvPr id="57" name="Text 54"/>
          <p:cNvSpPr txBox="1"/>
          <p:nvPr/>
        </p:nvSpPr>
        <p:spPr>
          <a:xfrm>
            <a:off x="4123944" y="3483864"/>
            <a:ext cx="274320" cy="512064"/>
          </a:xfrm>
          <a:prstGeom prst="rect">
            <a:avLst/>
          </a:prstGeom>
          <a:noFill/>
          <a:ln/>
        </p:spPr>
        <p:txBody>
          <a:bodyPr wrap="square" lIns="0" tIns="0" rIns="0" bIns="0" rtlCol="0" anchor="ctr"/>
          <a:lstStyle/>
          <a:p>
            <a:pPr algn="l" indent="0" marL="0">
              <a:buNone/>
            </a:pPr>
            <a:r>
              <a:rPr lang="en-US" sz="1000" b="1" dirty="0">
                <a:solidFill>
                  <a:srgbClr val="2F6FB0"/>
                </a:solidFill>
                <a:latin typeface="Calibri" pitchFamily="34" charset="0"/>
                <a:cs typeface="Amiri" pitchFamily="2" charset="-78"/>
              </a:rPr>
              <a:t>A</a:t>
            </a:r>
            <a:endParaRPr lang="en-US" sz="1000" dirty="0"/>
          </a:p>
        </p:txBody>
      </p:sp>
      <p:sp>
        <p:nvSpPr>
          <p:cNvPr id="58" name="Text 55"/>
          <p:cNvSpPr txBox="1"/>
          <p:nvPr/>
        </p:nvSpPr>
        <p:spPr>
          <a:xfrm>
            <a:off x="4389120" y="3483864"/>
            <a:ext cx="2002536" cy="512064"/>
          </a:xfrm>
          <a:prstGeom prst="rect">
            <a:avLst/>
          </a:prstGeom>
          <a:noFill/>
          <a:ln/>
        </p:spPr>
        <p:txBody>
          <a:bodyPr wrap="square" lIns="0" tIns="0" rIns="0" bIns="0" rtlCol="0" anchor="ctr"/>
          <a:lstStyle/>
          <a:p>
            <a:pPr rtl="1" algn="r" indent="0" marL="0">
              <a:buNone/>
            </a:pPr>
            <a:r>
              <a:rPr lang="ar-SA" altLang="en-US" sz="1800" dirty="0">
                <a:solidFill>
                  <a:srgbClr val="1F2A37"/>
                </a:solidFill>
                <a:latin typeface="Amiri" pitchFamily="2" charset="-78"/>
                <a:ea typeface="Amiri" pitchFamily="2" charset="-78"/>
                <a:cs typeface="Amiri" pitchFamily="2" charset="-78"/>
              </a:rPr>
              <a:t>السُّتْرَةِ؟</a:t>
            </a:r>
            <a:endParaRPr lang="ar-SA" sz="1800" dirty="0"/>
          </a:p>
        </p:txBody>
      </p:sp>
      <p:sp>
        <p:nvSpPr>
          <p:cNvPr id="59" name="Shape 56"/>
          <p:cNvSpPr/>
          <p:nvPr/>
        </p:nvSpPr>
        <p:spPr>
          <a:xfrm>
            <a:off x="4069080" y="4050792"/>
            <a:ext cx="2414016" cy="512064"/>
          </a:xfrm>
          <a:prstGeom prst="roundRect">
            <a:avLst>
              <a:gd name="adj" fmla="val 10714"/>
            </a:avLst>
          </a:prstGeom>
          <a:solidFill>
            <a:srgbClr val="EEF3FA"/>
          </a:solidFill>
          <a:ln w="9525">
            <a:solidFill>
              <a:srgbClr val="C9D6EA"/>
            </a:solidFill>
            <a:prstDash val="solid"/>
          </a:ln>
        </p:spPr>
      </p:sp>
      <p:sp>
        <p:nvSpPr>
          <p:cNvPr id="60" name="Text 57"/>
          <p:cNvSpPr txBox="1"/>
          <p:nvPr/>
        </p:nvSpPr>
        <p:spPr>
          <a:xfrm>
            <a:off x="4123944" y="4050792"/>
            <a:ext cx="274320" cy="512064"/>
          </a:xfrm>
          <a:prstGeom prst="rect">
            <a:avLst/>
          </a:prstGeom>
          <a:noFill/>
          <a:ln/>
        </p:spPr>
        <p:txBody>
          <a:bodyPr wrap="square" lIns="0" tIns="0" rIns="0" bIns="0" rtlCol="0" anchor="ctr"/>
          <a:lstStyle/>
          <a:p>
            <a:pPr algn="l" indent="0" marL="0">
              <a:buNone/>
            </a:pPr>
            <a:r>
              <a:rPr lang="en-US" sz="1000" b="1" dirty="0">
                <a:solidFill>
                  <a:srgbClr val="2F6FB0"/>
                </a:solidFill>
                <a:latin typeface="Calibri" pitchFamily="34" charset="0"/>
                <a:cs typeface="Amiri" pitchFamily="2" charset="-78"/>
              </a:rPr>
              <a:t>B</a:t>
            </a:r>
            <a:endParaRPr lang="en-US" sz="1000" dirty="0"/>
          </a:p>
        </p:txBody>
      </p:sp>
      <p:sp>
        <p:nvSpPr>
          <p:cNvPr id="61" name="Text 58"/>
          <p:cNvSpPr txBox="1"/>
          <p:nvPr/>
        </p:nvSpPr>
        <p:spPr>
          <a:xfrm>
            <a:off x="4389120" y="4050792"/>
            <a:ext cx="2002536" cy="512064"/>
          </a:xfrm>
          <a:prstGeom prst="rect">
            <a:avLst/>
          </a:prstGeom>
          <a:noFill/>
          <a:ln/>
        </p:spPr>
        <p:txBody>
          <a:bodyPr wrap="square" lIns="0" tIns="0" rIns="0" bIns="0" rtlCol="0" anchor="ctr"/>
          <a:lstStyle/>
          <a:p>
            <a:pPr rtl="1" algn="r" indent="0" marL="0">
              <a:buNone/>
            </a:pPr>
            <a:r>
              <a:rPr lang="ar-SA" altLang="en-US" sz="1800" dirty="0">
                <a:solidFill>
                  <a:srgbClr val="1F2A37"/>
                </a:solidFill>
                <a:latin typeface="Amiri" pitchFamily="2" charset="-78"/>
                <a:ea typeface="Amiri" pitchFamily="2" charset="-78"/>
                <a:cs typeface="Amiri" pitchFamily="2" charset="-78"/>
              </a:rPr>
              <a:t>السُّتْرَةُ؟</a:t>
            </a:r>
            <a:endParaRPr lang="ar-SA" sz="1800" dirty="0"/>
          </a:p>
        </p:txBody>
      </p:sp>
      <p:sp>
        <p:nvSpPr>
          <p:cNvPr id="62" name="Shape 59"/>
          <p:cNvSpPr/>
          <p:nvPr/>
        </p:nvSpPr>
        <p:spPr>
          <a:xfrm>
            <a:off x="457200" y="4773168"/>
            <a:ext cx="11274552" cy="1261872"/>
          </a:xfrm>
          <a:prstGeom prst="roundRect">
            <a:avLst>
              <a:gd name="adj" fmla="val 5797"/>
            </a:avLst>
          </a:prstGeom>
          <a:solidFill>
            <a:srgbClr val="FFFFFF"/>
          </a:solidFill>
          <a:ln w="9525">
            <a:solidFill>
              <a:srgbClr val="D8D0BF"/>
            </a:solidFill>
            <a:prstDash val="solid"/>
          </a:ln>
          <a:effectLst>
            <a:outerShdw sx="100000" sy="100000" kx="0" ky="0" algn="bl" rotWithShape="0" blurRad="50800" dist="19050" dir="5400000">
              <a:srgbClr val="000000">
                <a:alpha val="10000"/>
              </a:srgbClr>
            </a:outerShdw>
          </a:effectLst>
        </p:spPr>
      </p:sp>
      <p:sp>
        <p:nvSpPr>
          <p:cNvPr id="63" name="Shape 60"/>
          <p:cNvSpPr/>
          <p:nvPr/>
        </p:nvSpPr>
        <p:spPr>
          <a:xfrm>
            <a:off x="594360" y="4910328"/>
            <a:ext cx="365760" cy="365760"/>
          </a:xfrm>
          <a:prstGeom prst="ellipse">
            <a:avLst/>
          </a:prstGeom>
          <a:solidFill>
            <a:srgbClr val="2F6FB0"/>
          </a:solidFill>
          <a:ln w="12700">
            <a:solidFill>
              <a:srgbClr val="2F6FB0"/>
            </a:solidFill>
            <a:prstDash val="solid"/>
          </a:ln>
        </p:spPr>
      </p:sp>
      <p:sp>
        <p:nvSpPr>
          <p:cNvPr id="64" name="Text 61"/>
          <p:cNvSpPr txBox="1"/>
          <p:nvPr/>
        </p:nvSpPr>
        <p:spPr>
          <a:xfrm>
            <a:off x="594360" y="4910328"/>
            <a:ext cx="365760" cy="365760"/>
          </a:xfrm>
          <a:prstGeom prst="rect">
            <a:avLst/>
          </a:prstGeom>
          <a:noFill/>
          <a:ln/>
        </p:spPr>
        <p:txBody>
          <a:bodyPr wrap="square" lIns="0" tIns="0" rIns="0" bIns="0" rtlCol="0" anchor="ctr"/>
          <a:lstStyle/>
          <a:p>
            <a:pPr algn="ctr" indent="0" marL="0">
              <a:buNone/>
            </a:pPr>
            <a:r>
              <a:rPr lang="en-US" sz="1200" b="1" dirty="0">
                <a:solidFill>
                  <a:srgbClr val="FFFFFF"/>
                </a:solidFill>
                <a:latin typeface="Calibri" pitchFamily="34" charset="0"/>
                <a:cs typeface="Amiri" pitchFamily="2" charset="-78"/>
              </a:rPr>
              <a:t>3</a:t>
            </a:r>
            <a:endParaRPr lang="en-US" sz="1200" dirty="0"/>
          </a:p>
        </p:txBody>
      </p:sp>
      <p:sp>
        <p:nvSpPr>
          <p:cNvPr id="65" name="Text 62"/>
          <p:cNvSpPr txBox="1"/>
          <p:nvPr/>
        </p:nvSpPr>
        <p:spPr>
          <a:xfrm>
            <a:off x="1051560" y="4882896"/>
            <a:ext cx="2834640" cy="1042416"/>
          </a:xfrm>
          <a:prstGeom prst="rect">
            <a:avLst/>
          </a:prstGeom>
          <a:noFill/>
          <a:ln/>
        </p:spPr>
        <p:txBody>
          <a:bodyPr wrap="square" lIns="0" tIns="0" rIns="0" bIns="0" rtlCol="0" anchor="t"/>
          <a:lstStyle/>
          <a:p>
            <a:pPr algn="l" indent="0" marL="0">
              <a:buNone/>
            </a:pPr>
            <a:r>
              <a:rPr lang="en-US" sz="1400" b="1" dirty="0">
                <a:solidFill>
                  <a:srgbClr val="1B3B6F"/>
                </a:solidFill>
                <a:latin typeface="Calibri" pitchFamily="34" charset="0"/>
                <a:cs typeface="Amiri" pitchFamily="2" charset="-78"/>
              </a:rPr>
              <a:t>One advantage is that the park is big.</a:t>
            </a:r>
            <a:endParaRPr lang="en-US" sz="1400" dirty="0"/>
          </a:p>
        </p:txBody>
      </p:sp>
      <p:sp>
        <p:nvSpPr>
          <p:cNvPr id="66" name="Shape 63"/>
          <p:cNvSpPr/>
          <p:nvPr/>
        </p:nvSpPr>
        <p:spPr>
          <a:xfrm>
            <a:off x="9180576" y="4864608"/>
            <a:ext cx="2414016" cy="512064"/>
          </a:xfrm>
          <a:prstGeom prst="roundRect">
            <a:avLst>
              <a:gd name="adj" fmla="val 10714"/>
            </a:avLst>
          </a:prstGeom>
          <a:solidFill>
            <a:srgbClr val="EEF3FA"/>
          </a:solidFill>
          <a:ln w="9525">
            <a:solidFill>
              <a:srgbClr val="C9D6EA"/>
            </a:solidFill>
            <a:prstDash val="solid"/>
          </a:ln>
        </p:spPr>
      </p:sp>
      <p:sp>
        <p:nvSpPr>
          <p:cNvPr id="67" name="Text 64"/>
          <p:cNvSpPr txBox="1"/>
          <p:nvPr/>
        </p:nvSpPr>
        <p:spPr>
          <a:xfrm>
            <a:off x="9235440" y="4864608"/>
            <a:ext cx="274320" cy="512064"/>
          </a:xfrm>
          <a:prstGeom prst="rect">
            <a:avLst/>
          </a:prstGeom>
          <a:noFill/>
          <a:ln/>
        </p:spPr>
        <p:txBody>
          <a:bodyPr wrap="square" lIns="0" tIns="0" rIns="0" bIns="0" rtlCol="0" anchor="ctr"/>
          <a:lstStyle/>
          <a:p>
            <a:pPr algn="l" indent="0" marL="0">
              <a:buNone/>
            </a:pPr>
            <a:r>
              <a:rPr lang="en-US" sz="1000" b="1" dirty="0">
                <a:solidFill>
                  <a:srgbClr val="2F6FB0"/>
                </a:solidFill>
                <a:latin typeface="Calibri" pitchFamily="34" charset="0"/>
                <a:cs typeface="Amiri" pitchFamily="2" charset="-78"/>
              </a:rPr>
              <a:t>A</a:t>
            </a:r>
            <a:endParaRPr lang="en-US" sz="1000" dirty="0"/>
          </a:p>
        </p:txBody>
      </p:sp>
      <p:sp>
        <p:nvSpPr>
          <p:cNvPr id="68" name="Text 65"/>
          <p:cNvSpPr txBox="1"/>
          <p:nvPr/>
        </p:nvSpPr>
        <p:spPr>
          <a:xfrm>
            <a:off x="9500616" y="4864608"/>
            <a:ext cx="2002536" cy="512064"/>
          </a:xfrm>
          <a:prstGeom prst="rect">
            <a:avLst/>
          </a:prstGeom>
          <a:noFill/>
          <a:ln/>
        </p:spPr>
        <p:txBody>
          <a:bodyPr wrap="square" lIns="0" tIns="0" rIns="0" bIns="0" rtlCol="0" anchor="ctr"/>
          <a:lstStyle/>
          <a:p>
            <a:pPr rtl="1" algn="r" indent="0" marL="0">
              <a:buNone/>
            </a:pPr>
            <a:r>
              <a:rPr lang="ar-SA" altLang="en-US" sz="1800" dirty="0">
                <a:solidFill>
                  <a:srgbClr val="1F2A37"/>
                </a:solidFill>
                <a:latin typeface="Amiri" pitchFamily="2" charset="-78"/>
                <a:ea typeface="Amiri" pitchFamily="2" charset="-78"/>
                <a:cs typeface="Amiri" pitchFamily="2" charset="-78"/>
              </a:rPr>
              <a:t>مِنْ مَزَايَاهَا</a:t>
            </a:r>
            <a:endParaRPr lang="ar-SA" sz="1800" dirty="0"/>
          </a:p>
        </p:txBody>
      </p:sp>
      <p:sp>
        <p:nvSpPr>
          <p:cNvPr id="69" name="Shape 66"/>
          <p:cNvSpPr/>
          <p:nvPr/>
        </p:nvSpPr>
        <p:spPr>
          <a:xfrm>
            <a:off x="9180576" y="5431536"/>
            <a:ext cx="2414016" cy="512064"/>
          </a:xfrm>
          <a:prstGeom prst="roundRect">
            <a:avLst>
              <a:gd name="adj" fmla="val 10714"/>
            </a:avLst>
          </a:prstGeom>
          <a:solidFill>
            <a:srgbClr val="EEF3FA"/>
          </a:solidFill>
          <a:ln w="9525">
            <a:solidFill>
              <a:srgbClr val="C9D6EA"/>
            </a:solidFill>
            <a:prstDash val="solid"/>
          </a:ln>
        </p:spPr>
      </p:sp>
      <p:sp>
        <p:nvSpPr>
          <p:cNvPr id="70" name="Text 67"/>
          <p:cNvSpPr txBox="1"/>
          <p:nvPr/>
        </p:nvSpPr>
        <p:spPr>
          <a:xfrm>
            <a:off x="9235440" y="5431536"/>
            <a:ext cx="274320" cy="512064"/>
          </a:xfrm>
          <a:prstGeom prst="rect">
            <a:avLst/>
          </a:prstGeom>
          <a:noFill/>
          <a:ln/>
        </p:spPr>
        <p:txBody>
          <a:bodyPr wrap="square" lIns="0" tIns="0" rIns="0" bIns="0" rtlCol="0" anchor="ctr"/>
          <a:lstStyle/>
          <a:p>
            <a:pPr algn="l" indent="0" marL="0">
              <a:buNone/>
            </a:pPr>
            <a:r>
              <a:rPr lang="en-US" sz="1000" b="1" dirty="0">
                <a:solidFill>
                  <a:srgbClr val="2F6FB0"/>
                </a:solidFill>
                <a:latin typeface="Calibri" pitchFamily="34" charset="0"/>
                <a:cs typeface="Amiri" pitchFamily="2" charset="-78"/>
              </a:rPr>
              <a:t>B</a:t>
            </a:r>
            <a:endParaRPr lang="en-US" sz="1000" dirty="0"/>
          </a:p>
        </p:txBody>
      </p:sp>
      <p:sp>
        <p:nvSpPr>
          <p:cNvPr id="71" name="Text 68"/>
          <p:cNvSpPr txBox="1"/>
          <p:nvPr/>
        </p:nvSpPr>
        <p:spPr>
          <a:xfrm>
            <a:off x="9500616" y="5431536"/>
            <a:ext cx="2002536" cy="512064"/>
          </a:xfrm>
          <a:prstGeom prst="rect">
            <a:avLst/>
          </a:prstGeom>
          <a:noFill/>
          <a:ln/>
        </p:spPr>
        <p:txBody>
          <a:bodyPr wrap="square" lIns="0" tIns="0" rIns="0" bIns="0" rtlCol="0" anchor="ctr"/>
          <a:lstStyle/>
          <a:p>
            <a:pPr rtl="1" algn="r" indent="0" marL="0">
              <a:buNone/>
            </a:pPr>
            <a:r>
              <a:rPr lang="ar-SA" altLang="en-US" sz="1800" dirty="0">
                <a:solidFill>
                  <a:srgbClr val="1F2A37"/>
                </a:solidFill>
                <a:latin typeface="Amiri" pitchFamily="2" charset="-78"/>
                <a:ea typeface="Amiri" pitchFamily="2" charset="-78"/>
                <a:cs typeface="Amiri" pitchFamily="2" charset="-78"/>
              </a:rPr>
              <a:t>مِنْ عُيُوبِهَا</a:t>
            </a:r>
            <a:endParaRPr lang="ar-SA" sz="1800" dirty="0"/>
          </a:p>
        </p:txBody>
      </p:sp>
      <p:sp>
        <p:nvSpPr>
          <p:cNvPr id="72" name="Shape 69"/>
          <p:cNvSpPr/>
          <p:nvPr/>
        </p:nvSpPr>
        <p:spPr>
          <a:xfrm>
            <a:off x="6624828" y="4864608"/>
            <a:ext cx="2414016" cy="512064"/>
          </a:xfrm>
          <a:prstGeom prst="roundRect">
            <a:avLst>
              <a:gd name="adj" fmla="val 10714"/>
            </a:avLst>
          </a:prstGeom>
          <a:solidFill>
            <a:srgbClr val="EEF3FA"/>
          </a:solidFill>
          <a:ln w="9525">
            <a:solidFill>
              <a:srgbClr val="C9D6EA"/>
            </a:solidFill>
            <a:prstDash val="solid"/>
          </a:ln>
        </p:spPr>
      </p:sp>
      <p:sp>
        <p:nvSpPr>
          <p:cNvPr id="73" name="Text 70"/>
          <p:cNvSpPr txBox="1"/>
          <p:nvPr/>
        </p:nvSpPr>
        <p:spPr>
          <a:xfrm>
            <a:off x="6679692" y="4864608"/>
            <a:ext cx="274320" cy="512064"/>
          </a:xfrm>
          <a:prstGeom prst="rect">
            <a:avLst/>
          </a:prstGeom>
          <a:noFill/>
          <a:ln/>
        </p:spPr>
        <p:txBody>
          <a:bodyPr wrap="square" lIns="0" tIns="0" rIns="0" bIns="0" rtlCol="0" anchor="ctr"/>
          <a:lstStyle/>
          <a:p>
            <a:pPr algn="l" indent="0" marL="0">
              <a:buNone/>
            </a:pPr>
            <a:r>
              <a:rPr lang="en-US" sz="1000" b="1" dirty="0">
                <a:solidFill>
                  <a:srgbClr val="2F6FB0"/>
                </a:solidFill>
                <a:latin typeface="Calibri" pitchFamily="34" charset="0"/>
                <a:cs typeface="Amiri" pitchFamily="2" charset="-78"/>
              </a:rPr>
              <a:t>A</a:t>
            </a:r>
            <a:endParaRPr lang="en-US" sz="1000" dirty="0"/>
          </a:p>
        </p:txBody>
      </p:sp>
      <p:sp>
        <p:nvSpPr>
          <p:cNvPr id="74" name="Text 71"/>
          <p:cNvSpPr txBox="1"/>
          <p:nvPr/>
        </p:nvSpPr>
        <p:spPr>
          <a:xfrm>
            <a:off x="6944868" y="4864608"/>
            <a:ext cx="2002536" cy="512064"/>
          </a:xfrm>
          <a:prstGeom prst="rect">
            <a:avLst/>
          </a:prstGeom>
          <a:noFill/>
          <a:ln/>
        </p:spPr>
        <p:txBody>
          <a:bodyPr wrap="square" lIns="0" tIns="0" rIns="0" bIns="0" rtlCol="0" anchor="ctr"/>
          <a:lstStyle/>
          <a:p>
            <a:pPr rtl="1" algn="r" indent="0" marL="0">
              <a:buNone/>
            </a:pPr>
            <a:r>
              <a:rPr lang="ar-SA" altLang="en-US" sz="1800" dirty="0">
                <a:solidFill>
                  <a:srgbClr val="1F2A37"/>
                </a:solidFill>
                <a:latin typeface="Amiri" pitchFamily="2" charset="-78"/>
                <a:ea typeface="Amiri" pitchFamily="2" charset="-78"/>
                <a:cs typeface="Amiri" pitchFamily="2" charset="-78"/>
              </a:rPr>
              <a:t>أَنَّ الحَدِيقَةَ</a:t>
            </a:r>
            <a:endParaRPr lang="ar-SA" sz="1800" dirty="0"/>
          </a:p>
        </p:txBody>
      </p:sp>
      <p:sp>
        <p:nvSpPr>
          <p:cNvPr id="75" name="Shape 72"/>
          <p:cNvSpPr/>
          <p:nvPr/>
        </p:nvSpPr>
        <p:spPr>
          <a:xfrm>
            <a:off x="6624828" y="5431536"/>
            <a:ext cx="2414016" cy="512064"/>
          </a:xfrm>
          <a:prstGeom prst="roundRect">
            <a:avLst>
              <a:gd name="adj" fmla="val 10714"/>
            </a:avLst>
          </a:prstGeom>
          <a:solidFill>
            <a:srgbClr val="EEF3FA"/>
          </a:solidFill>
          <a:ln w="9525">
            <a:solidFill>
              <a:srgbClr val="C9D6EA"/>
            </a:solidFill>
            <a:prstDash val="solid"/>
          </a:ln>
        </p:spPr>
      </p:sp>
      <p:sp>
        <p:nvSpPr>
          <p:cNvPr id="76" name="Text 73"/>
          <p:cNvSpPr txBox="1"/>
          <p:nvPr/>
        </p:nvSpPr>
        <p:spPr>
          <a:xfrm>
            <a:off x="6679692" y="5431536"/>
            <a:ext cx="274320" cy="512064"/>
          </a:xfrm>
          <a:prstGeom prst="rect">
            <a:avLst/>
          </a:prstGeom>
          <a:noFill/>
          <a:ln/>
        </p:spPr>
        <p:txBody>
          <a:bodyPr wrap="square" lIns="0" tIns="0" rIns="0" bIns="0" rtlCol="0" anchor="ctr"/>
          <a:lstStyle/>
          <a:p>
            <a:pPr algn="l" indent="0" marL="0">
              <a:buNone/>
            </a:pPr>
            <a:r>
              <a:rPr lang="en-US" sz="1000" b="1" dirty="0">
                <a:solidFill>
                  <a:srgbClr val="2F6FB0"/>
                </a:solidFill>
                <a:latin typeface="Calibri" pitchFamily="34" charset="0"/>
                <a:cs typeface="Amiri" pitchFamily="2" charset="-78"/>
              </a:rPr>
              <a:t>B</a:t>
            </a:r>
            <a:endParaRPr lang="en-US" sz="1000" dirty="0"/>
          </a:p>
        </p:txBody>
      </p:sp>
      <p:sp>
        <p:nvSpPr>
          <p:cNvPr id="77" name="Text 74"/>
          <p:cNvSpPr txBox="1"/>
          <p:nvPr/>
        </p:nvSpPr>
        <p:spPr>
          <a:xfrm>
            <a:off x="6944868" y="5431536"/>
            <a:ext cx="2002536" cy="512064"/>
          </a:xfrm>
          <a:prstGeom prst="rect">
            <a:avLst/>
          </a:prstGeom>
          <a:noFill/>
          <a:ln/>
        </p:spPr>
        <p:txBody>
          <a:bodyPr wrap="square" lIns="0" tIns="0" rIns="0" bIns="0" rtlCol="0" anchor="ctr"/>
          <a:lstStyle/>
          <a:p>
            <a:pPr rtl="1" algn="r" indent="0" marL="0">
              <a:buNone/>
            </a:pPr>
            <a:r>
              <a:rPr lang="ar-SA" altLang="en-US" sz="1800" dirty="0">
                <a:solidFill>
                  <a:srgbClr val="1F2A37"/>
                </a:solidFill>
                <a:latin typeface="Amiri" pitchFamily="2" charset="-78"/>
                <a:ea typeface="Amiri" pitchFamily="2" charset="-78"/>
                <a:cs typeface="Amiri" pitchFamily="2" charset="-78"/>
              </a:rPr>
              <a:t>أَنَّ الحَدِيقَةُ</a:t>
            </a:r>
            <a:endParaRPr lang="ar-SA" sz="1800" dirty="0"/>
          </a:p>
        </p:txBody>
      </p:sp>
      <p:sp>
        <p:nvSpPr>
          <p:cNvPr id="78" name="Shape 75"/>
          <p:cNvSpPr/>
          <p:nvPr/>
        </p:nvSpPr>
        <p:spPr>
          <a:xfrm>
            <a:off x="4069080" y="4864608"/>
            <a:ext cx="2414016" cy="512064"/>
          </a:xfrm>
          <a:prstGeom prst="roundRect">
            <a:avLst>
              <a:gd name="adj" fmla="val 10714"/>
            </a:avLst>
          </a:prstGeom>
          <a:solidFill>
            <a:srgbClr val="EEF3FA"/>
          </a:solidFill>
          <a:ln w="9525">
            <a:solidFill>
              <a:srgbClr val="C9D6EA"/>
            </a:solidFill>
            <a:prstDash val="solid"/>
          </a:ln>
        </p:spPr>
      </p:sp>
      <p:sp>
        <p:nvSpPr>
          <p:cNvPr id="79" name="Text 76"/>
          <p:cNvSpPr txBox="1"/>
          <p:nvPr/>
        </p:nvSpPr>
        <p:spPr>
          <a:xfrm>
            <a:off x="4123944" y="4864608"/>
            <a:ext cx="274320" cy="512064"/>
          </a:xfrm>
          <a:prstGeom prst="rect">
            <a:avLst/>
          </a:prstGeom>
          <a:noFill/>
          <a:ln/>
        </p:spPr>
        <p:txBody>
          <a:bodyPr wrap="square" lIns="0" tIns="0" rIns="0" bIns="0" rtlCol="0" anchor="ctr"/>
          <a:lstStyle/>
          <a:p>
            <a:pPr algn="l" indent="0" marL="0">
              <a:buNone/>
            </a:pPr>
            <a:r>
              <a:rPr lang="en-US" sz="1000" b="1" dirty="0">
                <a:solidFill>
                  <a:srgbClr val="2F6FB0"/>
                </a:solidFill>
                <a:latin typeface="Calibri" pitchFamily="34" charset="0"/>
                <a:cs typeface="Amiri" pitchFamily="2" charset="-78"/>
              </a:rPr>
              <a:t>A</a:t>
            </a:r>
            <a:endParaRPr lang="en-US" sz="1000" dirty="0"/>
          </a:p>
        </p:txBody>
      </p:sp>
      <p:sp>
        <p:nvSpPr>
          <p:cNvPr id="80" name="Text 77"/>
          <p:cNvSpPr txBox="1"/>
          <p:nvPr/>
        </p:nvSpPr>
        <p:spPr>
          <a:xfrm>
            <a:off x="4389120" y="4864608"/>
            <a:ext cx="2002536" cy="512064"/>
          </a:xfrm>
          <a:prstGeom prst="rect">
            <a:avLst/>
          </a:prstGeom>
          <a:noFill/>
          <a:ln/>
        </p:spPr>
        <p:txBody>
          <a:bodyPr wrap="square" lIns="0" tIns="0" rIns="0" bIns="0" rtlCol="0" anchor="ctr"/>
          <a:lstStyle/>
          <a:p>
            <a:pPr rtl="1" algn="r" indent="0" marL="0">
              <a:buNone/>
            </a:pPr>
            <a:r>
              <a:rPr lang="ar-SA" altLang="en-US" sz="1800" dirty="0">
                <a:solidFill>
                  <a:srgbClr val="1F2A37"/>
                </a:solidFill>
                <a:latin typeface="Amiri" pitchFamily="2" charset="-78"/>
                <a:ea typeface="Amiri" pitchFamily="2" charset="-78"/>
                <a:cs typeface="Amiri" pitchFamily="2" charset="-78"/>
              </a:rPr>
              <a:t>كَبِيرَةٌ.</a:t>
            </a:r>
            <a:endParaRPr lang="ar-SA" sz="1800" dirty="0"/>
          </a:p>
        </p:txBody>
      </p:sp>
      <p:sp>
        <p:nvSpPr>
          <p:cNvPr id="81" name="Shape 78"/>
          <p:cNvSpPr/>
          <p:nvPr/>
        </p:nvSpPr>
        <p:spPr>
          <a:xfrm>
            <a:off x="4069080" y="5431536"/>
            <a:ext cx="2414016" cy="512064"/>
          </a:xfrm>
          <a:prstGeom prst="roundRect">
            <a:avLst>
              <a:gd name="adj" fmla="val 10714"/>
            </a:avLst>
          </a:prstGeom>
          <a:solidFill>
            <a:srgbClr val="EEF3FA"/>
          </a:solidFill>
          <a:ln w="9525">
            <a:solidFill>
              <a:srgbClr val="C9D6EA"/>
            </a:solidFill>
            <a:prstDash val="solid"/>
          </a:ln>
        </p:spPr>
      </p:sp>
      <p:sp>
        <p:nvSpPr>
          <p:cNvPr id="82" name="Text 79"/>
          <p:cNvSpPr txBox="1"/>
          <p:nvPr/>
        </p:nvSpPr>
        <p:spPr>
          <a:xfrm>
            <a:off x="4123944" y="5431536"/>
            <a:ext cx="274320" cy="512064"/>
          </a:xfrm>
          <a:prstGeom prst="rect">
            <a:avLst/>
          </a:prstGeom>
          <a:noFill/>
          <a:ln/>
        </p:spPr>
        <p:txBody>
          <a:bodyPr wrap="square" lIns="0" tIns="0" rIns="0" bIns="0" rtlCol="0" anchor="ctr"/>
          <a:lstStyle/>
          <a:p>
            <a:pPr algn="l" indent="0" marL="0">
              <a:buNone/>
            </a:pPr>
            <a:r>
              <a:rPr lang="en-US" sz="1000" b="1" dirty="0">
                <a:solidFill>
                  <a:srgbClr val="2F6FB0"/>
                </a:solidFill>
                <a:latin typeface="Calibri" pitchFamily="34" charset="0"/>
                <a:cs typeface="Amiri" pitchFamily="2" charset="-78"/>
              </a:rPr>
              <a:t>B</a:t>
            </a:r>
            <a:endParaRPr lang="en-US" sz="1000" dirty="0"/>
          </a:p>
        </p:txBody>
      </p:sp>
      <p:sp>
        <p:nvSpPr>
          <p:cNvPr id="83" name="Text 80"/>
          <p:cNvSpPr txBox="1"/>
          <p:nvPr/>
        </p:nvSpPr>
        <p:spPr>
          <a:xfrm>
            <a:off x="4389120" y="5431536"/>
            <a:ext cx="2002536" cy="512064"/>
          </a:xfrm>
          <a:prstGeom prst="rect">
            <a:avLst/>
          </a:prstGeom>
          <a:noFill/>
          <a:ln/>
        </p:spPr>
        <p:txBody>
          <a:bodyPr wrap="square" lIns="0" tIns="0" rIns="0" bIns="0" rtlCol="0" anchor="ctr"/>
          <a:lstStyle/>
          <a:p>
            <a:pPr rtl="1" algn="r" indent="0" marL="0">
              <a:buNone/>
            </a:pPr>
            <a:r>
              <a:rPr lang="ar-SA" altLang="en-US" sz="1800" dirty="0">
                <a:solidFill>
                  <a:srgbClr val="1F2A37"/>
                </a:solidFill>
                <a:latin typeface="Amiri" pitchFamily="2" charset="-78"/>
                <a:ea typeface="Amiri" pitchFamily="2" charset="-78"/>
                <a:cs typeface="Amiri" pitchFamily="2" charset="-78"/>
              </a:rPr>
              <a:t>كَبِيرَةً.</a:t>
            </a:r>
            <a:endParaRPr lang="ar-SA" sz="1800" dirty="0"/>
          </a:p>
        </p:txBody>
      </p:sp>
      <p:sp>
        <p:nvSpPr>
          <p:cNvPr id="84" name="Text 81"/>
          <p:cNvSpPr txBox="1"/>
          <p:nvPr/>
        </p:nvSpPr>
        <p:spPr>
          <a:xfrm>
            <a:off x="10360152" y="6455664"/>
            <a:ext cx="1371600" cy="219456"/>
          </a:xfrm>
          <a:prstGeom prst="rect">
            <a:avLst/>
          </a:prstGeom>
          <a:noFill/>
          <a:ln/>
        </p:spPr>
        <p:txBody>
          <a:bodyPr wrap="square" lIns="0" tIns="0" rIns="0" bIns="0" rtlCol="0" anchor="ctr"/>
          <a:lstStyle/>
          <a:p>
            <a:pPr algn="r" indent="0" marL="0">
              <a:buNone/>
            </a:pPr>
            <a:r>
              <a:rPr lang="en-US" sz="850" dirty="0">
                <a:solidFill>
                  <a:srgbClr val="8A93A0"/>
                </a:solidFill>
                <a:latin typeface="Calibri" pitchFamily="34" charset="0"/>
                <a:cs typeface="Amiri" pitchFamily="2" charset="-78"/>
              </a:rPr>
              <a:t>14 / 24</a:t>
            </a:r>
            <a:endParaRPr lang="en-US" sz="850" dirty="0"/>
          </a:p>
        </p:txBody>
      </p:sp>
    </p:spTree>
  </p:cSld>
  <p:clrMapOvr>
    <a:masterClrMapping/>
  </p:clrMapOvr>
</p:sld>
</file>

<file path=ppt/slides/slide15.xml><?xml version="1.0" encoding="utf-8"?>
<p:sld xmlns:a="http://schemas.openxmlformats.org/drawingml/2006/main" xmlns:r="http://schemas.openxmlformats.org/officeDocument/2006/relationships" xmlns:p="http://schemas.openxmlformats.org/presentationml/2006/main">
  <p:cSld name="Slide 15">
    <p:bg>
      <p:bgPr>
        <a:solidFill>
          <a:srgbClr val="FFFDF8"/>
        </a:solidFill>
      </p:bgPr>
    </p:bg>
    <p:spTree>
      <p:nvGrpSpPr>
        <p:cNvPr id="1" name=""/>
        <p:cNvGrpSpPr/>
        <p:nvPr/>
      </p:nvGrpSpPr>
      <p:grpSpPr>
        <a:xfrm>
          <a:off x="0" y="0"/>
          <a:ext cx="0" cy="0"/>
          <a:chOff x="0" y="0"/>
          <a:chExt cx="0" cy="0"/>
        </a:xfrm>
      </p:grpSpPr>
      <p:sp>
        <p:nvSpPr>
          <p:cNvPr id="2" name="Shape 0"/>
          <p:cNvSpPr/>
          <p:nvPr/>
        </p:nvSpPr>
        <p:spPr>
          <a:xfrm>
            <a:off x="457200" y="237744"/>
            <a:ext cx="420624" cy="420624"/>
          </a:xfrm>
          <a:prstGeom prst="ellipse">
            <a:avLst/>
          </a:prstGeom>
          <a:solidFill>
            <a:srgbClr val="1B3B6F"/>
          </a:solidFill>
          <a:ln w="12700">
            <a:solidFill>
              <a:srgbClr val="D4AF37"/>
            </a:solidFill>
            <a:prstDash val="solid"/>
          </a:ln>
        </p:spPr>
      </p:sp>
      <p:sp>
        <p:nvSpPr>
          <p:cNvPr id="3" name="Text 1"/>
          <p:cNvSpPr txBox="1"/>
          <p:nvPr/>
        </p:nvSpPr>
        <p:spPr>
          <a:xfrm>
            <a:off x="457200" y="219456"/>
            <a:ext cx="420624" cy="420624"/>
          </a:xfrm>
          <a:prstGeom prst="rect">
            <a:avLst/>
          </a:prstGeom>
          <a:noFill/>
          <a:ln/>
        </p:spPr>
        <p:txBody>
          <a:bodyPr wrap="square" lIns="0" tIns="0" rIns="0" bIns="0" rtlCol="0" anchor="ctr"/>
          <a:lstStyle/>
          <a:p>
            <a:pPr rtl="1" algn="ctr" indent="0" marL="0">
              <a:buNone/>
            </a:pPr>
            <a:r>
              <a:rPr lang="ar-SA" altLang="en-US" sz="1800" b="1" dirty="0">
                <a:solidFill>
                  <a:srgbClr val="D4AF37"/>
                </a:solidFill>
                <a:latin typeface="Amiri" pitchFamily="2" charset="-78"/>
                <a:ea typeface="Amiri" pitchFamily="2" charset="-78"/>
                <a:cs typeface="Amiri" pitchFamily="2" charset="-78"/>
              </a:rPr>
              <a:t>م</a:t>
            </a:r>
            <a:endParaRPr lang="ar-SA" sz="1800" dirty="0"/>
          </a:p>
        </p:txBody>
      </p:sp>
      <p:sp>
        <p:nvSpPr>
          <p:cNvPr id="4" name="Text 2"/>
          <p:cNvSpPr txBox="1"/>
          <p:nvPr/>
        </p:nvSpPr>
        <p:spPr>
          <a:xfrm>
            <a:off x="960120" y="219456"/>
            <a:ext cx="3657600" cy="256032"/>
          </a:xfrm>
          <a:prstGeom prst="rect">
            <a:avLst/>
          </a:prstGeom>
          <a:noFill/>
          <a:ln/>
        </p:spPr>
        <p:txBody>
          <a:bodyPr wrap="square" lIns="0" tIns="0" rIns="0" bIns="0" rtlCol="0" anchor="ctr"/>
          <a:lstStyle/>
          <a:p>
            <a:pPr indent="0" marL="0">
              <a:buNone/>
            </a:pPr>
            <a:r>
              <a:rPr lang="en-US" sz="1200" b="1" dirty="0">
                <a:solidFill>
                  <a:srgbClr val="1B3B6F"/>
                </a:solidFill>
                <a:latin typeface="Cambria" pitchFamily="34" charset="0"/>
                <a:cs typeface="Amiri" pitchFamily="2" charset="-78"/>
              </a:rPr>
              <a:t>Al Madina Online School</a:t>
            </a:r>
            <a:endParaRPr lang="en-US" sz="1200" dirty="0"/>
          </a:p>
        </p:txBody>
      </p:sp>
      <p:sp>
        <p:nvSpPr>
          <p:cNvPr id="5" name="Text 3"/>
          <p:cNvSpPr txBox="1"/>
          <p:nvPr/>
        </p:nvSpPr>
        <p:spPr>
          <a:xfrm>
            <a:off x="960120" y="457200"/>
            <a:ext cx="4572000" cy="182880"/>
          </a:xfrm>
          <a:prstGeom prst="rect">
            <a:avLst/>
          </a:prstGeom>
          <a:noFill/>
          <a:ln/>
        </p:spPr>
        <p:txBody>
          <a:bodyPr wrap="square" lIns="0" tIns="0" rIns="0" bIns="0" rtlCol="0" anchor="ctr"/>
          <a:lstStyle/>
          <a:p>
            <a:pPr indent="0" marL="0">
              <a:buNone/>
            </a:pPr>
            <a:r>
              <a:rPr lang="en-US" sz="800" b="1" spc="200" kern="0" dirty="0">
                <a:solidFill>
                  <a:srgbClr val="8A6D1E"/>
                </a:solidFill>
                <a:latin typeface="Calibri" pitchFamily="34" charset="0"/>
                <a:cs typeface="Amiri" pitchFamily="2" charset="-78"/>
              </a:rPr>
              <a:t>ARABIC DEPARTMENT · MIFTAH ARABIC · IGCSE 0544</a:t>
            </a:r>
            <a:endParaRPr lang="en-US" sz="800" dirty="0"/>
          </a:p>
        </p:txBody>
      </p:sp>
      <p:sp>
        <p:nvSpPr>
          <p:cNvPr id="6" name="Shape 4"/>
          <p:cNvSpPr/>
          <p:nvPr/>
        </p:nvSpPr>
        <p:spPr>
          <a:xfrm>
            <a:off x="8897112" y="274320"/>
            <a:ext cx="2834640" cy="329184"/>
          </a:xfrm>
          <a:prstGeom prst="roundRect">
            <a:avLst>
              <a:gd name="adj" fmla="val 50000"/>
            </a:avLst>
          </a:prstGeom>
          <a:solidFill>
            <a:srgbClr val="1B3B6F"/>
          </a:solidFill>
          <a:ln w="12700">
            <a:solidFill>
              <a:srgbClr val="1B3B6F"/>
            </a:solidFill>
            <a:prstDash val="solid"/>
          </a:ln>
        </p:spPr>
      </p:sp>
      <p:sp>
        <p:nvSpPr>
          <p:cNvPr id="7" name="Text 5"/>
          <p:cNvSpPr txBox="1"/>
          <p:nvPr/>
        </p:nvSpPr>
        <p:spPr>
          <a:xfrm>
            <a:off x="8897112" y="274320"/>
            <a:ext cx="2834640" cy="329184"/>
          </a:xfrm>
          <a:prstGeom prst="rect">
            <a:avLst/>
          </a:prstGeom>
          <a:noFill/>
          <a:ln/>
        </p:spPr>
        <p:txBody>
          <a:bodyPr wrap="square" lIns="0" tIns="0" rIns="0" bIns="0" rtlCol="0" anchor="ctr"/>
          <a:lstStyle/>
          <a:p>
            <a:pPr algn="ctr" indent="0" marL="0">
              <a:buNone/>
            </a:pPr>
            <a:r>
              <a:rPr lang="en-US" sz="950" b="1" spc="100" kern="0" dirty="0">
                <a:solidFill>
                  <a:srgbClr val="FFFFFF"/>
                </a:solidFill>
                <a:latin typeface="Calibri" pitchFamily="34" charset="0"/>
                <a:cs typeface="Amiri" pitchFamily="2" charset="-78"/>
              </a:rPr>
              <a:t>F6-W03 · Apply workshop</a:t>
            </a:r>
            <a:endParaRPr lang="en-US" sz="950" dirty="0"/>
          </a:p>
        </p:txBody>
      </p:sp>
      <p:sp>
        <p:nvSpPr>
          <p:cNvPr id="8" name="Shape 6"/>
          <p:cNvSpPr/>
          <p:nvPr/>
        </p:nvSpPr>
        <p:spPr>
          <a:xfrm>
            <a:off x="7143293" y="274320"/>
            <a:ext cx="1616659" cy="329184"/>
          </a:xfrm>
          <a:prstGeom prst="roundRect">
            <a:avLst>
              <a:gd name="adj" fmla="val 50000"/>
            </a:avLst>
          </a:prstGeom>
          <a:solidFill>
            <a:srgbClr val="8A6D1E"/>
          </a:solidFill>
          <a:ln w="12700">
            <a:solidFill>
              <a:srgbClr val="8A6D1E"/>
            </a:solidFill>
            <a:prstDash val="solid"/>
          </a:ln>
        </p:spPr>
      </p:sp>
      <p:sp>
        <p:nvSpPr>
          <p:cNvPr id="9" name="Text 7"/>
          <p:cNvSpPr txBox="1"/>
          <p:nvPr/>
        </p:nvSpPr>
        <p:spPr>
          <a:xfrm>
            <a:off x="7143293" y="274320"/>
            <a:ext cx="1616659" cy="329184"/>
          </a:xfrm>
          <a:prstGeom prst="rect">
            <a:avLst/>
          </a:prstGeom>
          <a:noFill/>
          <a:ln/>
        </p:spPr>
        <p:txBody>
          <a:bodyPr wrap="square" lIns="0" tIns="0" rIns="0" bIns="0" rtlCol="0" anchor="ctr"/>
          <a:lstStyle/>
          <a:p>
            <a:pPr algn="ctr" indent="0" marL="0">
              <a:buNone/>
            </a:pPr>
            <a:r>
              <a:rPr lang="en-US" sz="900" b="1" spc="100" kern="0" dirty="0">
                <a:solidFill>
                  <a:srgbClr val="FFFFFF"/>
                </a:solidFill>
                <a:latin typeface="Calibri" pitchFamily="34" charset="0"/>
                <a:cs typeface="Amiri" pitchFamily="2" charset="-78"/>
              </a:rPr>
              <a:t>FEEDBACK · 1 MIN</a:t>
            </a:r>
            <a:endParaRPr lang="en-US" sz="900" dirty="0"/>
          </a:p>
        </p:txBody>
      </p:sp>
      <p:sp>
        <p:nvSpPr>
          <p:cNvPr id="10" name="Text 8"/>
          <p:cNvSpPr txBox="1"/>
          <p:nvPr/>
        </p:nvSpPr>
        <p:spPr>
          <a:xfrm>
            <a:off x="457200" y="822960"/>
            <a:ext cx="6949440" cy="237744"/>
          </a:xfrm>
          <a:prstGeom prst="rect">
            <a:avLst/>
          </a:prstGeom>
          <a:noFill/>
          <a:ln/>
        </p:spPr>
        <p:txBody>
          <a:bodyPr wrap="square" lIns="0" tIns="0" rIns="0" bIns="0" rtlCol="0" anchor="ctr"/>
          <a:lstStyle/>
          <a:p>
            <a:pPr algn="l" indent="0" marL="0">
              <a:buNone/>
            </a:pPr>
            <a:r>
              <a:rPr lang="en-US" sz="1000" b="1" spc="300" kern="0" dirty="0">
                <a:solidFill>
                  <a:srgbClr val="8A6D1E"/>
                </a:solidFill>
                <a:latin typeface="Calibri" pitchFamily="34" charset="0"/>
                <a:cs typeface="Amiri" pitchFamily="2" charset="-78"/>
              </a:rPr>
              <a:t>STEP 7 · CHECK YOUR SENTENCES</a:t>
            </a:r>
            <a:endParaRPr lang="en-US" sz="1000" dirty="0"/>
          </a:p>
        </p:txBody>
      </p:sp>
      <p:sp>
        <p:nvSpPr>
          <p:cNvPr id="11" name="Text 9"/>
          <p:cNvSpPr txBox="1"/>
          <p:nvPr/>
        </p:nvSpPr>
        <p:spPr>
          <a:xfrm>
            <a:off x="457200" y="1033272"/>
            <a:ext cx="6949440" cy="566928"/>
          </a:xfrm>
          <a:prstGeom prst="rect">
            <a:avLst/>
          </a:prstGeom>
          <a:noFill/>
          <a:ln/>
        </p:spPr>
        <p:txBody>
          <a:bodyPr wrap="square" lIns="0" tIns="0" rIns="0" bIns="0" rtlCol="0" anchor="ctr"/>
          <a:lstStyle/>
          <a:p>
            <a:pPr algn="l" indent="0" marL="0">
              <a:buNone/>
            </a:pPr>
            <a:r>
              <a:rPr lang="en-US" sz="2800" b="1" dirty="0">
                <a:solidFill>
                  <a:srgbClr val="1B3B6F"/>
                </a:solidFill>
                <a:latin typeface="Cambria" pitchFamily="34" charset="0"/>
                <a:cs typeface="Amiri" pitchFamily="2" charset="-78"/>
              </a:rPr>
              <a:t>Sentence builder: answers</a:t>
            </a:r>
            <a:endParaRPr lang="en-US" sz="2800" dirty="0"/>
          </a:p>
        </p:txBody>
      </p:sp>
      <p:sp>
        <p:nvSpPr>
          <p:cNvPr id="12" name="Text 10"/>
          <p:cNvSpPr txBox="1"/>
          <p:nvPr/>
        </p:nvSpPr>
        <p:spPr>
          <a:xfrm>
            <a:off x="7498080" y="868680"/>
            <a:ext cx="4233672" cy="749808"/>
          </a:xfrm>
          <a:prstGeom prst="rect">
            <a:avLst/>
          </a:prstGeom>
          <a:noFill/>
          <a:ln/>
        </p:spPr>
        <p:txBody>
          <a:bodyPr wrap="square" lIns="0" tIns="0" rIns="0" bIns="0" rtlCol="0" anchor="ctr"/>
          <a:lstStyle/>
          <a:p>
            <a:pPr rtl="1" algn="r" indent="0" marL="0">
              <a:buNone/>
            </a:pPr>
            <a:r>
              <a:rPr lang="ar-SA" altLang="en-US" sz="2800" b="1" dirty="0">
                <a:solidFill>
                  <a:srgbClr val="8A6D1E"/>
                </a:solidFill>
                <a:latin typeface="Amiri" pitchFamily="2" charset="-78"/>
                <a:ea typeface="Amiri" pitchFamily="2" charset="-78"/>
                <a:cs typeface="Amiri" pitchFamily="2" charset="-78"/>
              </a:rPr>
              <a:t>ابْنِ الجُمْلَةَ</a:t>
            </a:r>
            <a:endParaRPr lang="ar-SA" sz="2800" dirty="0"/>
          </a:p>
        </p:txBody>
      </p:sp>
      <p:sp>
        <p:nvSpPr>
          <p:cNvPr id="13" name="Text 11"/>
          <p:cNvSpPr txBox="1"/>
          <p:nvPr/>
        </p:nvSpPr>
        <p:spPr>
          <a:xfrm>
            <a:off x="457200" y="6455664"/>
            <a:ext cx="6400800" cy="219456"/>
          </a:xfrm>
          <a:prstGeom prst="rect">
            <a:avLst/>
          </a:prstGeom>
          <a:noFill/>
          <a:ln/>
        </p:spPr>
        <p:txBody>
          <a:bodyPr wrap="square" lIns="0" tIns="0" rIns="0" bIns="0" rtlCol="0" anchor="ctr"/>
          <a:lstStyle/>
          <a:p>
            <a:pPr indent="0" marL="0">
              <a:buNone/>
            </a:pPr>
            <a:r>
              <a:rPr lang="en-US" sz="850" dirty="0">
                <a:solidFill>
                  <a:srgbClr val="8A93A0"/>
                </a:solidFill>
                <a:latin typeface="Calibri" pitchFamily="34" charset="0"/>
                <a:cs typeface="Amiri" pitchFamily="2" charset="-78"/>
              </a:rPr>
              <a:t>Miftah Arabic · Foundation F6 · My Town and Transport · F6-W03 · Apply workshop (F6-L05 + F6-L06)</a:t>
            </a:r>
            <a:endParaRPr lang="en-US" sz="850" dirty="0"/>
          </a:p>
        </p:txBody>
      </p:sp>
      <p:sp>
        <p:nvSpPr>
          <p:cNvPr id="15" name="Shape 12"/>
          <p:cNvSpPr/>
          <p:nvPr/>
        </p:nvSpPr>
        <p:spPr>
          <a:xfrm>
            <a:off x="457200" y="1810512"/>
            <a:ext cx="11274552" cy="1353312"/>
          </a:xfrm>
          <a:prstGeom prst="roundRect">
            <a:avLst>
              <a:gd name="adj" fmla="val 5405"/>
            </a:avLst>
          </a:prstGeom>
          <a:solidFill>
            <a:srgbClr val="E6F4EC"/>
          </a:solidFill>
          <a:ln w="9525">
            <a:solidFill>
              <a:srgbClr val="9CCFB0"/>
            </a:solidFill>
            <a:prstDash val="solid"/>
          </a:ln>
          <a:effectLst>
            <a:outerShdw sx="100000" sy="100000" kx="0" ky="0" algn="bl" rotWithShape="0" blurRad="50800" dist="19050" dir="5400000">
              <a:srgbClr val="000000">
                <a:alpha val="10000"/>
              </a:srgbClr>
            </a:outerShdw>
          </a:effectLst>
        </p:spPr>
      </p:sp>
      <p:sp>
        <p:nvSpPr>
          <p:cNvPr id="16" name="Shape 13"/>
          <p:cNvSpPr/>
          <p:nvPr/>
        </p:nvSpPr>
        <p:spPr>
          <a:xfrm>
            <a:off x="640080" y="1947672"/>
            <a:ext cx="365760" cy="365760"/>
          </a:xfrm>
          <a:prstGeom prst="ellipse">
            <a:avLst/>
          </a:prstGeom>
          <a:solidFill>
            <a:srgbClr val="2E8B57"/>
          </a:solidFill>
          <a:ln w="12700">
            <a:solidFill>
              <a:srgbClr val="2E8B57"/>
            </a:solidFill>
            <a:prstDash val="solid"/>
          </a:ln>
        </p:spPr>
      </p:sp>
      <p:sp>
        <p:nvSpPr>
          <p:cNvPr id="17" name="Text 14"/>
          <p:cNvSpPr txBox="1"/>
          <p:nvPr/>
        </p:nvSpPr>
        <p:spPr>
          <a:xfrm>
            <a:off x="640080" y="1947672"/>
            <a:ext cx="365760" cy="365760"/>
          </a:xfrm>
          <a:prstGeom prst="rect">
            <a:avLst/>
          </a:prstGeom>
          <a:noFill/>
          <a:ln/>
        </p:spPr>
        <p:txBody>
          <a:bodyPr wrap="square" lIns="0" tIns="0" rIns="0" bIns="0" rtlCol="0" anchor="ctr"/>
          <a:lstStyle/>
          <a:p>
            <a:pPr algn="ctr" indent="0" marL="0">
              <a:buNone/>
            </a:pPr>
            <a:r>
              <a:rPr lang="en-US" sz="1200" b="1" dirty="0">
                <a:solidFill>
                  <a:srgbClr val="FFFFFF"/>
                </a:solidFill>
                <a:latin typeface="Calibri" pitchFamily="34" charset="0"/>
                <a:cs typeface="Amiri" pitchFamily="2" charset="-78"/>
              </a:rPr>
              <a:t>1</a:t>
            </a:r>
            <a:endParaRPr lang="en-US" sz="1200" dirty="0"/>
          </a:p>
        </p:txBody>
      </p:sp>
      <p:sp>
        <p:nvSpPr>
          <p:cNvPr id="18" name="Text 15"/>
          <p:cNvSpPr txBox="1"/>
          <p:nvPr/>
        </p:nvSpPr>
        <p:spPr>
          <a:xfrm>
            <a:off x="1143000" y="1901952"/>
            <a:ext cx="3291840" cy="457200"/>
          </a:xfrm>
          <a:prstGeom prst="rect">
            <a:avLst/>
          </a:prstGeom>
          <a:noFill/>
          <a:ln/>
        </p:spPr>
        <p:txBody>
          <a:bodyPr wrap="square" lIns="0" tIns="0" rIns="0" bIns="0" rtlCol="0" anchor="ctr"/>
          <a:lstStyle/>
          <a:p>
            <a:pPr algn="l" indent="0" marL="0">
              <a:buNone/>
            </a:pPr>
            <a:r>
              <a:rPr lang="en-US" sz="1300" b="1" dirty="0">
                <a:solidFill>
                  <a:srgbClr val="1B3B6F"/>
                </a:solidFill>
                <a:latin typeface="Calibri" pitchFamily="34" charset="0"/>
                <a:cs typeface="Amiri" pitchFamily="2" charset="-78"/>
              </a:rPr>
              <a:t>My town is quiet and safe.</a:t>
            </a:r>
            <a:endParaRPr lang="en-US" sz="1300" dirty="0"/>
          </a:p>
        </p:txBody>
      </p:sp>
      <p:sp>
        <p:nvSpPr>
          <p:cNvPr id="19" name="Text 16"/>
          <p:cNvSpPr txBox="1"/>
          <p:nvPr/>
        </p:nvSpPr>
        <p:spPr>
          <a:xfrm>
            <a:off x="1143000" y="2359152"/>
            <a:ext cx="3291840" cy="256032"/>
          </a:xfrm>
          <a:prstGeom prst="rect">
            <a:avLst/>
          </a:prstGeom>
          <a:noFill/>
          <a:ln/>
        </p:spPr>
        <p:txBody>
          <a:bodyPr wrap="square" lIns="0" tIns="0" rIns="0" bIns="0" rtlCol="0" anchor="ctr"/>
          <a:lstStyle/>
          <a:p>
            <a:pPr algn="l" indent="0" marL="0">
              <a:buNone/>
            </a:pPr>
            <a:r>
              <a:rPr lang="en-US" sz="1050" b="1" dirty="0">
                <a:solidFill>
                  <a:srgbClr val="1E6B52"/>
                </a:solidFill>
                <a:latin typeface="Calibri" pitchFamily="34" charset="0"/>
                <a:cs typeface="Amiri" pitchFamily="2" charset="-78"/>
              </a:rPr>
              <a:t>Columns = A · A · A</a:t>
            </a:r>
            <a:endParaRPr lang="en-US" sz="1050" dirty="0"/>
          </a:p>
        </p:txBody>
      </p:sp>
      <p:sp>
        <p:nvSpPr>
          <p:cNvPr id="20" name="Text 17"/>
          <p:cNvSpPr txBox="1"/>
          <p:nvPr/>
        </p:nvSpPr>
        <p:spPr>
          <a:xfrm>
            <a:off x="1143000" y="2633472"/>
            <a:ext cx="3291840" cy="438912"/>
          </a:xfrm>
          <a:prstGeom prst="rect">
            <a:avLst/>
          </a:prstGeom>
          <a:noFill/>
          <a:ln/>
        </p:spPr>
        <p:txBody>
          <a:bodyPr wrap="square" lIns="0" tIns="0" rIns="0" bIns="0" rtlCol="0" anchor="ctr"/>
          <a:lstStyle/>
          <a:p>
            <a:pPr algn="l" indent="0" marL="0">
              <a:buNone/>
            </a:pPr>
            <a:r>
              <a:rPr lang="ar-SA" altLang="en-US" sz="1350" dirty="0">
                <a:solidFill>
                  <a:srgbClr val="5A6472"/>
                </a:solidFill>
                <a:latin typeface="Amiri" pitchFamily="2" charset="-78"/>
                <a:ea typeface="Amiri" pitchFamily="2" charset="-78"/>
                <a:cs typeface="Amiri" pitchFamily="2" charset="-78"/>
              </a:rPr>
              <a:t>مَدِينَةٌ</a:t>
            </a:r>
            <a:pPr algn="l" indent="0" marL="0">
              <a:buNone/>
            </a:pPr>
            <a:r>
              <a:rPr lang="en-US" sz="1050" i="1" dirty="0">
                <a:solidFill>
                  <a:srgbClr val="5A6472"/>
                </a:solidFill>
                <a:latin typeface="Calibri" pitchFamily="34" charset="0"/>
                <a:cs typeface="Amiri" pitchFamily="2" charset="-78"/>
              </a:rPr>
              <a:t> (f.) → feminine adjectives.</a:t>
            </a:r>
            <a:endParaRPr lang="en-US" sz="1050" dirty="0"/>
          </a:p>
        </p:txBody>
      </p:sp>
      <p:sp>
        <p:nvSpPr>
          <p:cNvPr id="21" name="Text 18"/>
          <p:cNvSpPr txBox="1"/>
          <p:nvPr/>
        </p:nvSpPr>
        <p:spPr>
          <a:xfrm>
            <a:off x="4572000" y="1901952"/>
            <a:ext cx="6949440" cy="1170432"/>
          </a:xfrm>
          <a:prstGeom prst="rect">
            <a:avLst/>
          </a:prstGeom>
          <a:noFill/>
          <a:ln/>
        </p:spPr>
        <p:txBody>
          <a:bodyPr wrap="square" lIns="0" tIns="0" rIns="0" bIns="0" rtlCol="0" anchor="ctr"/>
          <a:lstStyle/>
          <a:p>
            <a:pPr rtl="1" algn="r" indent="0" marL="0">
              <a:buNone/>
            </a:pPr>
            <a:r>
              <a:rPr lang="ar-SA" altLang="en-US" sz="2800" b="1" dirty="0">
                <a:solidFill>
                  <a:srgbClr val="1B3B6F"/>
                </a:solidFill>
                <a:latin typeface="Amiri" pitchFamily="2" charset="-78"/>
                <a:ea typeface="Amiri" pitchFamily="2" charset="-78"/>
                <a:cs typeface="Amiri" pitchFamily="2" charset="-78"/>
              </a:rPr>
              <a:t>مَدِينَتِي هَادِئَةٌ وَآمِنَةٌ.</a:t>
            </a:r>
            <a:endParaRPr lang="ar-SA" sz="2800" dirty="0"/>
          </a:p>
        </p:txBody>
      </p:sp>
      <p:sp>
        <p:nvSpPr>
          <p:cNvPr id="22" name="Shape 19"/>
          <p:cNvSpPr/>
          <p:nvPr/>
        </p:nvSpPr>
        <p:spPr>
          <a:xfrm>
            <a:off x="457200" y="3291840"/>
            <a:ext cx="11274552" cy="1353312"/>
          </a:xfrm>
          <a:prstGeom prst="roundRect">
            <a:avLst>
              <a:gd name="adj" fmla="val 5405"/>
            </a:avLst>
          </a:prstGeom>
          <a:solidFill>
            <a:srgbClr val="E6F4EC"/>
          </a:solidFill>
          <a:ln w="9525">
            <a:solidFill>
              <a:srgbClr val="9CCFB0"/>
            </a:solidFill>
            <a:prstDash val="solid"/>
          </a:ln>
          <a:effectLst>
            <a:outerShdw sx="100000" sy="100000" kx="0" ky="0" algn="bl" rotWithShape="0" blurRad="50800" dist="19050" dir="5400000">
              <a:srgbClr val="000000">
                <a:alpha val="10000"/>
              </a:srgbClr>
            </a:outerShdw>
          </a:effectLst>
        </p:spPr>
      </p:sp>
      <p:sp>
        <p:nvSpPr>
          <p:cNvPr id="23" name="Shape 20"/>
          <p:cNvSpPr/>
          <p:nvPr/>
        </p:nvSpPr>
        <p:spPr>
          <a:xfrm>
            <a:off x="640080" y="3429000"/>
            <a:ext cx="365760" cy="365760"/>
          </a:xfrm>
          <a:prstGeom prst="ellipse">
            <a:avLst/>
          </a:prstGeom>
          <a:solidFill>
            <a:srgbClr val="2E8B57"/>
          </a:solidFill>
          <a:ln w="12700">
            <a:solidFill>
              <a:srgbClr val="2E8B57"/>
            </a:solidFill>
            <a:prstDash val="solid"/>
          </a:ln>
        </p:spPr>
      </p:sp>
      <p:sp>
        <p:nvSpPr>
          <p:cNvPr id="24" name="Text 21"/>
          <p:cNvSpPr txBox="1"/>
          <p:nvPr/>
        </p:nvSpPr>
        <p:spPr>
          <a:xfrm>
            <a:off x="640080" y="3429000"/>
            <a:ext cx="365760" cy="365760"/>
          </a:xfrm>
          <a:prstGeom prst="rect">
            <a:avLst/>
          </a:prstGeom>
          <a:noFill/>
          <a:ln/>
        </p:spPr>
        <p:txBody>
          <a:bodyPr wrap="square" lIns="0" tIns="0" rIns="0" bIns="0" rtlCol="0" anchor="ctr"/>
          <a:lstStyle/>
          <a:p>
            <a:pPr algn="ctr" indent="0" marL="0">
              <a:buNone/>
            </a:pPr>
            <a:r>
              <a:rPr lang="en-US" sz="1200" b="1" dirty="0">
                <a:solidFill>
                  <a:srgbClr val="FFFFFF"/>
                </a:solidFill>
                <a:latin typeface="Calibri" pitchFamily="34" charset="0"/>
                <a:cs typeface="Amiri" pitchFamily="2" charset="-78"/>
              </a:rPr>
              <a:t>2</a:t>
            </a:r>
            <a:endParaRPr lang="en-US" sz="1200" dirty="0"/>
          </a:p>
        </p:txBody>
      </p:sp>
      <p:sp>
        <p:nvSpPr>
          <p:cNvPr id="25" name="Text 22"/>
          <p:cNvSpPr txBox="1"/>
          <p:nvPr/>
        </p:nvSpPr>
        <p:spPr>
          <a:xfrm>
            <a:off x="1143000" y="3383280"/>
            <a:ext cx="3291840" cy="457200"/>
          </a:xfrm>
          <a:prstGeom prst="rect">
            <a:avLst/>
          </a:prstGeom>
          <a:noFill/>
          <a:ln/>
        </p:spPr>
        <p:txBody>
          <a:bodyPr wrap="square" lIns="0" tIns="0" rIns="0" bIns="0" rtlCol="0" anchor="ctr"/>
          <a:lstStyle/>
          <a:p>
            <a:pPr algn="l" indent="0" marL="0">
              <a:buNone/>
            </a:pPr>
            <a:r>
              <a:rPr lang="en-US" sz="1300" b="1" dirty="0">
                <a:solidFill>
                  <a:srgbClr val="1B3B6F"/>
                </a:solidFill>
                <a:latin typeface="Calibri" pitchFamily="34" charset="0"/>
                <a:cs typeface="Amiri" pitchFamily="2" charset="-78"/>
              </a:rPr>
              <a:t>How much is this jacket?</a:t>
            </a:r>
            <a:endParaRPr lang="en-US" sz="1300" dirty="0"/>
          </a:p>
        </p:txBody>
      </p:sp>
      <p:sp>
        <p:nvSpPr>
          <p:cNvPr id="26" name="Text 23"/>
          <p:cNvSpPr txBox="1"/>
          <p:nvPr/>
        </p:nvSpPr>
        <p:spPr>
          <a:xfrm>
            <a:off x="1143000" y="3840480"/>
            <a:ext cx="3291840" cy="256032"/>
          </a:xfrm>
          <a:prstGeom prst="rect">
            <a:avLst/>
          </a:prstGeom>
          <a:noFill/>
          <a:ln/>
        </p:spPr>
        <p:txBody>
          <a:bodyPr wrap="square" lIns="0" tIns="0" rIns="0" bIns="0" rtlCol="0" anchor="ctr"/>
          <a:lstStyle/>
          <a:p>
            <a:pPr algn="l" indent="0" marL="0">
              <a:buNone/>
            </a:pPr>
            <a:r>
              <a:rPr lang="en-US" sz="1050" b="1" dirty="0">
                <a:solidFill>
                  <a:srgbClr val="1E6B52"/>
                </a:solidFill>
                <a:latin typeface="Calibri" pitchFamily="34" charset="0"/>
                <a:cs typeface="Amiri" pitchFamily="2" charset="-78"/>
              </a:rPr>
              <a:t>Columns = A · A · A</a:t>
            </a:r>
            <a:endParaRPr lang="en-US" sz="1050" dirty="0"/>
          </a:p>
        </p:txBody>
      </p:sp>
      <p:sp>
        <p:nvSpPr>
          <p:cNvPr id="27" name="Text 24"/>
          <p:cNvSpPr txBox="1"/>
          <p:nvPr/>
        </p:nvSpPr>
        <p:spPr>
          <a:xfrm>
            <a:off x="1143000" y="4114800"/>
            <a:ext cx="3291840" cy="438912"/>
          </a:xfrm>
          <a:prstGeom prst="rect">
            <a:avLst/>
          </a:prstGeom>
          <a:noFill/>
          <a:ln/>
        </p:spPr>
        <p:txBody>
          <a:bodyPr wrap="square" lIns="0" tIns="0" rIns="0" bIns="0" rtlCol="0" anchor="ctr"/>
          <a:lstStyle/>
          <a:p>
            <a:pPr algn="l" indent="0" marL="0">
              <a:buNone/>
            </a:pPr>
            <a:r>
              <a:rPr lang="ar-SA" altLang="en-US" sz="1350" dirty="0">
                <a:solidFill>
                  <a:srgbClr val="5A6472"/>
                </a:solidFill>
                <a:latin typeface="Amiri" pitchFamily="2" charset="-78"/>
                <a:ea typeface="Amiri" pitchFamily="2" charset="-78"/>
                <a:cs typeface="Amiri" pitchFamily="2" charset="-78"/>
              </a:rPr>
              <a:t>سُتْرَةٌ</a:t>
            </a:r>
            <a:pPr algn="l" indent="0" marL="0">
              <a:buNone/>
            </a:pPr>
            <a:r>
              <a:rPr lang="en-US" sz="1050" i="1" dirty="0">
                <a:solidFill>
                  <a:srgbClr val="5A6472"/>
                </a:solidFill>
                <a:latin typeface="Calibri" pitchFamily="34" charset="0"/>
                <a:cs typeface="Amiri" pitchFamily="2" charset="-78"/>
              </a:rPr>
              <a:t> (f.) → </a:t>
            </a:r>
            <a:pPr algn="l" indent="0" marL="0">
              <a:buNone/>
            </a:pPr>
            <a:r>
              <a:rPr lang="ar-SA" altLang="en-US" sz="1350" dirty="0">
                <a:solidFill>
                  <a:srgbClr val="5A6472"/>
                </a:solidFill>
                <a:latin typeface="Amiri" pitchFamily="2" charset="-78"/>
                <a:ea typeface="Amiri" pitchFamily="2" charset="-78"/>
                <a:cs typeface="Amiri" pitchFamily="2" charset="-78"/>
              </a:rPr>
              <a:t>هٰذِهِ</a:t>
            </a:r>
            <a:pPr algn="l" indent="0" marL="0">
              <a:buNone/>
            </a:pPr>
            <a:r>
              <a:rPr lang="en-US" sz="1050" i="1" dirty="0">
                <a:solidFill>
                  <a:srgbClr val="5A6472"/>
                </a:solidFill>
                <a:latin typeface="Calibri" pitchFamily="34" charset="0"/>
                <a:cs typeface="Amiri" pitchFamily="2" charset="-78"/>
              </a:rPr>
              <a:t>; </a:t>
            </a:r>
            <a:pPr algn="l" indent="0" marL="0">
              <a:buNone/>
            </a:pPr>
            <a:r>
              <a:rPr lang="ar-SA" altLang="en-US" sz="1350" dirty="0">
                <a:solidFill>
                  <a:srgbClr val="5A6472"/>
                </a:solidFill>
                <a:latin typeface="Amiri" pitchFamily="2" charset="-78"/>
                <a:ea typeface="Amiri" pitchFamily="2" charset="-78"/>
                <a:cs typeface="Amiri" pitchFamily="2" charset="-78"/>
              </a:rPr>
              <a:t>كَمْ ثَمَنُ</a:t>
            </a:r>
            <a:pPr algn="l" indent="0" marL="0">
              <a:buNone/>
            </a:pPr>
            <a:r>
              <a:rPr lang="en-US" sz="1050" i="1" dirty="0">
                <a:solidFill>
                  <a:srgbClr val="5A6472"/>
                </a:solidFill>
                <a:latin typeface="Calibri" pitchFamily="34" charset="0"/>
                <a:cs typeface="Amiri" pitchFamily="2" charset="-78"/>
              </a:rPr>
              <a:t> + genitive.</a:t>
            </a:r>
            <a:endParaRPr lang="en-US" sz="1050" dirty="0"/>
          </a:p>
        </p:txBody>
      </p:sp>
      <p:sp>
        <p:nvSpPr>
          <p:cNvPr id="28" name="Text 25"/>
          <p:cNvSpPr txBox="1"/>
          <p:nvPr/>
        </p:nvSpPr>
        <p:spPr>
          <a:xfrm>
            <a:off x="4572000" y="3383280"/>
            <a:ext cx="6949440" cy="1170432"/>
          </a:xfrm>
          <a:prstGeom prst="rect">
            <a:avLst/>
          </a:prstGeom>
          <a:noFill/>
          <a:ln/>
        </p:spPr>
        <p:txBody>
          <a:bodyPr wrap="square" lIns="0" tIns="0" rIns="0" bIns="0" rtlCol="0" anchor="ctr"/>
          <a:lstStyle/>
          <a:p>
            <a:pPr rtl="1" algn="r" indent="0" marL="0">
              <a:buNone/>
            </a:pPr>
            <a:r>
              <a:rPr lang="ar-SA" altLang="en-US" sz="2800" b="1" dirty="0">
                <a:solidFill>
                  <a:srgbClr val="1B3B6F"/>
                </a:solidFill>
                <a:latin typeface="Amiri" pitchFamily="2" charset="-78"/>
                <a:ea typeface="Amiri" pitchFamily="2" charset="-78"/>
                <a:cs typeface="Amiri" pitchFamily="2" charset="-78"/>
              </a:rPr>
              <a:t>كَمْ ثَمَنُ هٰذِهِ السُّتْرَةِ؟</a:t>
            </a:r>
            <a:endParaRPr lang="ar-SA" sz="2800" dirty="0"/>
          </a:p>
        </p:txBody>
      </p:sp>
      <p:sp>
        <p:nvSpPr>
          <p:cNvPr id="29" name="Shape 26"/>
          <p:cNvSpPr/>
          <p:nvPr/>
        </p:nvSpPr>
        <p:spPr>
          <a:xfrm>
            <a:off x="457200" y="4773168"/>
            <a:ext cx="11274552" cy="1353312"/>
          </a:xfrm>
          <a:prstGeom prst="roundRect">
            <a:avLst>
              <a:gd name="adj" fmla="val 5405"/>
            </a:avLst>
          </a:prstGeom>
          <a:solidFill>
            <a:srgbClr val="E6F4EC"/>
          </a:solidFill>
          <a:ln w="9525">
            <a:solidFill>
              <a:srgbClr val="9CCFB0"/>
            </a:solidFill>
            <a:prstDash val="solid"/>
          </a:ln>
          <a:effectLst>
            <a:outerShdw sx="100000" sy="100000" kx="0" ky="0" algn="bl" rotWithShape="0" blurRad="50800" dist="19050" dir="5400000">
              <a:srgbClr val="000000">
                <a:alpha val="10000"/>
              </a:srgbClr>
            </a:outerShdw>
          </a:effectLst>
        </p:spPr>
      </p:sp>
      <p:sp>
        <p:nvSpPr>
          <p:cNvPr id="30" name="Shape 27"/>
          <p:cNvSpPr/>
          <p:nvPr/>
        </p:nvSpPr>
        <p:spPr>
          <a:xfrm>
            <a:off x="640080" y="4910328"/>
            <a:ext cx="365760" cy="365760"/>
          </a:xfrm>
          <a:prstGeom prst="ellipse">
            <a:avLst/>
          </a:prstGeom>
          <a:solidFill>
            <a:srgbClr val="2E8B57"/>
          </a:solidFill>
          <a:ln w="12700">
            <a:solidFill>
              <a:srgbClr val="2E8B57"/>
            </a:solidFill>
            <a:prstDash val="solid"/>
          </a:ln>
        </p:spPr>
      </p:sp>
      <p:sp>
        <p:nvSpPr>
          <p:cNvPr id="31" name="Text 28"/>
          <p:cNvSpPr txBox="1"/>
          <p:nvPr/>
        </p:nvSpPr>
        <p:spPr>
          <a:xfrm>
            <a:off x="640080" y="4910328"/>
            <a:ext cx="365760" cy="365760"/>
          </a:xfrm>
          <a:prstGeom prst="rect">
            <a:avLst/>
          </a:prstGeom>
          <a:noFill/>
          <a:ln/>
        </p:spPr>
        <p:txBody>
          <a:bodyPr wrap="square" lIns="0" tIns="0" rIns="0" bIns="0" rtlCol="0" anchor="ctr"/>
          <a:lstStyle/>
          <a:p>
            <a:pPr algn="ctr" indent="0" marL="0">
              <a:buNone/>
            </a:pPr>
            <a:r>
              <a:rPr lang="en-US" sz="1200" b="1" dirty="0">
                <a:solidFill>
                  <a:srgbClr val="FFFFFF"/>
                </a:solidFill>
                <a:latin typeface="Calibri" pitchFamily="34" charset="0"/>
                <a:cs typeface="Amiri" pitchFamily="2" charset="-78"/>
              </a:rPr>
              <a:t>3</a:t>
            </a:r>
            <a:endParaRPr lang="en-US" sz="1200" dirty="0"/>
          </a:p>
        </p:txBody>
      </p:sp>
      <p:sp>
        <p:nvSpPr>
          <p:cNvPr id="32" name="Text 29"/>
          <p:cNvSpPr txBox="1"/>
          <p:nvPr/>
        </p:nvSpPr>
        <p:spPr>
          <a:xfrm>
            <a:off x="1143000" y="4864608"/>
            <a:ext cx="3291840" cy="457200"/>
          </a:xfrm>
          <a:prstGeom prst="rect">
            <a:avLst/>
          </a:prstGeom>
          <a:noFill/>
          <a:ln/>
        </p:spPr>
        <p:txBody>
          <a:bodyPr wrap="square" lIns="0" tIns="0" rIns="0" bIns="0" rtlCol="0" anchor="ctr"/>
          <a:lstStyle/>
          <a:p>
            <a:pPr algn="l" indent="0" marL="0">
              <a:buNone/>
            </a:pPr>
            <a:r>
              <a:rPr lang="en-US" sz="1300" b="1" dirty="0">
                <a:solidFill>
                  <a:srgbClr val="1B3B6F"/>
                </a:solidFill>
                <a:latin typeface="Calibri" pitchFamily="34" charset="0"/>
                <a:cs typeface="Amiri" pitchFamily="2" charset="-78"/>
              </a:rPr>
              <a:t>One advantage is that the park is big.</a:t>
            </a:r>
            <a:endParaRPr lang="en-US" sz="1300" dirty="0"/>
          </a:p>
        </p:txBody>
      </p:sp>
      <p:sp>
        <p:nvSpPr>
          <p:cNvPr id="33" name="Text 30"/>
          <p:cNvSpPr txBox="1"/>
          <p:nvPr/>
        </p:nvSpPr>
        <p:spPr>
          <a:xfrm>
            <a:off x="1143000" y="5321808"/>
            <a:ext cx="3291840" cy="256032"/>
          </a:xfrm>
          <a:prstGeom prst="rect">
            <a:avLst/>
          </a:prstGeom>
          <a:noFill/>
          <a:ln/>
        </p:spPr>
        <p:txBody>
          <a:bodyPr wrap="square" lIns="0" tIns="0" rIns="0" bIns="0" rtlCol="0" anchor="ctr"/>
          <a:lstStyle/>
          <a:p>
            <a:pPr algn="l" indent="0" marL="0">
              <a:buNone/>
            </a:pPr>
            <a:r>
              <a:rPr lang="en-US" sz="1050" b="1" dirty="0">
                <a:solidFill>
                  <a:srgbClr val="1E6B52"/>
                </a:solidFill>
                <a:latin typeface="Calibri" pitchFamily="34" charset="0"/>
                <a:cs typeface="Amiri" pitchFamily="2" charset="-78"/>
              </a:rPr>
              <a:t>Columns = A · A · A</a:t>
            </a:r>
            <a:endParaRPr lang="en-US" sz="1050" dirty="0"/>
          </a:p>
        </p:txBody>
      </p:sp>
      <p:sp>
        <p:nvSpPr>
          <p:cNvPr id="34" name="Text 31"/>
          <p:cNvSpPr txBox="1"/>
          <p:nvPr/>
        </p:nvSpPr>
        <p:spPr>
          <a:xfrm>
            <a:off x="1143000" y="5596128"/>
            <a:ext cx="3291840" cy="438912"/>
          </a:xfrm>
          <a:prstGeom prst="rect">
            <a:avLst/>
          </a:prstGeom>
          <a:noFill/>
          <a:ln/>
        </p:spPr>
        <p:txBody>
          <a:bodyPr wrap="square" lIns="0" tIns="0" rIns="0" bIns="0" rtlCol="0" anchor="ctr"/>
          <a:lstStyle/>
          <a:p>
            <a:pPr algn="l" indent="0" marL="0">
              <a:buNone/>
            </a:pPr>
            <a:r>
              <a:rPr lang="ar-SA" altLang="en-US" sz="1350" dirty="0">
                <a:solidFill>
                  <a:srgbClr val="5A6472"/>
                </a:solidFill>
                <a:latin typeface="Amiri" pitchFamily="2" charset="-78"/>
                <a:ea typeface="Amiri" pitchFamily="2" charset="-78"/>
                <a:cs typeface="Amiri" pitchFamily="2" charset="-78"/>
              </a:rPr>
              <a:t>أَنَّ</a:t>
            </a:r>
            <a:pPr algn="l" indent="0" marL="0">
              <a:buNone/>
            </a:pPr>
            <a:r>
              <a:rPr lang="en-US" sz="1050" i="1" dirty="0">
                <a:solidFill>
                  <a:srgbClr val="5A6472"/>
                </a:solidFill>
                <a:latin typeface="Calibri" pitchFamily="34" charset="0"/>
                <a:cs typeface="Amiri" pitchFamily="2" charset="-78"/>
              </a:rPr>
              <a:t> + noun in -a + adjective in -un.</a:t>
            </a:r>
            <a:endParaRPr lang="en-US" sz="1050" dirty="0"/>
          </a:p>
        </p:txBody>
      </p:sp>
      <p:sp>
        <p:nvSpPr>
          <p:cNvPr id="35" name="Text 32"/>
          <p:cNvSpPr txBox="1"/>
          <p:nvPr/>
        </p:nvSpPr>
        <p:spPr>
          <a:xfrm>
            <a:off x="4572000" y="4864608"/>
            <a:ext cx="6949440" cy="1170432"/>
          </a:xfrm>
          <a:prstGeom prst="rect">
            <a:avLst/>
          </a:prstGeom>
          <a:noFill/>
          <a:ln/>
        </p:spPr>
        <p:txBody>
          <a:bodyPr wrap="square" lIns="0" tIns="0" rIns="0" bIns="0" rtlCol="0" anchor="ctr"/>
          <a:lstStyle/>
          <a:p>
            <a:pPr rtl="1" algn="r" indent="0" marL="0">
              <a:buNone/>
            </a:pPr>
            <a:r>
              <a:rPr lang="ar-SA" altLang="en-US" sz="2800" b="1" dirty="0">
                <a:solidFill>
                  <a:srgbClr val="1B3B6F"/>
                </a:solidFill>
                <a:latin typeface="Amiri" pitchFamily="2" charset="-78"/>
                <a:ea typeface="Amiri" pitchFamily="2" charset="-78"/>
                <a:cs typeface="Amiri" pitchFamily="2" charset="-78"/>
              </a:rPr>
              <a:t>مِنْ مَزَايَاهَا أَنَّ الحَدِيقَةَ كَبِيرَةٌ.</a:t>
            </a:r>
            <a:endParaRPr lang="ar-SA" sz="2800" dirty="0"/>
          </a:p>
        </p:txBody>
      </p:sp>
      <p:sp>
        <p:nvSpPr>
          <p:cNvPr id="36" name="Text 33"/>
          <p:cNvSpPr txBox="1"/>
          <p:nvPr/>
        </p:nvSpPr>
        <p:spPr>
          <a:xfrm>
            <a:off x="10360152" y="6455664"/>
            <a:ext cx="1371600" cy="219456"/>
          </a:xfrm>
          <a:prstGeom prst="rect">
            <a:avLst/>
          </a:prstGeom>
          <a:noFill/>
          <a:ln/>
        </p:spPr>
        <p:txBody>
          <a:bodyPr wrap="square" lIns="0" tIns="0" rIns="0" bIns="0" rtlCol="0" anchor="ctr"/>
          <a:lstStyle/>
          <a:p>
            <a:pPr algn="r" indent="0" marL="0">
              <a:buNone/>
            </a:pPr>
            <a:r>
              <a:rPr lang="en-US" sz="850" dirty="0">
                <a:solidFill>
                  <a:srgbClr val="8A93A0"/>
                </a:solidFill>
                <a:latin typeface="Calibri" pitchFamily="34" charset="0"/>
                <a:cs typeface="Amiri" pitchFamily="2" charset="-78"/>
              </a:rPr>
              <a:t>15 / 24</a:t>
            </a:r>
            <a:endParaRPr lang="en-US" sz="850" dirty="0"/>
          </a:p>
        </p:txBody>
      </p:sp>
    </p:spTree>
  </p:cSld>
  <p:clrMapOvr>
    <a:masterClrMapping/>
  </p:clrMapOvr>
</p:sld>
</file>

<file path=ppt/slides/slide16.xml><?xml version="1.0" encoding="utf-8"?>
<p:sld xmlns:a="http://schemas.openxmlformats.org/drawingml/2006/main" xmlns:r="http://schemas.openxmlformats.org/officeDocument/2006/relationships" xmlns:p="http://schemas.openxmlformats.org/presentationml/2006/main">
  <p:cSld name="Slide 16">
    <p:bg>
      <p:bgPr>
        <a:solidFill>
          <a:srgbClr val="FFFDF8"/>
        </a:solidFill>
      </p:bgPr>
    </p:bg>
    <p:spTree>
      <p:nvGrpSpPr>
        <p:cNvPr id="1" name=""/>
        <p:cNvGrpSpPr/>
        <p:nvPr/>
      </p:nvGrpSpPr>
      <p:grpSpPr>
        <a:xfrm>
          <a:off x="0" y="0"/>
          <a:ext cx="0" cy="0"/>
          <a:chOff x="0" y="0"/>
          <a:chExt cx="0" cy="0"/>
        </a:xfrm>
      </p:grpSpPr>
      <p:sp>
        <p:nvSpPr>
          <p:cNvPr id="2" name="Shape 0"/>
          <p:cNvSpPr/>
          <p:nvPr/>
        </p:nvSpPr>
        <p:spPr>
          <a:xfrm>
            <a:off x="457200" y="237744"/>
            <a:ext cx="420624" cy="420624"/>
          </a:xfrm>
          <a:prstGeom prst="ellipse">
            <a:avLst/>
          </a:prstGeom>
          <a:solidFill>
            <a:srgbClr val="1B3B6F"/>
          </a:solidFill>
          <a:ln w="12700">
            <a:solidFill>
              <a:srgbClr val="D4AF37"/>
            </a:solidFill>
            <a:prstDash val="solid"/>
          </a:ln>
        </p:spPr>
      </p:sp>
      <p:sp>
        <p:nvSpPr>
          <p:cNvPr id="3" name="Text 1"/>
          <p:cNvSpPr txBox="1"/>
          <p:nvPr/>
        </p:nvSpPr>
        <p:spPr>
          <a:xfrm>
            <a:off x="457200" y="219456"/>
            <a:ext cx="420624" cy="420624"/>
          </a:xfrm>
          <a:prstGeom prst="rect">
            <a:avLst/>
          </a:prstGeom>
          <a:noFill/>
          <a:ln/>
        </p:spPr>
        <p:txBody>
          <a:bodyPr wrap="square" lIns="0" tIns="0" rIns="0" bIns="0" rtlCol="0" anchor="ctr"/>
          <a:lstStyle/>
          <a:p>
            <a:pPr rtl="1" algn="ctr" indent="0" marL="0">
              <a:buNone/>
            </a:pPr>
            <a:r>
              <a:rPr lang="ar-SA" altLang="en-US" sz="1800" b="1" dirty="0">
                <a:solidFill>
                  <a:srgbClr val="D4AF37"/>
                </a:solidFill>
                <a:latin typeface="Amiri" pitchFamily="2" charset="-78"/>
                <a:ea typeface="Amiri" pitchFamily="2" charset="-78"/>
                <a:cs typeface="Amiri" pitchFamily="2" charset="-78"/>
              </a:rPr>
              <a:t>م</a:t>
            </a:r>
            <a:endParaRPr lang="ar-SA" sz="1800" dirty="0"/>
          </a:p>
        </p:txBody>
      </p:sp>
      <p:sp>
        <p:nvSpPr>
          <p:cNvPr id="4" name="Text 2"/>
          <p:cNvSpPr txBox="1"/>
          <p:nvPr/>
        </p:nvSpPr>
        <p:spPr>
          <a:xfrm>
            <a:off x="960120" y="219456"/>
            <a:ext cx="3657600" cy="256032"/>
          </a:xfrm>
          <a:prstGeom prst="rect">
            <a:avLst/>
          </a:prstGeom>
          <a:noFill/>
          <a:ln/>
        </p:spPr>
        <p:txBody>
          <a:bodyPr wrap="square" lIns="0" tIns="0" rIns="0" bIns="0" rtlCol="0" anchor="ctr"/>
          <a:lstStyle/>
          <a:p>
            <a:pPr indent="0" marL="0">
              <a:buNone/>
            </a:pPr>
            <a:r>
              <a:rPr lang="en-US" sz="1200" b="1" dirty="0">
                <a:solidFill>
                  <a:srgbClr val="1B3B6F"/>
                </a:solidFill>
                <a:latin typeface="Cambria" pitchFamily="34" charset="0"/>
                <a:cs typeface="Amiri" pitchFamily="2" charset="-78"/>
              </a:rPr>
              <a:t>Al Madina Online School</a:t>
            </a:r>
            <a:endParaRPr lang="en-US" sz="1200" dirty="0"/>
          </a:p>
        </p:txBody>
      </p:sp>
      <p:sp>
        <p:nvSpPr>
          <p:cNvPr id="5" name="Text 3"/>
          <p:cNvSpPr txBox="1"/>
          <p:nvPr/>
        </p:nvSpPr>
        <p:spPr>
          <a:xfrm>
            <a:off x="960120" y="457200"/>
            <a:ext cx="4572000" cy="182880"/>
          </a:xfrm>
          <a:prstGeom prst="rect">
            <a:avLst/>
          </a:prstGeom>
          <a:noFill/>
          <a:ln/>
        </p:spPr>
        <p:txBody>
          <a:bodyPr wrap="square" lIns="0" tIns="0" rIns="0" bIns="0" rtlCol="0" anchor="ctr"/>
          <a:lstStyle/>
          <a:p>
            <a:pPr indent="0" marL="0">
              <a:buNone/>
            </a:pPr>
            <a:r>
              <a:rPr lang="en-US" sz="800" b="1" spc="200" kern="0" dirty="0">
                <a:solidFill>
                  <a:srgbClr val="8A6D1E"/>
                </a:solidFill>
                <a:latin typeface="Calibri" pitchFamily="34" charset="0"/>
                <a:cs typeface="Amiri" pitchFamily="2" charset="-78"/>
              </a:rPr>
              <a:t>ARABIC DEPARTMENT · MIFTAH ARABIC · IGCSE 0544</a:t>
            </a:r>
            <a:endParaRPr lang="en-US" sz="800" dirty="0"/>
          </a:p>
        </p:txBody>
      </p:sp>
      <p:sp>
        <p:nvSpPr>
          <p:cNvPr id="6" name="Shape 4"/>
          <p:cNvSpPr/>
          <p:nvPr/>
        </p:nvSpPr>
        <p:spPr>
          <a:xfrm>
            <a:off x="8897112" y="274320"/>
            <a:ext cx="2834640" cy="329184"/>
          </a:xfrm>
          <a:prstGeom prst="roundRect">
            <a:avLst>
              <a:gd name="adj" fmla="val 50000"/>
            </a:avLst>
          </a:prstGeom>
          <a:solidFill>
            <a:srgbClr val="1B3B6F"/>
          </a:solidFill>
          <a:ln w="12700">
            <a:solidFill>
              <a:srgbClr val="1B3B6F"/>
            </a:solidFill>
            <a:prstDash val="solid"/>
          </a:ln>
        </p:spPr>
      </p:sp>
      <p:sp>
        <p:nvSpPr>
          <p:cNvPr id="7" name="Text 5"/>
          <p:cNvSpPr txBox="1"/>
          <p:nvPr/>
        </p:nvSpPr>
        <p:spPr>
          <a:xfrm>
            <a:off x="8897112" y="274320"/>
            <a:ext cx="2834640" cy="329184"/>
          </a:xfrm>
          <a:prstGeom prst="rect">
            <a:avLst/>
          </a:prstGeom>
          <a:noFill/>
          <a:ln/>
        </p:spPr>
        <p:txBody>
          <a:bodyPr wrap="square" lIns="0" tIns="0" rIns="0" bIns="0" rtlCol="0" anchor="ctr"/>
          <a:lstStyle/>
          <a:p>
            <a:pPr algn="ctr" indent="0" marL="0">
              <a:buNone/>
            </a:pPr>
            <a:r>
              <a:rPr lang="en-US" sz="950" b="1" spc="100" kern="0" dirty="0">
                <a:solidFill>
                  <a:srgbClr val="FFFFFF"/>
                </a:solidFill>
                <a:latin typeface="Calibri" pitchFamily="34" charset="0"/>
                <a:cs typeface="Amiri" pitchFamily="2" charset="-78"/>
              </a:rPr>
              <a:t>F6-W03 · Apply workshop</a:t>
            </a:r>
            <a:endParaRPr lang="en-US" sz="950" dirty="0"/>
          </a:p>
        </p:txBody>
      </p:sp>
      <p:sp>
        <p:nvSpPr>
          <p:cNvPr id="8" name="Shape 6"/>
          <p:cNvSpPr/>
          <p:nvPr/>
        </p:nvSpPr>
        <p:spPr>
          <a:xfrm>
            <a:off x="7370978" y="274320"/>
            <a:ext cx="1388974" cy="329184"/>
          </a:xfrm>
          <a:prstGeom prst="roundRect">
            <a:avLst>
              <a:gd name="adj" fmla="val 50000"/>
            </a:avLst>
          </a:prstGeom>
          <a:solidFill>
            <a:srgbClr val="2F6FB0"/>
          </a:solidFill>
          <a:ln w="12700">
            <a:solidFill>
              <a:srgbClr val="2F6FB0"/>
            </a:solidFill>
            <a:prstDash val="solid"/>
          </a:ln>
        </p:spPr>
      </p:sp>
      <p:sp>
        <p:nvSpPr>
          <p:cNvPr id="9" name="Text 7"/>
          <p:cNvSpPr txBox="1"/>
          <p:nvPr/>
        </p:nvSpPr>
        <p:spPr>
          <a:xfrm>
            <a:off x="7370978" y="274320"/>
            <a:ext cx="1388974" cy="329184"/>
          </a:xfrm>
          <a:prstGeom prst="rect">
            <a:avLst/>
          </a:prstGeom>
          <a:noFill/>
          <a:ln/>
        </p:spPr>
        <p:txBody>
          <a:bodyPr wrap="square" lIns="0" tIns="0" rIns="0" bIns="0" rtlCol="0" anchor="ctr"/>
          <a:lstStyle/>
          <a:p>
            <a:pPr algn="ctr" indent="0" marL="0">
              <a:buNone/>
            </a:pPr>
            <a:r>
              <a:rPr lang="en-US" sz="900" b="1" spc="100" kern="0" dirty="0">
                <a:solidFill>
                  <a:srgbClr val="FFFFFF"/>
                </a:solidFill>
                <a:latin typeface="Calibri" pitchFamily="34" charset="0"/>
                <a:cs typeface="Amiri" pitchFamily="2" charset="-78"/>
              </a:rPr>
              <a:t>WE DO · 3 MIN</a:t>
            </a:r>
            <a:endParaRPr lang="en-US" sz="900" dirty="0"/>
          </a:p>
        </p:txBody>
      </p:sp>
      <p:sp>
        <p:nvSpPr>
          <p:cNvPr id="10" name="Text 8"/>
          <p:cNvSpPr txBox="1"/>
          <p:nvPr/>
        </p:nvSpPr>
        <p:spPr>
          <a:xfrm>
            <a:off x="457200" y="822960"/>
            <a:ext cx="6949440" cy="237744"/>
          </a:xfrm>
          <a:prstGeom prst="rect">
            <a:avLst/>
          </a:prstGeom>
          <a:noFill/>
          <a:ln/>
        </p:spPr>
        <p:txBody>
          <a:bodyPr wrap="square" lIns="0" tIns="0" rIns="0" bIns="0" rtlCol="0" anchor="ctr"/>
          <a:lstStyle/>
          <a:p>
            <a:pPr algn="l" indent="0" marL="0">
              <a:buNone/>
            </a:pPr>
            <a:r>
              <a:rPr lang="en-US" sz="1000" b="1" spc="300" kern="0" dirty="0">
                <a:solidFill>
                  <a:srgbClr val="2F6FB0"/>
                </a:solidFill>
                <a:latin typeface="Calibri" pitchFamily="34" charset="0"/>
                <a:cs typeface="Amiri" pitchFamily="2" charset="-78"/>
              </a:rPr>
              <a:t>STEP 8 · SPOT AND FIX · MISTAKES FROM BOTH LESSONS</a:t>
            </a:r>
            <a:endParaRPr lang="en-US" sz="1000" dirty="0"/>
          </a:p>
        </p:txBody>
      </p:sp>
      <p:sp>
        <p:nvSpPr>
          <p:cNvPr id="11" name="Text 9"/>
          <p:cNvSpPr txBox="1"/>
          <p:nvPr/>
        </p:nvSpPr>
        <p:spPr>
          <a:xfrm>
            <a:off x="457200" y="1033272"/>
            <a:ext cx="6949440" cy="566928"/>
          </a:xfrm>
          <a:prstGeom prst="rect">
            <a:avLst/>
          </a:prstGeom>
          <a:noFill/>
          <a:ln/>
        </p:spPr>
        <p:txBody>
          <a:bodyPr wrap="square" lIns="0" tIns="0" rIns="0" bIns="0" rtlCol="0" anchor="ctr"/>
          <a:lstStyle/>
          <a:p>
            <a:pPr algn="l" indent="0" marL="0">
              <a:buNone/>
            </a:pPr>
            <a:r>
              <a:rPr lang="en-US" sz="2800" b="1" dirty="0">
                <a:solidFill>
                  <a:srgbClr val="1B3B6F"/>
                </a:solidFill>
                <a:latin typeface="Cambria" pitchFamily="34" charset="0"/>
                <a:cs typeface="Amiri" pitchFamily="2" charset="-78"/>
              </a:rPr>
              <a:t>Find the mistake, fix it</a:t>
            </a:r>
            <a:endParaRPr lang="en-US" sz="2800" dirty="0"/>
          </a:p>
        </p:txBody>
      </p:sp>
      <p:sp>
        <p:nvSpPr>
          <p:cNvPr id="12" name="Text 10"/>
          <p:cNvSpPr txBox="1"/>
          <p:nvPr/>
        </p:nvSpPr>
        <p:spPr>
          <a:xfrm>
            <a:off x="7498080" y="868680"/>
            <a:ext cx="4233672" cy="749808"/>
          </a:xfrm>
          <a:prstGeom prst="rect">
            <a:avLst/>
          </a:prstGeom>
          <a:noFill/>
          <a:ln/>
        </p:spPr>
        <p:txBody>
          <a:bodyPr wrap="square" lIns="0" tIns="0" rIns="0" bIns="0" rtlCol="0" anchor="ctr"/>
          <a:lstStyle/>
          <a:p>
            <a:pPr rtl="1" algn="r" indent="0" marL="0">
              <a:buNone/>
            </a:pPr>
            <a:r>
              <a:rPr lang="ar-SA" altLang="en-US" sz="2800" b="1" dirty="0">
                <a:solidFill>
                  <a:srgbClr val="8A6D1E"/>
                </a:solidFill>
                <a:latin typeface="Amiri" pitchFamily="2" charset="-78"/>
                <a:ea typeface="Amiri" pitchFamily="2" charset="-78"/>
                <a:cs typeface="Amiri" pitchFamily="2" charset="-78"/>
              </a:rPr>
              <a:t>اكْتَشِفِ الخَطَأَ</a:t>
            </a:r>
            <a:endParaRPr lang="ar-SA" sz="2800" dirty="0"/>
          </a:p>
        </p:txBody>
      </p:sp>
      <p:sp>
        <p:nvSpPr>
          <p:cNvPr id="13" name="Text 11"/>
          <p:cNvSpPr txBox="1"/>
          <p:nvPr/>
        </p:nvSpPr>
        <p:spPr>
          <a:xfrm>
            <a:off x="457200" y="6455664"/>
            <a:ext cx="6400800" cy="219456"/>
          </a:xfrm>
          <a:prstGeom prst="rect">
            <a:avLst/>
          </a:prstGeom>
          <a:noFill/>
          <a:ln/>
        </p:spPr>
        <p:txBody>
          <a:bodyPr wrap="square" lIns="0" tIns="0" rIns="0" bIns="0" rtlCol="0" anchor="ctr"/>
          <a:lstStyle/>
          <a:p>
            <a:pPr indent="0" marL="0">
              <a:buNone/>
            </a:pPr>
            <a:r>
              <a:rPr lang="en-US" sz="850" dirty="0">
                <a:solidFill>
                  <a:srgbClr val="8A93A0"/>
                </a:solidFill>
                <a:latin typeface="Calibri" pitchFamily="34" charset="0"/>
                <a:cs typeface="Amiri" pitchFamily="2" charset="-78"/>
              </a:rPr>
              <a:t>Miftah Arabic · Foundation F6 · My Town and Transport · F6-W03 · Apply workshop (F6-L05 + F6-L06)</a:t>
            </a:r>
            <a:endParaRPr lang="en-US" sz="850" dirty="0"/>
          </a:p>
        </p:txBody>
      </p:sp>
      <p:sp>
        <p:nvSpPr>
          <p:cNvPr id="15" name="Shape 12"/>
          <p:cNvSpPr/>
          <p:nvPr/>
        </p:nvSpPr>
        <p:spPr>
          <a:xfrm>
            <a:off x="457200" y="1810512"/>
            <a:ext cx="11274552" cy="1298448"/>
          </a:xfrm>
          <a:prstGeom prst="roundRect">
            <a:avLst>
              <a:gd name="adj" fmla="val 5634"/>
            </a:avLst>
          </a:prstGeom>
          <a:solidFill>
            <a:srgbClr val="FBEAEA"/>
          </a:solidFill>
          <a:ln w="9525">
            <a:solidFill>
              <a:srgbClr val="E3B4AE"/>
            </a:solidFill>
            <a:prstDash val="solid"/>
          </a:ln>
          <a:effectLst>
            <a:outerShdw sx="100000" sy="100000" kx="0" ky="0" algn="bl" rotWithShape="0" blurRad="50800" dist="19050" dir="5400000">
              <a:srgbClr val="000000">
                <a:alpha val="10000"/>
              </a:srgbClr>
            </a:outerShdw>
          </a:effectLst>
        </p:spPr>
      </p:sp>
      <p:sp>
        <p:nvSpPr>
          <p:cNvPr id="16" name="Shape 13"/>
          <p:cNvSpPr/>
          <p:nvPr/>
        </p:nvSpPr>
        <p:spPr>
          <a:xfrm>
            <a:off x="11183112" y="2249424"/>
            <a:ext cx="402336" cy="402336"/>
          </a:xfrm>
          <a:prstGeom prst="ellipse">
            <a:avLst/>
          </a:prstGeom>
          <a:solidFill>
            <a:srgbClr val="B83227"/>
          </a:solidFill>
          <a:ln w="12700">
            <a:solidFill>
              <a:srgbClr val="B83227"/>
            </a:solidFill>
            <a:prstDash val="solid"/>
          </a:ln>
        </p:spPr>
      </p:sp>
      <p:sp>
        <p:nvSpPr>
          <p:cNvPr id="17" name="Text 14"/>
          <p:cNvSpPr txBox="1"/>
          <p:nvPr/>
        </p:nvSpPr>
        <p:spPr>
          <a:xfrm>
            <a:off x="11183112" y="2249424"/>
            <a:ext cx="402336" cy="402336"/>
          </a:xfrm>
          <a:prstGeom prst="rect">
            <a:avLst/>
          </a:prstGeom>
          <a:noFill/>
          <a:ln/>
        </p:spPr>
        <p:txBody>
          <a:bodyPr wrap="square" lIns="0" tIns="0" rIns="0" bIns="0" rtlCol="0" anchor="ctr"/>
          <a:lstStyle/>
          <a:p>
            <a:pPr algn="ctr" indent="0" marL="0">
              <a:buNone/>
            </a:pPr>
            <a:r>
              <a:rPr lang="en-US" sz="1300" b="1" dirty="0">
                <a:solidFill>
                  <a:srgbClr val="FFFFFF"/>
                </a:solidFill>
                <a:latin typeface="Calibri" pitchFamily="34" charset="0"/>
                <a:cs typeface="Amiri" pitchFamily="2" charset="-78"/>
              </a:rPr>
              <a:t>1</a:t>
            </a:r>
            <a:endParaRPr lang="en-US" sz="1300" dirty="0"/>
          </a:p>
        </p:txBody>
      </p:sp>
      <p:sp>
        <p:nvSpPr>
          <p:cNvPr id="18" name="Text 15"/>
          <p:cNvSpPr txBox="1"/>
          <p:nvPr/>
        </p:nvSpPr>
        <p:spPr>
          <a:xfrm>
            <a:off x="4023360" y="1901952"/>
            <a:ext cx="6976872" cy="1097280"/>
          </a:xfrm>
          <a:prstGeom prst="rect">
            <a:avLst/>
          </a:prstGeom>
          <a:noFill/>
          <a:ln/>
        </p:spPr>
        <p:txBody>
          <a:bodyPr wrap="square" lIns="0" tIns="0" rIns="0" bIns="0" rtlCol="0" anchor="ctr"/>
          <a:lstStyle/>
          <a:p>
            <a:pPr rtl="1" algn="r" indent="0" marL="0">
              <a:buNone/>
            </a:pPr>
            <a:r>
              <a:rPr lang="ar-SA" altLang="en-US" sz="3000" b="1" dirty="0">
                <a:solidFill>
                  <a:srgbClr val="B83227"/>
                </a:solidFill>
                <a:latin typeface="Amiri" pitchFamily="2" charset="-78"/>
                <a:ea typeface="Amiri" pitchFamily="2" charset="-78"/>
                <a:cs typeface="Amiri" pitchFamily="2" charset="-78"/>
              </a:rPr>
              <a:t>مَدِينَتِي مُكْتَظٌّ وَصَاخِبٌ.</a:t>
            </a:r>
            <a:endParaRPr lang="ar-SA" sz="3000" dirty="0"/>
          </a:p>
        </p:txBody>
      </p:sp>
      <p:sp>
        <p:nvSpPr>
          <p:cNvPr id="19" name="Text 16"/>
          <p:cNvSpPr txBox="1"/>
          <p:nvPr/>
        </p:nvSpPr>
        <p:spPr>
          <a:xfrm>
            <a:off x="731520" y="1901952"/>
            <a:ext cx="3200400" cy="1097280"/>
          </a:xfrm>
          <a:prstGeom prst="rect">
            <a:avLst/>
          </a:prstGeom>
          <a:noFill/>
          <a:ln/>
        </p:spPr>
        <p:txBody>
          <a:bodyPr wrap="square" lIns="0" tIns="0" rIns="0" bIns="0" rtlCol="0" anchor="ctr"/>
          <a:lstStyle/>
          <a:p>
            <a:pPr algn="l" indent="0" marL="0">
              <a:buNone/>
            </a:pPr>
            <a:r>
              <a:rPr lang="ar-SA" altLang="en-US" sz="1700" dirty="0">
                <a:solidFill>
                  <a:srgbClr val="5A6472"/>
                </a:solidFill>
                <a:latin typeface="Amiri" pitchFamily="2" charset="-78"/>
                <a:ea typeface="Amiri" pitchFamily="2" charset="-78"/>
                <a:cs typeface="Amiri" pitchFamily="2" charset="-78"/>
              </a:rPr>
              <a:t>مَدِينَةٌ</a:t>
            </a:r>
            <a:pPr algn="l" indent="0" marL="0">
              <a:buNone/>
            </a:pPr>
            <a:r>
              <a:rPr lang="en-US" sz="1300" i="1" dirty="0">
                <a:solidFill>
                  <a:srgbClr val="5A6472"/>
                </a:solidFill>
                <a:latin typeface="Calibri" pitchFamily="34" charset="0"/>
                <a:cs typeface="Amiri" pitchFamily="2" charset="-78"/>
              </a:rPr>
              <a:t> is feminine.</a:t>
            </a:r>
            <a:endParaRPr lang="en-US" sz="1300" dirty="0"/>
          </a:p>
        </p:txBody>
      </p:sp>
      <p:sp>
        <p:nvSpPr>
          <p:cNvPr id="20" name="Shape 17"/>
          <p:cNvSpPr/>
          <p:nvPr/>
        </p:nvSpPr>
        <p:spPr>
          <a:xfrm>
            <a:off x="457200" y="3255264"/>
            <a:ext cx="11274552" cy="1298448"/>
          </a:xfrm>
          <a:prstGeom prst="roundRect">
            <a:avLst>
              <a:gd name="adj" fmla="val 5634"/>
            </a:avLst>
          </a:prstGeom>
          <a:solidFill>
            <a:srgbClr val="FBEAEA"/>
          </a:solidFill>
          <a:ln w="9525">
            <a:solidFill>
              <a:srgbClr val="E3B4AE"/>
            </a:solidFill>
            <a:prstDash val="solid"/>
          </a:ln>
          <a:effectLst>
            <a:outerShdw sx="100000" sy="100000" kx="0" ky="0" algn="bl" rotWithShape="0" blurRad="50800" dist="19050" dir="5400000">
              <a:srgbClr val="000000">
                <a:alpha val="10000"/>
              </a:srgbClr>
            </a:outerShdw>
          </a:effectLst>
        </p:spPr>
      </p:sp>
      <p:sp>
        <p:nvSpPr>
          <p:cNvPr id="21" name="Shape 18"/>
          <p:cNvSpPr/>
          <p:nvPr/>
        </p:nvSpPr>
        <p:spPr>
          <a:xfrm>
            <a:off x="11183112" y="3694176"/>
            <a:ext cx="402336" cy="402336"/>
          </a:xfrm>
          <a:prstGeom prst="ellipse">
            <a:avLst/>
          </a:prstGeom>
          <a:solidFill>
            <a:srgbClr val="B83227"/>
          </a:solidFill>
          <a:ln w="12700">
            <a:solidFill>
              <a:srgbClr val="B83227"/>
            </a:solidFill>
            <a:prstDash val="solid"/>
          </a:ln>
        </p:spPr>
      </p:sp>
      <p:sp>
        <p:nvSpPr>
          <p:cNvPr id="22" name="Text 19"/>
          <p:cNvSpPr txBox="1"/>
          <p:nvPr/>
        </p:nvSpPr>
        <p:spPr>
          <a:xfrm>
            <a:off x="11183112" y="3694176"/>
            <a:ext cx="402336" cy="402336"/>
          </a:xfrm>
          <a:prstGeom prst="rect">
            <a:avLst/>
          </a:prstGeom>
          <a:noFill/>
          <a:ln/>
        </p:spPr>
        <p:txBody>
          <a:bodyPr wrap="square" lIns="0" tIns="0" rIns="0" bIns="0" rtlCol="0" anchor="ctr"/>
          <a:lstStyle/>
          <a:p>
            <a:pPr algn="ctr" indent="0" marL="0">
              <a:buNone/>
            </a:pPr>
            <a:r>
              <a:rPr lang="en-US" sz="1300" b="1" dirty="0">
                <a:solidFill>
                  <a:srgbClr val="FFFFFF"/>
                </a:solidFill>
                <a:latin typeface="Calibri" pitchFamily="34" charset="0"/>
                <a:cs typeface="Amiri" pitchFamily="2" charset="-78"/>
              </a:rPr>
              <a:t>2</a:t>
            </a:r>
            <a:endParaRPr lang="en-US" sz="1300" dirty="0"/>
          </a:p>
        </p:txBody>
      </p:sp>
      <p:sp>
        <p:nvSpPr>
          <p:cNvPr id="23" name="Text 20"/>
          <p:cNvSpPr txBox="1"/>
          <p:nvPr/>
        </p:nvSpPr>
        <p:spPr>
          <a:xfrm>
            <a:off x="4023360" y="3346704"/>
            <a:ext cx="6976872" cy="1097280"/>
          </a:xfrm>
          <a:prstGeom prst="rect">
            <a:avLst/>
          </a:prstGeom>
          <a:noFill/>
          <a:ln/>
        </p:spPr>
        <p:txBody>
          <a:bodyPr wrap="square" lIns="0" tIns="0" rIns="0" bIns="0" rtlCol="0" anchor="ctr"/>
          <a:lstStyle/>
          <a:p>
            <a:pPr rtl="1" algn="r" indent="0" marL="0">
              <a:buNone/>
            </a:pPr>
            <a:r>
              <a:rPr lang="ar-SA" altLang="en-US" sz="3000" b="1" dirty="0">
                <a:solidFill>
                  <a:srgbClr val="B83227"/>
                </a:solidFill>
                <a:latin typeface="Amiri" pitchFamily="2" charset="-78"/>
                <a:ea typeface="Amiri" pitchFamily="2" charset="-78"/>
                <a:cs typeface="Amiri" pitchFamily="2" charset="-78"/>
              </a:rPr>
              <a:t>كَمْ ثَمَنُهُ؟</a:t>
            </a:r>
            <a:endParaRPr lang="ar-SA" sz="3000" dirty="0"/>
          </a:p>
        </p:txBody>
      </p:sp>
      <p:sp>
        <p:nvSpPr>
          <p:cNvPr id="24" name="Text 21"/>
          <p:cNvSpPr txBox="1"/>
          <p:nvPr/>
        </p:nvSpPr>
        <p:spPr>
          <a:xfrm>
            <a:off x="731520" y="3346704"/>
            <a:ext cx="3200400" cy="1097280"/>
          </a:xfrm>
          <a:prstGeom prst="rect">
            <a:avLst/>
          </a:prstGeom>
          <a:noFill/>
          <a:ln/>
        </p:spPr>
        <p:txBody>
          <a:bodyPr wrap="square" lIns="0" tIns="0" rIns="0" bIns="0" rtlCol="0" anchor="ctr"/>
          <a:lstStyle/>
          <a:p>
            <a:pPr algn="l" indent="0" marL="0">
              <a:buNone/>
            </a:pPr>
            <a:r>
              <a:rPr lang="en-US" sz="1300" i="1" dirty="0">
                <a:solidFill>
                  <a:srgbClr val="5A6472"/>
                </a:solidFill>
                <a:latin typeface="Calibri" pitchFamily="34" charset="0"/>
                <a:cs typeface="Amiri" pitchFamily="2" charset="-78"/>
              </a:rPr>
              <a:t>About a bag — </a:t>
            </a:r>
            <a:pPr algn="l" indent="0" marL="0">
              <a:buNone/>
            </a:pPr>
            <a:r>
              <a:rPr lang="ar-SA" altLang="en-US" sz="1700" dirty="0">
                <a:solidFill>
                  <a:srgbClr val="5A6472"/>
                </a:solidFill>
                <a:latin typeface="Amiri" pitchFamily="2" charset="-78"/>
                <a:ea typeface="Amiri" pitchFamily="2" charset="-78"/>
                <a:cs typeface="Amiri" pitchFamily="2" charset="-78"/>
              </a:rPr>
              <a:t>حَقِيبَةٌ</a:t>
            </a:r>
            <a:pPr algn="l" indent="0" marL="0">
              <a:buNone/>
            </a:pPr>
            <a:r>
              <a:rPr lang="en-US" sz="1300" i="1" dirty="0">
                <a:solidFill>
                  <a:srgbClr val="5A6472"/>
                </a:solidFill>
                <a:latin typeface="Calibri" pitchFamily="34" charset="0"/>
                <a:cs typeface="Amiri" pitchFamily="2" charset="-78"/>
              </a:rPr>
              <a:t> is feminine.</a:t>
            </a:r>
            <a:endParaRPr lang="en-US" sz="1300" dirty="0"/>
          </a:p>
        </p:txBody>
      </p:sp>
      <p:sp>
        <p:nvSpPr>
          <p:cNvPr id="25" name="Shape 22"/>
          <p:cNvSpPr/>
          <p:nvPr/>
        </p:nvSpPr>
        <p:spPr>
          <a:xfrm>
            <a:off x="457200" y="4700016"/>
            <a:ext cx="11274552" cy="1298448"/>
          </a:xfrm>
          <a:prstGeom prst="roundRect">
            <a:avLst>
              <a:gd name="adj" fmla="val 5634"/>
            </a:avLst>
          </a:prstGeom>
          <a:solidFill>
            <a:srgbClr val="FBEAEA"/>
          </a:solidFill>
          <a:ln w="9525">
            <a:solidFill>
              <a:srgbClr val="E3B4AE"/>
            </a:solidFill>
            <a:prstDash val="solid"/>
          </a:ln>
          <a:effectLst>
            <a:outerShdw sx="100000" sy="100000" kx="0" ky="0" algn="bl" rotWithShape="0" blurRad="50800" dist="19050" dir="5400000">
              <a:srgbClr val="000000">
                <a:alpha val="10000"/>
              </a:srgbClr>
            </a:outerShdw>
          </a:effectLst>
        </p:spPr>
      </p:sp>
      <p:sp>
        <p:nvSpPr>
          <p:cNvPr id="26" name="Shape 23"/>
          <p:cNvSpPr/>
          <p:nvPr/>
        </p:nvSpPr>
        <p:spPr>
          <a:xfrm>
            <a:off x="11183112" y="5138928"/>
            <a:ext cx="402336" cy="402336"/>
          </a:xfrm>
          <a:prstGeom prst="ellipse">
            <a:avLst/>
          </a:prstGeom>
          <a:solidFill>
            <a:srgbClr val="B83227"/>
          </a:solidFill>
          <a:ln w="12700">
            <a:solidFill>
              <a:srgbClr val="B83227"/>
            </a:solidFill>
            <a:prstDash val="solid"/>
          </a:ln>
        </p:spPr>
      </p:sp>
      <p:sp>
        <p:nvSpPr>
          <p:cNvPr id="27" name="Text 24"/>
          <p:cNvSpPr txBox="1"/>
          <p:nvPr/>
        </p:nvSpPr>
        <p:spPr>
          <a:xfrm>
            <a:off x="11183112" y="5138928"/>
            <a:ext cx="402336" cy="402336"/>
          </a:xfrm>
          <a:prstGeom prst="rect">
            <a:avLst/>
          </a:prstGeom>
          <a:noFill/>
          <a:ln/>
        </p:spPr>
        <p:txBody>
          <a:bodyPr wrap="square" lIns="0" tIns="0" rIns="0" bIns="0" rtlCol="0" anchor="ctr"/>
          <a:lstStyle/>
          <a:p>
            <a:pPr algn="ctr" indent="0" marL="0">
              <a:buNone/>
            </a:pPr>
            <a:r>
              <a:rPr lang="en-US" sz="1300" b="1" dirty="0">
                <a:solidFill>
                  <a:srgbClr val="FFFFFF"/>
                </a:solidFill>
                <a:latin typeface="Calibri" pitchFamily="34" charset="0"/>
                <a:cs typeface="Amiri" pitchFamily="2" charset="-78"/>
              </a:rPr>
              <a:t>3</a:t>
            </a:r>
            <a:endParaRPr lang="en-US" sz="1300" dirty="0"/>
          </a:p>
        </p:txBody>
      </p:sp>
      <p:sp>
        <p:nvSpPr>
          <p:cNvPr id="28" name="Text 25"/>
          <p:cNvSpPr txBox="1"/>
          <p:nvPr/>
        </p:nvSpPr>
        <p:spPr>
          <a:xfrm>
            <a:off x="4023360" y="4791456"/>
            <a:ext cx="6976872" cy="1097280"/>
          </a:xfrm>
          <a:prstGeom prst="rect">
            <a:avLst/>
          </a:prstGeom>
          <a:noFill/>
          <a:ln/>
        </p:spPr>
        <p:txBody>
          <a:bodyPr wrap="square" lIns="0" tIns="0" rIns="0" bIns="0" rtlCol="0" anchor="ctr"/>
          <a:lstStyle/>
          <a:p>
            <a:pPr rtl="1" algn="r" indent="0" marL="0">
              <a:buNone/>
            </a:pPr>
            <a:r>
              <a:rPr lang="ar-SA" altLang="en-US" sz="3000" b="1" dirty="0">
                <a:solidFill>
                  <a:srgbClr val="B83227"/>
                </a:solidFill>
                <a:latin typeface="Amiri" pitchFamily="2" charset="-78"/>
                <a:ea typeface="Amiri" pitchFamily="2" charset="-78"/>
                <a:cs typeface="Amiri" pitchFamily="2" charset="-78"/>
              </a:rPr>
              <a:t>مِنْ مَزَايَاهَا أَنَّ المُوَاصَلَاتُ سَهْلَةٌ.</a:t>
            </a:r>
            <a:endParaRPr lang="ar-SA" sz="3000" dirty="0"/>
          </a:p>
        </p:txBody>
      </p:sp>
      <p:sp>
        <p:nvSpPr>
          <p:cNvPr id="29" name="Text 26"/>
          <p:cNvSpPr txBox="1"/>
          <p:nvPr/>
        </p:nvSpPr>
        <p:spPr>
          <a:xfrm>
            <a:off x="731520" y="4791456"/>
            <a:ext cx="3200400" cy="1097280"/>
          </a:xfrm>
          <a:prstGeom prst="rect">
            <a:avLst/>
          </a:prstGeom>
          <a:noFill/>
          <a:ln/>
        </p:spPr>
        <p:txBody>
          <a:bodyPr wrap="square" lIns="0" tIns="0" rIns="0" bIns="0" rtlCol="0" anchor="ctr"/>
          <a:lstStyle/>
          <a:p>
            <a:pPr algn="l" indent="0" marL="0">
              <a:buNone/>
            </a:pPr>
            <a:r>
              <a:rPr lang="en-US" sz="1300" i="1" dirty="0">
                <a:solidFill>
                  <a:srgbClr val="5A6472"/>
                </a:solidFill>
                <a:latin typeface="Calibri" pitchFamily="34" charset="0"/>
                <a:cs typeface="Amiri" pitchFamily="2" charset="-78"/>
              </a:rPr>
              <a:t>After </a:t>
            </a:r>
            <a:pPr algn="l" indent="0" marL="0">
              <a:buNone/>
            </a:pPr>
            <a:r>
              <a:rPr lang="ar-SA" altLang="en-US" sz="1700" dirty="0">
                <a:solidFill>
                  <a:srgbClr val="5A6472"/>
                </a:solidFill>
                <a:latin typeface="Amiri" pitchFamily="2" charset="-78"/>
                <a:ea typeface="Amiri" pitchFamily="2" charset="-78"/>
                <a:cs typeface="Amiri" pitchFamily="2" charset="-78"/>
              </a:rPr>
              <a:t>أَنَّ</a:t>
            </a:r>
            <a:pPr algn="l" indent="0" marL="0">
              <a:buNone/>
            </a:pPr>
            <a:r>
              <a:rPr lang="en-US" sz="1300" i="1" dirty="0">
                <a:solidFill>
                  <a:srgbClr val="5A6472"/>
                </a:solidFill>
                <a:latin typeface="Calibri" pitchFamily="34" charset="0"/>
                <a:cs typeface="Amiri" pitchFamily="2" charset="-78"/>
              </a:rPr>
              <a:t> …</a:t>
            </a:r>
            <a:endParaRPr lang="en-US" sz="1300" dirty="0"/>
          </a:p>
        </p:txBody>
      </p:sp>
      <p:sp>
        <p:nvSpPr>
          <p:cNvPr id="30" name="Text 27"/>
          <p:cNvSpPr txBox="1"/>
          <p:nvPr/>
        </p:nvSpPr>
        <p:spPr>
          <a:xfrm>
            <a:off x="10360152" y="6455664"/>
            <a:ext cx="1371600" cy="219456"/>
          </a:xfrm>
          <a:prstGeom prst="rect">
            <a:avLst/>
          </a:prstGeom>
          <a:noFill/>
          <a:ln/>
        </p:spPr>
        <p:txBody>
          <a:bodyPr wrap="square" lIns="0" tIns="0" rIns="0" bIns="0" rtlCol="0" anchor="ctr"/>
          <a:lstStyle/>
          <a:p>
            <a:pPr algn="r" indent="0" marL="0">
              <a:buNone/>
            </a:pPr>
            <a:r>
              <a:rPr lang="en-US" sz="850" dirty="0">
                <a:solidFill>
                  <a:srgbClr val="8A93A0"/>
                </a:solidFill>
                <a:latin typeface="Calibri" pitchFamily="34" charset="0"/>
                <a:cs typeface="Amiri" pitchFamily="2" charset="-78"/>
              </a:rPr>
              <a:t>16 / 24</a:t>
            </a:r>
            <a:endParaRPr lang="en-US" sz="850" dirty="0"/>
          </a:p>
        </p:txBody>
      </p:sp>
    </p:spTree>
  </p:cSld>
  <p:clrMapOvr>
    <a:masterClrMapping/>
  </p:clrMapOvr>
</p:sld>
</file>

<file path=ppt/slides/slide17.xml><?xml version="1.0" encoding="utf-8"?>
<p:sld xmlns:a="http://schemas.openxmlformats.org/drawingml/2006/main" xmlns:r="http://schemas.openxmlformats.org/officeDocument/2006/relationships" xmlns:p="http://schemas.openxmlformats.org/presentationml/2006/main">
  <p:cSld name="Slide 17">
    <p:bg>
      <p:bgPr>
        <a:solidFill>
          <a:srgbClr val="FFFDF8"/>
        </a:solidFill>
      </p:bgPr>
    </p:bg>
    <p:spTree>
      <p:nvGrpSpPr>
        <p:cNvPr id="1" name=""/>
        <p:cNvGrpSpPr/>
        <p:nvPr/>
      </p:nvGrpSpPr>
      <p:grpSpPr>
        <a:xfrm>
          <a:off x="0" y="0"/>
          <a:ext cx="0" cy="0"/>
          <a:chOff x="0" y="0"/>
          <a:chExt cx="0" cy="0"/>
        </a:xfrm>
      </p:grpSpPr>
      <p:sp>
        <p:nvSpPr>
          <p:cNvPr id="2" name="Shape 0"/>
          <p:cNvSpPr/>
          <p:nvPr/>
        </p:nvSpPr>
        <p:spPr>
          <a:xfrm>
            <a:off x="457200" y="237744"/>
            <a:ext cx="420624" cy="420624"/>
          </a:xfrm>
          <a:prstGeom prst="ellipse">
            <a:avLst/>
          </a:prstGeom>
          <a:solidFill>
            <a:srgbClr val="1B3B6F"/>
          </a:solidFill>
          <a:ln w="12700">
            <a:solidFill>
              <a:srgbClr val="D4AF37"/>
            </a:solidFill>
            <a:prstDash val="solid"/>
          </a:ln>
        </p:spPr>
      </p:sp>
      <p:sp>
        <p:nvSpPr>
          <p:cNvPr id="3" name="Text 1"/>
          <p:cNvSpPr txBox="1"/>
          <p:nvPr/>
        </p:nvSpPr>
        <p:spPr>
          <a:xfrm>
            <a:off x="457200" y="219456"/>
            <a:ext cx="420624" cy="420624"/>
          </a:xfrm>
          <a:prstGeom prst="rect">
            <a:avLst/>
          </a:prstGeom>
          <a:noFill/>
          <a:ln/>
        </p:spPr>
        <p:txBody>
          <a:bodyPr wrap="square" lIns="0" tIns="0" rIns="0" bIns="0" rtlCol="0" anchor="ctr"/>
          <a:lstStyle/>
          <a:p>
            <a:pPr rtl="1" algn="ctr" indent="0" marL="0">
              <a:buNone/>
            </a:pPr>
            <a:r>
              <a:rPr lang="ar-SA" altLang="en-US" sz="1800" b="1" dirty="0">
                <a:solidFill>
                  <a:srgbClr val="D4AF37"/>
                </a:solidFill>
                <a:latin typeface="Amiri" pitchFamily="2" charset="-78"/>
                <a:ea typeface="Amiri" pitchFamily="2" charset="-78"/>
                <a:cs typeface="Amiri" pitchFamily="2" charset="-78"/>
              </a:rPr>
              <a:t>م</a:t>
            </a:r>
            <a:endParaRPr lang="ar-SA" sz="1800" dirty="0"/>
          </a:p>
        </p:txBody>
      </p:sp>
      <p:sp>
        <p:nvSpPr>
          <p:cNvPr id="4" name="Text 2"/>
          <p:cNvSpPr txBox="1"/>
          <p:nvPr/>
        </p:nvSpPr>
        <p:spPr>
          <a:xfrm>
            <a:off x="960120" y="219456"/>
            <a:ext cx="3657600" cy="256032"/>
          </a:xfrm>
          <a:prstGeom prst="rect">
            <a:avLst/>
          </a:prstGeom>
          <a:noFill/>
          <a:ln/>
        </p:spPr>
        <p:txBody>
          <a:bodyPr wrap="square" lIns="0" tIns="0" rIns="0" bIns="0" rtlCol="0" anchor="ctr"/>
          <a:lstStyle/>
          <a:p>
            <a:pPr indent="0" marL="0">
              <a:buNone/>
            </a:pPr>
            <a:r>
              <a:rPr lang="en-US" sz="1200" b="1" dirty="0">
                <a:solidFill>
                  <a:srgbClr val="1B3B6F"/>
                </a:solidFill>
                <a:latin typeface="Cambria" pitchFamily="34" charset="0"/>
                <a:cs typeface="Amiri" pitchFamily="2" charset="-78"/>
              </a:rPr>
              <a:t>Al Madina Online School</a:t>
            </a:r>
            <a:endParaRPr lang="en-US" sz="1200" dirty="0"/>
          </a:p>
        </p:txBody>
      </p:sp>
      <p:sp>
        <p:nvSpPr>
          <p:cNvPr id="5" name="Text 3"/>
          <p:cNvSpPr txBox="1"/>
          <p:nvPr/>
        </p:nvSpPr>
        <p:spPr>
          <a:xfrm>
            <a:off x="960120" y="457200"/>
            <a:ext cx="4572000" cy="182880"/>
          </a:xfrm>
          <a:prstGeom prst="rect">
            <a:avLst/>
          </a:prstGeom>
          <a:noFill/>
          <a:ln/>
        </p:spPr>
        <p:txBody>
          <a:bodyPr wrap="square" lIns="0" tIns="0" rIns="0" bIns="0" rtlCol="0" anchor="ctr"/>
          <a:lstStyle/>
          <a:p>
            <a:pPr indent="0" marL="0">
              <a:buNone/>
            </a:pPr>
            <a:r>
              <a:rPr lang="en-US" sz="800" b="1" spc="200" kern="0" dirty="0">
                <a:solidFill>
                  <a:srgbClr val="8A6D1E"/>
                </a:solidFill>
                <a:latin typeface="Calibri" pitchFamily="34" charset="0"/>
                <a:cs typeface="Amiri" pitchFamily="2" charset="-78"/>
              </a:rPr>
              <a:t>ARABIC DEPARTMENT · MIFTAH ARABIC · IGCSE 0544</a:t>
            </a:r>
            <a:endParaRPr lang="en-US" sz="800" dirty="0"/>
          </a:p>
        </p:txBody>
      </p:sp>
      <p:sp>
        <p:nvSpPr>
          <p:cNvPr id="6" name="Shape 4"/>
          <p:cNvSpPr/>
          <p:nvPr/>
        </p:nvSpPr>
        <p:spPr>
          <a:xfrm>
            <a:off x="8897112" y="274320"/>
            <a:ext cx="2834640" cy="329184"/>
          </a:xfrm>
          <a:prstGeom prst="roundRect">
            <a:avLst>
              <a:gd name="adj" fmla="val 50000"/>
            </a:avLst>
          </a:prstGeom>
          <a:solidFill>
            <a:srgbClr val="1B3B6F"/>
          </a:solidFill>
          <a:ln w="12700">
            <a:solidFill>
              <a:srgbClr val="1B3B6F"/>
            </a:solidFill>
            <a:prstDash val="solid"/>
          </a:ln>
        </p:spPr>
      </p:sp>
      <p:sp>
        <p:nvSpPr>
          <p:cNvPr id="7" name="Text 5"/>
          <p:cNvSpPr txBox="1"/>
          <p:nvPr/>
        </p:nvSpPr>
        <p:spPr>
          <a:xfrm>
            <a:off x="8897112" y="274320"/>
            <a:ext cx="2834640" cy="329184"/>
          </a:xfrm>
          <a:prstGeom prst="rect">
            <a:avLst/>
          </a:prstGeom>
          <a:noFill/>
          <a:ln/>
        </p:spPr>
        <p:txBody>
          <a:bodyPr wrap="square" lIns="0" tIns="0" rIns="0" bIns="0" rtlCol="0" anchor="ctr"/>
          <a:lstStyle/>
          <a:p>
            <a:pPr algn="ctr" indent="0" marL="0">
              <a:buNone/>
            </a:pPr>
            <a:r>
              <a:rPr lang="en-US" sz="950" b="1" spc="100" kern="0" dirty="0">
                <a:solidFill>
                  <a:srgbClr val="FFFFFF"/>
                </a:solidFill>
                <a:latin typeface="Calibri" pitchFamily="34" charset="0"/>
                <a:cs typeface="Amiri" pitchFamily="2" charset="-78"/>
              </a:rPr>
              <a:t>F6-W03 · Apply workshop</a:t>
            </a:r>
            <a:endParaRPr lang="en-US" sz="950" dirty="0"/>
          </a:p>
        </p:txBody>
      </p:sp>
      <p:sp>
        <p:nvSpPr>
          <p:cNvPr id="8" name="Shape 6"/>
          <p:cNvSpPr/>
          <p:nvPr/>
        </p:nvSpPr>
        <p:spPr>
          <a:xfrm>
            <a:off x="7143293" y="274320"/>
            <a:ext cx="1616659" cy="329184"/>
          </a:xfrm>
          <a:prstGeom prst="roundRect">
            <a:avLst>
              <a:gd name="adj" fmla="val 50000"/>
            </a:avLst>
          </a:prstGeom>
          <a:solidFill>
            <a:srgbClr val="8A6D1E"/>
          </a:solidFill>
          <a:ln w="12700">
            <a:solidFill>
              <a:srgbClr val="8A6D1E"/>
            </a:solidFill>
            <a:prstDash val="solid"/>
          </a:ln>
        </p:spPr>
      </p:sp>
      <p:sp>
        <p:nvSpPr>
          <p:cNvPr id="9" name="Text 7"/>
          <p:cNvSpPr txBox="1"/>
          <p:nvPr/>
        </p:nvSpPr>
        <p:spPr>
          <a:xfrm>
            <a:off x="7143293" y="274320"/>
            <a:ext cx="1616659" cy="329184"/>
          </a:xfrm>
          <a:prstGeom prst="rect">
            <a:avLst/>
          </a:prstGeom>
          <a:noFill/>
          <a:ln/>
        </p:spPr>
        <p:txBody>
          <a:bodyPr wrap="square" lIns="0" tIns="0" rIns="0" bIns="0" rtlCol="0" anchor="ctr"/>
          <a:lstStyle/>
          <a:p>
            <a:pPr algn="ctr" indent="0" marL="0">
              <a:buNone/>
            </a:pPr>
            <a:r>
              <a:rPr lang="en-US" sz="900" b="1" spc="100" kern="0" dirty="0">
                <a:solidFill>
                  <a:srgbClr val="FFFFFF"/>
                </a:solidFill>
                <a:latin typeface="Calibri" pitchFamily="34" charset="0"/>
                <a:cs typeface="Amiri" pitchFamily="2" charset="-78"/>
              </a:rPr>
              <a:t>FEEDBACK · 1 MIN</a:t>
            </a:r>
            <a:endParaRPr lang="en-US" sz="900" dirty="0"/>
          </a:p>
        </p:txBody>
      </p:sp>
      <p:sp>
        <p:nvSpPr>
          <p:cNvPr id="10" name="Text 8"/>
          <p:cNvSpPr txBox="1"/>
          <p:nvPr/>
        </p:nvSpPr>
        <p:spPr>
          <a:xfrm>
            <a:off x="457200" y="822960"/>
            <a:ext cx="6949440" cy="237744"/>
          </a:xfrm>
          <a:prstGeom prst="rect">
            <a:avLst/>
          </a:prstGeom>
          <a:noFill/>
          <a:ln/>
        </p:spPr>
        <p:txBody>
          <a:bodyPr wrap="square" lIns="0" tIns="0" rIns="0" bIns="0" rtlCol="0" anchor="ctr"/>
          <a:lstStyle/>
          <a:p>
            <a:pPr algn="l" indent="0" marL="0">
              <a:buNone/>
            </a:pPr>
            <a:r>
              <a:rPr lang="en-US" sz="1000" b="1" spc="300" kern="0" dirty="0">
                <a:solidFill>
                  <a:srgbClr val="8A6D1E"/>
                </a:solidFill>
                <a:latin typeface="Calibri" pitchFamily="34" charset="0"/>
                <a:cs typeface="Amiri" pitchFamily="2" charset="-78"/>
              </a:rPr>
              <a:t>STEP 8 · CORRECTIONS</a:t>
            </a:r>
            <a:endParaRPr lang="en-US" sz="1000" dirty="0"/>
          </a:p>
        </p:txBody>
      </p:sp>
      <p:sp>
        <p:nvSpPr>
          <p:cNvPr id="11" name="Text 9"/>
          <p:cNvSpPr txBox="1"/>
          <p:nvPr/>
        </p:nvSpPr>
        <p:spPr>
          <a:xfrm>
            <a:off x="457200" y="1033272"/>
            <a:ext cx="6949440" cy="566928"/>
          </a:xfrm>
          <a:prstGeom prst="rect">
            <a:avLst/>
          </a:prstGeom>
          <a:noFill/>
          <a:ln/>
        </p:spPr>
        <p:txBody>
          <a:bodyPr wrap="square" lIns="0" tIns="0" rIns="0" bIns="0" rtlCol="0" anchor="ctr"/>
          <a:lstStyle/>
          <a:p>
            <a:pPr algn="l" indent="0" marL="0">
              <a:buNone/>
            </a:pPr>
            <a:r>
              <a:rPr lang="en-US" sz="2800" b="1" dirty="0">
                <a:solidFill>
                  <a:srgbClr val="1B3B6F"/>
                </a:solidFill>
                <a:latin typeface="Cambria" pitchFamily="34" charset="0"/>
                <a:cs typeface="Amiri" pitchFamily="2" charset="-78"/>
              </a:rPr>
              <a:t>Spot and fix: corrections</a:t>
            </a:r>
            <a:endParaRPr lang="en-US" sz="2800" dirty="0"/>
          </a:p>
        </p:txBody>
      </p:sp>
      <p:sp>
        <p:nvSpPr>
          <p:cNvPr id="12" name="Text 10"/>
          <p:cNvSpPr txBox="1"/>
          <p:nvPr/>
        </p:nvSpPr>
        <p:spPr>
          <a:xfrm>
            <a:off x="7498080" y="868680"/>
            <a:ext cx="4233672" cy="749808"/>
          </a:xfrm>
          <a:prstGeom prst="rect">
            <a:avLst/>
          </a:prstGeom>
          <a:noFill/>
          <a:ln/>
        </p:spPr>
        <p:txBody>
          <a:bodyPr wrap="square" lIns="0" tIns="0" rIns="0" bIns="0" rtlCol="0" anchor="ctr"/>
          <a:lstStyle/>
          <a:p>
            <a:pPr rtl="1" algn="r" indent="0" marL="0">
              <a:buNone/>
            </a:pPr>
            <a:r>
              <a:rPr lang="ar-SA" altLang="en-US" sz="2800" b="1" dirty="0">
                <a:solidFill>
                  <a:srgbClr val="8A6D1E"/>
                </a:solidFill>
                <a:latin typeface="Amiri" pitchFamily="2" charset="-78"/>
                <a:ea typeface="Amiri" pitchFamily="2" charset="-78"/>
                <a:cs typeface="Amiri" pitchFamily="2" charset="-78"/>
              </a:rPr>
              <a:t>اكْتَشِفِ الخَطَأَ</a:t>
            </a:r>
            <a:endParaRPr lang="ar-SA" sz="2800" dirty="0"/>
          </a:p>
        </p:txBody>
      </p:sp>
      <p:sp>
        <p:nvSpPr>
          <p:cNvPr id="13" name="Text 11"/>
          <p:cNvSpPr txBox="1"/>
          <p:nvPr/>
        </p:nvSpPr>
        <p:spPr>
          <a:xfrm>
            <a:off x="457200" y="6455664"/>
            <a:ext cx="6400800" cy="219456"/>
          </a:xfrm>
          <a:prstGeom prst="rect">
            <a:avLst/>
          </a:prstGeom>
          <a:noFill/>
          <a:ln/>
        </p:spPr>
        <p:txBody>
          <a:bodyPr wrap="square" lIns="0" tIns="0" rIns="0" bIns="0" rtlCol="0" anchor="ctr"/>
          <a:lstStyle/>
          <a:p>
            <a:pPr indent="0" marL="0">
              <a:buNone/>
            </a:pPr>
            <a:r>
              <a:rPr lang="en-US" sz="850" dirty="0">
                <a:solidFill>
                  <a:srgbClr val="8A93A0"/>
                </a:solidFill>
                <a:latin typeface="Calibri" pitchFamily="34" charset="0"/>
                <a:cs typeface="Amiri" pitchFamily="2" charset="-78"/>
              </a:rPr>
              <a:t>Miftah Arabic · Foundation F6 · My Town and Transport · F6-W03 · Apply workshop (F6-L05 + F6-L06)</a:t>
            </a:r>
            <a:endParaRPr lang="en-US" sz="850" dirty="0"/>
          </a:p>
        </p:txBody>
      </p:sp>
      <p:sp>
        <p:nvSpPr>
          <p:cNvPr id="15" name="Shape 12"/>
          <p:cNvSpPr/>
          <p:nvPr/>
        </p:nvSpPr>
        <p:spPr>
          <a:xfrm>
            <a:off x="457200" y="1810512"/>
            <a:ext cx="11274552" cy="1298448"/>
          </a:xfrm>
          <a:prstGeom prst="roundRect">
            <a:avLst>
              <a:gd name="adj" fmla="val 5634"/>
            </a:avLst>
          </a:prstGeom>
          <a:solidFill>
            <a:srgbClr val="E6F4EC"/>
          </a:solidFill>
          <a:ln w="9525">
            <a:solidFill>
              <a:srgbClr val="9CCFB0"/>
            </a:solidFill>
            <a:prstDash val="solid"/>
          </a:ln>
          <a:effectLst>
            <a:outerShdw sx="100000" sy="100000" kx="0" ky="0" algn="bl" rotWithShape="0" blurRad="50800" dist="19050" dir="5400000">
              <a:srgbClr val="000000">
                <a:alpha val="10000"/>
              </a:srgbClr>
            </a:outerShdw>
          </a:effectLst>
        </p:spPr>
      </p:sp>
      <p:sp>
        <p:nvSpPr>
          <p:cNvPr id="16" name="Text 13"/>
          <p:cNvSpPr txBox="1"/>
          <p:nvPr/>
        </p:nvSpPr>
        <p:spPr>
          <a:xfrm>
            <a:off x="8503920" y="1901952"/>
            <a:ext cx="3063240" cy="1097280"/>
          </a:xfrm>
          <a:prstGeom prst="rect">
            <a:avLst/>
          </a:prstGeom>
          <a:noFill/>
          <a:ln/>
        </p:spPr>
        <p:txBody>
          <a:bodyPr wrap="square" lIns="0" tIns="0" rIns="0" bIns="0" rtlCol="0" anchor="ctr"/>
          <a:lstStyle/>
          <a:p>
            <a:pPr rtl="1" algn="r" indent="0" marL="0">
              <a:buNone/>
            </a:pPr>
            <a:r>
              <a:rPr lang="ar-SA" altLang="en-US" sz="1800" b="1" dirty="0">
                <a:solidFill>
                  <a:srgbClr val="B83227"/>
                </a:solidFill>
                <a:latin typeface="Amiri" pitchFamily="2" charset="-78"/>
                <a:ea typeface="Amiri" pitchFamily="2" charset="-78"/>
                <a:cs typeface="Amiri" pitchFamily="2" charset="-78"/>
              </a:rPr>
              <a:t>مَدِينَتِي مُكْتَظٌّ وَصَاخِبٌ.</a:t>
            </a:r>
            <a:endParaRPr lang="ar-SA" sz="1800" dirty="0"/>
          </a:p>
        </p:txBody>
      </p:sp>
      <p:sp>
        <p:nvSpPr>
          <p:cNvPr id="17" name="Shape 14"/>
          <p:cNvSpPr/>
          <p:nvPr/>
        </p:nvSpPr>
        <p:spPr>
          <a:xfrm>
            <a:off x="8641080" y="2459736"/>
            <a:ext cx="2834640" cy="0"/>
          </a:xfrm>
          <a:prstGeom prst="line">
            <a:avLst/>
          </a:prstGeom>
          <a:noFill/>
          <a:ln w="15875">
            <a:solidFill>
              <a:srgbClr val="B83227"/>
            </a:solidFill>
            <a:prstDash val="solid"/>
          </a:ln>
        </p:spPr>
      </p:sp>
      <p:sp>
        <p:nvSpPr>
          <p:cNvPr id="18" name="Text 15"/>
          <p:cNvSpPr txBox="1"/>
          <p:nvPr/>
        </p:nvSpPr>
        <p:spPr>
          <a:xfrm>
            <a:off x="8138160" y="1901952"/>
            <a:ext cx="365760" cy="1097280"/>
          </a:xfrm>
          <a:prstGeom prst="rect">
            <a:avLst/>
          </a:prstGeom>
          <a:noFill/>
          <a:ln/>
        </p:spPr>
        <p:txBody>
          <a:bodyPr wrap="square" lIns="0" tIns="0" rIns="0" bIns="0" rtlCol="0" anchor="ctr"/>
          <a:lstStyle/>
          <a:p>
            <a:pPr algn="ctr" indent="0" marL="0">
              <a:buNone/>
            </a:pPr>
            <a:r>
              <a:rPr lang="en-US" sz="2000" dirty="0">
                <a:solidFill>
                  <a:srgbClr val="5A6472"/>
                </a:solidFill>
                <a:latin typeface="Calibri" pitchFamily="34" charset="0"/>
                <a:cs typeface="Amiri" pitchFamily="2" charset="-78"/>
              </a:rPr>
              <a:t>←</a:t>
            </a:r>
            <a:endParaRPr lang="en-US" sz="2000" dirty="0"/>
          </a:p>
        </p:txBody>
      </p:sp>
      <p:sp>
        <p:nvSpPr>
          <p:cNvPr id="19" name="Text 16"/>
          <p:cNvSpPr txBox="1"/>
          <p:nvPr/>
        </p:nvSpPr>
        <p:spPr>
          <a:xfrm>
            <a:off x="3566160" y="1901952"/>
            <a:ext cx="4526280" cy="1097280"/>
          </a:xfrm>
          <a:prstGeom prst="rect">
            <a:avLst/>
          </a:prstGeom>
          <a:noFill/>
          <a:ln/>
        </p:spPr>
        <p:txBody>
          <a:bodyPr wrap="square" lIns="0" tIns="0" rIns="0" bIns="0" rtlCol="0" anchor="ctr"/>
          <a:lstStyle/>
          <a:p>
            <a:pPr rtl="1" algn="r" indent="0" marL="0">
              <a:buNone/>
            </a:pPr>
            <a:r>
              <a:rPr lang="ar-SA" altLang="en-US" sz="2400" b="1" dirty="0">
                <a:solidFill>
                  <a:srgbClr val="1E6B52"/>
                </a:solidFill>
                <a:latin typeface="Amiri" pitchFamily="2" charset="-78"/>
                <a:ea typeface="Amiri" pitchFamily="2" charset="-78"/>
                <a:cs typeface="Amiri" pitchFamily="2" charset="-78"/>
              </a:rPr>
              <a:t>مَدِينَتِي مُكْتَظَّةٌ وَصَاخِبَةٌ.</a:t>
            </a:r>
            <a:endParaRPr lang="ar-SA" sz="2400" dirty="0"/>
          </a:p>
        </p:txBody>
      </p:sp>
      <p:sp>
        <p:nvSpPr>
          <p:cNvPr id="20" name="Text 17"/>
          <p:cNvSpPr txBox="1"/>
          <p:nvPr/>
        </p:nvSpPr>
        <p:spPr>
          <a:xfrm>
            <a:off x="685800" y="1901952"/>
            <a:ext cx="2788920" cy="1097280"/>
          </a:xfrm>
          <a:prstGeom prst="rect">
            <a:avLst/>
          </a:prstGeom>
          <a:noFill/>
          <a:ln/>
        </p:spPr>
        <p:txBody>
          <a:bodyPr wrap="square" lIns="0" tIns="0" rIns="0" bIns="0" rtlCol="0" anchor="ctr"/>
          <a:lstStyle/>
          <a:p>
            <a:pPr algn="l" indent="0" marL="0">
              <a:buNone/>
            </a:pPr>
            <a:r>
              <a:rPr lang="en-US" sz="1150" b="1" dirty="0">
                <a:solidFill>
                  <a:srgbClr val="1B3B6F"/>
                </a:solidFill>
                <a:latin typeface="Calibri" pitchFamily="34" charset="0"/>
                <a:cs typeface="Amiri" pitchFamily="2" charset="-78"/>
              </a:rPr>
              <a:t>Feminine → </a:t>
            </a:r>
            <a:pPr algn="l" indent="0" marL="0">
              <a:buNone/>
            </a:pPr>
            <a:r>
              <a:rPr lang="ar-SA" altLang="en-US" sz="1500" b="1" dirty="0">
                <a:solidFill>
                  <a:srgbClr val="1B3B6F"/>
                </a:solidFill>
                <a:latin typeface="Amiri" pitchFamily="2" charset="-78"/>
                <a:ea typeface="Amiri" pitchFamily="2" charset="-78"/>
                <a:cs typeface="Amiri" pitchFamily="2" charset="-78"/>
              </a:rPr>
              <a:t>ة</a:t>
            </a:r>
            <a:pPr algn="l" indent="0" marL="0">
              <a:buNone/>
            </a:pPr>
            <a:r>
              <a:rPr lang="en-US" sz="1150" b="1" dirty="0">
                <a:solidFill>
                  <a:srgbClr val="1B3B6F"/>
                </a:solidFill>
                <a:latin typeface="Calibri" pitchFamily="34" charset="0"/>
                <a:cs typeface="Amiri" pitchFamily="2" charset="-78"/>
              </a:rPr>
              <a:t> on both adjectives.</a:t>
            </a:r>
            <a:endParaRPr lang="en-US" sz="1150" dirty="0"/>
          </a:p>
        </p:txBody>
      </p:sp>
      <p:sp>
        <p:nvSpPr>
          <p:cNvPr id="21" name="Shape 18"/>
          <p:cNvSpPr/>
          <p:nvPr/>
        </p:nvSpPr>
        <p:spPr>
          <a:xfrm>
            <a:off x="457200" y="3255264"/>
            <a:ext cx="11274552" cy="1298448"/>
          </a:xfrm>
          <a:prstGeom prst="roundRect">
            <a:avLst>
              <a:gd name="adj" fmla="val 5634"/>
            </a:avLst>
          </a:prstGeom>
          <a:solidFill>
            <a:srgbClr val="E6F4EC"/>
          </a:solidFill>
          <a:ln w="9525">
            <a:solidFill>
              <a:srgbClr val="9CCFB0"/>
            </a:solidFill>
            <a:prstDash val="solid"/>
          </a:ln>
          <a:effectLst>
            <a:outerShdw sx="100000" sy="100000" kx="0" ky="0" algn="bl" rotWithShape="0" blurRad="50800" dist="19050" dir="5400000">
              <a:srgbClr val="000000">
                <a:alpha val="10000"/>
              </a:srgbClr>
            </a:outerShdw>
          </a:effectLst>
        </p:spPr>
      </p:sp>
      <p:sp>
        <p:nvSpPr>
          <p:cNvPr id="22" name="Text 19"/>
          <p:cNvSpPr txBox="1"/>
          <p:nvPr/>
        </p:nvSpPr>
        <p:spPr>
          <a:xfrm>
            <a:off x="8503920" y="3346704"/>
            <a:ext cx="3063240" cy="1097280"/>
          </a:xfrm>
          <a:prstGeom prst="rect">
            <a:avLst/>
          </a:prstGeom>
          <a:noFill/>
          <a:ln/>
        </p:spPr>
        <p:txBody>
          <a:bodyPr wrap="square" lIns="0" tIns="0" rIns="0" bIns="0" rtlCol="0" anchor="ctr"/>
          <a:lstStyle/>
          <a:p>
            <a:pPr rtl="1" algn="r" indent="0" marL="0">
              <a:buNone/>
            </a:pPr>
            <a:r>
              <a:rPr lang="ar-SA" altLang="en-US" sz="1800" b="1" dirty="0">
                <a:solidFill>
                  <a:srgbClr val="B83227"/>
                </a:solidFill>
                <a:latin typeface="Amiri" pitchFamily="2" charset="-78"/>
                <a:ea typeface="Amiri" pitchFamily="2" charset="-78"/>
                <a:cs typeface="Amiri" pitchFamily="2" charset="-78"/>
              </a:rPr>
              <a:t>كَمْ ثَمَنُهُ؟</a:t>
            </a:r>
            <a:endParaRPr lang="ar-SA" sz="1800" dirty="0"/>
          </a:p>
        </p:txBody>
      </p:sp>
      <p:sp>
        <p:nvSpPr>
          <p:cNvPr id="23" name="Shape 20"/>
          <p:cNvSpPr/>
          <p:nvPr/>
        </p:nvSpPr>
        <p:spPr>
          <a:xfrm>
            <a:off x="8641080" y="3904488"/>
            <a:ext cx="2834640" cy="0"/>
          </a:xfrm>
          <a:prstGeom prst="line">
            <a:avLst/>
          </a:prstGeom>
          <a:noFill/>
          <a:ln w="15875">
            <a:solidFill>
              <a:srgbClr val="B83227"/>
            </a:solidFill>
            <a:prstDash val="solid"/>
          </a:ln>
        </p:spPr>
      </p:sp>
      <p:sp>
        <p:nvSpPr>
          <p:cNvPr id="24" name="Text 21"/>
          <p:cNvSpPr txBox="1"/>
          <p:nvPr/>
        </p:nvSpPr>
        <p:spPr>
          <a:xfrm>
            <a:off x="8138160" y="3346704"/>
            <a:ext cx="365760" cy="1097280"/>
          </a:xfrm>
          <a:prstGeom prst="rect">
            <a:avLst/>
          </a:prstGeom>
          <a:noFill/>
          <a:ln/>
        </p:spPr>
        <p:txBody>
          <a:bodyPr wrap="square" lIns="0" tIns="0" rIns="0" bIns="0" rtlCol="0" anchor="ctr"/>
          <a:lstStyle/>
          <a:p>
            <a:pPr algn="ctr" indent="0" marL="0">
              <a:buNone/>
            </a:pPr>
            <a:r>
              <a:rPr lang="en-US" sz="2000" dirty="0">
                <a:solidFill>
                  <a:srgbClr val="5A6472"/>
                </a:solidFill>
                <a:latin typeface="Calibri" pitchFamily="34" charset="0"/>
                <a:cs typeface="Amiri" pitchFamily="2" charset="-78"/>
              </a:rPr>
              <a:t>←</a:t>
            </a:r>
            <a:endParaRPr lang="en-US" sz="2000" dirty="0"/>
          </a:p>
        </p:txBody>
      </p:sp>
      <p:sp>
        <p:nvSpPr>
          <p:cNvPr id="25" name="Text 22"/>
          <p:cNvSpPr txBox="1"/>
          <p:nvPr/>
        </p:nvSpPr>
        <p:spPr>
          <a:xfrm>
            <a:off x="3566160" y="3346704"/>
            <a:ext cx="4526280" cy="1097280"/>
          </a:xfrm>
          <a:prstGeom prst="rect">
            <a:avLst/>
          </a:prstGeom>
          <a:noFill/>
          <a:ln/>
        </p:spPr>
        <p:txBody>
          <a:bodyPr wrap="square" lIns="0" tIns="0" rIns="0" bIns="0" rtlCol="0" anchor="ctr"/>
          <a:lstStyle/>
          <a:p>
            <a:pPr rtl="1" algn="r" indent="0" marL="0">
              <a:buNone/>
            </a:pPr>
            <a:r>
              <a:rPr lang="ar-SA" altLang="en-US" sz="2400" b="1" dirty="0">
                <a:solidFill>
                  <a:srgbClr val="1E6B52"/>
                </a:solidFill>
                <a:latin typeface="Amiri" pitchFamily="2" charset="-78"/>
                <a:ea typeface="Amiri" pitchFamily="2" charset="-78"/>
                <a:cs typeface="Amiri" pitchFamily="2" charset="-78"/>
              </a:rPr>
              <a:t>كَمْ ثَمَنُهَا؟</a:t>
            </a:r>
            <a:endParaRPr lang="ar-SA" sz="2400" dirty="0"/>
          </a:p>
        </p:txBody>
      </p:sp>
      <p:sp>
        <p:nvSpPr>
          <p:cNvPr id="26" name="Text 23"/>
          <p:cNvSpPr txBox="1"/>
          <p:nvPr/>
        </p:nvSpPr>
        <p:spPr>
          <a:xfrm>
            <a:off x="685800" y="3346704"/>
            <a:ext cx="2788920" cy="1097280"/>
          </a:xfrm>
          <a:prstGeom prst="rect">
            <a:avLst/>
          </a:prstGeom>
          <a:noFill/>
          <a:ln/>
        </p:spPr>
        <p:txBody>
          <a:bodyPr wrap="square" lIns="0" tIns="0" rIns="0" bIns="0" rtlCol="0" anchor="ctr"/>
          <a:lstStyle/>
          <a:p>
            <a:pPr algn="l" indent="0" marL="0">
              <a:buNone/>
            </a:pPr>
            <a:r>
              <a:rPr lang="en-US" sz="1150" b="1" dirty="0">
                <a:solidFill>
                  <a:srgbClr val="1B3B6F"/>
                </a:solidFill>
                <a:latin typeface="Calibri" pitchFamily="34" charset="0"/>
                <a:cs typeface="Amiri" pitchFamily="2" charset="-78"/>
              </a:rPr>
              <a:t>Feminine item → </a:t>
            </a:r>
            <a:pPr algn="l" indent="0" marL="0">
              <a:buNone/>
            </a:pPr>
            <a:r>
              <a:rPr lang="ar-SA" altLang="en-US" sz="1500" b="1" dirty="0">
                <a:solidFill>
                  <a:srgbClr val="1B3B6F"/>
                </a:solidFill>
                <a:latin typeface="Amiri" pitchFamily="2" charset="-78"/>
                <a:ea typeface="Amiri" pitchFamily="2" charset="-78"/>
                <a:cs typeface="Amiri" pitchFamily="2" charset="-78"/>
              </a:rPr>
              <a:t>ثَمَنُهَا</a:t>
            </a:r>
            <a:pPr algn="l" indent="0" marL="0">
              <a:buNone/>
            </a:pPr>
            <a:r>
              <a:rPr lang="en-US" sz="1150" b="1" dirty="0">
                <a:solidFill>
                  <a:srgbClr val="1B3B6F"/>
                </a:solidFill>
                <a:latin typeface="Calibri" pitchFamily="34" charset="0"/>
                <a:cs typeface="Amiri" pitchFamily="2" charset="-78"/>
              </a:rPr>
              <a:t>.</a:t>
            </a:r>
            <a:endParaRPr lang="en-US" sz="1150" dirty="0"/>
          </a:p>
        </p:txBody>
      </p:sp>
      <p:sp>
        <p:nvSpPr>
          <p:cNvPr id="27" name="Shape 24"/>
          <p:cNvSpPr/>
          <p:nvPr/>
        </p:nvSpPr>
        <p:spPr>
          <a:xfrm>
            <a:off x="457200" y="4700016"/>
            <a:ext cx="11274552" cy="1298448"/>
          </a:xfrm>
          <a:prstGeom prst="roundRect">
            <a:avLst>
              <a:gd name="adj" fmla="val 5634"/>
            </a:avLst>
          </a:prstGeom>
          <a:solidFill>
            <a:srgbClr val="E6F4EC"/>
          </a:solidFill>
          <a:ln w="9525">
            <a:solidFill>
              <a:srgbClr val="9CCFB0"/>
            </a:solidFill>
            <a:prstDash val="solid"/>
          </a:ln>
          <a:effectLst>
            <a:outerShdw sx="100000" sy="100000" kx="0" ky="0" algn="bl" rotWithShape="0" blurRad="50800" dist="19050" dir="5400000">
              <a:srgbClr val="000000">
                <a:alpha val="10000"/>
              </a:srgbClr>
            </a:outerShdw>
          </a:effectLst>
        </p:spPr>
      </p:sp>
      <p:sp>
        <p:nvSpPr>
          <p:cNvPr id="28" name="Text 25"/>
          <p:cNvSpPr txBox="1"/>
          <p:nvPr/>
        </p:nvSpPr>
        <p:spPr>
          <a:xfrm>
            <a:off x="8503920" y="4791456"/>
            <a:ext cx="3063240" cy="1097280"/>
          </a:xfrm>
          <a:prstGeom prst="rect">
            <a:avLst/>
          </a:prstGeom>
          <a:noFill/>
          <a:ln/>
        </p:spPr>
        <p:txBody>
          <a:bodyPr wrap="square" lIns="0" tIns="0" rIns="0" bIns="0" rtlCol="0" anchor="ctr"/>
          <a:lstStyle/>
          <a:p>
            <a:pPr rtl="1" algn="r" indent="0" marL="0">
              <a:buNone/>
            </a:pPr>
            <a:r>
              <a:rPr lang="ar-SA" altLang="en-US" sz="1800" b="1" dirty="0">
                <a:solidFill>
                  <a:srgbClr val="B83227"/>
                </a:solidFill>
                <a:latin typeface="Amiri" pitchFamily="2" charset="-78"/>
                <a:ea typeface="Amiri" pitchFamily="2" charset="-78"/>
                <a:cs typeface="Amiri" pitchFamily="2" charset="-78"/>
              </a:rPr>
              <a:t>مِنْ مَزَايَاهَا أَنَّ المُوَاصَلَاتُ سَهْلَةٌ.</a:t>
            </a:r>
            <a:endParaRPr lang="ar-SA" sz="1800" dirty="0"/>
          </a:p>
        </p:txBody>
      </p:sp>
      <p:sp>
        <p:nvSpPr>
          <p:cNvPr id="29" name="Shape 26"/>
          <p:cNvSpPr/>
          <p:nvPr/>
        </p:nvSpPr>
        <p:spPr>
          <a:xfrm>
            <a:off x="8641080" y="5349240"/>
            <a:ext cx="2834640" cy="0"/>
          </a:xfrm>
          <a:prstGeom prst="line">
            <a:avLst/>
          </a:prstGeom>
          <a:noFill/>
          <a:ln w="15875">
            <a:solidFill>
              <a:srgbClr val="B83227"/>
            </a:solidFill>
            <a:prstDash val="solid"/>
          </a:ln>
        </p:spPr>
      </p:sp>
      <p:sp>
        <p:nvSpPr>
          <p:cNvPr id="30" name="Text 27"/>
          <p:cNvSpPr txBox="1"/>
          <p:nvPr/>
        </p:nvSpPr>
        <p:spPr>
          <a:xfrm>
            <a:off x="8138160" y="4791456"/>
            <a:ext cx="365760" cy="1097280"/>
          </a:xfrm>
          <a:prstGeom prst="rect">
            <a:avLst/>
          </a:prstGeom>
          <a:noFill/>
          <a:ln/>
        </p:spPr>
        <p:txBody>
          <a:bodyPr wrap="square" lIns="0" tIns="0" rIns="0" bIns="0" rtlCol="0" anchor="ctr"/>
          <a:lstStyle/>
          <a:p>
            <a:pPr algn="ctr" indent="0" marL="0">
              <a:buNone/>
            </a:pPr>
            <a:r>
              <a:rPr lang="en-US" sz="2000" dirty="0">
                <a:solidFill>
                  <a:srgbClr val="5A6472"/>
                </a:solidFill>
                <a:latin typeface="Calibri" pitchFamily="34" charset="0"/>
                <a:cs typeface="Amiri" pitchFamily="2" charset="-78"/>
              </a:rPr>
              <a:t>←</a:t>
            </a:r>
            <a:endParaRPr lang="en-US" sz="2000" dirty="0"/>
          </a:p>
        </p:txBody>
      </p:sp>
      <p:sp>
        <p:nvSpPr>
          <p:cNvPr id="31" name="Text 28"/>
          <p:cNvSpPr txBox="1"/>
          <p:nvPr/>
        </p:nvSpPr>
        <p:spPr>
          <a:xfrm>
            <a:off x="3566160" y="4791456"/>
            <a:ext cx="4526280" cy="1097280"/>
          </a:xfrm>
          <a:prstGeom prst="rect">
            <a:avLst/>
          </a:prstGeom>
          <a:noFill/>
          <a:ln/>
        </p:spPr>
        <p:txBody>
          <a:bodyPr wrap="square" lIns="0" tIns="0" rIns="0" bIns="0" rtlCol="0" anchor="ctr"/>
          <a:lstStyle/>
          <a:p>
            <a:pPr rtl="1" algn="r" indent="0" marL="0">
              <a:buNone/>
            </a:pPr>
            <a:r>
              <a:rPr lang="ar-SA" altLang="en-US" sz="2400" b="1" dirty="0">
                <a:solidFill>
                  <a:srgbClr val="1E6B52"/>
                </a:solidFill>
                <a:latin typeface="Amiri" pitchFamily="2" charset="-78"/>
                <a:ea typeface="Amiri" pitchFamily="2" charset="-78"/>
                <a:cs typeface="Amiri" pitchFamily="2" charset="-78"/>
              </a:rPr>
              <a:t>مِنْ مَزَايَاهَا أَنَّ المُوَاصَلَاتِ سَهْلَةٌ.</a:t>
            </a:r>
            <a:endParaRPr lang="ar-SA" sz="2400" dirty="0"/>
          </a:p>
        </p:txBody>
      </p:sp>
      <p:sp>
        <p:nvSpPr>
          <p:cNvPr id="32" name="Text 29"/>
          <p:cNvSpPr txBox="1"/>
          <p:nvPr/>
        </p:nvSpPr>
        <p:spPr>
          <a:xfrm>
            <a:off x="685800" y="4791456"/>
            <a:ext cx="2788920" cy="1097280"/>
          </a:xfrm>
          <a:prstGeom prst="rect">
            <a:avLst/>
          </a:prstGeom>
          <a:noFill/>
          <a:ln/>
        </p:spPr>
        <p:txBody>
          <a:bodyPr wrap="square" lIns="0" tIns="0" rIns="0" bIns="0" rtlCol="0" anchor="ctr"/>
          <a:lstStyle/>
          <a:p>
            <a:pPr algn="l" indent="0" marL="0">
              <a:buNone/>
            </a:pPr>
            <a:r>
              <a:rPr lang="ar-SA" altLang="en-US" sz="1500" b="1" dirty="0">
                <a:solidFill>
                  <a:srgbClr val="1B3B6F"/>
                </a:solidFill>
                <a:latin typeface="Amiri" pitchFamily="2" charset="-78"/>
                <a:ea typeface="Amiri" pitchFamily="2" charset="-78"/>
                <a:cs typeface="Amiri" pitchFamily="2" charset="-78"/>
              </a:rPr>
              <a:t>أَنَّ</a:t>
            </a:r>
            <a:pPr algn="l" indent="0" marL="0">
              <a:buNone/>
            </a:pPr>
            <a:r>
              <a:rPr lang="en-US" sz="1150" b="1" dirty="0">
                <a:solidFill>
                  <a:srgbClr val="1B3B6F"/>
                </a:solidFill>
                <a:latin typeface="Calibri" pitchFamily="34" charset="0"/>
                <a:cs typeface="Amiri" pitchFamily="2" charset="-78"/>
              </a:rPr>
              <a:t> + noun in the accusative (-a / -i for plural).</a:t>
            </a:r>
            <a:endParaRPr lang="en-US" sz="1150" dirty="0"/>
          </a:p>
        </p:txBody>
      </p:sp>
      <p:sp>
        <p:nvSpPr>
          <p:cNvPr id="33" name="Text 30"/>
          <p:cNvSpPr txBox="1"/>
          <p:nvPr/>
        </p:nvSpPr>
        <p:spPr>
          <a:xfrm>
            <a:off x="10360152" y="6455664"/>
            <a:ext cx="1371600" cy="219456"/>
          </a:xfrm>
          <a:prstGeom prst="rect">
            <a:avLst/>
          </a:prstGeom>
          <a:noFill/>
          <a:ln/>
        </p:spPr>
        <p:txBody>
          <a:bodyPr wrap="square" lIns="0" tIns="0" rIns="0" bIns="0" rtlCol="0" anchor="ctr"/>
          <a:lstStyle/>
          <a:p>
            <a:pPr algn="r" indent="0" marL="0">
              <a:buNone/>
            </a:pPr>
            <a:r>
              <a:rPr lang="en-US" sz="850" dirty="0">
                <a:solidFill>
                  <a:srgbClr val="8A93A0"/>
                </a:solidFill>
                <a:latin typeface="Calibri" pitchFamily="34" charset="0"/>
                <a:cs typeface="Amiri" pitchFamily="2" charset="-78"/>
              </a:rPr>
              <a:t>17 / 24</a:t>
            </a:r>
            <a:endParaRPr lang="en-US" sz="850" dirty="0"/>
          </a:p>
        </p:txBody>
      </p:sp>
    </p:spTree>
  </p:cSld>
  <p:clrMapOvr>
    <a:masterClrMapping/>
  </p:clrMapOvr>
</p:sld>
</file>

<file path=ppt/slides/slide18.xml><?xml version="1.0" encoding="utf-8"?>
<p:sld xmlns:a="http://schemas.openxmlformats.org/drawingml/2006/main" xmlns:r="http://schemas.openxmlformats.org/officeDocument/2006/relationships" xmlns:p="http://schemas.openxmlformats.org/presentationml/2006/main">
  <p:cSld name="Slide 18">
    <p:bg>
      <p:bgPr>
        <a:solidFill>
          <a:srgbClr val="FFFDF8"/>
        </a:solidFill>
      </p:bgPr>
    </p:bg>
    <p:spTree>
      <p:nvGrpSpPr>
        <p:cNvPr id="1" name=""/>
        <p:cNvGrpSpPr/>
        <p:nvPr/>
      </p:nvGrpSpPr>
      <p:grpSpPr>
        <a:xfrm>
          <a:off x="0" y="0"/>
          <a:ext cx="0" cy="0"/>
          <a:chOff x="0" y="0"/>
          <a:chExt cx="0" cy="0"/>
        </a:xfrm>
      </p:grpSpPr>
      <p:sp>
        <p:nvSpPr>
          <p:cNvPr id="2" name="Shape 0"/>
          <p:cNvSpPr/>
          <p:nvPr/>
        </p:nvSpPr>
        <p:spPr>
          <a:xfrm>
            <a:off x="457200" y="237744"/>
            <a:ext cx="420624" cy="420624"/>
          </a:xfrm>
          <a:prstGeom prst="ellipse">
            <a:avLst/>
          </a:prstGeom>
          <a:solidFill>
            <a:srgbClr val="1B3B6F"/>
          </a:solidFill>
          <a:ln w="12700">
            <a:solidFill>
              <a:srgbClr val="D4AF37"/>
            </a:solidFill>
            <a:prstDash val="solid"/>
          </a:ln>
        </p:spPr>
      </p:sp>
      <p:sp>
        <p:nvSpPr>
          <p:cNvPr id="3" name="Text 1"/>
          <p:cNvSpPr txBox="1"/>
          <p:nvPr/>
        </p:nvSpPr>
        <p:spPr>
          <a:xfrm>
            <a:off x="457200" y="219456"/>
            <a:ext cx="420624" cy="420624"/>
          </a:xfrm>
          <a:prstGeom prst="rect">
            <a:avLst/>
          </a:prstGeom>
          <a:noFill/>
          <a:ln/>
        </p:spPr>
        <p:txBody>
          <a:bodyPr wrap="square" lIns="0" tIns="0" rIns="0" bIns="0" rtlCol="0" anchor="ctr"/>
          <a:lstStyle/>
          <a:p>
            <a:pPr rtl="1" algn="ctr" indent="0" marL="0">
              <a:buNone/>
            </a:pPr>
            <a:r>
              <a:rPr lang="ar-SA" altLang="en-US" sz="1800" b="1" dirty="0">
                <a:solidFill>
                  <a:srgbClr val="D4AF37"/>
                </a:solidFill>
                <a:latin typeface="Amiri" pitchFamily="2" charset="-78"/>
                <a:ea typeface="Amiri" pitchFamily="2" charset="-78"/>
                <a:cs typeface="Amiri" pitchFamily="2" charset="-78"/>
              </a:rPr>
              <a:t>م</a:t>
            </a:r>
            <a:endParaRPr lang="ar-SA" sz="1800" dirty="0"/>
          </a:p>
        </p:txBody>
      </p:sp>
      <p:sp>
        <p:nvSpPr>
          <p:cNvPr id="4" name="Text 2"/>
          <p:cNvSpPr txBox="1"/>
          <p:nvPr/>
        </p:nvSpPr>
        <p:spPr>
          <a:xfrm>
            <a:off x="960120" y="219456"/>
            <a:ext cx="3657600" cy="256032"/>
          </a:xfrm>
          <a:prstGeom prst="rect">
            <a:avLst/>
          </a:prstGeom>
          <a:noFill/>
          <a:ln/>
        </p:spPr>
        <p:txBody>
          <a:bodyPr wrap="square" lIns="0" tIns="0" rIns="0" bIns="0" rtlCol="0" anchor="ctr"/>
          <a:lstStyle/>
          <a:p>
            <a:pPr indent="0" marL="0">
              <a:buNone/>
            </a:pPr>
            <a:r>
              <a:rPr lang="en-US" sz="1200" b="1" dirty="0">
                <a:solidFill>
                  <a:srgbClr val="1B3B6F"/>
                </a:solidFill>
                <a:latin typeface="Cambria" pitchFamily="34" charset="0"/>
                <a:cs typeface="Amiri" pitchFamily="2" charset="-78"/>
              </a:rPr>
              <a:t>Al Madina Online School</a:t>
            </a:r>
            <a:endParaRPr lang="en-US" sz="1200" dirty="0"/>
          </a:p>
        </p:txBody>
      </p:sp>
      <p:sp>
        <p:nvSpPr>
          <p:cNvPr id="5" name="Text 3"/>
          <p:cNvSpPr txBox="1"/>
          <p:nvPr/>
        </p:nvSpPr>
        <p:spPr>
          <a:xfrm>
            <a:off x="960120" y="457200"/>
            <a:ext cx="4572000" cy="182880"/>
          </a:xfrm>
          <a:prstGeom prst="rect">
            <a:avLst/>
          </a:prstGeom>
          <a:noFill/>
          <a:ln/>
        </p:spPr>
        <p:txBody>
          <a:bodyPr wrap="square" lIns="0" tIns="0" rIns="0" bIns="0" rtlCol="0" anchor="ctr"/>
          <a:lstStyle/>
          <a:p>
            <a:pPr indent="0" marL="0">
              <a:buNone/>
            </a:pPr>
            <a:r>
              <a:rPr lang="en-US" sz="800" b="1" spc="200" kern="0" dirty="0">
                <a:solidFill>
                  <a:srgbClr val="8A6D1E"/>
                </a:solidFill>
                <a:latin typeface="Calibri" pitchFamily="34" charset="0"/>
                <a:cs typeface="Amiri" pitchFamily="2" charset="-78"/>
              </a:rPr>
              <a:t>ARABIC DEPARTMENT · MIFTAH ARABIC · IGCSE 0544</a:t>
            </a:r>
            <a:endParaRPr lang="en-US" sz="800" dirty="0"/>
          </a:p>
        </p:txBody>
      </p:sp>
      <p:sp>
        <p:nvSpPr>
          <p:cNvPr id="6" name="Shape 4"/>
          <p:cNvSpPr/>
          <p:nvPr/>
        </p:nvSpPr>
        <p:spPr>
          <a:xfrm>
            <a:off x="8897112" y="274320"/>
            <a:ext cx="2834640" cy="329184"/>
          </a:xfrm>
          <a:prstGeom prst="roundRect">
            <a:avLst>
              <a:gd name="adj" fmla="val 50000"/>
            </a:avLst>
          </a:prstGeom>
          <a:solidFill>
            <a:srgbClr val="1B3B6F"/>
          </a:solidFill>
          <a:ln w="12700">
            <a:solidFill>
              <a:srgbClr val="1B3B6F"/>
            </a:solidFill>
            <a:prstDash val="solid"/>
          </a:ln>
        </p:spPr>
      </p:sp>
      <p:sp>
        <p:nvSpPr>
          <p:cNvPr id="7" name="Text 5"/>
          <p:cNvSpPr txBox="1"/>
          <p:nvPr/>
        </p:nvSpPr>
        <p:spPr>
          <a:xfrm>
            <a:off x="8897112" y="274320"/>
            <a:ext cx="2834640" cy="329184"/>
          </a:xfrm>
          <a:prstGeom prst="rect">
            <a:avLst/>
          </a:prstGeom>
          <a:noFill/>
          <a:ln/>
        </p:spPr>
        <p:txBody>
          <a:bodyPr wrap="square" lIns="0" tIns="0" rIns="0" bIns="0" rtlCol="0" anchor="ctr"/>
          <a:lstStyle/>
          <a:p>
            <a:pPr algn="ctr" indent="0" marL="0">
              <a:buNone/>
            </a:pPr>
            <a:r>
              <a:rPr lang="en-US" sz="950" b="1" spc="100" kern="0" dirty="0">
                <a:solidFill>
                  <a:srgbClr val="FFFFFF"/>
                </a:solidFill>
                <a:latin typeface="Calibri" pitchFamily="34" charset="0"/>
                <a:cs typeface="Amiri" pitchFamily="2" charset="-78"/>
              </a:rPr>
              <a:t>F6-W03 · Apply workshop</a:t>
            </a:r>
            <a:endParaRPr lang="en-US" sz="950" dirty="0"/>
          </a:p>
        </p:txBody>
      </p:sp>
      <p:sp>
        <p:nvSpPr>
          <p:cNvPr id="8" name="Shape 6"/>
          <p:cNvSpPr/>
          <p:nvPr/>
        </p:nvSpPr>
        <p:spPr>
          <a:xfrm>
            <a:off x="7295083" y="274320"/>
            <a:ext cx="1464869" cy="329184"/>
          </a:xfrm>
          <a:prstGeom prst="roundRect">
            <a:avLst>
              <a:gd name="adj" fmla="val 50000"/>
            </a:avLst>
          </a:prstGeom>
          <a:solidFill>
            <a:srgbClr val="1E6B52"/>
          </a:solidFill>
          <a:ln w="12700">
            <a:solidFill>
              <a:srgbClr val="1E6B52"/>
            </a:solidFill>
            <a:prstDash val="solid"/>
          </a:ln>
        </p:spPr>
      </p:sp>
      <p:sp>
        <p:nvSpPr>
          <p:cNvPr id="9" name="Text 7"/>
          <p:cNvSpPr txBox="1"/>
          <p:nvPr/>
        </p:nvSpPr>
        <p:spPr>
          <a:xfrm>
            <a:off x="7295083" y="274320"/>
            <a:ext cx="1464869" cy="329184"/>
          </a:xfrm>
          <a:prstGeom prst="rect">
            <a:avLst/>
          </a:prstGeom>
          <a:noFill/>
          <a:ln/>
        </p:spPr>
        <p:txBody>
          <a:bodyPr wrap="square" lIns="0" tIns="0" rIns="0" bIns="0" rtlCol="0" anchor="ctr"/>
          <a:lstStyle/>
          <a:p>
            <a:pPr algn="ctr" indent="0" marL="0">
              <a:buNone/>
            </a:pPr>
            <a:r>
              <a:rPr lang="en-US" sz="900" b="1" spc="100" kern="0" dirty="0">
                <a:solidFill>
                  <a:srgbClr val="FFFFFF"/>
                </a:solidFill>
                <a:latin typeface="Calibri" pitchFamily="34" charset="0"/>
                <a:cs typeface="Amiri" pitchFamily="2" charset="-78"/>
              </a:rPr>
              <a:t>YOU DO · 2 MIN</a:t>
            </a:r>
            <a:endParaRPr lang="en-US" sz="900" dirty="0"/>
          </a:p>
        </p:txBody>
      </p:sp>
      <p:sp>
        <p:nvSpPr>
          <p:cNvPr id="10" name="Text 8"/>
          <p:cNvSpPr txBox="1"/>
          <p:nvPr/>
        </p:nvSpPr>
        <p:spPr>
          <a:xfrm>
            <a:off x="457200" y="822960"/>
            <a:ext cx="6949440" cy="237744"/>
          </a:xfrm>
          <a:prstGeom prst="rect">
            <a:avLst/>
          </a:prstGeom>
          <a:noFill/>
          <a:ln/>
        </p:spPr>
        <p:txBody>
          <a:bodyPr wrap="square" lIns="0" tIns="0" rIns="0" bIns="0" rtlCol="0" anchor="ctr"/>
          <a:lstStyle/>
          <a:p>
            <a:pPr algn="l" indent="0" marL="0">
              <a:buNone/>
            </a:pPr>
            <a:r>
              <a:rPr lang="en-US" sz="1000" b="1" spc="300" kern="0" dirty="0">
                <a:solidFill>
                  <a:srgbClr val="1E6B52"/>
                </a:solidFill>
                <a:latin typeface="Calibri" pitchFamily="34" charset="0"/>
                <a:cs typeface="Amiri" pitchFamily="2" charset="-78"/>
              </a:rPr>
              <a:t>STEP 9 · WRITE YOUR TEXT · FRAMES IF YOU NEED THEM</a:t>
            </a:r>
            <a:endParaRPr lang="en-US" sz="1000" dirty="0"/>
          </a:p>
        </p:txBody>
      </p:sp>
      <p:sp>
        <p:nvSpPr>
          <p:cNvPr id="11" name="Text 9"/>
          <p:cNvSpPr txBox="1"/>
          <p:nvPr/>
        </p:nvSpPr>
        <p:spPr>
          <a:xfrm>
            <a:off x="457200" y="1033272"/>
            <a:ext cx="6949440" cy="566928"/>
          </a:xfrm>
          <a:prstGeom prst="rect">
            <a:avLst/>
          </a:prstGeom>
          <a:noFill/>
          <a:ln/>
        </p:spPr>
        <p:txBody>
          <a:bodyPr wrap="square" lIns="0" tIns="0" rIns="0" bIns="0" rtlCol="0" anchor="ctr"/>
          <a:lstStyle/>
          <a:p>
            <a:pPr algn="l" indent="0" marL="0">
              <a:buNone/>
            </a:pPr>
            <a:r>
              <a:rPr lang="en-US" sz="2800" b="1" dirty="0">
                <a:solidFill>
                  <a:srgbClr val="1B3B6F"/>
                </a:solidFill>
                <a:latin typeface="Cambria" pitchFamily="34" charset="0"/>
                <a:cs typeface="Amiri" pitchFamily="2" charset="-78"/>
              </a:rPr>
              <a:t>Your writing frames</a:t>
            </a:r>
            <a:endParaRPr lang="en-US" sz="2800" dirty="0"/>
          </a:p>
        </p:txBody>
      </p:sp>
      <p:sp>
        <p:nvSpPr>
          <p:cNvPr id="12" name="Text 10"/>
          <p:cNvSpPr txBox="1"/>
          <p:nvPr/>
        </p:nvSpPr>
        <p:spPr>
          <a:xfrm>
            <a:off x="7498080" y="868680"/>
            <a:ext cx="4233672" cy="749808"/>
          </a:xfrm>
          <a:prstGeom prst="rect">
            <a:avLst/>
          </a:prstGeom>
          <a:noFill/>
          <a:ln/>
        </p:spPr>
        <p:txBody>
          <a:bodyPr wrap="square" lIns="0" tIns="0" rIns="0" bIns="0" rtlCol="0" anchor="ctr"/>
          <a:lstStyle/>
          <a:p>
            <a:pPr rtl="1" algn="r" indent="0" marL="0">
              <a:buNone/>
            </a:pPr>
            <a:r>
              <a:rPr lang="ar-SA" altLang="en-US" sz="2800" b="1" dirty="0">
                <a:solidFill>
                  <a:srgbClr val="8A6D1E"/>
                </a:solidFill>
                <a:latin typeface="Amiri" pitchFamily="2" charset="-78"/>
                <a:ea typeface="Amiri" pitchFamily="2" charset="-78"/>
                <a:cs typeface="Amiri" pitchFamily="2" charset="-78"/>
              </a:rPr>
              <a:t>قَوَالِبُ الكِتَابَةِ</a:t>
            </a:r>
            <a:endParaRPr lang="ar-SA" sz="2800" dirty="0"/>
          </a:p>
        </p:txBody>
      </p:sp>
      <p:sp>
        <p:nvSpPr>
          <p:cNvPr id="13" name="Text 11"/>
          <p:cNvSpPr txBox="1"/>
          <p:nvPr/>
        </p:nvSpPr>
        <p:spPr>
          <a:xfrm>
            <a:off x="457200" y="6455664"/>
            <a:ext cx="6400800" cy="219456"/>
          </a:xfrm>
          <a:prstGeom prst="rect">
            <a:avLst/>
          </a:prstGeom>
          <a:noFill/>
          <a:ln/>
        </p:spPr>
        <p:txBody>
          <a:bodyPr wrap="square" lIns="0" tIns="0" rIns="0" bIns="0" rtlCol="0" anchor="ctr"/>
          <a:lstStyle/>
          <a:p>
            <a:pPr indent="0" marL="0">
              <a:buNone/>
            </a:pPr>
            <a:r>
              <a:rPr lang="en-US" sz="850" dirty="0">
                <a:solidFill>
                  <a:srgbClr val="8A93A0"/>
                </a:solidFill>
                <a:latin typeface="Calibri" pitchFamily="34" charset="0"/>
                <a:cs typeface="Amiri" pitchFamily="2" charset="-78"/>
              </a:rPr>
              <a:t>Miftah Arabic · Foundation F6 · My Town and Transport · F6-W03 · Apply workshop (F6-L05 + F6-L06)</a:t>
            </a:r>
            <a:endParaRPr lang="en-US" sz="850" dirty="0"/>
          </a:p>
        </p:txBody>
      </p:sp>
      <p:sp>
        <p:nvSpPr>
          <p:cNvPr id="15" name="Shape 12"/>
          <p:cNvSpPr/>
          <p:nvPr/>
        </p:nvSpPr>
        <p:spPr>
          <a:xfrm>
            <a:off x="457200" y="1810512"/>
            <a:ext cx="5541264" cy="3566160"/>
          </a:xfrm>
          <a:prstGeom prst="roundRect">
            <a:avLst>
              <a:gd name="adj" fmla="val 2051"/>
            </a:avLst>
          </a:prstGeom>
          <a:solidFill>
            <a:srgbClr val="FCF1E0"/>
          </a:solidFill>
          <a:ln w="9525">
            <a:solidFill>
              <a:srgbClr val="C9780A"/>
            </a:solidFill>
            <a:prstDash val="solid"/>
          </a:ln>
          <a:effectLst>
            <a:outerShdw sx="100000" sy="100000" kx="0" ky="0" algn="bl" rotWithShape="0" blurRad="50800" dist="19050" dir="5400000">
              <a:srgbClr val="000000">
                <a:alpha val="10000"/>
              </a:srgbClr>
            </a:outerShdw>
          </a:effectLst>
        </p:spPr>
      </p:sp>
      <p:sp>
        <p:nvSpPr>
          <p:cNvPr id="16" name="Shape 13"/>
          <p:cNvSpPr/>
          <p:nvPr/>
        </p:nvSpPr>
        <p:spPr>
          <a:xfrm>
            <a:off x="594360" y="1901952"/>
            <a:ext cx="1051560" cy="274320"/>
          </a:xfrm>
          <a:prstGeom prst="roundRect">
            <a:avLst>
              <a:gd name="adj" fmla="val 50000"/>
            </a:avLst>
          </a:prstGeom>
          <a:solidFill>
            <a:srgbClr val="C9780A"/>
          </a:solidFill>
          <a:ln w="12700">
            <a:solidFill>
              <a:srgbClr val="C9780A"/>
            </a:solidFill>
            <a:prstDash val="solid"/>
          </a:ln>
        </p:spPr>
      </p:sp>
      <p:sp>
        <p:nvSpPr>
          <p:cNvPr id="17" name="Text 14"/>
          <p:cNvSpPr txBox="1"/>
          <p:nvPr/>
        </p:nvSpPr>
        <p:spPr>
          <a:xfrm>
            <a:off x="594360" y="1901952"/>
            <a:ext cx="1051560" cy="274320"/>
          </a:xfrm>
          <a:prstGeom prst="rect">
            <a:avLst/>
          </a:prstGeom>
          <a:noFill/>
          <a:ln/>
        </p:spPr>
        <p:txBody>
          <a:bodyPr wrap="square" lIns="0" tIns="0" rIns="0" bIns="0" rtlCol="0" anchor="ctr"/>
          <a:lstStyle/>
          <a:p>
            <a:pPr algn="ctr" indent="0" marL="0">
              <a:buNone/>
            </a:pPr>
            <a:r>
              <a:rPr lang="en-US" sz="850" b="1" spc="100" kern="0" dirty="0">
                <a:solidFill>
                  <a:srgbClr val="FFFFFF"/>
                </a:solidFill>
                <a:latin typeface="Calibri" pitchFamily="34" charset="0"/>
                <a:cs typeface="Amiri" pitchFamily="2" charset="-78"/>
              </a:rPr>
              <a:t>DEVELOP</a:t>
            </a:r>
            <a:endParaRPr lang="en-US" sz="850" dirty="0"/>
          </a:p>
        </p:txBody>
      </p:sp>
      <p:sp>
        <p:nvSpPr>
          <p:cNvPr id="18" name="Text 15"/>
          <p:cNvSpPr txBox="1"/>
          <p:nvPr/>
        </p:nvSpPr>
        <p:spPr>
          <a:xfrm>
            <a:off x="2468880" y="2249424"/>
            <a:ext cx="3383280" cy="538582"/>
          </a:xfrm>
          <a:prstGeom prst="rect">
            <a:avLst/>
          </a:prstGeom>
          <a:noFill/>
          <a:ln/>
        </p:spPr>
        <p:txBody>
          <a:bodyPr wrap="square" lIns="0" tIns="0" rIns="0" bIns="0" rtlCol="0" anchor="ctr"/>
          <a:lstStyle/>
          <a:p>
            <a:pPr rtl="1" algn="r" indent="0" marL="0">
              <a:buNone/>
            </a:pPr>
            <a:r>
              <a:rPr lang="ar-SA" altLang="en-US" sz="1800" b="1" dirty="0">
                <a:solidFill>
                  <a:srgbClr val="1B3B6F"/>
                </a:solidFill>
                <a:latin typeface="Amiri" pitchFamily="2" charset="-78"/>
                <a:ea typeface="Amiri" pitchFamily="2" charset="-78"/>
                <a:cs typeface="Amiri" pitchFamily="2" charset="-78"/>
              </a:rPr>
              <a:t>مِنْ مَزَايَا ______ أَنَّهُ ______ .</a:t>
            </a:r>
            <a:endParaRPr lang="ar-SA" sz="1800" dirty="0"/>
          </a:p>
        </p:txBody>
      </p:sp>
      <p:sp>
        <p:nvSpPr>
          <p:cNvPr id="19" name="Text 16"/>
          <p:cNvSpPr txBox="1"/>
          <p:nvPr/>
        </p:nvSpPr>
        <p:spPr>
          <a:xfrm>
            <a:off x="594360" y="2249424"/>
            <a:ext cx="1828800" cy="538582"/>
          </a:xfrm>
          <a:prstGeom prst="rect">
            <a:avLst/>
          </a:prstGeom>
          <a:noFill/>
          <a:ln/>
        </p:spPr>
        <p:txBody>
          <a:bodyPr wrap="square" lIns="0" tIns="0" rIns="0" bIns="0" rtlCol="0" anchor="ctr"/>
          <a:lstStyle/>
          <a:p>
            <a:pPr algn="l" indent="0" marL="0">
              <a:buNone/>
            </a:pPr>
            <a:r>
              <a:rPr lang="en-US" sz="1050" i="1" dirty="0">
                <a:solidFill>
                  <a:srgbClr val="5A6472"/>
                </a:solidFill>
                <a:latin typeface="Calibri" pitchFamily="34" charset="0"/>
                <a:cs typeface="Amiri" pitchFamily="2" charset="-78"/>
              </a:rPr>
              <a:t>One advantage of … is that it is …</a:t>
            </a:r>
            <a:endParaRPr lang="en-US" sz="1050" dirty="0"/>
          </a:p>
        </p:txBody>
      </p:sp>
      <p:sp>
        <p:nvSpPr>
          <p:cNvPr id="20" name="Text 17"/>
          <p:cNvSpPr txBox="1"/>
          <p:nvPr/>
        </p:nvSpPr>
        <p:spPr>
          <a:xfrm>
            <a:off x="2468880" y="2816352"/>
            <a:ext cx="3383280" cy="538582"/>
          </a:xfrm>
          <a:prstGeom prst="rect">
            <a:avLst/>
          </a:prstGeom>
          <a:noFill/>
          <a:ln/>
        </p:spPr>
        <p:txBody>
          <a:bodyPr wrap="square" lIns="0" tIns="0" rIns="0" bIns="0" rtlCol="0" anchor="ctr"/>
          <a:lstStyle/>
          <a:p>
            <a:pPr rtl="1" algn="r" indent="0" marL="0">
              <a:buNone/>
            </a:pPr>
            <a:r>
              <a:rPr lang="ar-SA" altLang="en-US" sz="1800" b="1" dirty="0">
                <a:solidFill>
                  <a:srgbClr val="1B3B6F"/>
                </a:solidFill>
                <a:latin typeface="Amiri" pitchFamily="2" charset="-78"/>
                <a:ea typeface="Amiri" pitchFamily="2" charset="-78"/>
                <a:cs typeface="Amiri" pitchFamily="2" charset="-78"/>
              </a:rPr>
              <a:t>وَمِنْ عُيُوبِهِ أَنَّهُ ______ .</a:t>
            </a:r>
            <a:endParaRPr lang="ar-SA" sz="1800" dirty="0"/>
          </a:p>
        </p:txBody>
      </p:sp>
      <p:sp>
        <p:nvSpPr>
          <p:cNvPr id="21" name="Text 18"/>
          <p:cNvSpPr txBox="1"/>
          <p:nvPr/>
        </p:nvSpPr>
        <p:spPr>
          <a:xfrm>
            <a:off x="594360" y="2816352"/>
            <a:ext cx="1828800" cy="538582"/>
          </a:xfrm>
          <a:prstGeom prst="rect">
            <a:avLst/>
          </a:prstGeom>
          <a:noFill/>
          <a:ln/>
        </p:spPr>
        <p:txBody>
          <a:bodyPr wrap="square" lIns="0" tIns="0" rIns="0" bIns="0" rtlCol="0" anchor="ctr"/>
          <a:lstStyle/>
          <a:p>
            <a:pPr algn="l" indent="0" marL="0">
              <a:buNone/>
            </a:pPr>
            <a:r>
              <a:rPr lang="en-US" sz="1050" i="1" dirty="0">
                <a:solidFill>
                  <a:srgbClr val="5A6472"/>
                </a:solidFill>
                <a:latin typeface="Calibri" pitchFamily="34" charset="0"/>
                <a:cs typeface="Amiri" pitchFamily="2" charset="-78"/>
              </a:rPr>
              <a:t>And one disadvantage is that it is …</a:t>
            </a:r>
            <a:endParaRPr lang="en-US" sz="1050" dirty="0"/>
          </a:p>
        </p:txBody>
      </p:sp>
      <p:sp>
        <p:nvSpPr>
          <p:cNvPr id="22" name="Text 19"/>
          <p:cNvSpPr txBox="1"/>
          <p:nvPr/>
        </p:nvSpPr>
        <p:spPr>
          <a:xfrm>
            <a:off x="2468880" y="3383280"/>
            <a:ext cx="3383280" cy="538582"/>
          </a:xfrm>
          <a:prstGeom prst="rect">
            <a:avLst/>
          </a:prstGeom>
          <a:noFill/>
          <a:ln/>
        </p:spPr>
        <p:txBody>
          <a:bodyPr wrap="square" lIns="0" tIns="0" rIns="0" bIns="0" rtlCol="0" anchor="ctr"/>
          <a:lstStyle/>
          <a:p>
            <a:pPr rtl="1" algn="r" indent="0" marL="0">
              <a:buNone/>
            </a:pPr>
            <a:r>
              <a:rPr lang="ar-SA" altLang="en-US" sz="1800" b="1" dirty="0">
                <a:solidFill>
                  <a:srgbClr val="1B3B6F"/>
                </a:solidFill>
                <a:latin typeface="Amiri" pitchFamily="2" charset="-78"/>
                <a:ea typeface="Amiri" pitchFamily="2" charset="-78"/>
                <a:cs typeface="Amiri" pitchFamily="2" charset="-78"/>
              </a:rPr>
              <a:t>يُمْكِنُ أَنْ تَدْفَعَ ______ .</a:t>
            </a:r>
            <a:endParaRPr lang="ar-SA" sz="1800" dirty="0"/>
          </a:p>
        </p:txBody>
      </p:sp>
      <p:sp>
        <p:nvSpPr>
          <p:cNvPr id="23" name="Text 20"/>
          <p:cNvSpPr txBox="1"/>
          <p:nvPr/>
        </p:nvSpPr>
        <p:spPr>
          <a:xfrm>
            <a:off x="594360" y="3383280"/>
            <a:ext cx="1828800" cy="538582"/>
          </a:xfrm>
          <a:prstGeom prst="rect">
            <a:avLst/>
          </a:prstGeom>
          <a:noFill/>
          <a:ln/>
        </p:spPr>
        <p:txBody>
          <a:bodyPr wrap="square" lIns="0" tIns="0" rIns="0" bIns="0" rtlCol="0" anchor="ctr"/>
          <a:lstStyle/>
          <a:p>
            <a:pPr algn="l" indent="0" marL="0">
              <a:buNone/>
            </a:pPr>
            <a:r>
              <a:rPr lang="en-US" sz="1050" i="1" dirty="0">
                <a:solidFill>
                  <a:srgbClr val="5A6472"/>
                </a:solidFill>
                <a:latin typeface="Calibri" pitchFamily="34" charset="0"/>
                <a:cs typeface="Amiri" pitchFamily="2" charset="-78"/>
              </a:rPr>
              <a:t>You can pay …</a:t>
            </a:r>
            <a:endParaRPr lang="en-US" sz="1050" dirty="0"/>
          </a:p>
        </p:txBody>
      </p:sp>
      <p:sp>
        <p:nvSpPr>
          <p:cNvPr id="24" name="Shape 21"/>
          <p:cNvSpPr/>
          <p:nvPr/>
        </p:nvSpPr>
        <p:spPr>
          <a:xfrm>
            <a:off x="6190488" y="1810512"/>
            <a:ext cx="5541264" cy="3566160"/>
          </a:xfrm>
          <a:prstGeom prst="roundRect">
            <a:avLst>
              <a:gd name="adj" fmla="val 2051"/>
            </a:avLst>
          </a:prstGeom>
          <a:solidFill>
            <a:srgbClr val="E9F5EE"/>
          </a:solidFill>
          <a:ln w="9525">
            <a:solidFill>
              <a:srgbClr val="2E8B57"/>
            </a:solidFill>
            <a:prstDash val="solid"/>
          </a:ln>
          <a:effectLst>
            <a:outerShdw sx="100000" sy="100000" kx="0" ky="0" algn="bl" rotWithShape="0" blurRad="50800" dist="19050" dir="5400000">
              <a:srgbClr val="000000">
                <a:alpha val="10000"/>
              </a:srgbClr>
            </a:outerShdw>
          </a:effectLst>
        </p:spPr>
      </p:sp>
      <p:sp>
        <p:nvSpPr>
          <p:cNvPr id="25" name="Shape 22"/>
          <p:cNvSpPr/>
          <p:nvPr/>
        </p:nvSpPr>
        <p:spPr>
          <a:xfrm>
            <a:off x="10543032" y="1901952"/>
            <a:ext cx="1051560" cy="274320"/>
          </a:xfrm>
          <a:prstGeom prst="roundRect">
            <a:avLst>
              <a:gd name="adj" fmla="val 50000"/>
            </a:avLst>
          </a:prstGeom>
          <a:solidFill>
            <a:srgbClr val="2E8B57"/>
          </a:solidFill>
          <a:ln w="12700">
            <a:solidFill>
              <a:srgbClr val="2E8B57"/>
            </a:solidFill>
            <a:prstDash val="solid"/>
          </a:ln>
        </p:spPr>
      </p:sp>
      <p:sp>
        <p:nvSpPr>
          <p:cNvPr id="26" name="Text 23"/>
          <p:cNvSpPr txBox="1"/>
          <p:nvPr/>
        </p:nvSpPr>
        <p:spPr>
          <a:xfrm>
            <a:off x="10543032" y="1901952"/>
            <a:ext cx="1051560" cy="274320"/>
          </a:xfrm>
          <a:prstGeom prst="rect">
            <a:avLst/>
          </a:prstGeom>
          <a:noFill/>
          <a:ln/>
        </p:spPr>
        <p:txBody>
          <a:bodyPr wrap="square" lIns="0" tIns="0" rIns="0" bIns="0" rtlCol="0" anchor="ctr"/>
          <a:lstStyle/>
          <a:p>
            <a:pPr algn="ctr" indent="0" marL="0">
              <a:buNone/>
            </a:pPr>
            <a:r>
              <a:rPr lang="en-US" sz="850" b="1" spc="100" kern="0" dirty="0">
                <a:solidFill>
                  <a:srgbClr val="FFFFFF"/>
                </a:solidFill>
                <a:latin typeface="Calibri" pitchFamily="34" charset="0"/>
                <a:cs typeface="Amiri" pitchFamily="2" charset="-78"/>
              </a:rPr>
              <a:t>CORE</a:t>
            </a:r>
            <a:endParaRPr lang="en-US" sz="850" dirty="0"/>
          </a:p>
        </p:txBody>
      </p:sp>
      <p:sp>
        <p:nvSpPr>
          <p:cNvPr id="27" name="Text 24"/>
          <p:cNvSpPr txBox="1"/>
          <p:nvPr/>
        </p:nvSpPr>
        <p:spPr>
          <a:xfrm>
            <a:off x="8202168" y="2249424"/>
            <a:ext cx="3383280" cy="538582"/>
          </a:xfrm>
          <a:prstGeom prst="rect">
            <a:avLst/>
          </a:prstGeom>
          <a:noFill/>
          <a:ln/>
        </p:spPr>
        <p:txBody>
          <a:bodyPr wrap="square" lIns="0" tIns="0" rIns="0" bIns="0" rtlCol="0" anchor="ctr"/>
          <a:lstStyle/>
          <a:p>
            <a:pPr rtl="1" algn="r" indent="0" marL="0">
              <a:buNone/>
            </a:pPr>
            <a:r>
              <a:rPr lang="ar-SA" altLang="en-US" sz="1800" b="1" dirty="0">
                <a:solidFill>
                  <a:srgbClr val="1B3B6F"/>
                </a:solidFill>
                <a:latin typeface="Amiri" pitchFamily="2" charset="-78"/>
                <a:ea typeface="Amiri" pitchFamily="2" charset="-78"/>
                <a:cs typeface="Amiri" pitchFamily="2" charset="-78"/>
              </a:rPr>
              <a:t>فِي مَدِينَتِي ______ وَ ______ .</a:t>
            </a:r>
            <a:endParaRPr lang="ar-SA" sz="1800" dirty="0"/>
          </a:p>
        </p:txBody>
      </p:sp>
      <p:sp>
        <p:nvSpPr>
          <p:cNvPr id="28" name="Text 25"/>
          <p:cNvSpPr txBox="1"/>
          <p:nvPr/>
        </p:nvSpPr>
        <p:spPr>
          <a:xfrm>
            <a:off x="6327648" y="2249424"/>
            <a:ext cx="1828800" cy="538582"/>
          </a:xfrm>
          <a:prstGeom prst="rect">
            <a:avLst/>
          </a:prstGeom>
          <a:noFill/>
          <a:ln/>
        </p:spPr>
        <p:txBody>
          <a:bodyPr wrap="square" lIns="0" tIns="0" rIns="0" bIns="0" rtlCol="0" anchor="ctr"/>
          <a:lstStyle/>
          <a:p>
            <a:pPr algn="l" indent="0" marL="0">
              <a:buNone/>
            </a:pPr>
            <a:r>
              <a:rPr lang="en-US" sz="1050" i="1" dirty="0">
                <a:solidFill>
                  <a:srgbClr val="5A6472"/>
                </a:solidFill>
                <a:latin typeface="Calibri" pitchFamily="34" charset="0"/>
                <a:cs typeface="Amiri" pitchFamily="2" charset="-78"/>
              </a:rPr>
              <a:t>In my town there is … and …</a:t>
            </a:r>
            <a:endParaRPr lang="en-US" sz="1050" dirty="0"/>
          </a:p>
        </p:txBody>
      </p:sp>
      <p:sp>
        <p:nvSpPr>
          <p:cNvPr id="29" name="Text 26"/>
          <p:cNvSpPr txBox="1"/>
          <p:nvPr/>
        </p:nvSpPr>
        <p:spPr>
          <a:xfrm>
            <a:off x="8202168" y="2816352"/>
            <a:ext cx="3383280" cy="538582"/>
          </a:xfrm>
          <a:prstGeom prst="rect">
            <a:avLst/>
          </a:prstGeom>
          <a:noFill/>
          <a:ln/>
        </p:spPr>
        <p:txBody>
          <a:bodyPr wrap="square" lIns="0" tIns="0" rIns="0" bIns="0" rtlCol="0" anchor="ctr"/>
          <a:lstStyle/>
          <a:p>
            <a:pPr rtl="1" algn="r" indent="0" marL="0">
              <a:buNone/>
            </a:pPr>
            <a:r>
              <a:rPr lang="ar-SA" altLang="en-US" sz="1800" b="1" dirty="0">
                <a:solidFill>
                  <a:srgbClr val="1B3B6F"/>
                </a:solidFill>
                <a:latin typeface="Amiri" pitchFamily="2" charset="-78"/>
                <a:ea typeface="Amiri" pitchFamily="2" charset="-78"/>
                <a:cs typeface="Amiri" pitchFamily="2" charset="-78"/>
              </a:rPr>
              <a:t>فِي السُّوقِ ثَمَنُ ______ ______ جُنَيْهَاتٍ.</a:t>
            </a:r>
            <a:endParaRPr lang="ar-SA" sz="1800" dirty="0"/>
          </a:p>
        </p:txBody>
      </p:sp>
      <p:sp>
        <p:nvSpPr>
          <p:cNvPr id="30" name="Text 27"/>
          <p:cNvSpPr txBox="1"/>
          <p:nvPr/>
        </p:nvSpPr>
        <p:spPr>
          <a:xfrm>
            <a:off x="6327648" y="2816352"/>
            <a:ext cx="1828800" cy="538582"/>
          </a:xfrm>
          <a:prstGeom prst="rect">
            <a:avLst/>
          </a:prstGeom>
          <a:noFill/>
          <a:ln/>
        </p:spPr>
        <p:txBody>
          <a:bodyPr wrap="square" lIns="0" tIns="0" rIns="0" bIns="0" rtlCol="0" anchor="ctr"/>
          <a:lstStyle/>
          <a:p>
            <a:pPr algn="l" indent="0" marL="0">
              <a:buNone/>
            </a:pPr>
            <a:r>
              <a:rPr lang="en-US" sz="1050" i="1" dirty="0">
                <a:solidFill>
                  <a:srgbClr val="5A6472"/>
                </a:solidFill>
                <a:latin typeface="Calibri" pitchFamily="34" charset="0"/>
                <a:cs typeface="Amiri" pitchFamily="2" charset="-78"/>
              </a:rPr>
              <a:t>In the market … costs … pounds.</a:t>
            </a:r>
            <a:endParaRPr lang="en-US" sz="1050" dirty="0"/>
          </a:p>
        </p:txBody>
      </p:sp>
      <p:sp>
        <p:nvSpPr>
          <p:cNvPr id="31" name="Text 28"/>
          <p:cNvSpPr txBox="1"/>
          <p:nvPr/>
        </p:nvSpPr>
        <p:spPr>
          <a:xfrm>
            <a:off x="8202168" y="3383280"/>
            <a:ext cx="3383280" cy="538582"/>
          </a:xfrm>
          <a:prstGeom prst="rect">
            <a:avLst/>
          </a:prstGeom>
          <a:noFill/>
          <a:ln/>
        </p:spPr>
        <p:txBody>
          <a:bodyPr wrap="square" lIns="0" tIns="0" rIns="0" bIns="0" rtlCol="0" anchor="ctr"/>
          <a:lstStyle/>
          <a:p>
            <a:pPr rtl="1" algn="r" indent="0" marL="0">
              <a:buNone/>
            </a:pPr>
            <a:r>
              <a:rPr lang="ar-SA" altLang="en-US" sz="1800" b="1" dirty="0">
                <a:solidFill>
                  <a:srgbClr val="1B3B6F"/>
                </a:solidFill>
                <a:latin typeface="Amiri" pitchFamily="2" charset="-78"/>
                <a:ea typeface="Amiri" pitchFamily="2" charset="-78"/>
                <a:cs typeface="Amiri" pitchFamily="2" charset="-78"/>
              </a:rPr>
              <a:t>فِي المَرْكَزِ التِّجَارِيِّ ثَمَنُهُ ______ جُنَيْهًا.</a:t>
            </a:r>
            <a:endParaRPr lang="ar-SA" sz="1800" dirty="0"/>
          </a:p>
        </p:txBody>
      </p:sp>
      <p:sp>
        <p:nvSpPr>
          <p:cNvPr id="32" name="Text 29"/>
          <p:cNvSpPr txBox="1"/>
          <p:nvPr/>
        </p:nvSpPr>
        <p:spPr>
          <a:xfrm>
            <a:off x="6327648" y="3383280"/>
            <a:ext cx="1828800" cy="538582"/>
          </a:xfrm>
          <a:prstGeom prst="rect">
            <a:avLst/>
          </a:prstGeom>
          <a:noFill/>
          <a:ln/>
        </p:spPr>
        <p:txBody>
          <a:bodyPr wrap="square" lIns="0" tIns="0" rIns="0" bIns="0" rtlCol="0" anchor="ctr"/>
          <a:lstStyle/>
          <a:p>
            <a:pPr algn="l" indent="0" marL="0">
              <a:buNone/>
            </a:pPr>
            <a:r>
              <a:rPr lang="en-US" sz="1050" i="1" dirty="0">
                <a:solidFill>
                  <a:srgbClr val="5A6472"/>
                </a:solidFill>
                <a:latin typeface="Calibri" pitchFamily="34" charset="0"/>
                <a:cs typeface="Amiri" pitchFamily="2" charset="-78"/>
              </a:rPr>
              <a:t>In the shopping centre it costs … pounds.</a:t>
            </a:r>
            <a:endParaRPr lang="en-US" sz="1050" dirty="0"/>
          </a:p>
        </p:txBody>
      </p:sp>
      <p:sp>
        <p:nvSpPr>
          <p:cNvPr id="33" name="Text 30"/>
          <p:cNvSpPr txBox="1"/>
          <p:nvPr/>
        </p:nvSpPr>
        <p:spPr>
          <a:xfrm>
            <a:off x="8202168" y="3950208"/>
            <a:ext cx="3383280" cy="538582"/>
          </a:xfrm>
          <a:prstGeom prst="rect">
            <a:avLst/>
          </a:prstGeom>
          <a:noFill/>
          <a:ln/>
        </p:spPr>
        <p:txBody>
          <a:bodyPr wrap="square" lIns="0" tIns="0" rIns="0" bIns="0" rtlCol="0" anchor="ctr"/>
          <a:lstStyle/>
          <a:p>
            <a:pPr rtl="1" algn="r" indent="0" marL="0">
              <a:buNone/>
            </a:pPr>
            <a:r>
              <a:rPr lang="ar-SA" altLang="en-US" sz="1800" b="1" dirty="0">
                <a:solidFill>
                  <a:srgbClr val="1B3B6F"/>
                </a:solidFill>
                <a:latin typeface="Amiri" pitchFamily="2" charset="-78"/>
                <a:ea typeface="Amiri" pitchFamily="2" charset="-78"/>
                <a:cs typeface="Amiri" pitchFamily="2" charset="-78"/>
              </a:rPr>
              <a:t>السُّوقُ أَرْخَصُ مِنَ ______ .</a:t>
            </a:r>
            <a:endParaRPr lang="ar-SA" sz="1800" dirty="0"/>
          </a:p>
        </p:txBody>
      </p:sp>
      <p:sp>
        <p:nvSpPr>
          <p:cNvPr id="34" name="Text 31"/>
          <p:cNvSpPr txBox="1"/>
          <p:nvPr/>
        </p:nvSpPr>
        <p:spPr>
          <a:xfrm>
            <a:off x="6327648" y="3950208"/>
            <a:ext cx="1828800" cy="538582"/>
          </a:xfrm>
          <a:prstGeom prst="rect">
            <a:avLst/>
          </a:prstGeom>
          <a:noFill/>
          <a:ln/>
        </p:spPr>
        <p:txBody>
          <a:bodyPr wrap="square" lIns="0" tIns="0" rIns="0" bIns="0" rtlCol="0" anchor="ctr"/>
          <a:lstStyle/>
          <a:p>
            <a:pPr algn="l" indent="0" marL="0">
              <a:buNone/>
            </a:pPr>
            <a:r>
              <a:rPr lang="en-US" sz="1050" i="1" dirty="0">
                <a:solidFill>
                  <a:srgbClr val="5A6472"/>
                </a:solidFill>
                <a:latin typeface="Calibri" pitchFamily="34" charset="0"/>
                <a:cs typeface="Amiri" pitchFamily="2" charset="-78"/>
              </a:rPr>
              <a:t>The market is cheaper than …</a:t>
            </a:r>
            <a:endParaRPr lang="en-US" sz="1050" dirty="0"/>
          </a:p>
        </p:txBody>
      </p:sp>
      <p:sp>
        <p:nvSpPr>
          <p:cNvPr id="35" name="Text 32"/>
          <p:cNvSpPr txBox="1"/>
          <p:nvPr/>
        </p:nvSpPr>
        <p:spPr>
          <a:xfrm>
            <a:off x="8202168" y="4517136"/>
            <a:ext cx="3383280" cy="538582"/>
          </a:xfrm>
          <a:prstGeom prst="rect">
            <a:avLst/>
          </a:prstGeom>
          <a:noFill/>
          <a:ln/>
        </p:spPr>
        <p:txBody>
          <a:bodyPr wrap="square" lIns="0" tIns="0" rIns="0" bIns="0" rtlCol="0" anchor="ctr"/>
          <a:lstStyle/>
          <a:p>
            <a:pPr rtl="1" algn="r" indent="0" marL="0">
              <a:buNone/>
            </a:pPr>
            <a:r>
              <a:rPr lang="ar-SA" altLang="en-US" sz="1800" b="1" dirty="0">
                <a:solidFill>
                  <a:srgbClr val="1B3B6F"/>
                </a:solidFill>
                <a:latin typeface="Amiri" pitchFamily="2" charset="-78"/>
                <a:ea typeface="Amiri" pitchFamily="2" charset="-78"/>
                <a:cs typeface="Amiri" pitchFamily="2" charset="-78"/>
              </a:rPr>
              <a:t>أُفَضِّلُ ______ لِأَنَّ ______ .</a:t>
            </a:r>
            <a:endParaRPr lang="ar-SA" sz="1800" dirty="0"/>
          </a:p>
        </p:txBody>
      </p:sp>
      <p:sp>
        <p:nvSpPr>
          <p:cNvPr id="36" name="Text 33"/>
          <p:cNvSpPr txBox="1"/>
          <p:nvPr/>
        </p:nvSpPr>
        <p:spPr>
          <a:xfrm>
            <a:off x="6327648" y="4517136"/>
            <a:ext cx="1828800" cy="538582"/>
          </a:xfrm>
          <a:prstGeom prst="rect">
            <a:avLst/>
          </a:prstGeom>
          <a:noFill/>
          <a:ln/>
        </p:spPr>
        <p:txBody>
          <a:bodyPr wrap="square" lIns="0" tIns="0" rIns="0" bIns="0" rtlCol="0" anchor="ctr"/>
          <a:lstStyle/>
          <a:p>
            <a:pPr algn="l" indent="0" marL="0">
              <a:buNone/>
            </a:pPr>
            <a:r>
              <a:rPr lang="en-US" sz="1050" i="1" dirty="0">
                <a:solidFill>
                  <a:srgbClr val="5A6472"/>
                </a:solidFill>
                <a:latin typeface="Calibri" pitchFamily="34" charset="0"/>
                <a:cs typeface="Amiri" pitchFamily="2" charset="-78"/>
              </a:rPr>
              <a:t>I prefer … because …</a:t>
            </a:r>
            <a:endParaRPr lang="en-US" sz="1050" dirty="0"/>
          </a:p>
        </p:txBody>
      </p:sp>
      <p:sp>
        <p:nvSpPr>
          <p:cNvPr id="37" name="Shape 34"/>
          <p:cNvSpPr/>
          <p:nvPr/>
        </p:nvSpPr>
        <p:spPr>
          <a:xfrm>
            <a:off x="457200" y="5504688"/>
            <a:ext cx="11274552" cy="804672"/>
          </a:xfrm>
          <a:prstGeom prst="roundRect">
            <a:avLst>
              <a:gd name="adj" fmla="val 9091"/>
            </a:avLst>
          </a:prstGeom>
          <a:solidFill>
            <a:srgbClr val="FFFFFF"/>
          </a:solidFill>
          <a:ln w="9525">
            <a:solidFill>
              <a:srgbClr val="D8D0BF"/>
            </a:solidFill>
            <a:prstDash val="solid"/>
          </a:ln>
          <a:effectLst>
            <a:outerShdw sx="100000" sy="100000" kx="0" ky="0" algn="bl" rotWithShape="0" blurRad="50800" dist="19050" dir="5400000">
              <a:srgbClr val="000000">
                <a:alpha val="10000"/>
              </a:srgbClr>
            </a:outerShdw>
          </a:effectLst>
        </p:spPr>
      </p:sp>
      <p:sp>
        <p:nvSpPr>
          <p:cNvPr id="38" name="Text 35"/>
          <p:cNvSpPr txBox="1"/>
          <p:nvPr/>
        </p:nvSpPr>
        <p:spPr>
          <a:xfrm>
            <a:off x="640080" y="5541264"/>
            <a:ext cx="1828800" cy="237744"/>
          </a:xfrm>
          <a:prstGeom prst="rect">
            <a:avLst/>
          </a:prstGeom>
          <a:noFill/>
          <a:ln/>
        </p:spPr>
        <p:txBody>
          <a:bodyPr wrap="square" lIns="0" tIns="0" rIns="0" bIns="0" rtlCol="0" anchor="ctr"/>
          <a:lstStyle/>
          <a:p>
            <a:pPr algn="l" indent="0" marL="0">
              <a:buNone/>
            </a:pPr>
            <a:r>
              <a:rPr lang="en-US" sz="950" b="1" spc="200" kern="0" dirty="0">
                <a:solidFill>
                  <a:srgbClr val="8A6D1E"/>
                </a:solidFill>
                <a:latin typeface="Calibri" pitchFamily="34" charset="0"/>
                <a:cs typeface="Amiri" pitchFamily="2" charset="-78"/>
              </a:rPr>
              <a:t>WORD BANK</a:t>
            </a:r>
            <a:endParaRPr lang="en-US" sz="950" dirty="0"/>
          </a:p>
        </p:txBody>
      </p:sp>
      <p:sp>
        <p:nvSpPr>
          <p:cNvPr id="39" name="Text 36"/>
          <p:cNvSpPr txBox="1"/>
          <p:nvPr/>
        </p:nvSpPr>
        <p:spPr>
          <a:xfrm>
            <a:off x="640080" y="5760720"/>
            <a:ext cx="10908792" cy="512064"/>
          </a:xfrm>
          <a:prstGeom prst="rect">
            <a:avLst/>
          </a:prstGeom>
          <a:noFill/>
          <a:ln/>
        </p:spPr>
        <p:txBody>
          <a:bodyPr wrap="square" lIns="0" tIns="0" rIns="0" bIns="0" rtlCol="0" anchor="ctr"/>
          <a:lstStyle/>
          <a:p>
            <a:pPr rtl="1" algn="r" indent="0" marL="0">
              <a:buNone/>
            </a:pPr>
            <a:r>
              <a:rPr lang="ar-SA" altLang="en-US" sz="1600" b="1" dirty="0">
                <a:solidFill>
                  <a:srgbClr val="1B3B6F"/>
                </a:solidFill>
                <a:latin typeface="Amiri" pitchFamily="2" charset="-78"/>
                <a:ea typeface="Amiri" pitchFamily="2" charset="-78"/>
                <a:cs typeface="Amiri" pitchFamily="2" charset="-78"/>
              </a:rPr>
              <a:t>سُوقٌ · مَرْكَزٌ تِجَارِيٌّ  ·  ثَمَنُهُ · ثَمَنُهَا  ·  رَخِيصٌ · غَالٍ  ·  أَرْخَصُ مِنْ · أَغْلَى مِنْ  ·  مُكْتَظٌّ · صَاخِبٌ  ·  حَدِيثٌ · نَظِيفٌ  ·  نَقْدًا · بِالبِطَاقَةِ  ·  بِصِفَةٍ عَامَّةٍ</a:t>
            </a:r>
            <a:endParaRPr lang="ar-SA" sz="1600" dirty="0"/>
          </a:p>
        </p:txBody>
      </p:sp>
      <p:sp>
        <p:nvSpPr>
          <p:cNvPr id="40" name="Text 37"/>
          <p:cNvSpPr txBox="1"/>
          <p:nvPr/>
        </p:nvSpPr>
        <p:spPr>
          <a:xfrm>
            <a:off x="10360152" y="6455664"/>
            <a:ext cx="1371600" cy="219456"/>
          </a:xfrm>
          <a:prstGeom prst="rect">
            <a:avLst/>
          </a:prstGeom>
          <a:noFill/>
          <a:ln/>
        </p:spPr>
        <p:txBody>
          <a:bodyPr wrap="square" lIns="0" tIns="0" rIns="0" bIns="0" rtlCol="0" anchor="ctr"/>
          <a:lstStyle/>
          <a:p>
            <a:pPr algn="r" indent="0" marL="0">
              <a:buNone/>
            </a:pPr>
            <a:r>
              <a:rPr lang="en-US" sz="850" dirty="0">
                <a:solidFill>
                  <a:srgbClr val="8A93A0"/>
                </a:solidFill>
                <a:latin typeface="Calibri" pitchFamily="34" charset="0"/>
                <a:cs typeface="Amiri" pitchFamily="2" charset="-78"/>
              </a:rPr>
              <a:t>18 / 24</a:t>
            </a:r>
            <a:endParaRPr lang="en-US" sz="850" dirty="0"/>
          </a:p>
        </p:txBody>
      </p:sp>
    </p:spTree>
  </p:cSld>
  <p:clrMapOvr>
    <a:masterClrMapping/>
  </p:clrMapOvr>
</p:sld>
</file>

<file path=ppt/slides/slide19.xml><?xml version="1.0" encoding="utf-8"?>
<p:sld xmlns:a="http://schemas.openxmlformats.org/drawingml/2006/main" xmlns:r="http://schemas.openxmlformats.org/officeDocument/2006/relationships" xmlns:p="http://schemas.openxmlformats.org/presentationml/2006/main">
  <p:cSld name="Slide 19">
    <p:bg>
      <p:bgPr>
        <a:solidFill>
          <a:srgbClr val="FFFDF8"/>
        </a:solidFill>
      </p:bgPr>
    </p:bg>
    <p:spTree>
      <p:nvGrpSpPr>
        <p:cNvPr id="1" name=""/>
        <p:cNvGrpSpPr/>
        <p:nvPr/>
      </p:nvGrpSpPr>
      <p:grpSpPr>
        <a:xfrm>
          <a:off x="0" y="0"/>
          <a:ext cx="0" cy="0"/>
          <a:chOff x="0" y="0"/>
          <a:chExt cx="0" cy="0"/>
        </a:xfrm>
      </p:grpSpPr>
      <p:sp>
        <p:nvSpPr>
          <p:cNvPr id="2" name="Shape 0"/>
          <p:cNvSpPr/>
          <p:nvPr/>
        </p:nvSpPr>
        <p:spPr>
          <a:xfrm>
            <a:off x="457200" y="237744"/>
            <a:ext cx="420624" cy="420624"/>
          </a:xfrm>
          <a:prstGeom prst="ellipse">
            <a:avLst/>
          </a:prstGeom>
          <a:solidFill>
            <a:srgbClr val="1B3B6F"/>
          </a:solidFill>
          <a:ln w="12700">
            <a:solidFill>
              <a:srgbClr val="D4AF37"/>
            </a:solidFill>
            <a:prstDash val="solid"/>
          </a:ln>
        </p:spPr>
      </p:sp>
      <p:sp>
        <p:nvSpPr>
          <p:cNvPr id="3" name="Text 1"/>
          <p:cNvSpPr txBox="1"/>
          <p:nvPr/>
        </p:nvSpPr>
        <p:spPr>
          <a:xfrm>
            <a:off x="457200" y="219456"/>
            <a:ext cx="420624" cy="420624"/>
          </a:xfrm>
          <a:prstGeom prst="rect">
            <a:avLst/>
          </a:prstGeom>
          <a:noFill/>
          <a:ln/>
        </p:spPr>
        <p:txBody>
          <a:bodyPr wrap="square" lIns="0" tIns="0" rIns="0" bIns="0" rtlCol="0" anchor="ctr"/>
          <a:lstStyle/>
          <a:p>
            <a:pPr rtl="1" algn="ctr" indent="0" marL="0">
              <a:buNone/>
            </a:pPr>
            <a:r>
              <a:rPr lang="ar-SA" altLang="en-US" sz="1800" b="1" dirty="0">
                <a:solidFill>
                  <a:srgbClr val="D4AF37"/>
                </a:solidFill>
                <a:latin typeface="Amiri" pitchFamily="2" charset="-78"/>
                <a:ea typeface="Amiri" pitchFamily="2" charset="-78"/>
                <a:cs typeface="Amiri" pitchFamily="2" charset="-78"/>
              </a:rPr>
              <a:t>م</a:t>
            </a:r>
            <a:endParaRPr lang="ar-SA" sz="1800" dirty="0"/>
          </a:p>
        </p:txBody>
      </p:sp>
      <p:sp>
        <p:nvSpPr>
          <p:cNvPr id="4" name="Text 2"/>
          <p:cNvSpPr txBox="1"/>
          <p:nvPr/>
        </p:nvSpPr>
        <p:spPr>
          <a:xfrm>
            <a:off x="960120" y="219456"/>
            <a:ext cx="3657600" cy="256032"/>
          </a:xfrm>
          <a:prstGeom prst="rect">
            <a:avLst/>
          </a:prstGeom>
          <a:noFill/>
          <a:ln/>
        </p:spPr>
        <p:txBody>
          <a:bodyPr wrap="square" lIns="0" tIns="0" rIns="0" bIns="0" rtlCol="0" anchor="ctr"/>
          <a:lstStyle/>
          <a:p>
            <a:pPr indent="0" marL="0">
              <a:buNone/>
            </a:pPr>
            <a:r>
              <a:rPr lang="en-US" sz="1200" b="1" dirty="0">
                <a:solidFill>
                  <a:srgbClr val="1B3B6F"/>
                </a:solidFill>
                <a:latin typeface="Cambria" pitchFamily="34" charset="0"/>
                <a:cs typeface="Amiri" pitchFamily="2" charset="-78"/>
              </a:rPr>
              <a:t>Al Madina Online School</a:t>
            </a:r>
            <a:endParaRPr lang="en-US" sz="1200" dirty="0"/>
          </a:p>
        </p:txBody>
      </p:sp>
      <p:sp>
        <p:nvSpPr>
          <p:cNvPr id="5" name="Text 3"/>
          <p:cNvSpPr txBox="1"/>
          <p:nvPr/>
        </p:nvSpPr>
        <p:spPr>
          <a:xfrm>
            <a:off x="960120" y="457200"/>
            <a:ext cx="4572000" cy="182880"/>
          </a:xfrm>
          <a:prstGeom prst="rect">
            <a:avLst/>
          </a:prstGeom>
          <a:noFill/>
          <a:ln/>
        </p:spPr>
        <p:txBody>
          <a:bodyPr wrap="square" lIns="0" tIns="0" rIns="0" bIns="0" rtlCol="0" anchor="ctr"/>
          <a:lstStyle/>
          <a:p>
            <a:pPr indent="0" marL="0">
              <a:buNone/>
            </a:pPr>
            <a:r>
              <a:rPr lang="en-US" sz="800" b="1" spc="200" kern="0" dirty="0">
                <a:solidFill>
                  <a:srgbClr val="8A6D1E"/>
                </a:solidFill>
                <a:latin typeface="Calibri" pitchFamily="34" charset="0"/>
                <a:cs typeface="Amiri" pitchFamily="2" charset="-78"/>
              </a:rPr>
              <a:t>ARABIC DEPARTMENT · MIFTAH ARABIC · IGCSE 0544</a:t>
            </a:r>
            <a:endParaRPr lang="en-US" sz="800" dirty="0"/>
          </a:p>
        </p:txBody>
      </p:sp>
      <p:sp>
        <p:nvSpPr>
          <p:cNvPr id="6" name="Shape 4"/>
          <p:cNvSpPr/>
          <p:nvPr/>
        </p:nvSpPr>
        <p:spPr>
          <a:xfrm>
            <a:off x="8897112" y="274320"/>
            <a:ext cx="2834640" cy="329184"/>
          </a:xfrm>
          <a:prstGeom prst="roundRect">
            <a:avLst>
              <a:gd name="adj" fmla="val 50000"/>
            </a:avLst>
          </a:prstGeom>
          <a:solidFill>
            <a:srgbClr val="1B3B6F"/>
          </a:solidFill>
          <a:ln w="12700">
            <a:solidFill>
              <a:srgbClr val="1B3B6F"/>
            </a:solidFill>
            <a:prstDash val="solid"/>
          </a:ln>
        </p:spPr>
      </p:sp>
      <p:sp>
        <p:nvSpPr>
          <p:cNvPr id="7" name="Text 5"/>
          <p:cNvSpPr txBox="1"/>
          <p:nvPr/>
        </p:nvSpPr>
        <p:spPr>
          <a:xfrm>
            <a:off x="8897112" y="274320"/>
            <a:ext cx="2834640" cy="329184"/>
          </a:xfrm>
          <a:prstGeom prst="rect">
            <a:avLst/>
          </a:prstGeom>
          <a:noFill/>
          <a:ln/>
        </p:spPr>
        <p:txBody>
          <a:bodyPr wrap="square" lIns="0" tIns="0" rIns="0" bIns="0" rtlCol="0" anchor="ctr"/>
          <a:lstStyle/>
          <a:p>
            <a:pPr algn="ctr" indent="0" marL="0">
              <a:buNone/>
            </a:pPr>
            <a:r>
              <a:rPr lang="en-US" sz="950" b="1" spc="100" kern="0" dirty="0">
                <a:solidFill>
                  <a:srgbClr val="FFFFFF"/>
                </a:solidFill>
                <a:latin typeface="Calibri" pitchFamily="34" charset="0"/>
                <a:cs typeface="Amiri" pitchFamily="2" charset="-78"/>
              </a:rPr>
              <a:t>F6-W03 · Apply workshop</a:t>
            </a:r>
            <a:endParaRPr lang="en-US" sz="950" dirty="0"/>
          </a:p>
        </p:txBody>
      </p:sp>
      <p:sp>
        <p:nvSpPr>
          <p:cNvPr id="8" name="Shape 6"/>
          <p:cNvSpPr/>
          <p:nvPr/>
        </p:nvSpPr>
        <p:spPr>
          <a:xfrm>
            <a:off x="7219188" y="274320"/>
            <a:ext cx="1540764" cy="329184"/>
          </a:xfrm>
          <a:prstGeom prst="roundRect">
            <a:avLst>
              <a:gd name="adj" fmla="val 50000"/>
            </a:avLst>
          </a:prstGeom>
          <a:solidFill>
            <a:srgbClr val="1E6B52"/>
          </a:solidFill>
          <a:ln w="12700">
            <a:solidFill>
              <a:srgbClr val="1E6B52"/>
            </a:solidFill>
            <a:prstDash val="solid"/>
          </a:ln>
        </p:spPr>
      </p:sp>
      <p:sp>
        <p:nvSpPr>
          <p:cNvPr id="9" name="Text 7"/>
          <p:cNvSpPr txBox="1"/>
          <p:nvPr/>
        </p:nvSpPr>
        <p:spPr>
          <a:xfrm>
            <a:off x="7219188" y="274320"/>
            <a:ext cx="1540764" cy="329184"/>
          </a:xfrm>
          <a:prstGeom prst="rect">
            <a:avLst/>
          </a:prstGeom>
          <a:noFill/>
          <a:ln/>
        </p:spPr>
        <p:txBody>
          <a:bodyPr wrap="square" lIns="0" tIns="0" rIns="0" bIns="0" rtlCol="0" anchor="ctr"/>
          <a:lstStyle/>
          <a:p>
            <a:pPr algn="ctr" indent="0" marL="0">
              <a:buNone/>
            </a:pPr>
            <a:r>
              <a:rPr lang="en-US" sz="900" b="1" spc="100" kern="0" dirty="0">
                <a:solidFill>
                  <a:srgbClr val="FFFFFF"/>
                </a:solidFill>
                <a:latin typeface="Calibri" pitchFamily="34" charset="0"/>
                <a:cs typeface="Amiri" pitchFamily="2" charset="-78"/>
              </a:rPr>
              <a:t>YOU DO · 10 MIN</a:t>
            </a:r>
            <a:endParaRPr lang="en-US" sz="900" dirty="0"/>
          </a:p>
        </p:txBody>
      </p:sp>
      <p:sp>
        <p:nvSpPr>
          <p:cNvPr id="10" name="Text 8"/>
          <p:cNvSpPr txBox="1"/>
          <p:nvPr/>
        </p:nvSpPr>
        <p:spPr>
          <a:xfrm>
            <a:off x="457200" y="822960"/>
            <a:ext cx="6949440" cy="237744"/>
          </a:xfrm>
          <a:prstGeom prst="rect">
            <a:avLst/>
          </a:prstGeom>
          <a:noFill/>
          <a:ln/>
        </p:spPr>
        <p:txBody>
          <a:bodyPr wrap="square" lIns="0" tIns="0" rIns="0" bIns="0" rtlCol="0" anchor="ctr"/>
          <a:lstStyle/>
          <a:p>
            <a:pPr algn="l" indent="0" marL="0">
              <a:buNone/>
            </a:pPr>
            <a:r>
              <a:rPr lang="en-US" sz="1000" b="1" spc="300" kern="0" dirty="0">
                <a:solidFill>
                  <a:srgbClr val="1E6B52"/>
                </a:solidFill>
                <a:latin typeface="Calibri" pitchFamily="34" charset="0"/>
                <a:cs typeface="Amiri" pitchFamily="2" charset="-78"/>
              </a:rPr>
              <a:t>STEP 9 · WRITE YOUR TEXT · ABOUT 45–65 WORDS</a:t>
            </a:r>
            <a:endParaRPr lang="en-US" sz="1000" dirty="0"/>
          </a:p>
        </p:txBody>
      </p:sp>
      <p:sp>
        <p:nvSpPr>
          <p:cNvPr id="11" name="Text 9"/>
          <p:cNvSpPr txBox="1"/>
          <p:nvPr/>
        </p:nvSpPr>
        <p:spPr>
          <a:xfrm>
            <a:off x="457200" y="1033272"/>
            <a:ext cx="6949440" cy="566928"/>
          </a:xfrm>
          <a:prstGeom prst="rect">
            <a:avLst/>
          </a:prstGeom>
          <a:noFill/>
          <a:ln/>
        </p:spPr>
        <p:txBody>
          <a:bodyPr wrap="square" lIns="0" tIns="0" rIns="0" bIns="0" rtlCol="0" anchor="ctr"/>
          <a:lstStyle/>
          <a:p>
            <a:pPr algn="l" indent="0" marL="0">
              <a:buNone/>
            </a:pPr>
            <a:r>
              <a:rPr lang="en-US" sz="2550" b="1" dirty="0">
                <a:solidFill>
                  <a:srgbClr val="1B3B6F"/>
                </a:solidFill>
                <a:latin typeface="Cambria" pitchFamily="34" charset="0"/>
                <a:cs typeface="Amiri" pitchFamily="2" charset="-78"/>
              </a:rPr>
              <a:t>A balanced shopping guide to my town</a:t>
            </a:r>
            <a:endParaRPr lang="en-US" sz="2550" dirty="0"/>
          </a:p>
        </p:txBody>
      </p:sp>
      <p:sp>
        <p:nvSpPr>
          <p:cNvPr id="12" name="Text 10"/>
          <p:cNvSpPr txBox="1"/>
          <p:nvPr/>
        </p:nvSpPr>
        <p:spPr>
          <a:xfrm>
            <a:off x="7498080" y="868680"/>
            <a:ext cx="4233672" cy="749808"/>
          </a:xfrm>
          <a:prstGeom prst="rect">
            <a:avLst/>
          </a:prstGeom>
          <a:noFill/>
          <a:ln/>
        </p:spPr>
        <p:txBody>
          <a:bodyPr wrap="square" lIns="0" tIns="0" rIns="0" bIns="0" rtlCol="0" anchor="ctr"/>
          <a:lstStyle/>
          <a:p>
            <a:pPr rtl="1" algn="r" indent="0" marL="0">
              <a:buNone/>
            </a:pPr>
            <a:r>
              <a:rPr lang="ar-SA" altLang="en-US" sz="2800" b="1" dirty="0">
                <a:solidFill>
                  <a:srgbClr val="8A6D1E"/>
                </a:solidFill>
                <a:latin typeface="Amiri" pitchFamily="2" charset="-78"/>
                <a:ea typeface="Amiri" pitchFamily="2" charset="-78"/>
                <a:cs typeface="Amiri" pitchFamily="2" charset="-78"/>
              </a:rPr>
              <a:t>دَلِيلُ التَّسَوُّقِ</a:t>
            </a:r>
            <a:endParaRPr lang="ar-SA" sz="2800" dirty="0"/>
          </a:p>
        </p:txBody>
      </p:sp>
      <p:sp>
        <p:nvSpPr>
          <p:cNvPr id="13" name="Text 11"/>
          <p:cNvSpPr txBox="1"/>
          <p:nvPr/>
        </p:nvSpPr>
        <p:spPr>
          <a:xfrm>
            <a:off x="457200" y="6455664"/>
            <a:ext cx="6400800" cy="219456"/>
          </a:xfrm>
          <a:prstGeom prst="rect">
            <a:avLst/>
          </a:prstGeom>
          <a:noFill/>
          <a:ln/>
        </p:spPr>
        <p:txBody>
          <a:bodyPr wrap="square" lIns="0" tIns="0" rIns="0" bIns="0" rtlCol="0" anchor="ctr"/>
          <a:lstStyle/>
          <a:p>
            <a:pPr indent="0" marL="0">
              <a:buNone/>
            </a:pPr>
            <a:r>
              <a:rPr lang="en-US" sz="850" dirty="0">
                <a:solidFill>
                  <a:srgbClr val="8A93A0"/>
                </a:solidFill>
                <a:latin typeface="Calibri" pitchFamily="34" charset="0"/>
                <a:cs typeface="Amiri" pitchFamily="2" charset="-78"/>
              </a:rPr>
              <a:t>Miftah Arabic · Foundation F6 · My Town and Transport · F6-W03 · Apply workshop (F6-L05 + F6-L06)</a:t>
            </a:r>
            <a:endParaRPr lang="en-US" sz="850" dirty="0"/>
          </a:p>
        </p:txBody>
      </p:sp>
      <p:sp>
        <p:nvSpPr>
          <p:cNvPr id="15" name="Shape 12"/>
          <p:cNvSpPr/>
          <p:nvPr/>
        </p:nvSpPr>
        <p:spPr>
          <a:xfrm>
            <a:off x="457200" y="1810512"/>
            <a:ext cx="5577840" cy="4498848"/>
          </a:xfrm>
          <a:prstGeom prst="roundRect">
            <a:avLst>
              <a:gd name="adj" fmla="val 1626"/>
            </a:avLst>
          </a:prstGeom>
          <a:solidFill>
            <a:srgbClr val="F7F9FC"/>
          </a:solidFill>
          <a:ln w="9525">
            <a:solidFill>
              <a:srgbClr val="C9D6EA"/>
            </a:solidFill>
            <a:prstDash val="solid"/>
          </a:ln>
          <a:effectLst>
            <a:outerShdw sx="100000" sy="100000" kx="0" ky="0" algn="bl" rotWithShape="0" blurRad="50800" dist="19050" dir="5400000">
              <a:srgbClr val="000000">
                <a:alpha val="10000"/>
              </a:srgbClr>
            </a:outerShdw>
          </a:effectLst>
        </p:spPr>
      </p:sp>
      <p:sp>
        <p:nvSpPr>
          <p:cNvPr id="16" name="Shape 13"/>
          <p:cNvSpPr/>
          <p:nvPr/>
        </p:nvSpPr>
        <p:spPr>
          <a:xfrm>
            <a:off x="640080" y="1938528"/>
            <a:ext cx="1984248" cy="292608"/>
          </a:xfrm>
          <a:prstGeom prst="roundRect">
            <a:avLst>
              <a:gd name="adj" fmla="val 50000"/>
            </a:avLst>
          </a:prstGeom>
          <a:solidFill>
            <a:srgbClr val="1B3B6F"/>
          </a:solidFill>
          <a:ln w="12700">
            <a:solidFill>
              <a:srgbClr val="1B3B6F"/>
            </a:solidFill>
            <a:prstDash val="solid"/>
          </a:ln>
        </p:spPr>
      </p:sp>
      <p:sp>
        <p:nvSpPr>
          <p:cNvPr id="17" name="Text 14"/>
          <p:cNvSpPr txBox="1"/>
          <p:nvPr/>
        </p:nvSpPr>
        <p:spPr>
          <a:xfrm>
            <a:off x="640080" y="1938528"/>
            <a:ext cx="1984248" cy="292608"/>
          </a:xfrm>
          <a:prstGeom prst="rect">
            <a:avLst/>
          </a:prstGeom>
          <a:noFill/>
          <a:ln/>
        </p:spPr>
        <p:txBody>
          <a:bodyPr wrap="square" lIns="0" tIns="0" rIns="0" bIns="0" rtlCol="0" anchor="ctr"/>
          <a:lstStyle/>
          <a:p>
            <a:pPr algn="ctr" indent="0" marL="0">
              <a:buNone/>
            </a:pPr>
            <a:r>
              <a:rPr lang="en-US" sz="950" b="1" spc="100" kern="0" dirty="0">
                <a:solidFill>
                  <a:srgbClr val="FFFFFF"/>
                </a:solidFill>
                <a:latin typeface="Calibri" pitchFamily="34" charset="0"/>
                <a:cs typeface="Amiri" pitchFamily="2" charset="-78"/>
              </a:rPr>
              <a:t>WRITING · BOTH LESSONS</a:t>
            </a:r>
            <a:endParaRPr lang="en-US" sz="950" dirty="0"/>
          </a:p>
        </p:txBody>
      </p:sp>
      <p:sp>
        <p:nvSpPr>
          <p:cNvPr id="18" name="Text 15"/>
          <p:cNvSpPr txBox="1"/>
          <p:nvPr/>
        </p:nvSpPr>
        <p:spPr>
          <a:xfrm>
            <a:off x="640080" y="2331720"/>
            <a:ext cx="5212080" cy="914400"/>
          </a:xfrm>
          <a:prstGeom prst="rect">
            <a:avLst/>
          </a:prstGeom>
          <a:noFill/>
          <a:ln/>
        </p:spPr>
        <p:txBody>
          <a:bodyPr wrap="square" lIns="0" tIns="0" rIns="0" bIns="0" rtlCol="0" anchor="ctr"/>
          <a:lstStyle/>
          <a:p>
            <a:pPr algn="l" indent="0" marL="0">
              <a:buNone/>
            </a:pPr>
            <a:r>
              <a:rPr lang="en-US" sz="1100" b="1" dirty="0">
                <a:solidFill>
                  <a:srgbClr val="1F2A37"/>
                </a:solidFill>
                <a:latin typeface="Calibri" pitchFamily="34" charset="0"/>
                <a:cs typeface="Amiri" pitchFamily="2" charset="-78"/>
              </a:rPr>
              <a:t>Write a guide (about 45–65 words) for visitors comparing two places to shop in your town. Include: • the two places and a description of each • two items and their prices • which is cheaper or more expensive • one advantage and one disadvantage • how you can pay or a discount • where you prefer to shop and why.</a:t>
            </a:r>
            <a:endParaRPr lang="en-US" sz="1100" dirty="0"/>
          </a:p>
        </p:txBody>
      </p:sp>
      <p:sp>
        <p:nvSpPr>
          <p:cNvPr id="19" name="Text 16"/>
          <p:cNvSpPr txBox="1"/>
          <p:nvPr/>
        </p:nvSpPr>
        <p:spPr>
          <a:xfrm>
            <a:off x="685800" y="3310128"/>
            <a:ext cx="5212080" cy="530352"/>
          </a:xfrm>
          <a:prstGeom prst="rect">
            <a:avLst/>
          </a:prstGeom>
          <a:noFill/>
          <a:ln/>
        </p:spPr>
        <p:txBody>
          <a:bodyPr wrap="square" lIns="0" tIns="0" rIns="0" bIns="0" rtlCol="0" anchor="ctr"/>
          <a:lstStyle/>
          <a:p>
            <a:pPr algn="l" indent="0" marL="0">
              <a:buNone/>
            </a:pPr>
            <a:r>
              <a:rPr lang="en-US" sz="1200" dirty="0">
                <a:solidFill>
                  <a:srgbClr val="1F2A37"/>
                </a:solidFill>
                <a:latin typeface="Calibri" pitchFamily="34" charset="0"/>
                <a:cs typeface="Amiri" pitchFamily="2" charset="-78"/>
              </a:rPr>
              <a:t>☐  Every bullet point has at least one sentence.</a:t>
            </a:r>
            <a:endParaRPr lang="en-US" sz="1200" dirty="0"/>
          </a:p>
        </p:txBody>
      </p:sp>
      <p:sp>
        <p:nvSpPr>
          <p:cNvPr id="20" name="Text 17"/>
          <p:cNvSpPr txBox="1"/>
          <p:nvPr/>
        </p:nvSpPr>
        <p:spPr>
          <a:xfrm>
            <a:off x="685800" y="3840480"/>
            <a:ext cx="5212080" cy="530352"/>
          </a:xfrm>
          <a:prstGeom prst="rect">
            <a:avLst/>
          </a:prstGeom>
          <a:noFill/>
          <a:ln/>
        </p:spPr>
        <p:txBody>
          <a:bodyPr wrap="square" lIns="0" tIns="0" rIns="0" bIns="0" rtlCol="0" anchor="ctr"/>
          <a:lstStyle/>
          <a:p>
            <a:pPr algn="l" indent="0" marL="0">
              <a:buNone/>
            </a:pPr>
            <a:r>
              <a:rPr lang="en-US" sz="1200" dirty="0">
                <a:solidFill>
                  <a:srgbClr val="1F2A37"/>
                </a:solidFill>
                <a:latin typeface="Calibri" pitchFamily="34" charset="0"/>
                <a:cs typeface="Amiri" pitchFamily="2" charset="-78"/>
              </a:rPr>
              <a:t>☐  Language from F6-L05 AND F6-L06.</a:t>
            </a:r>
            <a:endParaRPr lang="en-US" sz="1200" dirty="0"/>
          </a:p>
        </p:txBody>
      </p:sp>
      <p:sp>
        <p:nvSpPr>
          <p:cNvPr id="21" name="Text 18"/>
          <p:cNvSpPr txBox="1"/>
          <p:nvPr/>
        </p:nvSpPr>
        <p:spPr>
          <a:xfrm>
            <a:off x="685800" y="4370832"/>
            <a:ext cx="5212080" cy="530352"/>
          </a:xfrm>
          <a:prstGeom prst="rect">
            <a:avLst/>
          </a:prstGeom>
          <a:noFill/>
          <a:ln/>
        </p:spPr>
        <p:txBody>
          <a:bodyPr wrap="square" lIns="0" tIns="0" rIns="0" bIns="0" rtlCol="0" anchor="ctr"/>
          <a:lstStyle/>
          <a:p>
            <a:pPr algn="l" indent="0" marL="0">
              <a:buNone/>
            </a:pPr>
            <a:r>
              <a:rPr lang="en-US" sz="1200" dirty="0">
                <a:solidFill>
                  <a:srgbClr val="1F2A37"/>
                </a:solidFill>
                <a:latin typeface="Calibri" pitchFamily="34" charset="0"/>
                <a:cs typeface="Amiri" pitchFamily="2" charset="-78"/>
              </a:rPr>
              <a:t>☐  Full sentences with the right ending (I · my · he · she).</a:t>
            </a:r>
            <a:endParaRPr lang="en-US" sz="1200" dirty="0"/>
          </a:p>
        </p:txBody>
      </p:sp>
      <p:sp>
        <p:nvSpPr>
          <p:cNvPr id="22" name="Text 19"/>
          <p:cNvSpPr txBox="1"/>
          <p:nvPr/>
        </p:nvSpPr>
        <p:spPr>
          <a:xfrm>
            <a:off x="685800" y="4901184"/>
            <a:ext cx="5212080" cy="530352"/>
          </a:xfrm>
          <a:prstGeom prst="rect">
            <a:avLst/>
          </a:prstGeom>
          <a:noFill/>
          <a:ln/>
        </p:spPr>
        <p:txBody>
          <a:bodyPr wrap="square" lIns="0" tIns="0" rIns="0" bIns="0" rtlCol="0" anchor="ctr"/>
          <a:lstStyle/>
          <a:p>
            <a:pPr algn="l" indent="0" marL="0">
              <a:buNone/>
            </a:pPr>
            <a:r>
              <a:rPr lang="en-US" sz="1200" dirty="0">
                <a:solidFill>
                  <a:srgbClr val="1F2A37"/>
                </a:solidFill>
                <a:latin typeface="Calibri" pitchFamily="34" charset="0"/>
                <a:cs typeface="Amiri" pitchFamily="2" charset="-78"/>
              </a:rPr>
              <a:t>☐  At least one </a:t>
            </a:r>
            <a:pPr algn="l" indent="0" marL="0">
              <a:buNone/>
            </a:pPr>
            <a:r>
              <a:rPr lang="ar-SA" altLang="en-US" sz="1550" dirty="0">
                <a:solidFill>
                  <a:srgbClr val="1F2A37"/>
                </a:solidFill>
                <a:latin typeface="Amiri" pitchFamily="2" charset="-78"/>
                <a:ea typeface="Amiri" pitchFamily="2" charset="-78"/>
                <a:cs typeface="Amiri" pitchFamily="2" charset="-78"/>
              </a:rPr>
              <a:t>وَ</a:t>
            </a:r>
            <a:pPr algn="l" indent="0" marL="0">
              <a:buNone/>
            </a:pPr>
            <a:r>
              <a:rPr lang="en-US" sz="1200" dirty="0">
                <a:solidFill>
                  <a:srgbClr val="1F2A37"/>
                </a:solidFill>
                <a:latin typeface="Calibri" pitchFamily="34" charset="0"/>
                <a:cs typeface="Amiri" pitchFamily="2" charset="-78"/>
              </a:rPr>
              <a:t> and one </a:t>
            </a:r>
            <a:pPr algn="l" indent="0" marL="0">
              <a:buNone/>
            </a:pPr>
            <a:r>
              <a:rPr lang="ar-SA" altLang="en-US" sz="1550" dirty="0">
                <a:solidFill>
                  <a:srgbClr val="1F2A37"/>
                </a:solidFill>
                <a:latin typeface="Amiri" pitchFamily="2" charset="-78"/>
                <a:ea typeface="Amiri" pitchFamily="2" charset="-78"/>
                <a:cs typeface="Amiri" pitchFamily="2" charset="-78"/>
              </a:rPr>
              <a:t>لِأَنَّ</a:t>
            </a:r>
            <a:pPr algn="l" indent="0" marL="0">
              <a:buNone/>
            </a:pPr>
            <a:r>
              <a:rPr lang="en-US" sz="1200" dirty="0">
                <a:solidFill>
                  <a:srgbClr val="1F2A37"/>
                </a:solidFill>
                <a:latin typeface="Calibri" pitchFamily="34" charset="0"/>
                <a:cs typeface="Amiri" pitchFamily="2" charset="-78"/>
              </a:rPr>
              <a:t> (Develop).</a:t>
            </a:r>
            <a:endParaRPr lang="en-US" sz="1200" dirty="0"/>
          </a:p>
        </p:txBody>
      </p:sp>
      <p:sp>
        <p:nvSpPr>
          <p:cNvPr id="23" name="Text 20"/>
          <p:cNvSpPr txBox="1"/>
          <p:nvPr/>
        </p:nvSpPr>
        <p:spPr>
          <a:xfrm>
            <a:off x="685800" y="5431536"/>
            <a:ext cx="5212080" cy="530352"/>
          </a:xfrm>
          <a:prstGeom prst="rect">
            <a:avLst/>
          </a:prstGeom>
          <a:noFill/>
          <a:ln/>
        </p:spPr>
        <p:txBody>
          <a:bodyPr wrap="square" lIns="0" tIns="0" rIns="0" bIns="0" rtlCol="0" anchor="ctr"/>
          <a:lstStyle/>
          <a:p>
            <a:pPr algn="l" indent="0" marL="0">
              <a:buNone/>
            </a:pPr>
            <a:r>
              <a:rPr lang="en-US" sz="1200" dirty="0">
                <a:solidFill>
                  <a:srgbClr val="1F2A37"/>
                </a:solidFill>
                <a:latin typeface="Calibri" pitchFamily="34" charset="0"/>
                <a:cs typeface="Amiri" pitchFamily="2" charset="-78"/>
              </a:rPr>
              <a:t>☐  Buddy check, then fix one thing.</a:t>
            </a:r>
            <a:endParaRPr lang="en-US" sz="1200" dirty="0"/>
          </a:p>
        </p:txBody>
      </p:sp>
      <p:sp>
        <p:nvSpPr>
          <p:cNvPr id="24" name="Shape 21"/>
          <p:cNvSpPr/>
          <p:nvPr/>
        </p:nvSpPr>
        <p:spPr>
          <a:xfrm>
            <a:off x="6217920" y="1810512"/>
            <a:ext cx="5513832" cy="4498848"/>
          </a:xfrm>
          <a:prstGeom prst="roundRect">
            <a:avLst>
              <a:gd name="adj" fmla="val 1626"/>
            </a:avLst>
          </a:prstGeom>
          <a:solidFill>
            <a:srgbClr val="FFFFFF"/>
          </a:solidFill>
          <a:ln w="9525">
            <a:solidFill>
              <a:srgbClr val="D8D0BF"/>
            </a:solidFill>
            <a:prstDash val="solid"/>
          </a:ln>
          <a:effectLst>
            <a:outerShdw sx="100000" sy="100000" kx="0" ky="0" algn="bl" rotWithShape="0" blurRad="50800" dist="19050" dir="5400000">
              <a:srgbClr val="000000">
                <a:alpha val="10000"/>
              </a:srgbClr>
            </a:outerShdw>
          </a:effectLst>
        </p:spPr>
      </p:sp>
      <p:sp>
        <p:nvSpPr>
          <p:cNvPr id="25" name="Text 22"/>
          <p:cNvSpPr txBox="1"/>
          <p:nvPr/>
        </p:nvSpPr>
        <p:spPr>
          <a:xfrm>
            <a:off x="6400800" y="1901952"/>
            <a:ext cx="5120640" cy="274320"/>
          </a:xfrm>
          <a:prstGeom prst="rect">
            <a:avLst/>
          </a:prstGeom>
          <a:noFill/>
          <a:ln/>
        </p:spPr>
        <p:txBody>
          <a:bodyPr wrap="square" lIns="0" tIns="0" rIns="0" bIns="0" rtlCol="0" anchor="ctr"/>
          <a:lstStyle/>
          <a:p>
            <a:pPr algn="l" indent="0" marL="0">
              <a:buNone/>
            </a:pPr>
            <a:r>
              <a:rPr lang="en-US" sz="950" b="1" spc="100" kern="0" dirty="0">
                <a:solidFill>
                  <a:srgbClr val="8A6D1E"/>
                </a:solidFill>
                <a:latin typeface="Calibri" pitchFamily="34" charset="0"/>
                <a:cs typeface="Amiri" pitchFamily="2" charset="-78"/>
              </a:rPr>
              <a:t>USEFUL LANGUAGE</a:t>
            </a:r>
            <a:endParaRPr lang="en-US" sz="950" dirty="0"/>
          </a:p>
        </p:txBody>
      </p:sp>
      <p:sp>
        <p:nvSpPr>
          <p:cNvPr id="26" name="Text 23"/>
          <p:cNvSpPr txBox="1"/>
          <p:nvPr/>
        </p:nvSpPr>
        <p:spPr>
          <a:xfrm>
            <a:off x="8412480" y="2231136"/>
            <a:ext cx="3154680" cy="408188"/>
          </a:xfrm>
          <a:prstGeom prst="rect">
            <a:avLst/>
          </a:prstGeom>
          <a:noFill/>
          <a:ln/>
        </p:spPr>
        <p:txBody>
          <a:bodyPr wrap="square" lIns="0" tIns="0" rIns="0" bIns="0" rtlCol="0" anchor="ctr"/>
          <a:lstStyle/>
          <a:p>
            <a:pPr rtl="1" algn="r" indent="0" marL="0">
              <a:buNone/>
            </a:pPr>
            <a:r>
              <a:rPr lang="ar-SA" altLang="en-US" sz="1750" b="1" dirty="0">
                <a:solidFill>
                  <a:srgbClr val="1B3B6F"/>
                </a:solidFill>
                <a:latin typeface="Amiri" pitchFamily="2" charset="-78"/>
                <a:ea typeface="Amiri" pitchFamily="2" charset="-78"/>
                <a:cs typeface="Amiri" pitchFamily="2" charset="-78"/>
              </a:rPr>
              <a:t>فِي مَدِينَتِي سُوقٌ قَدِيمٌ وَمَرْكَزٌ تِجَارِيٌّ حَدِيثٌ</a:t>
            </a:r>
            <a:endParaRPr lang="ar-SA" sz="1750" dirty="0"/>
          </a:p>
        </p:txBody>
      </p:sp>
      <p:sp>
        <p:nvSpPr>
          <p:cNvPr id="27" name="Text 24"/>
          <p:cNvSpPr txBox="1"/>
          <p:nvPr/>
        </p:nvSpPr>
        <p:spPr>
          <a:xfrm>
            <a:off x="6400800" y="2560320"/>
            <a:ext cx="5166360" cy="276515"/>
          </a:xfrm>
          <a:prstGeom prst="rect">
            <a:avLst/>
          </a:prstGeom>
          <a:noFill/>
          <a:ln/>
        </p:spPr>
        <p:txBody>
          <a:bodyPr wrap="square" lIns="0" tIns="0" rIns="0" bIns="0" rtlCol="0" anchor="ctr"/>
          <a:lstStyle/>
          <a:p>
            <a:pPr algn="r" indent="0" marL="0">
              <a:buNone/>
            </a:pPr>
            <a:r>
              <a:rPr lang="en-US" sz="1050" i="1" dirty="0">
                <a:solidFill>
                  <a:srgbClr val="5A6472"/>
                </a:solidFill>
                <a:latin typeface="Calibri" pitchFamily="34" charset="0"/>
                <a:cs typeface="Amiri" pitchFamily="2" charset="-78"/>
              </a:rPr>
              <a:t>in my town there is an old market and a modern shopping centre</a:t>
            </a:r>
            <a:endParaRPr lang="en-US" sz="1050" dirty="0"/>
          </a:p>
        </p:txBody>
      </p:sp>
      <p:sp>
        <p:nvSpPr>
          <p:cNvPr id="28" name="Text 25"/>
          <p:cNvSpPr txBox="1"/>
          <p:nvPr/>
        </p:nvSpPr>
        <p:spPr>
          <a:xfrm>
            <a:off x="8412480" y="2889504"/>
            <a:ext cx="3154680" cy="408188"/>
          </a:xfrm>
          <a:prstGeom prst="rect">
            <a:avLst/>
          </a:prstGeom>
          <a:noFill/>
          <a:ln/>
        </p:spPr>
        <p:txBody>
          <a:bodyPr wrap="square" lIns="0" tIns="0" rIns="0" bIns="0" rtlCol="0" anchor="ctr"/>
          <a:lstStyle/>
          <a:p>
            <a:pPr rtl="1" algn="r" indent="0" marL="0">
              <a:buNone/>
            </a:pPr>
            <a:r>
              <a:rPr lang="ar-SA" altLang="en-US" sz="1800" b="1" dirty="0">
                <a:solidFill>
                  <a:srgbClr val="1B3B6F"/>
                </a:solidFill>
                <a:latin typeface="Amiri" pitchFamily="2" charset="-78"/>
                <a:ea typeface="Amiri" pitchFamily="2" charset="-78"/>
                <a:cs typeface="Amiri" pitchFamily="2" charset="-78"/>
              </a:rPr>
              <a:t>فِي السُّوقِ ثَمَنُ … جُنَيْهَاتٍ</a:t>
            </a:r>
            <a:endParaRPr lang="ar-SA" sz="1800" dirty="0"/>
          </a:p>
        </p:txBody>
      </p:sp>
      <p:sp>
        <p:nvSpPr>
          <p:cNvPr id="29" name="Text 26"/>
          <p:cNvSpPr txBox="1"/>
          <p:nvPr/>
        </p:nvSpPr>
        <p:spPr>
          <a:xfrm>
            <a:off x="6400800" y="3218688"/>
            <a:ext cx="5166360" cy="276515"/>
          </a:xfrm>
          <a:prstGeom prst="rect">
            <a:avLst/>
          </a:prstGeom>
          <a:noFill/>
          <a:ln/>
        </p:spPr>
        <p:txBody>
          <a:bodyPr wrap="square" lIns="0" tIns="0" rIns="0" bIns="0" rtlCol="0" anchor="ctr"/>
          <a:lstStyle/>
          <a:p>
            <a:pPr algn="r" indent="0" marL="0">
              <a:buNone/>
            </a:pPr>
            <a:r>
              <a:rPr lang="en-US" sz="1050" i="1" dirty="0">
                <a:solidFill>
                  <a:srgbClr val="5A6472"/>
                </a:solidFill>
                <a:latin typeface="Calibri" pitchFamily="34" charset="0"/>
                <a:cs typeface="Amiri" pitchFamily="2" charset="-78"/>
              </a:rPr>
              <a:t>in the market … costs … pounds</a:t>
            </a:r>
            <a:endParaRPr lang="en-US" sz="1050" dirty="0"/>
          </a:p>
        </p:txBody>
      </p:sp>
      <p:sp>
        <p:nvSpPr>
          <p:cNvPr id="30" name="Text 27"/>
          <p:cNvSpPr txBox="1"/>
          <p:nvPr/>
        </p:nvSpPr>
        <p:spPr>
          <a:xfrm>
            <a:off x="8412480" y="3547872"/>
            <a:ext cx="3154680" cy="408188"/>
          </a:xfrm>
          <a:prstGeom prst="rect">
            <a:avLst/>
          </a:prstGeom>
          <a:noFill/>
          <a:ln/>
        </p:spPr>
        <p:txBody>
          <a:bodyPr wrap="square" lIns="0" tIns="0" rIns="0" bIns="0" rtlCol="0" anchor="ctr"/>
          <a:lstStyle/>
          <a:p>
            <a:pPr rtl="1" algn="r" indent="0" marL="0">
              <a:buNone/>
            </a:pPr>
            <a:r>
              <a:rPr lang="ar-SA" altLang="en-US" sz="1800" b="1" dirty="0">
                <a:solidFill>
                  <a:srgbClr val="1B3B6F"/>
                </a:solidFill>
                <a:latin typeface="Amiri" pitchFamily="2" charset="-78"/>
                <a:ea typeface="Amiri" pitchFamily="2" charset="-78"/>
                <a:cs typeface="Amiri" pitchFamily="2" charset="-78"/>
              </a:rPr>
              <a:t>مِنْ مَزَايَا … أَنَّ … · مِنْ عُيُوبِهِ أَنَّ …</a:t>
            </a:r>
            <a:endParaRPr lang="ar-SA" sz="1800" dirty="0"/>
          </a:p>
        </p:txBody>
      </p:sp>
      <p:sp>
        <p:nvSpPr>
          <p:cNvPr id="31" name="Text 28"/>
          <p:cNvSpPr txBox="1"/>
          <p:nvPr/>
        </p:nvSpPr>
        <p:spPr>
          <a:xfrm>
            <a:off x="6400800" y="3877056"/>
            <a:ext cx="5166360" cy="276515"/>
          </a:xfrm>
          <a:prstGeom prst="rect">
            <a:avLst/>
          </a:prstGeom>
          <a:noFill/>
          <a:ln/>
        </p:spPr>
        <p:txBody>
          <a:bodyPr wrap="square" lIns="0" tIns="0" rIns="0" bIns="0" rtlCol="0" anchor="ctr"/>
          <a:lstStyle/>
          <a:p>
            <a:pPr algn="r" indent="0" marL="0">
              <a:buNone/>
            </a:pPr>
            <a:r>
              <a:rPr lang="en-US" sz="1050" i="1" dirty="0">
                <a:solidFill>
                  <a:srgbClr val="5A6472"/>
                </a:solidFill>
                <a:latin typeface="Calibri" pitchFamily="34" charset="0"/>
                <a:cs typeface="Amiri" pitchFamily="2" charset="-78"/>
              </a:rPr>
              <a:t>an advantage of … is that … · a disadvantage is that …</a:t>
            </a:r>
            <a:endParaRPr lang="en-US" sz="1050" dirty="0"/>
          </a:p>
        </p:txBody>
      </p:sp>
      <p:sp>
        <p:nvSpPr>
          <p:cNvPr id="32" name="Text 29"/>
          <p:cNvSpPr txBox="1"/>
          <p:nvPr/>
        </p:nvSpPr>
        <p:spPr>
          <a:xfrm>
            <a:off x="8412480" y="4206240"/>
            <a:ext cx="3154680" cy="408188"/>
          </a:xfrm>
          <a:prstGeom prst="rect">
            <a:avLst/>
          </a:prstGeom>
          <a:noFill/>
          <a:ln/>
        </p:spPr>
        <p:txBody>
          <a:bodyPr wrap="square" lIns="0" tIns="0" rIns="0" bIns="0" rtlCol="0" anchor="ctr"/>
          <a:lstStyle/>
          <a:p>
            <a:pPr rtl="1" algn="r" indent="0" marL="0">
              <a:buNone/>
            </a:pPr>
            <a:r>
              <a:rPr lang="ar-SA" altLang="en-US" sz="1800" b="1" dirty="0">
                <a:solidFill>
                  <a:srgbClr val="1B3B6F"/>
                </a:solidFill>
                <a:latin typeface="Amiri" pitchFamily="2" charset="-78"/>
                <a:ea typeface="Amiri" pitchFamily="2" charset="-78"/>
                <a:cs typeface="Amiri" pitchFamily="2" charset="-78"/>
              </a:rPr>
              <a:t>بِصِفَةٍ عَامَّةٍ أُفَضِّلُ … لِأَنَّ …</a:t>
            </a:r>
            <a:endParaRPr lang="ar-SA" sz="1800" dirty="0"/>
          </a:p>
        </p:txBody>
      </p:sp>
      <p:sp>
        <p:nvSpPr>
          <p:cNvPr id="33" name="Text 30"/>
          <p:cNvSpPr txBox="1"/>
          <p:nvPr/>
        </p:nvSpPr>
        <p:spPr>
          <a:xfrm>
            <a:off x="6400800" y="4535424"/>
            <a:ext cx="5166360" cy="276515"/>
          </a:xfrm>
          <a:prstGeom prst="rect">
            <a:avLst/>
          </a:prstGeom>
          <a:noFill/>
          <a:ln/>
        </p:spPr>
        <p:txBody>
          <a:bodyPr wrap="square" lIns="0" tIns="0" rIns="0" bIns="0" rtlCol="0" anchor="ctr"/>
          <a:lstStyle/>
          <a:p>
            <a:pPr algn="r" indent="0" marL="0">
              <a:buNone/>
            </a:pPr>
            <a:r>
              <a:rPr lang="en-US" sz="1050" i="1" dirty="0">
                <a:solidFill>
                  <a:srgbClr val="5A6472"/>
                </a:solidFill>
                <a:latin typeface="Calibri" pitchFamily="34" charset="0"/>
                <a:cs typeface="Amiri" pitchFamily="2" charset="-78"/>
              </a:rPr>
              <a:t>overall I prefer … because …</a:t>
            </a:r>
            <a:endParaRPr lang="en-US" sz="1050" dirty="0"/>
          </a:p>
        </p:txBody>
      </p:sp>
      <p:sp>
        <p:nvSpPr>
          <p:cNvPr id="34" name="Text 31"/>
          <p:cNvSpPr txBox="1"/>
          <p:nvPr/>
        </p:nvSpPr>
        <p:spPr>
          <a:xfrm>
            <a:off x="10360152" y="6455664"/>
            <a:ext cx="1371600" cy="219456"/>
          </a:xfrm>
          <a:prstGeom prst="rect">
            <a:avLst/>
          </a:prstGeom>
          <a:noFill/>
          <a:ln/>
        </p:spPr>
        <p:txBody>
          <a:bodyPr wrap="square" lIns="0" tIns="0" rIns="0" bIns="0" rtlCol="0" anchor="ctr"/>
          <a:lstStyle/>
          <a:p>
            <a:pPr algn="r" indent="0" marL="0">
              <a:buNone/>
            </a:pPr>
            <a:r>
              <a:rPr lang="en-US" sz="850" dirty="0">
                <a:solidFill>
                  <a:srgbClr val="8A93A0"/>
                </a:solidFill>
                <a:latin typeface="Calibri" pitchFamily="34" charset="0"/>
                <a:cs typeface="Amiri" pitchFamily="2" charset="-78"/>
              </a:rPr>
              <a:t>19 / 24</a:t>
            </a:r>
            <a:endParaRPr lang="en-US" sz="850" dirty="0"/>
          </a:p>
        </p:txBody>
      </p:sp>
    </p:spTree>
  </p:cSld>
  <p:clrMapOvr>
    <a:masterClrMapping/>
  </p:clrMapOvr>
</p:sld>
</file>

<file path=ppt/slides/slide20.xml><?xml version="1.0" encoding="utf-8"?>
<p:sld xmlns:a="http://schemas.openxmlformats.org/drawingml/2006/main" xmlns:r="http://schemas.openxmlformats.org/officeDocument/2006/relationships" xmlns:p="http://schemas.openxmlformats.org/presentationml/2006/main">
  <p:cSld name="Slide 20">
    <p:bg>
      <p:bgPr>
        <a:solidFill>
          <a:srgbClr val="FFFDF8"/>
        </a:solidFill>
      </p:bgPr>
    </p:bg>
    <p:spTree>
      <p:nvGrpSpPr>
        <p:cNvPr id="1" name=""/>
        <p:cNvGrpSpPr/>
        <p:nvPr/>
      </p:nvGrpSpPr>
      <p:grpSpPr>
        <a:xfrm>
          <a:off x="0" y="0"/>
          <a:ext cx="0" cy="0"/>
          <a:chOff x="0" y="0"/>
          <a:chExt cx="0" cy="0"/>
        </a:xfrm>
      </p:grpSpPr>
      <p:sp>
        <p:nvSpPr>
          <p:cNvPr id="2" name="Shape 0"/>
          <p:cNvSpPr/>
          <p:nvPr/>
        </p:nvSpPr>
        <p:spPr>
          <a:xfrm>
            <a:off x="457200" y="237744"/>
            <a:ext cx="420624" cy="420624"/>
          </a:xfrm>
          <a:prstGeom prst="ellipse">
            <a:avLst/>
          </a:prstGeom>
          <a:solidFill>
            <a:srgbClr val="1B3B6F"/>
          </a:solidFill>
          <a:ln w="12700">
            <a:solidFill>
              <a:srgbClr val="D4AF37"/>
            </a:solidFill>
            <a:prstDash val="solid"/>
          </a:ln>
        </p:spPr>
      </p:sp>
      <p:sp>
        <p:nvSpPr>
          <p:cNvPr id="3" name="Text 1"/>
          <p:cNvSpPr txBox="1"/>
          <p:nvPr/>
        </p:nvSpPr>
        <p:spPr>
          <a:xfrm>
            <a:off x="457200" y="219456"/>
            <a:ext cx="420624" cy="420624"/>
          </a:xfrm>
          <a:prstGeom prst="rect">
            <a:avLst/>
          </a:prstGeom>
          <a:noFill/>
          <a:ln/>
        </p:spPr>
        <p:txBody>
          <a:bodyPr wrap="square" lIns="0" tIns="0" rIns="0" bIns="0" rtlCol="0" anchor="ctr"/>
          <a:lstStyle/>
          <a:p>
            <a:pPr rtl="1" algn="ctr" indent="0" marL="0">
              <a:buNone/>
            </a:pPr>
            <a:r>
              <a:rPr lang="ar-SA" altLang="en-US" sz="1800" b="1" dirty="0">
                <a:solidFill>
                  <a:srgbClr val="D4AF37"/>
                </a:solidFill>
                <a:latin typeface="Amiri" pitchFamily="2" charset="-78"/>
                <a:ea typeface="Amiri" pitchFamily="2" charset="-78"/>
                <a:cs typeface="Amiri" pitchFamily="2" charset="-78"/>
              </a:rPr>
              <a:t>م</a:t>
            </a:r>
            <a:endParaRPr lang="ar-SA" sz="1800" dirty="0"/>
          </a:p>
        </p:txBody>
      </p:sp>
      <p:sp>
        <p:nvSpPr>
          <p:cNvPr id="4" name="Text 2"/>
          <p:cNvSpPr txBox="1"/>
          <p:nvPr/>
        </p:nvSpPr>
        <p:spPr>
          <a:xfrm>
            <a:off x="960120" y="219456"/>
            <a:ext cx="3657600" cy="256032"/>
          </a:xfrm>
          <a:prstGeom prst="rect">
            <a:avLst/>
          </a:prstGeom>
          <a:noFill/>
          <a:ln/>
        </p:spPr>
        <p:txBody>
          <a:bodyPr wrap="square" lIns="0" tIns="0" rIns="0" bIns="0" rtlCol="0" anchor="ctr"/>
          <a:lstStyle/>
          <a:p>
            <a:pPr indent="0" marL="0">
              <a:buNone/>
            </a:pPr>
            <a:r>
              <a:rPr lang="en-US" sz="1200" b="1" dirty="0">
                <a:solidFill>
                  <a:srgbClr val="1B3B6F"/>
                </a:solidFill>
                <a:latin typeface="Cambria" pitchFamily="34" charset="0"/>
                <a:cs typeface="Amiri" pitchFamily="2" charset="-78"/>
              </a:rPr>
              <a:t>Al Madina Online School</a:t>
            </a:r>
            <a:endParaRPr lang="en-US" sz="1200" dirty="0"/>
          </a:p>
        </p:txBody>
      </p:sp>
      <p:sp>
        <p:nvSpPr>
          <p:cNvPr id="5" name="Text 3"/>
          <p:cNvSpPr txBox="1"/>
          <p:nvPr/>
        </p:nvSpPr>
        <p:spPr>
          <a:xfrm>
            <a:off x="960120" y="457200"/>
            <a:ext cx="4572000" cy="182880"/>
          </a:xfrm>
          <a:prstGeom prst="rect">
            <a:avLst/>
          </a:prstGeom>
          <a:noFill/>
          <a:ln/>
        </p:spPr>
        <p:txBody>
          <a:bodyPr wrap="square" lIns="0" tIns="0" rIns="0" bIns="0" rtlCol="0" anchor="ctr"/>
          <a:lstStyle/>
          <a:p>
            <a:pPr indent="0" marL="0">
              <a:buNone/>
            </a:pPr>
            <a:r>
              <a:rPr lang="en-US" sz="800" b="1" spc="200" kern="0" dirty="0">
                <a:solidFill>
                  <a:srgbClr val="8A6D1E"/>
                </a:solidFill>
                <a:latin typeface="Calibri" pitchFamily="34" charset="0"/>
                <a:cs typeface="Amiri" pitchFamily="2" charset="-78"/>
              </a:rPr>
              <a:t>ARABIC DEPARTMENT · MIFTAH ARABIC · IGCSE 0544</a:t>
            </a:r>
            <a:endParaRPr lang="en-US" sz="800" dirty="0"/>
          </a:p>
        </p:txBody>
      </p:sp>
      <p:sp>
        <p:nvSpPr>
          <p:cNvPr id="6" name="Shape 4"/>
          <p:cNvSpPr/>
          <p:nvPr/>
        </p:nvSpPr>
        <p:spPr>
          <a:xfrm>
            <a:off x="8897112" y="274320"/>
            <a:ext cx="2834640" cy="329184"/>
          </a:xfrm>
          <a:prstGeom prst="roundRect">
            <a:avLst>
              <a:gd name="adj" fmla="val 50000"/>
            </a:avLst>
          </a:prstGeom>
          <a:solidFill>
            <a:srgbClr val="1B3B6F"/>
          </a:solidFill>
          <a:ln w="12700">
            <a:solidFill>
              <a:srgbClr val="1B3B6F"/>
            </a:solidFill>
            <a:prstDash val="solid"/>
          </a:ln>
        </p:spPr>
      </p:sp>
      <p:sp>
        <p:nvSpPr>
          <p:cNvPr id="7" name="Text 5"/>
          <p:cNvSpPr txBox="1"/>
          <p:nvPr/>
        </p:nvSpPr>
        <p:spPr>
          <a:xfrm>
            <a:off x="8897112" y="274320"/>
            <a:ext cx="2834640" cy="329184"/>
          </a:xfrm>
          <a:prstGeom prst="rect">
            <a:avLst/>
          </a:prstGeom>
          <a:noFill/>
          <a:ln/>
        </p:spPr>
        <p:txBody>
          <a:bodyPr wrap="square" lIns="0" tIns="0" rIns="0" bIns="0" rtlCol="0" anchor="ctr"/>
          <a:lstStyle/>
          <a:p>
            <a:pPr algn="ctr" indent="0" marL="0">
              <a:buNone/>
            </a:pPr>
            <a:r>
              <a:rPr lang="en-US" sz="950" b="1" spc="100" kern="0" dirty="0">
                <a:solidFill>
                  <a:srgbClr val="FFFFFF"/>
                </a:solidFill>
                <a:latin typeface="Calibri" pitchFamily="34" charset="0"/>
                <a:cs typeface="Amiri" pitchFamily="2" charset="-78"/>
              </a:rPr>
              <a:t>F6-W03 · Apply workshop</a:t>
            </a:r>
            <a:endParaRPr lang="en-US" sz="950" dirty="0"/>
          </a:p>
        </p:txBody>
      </p:sp>
      <p:sp>
        <p:nvSpPr>
          <p:cNvPr id="8" name="Shape 6"/>
          <p:cNvSpPr/>
          <p:nvPr/>
        </p:nvSpPr>
        <p:spPr>
          <a:xfrm>
            <a:off x="7295083" y="274320"/>
            <a:ext cx="1464869" cy="329184"/>
          </a:xfrm>
          <a:prstGeom prst="roundRect">
            <a:avLst>
              <a:gd name="adj" fmla="val 50000"/>
            </a:avLst>
          </a:prstGeom>
          <a:solidFill>
            <a:srgbClr val="1E6B52"/>
          </a:solidFill>
          <a:ln w="12700">
            <a:solidFill>
              <a:srgbClr val="1E6B52"/>
            </a:solidFill>
            <a:prstDash val="solid"/>
          </a:ln>
        </p:spPr>
      </p:sp>
      <p:sp>
        <p:nvSpPr>
          <p:cNvPr id="9" name="Text 7"/>
          <p:cNvSpPr txBox="1"/>
          <p:nvPr/>
        </p:nvSpPr>
        <p:spPr>
          <a:xfrm>
            <a:off x="7295083" y="274320"/>
            <a:ext cx="1464869" cy="329184"/>
          </a:xfrm>
          <a:prstGeom prst="rect">
            <a:avLst/>
          </a:prstGeom>
          <a:noFill/>
          <a:ln/>
        </p:spPr>
        <p:txBody>
          <a:bodyPr wrap="square" lIns="0" tIns="0" rIns="0" bIns="0" rtlCol="0" anchor="ctr"/>
          <a:lstStyle/>
          <a:p>
            <a:pPr algn="ctr" indent="0" marL="0">
              <a:buNone/>
            </a:pPr>
            <a:r>
              <a:rPr lang="en-US" sz="900" b="1" spc="100" kern="0" dirty="0">
                <a:solidFill>
                  <a:srgbClr val="FFFFFF"/>
                </a:solidFill>
                <a:latin typeface="Calibri" pitchFamily="34" charset="0"/>
                <a:cs typeface="Amiri" pitchFamily="2" charset="-78"/>
              </a:rPr>
              <a:t>YOU DO · 3 MIN</a:t>
            </a:r>
            <a:endParaRPr lang="en-US" sz="900" dirty="0"/>
          </a:p>
        </p:txBody>
      </p:sp>
      <p:sp>
        <p:nvSpPr>
          <p:cNvPr id="10" name="Text 8"/>
          <p:cNvSpPr txBox="1"/>
          <p:nvPr/>
        </p:nvSpPr>
        <p:spPr>
          <a:xfrm>
            <a:off x="457200" y="822960"/>
            <a:ext cx="6949440" cy="237744"/>
          </a:xfrm>
          <a:prstGeom prst="rect">
            <a:avLst/>
          </a:prstGeom>
          <a:noFill/>
          <a:ln/>
        </p:spPr>
        <p:txBody>
          <a:bodyPr wrap="square" lIns="0" tIns="0" rIns="0" bIns="0" rtlCol="0" anchor="ctr"/>
          <a:lstStyle/>
          <a:p>
            <a:pPr algn="l" indent="0" marL="0">
              <a:buNone/>
            </a:pPr>
            <a:r>
              <a:rPr lang="en-US" sz="1000" b="1" spc="300" kern="0" dirty="0">
                <a:solidFill>
                  <a:srgbClr val="1E6B52"/>
                </a:solidFill>
                <a:latin typeface="Calibri" pitchFamily="34" charset="0"/>
                <a:cs typeface="Amiri" pitchFamily="2" charset="-78"/>
              </a:rPr>
              <a:t>STEP 9 · BUDDY CHECK · SWAP AND READ YOUR BUDDY’S TEXT</a:t>
            </a:r>
            <a:endParaRPr lang="en-US" sz="1000" dirty="0"/>
          </a:p>
        </p:txBody>
      </p:sp>
      <p:sp>
        <p:nvSpPr>
          <p:cNvPr id="11" name="Text 9"/>
          <p:cNvSpPr txBox="1"/>
          <p:nvPr/>
        </p:nvSpPr>
        <p:spPr>
          <a:xfrm>
            <a:off x="457200" y="1033272"/>
            <a:ext cx="6949440" cy="566928"/>
          </a:xfrm>
          <a:prstGeom prst="rect">
            <a:avLst/>
          </a:prstGeom>
          <a:noFill/>
          <a:ln/>
        </p:spPr>
        <p:txBody>
          <a:bodyPr wrap="square" lIns="0" tIns="0" rIns="0" bIns="0" rtlCol="0" anchor="ctr"/>
          <a:lstStyle/>
          <a:p>
            <a:pPr algn="l" indent="0" marL="0">
              <a:buNone/>
            </a:pPr>
            <a:r>
              <a:rPr lang="en-US" sz="2800" b="1" dirty="0">
                <a:solidFill>
                  <a:srgbClr val="1B3B6F"/>
                </a:solidFill>
                <a:latin typeface="Cambria" pitchFamily="34" charset="0"/>
                <a:cs typeface="Amiri" pitchFamily="2" charset="-78"/>
              </a:rPr>
              <a:t>Buddy check: five points</a:t>
            </a:r>
            <a:endParaRPr lang="en-US" sz="2800" dirty="0"/>
          </a:p>
        </p:txBody>
      </p:sp>
      <p:sp>
        <p:nvSpPr>
          <p:cNvPr id="12" name="Text 10"/>
          <p:cNvSpPr txBox="1"/>
          <p:nvPr/>
        </p:nvSpPr>
        <p:spPr>
          <a:xfrm>
            <a:off x="7498080" y="868680"/>
            <a:ext cx="4233672" cy="749808"/>
          </a:xfrm>
          <a:prstGeom prst="rect">
            <a:avLst/>
          </a:prstGeom>
          <a:noFill/>
          <a:ln/>
        </p:spPr>
        <p:txBody>
          <a:bodyPr wrap="square" lIns="0" tIns="0" rIns="0" bIns="0" rtlCol="0" anchor="ctr"/>
          <a:lstStyle/>
          <a:p>
            <a:pPr rtl="1" algn="r" indent="0" marL="0">
              <a:buNone/>
            </a:pPr>
            <a:r>
              <a:rPr lang="ar-SA" altLang="en-US" sz="2800" b="1" dirty="0">
                <a:solidFill>
                  <a:srgbClr val="8A6D1E"/>
                </a:solidFill>
                <a:latin typeface="Amiri" pitchFamily="2" charset="-78"/>
                <a:ea typeface="Amiri" pitchFamily="2" charset="-78"/>
                <a:cs typeface="Amiri" pitchFamily="2" charset="-78"/>
              </a:rPr>
              <a:t>رَاجِعْ مَعَ زَمِيلِكَ</a:t>
            </a:r>
            <a:endParaRPr lang="ar-SA" sz="2800" dirty="0"/>
          </a:p>
        </p:txBody>
      </p:sp>
      <p:sp>
        <p:nvSpPr>
          <p:cNvPr id="13" name="Text 11"/>
          <p:cNvSpPr txBox="1"/>
          <p:nvPr/>
        </p:nvSpPr>
        <p:spPr>
          <a:xfrm>
            <a:off x="457200" y="6455664"/>
            <a:ext cx="6400800" cy="219456"/>
          </a:xfrm>
          <a:prstGeom prst="rect">
            <a:avLst/>
          </a:prstGeom>
          <a:noFill/>
          <a:ln/>
        </p:spPr>
        <p:txBody>
          <a:bodyPr wrap="square" lIns="0" tIns="0" rIns="0" bIns="0" rtlCol="0" anchor="ctr"/>
          <a:lstStyle/>
          <a:p>
            <a:pPr indent="0" marL="0">
              <a:buNone/>
            </a:pPr>
            <a:r>
              <a:rPr lang="en-US" sz="850" dirty="0">
                <a:solidFill>
                  <a:srgbClr val="8A93A0"/>
                </a:solidFill>
                <a:latin typeface="Calibri" pitchFamily="34" charset="0"/>
                <a:cs typeface="Amiri" pitchFamily="2" charset="-78"/>
              </a:rPr>
              <a:t>Miftah Arabic · Foundation F6 · My Town and Transport · F6-W03 · Apply workshop (F6-L05 + F6-L06)</a:t>
            </a:r>
            <a:endParaRPr lang="en-US" sz="850" dirty="0"/>
          </a:p>
        </p:txBody>
      </p:sp>
      <p:sp>
        <p:nvSpPr>
          <p:cNvPr id="15" name="Shape 12"/>
          <p:cNvSpPr/>
          <p:nvPr/>
        </p:nvSpPr>
        <p:spPr>
          <a:xfrm>
            <a:off x="457200" y="1810512"/>
            <a:ext cx="11274552" cy="384048"/>
          </a:xfrm>
          <a:prstGeom prst="rect">
            <a:avLst/>
          </a:prstGeom>
          <a:solidFill>
            <a:srgbClr val="1B3B6F"/>
          </a:solidFill>
          <a:ln w="12700">
            <a:solidFill>
              <a:srgbClr val="1B3B6F"/>
            </a:solidFill>
            <a:prstDash val="solid"/>
          </a:ln>
        </p:spPr>
      </p:sp>
      <p:sp>
        <p:nvSpPr>
          <p:cNvPr id="16" name="Text 13"/>
          <p:cNvSpPr txBox="1"/>
          <p:nvPr/>
        </p:nvSpPr>
        <p:spPr>
          <a:xfrm>
            <a:off x="8759952" y="1810512"/>
            <a:ext cx="2898648" cy="384048"/>
          </a:xfrm>
          <a:prstGeom prst="rect">
            <a:avLst/>
          </a:prstGeom>
          <a:noFill/>
          <a:ln/>
        </p:spPr>
        <p:txBody>
          <a:bodyPr wrap="square" lIns="0" tIns="0" rIns="0" bIns="0" rtlCol="0" anchor="ctr"/>
          <a:lstStyle/>
          <a:p>
            <a:pPr algn="ctr" indent="0" marL="0">
              <a:buNone/>
            </a:pPr>
            <a:r>
              <a:rPr lang="en-US" sz="1100" b="1" dirty="0">
                <a:solidFill>
                  <a:srgbClr val="FFFFFF"/>
                </a:solidFill>
                <a:latin typeface="Calibri" pitchFamily="34" charset="0"/>
                <a:cs typeface="Amiri" pitchFamily="2" charset="-78"/>
              </a:rPr>
              <a:t>Line / example</a:t>
            </a:r>
            <a:endParaRPr lang="en-US" sz="1100" dirty="0"/>
          </a:p>
        </p:txBody>
      </p:sp>
      <p:sp>
        <p:nvSpPr>
          <p:cNvPr id="17" name="Text 14"/>
          <p:cNvSpPr txBox="1"/>
          <p:nvPr/>
        </p:nvSpPr>
        <p:spPr>
          <a:xfrm>
            <a:off x="7845552" y="1810512"/>
            <a:ext cx="768096" cy="384048"/>
          </a:xfrm>
          <a:prstGeom prst="rect">
            <a:avLst/>
          </a:prstGeom>
          <a:noFill/>
          <a:ln/>
        </p:spPr>
        <p:txBody>
          <a:bodyPr wrap="square" lIns="0" tIns="0" rIns="0" bIns="0" rtlCol="0" anchor="ctr"/>
          <a:lstStyle/>
          <a:p>
            <a:pPr algn="ctr" indent="0" marL="0">
              <a:buNone/>
            </a:pPr>
            <a:r>
              <a:rPr lang="en-US" sz="1100" b="1" dirty="0">
                <a:solidFill>
                  <a:srgbClr val="FFFFFF"/>
                </a:solidFill>
                <a:latin typeface="Calibri" pitchFamily="34" charset="0"/>
                <a:cs typeface="Amiri" pitchFamily="2" charset="-78"/>
              </a:rPr>
              <a:t>✓ / ✗</a:t>
            </a:r>
            <a:endParaRPr lang="en-US" sz="1100" dirty="0"/>
          </a:p>
        </p:txBody>
      </p:sp>
      <p:sp>
        <p:nvSpPr>
          <p:cNvPr id="18" name="Text 15"/>
          <p:cNvSpPr txBox="1"/>
          <p:nvPr/>
        </p:nvSpPr>
        <p:spPr>
          <a:xfrm>
            <a:off x="6565392" y="1810512"/>
            <a:ext cx="1133856" cy="384048"/>
          </a:xfrm>
          <a:prstGeom prst="rect">
            <a:avLst/>
          </a:prstGeom>
          <a:noFill/>
          <a:ln/>
        </p:spPr>
        <p:txBody>
          <a:bodyPr wrap="square" lIns="0" tIns="0" rIns="0" bIns="0" rtlCol="0" anchor="ctr"/>
          <a:lstStyle/>
          <a:p>
            <a:pPr algn="ctr" indent="0" marL="0">
              <a:buNone/>
            </a:pPr>
            <a:r>
              <a:rPr lang="en-US" sz="1100" b="1" dirty="0">
                <a:solidFill>
                  <a:srgbClr val="FFFFFF"/>
                </a:solidFill>
                <a:latin typeface="Calibri" pitchFamily="34" charset="0"/>
                <a:cs typeface="Amiri" pitchFamily="2" charset="-78"/>
              </a:rPr>
              <a:t>Route</a:t>
            </a:r>
            <a:endParaRPr lang="en-US" sz="1100" dirty="0"/>
          </a:p>
        </p:txBody>
      </p:sp>
      <p:sp>
        <p:nvSpPr>
          <p:cNvPr id="19" name="Text 16"/>
          <p:cNvSpPr txBox="1"/>
          <p:nvPr/>
        </p:nvSpPr>
        <p:spPr>
          <a:xfrm>
            <a:off x="530352" y="1810512"/>
            <a:ext cx="5888736" cy="384048"/>
          </a:xfrm>
          <a:prstGeom prst="rect">
            <a:avLst/>
          </a:prstGeom>
          <a:noFill/>
          <a:ln/>
        </p:spPr>
        <p:txBody>
          <a:bodyPr wrap="square" lIns="0" tIns="0" rIns="0" bIns="0" rtlCol="0" anchor="ctr"/>
          <a:lstStyle/>
          <a:p>
            <a:pPr algn="ctr" indent="0" marL="0">
              <a:buNone/>
            </a:pPr>
            <a:r>
              <a:rPr lang="en-US" sz="1100" b="1" dirty="0">
                <a:solidFill>
                  <a:srgbClr val="FFFFFF"/>
                </a:solidFill>
                <a:latin typeface="Calibri" pitchFamily="34" charset="0"/>
                <a:cs typeface="Amiri" pitchFamily="2" charset="-78"/>
              </a:rPr>
              <a:t>Did the writer …</a:t>
            </a:r>
            <a:endParaRPr lang="en-US" sz="1100" dirty="0"/>
          </a:p>
        </p:txBody>
      </p:sp>
      <p:sp>
        <p:nvSpPr>
          <p:cNvPr id="20" name="Shape 17"/>
          <p:cNvSpPr/>
          <p:nvPr/>
        </p:nvSpPr>
        <p:spPr>
          <a:xfrm>
            <a:off x="457200" y="2267712"/>
            <a:ext cx="11274552" cy="682142"/>
          </a:xfrm>
          <a:prstGeom prst="roundRect">
            <a:avLst>
              <a:gd name="adj" fmla="val 6702"/>
            </a:avLst>
          </a:prstGeom>
          <a:solidFill>
            <a:srgbClr val="FFFFFF"/>
          </a:solidFill>
          <a:ln w="9525">
            <a:solidFill>
              <a:srgbClr val="D8D0BF"/>
            </a:solidFill>
            <a:prstDash val="solid"/>
          </a:ln>
        </p:spPr>
      </p:sp>
      <p:sp>
        <p:nvSpPr>
          <p:cNvPr id="21" name="Text 18"/>
          <p:cNvSpPr txBox="1"/>
          <p:nvPr/>
        </p:nvSpPr>
        <p:spPr>
          <a:xfrm>
            <a:off x="8796528" y="2267712"/>
            <a:ext cx="2862072" cy="682142"/>
          </a:xfrm>
          <a:prstGeom prst="rect">
            <a:avLst/>
          </a:prstGeom>
          <a:noFill/>
          <a:ln/>
        </p:spPr>
        <p:txBody>
          <a:bodyPr wrap="square" lIns="0" tIns="0" rIns="0" bIns="0" rtlCol="0" anchor="ctr"/>
          <a:lstStyle/>
          <a:p>
            <a:pPr algn="l" indent="0" marL="0">
              <a:buNone/>
            </a:pPr>
            <a:endParaRPr lang="en-US" sz="1100" dirty="0"/>
          </a:p>
        </p:txBody>
      </p:sp>
      <p:sp>
        <p:nvSpPr>
          <p:cNvPr id="22" name="Text 19"/>
          <p:cNvSpPr txBox="1"/>
          <p:nvPr/>
        </p:nvSpPr>
        <p:spPr>
          <a:xfrm>
            <a:off x="7882128" y="2267712"/>
            <a:ext cx="731520" cy="682142"/>
          </a:xfrm>
          <a:prstGeom prst="rect">
            <a:avLst/>
          </a:prstGeom>
          <a:noFill/>
          <a:ln/>
        </p:spPr>
        <p:txBody>
          <a:bodyPr wrap="square" lIns="0" tIns="0" rIns="0" bIns="0" rtlCol="0" anchor="ctr"/>
          <a:lstStyle/>
          <a:p>
            <a:pPr algn="l" indent="0" marL="0">
              <a:buNone/>
            </a:pPr>
            <a:endParaRPr lang="en-US" sz="1100" dirty="0"/>
          </a:p>
        </p:txBody>
      </p:sp>
      <p:sp>
        <p:nvSpPr>
          <p:cNvPr id="23" name="Text 20"/>
          <p:cNvSpPr txBox="1"/>
          <p:nvPr/>
        </p:nvSpPr>
        <p:spPr>
          <a:xfrm>
            <a:off x="6601968" y="2267712"/>
            <a:ext cx="1097280" cy="682142"/>
          </a:xfrm>
          <a:prstGeom prst="rect">
            <a:avLst/>
          </a:prstGeom>
          <a:noFill/>
          <a:ln/>
        </p:spPr>
        <p:txBody>
          <a:bodyPr wrap="square" lIns="0" tIns="0" rIns="0" bIns="0" rtlCol="0" anchor="ctr"/>
          <a:lstStyle/>
          <a:p>
            <a:pPr algn="l" indent="0" marL="0">
              <a:buNone/>
            </a:pPr>
            <a:r>
              <a:rPr lang="en-US" sz="1100" dirty="0">
                <a:solidFill>
                  <a:srgbClr val="5A6472"/>
                </a:solidFill>
                <a:latin typeface="Calibri" pitchFamily="34" charset="0"/>
                <a:cs typeface="Amiri" pitchFamily="2" charset="-78"/>
              </a:rPr>
              <a:t>Core</a:t>
            </a:r>
            <a:endParaRPr lang="en-US" sz="1100" dirty="0"/>
          </a:p>
        </p:txBody>
      </p:sp>
      <p:sp>
        <p:nvSpPr>
          <p:cNvPr id="24" name="Text 21"/>
          <p:cNvSpPr txBox="1"/>
          <p:nvPr/>
        </p:nvSpPr>
        <p:spPr>
          <a:xfrm>
            <a:off x="566928" y="2267712"/>
            <a:ext cx="5852160" cy="682142"/>
          </a:xfrm>
          <a:prstGeom prst="rect">
            <a:avLst/>
          </a:prstGeom>
          <a:noFill/>
          <a:ln/>
        </p:spPr>
        <p:txBody>
          <a:bodyPr wrap="square" lIns="0" tIns="0" rIns="0" bIns="0" rtlCol="0" anchor="ctr"/>
          <a:lstStyle/>
          <a:p>
            <a:pPr algn="l" indent="0" marL="0">
              <a:buNone/>
            </a:pPr>
            <a:r>
              <a:rPr lang="en-US" sz="1100" dirty="0">
                <a:solidFill>
                  <a:srgbClr val="5A6472"/>
                </a:solidFill>
                <a:latin typeface="Calibri" pitchFamily="34" charset="0"/>
                <a:cs typeface="Amiri" pitchFamily="2" charset="-78"/>
              </a:rPr>
              <a:t>answer EVERY bullet point?</a:t>
            </a:r>
            <a:endParaRPr lang="en-US" sz="1100" dirty="0"/>
          </a:p>
        </p:txBody>
      </p:sp>
      <p:sp>
        <p:nvSpPr>
          <p:cNvPr id="25" name="Shape 22"/>
          <p:cNvSpPr/>
          <p:nvPr/>
        </p:nvSpPr>
        <p:spPr>
          <a:xfrm>
            <a:off x="11091672" y="2313432"/>
            <a:ext cx="548640" cy="182880"/>
          </a:xfrm>
          <a:prstGeom prst="roundRect">
            <a:avLst>
              <a:gd name="adj" fmla="val 50000"/>
            </a:avLst>
          </a:prstGeom>
          <a:solidFill>
            <a:srgbClr val="2E8B57"/>
          </a:solidFill>
          <a:ln w="12700">
            <a:solidFill>
              <a:srgbClr val="2E8B57"/>
            </a:solidFill>
            <a:prstDash val="solid"/>
          </a:ln>
        </p:spPr>
      </p:sp>
      <p:sp>
        <p:nvSpPr>
          <p:cNvPr id="26" name="Text 23"/>
          <p:cNvSpPr txBox="1"/>
          <p:nvPr/>
        </p:nvSpPr>
        <p:spPr>
          <a:xfrm>
            <a:off x="11091672" y="2313432"/>
            <a:ext cx="548640" cy="182880"/>
          </a:xfrm>
          <a:prstGeom prst="rect">
            <a:avLst/>
          </a:prstGeom>
          <a:noFill/>
          <a:ln/>
        </p:spPr>
        <p:txBody>
          <a:bodyPr wrap="square" lIns="0" tIns="0" rIns="0" bIns="0" rtlCol="0" anchor="ctr"/>
          <a:lstStyle/>
          <a:p>
            <a:pPr algn="ctr" indent="0" marL="0">
              <a:buNone/>
            </a:pPr>
            <a:r>
              <a:rPr lang="en-US" sz="650" b="1" spc="100" kern="0" dirty="0">
                <a:solidFill>
                  <a:srgbClr val="FFFFFF"/>
                </a:solidFill>
                <a:latin typeface="Calibri" pitchFamily="34" charset="0"/>
                <a:cs typeface="Amiri" pitchFamily="2" charset="-78"/>
              </a:rPr>
              <a:t>CORE</a:t>
            </a:r>
            <a:endParaRPr lang="en-US" sz="650" dirty="0"/>
          </a:p>
        </p:txBody>
      </p:sp>
      <p:sp>
        <p:nvSpPr>
          <p:cNvPr id="27" name="Shape 24"/>
          <p:cNvSpPr/>
          <p:nvPr/>
        </p:nvSpPr>
        <p:spPr>
          <a:xfrm>
            <a:off x="457200" y="3004718"/>
            <a:ext cx="11274552" cy="682142"/>
          </a:xfrm>
          <a:prstGeom prst="roundRect">
            <a:avLst>
              <a:gd name="adj" fmla="val 6702"/>
            </a:avLst>
          </a:prstGeom>
          <a:solidFill>
            <a:srgbClr val="F4F1EA"/>
          </a:solidFill>
          <a:ln w="9525">
            <a:solidFill>
              <a:srgbClr val="D8D0BF"/>
            </a:solidFill>
            <a:prstDash val="solid"/>
          </a:ln>
        </p:spPr>
      </p:sp>
      <p:sp>
        <p:nvSpPr>
          <p:cNvPr id="28" name="Text 25"/>
          <p:cNvSpPr txBox="1"/>
          <p:nvPr/>
        </p:nvSpPr>
        <p:spPr>
          <a:xfrm>
            <a:off x="8796528" y="3004718"/>
            <a:ext cx="2862072" cy="682142"/>
          </a:xfrm>
          <a:prstGeom prst="rect">
            <a:avLst/>
          </a:prstGeom>
          <a:noFill/>
          <a:ln/>
        </p:spPr>
        <p:txBody>
          <a:bodyPr wrap="square" lIns="0" tIns="0" rIns="0" bIns="0" rtlCol="0" anchor="ctr"/>
          <a:lstStyle/>
          <a:p>
            <a:pPr algn="l" indent="0" marL="0">
              <a:buNone/>
            </a:pPr>
            <a:endParaRPr lang="en-US" sz="1100" dirty="0"/>
          </a:p>
        </p:txBody>
      </p:sp>
      <p:sp>
        <p:nvSpPr>
          <p:cNvPr id="29" name="Text 26"/>
          <p:cNvSpPr txBox="1"/>
          <p:nvPr/>
        </p:nvSpPr>
        <p:spPr>
          <a:xfrm>
            <a:off x="7882128" y="3004718"/>
            <a:ext cx="731520" cy="682142"/>
          </a:xfrm>
          <a:prstGeom prst="rect">
            <a:avLst/>
          </a:prstGeom>
          <a:noFill/>
          <a:ln/>
        </p:spPr>
        <p:txBody>
          <a:bodyPr wrap="square" lIns="0" tIns="0" rIns="0" bIns="0" rtlCol="0" anchor="ctr"/>
          <a:lstStyle/>
          <a:p>
            <a:pPr algn="l" indent="0" marL="0">
              <a:buNone/>
            </a:pPr>
            <a:endParaRPr lang="en-US" sz="1100" dirty="0"/>
          </a:p>
        </p:txBody>
      </p:sp>
      <p:sp>
        <p:nvSpPr>
          <p:cNvPr id="30" name="Text 27"/>
          <p:cNvSpPr txBox="1"/>
          <p:nvPr/>
        </p:nvSpPr>
        <p:spPr>
          <a:xfrm>
            <a:off x="6601968" y="3004718"/>
            <a:ext cx="1097280" cy="682142"/>
          </a:xfrm>
          <a:prstGeom prst="rect">
            <a:avLst/>
          </a:prstGeom>
          <a:noFill/>
          <a:ln/>
        </p:spPr>
        <p:txBody>
          <a:bodyPr wrap="square" lIns="0" tIns="0" rIns="0" bIns="0" rtlCol="0" anchor="ctr"/>
          <a:lstStyle/>
          <a:p>
            <a:pPr algn="l" indent="0" marL="0">
              <a:buNone/>
            </a:pPr>
            <a:r>
              <a:rPr lang="en-US" sz="1100" dirty="0">
                <a:solidFill>
                  <a:srgbClr val="5A6472"/>
                </a:solidFill>
                <a:latin typeface="Calibri" pitchFamily="34" charset="0"/>
                <a:cs typeface="Amiri" pitchFamily="2" charset="-78"/>
              </a:rPr>
              <a:t>Core</a:t>
            </a:r>
            <a:endParaRPr lang="en-US" sz="1100" dirty="0"/>
          </a:p>
        </p:txBody>
      </p:sp>
      <p:sp>
        <p:nvSpPr>
          <p:cNvPr id="31" name="Text 28"/>
          <p:cNvSpPr txBox="1"/>
          <p:nvPr/>
        </p:nvSpPr>
        <p:spPr>
          <a:xfrm>
            <a:off x="566928" y="3004718"/>
            <a:ext cx="5852160" cy="682142"/>
          </a:xfrm>
          <a:prstGeom prst="rect">
            <a:avLst/>
          </a:prstGeom>
          <a:noFill/>
          <a:ln/>
        </p:spPr>
        <p:txBody>
          <a:bodyPr wrap="square" lIns="0" tIns="0" rIns="0" bIns="0" rtlCol="0" anchor="ctr"/>
          <a:lstStyle/>
          <a:p>
            <a:pPr algn="l" indent="0" marL="0">
              <a:buNone/>
            </a:pPr>
            <a:r>
              <a:rPr lang="en-US" sz="1100" dirty="0">
                <a:solidFill>
                  <a:srgbClr val="5A6472"/>
                </a:solidFill>
                <a:latin typeface="Calibri" pitchFamily="34" charset="0"/>
                <a:cs typeface="Amiri" pitchFamily="2" charset="-78"/>
              </a:rPr>
              <a:t>describe the town with feminine adjectives?</a:t>
            </a:r>
            <a:endParaRPr lang="en-US" sz="1100" dirty="0"/>
          </a:p>
        </p:txBody>
      </p:sp>
      <p:sp>
        <p:nvSpPr>
          <p:cNvPr id="32" name="Shape 29"/>
          <p:cNvSpPr/>
          <p:nvPr/>
        </p:nvSpPr>
        <p:spPr>
          <a:xfrm>
            <a:off x="11091672" y="3050438"/>
            <a:ext cx="548640" cy="182880"/>
          </a:xfrm>
          <a:prstGeom prst="roundRect">
            <a:avLst>
              <a:gd name="adj" fmla="val 50000"/>
            </a:avLst>
          </a:prstGeom>
          <a:solidFill>
            <a:srgbClr val="2E8B57"/>
          </a:solidFill>
          <a:ln w="12700">
            <a:solidFill>
              <a:srgbClr val="2E8B57"/>
            </a:solidFill>
            <a:prstDash val="solid"/>
          </a:ln>
        </p:spPr>
      </p:sp>
      <p:sp>
        <p:nvSpPr>
          <p:cNvPr id="33" name="Text 30"/>
          <p:cNvSpPr txBox="1"/>
          <p:nvPr/>
        </p:nvSpPr>
        <p:spPr>
          <a:xfrm>
            <a:off x="11091672" y="3050438"/>
            <a:ext cx="548640" cy="182880"/>
          </a:xfrm>
          <a:prstGeom prst="rect">
            <a:avLst/>
          </a:prstGeom>
          <a:noFill/>
          <a:ln/>
        </p:spPr>
        <p:txBody>
          <a:bodyPr wrap="square" lIns="0" tIns="0" rIns="0" bIns="0" rtlCol="0" anchor="ctr"/>
          <a:lstStyle/>
          <a:p>
            <a:pPr algn="ctr" indent="0" marL="0">
              <a:buNone/>
            </a:pPr>
            <a:r>
              <a:rPr lang="en-US" sz="650" b="1" spc="100" kern="0" dirty="0">
                <a:solidFill>
                  <a:srgbClr val="FFFFFF"/>
                </a:solidFill>
                <a:latin typeface="Calibri" pitchFamily="34" charset="0"/>
                <a:cs typeface="Amiri" pitchFamily="2" charset="-78"/>
              </a:rPr>
              <a:t>CORE</a:t>
            </a:r>
            <a:endParaRPr lang="en-US" sz="650" dirty="0"/>
          </a:p>
        </p:txBody>
      </p:sp>
      <p:sp>
        <p:nvSpPr>
          <p:cNvPr id="34" name="Shape 31"/>
          <p:cNvSpPr/>
          <p:nvPr/>
        </p:nvSpPr>
        <p:spPr>
          <a:xfrm>
            <a:off x="457200" y="3741725"/>
            <a:ext cx="11274552" cy="682142"/>
          </a:xfrm>
          <a:prstGeom prst="roundRect">
            <a:avLst>
              <a:gd name="adj" fmla="val 6702"/>
            </a:avLst>
          </a:prstGeom>
          <a:solidFill>
            <a:srgbClr val="FFFFFF"/>
          </a:solidFill>
          <a:ln w="9525">
            <a:solidFill>
              <a:srgbClr val="D8D0BF"/>
            </a:solidFill>
            <a:prstDash val="solid"/>
          </a:ln>
        </p:spPr>
      </p:sp>
      <p:sp>
        <p:nvSpPr>
          <p:cNvPr id="35" name="Text 32"/>
          <p:cNvSpPr txBox="1"/>
          <p:nvPr/>
        </p:nvSpPr>
        <p:spPr>
          <a:xfrm>
            <a:off x="8796528" y="3741725"/>
            <a:ext cx="2862072" cy="682142"/>
          </a:xfrm>
          <a:prstGeom prst="rect">
            <a:avLst/>
          </a:prstGeom>
          <a:noFill/>
          <a:ln/>
        </p:spPr>
        <p:txBody>
          <a:bodyPr wrap="square" lIns="0" tIns="0" rIns="0" bIns="0" rtlCol="0" anchor="ctr"/>
          <a:lstStyle/>
          <a:p>
            <a:pPr algn="l" indent="0" marL="0">
              <a:buNone/>
            </a:pPr>
            <a:endParaRPr lang="en-US" sz="1100" dirty="0"/>
          </a:p>
        </p:txBody>
      </p:sp>
      <p:sp>
        <p:nvSpPr>
          <p:cNvPr id="36" name="Text 33"/>
          <p:cNvSpPr txBox="1"/>
          <p:nvPr/>
        </p:nvSpPr>
        <p:spPr>
          <a:xfrm>
            <a:off x="7882128" y="3741725"/>
            <a:ext cx="731520" cy="682142"/>
          </a:xfrm>
          <a:prstGeom prst="rect">
            <a:avLst/>
          </a:prstGeom>
          <a:noFill/>
          <a:ln/>
        </p:spPr>
        <p:txBody>
          <a:bodyPr wrap="square" lIns="0" tIns="0" rIns="0" bIns="0" rtlCol="0" anchor="ctr"/>
          <a:lstStyle/>
          <a:p>
            <a:pPr algn="l" indent="0" marL="0">
              <a:buNone/>
            </a:pPr>
            <a:endParaRPr lang="en-US" sz="1100" dirty="0"/>
          </a:p>
        </p:txBody>
      </p:sp>
      <p:sp>
        <p:nvSpPr>
          <p:cNvPr id="37" name="Text 34"/>
          <p:cNvSpPr txBox="1"/>
          <p:nvPr/>
        </p:nvSpPr>
        <p:spPr>
          <a:xfrm>
            <a:off x="6601968" y="3741725"/>
            <a:ext cx="1097280" cy="682142"/>
          </a:xfrm>
          <a:prstGeom prst="rect">
            <a:avLst/>
          </a:prstGeom>
          <a:noFill/>
          <a:ln/>
        </p:spPr>
        <p:txBody>
          <a:bodyPr wrap="square" lIns="0" tIns="0" rIns="0" bIns="0" rtlCol="0" anchor="ctr"/>
          <a:lstStyle/>
          <a:p>
            <a:pPr algn="l" indent="0" marL="0">
              <a:buNone/>
            </a:pPr>
            <a:r>
              <a:rPr lang="en-US" sz="1100" dirty="0">
                <a:solidFill>
                  <a:srgbClr val="5A6472"/>
                </a:solidFill>
                <a:latin typeface="Calibri" pitchFamily="34" charset="0"/>
                <a:cs typeface="Amiri" pitchFamily="2" charset="-78"/>
              </a:rPr>
              <a:t>Develop</a:t>
            </a:r>
            <a:endParaRPr lang="en-US" sz="1100" dirty="0"/>
          </a:p>
        </p:txBody>
      </p:sp>
      <p:sp>
        <p:nvSpPr>
          <p:cNvPr id="38" name="Text 35"/>
          <p:cNvSpPr txBox="1"/>
          <p:nvPr/>
        </p:nvSpPr>
        <p:spPr>
          <a:xfrm>
            <a:off x="566928" y="3741725"/>
            <a:ext cx="5852160" cy="682142"/>
          </a:xfrm>
          <a:prstGeom prst="rect">
            <a:avLst/>
          </a:prstGeom>
          <a:noFill/>
          <a:ln/>
        </p:spPr>
        <p:txBody>
          <a:bodyPr wrap="square" lIns="0" tIns="0" rIns="0" bIns="0" rtlCol="0" anchor="ctr"/>
          <a:lstStyle/>
          <a:p>
            <a:pPr algn="l" indent="0" marL="0">
              <a:buNone/>
            </a:pPr>
            <a:r>
              <a:rPr lang="en-US" sz="1100" dirty="0">
                <a:solidFill>
                  <a:srgbClr val="5A6472"/>
                </a:solidFill>
                <a:latin typeface="Calibri" pitchFamily="34" charset="0"/>
                <a:cs typeface="Amiri" pitchFamily="2" charset="-78"/>
              </a:rPr>
              <a:t>compare with </a:t>
            </a:r>
            <a:pPr algn="l" indent="0" marL="0">
              <a:buNone/>
            </a:pPr>
            <a:r>
              <a:rPr lang="ar-SA" altLang="en-US" sz="1450" dirty="0">
                <a:solidFill>
                  <a:srgbClr val="5A6472"/>
                </a:solidFill>
                <a:latin typeface="Amiri" pitchFamily="2" charset="-78"/>
                <a:ea typeface="Amiri" pitchFamily="2" charset="-78"/>
                <a:cs typeface="Amiri" pitchFamily="2" charset="-78"/>
              </a:rPr>
              <a:t>أَرْخَصُ / أَغْلَى مِنْ</a:t>
            </a:r>
            <a:pPr algn="l" indent="0" marL="0">
              <a:buNone/>
            </a:pPr>
            <a:r>
              <a:rPr lang="en-US" sz="1100" dirty="0">
                <a:solidFill>
                  <a:srgbClr val="5A6472"/>
                </a:solidFill>
                <a:latin typeface="Calibri" pitchFamily="34" charset="0"/>
                <a:cs typeface="Amiri" pitchFamily="2" charset="-78"/>
              </a:rPr>
              <a:t> and get the number + </a:t>
            </a:r>
            <a:pPr algn="l" indent="0" marL="0">
              <a:buNone/>
            </a:pPr>
            <a:r>
              <a:rPr lang="ar-SA" altLang="en-US" sz="1450" dirty="0">
                <a:solidFill>
                  <a:srgbClr val="5A6472"/>
                </a:solidFill>
                <a:latin typeface="Amiri" pitchFamily="2" charset="-78"/>
                <a:ea typeface="Amiri" pitchFamily="2" charset="-78"/>
                <a:cs typeface="Amiri" pitchFamily="2" charset="-78"/>
              </a:rPr>
              <a:t>جُنَيْهًا / جُنَيْهَاتٍ</a:t>
            </a:r>
            <a:pPr algn="l" indent="0" marL="0">
              <a:buNone/>
            </a:pPr>
            <a:r>
              <a:rPr lang="en-US" sz="1100" dirty="0">
                <a:solidFill>
                  <a:srgbClr val="5A6472"/>
                </a:solidFill>
                <a:latin typeface="Calibri" pitchFamily="34" charset="0"/>
                <a:cs typeface="Amiri" pitchFamily="2" charset="-78"/>
              </a:rPr>
              <a:t> right?</a:t>
            </a:r>
            <a:endParaRPr lang="en-US" sz="1100" dirty="0"/>
          </a:p>
        </p:txBody>
      </p:sp>
      <p:sp>
        <p:nvSpPr>
          <p:cNvPr id="39" name="Shape 36"/>
          <p:cNvSpPr/>
          <p:nvPr/>
        </p:nvSpPr>
        <p:spPr>
          <a:xfrm>
            <a:off x="457200" y="4478731"/>
            <a:ext cx="11274552" cy="682142"/>
          </a:xfrm>
          <a:prstGeom prst="roundRect">
            <a:avLst>
              <a:gd name="adj" fmla="val 6702"/>
            </a:avLst>
          </a:prstGeom>
          <a:solidFill>
            <a:srgbClr val="F4F1EA"/>
          </a:solidFill>
          <a:ln w="9525">
            <a:solidFill>
              <a:srgbClr val="D8D0BF"/>
            </a:solidFill>
            <a:prstDash val="solid"/>
          </a:ln>
        </p:spPr>
      </p:sp>
      <p:sp>
        <p:nvSpPr>
          <p:cNvPr id="40" name="Text 37"/>
          <p:cNvSpPr txBox="1"/>
          <p:nvPr/>
        </p:nvSpPr>
        <p:spPr>
          <a:xfrm>
            <a:off x="8796528" y="4478731"/>
            <a:ext cx="2862072" cy="682142"/>
          </a:xfrm>
          <a:prstGeom prst="rect">
            <a:avLst/>
          </a:prstGeom>
          <a:noFill/>
          <a:ln/>
        </p:spPr>
        <p:txBody>
          <a:bodyPr wrap="square" lIns="0" tIns="0" rIns="0" bIns="0" rtlCol="0" anchor="ctr"/>
          <a:lstStyle/>
          <a:p>
            <a:pPr algn="l" indent="0" marL="0">
              <a:buNone/>
            </a:pPr>
            <a:endParaRPr lang="en-US" sz="1100" dirty="0"/>
          </a:p>
        </p:txBody>
      </p:sp>
      <p:sp>
        <p:nvSpPr>
          <p:cNvPr id="41" name="Text 38"/>
          <p:cNvSpPr txBox="1"/>
          <p:nvPr/>
        </p:nvSpPr>
        <p:spPr>
          <a:xfrm>
            <a:off x="7882128" y="4478731"/>
            <a:ext cx="731520" cy="682142"/>
          </a:xfrm>
          <a:prstGeom prst="rect">
            <a:avLst/>
          </a:prstGeom>
          <a:noFill/>
          <a:ln/>
        </p:spPr>
        <p:txBody>
          <a:bodyPr wrap="square" lIns="0" tIns="0" rIns="0" bIns="0" rtlCol="0" anchor="ctr"/>
          <a:lstStyle/>
          <a:p>
            <a:pPr algn="l" indent="0" marL="0">
              <a:buNone/>
            </a:pPr>
            <a:endParaRPr lang="en-US" sz="1100" dirty="0"/>
          </a:p>
        </p:txBody>
      </p:sp>
      <p:sp>
        <p:nvSpPr>
          <p:cNvPr id="42" name="Text 39"/>
          <p:cNvSpPr txBox="1"/>
          <p:nvPr/>
        </p:nvSpPr>
        <p:spPr>
          <a:xfrm>
            <a:off x="6601968" y="4478731"/>
            <a:ext cx="1097280" cy="682142"/>
          </a:xfrm>
          <a:prstGeom prst="rect">
            <a:avLst/>
          </a:prstGeom>
          <a:noFill/>
          <a:ln/>
        </p:spPr>
        <p:txBody>
          <a:bodyPr wrap="square" lIns="0" tIns="0" rIns="0" bIns="0" rtlCol="0" anchor="ctr"/>
          <a:lstStyle/>
          <a:p>
            <a:pPr algn="l" indent="0" marL="0">
              <a:buNone/>
            </a:pPr>
            <a:r>
              <a:rPr lang="en-US" sz="1100" dirty="0">
                <a:solidFill>
                  <a:srgbClr val="5A6472"/>
                </a:solidFill>
                <a:latin typeface="Calibri" pitchFamily="34" charset="0"/>
                <a:cs typeface="Amiri" pitchFamily="2" charset="-78"/>
              </a:rPr>
              <a:t>Develop</a:t>
            </a:r>
            <a:endParaRPr lang="en-US" sz="1100" dirty="0"/>
          </a:p>
        </p:txBody>
      </p:sp>
      <p:sp>
        <p:nvSpPr>
          <p:cNvPr id="43" name="Text 40"/>
          <p:cNvSpPr txBox="1"/>
          <p:nvPr/>
        </p:nvSpPr>
        <p:spPr>
          <a:xfrm>
            <a:off x="566928" y="4478731"/>
            <a:ext cx="5852160" cy="682142"/>
          </a:xfrm>
          <a:prstGeom prst="rect">
            <a:avLst/>
          </a:prstGeom>
          <a:noFill/>
          <a:ln/>
        </p:spPr>
        <p:txBody>
          <a:bodyPr wrap="square" lIns="0" tIns="0" rIns="0" bIns="0" rtlCol="0" anchor="ctr"/>
          <a:lstStyle/>
          <a:p>
            <a:pPr algn="l" indent="0" marL="0">
              <a:buNone/>
            </a:pPr>
            <a:r>
              <a:rPr lang="en-US" sz="1100" dirty="0">
                <a:solidFill>
                  <a:srgbClr val="5A6472"/>
                </a:solidFill>
                <a:latin typeface="Calibri" pitchFamily="34" charset="0"/>
                <a:cs typeface="Amiri" pitchFamily="2" charset="-78"/>
              </a:rPr>
              <a:t>use linking words (</a:t>
            </a:r>
            <a:pPr algn="l" indent="0" marL="0">
              <a:buNone/>
            </a:pPr>
            <a:r>
              <a:rPr lang="ar-SA" altLang="en-US" sz="1450" dirty="0">
                <a:solidFill>
                  <a:srgbClr val="5A6472"/>
                </a:solidFill>
                <a:latin typeface="Amiri" pitchFamily="2" charset="-78"/>
                <a:ea typeface="Amiri" pitchFamily="2" charset="-78"/>
                <a:cs typeface="Amiri" pitchFamily="2" charset="-78"/>
              </a:rPr>
              <a:t>وَ</a:t>
            </a:r>
            <a:pPr algn="l" indent="0" marL="0">
              <a:buNone/>
            </a:pPr>
            <a:r>
              <a:rPr lang="en-US" sz="1100" dirty="0">
                <a:solidFill>
                  <a:srgbClr val="5A6472"/>
                </a:solidFill>
                <a:latin typeface="Calibri" pitchFamily="34" charset="0"/>
                <a:cs typeface="Amiri" pitchFamily="2" charset="-78"/>
              </a:rPr>
              <a:t> · </a:t>
            </a:r>
            <a:pPr algn="l" indent="0" marL="0">
              <a:buNone/>
            </a:pPr>
            <a:r>
              <a:rPr lang="ar-SA" altLang="en-US" sz="1450" dirty="0">
                <a:solidFill>
                  <a:srgbClr val="5A6472"/>
                </a:solidFill>
                <a:latin typeface="Amiri" pitchFamily="2" charset="-78"/>
                <a:ea typeface="Amiri" pitchFamily="2" charset="-78"/>
                <a:cs typeface="Amiri" pitchFamily="2" charset="-78"/>
              </a:rPr>
              <a:t>ثُمَّ</a:t>
            </a:r>
            <a:pPr algn="l" indent="0" marL="0">
              <a:buNone/>
            </a:pPr>
            <a:r>
              <a:rPr lang="en-US" sz="1100" dirty="0">
                <a:solidFill>
                  <a:srgbClr val="5A6472"/>
                </a:solidFill>
                <a:latin typeface="Calibri" pitchFamily="34" charset="0"/>
                <a:cs typeface="Amiri" pitchFamily="2" charset="-78"/>
              </a:rPr>
              <a:t> · </a:t>
            </a:r>
            <a:pPr algn="l" indent="0" marL="0">
              <a:buNone/>
            </a:pPr>
            <a:r>
              <a:rPr lang="ar-SA" altLang="en-US" sz="1450" dirty="0">
                <a:solidFill>
                  <a:srgbClr val="5A6472"/>
                </a:solidFill>
                <a:latin typeface="Amiri" pitchFamily="2" charset="-78"/>
                <a:ea typeface="Amiri" pitchFamily="2" charset="-78"/>
                <a:cs typeface="Amiri" pitchFamily="2" charset="-78"/>
              </a:rPr>
              <a:t>لِأَنَّ</a:t>
            </a:r>
            <a:pPr algn="l" indent="0" marL="0">
              <a:buNone/>
            </a:pPr>
            <a:r>
              <a:rPr lang="en-US" sz="1100" dirty="0">
                <a:solidFill>
                  <a:srgbClr val="5A6472"/>
                </a:solidFill>
                <a:latin typeface="Calibri" pitchFamily="34" charset="0"/>
                <a:cs typeface="Amiri" pitchFamily="2" charset="-78"/>
              </a:rPr>
              <a:t> · </a:t>
            </a:r>
            <a:pPr algn="l" indent="0" marL="0">
              <a:buNone/>
            </a:pPr>
            <a:r>
              <a:rPr lang="ar-SA" altLang="en-US" sz="1450" dirty="0">
                <a:solidFill>
                  <a:srgbClr val="5A6472"/>
                </a:solidFill>
                <a:latin typeface="Amiri" pitchFamily="2" charset="-78"/>
                <a:ea typeface="Amiri" pitchFamily="2" charset="-78"/>
                <a:cs typeface="Amiri" pitchFamily="2" charset="-78"/>
              </a:rPr>
              <a:t>لٰكِنَّ</a:t>
            </a:r>
            <a:pPr algn="l" indent="0" marL="0">
              <a:buNone/>
            </a:pPr>
            <a:r>
              <a:rPr lang="en-US" sz="1100" dirty="0">
                <a:solidFill>
                  <a:srgbClr val="5A6472"/>
                </a:solidFill>
                <a:latin typeface="Calibri" pitchFamily="34" charset="0"/>
                <a:cs typeface="Amiri" pitchFamily="2" charset="-78"/>
              </a:rPr>
              <a:t>)?</a:t>
            </a:r>
            <a:endParaRPr lang="en-US" sz="1100" dirty="0"/>
          </a:p>
        </p:txBody>
      </p:sp>
      <p:sp>
        <p:nvSpPr>
          <p:cNvPr id="44" name="Shape 41"/>
          <p:cNvSpPr/>
          <p:nvPr/>
        </p:nvSpPr>
        <p:spPr>
          <a:xfrm>
            <a:off x="457200" y="5215738"/>
            <a:ext cx="11274552" cy="682142"/>
          </a:xfrm>
          <a:prstGeom prst="roundRect">
            <a:avLst>
              <a:gd name="adj" fmla="val 6702"/>
            </a:avLst>
          </a:prstGeom>
          <a:solidFill>
            <a:srgbClr val="FFFFFF"/>
          </a:solidFill>
          <a:ln w="9525">
            <a:solidFill>
              <a:srgbClr val="D8D0BF"/>
            </a:solidFill>
            <a:prstDash val="solid"/>
          </a:ln>
        </p:spPr>
      </p:sp>
      <p:sp>
        <p:nvSpPr>
          <p:cNvPr id="45" name="Text 42"/>
          <p:cNvSpPr txBox="1"/>
          <p:nvPr/>
        </p:nvSpPr>
        <p:spPr>
          <a:xfrm>
            <a:off x="8796528" y="5215738"/>
            <a:ext cx="2862072" cy="682142"/>
          </a:xfrm>
          <a:prstGeom prst="rect">
            <a:avLst/>
          </a:prstGeom>
          <a:noFill/>
          <a:ln/>
        </p:spPr>
        <p:txBody>
          <a:bodyPr wrap="square" lIns="0" tIns="0" rIns="0" bIns="0" rtlCol="0" anchor="ctr"/>
          <a:lstStyle/>
          <a:p>
            <a:pPr algn="l" indent="0" marL="0">
              <a:buNone/>
            </a:pPr>
            <a:endParaRPr lang="en-US" sz="1100" dirty="0"/>
          </a:p>
        </p:txBody>
      </p:sp>
      <p:sp>
        <p:nvSpPr>
          <p:cNvPr id="46" name="Text 43"/>
          <p:cNvSpPr txBox="1"/>
          <p:nvPr/>
        </p:nvSpPr>
        <p:spPr>
          <a:xfrm>
            <a:off x="7882128" y="5215738"/>
            <a:ext cx="731520" cy="682142"/>
          </a:xfrm>
          <a:prstGeom prst="rect">
            <a:avLst/>
          </a:prstGeom>
          <a:noFill/>
          <a:ln/>
        </p:spPr>
        <p:txBody>
          <a:bodyPr wrap="square" lIns="0" tIns="0" rIns="0" bIns="0" rtlCol="0" anchor="ctr"/>
          <a:lstStyle/>
          <a:p>
            <a:pPr algn="l" indent="0" marL="0">
              <a:buNone/>
            </a:pPr>
            <a:endParaRPr lang="en-US" sz="1100" dirty="0"/>
          </a:p>
        </p:txBody>
      </p:sp>
      <p:sp>
        <p:nvSpPr>
          <p:cNvPr id="47" name="Text 44"/>
          <p:cNvSpPr txBox="1"/>
          <p:nvPr/>
        </p:nvSpPr>
        <p:spPr>
          <a:xfrm>
            <a:off x="6601968" y="5215738"/>
            <a:ext cx="1097280" cy="682142"/>
          </a:xfrm>
          <a:prstGeom prst="rect">
            <a:avLst/>
          </a:prstGeom>
          <a:noFill/>
          <a:ln/>
        </p:spPr>
        <p:txBody>
          <a:bodyPr wrap="square" lIns="0" tIns="0" rIns="0" bIns="0" rtlCol="0" anchor="ctr"/>
          <a:lstStyle/>
          <a:p>
            <a:pPr algn="l" indent="0" marL="0">
              <a:buNone/>
            </a:pPr>
            <a:r>
              <a:rPr lang="en-US" sz="1100" dirty="0">
                <a:solidFill>
                  <a:srgbClr val="5A6472"/>
                </a:solidFill>
                <a:latin typeface="Calibri" pitchFamily="34" charset="0"/>
                <a:cs typeface="Amiri" pitchFamily="2" charset="-78"/>
              </a:rPr>
              <a:t>Stretch</a:t>
            </a:r>
            <a:endParaRPr lang="en-US" sz="1100" dirty="0"/>
          </a:p>
        </p:txBody>
      </p:sp>
      <p:sp>
        <p:nvSpPr>
          <p:cNvPr id="48" name="Text 45"/>
          <p:cNvSpPr txBox="1"/>
          <p:nvPr/>
        </p:nvSpPr>
        <p:spPr>
          <a:xfrm>
            <a:off x="566928" y="5215738"/>
            <a:ext cx="5852160" cy="682142"/>
          </a:xfrm>
          <a:prstGeom prst="rect">
            <a:avLst/>
          </a:prstGeom>
          <a:noFill/>
          <a:ln/>
        </p:spPr>
        <p:txBody>
          <a:bodyPr wrap="square" lIns="0" tIns="0" rIns="0" bIns="0" rtlCol="0" anchor="ctr"/>
          <a:lstStyle/>
          <a:p>
            <a:pPr algn="l" indent="0" marL="0">
              <a:buNone/>
            </a:pPr>
            <a:r>
              <a:rPr lang="en-US" sz="1100" dirty="0">
                <a:solidFill>
                  <a:srgbClr val="5A6472"/>
                </a:solidFill>
                <a:latin typeface="Calibri" pitchFamily="34" charset="0"/>
                <a:cs typeface="Amiri" pitchFamily="2" charset="-78"/>
              </a:rPr>
              <a:t>add a reason, a time phrase or an opinion?</a:t>
            </a:r>
            <a:endParaRPr lang="en-US" sz="1100" dirty="0"/>
          </a:p>
        </p:txBody>
      </p:sp>
      <p:sp>
        <p:nvSpPr>
          <p:cNvPr id="49" name="Text 46"/>
          <p:cNvSpPr txBox="1"/>
          <p:nvPr/>
        </p:nvSpPr>
        <p:spPr>
          <a:xfrm>
            <a:off x="457200" y="5943600"/>
            <a:ext cx="11274552" cy="365760"/>
          </a:xfrm>
          <a:prstGeom prst="rect">
            <a:avLst/>
          </a:prstGeom>
          <a:noFill/>
          <a:ln/>
        </p:spPr>
        <p:txBody>
          <a:bodyPr wrap="square" lIns="0" tIns="0" rIns="0" bIns="0" rtlCol="0" anchor="ctr"/>
          <a:lstStyle/>
          <a:p>
            <a:pPr algn="l" indent="0" marL="0">
              <a:buNone/>
            </a:pPr>
            <a:r>
              <a:rPr lang="en-US" sz="1150" b="1" dirty="0">
                <a:solidFill>
                  <a:srgbClr val="1B3B6F"/>
                </a:solidFill>
                <a:latin typeface="Calibri" pitchFamily="34" charset="0"/>
                <a:cs typeface="Amiri" pitchFamily="2" charset="-78"/>
              </a:rPr>
              <a:t>Give back: one thing that went well + one thing to improve. The writer fixes ONE thing straight away.</a:t>
            </a:r>
            <a:endParaRPr lang="en-US" sz="1150" dirty="0"/>
          </a:p>
        </p:txBody>
      </p:sp>
      <p:sp>
        <p:nvSpPr>
          <p:cNvPr id="50" name="Text 47"/>
          <p:cNvSpPr txBox="1"/>
          <p:nvPr/>
        </p:nvSpPr>
        <p:spPr>
          <a:xfrm>
            <a:off x="10360152" y="6455664"/>
            <a:ext cx="1371600" cy="219456"/>
          </a:xfrm>
          <a:prstGeom prst="rect">
            <a:avLst/>
          </a:prstGeom>
          <a:noFill/>
          <a:ln/>
        </p:spPr>
        <p:txBody>
          <a:bodyPr wrap="square" lIns="0" tIns="0" rIns="0" bIns="0" rtlCol="0" anchor="ctr"/>
          <a:lstStyle/>
          <a:p>
            <a:pPr algn="r" indent="0" marL="0">
              <a:buNone/>
            </a:pPr>
            <a:r>
              <a:rPr lang="en-US" sz="850" dirty="0">
                <a:solidFill>
                  <a:srgbClr val="8A93A0"/>
                </a:solidFill>
                <a:latin typeface="Calibri" pitchFamily="34" charset="0"/>
                <a:cs typeface="Amiri" pitchFamily="2" charset="-78"/>
              </a:rPr>
              <a:t>20 / 24</a:t>
            </a:r>
            <a:endParaRPr lang="en-US" sz="850" dirty="0"/>
          </a:p>
        </p:txBody>
      </p:sp>
    </p:spTree>
  </p:cSld>
  <p:clrMapOvr>
    <a:masterClrMapping/>
  </p:clrMapOvr>
</p:sld>
</file>

<file path=ppt/slides/slide21.xml><?xml version="1.0" encoding="utf-8"?>
<p:sld xmlns:a="http://schemas.openxmlformats.org/drawingml/2006/main" xmlns:r="http://schemas.openxmlformats.org/officeDocument/2006/relationships" xmlns:p="http://schemas.openxmlformats.org/presentationml/2006/main">
  <p:cSld name="Slide 21">
    <p:bg>
      <p:bgPr>
        <a:solidFill>
          <a:srgbClr val="FFFDF8"/>
        </a:solidFill>
      </p:bgPr>
    </p:bg>
    <p:spTree>
      <p:nvGrpSpPr>
        <p:cNvPr id="1" name=""/>
        <p:cNvGrpSpPr/>
        <p:nvPr/>
      </p:nvGrpSpPr>
      <p:grpSpPr>
        <a:xfrm>
          <a:off x="0" y="0"/>
          <a:ext cx="0" cy="0"/>
          <a:chOff x="0" y="0"/>
          <a:chExt cx="0" cy="0"/>
        </a:xfrm>
      </p:grpSpPr>
      <p:sp>
        <p:nvSpPr>
          <p:cNvPr id="2" name="Shape 0"/>
          <p:cNvSpPr/>
          <p:nvPr/>
        </p:nvSpPr>
        <p:spPr>
          <a:xfrm>
            <a:off x="457200" y="237744"/>
            <a:ext cx="420624" cy="420624"/>
          </a:xfrm>
          <a:prstGeom prst="ellipse">
            <a:avLst/>
          </a:prstGeom>
          <a:solidFill>
            <a:srgbClr val="1B3B6F"/>
          </a:solidFill>
          <a:ln w="12700">
            <a:solidFill>
              <a:srgbClr val="D4AF37"/>
            </a:solidFill>
            <a:prstDash val="solid"/>
          </a:ln>
        </p:spPr>
      </p:sp>
      <p:sp>
        <p:nvSpPr>
          <p:cNvPr id="3" name="Text 1"/>
          <p:cNvSpPr txBox="1"/>
          <p:nvPr/>
        </p:nvSpPr>
        <p:spPr>
          <a:xfrm>
            <a:off x="457200" y="219456"/>
            <a:ext cx="420624" cy="420624"/>
          </a:xfrm>
          <a:prstGeom prst="rect">
            <a:avLst/>
          </a:prstGeom>
          <a:noFill/>
          <a:ln/>
        </p:spPr>
        <p:txBody>
          <a:bodyPr wrap="square" lIns="0" tIns="0" rIns="0" bIns="0" rtlCol="0" anchor="ctr"/>
          <a:lstStyle/>
          <a:p>
            <a:pPr rtl="1" algn="ctr" indent="0" marL="0">
              <a:buNone/>
            </a:pPr>
            <a:r>
              <a:rPr lang="ar-SA" altLang="en-US" sz="1800" b="1" dirty="0">
                <a:solidFill>
                  <a:srgbClr val="D4AF37"/>
                </a:solidFill>
                <a:latin typeface="Amiri" pitchFamily="2" charset="-78"/>
                <a:ea typeface="Amiri" pitchFamily="2" charset="-78"/>
                <a:cs typeface="Amiri" pitchFamily="2" charset="-78"/>
              </a:rPr>
              <a:t>م</a:t>
            </a:r>
            <a:endParaRPr lang="ar-SA" sz="1800" dirty="0"/>
          </a:p>
        </p:txBody>
      </p:sp>
      <p:sp>
        <p:nvSpPr>
          <p:cNvPr id="4" name="Text 2"/>
          <p:cNvSpPr txBox="1"/>
          <p:nvPr/>
        </p:nvSpPr>
        <p:spPr>
          <a:xfrm>
            <a:off x="960120" y="219456"/>
            <a:ext cx="3657600" cy="256032"/>
          </a:xfrm>
          <a:prstGeom prst="rect">
            <a:avLst/>
          </a:prstGeom>
          <a:noFill/>
          <a:ln/>
        </p:spPr>
        <p:txBody>
          <a:bodyPr wrap="square" lIns="0" tIns="0" rIns="0" bIns="0" rtlCol="0" anchor="ctr"/>
          <a:lstStyle/>
          <a:p>
            <a:pPr indent="0" marL="0">
              <a:buNone/>
            </a:pPr>
            <a:r>
              <a:rPr lang="en-US" sz="1200" b="1" dirty="0">
                <a:solidFill>
                  <a:srgbClr val="1B3B6F"/>
                </a:solidFill>
                <a:latin typeface="Cambria" pitchFamily="34" charset="0"/>
                <a:cs typeface="Amiri" pitchFamily="2" charset="-78"/>
              </a:rPr>
              <a:t>Al Madina Online School</a:t>
            </a:r>
            <a:endParaRPr lang="en-US" sz="1200" dirty="0"/>
          </a:p>
        </p:txBody>
      </p:sp>
      <p:sp>
        <p:nvSpPr>
          <p:cNvPr id="5" name="Text 3"/>
          <p:cNvSpPr txBox="1"/>
          <p:nvPr/>
        </p:nvSpPr>
        <p:spPr>
          <a:xfrm>
            <a:off x="960120" y="457200"/>
            <a:ext cx="4572000" cy="182880"/>
          </a:xfrm>
          <a:prstGeom prst="rect">
            <a:avLst/>
          </a:prstGeom>
          <a:noFill/>
          <a:ln/>
        </p:spPr>
        <p:txBody>
          <a:bodyPr wrap="square" lIns="0" tIns="0" rIns="0" bIns="0" rtlCol="0" anchor="ctr"/>
          <a:lstStyle/>
          <a:p>
            <a:pPr indent="0" marL="0">
              <a:buNone/>
            </a:pPr>
            <a:r>
              <a:rPr lang="en-US" sz="800" b="1" spc="200" kern="0" dirty="0">
                <a:solidFill>
                  <a:srgbClr val="8A6D1E"/>
                </a:solidFill>
                <a:latin typeface="Calibri" pitchFamily="34" charset="0"/>
                <a:cs typeface="Amiri" pitchFamily="2" charset="-78"/>
              </a:rPr>
              <a:t>ARABIC DEPARTMENT · MIFTAH ARABIC · IGCSE 0544</a:t>
            </a:r>
            <a:endParaRPr lang="en-US" sz="800" dirty="0"/>
          </a:p>
        </p:txBody>
      </p:sp>
      <p:sp>
        <p:nvSpPr>
          <p:cNvPr id="6" name="Shape 4"/>
          <p:cNvSpPr/>
          <p:nvPr/>
        </p:nvSpPr>
        <p:spPr>
          <a:xfrm>
            <a:off x="8897112" y="274320"/>
            <a:ext cx="2834640" cy="329184"/>
          </a:xfrm>
          <a:prstGeom prst="roundRect">
            <a:avLst>
              <a:gd name="adj" fmla="val 50000"/>
            </a:avLst>
          </a:prstGeom>
          <a:solidFill>
            <a:srgbClr val="1B3B6F"/>
          </a:solidFill>
          <a:ln w="12700">
            <a:solidFill>
              <a:srgbClr val="1B3B6F"/>
            </a:solidFill>
            <a:prstDash val="solid"/>
          </a:ln>
        </p:spPr>
      </p:sp>
      <p:sp>
        <p:nvSpPr>
          <p:cNvPr id="7" name="Text 5"/>
          <p:cNvSpPr txBox="1"/>
          <p:nvPr/>
        </p:nvSpPr>
        <p:spPr>
          <a:xfrm>
            <a:off x="8897112" y="274320"/>
            <a:ext cx="2834640" cy="329184"/>
          </a:xfrm>
          <a:prstGeom prst="rect">
            <a:avLst/>
          </a:prstGeom>
          <a:noFill/>
          <a:ln/>
        </p:spPr>
        <p:txBody>
          <a:bodyPr wrap="square" lIns="0" tIns="0" rIns="0" bIns="0" rtlCol="0" anchor="ctr"/>
          <a:lstStyle/>
          <a:p>
            <a:pPr algn="ctr" indent="0" marL="0">
              <a:buNone/>
            </a:pPr>
            <a:r>
              <a:rPr lang="en-US" sz="950" b="1" spc="100" kern="0" dirty="0">
                <a:solidFill>
                  <a:srgbClr val="FFFFFF"/>
                </a:solidFill>
                <a:latin typeface="Calibri" pitchFamily="34" charset="0"/>
                <a:cs typeface="Amiri" pitchFamily="2" charset="-78"/>
              </a:rPr>
              <a:t>F6-W03 · Apply workshop</a:t>
            </a:r>
            <a:endParaRPr lang="en-US" sz="950" dirty="0"/>
          </a:p>
        </p:txBody>
      </p:sp>
      <p:sp>
        <p:nvSpPr>
          <p:cNvPr id="8" name="Shape 6"/>
          <p:cNvSpPr/>
          <p:nvPr/>
        </p:nvSpPr>
        <p:spPr>
          <a:xfrm>
            <a:off x="7143293" y="274320"/>
            <a:ext cx="1616659" cy="329184"/>
          </a:xfrm>
          <a:prstGeom prst="roundRect">
            <a:avLst>
              <a:gd name="adj" fmla="val 50000"/>
            </a:avLst>
          </a:prstGeom>
          <a:solidFill>
            <a:srgbClr val="8A6D1E"/>
          </a:solidFill>
          <a:ln w="12700">
            <a:solidFill>
              <a:srgbClr val="8A6D1E"/>
            </a:solidFill>
            <a:prstDash val="solid"/>
          </a:ln>
        </p:spPr>
      </p:sp>
      <p:sp>
        <p:nvSpPr>
          <p:cNvPr id="9" name="Text 7"/>
          <p:cNvSpPr txBox="1"/>
          <p:nvPr/>
        </p:nvSpPr>
        <p:spPr>
          <a:xfrm>
            <a:off x="7143293" y="274320"/>
            <a:ext cx="1616659" cy="329184"/>
          </a:xfrm>
          <a:prstGeom prst="rect">
            <a:avLst/>
          </a:prstGeom>
          <a:noFill/>
          <a:ln/>
        </p:spPr>
        <p:txBody>
          <a:bodyPr wrap="square" lIns="0" tIns="0" rIns="0" bIns="0" rtlCol="0" anchor="ctr"/>
          <a:lstStyle/>
          <a:p>
            <a:pPr algn="ctr" indent="0" marL="0">
              <a:buNone/>
            </a:pPr>
            <a:r>
              <a:rPr lang="en-US" sz="900" b="1" spc="100" kern="0" dirty="0">
                <a:solidFill>
                  <a:srgbClr val="FFFFFF"/>
                </a:solidFill>
                <a:latin typeface="Calibri" pitchFamily="34" charset="0"/>
                <a:cs typeface="Amiri" pitchFamily="2" charset="-78"/>
              </a:rPr>
              <a:t>FEEDBACK · 2 MIN</a:t>
            </a:r>
            <a:endParaRPr lang="en-US" sz="900" dirty="0"/>
          </a:p>
        </p:txBody>
      </p:sp>
      <p:sp>
        <p:nvSpPr>
          <p:cNvPr id="10" name="Text 8"/>
          <p:cNvSpPr txBox="1"/>
          <p:nvPr/>
        </p:nvSpPr>
        <p:spPr>
          <a:xfrm>
            <a:off x="457200" y="822960"/>
            <a:ext cx="6949440" cy="237744"/>
          </a:xfrm>
          <a:prstGeom prst="rect">
            <a:avLst/>
          </a:prstGeom>
          <a:noFill/>
          <a:ln/>
        </p:spPr>
        <p:txBody>
          <a:bodyPr wrap="square" lIns="0" tIns="0" rIns="0" bIns="0" rtlCol="0" anchor="ctr"/>
          <a:lstStyle/>
          <a:p>
            <a:pPr algn="l" indent="0" marL="0">
              <a:buNone/>
            </a:pPr>
            <a:r>
              <a:rPr lang="en-US" sz="1000" b="1" spc="300" kern="0" dirty="0">
                <a:solidFill>
                  <a:srgbClr val="8A6D1E"/>
                </a:solidFill>
                <a:latin typeface="Calibri" pitchFamily="34" charset="0"/>
                <a:cs typeface="Amiri" pitchFamily="2" charset="-78"/>
              </a:rPr>
              <a:t>CHECK YOURSELF · ROLE-PLAY CARD</a:t>
            </a:r>
            <a:endParaRPr lang="en-US" sz="1000" dirty="0"/>
          </a:p>
        </p:txBody>
      </p:sp>
      <p:sp>
        <p:nvSpPr>
          <p:cNvPr id="11" name="Text 9"/>
          <p:cNvSpPr txBox="1"/>
          <p:nvPr/>
        </p:nvSpPr>
        <p:spPr>
          <a:xfrm>
            <a:off x="457200" y="1033272"/>
            <a:ext cx="6949440" cy="566928"/>
          </a:xfrm>
          <a:prstGeom prst="rect">
            <a:avLst/>
          </a:prstGeom>
          <a:noFill/>
          <a:ln/>
        </p:spPr>
        <p:txBody>
          <a:bodyPr wrap="square" lIns="0" tIns="0" rIns="0" bIns="0" rtlCol="0" anchor="ctr"/>
          <a:lstStyle/>
          <a:p>
            <a:pPr algn="l" indent="0" marL="0">
              <a:buNone/>
            </a:pPr>
            <a:r>
              <a:rPr lang="en-US" sz="2050" b="1" dirty="0">
                <a:solidFill>
                  <a:srgbClr val="1B3B6F"/>
                </a:solidFill>
                <a:latin typeface="Cambria" pitchFamily="34" charset="0"/>
                <a:cs typeface="Amiri" pitchFamily="2" charset="-78"/>
              </a:rPr>
              <a:t>Role-play card: compare with a strong answer</a:t>
            </a:r>
            <a:endParaRPr lang="en-US" sz="2050" dirty="0"/>
          </a:p>
        </p:txBody>
      </p:sp>
      <p:sp>
        <p:nvSpPr>
          <p:cNvPr id="12" name="Text 10"/>
          <p:cNvSpPr txBox="1"/>
          <p:nvPr/>
        </p:nvSpPr>
        <p:spPr>
          <a:xfrm>
            <a:off x="7498080" y="868680"/>
            <a:ext cx="4233672" cy="749808"/>
          </a:xfrm>
          <a:prstGeom prst="rect">
            <a:avLst/>
          </a:prstGeom>
          <a:noFill/>
          <a:ln/>
        </p:spPr>
        <p:txBody>
          <a:bodyPr wrap="square" lIns="0" tIns="0" rIns="0" bIns="0" rtlCol="0" anchor="ctr"/>
          <a:lstStyle/>
          <a:p>
            <a:pPr rtl="1" algn="r" indent="0" marL="0">
              <a:buNone/>
            </a:pPr>
            <a:r>
              <a:rPr lang="ar-SA" altLang="en-US" sz="2800" b="1" dirty="0">
                <a:solidFill>
                  <a:srgbClr val="8A6D1E"/>
                </a:solidFill>
                <a:latin typeface="Amiri" pitchFamily="2" charset="-78"/>
                <a:ea typeface="Amiri" pitchFamily="2" charset="-78"/>
                <a:cs typeface="Amiri" pitchFamily="2" charset="-78"/>
              </a:rPr>
              <a:t>قَارِنْ إِجَابَتَكَ</a:t>
            </a:r>
            <a:endParaRPr lang="ar-SA" sz="2800" dirty="0"/>
          </a:p>
        </p:txBody>
      </p:sp>
      <p:sp>
        <p:nvSpPr>
          <p:cNvPr id="13" name="Text 11"/>
          <p:cNvSpPr txBox="1"/>
          <p:nvPr/>
        </p:nvSpPr>
        <p:spPr>
          <a:xfrm>
            <a:off x="457200" y="6455664"/>
            <a:ext cx="6400800" cy="219456"/>
          </a:xfrm>
          <a:prstGeom prst="rect">
            <a:avLst/>
          </a:prstGeom>
          <a:noFill/>
          <a:ln/>
        </p:spPr>
        <p:txBody>
          <a:bodyPr wrap="square" lIns="0" tIns="0" rIns="0" bIns="0" rtlCol="0" anchor="ctr"/>
          <a:lstStyle/>
          <a:p>
            <a:pPr indent="0" marL="0">
              <a:buNone/>
            </a:pPr>
            <a:r>
              <a:rPr lang="en-US" sz="850" dirty="0">
                <a:solidFill>
                  <a:srgbClr val="8A93A0"/>
                </a:solidFill>
                <a:latin typeface="Calibri" pitchFamily="34" charset="0"/>
                <a:cs typeface="Amiri" pitchFamily="2" charset="-78"/>
              </a:rPr>
              <a:t>Miftah Arabic · Foundation F6 · My Town and Transport · F6-W03 · Apply workshop (F6-L05 + F6-L06)</a:t>
            </a:r>
            <a:endParaRPr lang="en-US" sz="850" dirty="0"/>
          </a:p>
        </p:txBody>
      </p:sp>
      <p:sp>
        <p:nvSpPr>
          <p:cNvPr id="15" name="Shape 12"/>
          <p:cNvSpPr/>
          <p:nvPr/>
        </p:nvSpPr>
        <p:spPr>
          <a:xfrm>
            <a:off x="457200" y="1810512"/>
            <a:ext cx="11274552" cy="384048"/>
          </a:xfrm>
          <a:prstGeom prst="rect">
            <a:avLst/>
          </a:prstGeom>
          <a:solidFill>
            <a:srgbClr val="1B3B6F"/>
          </a:solidFill>
          <a:ln w="12700">
            <a:solidFill>
              <a:srgbClr val="1B3B6F"/>
            </a:solidFill>
            <a:prstDash val="solid"/>
          </a:ln>
        </p:spPr>
      </p:sp>
      <p:sp>
        <p:nvSpPr>
          <p:cNvPr id="16" name="Text 13"/>
          <p:cNvSpPr txBox="1"/>
          <p:nvPr/>
        </p:nvSpPr>
        <p:spPr>
          <a:xfrm>
            <a:off x="4782312" y="1810512"/>
            <a:ext cx="6876288" cy="384048"/>
          </a:xfrm>
          <a:prstGeom prst="rect">
            <a:avLst/>
          </a:prstGeom>
          <a:noFill/>
          <a:ln/>
        </p:spPr>
        <p:txBody>
          <a:bodyPr wrap="square" lIns="0" tIns="0" rIns="0" bIns="0" rtlCol="0" anchor="ctr"/>
          <a:lstStyle/>
          <a:p>
            <a:pPr algn="ctr" indent="0" marL="0">
              <a:buNone/>
            </a:pPr>
            <a:r>
              <a:rPr lang="en-US" sz="1100" b="1" dirty="0">
                <a:solidFill>
                  <a:srgbClr val="FFFFFF"/>
                </a:solidFill>
                <a:latin typeface="Calibri" pitchFamily="34" charset="0"/>
                <a:cs typeface="Amiri" pitchFamily="2" charset="-78"/>
              </a:rPr>
              <a:t>A strong answer (with English)</a:t>
            </a:r>
            <a:endParaRPr lang="en-US" sz="1100" dirty="0"/>
          </a:p>
        </p:txBody>
      </p:sp>
      <p:sp>
        <p:nvSpPr>
          <p:cNvPr id="17" name="Text 14"/>
          <p:cNvSpPr txBox="1"/>
          <p:nvPr/>
        </p:nvSpPr>
        <p:spPr>
          <a:xfrm>
            <a:off x="1033272" y="1810512"/>
            <a:ext cx="3602736" cy="384048"/>
          </a:xfrm>
          <a:prstGeom prst="rect">
            <a:avLst/>
          </a:prstGeom>
          <a:noFill/>
          <a:ln/>
        </p:spPr>
        <p:txBody>
          <a:bodyPr wrap="square" lIns="0" tIns="0" rIns="0" bIns="0" rtlCol="0" anchor="ctr"/>
          <a:lstStyle/>
          <a:p>
            <a:pPr algn="ctr" indent="0" marL="0">
              <a:buNone/>
            </a:pPr>
            <a:r>
              <a:rPr lang="en-US" sz="1100" b="1" dirty="0">
                <a:solidFill>
                  <a:srgbClr val="FFFFFF"/>
                </a:solidFill>
                <a:latin typeface="Calibri" pitchFamily="34" charset="0"/>
                <a:cs typeface="Amiri" pitchFamily="2" charset="-78"/>
              </a:rPr>
              <a:t>Partner A reads</a:t>
            </a:r>
            <a:endParaRPr lang="en-US" sz="1100" dirty="0"/>
          </a:p>
        </p:txBody>
      </p:sp>
      <p:sp>
        <p:nvSpPr>
          <p:cNvPr id="18" name="Text 15"/>
          <p:cNvSpPr txBox="1"/>
          <p:nvPr/>
        </p:nvSpPr>
        <p:spPr>
          <a:xfrm>
            <a:off x="530352" y="1810512"/>
            <a:ext cx="356616" cy="384048"/>
          </a:xfrm>
          <a:prstGeom prst="rect">
            <a:avLst/>
          </a:prstGeom>
          <a:noFill/>
          <a:ln/>
        </p:spPr>
        <p:txBody>
          <a:bodyPr wrap="square" lIns="0" tIns="0" rIns="0" bIns="0" rtlCol="0" anchor="ctr"/>
          <a:lstStyle/>
          <a:p>
            <a:pPr algn="ctr" indent="0" marL="0">
              <a:buNone/>
            </a:pPr>
            <a:r>
              <a:rPr lang="en-US" sz="1100" b="1" dirty="0">
                <a:solidFill>
                  <a:srgbClr val="FFFFFF"/>
                </a:solidFill>
                <a:latin typeface="Calibri" pitchFamily="34" charset="0"/>
                <a:cs typeface="Amiri" pitchFamily="2" charset="-78"/>
              </a:rPr>
              <a:t>#</a:t>
            </a:r>
            <a:endParaRPr lang="en-US" sz="1100" dirty="0"/>
          </a:p>
        </p:txBody>
      </p:sp>
      <p:sp>
        <p:nvSpPr>
          <p:cNvPr id="19" name="Shape 16"/>
          <p:cNvSpPr/>
          <p:nvPr/>
        </p:nvSpPr>
        <p:spPr>
          <a:xfrm>
            <a:off x="457200" y="2267712"/>
            <a:ext cx="11274552" cy="682142"/>
          </a:xfrm>
          <a:prstGeom prst="roundRect">
            <a:avLst>
              <a:gd name="adj" fmla="val 6702"/>
            </a:avLst>
          </a:prstGeom>
          <a:solidFill>
            <a:srgbClr val="FFFFFF"/>
          </a:solidFill>
          <a:ln w="9525">
            <a:solidFill>
              <a:srgbClr val="D8D0BF"/>
            </a:solidFill>
            <a:prstDash val="solid"/>
          </a:ln>
        </p:spPr>
      </p:sp>
      <p:sp>
        <p:nvSpPr>
          <p:cNvPr id="20" name="Text 17"/>
          <p:cNvSpPr txBox="1"/>
          <p:nvPr/>
        </p:nvSpPr>
        <p:spPr>
          <a:xfrm>
            <a:off x="4800600" y="2286000"/>
            <a:ext cx="6839712" cy="422928"/>
          </a:xfrm>
          <a:prstGeom prst="rect">
            <a:avLst/>
          </a:prstGeom>
          <a:noFill/>
          <a:ln/>
        </p:spPr>
        <p:txBody>
          <a:bodyPr wrap="square" lIns="0" tIns="0" rIns="0" bIns="0" rtlCol="0" anchor="ctr"/>
          <a:lstStyle/>
          <a:p>
            <a:pPr rtl="1" algn="ctr" indent="0" marL="0">
              <a:buNone/>
            </a:pPr>
            <a:r>
              <a:rPr lang="ar-SA" altLang="en-US" sz="1800" b="1" dirty="0">
                <a:solidFill>
                  <a:srgbClr val="1B3B6F"/>
                </a:solidFill>
                <a:latin typeface="Amiri" pitchFamily="2" charset="-78"/>
                <a:ea typeface="Amiri" pitchFamily="2" charset="-78"/>
                <a:cs typeface="Amiri" pitchFamily="2" charset="-78"/>
              </a:rPr>
              <a:t>أُرِيدُ أَنْ أَشْتَرِيَ قَمِيصًا أَزْرَقَ، مِنْ فَضْلِكَ.</a:t>
            </a:r>
            <a:endParaRPr lang="ar-SA" sz="1800" dirty="0"/>
          </a:p>
        </p:txBody>
      </p:sp>
      <p:sp>
        <p:nvSpPr>
          <p:cNvPr id="21" name="Text 18"/>
          <p:cNvSpPr txBox="1"/>
          <p:nvPr/>
        </p:nvSpPr>
        <p:spPr>
          <a:xfrm>
            <a:off x="4754880" y="2676997"/>
            <a:ext cx="6931152" cy="259214"/>
          </a:xfrm>
          <a:prstGeom prst="rect">
            <a:avLst/>
          </a:prstGeom>
          <a:noFill/>
          <a:ln/>
        </p:spPr>
        <p:txBody>
          <a:bodyPr wrap="square" lIns="0" tIns="0" rIns="0" bIns="0" rtlCol="0" anchor="ctr"/>
          <a:lstStyle/>
          <a:p>
            <a:pPr algn="ctr" indent="0" marL="0">
              <a:buNone/>
            </a:pPr>
            <a:r>
              <a:rPr lang="en-US" sz="950" i="1" dirty="0">
                <a:solidFill>
                  <a:srgbClr val="5A6472"/>
                </a:solidFill>
                <a:latin typeface="Calibri" pitchFamily="34" charset="0"/>
                <a:cs typeface="Amiri" pitchFamily="2" charset="-78"/>
              </a:rPr>
              <a:t>I want to buy a blue shirt, please.</a:t>
            </a:r>
            <a:endParaRPr lang="en-US" sz="950" dirty="0"/>
          </a:p>
        </p:txBody>
      </p:sp>
      <p:sp>
        <p:nvSpPr>
          <p:cNvPr id="22" name="Text 19"/>
          <p:cNvSpPr txBox="1"/>
          <p:nvPr/>
        </p:nvSpPr>
        <p:spPr>
          <a:xfrm>
            <a:off x="1051560" y="2267712"/>
            <a:ext cx="3566160" cy="682142"/>
          </a:xfrm>
          <a:prstGeom prst="rect">
            <a:avLst/>
          </a:prstGeom>
          <a:noFill/>
          <a:ln/>
        </p:spPr>
        <p:txBody>
          <a:bodyPr wrap="square" lIns="0" tIns="0" rIns="0" bIns="0" rtlCol="0" anchor="ctr"/>
          <a:lstStyle/>
          <a:p>
            <a:pPr rtl="1" algn="ctr" indent="0" marL="0">
              <a:buNone/>
            </a:pPr>
            <a:r>
              <a:rPr lang="ar-SA" altLang="en-US" sz="1600" b="1" dirty="0">
                <a:solidFill>
                  <a:srgbClr val="1B3B6F"/>
                </a:solidFill>
                <a:latin typeface="Amiri" pitchFamily="2" charset="-78"/>
                <a:ea typeface="Amiri" pitchFamily="2" charset="-78"/>
                <a:cs typeface="Amiri" pitchFamily="2" charset="-78"/>
              </a:rPr>
              <a:t>أَهْلًا! مَاذَا تُرِيدُ؟</a:t>
            </a:r>
            <a:endParaRPr lang="ar-SA" sz="1600" dirty="0"/>
          </a:p>
        </p:txBody>
      </p:sp>
      <p:sp>
        <p:nvSpPr>
          <p:cNvPr id="23" name="Text 20"/>
          <p:cNvSpPr txBox="1"/>
          <p:nvPr/>
        </p:nvSpPr>
        <p:spPr>
          <a:xfrm>
            <a:off x="566928" y="2267712"/>
            <a:ext cx="320040" cy="682142"/>
          </a:xfrm>
          <a:prstGeom prst="rect">
            <a:avLst/>
          </a:prstGeom>
          <a:noFill/>
          <a:ln/>
        </p:spPr>
        <p:txBody>
          <a:bodyPr wrap="square" lIns="0" tIns="0" rIns="0" bIns="0" rtlCol="0" anchor="ctr"/>
          <a:lstStyle/>
          <a:p>
            <a:pPr algn="l" indent="0" marL="0">
              <a:buNone/>
            </a:pPr>
            <a:r>
              <a:rPr lang="en-US" sz="1100" dirty="0">
                <a:solidFill>
                  <a:srgbClr val="5A6472"/>
                </a:solidFill>
                <a:latin typeface="Calibri" pitchFamily="34" charset="0"/>
                <a:cs typeface="Amiri" pitchFamily="2" charset="-78"/>
              </a:rPr>
              <a:t>1</a:t>
            </a:r>
            <a:endParaRPr lang="en-US" sz="1100" dirty="0"/>
          </a:p>
        </p:txBody>
      </p:sp>
      <p:sp>
        <p:nvSpPr>
          <p:cNvPr id="24" name="Shape 21"/>
          <p:cNvSpPr/>
          <p:nvPr/>
        </p:nvSpPr>
        <p:spPr>
          <a:xfrm>
            <a:off x="457200" y="3004718"/>
            <a:ext cx="11274552" cy="682142"/>
          </a:xfrm>
          <a:prstGeom prst="roundRect">
            <a:avLst>
              <a:gd name="adj" fmla="val 6702"/>
            </a:avLst>
          </a:prstGeom>
          <a:solidFill>
            <a:srgbClr val="F4F1EA"/>
          </a:solidFill>
          <a:ln w="9525">
            <a:solidFill>
              <a:srgbClr val="D8D0BF"/>
            </a:solidFill>
            <a:prstDash val="solid"/>
          </a:ln>
        </p:spPr>
      </p:sp>
      <p:sp>
        <p:nvSpPr>
          <p:cNvPr id="25" name="Text 22"/>
          <p:cNvSpPr txBox="1"/>
          <p:nvPr/>
        </p:nvSpPr>
        <p:spPr>
          <a:xfrm>
            <a:off x="4800600" y="3023006"/>
            <a:ext cx="6839712" cy="422928"/>
          </a:xfrm>
          <a:prstGeom prst="rect">
            <a:avLst/>
          </a:prstGeom>
          <a:noFill/>
          <a:ln/>
        </p:spPr>
        <p:txBody>
          <a:bodyPr wrap="square" lIns="0" tIns="0" rIns="0" bIns="0" rtlCol="0" anchor="ctr"/>
          <a:lstStyle/>
          <a:p>
            <a:pPr rtl="1" algn="ctr" indent="0" marL="0">
              <a:buNone/>
            </a:pPr>
            <a:r>
              <a:rPr lang="ar-SA" altLang="en-US" sz="1800" b="1" dirty="0">
                <a:solidFill>
                  <a:srgbClr val="1B3B6F"/>
                </a:solidFill>
                <a:latin typeface="Amiri" pitchFamily="2" charset="-78"/>
                <a:ea typeface="Amiri" pitchFamily="2" charset="-78"/>
                <a:cs typeface="Amiri" pitchFamily="2" charset="-78"/>
              </a:rPr>
              <a:t>كَمْ ثَمَنُهُ؟</a:t>
            </a:r>
            <a:endParaRPr lang="ar-SA" sz="1800" dirty="0"/>
          </a:p>
        </p:txBody>
      </p:sp>
      <p:sp>
        <p:nvSpPr>
          <p:cNvPr id="26" name="Text 23"/>
          <p:cNvSpPr txBox="1"/>
          <p:nvPr/>
        </p:nvSpPr>
        <p:spPr>
          <a:xfrm>
            <a:off x="4754880" y="3414004"/>
            <a:ext cx="6931152" cy="259214"/>
          </a:xfrm>
          <a:prstGeom prst="rect">
            <a:avLst/>
          </a:prstGeom>
          <a:noFill/>
          <a:ln/>
        </p:spPr>
        <p:txBody>
          <a:bodyPr wrap="square" lIns="0" tIns="0" rIns="0" bIns="0" rtlCol="0" anchor="ctr"/>
          <a:lstStyle/>
          <a:p>
            <a:pPr algn="ctr" indent="0" marL="0">
              <a:buNone/>
            </a:pPr>
            <a:r>
              <a:rPr lang="en-US" sz="950" i="1" dirty="0">
                <a:solidFill>
                  <a:srgbClr val="5A6472"/>
                </a:solidFill>
                <a:latin typeface="Calibri" pitchFamily="34" charset="0"/>
                <a:cs typeface="Amiri" pitchFamily="2" charset="-78"/>
              </a:rPr>
              <a:t>How much is it?</a:t>
            </a:r>
            <a:endParaRPr lang="en-US" sz="950" dirty="0"/>
          </a:p>
        </p:txBody>
      </p:sp>
      <p:sp>
        <p:nvSpPr>
          <p:cNvPr id="27" name="Text 24"/>
          <p:cNvSpPr txBox="1"/>
          <p:nvPr/>
        </p:nvSpPr>
        <p:spPr>
          <a:xfrm>
            <a:off x="1051560" y="3004718"/>
            <a:ext cx="3566160" cy="682142"/>
          </a:xfrm>
          <a:prstGeom prst="rect">
            <a:avLst/>
          </a:prstGeom>
          <a:noFill/>
          <a:ln/>
        </p:spPr>
        <p:txBody>
          <a:bodyPr wrap="square" lIns="0" tIns="0" rIns="0" bIns="0" rtlCol="0" anchor="ctr"/>
          <a:lstStyle/>
          <a:p>
            <a:pPr rtl="1" algn="ctr" indent="0" marL="0">
              <a:buNone/>
            </a:pPr>
            <a:r>
              <a:rPr lang="ar-SA" altLang="en-US" sz="1600" b="1" dirty="0">
                <a:solidFill>
                  <a:srgbClr val="1B3B6F"/>
                </a:solidFill>
                <a:latin typeface="Amiri" pitchFamily="2" charset="-78"/>
                <a:ea typeface="Amiri" pitchFamily="2" charset="-78"/>
                <a:cs typeface="Amiri" pitchFamily="2" charset="-78"/>
              </a:rPr>
              <a:t>هٰذَا القَمِيصُ جَمِيلٌ.</a:t>
            </a:r>
            <a:endParaRPr lang="ar-SA" sz="1600" dirty="0"/>
          </a:p>
        </p:txBody>
      </p:sp>
      <p:sp>
        <p:nvSpPr>
          <p:cNvPr id="28" name="Text 25"/>
          <p:cNvSpPr txBox="1"/>
          <p:nvPr/>
        </p:nvSpPr>
        <p:spPr>
          <a:xfrm>
            <a:off x="566928" y="3004718"/>
            <a:ext cx="320040" cy="682142"/>
          </a:xfrm>
          <a:prstGeom prst="rect">
            <a:avLst/>
          </a:prstGeom>
          <a:noFill/>
          <a:ln/>
        </p:spPr>
        <p:txBody>
          <a:bodyPr wrap="square" lIns="0" tIns="0" rIns="0" bIns="0" rtlCol="0" anchor="ctr"/>
          <a:lstStyle/>
          <a:p>
            <a:pPr algn="l" indent="0" marL="0">
              <a:buNone/>
            </a:pPr>
            <a:r>
              <a:rPr lang="en-US" sz="1100" dirty="0">
                <a:solidFill>
                  <a:srgbClr val="5A6472"/>
                </a:solidFill>
                <a:latin typeface="Calibri" pitchFamily="34" charset="0"/>
                <a:cs typeface="Amiri" pitchFamily="2" charset="-78"/>
              </a:rPr>
              <a:t>2</a:t>
            </a:r>
            <a:endParaRPr lang="en-US" sz="1100" dirty="0"/>
          </a:p>
        </p:txBody>
      </p:sp>
      <p:sp>
        <p:nvSpPr>
          <p:cNvPr id="29" name="Shape 26"/>
          <p:cNvSpPr/>
          <p:nvPr/>
        </p:nvSpPr>
        <p:spPr>
          <a:xfrm>
            <a:off x="457200" y="3741725"/>
            <a:ext cx="11274552" cy="682142"/>
          </a:xfrm>
          <a:prstGeom prst="roundRect">
            <a:avLst>
              <a:gd name="adj" fmla="val 6702"/>
            </a:avLst>
          </a:prstGeom>
          <a:solidFill>
            <a:srgbClr val="FFFFFF"/>
          </a:solidFill>
          <a:ln w="9525">
            <a:solidFill>
              <a:srgbClr val="D8D0BF"/>
            </a:solidFill>
            <a:prstDash val="solid"/>
          </a:ln>
        </p:spPr>
      </p:sp>
      <p:sp>
        <p:nvSpPr>
          <p:cNvPr id="30" name="Text 27"/>
          <p:cNvSpPr txBox="1"/>
          <p:nvPr/>
        </p:nvSpPr>
        <p:spPr>
          <a:xfrm>
            <a:off x="4800600" y="3760013"/>
            <a:ext cx="6839712" cy="422928"/>
          </a:xfrm>
          <a:prstGeom prst="rect">
            <a:avLst/>
          </a:prstGeom>
          <a:noFill/>
          <a:ln/>
        </p:spPr>
        <p:txBody>
          <a:bodyPr wrap="square" lIns="0" tIns="0" rIns="0" bIns="0" rtlCol="0" anchor="ctr"/>
          <a:lstStyle/>
          <a:p>
            <a:pPr rtl="1" algn="ctr" indent="0" marL="0">
              <a:buNone/>
            </a:pPr>
            <a:r>
              <a:rPr lang="ar-SA" altLang="en-US" sz="1800" b="1" dirty="0">
                <a:solidFill>
                  <a:srgbClr val="1B3B6F"/>
                </a:solidFill>
                <a:latin typeface="Amiri" pitchFamily="2" charset="-78"/>
                <a:ea typeface="Amiri" pitchFamily="2" charset="-78"/>
                <a:cs typeface="Amiri" pitchFamily="2" charset="-78"/>
              </a:rPr>
              <a:t>هٰذَا غَالٍ! فِي السُّوقِ هُوَ أَرْخَصُ؛ ثَمَنُهُ خَمْسَةَ عَشَرَ جُنَيْهًا.</a:t>
            </a:r>
            <a:endParaRPr lang="ar-SA" sz="1800" dirty="0"/>
          </a:p>
        </p:txBody>
      </p:sp>
      <p:sp>
        <p:nvSpPr>
          <p:cNvPr id="31" name="Text 28"/>
          <p:cNvSpPr txBox="1"/>
          <p:nvPr/>
        </p:nvSpPr>
        <p:spPr>
          <a:xfrm>
            <a:off x="4754880" y="4151010"/>
            <a:ext cx="6931152" cy="259214"/>
          </a:xfrm>
          <a:prstGeom prst="rect">
            <a:avLst/>
          </a:prstGeom>
          <a:noFill/>
          <a:ln/>
        </p:spPr>
        <p:txBody>
          <a:bodyPr wrap="square" lIns="0" tIns="0" rIns="0" bIns="0" rtlCol="0" anchor="ctr"/>
          <a:lstStyle/>
          <a:p>
            <a:pPr algn="ctr" indent="0" marL="0">
              <a:buNone/>
            </a:pPr>
            <a:r>
              <a:rPr lang="en-US" sz="950" i="1" dirty="0">
                <a:solidFill>
                  <a:srgbClr val="5A6472"/>
                </a:solidFill>
                <a:latin typeface="Calibri" pitchFamily="34" charset="0"/>
                <a:cs typeface="Amiri" pitchFamily="2" charset="-78"/>
              </a:rPr>
              <a:t>That is expensive! In the market it is cheaper; it costs fifteen pounds.</a:t>
            </a:r>
            <a:endParaRPr lang="en-US" sz="950" dirty="0"/>
          </a:p>
        </p:txBody>
      </p:sp>
      <p:sp>
        <p:nvSpPr>
          <p:cNvPr id="32" name="Text 29"/>
          <p:cNvSpPr txBox="1"/>
          <p:nvPr/>
        </p:nvSpPr>
        <p:spPr>
          <a:xfrm>
            <a:off x="1051560" y="3741725"/>
            <a:ext cx="3566160" cy="682142"/>
          </a:xfrm>
          <a:prstGeom prst="rect">
            <a:avLst/>
          </a:prstGeom>
          <a:noFill/>
          <a:ln/>
        </p:spPr>
        <p:txBody>
          <a:bodyPr wrap="square" lIns="0" tIns="0" rIns="0" bIns="0" rtlCol="0" anchor="ctr"/>
          <a:lstStyle/>
          <a:p>
            <a:pPr rtl="1" algn="ctr" indent="0" marL="0">
              <a:buNone/>
            </a:pPr>
            <a:r>
              <a:rPr lang="ar-SA" altLang="en-US" sz="1600" b="1" dirty="0">
                <a:solidFill>
                  <a:srgbClr val="1B3B6F"/>
                </a:solidFill>
                <a:latin typeface="Amiri" pitchFamily="2" charset="-78"/>
                <a:ea typeface="Amiri" pitchFamily="2" charset="-78"/>
                <a:cs typeface="Amiri" pitchFamily="2" charset="-78"/>
              </a:rPr>
              <a:t>ثَمَنُهُ خَمْسَةٌ وَعِشْرُونَ جُنَيْهًا.</a:t>
            </a:r>
            <a:endParaRPr lang="ar-SA" sz="1600" dirty="0"/>
          </a:p>
        </p:txBody>
      </p:sp>
      <p:sp>
        <p:nvSpPr>
          <p:cNvPr id="33" name="Text 30"/>
          <p:cNvSpPr txBox="1"/>
          <p:nvPr/>
        </p:nvSpPr>
        <p:spPr>
          <a:xfrm>
            <a:off x="566928" y="3741725"/>
            <a:ext cx="320040" cy="682142"/>
          </a:xfrm>
          <a:prstGeom prst="rect">
            <a:avLst/>
          </a:prstGeom>
          <a:noFill/>
          <a:ln/>
        </p:spPr>
        <p:txBody>
          <a:bodyPr wrap="square" lIns="0" tIns="0" rIns="0" bIns="0" rtlCol="0" anchor="ctr"/>
          <a:lstStyle/>
          <a:p>
            <a:pPr algn="l" indent="0" marL="0">
              <a:buNone/>
            </a:pPr>
            <a:r>
              <a:rPr lang="en-US" sz="1100" dirty="0">
                <a:solidFill>
                  <a:srgbClr val="5A6472"/>
                </a:solidFill>
                <a:latin typeface="Calibri" pitchFamily="34" charset="0"/>
                <a:cs typeface="Amiri" pitchFamily="2" charset="-78"/>
              </a:rPr>
              <a:t>3</a:t>
            </a:r>
            <a:endParaRPr lang="en-US" sz="1100" dirty="0"/>
          </a:p>
        </p:txBody>
      </p:sp>
      <p:sp>
        <p:nvSpPr>
          <p:cNvPr id="34" name="Shape 31"/>
          <p:cNvSpPr/>
          <p:nvPr/>
        </p:nvSpPr>
        <p:spPr>
          <a:xfrm>
            <a:off x="457200" y="4478731"/>
            <a:ext cx="11274552" cy="682142"/>
          </a:xfrm>
          <a:prstGeom prst="roundRect">
            <a:avLst>
              <a:gd name="adj" fmla="val 6702"/>
            </a:avLst>
          </a:prstGeom>
          <a:solidFill>
            <a:srgbClr val="F4F1EA"/>
          </a:solidFill>
          <a:ln w="9525">
            <a:solidFill>
              <a:srgbClr val="D8D0BF"/>
            </a:solidFill>
            <a:prstDash val="solid"/>
          </a:ln>
        </p:spPr>
      </p:sp>
      <p:sp>
        <p:nvSpPr>
          <p:cNvPr id="35" name="Text 32"/>
          <p:cNvSpPr txBox="1"/>
          <p:nvPr/>
        </p:nvSpPr>
        <p:spPr>
          <a:xfrm>
            <a:off x="4800600" y="4497019"/>
            <a:ext cx="6839712" cy="422928"/>
          </a:xfrm>
          <a:prstGeom prst="rect">
            <a:avLst/>
          </a:prstGeom>
          <a:noFill/>
          <a:ln/>
        </p:spPr>
        <p:txBody>
          <a:bodyPr wrap="square" lIns="0" tIns="0" rIns="0" bIns="0" rtlCol="0" anchor="ctr"/>
          <a:lstStyle/>
          <a:p>
            <a:pPr rtl="1" algn="ctr" indent="0" marL="0">
              <a:buNone/>
            </a:pPr>
            <a:r>
              <a:rPr lang="ar-SA" altLang="en-US" sz="1800" b="1" dirty="0">
                <a:solidFill>
                  <a:srgbClr val="1B3B6F"/>
                </a:solidFill>
                <a:latin typeface="Amiri" pitchFamily="2" charset="-78"/>
                <a:ea typeface="Amiri" pitchFamily="2" charset="-78"/>
                <a:cs typeface="Amiri" pitchFamily="2" charset="-78"/>
              </a:rPr>
              <a:t>طَيِّبٌ، شُكْرًا. أَدْفَعُ بِالبِطَاقَةِ.</a:t>
            </a:r>
            <a:endParaRPr lang="ar-SA" sz="1800" dirty="0"/>
          </a:p>
        </p:txBody>
      </p:sp>
      <p:sp>
        <p:nvSpPr>
          <p:cNvPr id="36" name="Text 33"/>
          <p:cNvSpPr txBox="1"/>
          <p:nvPr/>
        </p:nvSpPr>
        <p:spPr>
          <a:xfrm>
            <a:off x="4754880" y="4888017"/>
            <a:ext cx="6931152" cy="259214"/>
          </a:xfrm>
          <a:prstGeom prst="rect">
            <a:avLst/>
          </a:prstGeom>
          <a:noFill/>
          <a:ln/>
        </p:spPr>
        <p:txBody>
          <a:bodyPr wrap="square" lIns="0" tIns="0" rIns="0" bIns="0" rtlCol="0" anchor="ctr"/>
          <a:lstStyle/>
          <a:p>
            <a:pPr algn="ctr" indent="0" marL="0">
              <a:buNone/>
            </a:pPr>
            <a:r>
              <a:rPr lang="en-US" sz="950" i="1" dirty="0">
                <a:solidFill>
                  <a:srgbClr val="5A6472"/>
                </a:solidFill>
                <a:latin typeface="Calibri" pitchFamily="34" charset="0"/>
                <a:cs typeface="Amiri" pitchFamily="2" charset="-78"/>
              </a:rPr>
              <a:t>OK, thank you. I will pay by card.</a:t>
            </a:r>
            <a:endParaRPr lang="en-US" sz="950" dirty="0"/>
          </a:p>
        </p:txBody>
      </p:sp>
      <p:sp>
        <p:nvSpPr>
          <p:cNvPr id="37" name="Text 34"/>
          <p:cNvSpPr txBox="1"/>
          <p:nvPr/>
        </p:nvSpPr>
        <p:spPr>
          <a:xfrm>
            <a:off x="1051560" y="4478731"/>
            <a:ext cx="3566160" cy="682142"/>
          </a:xfrm>
          <a:prstGeom prst="rect">
            <a:avLst/>
          </a:prstGeom>
          <a:noFill/>
          <a:ln/>
        </p:spPr>
        <p:txBody>
          <a:bodyPr wrap="square" lIns="0" tIns="0" rIns="0" bIns="0" rtlCol="0" anchor="ctr"/>
          <a:lstStyle/>
          <a:p>
            <a:pPr rtl="1" algn="ctr" indent="0" marL="0">
              <a:buNone/>
            </a:pPr>
            <a:r>
              <a:rPr lang="ar-SA" altLang="en-US" sz="1600" b="1" dirty="0">
                <a:solidFill>
                  <a:srgbClr val="1B3B6F"/>
                </a:solidFill>
                <a:latin typeface="Amiri" pitchFamily="2" charset="-78"/>
                <a:ea typeface="Amiri" pitchFamily="2" charset="-78"/>
                <a:cs typeface="Amiri" pitchFamily="2" charset="-78"/>
              </a:rPr>
              <a:t>عِنْدَنَا خَصْمٌ اليَوْمَ: عِشْرُونَ جُنَيْهًا فَقَطْ.</a:t>
            </a:r>
            <a:endParaRPr lang="ar-SA" sz="1600" dirty="0"/>
          </a:p>
        </p:txBody>
      </p:sp>
      <p:sp>
        <p:nvSpPr>
          <p:cNvPr id="38" name="Text 35"/>
          <p:cNvSpPr txBox="1"/>
          <p:nvPr/>
        </p:nvSpPr>
        <p:spPr>
          <a:xfrm>
            <a:off x="566928" y="4478731"/>
            <a:ext cx="320040" cy="682142"/>
          </a:xfrm>
          <a:prstGeom prst="rect">
            <a:avLst/>
          </a:prstGeom>
          <a:noFill/>
          <a:ln/>
        </p:spPr>
        <p:txBody>
          <a:bodyPr wrap="square" lIns="0" tIns="0" rIns="0" bIns="0" rtlCol="0" anchor="ctr"/>
          <a:lstStyle/>
          <a:p>
            <a:pPr algn="l" indent="0" marL="0">
              <a:buNone/>
            </a:pPr>
            <a:r>
              <a:rPr lang="en-US" sz="1100" dirty="0">
                <a:solidFill>
                  <a:srgbClr val="5A6472"/>
                </a:solidFill>
                <a:latin typeface="Calibri" pitchFamily="34" charset="0"/>
                <a:cs typeface="Amiri" pitchFamily="2" charset="-78"/>
              </a:rPr>
              <a:t>4</a:t>
            </a:r>
            <a:endParaRPr lang="en-US" sz="1100" dirty="0"/>
          </a:p>
        </p:txBody>
      </p:sp>
      <p:sp>
        <p:nvSpPr>
          <p:cNvPr id="39" name="Shape 36"/>
          <p:cNvSpPr/>
          <p:nvPr/>
        </p:nvSpPr>
        <p:spPr>
          <a:xfrm>
            <a:off x="457200" y="5215738"/>
            <a:ext cx="11274552" cy="682142"/>
          </a:xfrm>
          <a:prstGeom prst="roundRect">
            <a:avLst>
              <a:gd name="adj" fmla="val 6702"/>
            </a:avLst>
          </a:prstGeom>
          <a:solidFill>
            <a:srgbClr val="FFFFFF"/>
          </a:solidFill>
          <a:ln w="9525">
            <a:solidFill>
              <a:srgbClr val="D8D0BF"/>
            </a:solidFill>
            <a:prstDash val="solid"/>
          </a:ln>
        </p:spPr>
      </p:sp>
      <p:sp>
        <p:nvSpPr>
          <p:cNvPr id="40" name="Text 37"/>
          <p:cNvSpPr txBox="1"/>
          <p:nvPr/>
        </p:nvSpPr>
        <p:spPr>
          <a:xfrm>
            <a:off x="4800600" y="5234026"/>
            <a:ext cx="6839712" cy="422928"/>
          </a:xfrm>
          <a:prstGeom prst="rect">
            <a:avLst/>
          </a:prstGeom>
          <a:noFill/>
          <a:ln/>
        </p:spPr>
        <p:txBody>
          <a:bodyPr wrap="square" lIns="0" tIns="0" rIns="0" bIns="0" rtlCol="0" anchor="ctr"/>
          <a:lstStyle/>
          <a:p>
            <a:pPr rtl="1" algn="ctr" indent="0" marL="0">
              <a:buNone/>
            </a:pPr>
            <a:r>
              <a:rPr lang="ar-SA" altLang="en-US" sz="1800" b="1" dirty="0">
                <a:solidFill>
                  <a:srgbClr val="1B3B6F"/>
                </a:solidFill>
                <a:latin typeface="Amiri" pitchFamily="2" charset="-78"/>
                <a:ea typeface="Amiri" pitchFamily="2" charset="-78"/>
                <a:cs typeface="Amiri" pitchFamily="2" charset="-78"/>
              </a:rPr>
              <a:t>مِنْ مَزَايَاهُ أَنَّهُ نَظِيفٌ وَحَدِيثٌ، لٰكِنَّ الأَسْعَارَ غَالِيَةٌ.</a:t>
            </a:r>
            <a:endParaRPr lang="ar-SA" sz="1800" dirty="0"/>
          </a:p>
        </p:txBody>
      </p:sp>
      <p:sp>
        <p:nvSpPr>
          <p:cNvPr id="41" name="Text 38"/>
          <p:cNvSpPr txBox="1"/>
          <p:nvPr/>
        </p:nvSpPr>
        <p:spPr>
          <a:xfrm>
            <a:off x="4754880" y="5625023"/>
            <a:ext cx="6931152" cy="259214"/>
          </a:xfrm>
          <a:prstGeom prst="rect">
            <a:avLst/>
          </a:prstGeom>
          <a:noFill/>
          <a:ln/>
        </p:spPr>
        <p:txBody>
          <a:bodyPr wrap="square" lIns="0" tIns="0" rIns="0" bIns="0" rtlCol="0" anchor="ctr"/>
          <a:lstStyle/>
          <a:p>
            <a:pPr algn="ctr" indent="0" marL="0">
              <a:buNone/>
            </a:pPr>
            <a:r>
              <a:rPr lang="en-US" sz="950" i="1" dirty="0">
                <a:solidFill>
                  <a:srgbClr val="5A6472"/>
                </a:solidFill>
                <a:latin typeface="Calibri" pitchFamily="34" charset="0"/>
                <a:cs typeface="Amiri" pitchFamily="2" charset="-78"/>
              </a:rPr>
              <a:t>One advantage is that it is clean and modern, but the prices are high.</a:t>
            </a:r>
            <a:endParaRPr lang="en-US" sz="950" dirty="0"/>
          </a:p>
        </p:txBody>
      </p:sp>
      <p:sp>
        <p:nvSpPr>
          <p:cNvPr id="42" name="Text 39"/>
          <p:cNvSpPr txBox="1"/>
          <p:nvPr/>
        </p:nvSpPr>
        <p:spPr>
          <a:xfrm>
            <a:off x="1051560" y="5215738"/>
            <a:ext cx="3566160" cy="682142"/>
          </a:xfrm>
          <a:prstGeom prst="rect">
            <a:avLst/>
          </a:prstGeom>
          <a:noFill/>
          <a:ln/>
        </p:spPr>
        <p:txBody>
          <a:bodyPr wrap="square" lIns="0" tIns="0" rIns="0" bIns="0" rtlCol="0" anchor="ctr"/>
          <a:lstStyle/>
          <a:p>
            <a:pPr rtl="1" algn="ctr" indent="0" marL="0">
              <a:buNone/>
            </a:pPr>
            <a:r>
              <a:rPr lang="ar-SA" altLang="en-US" sz="1600" b="1" dirty="0">
                <a:solidFill>
                  <a:srgbClr val="1B3B6F"/>
                </a:solidFill>
                <a:latin typeface="Amiri" pitchFamily="2" charset="-78"/>
                <a:ea typeface="Amiri" pitchFamily="2" charset="-78"/>
                <a:cs typeface="Amiri" pitchFamily="2" charset="-78"/>
              </a:rPr>
              <a:t>مَا رَأْيُكَ فِي مَرْكَزِنَا التِّجَارِيِّ؟</a:t>
            </a:r>
            <a:endParaRPr lang="ar-SA" sz="1600" dirty="0"/>
          </a:p>
        </p:txBody>
      </p:sp>
      <p:sp>
        <p:nvSpPr>
          <p:cNvPr id="43" name="Text 40"/>
          <p:cNvSpPr txBox="1"/>
          <p:nvPr/>
        </p:nvSpPr>
        <p:spPr>
          <a:xfrm>
            <a:off x="566928" y="5215738"/>
            <a:ext cx="320040" cy="682142"/>
          </a:xfrm>
          <a:prstGeom prst="rect">
            <a:avLst/>
          </a:prstGeom>
          <a:noFill/>
          <a:ln/>
        </p:spPr>
        <p:txBody>
          <a:bodyPr wrap="square" lIns="0" tIns="0" rIns="0" bIns="0" rtlCol="0" anchor="ctr"/>
          <a:lstStyle/>
          <a:p>
            <a:pPr algn="l" indent="0" marL="0">
              <a:buNone/>
            </a:pPr>
            <a:r>
              <a:rPr lang="en-US" sz="1100" dirty="0">
                <a:solidFill>
                  <a:srgbClr val="5A6472"/>
                </a:solidFill>
                <a:latin typeface="Calibri" pitchFamily="34" charset="0"/>
                <a:cs typeface="Amiri" pitchFamily="2" charset="-78"/>
              </a:rPr>
              <a:t>5</a:t>
            </a:r>
            <a:endParaRPr lang="en-US" sz="1100" dirty="0"/>
          </a:p>
        </p:txBody>
      </p:sp>
      <p:sp>
        <p:nvSpPr>
          <p:cNvPr id="44" name="Text 41"/>
          <p:cNvSpPr txBox="1"/>
          <p:nvPr/>
        </p:nvSpPr>
        <p:spPr>
          <a:xfrm>
            <a:off x="457200" y="5943600"/>
            <a:ext cx="11274552" cy="365760"/>
          </a:xfrm>
          <a:prstGeom prst="rect">
            <a:avLst/>
          </a:prstGeom>
          <a:noFill/>
          <a:ln/>
        </p:spPr>
        <p:txBody>
          <a:bodyPr wrap="square" lIns="0" tIns="0" rIns="0" bIns="0" rtlCol="0" anchor="ctr"/>
          <a:lstStyle/>
          <a:p>
            <a:pPr algn="l" indent="0" marL="0">
              <a:buNone/>
            </a:pPr>
            <a:r>
              <a:rPr lang="en-US" sz="1150" b="1" dirty="0">
                <a:solidFill>
                  <a:srgbClr val="1B3B6F"/>
                </a:solidFill>
                <a:latin typeface="Calibri" pitchFamily="34" charset="0"/>
                <a:cs typeface="Amiri" pitchFamily="2" charset="-78"/>
              </a:rPr>
              <a:t>Did you answer every task in a full sentence? Find one phrase from each lesson in the models and say it aloud.</a:t>
            </a:r>
            <a:endParaRPr lang="en-US" sz="1150" dirty="0"/>
          </a:p>
        </p:txBody>
      </p:sp>
      <p:sp>
        <p:nvSpPr>
          <p:cNvPr id="45" name="Text 42"/>
          <p:cNvSpPr txBox="1"/>
          <p:nvPr/>
        </p:nvSpPr>
        <p:spPr>
          <a:xfrm>
            <a:off x="10360152" y="6455664"/>
            <a:ext cx="1371600" cy="219456"/>
          </a:xfrm>
          <a:prstGeom prst="rect">
            <a:avLst/>
          </a:prstGeom>
          <a:noFill/>
          <a:ln/>
        </p:spPr>
        <p:txBody>
          <a:bodyPr wrap="square" lIns="0" tIns="0" rIns="0" bIns="0" rtlCol="0" anchor="ctr"/>
          <a:lstStyle/>
          <a:p>
            <a:pPr algn="r" indent="0" marL="0">
              <a:buNone/>
            </a:pPr>
            <a:r>
              <a:rPr lang="en-US" sz="850" dirty="0">
                <a:solidFill>
                  <a:srgbClr val="8A93A0"/>
                </a:solidFill>
                <a:latin typeface="Calibri" pitchFamily="34" charset="0"/>
                <a:cs typeface="Amiri" pitchFamily="2" charset="-78"/>
              </a:rPr>
              <a:t>21 / 24</a:t>
            </a:r>
            <a:endParaRPr lang="en-US" sz="850" dirty="0"/>
          </a:p>
        </p:txBody>
      </p:sp>
    </p:spTree>
  </p:cSld>
  <p:clrMapOvr>
    <a:masterClrMapping/>
  </p:clrMapOvr>
</p:sld>
</file>

<file path=ppt/slides/slide22.xml><?xml version="1.0" encoding="utf-8"?>
<p:sld xmlns:a="http://schemas.openxmlformats.org/drawingml/2006/main" xmlns:r="http://schemas.openxmlformats.org/officeDocument/2006/relationships" xmlns:p="http://schemas.openxmlformats.org/presentationml/2006/main">
  <p:cSld name="Slide 22">
    <p:bg>
      <p:bgPr>
        <a:solidFill>
          <a:srgbClr val="FFFDF8"/>
        </a:solidFill>
      </p:bgPr>
    </p:bg>
    <p:spTree>
      <p:nvGrpSpPr>
        <p:cNvPr id="1" name=""/>
        <p:cNvGrpSpPr/>
        <p:nvPr/>
      </p:nvGrpSpPr>
      <p:grpSpPr>
        <a:xfrm>
          <a:off x="0" y="0"/>
          <a:ext cx="0" cy="0"/>
          <a:chOff x="0" y="0"/>
          <a:chExt cx="0" cy="0"/>
        </a:xfrm>
      </p:grpSpPr>
      <p:sp>
        <p:nvSpPr>
          <p:cNvPr id="2" name="Shape 0"/>
          <p:cNvSpPr/>
          <p:nvPr/>
        </p:nvSpPr>
        <p:spPr>
          <a:xfrm>
            <a:off x="457200" y="237744"/>
            <a:ext cx="420624" cy="420624"/>
          </a:xfrm>
          <a:prstGeom prst="ellipse">
            <a:avLst/>
          </a:prstGeom>
          <a:solidFill>
            <a:srgbClr val="1B3B6F"/>
          </a:solidFill>
          <a:ln w="12700">
            <a:solidFill>
              <a:srgbClr val="D4AF37"/>
            </a:solidFill>
            <a:prstDash val="solid"/>
          </a:ln>
        </p:spPr>
      </p:sp>
      <p:sp>
        <p:nvSpPr>
          <p:cNvPr id="3" name="Text 1"/>
          <p:cNvSpPr txBox="1"/>
          <p:nvPr/>
        </p:nvSpPr>
        <p:spPr>
          <a:xfrm>
            <a:off x="457200" y="219456"/>
            <a:ext cx="420624" cy="420624"/>
          </a:xfrm>
          <a:prstGeom prst="rect">
            <a:avLst/>
          </a:prstGeom>
          <a:noFill/>
          <a:ln/>
        </p:spPr>
        <p:txBody>
          <a:bodyPr wrap="square" lIns="0" tIns="0" rIns="0" bIns="0" rtlCol="0" anchor="ctr"/>
          <a:lstStyle/>
          <a:p>
            <a:pPr rtl="1" algn="ctr" indent="0" marL="0">
              <a:buNone/>
            </a:pPr>
            <a:r>
              <a:rPr lang="ar-SA" altLang="en-US" sz="1800" b="1" dirty="0">
                <a:solidFill>
                  <a:srgbClr val="D4AF37"/>
                </a:solidFill>
                <a:latin typeface="Amiri" pitchFamily="2" charset="-78"/>
                <a:ea typeface="Amiri" pitchFamily="2" charset="-78"/>
                <a:cs typeface="Amiri" pitchFamily="2" charset="-78"/>
              </a:rPr>
              <a:t>م</a:t>
            </a:r>
            <a:endParaRPr lang="ar-SA" sz="1800" dirty="0"/>
          </a:p>
        </p:txBody>
      </p:sp>
      <p:sp>
        <p:nvSpPr>
          <p:cNvPr id="4" name="Text 2"/>
          <p:cNvSpPr txBox="1"/>
          <p:nvPr/>
        </p:nvSpPr>
        <p:spPr>
          <a:xfrm>
            <a:off x="960120" y="219456"/>
            <a:ext cx="3657600" cy="256032"/>
          </a:xfrm>
          <a:prstGeom prst="rect">
            <a:avLst/>
          </a:prstGeom>
          <a:noFill/>
          <a:ln/>
        </p:spPr>
        <p:txBody>
          <a:bodyPr wrap="square" lIns="0" tIns="0" rIns="0" bIns="0" rtlCol="0" anchor="ctr"/>
          <a:lstStyle/>
          <a:p>
            <a:pPr indent="0" marL="0">
              <a:buNone/>
            </a:pPr>
            <a:r>
              <a:rPr lang="en-US" sz="1200" b="1" dirty="0">
                <a:solidFill>
                  <a:srgbClr val="1B3B6F"/>
                </a:solidFill>
                <a:latin typeface="Cambria" pitchFamily="34" charset="0"/>
                <a:cs typeface="Amiri" pitchFamily="2" charset="-78"/>
              </a:rPr>
              <a:t>Al Madina Online School</a:t>
            </a:r>
            <a:endParaRPr lang="en-US" sz="1200" dirty="0"/>
          </a:p>
        </p:txBody>
      </p:sp>
      <p:sp>
        <p:nvSpPr>
          <p:cNvPr id="5" name="Text 3"/>
          <p:cNvSpPr txBox="1"/>
          <p:nvPr/>
        </p:nvSpPr>
        <p:spPr>
          <a:xfrm>
            <a:off x="960120" y="457200"/>
            <a:ext cx="4572000" cy="182880"/>
          </a:xfrm>
          <a:prstGeom prst="rect">
            <a:avLst/>
          </a:prstGeom>
          <a:noFill/>
          <a:ln/>
        </p:spPr>
        <p:txBody>
          <a:bodyPr wrap="square" lIns="0" tIns="0" rIns="0" bIns="0" rtlCol="0" anchor="ctr"/>
          <a:lstStyle/>
          <a:p>
            <a:pPr indent="0" marL="0">
              <a:buNone/>
            </a:pPr>
            <a:r>
              <a:rPr lang="en-US" sz="800" b="1" spc="200" kern="0" dirty="0">
                <a:solidFill>
                  <a:srgbClr val="8A6D1E"/>
                </a:solidFill>
                <a:latin typeface="Calibri" pitchFamily="34" charset="0"/>
                <a:cs typeface="Amiri" pitchFamily="2" charset="-78"/>
              </a:rPr>
              <a:t>ARABIC DEPARTMENT · MIFTAH ARABIC · IGCSE 0544</a:t>
            </a:r>
            <a:endParaRPr lang="en-US" sz="800" dirty="0"/>
          </a:p>
        </p:txBody>
      </p:sp>
      <p:sp>
        <p:nvSpPr>
          <p:cNvPr id="6" name="Shape 4"/>
          <p:cNvSpPr/>
          <p:nvPr/>
        </p:nvSpPr>
        <p:spPr>
          <a:xfrm>
            <a:off x="8897112" y="274320"/>
            <a:ext cx="2834640" cy="329184"/>
          </a:xfrm>
          <a:prstGeom prst="roundRect">
            <a:avLst>
              <a:gd name="adj" fmla="val 50000"/>
            </a:avLst>
          </a:prstGeom>
          <a:solidFill>
            <a:srgbClr val="1B3B6F"/>
          </a:solidFill>
          <a:ln w="12700">
            <a:solidFill>
              <a:srgbClr val="1B3B6F"/>
            </a:solidFill>
            <a:prstDash val="solid"/>
          </a:ln>
        </p:spPr>
      </p:sp>
      <p:sp>
        <p:nvSpPr>
          <p:cNvPr id="7" name="Text 5"/>
          <p:cNvSpPr txBox="1"/>
          <p:nvPr/>
        </p:nvSpPr>
        <p:spPr>
          <a:xfrm>
            <a:off x="8897112" y="274320"/>
            <a:ext cx="2834640" cy="329184"/>
          </a:xfrm>
          <a:prstGeom prst="rect">
            <a:avLst/>
          </a:prstGeom>
          <a:noFill/>
          <a:ln/>
        </p:spPr>
        <p:txBody>
          <a:bodyPr wrap="square" lIns="0" tIns="0" rIns="0" bIns="0" rtlCol="0" anchor="ctr"/>
          <a:lstStyle/>
          <a:p>
            <a:pPr algn="ctr" indent="0" marL="0">
              <a:buNone/>
            </a:pPr>
            <a:r>
              <a:rPr lang="en-US" sz="950" b="1" spc="100" kern="0" dirty="0">
                <a:solidFill>
                  <a:srgbClr val="FFFFFF"/>
                </a:solidFill>
                <a:latin typeface="Calibri" pitchFamily="34" charset="0"/>
                <a:cs typeface="Amiri" pitchFamily="2" charset="-78"/>
              </a:rPr>
              <a:t>F6-W03 · Apply workshop</a:t>
            </a:r>
            <a:endParaRPr lang="en-US" sz="950" dirty="0"/>
          </a:p>
        </p:txBody>
      </p:sp>
      <p:sp>
        <p:nvSpPr>
          <p:cNvPr id="8" name="Shape 6"/>
          <p:cNvSpPr/>
          <p:nvPr/>
        </p:nvSpPr>
        <p:spPr>
          <a:xfrm>
            <a:off x="7143293" y="274320"/>
            <a:ext cx="1616659" cy="329184"/>
          </a:xfrm>
          <a:prstGeom prst="roundRect">
            <a:avLst>
              <a:gd name="adj" fmla="val 50000"/>
            </a:avLst>
          </a:prstGeom>
          <a:solidFill>
            <a:srgbClr val="8A6D1E"/>
          </a:solidFill>
          <a:ln w="12700">
            <a:solidFill>
              <a:srgbClr val="8A6D1E"/>
            </a:solidFill>
            <a:prstDash val="solid"/>
          </a:ln>
        </p:spPr>
      </p:sp>
      <p:sp>
        <p:nvSpPr>
          <p:cNvPr id="9" name="Text 7"/>
          <p:cNvSpPr txBox="1"/>
          <p:nvPr/>
        </p:nvSpPr>
        <p:spPr>
          <a:xfrm>
            <a:off x="7143293" y="274320"/>
            <a:ext cx="1616659" cy="329184"/>
          </a:xfrm>
          <a:prstGeom prst="rect">
            <a:avLst/>
          </a:prstGeom>
          <a:noFill/>
          <a:ln/>
        </p:spPr>
        <p:txBody>
          <a:bodyPr wrap="square" lIns="0" tIns="0" rIns="0" bIns="0" rtlCol="0" anchor="ctr"/>
          <a:lstStyle/>
          <a:p>
            <a:pPr algn="ctr" indent="0" marL="0">
              <a:buNone/>
            </a:pPr>
            <a:r>
              <a:rPr lang="en-US" sz="900" b="1" spc="100" kern="0" dirty="0">
                <a:solidFill>
                  <a:srgbClr val="FFFFFF"/>
                </a:solidFill>
                <a:latin typeface="Calibri" pitchFamily="34" charset="0"/>
                <a:cs typeface="Amiri" pitchFamily="2" charset="-78"/>
              </a:rPr>
              <a:t>FEEDBACK · 2 MIN</a:t>
            </a:r>
            <a:endParaRPr lang="en-US" sz="900" dirty="0"/>
          </a:p>
        </p:txBody>
      </p:sp>
      <p:sp>
        <p:nvSpPr>
          <p:cNvPr id="10" name="Text 8"/>
          <p:cNvSpPr txBox="1"/>
          <p:nvPr/>
        </p:nvSpPr>
        <p:spPr>
          <a:xfrm>
            <a:off x="457200" y="822960"/>
            <a:ext cx="6949440" cy="237744"/>
          </a:xfrm>
          <a:prstGeom prst="rect">
            <a:avLst/>
          </a:prstGeom>
          <a:noFill/>
          <a:ln/>
        </p:spPr>
        <p:txBody>
          <a:bodyPr wrap="square" lIns="0" tIns="0" rIns="0" bIns="0" rtlCol="0" anchor="ctr"/>
          <a:lstStyle/>
          <a:p>
            <a:pPr algn="l" indent="0" marL="0">
              <a:buNone/>
            </a:pPr>
            <a:r>
              <a:rPr lang="en-US" sz="1000" b="1" spc="300" kern="0" dirty="0">
                <a:solidFill>
                  <a:srgbClr val="8A6D1E"/>
                </a:solidFill>
                <a:latin typeface="Calibri" pitchFamily="34" charset="0"/>
                <a:cs typeface="Amiri" pitchFamily="2" charset="-78"/>
              </a:rPr>
              <a:t>CHECK YOURSELF · WRITE YOUR TEXT · A STRONG ANSWER</a:t>
            </a:r>
            <a:endParaRPr lang="en-US" sz="1000" dirty="0"/>
          </a:p>
        </p:txBody>
      </p:sp>
      <p:sp>
        <p:nvSpPr>
          <p:cNvPr id="11" name="Text 9"/>
          <p:cNvSpPr txBox="1"/>
          <p:nvPr/>
        </p:nvSpPr>
        <p:spPr>
          <a:xfrm>
            <a:off x="457200" y="1033272"/>
            <a:ext cx="6949440" cy="566928"/>
          </a:xfrm>
          <a:prstGeom prst="rect">
            <a:avLst/>
          </a:prstGeom>
          <a:noFill/>
          <a:ln/>
        </p:spPr>
        <p:txBody>
          <a:bodyPr wrap="square" lIns="0" tIns="0" rIns="0" bIns="0" rtlCol="0" anchor="ctr"/>
          <a:lstStyle/>
          <a:p>
            <a:pPr algn="l" indent="0" marL="0">
              <a:buNone/>
            </a:pPr>
            <a:r>
              <a:rPr lang="en-US" sz="2400" b="1" dirty="0">
                <a:solidFill>
                  <a:srgbClr val="1B3B6F"/>
                </a:solidFill>
                <a:latin typeface="Cambria" pitchFamily="34" charset="0"/>
                <a:cs typeface="Amiri" pitchFamily="2" charset="-78"/>
              </a:rPr>
              <a:t>Writing: compare with a strong answer</a:t>
            </a:r>
            <a:endParaRPr lang="en-US" sz="2400" dirty="0"/>
          </a:p>
        </p:txBody>
      </p:sp>
      <p:sp>
        <p:nvSpPr>
          <p:cNvPr id="12" name="Text 10"/>
          <p:cNvSpPr txBox="1"/>
          <p:nvPr/>
        </p:nvSpPr>
        <p:spPr>
          <a:xfrm>
            <a:off x="7498080" y="868680"/>
            <a:ext cx="4233672" cy="749808"/>
          </a:xfrm>
          <a:prstGeom prst="rect">
            <a:avLst/>
          </a:prstGeom>
          <a:noFill/>
          <a:ln/>
        </p:spPr>
        <p:txBody>
          <a:bodyPr wrap="square" lIns="0" tIns="0" rIns="0" bIns="0" rtlCol="0" anchor="ctr"/>
          <a:lstStyle/>
          <a:p>
            <a:pPr rtl="1" algn="r" indent="0" marL="0">
              <a:buNone/>
            </a:pPr>
            <a:r>
              <a:rPr lang="ar-SA" altLang="en-US" sz="2800" b="1" dirty="0">
                <a:solidFill>
                  <a:srgbClr val="8A6D1E"/>
                </a:solidFill>
                <a:latin typeface="Amiri" pitchFamily="2" charset="-78"/>
                <a:ea typeface="Amiri" pitchFamily="2" charset="-78"/>
                <a:cs typeface="Amiri" pitchFamily="2" charset="-78"/>
              </a:rPr>
              <a:t>قَارِنْ إِجَابَتَكَ</a:t>
            </a:r>
            <a:endParaRPr lang="ar-SA" sz="2800" dirty="0"/>
          </a:p>
        </p:txBody>
      </p:sp>
      <p:sp>
        <p:nvSpPr>
          <p:cNvPr id="13" name="Text 11"/>
          <p:cNvSpPr txBox="1"/>
          <p:nvPr/>
        </p:nvSpPr>
        <p:spPr>
          <a:xfrm>
            <a:off x="457200" y="6455664"/>
            <a:ext cx="6400800" cy="219456"/>
          </a:xfrm>
          <a:prstGeom prst="rect">
            <a:avLst/>
          </a:prstGeom>
          <a:noFill/>
          <a:ln/>
        </p:spPr>
        <p:txBody>
          <a:bodyPr wrap="square" lIns="0" tIns="0" rIns="0" bIns="0" rtlCol="0" anchor="ctr"/>
          <a:lstStyle/>
          <a:p>
            <a:pPr indent="0" marL="0">
              <a:buNone/>
            </a:pPr>
            <a:r>
              <a:rPr lang="en-US" sz="850" dirty="0">
                <a:solidFill>
                  <a:srgbClr val="8A93A0"/>
                </a:solidFill>
                <a:latin typeface="Calibri" pitchFamily="34" charset="0"/>
                <a:cs typeface="Amiri" pitchFamily="2" charset="-78"/>
              </a:rPr>
              <a:t>Miftah Arabic · Foundation F6 · My Town and Transport · F6-W03 · Apply workshop (F6-L05 + F6-L06)</a:t>
            </a:r>
            <a:endParaRPr lang="en-US" sz="850" dirty="0"/>
          </a:p>
        </p:txBody>
      </p:sp>
      <p:sp>
        <p:nvSpPr>
          <p:cNvPr id="15" name="Shape 12"/>
          <p:cNvSpPr/>
          <p:nvPr/>
        </p:nvSpPr>
        <p:spPr>
          <a:xfrm>
            <a:off x="457200" y="1810512"/>
            <a:ext cx="11274552" cy="3246120"/>
          </a:xfrm>
          <a:prstGeom prst="roundRect">
            <a:avLst>
              <a:gd name="adj" fmla="val 2254"/>
            </a:avLst>
          </a:prstGeom>
          <a:solidFill>
            <a:srgbClr val="FFFFFF"/>
          </a:solidFill>
          <a:ln w="9525">
            <a:solidFill>
              <a:srgbClr val="D8D0BF"/>
            </a:solidFill>
            <a:prstDash val="solid"/>
          </a:ln>
          <a:effectLst>
            <a:outerShdw sx="100000" sy="100000" kx="0" ky="0" algn="bl" rotWithShape="0" blurRad="50800" dist="19050" dir="5400000">
              <a:srgbClr val="000000">
                <a:alpha val="10000"/>
              </a:srgbClr>
            </a:outerShdw>
          </a:effectLst>
        </p:spPr>
      </p:sp>
      <p:sp>
        <p:nvSpPr>
          <p:cNvPr id="16" name="Text 13"/>
          <p:cNvSpPr txBox="1"/>
          <p:nvPr/>
        </p:nvSpPr>
        <p:spPr>
          <a:xfrm>
            <a:off x="685800" y="1938528"/>
            <a:ext cx="10817352" cy="2990088"/>
          </a:xfrm>
          <a:prstGeom prst="rect">
            <a:avLst/>
          </a:prstGeom>
          <a:noFill/>
          <a:ln/>
        </p:spPr>
        <p:txBody>
          <a:bodyPr wrap="square" lIns="0" tIns="0" rIns="0" bIns="0" rtlCol="0" anchor="ctr"/>
          <a:lstStyle/>
          <a:p>
            <a:pPr rtl="1" algn="r" indent="0" marL="0">
              <a:lnSpc>
                <a:spcPct val="120000"/>
              </a:lnSpc>
              <a:buNone/>
            </a:pPr>
            <a:r>
              <a:rPr lang="ar-SA" altLang="en-US" sz="2600" dirty="0">
                <a:solidFill>
                  <a:srgbClr val="1F2A37"/>
                </a:solidFill>
                <a:latin typeface="Amiri" pitchFamily="2" charset="-78"/>
                <a:ea typeface="Amiri" pitchFamily="2" charset="-78"/>
                <a:cs typeface="Amiri" pitchFamily="2" charset="-78"/>
              </a:rPr>
              <a:t>فِي مَدِينَتِي سُوقٌ قَدِيمٌ وَمَرْكَزٌ تِجَارِيٌّ حَدِيثٌ. فِي السُّوقِ ثَمَنُ الحَقِيبَةِ عَشَرَةُ جُنَيْهَاتٍ، وَفِي المَرْكَزِ ثَمَنُهَا ثَلَاثُونَ جُنَيْهًا. السُّوقُ أَرْخَصُ مِنَ المَرْكَزِ، وَهُوَ نَشِيطٌ وَجَمِيلٌ، لٰكِنَّهُ مُكْتَظٌّ وَصَاخِبٌ. مِنْ مَزَايَا المَرْكَزِ أَنَّهُ نَظِيفٌ وَآمِنٌ، وَيُمْكِنُ أَنْ تَدْفَعَ بِالبِطَاقَةِ، وَمِنْ عُيُوبِهِ أَنَّهُ غَالٍ. بِصِفَةٍ عَامَّةٍ أُفَضِّلُ السُّوقَ لِأَنَّ الأَسْعَارَ رَخِيصَةٌ.</a:t>
            </a:r>
            <a:endParaRPr lang="ar-SA" sz="2600" dirty="0"/>
          </a:p>
        </p:txBody>
      </p:sp>
      <p:sp>
        <p:nvSpPr>
          <p:cNvPr id="17" name="Shape 14"/>
          <p:cNvSpPr/>
          <p:nvPr/>
        </p:nvSpPr>
        <p:spPr>
          <a:xfrm>
            <a:off x="457200" y="5166360"/>
            <a:ext cx="11274552" cy="1024128"/>
          </a:xfrm>
          <a:prstGeom prst="roundRect">
            <a:avLst>
              <a:gd name="adj" fmla="val 7143"/>
            </a:avLst>
          </a:prstGeom>
          <a:solidFill>
            <a:srgbClr val="F4F1EA"/>
          </a:solidFill>
          <a:ln w="9525">
            <a:solidFill>
              <a:srgbClr val="F4F1EA"/>
            </a:solidFill>
            <a:prstDash val="solid"/>
          </a:ln>
        </p:spPr>
      </p:sp>
      <p:sp>
        <p:nvSpPr>
          <p:cNvPr id="18" name="Text 15"/>
          <p:cNvSpPr txBox="1"/>
          <p:nvPr/>
        </p:nvSpPr>
        <p:spPr>
          <a:xfrm>
            <a:off x="640080" y="5202936"/>
            <a:ext cx="10908792" cy="950976"/>
          </a:xfrm>
          <a:prstGeom prst="rect">
            <a:avLst/>
          </a:prstGeom>
          <a:noFill/>
          <a:ln/>
        </p:spPr>
        <p:txBody>
          <a:bodyPr wrap="square" lIns="0" tIns="0" rIns="0" bIns="0" rtlCol="0" anchor="t"/>
          <a:lstStyle/>
          <a:p>
            <a:pPr algn="l" indent="0" marL="0">
              <a:buNone/>
            </a:pPr>
            <a:r>
              <a:rPr lang="en-US" sz="1150" i="1" dirty="0">
                <a:solidFill>
                  <a:srgbClr val="5A6472"/>
                </a:solidFill>
                <a:latin typeface="Calibri" pitchFamily="34" charset="0"/>
                <a:cs typeface="Amiri" pitchFamily="2" charset="-78"/>
              </a:rPr>
              <a:t>“In my town there is an old market and a modern shopping centre. In the market a bag costs ten pounds, and in the centre it costs thirty pounds. The market is cheaper than the centre, and it is lively and beautiful, but it is crowded and noisy. One advantage of the centre is that it is clean and safe, and you can pay by card; one disadvantage is that it is expensive. Overall I prefer the market because the prices are cheap.”</a:t>
            </a:r>
            <a:endParaRPr lang="en-US" sz="1150" dirty="0"/>
          </a:p>
        </p:txBody>
      </p:sp>
      <p:sp>
        <p:nvSpPr>
          <p:cNvPr id="19" name="Text 16"/>
          <p:cNvSpPr txBox="1"/>
          <p:nvPr/>
        </p:nvSpPr>
        <p:spPr>
          <a:xfrm>
            <a:off x="457200" y="6053328"/>
            <a:ext cx="2194560" cy="256032"/>
          </a:xfrm>
          <a:prstGeom prst="rect">
            <a:avLst/>
          </a:prstGeom>
          <a:noFill/>
          <a:ln/>
        </p:spPr>
        <p:txBody>
          <a:bodyPr wrap="square" lIns="0" tIns="0" rIns="0" bIns="0" rtlCol="0" anchor="ctr"/>
          <a:lstStyle/>
          <a:p>
            <a:pPr algn="l" indent="0" marL="0">
              <a:buNone/>
            </a:pPr>
            <a:r>
              <a:rPr lang="en-US" sz="950" b="1" spc="200" kern="0" dirty="0">
                <a:solidFill>
                  <a:srgbClr val="8A6D1E"/>
                </a:solidFill>
                <a:latin typeface="Calibri" pitchFamily="34" charset="0"/>
                <a:cs typeface="Amiri" pitchFamily="2" charset="-78"/>
              </a:rPr>
              <a:t>FIND IN THE MODEL:</a:t>
            </a:r>
            <a:endParaRPr lang="en-US" sz="950" dirty="0"/>
          </a:p>
        </p:txBody>
      </p:sp>
      <p:sp>
        <p:nvSpPr>
          <p:cNvPr id="20" name="Shape 17"/>
          <p:cNvSpPr/>
          <p:nvPr/>
        </p:nvSpPr>
        <p:spPr>
          <a:xfrm>
            <a:off x="2697480" y="6035040"/>
            <a:ext cx="2148840" cy="274320"/>
          </a:xfrm>
          <a:prstGeom prst="roundRect">
            <a:avLst>
              <a:gd name="adj" fmla="val 50000"/>
            </a:avLst>
          </a:prstGeom>
          <a:solidFill>
            <a:srgbClr val="1D5FBF"/>
          </a:solidFill>
          <a:ln w="12700">
            <a:solidFill>
              <a:srgbClr val="1D5FBF"/>
            </a:solidFill>
            <a:prstDash val="solid"/>
          </a:ln>
        </p:spPr>
      </p:sp>
      <p:sp>
        <p:nvSpPr>
          <p:cNvPr id="21" name="Text 18"/>
          <p:cNvSpPr txBox="1"/>
          <p:nvPr/>
        </p:nvSpPr>
        <p:spPr>
          <a:xfrm>
            <a:off x="2697480" y="6035040"/>
            <a:ext cx="2148840" cy="274320"/>
          </a:xfrm>
          <a:prstGeom prst="rect">
            <a:avLst/>
          </a:prstGeom>
          <a:noFill/>
          <a:ln/>
        </p:spPr>
        <p:txBody>
          <a:bodyPr wrap="square" lIns="0" tIns="0" rIns="0" bIns="0" rtlCol="0" anchor="ctr"/>
          <a:lstStyle/>
          <a:p>
            <a:pPr algn="ctr" indent="0" marL="0">
              <a:buNone/>
            </a:pPr>
            <a:r>
              <a:rPr lang="ar-SA" sz="950" b="1" dirty="0">
                <a:solidFill>
                  <a:srgbClr val="FFFFFF"/>
                </a:solidFill>
                <a:latin typeface="Amiri" pitchFamily="2" charset="-78"/>
                <a:ea typeface="Amiri" pitchFamily="2" charset="-78"/>
                <a:cs typeface="Amiri" pitchFamily="2" charset="-78"/>
              </a:rPr>
              <a:t>عَشَرَةُ جُنَيْهَاتٍ</a:t>
            </a:r>
            <a:endParaRPr lang="en-US" sz="950" dirty="0"/>
          </a:p>
        </p:txBody>
      </p:sp>
      <p:sp>
        <p:nvSpPr>
          <p:cNvPr id="22" name="Shape 19"/>
          <p:cNvSpPr/>
          <p:nvPr/>
        </p:nvSpPr>
        <p:spPr>
          <a:xfrm>
            <a:off x="4983480" y="6035040"/>
            <a:ext cx="2148840" cy="274320"/>
          </a:xfrm>
          <a:prstGeom prst="roundRect">
            <a:avLst>
              <a:gd name="adj" fmla="val 50000"/>
            </a:avLst>
          </a:prstGeom>
          <a:solidFill>
            <a:srgbClr val="1B3B6F"/>
          </a:solidFill>
          <a:ln w="12700">
            <a:solidFill>
              <a:srgbClr val="1B3B6F"/>
            </a:solidFill>
            <a:prstDash val="solid"/>
          </a:ln>
        </p:spPr>
      </p:sp>
      <p:sp>
        <p:nvSpPr>
          <p:cNvPr id="23" name="Text 20"/>
          <p:cNvSpPr txBox="1"/>
          <p:nvPr/>
        </p:nvSpPr>
        <p:spPr>
          <a:xfrm>
            <a:off x="4983480" y="6035040"/>
            <a:ext cx="2148840" cy="274320"/>
          </a:xfrm>
          <a:prstGeom prst="rect">
            <a:avLst/>
          </a:prstGeom>
          <a:noFill/>
          <a:ln/>
        </p:spPr>
        <p:txBody>
          <a:bodyPr wrap="square" lIns="0" tIns="0" rIns="0" bIns="0" rtlCol="0" anchor="ctr"/>
          <a:lstStyle/>
          <a:p>
            <a:pPr algn="ctr" indent="0" marL="0">
              <a:buNone/>
            </a:pPr>
            <a:r>
              <a:rPr lang="ar-SA" sz="950" b="1" dirty="0">
                <a:solidFill>
                  <a:srgbClr val="FFFFFF"/>
                </a:solidFill>
                <a:latin typeface="Amiri" pitchFamily="2" charset="-78"/>
                <a:ea typeface="Amiri" pitchFamily="2" charset="-78"/>
                <a:cs typeface="Amiri" pitchFamily="2" charset="-78"/>
              </a:rPr>
              <a:t>أَرْخَصُ مِنَ المَرْكَزِ</a:t>
            </a:r>
            <a:endParaRPr lang="en-US" sz="950" dirty="0"/>
          </a:p>
        </p:txBody>
      </p:sp>
      <p:sp>
        <p:nvSpPr>
          <p:cNvPr id="24" name="Shape 21"/>
          <p:cNvSpPr/>
          <p:nvPr/>
        </p:nvSpPr>
        <p:spPr>
          <a:xfrm>
            <a:off x="7269480" y="6035040"/>
            <a:ext cx="2148840" cy="274320"/>
          </a:xfrm>
          <a:prstGeom prst="roundRect">
            <a:avLst>
              <a:gd name="adj" fmla="val 50000"/>
            </a:avLst>
          </a:prstGeom>
          <a:solidFill>
            <a:srgbClr val="C77700"/>
          </a:solidFill>
          <a:ln w="12700">
            <a:solidFill>
              <a:srgbClr val="C77700"/>
            </a:solidFill>
            <a:prstDash val="solid"/>
          </a:ln>
        </p:spPr>
      </p:sp>
      <p:sp>
        <p:nvSpPr>
          <p:cNvPr id="25" name="Text 22"/>
          <p:cNvSpPr txBox="1"/>
          <p:nvPr/>
        </p:nvSpPr>
        <p:spPr>
          <a:xfrm>
            <a:off x="7269480" y="6035040"/>
            <a:ext cx="2148840" cy="274320"/>
          </a:xfrm>
          <a:prstGeom prst="rect">
            <a:avLst/>
          </a:prstGeom>
          <a:noFill/>
          <a:ln/>
        </p:spPr>
        <p:txBody>
          <a:bodyPr wrap="square" lIns="0" tIns="0" rIns="0" bIns="0" rtlCol="0" anchor="ctr"/>
          <a:lstStyle/>
          <a:p>
            <a:pPr algn="ctr" indent="0" marL="0">
              <a:buNone/>
            </a:pPr>
            <a:r>
              <a:rPr lang="ar-SA" sz="950" b="1" dirty="0">
                <a:solidFill>
                  <a:srgbClr val="FFFFFF"/>
                </a:solidFill>
                <a:latin typeface="Amiri" pitchFamily="2" charset="-78"/>
                <a:ea typeface="Amiri" pitchFamily="2" charset="-78"/>
                <a:cs typeface="Amiri" pitchFamily="2" charset="-78"/>
              </a:rPr>
              <a:t>مِنْ مَزَايَا المَرْكَزِ</a:t>
            </a:r>
            <a:endParaRPr lang="en-US" sz="950" dirty="0"/>
          </a:p>
        </p:txBody>
      </p:sp>
      <p:sp>
        <p:nvSpPr>
          <p:cNvPr id="26" name="Shape 23"/>
          <p:cNvSpPr/>
          <p:nvPr/>
        </p:nvSpPr>
        <p:spPr>
          <a:xfrm>
            <a:off x="9555480" y="6035040"/>
            <a:ext cx="2148840" cy="274320"/>
          </a:xfrm>
          <a:prstGeom prst="roundRect">
            <a:avLst>
              <a:gd name="adj" fmla="val 50000"/>
            </a:avLst>
          </a:prstGeom>
          <a:solidFill>
            <a:srgbClr val="7B3FA0"/>
          </a:solidFill>
          <a:ln w="12700">
            <a:solidFill>
              <a:srgbClr val="7B3FA0"/>
            </a:solidFill>
            <a:prstDash val="solid"/>
          </a:ln>
        </p:spPr>
      </p:sp>
      <p:sp>
        <p:nvSpPr>
          <p:cNvPr id="27" name="Text 24"/>
          <p:cNvSpPr txBox="1"/>
          <p:nvPr/>
        </p:nvSpPr>
        <p:spPr>
          <a:xfrm>
            <a:off x="9555480" y="6035040"/>
            <a:ext cx="2148840" cy="274320"/>
          </a:xfrm>
          <a:prstGeom prst="rect">
            <a:avLst/>
          </a:prstGeom>
          <a:noFill/>
          <a:ln/>
        </p:spPr>
        <p:txBody>
          <a:bodyPr wrap="square" lIns="0" tIns="0" rIns="0" bIns="0" rtlCol="0" anchor="ctr"/>
          <a:lstStyle/>
          <a:p>
            <a:pPr algn="ctr" indent="0" marL="0">
              <a:buNone/>
            </a:pPr>
            <a:r>
              <a:rPr lang="ar-SA" sz="950" b="1" dirty="0">
                <a:solidFill>
                  <a:srgbClr val="FFFFFF"/>
                </a:solidFill>
                <a:latin typeface="Amiri" pitchFamily="2" charset="-78"/>
                <a:ea typeface="Amiri" pitchFamily="2" charset="-78"/>
                <a:cs typeface="Amiri" pitchFamily="2" charset="-78"/>
              </a:rPr>
              <a:t>بِصِفَةٍ عَامَّةٍ</a:t>
            </a:r>
            <a:endParaRPr lang="en-US" sz="950" dirty="0"/>
          </a:p>
        </p:txBody>
      </p:sp>
      <p:sp>
        <p:nvSpPr>
          <p:cNvPr id="28" name="Text 25"/>
          <p:cNvSpPr txBox="1"/>
          <p:nvPr/>
        </p:nvSpPr>
        <p:spPr>
          <a:xfrm>
            <a:off x="10360152" y="6455664"/>
            <a:ext cx="1371600" cy="219456"/>
          </a:xfrm>
          <a:prstGeom prst="rect">
            <a:avLst/>
          </a:prstGeom>
          <a:noFill/>
          <a:ln/>
        </p:spPr>
        <p:txBody>
          <a:bodyPr wrap="square" lIns="0" tIns="0" rIns="0" bIns="0" rtlCol="0" anchor="ctr"/>
          <a:lstStyle/>
          <a:p>
            <a:pPr algn="r" indent="0" marL="0">
              <a:buNone/>
            </a:pPr>
            <a:r>
              <a:rPr lang="en-US" sz="850" dirty="0">
                <a:solidFill>
                  <a:srgbClr val="8A93A0"/>
                </a:solidFill>
                <a:latin typeface="Calibri" pitchFamily="34" charset="0"/>
                <a:cs typeface="Amiri" pitchFamily="2" charset="-78"/>
              </a:rPr>
              <a:t>22 / 24</a:t>
            </a:r>
            <a:endParaRPr lang="en-US" sz="850" dirty="0"/>
          </a:p>
        </p:txBody>
      </p:sp>
    </p:spTree>
  </p:cSld>
  <p:clrMapOvr>
    <a:masterClrMapping/>
  </p:clrMapOvr>
</p:sld>
</file>

<file path=ppt/slides/slide23.xml><?xml version="1.0" encoding="utf-8"?>
<p:sld xmlns:a="http://schemas.openxmlformats.org/drawingml/2006/main" xmlns:r="http://schemas.openxmlformats.org/officeDocument/2006/relationships" xmlns:p="http://schemas.openxmlformats.org/presentationml/2006/main">
  <p:cSld name="Slide 23">
    <p:bg>
      <p:bgPr>
        <a:solidFill>
          <a:srgbClr val="FFFDF8"/>
        </a:solidFill>
      </p:bgPr>
    </p:bg>
    <p:spTree>
      <p:nvGrpSpPr>
        <p:cNvPr id="1" name=""/>
        <p:cNvGrpSpPr/>
        <p:nvPr/>
      </p:nvGrpSpPr>
      <p:grpSpPr>
        <a:xfrm>
          <a:off x="0" y="0"/>
          <a:ext cx="0" cy="0"/>
          <a:chOff x="0" y="0"/>
          <a:chExt cx="0" cy="0"/>
        </a:xfrm>
      </p:grpSpPr>
      <p:sp>
        <p:nvSpPr>
          <p:cNvPr id="2" name="Shape 0"/>
          <p:cNvSpPr/>
          <p:nvPr/>
        </p:nvSpPr>
        <p:spPr>
          <a:xfrm>
            <a:off x="457200" y="237744"/>
            <a:ext cx="420624" cy="420624"/>
          </a:xfrm>
          <a:prstGeom prst="ellipse">
            <a:avLst/>
          </a:prstGeom>
          <a:solidFill>
            <a:srgbClr val="1B3B6F"/>
          </a:solidFill>
          <a:ln w="12700">
            <a:solidFill>
              <a:srgbClr val="D4AF37"/>
            </a:solidFill>
            <a:prstDash val="solid"/>
          </a:ln>
        </p:spPr>
      </p:sp>
      <p:sp>
        <p:nvSpPr>
          <p:cNvPr id="3" name="Text 1"/>
          <p:cNvSpPr txBox="1"/>
          <p:nvPr/>
        </p:nvSpPr>
        <p:spPr>
          <a:xfrm>
            <a:off x="457200" y="219456"/>
            <a:ext cx="420624" cy="420624"/>
          </a:xfrm>
          <a:prstGeom prst="rect">
            <a:avLst/>
          </a:prstGeom>
          <a:noFill/>
          <a:ln/>
        </p:spPr>
        <p:txBody>
          <a:bodyPr wrap="square" lIns="0" tIns="0" rIns="0" bIns="0" rtlCol="0" anchor="ctr"/>
          <a:lstStyle/>
          <a:p>
            <a:pPr rtl="1" algn="ctr" indent="0" marL="0">
              <a:buNone/>
            </a:pPr>
            <a:r>
              <a:rPr lang="ar-SA" altLang="en-US" sz="1800" b="1" dirty="0">
                <a:solidFill>
                  <a:srgbClr val="D4AF37"/>
                </a:solidFill>
                <a:latin typeface="Amiri" pitchFamily="2" charset="-78"/>
                <a:ea typeface="Amiri" pitchFamily="2" charset="-78"/>
                <a:cs typeface="Amiri" pitchFamily="2" charset="-78"/>
              </a:rPr>
              <a:t>م</a:t>
            </a:r>
            <a:endParaRPr lang="ar-SA" sz="1800" dirty="0"/>
          </a:p>
        </p:txBody>
      </p:sp>
      <p:sp>
        <p:nvSpPr>
          <p:cNvPr id="4" name="Text 2"/>
          <p:cNvSpPr txBox="1"/>
          <p:nvPr/>
        </p:nvSpPr>
        <p:spPr>
          <a:xfrm>
            <a:off x="960120" y="219456"/>
            <a:ext cx="3657600" cy="256032"/>
          </a:xfrm>
          <a:prstGeom prst="rect">
            <a:avLst/>
          </a:prstGeom>
          <a:noFill/>
          <a:ln/>
        </p:spPr>
        <p:txBody>
          <a:bodyPr wrap="square" lIns="0" tIns="0" rIns="0" bIns="0" rtlCol="0" anchor="ctr"/>
          <a:lstStyle/>
          <a:p>
            <a:pPr indent="0" marL="0">
              <a:buNone/>
            </a:pPr>
            <a:r>
              <a:rPr lang="en-US" sz="1200" b="1" dirty="0">
                <a:solidFill>
                  <a:srgbClr val="1B3B6F"/>
                </a:solidFill>
                <a:latin typeface="Cambria" pitchFamily="34" charset="0"/>
                <a:cs typeface="Amiri" pitchFamily="2" charset="-78"/>
              </a:rPr>
              <a:t>Al Madina Online School</a:t>
            </a:r>
            <a:endParaRPr lang="en-US" sz="1200" dirty="0"/>
          </a:p>
        </p:txBody>
      </p:sp>
      <p:sp>
        <p:nvSpPr>
          <p:cNvPr id="5" name="Text 3"/>
          <p:cNvSpPr txBox="1"/>
          <p:nvPr/>
        </p:nvSpPr>
        <p:spPr>
          <a:xfrm>
            <a:off x="960120" y="457200"/>
            <a:ext cx="4572000" cy="182880"/>
          </a:xfrm>
          <a:prstGeom prst="rect">
            <a:avLst/>
          </a:prstGeom>
          <a:noFill/>
          <a:ln/>
        </p:spPr>
        <p:txBody>
          <a:bodyPr wrap="square" lIns="0" tIns="0" rIns="0" bIns="0" rtlCol="0" anchor="ctr"/>
          <a:lstStyle/>
          <a:p>
            <a:pPr indent="0" marL="0">
              <a:buNone/>
            </a:pPr>
            <a:r>
              <a:rPr lang="en-US" sz="800" b="1" spc="200" kern="0" dirty="0">
                <a:solidFill>
                  <a:srgbClr val="8A6D1E"/>
                </a:solidFill>
                <a:latin typeface="Calibri" pitchFamily="34" charset="0"/>
                <a:cs typeface="Amiri" pitchFamily="2" charset="-78"/>
              </a:rPr>
              <a:t>ARABIC DEPARTMENT · MIFTAH ARABIC · IGCSE 0544</a:t>
            </a:r>
            <a:endParaRPr lang="en-US" sz="800" dirty="0"/>
          </a:p>
        </p:txBody>
      </p:sp>
      <p:sp>
        <p:nvSpPr>
          <p:cNvPr id="6" name="Shape 4"/>
          <p:cNvSpPr/>
          <p:nvPr/>
        </p:nvSpPr>
        <p:spPr>
          <a:xfrm>
            <a:off x="8897112" y="274320"/>
            <a:ext cx="2834640" cy="329184"/>
          </a:xfrm>
          <a:prstGeom prst="roundRect">
            <a:avLst>
              <a:gd name="adj" fmla="val 50000"/>
            </a:avLst>
          </a:prstGeom>
          <a:solidFill>
            <a:srgbClr val="1B3B6F"/>
          </a:solidFill>
          <a:ln w="12700">
            <a:solidFill>
              <a:srgbClr val="1B3B6F"/>
            </a:solidFill>
            <a:prstDash val="solid"/>
          </a:ln>
        </p:spPr>
      </p:sp>
      <p:sp>
        <p:nvSpPr>
          <p:cNvPr id="7" name="Text 5"/>
          <p:cNvSpPr txBox="1"/>
          <p:nvPr/>
        </p:nvSpPr>
        <p:spPr>
          <a:xfrm>
            <a:off x="8897112" y="274320"/>
            <a:ext cx="2834640" cy="329184"/>
          </a:xfrm>
          <a:prstGeom prst="rect">
            <a:avLst/>
          </a:prstGeom>
          <a:noFill/>
          <a:ln/>
        </p:spPr>
        <p:txBody>
          <a:bodyPr wrap="square" lIns="0" tIns="0" rIns="0" bIns="0" rtlCol="0" anchor="ctr"/>
          <a:lstStyle/>
          <a:p>
            <a:pPr algn="ctr" indent="0" marL="0">
              <a:buNone/>
            </a:pPr>
            <a:r>
              <a:rPr lang="en-US" sz="950" b="1" spc="100" kern="0" dirty="0">
                <a:solidFill>
                  <a:srgbClr val="FFFFFF"/>
                </a:solidFill>
                <a:latin typeface="Calibri" pitchFamily="34" charset="0"/>
                <a:cs typeface="Amiri" pitchFamily="2" charset="-78"/>
              </a:rPr>
              <a:t>F6-W03 · Apply workshop</a:t>
            </a:r>
            <a:endParaRPr lang="en-US" sz="950" dirty="0"/>
          </a:p>
        </p:txBody>
      </p:sp>
      <p:sp>
        <p:nvSpPr>
          <p:cNvPr id="8" name="Shape 6"/>
          <p:cNvSpPr/>
          <p:nvPr/>
        </p:nvSpPr>
        <p:spPr>
          <a:xfrm>
            <a:off x="7143293" y="274320"/>
            <a:ext cx="1616659" cy="329184"/>
          </a:xfrm>
          <a:prstGeom prst="roundRect">
            <a:avLst>
              <a:gd name="adj" fmla="val 50000"/>
            </a:avLst>
          </a:prstGeom>
          <a:solidFill>
            <a:srgbClr val="8A6D1E"/>
          </a:solidFill>
          <a:ln w="12700">
            <a:solidFill>
              <a:srgbClr val="8A6D1E"/>
            </a:solidFill>
            <a:prstDash val="solid"/>
          </a:ln>
        </p:spPr>
      </p:sp>
      <p:sp>
        <p:nvSpPr>
          <p:cNvPr id="9" name="Text 7"/>
          <p:cNvSpPr txBox="1"/>
          <p:nvPr/>
        </p:nvSpPr>
        <p:spPr>
          <a:xfrm>
            <a:off x="7143293" y="274320"/>
            <a:ext cx="1616659" cy="329184"/>
          </a:xfrm>
          <a:prstGeom prst="rect">
            <a:avLst/>
          </a:prstGeom>
          <a:noFill/>
          <a:ln/>
        </p:spPr>
        <p:txBody>
          <a:bodyPr wrap="square" lIns="0" tIns="0" rIns="0" bIns="0" rtlCol="0" anchor="ctr"/>
          <a:lstStyle/>
          <a:p>
            <a:pPr algn="ctr" indent="0" marL="0">
              <a:buNone/>
            </a:pPr>
            <a:r>
              <a:rPr lang="en-US" sz="900" b="1" spc="100" kern="0" dirty="0">
                <a:solidFill>
                  <a:srgbClr val="FFFFFF"/>
                </a:solidFill>
                <a:latin typeface="Calibri" pitchFamily="34" charset="0"/>
                <a:cs typeface="Amiri" pitchFamily="2" charset="-78"/>
              </a:rPr>
              <a:t>FEEDBACK · 1 MIN</a:t>
            </a:r>
            <a:endParaRPr lang="en-US" sz="900" dirty="0"/>
          </a:p>
        </p:txBody>
      </p:sp>
      <p:sp>
        <p:nvSpPr>
          <p:cNvPr id="10" name="Text 8"/>
          <p:cNvSpPr txBox="1"/>
          <p:nvPr/>
        </p:nvSpPr>
        <p:spPr>
          <a:xfrm>
            <a:off x="457200" y="822960"/>
            <a:ext cx="6949440" cy="237744"/>
          </a:xfrm>
          <a:prstGeom prst="rect">
            <a:avLst/>
          </a:prstGeom>
          <a:noFill/>
          <a:ln/>
        </p:spPr>
        <p:txBody>
          <a:bodyPr wrap="square" lIns="0" tIns="0" rIns="0" bIns="0" rtlCol="0" anchor="ctr"/>
          <a:lstStyle/>
          <a:p>
            <a:pPr algn="l" indent="0" marL="0">
              <a:buNone/>
            </a:pPr>
            <a:r>
              <a:rPr lang="en-US" sz="1000" b="1" spc="300" kern="0" dirty="0">
                <a:solidFill>
                  <a:srgbClr val="8A6D1E"/>
                </a:solidFill>
                <a:latin typeface="Calibri" pitchFamily="34" charset="0"/>
                <a:cs typeface="Amiri" pitchFamily="2" charset="-78"/>
              </a:rPr>
              <a:t>FEEDBACK · SUCCESS CRITERIA</a:t>
            </a:r>
            <a:endParaRPr lang="en-US" sz="1000" dirty="0"/>
          </a:p>
        </p:txBody>
      </p:sp>
      <p:sp>
        <p:nvSpPr>
          <p:cNvPr id="11" name="Text 9"/>
          <p:cNvSpPr txBox="1"/>
          <p:nvPr/>
        </p:nvSpPr>
        <p:spPr>
          <a:xfrm>
            <a:off x="457200" y="1033272"/>
            <a:ext cx="6949440" cy="566928"/>
          </a:xfrm>
          <a:prstGeom prst="rect">
            <a:avLst/>
          </a:prstGeom>
          <a:noFill/>
          <a:ln/>
        </p:spPr>
        <p:txBody>
          <a:bodyPr wrap="square" lIns="0" tIns="0" rIns="0" bIns="0" rtlCol="0" anchor="ctr"/>
          <a:lstStyle/>
          <a:p>
            <a:pPr algn="l" indent="0" marL="0">
              <a:buNone/>
            </a:pPr>
            <a:r>
              <a:rPr lang="en-US" sz="2800" b="1" dirty="0">
                <a:solidFill>
                  <a:srgbClr val="1B3B6F"/>
                </a:solidFill>
                <a:latin typeface="Cambria" pitchFamily="34" charset="0"/>
                <a:cs typeface="Amiri" pitchFamily="2" charset="-78"/>
              </a:rPr>
              <a:t>Check your work</a:t>
            </a:r>
            <a:endParaRPr lang="en-US" sz="2800" dirty="0"/>
          </a:p>
        </p:txBody>
      </p:sp>
      <p:sp>
        <p:nvSpPr>
          <p:cNvPr id="12" name="Text 10"/>
          <p:cNvSpPr txBox="1"/>
          <p:nvPr/>
        </p:nvSpPr>
        <p:spPr>
          <a:xfrm>
            <a:off x="7498080" y="868680"/>
            <a:ext cx="4233672" cy="749808"/>
          </a:xfrm>
          <a:prstGeom prst="rect">
            <a:avLst/>
          </a:prstGeom>
          <a:noFill/>
          <a:ln/>
        </p:spPr>
        <p:txBody>
          <a:bodyPr wrap="square" lIns="0" tIns="0" rIns="0" bIns="0" rtlCol="0" anchor="ctr"/>
          <a:lstStyle/>
          <a:p>
            <a:pPr rtl="1" algn="r" indent="0" marL="0">
              <a:buNone/>
            </a:pPr>
            <a:r>
              <a:rPr lang="ar-SA" altLang="en-US" sz="2800" b="1" dirty="0">
                <a:solidFill>
                  <a:srgbClr val="8A6D1E"/>
                </a:solidFill>
                <a:latin typeface="Amiri" pitchFamily="2" charset="-78"/>
                <a:ea typeface="Amiri" pitchFamily="2" charset="-78"/>
                <a:cs typeface="Amiri" pitchFamily="2" charset="-78"/>
              </a:rPr>
              <a:t>قَيِّمْ عَمَلَكَ</a:t>
            </a:r>
            <a:endParaRPr lang="ar-SA" sz="2800" dirty="0"/>
          </a:p>
        </p:txBody>
      </p:sp>
      <p:sp>
        <p:nvSpPr>
          <p:cNvPr id="13" name="Text 11"/>
          <p:cNvSpPr txBox="1"/>
          <p:nvPr/>
        </p:nvSpPr>
        <p:spPr>
          <a:xfrm>
            <a:off x="457200" y="6455664"/>
            <a:ext cx="6400800" cy="219456"/>
          </a:xfrm>
          <a:prstGeom prst="rect">
            <a:avLst/>
          </a:prstGeom>
          <a:noFill/>
          <a:ln/>
        </p:spPr>
        <p:txBody>
          <a:bodyPr wrap="square" lIns="0" tIns="0" rIns="0" bIns="0" rtlCol="0" anchor="ctr"/>
          <a:lstStyle/>
          <a:p>
            <a:pPr indent="0" marL="0">
              <a:buNone/>
            </a:pPr>
            <a:r>
              <a:rPr lang="en-US" sz="850" dirty="0">
                <a:solidFill>
                  <a:srgbClr val="8A93A0"/>
                </a:solidFill>
                <a:latin typeface="Calibri" pitchFamily="34" charset="0"/>
                <a:cs typeface="Amiri" pitchFamily="2" charset="-78"/>
              </a:rPr>
              <a:t>Miftah Arabic · Foundation F6 · My Town and Transport · F6-W03 · Apply workshop (F6-L05 + F6-L06)</a:t>
            </a:r>
            <a:endParaRPr lang="en-US" sz="850" dirty="0"/>
          </a:p>
        </p:txBody>
      </p:sp>
      <p:sp>
        <p:nvSpPr>
          <p:cNvPr id="15" name="Shape 12"/>
          <p:cNvSpPr/>
          <p:nvPr/>
        </p:nvSpPr>
        <p:spPr>
          <a:xfrm>
            <a:off x="457200" y="1810512"/>
            <a:ext cx="7406640" cy="771754"/>
          </a:xfrm>
          <a:prstGeom prst="roundRect">
            <a:avLst>
              <a:gd name="adj" fmla="val 9479"/>
            </a:avLst>
          </a:prstGeom>
          <a:solidFill>
            <a:srgbClr val="FFFFFF"/>
          </a:solidFill>
          <a:ln w="9525">
            <a:solidFill>
              <a:srgbClr val="D8D0BF"/>
            </a:solidFill>
            <a:prstDash val="solid"/>
          </a:ln>
          <a:effectLst>
            <a:outerShdw sx="100000" sy="100000" kx="0" ky="0" algn="bl" rotWithShape="0" blurRad="50800" dist="19050" dir="5400000">
              <a:srgbClr val="000000">
                <a:alpha val="10000"/>
              </a:srgbClr>
            </a:outerShdw>
          </a:effectLst>
        </p:spPr>
      </p:sp>
      <p:sp>
        <p:nvSpPr>
          <p:cNvPr id="16" name="Shape 13"/>
          <p:cNvSpPr/>
          <p:nvPr/>
        </p:nvSpPr>
        <p:spPr>
          <a:xfrm>
            <a:off x="685800" y="2086661"/>
            <a:ext cx="219456" cy="219456"/>
          </a:xfrm>
          <a:prstGeom prst="rect">
            <a:avLst/>
          </a:prstGeom>
          <a:solidFill>
            <a:srgbClr val="FFFFFF"/>
          </a:solidFill>
          <a:ln w="19050">
            <a:solidFill>
              <a:srgbClr val="2E8B57"/>
            </a:solidFill>
            <a:prstDash val="solid"/>
          </a:ln>
        </p:spPr>
      </p:sp>
      <p:sp>
        <p:nvSpPr>
          <p:cNvPr id="17" name="Text 14"/>
          <p:cNvSpPr txBox="1"/>
          <p:nvPr/>
        </p:nvSpPr>
        <p:spPr>
          <a:xfrm>
            <a:off x="1097280" y="1810512"/>
            <a:ext cx="5394960" cy="771754"/>
          </a:xfrm>
          <a:prstGeom prst="rect">
            <a:avLst/>
          </a:prstGeom>
          <a:noFill/>
          <a:ln/>
        </p:spPr>
        <p:txBody>
          <a:bodyPr wrap="square" lIns="0" tIns="0" rIns="0" bIns="0" rtlCol="0" anchor="ctr"/>
          <a:lstStyle/>
          <a:p>
            <a:pPr algn="l" indent="0" marL="0">
              <a:buNone/>
            </a:pPr>
            <a:r>
              <a:rPr lang="en-US" sz="1300" dirty="0">
                <a:solidFill>
                  <a:srgbClr val="1F2A37"/>
                </a:solidFill>
                <a:latin typeface="Calibri" pitchFamily="34" charset="0"/>
                <a:cs typeface="Amiri" pitchFamily="2" charset="-78"/>
              </a:rPr>
              <a:t>I answered questions from F6-L05 and F6-L06 in full sentences.</a:t>
            </a:r>
            <a:endParaRPr lang="en-US" sz="1300" dirty="0"/>
          </a:p>
        </p:txBody>
      </p:sp>
      <p:sp>
        <p:nvSpPr>
          <p:cNvPr id="18" name="Shape 15"/>
          <p:cNvSpPr/>
          <p:nvPr/>
        </p:nvSpPr>
        <p:spPr>
          <a:xfrm>
            <a:off x="6583680" y="2068373"/>
            <a:ext cx="1097280" cy="256032"/>
          </a:xfrm>
          <a:prstGeom prst="roundRect">
            <a:avLst>
              <a:gd name="adj" fmla="val 50000"/>
            </a:avLst>
          </a:prstGeom>
          <a:solidFill>
            <a:srgbClr val="2E8B57"/>
          </a:solidFill>
          <a:ln w="12700">
            <a:solidFill>
              <a:srgbClr val="2E8B57"/>
            </a:solidFill>
            <a:prstDash val="solid"/>
          </a:ln>
        </p:spPr>
      </p:sp>
      <p:sp>
        <p:nvSpPr>
          <p:cNvPr id="19" name="Text 16"/>
          <p:cNvSpPr txBox="1"/>
          <p:nvPr/>
        </p:nvSpPr>
        <p:spPr>
          <a:xfrm>
            <a:off x="6583680" y="2068373"/>
            <a:ext cx="1097280" cy="256032"/>
          </a:xfrm>
          <a:prstGeom prst="rect">
            <a:avLst/>
          </a:prstGeom>
          <a:noFill/>
          <a:ln/>
        </p:spPr>
        <p:txBody>
          <a:bodyPr wrap="square" lIns="0" tIns="0" rIns="0" bIns="0" rtlCol="0" anchor="ctr"/>
          <a:lstStyle/>
          <a:p>
            <a:pPr algn="ctr" indent="0" marL="0">
              <a:buNone/>
            </a:pPr>
            <a:r>
              <a:rPr lang="en-US" sz="800" b="1" spc="100" kern="0" dirty="0">
                <a:solidFill>
                  <a:srgbClr val="FFFFFF"/>
                </a:solidFill>
                <a:latin typeface="Calibri" pitchFamily="34" charset="0"/>
                <a:cs typeface="Amiri" pitchFamily="2" charset="-78"/>
              </a:rPr>
              <a:t>CORE</a:t>
            </a:r>
            <a:endParaRPr lang="en-US" sz="800" dirty="0"/>
          </a:p>
        </p:txBody>
      </p:sp>
      <p:sp>
        <p:nvSpPr>
          <p:cNvPr id="20" name="Shape 17"/>
          <p:cNvSpPr/>
          <p:nvPr/>
        </p:nvSpPr>
        <p:spPr>
          <a:xfrm>
            <a:off x="457200" y="2710282"/>
            <a:ext cx="7406640" cy="771754"/>
          </a:xfrm>
          <a:prstGeom prst="roundRect">
            <a:avLst>
              <a:gd name="adj" fmla="val 9479"/>
            </a:avLst>
          </a:prstGeom>
          <a:solidFill>
            <a:srgbClr val="FFFFFF"/>
          </a:solidFill>
          <a:ln w="9525">
            <a:solidFill>
              <a:srgbClr val="D8D0BF"/>
            </a:solidFill>
            <a:prstDash val="solid"/>
          </a:ln>
          <a:effectLst>
            <a:outerShdw sx="100000" sy="100000" kx="0" ky="0" algn="bl" rotWithShape="0" blurRad="50800" dist="19050" dir="5400000">
              <a:srgbClr val="000000">
                <a:alpha val="10000"/>
              </a:srgbClr>
            </a:outerShdw>
          </a:effectLst>
        </p:spPr>
      </p:sp>
      <p:sp>
        <p:nvSpPr>
          <p:cNvPr id="21" name="Shape 18"/>
          <p:cNvSpPr/>
          <p:nvPr/>
        </p:nvSpPr>
        <p:spPr>
          <a:xfrm>
            <a:off x="685800" y="2986430"/>
            <a:ext cx="219456" cy="219456"/>
          </a:xfrm>
          <a:prstGeom prst="rect">
            <a:avLst/>
          </a:prstGeom>
          <a:solidFill>
            <a:srgbClr val="FFFFFF"/>
          </a:solidFill>
          <a:ln w="19050">
            <a:solidFill>
              <a:srgbClr val="2E8B57"/>
            </a:solidFill>
            <a:prstDash val="solid"/>
          </a:ln>
        </p:spPr>
      </p:sp>
      <p:sp>
        <p:nvSpPr>
          <p:cNvPr id="22" name="Text 19"/>
          <p:cNvSpPr txBox="1"/>
          <p:nvPr/>
        </p:nvSpPr>
        <p:spPr>
          <a:xfrm>
            <a:off x="1097280" y="2710282"/>
            <a:ext cx="5394960" cy="771754"/>
          </a:xfrm>
          <a:prstGeom prst="rect">
            <a:avLst/>
          </a:prstGeom>
          <a:noFill/>
          <a:ln/>
        </p:spPr>
        <p:txBody>
          <a:bodyPr wrap="square" lIns="0" tIns="0" rIns="0" bIns="0" rtlCol="0" anchor="ctr"/>
          <a:lstStyle/>
          <a:p>
            <a:pPr algn="l" indent="0" marL="0">
              <a:buNone/>
            </a:pPr>
            <a:r>
              <a:rPr lang="en-US" sz="1300" dirty="0">
                <a:solidFill>
                  <a:srgbClr val="1F2A37"/>
                </a:solidFill>
                <a:latin typeface="Calibri" pitchFamily="34" charset="0"/>
                <a:cs typeface="Amiri" pitchFamily="2" charset="-78"/>
              </a:rPr>
              <a:t>I wrote a sentence for every bullet point.</a:t>
            </a:r>
            <a:endParaRPr lang="en-US" sz="1300" dirty="0"/>
          </a:p>
        </p:txBody>
      </p:sp>
      <p:sp>
        <p:nvSpPr>
          <p:cNvPr id="23" name="Shape 20"/>
          <p:cNvSpPr/>
          <p:nvPr/>
        </p:nvSpPr>
        <p:spPr>
          <a:xfrm>
            <a:off x="6583680" y="2968142"/>
            <a:ext cx="1097280" cy="256032"/>
          </a:xfrm>
          <a:prstGeom prst="roundRect">
            <a:avLst>
              <a:gd name="adj" fmla="val 50000"/>
            </a:avLst>
          </a:prstGeom>
          <a:solidFill>
            <a:srgbClr val="2E8B57"/>
          </a:solidFill>
          <a:ln w="12700">
            <a:solidFill>
              <a:srgbClr val="2E8B57"/>
            </a:solidFill>
            <a:prstDash val="solid"/>
          </a:ln>
        </p:spPr>
      </p:sp>
      <p:sp>
        <p:nvSpPr>
          <p:cNvPr id="24" name="Text 21"/>
          <p:cNvSpPr txBox="1"/>
          <p:nvPr/>
        </p:nvSpPr>
        <p:spPr>
          <a:xfrm>
            <a:off x="6583680" y="2968142"/>
            <a:ext cx="1097280" cy="256032"/>
          </a:xfrm>
          <a:prstGeom prst="rect">
            <a:avLst/>
          </a:prstGeom>
          <a:noFill/>
          <a:ln/>
        </p:spPr>
        <p:txBody>
          <a:bodyPr wrap="square" lIns="0" tIns="0" rIns="0" bIns="0" rtlCol="0" anchor="ctr"/>
          <a:lstStyle/>
          <a:p>
            <a:pPr algn="ctr" indent="0" marL="0">
              <a:buNone/>
            </a:pPr>
            <a:r>
              <a:rPr lang="en-US" sz="800" b="1" spc="100" kern="0" dirty="0">
                <a:solidFill>
                  <a:srgbClr val="FFFFFF"/>
                </a:solidFill>
                <a:latin typeface="Calibri" pitchFamily="34" charset="0"/>
                <a:cs typeface="Amiri" pitchFamily="2" charset="-78"/>
              </a:rPr>
              <a:t>CORE</a:t>
            </a:r>
            <a:endParaRPr lang="en-US" sz="800" dirty="0"/>
          </a:p>
        </p:txBody>
      </p:sp>
      <p:sp>
        <p:nvSpPr>
          <p:cNvPr id="25" name="Shape 22"/>
          <p:cNvSpPr/>
          <p:nvPr/>
        </p:nvSpPr>
        <p:spPr>
          <a:xfrm>
            <a:off x="457200" y="3610051"/>
            <a:ext cx="7406640" cy="771754"/>
          </a:xfrm>
          <a:prstGeom prst="roundRect">
            <a:avLst>
              <a:gd name="adj" fmla="val 9479"/>
            </a:avLst>
          </a:prstGeom>
          <a:solidFill>
            <a:srgbClr val="FFFFFF"/>
          </a:solidFill>
          <a:ln w="9525">
            <a:solidFill>
              <a:srgbClr val="D8D0BF"/>
            </a:solidFill>
            <a:prstDash val="solid"/>
          </a:ln>
          <a:effectLst>
            <a:outerShdw sx="100000" sy="100000" kx="0" ky="0" algn="bl" rotWithShape="0" blurRad="50800" dist="19050" dir="5400000">
              <a:srgbClr val="000000">
                <a:alpha val="10000"/>
              </a:srgbClr>
            </a:outerShdw>
          </a:effectLst>
        </p:spPr>
      </p:sp>
      <p:sp>
        <p:nvSpPr>
          <p:cNvPr id="26" name="Shape 23"/>
          <p:cNvSpPr/>
          <p:nvPr/>
        </p:nvSpPr>
        <p:spPr>
          <a:xfrm>
            <a:off x="685800" y="3886200"/>
            <a:ext cx="219456" cy="219456"/>
          </a:xfrm>
          <a:prstGeom prst="rect">
            <a:avLst/>
          </a:prstGeom>
          <a:solidFill>
            <a:srgbClr val="FFFFFF"/>
          </a:solidFill>
          <a:ln w="19050">
            <a:solidFill>
              <a:srgbClr val="C9780A"/>
            </a:solidFill>
            <a:prstDash val="solid"/>
          </a:ln>
        </p:spPr>
      </p:sp>
      <p:sp>
        <p:nvSpPr>
          <p:cNvPr id="27" name="Text 24"/>
          <p:cNvSpPr txBox="1"/>
          <p:nvPr/>
        </p:nvSpPr>
        <p:spPr>
          <a:xfrm>
            <a:off x="1097280" y="3610051"/>
            <a:ext cx="5394960" cy="771754"/>
          </a:xfrm>
          <a:prstGeom prst="rect">
            <a:avLst/>
          </a:prstGeom>
          <a:noFill/>
          <a:ln/>
        </p:spPr>
        <p:txBody>
          <a:bodyPr wrap="square" lIns="0" tIns="0" rIns="0" bIns="0" rtlCol="0" anchor="ctr"/>
          <a:lstStyle/>
          <a:p>
            <a:pPr algn="l" indent="0" marL="0">
              <a:buNone/>
            </a:pPr>
            <a:r>
              <a:rPr lang="en-US" sz="1300" dirty="0">
                <a:solidFill>
                  <a:srgbClr val="1F2A37"/>
                </a:solidFill>
                <a:latin typeface="Calibri" pitchFamily="34" charset="0"/>
                <a:cs typeface="Amiri" pitchFamily="2" charset="-78"/>
              </a:rPr>
              <a:t>I used language from BOTH lessons when I spoke and when I wrote.</a:t>
            </a:r>
            <a:endParaRPr lang="en-US" sz="1300" dirty="0"/>
          </a:p>
        </p:txBody>
      </p:sp>
      <p:sp>
        <p:nvSpPr>
          <p:cNvPr id="28" name="Shape 25"/>
          <p:cNvSpPr/>
          <p:nvPr/>
        </p:nvSpPr>
        <p:spPr>
          <a:xfrm>
            <a:off x="6583680" y="3867912"/>
            <a:ext cx="1097280" cy="256032"/>
          </a:xfrm>
          <a:prstGeom prst="roundRect">
            <a:avLst>
              <a:gd name="adj" fmla="val 50000"/>
            </a:avLst>
          </a:prstGeom>
          <a:solidFill>
            <a:srgbClr val="C9780A"/>
          </a:solidFill>
          <a:ln w="12700">
            <a:solidFill>
              <a:srgbClr val="C9780A"/>
            </a:solidFill>
            <a:prstDash val="solid"/>
          </a:ln>
        </p:spPr>
      </p:sp>
      <p:sp>
        <p:nvSpPr>
          <p:cNvPr id="29" name="Text 26"/>
          <p:cNvSpPr txBox="1"/>
          <p:nvPr/>
        </p:nvSpPr>
        <p:spPr>
          <a:xfrm>
            <a:off x="6583680" y="3867912"/>
            <a:ext cx="1097280" cy="256032"/>
          </a:xfrm>
          <a:prstGeom prst="rect">
            <a:avLst/>
          </a:prstGeom>
          <a:noFill/>
          <a:ln/>
        </p:spPr>
        <p:txBody>
          <a:bodyPr wrap="square" lIns="0" tIns="0" rIns="0" bIns="0" rtlCol="0" anchor="ctr"/>
          <a:lstStyle/>
          <a:p>
            <a:pPr algn="ctr" indent="0" marL="0">
              <a:buNone/>
            </a:pPr>
            <a:r>
              <a:rPr lang="en-US" sz="800" b="1" spc="100" kern="0" dirty="0">
                <a:solidFill>
                  <a:srgbClr val="FFFFFF"/>
                </a:solidFill>
                <a:latin typeface="Calibri" pitchFamily="34" charset="0"/>
                <a:cs typeface="Amiri" pitchFamily="2" charset="-78"/>
              </a:rPr>
              <a:t>DEVELOP</a:t>
            </a:r>
            <a:endParaRPr lang="en-US" sz="800" dirty="0"/>
          </a:p>
        </p:txBody>
      </p:sp>
      <p:sp>
        <p:nvSpPr>
          <p:cNvPr id="30" name="Shape 27"/>
          <p:cNvSpPr/>
          <p:nvPr/>
        </p:nvSpPr>
        <p:spPr>
          <a:xfrm>
            <a:off x="457200" y="4509821"/>
            <a:ext cx="7406640" cy="771754"/>
          </a:xfrm>
          <a:prstGeom prst="roundRect">
            <a:avLst>
              <a:gd name="adj" fmla="val 9479"/>
            </a:avLst>
          </a:prstGeom>
          <a:solidFill>
            <a:srgbClr val="FFFFFF"/>
          </a:solidFill>
          <a:ln w="9525">
            <a:solidFill>
              <a:srgbClr val="D8D0BF"/>
            </a:solidFill>
            <a:prstDash val="solid"/>
          </a:ln>
          <a:effectLst>
            <a:outerShdw sx="100000" sy="100000" kx="0" ky="0" algn="bl" rotWithShape="0" blurRad="50800" dist="19050" dir="5400000">
              <a:srgbClr val="000000">
                <a:alpha val="10000"/>
              </a:srgbClr>
            </a:outerShdw>
          </a:effectLst>
        </p:spPr>
      </p:sp>
      <p:sp>
        <p:nvSpPr>
          <p:cNvPr id="31" name="Shape 28"/>
          <p:cNvSpPr/>
          <p:nvPr/>
        </p:nvSpPr>
        <p:spPr>
          <a:xfrm>
            <a:off x="685800" y="4785970"/>
            <a:ext cx="219456" cy="219456"/>
          </a:xfrm>
          <a:prstGeom prst="rect">
            <a:avLst/>
          </a:prstGeom>
          <a:solidFill>
            <a:srgbClr val="FFFFFF"/>
          </a:solidFill>
          <a:ln w="19050">
            <a:solidFill>
              <a:srgbClr val="C9780A"/>
            </a:solidFill>
            <a:prstDash val="solid"/>
          </a:ln>
        </p:spPr>
      </p:sp>
      <p:sp>
        <p:nvSpPr>
          <p:cNvPr id="32" name="Text 29"/>
          <p:cNvSpPr txBox="1"/>
          <p:nvPr/>
        </p:nvSpPr>
        <p:spPr>
          <a:xfrm>
            <a:off x="1097280" y="4509821"/>
            <a:ext cx="5394960" cy="771754"/>
          </a:xfrm>
          <a:prstGeom prst="rect">
            <a:avLst/>
          </a:prstGeom>
          <a:noFill/>
          <a:ln/>
        </p:spPr>
        <p:txBody>
          <a:bodyPr wrap="square" lIns="0" tIns="0" rIns="0" bIns="0" rtlCol="0" anchor="ctr"/>
          <a:lstStyle/>
          <a:p>
            <a:pPr algn="l" indent="0" marL="0">
              <a:buNone/>
            </a:pPr>
            <a:r>
              <a:rPr lang="en-US" sz="1300" dirty="0">
                <a:solidFill>
                  <a:srgbClr val="1F2A37"/>
                </a:solidFill>
                <a:latin typeface="Calibri" pitchFamily="34" charset="0"/>
                <a:cs typeface="Amiri" pitchFamily="2" charset="-78"/>
              </a:rPr>
              <a:t>My buddy checked my text and I fixed one mistake.</a:t>
            </a:r>
            <a:endParaRPr lang="en-US" sz="1300" dirty="0"/>
          </a:p>
        </p:txBody>
      </p:sp>
      <p:sp>
        <p:nvSpPr>
          <p:cNvPr id="33" name="Shape 30"/>
          <p:cNvSpPr/>
          <p:nvPr/>
        </p:nvSpPr>
        <p:spPr>
          <a:xfrm>
            <a:off x="6583680" y="4767682"/>
            <a:ext cx="1097280" cy="256032"/>
          </a:xfrm>
          <a:prstGeom prst="roundRect">
            <a:avLst>
              <a:gd name="adj" fmla="val 50000"/>
            </a:avLst>
          </a:prstGeom>
          <a:solidFill>
            <a:srgbClr val="C9780A"/>
          </a:solidFill>
          <a:ln w="12700">
            <a:solidFill>
              <a:srgbClr val="C9780A"/>
            </a:solidFill>
            <a:prstDash val="solid"/>
          </a:ln>
        </p:spPr>
      </p:sp>
      <p:sp>
        <p:nvSpPr>
          <p:cNvPr id="34" name="Text 31"/>
          <p:cNvSpPr txBox="1"/>
          <p:nvPr/>
        </p:nvSpPr>
        <p:spPr>
          <a:xfrm>
            <a:off x="6583680" y="4767682"/>
            <a:ext cx="1097280" cy="256032"/>
          </a:xfrm>
          <a:prstGeom prst="rect">
            <a:avLst/>
          </a:prstGeom>
          <a:noFill/>
          <a:ln/>
        </p:spPr>
        <p:txBody>
          <a:bodyPr wrap="square" lIns="0" tIns="0" rIns="0" bIns="0" rtlCol="0" anchor="ctr"/>
          <a:lstStyle/>
          <a:p>
            <a:pPr algn="ctr" indent="0" marL="0">
              <a:buNone/>
            </a:pPr>
            <a:r>
              <a:rPr lang="en-US" sz="800" b="1" spc="100" kern="0" dirty="0">
                <a:solidFill>
                  <a:srgbClr val="FFFFFF"/>
                </a:solidFill>
                <a:latin typeface="Calibri" pitchFamily="34" charset="0"/>
                <a:cs typeface="Amiri" pitchFamily="2" charset="-78"/>
              </a:rPr>
              <a:t>DEVELOP</a:t>
            </a:r>
            <a:endParaRPr lang="en-US" sz="800" dirty="0"/>
          </a:p>
        </p:txBody>
      </p:sp>
      <p:sp>
        <p:nvSpPr>
          <p:cNvPr id="35" name="Shape 32"/>
          <p:cNvSpPr/>
          <p:nvPr/>
        </p:nvSpPr>
        <p:spPr>
          <a:xfrm>
            <a:off x="457200" y="5409590"/>
            <a:ext cx="7406640" cy="771754"/>
          </a:xfrm>
          <a:prstGeom prst="roundRect">
            <a:avLst>
              <a:gd name="adj" fmla="val 9479"/>
            </a:avLst>
          </a:prstGeom>
          <a:solidFill>
            <a:srgbClr val="FFFFFF"/>
          </a:solidFill>
          <a:ln w="9525">
            <a:solidFill>
              <a:srgbClr val="D8D0BF"/>
            </a:solidFill>
            <a:prstDash val="solid"/>
          </a:ln>
          <a:effectLst>
            <a:outerShdw sx="100000" sy="100000" kx="0" ky="0" algn="bl" rotWithShape="0" blurRad="50800" dist="19050" dir="5400000">
              <a:srgbClr val="000000">
                <a:alpha val="10000"/>
              </a:srgbClr>
            </a:outerShdw>
          </a:effectLst>
        </p:spPr>
      </p:sp>
      <p:sp>
        <p:nvSpPr>
          <p:cNvPr id="36" name="Shape 33"/>
          <p:cNvSpPr/>
          <p:nvPr/>
        </p:nvSpPr>
        <p:spPr>
          <a:xfrm>
            <a:off x="685800" y="5685739"/>
            <a:ext cx="219456" cy="219456"/>
          </a:xfrm>
          <a:prstGeom prst="rect">
            <a:avLst/>
          </a:prstGeom>
          <a:solidFill>
            <a:srgbClr val="FFFFFF"/>
          </a:solidFill>
          <a:ln w="19050">
            <a:solidFill>
              <a:srgbClr val="B83227"/>
            </a:solidFill>
            <a:prstDash val="solid"/>
          </a:ln>
        </p:spPr>
      </p:sp>
      <p:sp>
        <p:nvSpPr>
          <p:cNvPr id="37" name="Text 34"/>
          <p:cNvSpPr txBox="1"/>
          <p:nvPr/>
        </p:nvSpPr>
        <p:spPr>
          <a:xfrm>
            <a:off x="1097280" y="5409590"/>
            <a:ext cx="5394960" cy="771754"/>
          </a:xfrm>
          <a:prstGeom prst="rect">
            <a:avLst/>
          </a:prstGeom>
          <a:noFill/>
          <a:ln/>
        </p:spPr>
        <p:txBody>
          <a:bodyPr wrap="square" lIns="0" tIns="0" rIns="0" bIns="0" rtlCol="0" anchor="ctr"/>
          <a:lstStyle/>
          <a:p>
            <a:pPr algn="l" indent="0" marL="0">
              <a:buNone/>
            </a:pPr>
            <a:r>
              <a:rPr lang="en-US" sz="1300" dirty="0">
                <a:solidFill>
                  <a:srgbClr val="1F2A37"/>
                </a:solidFill>
                <a:latin typeface="Calibri" pitchFamily="34" charset="0"/>
                <a:cs typeface="Amiri" pitchFamily="2" charset="-78"/>
              </a:rPr>
              <a:t>I added reasons (</a:t>
            </a:r>
            <a:pPr algn="l" indent="0" marL="0">
              <a:buNone/>
            </a:pPr>
            <a:r>
              <a:rPr lang="ar-SA" altLang="en-US" sz="1700" dirty="0">
                <a:solidFill>
                  <a:srgbClr val="1F2A37"/>
                </a:solidFill>
                <a:latin typeface="Amiri" pitchFamily="2" charset="-78"/>
                <a:ea typeface="Amiri" pitchFamily="2" charset="-78"/>
                <a:cs typeface="Amiri" pitchFamily="2" charset="-78"/>
              </a:rPr>
              <a:t>لِأَنَّ</a:t>
            </a:r>
            <a:pPr algn="l" indent="0" marL="0">
              <a:buNone/>
            </a:pPr>
            <a:r>
              <a:rPr lang="en-US" sz="1300" dirty="0">
                <a:solidFill>
                  <a:srgbClr val="1F2A37"/>
                </a:solidFill>
                <a:latin typeface="Calibri" pitchFamily="34" charset="0"/>
                <a:cs typeface="Amiri" pitchFamily="2" charset="-78"/>
              </a:rPr>
              <a:t>) and extra details without frames.</a:t>
            </a:r>
            <a:endParaRPr lang="en-US" sz="1300" dirty="0"/>
          </a:p>
        </p:txBody>
      </p:sp>
      <p:sp>
        <p:nvSpPr>
          <p:cNvPr id="38" name="Shape 35"/>
          <p:cNvSpPr/>
          <p:nvPr/>
        </p:nvSpPr>
        <p:spPr>
          <a:xfrm>
            <a:off x="6583680" y="5667451"/>
            <a:ext cx="1097280" cy="256032"/>
          </a:xfrm>
          <a:prstGeom prst="roundRect">
            <a:avLst>
              <a:gd name="adj" fmla="val 50000"/>
            </a:avLst>
          </a:prstGeom>
          <a:solidFill>
            <a:srgbClr val="B83227"/>
          </a:solidFill>
          <a:ln w="12700">
            <a:solidFill>
              <a:srgbClr val="B83227"/>
            </a:solidFill>
            <a:prstDash val="solid"/>
          </a:ln>
        </p:spPr>
      </p:sp>
      <p:sp>
        <p:nvSpPr>
          <p:cNvPr id="39" name="Text 36"/>
          <p:cNvSpPr txBox="1"/>
          <p:nvPr/>
        </p:nvSpPr>
        <p:spPr>
          <a:xfrm>
            <a:off x="6583680" y="5667451"/>
            <a:ext cx="1097280" cy="256032"/>
          </a:xfrm>
          <a:prstGeom prst="rect">
            <a:avLst/>
          </a:prstGeom>
          <a:noFill/>
          <a:ln/>
        </p:spPr>
        <p:txBody>
          <a:bodyPr wrap="square" lIns="0" tIns="0" rIns="0" bIns="0" rtlCol="0" anchor="ctr"/>
          <a:lstStyle/>
          <a:p>
            <a:pPr algn="ctr" indent="0" marL="0">
              <a:buNone/>
            </a:pPr>
            <a:r>
              <a:rPr lang="en-US" sz="800" b="1" spc="100" kern="0" dirty="0">
                <a:solidFill>
                  <a:srgbClr val="FFFFFF"/>
                </a:solidFill>
                <a:latin typeface="Calibri" pitchFamily="34" charset="0"/>
                <a:cs typeface="Amiri" pitchFamily="2" charset="-78"/>
              </a:rPr>
              <a:t>STRETCH</a:t>
            </a:r>
            <a:endParaRPr lang="en-US" sz="800" dirty="0"/>
          </a:p>
        </p:txBody>
      </p:sp>
      <p:sp>
        <p:nvSpPr>
          <p:cNvPr id="40" name="Shape 37"/>
          <p:cNvSpPr/>
          <p:nvPr/>
        </p:nvSpPr>
        <p:spPr>
          <a:xfrm>
            <a:off x="8092440" y="1810512"/>
            <a:ext cx="3639312" cy="2084832"/>
          </a:xfrm>
          <a:prstGeom prst="roundRect">
            <a:avLst>
              <a:gd name="adj" fmla="val 3509"/>
            </a:avLst>
          </a:prstGeom>
          <a:solidFill>
            <a:srgbClr val="E9F5EE"/>
          </a:solidFill>
          <a:ln w="9525">
            <a:solidFill>
              <a:srgbClr val="9CCFB0"/>
            </a:solidFill>
            <a:prstDash val="solid"/>
          </a:ln>
          <a:effectLst>
            <a:outerShdw sx="100000" sy="100000" kx="0" ky="0" algn="bl" rotWithShape="0" blurRad="50800" dist="19050" dir="5400000">
              <a:srgbClr val="000000">
                <a:alpha val="10000"/>
              </a:srgbClr>
            </a:outerShdw>
          </a:effectLst>
        </p:spPr>
      </p:sp>
      <p:sp>
        <p:nvSpPr>
          <p:cNvPr id="41" name="Text 38"/>
          <p:cNvSpPr txBox="1"/>
          <p:nvPr/>
        </p:nvSpPr>
        <p:spPr>
          <a:xfrm>
            <a:off x="8275320" y="1920240"/>
            <a:ext cx="3273552" cy="1828800"/>
          </a:xfrm>
          <a:prstGeom prst="rect">
            <a:avLst/>
          </a:prstGeom>
          <a:noFill/>
          <a:ln/>
        </p:spPr>
        <p:txBody>
          <a:bodyPr wrap="square" lIns="0" tIns="0" rIns="0" bIns="0" rtlCol="0" anchor="ctr"/>
          <a:lstStyle/>
          <a:p>
            <a:pPr indent="0" marL="0">
              <a:buNone/>
            </a:pPr>
            <a:r>
              <a:rPr lang="en-US" sz="1800" b="1" dirty="0">
                <a:solidFill>
                  <a:srgbClr val="2E8B57"/>
                </a:solidFill>
                <a:latin typeface="Calibri" pitchFamily="34" charset="0"/>
                <a:cs typeface="Amiri" pitchFamily="2" charset="-78"/>
              </a:rPr>
              <a:t>WWW</a:t>
            </a:r>
            <a:endParaRPr lang="en-US" sz="1800" dirty="0"/>
          </a:p>
          <a:p>
            <a:pPr indent="0" marL="0">
              <a:buNone/>
            </a:pPr>
            <a:r>
              <a:rPr lang="en-US" sz="1200" dirty="0">
                <a:solidFill>
                  <a:srgbClr val="1F2A37"/>
                </a:solidFill>
                <a:latin typeface="Calibri" pitchFamily="34" charset="0"/>
                <a:cs typeface="Amiri" pitchFamily="2" charset="-78"/>
              </a:rPr>
              <a:t>What went well? One thing you did accurately.</a:t>
            </a:r>
            <a:endParaRPr lang="en-US" sz="1800" dirty="0"/>
          </a:p>
        </p:txBody>
      </p:sp>
      <p:sp>
        <p:nvSpPr>
          <p:cNvPr id="42" name="Shape 39"/>
          <p:cNvSpPr/>
          <p:nvPr/>
        </p:nvSpPr>
        <p:spPr>
          <a:xfrm>
            <a:off x="8092440" y="4041648"/>
            <a:ext cx="3639312" cy="2084832"/>
          </a:xfrm>
          <a:prstGeom prst="roundRect">
            <a:avLst>
              <a:gd name="adj" fmla="val 3509"/>
            </a:avLst>
          </a:prstGeom>
          <a:solidFill>
            <a:srgbClr val="FFF4E0"/>
          </a:solidFill>
          <a:ln w="9525">
            <a:solidFill>
              <a:srgbClr val="E8D49A"/>
            </a:solidFill>
            <a:prstDash val="solid"/>
          </a:ln>
          <a:effectLst>
            <a:outerShdw sx="100000" sy="100000" kx="0" ky="0" algn="bl" rotWithShape="0" blurRad="50800" dist="19050" dir="5400000">
              <a:srgbClr val="000000">
                <a:alpha val="10000"/>
              </a:srgbClr>
            </a:outerShdw>
          </a:effectLst>
        </p:spPr>
      </p:sp>
      <p:sp>
        <p:nvSpPr>
          <p:cNvPr id="43" name="Text 40"/>
          <p:cNvSpPr txBox="1"/>
          <p:nvPr/>
        </p:nvSpPr>
        <p:spPr>
          <a:xfrm>
            <a:off x="8275320" y="4151376"/>
            <a:ext cx="3273552" cy="1828800"/>
          </a:xfrm>
          <a:prstGeom prst="rect">
            <a:avLst/>
          </a:prstGeom>
          <a:noFill/>
          <a:ln/>
        </p:spPr>
        <p:txBody>
          <a:bodyPr wrap="square" lIns="0" tIns="0" rIns="0" bIns="0" rtlCol="0" anchor="ctr"/>
          <a:lstStyle/>
          <a:p>
            <a:pPr indent="0" marL="0">
              <a:buNone/>
            </a:pPr>
            <a:r>
              <a:rPr lang="en-US" sz="1800" b="1" dirty="0">
                <a:solidFill>
                  <a:srgbClr val="C9780A"/>
                </a:solidFill>
                <a:latin typeface="Calibri" pitchFamily="34" charset="0"/>
                <a:cs typeface="Amiri" pitchFamily="2" charset="-78"/>
              </a:rPr>
              <a:t>EBI</a:t>
            </a:r>
            <a:endParaRPr lang="en-US" sz="1800" dirty="0"/>
          </a:p>
          <a:p>
            <a:pPr indent="0" marL="0">
              <a:buNone/>
            </a:pPr>
            <a:r>
              <a:rPr lang="en-US" sz="1200" dirty="0">
                <a:solidFill>
                  <a:srgbClr val="1F2A37"/>
                </a:solidFill>
                <a:latin typeface="Calibri" pitchFamily="34" charset="0"/>
                <a:cs typeface="Amiri" pitchFamily="2" charset="-78"/>
              </a:rPr>
              <a:t>Even better if… One thing you will fix or add.</a:t>
            </a:r>
            <a:endParaRPr lang="en-US" sz="1800" dirty="0"/>
          </a:p>
        </p:txBody>
      </p:sp>
      <p:sp>
        <p:nvSpPr>
          <p:cNvPr id="44" name="Text 41"/>
          <p:cNvSpPr txBox="1"/>
          <p:nvPr/>
        </p:nvSpPr>
        <p:spPr>
          <a:xfrm>
            <a:off x="10360152" y="6455664"/>
            <a:ext cx="1371600" cy="219456"/>
          </a:xfrm>
          <a:prstGeom prst="rect">
            <a:avLst/>
          </a:prstGeom>
          <a:noFill/>
          <a:ln/>
        </p:spPr>
        <p:txBody>
          <a:bodyPr wrap="square" lIns="0" tIns="0" rIns="0" bIns="0" rtlCol="0" anchor="ctr"/>
          <a:lstStyle/>
          <a:p>
            <a:pPr algn="r" indent="0" marL="0">
              <a:buNone/>
            </a:pPr>
            <a:r>
              <a:rPr lang="en-US" sz="850" dirty="0">
                <a:solidFill>
                  <a:srgbClr val="8A93A0"/>
                </a:solidFill>
                <a:latin typeface="Calibri" pitchFamily="34" charset="0"/>
                <a:cs typeface="Amiri" pitchFamily="2" charset="-78"/>
              </a:rPr>
              <a:t>23 / 24</a:t>
            </a:r>
            <a:endParaRPr lang="en-US" sz="850" dirty="0"/>
          </a:p>
        </p:txBody>
      </p:sp>
    </p:spTree>
  </p:cSld>
  <p:clrMapOvr>
    <a:masterClrMapping/>
  </p:clrMapOvr>
</p:sld>
</file>

<file path=ppt/slides/slide24.xml><?xml version="1.0" encoding="utf-8"?>
<p:sld xmlns:a="http://schemas.openxmlformats.org/drawingml/2006/main" xmlns:r="http://schemas.openxmlformats.org/officeDocument/2006/relationships" xmlns:p="http://schemas.openxmlformats.org/presentationml/2006/main">
  <p:cSld name="Slide 24">
    <p:bg>
      <p:bgPr>
        <a:solidFill>
          <a:srgbClr val="0D1F3C"/>
        </a:solidFill>
      </p:bgPr>
    </p:bg>
    <p:spTree>
      <p:nvGrpSpPr>
        <p:cNvPr id="1" name=""/>
        <p:cNvGrpSpPr/>
        <p:nvPr/>
      </p:nvGrpSpPr>
      <p:grpSpPr>
        <a:xfrm>
          <a:off x="0" y="0"/>
          <a:ext cx="0" cy="0"/>
          <a:chOff x="0" y="0"/>
          <a:chExt cx="0" cy="0"/>
        </a:xfrm>
      </p:grpSpPr>
      <p:sp>
        <p:nvSpPr>
          <p:cNvPr id="2" name="Shape 0"/>
          <p:cNvSpPr/>
          <p:nvPr/>
        </p:nvSpPr>
        <p:spPr>
          <a:xfrm>
            <a:off x="7863840" y="1097280"/>
            <a:ext cx="5852160" cy="5852160"/>
          </a:xfrm>
          <a:prstGeom prst="ellipse">
            <a:avLst/>
          </a:prstGeom>
          <a:solidFill>
            <a:srgbClr val="14315C"/>
          </a:solidFill>
          <a:ln w="12700">
            <a:solidFill>
              <a:srgbClr val="14315C"/>
            </a:solidFill>
            <a:prstDash val="solid"/>
          </a:ln>
        </p:spPr>
      </p:sp>
      <p:sp>
        <p:nvSpPr>
          <p:cNvPr id="3" name="Shape 1"/>
          <p:cNvSpPr/>
          <p:nvPr/>
        </p:nvSpPr>
        <p:spPr>
          <a:xfrm>
            <a:off x="9372600" y="2606040"/>
            <a:ext cx="1737360" cy="1737360"/>
          </a:xfrm>
          <a:prstGeom prst="ellipse">
            <a:avLst/>
          </a:prstGeom>
          <a:solidFill>
            <a:srgbClr val="D4AF37"/>
          </a:solidFill>
          <a:ln w="12700">
            <a:solidFill>
              <a:srgbClr val="D4AF37"/>
            </a:solidFill>
            <a:prstDash val="solid"/>
          </a:ln>
        </p:spPr>
      </p:sp>
      <p:pic>
        <p:nvPicPr>
          <p:cNvPr id="4" name="Image 0" descr="preencoded.png">    </p:cNvPr>
          <p:cNvPicPr>
            <a:picLocks noChangeAspect="1"/>
          </p:cNvPicPr>
          <p:nvPr/>
        </p:nvPicPr>
        <p:blipFill>
          <a:blip r:embed="rId1"/>
          <a:stretch>
            <a:fillRect/>
          </a:stretch>
        </p:blipFill>
        <p:spPr>
          <a:xfrm>
            <a:off x="9710928" y="2944368"/>
            <a:ext cx="1060704" cy="1060704"/>
          </a:xfrm>
          <a:prstGeom prst="rect">
            <a:avLst/>
          </a:prstGeom>
        </p:spPr>
      </p:pic>
      <p:sp>
        <p:nvSpPr>
          <p:cNvPr id="5" name="Text 2"/>
          <p:cNvSpPr txBox="1"/>
          <p:nvPr/>
        </p:nvSpPr>
        <p:spPr>
          <a:xfrm>
            <a:off x="457200" y="1280160"/>
            <a:ext cx="5486400" cy="274320"/>
          </a:xfrm>
          <a:prstGeom prst="rect">
            <a:avLst/>
          </a:prstGeom>
          <a:noFill/>
          <a:ln/>
        </p:spPr>
        <p:txBody>
          <a:bodyPr wrap="square" lIns="0" tIns="0" rIns="0" bIns="0" rtlCol="0" anchor="ctr"/>
          <a:lstStyle/>
          <a:p>
            <a:pPr algn="l" indent="0" marL="0">
              <a:buNone/>
            </a:pPr>
            <a:r>
              <a:rPr lang="en-US" sz="1100" b="1" spc="300" kern="0" dirty="0">
                <a:solidFill>
                  <a:srgbClr val="D4AF37"/>
                </a:solidFill>
                <a:latin typeface="Calibri" pitchFamily="34" charset="0"/>
                <a:cs typeface="Amiri" pitchFamily="2" charset="-78"/>
              </a:rPr>
              <a:t>F6-W03 COMPLETE</a:t>
            </a:r>
            <a:endParaRPr lang="en-US" sz="1100" dirty="0"/>
          </a:p>
        </p:txBody>
      </p:sp>
      <p:sp>
        <p:nvSpPr>
          <p:cNvPr id="6" name="Text 3"/>
          <p:cNvSpPr txBox="1"/>
          <p:nvPr/>
        </p:nvSpPr>
        <p:spPr>
          <a:xfrm>
            <a:off x="457200" y="1691640"/>
            <a:ext cx="7315200" cy="914400"/>
          </a:xfrm>
          <a:prstGeom prst="rect">
            <a:avLst/>
          </a:prstGeom>
          <a:noFill/>
          <a:ln/>
        </p:spPr>
        <p:txBody>
          <a:bodyPr wrap="square" lIns="0" tIns="0" rIns="0" bIns="0" rtlCol="0" anchor="ctr"/>
          <a:lstStyle/>
          <a:p>
            <a:pPr rtl="1" algn="l" indent="0" marL="0">
              <a:buNone/>
            </a:pPr>
            <a:r>
              <a:rPr lang="ar-SA" altLang="en-US" sz="4000" b="1" dirty="0">
                <a:solidFill>
                  <a:srgbClr val="FFFFFF"/>
                </a:solidFill>
                <a:latin typeface="Amiri" pitchFamily="2" charset="-78"/>
                <a:ea typeface="Amiri" pitchFamily="2" charset="-78"/>
                <a:cs typeface="Amiri" pitchFamily="2" charset="-78"/>
              </a:rPr>
              <a:t>أَحْسَنْتُمْ! إِلَى اللِّقَاءِ</a:t>
            </a:r>
            <a:endParaRPr lang="ar-SA" sz="4000" dirty="0"/>
          </a:p>
        </p:txBody>
      </p:sp>
      <p:sp>
        <p:nvSpPr>
          <p:cNvPr id="7" name="Text 4"/>
          <p:cNvSpPr txBox="1"/>
          <p:nvPr/>
        </p:nvSpPr>
        <p:spPr>
          <a:xfrm>
            <a:off x="457200" y="2606040"/>
            <a:ext cx="7315200" cy="411480"/>
          </a:xfrm>
          <a:prstGeom prst="rect">
            <a:avLst/>
          </a:prstGeom>
          <a:noFill/>
          <a:ln/>
        </p:spPr>
        <p:txBody>
          <a:bodyPr wrap="square" lIns="0" tIns="0" rIns="0" bIns="0" rtlCol="0" anchor="ctr"/>
          <a:lstStyle/>
          <a:p>
            <a:pPr algn="l" indent="0" marL="0">
              <a:buNone/>
            </a:pPr>
            <a:r>
              <a:rPr lang="en-US" sz="1600" i="1" dirty="0">
                <a:solidFill>
                  <a:srgbClr val="C6D2E6"/>
                </a:solidFill>
                <a:latin typeface="Calibri" pitchFamily="34" charset="0"/>
                <a:cs typeface="Amiri" pitchFamily="2" charset="-78"/>
              </a:rPr>
              <a:t>Well done — you used two lessons together!</a:t>
            </a:r>
            <a:endParaRPr lang="en-US" sz="1600" dirty="0"/>
          </a:p>
        </p:txBody>
      </p:sp>
      <p:sp>
        <p:nvSpPr>
          <p:cNvPr id="8" name="Text 5"/>
          <p:cNvSpPr txBox="1"/>
          <p:nvPr/>
        </p:nvSpPr>
        <p:spPr>
          <a:xfrm>
            <a:off x="457200" y="3566160"/>
            <a:ext cx="5486400" cy="274320"/>
          </a:xfrm>
          <a:prstGeom prst="rect">
            <a:avLst/>
          </a:prstGeom>
          <a:noFill/>
          <a:ln/>
        </p:spPr>
        <p:txBody>
          <a:bodyPr wrap="square" lIns="0" tIns="0" rIns="0" bIns="0" rtlCol="0" anchor="ctr"/>
          <a:lstStyle/>
          <a:p>
            <a:pPr algn="l" indent="0" marL="0">
              <a:buNone/>
            </a:pPr>
            <a:r>
              <a:rPr lang="en-US" sz="1100" b="1" spc="300" kern="0" dirty="0">
                <a:solidFill>
                  <a:srgbClr val="D4AF37"/>
                </a:solidFill>
                <a:latin typeface="Calibri" pitchFamily="34" charset="0"/>
                <a:cs typeface="Amiri" pitchFamily="2" charset="-78"/>
              </a:rPr>
              <a:t>NEXT LESSON</a:t>
            </a:r>
            <a:endParaRPr lang="en-US" sz="1100" dirty="0"/>
          </a:p>
        </p:txBody>
      </p:sp>
      <p:sp>
        <p:nvSpPr>
          <p:cNvPr id="9" name="Text 6"/>
          <p:cNvSpPr txBox="1"/>
          <p:nvPr/>
        </p:nvSpPr>
        <p:spPr>
          <a:xfrm>
            <a:off x="457200" y="3886200"/>
            <a:ext cx="7315200" cy="548640"/>
          </a:xfrm>
          <a:prstGeom prst="rect">
            <a:avLst/>
          </a:prstGeom>
          <a:noFill/>
          <a:ln/>
        </p:spPr>
        <p:txBody>
          <a:bodyPr wrap="square" lIns="0" tIns="0" rIns="0" bIns="0" rtlCol="0" anchor="ctr"/>
          <a:lstStyle/>
          <a:p>
            <a:pPr algn="l" indent="0" marL="0">
              <a:buNone/>
            </a:pPr>
            <a:r>
              <a:rPr lang="en-US" sz="1650" b="1" dirty="0">
                <a:solidFill>
                  <a:srgbClr val="FFFFFF"/>
                </a:solidFill>
                <a:latin typeface="Cambria" pitchFamily="34" charset="0"/>
                <a:cs typeface="Amiri" pitchFamily="2" charset="-78"/>
              </a:rPr>
              <a:t>F6-L07 · The Built Environment: Buildings, Materials and Urban Life</a:t>
            </a:r>
            <a:endParaRPr lang="en-US" sz="1650" dirty="0"/>
          </a:p>
        </p:txBody>
      </p:sp>
      <p:sp>
        <p:nvSpPr>
          <p:cNvPr id="10" name="Text 7"/>
          <p:cNvSpPr txBox="1"/>
          <p:nvPr/>
        </p:nvSpPr>
        <p:spPr>
          <a:xfrm>
            <a:off x="457200" y="4434840"/>
            <a:ext cx="7315200" cy="548640"/>
          </a:xfrm>
          <a:prstGeom prst="rect">
            <a:avLst/>
          </a:prstGeom>
          <a:noFill/>
          <a:ln/>
        </p:spPr>
        <p:txBody>
          <a:bodyPr wrap="square" lIns="0" tIns="0" rIns="0" bIns="0" rtlCol="0" anchor="ctr"/>
          <a:lstStyle/>
          <a:p>
            <a:pPr rtl="1" algn="l" indent="0" marL="0">
              <a:buNone/>
            </a:pPr>
            <a:r>
              <a:rPr lang="ar-SA" altLang="en-US" sz="2400" b="1" dirty="0">
                <a:solidFill>
                  <a:srgbClr val="D4AF37"/>
                </a:solidFill>
                <a:latin typeface="Amiri" pitchFamily="2" charset="-78"/>
                <a:ea typeface="Amiri" pitchFamily="2" charset="-78"/>
                <a:cs typeface="Amiri" pitchFamily="2" charset="-78"/>
              </a:rPr>
              <a:t>البِيئَةُ المَبْنِيَّةُ</a:t>
            </a:r>
            <a:endParaRPr lang="ar-SA" sz="2400" dirty="0"/>
          </a:p>
        </p:txBody>
      </p:sp>
      <p:sp>
        <p:nvSpPr>
          <p:cNvPr id="11" name="Text 8"/>
          <p:cNvSpPr txBox="1"/>
          <p:nvPr/>
        </p:nvSpPr>
        <p:spPr>
          <a:xfrm>
            <a:off x="457200" y="5303520"/>
            <a:ext cx="7315200" cy="365760"/>
          </a:xfrm>
          <a:prstGeom prst="rect">
            <a:avLst/>
          </a:prstGeom>
          <a:noFill/>
          <a:ln/>
        </p:spPr>
        <p:txBody>
          <a:bodyPr wrap="square" lIns="0" tIns="0" rIns="0" bIns="0" rtlCol="0" anchor="ctr"/>
          <a:lstStyle/>
          <a:p>
            <a:pPr algn="l" indent="0" marL="0">
              <a:buNone/>
            </a:pPr>
            <a:r>
              <a:rPr lang="en-US" sz="1300" b="1" dirty="0">
                <a:solidFill>
                  <a:srgbClr val="FFFFFF"/>
                </a:solidFill>
                <a:latin typeface="Calibri" pitchFamily="34" charset="0"/>
                <a:cs typeface="Amiri" pitchFamily="2" charset="-78"/>
              </a:rPr>
              <a:t>Remember: keep using this week’s language — say it, then write it.</a:t>
            </a:r>
            <a:endParaRPr lang="en-US" sz="1300" dirty="0"/>
          </a:p>
        </p:txBody>
      </p:sp>
    </p:spTree>
  </p:cSld>
  <p:clrMapOvr>
    <a:masterClrMapping/>
  </p:clrMapOvr>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a:majorFont>
        <a:latin typeface="Calibri Light" panose="020F0302020204030204"/>
        <a:ea typeface="Amiri" pitchFamily="2" charset="-78"/>
        <a:cs typeface="Amiri" pitchFamily="2" charset="-78"/>
        <a:font script="Arab" typeface="Amiri"/>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Calibri" panose="020F0502020204030204"/>
        <a:ea typeface="Amiri" pitchFamily="2" charset="-78"/>
        <a:cs typeface="Amiri" pitchFamily="2" charset="-78"/>
        <a:font script="Arab" typeface="Amiri"/>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docProps/app.xml><?xml version="1.0" encoding="utf-8"?>
<Properties xmlns="http://schemas.openxmlformats.org/officeDocument/2006/extended-properties" xmlns:vt="http://schemas.openxmlformats.org/officeDocument/2006/docPropsVTypes">
  <TotalTime>0</TotalTime>
  <Words>0</Words>
  <Application>Microsoft Office PowerPoint</Application>
  <PresentationFormat>On-screen Show (16:9)</PresentationFormat>
  <Paragraphs>0</Paragraphs>
  <Slides>24</Slides>
  <Notes>24</Notes>
  <HiddenSlides>0</HiddenSlides>
  <MMClips>0</MMClips>
  <ScaleCrop>false</ScaleCrop>
  <HeadingPairs>
    <vt:vector size="6" baseType="variant">
      <vt:variant>
        <vt:lpstr>Fonts Used</vt:lpstr>
      </vt:variant>
      <vt:variant>
        <vt:i4>2</vt:i4>
      </vt:variant>
      <vt:variant>
        <vt:lpstr>Theme</vt:lpstr>
      </vt:variant>
      <vt:variant>
        <vt:i4>1</vt:i4>
      </vt:variant>
      <vt:variant>
        <vt:lpstr>Slide Titles</vt:lpstr>
      </vt:variant>
      <vt:variant>
        <vt:i4>24</vt:i4>
      </vt:variant>
    </vt:vector>
  </HeadingPairs>
  <TitlesOfParts>
    <vt:vector size="27" baseType="lpstr">
      <vt:lpstr>Arial</vt:lpstr>
      <vt:lpstr>Calibri</vt:lpstr>
      <vt:lpstr>Office Theme</vt:lpstr>
      <vt:lpstr>Slide 1</vt:lpstr>
      <vt:lpstr>Slide 2</vt:lpstr>
      <vt:lpstr>Slide 3</vt:lpstr>
      <vt:lpstr>Slide 4</vt:lpstr>
      <vt:lpstr>Slide 5</vt:lpstr>
      <vt:lpstr>Slide 6</vt:lpstr>
      <vt:lpstr>Slide 7</vt:lpstr>
      <vt:lpstr>Slide 8</vt:lpstr>
      <vt:lpstr>Slide 9</vt:lpstr>
      <vt:lpstr>Slide 10</vt:lpstr>
      <vt:lpstr>Slide 11</vt:lpstr>
      <vt:lpstr>Slide 12</vt:lpstr>
      <vt:lpstr>Slide 13</vt:lpstr>
      <vt:lpstr>Slide 14</vt:lpstr>
      <vt:lpstr>Slide 15</vt:lpstr>
      <vt:lpstr>Slide 16</vt:lpstr>
      <vt:lpstr>Slide 17</vt:lpstr>
      <vt:lpstr>Slide 18</vt:lpstr>
      <vt:lpstr>Slide 19</vt:lpstr>
      <vt:lpstr>Slide 20</vt:lpstr>
      <vt:lpstr>Slide 21</vt:lpstr>
      <vt:lpstr>Slide 22</vt:lpstr>
      <vt:lpstr>Slide 23</vt:lpstr>
      <vt:lpstr>Slide 24</vt:lpstr>
    </vt:vector>
  </TitlesOfParts>
  <Company>Al Madina Online School</Company>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F6-W03 · Apply Workshop — Market or Shopping Centre?</dc:title>
  <dc:subject>PptxGenJS Presentation</dc:subject>
  <dc:creator>Al Madina Online School · Arabic Department</dc:creator>
  <cp:lastModifiedBy>Al Madina Online School · Arabic Department</cp:lastModifiedBy>
  <cp:revision>1</cp:revision>
  <dcterms:created xsi:type="dcterms:W3CDTF">2026-10-26T15:12:33Z</dcterms:created>
  <dcterms:modified xsi:type="dcterms:W3CDTF">2026-10-26T15:12:33Z</dcterms:modified>
</cp:coreProperties>
</file>