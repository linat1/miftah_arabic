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F6-L07 · Learn F6-L08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F6-L07 (The Built Environment: Buildings, Materials and Urban Life) and F6-L08 (Giving Directions: Signs, Streets and Maps).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F6-L07 and F6-L08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F6-L07? After F6-L08?” Take two answers in the chat for each lesson (one word or one sentence is enough). Then read objective 3 — today’s new situation that needs BOTH lessons. Students tick their route goals at the end of the lesson.
F6-L07 language: mabniyyun / mabniyyatun min + material; adjectives that agree (qadīm · ḥadīth · ʿālin); comparing with baynamā (whereas); old vs new, city vs countryside
F6-L08 language: kayfa adhhabu ilā …?; commands to a boy / girl / group (idhhab · idhhabī · idhhabū; inʿaṭif · inʿaṭifī · inʿaṭifū; uʿbur · uʿburī · uʿburū); mustaqīman · yamīnan · yasāran · ḥattā; signs (mamnūʿ al-dukhūl · madkhal · makhraj)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F6-L07 and F6-L08. Teacher reads it once with a confident student; then pairs. Ask: “Which lines are from F6-L07? Which from F6-L08?” Buildings, مَبْنِيٌّ / مَبْنِيَّةٌ مِنْ … and بَيْنَمَا come from F6-L07; commands to a group (اذْهَبُوا · انْعَطِفُوا) and route words from F6-L08.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buildings, materials, old / new and بَيْنَمَا (F6-L07) with commands to a boy, a girl and a group, route words and signs (F6-L08). SUPPORTED: the plan column gives the first words, not the full answer. To a girl Partner A says: tasks 2 and 3 already practise both: to a boy (اذْهَبْ · انْعَطِفْ) and to a girl (اذْهَبِي · اعْبُرِي).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F6-L07 and F6-L08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F6-L07 and F6-L08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(45 words). CHECK YOURSELF (2 min). Find each bullet point in the model, and one phrase from F6-L07 and one from F6-L08.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F6-L07 + F6-L08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Heritage Walking Tour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جَوْلَةٌ فِي المَدِينَةِ القَدِيمَةِ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join buildings and materials with directions: as tour guides they lead a group from an old stone mosque to a modern glass library, describing each building (what it is built of, old or new) and giving directions to a boy, a girl and the whole group, then write the tour leaflet.</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F6-L07 + F6-L08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F6-L07 and F6-L08.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F6-L07 + F6-L08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F6-L07: The Built Environment: Buildings, Materials and Urban Life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F6-L08: Giving Directions: Signs, Streets and Maps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tour guide · Our heritage tour leaflet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F6-L07 and F6-L08.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F6-L07 · The Built Environment: Buildings, Materials and Urban Life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مَبْنِيٌّ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مَبْنِيَّةٌ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buildings</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مَبَانٍ مَبْنِيَّةٌ</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طُوبٌ</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brick</a:t>
            </a:r>
            <a:endParaRPr lang="en-US" sz="1350" dirty="0"/>
          </a:p>
          <a:p>
            <a:pPr indent="0" marL="0">
              <a:buNone/>
            </a:pPr>
            <a:r>
              <a:rPr lang="en-US" sz="1100" i="1" dirty="0">
                <a:solidFill>
                  <a:srgbClr val="5A6472"/>
                </a:solidFill>
                <a:latin typeface="Calibri" pitchFamily="34" charset="0"/>
                <a:cs typeface="Amiri" pitchFamily="2" charset="-78"/>
              </a:rPr>
              <a:t>ṭū-bun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خَشَبٌ</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wood</a:t>
            </a:r>
            <a:endParaRPr lang="en-US" sz="1350" dirty="0"/>
          </a:p>
          <a:p>
            <a:pPr indent="0" marL="0">
              <a:buNone/>
            </a:pPr>
            <a:r>
              <a:rPr lang="en-US" sz="1100" i="1" dirty="0">
                <a:solidFill>
                  <a:srgbClr val="5A6472"/>
                </a:solidFill>
                <a:latin typeface="Calibri" pitchFamily="34" charset="0"/>
                <a:cs typeface="Amiri" pitchFamily="2" charset="-78"/>
              </a:rPr>
              <a:t>kha-sha-bun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مَعْدِنٌ</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metal</a:t>
            </a:r>
            <a:endParaRPr lang="en-US" sz="1350" dirty="0"/>
          </a:p>
          <a:p>
            <a:pPr indent="0" marL="0">
              <a:buNone/>
            </a:pPr>
            <a:r>
              <a:rPr lang="en-US" sz="1100" i="1" dirty="0">
                <a:solidFill>
                  <a:srgbClr val="5A6472"/>
                </a:solidFill>
                <a:latin typeface="Calibri" pitchFamily="34" charset="0"/>
                <a:cs typeface="Amiri" pitchFamily="2" charset="-78"/>
              </a:rPr>
              <a:t>maʿ-di-nun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نَاطِحَةُ سَحَابٍ</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skyscraper</a:t>
            </a:r>
            <a:endParaRPr lang="en-US" sz="1350" dirty="0"/>
          </a:p>
          <a:p>
            <a:pPr indent="0" marL="0">
              <a:buNone/>
            </a:pPr>
            <a:r>
              <a:rPr lang="en-US" sz="1100" i="1" dirty="0">
                <a:solidFill>
                  <a:srgbClr val="5A6472"/>
                </a:solidFill>
                <a:latin typeface="Calibri" pitchFamily="34" charset="0"/>
                <a:cs typeface="Amiri" pitchFamily="2" charset="-78"/>
              </a:rPr>
              <a:t>nā-ṭi-ḥa-tu sa-ḥā-bin</a:t>
            </a:r>
            <a:endParaRPr lang="en-US" sz="1350" dirty="0"/>
          </a:p>
        </p:txBody>
      </p:sp>
      <p:sp>
        <p:nvSpPr>
          <p:cNvPr id="63" name="Shape 60"/>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5" name="Text 62"/>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نَاطِحَةُ سَحَابٍ</a:t>
            </a:r>
            <a:endParaRPr lang="ar-SA" sz="1500" dirty="0"/>
          </a:p>
        </p:txBody>
      </p:sp>
      <p:sp>
        <p:nvSpPr>
          <p:cNvPr id="66" name="Shape 63"/>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نَاطِحَاتُ سَحَابٍ</a:t>
            </a:r>
            <a:endParaRPr lang="ar-SA" sz="150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2" name="Shape 6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 تَقْلِيدِيٌّ</a:t>
            </a:r>
            <a:endParaRPr lang="ar-SA" sz="3000" dirty="0"/>
          </a:p>
        </p:txBody>
      </p:sp>
      <p:sp>
        <p:nvSpPr>
          <p:cNvPr id="75" name="Text 7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house</a:t>
            </a:r>
            <a:endParaRPr lang="en-US" sz="1350" dirty="0"/>
          </a:p>
          <a:p>
            <a:pPr indent="0" marL="0">
              <a:buNone/>
            </a:pPr>
            <a:r>
              <a:rPr lang="en-US" sz="1100" i="1" dirty="0">
                <a:solidFill>
                  <a:srgbClr val="5A6472"/>
                </a:solidFill>
                <a:latin typeface="Calibri" pitchFamily="34" charset="0"/>
                <a:cs typeface="Amiri" pitchFamily="2" charset="-78"/>
              </a:rPr>
              <a:t>bay-tun taq-lī-diy-yun</a:t>
            </a:r>
            <a:endParaRPr lang="en-US" sz="13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F6-L08 · Giving Directions: Signs, Streets and Maps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اِذْهَبْ / اِذْهَبِي / اِذْهَبُوا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m/f/pl</a:t>
            </a:r>
            <a:endParaRPr lang="en-US" sz="1350" dirty="0"/>
          </a:p>
          <a:p>
            <a:pPr indent="0" marL="0">
              <a:buNone/>
            </a:pPr>
            <a:r>
              <a:rPr lang="en-US" sz="1100" i="1" dirty="0">
                <a:solidFill>
                  <a:srgbClr val="5A6472"/>
                </a:solidFill>
                <a:latin typeface="Calibri" pitchFamily="34" charset="0"/>
                <a:cs typeface="Amiri" pitchFamily="2" charset="-78"/>
              </a:rPr>
              <a:t>idh-hab / idh-ha-bī / idh-ha-bū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اِعْبُرْ / اِعْبُرِي / اِعْبُرُوا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cross m/f/pl</a:t>
            </a:r>
            <a:endParaRPr lang="en-US" sz="1350" dirty="0"/>
          </a:p>
          <a:p>
            <a:pPr indent="0" marL="0">
              <a:buNone/>
            </a:pPr>
            <a:r>
              <a:rPr lang="en-US" sz="1100" i="1" dirty="0">
                <a:solidFill>
                  <a:srgbClr val="5A6472"/>
                </a:solidFill>
                <a:latin typeface="Calibri" pitchFamily="34" charset="0"/>
                <a:cs typeface="Amiri" pitchFamily="2" charset="-78"/>
              </a:rPr>
              <a:t>iʿ-bur / iʿ-bu-rī / iʿ-bu-rū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يَمِينًا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right</a:t>
            </a:r>
            <a:endParaRPr lang="en-US" sz="1350" dirty="0"/>
          </a:p>
          <a:p>
            <a:pPr indent="0" marL="0">
              <a:buNone/>
            </a:pPr>
            <a:r>
              <a:rPr lang="en-US" sz="1100" i="1" dirty="0">
                <a:solidFill>
                  <a:srgbClr val="5A6472"/>
                </a:solidFill>
                <a:latin typeface="Calibri" pitchFamily="34" charset="0"/>
                <a:cs typeface="Amiri" pitchFamily="2" charset="-78"/>
              </a:rPr>
              <a:t>ya-mī-nan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until</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مَخْرَجٌ</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exit</a:t>
            </a:r>
            <a:endParaRPr lang="en-US" sz="1350" dirty="0"/>
          </a:p>
          <a:p>
            <a:pPr indent="0" marL="0">
              <a:buNone/>
            </a:pPr>
            <a:r>
              <a:rPr lang="en-US" sz="1100" i="1" dirty="0">
                <a:solidFill>
                  <a:srgbClr val="5A6472"/>
                </a:solidFill>
                <a:latin typeface="Calibri" pitchFamily="34" charset="0"/>
                <a:cs typeface="Amiri" pitchFamily="2" charset="-78"/>
              </a:rPr>
              <a:t>makh-ra-jun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دَوَّارٌ</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roundabout</a:t>
            </a:r>
            <a:endParaRPr lang="en-US" sz="1350" dirty="0"/>
          </a:p>
          <a:p>
            <a:pPr indent="0" marL="0">
              <a:buNone/>
            </a:pPr>
            <a:r>
              <a:rPr lang="en-US" sz="1100" i="1" dirty="0">
                <a:solidFill>
                  <a:srgbClr val="5A6472"/>
                </a:solidFill>
                <a:latin typeface="Calibri" pitchFamily="34" charset="0"/>
                <a:cs typeface="Amiri" pitchFamily="2" charset="-78"/>
              </a:rPr>
              <a:t>daw-wā-run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مَبْنِيٌّ / مَبْنِيَّةٌ مِنَ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اذْهَبِي مُسْتَقِيمًا حَتَّى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انْعَطِفِي يَمِينًا / يَسَارًا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قَدِيمٌ وَ… · هِيَ حَدِيثَةٌ وَ…</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اعْبُرِي الشَّارِعَ أَمَامَ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عَلَى اليَمِينِ، مُقَابِلَ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F6-L07 · The Built Environment: Buildings, Materials and Urban Life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F6-L08 · Giving Directions: Signs, Streets and Maps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F6-L07 · The Built Environment: Buildings, Materials and Urban Life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مَبْنِيٌّ / مَبْنِيَّةٌ مِنَ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قَدِيمٌ وَ… · هِيَ حَدِيثَةٌ وَ…</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F6-L08 · Giving Directions: Signs, Streets and Maps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اذْهَبِي مُسْتَقِيمًا حَتَّى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انْعَطِفِي يَمِينًا / يَسَارًا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اعْبُرِي الشَّارِعَ أَمَامَ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عَلَى اليَمِينِ، مُقَابِلَ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tour guide speaks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يَتَكَلَّمُ المُرْشِدُ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mosque is very old, and it is built of stone.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هٰذَا المَسْجِدُ قَدِيمٌ جِدًّا، وَهُوَ مَبْنِيٌّ مِنَ الحَجَرِ.</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do we get to the new library?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وَكَيْفَ نَذْهَبُ إِلَى المَكْتَبَةِ الجَدِيدَةِ؟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(all) straight on as far as the roundabout, then turn left.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اذْهَبُوا مُسْتَقِيمًا حَتَّى الدَّوَّارِ، ثُمَّ انْعَطِفُوا يَسَارًا.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library built of stone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المَكْتَبَةُ مَبْنِيَّةٌ مِنَ الحَجَرِ أَيْضًا؟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it is modern and built of glass and metal.</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لَا، هِيَ حَدِيثَةٌ وَمَبْنِيَّةٌ مِنَ الزُّجَاجِ وَالمَعْدِنِ.</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mosque is quiet and historic, whereas the library is tall and bright.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المَسْجِدُ هَادِئٌ وَتَارِيخِيٌّ، بَيْنَمَا المَكْتَبَةُ عَالِيَةٌ وَمُضِيئَةٌ.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بَيْتِي مَبْنِيٌّ مِنَ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house built of?</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بَيْتُكَ مَبْنِيٌّ؟</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انْعَطِفْ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 مُسْتَقِيمًا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I get to the station? (boy)</a:t>
            </a:r>
            <a:endParaRPr lang="en-US" sz="1100" dirty="0"/>
          </a:p>
        </p:txBody>
      </p:sp>
      <p:sp>
        <p:nvSpPr>
          <p:cNvPr id="33" name="Text 30"/>
          <p:cNvSpPr txBox="1"/>
          <p:nvPr/>
        </p:nvSpPr>
        <p:spPr>
          <a:xfrm>
            <a:off x="1069848" y="2881884"/>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كَيْفَ أَذْهَبُ إِلَى المَحَطَّةِ؟</a:t>
            </a:r>
            <a:pPr algn="l" indent="0" marL="0">
              <a:buNone/>
            </a:pPr>
            <a:r>
              <a:rPr lang="en-US" sz="1100" dirty="0">
                <a:solidFill>
                  <a:srgbClr val="5A6472"/>
                </a:solidFill>
                <a:latin typeface="Calibri" pitchFamily="34" charset="0"/>
                <a:cs typeface="Amiri" pitchFamily="2" charset="-78"/>
              </a:rPr>
              <a:t>‏ (to a boy)</a:t>
            </a:r>
            <a:endParaRPr lang="en-US" sz="11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حَدِيثَةٌ / قَدِيمَةٌ</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مَدْرَسَتِي مَبْنِيَّةٌ مِنَ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school built of?</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مَدْرَسَتُكَ مَبْنِيَّةٌ؟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اعْبُرِي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اذْهَبِي … ، ثُمَّ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I get to the pharmacy? (girl)</a:t>
            </a:r>
            <a:endParaRPr lang="en-US" sz="1100" dirty="0"/>
          </a:p>
        </p:txBody>
      </p:sp>
      <p:sp>
        <p:nvSpPr>
          <p:cNvPr id="49" name="Text 46"/>
          <p:cNvSpPr txBox="1"/>
          <p:nvPr/>
        </p:nvSpPr>
        <p:spPr>
          <a:xfrm>
            <a:off x="1069848" y="4110228"/>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كَيْفَ أَذْهَبُ إِلَى الصَّيْدَلِيَّةِ؟</a:t>
            </a:r>
            <a:pPr algn="l" indent="0" marL="0">
              <a:buNone/>
            </a:pPr>
            <a:r>
              <a:rPr lang="en-US" sz="1100" dirty="0">
                <a:solidFill>
                  <a:srgbClr val="5A6472"/>
                </a:solidFill>
                <a:latin typeface="Calibri" pitchFamily="34" charset="0"/>
                <a:cs typeface="Amiri" pitchFamily="2" charset="-78"/>
              </a:rPr>
              <a:t>‏ (to a girl)</a:t>
            </a:r>
            <a:endParaRPr lang="en-US" sz="11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تُوجَدُ … / لَا،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there skyscrapers in your town?</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تُوجَدُ نَاطِحَاتُ سَحَابٍ فِي مَدِينَتِكَ؟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انْعَطِفُوا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اذْهَبُوا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get to the park? (group)</a:t>
            </a:r>
            <a:endParaRPr lang="en-US" sz="1100" dirty="0"/>
          </a:p>
        </p:txBody>
      </p:sp>
      <p:sp>
        <p:nvSpPr>
          <p:cNvPr id="63" name="Text 60"/>
          <p:cNvSpPr txBox="1"/>
          <p:nvPr/>
        </p:nvSpPr>
        <p:spPr>
          <a:xfrm>
            <a:off x="1069848" y="5338572"/>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كَيْفَ نَذْهَبُ إِلَى الحَدِيقَةِ؟</a:t>
            </a:r>
            <a:pPr algn="l" indent="0" marL="0">
              <a:buNone/>
            </a:pPr>
            <a:r>
              <a:rPr lang="en-US" sz="1100" dirty="0">
                <a:solidFill>
                  <a:srgbClr val="5A6472"/>
                </a:solidFill>
                <a:latin typeface="Calibri" pitchFamily="34" charset="0"/>
                <a:cs typeface="Amiri" pitchFamily="2" charset="-78"/>
              </a:rPr>
              <a:t>‏ (to a group)</a:t>
            </a:r>
            <a:endParaRPr lang="en-US" sz="11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F6-L07, even numbers from F6-L08.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the tour guide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المُرْشِدُ السِّيَاحِيُّ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هٰذَا … ، وَهُوَ مَبْنِيٌّ مِنَ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it is and what it is built of.</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هٰذَا المَبْنَى؟</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اذْهَبْ … ثُمَّ انْعَطِفْ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Directions to a boy: two steps.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أَذْهَبُ إِلَى المَكْتَبَةِ؟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اعْبُرِي … ثُمَّ اذْهَبِي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Directions to a girl: two steps.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وَأَنَا؟ كَيْفَ أَذْهَبُ إِلَى المَتْحَفِ؟</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المَسْجِدُ … بَيْنَمَا المَكْتَبَةُ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المَسْجِدِ وَالمَكْتَبَةِ؟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تَعْنِي … اذْهَبُوا إِلَى المَخْرَجِ</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the sign and send the group to the exit.</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تَعْنِي هٰذِهِ اللَّافِتَةُ: «مَمْنُوعُ الدُّخُولِ»؟</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tour guide · Partner A = a visitor.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mini heritage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جَوْلَتِي الصَّغِيرَةُ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as a tour guide in your town (or a city you know): describe an old building and a new one (what they are built of, two adjectives each, a comparison with ‏</a:t>
            </a:r>
            <a:pPr algn="l" indent="0" marL="0">
              <a:buNone/>
            </a:pPr>
            <a:r>
              <a:rPr lang="ar-SA" altLang="en-US" sz="1750" dirty="0">
                <a:solidFill>
                  <a:srgbClr val="1F2A37"/>
                </a:solidFill>
                <a:latin typeface="Amiri" pitchFamily="2" charset="-78"/>
                <a:ea typeface="Amiri" pitchFamily="2" charset="-78"/>
                <a:cs typeface="Amiri" pitchFamily="2" charset="-78"/>
              </a:rPr>
              <a:t>بَيْنَمَا</a:t>
            </a:r>
            <a:pPr algn="l" indent="0" marL="0">
              <a:buNone/>
            </a:pPr>
            <a:r>
              <a:rPr lang="en-US" sz="1350" dirty="0">
                <a:solidFill>
                  <a:srgbClr val="1F2A37"/>
                </a:solidFill>
                <a:latin typeface="Calibri" pitchFamily="34" charset="0"/>
                <a:cs typeface="Amiri" pitchFamily="2" charset="-78"/>
              </a:rPr>
              <a:t>‏), then give the group directions from one to the other.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هٰذَا … مَبْنِيٌّ مِنَ … · اذْهَبُوا مُسْتَقِيمًا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adjectives for each building and three route steps.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 sign (‏</a:t>
            </a:r>
            <a:pPr algn="l" indent="0" marL="0">
              <a:buNone/>
            </a:pPr>
            <a:r>
              <a:rPr lang="ar-SA" altLang="en-US" sz="1500" dirty="0">
                <a:solidFill>
                  <a:srgbClr val="1F2A37"/>
                </a:solidFill>
                <a:latin typeface="Amiri" pitchFamily="2" charset="-78"/>
                <a:ea typeface="Amiri" pitchFamily="2" charset="-78"/>
                <a:cs typeface="Amiri" pitchFamily="2" charset="-78"/>
              </a:rPr>
              <a:t>مَدْخَلٌ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مَخْرَجٌ</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مَمْنُوعُ الدُّخُولِ</a:t>
            </a:r>
            <a:pPr algn="l" indent="0" marL="0">
              <a:buNone/>
            </a:pPr>
            <a:r>
              <a:rPr lang="en-US" sz="1150" dirty="0">
                <a:solidFill>
                  <a:srgbClr val="1F2A37"/>
                </a:solidFill>
                <a:latin typeface="Calibri" pitchFamily="34" charset="0"/>
                <a:cs typeface="Amiri" pitchFamily="2" charset="-78"/>
              </a:rPr>
              <a:t>‏) and which building you prefer.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مَبْنِيٌّ / مَبْنِيَّةٌ مِنَ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is built of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قَدِيمٌ ، بَيْنَمَا … حَدِيثَةٌ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is old, whereas … is modern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اذْهَبُوا مُسْتَقِيمًا حَتَّى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go (all) straight on as far as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انْعَطِفُوا يَمِينًا / يَسَارًا · اعْبُرُوا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turn right / left · cross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library is built of glass.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الزُّجَاجِ.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بِالزُّجَاجِ.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Go straight on until the station. (to a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اذْهَبِي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اذْهَبْ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مُسْتَقِيمًا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مُسْتَقِيمٌ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حَتَّى المَحَطَّةِ.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حَتَّى المَحَطَّةُ.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old houses are built of stone.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البُيُوتُ القَدِيمَةُ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البُيُوتُ القَدِيمُونَ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مَبْنِيُّونَ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الحَجَرِ.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الحَجَرُ.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library is built of glass.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 </a:t>
            </a:r>
            <a:pPr algn="l" indent="0" marL="0">
              <a:buNone/>
            </a:pPr>
            <a:r>
              <a:rPr lang="ar-SA" altLang="en-US" sz="1350" dirty="0">
                <a:solidFill>
                  <a:srgbClr val="5A6472"/>
                </a:solidFill>
                <a:latin typeface="Amiri" pitchFamily="2" charset="-78"/>
                <a:ea typeface="Amiri" pitchFamily="2" charset="-78"/>
                <a:cs typeface="Amiri" pitchFamily="2" charset="-78"/>
              </a:rPr>
              <a:t>مَبْنِيَّةٌ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المَكْتَبَةُ مَبْنِيَّةٌ مِنَ الزُّجَاجِ.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Go straight on until the station. (to a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اذْهَبِي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حَتَّى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اذْهَبِي مُسْتَقِيمًا حَتَّى المَحَطَّةِ.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old houses are built of stone.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القَدِيمَةُ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البُيُوتُ القَدِيمَةُ مَبْنِيَّةٌ مِنَ الحَجَرِ.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المَدْرَسَةُ مَبْنِيٌّ مِنَ الطُّوبِ.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مَدْرَسَةٌ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انْعَطِفْ يَمِينًا يَا مَرْيَمُ.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العِمَارَاتُ عَالُونَ.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Blocks are not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المَدْرَسَةُ مَبْنِيٌّ مِنَ الطُّوبِ.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المَدْرَسَةُ مَبْنِيَّةٌ مِنَ الطُّوبِ.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مَبْنِيَّةٌ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انْعَطِفْ يَمِينًا يَا مَرْيَمُ.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انْعَطِفِي يَمِينًا يَا مَرْيَمُ.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 -ī.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العِمَارَاتُ عَالُونَ.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العِمَارَاتُ عَالِيَةٌ.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قَدِيمٌ، بَيْنَمَا ______ حَدِيثَةٌ.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old, whereas … is modern.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اعْبُرُوا ______ أَمَامَ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Cross … in front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نَبْدَأُ الجَوْلَةَ عِنْدَ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start the tour at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مَبْنِيٌّ مِنَ ______ ، وَهُوَ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built of …, and it is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اذْهَبُوا مُسْتَقِيمًا حَتَّى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 straight on as far as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انْعَطِفُوا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turn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مَبْنِيَّةٌ مِنَ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second building) is built of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حَجَرٌ · طُوبٌ  ·  زُجَاجٌ · مَعْدِنٌ  ·  مَبْنِيٌّ · مَبْنِيَّةٌ  ·  قَدِيمٌ · حَدِيثٌ · عَالٍ  ·  بَيْنَمَا  ·  اذْهَبُوا · انْعَطِفُوا  ·  اعْبُرُوا · حَتَّى  ·  مَدْخَلٌ · مَخْرَجٌ</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heritage tour leaflet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نَشْرَةُ الجَوْلَةِ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tour leaflet (about 45–65 words) for visitors. Include: • an old building: what it is, what it is built of, two adjectives • a modern building: the same • a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 directions for the group from the first to the second (at least four steps with group commands) • one sign they will see • which building you prefer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F6-L07 AND F6-L08.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نَبْدَأُ الجَوْلَةَ عِنْدَ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start the tour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 مَبْنِيٌّ مِنَ الحَجَرِ ، بَيْنَمَا … مِنَ الزُّجَاجِ</a:t>
            </a:r>
            <a:endParaRPr lang="ar-SA" sz="17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built of stone, whereas … is made of glass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اذْهَبُوا … ثُمَّ انْعَطِفُوا … وَاعْبُرُوا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 … then turn … and cross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سَتَرَوْنَ لَافِتَةَ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will see a “…” sign</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مَبْنِيٌّ / مَبْنِيَّةٌ مِنْ</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command ending for a girl (-ī) every time?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المَسْجِدُ الكَبِيرُ، وَهُوَ مَبْنِيٌّ مِنَ الحَجَرِ.</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the big mosque, and it is built of stone.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هٰذَا المَبْنَى؟</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 مُسْتَقِيمًا، ثُمَّ انْعَطِفْ يَمِينًا عِنْدَ الدَّوَّارِ.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 straight on, then turn right at the roundabout.</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أَذْهَبُ إِلَى المَكْتَبَةِ؟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اعْبُرِي الشَّارِعَ، ثُمَّ اذْهَبِي مُسْتَقِيمًا حَتَّى المَتْحَفِ.</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Cross the street, then go straight on as far as the museum.</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وَأَنَا؟ كَيْفَ أَذْهَبُ إِلَى المَتْحَفِ؟</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المَسْجِدُ قَدِيمٌ وَمِنَ الحَجَرِ، بَيْنَمَا المَكْتَبَةُ حَدِيثَةٌ وَمِنَ الزُّجَاجِ.</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mosque is old and made of stone, whereas the library is modern and made of glass.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الفَرْقُ بَيْنَ المَسْجِدِ وَالمَكْتَبَةِ؟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تَعْنِي: لَا تَدْخُلُوا هُنَا. اذْهَبُوا إِلَى المَخْرَجِ عَلَى اليَسَارِ.</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means: don’t go in here. Go (all) to the exit on the left.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تَعْنِي هٰذِهِ اللَّافِتَةُ: «مَمْنُوعُ الدُّخُولِ»؟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نَبْدَأُ الجَوْلَةَ عِنْدَ المَسْجِدِ الكَبِيرِ. هُوَ مَبْنِيٌّ مِنَ الحَجَرِ، وَهُوَ قَدِيمٌ وَهَادِئٌ. ثُمَّ اذْهَبُوا مُسْتَقِيمًا حَتَّى الدَّوَّارِ، وَانْعَطِفُوا يَسَارًا، وَاعْبُرُوا الشَّارِعَ أَمَامَ السُّوقِ. سَتَرَوْنَ لَافِتَةَ «مَدْخَلٌ». هٰذِهِ المَكْتَبَةُ الجَدِيدَةُ، وَهِيَ مَبْنِيَّةٌ مِنَ الزُّجَاجِ وَالمَعْدِنِ. المَسْجِدُ تَارِيخِيٌّ، بَيْنَمَا المَكْتَبَةُ حَدِيثَةٌ وَمُضِيئَةٌ. أُفَضِّلُ المَسْجِدَ لِأَنَّهُ جَمِيلٌ وَهَادِئٌ.</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 start the tour at the big mosque. It is built of stone, and it is old and quiet. Then go straight on as far as the roundabout, turn left, and cross the street in front of the market. You will see an “Entrance” sign. This is the new library, and it is built of glass and metal. The mosque is historic, whereas the library is modern and bright. I prefer the mosque because it is beautiful and peaceful.”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 مِنَ الحَجَرِ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اذْهَبُوا مُسْتَقِيمًا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وَاعْبُرُوا الشَّارِعَ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المَكْتَبَةُ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F6-W04 · Apply workshop (F6-L07 + F6-L08)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F6-L07 and F6-L08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F6-L09 · Extended Writing: My Town and How I Get Around</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المُوَسَّعَةُ — مَدِينَتِي وَكَيْفَ أَتَنَقَّلُ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F6-W04 · Apply Workshop — A Heritage Walking Tour</dc:title>
  <dc:subject>PptxGenJS Presentation</dc:subject>
  <dc:creator>Al Madina Online School · Arabic Department</dc:creator>
  <cp:lastModifiedBy>Al Madina Online School · Arabic Department</cp:lastModifiedBy>
  <cp:revision>1</cp:revision>
  <dcterms:created xsi:type="dcterms:W3CDTF">2026-10-26T15:47:46Z</dcterms:created>
  <dcterms:modified xsi:type="dcterms:W3CDTF">2026-10-26T15:47:46Z</dcterms:modified>
</cp:coreProperties>
</file>