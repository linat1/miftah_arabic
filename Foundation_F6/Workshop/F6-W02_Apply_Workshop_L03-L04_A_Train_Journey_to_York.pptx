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F6-L03 · Learn F6-L04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F6-L03 (Transport: Types and How We Travel) and F6-L04 (Tickets, Timetables and Journey Duration).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F6-L03 and F6-L04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F6-L03? After F6-L04?” Take two answers in the chat for each lesson (one word or one sentence is enough). Then read objective 3 — today’s new situation that needs BOTH lessons. Students tick their route goals at the end of the lesson.
F6-L03 language: adhhabu bi-l-ḥāfilati / bi-l-qiṭāri / bi-l-sayyārati; ʿalā al-darrājati; mashyan; yarkabu · yaqūdu · yusāfiru; kayfa tadhhabu / tadhhabīna …?
F6-L04 language: urīdu tadhkiratan mufradatan / tadhkirata dhahābin wa-iyāb; yughādiru / yaṣilu + fī al-sāʿati …; min ayyi raṣīfin?; tastaghriqu al-riḥlatu sāʿatayni; yataʾakhkharu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F6-L03.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F6-L04.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F6-L03 and F6-L04. Teacher reads it once with a confident student; then pairs. Ask: “Which lines are from F6-L03? Which from F6-L04?” Tickets, departure, platform and تَسْتَغْرِقُ come from F6-L04; means of transport (بِالحَافِلَةِ · بِالقِطَارِ · مَشْيًا) from F6-L03.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transport patterns بِالحَافِلَةِ / عَلَى الدَّرَّاجَةِ / مَشْيًا (F6-L03) with tickets, prices, times, platforms and duration (F6-L04). SUPPORTED: the plan column gives the first words, not the full answer. To a girl Partner A says: أَيَّ تَذْكِرَةٍ تُرِيدِينَ؟ · تَفَضَّلِي — and she answers the same way. Task 5 is hard for Core: accept لَا بَأْسَ، شُكْرًا. مَتَى يُغَادِرُ الآنَ؟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F6-L03 and F6-L04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F6-L03 and F6-L04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(48 words). CHECK YOURSELF (2 min). Find each bullet point in the model, and one phrase from F6-L03 and one from F6-L04.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F6-L03 + F6-L04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F6-W02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A Train Journey to York</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رِحْلَةٌ بِالقِطَارِ إِلَى يُورْك</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join ways of travelling with tickets and timetables: they plan a family day trip by train — how each person gets to the station, which ticket to buy and for how much, the departure time and platform, how long the journey takes — and write a journey-plan message.</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F6-L03 + F6-L04</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F6-L03 and F6-L04.</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F6-L03 + F6-L04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F6-L03: Transport: Types and How We Travel</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F6-L04: Tickets, Timetables and Journey Duration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booking the family trip · Our journey plan</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F6-L03 and F6-L04.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F6-L03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F6-L03 · Transport: Types and How We Travel</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حَافِلَةٌ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bus</a:t>
            </a:r>
            <a:endParaRPr lang="en-US" sz="1350" dirty="0"/>
          </a:p>
          <a:p>
            <a:pPr indent="0" marL="0">
              <a:buNone/>
            </a:pPr>
            <a:r>
              <a:rPr lang="en-US" sz="1100" i="1" dirty="0">
                <a:solidFill>
                  <a:srgbClr val="5A6472"/>
                </a:solidFill>
                <a:latin typeface="Calibri" pitchFamily="34" charset="0"/>
                <a:cs typeface="Amiri" pitchFamily="2" charset="-78"/>
              </a:rPr>
              <a:t>ḥā-fi-la-tun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حَافِلَةٌ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حَافِلَاتٌ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مِتْرُو</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metro / underground</a:t>
            </a:r>
            <a:endParaRPr lang="en-US" sz="1350" dirty="0"/>
          </a:p>
          <a:p>
            <a:pPr indent="0" marL="0">
              <a:buNone/>
            </a:pPr>
            <a:r>
              <a:rPr lang="en-US" sz="1100" i="1" dirty="0">
                <a:solidFill>
                  <a:srgbClr val="5A6472"/>
                </a:solidFill>
                <a:latin typeface="Calibri" pitchFamily="34" charset="0"/>
                <a:cs typeface="Amiri" pitchFamily="2" charset="-78"/>
              </a:rPr>
              <a:t>mit-rū</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سَيَّارَةُ أُجْرَةٍ</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taxi</a:t>
            </a:r>
            <a:endParaRPr lang="en-US" sz="1350" dirty="0"/>
          </a:p>
          <a:p>
            <a:pPr indent="0" marL="0">
              <a:buNone/>
            </a:pPr>
            <a:r>
              <a:rPr lang="en-US" sz="1100" i="1" dirty="0">
                <a:solidFill>
                  <a:srgbClr val="5A6472"/>
                </a:solidFill>
                <a:latin typeface="Calibri" pitchFamily="34" charset="0"/>
                <a:cs typeface="Amiri" pitchFamily="2" charset="-78"/>
              </a:rPr>
              <a:t>say-yā-ra-tu uj-ra-tin</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7" name="Shape 4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طَائِرَةٌ</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aeroplane</a:t>
            </a:r>
            <a:endParaRPr lang="en-US" sz="1350" dirty="0"/>
          </a:p>
          <a:p>
            <a:pPr indent="0" marL="0">
              <a:buNone/>
            </a:pPr>
            <a:r>
              <a:rPr lang="en-US" sz="1100" i="1" dirty="0">
                <a:solidFill>
                  <a:srgbClr val="5A6472"/>
                </a:solidFill>
                <a:latin typeface="Calibri" pitchFamily="34" charset="0"/>
                <a:cs typeface="Amiri" pitchFamily="2" charset="-78"/>
              </a:rPr>
              <a:t>ṭā-ʾi-ra-tun</a:t>
            </a:r>
            <a:endParaRPr lang="en-US" sz="1350" dirty="0"/>
          </a:p>
        </p:txBody>
      </p:sp>
      <p:sp>
        <p:nvSpPr>
          <p:cNvPr id="53" name="Shape 5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5" name="Text 5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طَائِرَةٌ</a:t>
            </a:r>
            <a:endParaRPr lang="ar-SA" sz="1500" dirty="0"/>
          </a:p>
        </p:txBody>
      </p:sp>
      <p:sp>
        <p:nvSpPr>
          <p:cNvPr id="56" name="Shape 5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طَائِرَاتٌ</a:t>
            </a:r>
            <a:endParaRPr lang="ar-SA" sz="150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2" name="Shape 59"/>
          <p:cNvSpPr/>
          <p:nvPr/>
        </p:nvSpPr>
        <p:spPr>
          <a:xfrm>
            <a:off x="4782312" y="4279392"/>
            <a:ext cx="1331366"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4782312"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you f.</a:t>
            </a:r>
            <a:endParaRPr lang="en-US" sz="800" dirty="0"/>
          </a:p>
        </p:txBody>
      </p:sp>
      <p:sp>
        <p:nvSpPr>
          <p:cNvPr id="64" name="Shape 6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يَرْكَبُ</a:t>
            </a:r>
            <a:endParaRPr lang="ar-SA" sz="3000" dirty="0"/>
          </a:p>
        </p:txBody>
      </p:sp>
      <p:sp>
        <p:nvSpPr>
          <p:cNvPr id="67" name="Text 6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rides</a:t>
            </a:r>
            <a:endParaRPr lang="en-US" sz="1350" dirty="0"/>
          </a:p>
          <a:p>
            <a:pPr indent="0" marL="0">
              <a:buNone/>
            </a:pPr>
            <a:r>
              <a:rPr lang="en-US" sz="1100" i="1" dirty="0">
                <a:solidFill>
                  <a:srgbClr val="5A6472"/>
                </a:solidFill>
                <a:latin typeface="Calibri" pitchFamily="34" charset="0"/>
                <a:cs typeface="Amiri" pitchFamily="2" charset="-78"/>
              </a:rPr>
              <a:t>yar-ka-bu</a:t>
            </a:r>
            <a:endParaRPr lang="en-US" sz="1350" dirty="0"/>
          </a:p>
        </p:txBody>
      </p:sp>
      <p:sp>
        <p:nvSpPr>
          <p:cNvPr id="68" name="Shape 6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70" name="Text 6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يَرْكَبُ</a:t>
            </a:r>
            <a:endParaRPr lang="ar-SA" sz="1500" dirty="0"/>
          </a:p>
        </p:txBody>
      </p:sp>
      <p:sp>
        <p:nvSpPr>
          <p:cNvPr id="71" name="Shape 6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3" name="Text 7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تَرْكَبُ</a:t>
            </a:r>
            <a:endParaRPr lang="ar-SA" sz="1500" dirty="0"/>
          </a:p>
        </p:txBody>
      </p:sp>
      <p:sp>
        <p:nvSpPr>
          <p:cNvPr id="74" name="Shape 7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76" name="Text 73"/>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تَرْكَبِينَ</a:t>
            </a:r>
            <a:endParaRPr lang="ar-SA" sz="1350" dirty="0"/>
          </a:p>
        </p:txBody>
      </p:sp>
      <p:sp>
        <p:nvSpPr>
          <p:cNvPr id="77" name="Shape 7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66928"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يَسِيرُ مَشْيًا</a:t>
            </a:r>
            <a:endParaRPr lang="ar-SA" sz="3000" dirty="0"/>
          </a:p>
        </p:txBody>
      </p:sp>
      <p:sp>
        <p:nvSpPr>
          <p:cNvPr id="83" name="Text 8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walks / goes on foot</a:t>
            </a:r>
            <a:endParaRPr lang="en-US" sz="1350" dirty="0"/>
          </a:p>
          <a:p>
            <a:pPr indent="0" marL="0">
              <a:buNone/>
            </a:pPr>
            <a:r>
              <a:rPr lang="en-US" sz="1100" i="1" dirty="0">
                <a:solidFill>
                  <a:srgbClr val="5A6472"/>
                </a:solidFill>
                <a:latin typeface="Calibri" pitchFamily="34" charset="0"/>
                <a:cs typeface="Amiri" pitchFamily="2" charset="-78"/>
              </a:rPr>
              <a:t>ya-sī-ru mash-yan</a:t>
            </a:r>
            <a:endParaRPr lang="en-US" sz="13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F6-L04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F6-L04 · Tickets, Timetables and Journey Duration</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شُبَّاكُ التَّذَاكِرِ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ticket window</a:t>
            </a:r>
            <a:endParaRPr lang="en-US" sz="1350" dirty="0"/>
          </a:p>
          <a:p>
            <a:pPr indent="0" marL="0">
              <a:buNone/>
            </a:pPr>
            <a:r>
              <a:rPr lang="en-US" sz="1100" i="1" dirty="0">
                <a:solidFill>
                  <a:srgbClr val="5A6472"/>
                </a:solidFill>
                <a:latin typeface="Calibri" pitchFamily="34" charset="0"/>
                <a:cs typeface="Amiri" pitchFamily="2" charset="-78"/>
              </a:rPr>
              <a:t>shub-bā-ku at-ta-dhā-ki-ri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تَذْكِرَةُ ذَهَابٍ وَإِيَابٍ</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return ticket</a:t>
            </a:r>
            <a:endParaRPr lang="en-US" sz="1350" dirty="0"/>
          </a:p>
          <a:p>
            <a:pPr indent="0" marL="0">
              <a:buNone/>
            </a:pPr>
            <a:r>
              <a:rPr lang="en-US" sz="1100" i="1" dirty="0">
                <a:solidFill>
                  <a:srgbClr val="5A6472"/>
                </a:solidFill>
                <a:latin typeface="Calibri" pitchFamily="34" charset="0"/>
                <a:cs typeface="Amiri" pitchFamily="2" charset="-78"/>
              </a:rPr>
              <a:t>tadh-ki-ra-tu dha-hā-bin wa-ʾi-yā-bin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يَصِلُ</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arrives</a:t>
            </a:r>
            <a:endParaRPr lang="en-US" sz="1350" dirty="0"/>
          </a:p>
          <a:p>
            <a:pPr indent="0" marL="0">
              <a:buNone/>
            </a:pPr>
            <a:r>
              <a:rPr lang="en-US" sz="1100" i="1" dirty="0">
                <a:solidFill>
                  <a:srgbClr val="5A6472"/>
                </a:solidFill>
                <a:latin typeface="Calibri" pitchFamily="34" charset="0"/>
                <a:cs typeface="Amiri" pitchFamily="2" charset="-78"/>
              </a:rPr>
              <a:t>ya-ṣi-lu</a:t>
            </a:r>
            <a:endParaRPr lang="en-US" sz="1350" dirty="0"/>
          </a:p>
        </p:txBody>
      </p:sp>
      <p:sp>
        <p:nvSpPr>
          <p:cNvPr id="38" name="Shape 3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0" name="Text 3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يَصِلُ</a:t>
            </a:r>
            <a:endParaRPr lang="ar-SA" sz="1500" dirty="0"/>
          </a:p>
        </p:txBody>
      </p:sp>
      <p:sp>
        <p:nvSpPr>
          <p:cNvPr id="41" name="Shape 3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3" name="Text 40"/>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تَصِلُ</a:t>
            </a:r>
            <a:endParaRPr lang="ar-SA" sz="1350" dirty="0"/>
          </a:p>
        </p:txBody>
      </p:sp>
      <p:sp>
        <p:nvSpPr>
          <p:cNvPr id="44" name="Shape 4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6" name="Text 4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أَصِلُ</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الوَقْتِ</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time</a:t>
            </a:r>
            <a:endParaRPr lang="en-US" sz="1350" dirty="0"/>
          </a:p>
          <a:p>
            <a:pPr indent="0" marL="0">
              <a:buNone/>
            </a:pPr>
            <a:r>
              <a:rPr lang="en-US" sz="1100" i="1" dirty="0">
                <a:solidFill>
                  <a:srgbClr val="5A6472"/>
                </a:solidFill>
                <a:latin typeface="Calibri" pitchFamily="34" charset="0"/>
                <a:cs typeface="Amiri" pitchFamily="2" charset="-78"/>
              </a:rPr>
              <a:t>fī al-waq-ti</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7" name="Shape 5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مُدَّةُ الرِّحْلَةِ</a:t>
            </a:r>
            <a:endParaRPr lang="ar-SA" sz="3000" dirty="0"/>
          </a:p>
        </p:txBody>
      </p:sp>
      <p:sp>
        <p:nvSpPr>
          <p:cNvPr id="60" name="Text 5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journey duration</a:t>
            </a:r>
            <a:endParaRPr lang="en-US" sz="1350" dirty="0"/>
          </a:p>
          <a:p>
            <a:pPr indent="0" marL="0">
              <a:buNone/>
            </a:pPr>
            <a:r>
              <a:rPr lang="en-US" sz="1100" i="1" dirty="0">
                <a:solidFill>
                  <a:srgbClr val="5A6472"/>
                </a:solidFill>
                <a:latin typeface="Calibri" pitchFamily="34" charset="0"/>
                <a:cs typeface="Amiri" pitchFamily="2" charset="-78"/>
              </a:rPr>
              <a:t>mud-da-tu ar-riḥ-la-ti</a:t>
            </a:r>
            <a:endParaRPr lang="en-US" sz="135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4" name="Text 6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 الحَجْزِ</a:t>
            </a:r>
            <a:endParaRPr lang="ar-SA" sz="3000" dirty="0"/>
          </a:p>
        </p:txBody>
      </p:sp>
      <p:sp>
        <p:nvSpPr>
          <p:cNvPr id="65" name="Text 6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booking office</a:t>
            </a:r>
            <a:endParaRPr lang="en-US" sz="1350" dirty="0"/>
          </a:p>
          <a:p>
            <a:pPr indent="0" marL="0">
              <a:buNone/>
            </a:pPr>
            <a:r>
              <a:rPr lang="en-US" sz="1100" i="1" dirty="0">
                <a:solidFill>
                  <a:srgbClr val="5A6472"/>
                </a:solidFill>
                <a:latin typeface="Calibri" pitchFamily="34" charset="0"/>
                <a:cs typeface="Amiri" pitchFamily="2" charset="-78"/>
              </a:rPr>
              <a:t>mak-ta-bu al-ḥaj-zi</a:t>
            </a:r>
            <a:endParaRPr lang="en-US"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أَذْهَبُ إِلَى المَدْرَسَةِ بِالقِطَارِ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سَأُسَافِرُ بِالقِطَارِ إِلَى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اشْتَرَيْتُ تَذْكِرَةَ … بِعِشْرِينَ جُنَيْهًا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أَبِي يَقُودُ … · أُمِّي تَرْكَبُ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العُطْلَةِ نُسَافِرُ بِالطَّائِرَةِ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يُغَادِرُ القِطَارُ فِي … مِنَ الرَّصِيفِ …</a:t>
            </a:r>
            <a:endParaRPr lang="ar-SA" sz="17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تَسْتَغْرِقُ الرِّحْلَةُ … ، وَأَصِلُ فِي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 لِأَنَّهُ / لِأَنَّهَا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F6-L03 · Transport: Types and How We Travel</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F6-L04 · Tickets, Timetables and Journey Duration</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F6-L03 · Transport: Types and How We Travel</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أَذْهَبُ إِلَى المَدْرَسَةِ بِالقِطَارِ</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أَبِي يَقُودُ … · أُمِّي تَرْكَبُ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العُطْلَةِ نُسَافِرُ بِالطَّائِرَةِ</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 لِأَنَّهُ / لِأَنَّهَا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F6-L04 · Tickets, Timetables and Journey Duration</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سَأُسَافِرُ بِالقِطَارِ إِلَى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اشْتَرَيْتُ تَذْكِرَةَ … بِعِشْرِينَ جُنَيْهًا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يُغَادِرُ القِطَارُ فِي … مِنَ الرَّصِيفِ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تَسْتَغْرِقُ الرِّحْلَةُ … ، وَأَصِلُ فِي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ticket window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عِنْدَ شُبَّاكِ التَّذَاكِرِ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would like a return ticket to York, please.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أُرِيدُ تَذْكِرَةَ ذَهَابٍ وَإِيَابٍ إِلَى يُورْك، مِنْ فَضْلِكَ.</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Here you are. It costs forty pounds.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تَفَضَّلْ. ثَمَنُهَا أَرْبَعُونَ جُنَيْهًا.</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the train leave? And from which platform?</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مَتَى يُغَادِرُ القِطَارُ؟ وَمِنْ أَيِّ رَصِيفٍ؟</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leaves at half past ten from platform four.</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يُغَادِرُ فِي السَّاعَةِ العَاشِرَةِ وَالنِّصْفِ مِنَ الرَّصِيفِ رَقْمِ أَرْبَعَةٍ.</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does the journey take?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كَمْ تَسْتَغْرِقُ الرِّحْلَةُ؟</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takes two hours. And how do you get to the station? — I go by bus.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تَسْتَغْرِقُ سَاعَتَيْنِ. وَكَيْفَ تَذْهَبُ إِلَى المَحَطَّةِ؟ — أَذْهَبُ بِالحَافِلَةِ.</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أَذْهَبُ بِالحَافِلَةِ / مَشْيًا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go to school?</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تَذْهَبُ إِلَى المَدْرَسَةِ؟</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إِلَى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أُرِيدُ تَذْكِرَةً مُفْرَدَةً / تَذْكِرَةَ ذَهَابٍ وَإِيَابٍ</a:t>
            </a:r>
            <a:endParaRPr lang="ar-SA" sz="14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ticket do you want?</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تَذْكِرَةٍ تُرِيدُ؟</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إِلَى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رَكِبْتُ … / لَا،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Have you been on a plane?</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رَكِبْتَ طَائِرَةً؟</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مِنَ الرَّصِيفِ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يُغَادِرُ فِي السَّاعَةِ العَاشِرَةِ وَالنِّصْفِ</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the train to Leeds leave? (10:30)</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يُغَادِرُ القِطَارُ إِلَى لِيدْزَ؟ (10:30)</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 لِأَنَّهُ / لِأَنَّهَا سَرِيعٌ / سَرِيعَةٌ</a:t>
            </a:r>
            <a:endParaRPr lang="ar-SA" sz="135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transport?</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وَسِيلَةُ النَّقْلِ المُفَضَّلَةُ عِنْدَكَ؟</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56648" y="5338572"/>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الرَّصِيفِ رَقْمِ اثْنَيْنِ</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 which platform? (2)</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 رَصِيفٍ؟ (2)</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F6-L03, even numbers from F6-L04.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Role-play card — booking the family trip</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نَحْجِزُ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 أُرِيدُ تَذْكِرَتَيْ ذَهَابٍ وَإِيَابٍ إِلَى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for two return tickets.</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صَبَاحَ الخَيْرِ! أَيَّ تَذْكِرَةٍ تُرِيدُ؟</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ثَمَنُ ← هَلْ عِنْدَكُمْ تَذْكِرَةٌ أَرْخَصُ؟</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a cheaper ticket or how to pay.</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ثَمَنُ التَّذْكِرَةِ أَرْبَعُونَ جُنَيْهًا.</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يُغَادِرُ ← مِنْ أَيِّ رَصِيفٍ؟ وَمَتَى يَصِلُ؟</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the platform and the arrival time.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القِطَارُ يُغَادِرُ فِي العَاشِرَةِ وَالنِّصْفِ.</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أَبِي يَقُودُ … · أَنَا أَذْهَبُ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how two people travel to the station.</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تَذْهَبُونَ إِلَى المَحَطَّةِ؟</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يَتَأَخَّرُ ← لَا بَأْسَ … مَتَى يُغَادِرُ الآنَ؟</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React and ask when it will leave now.</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عُذْرًا، القِطَارُ يَتَأَخَّرُ عِشْرِينَ دَقِيقَةً.</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traveller · Partner A = the ticket officer.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my family travels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تُسَافِرُ عَائِلَتِي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how you go to school and how long it takes, how two family members travel, and a journey you take (by train, coach or plane) — the ticket, the departure time and how long it takes.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أَذْهَبُ إِلَى المَدْرَسَةِ بِالحَافِلَةِ / مَشْيًا · أَبِي يَقُودُ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journey: </a:t>
            </a:r>
            <a:pPr algn="l" indent="0" marL="0">
              <a:buNone/>
            </a:pPr>
            <a:r>
              <a:rPr lang="ar-SA" altLang="en-US" sz="1500" dirty="0">
                <a:solidFill>
                  <a:srgbClr val="1F2A37"/>
                </a:solidFill>
                <a:latin typeface="Amiri" pitchFamily="2" charset="-78"/>
                <a:ea typeface="Amiri" pitchFamily="2" charset="-78"/>
                <a:cs typeface="Amiri" pitchFamily="2" charset="-78"/>
              </a:rPr>
              <a:t>يُغَادِرُ … فِي</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تَسْتَغْرِقُ الرِّحْلَةُ</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your favourite transport with a reason, and a ticket price.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أَذْهَبُ بِالحَافِلَةِ · عَلَى الدَّرَّاجَةِ · مَشْيًا</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go by bus · by bike · on foot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يُغَادِرُ القِطَارُ فِي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 train leaves at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تَسْتَغْرِقُ الرِّحْلَةُ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 journey takes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تَذْكِرَةُ ذَهَابٍ وَإِيَابٍ</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return ticket</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go to school by bus.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أَذْهَبُ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يَذْهَبُ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المَدْرَسَةِ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المَدْرَسَةَ إِلَى</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بِالحَافِلَةِ.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الحَافِلَةَ.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train leaves at eight o’clock.</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يُغَادِرُ</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تُغَادِرُ</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القِطَارُ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القِطَارَ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السَّاعَةِ الثَّامِنَةِ.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ثَمَانِيَةٍ.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rides her bike.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تَرْكَبُ</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يَرْكَبُ</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دَرَّاجَتَهَا.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دَرَّاجَتَهُ.</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go to school by bus.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By + vehicle = bi- + the vehicle: </a:t>
            </a:r>
            <a:pPr algn="l" indent="0" marL="0">
              <a:buNone/>
            </a:pPr>
            <a:r>
              <a:rPr lang="ar-SA" altLang="en-US" sz="1350" dirty="0">
                <a:solidFill>
                  <a:srgbClr val="5A6472"/>
                </a:solidFill>
                <a:latin typeface="Amiri" pitchFamily="2" charset="-78"/>
                <a:ea typeface="Amiri" pitchFamily="2" charset="-78"/>
                <a:cs typeface="Amiri" pitchFamily="2" charset="-78"/>
              </a:rPr>
              <a:t>بِالحَافِلَةِ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أَذْهَبُ إِلَى المَدْرَسَةِ بِالحَافِلَةِ.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train leaves at eight o’clock.</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قِطَارٌ</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يُغَادِرُ</a:t>
            </a:r>
            <a:pPr algn="l" indent="0" marL="0">
              <a:buNone/>
            </a:pPr>
            <a:r>
              <a:rPr lang="en-US" sz="1050" i="1" dirty="0">
                <a:solidFill>
                  <a:srgbClr val="5A6472"/>
                </a:solidFill>
                <a:latin typeface="Calibri" pitchFamily="34" charset="0"/>
                <a:cs typeface="Amiri" pitchFamily="2" charset="-78"/>
              </a:rPr>
              <a:t>; clock time = feminine ordinal.</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يُغَادِرُ القِطَارُ فِي السَّاعَةِ الثَّامِنَةِ.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rides her bike.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تَرْكَبُ</a:t>
            </a:r>
            <a:pPr algn="l" indent="0" marL="0">
              <a:buNone/>
            </a:pPr>
            <a:r>
              <a:rPr lang="en-US" sz="1050" i="1" dirty="0">
                <a:solidFill>
                  <a:srgbClr val="5A6472"/>
                </a:solidFill>
                <a:latin typeface="Calibri" pitchFamily="34" charset="0"/>
                <a:cs typeface="Amiri" pitchFamily="2" charset="-78"/>
              </a:rPr>
              <a:t>; her bike → </a:t>
            </a:r>
            <a:pPr algn="l" indent="0" marL="0">
              <a:buNone/>
            </a:pPr>
            <a:r>
              <a:rPr lang="ar-SA" altLang="en-US" sz="1350" dirty="0">
                <a:solidFill>
                  <a:srgbClr val="5A6472"/>
                </a:solidFill>
                <a:latin typeface="Amiri" pitchFamily="2" charset="-78"/>
                <a:ea typeface="Amiri" pitchFamily="2" charset="-78"/>
                <a:cs typeface="Amiri" pitchFamily="2" charset="-78"/>
              </a:rPr>
              <a:t>دَرَّاجَتَهَا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أُخْتِي تَرْكَبُ دَرَّاجَتَهَا.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أَذْهَبُ فِي الحَافِلَةِ إِلَى المَدْرَسَةِ.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“by bus” in Arabic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الرِّحْلَةُ يَسْتَغْرِقُ سَاعَةً.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رِحْلَةٌ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أَذْهَبُ بِالدَّرَّاجَةِ … عَلَى مَشْيًا.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 foot is one word.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أَذْهَبُ فِي الحَافِلَةِ إِلَى المَدْرَسَةِ.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أَذْهَبُ بِالحَافِلَةِ إِلَى المَدْرَسَةِ.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By bus = </a:t>
            </a:r>
            <a:pPr algn="l" indent="0" marL="0">
              <a:buNone/>
            </a:pPr>
            <a:r>
              <a:rPr lang="ar-SA" altLang="en-US" sz="1500" b="1" dirty="0">
                <a:solidFill>
                  <a:srgbClr val="1B3B6F"/>
                </a:solidFill>
                <a:latin typeface="Amiri" pitchFamily="2" charset="-78"/>
                <a:ea typeface="Amiri" pitchFamily="2" charset="-78"/>
                <a:cs typeface="Amiri" pitchFamily="2" charset="-78"/>
              </a:rPr>
              <a:t>بِالحَافِلَةِ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الرِّحْلَةُ يَسْتَغْرِقُ سَاعَةً.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الرِّحْلَةُ تَسْتَغْرِقُ سَاعَةً.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subject → </a:t>
            </a:r>
            <a:pPr algn="l" indent="0" marL="0">
              <a:buNone/>
            </a:pPr>
            <a:r>
              <a:rPr lang="ar-SA" altLang="en-US" sz="1500" b="1" dirty="0">
                <a:solidFill>
                  <a:srgbClr val="1B3B6F"/>
                </a:solidFill>
                <a:latin typeface="Amiri" pitchFamily="2" charset="-78"/>
                <a:ea typeface="Amiri" pitchFamily="2" charset="-78"/>
                <a:cs typeface="Amiri" pitchFamily="2" charset="-78"/>
              </a:rPr>
              <a:t>تَسْتَغْرِقُ</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أَذْهَبُ بِالدَّرَّاجَةِ … عَلَى مَشْيًا.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أَذْهَبُ مَشْيًا.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 foot = </a:t>
            </a:r>
            <a:pPr algn="l" indent="0" marL="0">
              <a:buNone/>
            </a:pPr>
            <a:r>
              <a:rPr lang="ar-SA" altLang="en-US" sz="1500" b="1" dirty="0">
                <a:solidFill>
                  <a:srgbClr val="1B3B6F"/>
                </a:solidFill>
                <a:latin typeface="Amiri" pitchFamily="2" charset="-78"/>
                <a:ea typeface="Amiri" pitchFamily="2" charset="-78"/>
                <a:cs typeface="Amiri" pitchFamily="2" charset="-78"/>
              </a:rPr>
              <a:t>مَشْيًا</a:t>
            </a:r>
            <a:pPr algn="l" indent="0" marL="0">
              <a:buNone/>
            </a:pPr>
            <a:r>
              <a:rPr lang="en-US" sz="1150" b="1" dirty="0">
                <a:solidFill>
                  <a:srgbClr val="1B3B6F"/>
                </a:solidFill>
                <a:latin typeface="Calibri" pitchFamily="34" charset="0"/>
                <a:cs typeface="Amiri" pitchFamily="2" charset="-78"/>
              </a:rPr>
              <a:t> (no preposition).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مِنَ الرَّصِيفِ رَقْمِ ______ ، وَنَصِلُ فِي ______ .</a:t>
            </a:r>
            <a:endParaRPr lang="ar-SA" sz="17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From platform …, and we arrive 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لِأَنَّهُ / لِأَنَّهَا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because it is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سَنُسَافِرُ بِالقِطَارِ إِلَى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will travel by train to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المَحَطَّةِ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the station (by / on foot)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اشْتَرَيْتُ تَذْكِرَةَ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bought a … ticket.</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يُغَادِرُ القِطَارُ فِي السَّاعَةِ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train leaves at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تَسْتَغْرِقُ الرِّحْلَةُ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journey takes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بِالقِطَارِ · بِالحَافِلَةِ  ·  بِالسَّيَّارَةِ · مَشْيًا  ·  عَلَى الدَّرَّاجَةِ  ·  تَذْكِرَةٌ مُفْرَدَةٌ  ·  تَذْكِرَةُ ذَهَابٍ وَإِيَابٍ  ·  يُغَادِرُ · يَصِلُ  ·  رَصِيفٌ  ·  تَسْتَغْرِقُ</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journey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message (about 45–65 words) to a friend who will meet you in York. Include: • who is travelling and how you each get to the station • the ticket you bought and its price • the departure time and platform • how long the journey takes and when you arrive • a delay, if there is one • your favourite transport and why.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F6-L03 AND F6-L04.</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سَنُسَافِرُ بِالقِطَارِ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will travel by train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اشْتَرَيْتُ تَذْكِرَةَ ذَهَابٍ وَإِيَابٍ بِأَرْبَعِينَ جُنَيْهًا</a:t>
            </a:r>
            <a:endParaRPr lang="ar-SA" sz="165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bought a return ticket for forty pounds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يُغَادِرُ القِطَارُ فِي … مِنَ الرَّصِيفِ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train leaves at … from platform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تَسْتَغْرِقُ الرِّحْلَةُ … ، وَنَصِلُ فِي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journey takes … and we arrive 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bi- + vehicle, </a:t>
            </a:r>
            <a:pPr algn="l" indent="0" marL="0">
              <a:buNone/>
            </a:pPr>
            <a:r>
              <a:rPr lang="ar-SA" altLang="en-US" sz="1450" dirty="0">
                <a:solidFill>
                  <a:srgbClr val="5A6472"/>
                </a:solidFill>
                <a:latin typeface="Amiri" pitchFamily="2" charset="-78"/>
                <a:ea typeface="Amiri" pitchFamily="2" charset="-78"/>
                <a:cs typeface="Amiri" pitchFamily="2" charset="-78"/>
              </a:rPr>
              <a:t>عَلَى الدَّرَّاجَةِ</a:t>
            </a:r>
            <a:pPr algn="l" indent="0" marL="0">
              <a:buNone/>
            </a:pPr>
            <a:r>
              <a:rPr lang="en-US" sz="1100" dirty="0">
                <a:solidFill>
                  <a:srgbClr val="5A6472"/>
                </a:solidFill>
                <a:latin typeface="Calibri" pitchFamily="34" charset="0"/>
                <a:cs typeface="Amiri" pitchFamily="2" charset="-78"/>
              </a:rPr>
              <a:t> or </a:t>
            </a:r>
            <a:pPr algn="l" indent="0" marL="0">
              <a:buNone/>
            </a:pPr>
            <a:r>
              <a:rPr lang="ar-SA" altLang="en-US" sz="1450" dirty="0">
                <a:solidFill>
                  <a:srgbClr val="5A6472"/>
                </a:solidFill>
                <a:latin typeface="Amiri" pitchFamily="2" charset="-78"/>
                <a:ea typeface="Amiri" pitchFamily="2" charset="-78"/>
                <a:cs typeface="Amiri" pitchFamily="2" charset="-78"/>
              </a:rPr>
              <a:t>مَشْيًا</a:t>
            </a:r>
            <a:pPr algn="l" indent="0" marL="0">
              <a:buNone/>
            </a:pPr>
            <a:r>
              <a:rPr lang="en-US" sz="1100" dirty="0">
                <a:solidFill>
                  <a:srgbClr val="5A6472"/>
                </a:solidFill>
                <a:latin typeface="Calibri" pitchFamily="34" charset="0"/>
                <a:cs typeface="Amiri" pitchFamily="2" charset="-78"/>
              </a:rPr>
              <a:t>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تَسْتَغْرِقُ</a:t>
            </a:r>
            <a:pPr algn="l" indent="0" marL="0">
              <a:buNone/>
            </a:pPr>
            <a:r>
              <a:rPr lang="en-US" sz="1100" dirty="0">
                <a:solidFill>
                  <a:srgbClr val="5A6472"/>
                </a:solidFill>
                <a:latin typeface="Calibri" pitchFamily="34" charset="0"/>
                <a:cs typeface="Amiri" pitchFamily="2" charset="-78"/>
              </a:rPr>
              <a:t> + duration correctly (dual /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تَذْكِرَتَيْ ذَهَابٍ وَإِيَابٍ إِلَى يُورْك، مِنْ فَضْلِكَ.</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would like two return tickets to York, please.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صَبَاحَ الخَيْرِ! أَيَّ تَذْكِرَةٍ تُرِيدُ؟</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عِنْدَكُمْ تَذْكِرَةٌ أَرْخَصُ لِلطُّلَّابِ؟</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Do you have a cheaper ticket for students?</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ثَمَنُ التَّذْكِرَةِ أَرْبَعُونَ جُنَيْهًا.</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أَيِّ رَصِيفٍ؟ وَمَتَى يَصِلُ إِلَى يُورْك؟</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From which platform? And when does it arrive in York?</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القِطَارُ يُغَادِرُ فِي العَاشِرَةِ وَالنِّصْفِ.</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أَبِي يَقُودُ السَّيَّارَةَ، وَأَنَا أَذْهَبُ عَلَى الدَّرَّاجَةِ.</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father drives the car, and I go by bike.</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تَذْهَبُونَ إِلَى المَحَطَّةِ؟</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بَأْسَ. إِذَنْ يُغَادِرُ فِي السَّاعَةِ الحَادِيَةَ عَشْرَةَ إِلَّا عَشْرَ دَقَائِقَ؟</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problem. So it leaves at ten to eleven?</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عُذْرًا، القِطَارُ يَتَأَخَّرُ عِشْرِينَ دَقِيقَةً.</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أَهْلًا يَا زَيْنَبُ! سَنُسَافِرُ أَنَا وَأُمِّي بِالقِطَارِ إِلَى يُورْك يَوْمَ السَّبْتِ. أُمِّي تَذْهَبُ إِلَى المَحَطَّةِ بِالسَّيَّارَةِ، وَأَنَا أَذْهَبُ مَشْيًا. اشْتَرَيْتُ تَذْكِرَتَيْ ذَهَابٍ وَإِيَابٍ بِثَمَانِينَ جُنَيْهًا. يُغَادِرُ القِطَارُ فِي السَّاعَةِ العَاشِرَةِ وَالنِّصْفِ مِنَ الرَّصِيفِ رَقْمِ أَرْبَعَةٍ. تَسْتَغْرِقُ الرِّحْلَةُ سَاعَتَيْنِ، وَنَصِلُ فِي الثَّانِيَةَ عَشْرَةَ وَالنِّصْفِ. أُفَضِّلُ القِطَارَ لِأَنَّهُ سَرِيعٌ وَمُرِيحٌ.</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Zaynab! My mother and I will travel by train to York on Saturday. My mother goes to the station by car, and I go on foot. I bought two return tickets for eighty pounds. The train leaves at half past ten from platform four. The journey takes two hours, and we arrive at half past twelve. I prefer the train because it is fast and comfortable.”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بِالقِطَارِ إِلَى يُورْك</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تَذْكِرَتَيْ ذَهَابٍ وَإِيَابٍ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الرَّصِيفِ رَقْمِ أَرْبَعَةٍ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تَسْتَغْرِقُ الرِّحْلَةُ سَاعَتَيْنِ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F6-W02 · Apply workshop (F6-L03 + F6-L04)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F6-L03 and F6-L04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F6-W02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F6-L05 · Describing Your Town: Advantages and Disadvantages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وَصْفُ مَدِينَتِكَ — المَزَايَا وَالعُيُوبُ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F6-W02 · Apply Workshop — A Train Journey to York</dc:title>
  <dc:subject>PptxGenJS Presentation</dc:subject>
  <dc:creator>Al Madina Online School · Arabic Department</dc:creator>
  <cp:lastModifiedBy>Al Madina Online School · Arabic Department</cp:lastModifiedBy>
  <cp:revision>1</cp:revision>
  <dcterms:created xsi:type="dcterms:W3CDTF">2026-10-26T15:17:38Z</dcterms:created>
  <dcterms:modified xsi:type="dcterms:W3CDTF">2026-10-26T15:17:38Z</dcterms:modified>
</cp:coreProperties>
</file>