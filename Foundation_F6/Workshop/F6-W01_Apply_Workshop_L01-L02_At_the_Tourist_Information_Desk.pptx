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F6-L01 · Learn F6-L02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F6-L01 (Places in Town: Buildings and Public Spaces) and F6-L02 (Locating Places: Maps, Distance and Position).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F6-L01 and F6-L02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F6-L01? After F6-L02?” Take two answers in the chat for each lesson (one word or one sentence is enough). Then read objective 3 — today’s new situation that needs BOTH lessons. Students tick their route goals at the end of the lesson.
F6-L01 language: yūjadu (m.) / tūjadu (f.) / hunāka + place; lā yūjadu; fī madīnatī; one preposition (bi-jānibi · qurba)
F6-L02 language: ayna …?; positions + genitive (bi-jānibi · amāma · khalfa · bayna … wa … · muqābila · ʿalā yamīni / yasāri · fī wasaṭi); qarībun min / baʿīdun ʿan with agreement (qarībatun · baʿīdatun)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F6-L02.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F6-L01 and F6-L02. Teacher reads it once with a confident student; then pairs. Ask: “Which lines are from F6-L01? Which from F6-L02?” Places with يُوجَدُ / تُوجَدُ / لَا يُوجَدُ come from F6-L01; positions + genitive (مُقَابِلَ المَكْتَبَةِ · بَيْنَ … وَ…) and قَرِيبٌ مِنْ / بَعِيدٌ عَنْ from F6-L02.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places with يُوجَدُ / تُوجَدُ / لَا يُوجَدُ (F6-L01) with positions, near / far and agreement (F6-L02). SUPPORTED: the plan column gives the first words, not the full answer. To a girl Partner A says: when the tourist is a girl the officer says: لَوْ سَمَحْتِ … هَلْ تُرِيدِينَ خَرِيطَةً؟.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F6-L01 and F6-L02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F6-L01 and F6-L02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(45 words). CHECK YOURSELF (2 min). Find each bullet point in the model, and one phrase from F6-L01 and one from F6-L02.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F6-L01 + F6-L02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At the Tourist Information Desk</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فِي مَكْتَبِ الاسْتِعْلَامَاتِ السِّيَاحِيَّةِ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places in town with positions and distance: at a tourist information desk they say what there is (and isn’t) in the town, where each place is on the map, what is near and far, and then write a visitor’s guide to their town centre.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F6-L01 + F6-L02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F6-L01 and F6-L02.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F6-L01 + F6-L02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F6-L01: Places in Town: Buildings and Public Spaces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F6-L02: Locating Places: Maps, Distance and Position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at the information desk · A visitor’s guide to my town centre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F6-L01 and F6-L02.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F6-L01 · Places in Town: Buildings and Public Spaces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city</a:t>
            </a:r>
            <a:endParaRPr lang="en-US" sz="1350" dirty="0"/>
          </a:p>
          <a:p>
            <a:pPr indent="0" marL="0">
              <a:buNone/>
            </a:pPr>
            <a:r>
              <a:rPr lang="en-US" sz="1100" i="1" dirty="0">
                <a:solidFill>
                  <a:srgbClr val="5A6472"/>
                </a:solidFill>
                <a:latin typeface="Calibri" pitchFamily="34" charset="0"/>
                <a:cs typeface="Amiri" pitchFamily="2" charset="-78"/>
              </a:rPr>
              <a:t>ma-dī-na-tun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مَدِينَةٌ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museum</a:t>
            </a:r>
            <a:endParaRPr lang="en-US" sz="1350" dirty="0"/>
          </a:p>
          <a:p>
            <a:pPr indent="0" marL="0">
              <a:buNone/>
            </a:pPr>
            <a:r>
              <a:rPr lang="en-US" sz="1100" i="1" dirty="0">
                <a:solidFill>
                  <a:srgbClr val="5A6472"/>
                </a:solidFill>
                <a:latin typeface="Calibri" pitchFamily="34" charset="0"/>
                <a:cs typeface="Amiri" pitchFamily="2" charset="-78"/>
              </a:rPr>
              <a:t>mat-ḥa-fun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مَتْحَفٌ</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مَتَاحِفُ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مَطَارٌ</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F6-L02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F6-L02 · Locating Places: Maps, Distance and Position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بَعِيدٌ عَنْ</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far from</a:t>
            </a:r>
            <a:endParaRPr lang="en-US" sz="1350" dirty="0"/>
          </a:p>
          <a:p>
            <a:pPr indent="0" marL="0">
              <a:buNone/>
            </a:pPr>
            <a:r>
              <a:rPr lang="en-US" sz="1100" i="1" dirty="0">
                <a:solidFill>
                  <a:srgbClr val="5A6472"/>
                </a:solidFill>
                <a:latin typeface="Calibri" pitchFamily="34" charset="0"/>
                <a:cs typeface="Amiri" pitchFamily="2" charset="-78"/>
              </a:rPr>
              <a:t>ba-ʿī-dun ʿan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بَعِيدٌ</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بَعِيدَةٌ</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furthest</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أَبْعَدُ</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أَمَامَ</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front of</a:t>
            </a:r>
            <a:endParaRPr lang="en-US" sz="1350" dirty="0"/>
          </a:p>
          <a:p>
            <a:pPr indent="0" marL="0">
              <a:buNone/>
            </a:pPr>
            <a:r>
              <a:rPr lang="en-US" sz="1100" i="1" dirty="0">
                <a:solidFill>
                  <a:srgbClr val="5A6472"/>
                </a:solidFill>
                <a:latin typeface="Calibri" pitchFamily="34" charset="0"/>
                <a:cs typeface="Amiri" pitchFamily="2" charset="-78"/>
              </a:rPr>
              <a:t>a-mā-ma</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between</a:t>
            </a:r>
            <a:endParaRPr lang="en-US" sz="1350" dirty="0"/>
          </a:p>
          <a:p>
            <a:pPr indent="0" marL="0">
              <a:buNone/>
            </a:pPr>
            <a:r>
              <a:rPr lang="en-US" sz="1100" i="1" dirty="0">
                <a:solidFill>
                  <a:srgbClr val="5A6472"/>
                </a:solidFill>
                <a:latin typeface="Calibri" pitchFamily="34" charset="0"/>
                <a:cs typeface="Amiri" pitchFamily="2" charset="-78"/>
              </a:rPr>
              <a:t>bay-na</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يَمِينِ</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right of</a:t>
            </a:r>
            <a:endParaRPr lang="en-US" sz="1350" dirty="0"/>
          </a:p>
          <a:p>
            <a:pPr indent="0" marL="0">
              <a:buNone/>
            </a:pPr>
            <a:r>
              <a:rPr lang="en-US" sz="1100" i="1" dirty="0">
                <a:solidFill>
                  <a:srgbClr val="5A6472"/>
                </a:solidFill>
                <a:latin typeface="Calibri" pitchFamily="34" charset="0"/>
                <a:cs typeface="Amiri" pitchFamily="2" charset="-78"/>
              </a:rPr>
              <a:t>ʿa-lā ya-mī-ni</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وَسَطِ</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middle of</a:t>
            </a:r>
            <a:endParaRPr lang="en-US" sz="1350" dirty="0"/>
          </a:p>
          <a:p>
            <a:pPr indent="0" marL="0">
              <a:buNone/>
            </a:pPr>
            <a:r>
              <a:rPr lang="en-US" sz="1100" i="1" dirty="0">
                <a:solidFill>
                  <a:srgbClr val="5A6472"/>
                </a:solidFill>
                <a:latin typeface="Calibri" pitchFamily="34" charset="0"/>
                <a:cs typeface="Amiri" pitchFamily="2" charset="-78"/>
              </a:rPr>
              <a:t>fī wa-sa-ṭi</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مَدِينَةِ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وَسَطِ المَدِينَةِ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 … وَ…</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مَدِينَتِي يُوجَدُ … وَتُوجَدُ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يُوجَدُ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مُقَابِلَ … · عَلَى يَمِينِ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مَكَانِي المُفَضَّلُ …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F6-L01 · Places in Town: Buildings and Public Spaces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F6-L02 · Locating Places: Maps, Distance and Position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F6-L01 · Places in Town: Buildings and Public Spaces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مَدِينَةِ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مَدِينَتِي يُوجَدُ … وَتُوجَدُ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يُوجَدُ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مَكَانِي المُفَضَّلُ …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F6-L02 · Locating Places: Maps, Distance and Position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وَسَطِ المَدِينَةِ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 … وَ…</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مُقَابِلَ … · عَلَى يَمِينِ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visitor asks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يَسْأَلُ الزَّائِرُ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is there a museum in the town?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سَمَحْتِ، هَلْ يُوجَدُ مَتْحَفٌ فِي المَدِينَةِ؟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there is a museum in the town centre, opposite the library.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يُوجَدُ مَتْحَفٌ فِي وَسَطِ المَدِينَةِ، مُقَابِلَ المَكْتَبَةِ.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near the station?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هُوَ قَرِيبٌ مِنَ المَحَطَّةِ؟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it is very near, between the station and the market.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هُوَ قَرِيبٌ جِدًّا، بَيْنَ المَحَطَّةِ وَالسُّوقِ.</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there an airport?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يُوجَدُ مَطَارٌ؟</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there is no airport here. The airport is far from the town.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لَا يُوجَدُ مَطَارٌ هُنَا. المَطَارُ بَعِيدٌ عَنِ المَدِينَةِ.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أَسْكُنُ فِي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live in a city or a village?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 فِي مَدِينَةٍ أَمْ فِي قَرْيَةٍ؟</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قَرِيبَةٌ مِنْ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مَدْرَسَتِي بِجَانِبِ / أَمَامَ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school?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مَدْرَسَتُكَ؟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وَهُنَاكَ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 تُوجَدُ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house?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قُرْبَ بَيْتِكَ؟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وَخَلْفَهُ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أَمَامَ بَيْتِي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front of your house?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أَمَامَ بَيْتِكَ؟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يُوجَدُ … / لَا، لَا يُوجَدُ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museum in your town?</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يُوجَدُ مَتْحَفٌ فِي مَدِينَتِكَ؟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عَشْرُ دَقَائِقَ</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قَرِيبٌ … / لَا، بَعِيدٌ عَنْ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hospital near your house?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المُسْتَشْفَى قَرِيبٌ مِنْ بَيْتِكَ؟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F6-L01, even numbers from F6-L02.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at the information desk</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الاسْتِعْلَامَاتِ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يُوجَدُ … وَتُوجَدُ … وَ…</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three places.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وَسَطِ المَدِينَةِ؟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الصَّيْدَلِيَّةُ بِجَانِبِ / مُقَابِلَ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position.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الصَّيْدَلِيَّةُ؟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هِيَ قَرِيبَةٌ … / لَا، هِيَ بَعِيدَةٌ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near or far (feminine agreement).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الحَدِيقَةُ العَامَّةُ قَرِيبَةٌ مِنْ هُنَا؟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يُوجَدُ … بَيْنَ … وَ…</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and say where.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يُوجَدُ مَطْعَمٌ عَرَبِيٌّ؟</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 لِأَنَّ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Recommend a place with a reason.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مَكَانٍ فِي المَدِينَةِ؟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information officer · Partner A = a tourist.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map of my town centre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as if you are showing a map of your town centre: five places, where they are (use three different position words), one place that is not there, and one place near and one far from the station.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فِي مَدِينَتِي يُوجَدُ … وَتُوجَدُ … · لَا يُوجَدُ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three positions: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مُقَابِلَ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بَيْنَ … 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قَرِيبٌ / قَرِيبَةٌ مِنْ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بَعِيدٌ / بَعِيدَةٌ عَنْ</a:t>
            </a:r>
            <a:pPr algn="l" indent="0" marL="0">
              <a:buNone/>
            </a:pPr>
            <a:r>
              <a:rPr lang="en-US" sz="1150" dirty="0">
                <a:solidFill>
                  <a:srgbClr val="1F2A37"/>
                </a:solidFill>
                <a:latin typeface="Calibri" pitchFamily="34" charset="0"/>
                <a:cs typeface="Amiri" pitchFamily="2" charset="-78"/>
              </a:rPr>
              <a:t> with the right agreement, and your favourite place.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مَدِينَتِي يُوجَدُ … وَتُوجَدُ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town there is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لَا يُوجَدُ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there is no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بَيْنَ … وَ… · مُقَابِلَ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between … and … · opposite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قَرِيبَةٌ مِنْ · بَعِيدَةٌ عَنْ</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near · far from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big hospital in my town.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 كَبِيرٌ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 كَبِيرَةٌ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 فِي.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library is between the bank and the school.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البَنْكِ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 البَنْكُ</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وَالمَدْرَسَةِ.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وَالمَدْرَسَةُ.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public park near the school.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 عَامَّةٌ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 عَامٌّ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المَدْرَسَةِ.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المَدْرَسَةُ.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big hospital in my town.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مُسْتَشْفًى</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يُوجَدُ … كَبِيرٌ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مُسْتَشْفًى كَبِيرٌ فِي مَدِينَتِي.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library is between the bank and the school.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بَيْنَ</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وَ</a:t>
            </a:r>
            <a:pPr algn="l" indent="0" marL="0">
              <a:buNone/>
            </a:pPr>
            <a:r>
              <a:rPr lang="en-US" sz="1050" i="1" dirty="0">
                <a:solidFill>
                  <a:srgbClr val="5A6472"/>
                </a:solidFill>
                <a:latin typeface="Calibri" pitchFamily="34" charset="0"/>
                <a:cs typeface="Amiri" pitchFamily="2" charset="-78"/>
              </a:rPr>
              <a:t>Y: both in the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المَكْتَبَةُ بَيْنَ البَنْكِ وَالمَدْرَسَةِ.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public park near the school.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حَدِيقَةٌ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تُوجَدُ … عَامَّةٌ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قُرْبَ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حَدِيقَةٌ عَامَّةٌ قُرْبَ المَدْرَسَةِ.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مَكْتَبَةٌ فِي حَيِّي.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مَكْتَبَةٌ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المَدْرَسَةُ قَرِيبٌ مِنْ بَيْتِي.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مَدْرَسَةٌ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يُوجَدُ مَسْبَحٌ.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of </a:t>
            </a:r>
            <a:pPr algn="l" indent="0" marL="0">
              <a:buNone/>
            </a:pPr>
            <a:r>
              <a:rPr lang="ar-SA" altLang="en-US" sz="1700" dirty="0">
                <a:solidFill>
                  <a:srgbClr val="5A6472"/>
                </a:solidFill>
                <a:latin typeface="Amiri" pitchFamily="2" charset="-78"/>
                <a:ea typeface="Amiri" pitchFamily="2" charset="-78"/>
                <a:cs typeface="Amiri" pitchFamily="2" charset="-78"/>
              </a:rPr>
              <a:t>يُوجَدُ</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مَكْتَبَةٌ فِي حَيِّي.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مَكْتَبَةٌ فِي حَيِّي.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المَدْرَسَةُ قَرِيبٌ مِنْ بَيْتِي.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المَدْرَسَةُ قَرِيبَةٌ مِنْ بَيْتِي.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قَرِيبَةٌ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يُوجَدُ مَسْبَحٌ.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يُوجَدُ مَسْبَحٌ.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with the verb </a:t>
            </a:r>
            <a:pPr algn="l" indent="0" marL="0">
              <a:buNone/>
            </a:pPr>
            <a:r>
              <a:rPr lang="ar-SA" altLang="en-US" sz="1500" b="1" dirty="0">
                <a:solidFill>
                  <a:srgbClr val="1B3B6F"/>
                </a:solidFill>
                <a:latin typeface="Amiri" pitchFamily="2" charset="-78"/>
                <a:ea typeface="Amiri" pitchFamily="2" charset="-78"/>
                <a:cs typeface="Amiri" pitchFamily="2" charset="-78"/>
              </a:rPr>
              <a:t>يُوجَدُ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بَيْنَ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between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______ بَعِيدٌ / بَعِيدَةٌ عَنْهَا.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 is far from it.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أَنْصَحُكُمْ بِزِيَارَةِ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advise you to visit … because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بِكُمْ فِي مَدِينَةِ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Welcome to the town of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وَسَطِ المَدِينَةِ يُوجَدُ ______ وَتُوجَدُ ______ .</a:t>
            </a:r>
            <a:endParaRPr lang="ar-SA" sz="16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town centre there is … and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قَرِيبٌ مِنَ المَحَطَّةِ.</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the station.</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مَتْحَفٌ · سُوقٌ  ·  مَكْتَبَةٌ · صَيْدَلِيَّةٌ  ·  مَحَطَّةٌ · مَطَارٌ  ·  يُوجَدُ · تُوجَدُ · لَا يُوجَدُ  ·  بِجَانِبِ · مُقَابِلَ  ·  بَيْنَ … وَ…  ·  فِي وَسَطِ  ·  قَرِيبٌ مِنْ · بَعِيدٌ عَنْ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 visitor’s guide to my town centre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دَلِيلُ الزَّائِرِ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visitor’s guide (about 45–65 words). Include: • the name of your town and whether it is a city, town or village • five places with </a:t>
            </a:r>
            <a:pPr algn="l" indent="0" marL="0">
              <a:buNone/>
            </a:pPr>
            <a:r>
              <a:rPr lang="ar-SA" altLang="en-US" sz="1450" b="1" dirty="0">
                <a:solidFill>
                  <a:srgbClr val="1F2A37"/>
                </a:solidFill>
                <a:latin typeface="Amiri" pitchFamily="2" charset="-78"/>
                <a:ea typeface="Amiri" pitchFamily="2" charset="-78"/>
                <a:cs typeface="Amiri" pitchFamily="2" charset="-78"/>
              </a:rPr>
              <a:t>يُوجَدُ / تُوجَدُ</a:t>
            </a:r>
            <a:pPr algn="l" indent="0" marL="0">
              <a:buNone/>
            </a:pPr>
            <a:r>
              <a:rPr lang="en-US" sz="1100" b="1" dirty="0">
                <a:solidFill>
                  <a:srgbClr val="1F2A37"/>
                </a:solidFill>
                <a:latin typeface="Calibri" pitchFamily="34" charset="0"/>
                <a:cs typeface="Amiri" pitchFamily="2" charset="-78"/>
              </a:rPr>
              <a:t> • one place that is not there • where three places are, with different position words • one place near and one far from the station • the place you recommend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F6-L01 AND F6-L02.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بِكُمْ فِي مَدِينَةِ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welcome to the town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وَسَطِ المَدِينَةِ يُوجَدُ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town centre there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 … وَ… · … مُقَابِلَ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between … and … · … opposite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أَنْصَحُكُمْ بِزِيَارَةِ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advise you to visit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by the place word?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near / far with the place (</a:t>
            </a:r>
            <a:pPr algn="l" indent="0" marL="0">
              <a:buNone/>
            </a:pPr>
            <a:r>
              <a:rPr lang="ar-SA" altLang="en-US" sz="1450" dirty="0">
                <a:solidFill>
                  <a:srgbClr val="5A6472"/>
                </a:solidFill>
                <a:latin typeface="Amiri" pitchFamily="2" charset="-78"/>
                <a:ea typeface="Amiri" pitchFamily="2" charset="-78"/>
                <a:cs typeface="Amiri" pitchFamily="2" charset="-78"/>
              </a:rPr>
              <a:t>قَرِيبٌ / قَرِيبَةٌ</a:t>
            </a:r>
            <a:pPr algn="l" indent="0" marL="0">
              <a:buNone/>
            </a:pPr>
            <a:r>
              <a:rPr lang="en-US" sz="1100" dirty="0">
                <a:solidFill>
                  <a:srgbClr val="5A6472"/>
                </a:solidFill>
                <a:latin typeface="Calibri" pitchFamily="34" charset="0"/>
                <a:cs typeface="Amiri" pitchFamily="2" charset="-78"/>
              </a:rPr>
              <a:t>) and use </a:t>
            </a:r>
            <a:pPr algn="l" indent="0" marL="0">
              <a:buNone/>
            </a:pPr>
            <a:r>
              <a:rPr lang="ar-SA" altLang="en-US" sz="1450" dirty="0">
                <a:solidFill>
                  <a:srgbClr val="5A6472"/>
                </a:solidFill>
                <a:latin typeface="Amiri" pitchFamily="2" charset="-78"/>
                <a:ea typeface="Amiri" pitchFamily="2" charset="-78"/>
                <a:cs typeface="Amiri" pitchFamily="2" charset="-78"/>
              </a:rPr>
              <a:t>بَيْنَ …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مَتْحَفٌ وَسُوقٌ، وَتُوجَدُ مَكْتَبَةٌ كَبِيرَةٌ.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museum and a market, and there is a big library.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فِي وَسَطِ المَدِينَةِ؟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الصَّيْدَلِيَّةُ بِجَانِبِ المُسْتَشْفَى، عَلَى يَمِينِ البَنْكِ.</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pharmacy is next to the hospital, to the right of the bank.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الصَّيْدَلِيَّةُ؟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هِيَ بَعِيدَةٌ قَلِيلًا، خَارِجَ وَسَطِ المَدِينَةِ.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it is a little far, outside the town centre.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الحَدِيقَةُ العَامَّةُ قَرِيبَةٌ مِنْ هُنَا؟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يُوجَدُ مَطْعَمٌ لُبْنَانِيٌّ بَيْنَ السُّوقِ وَالمَحَطَّةِ.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there is a Lebanese restaurant between the market and the station.</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يُوجَدُ مَطْعَمٌ عَرَبِيٌّ؟</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المَتْحَفُ، لِأَنَّهُ قَدِيمٌ وَجَمِيلٌ، وَالدُّخُولُ مَجَّانِيٌّ.</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museum, because it is old and beautiful, and entry is free.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مَكَانٍ فِي المَدِينَةِ؟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بِكُمْ فِي مَدِينَةِ يُورْك! هِيَ مَدِينَةٌ تَارِيخِيَّةٌ. فِي وَسَطِ المَدِينَةِ يُوجَدُ مَتْحَفٌ كَبِيرٌ وَسُوقٌ، وَتُوجَدُ مَكْتَبَةٌ جَمِيلَةٌ. المَتْحَفُ مُقَابِلَ المَكْتَبَةِ، وَالسُّوقُ بَيْنَ المَحَطَّةِ وَالمَسْجِدِ. لَا يُوجَدُ مَطَارٌ فِي المَدِينَةِ. المَحَطَّةُ قَرِيبَةٌ مِنَ المَتْحَفِ، لٰكِنَّ الحَدِيقَةَ العَامَّةَ بَعِيدَةٌ عَنْهَا. أَنْصَحُكُمْ بِزِيَارَةِ المَتْحَفِ لِأَنَّهُ قَدِيمٌ وَمُمْتِعٌ.</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the city of York! It is a historic city. In the city centre there is a big museum and a market, and there is a beautiful library. The museum is opposite the library, and the market is between the station and the mosque. There is no airport in the city. The station is near the museum, but the public park is far from it. I advise you to visit the museum because it is old and interesting.”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مَتْحَفٌ كَبِيرٌ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مُقَابِلَ المَكْتَبَةِ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يُوجَدُ مَطَارٌ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بَعِيدَةٌ عَنْهَا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F6-W01 · Apply workshop (F6-L01 + F6-L02)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F6-L01 and F6-L02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F6-L03 · Transport: Types and How We Travel</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المُوَاصَلَاتُ — أَنْوَاعُ النَّقْلِ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F6-W01 · Apply Workshop — At the Tourist Information Desk</dc:title>
  <dc:subject>PptxGenJS Presentation</dc:subject>
  <dc:creator>Al Madina Online School · Arabic Department</dc:creator>
  <cp:lastModifiedBy>Al Madina Online School · Arabic Department</cp:lastModifiedBy>
  <cp:revision>1</cp:revision>
  <dcterms:created xsi:type="dcterms:W3CDTF">2026-10-26T15:17:37Z</dcterms:created>
  <dcterms:modified xsi:type="dcterms:W3CDTF">2026-10-26T15:17:37Z</dcterms:modified>
</cp:coreProperties>
</file>