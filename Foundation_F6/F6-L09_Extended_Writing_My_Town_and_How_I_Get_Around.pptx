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F6-L09. The website lesson “Extended Writing: My Town and How I Get Around”: vocabulary, grammar rules and quiz, patterns, common mistakes, sorter, listening, reading, speaking prompts and model, writing task and model, differentiation, final check and the lesson mission. Picture match: website visual game “Extended Writing: My Town and How I Get Around”.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supported 60-word response with one sentence frame per point (all points covered).
• Develop: 80–100 words in three paragraphs with accurate F6 range (five structures).
• Stretch: 100+ words, compare two transport choices and improve the first draft with a self-audit.
• Website: “The word target is a guide to development, not a reason to repeat ideas.” · “The plan, first draft and final version should be visibly different.”
• Review order (website): meaning → organisation → grammar → spelling.
• Lesson shape: 10 min plan (oral rehearsal) · 15 min draft · 8 min review with the checklist · 5 min improve two sentences.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F6-L08 (the website spells draft مُسَوَّدَةٌ; مَسْوَدَّةٌ is also used). Questions 3–5 retrieve F6-L08, F6-L03 and F6-L05.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paragraphs, three jobs: my town · how I get around · my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تفصیل، خاتمہ، رائے are shared. مقدمہ (preface; also a court case!) → مُقَدِّمَةٌ (introduction: what comes first). Urdu نسخہ is a doctor’s prescription; Arabic نُسْخَةٌ is a copy or version (نُسْخَةٌ نِهَائِيَّةٌ = final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Connectors and range (website vocabulary (1 of 2)). Hear → Say → See → Use. Transliteration is printed for Core students (cover it for Develop/Stretch).
FLEX: teach if time allows; otherwise these are on the website vocabulary tab for homework.
FLEX: connectors by job — sequence (أَوَّلًا، ثَانِيًا، ثُمَّ) · add (كَمَا أَنَّ) · reason (لِأَنَّ) · result (لِذَلِكَ) · contrast (وَلَكِنَّ، بَيْنَمَا) · conclude (بِصِفَةٍ عَامَّةٍ).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Connectors and range (website vocabulary (2 of 2)). Hear → Say → See → Use. Transliteration is printed for Core students (cover it for Develop/Stretch).
FLEX: teach if time allows; otherwise these are on the website vocabulary tab for homework.
FLEX: connectors by job — sequence (أَوَّلًا، ثَانِيًا، ثُمَّ) · add (كَمَا أَنَّ) · reason (لِأَنَّ) · result (لِذَلِكَ) · contrast (وَلَكِنَّ، بَيْنَمَا) · conclude (بِصِفَةٍ عَامَّةٍ).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F6 high-value structures (website vocabulary (1 of 2)). Hear → Say → See → Use. Transliteration is printed for Core students (cover it for Develop/Stretch).
The F6 toolkit: one structure from each lesson L01–L08. Students tick each one they use in their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F6 high-value structures (website vocabulary (2 of 2)). Hear → Say → See → Use. Transliteration is printed for Core students (cover it for Develop/Stretch).
The F6 toolkit: one structure from each lesson L01–L08. Students tick each one they use in their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“Paragraph 1: place and character” (place + adjectives + يُوجَدُ / تُوجَدُ), “Paragraph 2: movement and detail” (بِـ / عَلَى / مَشْيًا + duration + reason) and “Paragraph 3: balanced judgement” (مِنْ مَزَايَا / عُيُوبِ … أَنَّ + recommendation or target).
Website overview: “Each paragraph has a clear job, and each high-value structure must communicate relevant content rather than appear as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“Review for range and accuracy”: مَعْنًى → تَنْظِيمٌ → قَوَاعِدُ → إِمْلَاءٌ (content, organisation, grammar, spelling).
Website questions: هَلْ أَجَبْتُ عَنْ كُلِّ نُقْطَةٍ؟ · هَلِ اسْتَعْمَلْتُ تَرَاكِيبَ مُخْتَلِفَةً؟ · هَلْ رَاجَعْتُ المُطَابَقَةَ؟
Website common error: “Do not add connectors without a logical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“This writing lesson teaches organisation as a language skill. Each paragraph has a clear job, and each high-value structure must communicate relevant content rather than appear as decoration.”
• Paragraph 1: place and character: Open by locating the town and describing its character and important places.
• Paragraph 2: movement and detail: Explain how you travel, how long it takes and why you choose that route.
• Paragraph 3: balanced judgement: Present both sides and finish with a clear recommendation or target.
• Review for range and accuracy: Check task completion first, then connectors, gender agreement, transport prepositions and spelling.
Website common error: Do not add connectors without a logical relationship. Every connector must show addition, sequence, reason, contrast or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2,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answer, with the plan → draft → improve → check cycle shown on one sentence (steps 1–4). Students count the F6 structures in the model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content idea in the best paragraph.
Stretch: add one new sentence of your own to each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content idea in the best paragraph.
Stretch: add one new sentence of your own to each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1,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then complete the three-paragraph plan from the text.
Listen 1: just listen. Listen 2: note answers. Then chat the letters.
Support: after the second listening, show the read-along slide (Arabic + English, line by line) for Core students.
SCRIPT (read aloud):
أَسْكُنُ فِي مَدِينَةِ صَلَالَةَ، وَهِيَ مَدِينَةٌ جَمِيلَةٌ وَخَضْرَاءُ. فِي المَرْكَزِ تُوجَدُ أَسْوَاقٌ وَمَطَاعِمُ، وَتَتَمَيَّزُ المَدِينَةُ بِمَنَاظِرِهَا الطَّبِيعِيَّةِ. أَذْهَبُ إِلَى المَدْرَسَةِ بِالحَافِلَةِ، وَتَسْتَغْرِقُ الرِّحْلَةُ عِشْرِينَ دَقِيقَةً. مِنْ مَزَايَا المَدِينَةِ أَنَّهَا هَادِئَةٌ، وَلٰكِنْ مِنْ عُيُوبِهَا أَنَّ بَعْضَ الأَمَاكِنِ بَعِيدَةٌ. بِصِفَةٍ عَامَّةٍ، أُحِبُّهَا كَثِيرًا.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اذْكُرْ مِيزَةً وَعَيْبًا. (Give one advantage and disadvantage.)
B: مِنْ مَزَايَاهَا أَنَّ المَوَاصَلَاتِ رَخِيصَةٌ، وَمِنْ عُيُوبِهَا أَنَّ الشَّوَارِعَ مُكْتَظَّةٌ. (Cheap transport is an advantage; crowded streets are a disadvantage.)
Website “Oral rehearsal before drafting” — say the text before writing it. Pairs: 60 seconds each, partner ticks the F6 structures heard. Website model: صِفْ مَدِينَتَكَ وَمَوَاصَلَاتِهَا. — مَدِينَتِي حَدِيثَةٌ وَتَتَمَيَّزُ بِحَدَائِقِهَا. أَذْهَبُ إِلَى المَدْرَسَةِ بِالحَافِلَةِ. — اُذْكُرْ مِيزَةً وَعَيْبًا. — مِنْ مَزَايَاهَا أَنَّ المَوَاصَلَاتِ رَخِيصَةٌ، وَمِنْ عُيُوبِهَا أَنَّ الشَّوَارِعَ مُكْتَظَّةٌ.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a supported 60-word response covering every point. · Develop — Write 80–100 words with three paragraphs and accurate F6 range. · Stretch — Write 100+ words, compare two transport choices and improve the first draft using a self-audit.
Website writing task (Stretch): Plan, draft and improve an 80–100-word article or email about your town and how you get around.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تَتَمَيَّزُ، تُوجَدُ · بِالحَافِلَةِ، تَسْتَغْرِقُ، أَرْخَصُ مِنْ · مِنْ مَزَايَا … أَنَّ، مِنْ عُيُوبِهَا أَنَّ، أُوصِي بِـ. ≈ 80 words.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(F6-L10 · Listening: Town and Transport Texts) will spend class time USING this language, so students prepare it tonight — short, simple, easy to access (school guidance: “Simple, Short, Interesting, Relevant, Easy to access”). The five words prepare the website F6-L10 listening lesson (announcements, reports, interviews).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F6  ·  F6-L09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F6-L09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Extended Writing: My Town and How I Get Around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الكِتَابَةُ المُوَسَّعَةُ — مَدِينَتِي وَكَيْفَ أَتَنَقَّلُ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Plan, draft, check and improve an 80–100-word text in three paragraphs: my town and its places · how I travel · a balanced judgement — using the whole F6 toolkit.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F6-L09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F6 › F6-L09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Connectors and the F6 toolkit, then a three-paragraph plan.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sentences into paragraphs, fix three F6 slips and turn a spoken description into a plan.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F6-L10.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مُقَدِّمَةٌ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introduction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draft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مُسَوَّدَةٌ / مَسْوَدَّةٌ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draft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paragraph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Give “turn” to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اِنْعَطِفُوا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to school by bus.”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أَذْهَبُ إِلَى المَدْرَسَةِ عَلَى الحَافِلَةِ.</a:t>
            </a:r>
            <a:endParaRPr lang="ar-SA" sz="20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أَذْهَبُ المَدْرَسَةَ بِمَشْيًا.</a:t>
            </a:r>
            <a:endParaRPr lang="ar-SA" sz="20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أَذْهَبُ إِلَى المَدْرَسَةِ بِالحَافِلَةِ.</a:t>
            </a:r>
            <a:endParaRPr lang="ar-SA" sz="20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 …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تَفْتَقِرُ إِلَى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مَمْنُوعُ الدُّخُولِ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مُقَدِّمَةٌ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introduction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draft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مُسَوَّدَةٌ / مَسْوَدَّةٌ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draft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paragraph</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Give “turn” to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اِنْعَطِفُوا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اِنْعَطِفِي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F6-L08: -ī for one girl.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to school by bus.”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المَدْرَسَةِ عَلَى الحَافِلَةِ.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المَدْرَسَةَ بِمَشْيًا.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إِلَى المَدْرَسَةِ بِالحَافِلَةِ.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F6-L03: bi- with a bus.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مَزَايَا …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تَفْتَقِرُ إِلَى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مَمْنُوعُ الدُّخُولِ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Three paragraphs, three jobs: my town · how I get around · my judgement.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مَدِينَتِي … · أَتَنَقَّلُ بِـ … · بِصِفَةٍ عَامَّةٍ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Analyse a strong model against task criteria.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three purposeful paragraphs.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required F6 grammar range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Draft, check and improve an 80–100-word text.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cover every task point.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60 accurate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three connected paragraphs.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five F6 structures.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transport choices.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improve my draft with a self-audit.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33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Writing architecture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Connectors and range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F6 high-value structures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مُقَدِّمَةٌ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‎مقدمہ‎ </a:t>
            </a:r>
            <a:pPr indent="0" marL="0">
              <a:buNone/>
            </a:pPr>
            <a:r>
              <a:rPr lang="en-US" sz="950" b="1" dirty="0">
                <a:solidFill>
                  <a:srgbClr val="2E8B57"/>
                </a:solidFill>
                <a:latin typeface="Calibri" pitchFamily="34" charset="0"/>
                <a:ea typeface="Calibri" pitchFamily="34" charset="-122"/>
                <a:cs typeface="Calibri" pitchFamily="34" charset="-120"/>
              </a:rPr>
              <a:t> muqaddama · Urdu: preface / court case → introduction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تَفْصِيلٌ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‎تفصیل‎ </a:t>
            </a:r>
            <a:pPr indent="0" marL="0">
              <a:buNone/>
            </a:pPr>
            <a:r>
              <a:rPr lang="en-US" sz="950" b="1" dirty="0">
                <a:solidFill>
                  <a:srgbClr val="2E8B57"/>
                </a:solidFill>
                <a:latin typeface="Calibri" pitchFamily="34" charset="0"/>
                <a:ea typeface="Calibri" pitchFamily="34" charset="-122"/>
                <a:cs typeface="Calibri" pitchFamily="34" charset="-120"/>
              </a:rPr>
              <a:t> tafsīl · detail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خَاتِمَةٌ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‎خاتمہ‎ </a:t>
            </a:r>
            <a:pPr indent="0" marL="0">
              <a:buNone/>
            </a:pPr>
            <a:r>
              <a:rPr lang="en-US" sz="950" b="1" dirty="0">
                <a:solidFill>
                  <a:srgbClr val="2E8B57"/>
                </a:solidFill>
                <a:latin typeface="Calibri" pitchFamily="34" charset="0"/>
                <a:ea typeface="Calibri" pitchFamily="34" charset="-122"/>
                <a:cs typeface="Calibri" pitchFamily="34" charset="-120"/>
              </a:rPr>
              <a:t> khātima · ending →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نُسْخَةٌ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‎نسخہ‎ </a:t>
            </a:r>
            <a:pPr indent="0" marL="0">
              <a:buNone/>
            </a:pPr>
            <a:r>
              <a:rPr lang="en-US" sz="950" b="1" dirty="0">
                <a:solidFill>
                  <a:srgbClr val="2E8B57"/>
                </a:solidFill>
                <a:latin typeface="Calibri" pitchFamily="34" charset="0"/>
                <a:ea typeface="Calibri" pitchFamily="34" charset="-122"/>
                <a:cs typeface="Calibri" pitchFamily="34" charset="-120"/>
              </a:rPr>
              <a:t> nuskha · Urdu: prescription · Arabic: a copy / version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رَأْيٌ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‎رائے‎ </a:t>
            </a:r>
            <a:pPr indent="0" marL="0">
              <a:buNone/>
            </a:pPr>
            <a:r>
              <a:rPr lang="en-US" sz="950" b="1" dirty="0">
                <a:solidFill>
                  <a:srgbClr val="2E8B57"/>
                </a:solidFill>
                <a:latin typeface="Calibri" pitchFamily="34" charset="0"/>
                <a:ea typeface="Calibri" pitchFamily="34" charset="-122"/>
                <a:cs typeface="Calibri" pitchFamily="34" charset="-120"/>
              </a:rPr>
              <a:t> rāy · opinion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Connectors and range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ثَانِيًا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secondly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thā-ni-yan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thum-ma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ذٰلِكَ</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dhā-li-ka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كَمَا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also / moreover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ka-mā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45" name="Shape 4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Connectors and range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نَاحِيَةٍ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وَمِنْ نَاحِيَةٍ أُخْرَى</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wa-min nā-ḥi-ya-tin ukh-rā</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7" name="Shape 4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بِصِفَةٍ عَامَّةٍ</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overall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bi-ṣi-fa-tin ʿām-ma-tin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F6 high-value structures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يُوجَدُ / تُوجَدُ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 is / 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yū-ja-du / tū-ja-du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تَتَمَيَّزُ بِـ</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distinguished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ta-ta-may-ya-zu bi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تَفْتَقِرُ إِلَى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lacks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taf-ta-qi-ru i-lā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مَبْنِيٌّ مِنْ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mab-niy-yun min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أَذْهَبُ بِـ</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adh-ha-bu bi</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F6 high-value structures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أَذْهَبُ مَشْيًا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on foot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adh-ha-bu mash-yan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مَزَايَا...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one advantage is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ma-zā-yā... an-na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عُيُوبِ...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one disadvantage is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ʿu-yū-bi... an-na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أُوصِي بِـ</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recommend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ū-ṣī bi</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THREE-PARAGRAPH PLAN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paragraphs, three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ثَلَاثُ فِقْرَاتٍ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F6 lessons</a:t>
            </a:r>
            <a:endParaRPr lang="en-US" sz="1100" dirty="0"/>
          </a:p>
        </p:txBody>
      </p:sp>
      <p:sp>
        <p:nvSpPr>
          <p:cNvPr id="17" name="Text 14"/>
          <p:cNvSpPr txBox="1"/>
          <p:nvPr/>
        </p:nvSpPr>
        <p:spPr>
          <a:xfrm>
            <a:off x="309067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sentences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Paragraph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L01 · L05 · L07</a:t>
            </a:r>
            <a:endParaRPr lang="en-US" sz="1100" dirty="0"/>
          </a:p>
        </p:txBody>
      </p:sp>
      <p:sp>
        <p:nvSpPr>
          <p:cNvPr id="21" name="Text 18"/>
          <p:cNvSpPr txBox="1"/>
          <p:nvPr/>
        </p:nvSpPr>
        <p:spPr>
          <a:xfrm>
            <a:off x="3108960" y="2267712"/>
            <a:ext cx="6217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أَسْكُنُ فِي مَدِينَةٍ مُتَوَسِّطَةٍ وَحَدِيثَةٍ. </a:t>
            </a:r>
            <a:pPr rtl="1" algn="ctr" indent="0" marL="0">
              <a:buNone/>
            </a:pPr>
            <a:r>
              <a:rPr lang="ar-SA" altLang="en-US" sz="1800" b="1" dirty="0">
                <a:solidFill>
                  <a:srgbClr val="1D5FBF"/>
                </a:solidFill>
                <a:latin typeface="Amiri" pitchFamily="34" charset="0"/>
                <a:ea typeface="Amiri" pitchFamily="34" charset="-122"/>
                <a:cs typeface="Amiri" pitchFamily="34" charset="-120"/>
              </a:rPr>
              <a:t>تَتَمَيَّزُ</a:t>
            </a:r>
            <a:pPr rtl="1" algn="ctr" indent="0" marL="0">
              <a:buNone/>
            </a:pPr>
            <a:r>
              <a:rPr lang="ar-SA" altLang="en-US" sz="1800" b="1" dirty="0">
                <a:solidFill>
                  <a:srgbClr val="1B3B6F"/>
                </a:solidFill>
                <a:latin typeface="Amiri" pitchFamily="34" charset="0"/>
                <a:ea typeface="Amiri" pitchFamily="34" charset="-122"/>
                <a:cs typeface="Amiri" pitchFamily="34" charset="-120"/>
              </a:rPr>
              <a:t> بِحَدَائِقِهَا، وَ</a:t>
            </a:r>
            <a:pPr rtl="1" algn="ctr" indent="0" marL="0">
              <a:buNone/>
            </a:pPr>
            <a:r>
              <a:rPr lang="ar-SA" altLang="en-US" sz="1800" b="1" dirty="0">
                <a:solidFill>
                  <a:srgbClr val="1D5FBF"/>
                </a:solidFill>
                <a:latin typeface="Amiri" pitchFamily="34" charset="0"/>
                <a:ea typeface="Amiri" pitchFamily="34" charset="-122"/>
                <a:cs typeface="Amiri" pitchFamily="34" charset="-120"/>
              </a:rPr>
              <a:t>تُوجَدُ</a:t>
            </a:r>
            <a:pPr rtl="1" algn="ctr" indent="0" marL="0">
              <a:buNone/>
            </a:pPr>
            <a:r>
              <a:rPr lang="ar-SA" altLang="en-US" sz="1800" b="1" dirty="0">
                <a:solidFill>
                  <a:srgbClr val="1B3B6F"/>
                </a:solidFill>
                <a:latin typeface="Amiri" pitchFamily="34" charset="0"/>
                <a:ea typeface="Amiri" pitchFamily="34" charset="-122"/>
                <a:cs typeface="Amiri" pitchFamily="34" charset="-120"/>
              </a:rPr>
              <a:t> فِيهَا مَكْتَبَةٌ كَبِيرَةٌ.</a:t>
            </a:r>
            <a:endParaRPr lang="ar-SA" sz="1800" dirty="0"/>
          </a:p>
        </p:txBody>
      </p:sp>
      <p:sp>
        <p:nvSpPr>
          <p:cNvPr id="22" name="Text 19"/>
          <p:cNvSpPr txBox="1"/>
          <p:nvPr/>
        </p:nvSpPr>
        <p:spPr>
          <a:xfrm>
            <a:off x="56692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my town + places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L03 · L04</a:t>
            </a:r>
            <a:endParaRPr lang="en-US" sz="1100" dirty="0"/>
          </a:p>
        </p:txBody>
      </p:sp>
      <p:sp>
        <p:nvSpPr>
          <p:cNvPr id="27" name="Text 24"/>
          <p:cNvSpPr txBox="1"/>
          <p:nvPr/>
        </p:nvSpPr>
        <p:spPr>
          <a:xfrm>
            <a:off x="3108960" y="3004718"/>
            <a:ext cx="62179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أَذْهَبُ إِلَى المَدْرَسَةِ </a:t>
            </a:r>
            <a:pPr rtl="1" algn="ctr" indent="0" marL="0">
              <a:buNone/>
            </a:pPr>
            <a:r>
              <a:rPr lang="ar-SA" altLang="en-US" sz="2000" b="1" dirty="0">
                <a:solidFill>
                  <a:srgbClr val="0E7C86"/>
                </a:solidFill>
                <a:latin typeface="Amiri" pitchFamily="34" charset="0"/>
                <a:ea typeface="Amiri" pitchFamily="34" charset="-122"/>
                <a:cs typeface="Amiri" pitchFamily="34" charset="-120"/>
              </a:rPr>
              <a:t>بِالحَافِلَةِ</a:t>
            </a:r>
            <a:pPr rtl="1" algn="ctr" indent="0" marL="0">
              <a:buNone/>
            </a:pPr>
            <a:r>
              <a:rPr lang="ar-SA" altLang="en-US" sz="2000" b="1" dirty="0">
                <a:solidFill>
                  <a:srgbClr val="1B3B6F"/>
                </a:solidFill>
                <a:latin typeface="Amiri" pitchFamily="34" charset="0"/>
                <a:ea typeface="Amiri" pitchFamily="34" charset="-122"/>
                <a:cs typeface="Amiri" pitchFamily="34" charset="-120"/>
              </a:rPr>
              <a:t>، وَ</a:t>
            </a:r>
            <a:pPr rtl="1" algn="ctr" indent="0" marL="0">
              <a:buNone/>
            </a:pPr>
            <a:r>
              <a:rPr lang="ar-SA" altLang="en-US" sz="2000" b="1" dirty="0">
                <a:solidFill>
                  <a:srgbClr val="0E7C86"/>
                </a:solidFill>
                <a:latin typeface="Amiri" pitchFamily="34" charset="0"/>
                <a:ea typeface="Amiri" pitchFamily="34" charset="-122"/>
                <a:cs typeface="Amiri" pitchFamily="34" charset="-120"/>
              </a:rPr>
              <a:t>تَسْتَغْرِقُ الرِّحْلَةُ</a:t>
            </a:r>
            <a:pPr rtl="1" algn="ctr" indent="0" marL="0">
              <a:buNone/>
            </a:pPr>
            <a:r>
              <a:rPr lang="ar-SA" altLang="en-US" sz="2000" b="1" dirty="0">
                <a:solidFill>
                  <a:srgbClr val="1B3B6F"/>
                </a:solidFill>
                <a:latin typeface="Amiri" pitchFamily="34" charset="0"/>
                <a:ea typeface="Amiri" pitchFamily="34" charset="-122"/>
                <a:cs typeface="Amiri" pitchFamily="34" charset="-120"/>
              </a:rPr>
              <a:t> خَمْسًا وَعِشْرِينَ دَقِيقَةً.</a:t>
            </a:r>
            <a:endParaRPr lang="ar-SA" sz="2000" dirty="0"/>
          </a:p>
        </p:txBody>
      </p:sp>
      <p:sp>
        <p:nvSpPr>
          <p:cNvPr id="28" name="Text 25"/>
          <p:cNvSpPr txBox="1"/>
          <p:nvPr/>
        </p:nvSpPr>
        <p:spPr>
          <a:xfrm>
            <a:off x="56692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how I travel</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L06</a:t>
            </a:r>
            <a:endParaRPr lang="en-US" sz="1100" dirty="0"/>
          </a:p>
        </p:txBody>
      </p:sp>
      <p:sp>
        <p:nvSpPr>
          <p:cNvPr id="33" name="Text 30"/>
          <p:cNvSpPr txBox="1"/>
          <p:nvPr/>
        </p:nvSpPr>
        <p:spPr>
          <a:xfrm>
            <a:off x="3108960" y="3741725"/>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أُفَضِّلُ الحَافِلَةَ لِأَنَّهَا </a:t>
            </a:r>
            <a:pPr rtl="1" algn="ctr" indent="0" marL="0">
              <a:buNone/>
            </a:pPr>
            <a:r>
              <a:rPr lang="ar-SA" altLang="en-US" sz="2200" b="1" dirty="0">
                <a:solidFill>
                  <a:srgbClr val="0E7C86"/>
                </a:solidFill>
                <a:latin typeface="Amiri" pitchFamily="34" charset="0"/>
                <a:ea typeface="Amiri" pitchFamily="34" charset="-122"/>
                <a:cs typeface="Amiri" pitchFamily="34" charset="-120"/>
              </a:rPr>
              <a:t>أَرْخَصُ 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سَيَّارَةِ الأُجْرَةِ.</a:t>
            </a:r>
            <a:endParaRPr lang="ar-SA" sz="2200" dirty="0"/>
          </a:p>
        </p:txBody>
      </p:sp>
      <p:sp>
        <p:nvSpPr>
          <p:cNvPr id="34" name="Text 31"/>
          <p:cNvSpPr txBox="1"/>
          <p:nvPr/>
        </p:nvSpPr>
        <p:spPr>
          <a:xfrm>
            <a:off x="56692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 reason</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L05</a:t>
            </a:r>
            <a:endParaRPr lang="en-US" sz="1100" dirty="0"/>
          </a:p>
        </p:txBody>
      </p:sp>
      <p:sp>
        <p:nvSpPr>
          <p:cNvPr id="37" name="Text 34"/>
          <p:cNvSpPr txBox="1"/>
          <p:nvPr/>
        </p:nvSpPr>
        <p:spPr>
          <a:xfrm>
            <a:off x="3108960" y="4478731"/>
            <a:ext cx="6217920" cy="682142"/>
          </a:xfrm>
          <a:prstGeom prst="rect">
            <a:avLst/>
          </a:prstGeom>
          <a:noFill/>
          <a:ln/>
        </p:spPr>
        <p:txBody>
          <a:bodyPr wrap="square" lIns="0" tIns="0" rIns="0" bIns="0" rtlCol="0" anchor="ctr"/>
          <a:lstStyle/>
          <a:p>
            <a:pPr rtl="1" algn="ctr" indent="0" marL="0">
              <a:buNone/>
            </a:pPr>
            <a:r>
              <a:rPr lang="ar-SA" altLang="en-US" sz="1950" b="1" dirty="0">
                <a:solidFill>
                  <a:srgbClr val="7B3FA0"/>
                </a:solidFill>
                <a:latin typeface="Amiri" pitchFamily="34" charset="0"/>
                <a:ea typeface="Amiri" pitchFamily="34" charset="-122"/>
                <a:cs typeface="Amiri" pitchFamily="34" charset="-120"/>
              </a:rPr>
              <a:t>مِنْ مَزَايَا</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المَدِينَةِ </a:t>
            </a:r>
            <a:pPr rtl="1" algn="ctr" indent="0" marL="0">
              <a:buNone/>
            </a:pPr>
            <a:r>
              <a:rPr lang="ar-SA" altLang="en-US" sz="1950" b="1" dirty="0">
                <a:solidFill>
                  <a:srgbClr val="7B3FA0"/>
                </a:solidFill>
                <a:latin typeface="Amiri" pitchFamily="34" charset="0"/>
                <a:ea typeface="Amiri" pitchFamily="34" charset="-122"/>
                <a:cs typeface="Amiri" pitchFamily="34" charset="-120"/>
              </a:rPr>
              <a:t>أَنَّ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الخِدْمَاتِ قَرِيبَةٌ، وَ</a:t>
            </a:r>
            <a:pPr rtl="1" algn="ctr" indent="0" marL="0">
              <a:buNone/>
            </a:pPr>
            <a:r>
              <a:rPr lang="ar-SA" altLang="en-US" sz="1950" b="1" dirty="0">
                <a:solidFill>
                  <a:srgbClr val="7B3FA0"/>
                </a:solidFill>
                <a:latin typeface="Amiri" pitchFamily="34" charset="0"/>
                <a:ea typeface="Amiri" pitchFamily="34" charset="-122"/>
                <a:cs typeface="Amiri" pitchFamily="34" charset="-120"/>
              </a:rPr>
              <a:t>مِنْ عُيُوبِهَا أَنَّ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الشَّوَارِعَ مُكْتَظَّةٌ.</a:t>
            </a:r>
            <a:endParaRPr lang="ar-SA" sz="1950" dirty="0"/>
          </a:p>
        </p:txBody>
      </p:sp>
      <p:sp>
        <p:nvSpPr>
          <p:cNvPr id="38" name="Text 35"/>
          <p:cNvSpPr txBox="1"/>
          <p:nvPr/>
        </p:nvSpPr>
        <p:spPr>
          <a:xfrm>
            <a:off x="56692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balanced view</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L05</a:t>
            </a:r>
            <a:endParaRPr lang="en-US" sz="1100" dirty="0"/>
          </a:p>
        </p:txBody>
      </p:sp>
      <p:sp>
        <p:nvSpPr>
          <p:cNvPr id="43" name="Text 40"/>
          <p:cNvSpPr txBox="1"/>
          <p:nvPr/>
        </p:nvSpPr>
        <p:spPr>
          <a:xfrm>
            <a:off x="3108960" y="5215738"/>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بِصِفَةٍ عَامَّةٍ، أُوصِي بِزِيَارَتِهَا لِأَنَّهَا مُمْتِعَةٌ وَآمِنَةٌ.</a:t>
            </a:r>
            <a:endParaRPr lang="ar-SA" sz="2200" dirty="0"/>
          </a:p>
        </p:txBody>
      </p:sp>
      <p:sp>
        <p:nvSpPr>
          <p:cNvPr id="44" name="Text 41"/>
          <p:cNvSpPr txBox="1"/>
          <p:nvPr/>
        </p:nvSpPr>
        <p:spPr>
          <a:xfrm>
            <a:off x="56692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recommendation</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These five sentences are the website model answer (≈ 80 words). Keep the jobs, change the content.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THE REVIEW ROUTINE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in this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مَعْنًى · تَنْظِيمٌ · قَوَاعِدُ · إِمْلَاءٌ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MEANING</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هَلْ أَجَبْتُ عَنْ كُلِّ نُقْطَةٍ؟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هَلْ أَجَبْتُ عَنْ كُلِّ نُقْطَةٍ؟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Did I answer every point?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Task completion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ORGANISATION</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رَوَابِطُ لَهَا وَظِيفَةٌ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أُفَضِّلُ المِتْرُو لِأَنَّهُ سَرِيعٌ، لِذَلِكَ أَسْتَعْمِلُهُ كُلَّ يَوْمٍ.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the metro because it is fast, so I use it every 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Every connector has a job.</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2024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3–4 · GRAMMAR + SPELLING</a:t>
            </a:r>
            <a:endParaRPr lang="en-US" sz="850" dirty="0"/>
          </a:p>
        </p:txBody>
      </p:sp>
      <p:sp>
        <p:nvSpPr>
          <p:cNvPr id="34" name="Text 31"/>
          <p:cNvSpPr txBox="1"/>
          <p:nvPr/>
        </p:nvSpPr>
        <p:spPr>
          <a:xfrm>
            <a:off x="2560320" y="1874520"/>
            <a:ext cx="1395984" cy="365760"/>
          </a:xfrm>
          <a:prstGeom prst="rect">
            <a:avLst/>
          </a:prstGeom>
          <a:noFill/>
          <a:ln/>
        </p:spPr>
        <p:txBody>
          <a:bodyPr wrap="square" lIns="0" tIns="0" rIns="0" bIns="0" rtlCol="0" anchor="ctr"/>
          <a:lstStyle/>
          <a:p>
            <a:pPr rtl="1" algn="r" indent="0" marL="0">
              <a:buNone/>
            </a:pPr>
            <a:r>
              <a:rPr lang="ar-SA" altLang="en-US" sz="1500" b="1" dirty="0">
                <a:solidFill>
                  <a:srgbClr val="8A6D1E"/>
                </a:solidFill>
                <a:latin typeface="Amiri" pitchFamily="34" charset="0"/>
                <a:ea typeface="Amiri" pitchFamily="34" charset="-122"/>
                <a:cs typeface="Amiri" pitchFamily="34" charset="-120"/>
              </a:rPr>
              <a:t>المُطَابَقَةُ · بِـ / عَلَى</a:t>
            </a:r>
            <a:endParaRPr lang="ar-SA" sz="15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مَدِينَتِي حَدِيثَةٌ · أَذْهَبُ بِالقِطَارِ · تُوجَدُ مَكْتَبَةٌ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Agreement · transport prepositions · yūjadu / tūjadu</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F6 high-risk points.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tatamayyazu takes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تَتَمَيَّزُ مَدِينَتِي بِحَدَائِقِهَا.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تَتَمَيَّزُ مَدِينَتِي إِلَى حَدَائِقِهَا.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Building an 80–100-word town and transport text</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34" charset="0"/>
                <a:ea typeface="Amiri" pitchFamily="34" charset="-122"/>
                <a:cs typeface="Amiri" pitchFamily="34" charset="-120"/>
              </a:rPr>
              <a:t>بِنَاءُ نَصٍّ مُتَرَابِطٍ مِنْ ٨٠ إِلَى ١٠٠ كَلِمَةٍ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Paragraph 1: place and character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اِسْمُ المَكَانِ + صِفَاتٌ + يُوجَدُ / تُوجَدُ</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أَسْكُنُ فِي مَدِينَةٍ سَاحِلِيَّةٍ حَدِيثَةٍ.   ·   فِي مَرْكَزِهَا يُوجَدُ سُوقٌ، وَتُوجَدُ مَكْتَبَةٌ كَبِيرَةٌ.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Paragraph 2: movement and detail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أَذْهَبُ إِلَى... بِـ / عَلَى / مَشْيًا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أَذْهَبُ إِلَى المَدْرَسَةِ بِالحَافِلَةِ.   ·   تَسْتَغْرِقُ الرِّحْلَةُ نِصْفَ سَاعَةٍ.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Paragraph 3: balanced judgement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مَزَايَا... أَنَّ / مِنْ عُيُوبِ... أَنَّ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مَزَايَا المَدِينَةِ أَنَّ المَوَاصَلَاتِ رَخِيصَةٌ.   ·   مِنْ عُيُوبِهَا أَنَّ الشَّوَارِعَ مُكْتَظَّةٌ.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Review for range and accuracy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مَعْنًى → تَنْظِيمٌ → قَوَاعِدُ → إِمْلَاءٌ</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هَلْ أَجَبْتُ عَنْ كُلِّ نُقْطَةٍ؟   ·   هَلِ اسْتَعْمَلْتُ تَرَاكِيبَ مُخْتَلِفَةً؟   ·   هَلْ رَاجَعْتُ المُطَابَقَةَ؟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introduces an advantage?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تَفْتَقِرُ إِلَى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مَمْنُوعُ الدُّخُولِ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 أَنَّ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strongest opening?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فِي مَدِينَةٍ سَاحِلِيَّةٍ حَدِيثَةٍ.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مَدِينَةٌ.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range accurately?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مَدِينَتِي جَيِّدَةٌ جِدًّا جِدًّا.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مَدِينَتِي بِمَبَانِيهَا التَّارِيخِيَّةِ.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مَدِينَتِي فِي مَدِينَتِي.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shows a result?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introduces an advantage?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تَفْتَقِرُ إِلَى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مَمْنُوعُ الدُّخُولِ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مَزَايَا... أَنَّ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advantage frame.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strongest opening?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أَسْكُنُ فِي مَدِينَةٍ سَاحِلِيَّةٍ حَدِيثَةٍ.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مَدِينَةٌ.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sentence locates and characterises the town.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range accurately?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مَدِينَتِي جَيِّدَةٌ جِدًّا جِدًّا.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تَتَمَيَّزُ مَدِينَتِي بِمَبَانِيهَا التَّارِيخِيَّةِ.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مَدِينَتِي فِي مَدِينَتِي.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uses an accurate high-value structure.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shows a result?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لِذٰلِكَ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لِذٰلِكَ</a:t>
            </a:r>
            <a:pPr algn="l" indent="0" marL="0">
              <a:buNone/>
            </a:pPr>
            <a:r>
              <a:rPr lang="en-US" sz="1050" i="1" dirty="0">
                <a:solidFill>
                  <a:srgbClr val="8A6D1E"/>
                </a:solidFill>
                <a:latin typeface="Calibri" pitchFamily="34" charset="0"/>
                <a:ea typeface="Calibri" pitchFamily="34" charset="-122"/>
                <a:cs typeface="Calibri" pitchFamily="34" charset="-120"/>
              </a:rPr>
              <a:t> means therefore.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turn a plan into a paragraph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Plan · notes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مَدِينَةٌ حَدِيثَةٌ · حَدَائِقُ · مَكْتَبَةٌ</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Notes, not sentences.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Draft · sentence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أَسْكُنُ فِي مَدِينَةٍ حَدِيثَةٍ، وَفِيهَا حَدَائِقُ وَمَكْتَبَةٌ.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simple first version.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Improve · range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أَسْكُنُ فِي مَدِينَةٍ حَدِيثَةٍ </a:t>
            </a:r>
            <a:pPr rtl="1" algn="ctr" indent="0" marL="0">
              <a:lnSpc>
                <a:spcPct val="120000"/>
              </a:lnSpc>
              <a:buNone/>
            </a:pPr>
            <a:r>
              <a:rPr lang="ar-SA" altLang="en-US" sz="1450" b="1" dirty="0">
                <a:solidFill>
                  <a:srgbClr val="1D5FBF"/>
                </a:solidFill>
                <a:latin typeface="Amiri" pitchFamily="34" charset="0"/>
                <a:ea typeface="Amiri" pitchFamily="34" charset="-122"/>
                <a:cs typeface="Amiri" pitchFamily="34" charset="-120"/>
              </a:rPr>
              <a:t>تَتَمَيَّزُ</a:t>
            </a:r>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بِحَدَائِقِهَا، وَ</a:t>
            </a:r>
            <a:pPr rtl="1" algn="ctr" indent="0" marL="0">
              <a:lnSpc>
                <a:spcPct val="120000"/>
              </a:lnSpc>
              <a:buNone/>
            </a:pPr>
            <a:r>
              <a:rPr lang="ar-SA" altLang="en-US" sz="1450" b="1" dirty="0">
                <a:solidFill>
                  <a:srgbClr val="1D5FBF"/>
                </a:solidFill>
                <a:latin typeface="Amiri" pitchFamily="34" charset="0"/>
                <a:ea typeface="Amiri" pitchFamily="34" charset="-122"/>
                <a:cs typeface="Amiri" pitchFamily="34" charset="-120"/>
              </a:rPr>
              <a:t>تُوجَدُ</a:t>
            </a:r>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فِيهَا مَكْتَبَةٌ كَبِيرَةٌ.</a:t>
            </a:r>
            <a:endParaRPr lang="ar-SA" sz="14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Add two F6 structures.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Check · accuracy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مَدِينَةٌ حَدِيثَةٌ · تُوجَدُ مَكْتَبَةٌ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agreement ticked.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F6 STRUCTURE</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أَسْكُنُ فِي مَدِينَةٍ مُتَوَسِّطَةٍ وَحَدِيثَةٍ.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تَتَمَيَّزُ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بِحَدَائِقِهَا وَمَرْكَزِهَا التِّجَارِيِّ،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تُوجَدُ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فِيهَا مَكْتَبَةٌ كَبِيرَةٌ وَمَحَطَّةُ قِطَارٍ. أَذْهَبُ إِلَى المَدْرَسَةِ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بِالحَافِلَةِ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تَسْتَغْرِقُ الرِّحْلَةُ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خَمْسًا وَعِشْرِينَ دَقِيقَةً. أُفَضِّلُ الحَافِلَةَ لِأَنَّهَا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أَرْخَصُ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سَيَّارَةِ الأُجْرَةِ.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مِنْ مَزَايَا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المَدِينَةِ أَنَّ الخِدْمَاتِ قَرِيبَةٌ،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مِنْ عُيُوبِهَا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 الشَّوَارِعَ مُكْتَظَّةٌ. بِصِفَةٍ عَامَّةٍ،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أُوصِي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بِزِيَارَتِهَا لِأَنَّهَا مُمْتِعَةٌ وَآمِنَةٌ.</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I live in a medium-sized, modern city. It is known for its parks and shopping centre, and it has a big library and a train station. I go to school by bus, and the journey takes twenty-five minutes. I prefer the bus because it is cheaper than a taxi. One advantage of the city is that services are close; one disadvantage is that the streets are crowded. Overall, I recommend visiting it because it is enjoyable and safe.</a:t>
            </a:r>
            <a:endParaRPr lang="en-US" sz="9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أَسْكُنُ فِي مَدِينَةٍ حَدِيثَةٍ وَنَشِيطَةٍ.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live in a modern, lively city.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Open with place and character.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المَدْرَسَةِ بِالمِتْرُو.</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go to school by metro.</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the correct journey pattern.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مَزَايَاهَا أَنَّ المَوَاصَلَاتِ رَخِيصَةٌ.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One advantage is cheap transport.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Develop a balanced argument.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بِصِفَةٍ عَامَّةٍ أُوصِي بِزِيَارَتِهَا.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Overall, I recommend visiting it.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Finish with a judgement.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مَدِينَتِي سَاحِلِيَّةٌ.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تُوجَدُ مَكْتَبَةٌ كَبِيرَةٌ.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أَذْهَبُ بِالحَافِلَةِ.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تَسْتَغْرِقُ الرِّحْلَةُ نِصْفَ سَاعَةٍ.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مَزَايَاهَا...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عُيُوبِهَا...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أُوصِي بِزِيَارَتِهَا.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المَطَارُ خَارِجَ المَدِينَةِ.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١ · town and places</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٢ · transport and journey</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٣ · judgement and recommendation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١ · town and places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مَدِينَتِي سَاحِلِيَّةٌ.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تُوجَدُ مَكْتَبَةٌ كَبِيرَةٌ.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المَطَارُ خَارِجَ المَدِينَةِ.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٢ · transport and journey</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أَذْهَبُ بِالحَافِلَةِ.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تَسْتَغْرِقُ الرِّحْلَةُ نِصْفَ سَاعَةٍ.</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٣ · judgement and recommendation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مَزَايَاهَا...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عُيُوبِهَا...</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أُوصِي بِزِيَارَتِهَا.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1,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paragraph should describe how you travel?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paragraph 1</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title only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paragraph 2</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should be checked first?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decorative colour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task completion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longest word</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is balanced?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هِيَ جَيِّدَةٌ.</a:t>
            </a:r>
            <a:endParaRPr lang="ar-SA" sz="11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بِصِفَةٍ عَامَّةٍ، أُوصِي بِزِيَارَةِ المَدِينَةِ بِالرَّغْمِ مِنَ الاِزْدِحَامِ.</a:t>
            </a:r>
            <a:endParaRPr lang="ar-SA" sz="11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أَوَّلًا مَدِينَةٌ.</a:t>
            </a:r>
            <a:endParaRPr lang="ar-SA"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paragraph should describe how you travel?</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paragraph 1</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title only</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paragraph 2</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middle paragraph develops transport and journey detail.</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should be checked first?</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decorative colour</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task completion</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longest word</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Content must answer every requested point.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is balanced?</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34" charset="0"/>
                <a:ea typeface="Amiri" pitchFamily="34" charset="-122"/>
                <a:cs typeface="Amiri" pitchFamily="34" charset="-120"/>
              </a:rPr>
              <a:t>هِيَ جَيِّدَةٌ.</a:t>
            </a:r>
            <a:endParaRPr lang="ar-SA" sz="11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بِصِفَةٍ عَامَّةٍ، أُوصِي بِزِيَارَةِ المَدِينَةِ بِالرَّغْمِ مِنَ الاِزْدِحَامِ.</a:t>
            </a:r>
            <a:endParaRPr lang="ar-SA" sz="11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34" charset="0"/>
                <a:ea typeface="Amiri" pitchFamily="34" charset="-122"/>
                <a:cs typeface="Amiri" pitchFamily="34" charset="-120"/>
              </a:rPr>
              <a:t>أَوَّلًا مَدِينَةٌ.</a:t>
            </a:r>
            <a:endParaRPr lang="ar-SA" sz="11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gives an overall judgement while acknowledging a limitation.</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تَتَمَيَّزُ مَدِينَتِي إِلَى حَدَائِقِهَا.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preposition after tatamayyazu?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أَذْهَبُ عَلَى الحَافِلَةِ.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bus: by or 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مِنْ عُيُوبِ مَدِينَتِي الشَّوَارِعُ مُكْتَظَّةٌ.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before the clause?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تَتَمَيَّزُ مَدِينَتِي إِلَى حَدَائِقِهَا.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تَتَمَيَّزُ مَدِينَتِي بِحَدَائِقِهَا.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تَتَمَيَّزُ</a:t>
            </a:r>
            <a:pPr algn="l" indent="0" marL="0">
              <a:buNone/>
            </a:pPr>
            <a:r>
              <a:rPr lang="en-US" sz="1150" b="1" dirty="0">
                <a:solidFill>
                  <a:srgbClr val="1B3B6F"/>
                </a:solidFill>
                <a:latin typeface="Calibri" pitchFamily="34" charset="0"/>
                <a:ea typeface="Calibri" pitchFamily="34" charset="-122"/>
                <a:cs typeface="Calibri" pitchFamily="34" charset="-120"/>
              </a:rPr>
              <a:t> takes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أَذْهَبُ عَلَى الحَافِلَةِ.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أَذْهَبُ بِالحَافِلَةِ.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with bus travel.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مِنْ عُيُوبِ مَدِينَتِي الشَّوَارِعُ مُكْتَظَّةٌ.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مِنْ عُيُوبِ مَدِينَتِي أَنَّ الشَّوَارِعَ مُكْتَظَّةٌ.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Add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before the clause.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Extract a writing plan from a town description</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city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Salalah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Cairo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London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adjectives describe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and noisy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and dangerous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beautiful and green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go to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train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journey take?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minutes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 minutes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disadvantage is given?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transport is expensive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places are far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no markets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and fill the three-box plan: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town · transport · judgement.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مَدِينَةِ صَلَالَةَ، وَهِيَ مَدِينَةٌ جَمِيلَةٌ وَخَضْرَاءُ.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in the city of Salalah, and it is a beautiful, green city.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المَرْكَزِ تُوجَدُ أَسْوَاقٌ وَمَطَاعِمُ، وَتَتَمَيَّزُ المَدِينَةُ بِمَنَاظِرِهَا الطَّبِيعِيَّةِ.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centre there are markets and restaurants, and the city is known for its natural scenery.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إِلَى المَدْرَسَةِ بِالحَافِلَةِ، وَتَسْتَغْرِقُ الرِّحْلَةُ عِشْرِينَ دَقِيقَةً.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to school by bus, and the journey takes twenty minutes.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مَزَايَا المَدِينَةِ أَنَّهَا هَادِئَةٌ، وَلَكِنْ مِنْ عُيُوبِهَا أَنَّ بَعْضَ الأَمَاكِنِ بَعِيدَةٌ.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advantage is that it is quiet, but one disadvantage is that some places are far.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بِصِفَةٍ عَامَّةٍ، أُحِبُّهَا كَثِيرًا.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Overall, I love it very much.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city is described?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Salalah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Cairo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London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مَدِينَةِ صَلَالَةَ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adjectives describe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 and noisy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old and dangerous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beautiful and green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جَمِيلَةٌ وَخَضْرَاءُ.</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go to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train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foot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بِالحَافِلَةِ.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journey take?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minutes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 minutes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عِشْرِينَ دَقِيقَةً.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disadvantage is given?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transport is expensive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some places are far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are no markets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بَعْضَ الأَمَاكِنِ بَعِيدَةٌ.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and fill the three-box plan: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town · transport · judgement.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Oral rehearsal before drafting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قَدِّمْ مَدِينَتَكَ فِي جُمْلَتَيْنِ.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اِشْرَحْ كَيْفَ تَتَنَقَّلُ.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اُذْكُرْ مِيزَةً وَعَيْبًا.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اِخْتِمْ بِتَوْصِيَةٍ.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أَسْكُنُ فِي … · تُوجَدُ فِيهَا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أَذْهَبُ إِلَى … بِـ … وَتَسْتَغْرِقُ الرِّحْلَةُ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 مَزَايَاهَا أَنَّ … وَمِنْ عُيُوبِهَا أَنَّ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بِصِفَةٍ عَامَّةٍ، أُوصِي بِزِيَارَتِهَا لِأَنَّ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مَدِينَتَكَ وَمَوَاصَلَاتِهَا.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city and its transport.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مَدِينَتِي حَدِيثَةٌ وَتَتَمَيَّزُ بِحَدَائِقِهَا. أَذْهَبُ إِلَى المَدْرَسَةِ بِالحَافِلَةِ.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city is modern and known for its parks. I go to school by bus.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supported 60-word response covering every point.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frame per task point; every point covered.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80–100 words with three paragraphs and accurate F6 range.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three paragraphs, five F6 structures, checked for agreement.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100+ words, compare two transport choices and improve the first draft using a self-audit.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transport choices; improve the first draft with a self-audit.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تَتَمَيَّزُ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known for its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لِأَنَّهُ أَرْخَصُ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because it is cheaper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مَزَايَا المَدِينَةِ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advantage of the city is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وَمِنْ عُيُوبِهَا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disadvantage is that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بِصِفَةٍ عَامَّةٍ، أُوصِي بِزِيَارَتِهَا.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Overall, I recommend visiting it.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فِي مَدِينَةٍ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in a … city.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تُوجَدُ فِيهَا ______ وَيُوجَدُ فِيهَا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 and a … in it.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 بِـ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school by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تَسْتَغْرِقُ الرِّحْلَةُ ______ دَقِيقَةً.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journey takes … minutes.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مَدِينَتِي لِأَنَّهَا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my city because it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يُوجَدُ  ·  تُوجَدُ  ·  تَتَمَيَّزُ بِـ  ·  تَفْتَقِرُ إِلَى  ·  مَبْنِيٌّ مِنْ  ·  بِالحَافِلَةِ  ·  مَشْيًا  ·  تَسْتَغْرِقُ  ·  أَرْخَصُ مِنْ  ·  مِنْ مَزَايَا … أَنَّ  ·  لِذَلِكَ  ·  بِصِفَةٍ عَامَّةٍ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Plan, draft and improve an 80–100-word article or email about your town and how you get around.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Paragraph 1 covers town, places and character.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Paragraph 2 covers transport, route and duration.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Paragraph 3 gives a balanced view and recommendation.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five F6 grammar structures and check agreement.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كَمَا تُوجَدُ فِيهَا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there is also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أَسِيرُ مَشْيًا خَمْسَ دَقَائِقَ</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then I walk for five minutes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نَاحِيَةٍ … وَمِنْ نَاحِيَةٍ أُخْرَى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one hand … on the other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خَارِجَ سَاعَاتِ الاِزْدِحَامِ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outside rush hour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مَسْجِدُهَا المَبْنِيُّ مِنَ الحَجَرِ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its mosque built of stone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مَدِينَةٍ مُتَوَسِّطَةٍ وَحَدِيثَةٍ. تَتَمَيَّزُ بِحَدَائِقِهَا وَمَرْكَزِهَا التِّجَارِيِّ، وَتُوجَدُ فِيهَا مَكْتَبَةٌ كَبِيرَةٌ وَمَحَطَّةُ قِطَارٍ. أَذْهَبُ إِلَى المَدْرَسَةِ بِالحَافِلَةِ، وَتَسْتَغْرِقُ الرِّحْلَةُ خَمْسًا وَعِشْرِينَ دَقِيقَةً. أُفَضِّلُ الحَافِلَةَ لِأَنَّهَا أَرْخَصُ مِنْ سَيَّارَةِ الأُجْرَةِ. مِنْ مَزَايَا المَدِينَةِ أَنَّ الخِدْمَاتِ قَرِيبَةٌ، وَمِنْ عُيُوبِهَا أَنَّ الشَّوَارِعَ مُكْتَظَّةٌ. بِصِفَةٍ عَامَّةٍ، أُوصِي بِزِيَارَتِهَا لِأَنَّهَا مُمْتِعَةٌ وَآمِنَةٌ.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 medium-sized, modern city. It is known for its parks and shopping centre, and it has a big library and a train station. I go to school by bus, and the journey takes twenty-five minutes. I prefer the bus because it is cheaper than a taxi. One advantage is that services are close; one disadvantage is that the streets are crowded. Overall, I recommend visiting it because it is enjoyable and safe.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paragraph 1: town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paragraph 2: transport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paragraph 3: judgement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five F6 structures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task point is covered.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Transport: bi- / ʿalā / mashyan correct.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Three paragraphs, three jobs.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Five F6 structures, all agreeing.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final version improves my draft.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belongs in paragraph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journey and duration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title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 recommendation</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“overall”?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بِصِفَةٍ عَامَّةٍ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 recommendation?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أُوصِي بِزِيَارَتِهَا.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تَفْتَقِرُ 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أَيِّ رَصِيفٍ؟</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belongs in paragraph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journey and duration</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title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 recommendation</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Paragraph 2 develops transport.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“overall”?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أَوَّلًا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بِصِفَةٍ عَامَّةٍ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بَيْنَمَا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بِصِفَةٍ عَامَّةٍ</a:t>
            </a:r>
            <a:pPr algn="l" indent="0" marL="0">
              <a:buNone/>
            </a:pPr>
            <a:r>
              <a:rPr lang="en-US" sz="1050" i="1" dirty="0">
                <a:solidFill>
                  <a:srgbClr val="8A6D1E"/>
                </a:solidFill>
                <a:latin typeface="Calibri" pitchFamily="34" charset="0"/>
                <a:ea typeface="Calibri" pitchFamily="34" charset="-122"/>
                <a:cs typeface="Calibri" pitchFamily="34" charset="-120"/>
              </a:rPr>
              <a:t> means overall.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 recommendation?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أُوصِي بِزِيَارَتِهَا.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تَفْتَقِرُ إِلَى...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 أَيِّ رَصِيفٍ؟</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أُوصِي بِـ</a:t>
            </a:r>
            <a:pPr algn="l" indent="0" marL="0">
              <a:buNone/>
            </a:pPr>
            <a:r>
              <a:rPr lang="en-US" sz="1050" i="1" dirty="0">
                <a:solidFill>
                  <a:srgbClr val="8A6D1E"/>
                </a:solidFill>
                <a:latin typeface="Calibri" pitchFamily="34" charset="0"/>
                <a:ea typeface="Calibri" pitchFamily="34" charset="-122"/>
                <a:cs typeface="Calibri" pitchFamily="34" charset="-120"/>
              </a:rPr>
              <a:t> means I recommend.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Annotated model: town and transport</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مَدِينَةٍ قَدِيمَةٍ وَلٰكِنَّهَا نَشِيطَةٌ. تَتَمَيَّزُ بِسُوقِهَا التَّقْلِيدِيِّ وَمَسْجِدِهَا المَبْنِيِّ مِنَ الحَجَرِ. كَمَا تُوجَدُ فِيهَا جَامِعَةٌ حَدِيثَةٌ. أَذْهَبُ إِلَى المَدْرَسَةِ بِالمِتْرُو، ثُمَّ أَسِيرُ مَشْيًا خَمْسَ دَقَائِقَ. أُفَضِّلُ المِتْرُو لِأَنَّهُ سَرِيعٌ وَأَرْخَصُ مِنْ سَيَّارَةِ الأُجْرَةِ. مِنْ مَزَايَا مَدِينَتِي أَنَّ الخِدْمَاتِ كَثِيرَةٌ، وَمِنْ عُيُوبِهَا أَنَّ المَرْكَزَ مُكْتَظٌّ. لِذٰلِكَ أُوصِي بِزِيَارَتِهَا خَارِجَ سَاعَاتِ الاِزْدِحَامِ.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قَدِيمَةٍ وَلَكِنَّهَا نَشِيطَةٌ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old but lively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سُوقِهَا التَّقْلِيدِيِّ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traditional market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المَبْنِيِّ مِنَ الحَجَرِ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built of stone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كَمَا تُوجَدُ</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there is also</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بِالمِتْرُو</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metro</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أَسِيرُ مَشْيًا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walk</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أَرْخَصُ مِنْ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cheaper than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الخِدْمَاتِ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services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مُكْتَظٌّ</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crowded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سَاعَاتِ الاِزْدِحَامِ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rush hour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mosque built from?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brick</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modern place is mentioned?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airport</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theatre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the metro journey?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five-minute walk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bus ride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taxi journey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metro preferred?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quiet and traditional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 and cheaper than a taxi</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new and large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city advantage?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 services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empty streets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nearby airport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recommendation is made?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visit</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only by taxi</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 outside rush hour</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mosque built from?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stone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brick</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المَبْنِيِّ مِنَ الحَجَرِ.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modern place is mentioned?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airport</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theatre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جَامِعَةٌ حَدِيثَةٌ.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the metro journey?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five-minute walk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bus ride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taxi journey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أَسِيرُ مَشْيًا خَمْسَ دَقَائِقَ.</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metro preferred?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quiet and traditional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fast and cheaper than a taxi</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new and large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سَرِيعٌ وَأَرْخَصُ مِنْ سَيَّارَةِ الأُجْرَةِ.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city advantage?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many services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empty streets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nearby airport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الخِدْمَاتِ كَثِيرَةٌ.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recommendation is made?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visit</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only by taxi</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visit outside rush hour</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زِيَارَتِهَا خَارِجَ سَاعَاتِ الاِزْدِحَامِ.</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F6-L10: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F6-L10 · Listening: Town and Transport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إِعْلَانٌ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announcement</a:t>
            </a:r>
            <a:pPr indent="0" marL="0">
              <a:buNone/>
            </a:pPr>
            <a:r>
              <a:rPr lang="en-US" sz="1000" i="1" dirty="0">
                <a:solidFill>
                  <a:srgbClr val="5A6472"/>
                </a:solidFill>
                <a:latin typeface="Calibri" pitchFamily="34" charset="0"/>
                <a:ea typeface="Calibri" pitchFamily="34" charset="-122"/>
                <a:cs typeface="Calibri" pitchFamily="34" charset="-120"/>
              </a:rPr>
              <a:t>  pl. إِعْلَانَاتٌ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تَقْرِيرٌ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report</a:t>
            </a:r>
            <a:pPr indent="0" marL="0">
              <a:buNone/>
            </a:pPr>
            <a:r>
              <a:rPr lang="en-US" sz="1000" i="1" dirty="0">
                <a:solidFill>
                  <a:srgbClr val="5A6472"/>
                </a:solidFill>
                <a:latin typeface="Calibri" pitchFamily="34" charset="0"/>
                <a:ea typeface="Calibri" pitchFamily="34" charset="-122"/>
                <a:cs typeface="Calibri" pitchFamily="34" charset="-120"/>
              </a:rPr>
              <a:t>  pl. تَقَارِيرُ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مُقَابَلَةٌ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interview</a:t>
            </a:r>
            <a:pPr indent="0" marL="0">
              <a:buNone/>
            </a:pPr>
            <a:r>
              <a:rPr lang="en-US" sz="1000" i="1" dirty="0">
                <a:solidFill>
                  <a:srgbClr val="5A6472"/>
                </a:solidFill>
                <a:latin typeface="Calibri" pitchFamily="34" charset="0"/>
                <a:ea typeface="Calibri" pitchFamily="34" charset="-122"/>
                <a:cs typeface="Calibri" pitchFamily="34" charset="-120"/>
              </a:rPr>
              <a:t>  pl. مُقَابَلَاتٌ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تَفَاصِيلُ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details</a:t>
            </a:r>
            <a:pPr indent="0" marL="0">
              <a:buNone/>
            </a:pPr>
            <a:r>
              <a:rPr lang="en-US" sz="1000" i="1" dirty="0">
                <a:solidFill>
                  <a:srgbClr val="5A6472"/>
                </a:solidFill>
                <a:latin typeface="Calibri" pitchFamily="34" charset="0"/>
                <a:ea typeface="Calibri" pitchFamily="34" charset="-122"/>
                <a:cs typeface="Calibri" pitchFamily="34" charset="-120"/>
              </a:rPr>
              <a:t>  sing. تَفْصِيلٌ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اِزْدِحَامٌ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congestion / crowds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Where might you hear a transport announcement? Name two places.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المَحَطَّةِ ·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your 60-word text from the frames; learn the five announcement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final 80–100-word version with the checklist ticked.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Compare two transport choices (100+ words) and write a short self-audit.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F6-L09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ea typeface="Cambria" pitchFamily="34" charset="-122"/>
                <a:cs typeface="Cambria" pitchFamily="34" charset="-120"/>
              </a:rPr>
              <a:t>F6-L10 · Listening: Town and Transport Texts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 — نُصُوصُ المَدِينَةِ وَالمُوَاصَلَاتِ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plan → draft → check → improve · three paragraphs, three jobs · every connector has a job.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F6-L09 · Extended Writing: My Town and How I Get Around</dc:title>
  <dc:subject>PptxGenJS Presentation</dc:subject>
  <dc:creator>Al Madina Online School · Arabic Department</dc:creator>
  <cp:lastModifiedBy>Al Madina Online School · Arabic Department</cp:lastModifiedBy>
  <cp:revision>1</cp:revision>
  <dcterms:created xsi:type="dcterms:W3CDTF">2026-09-27T22:16:51Z</dcterms:created>
  <dcterms:modified xsi:type="dcterms:W3CDTF">2026-09-27T22:16:51Z</dcterms:modified>
</cp:coreProperties>
</file>