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F6-L09. The website lesson “Extended Writing: My Town and How I Get Around”: vocabulary, grammar rules and quiz, patterns, common mistakes, sorter, listening, reading, speaking prompts and model, writing task and model, differentiation, final check and the lesson mission. Picture match: website visual game “Extended Writing: My Town and How I Get Around”.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60-word response with one sentence frame per point (all points covered).
• Develop: 80–100 words in three paragraphs with accurate F6 range (five structures).
• Stretch: 100+ words, compare two transport choices and improve the first draft with a self-audit.
• Website: “The word target is a guide to development, not a reason to repeat ideas.” · “The plan, first draft and final version should be visibly different.”
• Review order (website): meaning → organisation → grammar → spelling.
• Lesson shape: 10 min plan (oral rehearsal) · 15 min draft · 8 min review with the checklist · 5 min improve two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at the end of F6-L08 (the website spells draft مُسَوَّدَةٌ; مَسْوَدَّةٌ is also used). Questions 3–5 retrieve F6-L08, F6-L03 and F6-L05.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paragraphs, three jobs: my town · how I get around · my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تفصیل، خاتمہ، رائے are shared. مقدمہ (preface; also a court case!) → مُقَدِّمَةٌ (introduction: what comes first). Urdu نسخہ is a doctor’s prescription; Arabic نُسْخَةٌ is a copy or version (نُسْخَةٌ نِهَائِيَّةٌ = final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Connectors and range (website vocabulary (1 of 2)). Hear → Say → See → Use. Transliteration is printed for Core students (cover it for Develop/Stretch).
FLEX: teach if time allows; otherwise these are on the website vocabulary tab for homework.
FLEX: connectors by job — sequence (أَوَّلًا، ثَانِيًا، ثُمَّ) · add (كَمَا أَنَّ) · reason (لِأَنَّ) · result (لِذَلِكَ) · contrast (وَلَكِنَّ، بَيْنَمَا) · conclude (بِصِفَةٍ عَامَّةٍ).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Connectors and range (website vocabulary (2 of 2)). Hear → Say → See → Use. Transliteration is printed for Core students (cover it for Develop/Stretch).
FLEX: teach if time allows; otherwise these are on the website vocabulary tab for homework.
FLEX: connectors by job — sequence (أَوَّلًا، ثَانِيًا، ثُمَّ) · add (كَمَا أَنَّ) · reason (لِأَنَّ) · result (لِذَلِكَ) · contrast (وَلَكِنَّ، بَيْنَمَا) · conclude (بِصِفَةٍ عَامَّةٍ).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F6 high-value structures (website vocabulary (1 of 2)). Hear → Say → See → Use. Transliteration is printed for Core students (cover it for Develop/Stretch).
The F6 toolkit: one structure from each lesson L01–L08. Students tick each one they use in their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F6 high-value structures (website vocabulary (2 of 2)). Hear → Say → See → Use. Transliteration is printed for Core students (cover it for Develop/Stretch).
The F6 toolkit: one structure from each lesson L01–L08. Students tick each one they use in their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“Paragraph 1: place and character” (place + adjectives + يُوجَدُ / تُوجَدُ), “Paragraph 2: movement and detail” (بِـ / عَلَى / مَشْيًا + duration + reason) and “Paragraph 3: balanced judgement” (مِنْ مَزَايَا / عُيُوبِ … أَنَّ + recommendation or target).
Website overview: “Each paragraph has a clear job, and each high-value structure must communicate relevant content rather than appear as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“Review for range and accuracy”: مَعْنًى → تَنْظِيمٌ → قَوَاعِدُ → إِمْلَاءٌ (content, organisation, grammar, spelling).
Website questions: هَلْ أَجَبْتُ عَنْ كُلِّ نُقْطَةٍ؟ · هَلِ اسْتَعْمَلْتُ تَرَاكِيبَ مُخْتَلِفَةً؟ · هَلْ رَاجَعْتُ المُطَابَقَةَ؟
Website common error: “Do not add connectors without a logical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writing lesson teaches organisation as a language skill. Each paragraph has a clear job, and each high-value structure must communicate relevant content rather than appear as decoration.”
• Paragraph 1: place and character: Open by locating the town and describing its character and important places.
• Paragraph 2: movement and detail: Explain how you travel, how long it takes and why you choose that route.
• Paragraph 3: balanced judgement: Present both sides and finish with a clear recommendation or target.
• Review for range and accuracy: Check task completion first, then connectors, gender agreement, transport prepositions and spelling.
Website common error: Do not add connectors without a logical relationship. Every connector must show addition, sequence, reason, contrast or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2,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answer, with the plan → draft → improve → check cycle shown on one sentence (steps 1–4). Students count the F6 structures in the model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content idea in the best paragraph.
Stretch: add one new sentence of your own to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content idea in the best paragraph.
Stretch: add one new sentence of your own to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1,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then complete the three-paragraph plan from the text.
Listen 1: just listen. Listen 2: note answers. Then chat the letters.
Support: after the second listening, show the read-along slide (Arabic + English, line by line) for Core students.
SCRIPT (read aloud):
أَسْكُنُ فِي مَدِينَةِ صَلَالَةَ، وَهِيَ مَدِينَةٌ جَمِيلَةٌ وَخَضْرَاءُ. فِي المَرْكَزِ تُوجَدُ أَسْوَاقٌ وَمَطَاعِمُ، وَتَتَمَيَّزُ المَدِينَةُ بِمَنَاظِرِهَا الطَّبِيعِيَّةِ. أَذْهَبُ إِلَى المَدْرَسَةِ بِالحَافِلَةِ، وَتَسْتَغْرِقُ الرِّحْلَةُ عِشْرِينَ دَقِيقَةً. مِنْ مَزَايَا المَدِينَةِ أَنَّهَا هَادِئَةٌ، وَلٰكِنْ مِنْ عُيُوبِهَا أَنَّ بَعْضَ الأَمَاكِنِ بَعِيدَةٌ. بِصِفَةٍ عَامَّةٍ، أُحِبُّهَا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اذْكُرْ مِيزَةً وَعَيْبًا. (Give one advantage and disadvantage.)
B: مِنْ مَزَايَاهَا أَنَّ المَوَاصَلَاتِ رَخِيصَةٌ، وَمِنْ عُيُوبِهَا أَنَّ الشَّوَارِعَ مُكْتَظَّةٌ. (Cheap transport is an advantage; crowded streets are a disadvantage.)
Website “Oral rehearsal before drafting” — say the text before writing it. Pairs: 60 seconds each, partner ticks the F6 structures heard. Website model: صِفْ مَدِينَتَكَ وَمَوَاصَلَاتِهَا. — مَدِينَتِي حَدِيثَةٌ وَتَتَمَيَّزُ بِحَدَائِقِهَا. أَذْهَبُ إِلَى المَدْرَسَةِ بِالحَافِلَةِ. — اُذْكُرْ مِيزَةً وَعَيْبًا. — مِنْ مَزَايَاهَا أَنَّ المَوَاصَلَاتِ رَخِيصَةٌ، وَمِنْ عُيُوبِهَا أَنَّ الشَّوَارِعَ مُكْتَظَّةٌ.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supported 60-word response covering every point. · Develop — Write 80–100 words with three paragraphs and accurate F6 range. · Stretch — Write 100+ words, compare two transport choices and improve the first draft using a self-audit.
Website writing task (Stretch): Plan, draft and improve an 80–100-word article or email about your town and how you get around.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تَتَمَيَّزُ، تُوجَدُ · بِالحَافِلَةِ، تَسْتَغْرِقُ، أَرْخَصُ مِنْ · مِنْ مَزَايَا … أَنَّ، مِنْ عُيُوبِهَا أَنَّ، أُوصِي بِـ. ≈ 80 words.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(F6-L10 · Listening: Town and Transport Texts) will spend class time USING this language, so students prepare it tonight — short, simple, easy to access (school guidance: “Simple, Short, Interesting, Relevant, Easy to access”). The five words prepare the website F6-L10 listening lesson (announcements, reports,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Extended Writing: My Town and How I Get Around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المُوَسَّعَةُ — مَدِينَتِي وَكَيْفَ أَتَنَقَّلُ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draft, check and improve an 80–100-word text in three paragraphs: my town and its places · how I travel · a balanced judgement — using the whole F6 toolkit.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F6-L09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Connectors and the F6 toolkit, then a three-paragraph plan.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paragraphs, fix three F6 slips and turn a spoken description into a plan.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مُقَدِّمَةٌ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 / 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to school by bus.”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أَذْهَبُ إِلَى المَدْرَسَةِ عَلَى الحَافِلَةِ.</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أَذْهَبُ المَدْرَسَةَ بِمَشْيًا.</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أَذْهَبُ إِلَى المَدْرَسَةِ بِالحَافِلَةِ.</a:t>
            </a:r>
            <a:endParaRPr lang="ar-SA" sz="20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مَمْنُوعُ الدُّخُولِ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مُقَدِّمَةٌ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introduction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draft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 / 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draft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اِنْعَطِفِي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F6-L08: -ī for one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to school by bus.”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المَدْرَسَةِ عَلَى الحَافِلَةِ.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المَدْرَسَةَ بِمَشْيًا.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إِلَى المَدْرَسَةِ بِالحَافِلَةِ.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F6-L03: bi- with a bus.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 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مَمْنُوعُ الدُّخُولِ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paragraphs, three jobs: my town · how I get around · my judgement.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مَدِينَتِي … · أَتَنَقَّلُ بِـ … · بِصِفَةٍ عَامَّةٍ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a strong model against task criteria.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three purposeful paragraphs.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required F6 grammar range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Draft, check and improve an 80–100-word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cover every task point.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60 accurate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three connected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five F6 structures.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transport choices.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with a self-audit.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33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architecture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Connectors and range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F6 high-value structures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مُقَدِّمَةٌ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muqaddama · Urdu: preface / court case → introduction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detail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ending →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نُسْخَةٌ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‎نسخہ‎ </a:t>
            </a:r>
            <a:pPr indent="0" marL="0">
              <a:buNone/>
            </a:pPr>
            <a:r>
              <a:rPr lang="en-US" sz="950" b="1" dirty="0">
                <a:solidFill>
                  <a:srgbClr val="2E8B57"/>
                </a:solidFill>
                <a:latin typeface="Calibri" pitchFamily="34" charset="0"/>
                <a:cs typeface="Amiri" pitchFamily="2" charset="-78"/>
              </a:rPr>
              <a:t> nuskha · Urdu: prescription · Arabic: a copy / version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Connectors and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ثَانِيًا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secondly</a:t>
            </a:r>
            <a:endParaRPr lang="en-US" sz="1350" dirty="0"/>
          </a:p>
          <a:p>
            <a:pPr indent="0" marL="0">
              <a:buNone/>
            </a:pPr>
            <a:r>
              <a:rPr lang="en-US" sz="1100" i="1" dirty="0">
                <a:solidFill>
                  <a:srgbClr val="5A6472"/>
                </a:solidFill>
                <a:latin typeface="Calibri" pitchFamily="34" charset="0"/>
                <a:cs typeface="Amiri" pitchFamily="2" charset="-78"/>
              </a:rPr>
              <a:t>thā-ni-yan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كَمَا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 / moreover</a:t>
            </a:r>
            <a:endParaRPr lang="en-US" sz="1350" dirty="0"/>
          </a:p>
          <a:p>
            <a:pPr indent="0" marL="0">
              <a:buNone/>
            </a:pPr>
            <a:r>
              <a:rPr lang="en-US" sz="1100" i="1" dirty="0">
                <a:solidFill>
                  <a:srgbClr val="5A6472"/>
                </a:solidFill>
                <a:latin typeface="Calibri" pitchFamily="34" charset="0"/>
                <a:cs typeface="Amiri" pitchFamily="2" charset="-78"/>
              </a:rPr>
              <a:t>ka-mā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5" name="Shape 4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Connectors and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nā-ḥi-ya-tin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وَمِنْ نَاحِيَةٍ أُخْرَى</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wa-min nā-ḥi-ya-tin ukh-rā</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بِصِفَةٍ عَامَّةٍ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overall</a:t>
            </a:r>
            <a:endParaRPr lang="en-US" sz="1350" dirty="0"/>
          </a:p>
          <a:p>
            <a:pPr indent="0" marL="0">
              <a:buNone/>
            </a:pPr>
            <a:r>
              <a:rPr lang="en-US" sz="1100" i="1" dirty="0">
                <a:solidFill>
                  <a:srgbClr val="5A6472"/>
                </a:solidFill>
                <a:latin typeface="Calibri" pitchFamily="34" charset="0"/>
                <a:cs typeface="Amiri" pitchFamily="2" charset="-78"/>
              </a:rPr>
              <a:t>bi-ṣi-fa-tin ʿām-ma-tin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F6 high-value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 are</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تَفْتَقِرُ إِلَى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taf-ta-qi-ru i-lā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بِـ</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by</a:t>
            </a:r>
            <a:endParaRPr lang="en-US" sz="1350" dirty="0"/>
          </a:p>
          <a:p>
            <a:pPr indent="0" marL="0">
              <a:buNone/>
            </a:pPr>
            <a:r>
              <a:rPr lang="en-US" sz="1100" i="1" dirty="0">
                <a:solidFill>
                  <a:srgbClr val="5A6472"/>
                </a:solidFill>
                <a:latin typeface="Calibri" pitchFamily="34" charset="0"/>
                <a:cs typeface="Amiri" pitchFamily="2" charset="-78"/>
              </a:rPr>
              <a:t>adh-ha-bu bi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F6 high-value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مَشْيًا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on foot</a:t>
            </a:r>
            <a:endParaRPr lang="en-US" sz="1350" dirty="0"/>
          </a:p>
          <a:p>
            <a:pPr indent="0" marL="0">
              <a:buNone/>
            </a:pPr>
            <a:r>
              <a:rPr lang="en-US" sz="1100" i="1" dirty="0">
                <a:solidFill>
                  <a:srgbClr val="5A6472"/>
                </a:solidFill>
                <a:latin typeface="Calibri" pitchFamily="34" charset="0"/>
                <a:cs typeface="Amiri" pitchFamily="2" charset="-78"/>
              </a:rPr>
              <a:t>adh-ha-bu mash-yan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advantage is that</a:t>
            </a:r>
            <a:endParaRPr lang="en-US" sz="1350" dirty="0"/>
          </a:p>
          <a:p>
            <a:pPr indent="0" marL="0">
              <a:buNone/>
            </a:pPr>
            <a:r>
              <a:rPr lang="en-US" sz="1100" i="1" dirty="0">
                <a:solidFill>
                  <a:srgbClr val="5A6472"/>
                </a:solidFill>
                <a:latin typeface="Calibri" pitchFamily="34" charset="0"/>
                <a:cs typeface="Amiri" pitchFamily="2" charset="-78"/>
              </a:rPr>
              <a:t>min ma-zā-yā...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عُيُوبِ...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disadvantage is that</a:t>
            </a:r>
            <a:endParaRPr lang="en-US" sz="1350" dirty="0"/>
          </a:p>
          <a:p>
            <a:pPr indent="0" marL="0">
              <a:buNone/>
            </a:pPr>
            <a:r>
              <a:rPr lang="en-US" sz="1100" i="1" dirty="0">
                <a:solidFill>
                  <a:srgbClr val="5A6472"/>
                </a:solidFill>
                <a:latin typeface="Calibri" pitchFamily="34" charset="0"/>
                <a:cs typeface="Amiri" pitchFamily="2" charset="-78"/>
              </a:rPr>
              <a:t>min ʿu-yū-bi...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أُوصِي بِـ</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a:t>
            </a:r>
            <a:endParaRPr lang="en-US" sz="1350" dirty="0"/>
          </a:p>
          <a:p>
            <a:pPr indent="0" marL="0">
              <a:buNone/>
            </a:pPr>
            <a:r>
              <a:rPr lang="en-US" sz="1100" i="1" dirty="0">
                <a:solidFill>
                  <a:srgbClr val="5A6472"/>
                </a:solidFill>
                <a:latin typeface="Calibri" pitchFamily="34" charset="0"/>
                <a:cs typeface="Amiri" pitchFamily="2" charset="-78"/>
              </a:rPr>
              <a:t>ū-ṣī bi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THREE-PARAGRAPH PLAN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paragraphs, three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F6 lessons</a:t>
            </a:r>
            <a:endParaRPr lang="en-US" sz="1100" dirty="0"/>
          </a:p>
        </p:txBody>
      </p:sp>
      <p:sp>
        <p:nvSpPr>
          <p:cNvPr id="17" name="Text 14"/>
          <p:cNvSpPr txBox="1"/>
          <p:nvPr/>
        </p:nvSpPr>
        <p:spPr>
          <a:xfrm>
            <a:off x="30906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 · L05 · L07</a:t>
            </a:r>
            <a:endParaRPr lang="en-US" sz="1100" dirty="0"/>
          </a:p>
        </p:txBody>
      </p:sp>
      <p:sp>
        <p:nvSpPr>
          <p:cNvPr id="21" name="Text 18"/>
          <p:cNvSpPr txBox="1"/>
          <p:nvPr/>
        </p:nvSpPr>
        <p:spPr>
          <a:xfrm>
            <a:off x="3108960" y="2267712"/>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مَدِينَةٍ مُتَوَسِّطَةٍ وَحَدِيثَةٍ. </a:t>
            </a:r>
            <a:pPr rtl="1" algn="ctr" indent="0" marL="0">
              <a:buNone/>
            </a:pPr>
            <a:r>
              <a:rPr lang="ar-SA" altLang="en-US" sz="1800" b="1" dirty="0">
                <a:solidFill>
                  <a:srgbClr val="1D5FBF"/>
                </a:solidFill>
                <a:latin typeface="Amiri" pitchFamily="2" charset="-78"/>
                <a:ea typeface="Amiri" pitchFamily="2" charset="-78"/>
                <a:cs typeface="Amiri" pitchFamily="2" charset="-78"/>
              </a:rPr>
              <a:t>تَتَمَيَّزُ</a:t>
            </a:r>
            <a:pPr rtl="1" algn="ctr" indent="0" marL="0">
              <a:buNone/>
            </a:pPr>
            <a:r>
              <a:rPr lang="ar-SA" altLang="en-US" sz="1800" b="1" dirty="0">
                <a:solidFill>
                  <a:srgbClr val="1B3B6F"/>
                </a:solidFill>
                <a:latin typeface="Amiri" pitchFamily="2" charset="-78"/>
                <a:ea typeface="Amiri" pitchFamily="2" charset="-78"/>
                <a:cs typeface="Amiri" pitchFamily="2" charset="-78"/>
              </a:rPr>
              <a:t> بِحَدَائِقِهَا، وَ</a:t>
            </a:r>
            <a:pPr rtl="1" algn="ctr" indent="0" marL="0">
              <a:buNone/>
            </a:pPr>
            <a:r>
              <a:rPr lang="ar-SA" altLang="en-US" sz="1800" b="1" dirty="0">
                <a:solidFill>
                  <a:srgbClr val="1D5FBF"/>
                </a:solidFill>
                <a:latin typeface="Amiri" pitchFamily="2" charset="-78"/>
                <a:ea typeface="Amiri" pitchFamily="2" charset="-78"/>
                <a:cs typeface="Amiri" pitchFamily="2" charset="-78"/>
              </a:rPr>
              <a:t>تُوجَدُ</a:t>
            </a:r>
            <a:pPr rtl="1" algn="ctr" indent="0" marL="0">
              <a:buNone/>
            </a:pPr>
            <a:r>
              <a:rPr lang="ar-SA" altLang="en-US" sz="1800" b="1" dirty="0">
                <a:solidFill>
                  <a:srgbClr val="1B3B6F"/>
                </a:solidFill>
                <a:latin typeface="Amiri" pitchFamily="2" charset="-78"/>
                <a:ea typeface="Amiri" pitchFamily="2" charset="-78"/>
                <a:cs typeface="Amiri" pitchFamily="2" charset="-78"/>
              </a:rPr>
              <a:t> فِيهَا مَكْتَبَةٌ كَبِيرَةٌ.</a:t>
            </a:r>
            <a:endParaRPr lang="ar-SA" sz="18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my town + places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 L04</a:t>
            </a:r>
            <a:endParaRPr lang="en-US" sz="1100" dirty="0"/>
          </a:p>
        </p:txBody>
      </p:sp>
      <p:sp>
        <p:nvSpPr>
          <p:cNvPr id="27" name="Text 24"/>
          <p:cNvSpPr txBox="1"/>
          <p:nvPr/>
        </p:nvSpPr>
        <p:spPr>
          <a:xfrm>
            <a:off x="3108960" y="3004718"/>
            <a:ext cx="6217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أَذْهَبُ إِلَى المَدْرَسَةِ </a:t>
            </a:r>
            <a:pPr rtl="1" algn="ctr" indent="0" marL="0">
              <a:buNone/>
            </a:pPr>
            <a:r>
              <a:rPr lang="ar-SA" altLang="en-US" sz="2000" b="1" dirty="0">
                <a:solidFill>
                  <a:srgbClr val="0E7C86"/>
                </a:solidFill>
                <a:latin typeface="Amiri" pitchFamily="2" charset="-78"/>
                <a:ea typeface="Amiri" pitchFamily="2" charset="-78"/>
                <a:cs typeface="Amiri" pitchFamily="2" charset="-78"/>
              </a:rPr>
              <a:t>بِالحَافِلَةِ</a:t>
            </a:r>
            <a:pPr rtl="1" algn="ctr" indent="0" marL="0">
              <a:buNone/>
            </a:pPr>
            <a:r>
              <a:rPr lang="ar-SA" altLang="en-US" sz="2000" b="1" dirty="0">
                <a:solidFill>
                  <a:srgbClr val="1B3B6F"/>
                </a:solidFill>
                <a:latin typeface="Amiri" pitchFamily="2" charset="-78"/>
                <a:ea typeface="Amiri" pitchFamily="2" charset="-78"/>
                <a:cs typeface="Amiri" pitchFamily="2" charset="-78"/>
              </a:rPr>
              <a:t>، وَ</a:t>
            </a:r>
            <a:pPr rtl="1" algn="ctr" indent="0" marL="0">
              <a:buNone/>
            </a:pPr>
            <a:r>
              <a:rPr lang="ar-SA" altLang="en-US" sz="2000" b="1" dirty="0">
                <a:solidFill>
                  <a:srgbClr val="0E7C86"/>
                </a:solidFill>
                <a:latin typeface="Amiri" pitchFamily="2" charset="-78"/>
                <a:ea typeface="Amiri" pitchFamily="2" charset="-78"/>
                <a:cs typeface="Amiri" pitchFamily="2" charset="-78"/>
              </a:rPr>
              <a:t>تَسْتَغْرِقُ الرِّحْلَةُ</a:t>
            </a:r>
            <a:pPr rtl="1" algn="ctr" indent="0" marL="0">
              <a:buNone/>
            </a:pPr>
            <a:r>
              <a:rPr lang="ar-SA" altLang="en-US" sz="2000" b="1" dirty="0">
                <a:solidFill>
                  <a:srgbClr val="1B3B6F"/>
                </a:solidFill>
                <a:latin typeface="Amiri" pitchFamily="2" charset="-78"/>
                <a:ea typeface="Amiri" pitchFamily="2" charset="-78"/>
                <a:cs typeface="Amiri" pitchFamily="2" charset="-78"/>
              </a:rPr>
              <a:t> خَمْسًا وَعِشْرِينَ دَقِيقَةً.</a:t>
            </a:r>
            <a:endParaRPr lang="ar-SA" sz="20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how I travel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a:t>
            </a:r>
            <a:endParaRPr lang="en-US" sz="1100" dirty="0"/>
          </a:p>
        </p:txBody>
      </p:sp>
      <p:sp>
        <p:nvSpPr>
          <p:cNvPr id="33" name="Text 30"/>
          <p:cNvSpPr txBox="1"/>
          <p:nvPr/>
        </p:nvSpPr>
        <p:spPr>
          <a:xfrm>
            <a:off x="3108960" y="3741725"/>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الحَافِلَةَ لِأَنَّهَا </a:t>
            </a:r>
            <a:pPr rtl="1" algn="ctr" indent="0" marL="0">
              <a:buNone/>
            </a:pPr>
            <a:r>
              <a:rPr lang="ar-SA" altLang="en-US" sz="2200" b="1" dirty="0">
                <a:solidFill>
                  <a:srgbClr val="0E7C86"/>
                </a:solidFill>
                <a:latin typeface="Amiri" pitchFamily="2" charset="-78"/>
                <a:ea typeface="Amiri" pitchFamily="2" charset="-78"/>
                <a:cs typeface="Amiri" pitchFamily="2" charset="-78"/>
              </a:rPr>
              <a:t>أَرْخَصُ مِنْ</a:t>
            </a:r>
            <a:pPr rtl="1" algn="ctr" indent="0" marL="0">
              <a:buNone/>
            </a:pPr>
            <a:r>
              <a:rPr lang="ar-SA" altLang="en-US" sz="2200" b="1" dirty="0">
                <a:solidFill>
                  <a:srgbClr val="1B3B6F"/>
                </a:solidFill>
                <a:latin typeface="Amiri" pitchFamily="2" charset="-78"/>
                <a:ea typeface="Amiri" pitchFamily="2" charset="-78"/>
                <a:cs typeface="Amiri" pitchFamily="2" charset="-78"/>
              </a:rPr>
              <a:t> سَيَّارَةِ الأُجْرَةِ.</a:t>
            </a:r>
            <a:endParaRPr lang="ar-SA" sz="22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 reason</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a:t>
            </a:r>
            <a:endParaRPr lang="en-US" sz="1100" dirty="0"/>
          </a:p>
        </p:txBody>
      </p:sp>
      <p:sp>
        <p:nvSpPr>
          <p:cNvPr id="37" name="Text 34"/>
          <p:cNvSpPr txBox="1"/>
          <p:nvPr/>
        </p:nvSpPr>
        <p:spPr>
          <a:xfrm>
            <a:off x="3108960" y="4478731"/>
            <a:ext cx="6217920" cy="682142"/>
          </a:xfrm>
          <a:prstGeom prst="rect">
            <a:avLst/>
          </a:prstGeom>
          <a:noFill/>
          <a:ln/>
        </p:spPr>
        <p:txBody>
          <a:bodyPr wrap="square" lIns="0" tIns="0" rIns="0" bIns="0" rtlCol="0" anchor="ctr"/>
          <a:lstStyle/>
          <a:p>
            <a:pPr rtl="1" algn="ctr" indent="0" marL="0">
              <a:buNone/>
            </a:pPr>
            <a:r>
              <a:rPr lang="ar-SA" altLang="en-US" sz="1950" b="1" dirty="0">
                <a:solidFill>
                  <a:srgbClr val="7B3FA0"/>
                </a:solidFill>
                <a:latin typeface="Amiri" pitchFamily="2" charset="-78"/>
                <a:ea typeface="Amiri" pitchFamily="2" charset="-78"/>
                <a:cs typeface="Amiri" pitchFamily="2" charset="-78"/>
              </a:rPr>
              <a:t>مِنْ مَزَايَا</a:t>
            </a:r>
            <a:pPr rtl="1" algn="ctr" indent="0" marL="0">
              <a:buNone/>
            </a:pPr>
            <a:r>
              <a:rPr lang="ar-SA" altLang="en-US" sz="1950" b="1" dirty="0">
                <a:solidFill>
                  <a:srgbClr val="1B3B6F"/>
                </a:solidFill>
                <a:latin typeface="Amiri" pitchFamily="2" charset="-78"/>
                <a:ea typeface="Amiri" pitchFamily="2" charset="-78"/>
                <a:cs typeface="Amiri" pitchFamily="2" charset="-78"/>
              </a:rPr>
              <a:t> المَدِينَةِ </a:t>
            </a:r>
            <a:pPr rtl="1" algn="ctr" indent="0" marL="0">
              <a:buNone/>
            </a:pPr>
            <a:r>
              <a:rPr lang="ar-SA" altLang="en-US" sz="1950" b="1" dirty="0">
                <a:solidFill>
                  <a:srgbClr val="7B3FA0"/>
                </a:solidFill>
                <a:latin typeface="Amiri" pitchFamily="2" charset="-78"/>
                <a:ea typeface="Amiri" pitchFamily="2" charset="-78"/>
                <a:cs typeface="Amiri" pitchFamily="2" charset="-78"/>
              </a:rPr>
              <a:t>أَنَّ</a:t>
            </a:r>
            <a:pPr rtl="1" algn="ctr" indent="0" marL="0">
              <a:buNone/>
            </a:pPr>
            <a:r>
              <a:rPr lang="ar-SA" altLang="en-US" sz="1950" b="1" dirty="0">
                <a:solidFill>
                  <a:srgbClr val="1B3B6F"/>
                </a:solidFill>
                <a:latin typeface="Amiri" pitchFamily="2" charset="-78"/>
                <a:ea typeface="Amiri" pitchFamily="2" charset="-78"/>
                <a:cs typeface="Amiri" pitchFamily="2" charset="-78"/>
              </a:rPr>
              <a:t> الخِدْمَاتِ قَرِيبَةٌ، وَ</a:t>
            </a:r>
            <a:pPr rtl="1" algn="ctr" indent="0" marL="0">
              <a:buNone/>
            </a:pPr>
            <a:r>
              <a:rPr lang="ar-SA" altLang="en-US" sz="1950" b="1" dirty="0">
                <a:solidFill>
                  <a:srgbClr val="7B3FA0"/>
                </a:solidFill>
                <a:latin typeface="Amiri" pitchFamily="2" charset="-78"/>
                <a:ea typeface="Amiri" pitchFamily="2" charset="-78"/>
                <a:cs typeface="Amiri" pitchFamily="2" charset="-78"/>
              </a:rPr>
              <a:t>مِنْ عُيُوبِهَا أَنَّ</a:t>
            </a:r>
            <a:pPr rtl="1" algn="ctr" indent="0" marL="0">
              <a:buNone/>
            </a:pPr>
            <a:r>
              <a:rPr lang="ar-SA" altLang="en-US" sz="1950" b="1" dirty="0">
                <a:solidFill>
                  <a:srgbClr val="1B3B6F"/>
                </a:solidFill>
                <a:latin typeface="Amiri" pitchFamily="2" charset="-78"/>
                <a:ea typeface="Amiri" pitchFamily="2" charset="-78"/>
                <a:cs typeface="Amiri" pitchFamily="2" charset="-78"/>
              </a:rPr>
              <a:t> الشَّوَارِعَ مُكْتَظَّةٌ.</a:t>
            </a:r>
            <a:endParaRPr lang="ar-SA" sz="195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balanced view</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a:t>
            </a:r>
            <a:endParaRPr lang="en-US" sz="1100" dirty="0"/>
          </a:p>
        </p:txBody>
      </p:sp>
      <p:sp>
        <p:nvSpPr>
          <p:cNvPr id="43" name="Text 40"/>
          <p:cNvSpPr txBox="1"/>
          <p:nvPr/>
        </p:nvSpPr>
        <p:spPr>
          <a:xfrm>
            <a:off x="3108960" y="521573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بِصِفَةٍ عَامَّةٍ، أُوصِي بِزِيَارَتِهَا لِأَنَّهَا مُمْتِعَةٌ وَآمِنَةٌ.</a:t>
            </a:r>
            <a:endParaRPr lang="ar-SA" sz="2200" dirty="0"/>
          </a:p>
        </p:txBody>
      </p:sp>
      <p:sp>
        <p:nvSpPr>
          <p:cNvPr id="44" name="Text 41"/>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recommendation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These five sentences are the website model answer (≈ 80 words). Keep the jobs, change the content.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REVIEW ROUTINE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in this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مَعْنًى · تَنْظِيمٌ · قَوَاعِدُ · إِمْلَاءٌ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MEANING</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أَجَبْتُ عَنْ كُلِّ نُقْطَةٍ؟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هَلْ أَجَبْتُ عَنْ كُلِّ نُقْطَةٍ؟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I answer every point?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Task completion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ORGANISATION</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رَوَابِطُ لَهَا وَظِيفَةٌ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أُفَضِّلُ المِتْرُو لِأَنَّهُ سَرِيعٌ، لِذَلِكَ أَسْتَعْمِلُهُ كُلَّ يَوْمٍ.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the metro because it is fast, so I use it every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connector has a job.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3–4 · GRAMMAR + SPELLING</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500" b="1" dirty="0">
                <a:solidFill>
                  <a:srgbClr val="8A6D1E"/>
                </a:solidFill>
                <a:latin typeface="Amiri" pitchFamily="2" charset="-78"/>
                <a:ea typeface="Amiri" pitchFamily="2" charset="-78"/>
                <a:cs typeface="Amiri" pitchFamily="2" charset="-78"/>
              </a:rPr>
              <a:t>المُطَابَقَةُ · بِـ / عَلَى</a:t>
            </a:r>
            <a:endParaRPr lang="ar-SA" sz="15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مَدِينَتِي حَدِيثَةٌ · أَذْهَبُ بِالقِطَارِ · تُوجَدُ مَكْتَبَةٌ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Agreement · transport prepositions · yūjadu / tūjadu</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F6 high-risk points.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tatamayyazu takes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تَتَمَيَّزُ مَدِينَتِي بِحَدَائِقِهَا.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تَتَمَيَّزُ مَدِينَتِي إِلَى حَدَائِقِهَا.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Building an 80–100-word town and transport text</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بِنَاءُ نَصٍّ مُتَرَابِطٍ مِنْ ٨٠ إِلَى ١٠٠ كَلِمَةٍ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Paragraph 1: place and character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المَكَانِ + صِفَاتٌ + يُوجَدُ / تُوجَدُ</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أَسْكُنُ فِي مَدِينَةٍ سَاحِلِيَّةٍ حَدِيثَةٍ.   ·   فِي مَرْكَزِهَا يُوجَدُ سُوقٌ، وَتُوجَدُ مَكْتَبَةٌ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Paragraph 2: movement and detail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أَذْهَبُ إِلَى... بِـ / عَلَى / مَشْيًا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أَذْهَبُ إِلَى المَدْرَسَةِ بِالحَافِلَةِ.   ·   تَسْتَغْرِقُ الرِّحْلَةُ نِصْفَ سَاعَةٍ.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Paragraph 3: balanced judgement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أَنَّ / مِنْ عُيُوبِ...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مَزَايَا المَدِينَةِ أَنَّ المَوَاصَلَاتِ رَخِيصَةٌ.   ·   مِنْ عُيُوبِهَا أَنَّ الشَّوَارِعَ مُكْتَظَّةٌ.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Review for range and accuracy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مَعْنًى → تَنْظِيمٌ → قَوَاعِدُ → إِمْلَاءٌ</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أَجَبْتُ عَنْ كُلِّ نُقْطَةٍ؟   ·   هَلِ اسْتَعْمَلْتُ تَرَاكِيبَ مُخْتَلِفَةً؟   ·   هَلْ رَاجَعْتُ المُطَابَقَةَ؟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introduces an advantage?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إِلَى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مَمْنُوعُ الدُّخُولِ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مَدِينَةٍ سَاحِلِيَّةٍ حَدِيثَةٍ.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مَدِينَةٌ.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range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جَيِّدَةٌ جِدًّا جِدًّا.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مَدِينَتِي بِمَبَانِيهَا التَّارِيخِيَّةِ.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مَدِينَتِي فِي مَدِينَتِي.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a result?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introduces an advantage?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 إِلَى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مَمْنُوعُ الدُّخُولِ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advantage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مَدِينَةٍ سَاحِلِيَّةٍ حَدِيثَةٍ.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مَدِينَةٌ.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locates and characterises the town.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range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مَدِينَتِي جَيِّدَةٌ جِدًّا جِدًّا.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 مَدِينَتِي بِمَبَانِيهَا التَّارِيخِيَّةِ.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مَدِينَتِي فِي مَدِينَتِي.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uses an accurate high-value structure.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a result?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means therefore.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turn a plan into a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مَدِينَةٌ حَدِيثَةٌ · حَدَائِقُ · مَكْتَبَةٌ</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 ·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فِي مَدِينَةٍ حَدِيثَةٍ، وَفِيهَا حَدَائِقُ وَمَكْتَبَةٌ.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simple first version.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Improve · range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أَسْكُنُ فِي مَدِينَةٍ حَدِيثَةٍ </a:t>
            </a:r>
            <a:pPr rtl="1" algn="ctr" indent="0" marL="0">
              <a:lnSpc>
                <a:spcPct val="120000"/>
              </a:lnSpc>
              <a:buNone/>
            </a:pPr>
            <a:r>
              <a:rPr lang="ar-SA" altLang="en-US" sz="1450" b="1" dirty="0">
                <a:solidFill>
                  <a:srgbClr val="1D5FBF"/>
                </a:solidFill>
                <a:latin typeface="Amiri" pitchFamily="2" charset="-78"/>
                <a:ea typeface="Amiri" pitchFamily="2" charset="-78"/>
                <a:cs typeface="Amiri" pitchFamily="2" charset="-78"/>
              </a:rPr>
              <a:t>تَتَمَيَّزُ</a:t>
            </a:r>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بِحَدَائِقِهَا، وَ</a:t>
            </a:r>
            <a:pPr rtl="1" algn="ctr" indent="0" marL="0">
              <a:lnSpc>
                <a:spcPct val="120000"/>
              </a:lnSpc>
              <a:buNone/>
            </a:pPr>
            <a:r>
              <a:rPr lang="ar-SA" altLang="en-US" sz="1450" b="1" dirty="0">
                <a:solidFill>
                  <a:srgbClr val="1D5FBF"/>
                </a:solidFill>
                <a:latin typeface="Amiri" pitchFamily="2" charset="-78"/>
                <a:ea typeface="Amiri" pitchFamily="2" charset="-78"/>
                <a:cs typeface="Amiri" pitchFamily="2" charset="-78"/>
              </a:rPr>
              <a:t>تُوجَدُ</a:t>
            </a:r>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فِيهَا مَكْتَبَةٌ كَبِيرَةٌ.</a:t>
            </a:r>
            <a:endParaRPr lang="ar-SA" sz="14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F6 structures.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 · accuracy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مَدِينَةٌ حَدِيثَةٌ · تُوجَدُ مَكْتَبَةٌ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agreement ticked.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F6 STRUCTURE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مَدِينَةٍ مُتَوَسِّطَةٍ وَحَدِيثَةٍ.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بِحَدَائِقِهَا وَمَرْكَزِهَا التِّجَارِيِّ،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فِيهَا مَكْتَبَةٌ كَبِيرَةٌ وَمَحَطَّةُ قِطَارٍ. أَذْهَبُ إِلَى المَدْرَسَةِ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بِالحَافِلَةِ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تَسْتَغْرِقُ الرِّحْلَةُ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خَمْسًا وَعِشْرِينَ دَقِيقَةً. أُفَضِّلُ الحَافِلَةَ لِأَنَّهَا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أَرْخَصُ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سَيَّارَةِ الأُجْرَةِ.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 مَزَايَا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المَدِينَةِ أَنَّ الخِدْمَاتِ قَرِيبَةٌ،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 عُيُوبِهَا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الشَّوَارِعَ مُكْتَظَّةٌ. بِصِفَةٍ عَامَّةٍ،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أُوصِي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بِزِيَارَتِهَا لِأَنَّهَا مُمْتِعَةٌ وَآمِنَةٌ.</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live in a medium-sized, modern city. It is known for its parks and shopping centre, and it has a big library and a train station. I go to school by bus, and the journey takes twenty-five minutes. I prefer the bus because it is cheaper than a taxi. One advantage of the city is that services are close; one disadvantage is that the streets are crowded. Overall, I recommend visiting it because it is enjoyable and safe.</a:t>
            </a:r>
            <a:endParaRPr lang="en-US" sz="9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أَسْكُنُ فِي مَدِينَةٍ حَدِيثَةٍ وَنَشِيطَةٍ.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live in a modern, lively city.</a:t>
            </a:r>
            <a:endParaRPr lang="en-US" sz="1250" dirty="0"/>
          </a:p>
          <a:p>
            <a:pPr indent="0" marL="0">
              <a:buNone/>
            </a:pPr>
            <a:r>
              <a:rPr lang="en-US" sz="1050" i="1" dirty="0">
                <a:solidFill>
                  <a:srgbClr val="8A6D1E"/>
                </a:solidFill>
                <a:latin typeface="Calibri" pitchFamily="34" charset="0"/>
                <a:cs typeface="Amiri" pitchFamily="2" charset="-78"/>
              </a:rPr>
              <a:t>Open with place and character.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المَدْرَسَةِ بِالمِتْرُو.</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school by metro.</a:t>
            </a:r>
            <a:endParaRPr lang="en-US" sz="1250" dirty="0"/>
          </a:p>
          <a:p>
            <a:pPr indent="0" marL="0">
              <a:buNone/>
            </a:pPr>
            <a:r>
              <a:rPr lang="en-US" sz="1050" i="1" dirty="0">
                <a:solidFill>
                  <a:srgbClr val="8A6D1E"/>
                </a:solidFill>
                <a:latin typeface="Calibri" pitchFamily="34" charset="0"/>
                <a:cs typeface="Amiri" pitchFamily="2" charset="-78"/>
              </a:rPr>
              <a:t>Use the correct journey pattern.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مَزَايَاهَا أَنَّ المَوَاصَلَاتِ رَخِيصَةٌ.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is cheap transport.</a:t>
            </a:r>
            <a:endParaRPr lang="en-US" sz="1250" dirty="0"/>
          </a:p>
          <a:p>
            <a:pPr indent="0" marL="0">
              <a:buNone/>
            </a:pPr>
            <a:r>
              <a:rPr lang="en-US" sz="1050" i="1" dirty="0">
                <a:solidFill>
                  <a:srgbClr val="8A6D1E"/>
                </a:solidFill>
                <a:latin typeface="Calibri" pitchFamily="34" charset="0"/>
                <a:cs typeface="Amiri" pitchFamily="2" charset="-78"/>
              </a:rPr>
              <a:t>Develop a balanced argument.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بِصِفَةٍ عَامَّةٍ أُوصِي بِزِيَارَتِهَا.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Overall, I recommend visiting it.</a:t>
            </a:r>
            <a:endParaRPr lang="en-US" sz="1250" dirty="0"/>
          </a:p>
          <a:p>
            <a:pPr indent="0" marL="0">
              <a:buNone/>
            </a:pPr>
            <a:r>
              <a:rPr lang="en-US" sz="1050" i="1" dirty="0">
                <a:solidFill>
                  <a:srgbClr val="8A6D1E"/>
                </a:solidFill>
                <a:latin typeface="Calibri" pitchFamily="34" charset="0"/>
                <a:cs typeface="Amiri" pitchFamily="2" charset="-78"/>
              </a:rPr>
              <a:t>Finish with a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سَاحِلِيَّةٌ.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مَكْتَبَةٌ كَبِيرَةٌ.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نِصْفَ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أُوصِي بِزِيَارَتِهَا.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المَطَارُ خَارِجَ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١ · town and places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٢ · transport and journey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٣ · judgement and recommendation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١ · town and places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سَاحِلِيَّةٌ.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مَكْتَبَةٌ كَبِيرَةٌ.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المَطَارُ خَارِجَ المَدِينَةِ.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٢ · transport and journey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نِصْفَ سَاعَةٍ.</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٣ · judgement and recommendation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أُوصِي بِزِيَارَتِهَا.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1,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 should describe how you travel?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paragraph 1</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paragraph 2</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should be checked first?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decorative colour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task completion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longest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هِيَ جَيِّدَةٌ.</a:t>
            </a:r>
            <a:endParaRPr lang="ar-SA" sz="11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بِصِفَةٍ عَامَّةٍ، أُوصِي بِزِيَارَةِ المَدِينَةِ بِالرَّغْمِ مِنَ الاِزْدِحَامِ.</a:t>
            </a:r>
            <a:endParaRPr lang="ar-SA" sz="11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أَوَّلًا مَدِينَةٌ.</a:t>
            </a:r>
            <a:endParaRPr lang="ar-SA"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 should describe how you travel?</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paragraph 1</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paragraph 2</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middle paragraph develops transport and journey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should be checked first?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decorative colour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task completion</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longest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Content must answer every requested point.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هِيَ جَيِّدَةٌ.</a:t>
            </a:r>
            <a:endParaRPr lang="ar-SA" sz="11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بِصِفَةٍ عَامَّةٍ، أُوصِي بِزِيَارَةِ المَدِينَةِ بِالرَّغْمِ مِنَ الاِزْدِحَامِ.</a:t>
            </a:r>
            <a:endParaRPr lang="ar-SA" sz="11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أَوَّلًا مَدِينَةٌ.</a:t>
            </a:r>
            <a:endParaRPr lang="ar-SA" sz="11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an overall judgement while acknowledging a limitation.</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تَتَمَيَّزُ مَدِينَتِي إِلَى حَدَائِقِهَا.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tatamayyazu?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عَلَى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bus: by or 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عُيُوبِ مَدِينَتِي الشَّوَارِعُ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تَتَمَيَّزُ مَدِينَتِي إِلَى حَدَائِقِهَا.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تَتَمَيَّزُ مَدِينَتِي بِحَدَائِقِهَا.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تَتَمَيَّزُ</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عَلَى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بِالحَافِلَةِ.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with bus travel.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عُيُوبِ مَدِينَتِي الشَّوَارِعُ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عُيُوبِ مَدِينَتِي أَنَّ الشَّوَارِعَ مُكْتَظَّةٌ.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Extract a writing plan from a town description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Salalah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Cairo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and noisy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dangerous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beautiful and green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go to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minutes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given?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 is expensive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places are far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markets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the three-box plan:</a:t>
            </a:r>
            <a:endParaRPr lang="en-US" sz="1250" dirty="0"/>
          </a:p>
          <a:p>
            <a:pPr algn="l" indent="0" marL="0">
              <a:buNone/>
            </a:pPr>
            <a:r>
              <a:rPr lang="en-US" sz="1250" dirty="0">
                <a:solidFill>
                  <a:srgbClr val="1E6B52"/>
                </a:solidFill>
                <a:latin typeface="Calibri" pitchFamily="34" charset="0"/>
                <a:cs typeface="Amiri" pitchFamily="2" charset="-78"/>
              </a:rPr>
              <a:t>town · transport · judgement.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مَدِينَةِ صَلَالَةَ، وَهِيَ مَدِينَةٌ جَمِيلَةٌ وَخَضْرَاءُ.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the city of Salalah, and it is a beautiful, green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المَرْكَزِ تُوجَدُ أَسْوَاقٌ وَمَطَاعِمُ، وَتَتَمَيَّزُ المَدِينَةُ بِمَنَاظِرِهَا الطَّبِيعِيَّةِ.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centre there are markets and restaurants, and the city is known for its natural scenery.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المَدْرَسَةِ بِالحَافِلَةِ، وَتَسْتَغْرِقُ الرِّحْلَةُ عِشْرِينَ دَقِيقَةً.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 by bus, and the journey takes twenty minutes.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مَزَايَا المَدِينَةِ أَنَّهَا هَادِئَةٌ، وَلَكِنْ مِنْ عُيُوبِهَا أَنَّ بَعْضَ الأَمَاكِنِ بَعِيدَةٌ.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advantage is that it is quiet, but one disadvantage is that some places are far.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بِصِفَةٍ عَامَّةٍ، أُحِبُّهَا كَثِيرًا.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Overall, I love it very much.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city is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Salalah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Cairo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مَدِينَةِ صَلَالَةَ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and noisy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dangerous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beautiful and green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جَمِيلَةٌ وَخَضْرَاءُ.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go to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بِالحَافِلَةِ.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minutes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given?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transport is expensive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 places are far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markets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بَعْضَ الأَمَاكِنِ بَعِيدَةٌ.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the three-box plan:</a:t>
            </a:r>
            <a:endParaRPr lang="en-US" sz="1250" dirty="0"/>
          </a:p>
          <a:p>
            <a:pPr algn="l" indent="0" marL="0">
              <a:buNone/>
            </a:pPr>
            <a:r>
              <a:rPr lang="en-US" sz="1250" dirty="0">
                <a:solidFill>
                  <a:srgbClr val="1E6B52"/>
                </a:solidFill>
                <a:latin typeface="Calibri" pitchFamily="34" charset="0"/>
                <a:cs typeface="Amiri" pitchFamily="2" charset="-78"/>
              </a:rPr>
              <a:t>town · transport · judgement.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Oral rehearsal before drafting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مَدِينَتَكَ فِي جُمْلَتَيْنِ.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اِشْرَحْ كَيْفَ تَتَنَقَّلُ.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مِيزَةً وَعَيْبًا.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اِخْتِمْ بِتَوْصِيَةٍ.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أَسْكُنُ فِي … · تُوجَدُ فِيهَا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أَذْهَبُ إِلَى … بِـ … وَتَسْتَغْرِقُ الرِّحْلَةُ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مَزَايَاهَا أَنَّ … وَمِنْ عُيُوبِهَا أَنَّ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بِصِفَةٍ عَامَّةٍ، أُوصِي بِزِيَارَتِهَا لِأَنَّ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مَدِينَتَكَ وَمَوَاصَلَاتِهَا.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city and its transport.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مَدِينَتِي حَدِيثَةٌ وَتَتَمَيَّزُ بِحَدَائِقِهَا. أَذْهَبُ إِلَى المَدْرَسَةِ بِالحَافِلَةِ.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is modern and known for its parks. I go to school by bus.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supported 60-word response covering every point.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frame per task point; every point covered.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80–100 words with three paragraphs and accurate F6 range.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paragraphs, five F6 structures, checked for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100+ words, compare two transport choices and improve the first draft using a self-audit.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transport choices; improve the first draft with a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known for its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لِأَنَّهُ أَرْخَصُ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it is cheaper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المَدِينَةِ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the city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عُيُوبِهَا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بِصِفَةٍ عَامَّةٍ، أُوصِي بِزِيَارَتِهَا.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Overall, I recommend visiting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مَدِينَةٍ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city.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فِيهَا ______ وَيُوجَدُ فِيهَا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and a … in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بِـ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______ دَقِيقَةً.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 minutes.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مَدِينَتِي لِأَنَّهَا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city because it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تَتَمَيَّزُ بِـ  ·  تَفْتَقِرُ إِلَى  ·  مَبْنِيٌّ مِنْ  ·  بِالحَافِلَةِ  ·  مَشْيًا  ·  تَسْتَغْرِقُ  ·  أَرْخَصُ مِنْ  ·  مِنْ مَزَايَا … أَنَّ  ·  لِذَلِكَ  ·  بِصِفَةٍ عَامَّةٍ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Plan, draft and improve an 80–100-word article or email about your town and how you get around.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Paragraph 1 covers town, places and character.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Paragraph 2 covers transport, route and duration.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Paragraph 3 gives a balanced view and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five F6 grammar structures and check agreement.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تُوجَدُ فِيهَا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also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أَسِيرُ مَشْيًا خَمْسَ دَقَائِقَ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walk for five minutes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one hand … on the other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خَارِجَ سَاعَاتِ الاِزْدِحَامِ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outside rush hour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مَسْجِدُهَا المَبْنِيُّ مِنَ الحَجَرِ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mosque built of stone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مُتَوَسِّطَةٍ وَحَدِيثَةٍ. تَتَمَيَّزُ بِحَدَائِقِهَا وَمَرْكَزِهَا التِّجَارِيِّ، وَتُوجَدُ فِيهَا مَكْتَبَةٌ كَبِيرَةٌ وَمَحَطَّةُ قِطَارٍ. أَذْهَبُ إِلَى المَدْرَسَةِ بِالحَافِلَةِ، وَتَسْتَغْرِقُ الرِّحْلَةُ خَمْسًا وَعِشْرِينَ دَقِيقَةً. أُفَضِّلُ الحَافِلَةَ لِأَنَّهَا أَرْخَصُ مِنْ سَيَّارَةِ الأُجْرَةِ. مِنْ مَزَايَا المَدِينَةِ أَنَّ الخِدْمَاتِ قَرِيبَةٌ، وَمِنْ عُيُوبِهَا أَنَّ الشَّوَارِعَ مُكْتَظَّةٌ. بِصِفَةٍ عَامَّةٍ، أُوصِي بِزِيَارَتِهَا لِأَنَّهَا مُمْتِعَةٌ وَآمِنَةٌ.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medium-sized, modern city. It is known for its parks and shopping centre, and it has a big library and a train station. I go to school by bus, and the journey takes twenty-five minutes. I prefer the bus because it is cheaper than a taxi. One advantage is that services are close; one disadvantage is that the streets are crowded. Overall, I recommend visiting it because it is enjoyable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paragraph 1: town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paragraph 2: transport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paragraph 3: judgement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F6 structures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task point is covered.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Transport: bi- / ʿalā / mashyan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Three paragraphs, three jobs.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Five F6 structures, all agreeing.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final version improves my draft.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journey and duration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title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recommendation</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بِصِفَةٍ عَامَّةٍ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recommendation?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أُوصِي بِزِيَارَتِهَا.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 رَصِيفٍ؟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journey and duration</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title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 recommendation</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2 develops transport.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أَوَّلًا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بِصِفَةٍ عَامَّةٍ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بِصِفَةٍ عَامَّةٍ</a:t>
            </a:r>
            <a:pPr algn="l" indent="0" marL="0">
              <a:buNone/>
            </a:pPr>
            <a:r>
              <a:rPr lang="en-US" sz="1050" i="1" dirty="0">
                <a:solidFill>
                  <a:srgbClr val="8A6D1E"/>
                </a:solidFill>
                <a:latin typeface="Calibri" pitchFamily="34" charset="0"/>
                <a:cs typeface="Amiri" pitchFamily="2" charset="-78"/>
              </a:rPr>
              <a:t> means overall.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recommendation?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أُوصِي بِزِيَارَتِهَا.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تَفْتَقِرُ إِلَى...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أَيِّ رَصِيفٍ؟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أُوصِي بِـ</a:t>
            </a:r>
            <a:pPr algn="l" indent="0" marL="0">
              <a:buNone/>
            </a:pPr>
            <a:r>
              <a:rPr lang="en-US" sz="1050" i="1" dirty="0">
                <a:solidFill>
                  <a:srgbClr val="8A6D1E"/>
                </a:solidFill>
                <a:latin typeface="Calibri" pitchFamily="34" charset="0"/>
                <a:cs typeface="Amiri" pitchFamily="2" charset="-78"/>
              </a:rPr>
              <a:t> means I recommend.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Annotated model: town and transport</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قَدِيمَةٍ وَلٰكِنَّهَا نَشِيطَةٌ. تَتَمَيَّزُ بِسُوقِهَا التَّقْلِيدِيِّ وَمَسْجِدِهَا المَبْنِيِّ مِنَ الحَجَرِ. كَمَا تُوجَدُ فِيهَا جَامِعَةٌ حَدِيثَةٌ. أَذْهَبُ إِلَى المَدْرَسَةِ بِالمِتْرُو، ثُمَّ أَسِيرُ مَشْيًا خَمْسَ دَقَائِقَ. أُفَضِّلُ المِتْرُو لِأَنَّهُ سَرِيعٌ وَأَرْخَصُ مِنْ سَيَّارَةِ الأُجْرَةِ. مِنْ مَزَايَا مَدِينَتِي أَنَّ الخِدْمَاتِ كَثِيرَةٌ، وَمِنْ عُيُوبِهَا أَنَّ المَرْكَزَ مُكْتَظٌّ. لِذٰلِكَ أُوصِي بِزِيَارَتِهَا خَارِجَ سَاعَاتِ الاِزْدِحَامِ.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قَدِيمَةٍ وَلَكِنَّهَا نَشِيطَةٌ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old but lively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سُوقِهَا التَّقْلِيدِيِّ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traditional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المَبْنِيِّ مِنَ الحَجَرِ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built of stone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كَمَا تُوجَدُ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also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بِالمِتْرُو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metro</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أَسِيرُ 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أَرْخَصُ مِنْ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 than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الخِدْمَاتِ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services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crowded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سَاعَاتِ الاِزْدِحَامِ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rush hour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mosque built from?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modern place is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theatre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 metro journey?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five-minute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 ride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taxi journey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metro preferred?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traditional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and cheaper than a taxi</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and large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advantage?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services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empty streets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nearby airport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recommendation is made?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visit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only by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outside rush hour</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mosque built from?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brick</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المَبْنِيِّ مِنَ الحَجَرِ.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modern place is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theatre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university</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جَامِعَةٌ حَدِيثَةٌ.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 metro journey?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five-minute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bus ride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taxi journey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أَسِيرُ مَشْيًا خَمْسَ دَقَائِقَ.</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metro preferred?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traditional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fast and cheaper than a taxi</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and large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سَرِيعٌ وَأَرْخَصُ مِنْ سَيَّارَةِ الأُجْرَةِ.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advantage?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many services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empty streets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nearby airport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الخِدْمَاتِ كَثِيرَةٌ.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recommendation is made?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visit</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only by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visit outside rush hour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زِيَارَتِهَا خَارِجَ سَاعَاتِ الاِزْدِحَامِ.</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F6-L10 · Listening: Town and Transport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إِعْلَانٌ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announcement</a:t>
            </a:r>
            <a:pPr indent="0" marL="0">
              <a:buNone/>
            </a:pPr>
            <a:r>
              <a:rPr lang="ar-SA" sz="1000" i="1" dirty="0">
                <a:solidFill>
                  <a:srgbClr val="5A6472"/>
                </a:solidFill>
                <a:latin typeface="Calibri" pitchFamily="34" charset="0"/>
                <a:ea typeface="Amiri" pitchFamily="2" charset="-78"/>
                <a:cs typeface="Amiri" pitchFamily="2" charset="-78"/>
              </a:rPr>
              <a:t>  pl. إِعْلَانَاتٌ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تَقْرِيرٌ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report</a:t>
            </a:r>
            <a:pPr indent="0" marL="0">
              <a:buNone/>
            </a:pPr>
            <a:r>
              <a:rPr lang="ar-SA" sz="1000" i="1" dirty="0">
                <a:solidFill>
                  <a:srgbClr val="5A6472"/>
                </a:solidFill>
                <a:latin typeface="Calibri" pitchFamily="34" charset="0"/>
                <a:ea typeface="Amiri" pitchFamily="2" charset="-78"/>
                <a:cs typeface="Amiri" pitchFamily="2" charset="-78"/>
              </a:rPr>
              <a:t>  pl. تَقَارِيرُ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مُقَابَلَةٌ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interview</a:t>
            </a:r>
            <a:pPr indent="0" marL="0">
              <a:buNone/>
            </a:pPr>
            <a:r>
              <a:rPr lang="ar-SA" sz="1000" i="1" dirty="0">
                <a:solidFill>
                  <a:srgbClr val="5A6472"/>
                </a:solidFill>
                <a:latin typeface="Calibri" pitchFamily="34" charset="0"/>
                <a:ea typeface="Amiri" pitchFamily="2" charset="-78"/>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تَفَاصِيلُ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details</a:t>
            </a:r>
            <a:pPr indent="0" marL="0">
              <a:buNone/>
            </a:pPr>
            <a:r>
              <a:rPr lang="ar-SA" sz="1000" i="1" dirty="0">
                <a:solidFill>
                  <a:srgbClr val="5A6472"/>
                </a:solidFill>
                <a:latin typeface="Calibri" pitchFamily="34" charset="0"/>
                <a:ea typeface="Amiri" pitchFamily="2" charset="-78"/>
                <a:cs typeface="Amiri" pitchFamily="2" charset="-78"/>
              </a:rPr>
              <a:t>  sing. تَفْصِيلٌ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اِزْدِحَامٌ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congestion / crowds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might you hear a transport announcement? Name two places.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المَحَطَّةِ ·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60-word text from the frames; learn the five announcement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80–100-word version with the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transport choices (100+ words) and write a short self-audit.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F6-L10 · Listening: Town and Transport Texts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المَدِينَةِ وَالمُوَاصَلَاتِ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 draft → check → improve · three paragraphs, three jobs · every connector has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F6-L09 · Extended Writing: My Town and How I Get Around</dc:title>
  <dc:subject>PptxGenJS Presentation</dc:subject>
  <dc:creator>Al Madina Online School · Arabic Department</dc:creator>
  <cp:lastModifiedBy>Al Madina Online School · Arabic Department</cp:lastModifiedBy>
  <cp:revision>1</cp:revision>
  <dcterms:created xsi:type="dcterms:W3CDTF">2026-10-11T06:41:57Z</dcterms:created>
  <dcterms:modified xsi:type="dcterms:W3CDTF">2026-10-11T06:41:57Z</dcterms:modified>
</cp:coreProperties>
</file>