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F6 My Town and Transport › F6-L09. The website lesson “Extended Writing: My Town and How I Get Around”: vocabulary, grammar rules and quiz, patterns, common mistakes, sorter, listening, reading, speaking prompts and model, writing task and model, differentiation, final check and the lesson mission. Picture match: website visual game “Extended Writing: My Town and How I Get Around”.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a supported 60-word response with one sentence frame per point (all points covered).
• Develop: 80–100 words in three paragraphs with accurate F6 range (five structures).
• Stretch: 100+ words, compare two transport choices and improve the first draft with a self-audit.
• Website: “The word target is a guide to development, not a reason to repeat ideas.” · “The plan, first draft and final version should be visibly different.”
• Review order (website): meaning → organisation → grammar → spelling.
• Lesson shape: 10 min plan (oral rehearsal) · 15 min draft · 8 min review with the checklist · 5 min improve two sentences.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DO NOW (5 min independent + 2 min going through answers).
Questions 1–2 test two of the five words prepared at home at the end of F6-L08 (the website spells draft مُسَوَّدَةٌ; مَسْوَدَّةٌ is also used). Questions 3–5 retrieve F6-L08, F6-L03 and F6-L05.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Three paragraphs, three jobs: my town · how I get around · my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تفصیل، خاتمہ، رائے are shared. مقدمہ (preface; also a court case!) → مُقَدِّمَةٌ (introduction: what comes first). Urdu نسخہ is a doctor’s prescription; Arabic نُسْخَةٌ is a copy or version (نُسْخَةٌ نِهَائِيَّةٌ = final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Connectors and range (website vocabulary (1 of 2)). Hear → Say → See → Use. Transliteration is printed for Core students (cover it for Develop/Stretch).
FLEX: teach if time allows; otherwise these are on the website vocabulary tab for homework.
FLEX: connectors by job — sequence (أَوَّلًا، ثَانِيًا، ثُمَّ) · add (كَمَا أَنَّ) · reason (لِأَنَّ) · result (لِذَلِكَ) · contrast (وَلَكِنَّ، بَيْنَمَا) · conclude (بِصِفَةٍ عَامَّةٍ).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Connectors and range (website vocabulary (2 of 2)). Hear → Say → See → Use. Transliteration is printed for Core students (cover it for Develop/Stretch).
FLEX: teach if time allows; otherwise these are on the website vocabulary tab for homework.
FLEX: connectors by job — sequence (أَوَّلًا، ثَانِيًا، ثُمَّ) · add (كَمَا أَنَّ) · reason (لِأَنَّ) · result (لِذَلِكَ) · contrast (وَلَكِنَّ، بَيْنَمَا) · conclude (بِصِفَةٍ عَامَّةٍ).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F6 high-value structures (website vocabulary (1 of 2)). Hear → Say → See → Use. Transliteration is printed for Core students (cover it for Develop/Stretch).
The F6 toolkit: one structure from each lesson L01–L08. Students tick each one they use in their draft.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F6 high-value structures (website vocabulary (2 of 2)). Hear → Say → See → Use. Transliteration is printed for Core students (cover it for Develop/Stretch).
The F6 toolkit: one structure from each lesson L01–L08. Students tick each one they use in their draft.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“Paragraph 1: place and character” (place + adjectives + يُوجَدُ / تُوجَدُ), “Paragraph 2: movement and detail” (بِـ / عَلَى / مَشْيًا + duration + reason) and “Paragraph 3: balanced judgement” (مِنْ مَزَايَا / عُيُوبِ … أَنَّ + recommendation or target).
Website overview: “Each paragraph has a clear job, and each high-value structure must communicate relevant content rather than appear as decoration.”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 “Review for range and accuracy”: مَعْنًى → تَنْظِيمٌ → قَوَاعِدُ → إِمْلَاءٌ (content, organisation, grammar, spelling).
Website questions: هَلْ أَجَبْتُ عَنْ كُلِّ نُقْطَةٍ؟ · هَلِ اسْتَعْمَلْتُ تَرَاكِيبَ مُخْتَلِفَةً؟ · هَلْ رَاجَعْتُ المُطَابَقَةَ؟
Website common error: “Do not add connectors without a logical relationship.”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“This writing lesson teaches organisation as a language skill. Each paragraph has a clear job, and each high-value structure must communicate relevant content rather than appear as decoration.”
• Paragraph 1: place and character: Open by locating the town and describing its character and important places.
• Paragraph 2: movement and detail: Explain how you travel, how long it takes and why you choose that route.
• Paragraph 3: balanced judgement: Present both sides and finish with a clear recommendation or target.
• Review for range and accuracy: Check task completion first, then connectors, gender agreement, transport prepositions and spelling.
Website common error: Do not add connectors without a logical relationship. Every connector must show addition, sequence, reason, contrast or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2, 3, 4, 6.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model answer, with the plan → draft → improve → check cycle shown on one sentence (steps 1–4). Students count the F6 structures in the model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Place each content idea in the best paragraph.
Stretch: add one new sentence of your own to each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Place each content idea in the best paragraph.
Stretch: add one new sentence of your own to each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1, 5,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3 and 4. Develop / Stretch: all 5, then complete the three-paragraph plan from the text.
Listen 1: just listen. Listen 2: note answers. Then chat the letters.
Support: after the second listening, show the read-along slide (Arabic + English, line by line) for Core students.
SCRIPT (read aloud):
أَسْكُنُ فِي مَدِينَةِ صَلَالَةَ، وَهِيَ مَدِينَةٌ جَمِيلَةٌ وَخَضْرَاءُ. فِي المَرْكَزِ تُوجَدُ أَسْوَاقٌ وَمَطَاعِمُ، وَتَتَمَيَّزُ المَدِينَةُ بِمَنَاظِرِهَا الطَّبِيعِيَّةِ. أَذْهَبُ إِلَى المَدْرَسَةِ بِالحَافِلَةِ، وَتَسْتَغْرِقُ الرِّحْلَةُ عِشْرِينَ دَقِيقَةً. مِنْ مَزَايَا المَدِينَةِ أَنَّهَا هَادِئَةٌ، وَلٰكِنْ مِنْ عُيُوبِهَا أَنَّ بَعْضَ الأَمَاكِنِ بَعِيدَةٌ. بِصِفَةٍ عَامَّةٍ، أُحِبُّهَا كَثِيرًا.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اذْكُرْ مِيزَةً وَعَيْبًا. (Give one advantage and disadvantage.)
B: مِنْ مَزَايَاهَا أَنَّ المَوَاصَلَاتِ رَخِيصَةٌ، وَمِنْ عُيُوبِهَا أَنَّ الشَّوَارِعَ مُكْتَظَّةٌ. (Cheap transport is an advantage; crowded streets are a disadvantage.)
Website “Oral rehearsal before drafting” — say the text before writing it. Pairs: 60 seconds each, partner ticks the F6 structures heard. Website model: صِفْ مَدِينَتَكَ وَمَوَاصَلَاتِهَا. — مَدِينَتِي حَدِيثَةٌ وَتَتَمَيَّزُ بِحَدَائِقِهَا. أَذْهَبُ إِلَى المَدْرَسَةِ بِالحَافِلَةِ. — اُذْكُرْ مِيزَةً وَعَيْبًا. — مِنْ مَزَايَاهَا أَنَّ المَوَاصَلَاتِ رَخِيصَةٌ، وَمِنْ عُيُوبِهَا أَنَّ الشَّوَارِعَ مُكْتَظَّةٌ.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Write a supported 60-word response covering every point. · Develop — Write 80–100 words with three paragraphs and accurate F6 range. · Stretch — Write 100+ words, compare two transport choices and improve the first draft using a self-audit.
Website writing task (Stretch): Plan, draft and improve an 80–100-word article or email about your town and how you get around.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Evidence: تَتَمَيَّزُ، تُوجَدُ · بِالحَافِلَةِ، تَسْتَغْرِقُ، أَرْخَصُ مِنْ · مِنْ مَزَايَا … أَنَّ، مِنْ عُيُوبِهَا أَنَّ، أُوصِي بِـ. ≈ 80 words.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(F6-L10 · Listening: Town and Transport Texts) will spend class time USING this language, so students prepare it tonight — short, simple, easy to access (school guidance: “Simple, Short, Interesting, Relevant, Easy to access”). The five words prepare the website F6-L10 listening lesson (announcements, reports, interviews).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F6  ·  F6-L09</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F6-L09</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Extended Writing: My Town and How I Get Around</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الكِتَابَةُ المُوَسَّعَةُ — مَدِينَتِي وَكَيْفَ أَتَنَقَّلُ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Plan, draft, check and improve an 80–100-word text in three paragraphs: my town and its places · how I travel · a balanced judgement — using the whole F6 toolkit.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F6-L09 · Foundation F6 · My Town and Transport</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F6 › F6-L09</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Extended Writing</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40</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Connectors and the F6 toolkit, then a three-paragraph plan.</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sentences into paragraphs, fix three F6 slips and turn a spoken description into a plan.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F6-L10.</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40</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Extended Writing</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مُقَدِّمَةٌ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conclusion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introduction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draft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مُسَوَّدَةٌ / مَسْوَدَّةٌ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draft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paragraph</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plan</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Give “turn” to one female.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اِنْعَطِفْ</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اِنْعَطِفُوا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اِنْعَطِفِي</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go to school by bus.”</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أَذْهَبُ إِلَى المَدْرَسَةِ عَلَى الحَافِلَةِ.</a:t>
            </a:r>
            <a:endParaRPr lang="ar-SA" sz="200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أَذْهَبُ المَدْرَسَةَ بِمَشْيًا.</a:t>
            </a:r>
            <a:endParaRPr lang="ar-SA" sz="200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أَذْهَبُ إِلَى المَدْرَسَةِ بِالحَافِلَةِ.</a:t>
            </a:r>
            <a:endParaRPr lang="ar-SA" sz="200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introduces an advantage?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 مَزَايَا … أَنَّ</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تَفْتَقِرُ إِلَى</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مَمْنُوعُ الدُّخُولِ</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40</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Extended Writing</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مُقَدِّمَةٌ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conclusion</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introduction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draft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(F6-L08).</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مُسَوَّدَةٌ / مَسْوَدَّةٌ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draft</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paragraph</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plan</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(F6-L08).</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Give “turn” to one female.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اِنْعَطِفْ</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اِنْعَطِفُوا</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اِنْعَطِفِي</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F6-L08: -ī for one girl.</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go to school by bus.”</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أَذْهَبُ إِلَى المَدْرَسَةِ عَلَى الحَافِلَةِ.</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أَذْهَبُ المَدْرَسَةَ بِمَشْيًا.</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أَذْهَبُ إِلَى المَدْرَسَةِ بِالحَافِلَةِ.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F6-L03: bi- with a bus.</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introduces an advantage?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مِنْ مَزَايَا … أَنَّ</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تَفْتَقِرُ إِلَى</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مَمْنُوعُ الدُّخُولِ</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F6-L05.</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Three paragraphs, three jobs: my town · how I get around · my judgement.</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مَدِينَتِي … · أَتَنَقَّلُ بِـ … · بِصِفَةٍ عَامَّةٍ …</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40</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Extended Writing</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Analyse a strong model against task criteria.</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Plan three purposeful paragraphs.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the required F6 grammar range accurately.</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Draft, check and improve an 80–100-word text.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cover every task point.</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write 60 accurate words.</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write three connected paragraphs.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five F6 structures.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compare two transport choices.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improve my draft with a self-audit.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40</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33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Writing architecture · 12</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Connectors and range · 12</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F6 high-value structures · 9</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مُقَدِّمَةٌ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‎مقدمہ‎ </a:t>
            </a:r>
            <a:pPr indent="0" marL="0">
              <a:buNone/>
            </a:pPr>
            <a:r>
              <a:rPr lang="en-US" sz="950" b="1" dirty="0">
                <a:solidFill>
                  <a:srgbClr val="2E8B57"/>
                </a:solidFill>
                <a:latin typeface="Calibri" pitchFamily="34" charset="0"/>
                <a:cs typeface="Amiri" pitchFamily="2" charset="-78"/>
              </a:rPr>
              <a:t> muqaddama · Urdu: preface / court case → introduction</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تَفْصِيلٌ</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‎تفصیل‎ </a:t>
            </a:r>
            <a:pPr indent="0" marL="0">
              <a:buNone/>
            </a:pPr>
            <a:r>
              <a:rPr lang="en-US" sz="950" b="1" dirty="0">
                <a:solidFill>
                  <a:srgbClr val="2E8B57"/>
                </a:solidFill>
                <a:latin typeface="Calibri" pitchFamily="34" charset="0"/>
                <a:cs typeface="Amiri" pitchFamily="2" charset="-78"/>
              </a:rPr>
              <a:t> tafsīl · detail</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خَاتِمَةٌ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‎خاتمہ‎ </a:t>
            </a:r>
            <a:pPr indent="0" marL="0">
              <a:buNone/>
            </a:pPr>
            <a:r>
              <a:rPr lang="en-US" sz="950" b="1" dirty="0">
                <a:solidFill>
                  <a:srgbClr val="2E8B57"/>
                </a:solidFill>
                <a:latin typeface="Calibri" pitchFamily="34" charset="0"/>
                <a:cs typeface="Amiri" pitchFamily="2" charset="-78"/>
              </a:rPr>
              <a:t> khātima · ending → conclusion</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نُسْخَةٌ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‎نسخہ‎ </a:t>
            </a:r>
            <a:pPr indent="0" marL="0">
              <a:buNone/>
            </a:pPr>
            <a:r>
              <a:rPr lang="en-US" sz="950" b="1" dirty="0">
                <a:solidFill>
                  <a:srgbClr val="2E8B57"/>
                </a:solidFill>
                <a:latin typeface="Calibri" pitchFamily="34" charset="0"/>
                <a:cs typeface="Amiri" pitchFamily="2" charset="-78"/>
              </a:rPr>
              <a:t> nuskha · Urdu: prescription · Arabic: a copy / version</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رَأْيٌ</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‎رائے‎ </a:t>
            </a:r>
            <a:pPr indent="0" marL="0">
              <a:buNone/>
            </a:pPr>
            <a:r>
              <a:rPr lang="en-US" sz="950" b="1" dirty="0">
                <a:solidFill>
                  <a:srgbClr val="2E8B57"/>
                </a:solidFill>
                <a:latin typeface="Calibri" pitchFamily="34" charset="0"/>
                <a:cs typeface="Amiri" pitchFamily="2" charset="-78"/>
              </a:rPr>
              <a:t> rāy · opinion</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40</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Extended Writing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Connectors and range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أَوَّلًا</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firstly</a:t>
            </a:r>
            <a:endParaRPr lang="en-US" sz="1350" dirty="0"/>
          </a:p>
          <a:p>
            <a:pPr indent="0" marL="0">
              <a:buNone/>
            </a:pPr>
            <a:r>
              <a:rPr lang="en-US" sz="1100" i="1" dirty="0">
                <a:solidFill>
                  <a:srgbClr val="5A6472"/>
                </a:solidFill>
                <a:latin typeface="Calibri" pitchFamily="34" charset="0"/>
                <a:cs typeface="Amiri" pitchFamily="2" charset="-78"/>
              </a:rPr>
              <a:t>aw-wa-lan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ثَانِيًا</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secondly</a:t>
            </a:r>
            <a:endParaRPr lang="en-US" sz="1350" dirty="0"/>
          </a:p>
          <a:p>
            <a:pPr indent="0" marL="0">
              <a:buNone/>
            </a:pPr>
            <a:r>
              <a:rPr lang="en-US" sz="1100" i="1" dirty="0">
                <a:solidFill>
                  <a:srgbClr val="5A6472"/>
                </a:solidFill>
                <a:latin typeface="Calibri" pitchFamily="34" charset="0"/>
                <a:cs typeface="Amiri" pitchFamily="2" charset="-78"/>
              </a:rPr>
              <a:t>thā-ni-yan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ثُمَّ</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then</a:t>
            </a:r>
            <a:endParaRPr lang="en-US" sz="1350" dirty="0"/>
          </a:p>
          <a:p>
            <a:pPr indent="0" marL="0">
              <a:buNone/>
            </a:pPr>
            <a:r>
              <a:rPr lang="en-US" sz="1100" i="1" dirty="0">
                <a:solidFill>
                  <a:srgbClr val="5A6472"/>
                </a:solidFill>
                <a:latin typeface="Calibri" pitchFamily="34" charset="0"/>
                <a:cs typeface="Amiri" pitchFamily="2" charset="-78"/>
              </a:rPr>
              <a:t>thum-ma</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بَعْدَ ذٰلِكَ</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after that</a:t>
            </a:r>
            <a:endParaRPr lang="en-US" sz="1350" dirty="0"/>
          </a:p>
          <a:p>
            <a:pPr indent="0" marL="0">
              <a:buNone/>
            </a:pPr>
            <a:r>
              <a:rPr lang="en-US" sz="1100" i="1" dirty="0">
                <a:solidFill>
                  <a:srgbClr val="5A6472"/>
                </a:solidFill>
                <a:latin typeface="Calibri" pitchFamily="34" charset="0"/>
                <a:cs typeface="Amiri" pitchFamily="2" charset="-78"/>
              </a:rPr>
              <a:t>baʿ-da dhā-li-ka</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كَمَا أَنَّ</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also / moreover</a:t>
            </a:r>
            <a:endParaRPr lang="en-US" sz="1350" dirty="0"/>
          </a:p>
          <a:p>
            <a:pPr indent="0" marL="0">
              <a:buNone/>
            </a:pPr>
            <a:r>
              <a:rPr lang="en-US" sz="1100" i="1" dirty="0">
                <a:solidFill>
                  <a:srgbClr val="5A6472"/>
                </a:solidFill>
                <a:latin typeface="Calibri" pitchFamily="34" charset="0"/>
                <a:cs typeface="Amiri" pitchFamily="2" charset="-78"/>
              </a:rPr>
              <a:t>ka-mā an-na</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45" name="Shape 4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7" name="Text 44"/>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لِأَنَّ</a:t>
            </a:r>
            <a:endParaRPr lang="ar-SA" sz="3000" dirty="0"/>
          </a:p>
        </p:txBody>
      </p:sp>
      <p:sp>
        <p:nvSpPr>
          <p:cNvPr id="48" name="Text 45"/>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because</a:t>
            </a:r>
            <a:endParaRPr lang="en-US" sz="1350" dirty="0"/>
          </a:p>
          <a:p>
            <a:pPr indent="0" marL="0">
              <a:buNone/>
            </a:pPr>
            <a:r>
              <a:rPr lang="en-US" sz="1100" i="1" dirty="0">
                <a:solidFill>
                  <a:srgbClr val="5A6472"/>
                </a:solidFill>
                <a:latin typeface="Calibri" pitchFamily="34" charset="0"/>
                <a:cs typeface="Amiri" pitchFamily="2" charset="-78"/>
              </a:rPr>
              <a:t>li-ʾan-na</a:t>
            </a:r>
            <a:endParaRPr lang="en-US" sz="13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40</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Extended Writing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Connectors and range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لِذٰلِكَ</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therefore</a:t>
            </a:r>
            <a:endParaRPr lang="en-US" sz="1350" dirty="0"/>
          </a:p>
          <a:p>
            <a:pPr indent="0" marL="0">
              <a:buNone/>
            </a:pPr>
            <a:r>
              <a:rPr lang="en-US" sz="1100" i="1" dirty="0">
                <a:solidFill>
                  <a:srgbClr val="5A6472"/>
                </a:solidFill>
                <a:latin typeface="Calibri" pitchFamily="34" charset="0"/>
                <a:cs typeface="Amiri" pitchFamily="2" charset="-78"/>
              </a:rPr>
              <a:t>li-dhā-li-ka</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وَلٰكِنَّ</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but</a:t>
            </a:r>
            <a:endParaRPr lang="en-US" sz="1350" dirty="0"/>
          </a:p>
          <a:p>
            <a:pPr indent="0" marL="0">
              <a:buNone/>
            </a:pPr>
            <a:r>
              <a:rPr lang="en-US" sz="1100" i="1" dirty="0">
                <a:solidFill>
                  <a:srgbClr val="5A6472"/>
                </a:solidFill>
                <a:latin typeface="Calibri" pitchFamily="34" charset="0"/>
                <a:cs typeface="Amiri" pitchFamily="2" charset="-78"/>
              </a:rPr>
              <a:t>wa-lā-kin-na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بَيْنَمَا</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whereas</a:t>
            </a:r>
            <a:endParaRPr lang="en-US" sz="1350" dirty="0"/>
          </a:p>
          <a:p>
            <a:pPr indent="0" marL="0">
              <a:buNone/>
            </a:pPr>
            <a:r>
              <a:rPr lang="en-US" sz="1100" i="1" dirty="0">
                <a:solidFill>
                  <a:srgbClr val="5A6472"/>
                </a:solidFill>
                <a:latin typeface="Calibri" pitchFamily="34" charset="0"/>
                <a:cs typeface="Amiri" pitchFamily="2" charset="-78"/>
              </a:rPr>
              <a:t>bay-na-mā</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نَاحِيَةٍ</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one hand</a:t>
            </a:r>
            <a:endParaRPr lang="en-US" sz="1350" dirty="0"/>
          </a:p>
          <a:p>
            <a:pPr indent="0" marL="0">
              <a:buNone/>
            </a:pPr>
            <a:r>
              <a:rPr lang="en-US" sz="1100" i="1" dirty="0">
                <a:solidFill>
                  <a:srgbClr val="5A6472"/>
                </a:solidFill>
                <a:latin typeface="Calibri" pitchFamily="34" charset="0"/>
                <a:cs typeface="Amiri" pitchFamily="2" charset="-78"/>
              </a:rPr>
              <a:t>min nā-ḥi-ya-tin</a:t>
            </a:r>
            <a:endParaRPr lang="en-US" sz="1350" dirty="0"/>
          </a:p>
        </p:txBody>
      </p:sp>
      <p:sp>
        <p:nvSpPr>
          <p:cNvPr id="39" name="Shape 3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4389120"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2" name="Text 3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وَمِنْ نَاحِيَةٍ أُخْرَى</a:t>
            </a:r>
            <a:endParaRPr lang="ar-SA" sz="3000" dirty="0"/>
          </a:p>
        </p:txBody>
      </p:sp>
      <p:sp>
        <p:nvSpPr>
          <p:cNvPr id="43" name="Text 4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the other hand</a:t>
            </a:r>
            <a:endParaRPr lang="en-US" sz="1350" dirty="0"/>
          </a:p>
          <a:p>
            <a:pPr indent="0" marL="0">
              <a:buNone/>
            </a:pPr>
            <a:r>
              <a:rPr lang="en-US" sz="1100" i="1" dirty="0">
                <a:solidFill>
                  <a:srgbClr val="5A6472"/>
                </a:solidFill>
                <a:latin typeface="Calibri" pitchFamily="34" charset="0"/>
                <a:cs typeface="Amiri" pitchFamily="2" charset="-78"/>
              </a:rPr>
              <a:t>wa-min nā-ḥi-ya-tin ukh-rā</a:t>
            </a:r>
            <a:endParaRPr lang="en-US" sz="1350" dirty="0"/>
          </a:p>
        </p:txBody>
      </p:sp>
      <p:sp>
        <p:nvSpPr>
          <p:cNvPr id="44" name="Shape 41"/>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66928"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7" name="Shape 44"/>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9" name="Text 46"/>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بِصِفَةٍ عَامَّةٍ</a:t>
            </a:r>
            <a:endParaRPr lang="ar-SA" sz="3000" dirty="0"/>
          </a:p>
        </p:txBody>
      </p:sp>
      <p:sp>
        <p:nvSpPr>
          <p:cNvPr id="50" name="Text 47"/>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overall</a:t>
            </a:r>
            <a:endParaRPr lang="en-US" sz="1350" dirty="0"/>
          </a:p>
          <a:p>
            <a:pPr indent="0" marL="0">
              <a:buNone/>
            </a:pPr>
            <a:r>
              <a:rPr lang="en-US" sz="1100" i="1" dirty="0">
                <a:solidFill>
                  <a:srgbClr val="5A6472"/>
                </a:solidFill>
                <a:latin typeface="Calibri" pitchFamily="34" charset="0"/>
                <a:cs typeface="Amiri" pitchFamily="2" charset="-78"/>
              </a:rPr>
              <a:t>bi-ṣi-fa-tin ʿām-ma-tin</a:t>
            </a:r>
            <a:endParaRPr lang="en-US" sz="13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40</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Extended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F6 high-value structures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يُوجَدُ / تُوجَدُ</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there is / are</a:t>
            </a:r>
            <a:endParaRPr lang="en-US" sz="1350" dirty="0"/>
          </a:p>
          <a:p>
            <a:pPr indent="0" marL="0">
              <a:buNone/>
            </a:pPr>
            <a:r>
              <a:rPr lang="en-US" sz="1100" i="1" dirty="0">
                <a:solidFill>
                  <a:srgbClr val="5A6472"/>
                </a:solidFill>
                <a:latin typeface="Calibri" pitchFamily="34" charset="0"/>
                <a:cs typeface="Amiri" pitchFamily="2" charset="-78"/>
              </a:rPr>
              <a:t>yū-ja-du / tū-ja-du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تَتَمَيَّزُ بِـ</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distinguished by</a:t>
            </a:r>
            <a:endParaRPr lang="en-US" sz="1350" dirty="0"/>
          </a:p>
          <a:p>
            <a:pPr indent="0" marL="0">
              <a:buNone/>
            </a:pPr>
            <a:r>
              <a:rPr lang="en-US" sz="1100" i="1" dirty="0">
                <a:solidFill>
                  <a:srgbClr val="5A6472"/>
                </a:solidFill>
                <a:latin typeface="Calibri" pitchFamily="34" charset="0"/>
                <a:cs typeface="Amiri" pitchFamily="2" charset="-78"/>
              </a:rPr>
              <a:t>ta-ta-may-ya-zu bi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تَفْتَقِرُ إِلَى</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lacks</a:t>
            </a:r>
            <a:endParaRPr lang="en-US" sz="1350" dirty="0"/>
          </a:p>
          <a:p>
            <a:pPr indent="0" marL="0">
              <a:buNone/>
            </a:pPr>
            <a:r>
              <a:rPr lang="en-US" sz="1100" i="1" dirty="0">
                <a:solidFill>
                  <a:srgbClr val="5A6472"/>
                </a:solidFill>
                <a:latin typeface="Calibri" pitchFamily="34" charset="0"/>
                <a:cs typeface="Amiri" pitchFamily="2" charset="-78"/>
              </a:rPr>
              <a:t>taf-ta-qi-ru i-lā</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مَبْنِيٌّ مِنْ</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built of</a:t>
            </a:r>
            <a:endParaRPr lang="en-US" sz="1350" dirty="0"/>
          </a:p>
          <a:p>
            <a:pPr indent="0" marL="0">
              <a:buNone/>
            </a:pPr>
            <a:r>
              <a:rPr lang="en-US" sz="1100" i="1" dirty="0">
                <a:solidFill>
                  <a:srgbClr val="5A6472"/>
                </a:solidFill>
                <a:latin typeface="Calibri" pitchFamily="34" charset="0"/>
                <a:cs typeface="Amiri" pitchFamily="2" charset="-78"/>
              </a:rPr>
              <a:t>mab-niy-yun min</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أَذْهَبُ بِـ</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go by</a:t>
            </a:r>
            <a:endParaRPr lang="en-US" sz="1350" dirty="0"/>
          </a:p>
          <a:p>
            <a:pPr indent="0" marL="0">
              <a:buNone/>
            </a:pPr>
            <a:r>
              <a:rPr lang="en-US" sz="1100" i="1" dirty="0">
                <a:solidFill>
                  <a:srgbClr val="5A6472"/>
                </a:solidFill>
                <a:latin typeface="Calibri" pitchFamily="34" charset="0"/>
                <a:cs typeface="Amiri" pitchFamily="2" charset="-78"/>
              </a:rPr>
              <a:t>adh-ha-bu bi</a:t>
            </a:r>
            <a:endParaRPr lang="en-US" sz="13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Extended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F6 high-value structures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أَذْهَبُ مَشْيًا</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go on foot</a:t>
            </a:r>
            <a:endParaRPr lang="en-US" sz="1350" dirty="0"/>
          </a:p>
          <a:p>
            <a:pPr indent="0" marL="0">
              <a:buNone/>
            </a:pPr>
            <a:r>
              <a:rPr lang="en-US" sz="1100" i="1" dirty="0">
                <a:solidFill>
                  <a:srgbClr val="5A6472"/>
                </a:solidFill>
                <a:latin typeface="Calibri" pitchFamily="34" charset="0"/>
                <a:cs typeface="Amiri" pitchFamily="2" charset="-78"/>
              </a:rPr>
              <a:t>adh-ha-bu mash-yan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مَزَايَا... أَنَّ</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one advantage is that</a:t>
            </a:r>
            <a:endParaRPr lang="en-US" sz="1350" dirty="0"/>
          </a:p>
          <a:p>
            <a:pPr indent="0" marL="0">
              <a:buNone/>
            </a:pPr>
            <a:r>
              <a:rPr lang="en-US" sz="1100" i="1" dirty="0">
                <a:solidFill>
                  <a:srgbClr val="5A6472"/>
                </a:solidFill>
                <a:latin typeface="Calibri" pitchFamily="34" charset="0"/>
                <a:cs typeface="Amiri" pitchFamily="2" charset="-78"/>
              </a:rPr>
              <a:t>min ma-zā-yā... an-na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عُيُوبِ... أَنَّ</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one disadvantage is that</a:t>
            </a:r>
            <a:endParaRPr lang="en-US" sz="1350" dirty="0"/>
          </a:p>
          <a:p>
            <a:pPr indent="0" marL="0">
              <a:buNone/>
            </a:pPr>
            <a:r>
              <a:rPr lang="en-US" sz="1100" i="1" dirty="0">
                <a:solidFill>
                  <a:srgbClr val="5A6472"/>
                </a:solidFill>
                <a:latin typeface="Calibri" pitchFamily="34" charset="0"/>
                <a:cs typeface="Amiri" pitchFamily="2" charset="-78"/>
              </a:rPr>
              <a:t>min ʿu-yū-bi... an-na</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أُوصِي بِـ</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recommend</a:t>
            </a:r>
            <a:endParaRPr lang="en-US" sz="1350" dirty="0"/>
          </a:p>
          <a:p>
            <a:pPr indent="0" marL="0">
              <a:buNone/>
            </a:pPr>
            <a:r>
              <a:rPr lang="en-US" sz="1100" i="1" dirty="0">
                <a:solidFill>
                  <a:srgbClr val="5A6472"/>
                </a:solidFill>
                <a:latin typeface="Calibri" pitchFamily="34" charset="0"/>
                <a:cs typeface="Amiri" pitchFamily="2" charset="-78"/>
              </a:rPr>
              <a:t>ū-ṣī bi</a:t>
            </a:r>
            <a:endParaRPr lang="en-US" sz="13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40</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Extended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THE THREE-PARAGRAPH PLAN (WEBSITE RULES 1–3)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Three paragraphs, three jobs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ثَلَاثُ فِقْرَاتٍ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91472" y="1810512"/>
            <a:ext cx="2167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F6 lessons</a:t>
            </a:r>
            <a:endParaRPr lang="en-US" sz="1100" dirty="0"/>
          </a:p>
        </p:txBody>
      </p:sp>
      <p:sp>
        <p:nvSpPr>
          <p:cNvPr id="17" name="Text 14"/>
          <p:cNvSpPr txBox="1"/>
          <p:nvPr/>
        </p:nvSpPr>
        <p:spPr>
          <a:xfrm>
            <a:off x="309067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sentences</a:t>
            </a:r>
            <a:endParaRPr lang="en-US" sz="1100" dirty="0"/>
          </a:p>
        </p:txBody>
      </p:sp>
      <p:sp>
        <p:nvSpPr>
          <p:cNvPr id="18" name="Text 15"/>
          <p:cNvSpPr txBox="1"/>
          <p:nvPr/>
        </p:nvSpPr>
        <p:spPr>
          <a:xfrm>
            <a:off x="53035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Paragraph</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528048" y="2267712"/>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L01 · L05 · L07</a:t>
            </a:r>
            <a:endParaRPr lang="en-US" sz="1100" dirty="0"/>
          </a:p>
        </p:txBody>
      </p:sp>
      <p:sp>
        <p:nvSpPr>
          <p:cNvPr id="21" name="Text 18"/>
          <p:cNvSpPr txBox="1"/>
          <p:nvPr/>
        </p:nvSpPr>
        <p:spPr>
          <a:xfrm>
            <a:off x="3108960" y="2267712"/>
            <a:ext cx="62179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أَسْكُنُ فِي مَدِينَةٍ مُتَوَسِّطَةٍ وَحَدِيثَةٍ. </a:t>
            </a:r>
            <a:pPr rtl="1" algn="ctr" indent="0" marL="0">
              <a:buNone/>
            </a:pPr>
            <a:r>
              <a:rPr lang="ar-SA" altLang="en-US" sz="1800" b="1" dirty="0">
                <a:solidFill>
                  <a:srgbClr val="1D5FBF"/>
                </a:solidFill>
                <a:latin typeface="Amiri" pitchFamily="2" charset="-78"/>
                <a:ea typeface="Amiri" pitchFamily="2" charset="-78"/>
                <a:cs typeface="Amiri" pitchFamily="2" charset="-78"/>
              </a:rPr>
              <a:t>تَتَمَيَّزُ</a:t>
            </a:r>
            <a:pPr rtl="1" algn="ctr" indent="0" marL="0">
              <a:buNone/>
            </a:pPr>
            <a:r>
              <a:rPr lang="ar-SA" altLang="en-US" sz="1800" b="1" dirty="0">
                <a:solidFill>
                  <a:srgbClr val="1B3B6F"/>
                </a:solidFill>
                <a:latin typeface="Amiri" pitchFamily="2" charset="-78"/>
                <a:ea typeface="Amiri" pitchFamily="2" charset="-78"/>
                <a:cs typeface="Amiri" pitchFamily="2" charset="-78"/>
              </a:rPr>
              <a:t> بِحَدَائِقِهَا، وَ</a:t>
            </a:r>
            <a:pPr rtl="1" algn="ctr" indent="0" marL="0">
              <a:buNone/>
            </a:pPr>
            <a:r>
              <a:rPr lang="ar-SA" altLang="en-US" sz="1800" b="1" dirty="0">
                <a:solidFill>
                  <a:srgbClr val="1D5FBF"/>
                </a:solidFill>
                <a:latin typeface="Amiri" pitchFamily="2" charset="-78"/>
                <a:ea typeface="Amiri" pitchFamily="2" charset="-78"/>
                <a:cs typeface="Amiri" pitchFamily="2" charset="-78"/>
              </a:rPr>
              <a:t>تُوجَدُ</a:t>
            </a:r>
            <a:pPr rtl="1" algn="ctr" indent="0" marL="0">
              <a:buNone/>
            </a:pPr>
            <a:r>
              <a:rPr lang="ar-SA" altLang="en-US" sz="1800" b="1" dirty="0">
                <a:solidFill>
                  <a:srgbClr val="1B3B6F"/>
                </a:solidFill>
                <a:latin typeface="Amiri" pitchFamily="2" charset="-78"/>
                <a:ea typeface="Amiri" pitchFamily="2" charset="-78"/>
                <a:cs typeface="Amiri" pitchFamily="2" charset="-78"/>
              </a:rPr>
              <a:t> فِيهَا مَكْتَبَةٌ كَبِيرَةٌ.</a:t>
            </a:r>
            <a:endParaRPr lang="ar-SA" sz="1800" dirty="0"/>
          </a:p>
        </p:txBody>
      </p:sp>
      <p:sp>
        <p:nvSpPr>
          <p:cNvPr id="22" name="Text 19"/>
          <p:cNvSpPr txBox="1"/>
          <p:nvPr/>
        </p:nvSpPr>
        <p:spPr>
          <a:xfrm>
            <a:off x="566928" y="2267712"/>
            <a:ext cx="23774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my town + places</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9528048" y="3004718"/>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L03 · L04</a:t>
            </a:r>
            <a:endParaRPr lang="en-US" sz="1100" dirty="0"/>
          </a:p>
        </p:txBody>
      </p:sp>
      <p:sp>
        <p:nvSpPr>
          <p:cNvPr id="27" name="Text 24"/>
          <p:cNvSpPr txBox="1"/>
          <p:nvPr/>
        </p:nvSpPr>
        <p:spPr>
          <a:xfrm>
            <a:off x="3108960" y="3004718"/>
            <a:ext cx="621792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أَذْهَبُ إِلَى المَدْرَسَةِ </a:t>
            </a:r>
            <a:pPr rtl="1" algn="ctr" indent="0" marL="0">
              <a:buNone/>
            </a:pPr>
            <a:r>
              <a:rPr lang="ar-SA" altLang="en-US" sz="2000" b="1" dirty="0">
                <a:solidFill>
                  <a:srgbClr val="0E7C86"/>
                </a:solidFill>
                <a:latin typeface="Amiri" pitchFamily="2" charset="-78"/>
                <a:ea typeface="Amiri" pitchFamily="2" charset="-78"/>
                <a:cs typeface="Amiri" pitchFamily="2" charset="-78"/>
              </a:rPr>
              <a:t>بِالحَافِلَةِ</a:t>
            </a:r>
            <a:pPr rtl="1" algn="ctr" indent="0" marL="0">
              <a:buNone/>
            </a:pPr>
            <a:r>
              <a:rPr lang="ar-SA" altLang="en-US" sz="2000" b="1" dirty="0">
                <a:solidFill>
                  <a:srgbClr val="1B3B6F"/>
                </a:solidFill>
                <a:latin typeface="Amiri" pitchFamily="2" charset="-78"/>
                <a:ea typeface="Amiri" pitchFamily="2" charset="-78"/>
                <a:cs typeface="Amiri" pitchFamily="2" charset="-78"/>
              </a:rPr>
              <a:t>، وَ</a:t>
            </a:r>
            <a:pPr rtl="1" algn="ctr" indent="0" marL="0">
              <a:buNone/>
            </a:pPr>
            <a:r>
              <a:rPr lang="ar-SA" altLang="en-US" sz="2000" b="1" dirty="0">
                <a:solidFill>
                  <a:srgbClr val="0E7C86"/>
                </a:solidFill>
                <a:latin typeface="Amiri" pitchFamily="2" charset="-78"/>
                <a:ea typeface="Amiri" pitchFamily="2" charset="-78"/>
                <a:cs typeface="Amiri" pitchFamily="2" charset="-78"/>
              </a:rPr>
              <a:t>تَسْتَغْرِقُ الرِّحْلَةُ</a:t>
            </a:r>
            <a:pPr rtl="1" algn="ctr" indent="0" marL="0">
              <a:buNone/>
            </a:pPr>
            <a:r>
              <a:rPr lang="ar-SA" altLang="en-US" sz="2000" b="1" dirty="0">
                <a:solidFill>
                  <a:srgbClr val="1B3B6F"/>
                </a:solidFill>
                <a:latin typeface="Amiri" pitchFamily="2" charset="-78"/>
                <a:ea typeface="Amiri" pitchFamily="2" charset="-78"/>
                <a:cs typeface="Amiri" pitchFamily="2" charset="-78"/>
              </a:rPr>
              <a:t> خَمْسًا وَعِشْرِينَ دَقِيقَةً.</a:t>
            </a:r>
            <a:endParaRPr lang="ar-SA" sz="2000" dirty="0"/>
          </a:p>
        </p:txBody>
      </p:sp>
      <p:sp>
        <p:nvSpPr>
          <p:cNvPr id="28" name="Text 25"/>
          <p:cNvSpPr txBox="1"/>
          <p:nvPr/>
        </p:nvSpPr>
        <p:spPr>
          <a:xfrm>
            <a:off x="566928" y="3004718"/>
            <a:ext cx="23774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how I travel</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9528048" y="3741725"/>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L06</a:t>
            </a:r>
            <a:endParaRPr lang="en-US" sz="1100" dirty="0"/>
          </a:p>
        </p:txBody>
      </p:sp>
      <p:sp>
        <p:nvSpPr>
          <p:cNvPr id="33" name="Text 30"/>
          <p:cNvSpPr txBox="1"/>
          <p:nvPr/>
        </p:nvSpPr>
        <p:spPr>
          <a:xfrm>
            <a:off x="3108960" y="3741725"/>
            <a:ext cx="62179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أُفَضِّلُ الحَافِلَةَ لِأَنَّهَا </a:t>
            </a:r>
            <a:pPr rtl="1" algn="ctr" indent="0" marL="0">
              <a:buNone/>
            </a:pPr>
            <a:r>
              <a:rPr lang="ar-SA" altLang="en-US" sz="2200" b="1" dirty="0">
                <a:solidFill>
                  <a:srgbClr val="0E7C86"/>
                </a:solidFill>
                <a:latin typeface="Amiri" pitchFamily="2" charset="-78"/>
                <a:ea typeface="Amiri" pitchFamily="2" charset="-78"/>
                <a:cs typeface="Amiri" pitchFamily="2" charset="-78"/>
              </a:rPr>
              <a:t>أَرْخَصُ مِنْ</a:t>
            </a:r>
            <a:pPr rtl="1" algn="ctr" indent="0" marL="0">
              <a:buNone/>
            </a:pPr>
            <a:r>
              <a:rPr lang="ar-SA" altLang="en-US" sz="2200" b="1" dirty="0">
                <a:solidFill>
                  <a:srgbClr val="1B3B6F"/>
                </a:solidFill>
                <a:latin typeface="Amiri" pitchFamily="2" charset="-78"/>
                <a:ea typeface="Amiri" pitchFamily="2" charset="-78"/>
                <a:cs typeface="Amiri" pitchFamily="2" charset="-78"/>
              </a:rPr>
              <a:t> سَيَّارَةِ الأُجْرَةِ.</a:t>
            </a:r>
            <a:endParaRPr lang="ar-SA" sz="2200" dirty="0"/>
          </a:p>
        </p:txBody>
      </p:sp>
      <p:sp>
        <p:nvSpPr>
          <p:cNvPr id="34" name="Text 31"/>
          <p:cNvSpPr txBox="1"/>
          <p:nvPr/>
        </p:nvSpPr>
        <p:spPr>
          <a:xfrm>
            <a:off x="566928" y="3741725"/>
            <a:ext cx="23774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 reason</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9528048" y="4478731"/>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L05</a:t>
            </a:r>
            <a:endParaRPr lang="en-US" sz="1100" dirty="0"/>
          </a:p>
        </p:txBody>
      </p:sp>
      <p:sp>
        <p:nvSpPr>
          <p:cNvPr id="37" name="Text 34"/>
          <p:cNvSpPr txBox="1"/>
          <p:nvPr/>
        </p:nvSpPr>
        <p:spPr>
          <a:xfrm>
            <a:off x="3108960" y="4478731"/>
            <a:ext cx="6217920" cy="682142"/>
          </a:xfrm>
          <a:prstGeom prst="rect">
            <a:avLst/>
          </a:prstGeom>
          <a:noFill/>
          <a:ln/>
        </p:spPr>
        <p:txBody>
          <a:bodyPr wrap="square" lIns="0" tIns="0" rIns="0" bIns="0" rtlCol="0" anchor="ctr"/>
          <a:lstStyle/>
          <a:p>
            <a:pPr rtl="1" algn="ctr" indent="0" marL="0">
              <a:buNone/>
            </a:pPr>
            <a:r>
              <a:rPr lang="ar-SA" altLang="en-US" sz="1950" b="1" dirty="0">
                <a:solidFill>
                  <a:srgbClr val="7B3FA0"/>
                </a:solidFill>
                <a:latin typeface="Amiri" pitchFamily="2" charset="-78"/>
                <a:ea typeface="Amiri" pitchFamily="2" charset="-78"/>
                <a:cs typeface="Amiri" pitchFamily="2" charset="-78"/>
              </a:rPr>
              <a:t>مِنْ مَزَايَا</a:t>
            </a:r>
            <a:pPr rtl="1" algn="ctr" indent="0" marL="0">
              <a:buNone/>
            </a:pPr>
            <a:r>
              <a:rPr lang="ar-SA" altLang="en-US" sz="1950" b="1" dirty="0">
                <a:solidFill>
                  <a:srgbClr val="1B3B6F"/>
                </a:solidFill>
                <a:latin typeface="Amiri" pitchFamily="2" charset="-78"/>
                <a:ea typeface="Amiri" pitchFamily="2" charset="-78"/>
                <a:cs typeface="Amiri" pitchFamily="2" charset="-78"/>
              </a:rPr>
              <a:t> المَدِينَةِ </a:t>
            </a:r>
            <a:pPr rtl="1" algn="ctr" indent="0" marL="0">
              <a:buNone/>
            </a:pPr>
            <a:r>
              <a:rPr lang="ar-SA" altLang="en-US" sz="1950" b="1" dirty="0">
                <a:solidFill>
                  <a:srgbClr val="7B3FA0"/>
                </a:solidFill>
                <a:latin typeface="Amiri" pitchFamily="2" charset="-78"/>
                <a:ea typeface="Amiri" pitchFamily="2" charset="-78"/>
                <a:cs typeface="Amiri" pitchFamily="2" charset="-78"/>
              </a:rPr>
              <a:t>أَنَّ</a:t>
            </a:r>
            <a:pPr rtl="1" algn="ctr" indent="0" marL="0">
              <a:buNone/>
            </a:pPr>
            <a:r>
              <a:rPr lang="ar-SA" altLang="en-US" sz="1950" b="1" dirty="0">
                <a:solidFill>
                  <a:srgbClr val="1B3B6F"/>
                </a:solidFill>
                <a:latin typeface="Amiri" pitchFamily="2" charset="-78"/>
                <a:ea typeface="Amiri" pitchFamily="2" charset="-78"/>
                <a:cs typeface="Amiri" pitchFamily="2" charset="-78"/>
              </a:rPr>
              <a:t> الخِدْمَاتِ قَرِيبَةٌ، وَ</a:t>
            </a:r>
            <a:pPr rtl="1" algn="ctr" indent="0" marL="0">
              <a:buNone/>
            </a:pPr>
            <a:r>
              <a:rPr lang="ar-SA" altLang="en-US" sz="1950" b="1" dirty="0">
                <a:solidFill>
                  <a:srgbClr val="7B3FA0"/>
                </a:solidFill>
                <a:latin typeface="Amiri" pitchFamily="2" charset="-78"/>
                <a:ea typeface="Amiri" pitchFamily="2" charset="-78"/>
                <a:cs typeface="Amiri" pitchFamily="2" charset="-78"/>
              </a:rPr>
              <a:t>مِنْ عُيُوبِهَا أَنَّ</a:t>
            </a:r>
            <a:pPr rtl="1" algn="ctr" indent="0" marL="0">
              <a:buNone/>
            </a:pPr>
            <a:r>
              <a:rPr lang="ar-SA" altLang="en-US" sz="1950" b="1" dirty="0">
                <a:solidFill>
                  <a:srgbClr val="1B3B6F"/>
                </a:solidFill>
                <a:latin typeface="Amiri" pitchFamily="2" charset="-78"/>
                <a:ea typeface="Amiri" pitchFamily="2" charset="-78"/>
                <a:cs typeface="Amiri" pitchFamily="2" charset="-78"/>
              </a:rPr>
              <a:t> الشَّوَارِعَ مُكْتَظَّةٌ.</a:t>
            </a:r>
            <a:endParaRPr lang="ar-SA" sz="1950" dirty="0"/>
          </a:p>
        </p:txBody>
      </p:sp>
      <p:sp>
        <p:nvSpPr>
          <p:cNvPr id="38" name="Text 35"/>
          <p:cNvSpPr txBox="1"/>
          <p:nvPr/>
        </p:nvSpPr>
        <p:spPr>
          <a:xfrm>
            <a:off x="566928" y="4478731"/>
            <a:ext cx="23774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balanced view</a:t>
            </a:r>
            <a:endParaRPr lang="en-US" sz="1100" dirty="0"/>
          </a:p>
        </p:txBody>
      </p:sp>
      <p:sp>
        <p:nvSpPr>
          <p:cNvPr id="39" name="Shape 36"/>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2" name="Text 39"/>
          <p:cNvSpPr txBox="1"/>
          <p:nvPr/>
        </p:nvSpPr>
        <p:spPr>
          <a:xfrm>
            <a:off x="9528048" y="5215738"/>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L05</a:t>
            </a:r>
            <a:endParaRPr lang="en-US" sz="1100" dirty="0"/>
          </a:p>
        </p:txBody>
      </p:sp>
      <p:sp>
        <p:nvSpPr>
          <p:cNvPr id="43" name="Text 40"/>
          <p:cNvSpPr txBox="1"/>
          <p:nvPr/>
        </p:nvSpPr>
        <p:spPr>
          <a:xfrm>
            <a:off x="3108960" y="5215738"/>
            <a:ext cx="62179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بِصِفَةٍ عَامَّةٍ، أُوصِي بِزِيَارَتِهَا لِأَنَّهَا مُمْتِعَةٌ وَآمِنَةٌ.</a:t>
            </a:r>
            <a:endParaRPr lang="ar-SA" sz="2200" dirty="0"/>
          </a:p>
        </p:txBody>
      </p:sp>
      <p:sp>
        <p:nvSpPr>
          <p:cNvPr id="44" name="Text 41"/>
          <p:cNvSpPr txBox="1"/>
          <p:nvPr/>
        </p:nvSpPr>
        <p:spPr>
          <a:xfrm>
            <a:off x="566928" y="5215738"/>
            <a:ext cx="23774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recommendation</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These five sentences are the website model answer (≈ 80 words). Keep the jobs, change the content.</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40</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Extended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2 · THE REVIEW ROUTINE (WEBSITE RULE 4)</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in this order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مَعْنًى · تَنْظِيمٌ · قَوَاعِدُ · إِمْلَاءٌ</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02870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0287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1 · MEANING</a:t>
            </a:r>
            <a:endParaRPr lang="en-US" sz="850" dirty="0"/>
          </a:p>
        </p:txBody>
      </p:sp>
      <p:sp>
        <p:nvSpPr>
          <p:cNvPr id="18" name="Text 15"/>
          <p:cNvSpPr txBox="1"/>
          <p:nvPr/>
        </p:nvSpPr>
        <p:spPr>
          <a:xfrm>
            <a:off x="9307068" y="1874520"/>
            <a:ext cx="22875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هَلْ أَجَبْتُ عَنْ كُلِّ نُقْطَةٍ؟</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هَلْ أَجَبْتُ عَنْ كُلِّ نُقْطَةٍ؟</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Did I answer every point?</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Task completion first.</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371600" cy="274320"/>
          </a:xfrm>
          <a:prstGeom prst="roundRect">
            <a:avLst>
              <a:gd name="adj" fmla="val 50000"/>
            </a:avLst>
          </a:prstGeom>
          <a:solidFill>
            <a:srgbClr val="6B4C9A"/>
          </a:solidFill>
          <a:ln w="12700">
            <a:solidFill>
              <a:srgbClr val="6B4C9A"/>
            </a:solidFill>
            <a:prstDash val="solid"/>
          </a:ln>
        </p:spPr>
      </p:sp>
      <p:sp>
        <p:nvSpPr>
          <p:cNvPr id="25" name="Text 22"/>
          <p:cNvSpPr txBox="1"/>
          <p:nvPr/>
        </p:nvSpPr>
        <p:spPr>
          <a:xfrm>
            <a:off x="4413504" y="1920240"/>
            <a:ext cx="13716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2 · ORGANISATION</a:t>
            </a:r>
            <a:endParaRPr lang="en-US" sz="850" dirty="0"/>
          </a:p>
        </p:txBody>
      </p:sp>
      <p:sp>
        <p:nvSpPr>
          <p:cNvPr id="26" name="Text 23"/>
          <p:cNvSpPr txBox="1"/>
          <p:nvPr/>
        </p:nvSpPr>
        <p:spPr>
          <a:xfrm>
            <a:off x="5830824" y="1874520"/>
            <a:ext cx="19446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رَوَابِطُ لَهَا وَظِيفَةٌ</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أُفَضِّلُ المِتْرُو لِأَنَّهُ سَرِيعٌ، لِذَلِكَ أَسْتَعْمِلُهُ كُلَّ يَوْمٍ.</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prefer the metro because it is fast, so I use it every day.</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Every connector has a job.</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920240" cy="274320"/>
          </a:xfrm>
          <a:prstGeom prst="roundRect">
            <a:avLst>
              <a:gd name="adj" fmla="val 50000"/>
            </a:avLst>
          </a:prstGeom>
          <a:solidFill>
            <a:srgbClr val="C0386B"/>
          </a:solidFill>
          <a:ln w="12700">
            <a:solidFill>
              <a:srgbClr val="C0386B"/>
            </a:solidFill>
            <a:prstDash val="solid"/>
          </a:ln>
        </p:spPr>
      </p:sp>
      <p:sp>
        <p:nvSpPr>
          <p:cNvPr id="33" name="Text 30"/>
          <p:cNvSpPr txBox="1"/>
          <p:nvPr/>
        </p:nvSpPr>
        <p:spPr>
          <a:xfrm>
            <a:off x="594360" y="1920240"/>
            <a:ext cx="19202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3–4 · GRAMMAR + SPELLING</a:t>
            </a:r>
            <a:endParaRPr lang="en-US" sz="850" dirty="0"/>
          </a:p>
        </p:txBody>
      </p:sp>
      <p:sp>
        <p:nvSpPr>
          <p:cNvPr id="34" name="Text 31"/>
          <p:cNvSpPr txBox="1"/>
          <p:nvPr/>
        </p:nvSpPr>
        <p:spPr>
          <a:xfrm>
            <a:off x="2560320" y="1874520"/>
            <a:ext cx="1395984" cy="365760"/>
          </a:xfrm>
          <a:prstGeom prst="rect">
            <a:avLst/>
          </a:prstGeom>
          <a:noFill/>
          <a:ln/>
        </p:spPr>
        <p:txBody>
          <a:bodyPr wrap="square" lIns="0" tIns="0" rIns="0" bIns="0" rtlCol="0" anchor="ctr"/>
          <a:lstStyle/>
          <a:p>
            <a:pPr rtl="1" algn="r" indent="0" marL="0">
              <a:buNone/>
            </a:pPr>
            <a:r>
              <a:rPr lang="ar-SA" altLang="en-US" sz="1500" b="1" dirty="0">
                <a:solidFill>
                  <a:srgbClr val="8A6D1E"/>
                </a:solidFill>
                <a:latin typeface="Amiri" pitchFamily="2" charset="-78"/>
                <a:ea typeface="Amiri" pitchFamily="2" charset="-78"/>
                <a:cs typeface="Amiri" pitchFamily="2" charset="-78"/>
              </a:rPr>
              <a:t>المُطَابَقَةُ · بِـ / عَلَى</a:t>
            </a:r>
            <a:endParaRPr lang="ar-SA" sz="15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مَدِينَتِي حَدِيثَةٌ · أَذْهَبُ بِالقِطَارِ · تُوجَدُ مَكْتَبَةٌ</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Agreement · transport prepositions · yūjadu / tūjadu</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The F6 high-risk points.</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common error: tatamayyazu takes bi-.</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تَتَمَيَّزُ مَدِينَتِي بِحَدَائِقِهَا.</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تَتَمَيَّزُ مَدِينَتِي إِلَى حَدَائِقِهَا.</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40</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Extended Writing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Building an 80–100-word town and transport text</a:t>
            </a:r>
            <a:endParaRPr lang="en-US" sz="19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500" b="1" dirty="0">
                <a:solidFill>
                  <a:srgbClr val="8A6D1E"/>
                </a:solidFill>
                <a:latin typeface="Amiri" pitchFamily="2" charset="-78"/>
                <a:ea typeface="Amiri" pitchFamily="2" charset="-78"/>
                <a:cs typeface="Amiri" pitchFamily="2" charset="-78"/>
              </a:rPr>
              <a:t>بِنَاءُ نَصٍّ مُتَرَابِطٍ مِنْ ٨٠ إِلَى ١٠٠ كَلِمَةٍ</a:t>
            </a:r>
            <a:endParaRPr lang="ar-SA" sz="25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Paragraph 1: place and character</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اِسْمُ المَكَانِ + صِفَاتٌ + يُوجَدُ / تُوجَدُ</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أَسْكُنُ فِي مَدِينَةٍ سَاحِلِيَّةٍ حَدِيثَةٍ.   ·   فِي مَرْكَزِهَا يُوجَدُ سُوقٌ، وَتُوجَدُ مَكْتَبَةٌ كَبِيرَةٌ.</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Paragraph 2: movement and detail</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أَذْهَبُ إِلَى... بِـ / عَلَى / مَشْيًا</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أَذْهَبُ إِلَى المَدْرَسَةِ بِالحَافِلَةِ.   ·   تَسْتَغْرِقُ الرِّحْلَةُ نِصْفَ سَاعَةٍ.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Paragraph 3: balanced judgement</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مِنْ مَزَايَا... أَنَّ / مِنْ عُيُوبِ... أَنَّ</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مِنْ مَزَايَا المَدِينَةِ أَنَّ المَوَاصَلَاتِ رَخِيصَةٌ.   ·   مِنْ عُيُوبِهَا أَنَّ الشَّوَارِعَ مُكْتَظَّةٌ.</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Review for range and accuracy</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مَعْنًى → تَنْظِيمٌ → قَوَاعِدُ → إِمْلَاءٌ</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هَلْ أَجَبْتُ عَنْ كُلِّ نُقْطَةٍ؟   ·   هَلِ اسْتَعْمَلْتُ تَرَاكِيبَ مُخْتَلِفَةً؟   ·   هَلْ رَاجَعْتُ المُطَابَقَةَ؟</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40</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Extended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structure introduces an advantage?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تَفْتَقِرُ إِلَى</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مَمْنُوعُ الدُّخُولِ</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 مَزَايَا... أَنَّ</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strongest opening?</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أَسْكُنُ فِي مَدِينَةٍ سَاحِلِيَّةٍ حَدِيثَةٍ.</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مَدِينَةٌ.</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أَنَا مَدِينَةٌ.</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gives range accurately?</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مَدِينَتِي جَيِّدَةٌ جِدًّا جِدًّا.</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تَتَمَيَّزُ مَدِينَتِي بِمَبَانِيهَا التَّارِيخِيَّةِ.</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مَدِينَتِي فِي مَدِينَتِي.</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shows a result?</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لِذٰلِكَ</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بَيْنَمَا</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أَوَّلًا</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40</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Extended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structure introduces an advantage?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تَفْتَقِرُ إِلَى</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مَمْنُوعُ الدُّخُولِ</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مِنْ مَزَايَا... أَنَّ</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the advantage frame.</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strongest opening?</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أَسْكُنُ فِي مَدِينَةٍ سَاحِلِيَّةٍ حَدِيثَةٍ.</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مَدِينَةٌ.</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أَنَا مَدِينَةٌ.</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correct sentence locates and characterises the town.</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gives range accurately?</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مَدِينَتِي جَيِّدَةٌ جِدًّا جِدًّا.</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تَتَمَيَّزُ مَدِينَتِي بِمَبَانِيهَا التَّارِيخِيَّةِ.</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مَدِينَتِي فِي مَدِينَتِي.</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first uses an accurate high-value structure.</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shows a result?</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لِذٰلِكَ</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بَيْنَمَا</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أَوَّلًا</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لِذٰلِكَ</a:t>
            </a:r>
            <a:pPr algn="l" indent="0" marL="0">
              <a:buNone/>
            </a:pPr>
            <a:r>
              <a:rPr lang="en-US" sz="1050" i="1" dirty="0">
                <a:solidFill>
                  <a:srgbClr val="8A6D1E"/>
                </a:solidFill>
                <a:latin typeface="Calibri" pitchFamily="34" charset="0"/>
                <a:cs typeface="Amiri" pitchFamily="2" charset="-78"/>
              </a:rPr>
              <a:t> means therefore.</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40</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Watch me turn a plan into a paragraph</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Plan · notes</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1B3B6F"/>
                </a:solidFill>
                <a:latin typeface="Amiri" pitchFamily="2" charset="-78"/>
                <a:ea typeface="Amiri" pitchFamily="2" charset="-78"/>
                <a:cs typeface="Amiri" pitchFamily="2" charset="-78"/>
              </a:rPr>
              <a:t>مَدِينَةٌ حَدِيثَةٌ · حَدَائِقُ · مَكْتَبَةٌ</a:t>
            </a:r>
            <a:endParaRPr lang="ar-SA" sz="1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Notes, not sentences.</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Draft · sentence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أَسْكُنُ فِي مَدِينَةٍ حَدِيثَةٍ، وَفِيهَا حَدَائِقُ وَمَكْتَبَةٌ.</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simple first version.</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Improve · range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450" b="1" dirty="0">
                <a:solidFill>
                  <a:srgbClr val="1B3B6F"/>
                </a:solidFill>
                <a:latin typeface="Amiri" pitchFamily="2" charset="-78"/>
                <a:ea typeface="Amiri" pitchFamily="2" charset="-78"/>
                <a:cs typeface="Amiri" pitchFamily="2" charset="-78"/>
              </a:rPr>
              <a:t>أَسْكُنُ فِي مَدِينَةٍ حَدِيثَةٍ </a:t>
            </a:r>
            <a:pPr rtl="1" algn="ctr" indent="0" marL="0">
              <a:lnSpc>
                <a:spcPct val="120000"/>
              </a:lnSpc>
              <a:buNone/>
            </a:pPr>
            <a:r>
              <a:rPr lang="ar-SA" altLang="en-US" sz="1450" b="1" dirty="0">
                <a:solidFill>
                  <a:srgbClr val="1D5FBF"/>
                </a:solidFill>
                <a:latin typeface="Amiri" pitchFamily="2" charset="-78"/>
                <a:ea typeface="Amiri" pitchFamily="2" charset="-78"/>
                <a:cs typeface="Amiri" pitchFamily="2" charset="-78"/>
              </a:rPr>
              <a:t>تَتَمَيَّزُ</a:t>
            </a:r>
            <a:pPr rtl="1" algn="ctr" indent="0" marL="0">
              <a:lnSpc>
                <a:spcPct val="120000"/>
              </a:lnSpc>
              <a:buNone/>
            </a:pPr>
            <a:r>
              <a:rPr lang="ar-SA" altLang="en-US" sz="1450" b="1" dirty="0">
                <a:solidFill>
                  <a:srgbClr val="1B3B6F"/>
                </a:solidFill>
                <a:latin typeface="Amiri" pitchFamily="2" charset="-78"/>
                <a:ea typeface="Amiri" pitchFamily="2" charset="-78"/>
                <a:cs typeface="Amiri" pitchFamily="2" charset="-78"/>
              </a:rPr>
              <a:t> بِحَدَائِقِهَا، وَ</a:t>
            </a:r>
            <a:pPr rtl="1" algn="ctr" indent="0" marL="0">
              <a:lnSpc>
                <a:spcPct val="120000"/>
              </a:lnSpc>
              <a:buNone/>
            </a:pPr>
            <a:r>
              <a:rPr lang="ar-SA" altLang="en-US" sz="1450" b="1" dirty="0">
                <a:solidFill>
                  <a:srgbClr val="1D5FBF"/>
                </a:solidFill>
                <a:latin typeface="Amiri" pitchFamily="2" charset="-78"/>
                <a:ea typeface="Amiri" pitchFamily="2" charset="-78"/>
                <a:cs typeface="Amiri" pitchFamily="2" charset="-78"/>
              </a:rPr>
              <a:t>تُوجَدُ</a:t>
            </a:r>
            <a:pPr rtl="1" algn="ctr" indent="0" marL="0">
              <a:lnSpc>
                <a:spcPct val="120000"/>
              </a:lnSpc>
              <a:buNone/>
            </a:pPr>
            <a:r>
              <a:rPr lang="ar-SA" altLang="en-US" sz="1450" b="1" dirty="0">
                <a:solidFill>
                  <a:srgbClr val="1B3B6F"/>
                </a:solidFill>
                <a:latin typeface="Amiri" pitchFamily="2" charset="-78"/>
                <a:ea typeface="Amiri" pitchFamily="2" charset="-78"/>
                <a:cs typeface="Amiri" pitchFamily="2" charset="-78"/>
              </a:rPr>
              <a:t> فِيهَا مَكْتَبَةٌ كَبِيرَةٌ.</a:t>
            </a:r>
            <a:endParaRPr lang="ar-SA" sz="14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two F6 structures.</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Check · accuracy</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مَدِينَةٌ حَدِيثَةٌ · تُوجَدُ مَكْتَبَةٌ</a:t>
            </a:r>
            <a:endParaRPr lang="ar-SA" sz="20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Feminine agreement ticked.</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F6 STRUCTURE</a:t>
            </a:r>
            <a:endParaRPr lang="en-US" sz="800" dirty="0"/>
          </a:p>
        </p:txBody>
      </p:sp>
      <p:sp>
        <p:nvSpPr>
          <p:cNvPr id="47" name="Text 43"/>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أَسْكُنُ فِي مَدِينَةٍ مُتَوَسِّطَةٍ وَحَدِيثَةٍ.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تَتَمَيَّزُ</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بِحَدَائِقِهَا وَمَرْكَزِهَا التِّجَارِيِّ، وَ</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تُوجَدُ</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فِيهَا مَكْتَبَةٌ كَبِيرَةٌ وَمَحَطَّةُ قِطَارٍ. أَذْهَبُ إِلَى المَدْرَسَةِ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بِالحَافِلَةِ</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وَ</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تَسْتَغْرِقُ الرِّحْلَةُ</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خَمْسًا وَعِشْرِينَ دَقِيقَةً. أُفَضِّلُ الحَافِلَةَ لِأَنَّهَا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أَرْخَصُ مِنْ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سَيَّارَةِ الأُجْرَةِ.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مِنْ مَزَايَا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المَدِينَةِ أَنَّ الخِدْمَاتِ قَرِيبَةٌ، وَ</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مِنْ عُيُوبِهَا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أَنَّ الشَّوَارِعَ مُكْتَظَّةٌ. بِصِفَةٍ عَامَّةٍ،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أُوصِي</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بِزِيَارَتِهَا لِأَنَّهَا مُمْتِعَةٌ وَآمِنَةٌ.</a:t>
            </a:r>
            <a:endParaRPr lang="ar-SA" sz="1400" dirty="0"/>
          </a:p>
        </p:txBody>
      </p:sp>
      <p:sp>
        <p:nvSpPr>
          <p:cNvPr id="48" name="Text 44"/>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900" i="1" dirty="0">
                <a:solidFill>
                  <a:srgbClr val="5A6472"/>
                </a:solidFill>
                <a:latin typeface="Calibri" pitchFamily="34" charset="0"/>
                <a:cs typeface="Amiri" pitchFamily="2" charset="-78"/>
              </a:rPr>
              <a:t>I live in a medium-sized, modern city. It is known for its parks and shopping centre, and it has a big library and a train station. I go to school by bus, and the journey takes twenty-five minutes. I prefer the bus because it is cheaper than a taxi. One advantage of the city is that services are close; one disadvantage is that the streets are crowded. Overall, I recommend visiting it because it is enjoyable and safe.</a:t>
            </a:r>
            <a:endParaRPr lang="en-US" sz="900" dirty="0"/>
          </a:p>
        </p:txBody>
      </p:sp>
      <p:sp>
        <p:nvSpPr>
          <p:cNvPr id="49"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40</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أَسْكُنُ فِي مَدِينَةٍ حَدِيثَةٍ وَنَشِيطَةٍ.</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live in a modern, lively city.</a:t>
            </a:r>
            <a:endParaRPr lang="en-US" sz="1250" dirty="0"/>
          </a:p>
          <a:p>
            <a:pPr indent="0" marL="0">
              <a:buNone/>
            </a:pPr>
            <a:r>
              <a:rPr lang="en-US" sz="1050" i="1" dirty="0">
                <a:solidFill>
                  <a:srgbClr val="8A6D1E"/>
                </a:solidFill>
                <a:latin typeface="Calibri" pitchFamily="34" charset="0"/>
                <a:cs typeface="Amiri" pitchFamily="2" charset="-78"/>
              </a:rPr>
              <a:t>Open with place and character.</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أَذْهَبُ إِلَى المَدْرَسَةِ بِالمِتْرُو.</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go to school by metro.</a:t>
            </a:r>
            <a:endParaRPr lang="en-US" sz="1250" dirty="0"/>
          </a:p>
          <a:p>
            <a:pPr indent="0" marL="0">
              <a:buNone/>
            </a:pPr>
            <a:r>
              <a:rPr lang="en-US" sz="1050" i="1" dirty="0">
                <a:solidFill>
                  <a:srgbClr val="8A6D1E"/>
                </a:solidFill>
                <a:latin typeface="Calibri" pitchFamily="34" charset="0"/>
                <a:cs typeface="Amiri" pitchFamily="2" charset="-78"/>
              </a:rPr>
              <a:t>Use the correct journey pattern.</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مِنْ مَزَايَاهَا أَنَّ المَوَاصَلَاتِ رَخِيصَةٌ.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One advantage is cheap transport.</a:t>
            </a:r>
            <a:endParaRPr lang="en-US" sz="1250" dirty="0"/>
          </a:p>
          <a:p>
            <a:pPr indent="0" marL="0">
              <a:buNone/>
            </a:pPr>
            <a:r>
              <a:rPr lang="en-US" sz="1050" i="1" dirty="0">
                <a:solidFill>
                  <a:srgbClr val="8A6D1E"/>
                </a:solidFill>
                <a:latin typeface="Calibri" pitchFamily="34" charset="0"/>
                <a:cs typeface="Amiri" pitchFamily="2" charset="-78"/>
              </a:rPr>
              <a:t>Develop a balanced argument.</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بِصِفَةٍ عَامَّةٍ أُوصِي بِزِيَارَتِهَا.</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Overall, I recommend visiting it.</a:t>
            </a:r>
            <a:endParaRPr lang="en-US" sz="1250" dirty="0"/>
          </a:p>
          <a:p>
            <a:pPr indent="0" marL="0">
              <a:buNone/>
            </a:pPr>
            <a:r>
              <a:rPr lang="en-US" sz="1050" i="1" dirty="0">
                <a:solidFill>
                  <a:srgbClr val="8A6D1E"/>
                </a:solidFill>
                <a:latin typeface="Calibri" pitchFamily="34" charset="0"/>
                <a:cs typeface="Amiri" pitchFamily="2" charset="-78"/>
              </a:rPr>
              <a:t>Finish with a judgement.</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40</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Extended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paragraph?</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مَدِينَتِي سَاحِلِيَّةٌ.</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تُوجَدُ مَكْتَبَةٌ كَبِيرَةٌ.</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أَذْهَبُ بِالحَافِلَةِ.</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تَسْتَغْرِقُ الرِّحْلَةُ نِصْفَ سَاعَةٍ.</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مَزَايَاهَا...</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عُيُوبِهَا...</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أُوصِي بِزِيَارَتِهَا.</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المَطَارُ خَارِجَ المَدِينَةِ.</a:t>
            </a:r>
            <a:endParaRPr lang="ar-SA" sz="1800" dirty="0"/>
          </a:p>
        </p:txBody>
      </p:sp>
      <p:sp>
        <p:nvSpPr>
          <p:cNvPr id="31" name="Shape 28"/>
          <p:cNvSpPr/>
          <p:nvPr/>
        </p:nvSpPr>
        <p:spPr>
          <a:xfrm>
            <a:off x="8095488" y="3017520"/>
            <a:ext cx="3636264"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8232648" y="3127248"/>
            <a:ext cx="3361944"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8232648" y="3127248"/>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1 · ١ · town and places</a:t>
            </a:r>
            <a:endParaRPr lang="en-US" sz="950" dirty="0"/>
          </a:p>
        </p:txBody>
      </p:sp>
      <p:sp>
        <p:nvSpPr>
          <p:cNvPr id="34" name="Shape 31"/>
          <p:cNvSpPr/>
          <p:nvPr/>
        </p:nvSpPr>
        <p:spPr>
          <a:xfrm>
            <a:off x="4276344" y="3017520"/>
            <a:ext cx="3636264"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4413504" y="3127248"/>
            <a:ext cx="3361944"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4413504" y="3127248"/>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2 · ٢ · transport and journey</a:t>
            </a:r>
            <a:endParaRPr lang="en-US" sz="950" dirty="0"/>
          </a:p>
        </p:txBody>
      </p:sp>
      <p:sp>
        <p:nvSpPr>
          <p:cNvPr id="37" name="Shape 34"/>
          <p:cNvSpPr/>
          <p:nvPr/>
        </p:nvSpPr>
        <p:spPr>
          <a:xfrm>
            <a:off x="457200" y="3017520"/>
            <a:ext cx="3636264" cy="3291840"/>
          </a:xfrm>
          <a:prstGeom prst="roundRect">
            <a:avLst>
              <a:gd name="adj" fmla="val 2222"/>
            </a:avLst>
          </a:prstGeom>
          <a:solidFill>
            <a:srgbClr val="EEF3FA"/>
          </a:solidFill>
          <a:ln w="9525">
            <a:solidFill>
              <a:srgbClr val="C9D6EA"/>
            </a:solidFill>
            <a:prstDash val="solid"/>
          </a:ln>
        </p:spPr>
      </p:sp>
      <p:sp>
        <p:nvSpPr>
          <p:cNvPr id="38" name="Shape 35"/>
          <p:cNvSpPr/>
          <p:nvPr/>
        </p:nvSpPr>
        <p:spPr>
          <a:xfrm>
            <a:off x="594360" y="3127248"/>
            <a:ext cx="3361944" cy="310896"/>
          </a:xfrm>
          <a:prstGeom prst="roundRect">
            <a:avLst>
              <a:gd name="adj" fmla="val 50000"/>
            </a:avLst>
          </a:prstGeom>
          <a:solidFill>
            <a:srgbClr val="2F6FB0"/>
          </a:solidFill>
          <a:ln w="12700">
            <a:solidFill>
              <a:srgbClr val="2F6FB0"/>
            </a:solidFill>
            <a:prstDash val="solid"/>
          </a:ln>
        </p:spPr>
      </p:sp>
      <p:sp>
        <p:nvSpPr>
          <p:cNvPr id="39" name="Text 36"/>
          <p:cNvSpPr txBox="1"/>
          <p:nvPr/>
        </p:nvSpPr>
        <p:spPr>
          <a:xfrm>
            <a:off x="594360" y="3127248"/>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3 · ٣ · judgement and recommendation</a:t>
            </a:r>
            <a:endParaRPr lang="en-US" sz="9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40</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Extended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1 · ١ · town and places</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مَدِينَتِي سَاحِلِيَّةٌ.</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تُوجَدُ مَكْتَبَةٌ كَبِيرَةٌ.</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المَطَارُ خَارِجَ المَدِينَةِ.</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2 · ٢ · transport and journey</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أَذْهَبُ بِالحَافِلَةِ.</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تَسْتَغْرِقُ الرِّحْلَةُ نِصْفَ سَاعَةٍ.</a:t>
            </a:r>
            <a:endParaRPr lang="ar-SA" sz="1800" dirty="0"/>
          </a:p>
        </p:txBody>
      </p:sp>
      <p:sp>
        <p:nvSpPr>
          <p:cNvPr id="31" name="Shape 28"/>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2" name="Shape 29"/>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3 · ٣ · judgement and recommendation</a:t>
            </a:r>
            <a:endParaRPr lang="en-US" sz="950" dirty="0"/>
          </a:p>
        </p:txBody>
      </p:sp>
      <p:sp>
        <p:nvSpPr>
          <p:cNvPr id="34" name="Shape 31"/>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5" name="Text 32"/>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مَزَايَاهَا...</a:t>
            </a:r>
            <a:endParaRPr lang="ar-SA" sz="1800" dirty="0"/>
          </a:p>
        </p:txBody>
      </p:sp>
      <p:sp>
        <p:nvSpPr>
          <p:cNvPr id="36" name="Shape 33"/>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عُيُوبِهَا...</a:t>
            </a:r>
            <a:endParaRPr lang="ar-SA" sz="1800" dirty="0"/>
          </a:p>
        </p:txBody>
      </p:sp>
      <p:sp>
        <p:nvSpPr>
          <p:cNvPr id="38" name="Shape 35"/>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أُوصِي بِزِيَارَتِهَا.</a:t>
            </a:r>
            <a:endParaRPr lang="ar-SA" sz="18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40</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1, 5,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a:t>
            </a:r>
            <a:endParaRPr lang="en-US" sz="850" dirty="0"/>
          </a:p>
        </p:txBody>
      </p:sp>
      <p:sp>
        <p:nvSpPr>
          <p:cNvPr id="17" name="Shape 14"/>
          <p:cNvSpPr/>
          <p:nvPr/>
        </p:nvSpPr>
        <p:spPr>
          <a:xfrm>
            <a:off x="457200"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paragraph should describe how you travel?</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paragraph 1</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title only</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paragraph 2</a:t>
            </a:r>
            <a:endParaRPr lang="en-US" sz="1250" dirty="0"/>
          </a:p>
        </p:txBody>
      </p:sp>
      <p:sp>
        <p:nvSpPr>
          <p:cNvPr id="30" name="Shape 27"/>
          <p:cNvSpPr/>
          <p:nvPr/>
        </p:nvSpPr>
        <p:spPr>
          <a:xfrm>
            <a:off x="4276344"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should be checked first?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decorative colour</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task completion</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longest word</a:t>
            </a:r>
            <a:endParaRPr lang="en-US" sz="1250" dirty="0"/>
          </a:p>
        </p:txBody>
      </p:sp>
      <p:sp>
        <p:nvSpPr>
          <p:cNvPr id="43" name="Shape 40"/>
          <p:cNvSpPr/>
          <p:nvPr/>
        </p:nvSpPr>
        <p:spPr>
          <a:xfrm>
            <a:off x="8095488"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conclusion is balanced?</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150" dirty="0">
                <a:solidFill>
                  <a:srgbClr val="1F2A37"/>
                </a:solidFill>
                <a:latin typeface="Amiri" pitchFamily="2" charset="-78"/>
                <a:ea typeface="Amiri" pitchFamily="2" charset="-78"/>
                <a:cs typeface="Amiri" pitchFamily="2" charset="-78"/>
              </a:rPr>
              <a:t>هِيَ جَيِّدَةٌ.</a:t>
            </a:r>
            <a:endParaRPr lang="ar-SA" sz="11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150" dirty="0">
                <a:solidFill>
                  <a:srgbClr val="1F2A37"/>
                </a:solidFill>
                <a:latin typeface="Amiri" pitchFamily="2" charset="-78"/>
                <a:ea typeface="Amiri" pitchFamily="2" charset="-78"/>
                <a:cs typeface="Amiri" pitchFamily="2" charset="-78"/>
              </a:rPr>
              <a:t>بِصِفَةٍ عَامَّةٍ، أُوصِي بِزِيَارَةِ المَدِينَةِ بِالرَّغْمِ مِنَ الاِزْدِحَامِ.</a:t>
            </a:r>
            <a:endParaRPr lang="ar-SA" sz="11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150" dirty="0">
                <a:solidFill>
                  <a:srgbClr val="1F2A37"/>
                </a:solidFill>
                <a:latin typeface="Amiri" pitchFamily="2" charset="-78"/>
                <a:ea typeface="Amiri" pitchFamily="2" charset="-78"/>
                <a:cs typeface="Amiri" pitchFamily="2" charset="-78"/>
              </a:rPr>
              <a:t>أَوَّلًا مَدِينَةٌ.</a:t>
            </a:r>
            <a:endParaRPr lang="ar-SA"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40</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a:t>
            </a:r>
            <a:endParaRPr lang="en-US" sz="850" dirty="0"/>
          </a:p>
        </p:txBody>
      </p:sp>
      <p:sp>
        <p:nvSpPr>
          <p:cNvPr id="17" name="Shape 14"/>
          <p:cNvSpPr/>
          <p:nvPr/>
        </p:nvSpPr>
        <p:spPr>
          <a:xfrm>
            <a:off x="457200"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paragraph should describe how you travel?</a:t>
            </a:r>
            <a:endParaRPr lang="en-US" sz="1250" dirty="0"/>
          </a:p>
        </p:txBody>
      </p:sp>
      <p:sp>
        <p:nvSpPr>
          <p:cNvPr id="21" name="Shape 18"/>
          <p:cNvSpPr/>
          <p:nvPr/>
        </p:nvSpPr>
        <p:spPr>
          <a:xfrm>
            <a:off x="640080" y="2532888"/>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paragraph 1</a:t>
            </a:r>
            <a:endParaRPr lang="en-US" sz="1250" dirty="0"/>
          </a:p>
        </p:txBody>
      </p:sp>
      <p:sp>
        <p:nvSpPr>
          <p:cNvPr id="24" name="Shape 21"/>
          <p:cNvSpPr/>
          <p:nvPr/>
        </p:nvSpPr>
        <p:spPr>
          <a:xfrm>
            <a:off x="640080" y="2990088"/>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title only</a:t>
            </a:r>
            <a:endParaRPr lang="en-US" sz="1250" dirty="0"/>
          </a:p>
        </p:txBody>
      </p:sp>
      <p:sp>
        <p:nvSpPr>
          <p:cNvPr id="27" name="Shape 24"/>
          <p:cNvSpPr/>
          <p:nvPr/>
        </p:nvSpPr>
        <p:spPr>
          <a:xfrm>
            <a:off x="548640" y="3410712"/>
            <a:ext cx="3453384"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44728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paragraph 2</a:t>
            </a:r>
            <a:endParaRPr lang="en-US" sz="1250" dirty="0"/>
          </a:p>
        </p:txBody>
      </p:sp>
      <p:sp>
        <p:nvSpPr>
          <p:cNvPr id="31" name="Text 28"/>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middle paragraph develops transport and journey detail.</a:t>
            </a:r>
            <a:endParaRPr lang="en-US" sz="1050" dirty="0"/>
          </a:p>
        </p:txBody>
      </p:sp>
      <p:sp>
        <p:nvSpPr>
          <p:cNvPr id="32" name="Shape 29"/>
          <p:cNvSpPr/>
          <p:nvPr/>
        </p:nvSpPr>
        <p:spPr>
          <a:xfrm>
            <a:off x="4276344"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should be checked first?</a:t>
            </a:r>
            <a:endParaRPr lang="en-US" sz="1250" dirty="0"/>
          </a:p>
        </p:txBody>
      </p:sp>
      <p:sp>
        <p:nvSpPr>
          <p:cNvPr id="36" name="Shape 33"/>
          <p:cNvSpPr/>
          <p:nvPr/>
        </p:nvSpPr>
        <p:spPr>
          <a:xfrm>
            <a:off x="4459224" y="2532888"/>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decorative colour</a:t>
            </a:r>
            <a:endParaRPr lang="en-US" sz="1250" dirty="0"/>
          </a:p>
        </p:txBody>
      </p:sp>
      <p:sp>
        <p:nvSpPr>
          <p:cNvPr id="39" name="Shape 36"/>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4459224" y="2990088"/>
            <a:ext cx="256032" cy="256032"/>
          </a:xfrm>
          <a:prstGeom prst="ellipse">
            <a:avLst/>
          </a:prstGeom>
          <a:solidFill>
            <a:srgbClr val="2E8B57"/>
          </a:solidFill>
          <a:ln w="12700">
            <a:solidFill>
              <a:srgbClr val="2E8B57"/>
            </a:solidFill>
            <a:prstDash val="solid"/>
          </a:ln>
        </p:spPr>
      </p:sp>
      <p:sp>
        <p:nvSpPr>
          <p:cNvPr id="41" name="Text 38"/>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task completion</a:t>
            </a:r>
            <a:endParaRPr lang="en-US" sz="1250" dirty="0"/>
          </a:p>
        </p:txBody>
      </p:sp>
      <p:sp>
        <p:nvSpPr>
          <p:cNvPr id="43" name="Shape 40"/>
          <p:cNvSpPr/>
          <p:nvPr/>
        </p:nvSpPr>
        <p:spPr>
          <a:xfrm>
            <a:off x="4459224" y="344728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longest word</a:t>
            </a:r>
            <a:endParaRPr lang="en-US" sz="1250" dirty="0"/>
          </a:p>
        </p:txBody>
      </p:sp>
      <p:sp>
        <p:nvSpPr>
          <p:cNvPr id="46" name="Text 43"/>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Content must answer every requested point.</a:t>
            </a:r>
            <a:endParaRPr lang="en-US" sz="1050" dirty="0"/>
          </a:p>
        </p:txBody>
      </p:sp>
      <p:sp>
        <p:nvSpPr>
          <p:cNvPr id="47" name="Shape 44"/>
          <p:cNvSpPr/>
          <p:nvPr/>
        </p:nvSpPr>
        <p:spPr>
          <a:xfrm>
            <a:off x="8095488"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conclusion is balanced?</a:t>
            </a:r>
            <a:endParaRPr lang="en-US" sz="1250" dirty="0"/>
          </a:p>
        </p:txBody>
      </p:sp>
      <p:sp>
        <p:nvSpPr>
          <p:cNvPr id="51" name="Shape 48"/>
          <p:cNvSpPr/>
          <p:nvPr/>
        </p:nvSpPr>
        <p:spPr>
          <a:xfrm>
            <a:off x="8278368" y="2532888"/>
            <a:ext cx="256032" cy="256032"/>
          </a:xfrm>
          <a:prstGeom prst="ellipse">
            <a:avLst/>
          </a:prstGeom>
          <a:solidFill>
            <a:srgbClr val="C9CED6"/>
          </a:solidFill>
          <a:ln w="12700">
            <a:solidFill>
              <a:srgbClr val="C9CED6"/>
            </a:solidFill>
            <a:prstDash val="solid"/>
          </a:ln>
        </p:spPr>
      </p:sp>
      <p:sp>
        <p:nvSpPr>
          <p:cNvPr id="52" name="Text 49"/>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150" dirty="0">
                <a:solidFill>
                  <a:srgbClr val="9AA1AB"/>
                </a:solidFill>
                <a:latin typeface="Amiri" pitchFamily="2" charset="-78"/>
                <a:ea typeface="Amiri" pitchFamily="2" charset="-78"/>
                <a:cs typeface="Amiri" pitchFamily="2" charset="-78"/>
              </a:rPr>
              <a:t>هِيَ جَيِّدَةٌ.</a:t>
            </a:r>
            <a:endParaRPr lang="ar-SA" sz="1150" dirty="0"/>
          </a:p>
        </p:txBody>
      </p:sp>
      <p:sp>
        <p:nvSpPr>
          <p:cNvPr id="54" name="Shape 51"/>
          <p:cNvSpPr/>
          <p:nvPr/>
        </p:nvSpPr>
        <p:spPr>
          <a:xfrm>
            <a:off x="8186928" y="2953512"/>
            <a:ext cx="3453384"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8278368" y="2990088"/>
            <a:ext cx="256032" cy="256032"/>
          </a:xfrm>
          <a:prstGeom prst="ellipse">
            <a:avLst/>
          </a:prstGeom>
          <a:solidFill>
            <a:srgbClr val="2E8B57"/>
          </a:solidFill>
          <a:ln w="12700">
            <a:solidFill>
              <a:srgbClr val="2E8B57"/>
            </a:solidFill>
            <a:prstDash val="solid"/>
          </a:ln>
        </p:spPr>
      </p:sp>
      <p:sp>
        <p:nvSpPr>
          <p:cNvPr id="56" name="Text 5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150" b="1" dirty="0">
                <a:solidFill>
                  <a:srgbClr val="1F2A37"/>
                </a:solidFill>
                <a:latin typeface="Amiri" pitchFamily="2" charset="-78"/>
                <a:ea typeface="Amiri" pitchFamily="2" charset="-78"/>
                <a:cs typeface="Amiri" pitchFamily="2" charset="-78"/>
              </a:rPr>
              <a:t>بِصِفَةٍ عَامَّةٍ، أُوصِي بِزِيَارَةِ المَدِينَةِ بِالرَّغْمِ مِنَ الاِزْدِحَامِ.</a:t>
            </a:r>
            <a:endParaRPr lang="ar-SA" sz="1150" dirty="0"/>
          </a:p>
        </p:txBody>
      </p:sp>
      <p:sp>
        <p:nvSpPr>
          <p:cNvPr id="58" name="Shape 55"/>
          <p:cNvSpPr/>
          <p:nvPr/>
        </p:nvSpPr>
        <p:spPr>
          <a:xfrm>
            <a:off x="8278368" y="344728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150" dirty="0">
                <a:solidFill>
                  <a:srgbClr val="9AA1AB"/>
                </a:solidFill>
                <a:latin typeface="Amiri" pitchFamily="2" charset="-78"/>
                <a:ea typeface="Amiri" pitchFamily="2" charset="-78"/>
                <a:cs typeface="Amiri" pitchFamily="2" charset="-78"/>
              </a:rPr>
              <a:t>أَوَّلًا مَدِينَةٌ.</a:t>
            </a:r>
            <a:endParaRPr lang="ar-SA" sz="1150" dirty="0"/>
          </a:p>
        </p:txBody>
      </p:sp>
      <p:sp>
        <p:nvSpPr>
          <p:cNvPr id="61" name="Text 58"/>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gives an overall judgement while acknowledging a limitation.</a:t>
            </a:r>
            <a:endParaRPr lang="en-US" sz="1050" dirty="0"/>
          </a:p>
        </p:txBody>
      </p:sp>
      <p:sp>
        <p:nvSpPr>
          <p:cNvPr id="62" name="Text 5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40</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Extended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تَتَمَيَّزُ مَدِينَتِي إِلَى حَدَائِقِهَا.</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preposition after tatamayyazu?</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أَذْهَبُ عَلَى الحَافِلَةِ.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 bus: by or on?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مِنْ عُيُوبِ مَدِينَتِي الشَّوَارِعُ مُكْتَظَّةٌ.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is missing before the clause?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40</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تَتَمَيَّزُ مَدِينَتِي إِلَى حَدَائِقِهَا.</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تَتَمَيَّزُ مَدِينَتِي بِحَدَائِقِهَا.</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تَتَمَيَّزُ</a:t>
            </a:r>
            <a:pPr algn="l" indent="0" marL="0">
              <a:buNone/>
            </a:pPr>
            <a:r>
              <a:rPr lang="en-US" sz="1150" b="1" dirty="0">
                <a:solidFill>
                  <a:srgbClr val="1B3B6F"/>
                </a:solidFill>
                <a:latin typeface="Calibri" pitchFamily="34" charset="0"/>
                <a:cs typeface="Amiri" pitchFamily="2" charset="-78"/>
              </a:rPr>
              <a:t> takes </a:t>
            </a:r>
            <a:pPr algn="l" indent="0" marL="0">
              <a:buNone/>
            </a:pPr>
            <a:r>
              <a:rPr lang="ar-SA" altLang="en-US" sz="1500" b="1" dirty="0">
                <a:solidFill>
                  <a:srgbClr val="1B3B6F"/>
                </a:solidFill>
                <a:latin typeface="Amiri" pitchFamily="2" charset="-78"/>
                <a:ea typeface="Amiri" pitchFamily="2" charset="-78"/>
                <a:cs typeface="Amiri" pitchFamily="2" charset="-78"/>
              </a:rPr>
              <a:t>بِـ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أَذْهَبُ عَلَى الحَافِلَةِ.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أَذْهَبُ بِالحَافِلَةِ.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a:t>
            </a:r>
            <a:pPr algn="l" indent="0" marL="0">
              <a:buNone/>
            </a:pPr>
            <a:r>
              <a:rPr lang="ar-SA" altLang="en-US" sz="1500" b="1" dirty="0">
                <a:solidFill>
                  <a:srgbClr val="1B3B6F"/>
                </a:solidFill>
                <a:latin typeface="Amiri" pitchFamily="2" charset="-78"/>
                <a:ea typeface="Amiri" pitchFamily="2" charset="-78"/>
                <a:cs typeface="Amiri" pitchFamily="2" charset="-78"/>
              </a:rPr>
              <a:t>بِـ</a:t>
            </a:r>
            <a:pPr algn="l" indent="0" marL="0">
              <a:buNone/>
            </a:pPr>
            <a:r>
              <a:rPr lang="en-US" sz="1150" b="1" dirty="0">
                <a:solidFill>
                  <a:srgbClr val="1B3B6F"/>
                </a:solidFill>
                <a:latin typeface="Calibri" pitchFamily="34" charset="0"/>
                <a:cs typeface="Amiri" pitchFamily="2" charset="-78"/>
              </a:rPr>
              <a:t> with bus travel.</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مِنْ عُيُوبِ مَدِينَتِي الشَّوَارِعُ مُكْتَظَّةٌ.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مِنْ عُيُوبِ مَدِينَتِي أَنَّ الشَّوَارِعَ مُكْتَظَّةٌ.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Add </a:t>
            </a:r>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before the clause.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40</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Extended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Extract a writing plan from a town description</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city is described?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Salalah</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Cairo</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London</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adjectives describe it?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large and noisy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old and dangerous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beautiful and green</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speaker go to school?</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train</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foot</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bus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does the journey take?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20 minutes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10 minutes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half an hour</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disadvantage is given?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transport is expensive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some places are far</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there are no markets</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and fill the three-box plan:</a:t>
            </a:r>
            <a:endParaRPr lang="en-US" sz="1250" dirty="0"/>
          </a:p>
          <a:p>
            <a:pPr algn="l" indent="0" marL="0">
              <a:buNone/>
            </a:pPr>
            <a:r>
              <a:rPr lang="en-US" sz="1250" dirty="0">
                <a:solidFill>
                  <a:srgbClr val="1E6B52"/>
                </a:solidFill>
                <a:latin typeface="Calibri" pitchFamily="34" charset="0"/>
                <a:cs typeface="Amiri" pitchFamily="2" charset="-78"/>
              </a:rPr>
              <a:t>town · transport · judgement.</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40</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أَسْكُنُ فِي مَدِينَةِ صَلَالَةَ، وَهِيَ مَدِينَةٌ جَمِيلَةٌ وَخَضْرَاءُ.</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live in the city of Salalah, and it is a beautiful, green city.</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المَرْكَزِ تُوجَدُ أَسْوَاقٌ وَمَطَاعِمُ، وَتَتَمَيَّزُ المَدِينَةُ بِمَنَاظِرِهَا الطَّبِيعِيَّةِ.</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centre there are markets and restaurants, and the city is known for its natural scenery.</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أَذْهَبُ إِلَى المَدْرَسَةِ بِالحَافِلَةِ، وَتَسْتَغْرِقُ الرِّحْلَةُ عِشْرِينَ دَقِيقَةً.</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go to school by bus, and the journey takes twenty minutes.</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مِنْ مَزَايَا المَدِينَةِ أَنَّهَا هَادِئَةٌ، وَلَكِنْ مِنْ عُيُوبِهَا أَنَّ بَعْضَ الأَمَاكِنِ بَعِيدَةٌ.</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advantage is that it is quiet, but one disadvantage is that some places are far.</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بِصِفَةٍ عَامَّةٍ، أُحِبُّهَا كَثِيرًا.</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Overall, I love it very much.</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40</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city is described?</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Salalah</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Cairo</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London</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speaker says </a:t>
            </a:r>
            <a:pPr algn="l" indent="0" marL="0">
              <a:buNone/>
            </a:pPr>
            <a:r>
              <a:rPr lang="ar-SA" altLang="en-US" sz="1350" dirty="0">
                <a:solidFill>
                  <a:srgbClr val="8A6D1E"/>
                </a:solidFill>
                <a:latin typeface="Amiri" pitchFamily="2" charset="-78"/>
                <a:ea typeface="Amiri" pitchFamily="2" charset="-78"/>
                <a:cs typeface="Amiri" pitchFamily="2" charset="-78"/>
              </a:rPr>
              <a:t>مَدِينَةِ صَلَالَةَ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adjectives describe it?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large and noisy</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old and dangerous</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beautiful and green</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جَمِيلَةٌ وَخَضْرَاءُ.</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speaker go to school?</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by train</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 foot</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by bus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بِالحَافِلَةِ.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does the journey take?</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20 minutes</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10 minutes</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half an hour</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عِشْرِينَ دَقِيقَةً.</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disadvantage is given?</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transport is expensive</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some places are far</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there are no markets</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بَعْضَ الأَمَاكِنِ بَعِيدَةٌ.</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and fill the three-box plan:</a:t>
            </a:r>
            <a:endParaRPr lang="en-US" sz="1250" dirty="0"/>
          </a:p>
          <a:p>
            <a:pPr algn="l" indent="0" marL="0">
              <a:buNone/>
            </a:pPr>
            <a:r>
              <a:rPr lang="en-US" sz="1250" dirty="0">
                <a:solidFill>
                  <a:srgbClr val="1E6B52"/>
                </a:solidFill>
                <a:latin typeface="Calibri" pitchFamily="34" charset="0"/>
                <a:cs typeface="Amiri" pitchFamily="2" charset="-78"/>
              </a:rPr>
              <a:t>town · transport · judgement.</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40</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Extended Writing</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Oral rehearsal before drafting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قَدِّمْ مَدِينَتَكَ فِي جُمْلَتَيْنِ.</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اِشْرَحْ كَيْفَ تَتَنَقَّلُ.</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اُذْكُرْ مِيزَةً وَعَيْبًا.</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اِخْتِمْ بِتَوْصِيَةٍ.</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أَسْكُنُ فِي … · تُوجَدُ فِيهَا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أَذْهَبُ إِلَى … بِـ … وَتَسْتَغْرِقُ الرِّحْلَةُ …</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مِنْ مَزَايَاهَا أَنَّ … وَمِنْ عُيُوبِهَا أَنَّ …</a:t>
            </a:r>
            <a:endParaRPr lang="ar-SA" sz="16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بِصِفَةٍ عَامَّةٍ، أُوصِي بِزِيَارَتِهَا لِأَنَّ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صِفْ مَدِينَتَكَ وَمَوَاصَلَاتِهَا.</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Describe your city and its transport.</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مَدِينَتِي حَدِيثَةٌ وَتَتَمَيَّزُ بِحَدَائِقِهَا. أَذْهَبُ إِلَى المَدْرَسَةِ بِالحَافِلَةِ.</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My city is modern and known for its parks. I go to school by bus.</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40</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Extended Writing</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60 words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a supported 60-word response covering every point.</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One frame per task point; every point covered.</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80–100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80–100 words with three paragraphs and accurate F6 range.</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three paragraphs, five F6 structures, checked for agreement.</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100+ words, compare two transport choices and improve the first draft using a self-audit.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Compare two transport choices; improve the first draft with a self-audit.</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40</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تَتَمَيَّزُ بِـ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known for its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أُفَضِّلُ ______ لِأَنَّهُ أَرْخَصُ مِنْ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prefer … because it is cheaper than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مَزَايَا المَدِينَةِ أَنَّ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One advantage of the city is that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وَمِنْ عُيُوبِهَا أَنَّ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One disadvantage is that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بِصِفَةٍ عَامَّةٍ، أُوصِي بِزِيَارَتِهَا.</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Overall, I recommend visiting it.</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أَسْكُنُ فِي مَدِينَةٍ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live in a … city.</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تُوجَدُ فِيهَا ______ وَيُوجَدُ فِيهَا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There is a … and a … in it.</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أَذْهَبُ إِلَى المَدْرَسَةِ بِـ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go to school by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تَسْتَغْرِقُ الرِّحْلَةُ ______ دَقِيقَةً.</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journey takes … minutes.</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مَدِينَتِي لِأَنَّهَا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like my city because it is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يُوجَدُ  ·  تُوجَدُ  ·  تَتَمَيَّزُ بِـ  ·  تَفْتَقِرُ إِلَى  ·  مَبْنِيٌّ مِنْ  ·  بِالحَافِلَةِ  ·  مَشْيًا  ·  تَسْتَغْرِقُ  ·  أَرْخَصُ مِنْ  ·  مِنْ مَزَايَا … أَنَّ  ·  لِذَلِكَ  ·  بِصِفَةٍ عَامَّةٍ</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40</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Plan, draft and improve an 80–100-word article or email about your town and how you get around.</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Paragraph 1 covers town, places and character.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Paragraph 2 covers transport, route and duration.</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Paragraph 3 gives a balanced view and recommendation.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least five F6 grammar structures and check agreement.</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كَمَا تُوجَدُ فِيهَا …</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there is also …</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ثُمَّ أَسِيرُ مَشْيًا خَمْسَ دَقَائِقَ</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then I walk for five minutes</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نَاحِيَةٍ … وَمِنْ نَاحِيَةٍ أُخْرَى …</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 one hand … on the other …</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خَارِجَ سَاعَاتِ الاِزْدِحَامِ</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outside rush hour</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مَسْجِدُهَا المَبْنِيُّ مِنَ الحَجَرِ</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its mosque built of stone</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40</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Extended Writing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أَسْكُنُ فِي مَدِينَةٍ مُتَوَسِّطَةٍ وَحَدِيثَةٍ. تَتَمَيَّزُ بِحَدَائِقِهَا وَمَرْكَزِهَا التِّجَارِيِّ، وَتُوجَدُ فِيهَا مَكْتَبَةٌ كَبِيرَةٌ وَمَحَطَّةُ قِطَارٍ. أَذْهَبُ إِلَى المَدْرَسَةِ بِالحَافِلَةِ، وَتَسْتَغْرِقُ الرِّحْلَةُ خَمْسًا وَعِشْرِينَ دَقِيقَةً. أُفَضِّلُ الحَافِلَةَ لِأَنَّهَا أَرْخَصُ مِنْ سَيَّارَةِ الأُجْرَةِ. مِنْ مَزَايَا المَدِينَةِ أَنَّ الخِدْمَاتِ قَرِيبَةٌ، وَمِنْ عُيُوبِهَا أَنَّ الشَّوَارِعَ مُكْتَظَّةٌ. بِصِفَةٍ عَامَّةٍ، أُوصِي بِزِيَارَتِهَا لِأَنَّهَا مُمْتِعَةٌ وَآمِنَةٌ.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live in a medium-sized, modern city. It is known for its parks and shopping centre, and it has a big library and a train station. I go to school by bus, and the journey takes twenty-five minutes. I prefer the bus because it is cheaper than a taxi. One advantage is that services are close; one disadvantage is that the streets are crowded. Overall, I recommend visiting it because it is enjoyable and safe.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paragraph 1: town</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paragraph 2: transport</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paragraph 3: judgement</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five F6 structures</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40</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Extended Writing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task point is covered.</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Transport: bi- / ʿalā / mashyan correct.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Three paragraphs, three jobs.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Five F6 structures, all agreeing.</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final version improves my draft.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40</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Extended Writing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belongs in paragraph 2?</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journey and duration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the title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final recommendation</a:t>
            </a:r>
            <a:endParaRPr lang="en-US" sz="12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“overall”?</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أَوَّلًا</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بِصِفَةٍ عَامَّةٍ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بَيْنَمَا</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gives a recommendation?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أُوصِي بِزِيَارَتِهَا.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تَفْتَقِرُ إِلَى...</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 أَيِّ رَصِيفٍ؟</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40</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Extended Writing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belongs in paragraph 2?</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journey and duration</a:t>
            </a:r>
            <a:endParaRPr lang="en-US" sz="12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the title</a:t>
            </a:r>
            <a:endParaRPr lang="en-US" sz="12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final recommendation</a:t>
            </a:r>
            <a:endParaRPr lang="en-US" sz="12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Paragraph 2 develops transport.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“overall”?</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أَوَّلًا</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بِصِفَةٍ عَامَّةٍ</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بَيْنَمَا</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بِصِفَةٍ عَامَّةٍ</a:t>
            </a:r>
            <a:pPr algn="l" indent="0" marL="0">
              <a:buNone/>
            </a:pPr>
            <a:r>
              <a:rPr lang="en-US" sz="1050" i="1" dirty="0">
                <a:solidFill>
                  <a:srgbClr val="8A6D1E"/>
                </a:solidFill>
                <a:latin typeface="Calibri" pitchFamily="34" charset="0"/>
                <a:cs typeface="Amiri" pitchFamily="2" charset="-78"/>
              </a:rPr>
              <a:t> means overall.</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gives a recommendation?</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أُوصِي بِزِيَارَتِهَا.</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تَفْتَقِرُ إِلَى...</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مِنْ أَيِّ رَصِيفٍ؟</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أُوصِي بِـ</a:t>
            </a:r>
            <a:pPr algn="l" indent="0" marL="0">
              <a:buNone/>
            </a:pPr>
            <a:r>
              <a:rPr lang="en-US" sz="1050" i="1" dirty="0">
                <a:solidFill>
                  <a:srgbClr val="8A6D1E"/>
                </a:solidFill>
                <a:latin typeface="Calibri" pitchFamily="34" charset="0"/>
                <a:cs typeface="Amiri" pitchFamily="2" charset="-78"/>
              </a:rPr>
              <a:t> means I recommend.</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40</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Annotated model: town and transport</a:t>
            </a:r>
            <a:endParaRPr lang="en-US" sz="25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أَسْكُنُ فِي مَدِينَةٍ قَدِيمَةٍ وَلٰكِنَّهَا نَشِيطَةٌ. تَتَمَيَّزُ بِسُوقِهَا التَّقْلِيدِيِّ وَمَسْجِدِهَا المَبْنِيِّ مِنَ الحَجَرِ. كَمَا تُوجَدُ فِيهَا جَامِعَةٌ حَدِيثَةٌ. أَذْهَبُ إِلَى المَدْرَسَةِ بِالمِتْرُو، ثُمَّ أَسِيرُ مَشْيًا خَمْسَ دَقَائِقَ. أُفَضِّلُ المِتْرُو لِأَنَّهُ سَرِيعٌ وَأَرْخَصُ مِنْ سَيَّارَةِ الأُجْرَةِ. مِنْ مَزَايَا مَدِينَتِي أَنَّ الخِدْمَاتِ كَثِيرَةٌ، وَمِنْ عُيُوبِهَا أَنَّ المَرْكَزَ مُكْتَظٌّ. لِذٰلِكَ أُوصِي بِزِيَارَتِهَا خَارِجَ سَاعَاتِ الاِزْدِحَامِ.</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قَدِيمَةٍ وَلَكِنَّهَا نَشِيطَةٌ</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old but lively</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سُوقِهَا التَّقْلِيدِيِّ</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its traditional market</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المَبْنِيِّ مِنَ الحَجَرِ</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built of stone</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كَمَا تُوجَدُ</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there is also</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بِالمِتْرُو</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by metro</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أَسِيرُ مَشْيًا</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walk</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أَرْخَصُ مِنْ</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cheaper than</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الخِدْمَاتِ</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services</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مُكْتَظٌّ</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crowded</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سَاعَاتِ الاِزْدِحَامِ</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rush hour</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40</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mosque built from?</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glass</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stone</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brick</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modern place is mentioned?</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airport</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theatre</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university</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after the metro journey?</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five-minute walk</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bus ride</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taxi journey</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the metro preferred?</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quiet and traditional</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fast and cheaper than a taxi</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new and large</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city advantage?</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many services</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empty streets</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nearby airport</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recommendation is made?</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never visit</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travel only by taxi</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visit outside rush hour</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40</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mosque built from?</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glass</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stone</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brick</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المَبْنِيِّ مِنَ الحَجَرِ.</a:t>
            </a:r>
            <a:endParaRPr lang="ar-SA" sz="13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modern place is mentioned?</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airport</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theatre</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university</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جَامِعَةٌ حَدِيثَةٌ.</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after the metro journey?</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five-minute walk</a:t>
            </a:r>
            <a:endParaRPr lang="en-US" sz="12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bus ride</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taxi journey</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ثُمَّ أَسِيرُ مَشْيًا خَمْسَ دَقَائِقَ.</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the metro preferred?</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quiet and traditional</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fast and cheaper than a taxi</a:t>
            </a:r>
            <a:endParaRPr lang="en-US" sz="11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new and large</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سَرِيعٌ وَأَرْخَصُ مِنْ سَيَّارَةِ الأُجْرَةِ.</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city advantage?</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many services</a:t>
            </a:r>
            <a:endParaRPr lang="en-US" sz="12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empty streets</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nearby airport</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الخِدْمَاتِ كَثِيرَةٌ.</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recommendation is made?</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never visit</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travel only by taxi</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visit outside rush hour</a:t>
            </a:r>
            <a:endParaRPr lang="en-US" sz="12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زِيَارَتِهَا خَارِجَ سَاعَاتِ الاِزْدِحَامِ.</a:t>
            </a:r>
            <a:endParaRPr lang="ar-SA" sz="13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40</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Extended Writing</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F6-L10: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F6-L10 · Listening: Town and Transport Texts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إِعْلَانٌ</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announcement</a:t>
            </a:r>
            <a:pPr indent="0" marL="0">
              <a:buNone/>
            </a:pPr>
            <a:r>
              <a:rPr lang="ar-SA" sz="1000" i="1" dirty="0">
                <a:solidFill>
                  <a:srgbClr val="5A6472"/>
                </a:solidFill>
                <a:latin typeface="Calibri" pitchFamily="34" charset="0"/>
                <a:ea typeface="Amiri" pitchFamily="2" charset="-78"/>
                <a:cs typeface="Amiri" pitchFamily="2" charset="-78"/>
              </a:rPr>
              <a:t>  pl. إِعْلَانَاتٌ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تَقْرِيرٌ</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report</a:t>
            </a:r>
            <a:pPr indent="0" marL="0">
              <a:buNone/>
            </a:pPr>
            <a:r>
              <a:rPr lang="ar-SA" sz="1000" i="1" dirty="0">
                <a:solidFill>
                  <a:srgbClr val="5A6472"/>
                </a:solidFill>
                <a:latin typeface="Calibri" pitchFamily="34" charset="0"/>
                <a:ea typeface="Amiri" pitchFamily="2" charset="-78"/>
                <a:cs typeface="Amiri" pitchFamily="2" charset="-78"/>
              </a:rPr>
              <a:t>  pl. تَقَارِيرُ</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مُقَابَلَةٌ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interview</a:t>
            </a:r>
            <a:pPr indent="0" marL="0">
              <a:buNone/>
            </a:pPr>
            <a:r>
              <a:rPr lang="ar-SA" sz="1000" i="1" dirty="0">
                <a:solidFill>
                  <a:srgbClr val="5A6472"/>
                </a:solidFill>
                <a:latin typeface="Calibri" pitchFamily="34" charset="0"/>
                <a:ea typeface="Amiri" pitchFamily="2" charset="-78"/>
                <a:cs typeface="Amiri" pitchFamily="2" charset="-78"/>
              </a:rPr>
              <a:t>  pl. مُقَابَلَاتٌ</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تَفَاصِيلُ</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details</a:t>
            </a:r>
            <a:pPr indent="0" marL="0">
              <a:buNone/>
            </a:pPr>
            <a:r>
              <a:rPr lang="ar-SA" sz="1000" i="1" dirty="0">
                <a:solidFill>
                  <a:srgbClr val="5A6472"/>
                </a:solidFill>
                <a:latin typeface="Calibri" pitchFamily="34" charset="0"/>
                <a:ea typeface="Amiri" pitchFamily="2" charset="-78"/>
                <a:cs typeface="Amiri" pitchFamily="2" charset="-78"/>
              </a:rPr>
              <a:t>  sing. تَفْصِيلٌ</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اِزْدِحَامٌ</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congestion / crowds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Where might you hear a transport announcement? Name two places.</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فِي المَحَطَّةِ · فِي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Finish your 60-word text from the frames; learn the five announcement words.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final 80–100-word version with the checklist ticked.</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Compare two transport choices (100+ words) and write a short self-audit.</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40</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F6-L09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100" b="1" dirty="0">
                <a:solidFill>
                  <a:srgbClr val="FFFFFF"/>
                </a:solidFill>
                <a:latin typeface="Cambria" pitchFamily="34" charset="0"/>
                <a:cs typeface="Amiri" pitchFamily="2" charset="-78"/>
              </a:rPr>
              <a:t>F6-L10 · Listening: Town and Transport Texts</a:t>
            </a:r>
            <a:endParaRPr lang="en-US" sz="21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الاِسْتِمَاعُ — نُصُوصُ المَدِينَةِ وَالمُوَاصَلَاتِ</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plan → draft → check → improve · three paragraphs, three jobs · every connector has a job.</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F6-L09 · Extended Writing: My Town and How I Get Around</dc:title>
  <dc:subject>PptxGenJS Presentation</dc:subject>
  <dc:creator>Al Madina Online School · Arabic Department</dc:creator>
  <cp:lastModifiedBy>Al Madina Online School · Arabic Department</cp:lastModifiedBy>
  <cp:revision>1</cp:revision>
  <dcterms:created xsi:type="dcterms:W3CDTF">2026-10-11T06:41:57Z</dcterms:created>
  <dcterms:modified xsi:type="dcterms:W3CDTF">2026-10-11T06:41:57Z</dcterms:modified>
</cp:coreProperties>
</file>