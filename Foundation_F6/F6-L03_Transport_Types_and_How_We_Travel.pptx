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F6-L03. The website lesson “Transport: Types and How We Travel”: vocabulary, grammar rules and quiz, patterns, common mistakes, sorter, listening, reading, speaking prompts and model, writing task and model, differentiation, final check and the lesson mission. Picture match: website visual game “Transport: Types and How We Travel”.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six transport words and four journey sentences: أَذْهَبُ إِلَى … بِالحَافِلَةِ / مَشْيًا.
• Develop: compare three journeys with the correct pattern and a reason (لِأَنَّ بَيْتِي بَعِيدٌ).
• Stretch: a transport survey report with يَسْتَقِلُّ، يَقُودُ and varied person forms (he / she / we).
• Three patterns only: بِـ + motor transport · عَلَى + something you sit ON (bike, motorbike) · مَشْيًا with nothing before it.
• Website teaching note: “Learn the transport noun together with its normal preposition; this prevents word-for-word translation from English.”
• Note: the website picture game says بِالدَّرَّاجَةِ — also heard in everyday Arabic; the lesson teaches عَلَى الدَّرَّاجَةِ.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F6-L02. Questions 3–5 retrieve F6-L02 (where?, near / far agreement, position).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Three ways to travel: BY (bi-) a bus, ON (ʿalā) a bike, ON FOOT (mashyan).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سفر and مسافر are identical (يُسَافِرُ = he travels). طیارہ is the Arabic طَيَّارَةٌ (plane — the formal word in the lesson is طَائِرَةٌ, both from طَارَ “to fly”). Careful: Urdu رحلت means “passing away (the final journey)”; Arabic رِحْلَةٌ is simply a trip. سواری (Urdu: a ride) is Persian — the Arabic driver is سَائِقٌ and a passenger رَاكِبٌ.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Public transport (website vocabulary (1 of 2)). Hear → Say → See → Use. Transliteration is printed for Core students (cover it for Develop/Stretch).
Transport nouns with plurals. سَيَّارَةُ أُجْرَةٍ = “a car of hire” (taxi); مِتْرُو and تِرَامٌ are borrowed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Public transport (website vocabulary (2 of 2)). Hear → Say → See → Use. Transliteration is printed for Core students (cover it for Develop/Stretch).
Transport nouns with plurals. سَيَّارَةُ أُجْرَةٍ = “a car of hire” (taxi); مِتْرُو and تِرَامٌ are borrowed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Journey actions and people (website vocabulary (1 of 2)). Hear → Say → See → Use. Transliteration is printed for Core students (cover it for Develop/Stretch).
Verbs in the he-form; the cards show she / you (f.). يَسْتَقِلُّ (takes transport) is formal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Journey actions and people (website vocabulary (2 of 2)). Hear → Say → See → Use. Transliteration is printed for Core students (cover it for Develop/Stretch).
Verbs in the he-form; the cards show she / you (f.). يَسْتَقِلُّ (takes transport) is formal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Stations and tickets (website vocabulary (1 of 2)). Hear → Say → See → Use. Transliteration is printed for Core students (cover it for Develop/Stretch).
FLEX: teach if time allows; otherwise these are on the website vocabulary tab for homework.
FLEX: tickets and stations are the focus of F6-L04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Stations and tickets (website vocabulary (2 of 2)). Hear → Say → See → Use. Transliteration is printed for Core students (cover it for Develop/Stretch).
FLEX: teach if time allows; otherwise these are on the website vocabulary tab for homework.
FLEX: tickets and stations are the focus of F6-L04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“Travel by most motorised transport” (بِـ joins the definite noun: بِالحَافِلَةِ), “Ride on a bicycle or motorbike” (عَلَى — you sit on top) and “Say ‘on foot’” (مَشْيًا is an adverb: no بِـ, no عَلَى).
Website common error: أُسَافِرُ عَلَى الحَافِلَةِ ✗ → بِالحَافِلَةِ ✓ · أَذْهَبُ بِمَشْيًا ✗ → مَشْيًا ✓.
Also possible: أَرْكَبُ الدَّرَّاجَةَ (I ride the bike) — the bike is the object, no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“Ask and answer how someone travels”: تُـ / تَـ for one male listener, تُـ…ينَ / تَـ…ينَ for one female listener, أَـ / أُـ in the first-person answer.
Website teaching note: “Transport descriptions become stronger when they add destination, frequency, duration and a reason.”
Reporting (listening): تَذْهَبُ سَارَةُ بِالحَافِلَةِ · أَمَّا عَلِيٌّ فَيَذْهَبُ عَلَى الدَّرَّاجَةِ.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“Transport is not one single pattern. Use بِـ with most motorised transport, عَلَى with bicycles and similar vehicles, and مَشْيًا without a transport noun. The verb also changes according to the person.”
• Travel by most motorised transport: The preposition بِـ joins the definite noun: بِ + الحَافِلَةِ becomes بِالحَافِلَةِ.
• Ride on a bicycle or motorbike: Use عَلَى when the person rides on top of the vehicle.
• Say “on foot”: مَشْيًا is an adverb. Do not add بِـ or عَلَى before it.
• Ask and answer how someone travels: Use تُـ when addressing one male learner, تُـ...ينَ for one female learner, and أَـ in the first-person answer.
Website common error: Do not write أُسَافِرُ عَلَى الحَافِلَةِ. The standard Foundation pattern is أُسَافِرُ بِالحَافِلَةِ.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built step by step. Students copy it and change the three people and their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Transport: Types and How We Travel”)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three use بِـ. Other website items: by car, by bike (the website game uses بِالدَّرَّاجَةِ — everyday usage; the lesson teaches عَلَى الدَّرَّاجَةِ) and on foot (مَاشِيًا — another way to say مَشْيًا).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Transport: Types and How We Travel”)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three use بِـ. Other website items: by car, by bike (the website game uses بِالدَّرَّاجَةِ — everyday usage; the lesson teaches عَلَى الدَّرَّاجَةِ) and on foot (مَاشِيًا — another way to say مَشْيًا).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by the required transport pattern.
Say the full sentence for each card: أَذْهَبُ بِالقِطَارِ · أَذْهَبُ عَلَى الدَّرَّاجَةِ · أَذْهَبُ مَشْيًا.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by the required transport pattern.
Say the full sentence for each card: أَذْهَبُ بِالقِطَارِ · أَذْهَبُ عَلَى الدَّرَّاجَةِ · أَذْهَبُ مَشْيًا.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then give the father’s reason too.
Listen 1: just listen. Listen 2: note answers. Then chat the letters.
Support: after the second listening, show the read-along slide (Arabic + English, line by line) for Core students.
SCRIPT (read aloud):
تَذْهَبُ سَارَةُ إِلَى المَدْرَسَةِ بِالحَافِلَةِ لِأَنَّ بَيْتَهَا بَعِيدٌ. أَمَّا أَخُوهَا عَلِيٌّ فَيَذْهَبُ عَلَى الدَّرَّاجَةِ لِأَنَّ المَدْرَسَةَ قَرِيبَةٌ مِنْ بَيْتِهِ. فِي نِهَايَةِ الأُسْبُوعِ تُسَافِرُ الأُسْرَةُ إِلَى المَدِينَةِ بِالقِطَارِ. يُفَضِّلُ الأَبُ القِطَارَ لِأَنَّهُ سَرِيعٌ، وَلٰكِنَّ الأُمَّ تُفَضِّلُ السَّيَّارَةَ لِأَنَّهَا مُرِيحَةٌ.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لِمَاذَا تُفَضِّلِينَ الحَافِلَةَ؟ (Why do you prefer the bus?)
B: لِأَنَّهَا رَخِيصَةٌ وَسَرِيعَةٌ. (Because it is cheap and fast.)
Website “Transport survey and journey comparison” — all four prompts are the website’s. Survey five classmates, then report: ثَلَاثَةُ طُلَّابٍ يَذْهَبُونَ بِالحَافِلَةِ (Stretch). Website model: كَيْفَ تَذْهَبِينَ إِلَى المَدْرَسَةِ؟ — أَذْهَبُ بِالحَافِلَةِ، وَلَكِنِّي أَعُودُ مَشْيًا أَحْيَانًا. — لِمَاذَا تُفَضِّلِينَ الحَافِلَةَ؟ — لِأَنَّهَا رَخِيصَةٌ وَسَرِيعَةٌ.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Name six transport types and produce four accurate journey sentences. · Develop — Compare three journeys with correct prepositions and reasons. · Stretch — Use يَسْتَقِلُّ, يَقُودُ and varied person forms in a connected transport survey report.
Website writing task (Stretch): Write 70–90 Arabic words comparing how three people travel.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بِالحَافِلَةِ · عَلَى الدَّرَّاجَةِ · مَشْيًا · لِأَنَّ بَيْتِي بَعِيدٌ / لِأَنَّهُ سَرِيعٌ. Persons: I (أَذْهَبُ), she (تَذْهَبُ), he (يَقُودُ).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(F6-L04 · Tickets, Timetables and Journey Duration) will spend class time USING this language, so students prepare it tonight — short, simple, easy to access (school guidance: “Simple, Short, Interesting, Relevant, Easy to access”). The five words come from the website F6-L04 lesson (tickets, timetables and duration).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50" b="1" dirty="0">
                <a:solidFill>
                  <a:srgbClr val="FFFFFF"/>
                </a:solidFill>
                <a:latin typeface="Cambria" pitchFamily="34" charset="0"/>
                <a:cs typeface="Amiri" pitchFamily="2" charset="-78"/>
              </a:rPr>
              <a:t>Transport: Types and How We Travel</a:t>
            </a:r>
            <a:endParaRPr lang="en-US" sz="2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المُوَاصَلَاتُ — أَنْوَاعُ النَّقْلِ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twelve kinds of transport and say how people travel with the right pattern: </a:t>
            </a:r>
            <a:pPr algn="l" indent="0" marL="0">
              <a:buNone/>
            </a:pPr>
            <a:r>
              <a:rPr lang="ar-SA" altLang="en-US" sz="1800" dirty="0">
                <a:solidFill>
                  <a:srgbClr val="C6D2E6"/>
                </a:solidFill>
                <a:latin typeface="Amiri" pitchFamily="2" charset="-78"/>
                <a:cs typeface="Amiri" pitchFamily="2" charset="-78"/>
              </a:rPr>
              <a:t>بِالحَافِلَةِ</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عَلَى الدَّرَّاجَةِ</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مَشْيًا</a:t>
            </a:r>
            <a:pPr algn="l" indent="0" marL="0">
              <a:buNone/>
            </a:pPr>
            <a:r>
              <a:rPr lang="en-US" sz="1400" dirty="0">
                <a:solidFill>
                  <a:srgbClr val="C6D2E6"/>
                </a:solidFill>
                <a:latin typeface="Calibri" pitchFamily="34" charset="0"/>
                <a:cs typeface="Amiri" pitchFamily="2" charset="-78"/>
              </a:rPr>
              <a:t> — then ask a boy or a girl how they travel.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F6-L03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Transport and journey words, then by / on / on foot and how do you travel?</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three patterns, fix the mistakes and listen: how does each person travel?</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حَافِلَةٌ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train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مَشْيًا عَلَى الأَقْدَامِ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bicycle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“Where is the station?”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مَحَطَّةٌ؟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المَحَطَّةُ؟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المَحَطَّةُ؟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المَحَطَّةُ قَرِيبٌ مِنَ البَيْتِ.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المَحَطَّةُ قَرِيبُونَ مِنَ البَيْتِ.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المَحَطَّةُ قَرِيبَةٌ مِنَ البَيْتِ.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مُقَابِلَ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between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حَافِلَةٌ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train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bus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مَشْيًا عَلَى الأَقْدَامِ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foot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bicycle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car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“Where is the station?”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مَحَطَّةٌ؟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المَحَطَّةُ؟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أَيْنَ المَحَطَّةُ؟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F6-L02: ayna + al- place.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المَحَطَّةُ قَرِيبٌ مِنَ البَيْتِ.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المَحَطَّةُ قَرِيبُونَ مِنَ البَيْتِ.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المَحَطَّةُ قَرِيبَةٌ مِنَ البَيْتِ.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F6-L02: agree with the station.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مُقَابِلَ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opposite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between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F6-L02 position words.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Three ways to travel: BY (bi-) a bus, ON (ʿalā) a bike, ON FOOT (mashyan).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أَذْهَبُ </a:t>
            </a:r>
            <a:pPr rtl="1" algn="ctr" indent="0" marL="0">
              <a:lnSpc>
                <a:spcPct val="120000"/>
              </a:lnSpc>
              <a:buNone/>
            </a:pPr>
            <a:r>
              <a:rPr lang="ar-SA" altLang="en-US" sz="1950" b="1" dirty="0">
                <a:solidFill>
                  <a:srgbClr val="1D5FBF"/>
                </a:solidFill>
                <a:latin typeface="Amiri" pitchFamily="2" charset="-78"/>
                <a:cs typeface="Amiri" pitchFamily="2" charset="-78"/>
              </a:rPr>
              <a:t>بِ</a:t>
            </a:r>
            <a:pPr rtl="1" algn="ctr" indent="0" marL="0">
              <a:lnSpc>
                <a:spcPct val="120000"/>
              </a:lnSpc>
              <a:buNone/>
            </a:pPr>
            <a:r>
              <a:rPr lang="ar-SA" altLang="en-US" sz="1950" b="1" dirty="0">
                <a:solidFill>
                  <a:srgbClr val="1B3B6F"/>
                </a:solidFill>
                <a:latin typeface="Amiri" pitchFamily="2" charset="-78"/>
                <a:cs typeface="Amiri" pitchFamily="2" charset="-78"/>
              </a:rPr>
              <a:t>الحَافِلَةِ · </a:t>
            </a:r>
            <a:pPr rtl="1" algn="ctr" indent="0" marL="0">
              <a:lnSpc>
                <a:spcPct val="120000"/>
              </a:lnSpc>
              <a:buNone/>
            </a:pPr>
            <a:r>
              <a:rPr lang="ar-SA" altLang="en-US" sz="1950" b="1" dirty="0">
                <a:solidFill>
                  <a:srgbClr val="7B3FA0"/>
                </a:solidFill>
                <a:latin typeface="Amiri" pitchFamily="2" charset="-78"/>
                <a:cs typeface="Amiri" pitchFamily="2" charset="-78"/>
              </a:rPr>
              <a:t>عَلَى</a:t>
            </a:r>
            <a:pPr rtl="1" algn="ctr" indent="0" marL="0">
              <a:lnSpc>
                <a:spcPct val="120000"/>
              </a:lnSpc>
              <a:buNone/>
            </a:pPr>
            <a:r>
              <a:rPr lang="ar-SA" altLang="en-US" sz="1950" b="1" dirty="0">
                <a:solidFill>
                  <a:srgbClr val="1B3B6F"/>
                </a:solidFill>
                <a:latin typeface="Amiri" pitchFamily="2" charset="-78"/>
                <a:cs typeface="Amiri" pitchFamily="2" charset="-78"/>
              </a:rPr>
              <a:t> الدَّرَّاجَةِ · </a:t>
            </a:r>
            <a:pPr rtl="1" algn="ctr" indent="0" marL="0">
              <a:lnSpc>
                <a:spcPct val="120000"/>
              </a:lnSpc>
              <a:buNone/>
            </a:pPr>
            <a:r>
              <a:rPr lang="ar-SA" altLang="en-US" sz="1950" b="1" dirty="0">
                <a:solidFill>
                  <a:srgbClr val="0E7C86"/>
                </a:solidFill>
                <a:latin typeface="Amiri" pitchFamily="2" charset="-78"/>
                <a:cs typeface="Amiri" pitchFamily="2" charset="-78"/>
              </a:rPr>
              <a:t>مَشْيًا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at least twelve forms of transport.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correct preposition for each journey.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answer how people travel.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and listen for transport, route and passenger details.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twelve kinds of transport.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how I go to school.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a:t>
            </a:r>
            <a:pPr algn="l" indent="0" marL="0">
              <a:buNone/>
            </a:pPr>
            <a:r>
              <a:rPr lang="ar-SA" altLang="en-US" sz="1700" b="1" dirty="0">
                <a:solidFill>
                  <a:srgbClr val="C9780A"/>
                </a:solidFill>
                <a:latin typeface="Amiri" pitchFamily="2" charset="-78"/>
                <a:cs typeface="Amiri" pitchFamily="2" charset="-78"/>
              </a:rPr>
              <a:t>بِـ</a:t>
            </a:r>
            <a:pPr algn="l" indent="0" marL="0">
              <a:buNone/>
            </a:pPr>
            <a:r>
              <a:rPr lang="en-US" sz="1300" b="1" dirty="0">
                <a:solidFill>
                  <a:srgbClr val="C9780A"/>
                </a:solidFill>
                <a:latin typeface="Calibri" pitchFamily="34" charset="0"/>
                <a:cs typeface="Amiri" pitchFamily="2" charset="-78"/>
              </a:rPr>
              <a:t>, </a:t>
            </a:r>
            <a:pPr algn="l" indent="0" marL="0">
              <a:buNone/>
            </a:pPr>
            <a:r>
              <a:rPr lang="ar-SA" altLang="en-US" sz="1700" b="1" dirty="0">
                <a:solidFill>
                  <a:srgbClr val="C9780A"/>
                </a:solidFill>
                <a:latin typeface="Amiri" pitchFamily="2" charset="-78"/>
                <a:cs typeface="Amiri" pitchFamily="2" charset="-78"/>
              </a:rPr>
              <a:t>عَلَى</a:t>
            </a:r>
            <a:pPr algn="l" indent="0" marL="0">
              <a:buNone/>
            </a:pPr>
            <a:r>
              <a:rPr lang="en-US" sz="1300" b="1" dirty="0">
                <a:solidFill>
                  <a:srgbClr val="C9780A"/>
                </a:solidFill>
                <a:latin typeface="Calibri" pitchFamily="34" charset="0"/>
                <a:cs typeface="Amiri" pitchFamily="2" charset="-78"/>
              </a:rPr>
              <a:t> or </a:t>
            </a:r>
            <a:pPr algn="l" indent="0" marL="0">
              <a:buNone/>
            </a:pPr>
            <a:r>
              <a:rPr lang="ar-SA" altLang="en-US" sz="1700" b="1" dirty="0">
                <a:solidFill>
                  <a:srgbClr val="C9780A"/>
                </a:solidFill>
                <a:latin typeface="Amiri" pitchFamily="2" charset="-78"/>
                <a:cs typeface="Amiri" pitchFamily="2" charset="-78"/>
              </a:rPr>
              <a:t>مَشْيًا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or a girl how they travel.</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three journeys with reasons.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report a transport survey.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31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Public transport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Journey actions and people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Stations and tickets · 9</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سَفَرٌ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‎سفر‎ </a:t>
            </a:r>
            <a:pPr indent="0" marL="0">
              <a:buNone/>
            </a:pPr>
            <a:r>
              <a:rPr lang="en-US" sz="950" b="1" dirty="0">
                <a:solidFill>
                  <a:srgbClr val="2E8B57"/>
                </a:solidFill>
                <a:latin typeface="Calibri" pitchFamily="34" charset="0"/>
                <a:cs typeface="Amiri" pitchFamily="2" charset="-78"/>
              </a:rPr>
              <a:t> safar · journey / travel</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مُسَافِرٌ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‎مسافر‎ </a:t>
            </a:r>
            <a:pPr indent="0" marL="0">
              <a:buNone/>
            </a:pPr>
            <a:r>
              <a:rPr lang="en-US" sz="950" b="1" dirty="0">
                <a:solidFill>
                  <a:srgbClr val="2E8B57"/>
                </a:solidFill>
                <a:latin typeface="Calibri" pitchFamily="34" charset="0"/>
                <a:cs typeface="Amiri" pitchFamily="2" charset="-78"/>
              </a:rPr>
              <a:t> musāfir · traveller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رِحْلَةٌ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‎رحلت‎ </a:t>
            </a:r>
            <a:pPr indent="0" marL="0">
              <a:buNone/>
            </a:pPr>
            <a:r>
              <a:rPr lang="en-US" sz="950" b="1" dirty="0">
                <a:solidFill>
                  <a:srgbClr val="2E8B57"/>
                </a:solidFill>
                <a:latin typeface="Calibri" pitchFamily="34" charset="0"/>
                <a:cs typeface="Amiri" pitchFamily="2" charset="-78"/>
              </a:rPr>
              <a:t> rehlat · Urdu: passing away · Arabic: a trip</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سَائِقٌ</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‎سواری‎ </a:t>
            </a:r>
            <a:pPr indent="0" marL="0">
              <a:buNone/>
            </a:pPr>
            <a:r>
              <a:rPr lang="en-US" sz="950" b="1" dirty="0">
                <a:solidFill>
                  <a:srgbClr val="2E8B57"/>
                </a:solidFill>
                <a:latin typeface="Calibri" pitchFamily="34" charset="0"/>
                <a:cs typeface="Amiri" pitchFamily="2" charset="-78"/>
              </a:rPr>
              <a:t> sawārī · Urdu: a ride / passenger → Arabic driver is sāʼiq</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طَيَّارَةٌ · طَائِرَةٌ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‎طیارہ‎ </a:t>
            </a:r>
            <a:pPr indent="0" marL="0">
              <a:buNone/>
            </a:pPr>
            <a:r>
              <a:rPr lang="en-US" sz="950" b="1" dirty="0">
                <a:solidFill>
                  <a:srgbClr val="2E8B57"/>
                </a:solidFill>
                <a:latin typeface="Calibri" pitchFamily="34" charset="0"/>
                <a:cs typeface="Amiri" pitchFamily="2" charset="-78"/>
              </a:rPr>
              <a:t> tayyāra · aeroplane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Public transport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حَافِلَةٌ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a:t>
            </a:r>
            <a:endParaRPr lang="en-US" sz="1350" dirty="0"/>
          </a:p>
          <a:p>
            <a:pPr indent="0" marL="0">
              <a:buNone/>
            </a:pPr>
            <a:r>
              <a:rPr lang="en-US" sz="1100" i="1" dirty="0">
                <a:solidFill>
                  <a:srgbClr val="5A6472"/>
                </a:solidFill>
                <a:latin typeface="Calibri" pitchFamily="34" charset="0"/>
                <a:cs typeface="Amiri" pitchFamily="2" charset="-78"/>
              </a:rPr>
              <a:t>ḥā-fi-la-tun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حَافِلَةٌ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حَافِلَاتٌ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قِطَارٌ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a:t>
            </a:r>
            <a:endParaRPr lang="en-US" sz="1350" dirty="0"/>
          </a:p>
          <a:p>
            <a:pPr indent="0" marL="0">
              <a:buNone/>
            </a:pPr>
            <a:r>
              <a:rPr lang="en-US" sz="1100" i="1" dirty="0">
                <a:solidFill>
                  <a:srgbClr val="5A6472"/>
                </a:solidFill>
                <a:latin typeface="Calibri" pitchFamily="34" charset="0"/>
                <a:cs typeface="Amiri" pitchFamily="2" charset="-78"/>
              </a:rPr>
              <a:t>qi-ṭā-run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قِطَارٌ</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قِطَارَاتٌ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مِتْرُو</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metro / underground</a:t>
            </a:r>
            <a:endParaRPr lang="en-US" sz="1350" dirty="0"/>
          </a:p>
          <a:p>
            <a:pPr indent="0" marL="0">
              <a:buNone/>
            </a:pPr>
            <a:r>
              <a:rPr lang="en-US" sz="1100" i="1" dirty="0">
                <a:solidFill>
                  <a:srgbClr val="5A6472"/>
                </a:solidFill>
                <a:latin typeface="Calibri" pitchFamily="34" charset="0"/>
                <a:cs typeface="Amiri" pitchFamily="2" charset="-78"/>
              </a:rPr>
              <a:t>mit-rū</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7" name="Shape 5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سَيَّارَةٌ</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a:t>
            </a:r>
            <a:endParaRPr lang="en-US" sz="1350" dirty="0"/>
          </a:p>
          <a:p>
            <a:pPr indent="0" marL="0">
              <a:buNone/>
            </a:pPr>
            <a:r>
              <a:rPr lang="en-US" sz="1100" i="1" dirty="0">
                <a:solidFill>
                  <a:srgbClr val="5A6472"/>
                </a:solidFill>
                <a:latin typeface="Calibri" pitchFamily="34" charset="0"/>
                <a:cs typeface="Amiri" pitchFamily="2" charset="-78"/>
              </a:rPr>
              <a:t>say-yā-ra-tun</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3" name="Text 6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سَيَّارَةٌ</a:t>
            </a:r>
            <a:endParaRPr lang="ar-SA" sz="150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6" name="Text 6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سَيَّارَاتٌ</a:t>
            </a:r>
            <a:endParaRPr lang="ar-SA" sz="150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سَيَّارَةُ أُجْرَةٍ</a:t>
            </a:r>
            <a:endParaRPr lang="ar-SA" sz="3000" dirty="0"/>
          </a:p>
        </p:txBody>
      </p:sp>
      <p:sp>
        <p:nvSpPr>
          <p:cNvPr id="73" name="Text 7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taxi</a:t>
            </a:r>
            <a:endParaRPr lang="en-US" sz="1350" dirty="0"/>
          </a:p>
          <a:p>
            <a:pPr indent="0" marL="0">
              <a:buNone/>
            </a:pPr>
            <a:r>
              <a:rPr lang="en-US" sz="1100" i="1" dirty="0">
                <a:solidFill>
                  <a:srgbClr val="5A6472"/>
                </a:solidFill>
                <a:latin typeface="Calibri" pitchFamily="34" charset="0"/>
                <a:cs typeface="Amiri" pitchFamily="2" charset="-78"/>
              </a:rPr>
              <a:t>say-yā-ra-tu uj-ra-tin</a:t>
            </a:r>
            <a:endParaRPr lang="en-US"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79" name="Shape 7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دَرَّاجَةٌ</a:t>
            </a:r>
            <a:endParaRPr lang="ar-SA" sz="3000" dirty="0"/>
          </a:p>
        </p:txBody>
      </p:sp>
      <p:sp>
        <p:nvSpPr>
          <p:cNvPr id="82" name="Text 7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bicycle</a:t>
            </a:r>
            <a:endParaRPr lang="en-US" sz="1350" dirty="0"/>
          </a:p>
          <a:p>
            <a:pPr indent="0" marL="0">
              <a:buNone/>
            </a:pPr>
            <a:r>
              <a:rPr lang="en-US" sz="1100" i="1" dirty="0">
                <a:solidFill>
                  <a:srgbClr val="5A6472"/>
                </a:solidFill>
                <a:latin typeface="Calibri" pitchFamily="34" charset="0"/>
                <a:cs typeface="Amiri" pitchFamily="2" charset="-78"/>
              </a:rPr>
              <a:t>dar-rā-ja-tun</a:t>
            </a:r>
            <a:endParaRPr lang="en-US" sz="1350" dirty="0"/>
          </a:p>
        </p:txBody>
      </p:sp>
      <p:sp>
        <p:nvSpPr>
          <p:cNvPr id="83" name="Shape 8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85" name="Text 8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دَرَّاجَةٌ</a:t>
            </a:r>
            <a:endParaRPr lang="ar-SA" sz="1500" dirty="0"/>
          </a:p>
        </p:txBody>
      </p:sp>
      <p:sp>
        <p:nvSpPr>
          <p:cNvPr id="86" name="Shape 8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8" name="Text 85"/>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دَرَّاجَاتٌ</a:t>
            </a:r>
            <a:endParaRPr lang="ar-SA" sz="150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Public transport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دَرَّاجَةٌ نَارِيَّةٌ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motorbike</a:t>
            </a:r>
            <a:endParaRPr lang="en-US" sz="1350" dirty="0"/>
          </a:p>
          <a:p>
            <a:pPr indent="0" marL="0">
              <a:buNone/>
            </a:pPr>
            <a:r>
              <a:rPr lang="en-US" sz="1100" i="1" dirty="0">
                <a:solidFill>
                  <a:srgbClr val="5A6472"/>
                </a:solidFill>
                <a:latin typeface="Calibri" pitchFamily="34" charset="0"/>
                <a:cs typeface="Amiri" pitchFamily="2" charset="-78"/>
              </a:rPr>
              <a:t>dar-rā-ja-tun nā-riy-ya-tun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طَائِرَةٌ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aeroplane</a:t>
            </a:r>
            <a:endParaRPr lang="en-US" sz="1350" dirty="0"/>
          </a:p>
          <a:p>
            <a:pPr indent="0" marL="0">
              <a:buNone/>
            </a:pPr>
            <a:r>
              <a:rPr lang="en-US" sz="1100" i="1" dirty="0">
                <a:solidFill>
                  <a:srgbClr val="5A6472"/>
                </a:solidFill>
                <a:latin typeface="Calibri" pitchFamily="34" charset="0"/>
                <a:cs typeface="Amiri" pitchFamily="2" charset="-78"/>
              </a:rPr>
              <a:t>ṭā-ʾi-ra-tun</a:t>
            </a:r>
            <a:endParaRPr lang="en-US" sz="1350" dirty="0"/>
          </a:p>
        </p:txBody>
      </p:sp>
      <p:sp>
        <p:nvSpPr>
          <p:cNvPr id="29" name="Shape 2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1" name="Text 2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طَائِرَةٌ</a:t>
            </a:r>
            <a:endParaRPr lang="ar-SA" sz="1500" dirty="0"/>
          </a:p>
        </p:txBody>
      </p:sp>
      <p:sp>
        <p:nvSpPr>
          <p:cNvPr id="32" name="Shape 2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طَائِرَاتٌ</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سَفِينَةٌ</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ship</a:t>
            </a:r>
            <a:endParaRPr lang="en-US" sz="1350" dirty="0"/>
          </a:p>
          <a:p>
            <a:pPr indent="0" marL="0">
              <a:buNone/>
            </a:pPr>
            <a:r>
              <a:rPr lang="en-US" sz="1100" i="1" dirty="0">
                <a:solidFill>
                  <a:srgbClr val="5A6472"/>
                </a:solidFill>
                <a:latin typeface="Calibri" pitchFamily="34" charset="0"/>
                <a:cs typeface="Amiri" pitchFamily="2" charset="-78"/>
              </a:rPr>
              <a:t>sa-fī-na-tun</a:t>
            </a:r>
            <a:endParaRPr lang="en-US" sz="1350" dirty="0"/>
          </a:p>
        </p:txBody>
      </p:sp>
      <p:sp>
        <p:nvSpPr>
          <p:cNvPr id="44" name="Shape 4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6" name="Text 4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سَفِينَةٌ</a:t>
            </a:r>
            <a:endParaRPr lang="ar-SA" sz="1500" dirty="0"/>
          </a:p>
        </p:txBody>
      </p:sp>
      <p:sp>
        <p:nvSpPr>
          <p:cNvPr id="47" name="Shape 4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9" name="Text 4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سُفُنٌ</a:t>
            </a:r>
            <a:endParaRPr lang="ar-SA" sz="150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عَبَّارَةٌ</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ferry</a:t>
            </a:r>
            <a:endParaRPr lang="en-US" sz="1350" dirty="0"/>
          </a:p>
          <a:p>
            <a:pPr indent="0" marL="0">
              <a:buNone/>
            </a:pPr>
            <a:r>
              <a:rPr lang="en-US" sz="1100" i="1" dirty="0">
                <a:solidFill>
                  <a:srgbClr val="5A6472"/>
                </a:solidFill>
                <a:latin typeface="Calibri" pitchFamily="34" charset="0"/>
                <a:cs typeface="Amiri" pitchFamily="2" charset="-78"/>
              </a:rPr>
              <a:t>ʿab-bā-ra-tun</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تِرَامٌ</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tram</a:t>
            </a:r>
            <a:endParaRPr lang="en-US" sz="1350" dirty="0"/>
          </a:p>
          <a:p>
            <a:pPr indent="0" marL="0">
              <a:buNone/>
            </a:pPr>
            <a:r>
              <a:rPr lang="en-US" sz="1100" i="1" dirty="0">
                <a:solidFill>
                  <a:srgbClr val="5A6472"/>
                </a:solidFill>
                <a:latin typeface="Calibri" pitchFamily="34" charset="0"/>
                <a:cs typeface="Amiri" pitchFamily="2" charset="-78"/>
              </a:rPr>
              <a:t>ti-rā-mun</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قَارِبٌ</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boat</a:t>
            </a:r>
            <a:endParaRPr lang="en-US" sz="1350" dirty="0"/>
          </a:p>
          <a:p>
            <a:pPr indent="0" marL="0">
              <a:buNone/>
            </a:pPr>
            <a:r>
              <a:rPr lang="en-US" sz="1100" i="1" dirty="0">
                <a:solidFill>
                  <a:srgbClr val="5A6472"/>
                </a:solidFill>
                <a:latin typeface="Calibri" pitchFamily="34" charset="0"/>
                <a:cs typeface="Amiri" pitchFamily="2" charset="-78"/>
              </a:rPr>
              <a:t>qā-ri-bun</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Journey actions and people (1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يَسْتَقِلُّ</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 boards transport</a:t>
            </a:r>
            <a:endParaRPr lang="en-US" sz="1350" dirty="0"/>
          </a:p>
          <a:p>
            <a:pPr indent="0" marL="0">
              <a:buNone/>
            </a:pPr>
            <a:r>
              <a:rPr lang="en-US" sz="1100" i="1" dirty="0">
                <a:solidFill>
                  <a:srgbClr val="5A6472"/>
                </a:solidFill>
                <a:latin typeface="Calibri" pitchFamily="34" charset="0"/>
                <a:cs typeface="Amiri" pitchFamily="2" charset="-78"/>
              </a:rPr>
              <a:t>yas-ta-qil-lu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3" name="Shape 20"/>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you f.</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يَرْكَبُ</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rides</a:t>
            </a:r>
            <a:endParaRPr lang="en-US" sz="1350" dirty="0"/>
          </a:p>
          <a:p>
            <a:pPr indent="0" marL="0">
              <a:buNone/>
            </a:pPr>
            <a:r>
              <a:rPr lang="en-US" sz="1100" i="1" dirty="0">
                <a:solidFill>
                  <a:srgbClr val="5A6472"/>
                </a:solidFill>
                <a:latin typeface="Calibri" pitchFamily="34" charset="0"/>
                <a:cs typeface="Amiri" pitchFamily="2" charset="-78"/>
              </a:rPr>
              <a:t>yar-ka-bu</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1" name="Text 2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يَرْكَبُ</a:t>
            </a:r>
            <a:endParaRPr lang="ar-SA" sz="150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4" name="Text 3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تَرْكَبُ</a:t>
            </a:r>
            <a:endParaRPr lang="ar-SA" sz="150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37" name="Text 34"/>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تَرْكَبِينَ</a:t>
            </a:r>
            <a:endParaRPr lang="ar-SA" sz="135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1" name="Shape 38"/>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you f.</a:t>
            </a:r>
            <a:endParaRPr lang="en-US" sz="8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يَقُودُ</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drives</a:t>
            </a:r>
            <a:endParaRPr lang="en-US" sz="1350" dirty="0"/>
          </a:p>
          <a:p>
            <a:pPr indent="0" marL="0">
              <a:buNone/>
            </a:pPr>
            <a:r>
              <a:rPr lang="en-US" sz="1100" i="1" dirty="0">
                <a:solidFill>
                  <a:srgbClr val="5A6472"/>
                </a:solidFill>
                <a:latin typeface="Calibri" pitchFamily="34" charset="0"/>
                <a:cs typeface="Amiri" pitchFamily="2" charset="-78"/>
              </a:rPr>
              <a:t>ya-qū-du</a:t>
            </a:r>
            <a:endParaRPr lang="en-US" sz="1350" dirty="0"/>
          </a:p>
        </p:txBody>
      </p:sp>
      <p:sp>
        <p:nvSpPr>
          <p:cNvPr id="47" name="Shape 4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9" name="Text 4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يَقُودُ</a:t>
            </a:r>
            <a:endParaRPr lang="ar-SA" sz="1500" dirty="0"/>
          </a:p>
        </p:txBody>
      </p:sp>
      <p:sp>
        <p:nvSpPr>
          <p:cNvPr id="50" name="Shape 4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2" name="Text 49"/>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تَقُودُ</a:t>
            </a:r>
            <a:endParaRPr lang="ar-SA" sz="1500" dirty="0"/>
          </a:p>
        </p:txBody>
      </p:sp>
      <p:sp>
        <p:nvSpPr>
          <p:cNvPr id="53" name="Shape 5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55" name="Text 52"/>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تَقُودِينَ</a:t>
            </a:r>
            <a:endParaRPr lang="ar-SA"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يَسِيرُ مَشْيًا</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walks / goes on foot</a:t>
            </a:r>
            <a:endParaRPr lang="en-US" sz="1350" dirty="0"/>
          </a:p>
          <a:p>
            <a:pPr indent="0" marL="0">
              <a:buNone/>
            </a:pPr>
            <a:r>
              <a:rPr lang="en-US" sz="1100" i="1" dirty="0">
                <a:solidFill>
                  <a:srgbClr val="5A6472"/>
                </a:solidFill>
                <a:latin typeface="Calibri" pitchFamily="34" charset="0"/>
                <a:cs typeface="Amiri" pitchFamily="2" charset="-78"/>
              </a:rPr>
              <a:t>ya-sī-ru mash-yan</a:t>
            </a:r>
            <a:endParaRPr lang="en-US"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66" name="Shape 63"/>
          <p:cNvSpPr/>
          <p:nvPr/>
        </p:nvSpPr>
        <p:spPr>
          <a:xfrm>
            <a:off x="4782312" y="4279392"/>
            <a:ext cx="1331366"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you f.</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يُسَافِرُ</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travels</a:t>
            </a:r>
            <a:endParaRPr lang="en-US" sz="1350" dirty="0"/>
          </a:p>
          <a:p>
            <a:pPr indent="0" marL="0">
              <a:buNone/>
            </a:pPr>
            <a:r>
              <a:rPr lang="en-US" sz="1100" i="1" dirty="0">
                <a:solidFill>
                  <a:srgbClr val="5A6472"/>
                </a:solidFill>
                <a:latin typeface="Calibri" pitchFamily="34" charset="0"/>
                <a:cs typeface="Amiri" pitchFamily="2" charset="-78"/>
              </a:rPr>
              <a:t>yu-sā-fi-ru</a:t>
            </a:r>
            <a:endParaRPr lang="en-US" sz="1350" dirty="0"/>
          </a:p>
        </p:txBody>
      </p:sp>
      <p:sp>
        <p:nvSpPr>
          <p:cNvPr id="72" name="Shape 6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74" name="Text 7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يُسَافِرُ</a:t>
            </a:r>
            <a:endParaRPr lang="ar-SA" sz="1500" dirty="0"/>
          </a:p>
        </p:txBody>
      </p:sp>
      <p:sp>
        <p:nvSpPr>
          <p:cNvPr id="75" name="Shape 7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7" name="Text 7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تُسَافِرُ</a:t>
            </a:r>
            <a:endParaRPr lang="ar-SA" sz="1500" dirty="0"/>
          </a:p>
        </p:txBody>
      </p:sp>
      <p:sp>
        <p:nvSpPr>
          <p:cNvPr id="78" name="Shape 7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80" name="Text 77"/>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تُسَافِرِينَ</a:t>
            </a:r>
            <a:endParaRPr lang="ar-SA" sz="13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Journey actions and people (2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سَائِقٌ</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driver</a:t>
            </a:r>
            <a:endParaRPr lang="en-US" sz="1350" dirty="0"/>
          </a:p>
          <a:p>
            <a:pPr indent="0" marL="0">
              <a:buNone/>
            </a:pPr>
            <a:r>
              <a:rPr lang="en-US" sz="1100" i="1" dirty="0">
                <a:solidFill>
                  <a:srgbClr val="5A6472"/>
                </a:solidFill>
                <a:latin typeface="Calibri" pitchFamily="34" charset="0"/>
                <a:cs typeface="Amiri" pitchFamily="2" charset="-78"/>
              </a:rPr>
              <a:t>sā-ʾi-qun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سَائِقٌ</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سَائِقَةٌ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سَائِقُونَ</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رَاكِبٌ / رَاكِبَةٌ</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passenger m/f</a:t>
            </a:r>
            <a:endParaRPr lang="en-US" sz="1350" dirty="0"/>
          </a:p>
          <a:p>
            <a:pPr indent="0" marL="0">
              <a:buNone/>
            </a:pPr>
            <a:r>
              <a:rPr lang="en-US" sz="1100" i="1" dirty="0">
                <a:solidFill>
                  <a:srgbClr val="5A6472"/>
                </a:solidFill>
                <a:latin typeface="Calibri" pitchFamily="34" charset="0"/>
                <a:cs typeface="Amiri" pitchFamily="2" charset="-78"/>
              </a:rPr>
              <a:t>rā-ki-bun / rā-ki-ba-tun</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رَاكِبٌ</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رَاكِبَةٌ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رُكَّابٌ</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رِحْلَةٌ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journey</a:t>
            </a:r>
            <a:endParaRPr lang="en-US" sz="1350" dirty="0"/>
          </a:p>
          <a:p>
            <a:pPr indent="0" marL="0">
              <a:buNone/>
            </a:pPr>
            <a:r>
              <a:rPr lang="en-US" sz="1100" i="1" dirty="0">
                <a:solidFill>
                  <a:srgbClr val="5A6472"/>
                </a:solidFill>
                <a:latin typeface="Calibri" pitchFamily="34" charset="0"/>
                <a:cs typeface="Amiri" pitchFamily="2" charset="-78"/>
              </a:rPr>
              <a:t>riḥ-la-tun</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طَرِيقٌ</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route</a:t>
            </a:r>
            <a:endParaRPr lang="en-US" sz="1350" dirty="0"/>
          </a:p>
          <a:p>
            <a:pPr indent="0" marL="0">
              <a:buNone/>
            </a:pPr>
            <a:r>
              <a:rPr lang="en-US" sz="1100" i="1" dirty="0">
                <a:solidFill>
                  <a:srgbClr val="5A6472"/>
                </a:solidFill>
                <a:latin typeface="Calibri" pitchFamily="34" charset="0"/>
                <a:cs typeface="Amiri" pitchFamily="2" charset="-78"/>
              </a:rPr>
              <a:t>ṭa-rī-qun</a:t>
            </a:r>
            <a:endParaRPr lang="en-US" sz="135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مَوَاصَلَاتٌ عَامَّةٌ</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transport</a:t>
            </a:r>
            <a:endParaRPr lang="en-US" sz="1350" dirty="0"/>
          </a:p>
          <a:p>
            <a:pPr indent="0" marL="0">
              <a:buNone/>
            </a:pPr>
            <a:r>
              <a:rPr lang="en-US" sz="1100" i="1" dirty="0">
                <a:solidFill>
                  <a:srgbClr val="5A6472"/>
                </a:solidFill>
                <a:latin typeface="Calibri" pitchFamily="34" charset="0"/>
                <a:cs typeface="Amiri" pitchFamily="2" charset="-78"/>
              </a:rPr>
              <a:t>ma-wā-ṣa-lā-tun ʿām-ma-tun</a:t>
            </a:r>
            <a:endParaRPr lang="en-US"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Stations and tickets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تَذْكِرَةٌ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ticket</a:t>
            </a:r>
            <a:endParaRPr lang="en-US" sz="1350" dirty="0"/>
          </a:p>
          <a:p>
            <a:pPr indent="0" marL="0">
              <a:buNone/>
            </a:pPr>
            <a:r>
              <a:rPr lang="en-US" sz="1100" i="1" dirty="0">
                <a:solidFill>
                  <a:srgbClr val="5A6472"/>
                </a:solidFill>
                <a:latin typeface="Calibri" pitchFamily="34" charset="0"/>
                <a:cs typeface="Amiri" pitchFamily="2" charset="-78"/>
              </a:rPr>
              <a:t>tadh-ki-ra-tun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ذَهَابًا فَقَطْ</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way</a:t>
            </a:r>
            <a:endParaRPr lang="en-US" sz="1350" dirty="0"/>
          </a:p>
          <a:p>
            <a:pPr indent="0" marL="0">
              <a:buNone/>
            </a:pPr>
            <a:r>
              <a:rPr lang="en-US" sz="1100" i="1" dirty="0">
                <a:solidFill>
                  <a:srgbClr val="5A6472"/>
                </a:solidFill>
                <a:latin typeface="Calibri" pitchFamily="34" charset="0"/>
                <a:cs typeface="Amiri" pitchFamily="2" charset="-78"/>
              </a:rPr>
              <a:t>dha-hā-ban fa-qaṭ</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ذَهَابًا وَإِيَابًا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return</a:t>
            </a:r>
            <a:endParaRPr lang="en-US" sz="1350" dirty="0"/>
          </a:p>
          <a:p>
            <a:pPr indent="0" marL="0">
              <a:buNone/>
            </a:pPr>
            <a:r>
              <a:rPr lang="en-US" sz="1100" i="1" dirty="0">
                <a:solidFill>
                  <a:srgbClr val="5A6472"/>
                </a:solidFill>
                <a:latin typeface="Calibri" pitchFamily="34" charset="0"/>
                <a:cs typeface="Amiri" pitchFamily="2" charset="-78"/>
              </a:rPr>
              <a:t>dha-hā-ban wa-ʾi-yā-ban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مَحَطَّةُ الحَافِلَاتِ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 station</a:t>
            </a:r>
            <a:endParaRPr lang="en-US" sz="1350" dirty="0"/>
          </a:p>
          <a:p>
            <a:pPr indent="0" marL="0">
              <a:buNone/>
            </a:pPr>
            <a:r>
              <a:rPr lang="en-US" sz="1100" i="1" dirty="0">
                <a:solidFill>
                  <a:srgbClr val="5A6472"/>
                </a:solidFill>
                <a:latin typeface="Calibri" pitchFamily="34" charset="0"/>
                <a:cs typeface="Amiri" pitchFamily="2" charset="-78"/>
              </a:rPr>
              <a:t>ma-ḥaṭ-ṭa-tu al-ḥā-fi-lā-ti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مَحَطَّةُ القِطَارِ</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 station</a:t>
            </a:r>
            <a:endParaRPr lang="en-US" sz="1350" dirty="0"/>
          </a:p>
          <a:p>
            <a:pPr indent="0" marL="0">
              <a:buNone/>
            </a:pPr>
            <a:r>
              <a:rPr lang="en-US" sz="1100" i="1" dirty="0">
                <a:solidFill>
                  <a:srgbClr val="5A6472"/>
                </a:solidFill>
                <a:latin typeface="Calibri" pitchFamily="34" charset="0"/>
                <a:cs typeface="Amiri" pitchFamily="2" charset="-78"/>
              </a:rPr>
              <a:t>ma-ḥaṭ-ṭa-tu al-qi-ṭā-ri</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Stations and tickets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رَصِيفٌ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platform</a:t>
            </a:r>
            <a:endParaRPr lang="en-US" sz="1350" dirty="0"/>
          </a:p>
          <a:p>
            <a:pPr indent="0" marL="0">
              <a:buNone/>
            </a:pPr>
            <a:r>
              <a:rPr lang="en-US" sz="1100" i="1" dirty="0">
                <a:solidFill>
                  <a:srgbClr val="5A6472"/>
                </a:solidFill>
                <a:latin typeface="Calibri" pitchFamily="34" charset="0"/>
                <a:cs typeface="Amiri" pitchFamily="2" charset="-78"/>
              </a:rPr>
              <a:t>ra-ṣī-fun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خَطٌّ</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line / route</a:t>
            </a:r>
            <a:endParaRPr lang="en-US" sz="1350" dirty="0"/>
          </a:p>
          <a:p>
            <a:pPr indent="0" marL="0">
              <a:buNone/>
            </a:pPr>
            <a:r>
              <a:rPr lang="en-US" sz="1100" i="1" dirty="0">
                <a:solidFill>
                  <a:srgbClr val="5A6472"/>
                </a:solidFill>
                <a:latin typeface="Calibri" pitchFamily="34" charset="0"/>
                <a:cs typeface="Amiri" pitchFamily="2" charset="-78"/>
              </a:rPr>
              <a:t>khaṭ-ṭun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مَوْعِدُ المُغَادَرَةِ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departure time</a:t>
            </a:r>
            <a:endParaRPr lang="en-US" sz="1350" dirty="0"/>
          </a:p>
          <a:p>
            <a:pPr indent="0" marL="0">
              <a:buNone/>
            </a:pPr>
            <a:r>
              <a:rPr lang="en-US" sz="1100" i="1" dirty="0">
                <a:solidFill>
                  <a:srgbClr val="5A6472"/>
                </a:solidFill>
                <a:latin typeface="Calibri" pitchFamily="34" charset="0"/>
                <a:cs typeface="Amiri" pitchFamily="2" charset="-78"/>
              </a:rPr>
              <a:t>maw-ʿi-du al-mu-ghā-da-ra-ti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مَوْعِدُ الوُصُولِ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arrival time</a:t>
            </a:r>
            <a:endParaRPr lang="en-US" sz="1350" dirty="0"/>
          </a:p>
          <a:p>
            <a:pPr indent="0" marL="0">
              <a:buNone/>
            </a:pPr>
            <a:r>
              <a:rPr lang="en-US" sz="1100" i="1" dirty="0">
                <a:solidFill>
                  <a:srgbClr val="5A6472"/>
                </a:solidFill>
                <a:latin typeface="Calibri" pitchFamily="34" charset="0"/>
                <a:cs typeface="Amiri" pitchFamily="2" charset="-78"/>
              </a:rPr>
              <a:t>maw-ʿi-du al-wu-ṣū-li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THREE TRAVEL PATTERNS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By bus · on a bike · on foot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بِـ · عَلَى · مَشْيًا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34272" y="1810512"/>
            <a:ext cx="2624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3273552"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070848" y="2267712"/>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to school by bus.</a:t>
            </a:r>
            <a:endParaRPr lang="en-US" sz="1100" dirty="0"/>
          </a:p>
        </p:txBody>
      </p:sp>
      <p:sp>
        <p:nvSpPr>
          <p:cNvPr id="21" name="Text 18"/>
          <p:cNvSpPr txBox="1"/>
          <p:nvPr/>
        </p:nvSpPr>
        <p:spPr>
          <a:xfrm>
            <a:off x="3291840" y="2267712"/>
            <a:ext cx="5577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أَذْهَبُ إِلَى المَدْرَسَةِ </a:t>
            </a:r>
            <a:pPr rtl="1" algn="ctr" indent="0" marL="0">
              <a:buNone/>
            </a:pPr>
            <a:r>
              <a:rPr lang="ar-SA" altLang="en-US" sz="2400" b="1" dirty="0">
                <a:solidFill>
                  <a:srgbClr val="1D5FBF"/>
                </a:solidFill>
                <a:latin typeface="Amiri" pitchFamily="2" charset="-78"/>
                <a:cs typeface="Amiri" pitchFamily="2" charset="-78"/>
              </a:rPr>
              <a:t>بِ</a:t>
            </a:r>
            <a:pPr rtl="1" algn="ctr" indent="0" marL="0">
              <a:buNone/>
            </a:pPr>
            <a:r>
              <a:rPr lang="ar-SA" altLang="en-US" sz="2400" b="1" dirty="0">
                <a:solidFill>
                  <a:srgbClr val="1B3B6F"/>
                </a:solidFill>
                <a:latin typeface="Amiri" pitchFamily="2" charset="-78"/>
                <a:cs typeface="Amiri" pitchFamily="2" charset="-78"/>
              </a:rPr>
              <a:t>الحَافِلَةِ.</a:t>
            </a:r>
            <a:endParaRPr lang="ar-SA" sz="24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motor transport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070848" y="300471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travel to London by train.</a:t>
            </a:r>
            <a:endParaRPr lang="en-US" sz="1100" dirty="0"/>
          </a:p>
        </p:txBody>
      </p:sp>
      <p:sp>
        <p:nvSpPr>
          <p:cNvPr id="27" name="Text 24"/>
          <p:cNvSpPr txBox="1"/>
          <p:nvPr/>
        </p:nvSpPr>
        <p:spPr>
          <a:xfrm>
            <a:off x="3291840" y="3004718"/>
            <a:ext cx="5577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أُسَافِرُ إِلَى لَنْدَنَ </a:t>
            </a:r>
            <a:pPr rtl="1" algn="ctr" indent="0" marL="0">
              <a:buNone/>
            </a:pPr>
            <a:r>
              <a:rPr lang="ar-SA" altLang="en-US" sz="2400" b="1" dirty="0">
                <a:solidFill>
                  <a:srgbClr val="1D5FBF"/>
                </a:solidFill>
                <a:latin typeface="Amiri" pitchFamily="2" charset="-78"/>
                <a:cs typeface="Amiri" pitchFamily="2" charset="-78"/>
              </a:rPr>
              <a:t>بِ</a:t>
            </a:r>
            <a:pPr rtl="1" algn="ctr" indent="0" marL="0">
              <a:buNone/>
            </a:pPr>
            <a:r>
              <a:rPr lang="ar-SA" altLang="en-US" sz="2400" b="1" dirty="0">
                <a:solidFill>
                  <a:srgbClr val="1B3B6F"/>
                </a:solidFill>
                <a:latin typeface="Amiri" pitchFamily="2" charset="-78"/>
                <a:cs typeface="Amiri" pitchFamily="2" charset="-78"/>
              </a:rPr>
              <a:t>القِطَارِ.</a:t>
            </a:r>
            <a:endParaRPr lang="ar-SA" sz="24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motor transport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070848" y="3741725"/>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go to the airport by taxi.</a:t>
            </a:r>
            <a:endParaRPr lang="en-US" sz="1100" dirty="0"/>
          </a:p>
        </p:txBody>
      </p:sp>
      <p:sp>
        <p:nvSpPr>
          <p:cNvPr id="33" name="Text 30"/>
          <p:cNvSpPr txBox="1"/>
          <p:nvPr/>
        </p:nvSpPr>
        <p:spPr>
          <a:xfrm>
            <a:off x="3291840" y="3741725"/>
            <a:ext cx="5577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نَذْهَبُ إِلَى المَطَارِ </a:t>
            </a:r>
            <a:pPr rtl="1" algn="ctr" indent="0" marL="0">
              <a:buNone/>
            </a:pPr>
            <a:r>
              <a:rPr lang="ar-SA" altLang="en-US" sz="2400" b="1" dirty="0">
                <a:solidFill>
                  <a:srgbClr val="1D5FBF"/>
                </a:solidFill>
                <a:latin typeface="Amiri" pitchFamily="2" charset="-78"/>
                <a:cs typeface="Amiri" pitchFamily="2" charset="-78"/>
              </a:rPr>
              <a:t>بِ</a:t>
            </a:r>
            <a:pPr rtl="1" algn="ctr" indent="0" marL="0">
              <a:buNone/>
            </a:pPr>
            <a:r>
              <a:rPr lang="ar-SA" altLang="en-US" sz="2400" b="1" dirty="0">
                <a:solidFill>
                  <a:srgbClr val="1B3B6F"/>
                </a:solidFill>
                <a:latin typeface="Amiri" pitchFamily="2" charset="-78"/>
                <a:cs typeface="Amiri" pitchFamily="2" charset="-78"/>
              </a:rPr>
              <a:t>سَيَّارَةِ أُجْرَةٍ.</a:t>
            </a:r>
            <a:endParaRPr lang="ar-SA" sz="24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indefinite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070848" y="4478731"/>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to the park by bike.</a:t>
            </a:r>
            <a:endParaRPr lang="en-US" sz="1100" dirty="0"/>
          </a:p>
        </p:txBody>
      </p:sp>
      <p:sp>
        <p:nvSpPr>
          <p:cNvPr id="37" name="Text 34"/>
          <p:cNvSpPr txBox="1"/>
          <p:nvPr/>
        </p:nvSpPr>
        <p:spPr>
          <a:xfrm>
            <a:off x="3291840" y="4478731"/>
            <a:ext cx="5577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أَذْهَبُ إِلَى الحَدِيقَةِ </a:t>
            </a:r>
            <a:pPr rtl="1" algn="ctr" indent="0" marL="0">
              <a:buNone/>
            </a:pPr>
            <a:r>
              <a:rPr lang="ar-SA" altLang="en-US" sz="2400" b="1" dirty="0">
                <a:solidFill>
                  <a:srgbClr val="7B3FA0"/>
                </a:solidFill>
                <a:latin typeface="Amiri" pitchFamily="2" charset="-78"/>
                <a:cs typeface="Amiri" pitchFamily="2" charset="-78"/>
              </a:rPr>
              <a:t>عَلَى</a:t>
            </a:r>
            <a:pPr rtl="1" algn="ctr" indent="0" marL="0">
              <a:buNone/>
            </a:pPr>
            <a:r>
              <a:rPr lang="ar-SA" altLang="en-US" sz="2400" b="1" dirty="0">
                <a:solidFill>
                  <a:srgbClr val="1B3B6F"/>
                </a:solidFill>
                <a:latin typeface="Amiri" pitchFamily="2" charset="-78"/>
                <a:cs typeface="Amiri" pitchFamily="2" charset="-78"/>
              </a:rPr>
              <a:t> الدَّرَّاجَةِ.</a:t>
            </a:r>
            <a:endParaRPr lang="ar-SA" sz="2400" dirty="0"/>
          </a:p>
        </p:txBody>
      </p:sp>
      <p:sp>
        <p:nvSpPr>
          <p:cNvPr id="38" name="Text 35"/>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 + ride on</a:t>
            </a:r>
            <a:endParaRPr lang="en-US" sz="11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070848" y="521573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walk to the library.</a:t>
            </a:r>
            <a:endParaRPr lang="en-US" sz="1100" dirty="0"/>
          </a:p>
        </p:txBody>
      </p:sp>
      <p:sp>
        <p:nvSpPr>
          <p:cNvPr id="43" name="Text 40"/>
          <p:cNvSpPr txBox="1"/>
          <p:nvPr/>
        </p:nvSpPr>
        <p:spPr>
          <a:xfrm>
            <a:off x="3291840" y="5215738"/>
            <a:ext cx="5577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أَذْهَبُ إِلَى المَكْتَبَةِ </a:t>
            </a:r>
            <a:pPr rtl="1" algn="ctr" indent="0" marL="0">
              <a:buNone/>
            </a:pPr>
            <a:r>
              <a:rPr lang="ar-SA" altLang="en-US" sz="2400" b="1" dirty="0">
                <a:solidFill>
                  <a:srgbClr val="0E7C86"/>
                </a:solidFill>
                <a:latin typeface="Amiri" pitchFamily="2" charset="-78"/>
                <a:cs typeface="Amiri" pitchFamily="2" charset="-78"/>
              </a:rPr>
              <a:t>مَشْيًا</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mashyan (nothing before)</a:t>
            </a:r>
            <a:endParaRPr lang="en-US" sz="1100" dirty="0"/>
          </a:p>
        </p:txBody>
      </p:sp>
      <p:sp>
        <p:nvSpPr>
          <p:cNvPr id="45" name="Shape 42"/>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bi- joins the word: bi + al-ḥāfila → bil-ḥāfilati. Never write bi-mashyan.</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HOW DO YOU TRAVEL? (WEBSITE RULE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do you go to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كَيْفَ تَذْهَبُ؟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229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TO A BOY</a:t>
            </a:r>
            <a:endParaRPr lang="en-US" sz="850" dirty="0"/>
          </a:p>
        </p:txBody>
      </p:sp>
      <p:sp>
        <p:nvSpPr>
          <p:cNvPr id="18" name="Text 15"/>
          <p:cNvSpPr txBox="1"/>
          <p:nvPr/>
        </p:nvSpPr>
        <p:spPr>
          <a:xfrm>
            <a:off x="9101328"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كَيْفَ تَذْهَبُ؟</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cs typeface="Amiri" pitchFamily="2" charset="-78"/>
              </a:rPr>
              <a:t>كَيْفَ تَذْهَبُ إِلَى المَدْرَسَةِ؟</a:t>
            </a:r>
            <a:endParaRPr lang="ar-SA" sz="31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do you (m.) go to school?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ta-dh-ha-bu</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915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TO A GIRL</a:t>
            </a:r>
            <a:endParaRPr lang="en-US" sz="850" dirty="0"/>
          </a:p>
        </p:txBody>
      </p:sp>
      <p:sp>
        <p:nvSpPr>
          <p:cNvPr id="26" name="Text 23"/>
          <p:cNvSpPr txBox="1"/>
          <p:nvPr/>
        </p:nvSpPr>
        <p:spPr>
          <a:xfrm>
            <a:off x="5350764"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كَيْفَ تَذْهَبِينَ؟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cs typeface="Amiri" pitchFamily="2" charset="-78"/>
              </a:rPr>
              <a:t>كَيْفَ تَذْهَبِينَ إِلَى المَدْرَسَةِ؟</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do you (f.) go to school?</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add -īna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ANSWER + REASON</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أَذْهَبُ … لِأَنَّ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أَذْهَبُ بِالحَافِلَةِ لِأَنَّ بَيْتِي بَعِيدٌ.</a:t>
            </a:r>
            <a:endParaRPr lang="ar-SA" sz="23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go by bus because my house is far.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for I.</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to a girl the verb ends in -īna.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كَيْفَ تَذْهَبِينَ؟</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كَيْفَ تَذْهَبُ؟</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Transport verbs and the correct preposition</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cs typeface="Amiri" pitchFamily="2" charset="-78"/>
              </a:rPr>
              <a:t>أَفْعَالُ المُوَاصَلَاتِ وَحَرْفُ الجَرِّ الصَّحِيحُ</a:t>
            </a:r>
            <a:endParaRPr lang="ar-SA" sz="26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Travel by most motorised transport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أَذْهَبُ / أُسَافِرُ + بِـ + وَسِيلَةِ النَّقْلِ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أَذْهَبُ إِلَى المَدْرَسَةِ بِالحَافِلَةِ.   ·   أُسَافِرُ إِلَى لَنْدَنَ بِالقِطَارِ.   ·   نَذْهَبُ إِلَى المَطَارِ بِسَيَّارَةِ أُجْرَةٍ.</a:t>
            </a:r>
            <a:endParaRPr lang="ar-SA" sz="18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Ride on a bicycle or motorbike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أَرْكَبُ / أَذْهَبُ + عَلَى + الدَّرَّاجَةِ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أَرْكَبُ الدَّرَّاجَةَ.   ·   أَذْهَبُ إِلَى الحَدِيقَةِ عَلَى الدَّرَّاجَةِ.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Say “on foot”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أَذْهَبُ / أَسِيرُ + مَشْيًا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أَذْهَبُ إِلَى المَكْتَبَةِ مَشْيًا.   ·   أَسِيرُ مَشْيًا لِمُدَّةِ عَشْرِ دَقَائِقَ.</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Ask and answer how someone travels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كَيْفَ تُسَافِرُ؟ / كَيْفَ تَذْهَبُ؟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كَيْفَ تَذْهَبُ إِلَى المَدْرَسَةِ؟   ·   كَيْفَ تَذْهَبِينَ إِلَى المَدْرَسَةِ؟   ·   أَذْهَبُ بِالمِتْرُو.</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by bus.”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عَلَى الحَافِلَةِ.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مَشْيًا الحَافِلَةَ.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بِالحَافِلَةِ.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on foot.”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مَشْيًا.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بِالمَشْيِ.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عَلَى المَشْيِ.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how he travels.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تُسَافِرِينَ؟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تُسَافِرُ؟</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أُسَافِرُ؟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how she goes to school.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تَذْهَبِينَ إِلَى المَدْرَسَةِ؟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تَذْهَبُ إِلَى المَدْرَسَةِ؟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تَذْهَبِينَ؟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by bus.”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عَلَى الحَافِلَةِ.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مَشْيًا الحَافِلَةَ.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أَذْهَبُ بِالحَافِلَةِ.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bus.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on foot.”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أَذْهَبُ مَشْيًا.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بِالمَشْيِ.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عَلَى المَشْيِ.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مَشْيًا</a:t>
            </a:r>
            <a:pPr algn="l" indent="0" marL="0">
              <a:buNone/>
            </a:pPr>
            <a:r>
              <a:rPr lang="en-US" sz="1050" i="1" dirty="0">
                <a:solidFill>
                  <a:srgbClr val="8A6D1E"/>
                </a:solidFill>
                <a:latin typeface="Calibri" pitchFamily="34" charset="0"/>
                <a:cs typeface="Amiri" pitchFamily="2" charset="-78"/>
              </a:rPr>
              <a:t> is used without a preposition.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how he travels.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 تُسَافِرِينَ؟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كَيْفَ تُسَافِرُ؟</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 أُسَافِرُ؟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تُسَافِرُ</a:t>
            </a:r>
            <a:pPr algn="l" indent="0" marL="0">
              <a:buNone/>
            </a:pPr>
            <a:r>
              <a:rPr lang="en-US" sz="1050" i="1" dirty="0">
                <a:solidFill>
                  <a:srgbClr val="8A6D1E"/>
                </a:solidFill>
                <a:latin typeface="Calibri" pitchFamily="34" charset="0"/>
                <a:cs typeface="Amiri" pitchFamily="2" charset="-78"/>
              </a:rPr>
              <a:t> addresses one male person.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how she goes to school.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كَيْفَ تَذْهَبِينَ إِلَى المَدْرَسَةِ؟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 تَذْهَبُ إِلَى المَدْرَسَةِ؟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تَذْهَبِينَ؟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singular addressee form ends </a:t>
            </a:r>
            <a:pPr algn="l" indent="0" marL="0">
              <a:buNone/>
            </a:pPr>
            <a:r>
              <a:rPr lang="ar-SA" altLang="en-US" sz="1350" dirty="0">
                <a:solidFill>
                  <a:srgbClr val="8A6D1E"/>
                </a:solidFill>
                <a:latin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compare three journeys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أَذْهَبُ إِلَى المَدْرَسَةِ </a:t>
            </a:r>
            <a:pPr rtl="1" algn="ctr" indent="0" marL="0">
              <a:lnSpc>
                <a:spcPct val="120000"/>
              </a:lnSpc>
              <a:buNone/>
            </a:pPr>
            <a:r>
              <a:rPr lang="ar-SA" altLang="en-US" sz="1750" b="1" dirty="0">
                <a:solidFill>
                  <a:srgbClr val="1D5FBF"/>
                </a:solidFill>
                <a:latin typeface="Amiri" pitchFamily="2" charset="-78"/>
                <a:cs typeface="Amiri" pitchFamily="2" charset="-78"/>
              </a:rPr>
              <a:t>بِ</a:t>
            </a:r>
            <a:pPr rtl="1" algn="ctr" indent="0" marL="0">
              <a:lnSpc>
                <a:spcPct val="120000"/>
              </a:lnSpc>
              <a:buNone/>
            </a:pPr>
            <a:r>
              <a:rPr lang="ar-SA" altLang="en-US" sz="1750" b="1" dirty="0">
                <a:solidFill>
                  <a:srgbClr val="1B3B6F"/>
                </a:solidFill>
                <a:latin typeface="Amiri" pitchFamily="2" charset="-78"/>
                <a:cs typeface="Amiri" pitchFamily="2" charset="-78"/>
              </a:rPr>
              <a:t>الحَافِلَةِ كُلَّ يَوْمٍ لِأَنَّ بَيْتِي بَعِيدٌ.</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Bus = bi- · + reason.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My sister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أَمَّا أُخْتِي فَتَذْهَبُ </a:t>
            </a:r>
            <a:pPr rtl="1" algn="ctr" indent="0" marL="0">
              <a:lnSpc>
                <a:spcPct val="120000"/>
              </a:lnSpc>
              <a:buNone/>
            </a:pPr>
            <a:r>
              <a:rPr lang="ar-SA" altLang="en-US" sz="1750" b="1" dirty="0">
                <a:solidFill>
                  <a:srgbClr val="7B3FA0"/>
                </a:solidFill>
                <a:latin typeface="Amiri" pitchFamily="2" charset="-78"/>
                <a:cs typeface="Amiri" pitchFamily="2" charset="-78"/>
              </a:rPr>
              <a:t>عَلَى</a:t>
            </a:r>
            <a:pPr rtl="1" algn="ctr" indent="0" marL="0">
              <a:lnSpc>
                <a:spcPct val="120000"/>
              </a:lnSpc>
              <a:buNone/>
            </a:pPr>
            <a:r>
              <a:rPr lang="ar-SA" altLang="en-US" sz="1750" b="1" dirty="0">
                <a:solidFill>
                  <a:srgbClr val="1B3B6F"/>
                </a:solidFill>
                <a:latin typeface="Amiri" pitchFamily="2" charset="-78"/>
                <a:cs typeface="Amiri" pitchFamily="2" charset="-78"/>
              </a:rPr>
              <a:t> الدَّرَّاجَةِ لِأَنَّ مَدْرَسَتَهَا قَرِيبَةٌ.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 ta- · bike = ʿalā.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My father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أَبِي يَقُودُ السَّيَّارَةَ إِلَى العَمَلِ، ثُمَّ يَسْتَقِلُّ القِطَارَ …</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 → ya- · drives the car.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أُفَضِّلُ القِطَارَ لِأَنَّهُ سَرِيعٌ، وَلَكِنِّي أَسِيرُ </a:t>
            </a:r>
            <a:pPr rtl="1" algn="ctr" indent="0" marL="0">
              <a:lnSpc>
                <a:spcPct val="120000"/>
              </a:lnSpc>
              <a:buNone/>
            </a:pPr>
            <a:r>
              <a:rPr lang="ar-SA" altLang="en-US" sz="1750" b="1" dirty="0">
                <a:solidFill>
                  <a:srgbClr val="0E7C86"/>
                </a:solidFill>
                <a:latin typeface="Amiri" pitchFamily="2" charset="-78"/>
                <a:cs typeface="Amiri" pitchFamily="2" charset="-78"/>
              </a:rPr>
              <a:t>مَشْيًا</a:t>
            </a:r>
            <a:pPr rtl="1" algn="ctr" indent="0" marL="0">
              <a:lnSpc>
                <a:spcPct val="120000"/>
              </a:lnSpc>
              <a:buNone/>
            </a:pPr>
            <a:r>
              <a:rPr lang="ar-SA" altLang="en-US" sz="1750" b="1" dirty="0">
                <a:solidFill>
                  <a:srgbClr val="1B3B6F"/>
                </a:solidFill>
                <a:latin typeface="Amiri" pitchFamily="2" charset="-78"/>
                <a:cs typeface="Amiri" pitchFamily="2" charset="-78"/>
              </a:rPr>
              <a:t> فِي الحَيِّ.</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Walking: mashyan.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BY (BI-)</a:t>
            </a:r>
            <a:endParaRPr lang="en-US" sz="800" dirty="0"/>
          </a:p>
        </p:txBody>
      </p:sp>
      <p:sp>
        <p:nvSpPr>
          <p:cNvPr id="47" name="Shape 43"/>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ON (ʿALĀ)</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ON FOOT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أَذْهَبُ إِلَى المَدْرَسَةِ </a:t>
            </a:r>
            <a:pPr rtl="1" algn="r" indent="0" marL="0">
              <a:lnSpc>
                <a:spcPct val="120000"/>
              </a:lnSpc>
              <a:buNone/>
            </a:pPr>
            <a:r>
              <a:rPr lang="ar-SA" altLang="en-US" sz="1400" b="1" dirty="0">
                <a:solidFill>
                  <a:srgbClr val="1D5FBF"/>
                </a:solidFill>
                <a:latin typeface="Amiri" pitchFamily="2" charset="-78"/>
                <a:cs typeface="Amiri" pitchFamily="2" charset="-78"/>
              </a:rPr>
              <a:t>بِ</a:t>
            </a:r>
            <a:pPr rtl="1" algn="r" indent="0" marL="0">
              <a:lnSpc>
                <a:spcPct val="120000"/>
              </a:lnSpc>
              <a:buNone/>
            </a:pPr>
            <a:r>
              <a:rPr lang="ar-SA" altLang="en-US" sz="1400" b="1" dirty="0">
                <a:solidFill>
                  <a:srgbClr val="1B3B6F"/>
                </a:solidFill>
                <a:latin typeface="Amiri" pitchFamily="2" charset="-78"/>
                <a:cs typeface="Amiri" pitchFamily="2" charset="-78"/>
              </a:rPr>
              <a:t>الحَافِلَةِ كُلَّ يَوْمٍ لِأَنَّ بَيْتِي بَعِيدٌ. أَمَّا أُخْتِي فَتَذْهَبُ </a:t>
            </a:r>
            <a:pPr rtl="1" algn="r" indent="0" marL="0">
              <a:lnSpc>
                <a:spcPct val="120000"/>
              </a:lnSpc>
              <a:buNone/>
            </a:pPr>
            <a:r>
              <a:rPr lang="ar-SA" altLang="en-US" sz="1400" b="1" dirty="0">
                <a:solidFill>
                  <a:srgbClr val="7B3FA0"/>
                </a:solidFill>
                <a:latin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cs typeface="Amiri" pitchFamily="2" charset="-78"/>
              </a:rPr>
              <a:t> الدَّرَّاجَةِ لِأَنَّ مَدْرَسَتَهَا قَرِيبَةٌ. أَبِي يَقُودُ السَّيَّارَةَ إِلَى العَمَلِ، ثُمَّ يَسْتَقِلُّ القِطَارَ عِنْدَمَا يَزُورُ مَدِينَةً أُخْرَى. أُفَضِّلُ القِطَارَ لِأَنَّهُ سَرِيعٌ وَمُرِيحٌ، وَلَكِنِّي أَسِيرُ </a:t>
            </a:r>
            <a:pPr rtl="1" algn="r" indent="0" marL="0">
              <a:lnSpc>
                <a:spcPct val="120000"/>
              </a:lnSpc>
              <a:buNone/>
            </a:pPr>
            <a:r>
              <a:rPr lang="ar-SA" altLang="en-US" sz="1400" b="1" dirty="0">
                <a:solidFill>
                  <a:srgbClr val="0E7C86"/>
                </a:solidFill>
                <a:latin typeface="Amiri" pitchFamily="2" charset="-78"/>
                <a:cs typeface="Amiri" pitchFamily="2" charset="-78"/>
              </a:rPr>
              <a:t>مَشْيًا</a:t>
            </a:r>
            <a:pPr rtl="1" algn="r" indent="0" marL="0">
              <a:lnSpc>
                <a:spcPct val="120000"/>
              </a:lnSpc>
              <a:buNone/>
            </a:pPr>
            <a:r>
              <a:rPr lang="ar-SA" altLang="en-US" sz="1400" b="1" dirty="0">
                <a:solidFill>
                  <a:srgbClr val="1B3B6F"/>
                </a:solidFill>
                <a:latin typeface="Amiri" pitchFamily="2" charset="-78"/>
                <a:cs typeface="Amiri" pitchFamily="2" charset="-78"/>
              </a:rPr>
              <a:t> فِي الحَيِّ لِأَنَّ المَشْيَ صِحِّيٌّ.</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go to school by bus every day because my house is far. As for my sister, she goes by bike because her school is near. My father drives the car to work, then takes the train when he visits another city. I prefer the train because it is fast and comfortable, but I walk around the neighbourhood because walking is healthy.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أَذْهَبُ إِلَى المَدْرَسَةِ بِالحَافِلَةِ.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go to school by bus.</a:t>
            </a:r>
            <a:endParaRPr lang="en-US" sz="1250" dirty="0"/>
          </a:p>
          <a:p>
            <a:pPr indent="0" marL="0">
              <a:buNone/>
            </a:pPr>
            <a:r>
              <a:rPr lang="en-US" sz="1050" i="1" dirty="0">
                <a:solidFill>
                  <a:srgbClr val="8A6D1E"/>
                </a:solidFill>
                <a:latin typeface="Calibri" pitchFamily="34" charset="0"/>
                <a:cs typeface="Amiri" pitchFamily="2" charset="-78"/>
              </a:rPr>
              <a:t>Use بِـ with the bus.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أَذْهَبُ إِلَى الحَدِيقَةِ عَلَى الدَّرَّاجَةِ.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go to the park by bicycle.</a:t>
            </a:r>
            <a:endParaRPr lang="en-US" sz="1250" dirty="0"/>
          </a:p>
          <a:p>
            <a:pPr indent="0" marL="0">
              <a:buNone/>
            </a:pPr>
            <a:r>
              <a:rPr lang="en-US" sz="1050" i="1" dirty="0">
                <a:solidFill>
                  <a:srgbClr val="8A6D1E"/>
                </a:solidFill>
                <a:latin typeface="Calibri" pitchFamily="34" charset="0"/>
                <a:cs typeface="Amiri" pitchFamily="2" charset="-78"/>
              </a:rPr>
              <a:t>Use عَلَى with a bicycle.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أَذْهَبُ إِلَى المَكْتَبَةِ مَشْيًا.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walk to the library.</a:t>
            </a:r>
            <a:endParaRPr lang="en-US" sz="1250" dirty="0"/>
          </a:p>
          <a:p>
            <a:pPr indent="0" marL="0">
              <a:buNone/>
            </a:pPr>
            <a:r>
              <a:rPr lang="en-US" sz="1050" i="1" dirty="0">
                <a:solidFill>
                  <a:srgbClr val="8A6D1E"/>
                </a:solidFill>
                <a:latin typeface="Calibri" pitchFamily="34" charset="0"/>
                <a:cs typeface="Amiri" pitchFamily="2" charset="-78"/>
              </a:rPr>
              <a:t>No preposition before مَشْيًا.</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كَيْفَ تَذْهَبِينَ إِلَى المَدْرَسَةِ؟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do you (f) go to school?</a:t>
            </a:r>
            <a:endParaRPr lang="en-US" sz="1250" dirty="0"/>
          </a:p>
          <a:p>
            <a:pPr indent="0" marL="0">
              <a:buNone/>
            </a:pPr>
            <a:r>
              <a:rPr lang="en-US" sz="1050" i="1" dirty="0">
                <a:solidFill>
                  <a:srgbClr val="8A6D1E"/>
                </a:solidFill>
                <a:latin typeface="Calibri" pitchFamily="34" charset="0"/>
                <a:cs typeface="Amiri" pitchFamily="2" charset="-78"/>
              </a:rPr>
              <a:t>The feminine addressee form ends ـينَ.</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TRANSPORT: TYPES AND HOW WE TRAVEL”</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How do they travel? Match the picture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وَسَائِلُ النَّقْلِ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bus</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train</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plane</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أُسَافِرُ بِالقِطَارِ.</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أُسَافِرُ بِالطَّائِرَةِ.</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أَذْهَبُ بِالحَافِلَةِ.</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وَسَائِلُ النَّقْلِ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bus</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أَذْهَبُ بِالحَافِلَةِ.</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by bus.</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train</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أُسَافِرُ بِالقِطَارِ.</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travel by train.</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plane</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أُسَافِرُ بِالطَّائِرَةِ.</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travel by plane.</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travel pattern?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القِطَارُ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الحَافِلَةُ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الطَّائِرَةُ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سَيَّارَةُ أُجْرَةٍ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الدَّرَّاجَةُ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الدَّرَّاجَةُ النَّارِيَّةُ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القَدَمَيْنِ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مَشْيًا</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بِـ · by motorised transport</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عَلَى · on a rideable vehicle</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مَشْيًا · on foot</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بِـ · by motorised transport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القِطَارُ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الحَافِلَةُ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الطَّائِرَةُ</a:t>
            </a:r>
            <a:endParaRPr lang="ar-SA" sz="1800" dirty="0"/>
          </a:p>
        </p:txBody>
      </p:sp>
      <p:sp>
        <p:nvSpPr>
          <p:cNvPr id="24" name="Shape 21"/>
          <p:cNvSpPr/>
          <p:nvPr/>
        </p:nvSpPr>
        <p:spPr>
          <a:xfrm>
            <a:off x="8232648" y="3913632"/>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913632"/>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سَيَّارَةُ أُجْرَةٍ</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عَلَى · on a rideable vehicle</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الدَّرَّاجَةُ</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الدَّرَّاجَةُ النَّارِيَّةُ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مَشْيًا · on foot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القَدَمَيْنِ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مَشْيًا</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نَذْهَبُ إِلَى المَطَارِ ___ سَيَّارَةِ أُجْرَةٍ.</a:t>
            </a:r>
            <a:endParaRPr lang="ar-SA" sz="10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مَشْيًا</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1" name="Shape 28"/>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“he drives”?</a:t>
            </a:r>
            <a:endParaRPr lang="en-US" sz="125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يَرْكَبُ</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يَقُودُ</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يَسِيرُ</a:t>
            </a:r>
            <a:endParaRPr lang="ar-SA" sz="2050" dirty="0"/>
          </a:p>
        </p:txBody>
      </p:sp>
      <p:sp>
        <p:nvSpPr>
          <p:cNvPr id="44" name="Shape 41"/>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public transport?</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مَحَطَّةٌ قَدِيمَةٌ</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مَوَاصَلَاتٌ عَامَّةٌ</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رِحْلَةٌ قَصِيرَةٌ</a:t>
            </a:r>
            <a:endParaRPr lang="ar-SA" sz="20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نَذْهَبُ إِلَى المَطَارِ ___ سَيَّارَةِ أُجْرَةٍ.</a:t>
            </a:r>
            <a:endParaRPr lang="ar-SA" sz="1000" dirty="0"/>
          </a:p>
        </p:txBody>
      </p:sp>
      <p:sp>
        <p:nvSpPr>
          <p:cNvPr id="22" name="Shape 19"/>
          <p:cNvSpPr/>
          <p:nvPr/>
        </p:nvSpPr>
        <p:spPr>
          <a:xfrm>
            <a:off x="640080" y="2532888"/>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a:t>
            </a:r>
            <a:endParaRPr lang="ar-SA" sz="2050" dirty="0"/>
          </a:p>
        </p:txBody>
      </p:sp>
      <p:sp>
        <p:nvSpPr>
          <p:cNvPr id="25" name="Shape 22"/>
          <p:cNvSpPr/>
          <p:nvPr/>
        </p:nvSpPr>
        <p:spPr>
          <a:xfrm>
            <a:off x="640080" y="2990088"/>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مَشْيًا</a:t>
            </a:r>
            <a:endParaRPr lang="ar-SA" sz="2050" dirty="0"/>
          </a:p>
        </p:txBody>
      </p:sp>
      <p:sp>
        <p:nvSpPr>
          <p:cNvPr id="28" name="Shape 25"/>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44728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بِـ</a:t>
            </a:r>
            <a:endParaRPr lang="ar-SA" sz="2050" dirty="0"/>
          </a:p>
        </p:txBody>
      </p:sp>
      <p:sp>
        <p:nvSpPr>
          <p:cNvPr id="32" name="Text 29"/>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taxi.</a:t>
            </a:r>
            <a:endParaRPr lang="en-US" sz="1050" dirty="0"/>
          </a:p>
        </p:txBody>
      </p:sp>
      <p:sp>
        <p:nvSpPr>
          <p:cNvPr id="33" name="Shape 30"/>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“he drives”?</a:t>
            </a:r>
            <a:endParaRPr lang="en-US" sz="1250" dirty="0"/>
          </a:p>
        </p:txBody>
      </p:sp>
      <p:sp>
        <p:nvSpPr>
          <p:cNvPr id="37" name="Shape 34"/>
          <p:cNvSpPr/>
          <p:nvPr/>
        </p:nvSpPr>
        <p:spPr>
          <a:xfrm>
            <a:off x="4459224" y="2532888"/>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يَرْكَبُ</a:t>
            </a:r>
            <a:endParaRPr lang="ar-SA" sz="2050" dirty="0"/>
          </a:p>
        </p:txBody>
      </p:sp>
      <p:sp>
        <p:nvSpPr>
          <p:cNvPr id="40" name="Shape 37"/>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299008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يَقُودُ</a:t>
            </a:r>
            <a:endParaRPr lang="ar-SA" sz="2050" dirty="0"/>
          </a:p>
        </p:txBody>
      </p:sp>
      <p:sp>
        <p:nvSpPr>
          <p:cNvPr id="44" name="Shape 41"/>
          <p:cNvSpPr/>
          <p:nvPr/>
        </p:nvSpPr>
        <p:spPr>
          <a:xfrm>
            <a:off x="4459224" y="344728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يَسِيرُ</a:t>
            </a:r>
            <a:endParaRPr lang="ar-SA" sz="2050" dirty="0"/>
          </a:p>
        </p:txBody>
      </p:sp>
      <p:sp>
        <p:nvSpPr>
          <p:cNvPr id="47" name="Text 44"/>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يَقُودُ</a:t>
            </a:r>
            <a:pPr algn="l" indent="0" marL="0">
              <a:buNone/>
            </a:pPr>
            <a:r>
              <a:rPr lang="en-US" sz="1050" i="1" dirty="0">
                <a:solidFill>
                  <a:srgbClr val="8A6D1E"/>
                </a:solidFill>
                <a:latin typeface="Calibri" pitchFamily="34" charset="0"/>
                <a:cs typeface="Amiri" pitchFamily="2" charset="-78"/>
              </a:rPr>
              <a:t> means drives.</a:t>
            </a:r>
            <a:endParaRPr lang="en-US" sz="1050" dirty="0"/>
          </a:p>
        </p:txBody>
      </p:sp>
      <p:sp>
        <p:nvSpPr>
          <p:cNvPr id="48" name="Shape 45"/>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public transport?</a:t>
            </a:r>
            <a:endParaRPr lang="en-US" sz="1250" dirty="0"/>
          </a:p>
        </p:txBody>
      </p:sp>
      <p:sp>
        <p:nvSpPr>
          <p:cNvPr id="52" name="Shape 49"/>
          <p:cNvSpPr/>
          <p:nvPr/>
        </p:nvSpPr>
        <p:spPr>
          <a:xfrm>
            <a:off x="8278368" y="2532888"/>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مَحَطَّةٌ قَدِيمَةٌ</a:t>
            </a:r>
            <a:endParaRPr lang="ar-SA" sz="2050" dirty="0"/>
          </a:p>
        </p:txBody>
      </p:sp>
      <p:sp>
        <p:nvSpPr>
          <p:cNvPr id="55" name="Shape 52"/>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99008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مَوَاصَلَاتٌ عَامَّةٌ</a:t>
            </a:r>
            <a:endParaRPr lang="ar-SA" sz="2050" dirty="0"/>
          </a:p>
        </p:txBody>
      </p:sp>
      <p:sp>
        <p:nvSpPr>
          <p:cNvPr id="59" name="Shape 56"/>
          <p:cNvSpPr/>
          <p:nvPr/>
        </p:nvSpPr>
        <p:spPr>
          <a:xfrm>
            <a:off x="8278368" y="34472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رِحْلَةٌ قَصِيرَةٌ</a:t>
            </a:r>
            <a:endParaRPr lang="ar-SA" sz="2050" dirty="0"/>
          </a:p>
        </p:txBody>
      </p:sp>
      <p:sp>
        <p:nvSpPr>
          <p:cNvPr id="62" name="Text 59"/>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مَوَاصَلَاتٌ عَامَّةٌ</a:t>
            </a:r>
            <a:pPr algn="l" indent="0" marL="0">
              <a:buNone/>
            </a:pPr>
            <a:r>
              <a:rPr lang="en-US" sz="1050" i="1" dirty="0">
                <a:solidFill>
                  <a:srgbClr val="8A6D1E"/>
                </a:solidFill>
                <a:latin typeface="Calibri" pitchFamily="34" charset="0"/>
                <a:cs typeface="Amiri" pitchFamily="2" charset="-78"/>
              </a:rPr>
              <a:t> means public transport.</a:t>
            </a:r>
            <a:endParaRPr lang="en-US" sz="10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أُسَافِرُ عَلَى القِطَارِ.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train: by or 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أَذْهَبُ بِمَشْيًا.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comes before mashyan?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كَيْفَ تَذْهَبُ؟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Talking to a girl: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أُسَافِرُ عَلَى القِطَارِ.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أُسَافِرُ بِالقِطَارِ.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with the train.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أَذْهَبُ بِمَشْيًا.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أَذْهَبُ مَشْيًا.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مَشْيًا</a:t>
            </a:r>
            <a:pPr algn="l" indent="0" marL="0">
              <a:buNone/>
            </a:pPr>
            <a:r>
              <a:rPr lang="en-US" sz="1150" b="1" dirty="0">
                <a:solidFill>
                  <a:srgbClr val="1B3B6F"/>
                </a:solidFill>
                <a:latin typeface="Calibri" pitchFamily="34" charset="0"/>
                <a:cs typeface="Amiri" pitchFamily="2" charset="-78"/>
              </a:rPr>
              <a:t> needs no preposition.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كَيْفَ تَذْهَبُ؟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كَيْفَ تَذْهَبِينَ؟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feminine singular ending when addressing a girl.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does each person travel?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Sarah go to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bicycle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Sarah use that transport?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is cheap.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the driver.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home is far.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Ali go?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train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taxi</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bicycle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family travel at weekends?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train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plane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ferry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mother prefer the car?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fast.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comfortable.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بِـ</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عَلَى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لِأَنَّ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تَذْهَبُ سَارَةُ إِلَى المَدْرَسَةِ بِالحَافِلَةِ لِأَنَّ بَيْتَهَا بَعِيدٌ.</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Sarah goes to school by bus because her house is far.</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أَخُوهَا عَلِيٌّ فَيَذْهَبُ عَلَى الدَّرَّاجَةِ لِأَنَّ المَدْرَسَةَ قَرِيبَةٌ مِنْ بَيْتِهِ.</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her brother Ali, he goes by bike because the school is near his house.</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نِهَايَةِ الأُسْبُوعِ تُسَافِرُ الأُسْرَةُ إِلَى المَدِينَةِ بِالقِطَارِ.</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weekend the family travels to the city by train.</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يُفَضِّلُ الأَبُ القِطَارَ لِأَنَّهُ سَرِيعٌ، وَلَكِنَّ الأُمَّ تُفَضِّلُ السَّيَّارَةَ لِأَنَّهَا مُرِيحَةٌ.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father prefers the train because it is fast, but the mother prefers the car because it is comfortable.</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Sarah go to school?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bicycle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تَذْهَبُ ... بِالحَافِلَةِ.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Sarah use that transport?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is cheap.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likes the driver.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home is far.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 بَيْتَهَا بَعِيدٌ.</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Ali go?</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train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taxi</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bicycle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يَذْهَبُ عَلَى الدَّرَّاجَةِ.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family travel at weekends?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train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plane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ferry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تُسَافِرُ الأُسْرَةُ بِالقِطَارِ.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mother prefer the car?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fast.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comfortable.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cheap.</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لِأَنَّهَا مُرِيحَةٌ.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بِـ</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عَلَى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لِأَنَّ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Transport survey and journey comparison</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تَذْهَبُ إِلَى المَدْرَسَةِ؟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تُسَافِرُ إِلَى مَدِينَةٍ أُخْرَى؟</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وَسِيلَةُ النَّقْلِ الَّتِي تُفَضِّلُهَا؟ وَلِمَاذَا؟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يَقُودُ السَّيَّارَةَ فِي أُسْرَتِكَ؟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أَذْهَبُ إِلَى المَدْرَسَةِ بِـ ___ / مَشْيًا.</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أُسَافِرُ بِالقِطَارِ / بِالسَّيَّارَةِ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أُفَضِّلُ ___ لِأَنَّهُ / لِأَنَّهَا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___ يَقُودُ / تَقُودُ السَّيَّارَةَ، وَ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كَيْفَ تَذْهَبِينَ إِلَى المَدْرَسَةِ؟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you (f.) go to school?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أَذْهَبُ بِالحَافِلَةِ، وَلٰكِنِّي أَعُودُ مَشْيًا أَحْيَانًا.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go by bus, but sometimes I come back on foot.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Name six transport types and produce four accurate journey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How you and three family members travel, with the three patterns.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70–90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three journeys with correct prepositions and reasons.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how three people travel, with two reasons.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a:t>
            </a:r>
            <a:pPr algn="l" indent="0" marL="0">
              <a:buNone/>
            </a:pPr>
            <a:r>
              <a:rPr lang="ar-SA" altLang="en-US" sz="1800" b="1" dirty="0">
                <a:solidFill>
                  <a:srgbClr val="1F2A37"/>
                </a:solidFill>
                <a:latin typeface="Amiri" pitchFamily="2" charset="-78"/>
                <a:cs typeface="Amiri" pitchFamily="2" charset="-78"/>
              </a:rPr>
              <a:t>يَسْتَقِلُّ</a:t>
            </a:r>
            <a:pPr algn="l" indent="0" marL="0">
              <a:buNone/>
            </a:pPr>
            <a:r>
              <a:rPr lang="en-US" sz="1400" b="1" dirty="0">
                <a:solidFill>
                  <a:srgbClr val="1F2A37"/>
                </a:solidFill>
                <a:latin typeface="Calibri" pitchFamily="34" charset="0"/>
                <a:cs typeface="Amiri" pitchFamily="2" charset="-78"/>
              </a:rPr>
              <a:t>, </a:t>
            </a:r>
            <a:pPr algn="l" indent="0" marL="0">
              <a:buNone/>
            </a:pPr>
            <a:r>
              <a:rPr lang="ar-SA" altLang="en-US" sz="1800" b="1" dirty="0">
                <a:solidFill>
                  <a:srgbClr val="1F2A37"/>
                </a:solidFill>
                <a:latin typeface="Amiri" pitchFamily="2" charset="-78"/>
                <a:cs typeface="Amiri" pitchFamily="2" charset="-78"/>
              </a:rPr>
              <a:t>يَقُودُ</a:t>
            </a:r>
            <a:pPr algn="l" indent="0" marL="0">
              <a:buNone/>
            </a:pPr>
            <a:r>
              <a:rPr lang="en-US" sz="1400" b="1" dirty="0">
                <a:solidFill>
                  <a:srgbClr val="1F2A37"/>
                </a:solidFill>
                <a:latin typeface="Calibri" pitchFamily="34" charset="0"/>
                <a:cs typeface="Amiri" pitchFamily="2" charset="-78"/>
              </a:rPr>
              <a:t> and varied person forms in a connected transport survey report.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transport survey report: yastaqillu, yaqūdu, plural verbs and numbers.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 بَيْتِي بَعِيدٌ / قَرِيبٌ.</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my house is far / near.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أُخْتِي فَتَذْهَبُ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my sister, she goes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أَبِي يَقُودُ السَّيَّارَةَ إِلَى العَمَلِ.</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drives the car to work.</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القِطَارَ لِأَنَّهُ سَرِيعٌ.</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the train because it is fast.</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تَذْهَبِينَ إِلَى المَدْرَسَةِ؟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do you (f.) go to school?</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أَذْهَبُ إِلَى المَدْرَسَةِ بِالحَافِلَةِ.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by bus.</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أَذْهَبُ إِلَى الحَدِيقَةِ عَلَى الدَّرَّاجَةِ.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the park by bike.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أَذْهَبُ إِلَى المَسْجِدِ مَشْيًا.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walk to the mosque.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أَبِي يَذْهَبُ بِالسَّيَّارَةِ.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goes by car.</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أُمِّي تَذْهَبُ بِالقِطَارِ.</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goes by train.</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بِالحَافِلَةِ  ·  بِالقِطَارِ  ·  بِالسَّيَّارَةِ  ·  بِالطَّائِرَةِ  ·  عَلَى الدَّرَّاجَةِ  ·  مَشْيًا  ·  يَقُودُ  ·  يَرْكَبُ  ·  يُسَافِرُ  ·  سَرِيعٌ  ·  مُرِيحٌ  ·  رَخِيصٌ</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70–90 Arabic words comparing how three people travel.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three different transport types.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بِـ</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عَلَى</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مَشْيًا</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male and one female third-person verb.</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two justified opinions and sequence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أَسْتَقِلُّ الحَافِلَةَ إِلَى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take the bus to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عِنْدَمَا يُسَافِرُ إِلَى مَدِينَةٍ أُخْرَى</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he travels to another city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ثَلَاثَةُ طُلَّابٍ يَذْهَبُونَ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three students go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المَوَاصَلَاتُ العَامَّةُ أَرْخَصُ</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public transport is cheaper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 المَشْيَ صِحِّيٌّ</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walking is healthy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أَذْهَبُ إِلَى المَدْرَسَةِ بِالحَافِلَةِ كُلَّ يَوْمٍ لِأَنَّ بَيْتِي بَعِيدٌ. أَمَّا أُخْتِي فَتَذْهَبُ عَلَى الدَّرَّاجَةِ لِأَنَّ مَدْرَسَتَهَا قَرِيبَةٌ. أَبِي يَقُودُ السَّيَّارَةَ إِلَى العَمَلِ، ثُمَّ يَسْتَقِلُّ القِطَارَ عِنْدَمَا يَزُورُ مَدِينَةً أُخْرَى. أُفَضِّلُ القِطَارَ لِأَنَّهُ سَرِيعٌ وَمُرِيحٌ، وَلٰكِنِّي أَسِيرُ مَشْيًا فِي الحَيِّ لِأَنَّ المَشْيَ صِحِّيٌّ.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go to school by bus every day because my house is far. As for my sister, she goes by bike because her school is near. My father drives the car to work, then takes the train when he visits another city. I prefer the train because it is fast and comfortable, but I walk around the neighbourhood because walking is healthy.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by (bi-)</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 (ʿalā)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 foot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three kinds of transport.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bi- / ʿalā / mashyan are correct.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 → ya-, she → ta-.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Two journeys have a reason.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reported a survey with numbers.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“train”?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قِطَارٌ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طَائِرَةٌ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عَبَّارَةٌ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for walking?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بِمَشْيًا.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مَشْيًا.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عَلَى مَشْيًا.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a female listener how she travels?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تُسَافِرِينَ؟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تُسَافِرُ؟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يُسَافِرُ؟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“train”?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قِطَارٌ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طَائِرَةٌ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عَبَّارَةٌ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قِطَارٌ</a:t>
            </a:r>
            <a:pPr algn="l" indent="0" marL="0">
              <a:buNone/>
            </a:pPr>
            <a:r>
              <a:rPr lang="en-US" sz="1050" i="1" dirty="0">
                <a:solidFill>
                  <a:srgbClr val="8A6D1E"/>
                </a:solidFill>
                <a:latin typeface="Calibri" pitchFamily="34" charset="0"/>
                <a:cs typeface="Amiri" pitchFamily="2" charset="-78"/>
              </a:rPr>
              <a:t> means train.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for walking?</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أَذْهَبُ بِمَشْيًا.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أَذْهَبُ مَشْيًا.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أَذْهَبُ عَلَى مَشْيًا.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مَشْيًا</a:t>
            </a:r>
            <a:pPr algn="l" indent="0" marL="0">
              <a:buNone/>
            </a:pPr>
            <a:r>
              <a:rPr lang="en-US" sz="1050" i="1" dirty="0">
                <a:solidFill>
                  <a:srgbClr val="8A6D1E"/>
                </a:solidFill>
                <a:latin typeface="Calibri" pitchFamily="34" charset="0"/>
                <a:cs typeface="Amiri" pitchFamily="2" charset="-78"/>
              </a:rPr>
              <a:t> needs no preposition.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a female listener how she travels?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كَيْفَ تُسَافِرِينَ؟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كَيْفَ تُسَافِرُ؟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كَيْفَ يُسَافِرُ؟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addressee form ends </a:t>
            </a:r>
            <a:pPr algn="l" indent="0" marL="0">
              <a:buNone/>
            </a:pPr>
            <a:r>
              <a:rPr lang="ar-SA" altLang="en-US" sz="1350" dirty="0">
                <a:solidFill>
                  <a:srgbClr val="8A6D1E"/>
                </a:solidFill>
                <a:latin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journeys to the city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أَنَا طَالِبٌ وَأَسْكُنُ خَارِجَ المَدِينَةِ. كُلَّ صَبَاحٍ أَسِيرُ مَشْيًا إِلَى مَحَطَّةِ الحَافِلَاتِ، ثُمَّ أَسْتَقِلُّ الحَافِلَةَ إِلَى المَدْرَسَةِ. أُخْتِي تَدْرُسُ فِي الجَامِعَةِ وَتَذْهَبُ بِالمِتْرُو. أَبِي يَقُودُ السَّيَّارَةَ إِلَى العَمَلِ، وَلٰكِنَّهُ يَسْتَقِلُّ القِطَارَ عِنْدَمَا يُسَافِرُ إِلَى مَدِينَةٍ أُخْرَى. فِي العُطْلَةِ نُحِبُّ السَّفَرَ بِالعَبَّارَةِ.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خَارِجَ المَدِينَةِ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outside the city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أَسِيرُ مَشْيًا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walk</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مَحَطَّةِ الحَافِلَاتِ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bus station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أَسْتَقِلُّ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take (transport)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تَدْرُسُ فِي الجَامِعَةِ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studies at university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بِالمِتْرُو</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metro</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يَقُودُ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drives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العَمَلِ</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work</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عِنْدَمَا يُسَافِرُ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when he travels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بِالعَبَّارَةِ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ferry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writer live?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city centre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outside the city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school</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before taking the bus?</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rides a bicycle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takes the metro</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walks to the station</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his sister go to university?</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metro</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drives to work?</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sister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father</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father use the train?</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travelling to another city</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morning</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during the holiday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transport does the family like in holidays?</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tram</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taxi</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ferry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the writer live?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city centre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outside the city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school</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أَسْكُنُ خَارِجَ المَدِينَةِ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before taking the bus?</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rides a bicycle</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takes the metro</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walks to the station</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أَسِيرُ مَشْيًا إِلَى مَحَطَّةِ الحَافِلَاتِ.</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his sister go to university?</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metro</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bus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car</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تَذْهَبُ بِالمِتْرُو.</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drives to work?</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sister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father</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أَبِي يَقُودُ السَّيَّارَةَ.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father use the train?</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when travelling to another city</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morning</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during the holiday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عِنْدَمَا يُسَافِرُ إِلَى مَدِينَةٍ أُخْرَى.</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transport does the family like in holidays?</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tram</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taxi</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ferry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نُحِبُّ السَّفَرَ بِالعَبَّارَةِ.</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F6-L03 · Transport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F6-L04 · Tickets, Timetables and Journey Duration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تَذْكِرَةٌ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ticket</a:t>
            </a:r>
            <a:pPr indent="0" marL="0">
              <a:buNone/>
            </a:pPr>
            <a:r>
              <a:rPr lang="en-US" sz="1000" i="1" dirty="0">
                <a:solidFill>
                  <a:srgbClr val="5A6472"/>
                </a:solidFill>
                <a:latin typeface="Calibri" pitchFamily="34" charset="0"/>
                <a:cs typeface="Amiri" pitchFamily="2" charset="-78"/>
              </a:rPr>
              <a:t>  pl. تَذَاكِرُ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جَدْوَلٌ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timetable</a:t>
            </a:r>
            <a:pPr indent="0" marL="0">
              <a:buNone/>
            </a:pPr>
            <a:r>
              <a:rPr lang="en-US" sz="1000" i="1" dirty="0">
                <a:solidFill>
                  <a:srgbClr val="5A6472"/>
                </a:solidFill>
                <a:latin typeface="Calibri" pitchFamily="34" charset="0"/>
                <a:cs typeface="Amiri" pitchFamily="2" charset="-78"/>
              </a:rPr>
              <a:t>  pl. جَدَاوِلُ</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يُغَادِرُ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departs / leaves</a:t>
            </a:r>
            <a:pPr indent="0" marL="0">
              <a:buNone/>
            </a:pPr>
            <a:r>
              <a:rPr lang="en-US" sz="1000" i="1" dirty="0">
                <a:solidFill>
                  <a:srgbClr val="5A6472"/>
                </a:solidFill>
                <a:latin typeface="Calibri" pitchFamily="34" charset="0"/>
                <a:cs typeface="Amiri" pitchFamily="2" charset="-78"/>
              </a:rPr>
              <a:t>  she: تُغَادِرُ</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يَصِلُ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arrives</a:t>
            </a:r>
            <a:pPr indent="0" marL="0">
              <a:buNone/>
            </a:pPr>
            <a:r>
              <a:rPr lang="en-US" sz="1000" i="1" dirty="0">
                <a:solidFill>
                  <a:srgbClr val="5A6472"/>
                </a:solidFill>
                <a:latin typeface="Calibri" pitchFamily="34" charset="0"/>
                <a:cs typeface="Amiri" pitchFamily="2" charset="-78"/>
              </a:rPr>
              <a:t>  she: تَصِلُ</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تَسْتَغْرِقُ الرِّحْلَةُ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journey takes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long does your journey to school take?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تَسْتَغْرِقُ الرِّحْلَةُ … دَقِيقَةً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F6-L03: the vocabulary tab and the “Which travel pattern?”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compare how three people travel (70–90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Survey five people and write a transport report with numbers and plural verbs.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F6-L04 · Tickets, Timetables and Journey Duration</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التَّذَاكِرُ وَجَدَاوِلُ الرِّحْلَاتِ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بِـ</a:t>
            </a:r>
            <a:pPr algn="l" indent="0" marL="0">
              <a:buNone/>
            </a:pPr>
            <a:r>
              <a:rPr lang="en-US" sz="1300" b="1" dirty="0">
                <a:solidFill>
                  <a:srgbClr val="FFFFFF"/>
                </a:solidFill>
                <a:latin typeface="Calibri" pitchFamily="34" charset="0"/>
                <a:cs typeface="Amiri" pitchFamily="2" charset="-78"/>
              </a:rPr>
              <a:t> + bus / train / car · </a:t>
            </a:r>
            <a:pPr algn="l" indent="0" marL="0">
              <a:buNone/>
            </a:pPr>
            <a:r>
              <a:rPr lang="ar-SA" altLang="en-US" sz="1700" b="1" dirty="0">
                <a:solidFill>
                  <a:srgbClr val="FFFFFF"/>
                </a:solidFill>
                <a:latin typeface="Amiri" pitchFamily="2" charset="-78"/>
                <a:cs typeface="Amiri" pitchFamily="2" charset="-78"/>
              </a:rPr>
              <a:t>عَلَى</a:t>
            </a:r>
            <a:pPr algn="l" indent="0" marL="0">
              <a:buNone/>
            </a:pPr>
            <a:r>
              <a:rPr lang="en-US" sz="1300" b="1" dirty="0">
                <a:solidFill>
                  <a:srgbClr val="FFFFFF"/>
                </a:solidFill>
                <a:latin typeface="Calibri" pitchFamily="34" charset="0"/>
                <a:cs typeface="Amiri" pitchFamily="2" charset="-78"/>
              </a:rPr>
              <a:t> + bike · </a:t>
            </a:r>
            <a:pPr algn="l" indent="0" marL="0">
              <a:buNone/>
            </a:pPr>
            <a:r>
              <a:rPr lang="ar-SA" altLang="en-US" sz="1700" b="1" dirty="0">
                <a:solidFill>
                  <a:srgbClr val="FFFFFF"/>
                </a:solidFill>
                <a:latin typeface="Amiri" pitchFamily="2" charset="-78"/>
                <a:cs typeface="Amiri" pitchFamily="2" charset="-78"/>
              </a:rPr>
              <a:t>مَشْيًا</a:t>
            </a:r>
            <a:pPr algn="l" indent="0" marL="0">
              <a:buNone/>
            </a:pPr>
            <a:r>
              <a:rPr lang="en-US" sz="1300" b="1" dirty="0">
                <a:solidFill>
                  <a:srgbClr val="FFFFFF"/>
                </a:solidFill>
                <a:latin typeface="Calibri" pitchFamily="34" charset="0"/>
                <a:cs typeface="Amiri" pitchFamily="2" charset="-78"/>
              </a:rPr>
              <a:t> alone · to a girl: -īna.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F6-L03 · Transport: Types and How We Travel</dc:title>
  <dc:subject>PptxGenJS Presentation</dc:subject>
  <dc:creator>Al Madina Online School · Arabic Department</dc:creator>
  <cp:lastModifiedBy>Al Madina Online School · Arabic Department</cp:lastModifiedBy>
  <cp:revision>1</cp:revision>
  <dcterms:created xsi:type="dcterms:W3CDTF">2026-10-11T06:41:53Z</dcterms:created>
  <dcterms:modified xsi:type="dcterms:W3CDTF">2026-10-11T06:41:53Z</dcterms:modified>
</cp:coreProperties>
</file>