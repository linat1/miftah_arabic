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F6-L06. The website lesson “Shopping in Town: Prices and Comparisons”: vocabulary, grammar rules and quiz, patterns, common mistakes, sorter, listening, reading, speaking prompts and model, writing task and model, differentiation, final check and the lesson mission. Picture match: website visual game “Shopping in Town: Prices and Comparisons”.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ask the price of four items and complete a supported purchase (هٰذَا … كَمْ ثَمَنُهُ؟ · هٰذِهِ … كَمْ ثَمَنُهَا؟).
• Develop: compare three items and justify a decision (… أَرْخَصُ مِنْ … لِذَلِكَ أَشْتَرِي …).
• Stretch: a spontaneous role play with availability, discount, payment and receipt.
• Website teaching note: “A price question is also a pronoun task: the suffix must refer accurately to the item.” (F5-L06 thamanuhu / thamanuhā again.)
• أَرْخَصُ / أَغْلَى never change for gender: الحَقِيبَةُ أَغْلَى (not أَغْلَيَةٌ).
• Money: dinars are used on the website; students may use pounds (جُنَيْهَاتٌ) — the website game does.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F6-L05. Questions 3–5 retrieve F6-L05 (agreement, anna) and F5-L06 (price question).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ending tells us WHICH item: -hu for a masculine thing, -hā for a feminine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ہدیہ، نقد، خاص are identical. قیمت (price) is Arabic قِيمَةٌ (value) — the lesson uses ثَمَنٌ and سِعْرٌ. سوق appears in Urdu poetry and in place names (سوق … in the Gulf). عرض (offer, request — عرض ہے) → عَرْضٌ خَاصٌّ (a special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places and goods (website vocabulary (1 of 3)). Hear → Say → See → Use. Transliteration is printed for Core students (cover it for Develop/Stretch).
FLEX: teach if time allows; otherwise these are on the website vocabulary tab for homework.
FLEX: shops and goods (many are revision: كِتَابٌ، حَقِيبَةٌ، هَاتِفٌ). Note the gender — it decides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places and goods (website vocabulary (2 of 3)). Hear → Say → See → Use. Transliteration is printed for Core students (cover it for Develop/Stretch).
FLEX: teach if time allows; otherwise these are on the website vocabulary tab for homework.
FLEX: shops and goods (many are revision: كِتَابٌ، حَقِيبَةٌ، هَاتِفٌ). Note the gender — it decides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places and goods (website vocabulary (3 of 3)). Hear → Say → See → Use. Transliteration is printed for Core students (cover it for Develop/Stretch).
FLEX: teach if time allows; otherwise these are on the website vocabulary tab for homework.
FLEX: shops and goods (many are revision: كِتَابٌ، حَقِيبَةٌ، هَاتِفٌ). Note the gender — it decides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Price and comparison (website vocabulary (1 of 3)). Hear → Say → See → Use. Transliteration is printed for Core students (cover it for Develop/Stretch).
Price words. The cards show m. / f. / comparative. The comparative (أَرْخَصُ، أَغْلَى) never takes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Price and comparison (website vocabulary (2 of 3)). Hear → Say → See → Use. Transliteration is printed for Core students (cover it for Develop/Stretch).
Price words. The cards show m. / f. / comparative. The comparative (أَرْخَصُ، أَغْلَى) never takes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Price and comparison (website vocabulary (3 of 3)). Hear → Say → See → Use. Transliteration is printed for Core students (cover it for Develop/Stretch).
Price words. The cards show m. / f. / comparative. The comparative (أَرْخَصُ، أَغْلَى) never takes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Polite transaction (website vocabulary). Hear → Say → See → Use. Transliteration is printed for Core students (cover it for Develop/Stretch).
Polite transaction chunks from F5-L05 (café) reused in a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“Ask the price of a masculine item” (كَمْ ثَمَنُهُ؟ — ـهُ refers back to كِتَابٌ، هَاتِفٌ) and “… a feminine item” (كَمْ ثَمَنُهَا؟ — حَقِيبَةٌ، تَذْكِرَةٌ).
Website common error: “Do not use ثَمَنُهُ for a feminine item. For حَقِيبَةٌ, ask كَمْ ثَمَنُهَا؟”
Quick-fire: hold up (or show) an object; students answer هٰذَا … كَمْ ثَمَنُهُ؟ or هٰذِهِ …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“Compare two prices” (أَرْخَصُ مِنْ / أَغْلَى مِنْ — irregular comparatives that do not change for gender) and “Make a polite purchase” (أُرِيدُ أَنْ أَشْتَرِيَ + item).
Website teaching note: “Comparatives are most useful when they support a decision”: … أَرْخَصُ، لِذَلِكَ أَشْتَرِيهِ.
Website mistake: أُرِيدُ يَشْتَرِي ✗ → أُرِيدُ أَنْ أَشْتَرِيَ ✓ (F6-L04: أُرِيدُ أَنْ أَحْجُزَ).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price question changes its possessive ending according to the item: ثَمَنُهُ for a masculine item and ثَمَنُهَا for a feminine item. Compare prices with أَرْخَصُ مِنْ and أَغْلَى مِنْ.”
• Ask the price of a masculine item: The suffix ـهُ refers back to a masculine noun such as كِتَابٌ or هَاتِفٌ.
• Ask the price of a feminine item: The suffix ـهَا refers back to a feminine noun such as حَقِيبَةٌ or تَذْكِرَةٌ.
• Compare two prices: These irregular comparative forms do not change for masculine and feminine nouns.
• Make a polite purchase: Use the first-person verb after أَنْ and add polite interaction language.
Website common error: Do not use ثَمَنُهُ for a feminine item. For حَقِيبَةٌ, ask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dialogue. Hold up two real objects (a book and a bag) to make the -hu / -hā choice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Shopping in Town: Prices and Comparisons”)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all comparatives on the أَفْعَلُ pattern: أَسْرَعُ، أَرْخَصُ، أَجْمَلُ. None of them take ة. Other website items: أَكْثَرُ اِزْدِحَامًا، أَفْضَلُ، أَهْدَأُ.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Shopping in Town: Prices and Comparisons”)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 all comparatives on the أَفْعَلُ pattern: أَسْرَعُ، أَرْخَصُ، أَجْمَلُ. None of them take ة. Other website items: أَكْثَرُ اِزْدِحَامًا، أَفْضَلُ، أَهْدَأُ.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suffix needed in the price question.
For each card say the full question: كِتَابٌ → كَمْ ثَمَنُهُ؟ · هَدِيَّةٌ →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suffix needed in the price question.
For each card say the full question: كِتَابٌ → كَمْ ثَمَنُهُ؟ · هَدِيَّةٌ →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then calculate the final price (50 − 10 = 40).
Listen 1: just listen. Listen 2: note answers. Then chat the letters.
Support: after the second listening, show the read-along slide (Arabic + English, line by line) for Core students.
SCRIPT (read aloud):
الزَّبُونَةُ: السَّلَامُ عَلَيْكُمْ. هَلْ عِنْدَكُمْ حَقَائِبُ صَغِيرَةٌ؟ البَائِعُ: نَعَمْ، هٰذِهِ حَقِيبَةٌ زَرْقَاءُ وَثَمَنُهَا خَمْسُونَ دِينَارًا. وَهٰذِهِ حَقِيبَةٌ سَوْدَاءُ بِأَرْبَعِينَ. الزَّبُونَةُ: السَّوْدَاءُ أَرْخَصُ، وَلٰكِنَّ الزَّرْقَاءَ أَجْمَلُ. هَلْ هُنَاكَ خَصْمٌ؟ البَائِعُ: نَعَمْ، خَصْمٌ عَشَرَةُ دَنَانِيرَ. الزَّبُونَةُ: جَيِّدٌ. أُرِيدُ الزَّرْقَاءَ. هَلْ يُمْكِنُ أَنْ أَدْفَعَ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هُنَاكَ خَصْمٌ؟ (Is there a discount?)
B: نَعَمْ، وَيُمْكِنُكَ الدَّفْعُ نَقْدًا أَوْ بِالبِطَاقَةِ. (Yes, and you can pay cash or by card.)
Website “Market bargaining and payment role play” — all four prompts are the website’s. Give sellers a price card for three items (one m., two f.). Website model: هَلْ عِنْدَكُمْ تَذْكَارٌ صَغِيرٌ؟ — نَعَمْ، هٰذَا تَذْكَارٌ جَمِيلٌ وَثَمَنُهُ خَمْسَةَ عَشَرَ دِينَارًا. — هَلْ هُنَاكَ خَصْمٌ؟ — نَعَمْ، وَيُمْكِنُكَ الدَّفْعُ نَقْدًا أَوْ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Ask the price of four items and complete a supported purchase. · Develop — Compare three items and justify a purchase decision. · Stretch — Handle availability, discount, payment and receipt questions in a spontaneous role play.
Website writing task (Stretch): Write a six- to eight-line shopping dialogue and compare two possible purchases.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كَمْ ثَمَنُهُ؟ (the book) · كَمْ ثَمَنُهَا؟ (the bag) · أَغْلَى / أَرْخَصُ · هَلْ يُمْكِنُ أَنْ أَدْفَعَ بِالبِطَاقَةِ؟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(F6-L07 · The Built Environment: Buildings, Materials and Urban Life) will spend class time USING this language, so students prepare it tonight — short, simple, easy to access (school guidance: “Simple, Short, Interesting, Relevant, Easy to access”). The five words come from the website F6-L07 lesson (the built environment).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Shopping in Town: Prices and Comparisons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التَّسَوُّقُ فِي المَدِينَةِ — الأَسْعَارُ وَالمُقَارَنَةُ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Buy something in town: ask </a:t>
            </a:r>
            <a:pPr algn="l" indent="0" marL="0">
              <a:buNone/>
            </a:pPr>
            <a:r>
              <a:rPr lang="ar-SA" altLang="en-US" sz="1800" dirty="0">
                <a:solidFill>
                  <a:srgbClr val="C6D2E6"/>
                </a:solidFill>
                <a:latin typeface="Amiri" pitchFamily="2" charset="-78"/>
                <a:ea typeface="Amiri" pitchFamily="2" charset="-78"/>
                <a:cs typeface="Amiri" pitchFamily="2" charset="-78"/>
              </a:rPr>
              <a:t>كَمْ ثَمَنُهُ / ثَمَنُهَا؟</a:t>
            </a:r>
            <a:pPr algn="l" indent="0" marL="0">
              <a:buNone/>
            </a:pPr>
            <a:r>
              <a:rPr lang="en-US" sz="1400" dirty="0">
                <a:solidFill>
                  <a:srgbClr val="C6D2E6"/>
                </a:solidFill>
                <a:latin typeface="Calibri" pitchFamily="34" charset="0"/>
                <a:cs typeface="Amiri" pitchFamily="2" charset="-78"/>
              </a:rPr>
              <a:t> for the right item, compare prices with </a:t>
            </a:r>
            <a:pPr algn="l" indent="0" marL="0">
              <a:buNone/>
            </a:pPr>
            <a:r>
              <a:rPr lang="ar-SA" altLang="en-US" sz="1800" dirty="0">
                <a:solidFill>
                  <a:srgbClr val="C6D2E6"/>
                </a:solidFill>
                <a:latin typeface="Amiri" pitchFamily="2" charset="-78"/>
                <a:ea typeface="Amiri" pitchFamily="2" charset="-78"/>
                <a:cs typeface="Amiri" pitchFamily="2" charset="-78"/>
              </a:rPr>
              <a:t>أَرْخَصُ / أَغْلَى مِنْ</a:t>
            </a:r>
            <a:pPr algn="l" indent="0" marL="0">
              <a:buNone/>
            </a:pPr>
            <a:r>
              <a:rPr lang="en-US" sz="1400" dirty="0">
                <a:solidFill>
                  <a:srgbClr val="C6D2E6"/>
                </a:solidFill>
                <a:latin typeface="Calibri" pitchFamily="34" charset="0"/>
                <a:cs typeface="Amiri" pitchFamily="2" charset="-78"/>
              </a:rPr>
              <a:t>, and ask for a discount or to pay by card.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F6-L06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Shop and price words, then how much is it (m. / f.)? and cheaper / dearer than.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Comparison picture match, sort </a:t>
            </a:r>
            <a:pPr algn="ctr" indent="0" marL="0">
              <a:buNone/>
            </a:pPr>
            <a:r>
              <a:rPr lang="ar-SA" altLang="en-US" sz="1550" dirty="0">
                <a:solidFill>
                  <a:srgbClr val="1F2A37"/>
                </a:solidFill>
                <a:latin typeface="Amiri" pitchFamily="2" charset="-78"/>
                <a:ea typeface="Amiri" pitchFamily="2" charset="-78"/>
                <a:cs typeface="Amiri" pitchFamily="2" charset="-78"/>
              </a:rPr>
              <a:t>ـهُ / ـهَا</a:t>
            </a:r>
            <a:pPr algn="ctr" indent="0" marL="0">
              <a:buNone/>
            </a:pPr>
            <a:r>
              <a:rPr lang="en-US" sz="1200" dirty="0">
                <a:solidFill>
                  <a:srgbClr val="1F2A37"/>
                </a:solidFill>
                <a:latin typeface="Calibri" pitchFamily="34" charset="0"/>
                <a:cs typeface="Amiri" pitchFamily="2" charset="-78"/>
              </a:rPr>
              <a:t>, fix the mistakes and listen at the city market.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discount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receipt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خَصْمٌ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discount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gift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city description.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مَدِينَتِي جَمِيلٌ وَحَدِيثٌ.</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مَدِينَتِي جَمِيلَاتٌ.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مَدِينَتِي جَمِيلَةٌ وَحَدِيثَةٌ.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مِنْ مَزَايَا مَدِينَتِي</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المَوَاصَلَاتِ جَيِّدَةٌ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 الحَسَاءِ؟</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الحَسَاءُ؟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الحَسَاءُ؟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مَتْجَرٌ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discount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shop</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receipt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(F6-L05). The lesson also uses </a:t>
            </a:r>
            <a:pPr algn="l" indent="0" marL="0">
              <a:buNone/>
            </a:pPr>
            <a:r>
              <a:rPr lang="ar-SA" altLang="en-US" sz="1350" dirty="0">
                <a:solidFill>
                  <a:srgbClr val="8A6D1E"/>
                </a:solidFill>
                <a:latin typeface="Amiri" pitchFamily="2" charset="-78"/>
                <a:ea typeface="Amiri" pitchFamily="2" charset="-78"/>
                <a:cs typeface="Amiri" pitchFamily="2" charset="-78"/>
              </a:rPr>
              <a:t>مَحَلٌّ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خَصْمٌ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discount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gift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city description.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مَدِينَتِي جَمِيلٌ وَحَدِيثٌ.</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مَدِينَتِي جَمِيلَاتٌ.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مَدِينَتِي جَمِيلَةٌ وَحَدِيثَةٌ.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city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مِنْ مَزَايَا مَدِينَتِي</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المَوَاصَلَاتِ جَيِّدَةٌ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anna + clause.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“How much is the soup?”</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 الحَسَاءِ؟</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الحَسَاءُ؟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الحَسَاءُ؟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F5-L06: kam thamanu + item.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ending tells us WHICH item: -hu for a masculine thing, -hā for a feminine thing.</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هٰذَا هَاتِفٌ، كَمْ ثَمَنُ</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هٰذِهِ حَقِيبَةٌ، كَمْ ثَمَنُ</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shopping, payment and price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prices for masculine and feminine items.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prices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polite shop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the price of four items.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 want to buy something.</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prices.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to pay by card or cash.</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ask for a discount and a receipt.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a purchase decision.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Shopping places and goods · 13</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Price and comparison · 13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Polite transaction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سُوقٌ</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‎سودا / بازار‎ </a:t>
            </a:r>
            <a:pPr indent="0" marL="0">
              <a:buNone/>
            </a:pPr>
            <a:r>
              <a:rPr lang="en-US" sz="950" b="1" dirty="0">
                <a:solidFill>
                  <a:srgbClr val="2E8B57"/>
                </a:solidFill>
                <a:latin typeface="Calibri" pitchFamily="34" charset="0"/>
                <a:cs typeface="Amiri" pitchFamily="2" charset="-78"/>
              </a:rPr>
              <a:t> saudā · market (sūq)</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هَدِيَّةٌ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‎ہدیہ‎ </a:t>
            </a:r>
            <a:pPr indent="0" marL="0">
              <a:buNone/>
            </a:pPr>
            <a:r>
              <a:rPr lang="en-US" sz="950" b="1" dirty="0">
                <a:solidFill>
                  <a:srgbClr val="2E8B57"/>
                </a:solidFill>
                <a:latin typeface="Calibri" pitchFamily="34" charset="0"/>
                <a:cs typeface="Amiri" pitchFamily="2" charset="-78"/>
              </a:rPr>
              <a:t> hadiya · a gift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نَقْدًا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‎نقد‎ </a:t>
            </a:r>
            <a:pPr indent="0" marL="0">
              <a:buNone/>
            </a:pPr>
            <a:r>
              <a:rPr lang="en-US" sz="950" b="1" dirty="0">
                <a:solidFill>
                  <a:srgbClr val="2E8B57"/>
                </a:solidFill>
                <a:latin typeface="Calibri" pitchFamily="34" charset="0"/>
                <a:cs typeface="Amiri" pitchFamily="2" charset="-78"/>
              </a:rPr>
              <a:t> naqd · cash</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قِيمَةٌ · ثَمَنٌ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price / value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خَاصٌّ</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‎خاص‎ </a:t>
            </a:r>
            <a:pPr indent="0" marL="0">
              <a:buNone/>
            </a:pPr>
            <a:r>
              <a:rPr lang="en-US" sz="950" b="1" dirty="0">
                <a:solidFill>
                  <a:srgbClr val="2E8B57"/>
                </a:solidFill>
                <a:latin typeface="Calibri" pitchFamily="34" charset="0"/>
                <a:cs typeface="Amiri" pitchFamily="2" charset="-78"/>
              </a:rPr>
              <a:t> khās · special (ʿarḍ khāṣṣ = special offer)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Shopping places and goods (1 of 3)</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ma-ḥal-lun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a:t>
            </a:r>
            <a:endParaRPr lang="en-US" sz="1350" dirty="0"/>
          </a:p>
          <a:p>
            <a:pPr indent="0" marL="0">
              <a:buNone/>
            </a:pPr>
            <a:r>
              <a:rPr lang="en-US" sz="1100" i="1" dirty="0">
                <a:solidFill>
                  <a:srgbClr val="5A6472"/>
                </a:solidFill>
                <a:latin typeface="Calibri" pitchFamily="34" charset="0"/>
                <a:cs typeface="Amiri" pitchFamily="2" charset="-78"/>
              </a:rPr>
              <a:t>sū-qun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مَرْكَزٌ تِجَارِيٌّ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shopping centre</a:t>
            </a:r>
            <a:endParaRPr lang="en-US" sz="1350" dirty="0"/>
          </a:p>
          <a:p>
            <a:pPr indent="0" marL="0">
              <a:buNone/>
            </a:pPr>
            <a:r>
              <a:rPr lang="en-US" sz="1100" i="1" dirty="0">
                <a:solidFill>
                  <a:srgbClr val="5A6472"/>
                </a:solidFill>
                <a:latin typeface="Calibri" pitchFamily="34" charset="0"/>
                <a:cs typeface="Amiri" pitchFamily="2" charset="-78"/>
              </a:rPr>
              <a:t>mar-ka-zun ti-jā-riy-yun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Shape 3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بَائِعٌ / بَائِعَةٌ</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seller m/f</a:t>
            </a:r>
            <a:endParaRPr lang="en-US" sz="1350" dirty="0"/>
          </a:p>
          <a:p>
            <a:pPr indent="0" marL="0">
              <a:buNone/>
            </a:pPr>
            <a:r>
              <a:rPr lang="en-US" sz="1100" i="1" dirty="0">
                <a:solidFill>
                  <a:srgbClr val="5A6472"/>
                </a:solidFill>
                <a:latin typeface="Calibri" pitchFamily="34" charset="0"/>
                <a:cs typeface="Amiri" pitchFamily="2" charset="-78"/>
              </a:rPr>
              <a:t>bā-ʾi-ʿun / bā-ʾi-ʿa-tun</a:t>
            </a:r>
            <a:endParaRPr lang="en-US" sz="1350" dirty="0"/>
          </a:p>
        </p:txBody>
      </p:sp>
      <p:sp>
        <p:nvSpPr>
          <p:cNvPr id="39" name="Shape 36"/>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1" name="Text 38"/>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بَائِعٌ</a:t>
            </a:r>
            <a:endParaRPr lang="ar-SA" sz="1500" dirty="0"/>
          </a:p>
        </p:txBody>
      </p:sp>
      <p:sp>
        <p:nvSpPr>
          <p:cNvPr id="42" name="Shape 39"/>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بَائِعَةٌ</a:t>
            </a:r>
            <a:endParaRPr lang="ar-SA" sz="1500" dirty="0"/>
          </a:p>
        </p:txBody>
      </p:sp>
      <p:sp>
        <p:nvSpPr>
          <p:cNvPr id="45" name="Shape 42"/>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بَائِعُونَ</a:t>
            </a:r>
            <a:endParaRPr lang="ar-SA" sz="15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3" name="Text 5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زَبُونٌ / زَبُونَةٌ</a:t>
            </a:r>
            <a:endParaRPr lang="ar-SA" sz="3000" dirty="0"/>
          </a:p>
        </p:txBody>
      </p:sp>
      <p:sp>
        <p:nvSpPr>
          <p:cNvPr id="54" name="Text 5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customer m/f</a:t>
            </a:r>
            <a:endParaRPr lang="en-US" sz="1350" dirty="0"/>
          </a:p>
          <a:p>
            <a:pPr indent="0" marL="0">
              <a:buNone/>
            </a:pPr>
            <a:r>
              <a:rPr lang="en-US" sz="1100" i="1" dirty="0">
                <a:solidFill>
                  <a:srgbClr val="5A6472"/>
                </a:solidFill>
                <a:latin typeface="Calibri" pitchFamily="34" charset="0"/>
                <a:cs typeface="Amiri" pitchFamily="2" charset="-78"/>
              </a:rPr>
              <a:t>za-bū-nun / za-bū-na-tun</a:t>
            </a:r>
            <a:endParaRPr lang="en-US" sz="1350" dirty="0"/>
          </a:p>
        </p:txBody>
      </p:sp>
      <p:sp>
        <p:nvSpPr>
          <p:cNvPr id="55" name="Shape 52"/>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7" name="Text 54"/>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a:t>
            </a:r>
            <a:endParaRPr lang="ar-SA" sz="1500" dirty="0"/>
          </a:p>
        </p:txBody>
      </p:sp>
      <p:sp>
        <p:nvSpPr>
          <p:cNvPr id="58" name="Shape 55"/>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0" name="Text 57"/>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زَبُونَةٌ</a:t>
            </a:r>
            <a:endParaRPr lang="ar-SA" sz="1500" dirty="0"/>
          </a:p>
        </p:txBody>
      </p:sp>
      <p:sp>
        <p:nvSpPr>
          <p:cNvPr id="61" name="Shape 58"/>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زَبَائِنُ</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Shopping places and goods (2 of 3)</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item / goods</a:t>
            </a:r>
            <a:endParaRPr lang="en-US" sz="1350" dirty="0"/>
          </a:p>
          <a:p>
            <a:pPr indent="0" marL="0">
              <a:buNone/>
            </a:pPr>
            <a:r>
              <a:rPr lang="en-US" sz="1100" i="1" dirty="0">
                <a:solidFill>
                  <a:srgbClr val="5A6472"/>
                </a:solidFill>
                <a:latin typeface="Calibri" pitchFamily="34" charset="0"/>
                <a:cs typeface="Amiri" pitchFamily="2" charset="-78"/>
              </a:rPr>
              <a:t>sil-ʿa-tun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هَدِيَّةٌ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gift</a:t>
            </a:r>
            <a:endParaRPr lang="en-US" sz="1350" dirty="0"/>
          </a:p>
          <a:p>
            <a:pPr indent="0" marL="0">
              <a:buNone/>
            </a:pPr>
            <a:r>
              <a:rPr lang="en-US" sz="1100" i="1" dirty="0">
                <a:solidFill>
                  <a:srgbClr val="5A6472"/>
                </a:solidFill>
                <a:latin typeface="Calibri" pitchFamily="34" charset="0"/>
                <a:cs typeface="Amiri" pitchFamily="2" charset="-78"/>
              </a:rPr>
              <a:t>ha-diy-ya-tun</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هَدِيَّةٌ</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هَدَايَا</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مَلَابِسُ</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clothes</a:t>
            </a:r>
            <a:endParaRPr lang="en-US" sz="1350" dirty="0"/>
          </a:p>
          <a:p>
            <a:pPr indent="0" marL="0">
              <a:buNone/>
            </a:pPr>
            <a:r>
              <a:rPr lang="en-US" sz="1100" i="1" dirty="0">
                <a:solidFill>
                  <a:srgbClr val="5A6472"/>
                </a:solidFill>
                <a:latin typeface="Calibri" pitchFamily="34" charset="0"/>
                <a:cs typeface="Amiri" pitchFamily="2" charset="-78"/>
              </a:rPr>
              <a:t>ma-lā-bi-su</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8" name="Shape 4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a:t>
            </a:r>
            <a:endParaRPr lang="en-US" sz="1350" dirty="0"/>
          </a:p>
          <a:p>
            <a:pPr indent="0" marL="0">
              <a:buNone/>
            </a:pPr>
            <a:r>
              <a:rPr lang="en-US" sz="1100" i="1" dirty="0">
                <a:solidFill>
                  <a:srgbClr val="5A6472"/>
                </a:solidFill>
                <a:latin typeface="Calibri" pitchFamily="34" charset="0"/>
                <a:cs typeface="Amiri" pitchFamily="2" charset="-78"/>
              </a:rPr>
              <a:t>ḥa-qī-ba-tun</a:t>
            </a:r>
            <a:endParaRPr lang="en-US" sz="1350" dirty="0"/>
          </a:p>
        </p:txBody>
      </p:sp>
      <p:sp>
        <p:nvSpPr>
          <p:cNvPr id="52" name="Shape 4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4" name="Text 5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حَقِيبَةٌ</a:t>
            </a:r>
            <a:endParaRPr lang="ar-SA" sz="1500" dirty="0"/>
          </a:p>
        </p:txBody>
      </p:sp>
      <p:sp>
        <p:nvSpPr>
          <p:cNvPr id="55" name="Shape 5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Shopping places and goods (3 of 3)</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هَاتِفٌ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phone</a:t>
            </a:r>
            <a:endParaRPr lang="en-US" sz="1350" dirty="0"/>
          </a:p>
          <a:p>
            <a:pPr indent="0" marL="0">
              <a:buNone/>
            </a:pPr>
            <a:r>
              <a:rPr lang="en-US" sz="1100" i="1" dirty="0">
                <a:solidFill>
                  <a:srgbClr val="5A6472"/>
                </a:solidFill>
                <a:latin typeface="Calibri" pitchFamily="34" charset="0"/>
                <a:cs typeface="Amiri" pitchFamily="2" charset="-78"/>
              </a:rPr>
              <a:t>hā-ti-fun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تَذْكَارٌ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souvenir</a:t>
            </a:r>
            <a:endParaRPr lang="en-US" sz="1350" dirty="0"/>
          </a:p>
          <a:p>
            <a:pPr indent="0" marL="0">
              <a:buNone/>
            </a:pPr>
            <a:r>
              <a:rPr lang="en-US" sz="1100" i="1" dirty="0">
                <a:solidFill>
                  <a:srgbClr val="5A6472"/>
                </a:solidFill>
                <a:latin typeface="Calibri" pitchFamily="34" charset="0"/>
                <a:cs typeface="Amiri" pitchFamily="2" charset="-78"/>
              </a:rPr>
              <a:t>tadh-kā-run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Price and comparison (1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 / rate</a:t>
            </a:r>
            <a:endParaRPr lang="en-US" sz="1350" dirty="0"/>
          </a:p>
          <a:p>
            <a:pPr indent="0" marL="0">
              <a:buNone/>
            </a:pPr>
            <a:r>
              <a:rPr lang="en-US" sz="1100" i="1" dirty="0">
                <a:solidFill>
                  <a:srgbClr val="5A6472"/>
                </a:solidFill>
                <a:latin typeface="Calibri" pitchFamily="34" charset="0"/>
                <a:cs typeface="Amiri" pitchFamily="2" charset="-78"/>
              </a:rPr>
              <a:t>siʿ-run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(m)</a:t>
            </a:r>
            <a:endParaRPr lang="en-US" sz="1350" dirty="0"/>
          </a:p>
          <a:p>
            <a:pPr indent="0" marL="0">
              <a:buNone/>
            </a:pPr>
            <a:r>
              <a:rPr lang="en-US" sz="1100" i="1" dirty="0">
                <a:solidFill>
                  <a:srgbClr val="5A6472"/>
                </a:solidFill>
                <a:latin typeface="Calibri" pitchFamily="34" charset="0"/>
                <a:cs typeface="Amiri" pitchFamily="2" charset="-78"/>
              </a:rPr>
              <a:t>kam tha-ma-nu-hu?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(f)</a:t>
            </a:r>
            <a:endParaRPr lang="en-US" sz="1350" dirty="0"/>
          </a:p>
          <a:p>
            <a:pPr indent="0" marL="0">
              <a:buNone/>
            </a:pPr>
            <a:r>
              <a:rPr lang="en-US" sz="1100" i="1" dirty="0">
                <a:solidFill>
                  <a:srgbClr val="5A6472"/>
                </a:solidFill>
                <a:latin typeface="Calibri" pitchFamily="34" charset="0"/>
                <a:cs typeface="Amiri" pitchFamily="2" charset="-78"/>
              </a:rPr>
              <a:t>kam tha-ma-nu-hā?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4" name="Shape 41"/>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more</a:t>
            </a:r>
            <a:endParaRPr lang="en-US" sz="8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رَخِيصٌ / رَخِيصَةٌ</a:t>
            </a:r>
            <a:endParaRPr lang="ar-SA" sz="3000" dirty="0"/>
          </a:p>
        </p:txBody>
      </p:sp>
      <p:sp>
        <p:nvSpPr>
          <p:cNvPr id="49" name="Text 4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a:t>
            </a:r>
            <a:endParaRPr lang="en-US" sz="1350" dirty="0"/>
          </a:p>
          <a:p>
            <a:pPr indent="0" marL="0">
              <a:buNone/>
            </a:pPr>
            <a:r>
              <a:rPr lang="en-US" sz="1100" i="1" dirty="0">
                <a:solidFill>
                  <a:srgbClr val="5A6472"/>
                </a:solidFill>
                <a:latin typeface="Calibri" pitchFamily="34" charset="0"/>
                <a:cs typeface="Amiri" pitchFamily="2" charset="-78"/>
              </a:rPr>
              <a:t>ra-khī-ṣun / ra-khī-ṣa-tun</a:t>
            </a:r>
            <a:endParaRPr lang="en-US" sz="1350" dirty="0"/>
          </a:p>
        </p:txBody>
      </p:sp>
      <p:sp>
        <p:nvSpPr>
          <p:cNvPr id="50" name="Shape 4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a:t>
            </a:r>
            <a:endParaRPr lang="ar-SA" sz="1500" dirty="0"/>
          </a:p>
        </p:txBody>
      </p:sp>
      <p:sp>
        <p:nvSpPr>
          <p:cNvPr id="53" name="Shape 5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رَخِيصَةٌ</a:t>
            </a:r>
            <a:endParaRPr lang="ar-SA" sz="1500" dirty="0"/>
          </a:p>
        </p:txBody>
      </p:sp>
      <p:sp>
        <p:nvSpPr>
          <p:cNvPr id="56" name="Shape 5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cheaper</a:t>
            </a:r>
            <a:endParaRPr lang="en-US" sz="700" dirty="0"/>
          </a:p>
        </p:txBody>
      </p:sp>
      <p:sp>
        <p:nvSpPr>
          <p:cNvPr id="58" name="Text 55"/>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أَرْخَصُ</a:t>
            </a:r>
            <a:endParaRPr lang="ar-SA"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Price and comparison (2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more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 / غَالِيَةٌ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ghā-lin / ghā-li-ya-tun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dearer</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أَغْلَى</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خَصْمٌ</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khaṣ-mun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عَرْضٌ خَاصٌّ</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special offer</a:t>
            </a:r>
            <a:endParaRPr lang="en-US" sz="1350" dirty="0"/>
          </a:p>
          <a:p>
            <a:pPr indent="0" marL="0">
              <a:buNone/>
            </a:pPr>
            <a:r>
              <a:rPr lang="en-US" sz="1100" i="1" dirty="0">
                <a:solidFill>
                  <a:srgbClr val="5A6472"/>
                </a:solidFill>
                <a:latin typeface="Calibri" pitchFamily="34" charset="0"/>
                <a:cs typeface="Amiri" pitchFamily="2" charset="-78"/>
              </a:rPr>
              <a:t>ʿar-ḍun khāṣ-ṣun</a:t>
            </a:r>
            <a:endParaRPr lang="en-US"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Price and comparison (3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cash</a:t>
            </a:r>
            <a:endParaRPr lang="en-US" sz="1350" dirty="0"/>
          </a:p>
          <a:p>
            <a:pPr indent="0" marL="0">
              <a:buNone/>
            </a:pPr>
            <a:r>
              <a:rPr lang="en-US" sz="1100" i="1" dirty="0">
                <a:solidFill>
                  <a:srgbClr val="5A6472"/>
                </a:solidFill>
                <a:latin typeface="Calibri" pitchFamily="34" charset="0"/>
                <a:cs typeface="Amiri" pitchFamily="2" charset="-78"/>
              </a:rPr>
              <a:t>naq-dan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بِالبِطَاقَةِ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card</a:t>
            </a:r>
            <a:endParaRPr lang="en-US" sz="1350" dirty="0"/>
          </a:p>
          <a:p>
            <a:pPr indent="0" marL="0">
              <a:buNone/>
            </a:pPr>
            <a:r>
              <a:rPr lang="en-US" sz="1100" i="1" dirty="0">
                <a:solidFill>
                  <a:srgbClr val="5A6472"/>
                </a:solidFill>
                <a:latin typeface="Calibri" pitchFamily="34" charset="0"/>
                <a:cs typeface="Amiri" pitchFamily="2" charset="-78"/>
              </a:rPr>
              <a:t>bil-bi-ṭā-qa-ti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فَاتُورَةٌ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receipt / bill</a:t>
            </a:r>
            <a:endParaRPr lang="en-US" sz="1350" dirty="0"/>
          </a:p>
          <a:p>
            <a:pPr indent="0" marL="0">
              <a:buNone/>
            </a:pPr>
            <a:r>
              <a:rPr lang="en-US" sz="1100" i="1" dirty="0">
                <a:solidFill>
                  <a:srgbClr val="5A6472"/>
                </a:solidFill>
                <a:latin typeface="Calibri" pitchFamily="34" charset="0"/>
                <a:cs typeface="Amiri" pitchFamily="2" charset="-78"/>
              </a:rPr>
              <a:t>fā-tū-ra-tun</a:t>
            </a:r>
            <a:endParaRPr lang="en-US" sz="13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transaction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أَشْتَرِيَ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buy</a:t>
            </a:r>
            <a:endParaRPr lang="en-US" sz="1350" dirty="0"/>
          </a:p>
          <a:p>
            <a:pPr indent="0" marL="0">
              <a:buNone/>
            </a:pPr>
            <a:r>
              <a:rPr lang="en-US" sz="1100" i="1" dirty="0">
                <a:solidFill>
                  <a:srgbClr val="5A6472"/>
                </a:solidFill>
                <a:latin typeface="Calibri" pitchFamily="34" charset="0"/>
                <a:cs typeface="Amiri" pitchFamily="2" charset="-78"/>
              </a:rPr>
              <a:t>u-rī-du an ash-ta-ri-ya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عِنْدَكُمْ...؟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a:t>
            </a:r>
            <a:endParaRPr lang="en-US" sz="1350" dirty="0"/>
          </a:p>
          <a:p>
            <a:pPr indent="0" marL="0">
              <a:buNone/>
            </a:pPr>
            <a:r>
              <a:rPr lang="en-US" sz="1100" i="1" dirty="0">
                <a:solidFill>
                  <a:srgbClr val="5A6472"/>
                </a:solidFill>
                <a:latin typeface="Calibri" pitchFamily="34" charset="0"/>
                <a:cs typeface="Amiri" pitchFamily="2" charset="-78"/>
              </a:rPr>
              <a:t>hal ʿin-da-kum...?</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it possible to...?</a:t>
            </a:r>
            <a:endParaRPr lang="en-US" sz="1350" dirty="0"/>
          </a:p>
          <a:p>
            <a:pPr indent="0" marL="0">
              <a:buNone/>
            </a:pPr>
            <a:r>
              <a:rPr lang="en-US" sz="1100" i="1" dirty="0">
                <a:solidFill>
                  <a:srgbClr val="5A6472"/>
                </a:solidFill>
                <a:latin typeface="Calibri" pitchFamily="34" charset="0"/>
                <a:cs typeface="Amiri" pitchFamily="2" charset="-78"/>
              </a:rPr>
              <a:t>hal yum-ki-nu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m/f</a:t>
            </a:r>
            <a:endParaRPr lang="en-US" sz="1350" dirty="0"/>
          </a:p>
          <a:p>
            <a:pPr indent="0" marL="0">
              <a:buNone/>
            </a:pPr>
            <a:r>
              <a:rPr lang="en-US" sz="1100" i="1" dirty="0">
                <a:solidFill>
                  <a:srgbClr val="5A6472"/>
                </a:solidFill>
                <a:latin typeface="Calibri" pitchFamily="34" charset="0"/>
                <a:cs typeface="Amiri" pitchFamily="2" charset="-78"/>
              </a:rPr>
              <a:t>min faḍ-li-ka / min faḍ-li-ki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مُنَاسِبٌ</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suitable</a:t>
            </a:r>
            <a:endParaRPr lang="en-US" sz="1350" dirty="0"/>
          </a:p>
          <a:p>
            <a:pPr indent="0" marL="0">
              <a:buNone/>
            </a:pPr>
            <a:r>
              <a:rPr lang="en-US" sz="1100" i="1" dirty="0">
                <a:solidFill>
                  <a:srgbClr val="5A6472"/>
                </a:solidFill>
                <a:latin typeface="Calibri" pitchFamily="34" charset="0"/>
                <a:cs typeface="Amiri" pitchFamily="2" charset="-78"/>
              </a:rPr>
              <a:t>hā-dhā mu-nā-si-bun</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إِنَّهُ غَالٍ جِدًّا</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very expensive</a:t>
            </a:r>
            <a:endParaRPr lang="en-US" sz="1350" dirty="0"/>
          </a:p>
          <a:p>
            <a:pPr indent="0" marL="0">
              <a:buNone/>
            </a:pPr>
            <a:r>
              <a:rPr lang="en-US" sz="1100" i="1" dirty="0">
                <a:solidFill>
                  <a:srgbClr val="5A6472"/>
                </a:solidFill>
                <a:latin typeface="Calibri" pitchFamily="34" charset="0"/>
                <a:cs typeface="Amiri" pitchFamily="2" charset="-78"/>
              </a:rPr>
              <a:t>in-na-hu ghā-lin jid-dan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HOW MUCH IS IT?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How much is it — this one or that one?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ثَمَنُهُ؟ · كَمْ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2706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item · </a:t>
            </a:r>
            <a:pPr algn="ctr" indent="0" marL="0">
              <a:buNone/>
            </a:pPr>
            <a:r>
              <a:rPr lang="ar-SA" altLang="en-US" sz="1450" b="1" dirty="0">
                <a:solidFill>
                  <a:srgbClr val="FFFFFF"/>
                </a:solidFill>
                <a:latin typeface="Amiri" pitchFamily="2" charset="-78"/>
                <a:ea typeface="Amiri" pitchFamily="2" charset="-78"/>
                <a:cs typeface="Amiri" pitchFamily="2" charset="-78"/>
              </a:rPr>
              <a:t>ـهُ</a:t>
            </a:r>
            <a:endParaRPr lang="en-US" sz="1100" dirty="0"/>
          </a:p>
        </p:txBody>
      </p:sp>
      <p:sp>
        <p:nvSpPr>
          <p:cNvPr id="17" name="Text 14"/>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item · </a:t>
            </a:r>
            <a:pPr algn="ctr" indent="0" marL="0">
              <a:buNone/>
            </a:pPr>
            <a:r>
              <a:rPr lang="ar-SA" altLang="en-US" sz="1450" b="1" dirty="0">
                <a:solidFill>
                  <a:srgbClr val="FFFFFF"/>
                </a:solidFill>
                <a:latin typeface="Amiri" pitchFamily="2" charset="-78"/>
                <a:ea typeface="Amiri" pitchFamily="2" charset="-78"/>
                <a:cs typeface="Amiri" pitchFamily="2" charset="-78"/>
              </a:rPr>
              <a:t>ـهَا</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245352" y="2286000"/>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هٰذَا كِتَابٌ. كَمْ ثَمَنُ</a:t>
            </a:r>
            <a:pPr rtl="1" algn="ctr" indent="0" marL="0">
              <a:buNone/>
            </a:pPr>
            <a:r>
              <a:rPr lang="ar-SA" altLang="en-US" sz="2100" b="1" dirty="0">
                <a:solidFill>
                  <a:srgbClr val="1D5FBF"/>
                </a:solidFill>
                <a:latin typeface="Amiri" pitchFamily="2" charset="-78"/>
                <a:ea typeface="Amiri" pitchFamily="2" charset="-78"/>
                <a:cs typeface="Amiri" pitchFamily="2" charset="-78"/>
              </a:rPr>
              <a:t>هُ</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0" name="Text 17"/>
          <p:cNvSpPr txBox="1"/>
          <p:nvPr/>
        </p:nvSpPr>
        <p:spPr>
          <a:xfrm>
            <a:off x="6199632" y="2706624"/>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book. How much is it?</a:t>
            </a:r>
            <a:endParaRPr lang="en-US" sz="950" dirty="0"/>
          </a:p>
        </p:txBody>
      </p:sp>
      <p:sp>
        <p:nvSpPr>
          <p:cNvPr id="21" name="Text 18"/>
          <p:cNvSpPr txBox="1"/>
          <p:nvPr/>
        </p:nvSpPr>
        <p:spPr>
          <a:xfrm>
            <a:off x="548640" y="2286000"/>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هٰذِهِ حَقِيبَةٌ. كَمْ ثَمَنُ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2" name="Text 19"/>
          <p:cNvSpPr txBox="1"/>
          <p:nvPr/>
        </p:nvSpPr>
        <p:spPr>
          <a:xfrm>
            <a:off x="502920" y="2706624"/>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bag. How much is it?</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245352" y="3072384"/>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هٰذَا هَاتِفٌ. كَمْ ثَمَنُ</a:t>
            </a:r>
            <a:pPr rtl="1" algn="ctr" indent="0" marL="0">
              <a:buNone/>
            </a:pPr>
            <a:r>
              <a:rPr lang="ar-SA" altLang="en-US" sz="2100" b="1" dirty="0">
                <a:solidFill>
                  <a:srgbClr val="1D5FBF"/>
                </a:solidFill>
                <a:latin typeface="Amiri" pitchFamily="2" charset="-78"/>
                <a:ea typeface="Amiri" pitchFamily="2" charset="-78"/>
                <a:cs typeface="Amiri" pitchFamily="2" charset="-78"/>
              </a:rPr>
              <a:t>هُ</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7" name="Text 24"/>
          <p:cNvSpPr txBox="1"/>
          <p:nvPr/>
        </p:nvSpPr>
        <p:spPr>
          <a:xfrm>
            <a:off x="6199632" y="3493008"/>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phone. How much is it?</a:t>
            </a:r>
            <a:endParaRPr lang="en-US" sz="950" dirty="0"/>
          </a:p>
        </p:txBody>
      </p:sp>
      <p:sp>
        <p:nvSpPr>
          <p:cNvPr id="28" name="Text 25"/>
          <p:cNvSpPr txBox="1"/>
          <p:nvPr/>
        </p:nvSpPr>
        <p:spPr>
          <a:xfrm>
            <a:off x="548640" y="3072384"/>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هٰذِهِ هَدِيَّةٌ. كَمْ ثَمَنُ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9" name="Text 26"/>
          <p:cNvSpPr txBox="1"/>
          <p:nvPr/>
        </p:nvSpPr>
        <p:spPr>
          <a:xfrm>
            <a:off x="502920" y="3493008"/>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a gift. How much is it?</a:t>
            </a:r>
            <a:endParaRPr lang="en-US" sz="950" dirty="0"/>
          </a:p>
        </p:txBody>
      </p:sp>
      <p:sp>
        <p:nvSpPr>
          <p:cNvPr id="30" name="Shape 27"/>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6245352" y="3858768"/>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ثَمَنُ</a:t>
            </a:r>
            <a:pPr rtl="1" algn="ctr" indent="0" marL="0">
              <a:buNone/>
            </a:pPr>
            <a:r>
              <a:rPr lang="ar-SA" altLang="en-US" sz="2100" b="1" dirty="0">
                <a:solidFill>
                  <a:srgbClr val="1D5FBF"/>
                </a:solidFill>
                <a:latin typeface="Amiri" pitchFamily="2" charset="-78"/>
                <a:ea typeface="Amiri" pitchFamily="2" charset="-78"/>
                <a:cs typeface="Amiri" pitchFamily="2" charset="-78"/>
              </a:rPr>
              <a:t>هُ</a:t>
            </a:r>
            <a:pPr rtl="1" algn="ctr" indent="0" marL="0">
              <a:buNone/>
            </a:pPr>
            <a:r>
              <a:rPr lang="ar-SA" altLang="en-US" sz="2100" b="1" dirty="0">
                <a:solidFill>
                  <a:srgbClr val="1B3B6F"/>
                </a:solidFill>
                <a:latin typeface="Amiri" pitchFamily="2" charset="-78"/>
                <a:ea typeface="Amiri" pitchFamily="2" charset="-78"/>
                <a:cs typeface="Amiri" pitchFamily="2" charset="-78"/>
              </a:rPr>
              <a:t> عِشْرُونَ دِينَارًا.</a:t>
            </a:r>
            <a:endParaRPr lang="ar-SA" sz="2100" dirty="0"/>
          </a:p>
        </p:txBody>
      </p:sp>
      <p:sp>
        <p:nvSpPr>
          <p:cNvPr id="34" name="Text 31"/>
          <p:cNvSpPr txBox="1"/>
          <p:nvPr/>
        </p:nvSpPr>
        <p:spPr>
          <a:xfrm>
            <a:off x="6199632" y="4279392"/>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twenty dinars.</a:t>
            </a:r>
            <a:endParaRPr lang="en-US" sz="950" dirty="0"/>
          </a:p>
        </p:txBody>
      </p:sp>
      <p:sp>
        <p:nvSpPr>
          <p:cNvPr id="35" name="Text 32"/>
          <p:cNvSpPr txBox="1"/>
          <p:nvPr/>
        </p:nvSpPr>
        <p:spPr>
          <a:xfrm>
            <a:off x="548640" y="3858768"/>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ثَمَنُ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pPr rtl="1" algn="ctr" indent="0" marL="0">
              <a:buNone/>
            </a:pPr>
            <a:r>
              <a:rPr lang="ar-SA" altLang="en-US" sz="2100" b="1" dirty="0">
                <a:solidFill>
                  <a:srgbClr val="1B3B6F"/>
                </a:solidFill>
                <a:latin typeface="Amiri" pitchFamily="2" charset="-78"/>
                <a:ea typeface="Amiri" pitchFamily="2" charset="-78"/>
                <a:cs typeface="Amiri" pitchFamily="2" charset="-78"/>
              </a:rPr>
              <a:t> خَمْسُونَ دِينَارًا.</a:t>
            </a:r>
            <a:endParaRPr lang="ar-SA" sz="2100" dirty="0"/>
          </a:p>
        </p:txBody>
      </p:sp>
      <p:sp>
        <p:nvSpPr>
          <p:cNvPr id="36" name="Text 33"/>
          <p:cNvSpPr txBox="1"/>
          <p:nvPr/>
        </p:nvSpPr>
        <p:spPr>
          <a:xfrm>
            <a:off x="502920" y="4279392"/>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fifty dinars.</a:t>
            </a:r>
            <a:endParaRPr lang="en-US" sz="9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6245352" y="4645152"/>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كَمْ ثَمَنُ الحِذَاءِ؟</a:t>
            </a:r>
            <a:endParaRPr lang="ar-SA" sz="2100" dirty="0"/>
          </a:p>
        </p:txBody>
      </p:sp>
      <p:sp>
        <p:nvSpPr>
          <p:cNvPr id="39" name="Text 36"/>
          <p:cNvSpPr txBox="1"/>
          <p:nvPr/>
        </p:nvSpPr>
        <p:spPr>
          <a:xfrm>
            <a:off x="6199632" y="5065776"/>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are the shoes?</a:t>
            </a:r>
            <a:endParaRPr lang="en-US" sz="950" dirty="0"/>
          </a:p>
        </p:txBody>
      </p:sp>
      <p:sp>
        <p:nvSpPr>
          <p:cNvPr id="40" name="Text 37"/>
          <p:cNvSpPr txBox="1"/>
          <p:nvPr/>
        </p:nvSpPr>
        <p:spPr>
          <a:xfrm>
            <a:off x="548640" y="4645152"/>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كَمْ ثَمَنُ التَّذْكِرَةِ؟</a:t>
            </a:r>
            <a:endParaRPr lang="ar-SA" sz="2100" dirty="0"/>
          </a:p>
        </p:txBody>
      </p:sp>
      <p:sp>
        <p:nvSpPr>
          <p:cNvPr id="41" name="Text 38"/>
          <p:cNvSpPr txBox="1"/>
          <p:nvPr/>
        </p:nvSpPr>
        <p:spPr>
          <a:xfrm>
            <a:off x="502920" y="5065776"/>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ticket?</a:t>
            </a:r>
            <a:endParaRPr lang="en-US" sz="95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the item named: kam thamanu + item (-i). With a pronoun: -hu (m.) or -hā (f.).</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COMPARE AND BUY (WEBSITE RULES 3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Cheaper, dearer — and buy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أَرْخَصُ · أَغْلَى · أَشْتَرِي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CHEAPER THAN</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أَرْخَصُ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الحَافِلَةُ أَرْخَصُ مِنْ سَيَّارَةِ الأُجْرَةِ.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bus is cheaper than the taxi.</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 — never changes.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DEARER THAN</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أَغْلَى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الهَاتِفُ أَغْلَى مِنَ الكِتَابِ.</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phone is more expensive than the book.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Same for m. and f.</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9154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BUY + PAY</a:t>
            </a:r>
            <a:endParaRPr lang="en-US" sz="850" dirty="0"/>
          </a:p>
        </p:txBody>
      </p:sp>
      <p:sp>
        <p:nvSpPr>
          <p:cNvPr id="34" name="Text 31"/>
          <p:cNvSpPr txBox="1"/>
          <p:nvPr/>
        </p:nvSpPr>
        <p:spPr>
          <a:xfrm>
            <a:off x="1531620"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أُرِيدُ أَنْ أَشْتَرِيَ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أُرِيدُ أَنْ أَشْتَرِيَ هَدِيَّةً. هَلْ يُمْكِنُ أَنْ أَدْفَعَ بِالبِطَاقَةِ؟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want to buy a gift. Can I pay by card?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verb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the comparative takes no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الحَافِلَةُ أَرْخَصُ مِنَ التَّاكْسِي.</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الحَافِلَةُ أَرْخَصَةٌ مِنَ التَّاكْسِي.</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Price questions, possessive gender and comparisons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أَسْئِلَةُ الثَّمَنِ وَالمُقَارَنَةُ بَيْنَ الأَسْعَارِ</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Ask the price of a masculine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ثَمَنُهُ؟</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كِتَابٌ. كَمْ ثَمَنُهُ؟   ·   كَمْ ثَمَنُ الهَاتِفِ؟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the price of a feminine item</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ثَمَنُهَا؟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هٰذِهِ حَقِيبَةٌ. كَمْ ثَمَنُهَا؟   ·   كَمْ ثَمَنُ التَّذْكِرَةِ؟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Compare two prices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أَرْخَصُ مِنْ / أَغْلَى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الحَافِلَةُ أَرْخَصُ مِنْ سَيَّارَةِ الأُجْرَةِ.   ·   الهَاتِفُ أَغْلَى مِنَ الكِتَابِ.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Make a polite purchase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أَنْ أَشْتَرِيَ + شَيْئًا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أَنْ أَشْتَرِيَ هَدِيَّةً، مِنْ فَضْلِكَ.   ·   هَلْ يُمْكِنُ أَنْ أَدْفَعَ بِالبِطَاقَةِ؟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ثَمَنُهُ؟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ثَمَنُهَا؟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 مِنْ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قَرِيبٌ مِنْ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buy a souvenir.”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أَشْتَرِيَ تَذْكَارًا.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يَشْتَرِي تَذْكَارٌ.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أَشْتَرِي أَنْ تَذْكَارًا.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ثَمَنُهُ؟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كِتَابٌ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ثَمَنُهَا؟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أَغْلَى مِنْ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أَرْخَصُ مِنْ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قَرِيبٌ مِنْ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أَرْخَصُ مِنْ</a:t>
            </a:r>
            <a:pPr algn="l" indent="0" marL="0">
              <a:buNone/>
            </a:pPr>
            <a:r>
              <a:rPr lang="en-US" sz="1050" i="1" dirty="0">
                <a:solidFill>
                  <a:srgbClr val="8A6D1E"/>
                </a:solidFill>
                <a:latin typeface="Calibri" pitchFamily="34" charset="0"/>
                <a:cs typeface="Amiri" pitchFamily="2" charset="-78"/>
              </a:rPr>
              <a:t> means cheaper than.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buy a souvenir.”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أَشْتَرِيَ تَذْكَارًا.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يَشْتَرِي تَذْكَارٌ.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أَشْتَرِي أَنْ تَذْكَارًا.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first-person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shop for a gift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Available?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الزَّبُونُ: هَلْ عِنْدَكُمْ هَدَايَا مَحَلِّيَّةٌ؟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hal ʿindakum (F5-L05).</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Two items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البَائِعَةُ: هٰذَا كِتَابٌ عَنِ المَدِينَةِ، وَهٰذِهِ حَقِيبَةٌ صَغِيرَةٌ.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Book m., bag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Prices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كَمْ ثَمَنُ</a:t>
            </a:r>
            <a:pPr rtl="1" algn="ctr" indent="0" marL="0">
              <a:buNone/>
            </a:pPr>
            <a:r>
              <a:rPr lang="ar-SA" altLang="en-US" sz="2550" b="1" dirty="0">
                <a:solidFill>
                  <a:srgbClr val="1D5FBF"/>
                </a:solidFill>
                <a:latin typeface="Amiri" pitchFamily="2" charset="-78"/>
                <a:ea typeface="Amiri" pitchFamily="2" charset="-78"/>
                <a:cs typeface="Amiri" pitchFamily="2" charset="-78"/>
              </a:rPr>
              <a:t>هُ</a:t>
            </a:r>
            <a:pPr rtl="1" algn="ctr" indent="0" marL="0">
              <a:buNone/>
            </a:pPr>
            <a:r>
              <a:rPr lang="ar-SA" altLang="en-US" sz="2550" b="1" dirty="0">
                <a:solidFill>
                  <a:srgbClr val="1B3B6F"/>
                </a:solidFill>
                <a:latin typeface="Amiri" pitchFamily="2" charset="-78"/>
                <a:ea typeface="Amiri" pitchFamily="2" charset="-78"/>
                <a:cs typeface="Amiri" pitchFamily="2" charset="-78"/>
              </a:rPr>
              <a:t>؟ وَكَمْ ثَمَنُ</a:t>
            </a:r>
            <a:pPr rtl="1" algn="ctr" indent="0" marL="0">
              <a:buNone/>
            </a:pPr>
            <a:r>
              <a:rPr lang="ar-SA" altLang="en-US" sz="2550" b="1" dirty="0">
                <a:solidFill>
                  <a:srgbClr val="D6336C"/>
                </a:solidFill>
                <a:latin typeface="Amiri" pitchFamily="2" charset="-78"/>
                <a:ea typeface="Amiri" pitchFamily="2" charset="-78"/>
                <a:cs typeface="Amiri" pitchFamily="2" charset="-78"/>
              </a:rPr>
              <a:t>هَا</a:t>
            </a:r>
            <a:pPr rtl="1" algn="ctr" indent="0" marL="0">
              <a:buNone/>
            </a:pPr>
            <a:r>
              <a:rPr lang="ar-SA" altLang="en-US" sz="2550" b="1" dirty="0">
                <a:solidFill>
                  <a:srgbClr val="1B3B6F"/>
                </a:solidFill>
                <a:latin typeface="Amiri" pitchFamily="2" charset="-78"/>
                <a:ea typeface="Amiri" pitchFamily="2" charset="-78"/>
                <a:cs typeface="Amiri" pitchFamily="2" charset="-78"/>
              </a:rPr>
              <a:t>؟</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ending = which item.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Decide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الكِتَابُ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أَرْخَصُ</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وَأَنْسَبُ. هَلْ يُمْكِنُ أَنْ أَدْفَعَ بِالبِطَاقَةِ؟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 decide → pay.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 -HU</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 -HĀ</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الزَّبُونُ: هَلْ عِنْدَكُمْ هَدَايَا مَحَلِّيَّةٌ؟ — البَائِعَةُ: نَعَمْ، هٰذَا كِتَابٌ عَنِ المَدِينَةِ، وَهٰذِهِ حَقِيبَةٌ صَغِيرَةٌ. — الزَّبُونُ: كَمْ ثَمَنُ</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وَكَمْ ثَمَنُ</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 البَائِعَةُ: ثَمَنُ الكِتَابِ عِشْرُونَ دِينَارًا، وَالحَقِيبَةُ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أَغْلَى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مِنْهُ بِخَمْسَةِ دَنَانِيرَ. — الزَّبُونُ: الكِتَابُ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أَرْخَصُ</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وَأَنْسَبُ. هَلْ هُنَاكَ خَصْمٌ؟ وَهَلْ يُمْكِنُ أَنْ أَدْفَعَ بِالبِطَاقَةِ؟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Customer: Do you have local gifts? — Seller: Yes, this is a book about the city, and this is a small bag. — How much is it (the book)? And how much is it (the bag)? — The book costs twenty dinars, and the bag is five dinars more expensive. — The book is cheaper and more suitable. Is there a discount? And can I pay by card?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هَاتِفٌ. كَمْ ثَمَنُهُ؟</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phone. How much is it?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Masculine item → ـهُ.</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حَقِيبَةٌ. كَمْ ثَمَنُهَا؟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bag. How much is it?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item → ـهَا.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الحَافِلَةُ أَرْخَصُ مِنَ التَّاكْسِي.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 is cheaper than the taxi.</a:t>
            </a:r>
            <a:endParaRPr lang="en-US" sz="1250" dirty="0"/>
          </a:p>
          <a:p>
            <a:pPr indent="0" marL="0">
              <a:buNone/>
            </a:pPr>
            <a:r>
              <a:rPr lang="en-US" sz="1050" i="1" dirty="0">
                <a:solidFill>
                  <a:srgbClr val="8A6D1E"/>
                </a:solidFill>
                <a:latin typeface="Calibri" pitchFamily="34" charset="0"/>
                <a:cs typeface="Amiri" pitchFamily="2" charset="-78"/>
              </a:rPr>
              <a:t>The comparative does not 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يُمْكِنُ أَنْ أَدْفَعَ بِالبِطَاقَةِ؟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Can I pay by card?</a:t>
            </a:r>
            <a:endParaRPr lang="en-US" sz="1250" dirty="0"/>
          </a:p>
          <a:p>
            <a:pPr indent="0" marL="0">
              <a:buNone/>
            </a:pPr>
            <a:r>
              <a:rPr lang="en-US" sz="1050" i="1" dirty="0">
                <a:solidFill>
                  <a:srgbClr val="8A6D1E"/>
                </a:solidFill>
                <a:latin typeface="Calibri" pitchFamily="34" charset="0"/>
                <a:cs typeface="Amiri" pitchFamily="2" charset="-78"/>
              </a:rPr>
              <a:t>Use a complete polite request.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SHOPPING IN TOWN: PRICES AND COMPARISONS”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Comparisons: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train &gt; bus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bike &lt; car (£)</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shirt &gt; that one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الدَّرَّاجَةُ أَرْخَصُ مِنَ السَّيَّارَةِ.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القَمِيصُ أَجْمَلُ مِنْ ذَاكَ.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القِطَارُ أَسْرَعُ مِنَ الحَافِلَةِ.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train &gt; bus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القِطَارُ أَسْرَعُ مِنَ الحَافِلَةِ.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train is faster than the bus.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bike &lt; car (£)</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الدَّرَّاجَةُ أَرْخَصُ مِنَ السَّيَّارَةِ.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bicycle is cheaper than the car.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shirt &gt; that one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القَمِيصُ أَجْمَلُ مِنْ ذَاكَ.</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shirt is more beautiful than that one.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Masculine or feminine price reference?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هَاتِفٌ</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حِذَاءٌ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هَدِيَّةٌ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فَاتُورَةٌ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كَمْ ثَمَنُهُ؟ · masculine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كَمْ ثَمَنُهَا؟ · feminine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كَمْ ثَمَنُهُ؟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هَاتِفٌ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حِذَاءٌ</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تَذْكَارٌ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كَمْ ثَمَنُهَا؟ · feminine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هَدِيَّةٌ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فَاتُورَةٌ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رَخِيصَةُ مِنَ التَّاكْسِي.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أَرْخَصَةٌ مِنَ التَّاكْسِي.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أَرْخَصُ مِنَ التَّاكْسِي.</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to pay by card?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بِطَاقَةٌ؟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 أَنْ أَدْفَعَ بِالبِطَاقَةِ؟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 البِطَاقَةِ؟</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comparison.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غَالِيَةٌ مِنَ الكِتَابِ.</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أَغْلَى مِنَ الكِتَابِ.</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أَغْلَيَةٌ مِنَ الكِتَابِ.</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الحَافِلَةُ رَخِيصَةُ مِنَ التَّاكْسِي.</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الحَافِلَةُ أَرْخَصَةٌ مِنَ التَّاكْسِي.</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الحَافِلَةُ أَرْخَصُ مِنَ التَّاكْسِي.</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form stays </a:t>
            </a:r>
            <a:pPr algn="l" indent="0" marL="0">
              <a:buNone/>
            </a:pPr>
            <a:r>
              <a:rPr lang="ar-SA" altLang="en-US" sz="1350" dirty="0">
                <a:solidFill>
                  <a:srgbClr val="8A6D1E"/>
                </a:solidFill>
                <a:latin typeface="Amiri" pitchFamily="2" charset="-78"/>
                <a:ea typeface="Amiri" pitchFamily="2" charset="-78"/>
                <a:cs typeface="Amiri" pitchFamily="2" charset="-78"/>
              </a:rPr>
              <a:t>أَرْخَصُ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to pay by card?</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هَلْ عِنْدَكُمْ بِطَاقَةٌ؟</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يُمْكِنُ أَنْ أَدْفَعَ بِالبِطَاقَةِ؟</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 البِطَاقَةِ؟</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a complete payment request.</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comparison.</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الحَقِيبَةُ غَالِيَةٌ مِنَ الكِتَابِ.</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الحَقِيبَةُ أَغْلَى مِنَ الكِتَابِ.</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الحَقِيبَةُ أَغْلَيَةٌ مِنَ الكِتَابِ.</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أَغْلَى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ثَمَنُهُ؟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bag is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الحَافِلَةُ أَرْخَصَةٌ مِنَ التَّاكْسِي.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comparative take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يَشْتَرِي هَدِيَّةً.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joins urīdu to the next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ثَمَنُهُ؟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feminine suffix for the bag.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الحَافِلَةُ أَرْخَصَةٌ مِنَ التَّاكْسِي.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الحَافِلَةُ أَرْخَصُ مِنَ التَّاكْسِي.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comparative form does not take a feminine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يَشْتَرِي هَدِيَّةً.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أَنْ أَشْتَرِيَ هَدِيَّةً.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and the first-person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city market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customer want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bags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blue bag before discount?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bag is cheaper?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bag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bag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dinars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dinars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want to pay?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cash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phone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numbers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أَرْخَصُ</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السَّلَامُ عَلَيْكُمْ. هَلْ عِنْدَكُمْ حَقَائِبُ صَغِيرَةٌ؟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Hello. Do you have small bags?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البَائِعُ: نَعَمْ، هٰذِهِ حَقِيبَةٌ زَرْقَاءُ وَثَمَنُهَا خَمْسُونَ دِينَارًا. وَهٰذِهِ حَقِيبَةٌ سَوْدَاءُ بِأَرْبَعِينَ.</a:t>
            </a:r>
            <a:endParaRPr lang="ar-SA" sz="17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Seller: Yes, this blue bag costs fifty dinars, and this black bag is forty.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السَّوْدَاءُ أَرْخَصُ، وَلَكِنَّ الزَّرْقَاءَ أَجْمَلُ. هَلْ هُنَاكَ خَصْمٌ؟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one is cheaper, but the blue one is nicer. Is there a discount?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البَائِعُ: نَعَمْ، خَصْمٌ عَشَرَةُ دَنَانِيرَ.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Seller: Yes, a ten-dinar discount.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جَيِّدٌ. أُرِيدُ الزَّرْقَاءَ. هَلْ يُمْكِنُ أَنْ أَدْفَعَ بِالبِطَاقَةِ؟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I want the blue one. Can I pay by card?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customer want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bags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t>
            </a:r>
            <a:pPr algn="l" indent="0" marL="0">
              <a:buNone/>
            </a:pPr>
            <a:r>
              <a:rPr lang="ar-SA" altLang="en-US" sz="1350" dirty="0">
                <a:solidFill>
                  <a:srgbClr val="8A6D1E"/>
                </a:solidFill>
                <a:latin typeface="Amiri" pitchFamily="2" charset="-78"/>
                <a:ea typeface="Amiri" pitchFamily="2" charset="-78"/>
                <a:cs typeface="Amiri" pitchFamily="2" charset="-78"/>
              </a:rPr>
              <a:t>حَقَائِبُ 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blue bag before discount?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 dinars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 dinars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ثَمَنُهَا خَمْسُونَ.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bag is cheaper?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blue bag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black bag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السَّوْدَاءُ أَرْخَصُ.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discount?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dinars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dinars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dinars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خَصْمٌ عَشَرَةُ دَنَانِيرَ.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want to pay?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cash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phone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أَدْفَعَ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numbers and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أَرْخَصُ</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Market bargaining and payment role play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ثَمَنُهُ / ثَمَنُهَا؟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هُنَاكَ خَصْمٌ؟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أَدْفَعَ بِالبِطَاقَةِ؟ وَأُرِيدُ الفَاتُورَةَ.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هٰذَا … / هٰذِهِ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ثَمَنُهُ / ثَمَنُهَا ___ دِينَارًا.</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 أَرْخَصُ / أَغْلَى مِنْ … · نَعَمْ، خَصْمٌ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يُمْكِنُكَ الدَّفْعُ نَقْدًا أَوْ بِالبِطَاقَةِ.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عِنْدَكُمْ تَذْكَارٌ صَغِيرٌ؟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have a small souvenir?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هٰذَا تَذْكَارٌ جَمِيلٌ وَثَمَنُهُ خَمْسَةَ عَشَرَ دِينَارًا.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this is a nice souvenir and it costs fifteen dinars.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Ask the price of four items and complete a supported purchase.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supported purchase: available? · price (-hu / -hā) · I want to buy · thanks.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three items and justify a purchase decision.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shopping dialogue comparing two items with arkhaṣu / aghlā.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Handle availability, discount, payment and receipt questions in a spontaneous role play.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discount, a payment method, a receipt and a justified decision.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أَرْخَصُ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is cheaper than the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أَغْلَى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is more expensive than the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هُنَاكَ خَصْمٌ؟</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Is there a discount?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أَدْفَعَ بِالبِطَاقَةِ؟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Can I pay by card?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أَشْتَرِيهِ / أَشْتَرِيهَا.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I will buy it.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كِتَابٌ. كَمْ ثَمَنُهُ؟</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book. How much is it?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حَقِيبَةٌ. كَمْ ثَمَنُهَا؟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bag. How much is it?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أَشْتَرِيَ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buy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هَلْ عِنْدَكُمْ  ·  كَمْ ثَمَنُهُ؟  ·  كَمْ ثَمَنُهَا؟  ·  رَخِيصٌ  ·  غَالٍ  ·  أَرْخَصُ مِنْ  ·  أَغْلَى مِنْ  ·  خَصْمٌ  ·  نَقْدًا  ·  بِالبِطَاقَةِ  ·  فَاتُورَةٌ  ·  أُرِيدُ أَنْ أَشْتَرِيَ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six- to eight-line shopping dialogue and compare two possible purchases.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Ask whether an item is available.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correct price suffix twice.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Compare the two items with </a:t>
            </a:r>
            <a:pPr algn="l" indent="0" marL="0">
              <a:buNone/>
            </a:pPr>
            <a:r>
              <a:rPr lang="ar-SA" altLang="en-US" sz="1550" dirty="0">
                <a:solidFill>
                  <a:srgbClr val="1F2A37"/>
                </a:solidFill>
                <a:latin typeface="Amiri" pitchFamily="2" charset="-78"/>
                <a:ea typeface="Amiri" pitchFamily="2" charset="-78"/>
                <a:cs typeface="Amiri" pitchFamily="2" charset="-78"/>
              </a:rPr>
              <a:t>أَرْخَصُ / أَغْلَى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Request a discount or payment method politely.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بِخَصْمِ عِشْرِينَ فِي المِئَةِ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a 20% discount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أَرْخَصُ مِنْهَا بِعَشَرَةِ دَنَانِيرَ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ten dinars cheaper than it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سَمَّاعَاتٌ مَجَّانِيَّةٌ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free headphones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اِحْتَفِظْ بِالفَاتُورَةِ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keep the receipt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أَنْسَبُ لِي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more suitable for me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هَلْ عِنْدَكُمْ هَدَايَا مَحَلِّيَّةٌ؟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البَائِعَةُ: نَعَمْ، هٰذَا كِتَابٌ عَنِ المَدِينَةِ، وَهٰذِهِ حَقِيبَةٌ صَغِيرَةٌ.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كَمْ ثَمَنُهُ؟ وَكَمْ ثَمَنُهَا؟</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البَائِعَةُ: ثَمَنُ الكِتَابِ عِشْرُونَ دِينَارًا، وَالحَقِيبَةُ أَغْلَى مِنْهُ بِخَمْسَةِ دَنَانِيرَ.</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الكِتَابُ أَرْخَصُ وَأَنْسَبُ. هَلْ هُنَاكَ خَصْمٌ؟ وَهَلْ يُمْكِنُ أَنْ أَدْفَعَ بِالبِطَاقَةِ؟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Customer: Do you have local gifts? Seller: Yes, this is a book about the city, and this is a small bag. Customer: How much is it (the book)? And how much is it (the bag)? Seller: The book costs twenty dinars, and the bag is five dinars more expensive. Customer: The book is cheaper and more suitable. Is there a discount? And can I pay by card?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thamanuhu</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thamanuhā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comparative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payment question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the price with the right ending.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أُرِيدُ أَنْ أَشْتَرِيَ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two items.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comparative has no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Discount, payment and receipt.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suffix asks about a feminine item?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ـهُمْ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 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أَقْرَبُ 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price question for </a:t>
            </a:r>
            <a:pPr algn="l" indent="0" marL="0">
              <a:buNone/>
            </a:pPr>
            <a:r>
              <a:rPr lang="ar-SA" altLang="en-US" sz="1650" b="1" dirty="0">
                <a:solidFill>
                  <a:srgbClr val="1B3B6F"/>
                </a:solidFill>
                <a:latin typeface="Amiri" pitchFamily="2" charset="-78"/>
                <a:ea typeface="Amiri" pitchFamily="2" charset="-78"/>
                <a:cs typeface="Amiri" pitchFamily="2" charset="-78"/>
              </a:rPr>
              <a:t>هَاتِفٌ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suffix asks about a feminine item?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ـهَا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ـهُ</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ـهُمْ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ثَمَنُهَا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أَغْلَى مِنْ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أَرْخَصُ 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أَقْرَبُ 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أَرْخَصُ مِنْ</a:t>
            </a:r>
            <a:pPr algn="l" indent="0" marL="0">
              <a:buNone/>
            </a:pPr>
            <a:r>
              <a:rPr lang="en-US" sz="1050" i="1" dirty="0">
                <a:solidFill>
                  <a:srgbClr val="8A6D1E"/>
                </a:solidFill>
                <a:latin typeface="Calibri" pitchFamily="34" charset="0"/>
                <a:cs typeface="Amiri" pitchFamily="2" charset="-78"/>
              </a:rPr>
              <a:t> means cheaper than.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price question for </a:t>
            </a:r>
            <a:pPr algn="l" indent="0" marL="0">
              <a:buNone/>
            </a:pPr>
            <a:r>
              <a:rPr lang="ar-SA" altLang="en-US" sz="1650" b="1" dirty="0">
                <a:solidFill>
                  <a:srgbClr val="1B3B6F"/>
                </a:solidFill>
                <a:latin typeface="Amiri" pitchFamily="2" charset="-78"/>
                <a:ea typeface="Amiri" pitchFamily="2" charset="-78"/>
                <a:cs typeface="Amiri" pitchFamily="2" charset="-78"/>
              </a:rPr>
              <a:t>هَاتِفٌ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ثَمَنُهُ؟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ثَمَنُهَا؟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هَاتِفٌ</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Special offers in the shopping centre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عُرُوضُ اليَوْمِ فِي مَرْكَزِ النُّورِ التِّجَارِيِّ: الكُتُبُ بِخَصْمِ عِشْرِينَ فِي المِئَةِ. حَقِيبَةُ السَّفَرِ الكَبِيرَةُ بِسِتِّينَ دِينَارًا، وَالحَقِيبَةُ الصَّغِيرَةُ أَرْخَصُ مِنْهَا بِعِشْرَةِ دَنَانِيرَ. الهَاتِفُ الجَدِيدُ غَالٍ وَلٰكِنْ مَعَهُ سَمَّاعَاتٌ مَجَّانِيَّةٌ. يُمْكِنُ الدَّفْعُ نَقْدًا أَوْ بِالبِطَاقَةِ. اِحْتَفِظْ بِالفَاتُورَةِ لِمُدَّةِ ثَلَاثِينَ يَوْمًا.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عُرُوضُ اليَوْمِ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today’s offers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بِخَصْمِ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a discount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المِئَةِ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 cent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حَقِيبَةُ السَّفَرِ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suitcase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أَرْخَصُ مِنْهَا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cheaper than it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الجَدِيدُ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سَمَّاعَاتٌ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headphones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مَجَّانِيَّةٌ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يُمْكِنُ الدَّفْعُ</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payment is possible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اِحْتَفِظْ بِـ</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keep</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bags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large travel bag?</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dinars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 dinars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 dinars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cheaper is the small bag?</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dinars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dinars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free with the new phone?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bag</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headphones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book</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payment methods are accepted?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cash or card</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cash only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card only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should the receipt be kept?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days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year</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days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bags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الكُتُبُ بِخَصْمِ عِشْرِينَ فِي المِئَةِ.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large travel bag?</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dinars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 dinars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 dinars</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بِسِتِّينَ دِينَارًا.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cheaper is the small bag?</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dinars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dinars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dinars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أَرْخَصُ ... بِعِشْرَةِ دَنَانِيرَ.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free with the new phone?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bag</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headphones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book</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سَمَّاعَاتٌ مَجَّانِيَّةٌ.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payment methods are accepted?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cash or card</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cash only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card only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نَقْدًا أَوْ بِالبِطَاقَةِ.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should the receipt be kept?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 days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year</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30 days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لِمُدَّةِ ثَلَاثِينَ يَوْمًا.</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Shopping in Town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F6-L07 · The Built Environment: Buildings, Materials and Urban Life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مَبْنًى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building</a:t>
            </a:r>
            <a:pPr indent="0" marL="0">
              <a:buNone/>
            </a:pPr>
            <a:r>
              <a:rPr lang="ar-SA" sz="1000" i="1" dirty="0">
                <a:solidFill>
                  <a:srgbClr val="5A6472"/>
                </a:solidFill>
                <a:latin typeface="Calibri" pitchFamily="34" charset="0"/>
                <a:ea typeface="Amiri" pitchFamily="2" charset="-78"/>
                <a:cs typeface="Amiri" pitchFamily="2" charset="-78"/>
              </a:rPr>
              <a:t>  pl. مَبَانٍ</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بُرْجٌ</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tower</a:t>
            </a:r>
            <a:pPr indent="0" marL="0">
              <a:buNone/>
            </a:pPr>
            <a:r>
              <a:rPr lang="ar-SA" sz="1000" i="1" dirty="0">
                <a:solidFill>
                  <a:srgbClr val="5A6472"/>
                </a:solidFill>
                <a:latin typeface="Calibri" pitchFamily="34" charset="0"/>
                <a:ea typeface="Amiri" pitchFamily="2" charset="-78"/>
                <a:cs typeface="Amiri" pitchFamily="2" charset="-78"/>
              </a:rPr>
              <a:t>  pl. أَبْرَاجٌ</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stone</a:t>
            </a:r>
            <a:pPr indent="0" marL="0">
              <a:buNone/>
            </a:pPr>
            <a:r>
              <a:rPr lang="ar-SA" sz="1000" i="1" dirty="0">
                <a:solidFill>
                  <a:srgbClr val="5A6472"/>
                </a:solidFill>
                <a:latin typeface="Calibri" pitchFamily="34" charset="0"/>
                <a:ea typeface="Amiri" pitchFamily="2" charset="-78"/>
                <a:cs typeface="Amiri" pitchFamily="2" charset="-78"/>
              </a:rPr>
              <a:t>  pl. أَحْجَارٌ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زُجَاجٌ</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glass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قَدِيمٌ / حَدِيثٌ</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old / modern</a:t>
            </a:r>
            <a:pPr indent="0" marL="0">
              <a:buNone/>
            </a:pPr>
            <a:r>
              <a:rPr lang="ar-SA" sz="1000" i="1" dirty="0">
                <a:solidFill>
                  <a:srgbClr val="5A6472"/>
                </a:solidFill>
                <a:latin typeface="Calibri" pitchFamily="34" charset="0"/>
                <a:ea typeface="Amiri" pitchFamily="2" charset="-78"/>
                <a:cs typeface="Amiri" pitchFamily="2" charset="-78"/>
              </a:rPr>
              <a:t>  f. قَدِيمَةٌ / حَدِيثَةٌ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famous building in your town or country.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مَبْنًى مَشْهُورٌ فِي مَدِينَتِي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F6-L06: the vocabulary tab and the “Masculine or feminine price reference?”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6–8-line shopping dialogue comparing two purchases.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spontaneous-style dialogue with discount, payment and receipt.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F6-L07 · The Built Environment: Buildings, Materials and Urban Life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البِيئَةُ المَبْنِيَّةُ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كَمْ ثَمَنُهُ؟</a:t>
            </a:r>
            <a:pPr algn="l" indent="0" marL="0">
              <a:buNone/>
            </a:pPr>
            <a:r>
              <a:rPr lang="en-US" sz="1300" b="1" dirty="0">
                <a:solidFill>
                  <a:srgbClr val="FFFFFF"/>
                </a:solidFill>
                <a:latin typeface="Calibri" pitchFamily="34" charset="0"/>
                <a:cs typeface="Amiri" pitchFamily="2" charset="-78"/>
              </a:rPr>
              <a:t> (m.) · </a:t>
            </a:r>
            <a:pPr algn="l" indent="0" marL="0">
              <a:buNone/>
            </a:pPr>
            <a:r>
              <a:rPr lang="ar-SA" altLang="en-US" sz="1700" b="1" dirty="0">
                <a:solidFill>
                  <a:srgbClr val="FFFFFF"/>
                </a:solidFill>
                <a:latin typeface="Amiri" pitchFamily="2" charset="-78"/>
                <a:ea typeface="Amiri" pitchFamily="2" charset="-78"/>
                <a:cs typeface="Amiri" pitchFamily="2" charset="-78"/>
              </a:rPr>
              <a:t>كَمْ ثَمَنُهَا؟</a:t>
            </a:r>
            <a:pPr algn="l" indent="0" marL="0">
              <a:buNone/>
            </a:pPr>
            <a:r>
              <a:rPr lang="en-US" sz="1300" b="1" dirty="0">
                <a:solidFill>
                  <a:srgbClr val="FFFFFF"/>
                </a:solidFill>
                <a:latin typeface="Calibri" pitchFamily="34" charset="0"/>
                <a:cs typeface="Amiri" pitchFamily="2" charset="-78"/>
              </a:rPr>
              <a:t> (f.) · </a:t>
            </a:r>
            <a:pPr algn="l" indent="0" marL="0">
              <a:buNone/>
            </a:pPr>
            <a:r>
              <a:rPr lang="ar-SA" altLang="en-US" sz="1700" b="1" dirty="0">
                <a:solidFill>
                  <a:srgbClr val="FFFFFF"/>
                </a:solidFill>
                <a:latin typeface="Amiri" pitchFamily="2" charset="-78"/>
                <a:ea typeface="Amiri" pitchFamily="2" charset="-78"/>
                <a:cs typeface="Amiri" pitchFamily="2" charset="-78"/>
              </a:rPr>
              <a:t>أَرْخَصُ / أَغْلَى</a:t>
            </a:r>
            <a:pPr algn="l" indent="0" marL="0">
              <a:buNone/>
            </a:pPr>
            <a:r>
              <a:rPr lang="en-US" sz="1300" b="1" dirty="0">
                <a:solidFill>
                  <a:srgbClr val="FFFFFF"/>
                </a:solidFill>
                <a:latin typeface="Calibri" pitchFamily="34" charset="0"/>
                <a:cs typeface="Amiri" pitchFamily="2" charset="-78"/>
              </a:rPr>
              <a:t> never change.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F6-L06 · Shopping in Town: Prices and Comparisons</dc:title>
  <dc:subject>PptxGenJS Presentation</dc:subject>
  <dc:creator>Al Madina Online School · Arabic Department</dc:creator>
  <cp:lastModifiedBy>Al Madina Online School · Arabic Department</cp:lastModifiedBy>
  <cp:revision>1</cp:revision>
  <dcterms:created xsi:type="dcterms:W3CDTF">2026-10-11T06:41:55Z</dcterms:created>
  <dcterms:modified xsi:type="dcterms:W3CDTF">2026-10-11T06:41:55Z</dcterms:modified>
</cp:coreProperties>
</file>