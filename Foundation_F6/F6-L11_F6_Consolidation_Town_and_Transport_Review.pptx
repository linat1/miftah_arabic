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F6 My Town and Transport › F6-L11. The website lesson “F6 Consolidation: Complete Town and Transport Review”: vocabulary, grammar rules and quiz, patterns, common mistakes, sorter, listening, reading, speaking prompts and model, writing task and model, differentiation, final check and the lesson mission. Picture match: website visual game “F6 Consolidation: Complete Town and Transport Review”.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No new grammar today: this is the F6 review before the F6-L12 assessment.
• Core: targeted repair on the two weakest families (existence/agreement and transport patterns) using the audit table.
• Develop: an integrated response (places + transport + directions + opinion) and an explanation for each correction.
• Stretch: lead a “peer clinic”: justify every repair and complete an extended self-assessment.
• Website: “An error explanation is stronger than a corrected sentence because it makes the controlling rule reusable.”
• Use the Do Now and quick-check results to pick each student’s route for the final You Do.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at the end of F6-L10. Questions 3–5 retrieve F6-L10, F6-L08 and F6-L01. Note which of Q4–Q5 each student gets wrong: it points to their route today.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Before you fix an ending, find what controls it: the noun, the person or the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تحلیل، دلیل، اولیت are shared. ترقی (progress) → Arabic تَرَقٍّ, but the website uses تَقَدُّمٌ. رجوع کرنا (to turn to / consult) shares the root of مُرَاجَعَةٌ (review: “going back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Review and reflection (website vocabulary (1 of 2)). Hear → Say → See → Use. Transliteration is printed for Core students (cover it for Develop/Stretch).
Review words: students need to understand them for today’s self-assessment and target. The Core route learns the five prep words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Review and reflection (website vocabulary (2 of 2)). Hear → Say → See → Use. Transliteration is printed for Core students (cover it for Develop/Stretch).
Review words: students need to understand them for today’s self-assessment and target. The Core route learns the five prep words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Complete F6 grammar bank (website vocabulary (1 of 2)). Hear → Say → See → Use. Transliteration is printed for Core students (cover it for Develop/Stretch).
The complete F6 grammar bank: every structure the F6-L12 assessment can test. Students give themselves a traffic light for each (green: confident · amber: sometimes · red: need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Complete F6 grammar bank (website vocabulary (2 of 2)). Hear → Say → See → Use. Transliteration is printed for Core students (cover it for Develop/Stretch).
FLEX: teach if time allows; otherwise these are on the website vocabulary tab for homework.
The complete F6 grammar bank: every structure the F6-L12 assessment can test. Students give themselves a traffic light for each (green: confident · amber: sometimes · red: need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“Existence and agreement”, “Movement and directions”, “Description and comparison” and “Balanced extended communication”, each with the website check question.
Website overview: “This lesson does not introduce a new rule. It connects the full F6 grammar system and teaches learners to diagnose why an error is wrong before repairing it.”
Row 5: after أَنَّ the noun takes -a (المَوَاصَلَاتِ, a feminine plural with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common error: “Do not correct only the visible ending. Explain which noun, person, transport type or reference controls the form.”
Website teaching point: “An error explanation is stronger than a corrected sentence because it makes the controlling rule reusable.”
This is exactly what Layla does in today’s reading text (error-analysis report). Practise the routine aloud on quiz item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“This lesson does not introduce a new rule. It connects the full F6 grammar system and teaches learners to diagnose why an error is wrong before repairing it.”
• Existence and agreement: Check the noun gender before choosing the verb and adjective.
• Movement and directions: Check both the transport pattern and the person being addressed.
• Description and comparison: Check the preposition and any agreement in the surrounding phrase.
• Balanced extended communication: A complete response combines facts, movement, opinions and a balanced judgement.
Website common error: Do not correct only the visible ending. Explain which noun, person, transport type or reference controls the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model portfolio answer, built one family at a time. The last sentence is the evidence-based TARGET: it names the rule AND the evidence (“twice”). Students count the grammar families used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Classify each form by the rule it tests.
Stretch: for each item, say the check question (What is the noun’s gender? Who is addressed?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Classify each form by the rule it tests.
Stretch: for each item, say the check question (What is the noun’s gender? Who is addressed?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4,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1–3. Develop / Stretch: all 5, then name the grammar family behind each answer.
Listen 1: just listen. Listen 2: note answers. Then chat the letters.
Support: after the second listening, show the read-along slide (Arabic + English, line by line) for Core students.
SCRIPT (read aloud):
أَسْكُنُ فِي مَدِينَةٍ تَارِيخِيَّةٍ تَتَمَيَّزُ بِأَسْوَاقِهَا وَمَبَانِيهَا المَبْنِيَّةِ مِنَ الحَجَرِ. تُوجَدُ مَحَطَّةُ القِطَارِ فِي المَرْكَزِ، وَأَذْهَبُ إِلَيْهَا مَشْيًا. القِطَارُ أَغْلَى مِنَ الحَافِلَةِ، وَلٰكِنَّهُ أَسْرَعُ وَتَسْتَغْرِقُ الرِّحْلَةُ أَرْبَعِينَ دَقِيقَةً. مِنْ مَزَايَا مَدِينَتِي أَنَّهَا آمِنَةٌ، وَمِنْ عُيُوبِهَا أَنَّ المَوَاصَلَاتِ تَتَأَخَّرُ أَحْيَانًا.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اذْكُرْ مِيزَةً وَعَيْبًا وَأَعْطِنِي اتِّجَاهًا. (Give an advantage, disadvantage and one direction.)
B: مِنْ مَزَايَاهَا أَنَّهَا آمِنَةٌ، وَمِنْ عُيُوبِهَا الاِزْدِحَامُ. لِلذَّهَابِ إِلَى المَسْجِدِ، اِذْهَبْ مُسْتَقِيمًا ثُمَّ اِنْعَطِفْ يَسَارًا. (It is safe but crowded. Go straight then turn left to the mosque.)
Website “Full F6 topic conversation” — the same five questions the F6-L12 speaking assessment uses. Pairs: A asks, B answers for one minute; swap. Website model: صِفْ مَدِينَتَكَ وَمَوَاصَلَاتِهَا. — مَدِينَتِي حَدِيثَةٌ … أَتَنَقَّلُ بِالمِتْرُو لِأَنَّهُ سَرِيعٌ. — اذْكُرْ مِيزَةً وَعَيْبًا وَأَعْطِنِي اتِّجَاهًا. — مِنْ مَزَايَاهَا أَنَّهَا آمِنَةٌ، وَمِنْ عُيُوبِهَا الاِزْدِحَامُ. لِلذَّهَابِ إِلَى المَسْجِدِ، اِذْهَبْ مُسْتَقِيمًا ثُمَّ اِنْعَطِفْ يَسَارًا.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Complete targeted repair on the two weakest grammar families. · Develop — Produce a full integrated response and explain corrections. · Stretch — Lead a peer clinic, justify every repair and complete an extended self-assessment.
Website writing task (Stretch): Produce a final F6 portfolio response and an evidence-based assessment target.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Evidence: تُوجَدُ فِيهَا مَحَطَّاتٌ · بِمَتْحَفٍ مَبْنِيٍّ مِنَ الحَجَرِ · بِالمِتْرُو، تَسْتَغْرِقُ · مِنْ مَزَايَا … أَنَّ · هَدَفِي … لِأَنِّي أَخْطَأْتُ … مَرَّتَيْنِ.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(F6-L12 · F6 Review and Unit Assessment) will spend class time USING this language, so students prepare it tonight — short, simple, easy to access (school guidance: “Simple, Short, Interesting, Relevant, Easy to access”). The five words are the instruction words of the F6-L12 assessment (skills, marks, instructions).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F6  ·  F6-L11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F6-L11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F6 Consolidation: Complete Town and Transport Review</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تَرْسِيخُ الوَحْدَةِ السَّادِسَةِ — مُرَاجَعَةٌ شَامِلَةٌ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Pull the whole of F6 together: four grammar families, a diagnose → explain → repair routine for errors, a one-minute topic conversation and one precise target before the assessment.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F6-L11 · Foundation F6 · My Town and Transport</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F6 › F6-L11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Unit Review</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40</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four F6 grammar families and a three-step repair routine.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by family, repair the errors, then listen to a cumulative F6 text.</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F6-L12.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40</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Unit Review</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أَوْلَوِيَّةٌ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evidence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priority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strength</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دَلِيلٌ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evidence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review</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mistake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question with </a:t>
            </a:r>
            <a:pPr algn="l" indent="0" marL="0">
              <a:buNone/>
            </a:pPr>
            <a:r>
              <a:rPr lang="ar-SA" altLang="en-US" sz="1650" b="1" dirty="0">
                <a:solidFill>
                  <a:srgbClr val="1B3B6F"/>
                </a:solidFill>
                <a:latin typeface="Amiri" pitchFamily="2" charset="-78"/>
                <a:cs typeface="Amiri" pitchFamily="2" charset="-78"/>
              </a:rPr>
              <a:t>كَمْ تَسْتَغْرِقُ</a:t>
            </a:r>
            <a:pPr algn="l" indent="0" marL="0">
              <a:buNone/>
            </a:pPr>
            <a:r>
              <a:rPr lang="en-US" sz="1250" b="1" dirty="0">
                <a:solidFill>
                  <a:srgbClr val="1B3B6F"/>
                </a:solidFill>
                <a:latin typeface="Calibri" pitchFamily="34" charset="0"/>
                <a:cs typeface="Amiri" pitchFamily="2" charset="-78"/>
              </a:rPr>
              <a:t> expects …</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place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reason</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duration</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“Turn left” to a group.</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اِنْعَطِفِي يَسَارًا.</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اِنْعَطِفْ يَسَارًا.</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اِنْعَطِفُوا يَسَارًا.</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accurate?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تُوجَدُ مَحَطَّةٌ قَرِيبَةٌ.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يُوجَدُ مَحَطَّةٌ قَرِيبٌ.</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تُوجَدُ مَحَطَّةٌ قَرِيبٌ.</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40</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Unit Review</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أَوْلَوِيَّةٌ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evidence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priority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strength</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(F6-L10).</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دَلِيلٌ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evidence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review</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mistake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(F6-L10).</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question with </a:t>
            </a:r>
            <a:pPr algn="l" indent="0" marL="0">
              <a:buNone/>
            </a:pPr>
            <a:r>
              <a:rPr lang="ar-SA" altLang="en-US" sz="1650" b="1" dirty="0">
                <a:solidFill>
                  <a:srgbClr val="1B3B6F"/>
                </a:solidFill>
                <a:latin typeface="Amiri" pitchFamily="2" charset="-78"/>
                <a:cs typeface="Amiri" pitchFamily="2" charset="-78"/>
              </a:rPr>
              <a:t>كَمْ تَسْتَغْرِقُ</a:t>
            </a:r>
            <a:pPr algn="l" indent="0" marL="0">
              <a:buNone/>
            </a:pPr>
            <a:r>
              <a:rPr lang="en-US" sz="1250" b="1" dirty="0">
                <a:solidFill>
                  <a:srgbClr val="1B3B6F"/>
                </a:solidFill>
                <a:latin typeface="Calibri" pitchFamily="34" charset="0"/>
                <a:cs typeface="Amiri" pitchFamily="2" charset="-78"/>
              </a:rPr>
              <a:t> expects …</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place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reason</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duration</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F6-L10: predict the answer type.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“Turn left” to a group.</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اِنْعَطِفِي يَسَارًا.</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اِنْعَطِفْ يَسَارًا.</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اِنْعَطِفُوا يَسَارًا.</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F6-L08: -ū for a group.</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accurate?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تُوجَدُ مَحَطَّةٌ قَرِيبَةٌ.</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يُوجَدُ مَحَطَّةٌ قَرِيبٌ.</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تُوجَدُ مَحَطَّةٌ قَرِيبٌ.</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F6-L01: feminine noun → tūjadu + -a.</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Before you fix an ending, find what controls it: the noun, the person or the transport.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0E7C86"/>
                </a:solidFill>
                <a:latin typeface="Amiri" pitchFamily="2" charset="-78"/>
                <a:cs typeface="Amiri" pitchFamily="2" charset="-78"/>
              </a:rPr>
              <a:t>تُوجَدُ</a:t>
            </a:r>
            <a:pPr rtl="1" algn="ctr" indent="0" marL="0">
              <a:lnSpc>
                <a:spcPct val="120000"/>
              </a:lnSpc>
              <a:buNone/>
            </a:pPr>
            <a:r>
              <a:rPr lang="ar-SA" altLang="en-US" sz="1950" b="1" dirty="0">
                <a:solidFill>
                  <a:srgbClr val="1B3B6F"/>
                </a:solidFill>
                <a:latin typeface="Amiri" pitchFamily="2" charset="-78"/>
                <a:cs typeface="Amiri" pitchFamily="2" charset="-78"/>
              </a:rPr>
              <a:t> مَحَطَّةٌ · </a:t>
            </a:r>
            <a:pPr rtl="1" algn="ctr" indent="0" marL="0">
              <a:lnSpc>
                <a:spcPct val="120000"/>
              </a:lnSpc>
              <a:buNone/>
            </a:pPr>
            <a:r>
              <a:rPr lang="ar-SA" altLang="en-US" sz="1950" b="1" dirty="0">
                <a:solidFill>
                  <a:srgbClr val="0E7C86"/>
                </a:solidFill>
                <a:latin typeface="Amiri" pitchFamily="2" charset="-78"/>
                <a:cs typeface="Amiri" pitchFamily="2" charset="-78"/>
              </a:rPr>
              <a:t>اِنْعَطِفُوا</a:t>
            </a:r>
            <a:pPr rtl="1" algn="ctr" indent="0" marL="0">
              <a:lnSpc>
                <a:spcPct val="120000"/>
              </a:lnSpc>
              <a:buNone/>
            </a:pPr>
            <a:r>
              <a:rPr lang="ar-SA" altLang="en-US" sz="1950" b="1" dirty="0">
                <a:solidFill>
                  <a:srgbClr val="1B3B6F"/>
                </a:solidFill>
                <a:latin typeface="Amiri" pitchFamily="2" charset="-78"/>
                <a:cs typeface="Amiri" pitchFamily="2" charset="-78"/>
              </a:rPr>
              <a:t> · أَذْهَبُ </a:t>
            </a:r>
            <a:pPr rtl="1" algn="ctr" indent="0" marL="0">
              <a:lnSpc>
                <a:spcPct val="120000"/>
              </a:lnSpc>
              <a:buNone/>
            </a:pPr>
            <a:r>
              <a:rPr lang="ar-SA" altLang="en-US" sz="1950" b="1" dirty="0">
                <a:solidFill>
                  <a:srgbClr val="0E7C86"/>
                </a:solidFill>
                <a:latin typeface="Amiri" pitchFamily="2" charset="-78"/>
                <a:cs typeface="Amiri" pitchFamily="2" charset="-78"/>
              </a:rPr>
              <a:t>بِالحَافِلَةِ</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40</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Unit Review</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Retrieve all F6 vocabulary families.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Explain and repair grammar errors.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Complete a sustained topic conversation.</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Identify one evidence-based priority before assessment.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repair existence and transport errors.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describe my town and journey accurately.</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explain why each correction is needed.</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speak for one minute on my town.</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combine four grammar families in one text.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set a precise, evidence-based target.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40</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22 words from the website in 2 groups. Learn the CORE words first. Hear it → say it → see it → use it.</a:t>
            </a:r>
            <a:endParaRPr lang="en-US" sz="1600" dirty="0"/>
          </a:p>
        </p:txBody>
      </p:sp>
      <p:sp>
        <p:nvSpPr>
          <p:cNvPr id="8" name="Shape 6"/>
          <p:cNvSpPr/>
          <p:nvPr/>
        </p:nvSpPr>
        <p:spPr>
          <a:xfrm>
            <a:off x="457200" y="4572000"/>
            <a:ext cx="38633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3589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Review and reflection · 10</a:t>
            </a:r>
            <a:endParaRPr lang="en-US" sz="900" dirty="0"/>
          </a:p>
        </p:txBody>
      </p:sp>
      <p:sp>
        <p:nvSpPr>
          <p:cNvPr id="10" name="Shape 8"/>
          <p:cNvSpPr/>
          <p:nvPr/>
        </p:nvSpPr>
        <p:spPr>
          <a:xfrm>
            <a:off x="4457700" y="4572000"/>
            <a:ext cx="38633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4594860" y="4617720"/>
            <a:ext cx="3589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Complete F6 grammar bank · 12</a:t>
            </a:r>
            <a:endParaRPr lang="en-US" sz="900" dirty="0"/>
          </a:p>
        </p:txBody>
      </p:sp>
      <p:sp>
        <p:nvSpPr>
          <p:cNvPr id="12" name="Shape 10"/>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3" name="Text 11"/>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4" name="Text 12"/>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تَحْلِيلٌ</a:t>
            </a:r>
            <a:endParaRPr lang="ar-SA" sz="1900" dirty="0"/>
          </a:p>
        </p:txBody>
      </p:sp>
      <p:sp>
        <p:nvSpPr>
          <p:cNvPr id="15" name="Text 13"/>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‎تحلیل‎ </a:t>
            </a:r>
            <a:pPr indent="0" marL="0">
              <a:buNone/>
            </a:pPr>
            <a:r>
              <a:rPr lang="en-US" sz="950" b="1" dirty="0">
                <a:solidFill>
                  <a:srgbClr val="2E8B57"/>
                </a:solidFill>
                <a:latin typeface="Calibri" pitchFamily="34" charset="0"/>
                <a:cs typeface="Amiri" pitchFamily="2" charset="-78"/>
              </a:rPr>
              <a:t> tahlīl · analysis</a:t>
            </a:r>
            <a:endParaRPr lang="en-US" sz="1400" dirty="0"/>
          </a:p>
        </p:txBody>
      </p:sp>
      <p:sp>
        <p:nvSpPr>
          <p:cNvPr id="16" name="Text 14"/>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دَلِيلٌ</a:t>
            </a:r>
            <a:endParaRPr lang="ar-SA" sz="1900" dirty="0"/>
          </a:p>
        </p:txBody>
      </p:sp>
      <p:sp>
        <p:nvSpPr>
          <p:cNvPr id="17" name="Text 15"/>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‎دلیل‎ </a:t>
            </a:r>
            <a:pPr indent="0" marL="0">
              <a:buNone/>
            </a:pPr>
            <a:r>
              <a:rPr lang="en-US" sz="950" b="1" dirty="0">
                <a:solidFill>
                  <a:srgbClr val="2E8B57"/>
                </a:solidFill>
                <a:latin typeface="Calibri" pitchFamily="34" charset="0"/>
                <a:cs typeface="Amiri" pitchFamily="2" charset="-78"/>
              </a:rPr>
              <a:t> dalīl · argument / proof → evidence</a:t>
            </a:r>
            <a:endParaRPr lang="en-US" sz="1400" dirty="0"/>
          </a:p>
        </p:txBody>
      </p:sp>
      <p:sp>
        <p:nvSpPr>
          <p:cNvPr id="18" name="Text 16"/>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أَوْلَوِيَّةٌ</a:t>
            </a:r>
            <a:endParaRPr lang="ar-SA" sz="1900" dirty="0"/>
          </a:p>
        </p:txBody>
      </p:sp>
      <p:sp>
        <p:nvSpPr>
          <p:cNvPr id="19" name="Text 17"/>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‎اولیت‎ </a:t>
            </a:r>
            <a:pPr indent="0" marL="0">
              <a:buNone/>
            </a:pPr>
            <a:r>
              <a:rPr lang="en-US" sz="950" b="1" dirty="0">
                <a:solidFill>
                  <a:srgbClr val="2E8B57"/>
                </a:solidFill>
                <a:latin typeface="Calibri" pitchFamily="34" charset="0"/>
                <a:cs typeface="Amiri" pitchFamily="2" charset="-78"/>
              </a:rPr>
              <a:t> awwaliyat · priority</a:t>
            </a:r>
            <a:endParaRPr lang="en-US" sz="1400" dirty="0"/>
          </a:p>
        </p:txBody>
      </p:sp>
      <p:sp>
        <p:nvSpPr>
          <p:cNvPr id="20" name="Text 18"/>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تَرَقٍّ / تَقَدُّمٌ</a:t>
            </a:r>
            <a:endParaRPr lang="ar-SA" sz="1900" dirty="0"/>
          </a:p>
        </p:txBody>
      </p:sp>
      <p:sp>
        <p:nvSpPr>
          <p:cNvPr id="21" name="Text 19"/>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‎ترقی‎ </a:t>
            </a:r>
            <a:pPr indent="0" marL="0">
              <a:buNone/>
            </a:pPr>
            <a:r>
              <a:rPr lang="en-US" sz="950" b="1" dirty="0">
                <a:solidFill>
                  <a:srgbClr val="2E8B57"/>
                </a:solidFill>
                <a:latin typeface="Calibri" pitchFamily="34" charset="0"/>
                <a:cs typeface="Amiri" pitchFamily="2" charset="-78"/>
              </a:rPr>
              <a:t> taraqqī · progress</a:t>
            </a:r>
            <a:endParaRPr lang="en-US" sz="1400" dirty="0"/>
          </a:p>
        </p:txBody>
      </p:sp>
      <p:sp>
        <p:nvSpPr>
          <p:cNvPr id="22" name="Text 20"/>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مُرَاجَعَةٌ</a:t>
            </a:r>
            <a:endParaRPr lang="ar-SA" sz="1900" dirty="0"/>
          </a:p>
        </p:txBody>
      </p:sp>
      <p:sp>
        <p:nvSpPr>
          <p:cNvPr id="23" name="Text 21"/>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‎رجوع‎ </a:t>
            </a:r>
            <a:pPr indent="0" marL="0">
              <a:buNone/>
            </a:pPr>
            <a:r>
              <a:rPr lang="en-US" sz="950" b="1" dirty="0">
                <a:solidFill>
                  <a:srgbClr val="2E8B57"/>
                </a:solidFill>
                <a:latin typeface="Calibri" pitchFamily="34" charset="0"/>
                <a:cs typeface="Amiri" pitchFamily="2" charset="-78"/>
              </a:rPr>
              <a:t> rujū · Urdu: turning to → Arabic: review</a:t>
            </a:r>
            <a:endParaRPr lang="en-US" sz="1400" dirty="0"/>
          </a:p>
        </p:txBody>
      </p:sp>
      <p:sp>
        <p:nvSpPr>
          <p:cNvPr id="25" name="Text 2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40</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Unit Review</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Review and reflection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مُرَاجَعَةٌ شَامِلَةٌ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comprehensive review</a:t>
            </a:r>
            <a:endParaRPr lang="en-US" sz="1350" dirty="0"/>
          </a:p>
          <a:p>
            <a:pPr indent="0" marL="0">
              <a:buNone/>
            </a:pPr>
            <a:r>
              <a:rPr lang="en-US" sz="1100" i="1" dirty="0">
                <a:solidFill>
                  <a:srgbClr val="5A6472"/>
                </a:solidFill>
                <a:latin typeface="Calibri" pitchFamily="34" charset="0"/>
                <a:cs typeface="Amiri" pitchFamily="2" charset="-78"/>
              </a:rPr>
              <a:t>mu-rā-ja-ʿa-tun shā-mi-la-tun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تَكَامُلٌ</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integration</a:t>
            </a:r>
            <a:endParaRPr lang="en-US" sz="1350" dirty="0"/>
          </a:p>
          <a:p>
            <a:pPr indent="0" marL="0">
              <a:buNone/>
            </a:pPr>
            <a:r>
              <a:rPr lang="en-US" sz="1100" i="1" dirty="0">
                <a:solidFill>
                  <a:srgbClr val="5A6472"/>
                </a:solidFill>
                <a:latin typeface="Calibri" pitchFamily="34" charset="0"/>
                <a:cs typeface="Amiri" pitchFamily="2" charset="-78"/>
              </a:rPr>
              <a:t>ta-kā-mu-lun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تَحْلِيلُ الأَخْطَاءِ</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error analysis</a:t>
            </a:r>
            <a:endParaRPr lang="en-US" sz="1350" dirty="0"/>
          </a:p>
          <a:p>
            <a:pPr indent="0" marL="0">
              <a:buNone/>
            </a:pPr>
            <a:r>
              <a:rPr lang="en-US" sz="1100" i="1" dirty="0">
                <a:solidFill>
                  <a:srgbClr val="5A6472"/>
                </a:solidFill>
                <a:latin typeface="Calibri" pitchFamily="34" charset="0"/>
                <a:cs typeface="Amiri" pitchFamily="2" charset="-78"/>
              </a:rPr>
              <a:t>taḥ-lī-lu al-akh-ṭā-ʾi</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إِنْجَازٌ</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achievement</a:t>
            </a:r>
            <a:endParaRPr lang="en-US" sz="1350" dirty="0"/>
          </a:p>
          <a:p>
            <a:pPr indent="0" marL="0">
              <a:buNone/>
            </a:pPr>
            <a:r>
              <a:rPr lang="en-US" sz="1100" i="1" dirty="0">
                <a:solidFill>
                  <a:srgbClr val="5A6472"/>
                </a:solidFill>
                <a:latin typeface="Calibri" pitchFamily="34" charset="0"/>
                <a:cs typeface="Amiri" pitchFamily="2" charset="-78"/>
              </a:rPr>
              <a:t>in-jā-zun</a:t>
            </a:r>
            <a:endParaRPr lang="en-US" sz="1350" dirty="0"/>
          </a:p>
        </p:txBody>
      </p:sp>
      <p:sp>
        <p:nvSpPr>
          <p:cNvPr id="39" name="Shape 3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4389120"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2" name="Text 3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تَقَدُّمٌ مُسْتَمِرٌّ</a:t>
            </a:r>
            <a:endParaRPr lang="ar-SA" sz="3000" dirty="0"/>
          </a:p>
        </p:txBody>
      </p:sp>
      <p:sp>
        <p:nvSpPr>
          <p:cNvPr id="43" name="Text 4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continuous progress</a:t>
            </a:r>
            <a:endParaRPr lang="en-US" sz="1350" dirty="0"/>
          </a:p>
          <a:p>
            <a:pPr indent="0" marL="0">
              <a:buNone/>
            </a:pPr>
            <a:r>
              <a:rPr lang="en-US" sz="1100" i="1" dirty="0">
                <a:solidFill>
                  <a:srgbClr val="5A6472"/>
                </a:solidFill>
                <a:latin typeface="Calibri" pitchFamily="34" charset="0"/>
                <a:cs typeface="Amiri" pitchFamily="2" charset="-78"/>
              </a:rPr>
              <a:t>ta-qad-du-mun mus-ta-mir-run</a:t>
            </a:r>
            <a:endParaRPr lang="en-US" sz="13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40</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Unit Review</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Review and reflection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هَدَفٌ مَدْرُوسٌ</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well-considered target</a:t>
            </a:r>
            <a:endParaRPr lang="en-US" sz="1350" dirty="0"/>
          </a:p>
          <a:p>
            <a:pPr indent="0" marL="0">
              <a:buNone/>
            </a:pPr>
            <a:r>
              <a:rPr lang="en-US" sz="1100" i="1" dirty="0">
                <a:solidFill>
                  <a:srgbClr val="5A6472"/>
                </a:solidFill>
                <a:latin typeface="Calibri" pitchFamily="34" charset="0"/>
                <a:cs typeface="Amiri" pitchFamily="2" charset="-78"/>
              </a:rPr>
              <a:t>ha-da-fun mad-rū-sun</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3" name="Shape 2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نُقْطَةُ قُوَّةٍ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strength</a:t>
            </a:r>
            <a:endParaRPr lang="en-US" sz="1350" dirty="0"/>
          </a:p>
          <a:p>
            <a:pPr indent="0" marL="0">
              <a:buNone/>
            </a:pPr>
            <a:r>
              <a:rPr lang="en-US" sz="1100" i="1" dirty="0">
                <a:solidFill>
                  <a:srgbClr val="5A6472"/>
                </a:solidFill>
                <a:latin typeface="Calibri" pitchFamily="34" charset="0"/>
                <a:cs typeface="Amiri" pitchFamily="2" charset="-78"/>
              </a:rPr>
              <a:t>nuq-ṭa-tu quw-wa-tin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أَوْلَوِيَّةٌ</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priority</a:t>
            </a:r>
            <a:endParaRPr lang="en-US" sz="1350" dirty="0"/>
          </a:p>
          <a:p>
            <a:pPr indent="0" marL="0">
              <a:buNone/>
            </a:pPr>
            <a:r>
              <a:rPr lang="en-US" sz="1100" i="1" dirty="0">
                <a:solidFill>
                  <a:srgbClr val="5A6472"/>
                </a:solidFill>
                <a:latin typeface="Calibri" pitchFamily="34" charset="0"/>
                <a:cs typeface="Amiri" pitchFamily="2" charset="-78"/>
              </a:rPr>
              <a:t>aw-la-wiy-ya-tun</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7" name="Shape 3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دَلِيلٌ</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evidence</a:t>
            </a:r>
            <a:endParaRPr lang="en-US" sz="1350" dirty="0"/>
          </a:p>
          <a:p>
            <a:pPr indent="0" marL="0">
              <a:buNone/>
            </a:pPr>
            <a:r>
              <a:rPr lang="en-US" sz="1100" i="1" dirty="0">
                <a:solidFill>
                  <a:srgbClr val="5A6472"/>
                </a:solidFill>
                <a:latin typeface="Calibri" pitchFamily="34" charset="0"/>
                <a:cs typeface="Amiri" pitchFamily="2" charset="-78"/>
              </a:rPr>
              <a:t>da-lī-lun</a:t>
            </a:r>
            <a:endParaRPr lang="en-US" sz="1350" dirty="0"/>
          </a:p>
        </p:txBody>
      </p:sp>
      <p:sp>
        <p:nvSpPr>
          <p:cNvPr id="41" name="Shape 3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4389120"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4" name="Text 4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اِسْتِقْلَالِيَّةٌ</a:t>
            </a:r>
            <a:endParaRPr lang="ar-SA" sz="3000" dirty="0"/>
          </a:p>
        </p:txBody>
      </p:sp>
      <p:sp>
        <p:nvSpPr>
          <p:cNvPr id="45" name="Text 4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independence</a:t>
            </a:r>
            <a:endParaRPr lang="en-US" sz="1350" dirty="0"/>
          </a:p>
          <a:p>
            <a:pPr indent="0" marL="0">
              <a:buNone/>
            </a:pPr>
            <a:r>
              <a:rPr lang="en-US" sz="1100" i="1" dirty="0">
                <a:solidFill>
                  <a:srgbClr val="5A6472"/>
                </a:solidFill>
                <a:latin typeface="Calibri" pitchFamily="34" charset="0"/>
                <a:cs typeface="Amiri" pitchFamily="2" charset="-78"/>
              </a:rPr>
              <a:t>is-tiq-lā-liy-ya-tun</a:t>
            </a:r>
            <a:endParaRPr lang="en-US" sz="13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40</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Unit Review</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Complete F6 grammar bank (1 of 2)</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يُوجَدُ / تُوجَدُ</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there is / are</a:t>
            </a:r>
            <a:endParaRPr lang="en-US" sz="1350" dirty="0"/>
          </a:p>
          <a:p>
            <a:pPr indent="0" marL="0">
              <a:buNone/>
            </a:pPr>
            <a:r>
              <a:rPr lang="en-US" sz="1100" i="1" dirty="0">
                <a:solidFill>
                  <a:srgbClr val="5A6472"/>
                </a:solidFill>
                <a:latin typeface="Calibri" pitchFamily="34" charset="0"/>
                <a:cs typeface="Amiri" pitchFamily="2" charset="-78"/>
              </a:rPr>
              <a:t>yū-ja-du / tū-ja-du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أَيْنَ...؟</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t>
            </a:r>
            <a:endParaRPr lang="en-US" sz="1350" dirty="0"/>
          </a:p>
          <a:p>
            <a:pPr indent="0" marL="0">
              <a:buNone/>
            </a:pPr>
            <a:r>
              <a:rPr lang="en-US" sz="1100" i="1" dirty="0">
                <a:solidFill>
                  <a:srgbClr val="5A6472"/>
                </a:solidFill>
                <a:latin typeface="Calibri" pitchFamily="34" charset="0"/>
                <a:cs typeface="Amiri" pitchFamily="2" charset="-78"/>
              </a:rPr>
              <a:t>ay-na...?</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قَرِيبٌ مِنْ / بَعِيدٌ عَنْ</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near / far</a:t>
            </a:r>
            <a:endParaRPr lang="en-US" sz="1350" dirty="0"/>
          </a:p>
          <a:p>
            <a:pPr indent="0" marL="0">
              <a:buNone/>
            </a:pPr>
            <a:r>
              <a:rPr lang="en-US" sz="1100" i="1" dirty="0">
                <a:solidFill>
                  <a:srgbClr val="5A6472"/>
                </a:solidFill>
                <a:latin typeface="Calibri" pitchFamily="34" charset="0"/>
                <a:cs typeface="Amiri" pitchFamily="2" charset="-78"/>
              </a:rPr>
              <a:t>qa-rī-bun min / ba-ʿī-dun ʿan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5" name="Shape 3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بِـ / عَلَى / مَشْيًا</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transport patterns</a:t>
            </a:r>
            <a:endParaRPr lang="en-US" sz="1350" dirty="0"/>
          </a:p>
          <a:p>
            <a:pPr indent="0" marL="0">
              <a:buNone/>
            </a:pPr>
            <a:r>
              <a:rPr lang="en-US" sz="1100" i="1" dirty="0">
                <a:solidFill>
                  <a:srgbClr val="5A6472"/>
                </a:solidFill>
                <a:latin typeface="Calibri" pitchFamily="34" charset="0"/>
                <a:cs typeface="Amiri" pitchFamily="2" charset="-78"/>
              </a:rPr>
              <a:t>bi / ʿa-lā / mash-yan</a:t>
            </a:r>
            <a:endParaRPr lang="en-US" sz="1350" dirty="0"/>
          </a:p>
        </p:txBody>
      </p:sp>
      <p:sp>
        <p:nvSpPr>
          <p:cNvPr id="39" name="Shape 3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4389120"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42" name="Shape 3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تَسْتَغْرِقُ</a:t>
            </a:r>
            <a:endParaRPr lang="ar-SA" sz="3000" dirty="0"/>
          </a:p>
        </p:txBody>
      </p:sp>
      <p:sp>
        <p:nvSpPr>
          <p:cNvPr id="45" name="Text 4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takes time</a:t>
            </a:r>
            <a:endParaRPr lang="en-US" sz="1350" dirty="0"/>
          </a:p>
          <a:p>
            <a:pPr indent="0" marL="0">
              <a:buNone/>
            </a:pPr>
            <a:r>
              <a:rPr lang="en-US" sz="1100" i="1" dirty="0">
                <a:solidFill>
                  <a:srgbClr val="5A6472"/>
                </a:solidFill>
                <a:latin typeface="Calibri" pitchFamily="34" charset="0"/>
                <a:cs typeface="Amiri" pitchFamily="2" charset="-78"/>
              </a:rPr>
              <a:t>tas-tagh-ri-qu</a:t>
            </a:r>
            <a:endParaRPr lang="en-US" sz="1350" dirty="0"/>
          </a:p>
        </p:txBody>
      </p:sp>
      <p:sp>
        <p:nvSpPr>
          <p:cNvPr id="46" name="Shape 4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66928"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49" name="Text 46"/>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كَمْ ثَمَنُهُ / ثَمَنُهَا</a:t>
            </a:r>
            <a:endParaRPr lang="ar-SA" sz="3000" dirty="0"/>
          </a:p>
        </p:txBody>
      </p:sp>
      <p:sp>
        <p:nvSpPr>
          <p:cNvPr id="50" name="Text 47"/>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much m/f</a:t>
            </a:r>
            <a:endParaRPr lang="en-US" sz="1350" dirty="0"/>
          </a:p>
          <a:p>
            <a:pPr indent="0" marL="0">
              <a:buNone/>
            </a:pPr>
            <a:r>
              <a:rPr lang="en-US" sz="1100" i="1" dirty="0">
                <a:solidFill>
                  <a:srgbClr val="5A6472"/>
                </a:solidFill>
                <a:latin typeface="Calibri" pitchFamily="34" charset="0"/>
                <a:cs typeface="Amiri" pitchFamily="2" charset="-78"/>
              </a:rPr>
              <a:t>kam tha-ma-nu-hu / tha-ma-nu-hā</a:t>
            </a:r>
            <a:endParaRPr lang="en-US" sz="13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Unit Review</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Complete F6 grammar bank (2 of 2)</a:t>
            </a:r>
            <a:endParaRPr lang="en-US" sz="26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أَرْخَصُ / أَغْلَى</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cheaper / more expensive</a:t>
            </a:r>
            <a:endParaRPr lang="en-US" sz="1350" dirty="0"/>
          </a:p>
          <a:p>
            <a:pPr indent="0" marL="0">
              <a:buNone/>
            </a:pPr>
            <a:r>
              <a:rPr lang="en-US" sz="1100" i="1" dirty="0">
                <a:solidFill>
                  <a:srgbClr val="5A6472"/>
                </a:solidFill>
                <a:latin typeface="Calibri" pitchFamily="34" charset="0"/>
                <a:cs typeface="Amiri" pitchFamily="2" charset="-78"/>
              </a:rPr>
              <a:t>ar-kha-ṣu / agh-lā</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تَتَمَيَّزُ بِـ</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distinguished by</a:t>
            </a:r>
            <a:endParaRPr lang="en-US" sz="1350" dirty="0"/>
          </a:p>
          <a:p>
            <a:pPr indent="0" marL="0">
              <a:buNone/>
            </a:pPr>
            <a:r>
              <a:rPr lang="en-US" sz="1100" i="1" dirty="0">
                <a:solidFill>
                  <a:srgbClr val="5A6472"/>
                </a:solidFill>
                <a:latin typeface="Calibri" pitchFamily="34" charset="0"/>
                <a:cs typeface="Amiri" pitchFamily="2" charset="-78"/>
              </a:rPr>
              <a:t>ta-ta-may-ya-zu bi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مَبْنِيٌّ مِنْ</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built of</a:t>
            </a:r>
            <a:endParaRPr lang="en-US" sz="1350" dirty="0"/>
          </a:p>
          <a:p>
            <a:pPr indent="0" marL="0">
              <a:buNone/>
            </a:pPr>
            <a:r>
              <a:rPr lang="en-US" sz="1100" i="1" dirty="0">
                <a:solidFill>
                  <a:srgbClr val="5A6472"/>
                </a:solidFill>
                <a:latin typeface="Calibri" pitchFamily="34" charset="0"/>
                <a:cs typeface="Amiri" pitchFamily="2" charset="-78"/>
              </a:rPr>
              <a:t>mab-niy-yun min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بَيْنَمَا</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whereas</a:t>
            </a:r>
            <a:endParaRPr lang="en-US" sz="1350" dirty="0"/>
          </a:p>
          <a:p>
            <a:pPr indent="0" marL="0">
              <a:buNone/>
            </a:pPr>
            <a:r>
              <a:rPr lang="en-US" sz="1100" i="1" dirty="0">
                <a:solidFill>
                  <a:srgbClr val="5A6472"/>
                </a:solidFill>
                <a:latin typeface="Calibri" pitchFamily="34" charset="0"/>
                <a:cs typeface="Amiri" pitchFamily="2" charset="-78"/>
              </a:rPr>
              <a:t>bay-na-mā</a:t>
            </a:r>
            <a:endParaRPr lang="en-US" sz="1350" dirty="0"/>
          </a:p>
        </p:txBody>
      </p:sp>
      <p:sp>
        <p:nvSpPr>
          <p:cNvPr id="41" name="Shape 3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4389120"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44" name="Shape 4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 مَزَايَا / مِنْ عُيُوبِ</a:t>
            </a:r>
            <a:endParaRPr lang="ar-SA" sz="3000" dirty="0"/>
          </a:p>
        </p:txBody>
      </p:sp>
      <p:sp>
        <p:nvSpPr>
          <p:cNvPr id="47" name="Text 4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advantages / disadvantages</a:t>
            </a:r>
            <a:endParaRPr lang="en-US" sz="1350" dirty="0"/>
          </a:p>
          <a:p>
            <a:pPr indent="0" marL="0">
              <a:buNone/>
            </a:pPr>
            <a:r>
              <a:rPr lang="en-US" sz="1100" i="1" dirty="0">
                <a:solidFill>
                  <a:srgbClr val="5A6472"/>
                </a:solidFill>
                <a:latin typeface="Calibri" pitchFamily="34" charset="0"/>
                <a:cs typeface="Amiri" pitchFamily="2" charset="-78"/>
              </a:rPr>
              <a:t>min ma-zā-yā / min ʿu-yū-bi</a:t>
            </a:r>
            <a:endParaRPr lang="en-US" sz="1350" dirty="0"/>
          </a:p>
        </p:txBody>
      </p:sp>
      <p:sp>
        <p:nvSpPr>
          <p:cNvPr id="48" name="Shape 4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66928"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51" name="Shape 48"/>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3" name="Text 5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اِذْهَبْ / اِذْهَبِي / اِذْهَبُوا</a:t>
            </a:r>
            <a:endParaRPr lang="ar-SA" sz="3000" dirty="0"/>
          </a:p>
        </p:txBody>
      </p:sp>
      <p:sp>
        <p:nvSpPr>
          <p:cNvPr id="54" name="Text 5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go commands m/f/pl</a:t>
            </a:r>
            <a:endParaRPr lang="en-US" sz="1350" dirty="0"/>
          </a:p>
          <a:p>
            <a:pPr indent="0" marL="0">
              <a:buNone/>
            </a:pPr>
            <a:r>
              <a:rPr lang="en-US" sz="1100" i="1" dirty="0">
                <a:solidFill>
                  <a:srgbClr val="5A6472"/>
                </a:solidFill>
                <a:latin typeface="Calibri" pitchFamily="34" charset="0"/>
                <a:cs typeface="Amiri" pitchFamily="2" charset="-78"/>
              </a:rPr>
              <a:t>idh-hab / idh-ha-bī / idh-ha-bū</a:t>
            </a:r>
            <a:endParaRPr lang="en-US" sz="135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40</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Unit Review</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50" b="1" spc="150" kern="0" dirty="0">
                <a:solidFill>
                  <a:srgbClr val="1B3B6F"/>
                </a:solidFill>
                <a:latin typeface="Calibri" pitchFamily="34" charset="0"/>
                <a:cs typeface="Amiri" pitchFamily="2" charset="-78"/>
              </a:rPr>
              <a:t>GRAMMAR FOCUS · PART 1 · THE COMPLETE F6 GRAMMAR AUDIT (WEBSITE RULES 1–4)</a:t>
            </a:r>
            <a:endParaRPr lang="en-US" sz="95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families, four checks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مُرَاجَعَةُ قَوَاعِدِ الوَحْدَةِ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217152" y="1810512"/>
            <a:ext cx="24414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Check …</a:t>
            </a:r>
            <a:endParaRPr lang="en-US" sz="1100" dirty="0"/>
          </a:p>
        </p:txBody>
      </p:sp>
      <p:sp>
        <p:nvSpPr>
          <p:cNvPr id="17" name="Text 14"/>
          <p:cNvSpPr txBox="1"/>
          <p:nvPr/>
        </p:nvSpPr>
        <p:spPr>
          <a:xfrm>
            <a:off x="592531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8" name="Text 15"/>
          <p:cNvSpPr txBox="1"/>
          <p:nvPr/>
        </p:nvSpPr>
        <p:spPr>
          <a:xfrm>
            <a:off x="2907792" y="1810512"/>
            <a:ext cx="2871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Text 16"/>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Family</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9253728" y="2267712"/>
            <a:ext cx="24048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noun’s gender</a:t>
            </a:r>
            <a:endParaRPr lang="en-US" sz="1100" dirty="0"/>
          </a:p>
        </p:txBody>
      </p:sp>
      <p:sp>
        <p:nvSpPr>
          <p:cNvPr id="22" name="Text 19"/>
          <p:cNvSpPr txBox="1"/>
          <p:nvPr/>
        </p:nvSpPr>
        <p:spPr>
          <a:xfrm>
            <a:off x="5943600" y="2267712"/>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cs typeface="Amiri" pitchFamily="2" charset="-78"/>
              </a:rPr>
              <a:t>تُوجَدُ</a:t>
            </a:r>
            <a:pPr rtl="1" algn="ctr" indent="0" marL="0">
              <a:buNone/>
            </a:pPr>
            <a:r>
              <a:rPr lang="ar-SA" altLang="en-US" sz="2000" b="1" dirty="0">
                <a:solidFill>
                  <a:srgbClr val="1B3B6F"/>
                </a:solidFill>
                <a:latin typeface="Amiri" pitchFamily="2" charset="-78"/>
                <a:cs typeface="Amiri" pitchFamily="2" charset="-78"/>
              </a:rPr>
              <a:t> مَحَطَّةٌ </a:t>
            </a:r>
            <a:pPr rtl="1" algn="ctr" indent="0" marL="0">
              <a:buNone/>
            </a:pPr>
            <a:r>
              <a:rPr lang="ar-SA" altLang="en-US" sz="2000" b="1" dirty="0">
                <a:solidFill>
                  <a:srgbClr val="0E7C86"/>
                </a:solidFill>
                <a:latin typeface="Amiri" pitchFamily="2" charset="-78"/>
                <a:cs typeface="Amiri" pitchFamily="2" charset="-78"/>
              </a:rPr>
              <a:t>قَرِيبَةٌ</a:t>
            </a:r>
            <a:pPr rtl="1" algn="ctr" indent="0" marL="0">
              <a:buNone/>
            </a:pPr>
            <a:r>
              <a:rPr lang="ar-SA" altLang="en-US" sz="2000" b="1" dirty="0">
                <a:solidFill>
                  <a:srgbClr val="1B3B6F"/>
                </a:solidFill>
                <a:latin typeface="Amiri" pitchFamily="2" charset="-78"/>
                <a:cs typeface="Amiri" pitchFamily="2" charset="-78"/>
              </a:rPr>
              <a:t>.</a:t>
            </a:r>
            <a:endParaRPr lang="ar-SA" sz="2000" dirty="0"/>
          </a:p>
        </p:txBody>
      </p:sp>
      <p:sp>
        <p:nvSpPr>
          <p:cNvPr id="23" name="Text 20"/>
          <p:cNvSpPr txBox="1"/>
          <p:nvPr/>
        </p:nvSpPr>
        <p:spPr>
          <a:xfrm>
            <a:off x="2926080" y="2267712"/>
            <a:ext cx="28346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يُوجَدُ مَحَطَّةٌ قَرِيبٌ.</a:t>
            </a:r>
            <a:endParaRPr lang="ar-SA" sz="2000" dirty="0"/>
          </a:p>
        </p:txBody>
      </p:sp>
      <p:sp>
        <p:nvSpPr>
          <p:cNvPr id="24" name="Text 21"/>
          <p:cNvSpPr txBox="1"/>
          <p:nvPr/>
        </p:nvSpPr>
        <p:spPr>
          <a:xfrm>
            <a:off x="56692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Existence + agreement (L01)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9253728" y="3004718"/>
            <a:ext cx="24048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transport type</a:t>
            </a:r>
            <a:endParaRPr lang="en-US" sz="1100" dirty="0"/>
          </a:p>
        </p:txBody>
      </p:sp>
      <p:sp>
        <p:nvSpPr>
          <p:cNvPr id="29" name="Text 26"/>
          <p:cNvSpPr txBox="1"/>
          <p:nvPr/>
        </p:nvSpPr>
        <p:spPr>
          <a:xfrm>
            <a:off x="5943600" y="3004718"/>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أُسَافِرُ </a:t>
            </a:r>
            <a:pPr rtl="1" algn="ctr" indent="0" marL="0">
              <a:buNone/>
            </a:pPr>
            <a:r>
              <a:rPr lang="ar-SA" altLang="en-US" sz="2000" b="1" dirty="0">
                <a:solidFill>
                  <a:srgbClr val="0E7C86"/>
                </a:solidFill>
                <a:latin typeface="Amiri" pitchFamily="2" charset="-78"/>
                <a:cs typeface="Amiri" pitchFamily="2" charset="-78"/>
              </a:rPr>
              <a:t>بِالحَافِلَةِ</a:t>
            </a:r>
            <a:pPr rtl="1" algn="ctr" indent="0" marL="0">
              <a:buNone/>
            </a:pPr>
            <a:r>
              <a:rPr lang="ar-SA" altLang="en-US" sz="2000" b="1" dirty="0">
                <a:solidFill>
                  <a:srgbClr val="1B3B6F"/>
                </a:solidFill>
                <a:latin typeface="Amiri" pitchFamily="2" charset="-78"/>
                <a:cs typeface="Amiri" pitchFamily="2" charset="-78"/>
              </a:rPr>
              <a:t>.</a:t>
            </a:r>
            <a:endParaRPr lang="ar-SA" sz="2000" dirty="0"/>
          </a:p>
        </p:txBody>
      </p:sp>
      <p:sp>
        <p:nvSpPr>
          <p:cNvPr id="30" name="Text 27"/>
          <p:cNvSpPr txBox="1"/>
          <p:nvPr/>
        </p:nvSpPr>
        <p:spPr>
          <a:xfrm>
            <a:off x="2926080" y="3004718"/>
            <a:ext cx="28346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أُسَافِرُ عَلَى الحَافِلَةِ.</a:t>
            </a:r>
            <a:endParaRPr lang="ar-SA" sz="2000" dirty="0"/>
          </a:p>
        </p:txBody>
      </p:sp>
      <p:sp>
        <p:nvSpPr>
          <p:cNvPr id="31" name="Text 28"/>
          <p:cNvSpPr txBox="1"/>
          <p:nvPr/>
        </p:nvSpPr>
        <p:spPr>
          <a:xfrm>
            <a:off x="56692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Transport (L03)</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9253728" y="3741725"/>
            <a:ext cx="24048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is addressed</a:t>
            </a:r>
            <a:endParaRPr lang="en-US" sz="1100" dirty="0"/>
          </a:p>
        </p:txBody>
      </p:sp>
      <p:sp>
        <p:nvSpPr>
          <p:cNvPr id="36" name="Text 33"/>
          <p:cNvSpPr txBox="1"/>
          <p:nvPr/>
        </p:nvSpPr>
        <p:spPr>
          <a:xfrm>
            <a:off x="5943600" y="3741725"/>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cs typeface="Amiri" pitchFamily="2" charset="-78"/>
              </a:rPr>
              <a:t>اِذْهَبُوا</a:t>
            </a:r>
            <a:pPr rtl="1" algn="ctr" indent="0" marL="0">
              <a:buNone/>
            </a:pPr>
            <a:r>
              <a:rPr lang="ar-SA" altLang="en-US" sz="2000" b="1" dirty="0">
                <a:solidFill>
                  <a:srgbClr val="1B3B6F"/>
                </a:solidFill>
                <a:latin typeface="Amiri" pitchFamily="2" charset="-78"/>
                <a:cs typeface="Amiri" pitchFamily="2" charset="-78"/>
              </a:rPr>
              <a:t> يَمِينًا يَا طُلَّابُ.</a:t>
            </a:r>
            <a:endParaRPr lang="ar-SA" sz="2000" dirty="0"/>
          </a:p>
        </p:txBody>
      </p:sp>
      <p:sp>
        <p:nvSpPr>
          <p:cNvPr id="37" name="Text 34"/>
          <p:cNvSpPr txBox="1"/>
          <p:nvPr/>
        </p:nvSpPr>
        <p:spPr>
          <a:xfrm>
            <a:off x="2926080" y="3741725"/>
            <a:ext cx="28346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اِذْهَبِي يَمِينًا يَا طُلَّابُ.</a:t>
            </a:r>
            <a:endParaRPr lang="ar-SA" sz="2000" dirty="0"/>
          </a:p>
        </p:txBody>
      </p:sp>
      <p:sp>
        <p:nvSpPr>
          <p:cNvPr id="38" name="Text 35"/>
          <p:cNvSpPr txBox="1"/>
          <p:nvPr/>
        </p:nvSpPr>
        <p:spPr>
          <a:xfrm>
            <a:off x="56692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Directions (L08)</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9253728" y="4478731"/>
            <a:ext cx="24048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agreement + preposition</a:t>
            </a:r>
            <a:endParaRPr lang="en-US" sz="1100" dirty="0"/>
          </a:p>
        </p:txBody>
      </p:sp>
      <p:sp>
        <p:nvSpPr>
          <p:cNvPr id="41" name="Text 38"/>
          <p:cNvSpPr txBox="1"/>
          <p:nvPr/>
        </p:nvSpPr>
        <p:spPr>
          <a:xfrm>
            <a:off x="5943600" y="4478731"/>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العِمَارَةُ </a:t>
            </a:r>
            <a:pPr rtl="1" algn="ctr" indent="0" marL="0">
              <a:buNone/>
            </a:pPr>
            <a:r>
              <a:rPr lang="ar-SA" altLang="en-US" sz="2000" b="1" dirty="0">
                <a:solidFill>
                  <a:srgbClr val="0E7C86"/>
                </a:solidFill>
                <a:latin typeface="Amiri" pitchFamily="2" charset="-78"/>
                <a:cs typeface="Amiri" pitchFamily="2" charset="-78"/>
              </a:rPr>
              <a:t>مَبْنِيَّةٌ</a:t>
            </a:r>
            <a:pPr rtl="1" algn="ctr" indent="0" marL="0">
              <a:buNone/>
            </a:pPr>
            <a:r>
              <a:rPr lang="ar-SA" altLang="en-US" sz="2000" b="1" dirty="0">
                <a:solidFill>
                  <a:srgbClr val="1B3B6F"/>
                </a:solidFill>
                <a:latin typeface="Amiri" pitchFamily="2" charset="-78"/>
                <a:cs typeface="Amiri" pitchFamily="2" charset="-78"/>
              </a:rPr>
              <a:t> مِنَ الزُّجَاجِ.</a:t>
            </a:r>
            <a:endParaRPr lang="ar-SA" sz="2000" dirty="0"/>
          </a:p>
        </p:txBody>
      </p:sp>
      <p:sp>
        <p:nvSpPr>
          <p:cNvPr id="42" name="Text 39"/>
          <p:cNvSpPr txBox="1"/>
          <p:nvPr/>
        </p:nvSpPr>
        <p:spPr>
          <a:xfrm>
            <a:off x="2926080" y="4478731"/>
            <a:ext cx="28346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العِمَارَةُ مَبْنِيٌّ مِنَ الزُّجَاجِ.</a:t>
            </a:r>
            <a:endParaRPr lang="ar-SA" sz="2000" dirty="0"/>
          </a:p>
        </p:txBody>
      </p:sp>
      <p:sp>
        <p:nvSpPr>
          <p:cNvPr id="43" name="Text 40"/>
          <p:cNvSpPr txBox="1"/>
          <p:nvPr/>
        </p:nvSpPr>
        <p:spPr>
          <a:xfrm>
            <a:off x="56692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Description (L05, L07)</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9253728" y="5215738"/>
            <a:ext cx="24048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missing anna</a:t>
            </a:r>
            <a:endParaRPr lang="en-US" sz="1100" dirty="0"/>
          </a:p>
        </p:txBody>
      </p:sp>
      <p:sp>
        <p:nvSpPr>
          <p:cNvPr id="46" name="Text 43"/>
          <p:cNvSpPr txBox="1"/>
          <p:nvPr/>
        </p:nvSpPr>
        <p:spPr>
          <a:xfrm>
            <a:off x="5943600" y="5215738"/>
            <a:ext cx="3108960" cy="682142"/>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cs typeface="Amiri" pitchFamily="2" charset="-78"/>
              </a:rPr>
              <a:t>مِنْ مَزَايَا مَدِينَتِي </a:t>
            </a:r>
            <a:pPr rtl="1" algn="ctr" indent="0" marL="0">
              <a:buNone/>
            </a:pPr>
            <a:r>
              <a:rPr lang="ar-SA" altLang="en-US" sz="1750" b="1" dirty="0">
                <a:solidFill>
                  <a:srgbClr val="0E7C86"/>
                </a:solidFill>
                <a:latin typeface="Amiri" pitchFamily="2" charset="-78"/>
                <a:cs typeface="Amiri" pitchFamily="2" charset="-78"/>
              </a:rPr>
              <a:t>أَنَّ</a:t>
            </a:r>
            <a:pPr rtl="1" algn="ctr" indent="0" marL="0">
              <a:buNone/>
            </a:pPr>
            <a:r>
              <a:rPr lang="ar-SA" altLang="en-US" sz="1750" b="1" dirty="0">
                <a:solidFill>
                  <a:srgbClr val="1B3B6F"/>
                </a:solidFill>
                <a:latin typeface="Amiri" pitchFamily="2" charset="-78"/>
                <a:cs typeface="Amiri" pitchFamily="2" charset="-78"/>
              </a:rPr>
              <a:t> المَوَاصَلَاتِ رَخِيصَةٌ.</a:t>
            </a:r>
            <a:endParaRPr lang="ar-SA" sz="1750" dirty="0"/>
          </a:p>
        </p:txBody>
      </p:sp>
      <p:sp>
        <p:nvSpPr>
          <p:cNvPr id="47" name="Text 44"/>
          <p:cNvSpPr txBox="1"/>
          <p:nvPr/>
        </p:nvSpPr>
        <p:spPr>
          <a:xfrm>
            <a:off x="2926080" y="5215738"/>
            <a:ext cx="2834640" cy="682142"/>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cs typeface="Amiri" pitchFamily="2" charset="-78"/>
              </a:rPr>
              <a:t>مِنْ مَزَايَا مَدِينَتِي المَوَاصَلَاتُ رَخِيصَةٌ.</a:t>
            </a:r>
            <a:endParaRPr lang="ar-SA" sz="1750" dirty="0"/>
          </a:p>
        </p:txBody>
      </p:sp>
      <p:sp>
        <p:nvSpPr>
          <p:cNvPr id="48" name="Text 45"/>
          <p:cNvSpPr txBox="1"/>
          <p:nvPr/>
        </p:nvSpPr>
        <p:spPr>
          <a:xfrm>
            <a:off x="56692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Balanced view (L05)</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Traffic-light each row for yourself: green · amber · red. Your reddest row is your priority (</a:t>
            </a:r>
            <a:pPr algn="l" indent="0" marL="0">
              <a:buNone/>
            </a:pPr>
            <a:r>
              <a:rPr lang="ar-SA" altLang="en-US" sz="1500" b="1" dirty="0">
                <a:solidFill>
                  <a:srgbClr val="1B3B6F"/>
                </a:solidFill>
                <a:latin typeface="Amiri" pitchFamily="2" charset="-78"/>
                <a:cs typeface="Amiri" pitchFamily="2" charset="-78"/>
              </a:rPr>
              <a:t>أَوْلَوِيَّةٌ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40</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Unit Review</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2 · THE REPAIR ROUTINE (WEBSITE COMMON ERROR)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Diagnose, explain, repair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شَخِّصْ · اِشْرَحْ · صَحِّحْ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09728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0972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1 · DIAGNOSE</a:t>
            </a:r>
            <a:endParaRPr lang="en-US" sz="850" dirty="0"/>
          </a:p>
        </p:txBody>
      </p:sp>
      <p:sp>
        <p:nvSpPr>
          <p:cNvPr id="18" name="Text 15"/>
          <p:cNvSpPr txBox="1"/>
          <p:nvPr/>
        </p:nvSpPr>
        <p:spPr>
          <a:xfrm>
            <a:off x="9375648" y="1874520"/>
            <a:ext cx="22189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مَا الَّذِي يَتَحَكَّمُ؟</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يُوجَدُ مَدْرَسَةٌ.</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What controls the verb? The noun: madrasa.</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Find the controller first.</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028700" cy="274320"/>
          </a:xfrm>
          <a:prstGeom prst="roundRect">
            <a:avLst>
              <a:gd name="adj" fmla="val 50000"/>
            </a:avLst>
          </a:prstGeom>
          <a:solidFill>
            <a:srgbClr val="6B4C9A"/>
          </a:solidFill>
          <a:ln w="12700">
            <a:solidFill>
              <a:srgbClr val="6B4C9A"/>
            </a:solidFill>
            <a:prstDash val="solid"/>
          </a:ln>
        </p:spPr>
      </p:sp>
      <p:sp>
        <p:nvSpPr>
          <p:cNvPr id="25" name="Text 22"/>
          <p:cNvSpPr txBox="1"/>
          <p:nvPr/>
        </p:nvSpPr>
        <p:spPr>
          <a:xfrm>
            <a:off x="4413504" y="1920240"/>
            <a:ext cx="10287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2 · EXPLAIN</a:t>
            </a:r>
            <a:endParaRPr lang="en-US" sz="850" dirty="0"/>
          </a:p>
        </p:txBody>
      </p:sp>
      <p:sp>
        <p:nvSpPr>
          <p:cNvPr id="26" name="Text 23"/>
          <p:cNvSpPr txBox="1"/>
          <p:nvPr/>
        </p:nvSpPr>
        <p:spPr>
          <a:xfrm>
            <a:off x="5487924" y="1874520"/>
            <a:ext cx="22875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لِأَنَّ الاِسْمَ مُؤَنَّثٌ</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لِأَنَّ الاِسْمَ مُؤَنَّثٌ.</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Because the noun is feminine.</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Name the rule in one line.</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960120" cy="274320"/>
          </a:xfrm>
          <a:prstGeom prst="roundRect">
            <a:avLst>
              <a:gd name="adj" fmla="val 50000"/>
            </a:avLst>
          </a:prstGeom>
          <a:solidFill>
            <a:srgbClr val="1F7A4D"/>
          </a:solidFill>
          <a:ln w="12700">
            <a:solidFill>
              <a:srgbClr val="1F7A4D"/>
            </a:solidFill>
            <a:prstDash val="solid"/>
          </a:ln>
        </p:spPr>
      </p:sp>
      <p:sp>
        <p:nvSpPr>
          <p:cNvPr id="33" name="Text 30"/>
          <p:cNvSpPr txBox="1"/>
          <p:nvPr/>
        </p:nvSpPr>
        <p:spPr>
          <a:xfrm>
            <a:off x="594360" y="1920240"/>
            <a:ext cx="9601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3 · REPAIR</a:t>
            </a:r>
            <a:endParaRPr lang="en-US" sz="850" dirty="0"/>
          </a:p>
        </p:txBody>
      </p:sp>
      <p:sp>
        <p:nvSpPr>
          <p:cNvPr id="34" name="Text 31"/>
          <p:cNvSpPr txBox="1"/>
          <p:nvPr/>
        </p:nvSpPr>
        <p:spPr>
          <a:xfrm>
            <a:off x="1600200" y="1874520"/>
            <a:ext cx="23561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تُوجَدُ</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تُوجَدُ مَدْرَسَةٌ.</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There is a school.</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Now the fix is reusable.</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common error: fixing only the ending.</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cs typeface="Amiri" pitchFamily="2" charset="-78"/>
              </a:rPr>
              <a:t>العِمَارَةُ مَبْنِيَّةٌ مِنَ الزُّجَاجِ.</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cs typeface="Amiri" pitchFamily="2" charset="-78"/>
              </a:rPr>
              <a:t>العِمَارَةُ مَبْنِيٌّ إِلَى الزُّجَاجِ.</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40</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Unit Review</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Complete F6 grammar audit and error analysis</a:t>
            </a:r>
            <a:endParaRPr lang="en-US" sz="20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مُرَاجَعَةُ القَوَاعِدِ وَتَحْلِيلُ الأَخْطَاءِ</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Existence and agreement</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يُوجَدُ مُذَكَّرٌ · تُوجَدُ مُؤَنَّثٌ</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يُوجَدُ مَسْجِدٌ قَرِيبٌ.   ·   تُوجَدُ مَحَطَّةٌ قَرِيبَةٌ.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Movement and directions</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بِـ / عَلَى / مَشْيًا · أَمْرٌ مُذَكَّرٌ / مُؤَنَّثٌ / جَمْعٌ</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أَذْهَبُ بِالحَافِلَةِ.   ·   اِنْعَطِفِي يَمِينًا.   ·   اِمْشُوا حَتَّى الجِسْرِ.</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Description and comparison</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تَتَمَيَّزُ بِـ · مَبْنِيٌّ مِنْ · أَرْخَصُ مِنْ</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تَتَمَيَّزُ المَدِينَةُ بِأَسْوَاقِهَا.   ·   العِمَارَةُ مَبْنِيَّةٌ مِنَ الخَرَسَانَةِ.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Balanced extended communication</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مِنْ مَزَايَا... أَنَّ / مِنْ عُيُوبِ... أَنَّ</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مِنْ مَزَايَا مَدِينَتِي أَنَّ المَوَاصَلَاتِ رَخِيصَةٌ.   ·   مِنْ عُيُوبِهَا أَنَّ الشَّوَارِعَ مُكْتَظَّةٌ.</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40</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Unit Review</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يُوجَدُ مَدْرَسَةٌ.</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يُوجَدُ مَدْرَسٌ.</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هُنَاكَ المَدْرَسَةَ.</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تُوجَدُ مَدْرَسَةٌ.</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33" name="Text 30"/>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أُسَافِرُ عَلَى الحَافِلَةِ.</a:t>
            </a:r>
            <a:endParaRPr lang="ar-SA" sz="150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أُسَافِرُ بِالحَافِلَةِ.</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أُسَافِرُ مَشْيًا الحَافِلَةَ.</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أُسَافِرُ الحَافِلَةُ.</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Command a group to go right.</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اِذْهَبِي يَمِينًا.</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اِذْهَبُوا يَمِينًا.</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اِذْهَبْ يَمِينًا.</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60" name="Text 57"/>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العِمَارَةُ مَبْنِيٌّ مِنَ الزُّجَاجِ.</a:t>
            </a:r>
            <a:endParaRPr lang="ar-SA" sz="150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العِمَارَةُ مَبْنِيَّةٌ مِنَ الزُّجَاجِ.</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العِمَارَةُ مَبْنِيٌّ إِلَى الزُّجَاجِ.</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العِمَارَةُ بِنَايَةٌ مِنْ.</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40</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Unit Review</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يُوجَدُ مَدْرَسَةٌ.</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يُوجَدُ مَدْرَسٌ.</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هُنَاكَ المَدْرَسَةَ.</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تُوجَدُ مَدْرَسَةٌ.</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noun requires </a:t>
            </a:r>
            <a:pPr algn="l" indent="0" marL="0">
              <a:buNone/>
            </a:pPr>
            <a:r>
              <a:rPr lang="ar-SA" altLang="en-US" sz="1350" dirty="0">
                <a:solidFill>
                  <a:srgbClr val="8A6D1E"/>
                </a:solidFill>
                <a:latin typeface="Amiri" pitchFamily="2" charset="-78"/>
                <a:cs typeface="Amiri" pitchFamily="2" charset="-78"/>
              </a:rPr>
              <a:t>تُوجَدُ</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أُسَافِرُ عَلَى الحَافِلَةِ.</a:t>
            </a:r>
            <a:endParaRPr lang="ar-SA" sz="1500" dirty="0"/>
          </a:p>
        </p:txBody>
      </p:sp>
      <p:sp>
        <p:nvSpPr>
          <p:cNvPr id="36" name="Shape 33"/>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6368796"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أُسَافِرُ بِالحَافِلَةِ.</a:t>
            </a:r>
            <a:endParaRPr lang="ar-SA" sz="1700" dirty="0"/>
          </a:p>
        </p:txBody>
      </p:sp>
      <p:sp>
        <p:nvSpPr>
          <p:cNvPr id="40" name="Shape 37"/>
          <p:cNvSpPr/>
          <p:nvPr/>
        </p:nvSpPr>
        <p:spPr>
          <a:xfrm>
            <a:off x="6368796"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أُسَافِرُ مَشْيًا الحَافِلَةَ.</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أُسَافِرُ الحَافِلَةُ.</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 with the bus.</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Command a group to go right.</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اِذْهَبِي يَمِينًا.</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اِذْهَبُوا يَمِينًا.</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اِذْهَبْ يَمِينًا.</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plural command ends </a:t>
            </a:r>
            <a:pPr algn="l" indent="0" marL="0">
              <a:buNone/>
            </a:pPr>
            <a:r>
              <a:rPr lang="ar-SA" altLang="en-US" sz="1350" dirty="0">
                <a:solidFill>
                  <a:srgbClr val="8A6D1E"/>
                </a:solidFill>
                <a:latin typeface="Amiri" pitchFamily="2" charset="-78"/>
                <a:cs typeface="Amiri" pitchFamily="2" charset="-78"/>
              </a:rPr>
              <a:t>ـوا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66" name="Text 63"/>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العِمَارَةُ مَبْنِيٌّ مِنَ الزُّجَاجِ.</a:t>
            </a:r>
            <a:endParaRPr lang="ar-SA" sz="1500" dirty="0"/>
          </a:p>
        </p:txBody>
      </p:sp>
      <p:sp>
        <p:nvSpPr>
          <p:cNvPr id="67" name="Shape 64"/>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368796" y="4831080"/>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العِمَارَةُ مَبْنِيَّةٌ مِنَ الزُّجَاجِ.</a:t>
            </a:r>
            <a:endParaRPr lang="ar-SA" sz="170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العِمَارَةُ مَبْنِيٌّ إِلَى الزُّجَاجِ.</a:t>
            </a:r>
            <a:endParaRPr lang="ar-SA" sz="1700" dirty="0"/>
          </a:p>
        </p:txBody>
      </p:sp>
      <p:sp>
        <p:nvSpPr>
          <p:cNvPr id="74" name="Shape 71"/>
          <p:cNvSpPr/>
          <p:nvPr/>
        </p:nvSpPr>
        <p:spPr>
          <a:xfrm>
            <a:off x="6368796" y="5574792"/>
            <a:ext cx="256032" cy="256032"/>
          </a:xfrm>
          <a:prstGeom prst="ellipse">
            <a:avLst/>
          </a:prstGeom>
          <a:solidFill>
            <a:srgbClr val="C9CED6"/>
          </a:solidFill>
          <a:ln w="12700">
            <a:solidFill>
              <a:srgbClr val="C9CED6"/>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العِمَارَةُ بِنَايَةٌ مِنْ.</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participle agrees with feminine </a:t>
            </a:r>
            <a:pPr algn="l" indent="0" marL="0">
              <a:buNone/>
            </a:pPr>
            <a:r>
              <a:rPr lang="ar-SA" altLang="en-US" sz="1350" dirty="0">
                <a:solidFill>
                  <a:srgbClr val="8A6D1E"/>
                </a:solidFill>
                <a:latin typeface="Amiri" pitchFamily="2" charset="-78"/>
                <a:cs typeface="Amiri" pitchFamily="2" charset="-78"/>
              </a:rPr>
              <a:t>العِمَارَةُ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40</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Watch me build one integrated answer</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1 · Place + existence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أَسْكُنُ فِي مَدِينَةٍ حَدِيثَةٍ </a:t>
            </a:r>
            <a:pPr rtl="1" algn="ctr" indent="0" marL="0">
              <a:lnSpc>
                <a:spcPct val="120000"/>
              </a:lnSpc>
              <a:buNone/>
            </a:pPr>
            <a:r>
              <a:rPr lang="ar-SA" altLang="en-US" sz="1750" b="1" dirty="0">
                <a:solidFill>
                  <a:srgbClr val="0E7C86"/>
                </a:solidFill>
                <a:latin typeface="Amiri" pitchFamily="2" charset="-78"/>
                <a:cs typeface="Amiri" pitchFamily="2" charset="-78"/>
              </a:rPr>
              <a:t>تُوجَدُ</a:t>
            </a:r>
            <a:pPr rtl="1" algn="ctr" indent="0" marL="0">
              <a:lnSpc>
                <a:spcPct val="120000"/>
              </a:lnSpc>
              <a:buNone/>
            </a:pPr>
            <a:r>
              <a:rPr lang="ar-SA" altLang="en-US" sz="1750" b="1" dirty="0">
                <a:solidFill>
                  <a:srgbClr val="1B3B6F"/>
                </a:solidFill>
                <a:latin typeface="Amiri" pitchFamily="2" charset="-78"/>
                <a:cs typeface="Amiri" pitchFamily="2" charset="-78"/>
              </a:rPr>
              <a:t> فِيهَا مَحَطَّاتٌ.</a:t>
            </a:r>
            <a:endParaRPr lang="ar-SA" sz="17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Feminine plural → tūjadu.</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2 · Description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50" b="1" dirty="0">
                <a:solidFill>
                  <a:srgbClr val="0E7C86"/>
                </a:solidFill>
                <a:latin typeface="Amiri" pitchFamily="2" charset="-78"/>
                <a:cs typeface="Amiri" pitchFamily="2" charset="-78"/>
              </a:rPr>
              <a:t>تَتَمَيَّزُ</a:t>
            </a:r>
            <a:pPr rtl="1" algn="ctr" indent="0" marL="0">
              <a:lnSpc>
                <a:spcPct val="120000"/>
              </a:lnSpc>
              <a:buNone/>
            </a:pPr>
            <a:r>
              <a:rPr lang="ar-SA" altLang="en-US" sz="1850" b="1" dirty="0">
                <a:solidFill>
                  <a:srgbClr val="1B3B6F"/>
                </a:solidFill>
                <a:latin typeface="Amiri" pitchFamily="2" charset="-78"/>
                <a:cs typeface="Amiri" pitchFamily="2" charset="-78"/>
              </a:rPr>
              <a:t> بِمَتْحَفٍ </a:t>
            </a:r>
            <a:pPr rtl="1" algn="ctr" indent="0" marL="0">
              <a:lnSpc>
                <a:spcPct val="120000"/>
              </a:lnSpc>
              <a:buNone/>
            </a:pPr>
            <a:r>
              <a:rPr lang="ar-SA" altLang="en-US" sz="1850" b="1" dirty="0">
                <a:solidFill>
                  <a:srgbClr val="0E7C86"/>
                </a:solidFill>
                <a:latin typeface="Amiri" pitchFamily="2" charset="-78"/>
                <a:cs typeface="Amiri" pitchFamily="2" charset="-78"/>
              </a:rPr>
              <a:t>مَبْنِيٍّ</a:t>
            </a:r>
            <a:pPr rtl="1" algn="ctr" indent="0" marL="0">
              <a:lnSpc>
                <a:spcPct val="120000"/>
              </a:lnSpc>
              <a:buNone/>
            </a:pPr>
            <a:r>
              <a:rPr lang="ar-SA" altLang="en-US" sz="1850" b="1" dirty="0">
                <a:solidFill>
                  <a:srgbClr val="1B3B6F"/>
                </a:solidFill>
                <a:latin typeface="Amiri" pitchFamily="2" charset="-78"/>
                <a:cs typeface="Amiri" pitchFamily="2" charset="-78"/>
              </a:rPr>
              <a:t> مِنَ الحَجَرِ.</a:t>
            </a:r>
            <a:endParaRPr lang="ar-SA" sz="18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bi- after tatamayyazu; mabniyyin agrees.</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3 · Journey</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أَذْهَبُ </a:t>
            </a:r>
            <a:pPr rtl="1" algn="ctr" indent="0" marL="0">
              <a:lnSpc>
                <a:spcPct val="120000"/>
              </a:lnSpc>
              <a:buNone/>
            </a:pPr>
            <a:r>
              <a:rPr lang="ar-SA" altLang="en-US" sz="1750" b="1" dirty="0">
                <a:solidFill>
                  <a:srgbClr val="0E7C86"/>
                </a:solidFill>
                <a:latin typeface="Amiri" pitchFamily="2" charset="-78"/>
                <a:cs typeface="Amiri" pitchFamily="2" charset="-78"/>
              </a:rPr>
              <a:t>بِالمِتْرُو</a:t>
            </a:r>
            <a:pPr rtl="1" algn="ctr" indent="0" marL="0">
              <a:lnSpc>
                <a:spcPct val="120000"/>
              </a:lnSpc>
              <a:buNone/>
            </a:pPr>
            <a:r>
              <a:rPr lang="ar-SA" altLang="en-US" sz="1750" b="1" dirty="0">
                <a:solidFill>
                  <a:srgbClr val="1B3B6F"/>
                </a:solidFill>
                <a:latin typeface="Amiri" pitchFamily="2" charset="-78"/>
                <a:cs typeface="Amiri" pitchFamily="2" charset="-78"/>
              </a:rPr>
              <a:t>، وَ</a:t>
            </a:r>
            <a:pPr rtl="1" algn="ctr" indent="0" marL="0">
              <a:lnSpc>
                <a:spcPct val="120000"/>
              </a:lnSpc>
              <a:buNone/>
            </a:pPr>
            <a:r>
              <a:rPr lang="ar-SA" altLang="en-US" sz="1750" b="1" dirty="0">
                <a:solidFill>
                  <a:srgbClr val="0E7C86"/>
                </a:solidFill>
                <a:latin typeface="Amiri" pitchFamily="2" charset="-78"/>
                <a:cs typeface="Amiri" pitchFamily="2" charset="-78"/>
              </a:rPr>
              <a:t>تَسْتَغْرِقُ</a:t>
            </a:r>
            <a:pPr rtl="1" algn="ctr" indent="0" marL="0">
              <a:lnSpc>
                <a:spcPct val="120000"/>
              </a:lnSpc>
              <a:buNone/>
            </a:pPr>
            <a:r>
              <a:rPr lang="ar-SA" altLang="en-US" sz="1750" b="1" dirty="0">
                <a:solidFill>
                  <a:srgbClr val="1B3B6F"/>
                </a:solidFill>
                <a:latin typeface="Amiri" pitchFamily="2" charset="-78"/>
                <a:cs typeface="Amiri" pitchFamily="2" charset="-78"/>
              </a:rPr>
              <a:t> الرِّحْلَةُ عِشْرِينَ دَقِيقَةً.</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bi- + duration.</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4 · Balanced view</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مِنْ مَزَايَا المَدِينَةِ </a:t>
            </a:r>
            <a:pPr rtl="1" algn="ctr" indent="0" marL="0">
              <a:lnSpc>
                <a:spcPct val="120000"/>
              </a:lnSpc>
              <a:buNone/>
            </a:pPr>
            <a:r>
              <a:rPr lang="ar-SA" altLang="en-US" sz="1750" b="1" dirty="0">
                <a:solidFill>
                  <a:srgbClr val="0E7C86"/>
                </a:solidFill>
                <a:latin typeface="Amiri" pitchFamily="2" charset="-78"/>
                <a:cs typeface="Amiri" pitchFamily="2" charset="-78"/>
              </a:rPr>
              <a:t>أَنَّ</a:t>
            </a:r>
            <a:pPr rtl="1" algn="ctr" indent="0" marL="0">
              <a:lnSpc>
                <a:spcPct val="120000"/>
              </a:lnSpc>
              <a:buNone/>
            </a:pPr>
            <a:r>
              <a:rPr lang="ar-SA" altLang="en-US" sz="1750" b="1" dirty="0">
                <a:solidFill>
                  <a:srgbClr val="1B3B6F"/>
                </a:solidFill>
                <a:latin typeface="Amiri" pitchFamily="2" charset="-78"/>
                <a:cs typeface="Amiri" pitchFamily="2" charset="-78"/>
              </a:rPr>
              <a:t> المَوَاصَلَاتِ رَخِيصَةٌ.</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Do not forget anna.</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F6 GRAMMAR</a:t>
            </a:r>
            <a:endParaRPr lang="en-US" sz="800" dirty="0"/>
          </a:p>
        </p:txBody>
      </p:sp>
      <p:sp>
        <p:nvSpPr>
          <p:cNvPr id="47" name="Text 43"/>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cs typeface="Amiri" pitchFamily="2" charset="-78"/>
              </a:rPr>
              <a:t>أَسْكُنُ فِي مَدِينَةٍ حَدِيثَةٍ </a:t>
            </a:r>
            <a:pPr rtl="1" algn="r" indent="0" marL="0">
              <a:lnSpc>
                <a:spcPct val="120000"/>
              </a:lnSpc>
              <a:buNone/>
            </a:pPr>
            <a:r>
              <a:rPr lang="ar-SA" altLang="en-US" sz="1400" b="1" dirty="0">
                <a:solidFill>
                  <a:srgbClr val="0E7C86"/>
                </a:solidFill>
                <a:latin typeface="Amiri" pitchFamily="2" charset="-78"/>
                <a:cs typeface="Amiri" pitchFamily="2" charset="-78"/>
              </a:rPr>
              <a:t>تُوجَدُ</a:t>
            </a:r>
            <a:pPr rtl="1" algn="r" indent="0" marL="0">
              <a:lnSpc>
                <a:spcPct val="120000"/>
              </a:lnSpc>
              <a:buNone/>
            </a:pPr>
            <a:r>
              <a:rPr lang="ar-SA" altLang="en-US" sz="1400" b="1" dirty="0">
                <a:solidFill>
                  <a:srgbClr val="1B3B6F"/>
                </a:solidFill>
                <a:latin typeface="Amiri" pitchFamily="2" charset="-78"/>
                <a:cs typeface="Amiri" pitchFamily="2" charset="-78"/>
              </a:rPr>
              <a:t> فِيهَا مَحَطَّاتٌ وَحَدَائِقُ وَمَبَانٍ تَارِيخِيَّةٌ. </a:t>
            </a:r>
            <a:pPr rtl="1" algn="r" indent="0" marL="0">
              <a:lnSpc>
                <a:spcPct val="120000"/>
              </a:lnSpc>
              <a:buNone/>
            </a:pPr>
            <a:r>
              <a:rPr lang="ar-SA" altLang="en-US" sz="1400" b="1" dirty="0">
                <a:solidFill>
                  <a:srgbClr val="0E7C86"/>
                </a:solidFill>
                <a:latin typeface="Amiri" pitchFamily="2" charset="-78"/>
                <a:cs typeface="Amiri" pitchFamily="2" charset="-78"/>
              </a:rPr>
              <a:t>تَتَمَيَّزُ</a:t>
            </a:r>
            <a:pPr rtl="1" algn="r" indent="0" marL="0">
              <a:lnSpc>
                <a:spcPct val="120000"/>
              </a:lnSpc>
              <a:buNone/>
            </a:pPr>
            <a:r>
              <a:rPr lang="ar-SA" altLang="en-US" sz="1400" b="1" dirty="0">
                <a:solidFill>
                  <a:srgbClr val="1B3B6F"/>
                </a:solidFill>
                <a:latin typeface="Amiri" pitchFamily="2" charset="-78"/>
                <a:cs typeface="Amiri" pitchFamily="2" charset="-78"/>
              </a:rPr>
              <a:t> بِمَتْحَفٍ </a:t>
            </a:r>
            <a:pPr rtl="1" algn="r" indent="0" marL="0">
              <a:lnSpc>
                <a:spcPct val="120000"/>
              </a:lnSpc>
              <a:buNone/>
            </a:pPr>
            <a:r>
              <a:rPr lang="ar-SA" altLang="en-US" sz="1400" b="1" dirty="0">
                <a:solidFill>
                  <a:srgbClr val="0E7C86"/>
                </a:solidFill>
                <a:latin typeface="Amiri" pitchFamily="2" charset="-78"/>
                <a:cs typeface="Amiri" pitchFamily="2" charset="-78"/>
              </a:rPr>
              <a:t>مَبْنِيٍّ مِنَ</a:t>
            </a:r>
            <a:pPr rtl="1" algn="r" indent="0" marL="0">
              <a:lnSpc>
                <a:spcPct val="120000"/>
              </a:lnSpc>
              <a:buNone/>
            </a:pPr>
            <a:r>
              <a:rPr lang="ar-SA" altLang="en-US" sz="1400" b="1" dirty="0">
                <a:solidFill>
                  <a:srgbClr val="1B3B6F"/>
                </a:solidFill>
                <a:latin typeface="Amiri" pitchFamily="2" charset="-78"/>
                <a:cs typeface="Amiri" pitchFamily="2" charset="-78"/>
              </a:rPr>
              <a:t> الحَجَرِ. أَذْهَبُ إِلَى المَدْرَسَةِ </a:t>
            </a:r>
            <a:pPr rtl="1" algn="r" indent="0" marL="0">
              <a:lnSpc>
                <a:spcPct val="120000"/>
              </a:lnSpc>
              <a:buNone/>
            </a:pPr>
            <a:r>
              <a:rPr lang="ar-SA" altLang="en-US" sz="1400" b="1" dirty="0">
                <a:solidFill>
                  <a:srgbClr val="0E7C86"/>
                </a:solidFill>
                <a:latin typeface="Amiri" pitchFamily="2" charset="-78"/>
                <a:cs typeface="Amiri" pitchFamily="2" charset="-78"/>
              </a:rPr>
              <a:t>بِالمِتْرُو</a:t>
            </a:r>
            <a:pPr rtl="1" algn="r" indent="0" marL="0">
              <a:lnSpc>
                <a:spcPct val="120000"/>
              </a:lnSpc>
              <a:buNone/>
            </a:pPr>
            <a:r>
              <a:rPr lang="ar-SA" altLang="en-US" sz="1400" b="1" dirty="0">
                <a:solidFill>
                  <a:srgbClr val="1B3B6F"/>
                </a:solidFill>
                <a:latin typeface="Amiri" pitchFamily="2" charset="-78"/>
                <a:cs typeface="Amiri" pitchFamily="2" charset="-78"/>
              </a:rPr>
              <a:t>، وَ</a:t>
            </a:r>
            <a:pPr rtl="1" algn="r" indent="0" marL="0">
              <a:lnSpc>
                <a:spcPct val="120000"/>
              </a:lnSpc>
              <a:buNone/>
            </a:pPr>
            <a:r>
              <a:rPr lang="ar-SA" altLang="en-US" sz="1400" b="1" dirty="0">
                <a:solidFill>
                  <a:srgbClr val="0E7C86"/>
                </a:solidFill>
                <a:latin typeface="Amiri" pitchFamily="2" charset="-78"/>
                <a:cs typeface="Amiri" pitchFamily="2" charset="-78"/>
              </a:rPr>
              <a:t>تَسْتَغْرِقُ</a:t>
            </a:r>
            <a:pPr rtl="1" algn="r" indent="0" marL="0">
              <a:lnSpc>
                <a:spcPct val="120000"/>
              </a:lnSpc>
              <a:buNone/>
            </a:pPr>
            <a:r>
              <a:rPr lang="ar-SA" altLang="en-US" sz="1400" b="1" dirty="0">
                <a:solidFill>
                  <a:srgbClr val="1B3B6F"/>
                </a:solidFill>
                <a:latin typeface="Amiri" pitchFamily="2" charset="-78"/>
                <a:cs typeface="Amiri" pitchFamily="2" charset="-78"/>
              </a:rPr>
              <a:t> الرِّحْلَةُ عِشْرِينَ دَقِيقَةً. </a:t>
            </a:r>
            <a:pPr rtl="1" algn="r" indent="0" marL="0">
              <a:lnSpc>
                <a:spcPct val="120000"/>
              </a:lnSpc>
              <a:buNone/>
            </a:pPr>
            <a:r>
              <a:rPr lang="ar-SA" altLang="en-US" sz="1400" b="1" dirty="0">
                <a:solidFill>
                  <a:srgbClr val="0E7C86"/>
                </a:solidFill>
                <a:latin typeface="Amiri" pitchFamily="2" charset="-78"/>
                <a:cs typeface="Amiri" pitchFamily="2" charset="-78"/>
              </a:rPr>
              <a:t>مِنْ مَزَايَا</a:t>
            </a:r>
            <a:pPr rtl="1" algn="r" indent="0" marL="0">
              <a:lnSpc>
                <a:spcPct val="120000"/>
              </a:lnSpc>
              <a:buNone/>
            </a:pPr>
            <a:r>
              <a:rPr lang="ar-SA" altLang="en-US" sz="1400" b="1" dirty="0">
                <a:solidFill>
                  <a:srgbClr val="1B3B6F"/>
                </a:solidFill>
                <a:latin typeface="Amiri" pitchFamily="2" charset="-78"/>
                <a:cs typeface="Amiri" pitchFamily="2" charset="-78"/>
              </a:rPr>
              <a:t> المَدِينَةِ </a:t>
            </a:r>
            <a:pPr rtl="1" algn="r" indent="0" marL="0">
              <a:lnSpc>
                <a:spcPct val="120000"/>
              </a:lnSpc>
              <a:buNone/>
            </a:pPr>
            <a:r>
              <a:rPr lang="ar-SA" altLang="en-US" sz="1400" b="1" dirty="0">
                <a:solidFill>
                  <a:srgbClr val="0E7C86"/>
                </a:solidFill>
                <a:latin typeface="Amiri" pitchFamily="2" charset="-78"/>
                <a:cs typeface="Amiri" pitchFamily="2" charset="-78"/>
              </a:rPr>
              <a:t>أَنَّ</a:t>
            </a:r>
            <a:pPr rtl="1" algn="r" indent="0" marL="0">
              <a:lnSpc>
                <a:spcPct val="120000"/>
              </a:lnSpc>
              <a:buNone/>
            </a:pPr>
            <a:r>
              <a:rPr lang="ar-SA" altLang="en-US" sz="1400" b="1" dirty="0">
                <a:solidFill>
                  <a:srgbClr val="1B3B6F"/>
                </a:solidFill>
                <a:latin typeface="Amiri" pitchFamily="2" charset="-78"/>
                <a:cs typeface="Amiri" pitchFamily="2" charset="-78"/>
              </a:rPr>
              <a:t> المَوَاصَلَاتِ رَخِيصَةٌ، وَ</a:t>
            </a:r>
            <a:pPr rtl="1" algn="r" indent="0" marL="0">
              <a:lnSpc>
                <a:spcPct val="120000"/>
              </a:lnSpc>
              <a:buNone/>
            </a:pPr>
            <a:r>
              <a:rPr lang="ar-SA" altLang="en-US" sz="1400" b="1" dirty="0">
                <a:solidFill>
                  <a:srgbClr val="0E7C86"/>
                </a:solidFill>
                <a:latin typeface="Amiri" pitchFamily="2" charset="-78"/>
                <a:cs typeface="Amiri" pitchFamily="2" charset="-78"/>
              </a:rPr>
              <a:t>مِنْ عُيُوبِهَا أَنَّ</a:t>
            </a:r>
            <a:pPr rtl="1" algn="r" indent="0" marL="0">
              <a:lnSpc>
                <a:spcPct val="120000"/>
              </a:lnSpc>
              <a:buNone/>
            </a:pPr>
            <a:r>
              <a:rPr lang="ar-SA" altLang="en-US" sz="1400" b="1" dirty="0">
                <a:solidFill>
                  <a:srgbClr val="1B3B6F"/>
                </a:solidFill>
                <a:latin typeface="Amiri" pitchFamily="2" charset="-78"/>
                <a:cs typeface="Amiri" pitchFamily="2" charset="-78"/>
              </a:rPr>
              <a:t> الشَّوَارِعَ مُكْتَظَّةٌ. هَدَفِي قَبْلَ التَّقْيِيمِ هُوَ مُرَاجَعَةُ أَفْعَالِ الأَمْرِ لِأَنِّي أَخْطَأْتُ فِي صِيغَةِ الجَمْعِ مَرَّتَيْنِ.</a:t>
            </a:r>
            <a:endParaRPr lang="ar-SA" sz="1400" dirty="0"/>
          </a:p>
        </p:txBody>
      </p:sp>
      <p:sp>
        <p:nvSpPr>
          <p:cNvPr id="48" name="Text 44"/>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900" i="1" dirty="0">
                <a:solidFill>
                  <a:srgbClr val="5A6472"/>
                </a:solidFill>
                <a:latin typeface="Calibri" pitchFamily="34" charset="0"/>
                <a:cs typeface="Amiri" pitchFamily="2" charset="-78"/>
              </a:rPr>
              <a:t>I live in a modern city with stations, parks and historic buildings. It is known for a museum built of stone. I go to school by metro, and the journey takes twenty minutes. One advantage of the city is that transport is cheap; one disadvantage is that the streets are crowded. My target before the assessment is to revise commands, because I made mistakes with the plural form twice.</a:t>
            </a:r>
            <a:endParaRPr lang="en-US" sz="900" dirty="0"/>
          </a:p>
        </p:txBody>
      </p:sp>
      <p:sp>
        <p:nvSpPr>
          <p:cNvPr id="49"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40</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تُوجَدُ مَحَطَّةٌ قَرِيبَةٌ.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There is a nearby station.</a:t>
            </a:r>
            <a:endParaRPr lang="en-US" sz="1250" dirty="0"/>
          </a:p>
          <a:p>
            <a:pPr indent="0" marL="0">
              <a:buNone/>
            </a:pPr>
            <a:r>
              <a:rPr lang="en-US" sz="1050" i="1" dirty="0">
                <a:solidFill>
                  <a:srgbClr val="8A6D1E"/>
                </a:solidFill>
                <a:latin typeface="Calibri" pitchFamily="34" charset="0"/>
                <a:cs typeface="Amiri" pitchFamily="2" charset="-78"/>
              </a:rPr>
              <a:t>Existence + gender agreement.</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اِذْهَبُوا مُسْتَقِيمًا ثُمَّ اِنْعَطِفُوا.</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Go straight then turn (group).</a:t>
            </a:r>
            <a:endParaRPr lang="en-US" sz="1250" dirty="0"/>
          </a:p>
          <a:p>
            <a:pPr indent="0" marL="0">
              <a:buNone/>
            </a:pPr>
            <a:r>
              <a:rPr lang="en-US" sz="1050" i="1" dirty="0">
                <a:solidFill>
                  <a:srgbClr val="8A6D1E"/>
                </a:solidFill>
                <a:latin typeface="Calibri" pitchFamily="34" charset="0"/>
                <a:cs typeface="Amiri" pitchFamily="2" charset="-78"/>
              </a:rPr>
              <a:t>Plural direction commands.</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الحَافِلَةُ أَرْخَصُ مِنَ التَّاكْسِي.</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bus is cheaper than the taxi.</a:t>
            </a:r>
            <a:endParaRPr lang="en-US" sz="1250" dirty="0"/>
          </a:p>
          <a:p>
            <a:pPr indent="0" marL="0">
              <a:buNone/>
            </a:pPr>
            <a:r>
              <a:rPr lang="en-US" sz="1050" i="1" dirty="0">
                <a:solidFill>
                  <a:srgbClr val="8A6D1E"/>
                </a:solidFill>
                <a:latin typeface="Calibri" pitchFamily="34" charset="0"/>
                <a:cs typeface="Amiri" pitchFamily="2" charset="-78"/>
              </a:rPr>
              <a:t>Price comparison.</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مِنْ عُيُوبِهَا أَنَّ الشَّوَارِعَ مُكْتَظَّةٌ.</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One disadvantage is crowded streets.</a:t>
            </a:r>
            <a:endParaRPr lang="en-US" sz="1250" dirty="0"/>
          </a:p>
          <a:p>
            <a:pPr indent="0" marL="0">
              <a:buNone/>
            </a:pPr>
            <a:r>
              <a:rPr lang="en-US" sz="1050" i="1" dirty="0">
                <a:solidFill>
                  <a:srgbClr val="8A6D1E"/>
                </a:solidFill>
                <a:latin typeface="Calibri" pitchFamily="34" charset="0"/>
                <a:cs typeface="Amiri" pitchFamily="2" charset="-78"/>
              </a:rPr>
              <a:t>Balanced argument.</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40</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Unit Review</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grammar family?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تُوجَدُ مَدْرَسَةٌ</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يُوجَدُ مَسْجِدٌ</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بِالحَافِلَةِ</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اِذْهَبُوا</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تَتَمَيَّزُ بِـ</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مِنْ عُيُوبِ... أَنَّ</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مَبْنِيَّةٌ مِنْ</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مَشْيًا</a:t>
            </a:r>
            <a:endParaRPr lang="ar-SA" sz="1800" dirty="0"/>
          </a:p>
        </p:txBody>
      </p:sp>
      <p:sp>
        <p:nvSpPr>
          <p:cNvPr id="31" name="Shape 28"/>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Existence and agreement</a:t>
            </a:r>
            <a:endParaRPr lang="en-US" sz="950" dirty="0"/>
          </a:p>
        </p:txBody>
      </p:sp>
      <p:sp>
        <p:nvSpPr>
          <p:cNvPr id="34" name="Shape 31"/>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Movement and directions</a:t>
            </a:r>
            <a:endParaRPr lang="en-US" sz="950" dirty="0"/>
          </a:p>
        </p:txBody>
      </p:sp>
      <p:sp>
        <p:nvSpPr>
          <p:cNvPr id="37" name="Shape 34"/>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38" name="Shape 35"/>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39" name="Text 36"/>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Description and argument</a:t>
            </a:r>
            <a:endParaRPr lang="en-US" sz="9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40</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Unit Review</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Existence and agreement</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تُوجَدُ مَدْرَسَةٌ</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يُوجَدُ مَسْجِدٌ</a:t>
            </a:r>
            <a:endParaRPr lang="ar-SA" sz="1800" dirty="0"/>
          </a:p>
        </p:txBody>
      </p:sp>
      <p:sp>
        <p:nvSpPr>
          <p:cNvPr id="22" name="Shape 19"/>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3" name="Shape 20"/>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4" name="Text 21"/>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Movement and directions</a:t>
            </a:r>
            <a:endParaRPr lang="en-US" sz="950" dirty="0"/>
          </a:p>
        </p:txBody>
      </p:sp>
      <p:sp>
        <p:nvSpPr>
          <p:cNvPr id="25" name="Shape 22"/>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6" name="Text 23"/>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بِالحَافِلَةِ</a:t>
            </a:r>
            <a:endParaRPr lang="ar-SA" sz="1800" dirty="0"/>
          </a:p>
        </p:txBody>
      </p:sp>
      <p:sp>
        <p:nvSpPr>
          <p:cNvPr id="27" name="Shape 24"/>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اِذْهَبُوا</a:t>
            </a:r>
            <a:endParaRPr lang="ar-SA" sz="1800" dirty="0"/>
          </a:p>
        </p:txBody>
      </p:sp>
      <p:sp>
        <p:nvSpPr>
          <p:cNvPr id="29" name="Shape 26"/>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مَشْيًا</a:t>
            </a:r>
            <a:endParaRPr lang="ar-SA" sz="1800" dirty="0"/>
          </a:p>
        </p:txBody>
      </p:sp>
      <p:sp>
        <p:nvSpPr>
          <p:cNvPr id="31" name="Shape 28"/>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2" name="Shape 29"/>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Description and argument</a:t>
            </a:r>
            <a:endParaRPr lang="en-US" sz="950" dirty="0"/>
          </a:p>
        </p:txBody>
      </p:sp>
      <p:sp>
        <p:nvSpPr>
          <p:cNvPr id="34" name="Shape 31"/>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5" name="Text 32"/>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تَتَمَيَّزُ بِـ</a:t>
            </a:r>
            <a:endParaRPr lang="ar-SA" sz="1800" dirty="0"/>
          </a:p>
        </p:txBody>
      </p:sp>
      <p:sp>
        <p:nvSpPr>
          <p:cNvPr id="36" name="Shape 33"/>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مِنْ عُيُوبِ... أَنَّ</a:t>
            </a:r>
            <a:endParaRPr lang="ar-SA" sz="1800" dirty="0"/>
          </a:p>
        </p:txBody>
      </p:sp>
      <p:sp>
        <p:nvSpPr>
          <p:cNvPr id="38" name="Shape 35"/>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مَبْنِيَّةٌ مِنْ</a:t>
            </a:r>
            <a:endParaRPr lang="ar-SA" sz="18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40</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4,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the price of a car.</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ثَمَنُهُ؟</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كَيْفَ ثَمَنُهَا؟</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ثَمَنُهَا؟</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structure needs </a:t>
            </a:r>
            <a:pPr algn="l" indent="0" marL="0">
              <a:buNone/>
            </a:pPr>
            <a:r>
              <a:rPr lang="ar-SA" altLang="en-US" sz="1650" b="1" dirty="0">
                <a:solidFill>
                  <a:srgbClr val="1B3B6F"/>
                </a:solidFill>
                <a:latin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تَتَمَيَّزُ بِـ</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مَزَايَا مَدِينَتِي...</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أَذْهَبُ بِـ</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47" name="Text 44"/>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يَتَمَيَّزُ المَدِينَةُ بِالسُّوقِ.</a:t>
            </a:r>
            <a:endParaRPr lang="ar-SA" sz="150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تَتَمَيَّزُ المَدِينَةُ إِلَى السُّوقِ.</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تَتَمَيَّزُ المَدِينَةُ بِالسُّوقِ.</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يَتَمَيَّزُ المَدِينَةِ.</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duration phrase.</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يَسْتَغْرِقُ الرِّحْلَةُ سَاعَةٌ.</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الرِّحْلَةُ تَسْتَغْرِقَ إِلَى سَاعَةٍ.</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تَسْتَغْرِقُ الرِّحْلَةُ سَاعَةً.</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40</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the price of a car.</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كَمْ ثَمَنُهُ؟</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كَيْفَ ثَمَنُهَا؟</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كَمْ ثَمَنُهَا؟</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سَيَّارَةٌ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structure needs </a:t>
            </a:r>
            <a:pPr algn="l" indent="0" marL="0">
              <a:buNone/>
            </a:pPr>
            <a:r>
              <a:rPr lang="ar-SA" altLang="en-US" sz="1650" b="1" dirty="0">
                <a:solidFill>
                  <a:srgbClr val="1B3B6F"/>
                </a:solidFill>
                <a:latin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تَتَمَيَّزُ بِـ</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مِنْ مَزَايَا مَدِينَتِي...</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أَذْهَبُ بِـ</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argument frame introduces a clause with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51" name="Text 48"/>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يَتَمَيَّزُ المَدِينَةُ بِالسُّوقِ.</a:t>
            </a:r>
            <a:endParaRPr lang="ar-SA" sz="150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تَتَمَيَّزُ المَدِينَةُ إِلَى السُّوقِ.</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تَتَمَيَّزُ المَدِينَةُ بِالسُّوقِ.</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يَتَمَيَّزُ المَدِينَةِ.</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subject → </a:t>
            </a:r>
            <a:pPr algn="l" indent="0" marL="0">
              <a:buNone/>
            </a:pPr>
            <a:r>
              <a:rPr lang="ar-SA" altLang="en-US" sz="1350" dirty="0">
                <a:solidFill>
                  <a:srgbClr val="8A6D1E"/>
                </a:solidFill>
                <a:latin typeface="Amiri" pitchFamily="2" charset="-78"/>
                <a:cs typeface="Amiri" pitchFamily="2" charset="-78"/>
              </a:rPr>
              <a:t>تَتَمَيَّزُ</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duration phrase.</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يَسْتَغْرِقُ الرِّحْلَةُ سَاعَةٌ.</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الرِّحْلَةُ تَسْتَغْرِقَ إِلَى سَاعَةٍ.</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تَسْتَغْرِقُ الرِّحْلَةُ سَاعَةً.</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feminine </a:t>
            </a:r>
            <a:pPr algn="l" indent="0" marL="0">
              <a:buNone/>
            </a:pPr>
            <a:r>
              <a:rPr lang="ar-SA" altLang="en-US" sz="1350" dirty="0">
                <a:solidFill>
                  <a:srgbClr val="8A6D1E"/>
                </a:solidFill>
                <a:latin typeface="Amiri" pitchFamily="2" charset="-78"/>
                <a:cs typeface="Amiri" pitchFamily="2" charset="-78"/>
              </a:rPr>
              <a:t>تَسْتَغْرِقُ</a:t>
            </a:r>
            <a:pPr algn="l" indent="0" marL="0">
              <a:buNone/>
            </a:pPr>
            <a:r>
              <a:rPr lang="en-US" sz="1050" i="1" dirty="0">
                <a:solidFill>
                  <a:srgbClr val="8A6D1E"/>
                </a:solidFill>
                <a:latin typeface="Calibri" pitchFamily="34" charset="0"/>
                <a:cs typeface="Amiri" pitchFamily="2" charset="-78"/>
              </a:rPr>
              <a:t> and an accusative duration.</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40</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Unit Review</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يُوجَدُ مَحَطَّةٌ.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Station is feminine: which verb?</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اِذْهَبِي يَمِينًا يَا طُلَّابُ.</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Who is being addressed?</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العِمَارَةُ مَبْنِيٌّ.</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Building is feminine: which participle?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40</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يُوجَدُ مَحَطَّةٌ.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تُوجَدُ مَحَطَّةٌ.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Existence verb agrees with feminine station.</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اِذْهَبِي يَمِينًا يَا طُلَّابُ.</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اِذْهَبُوا يَمِينًا يَا طُلَّابُ.</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group of students: the -ū ending.</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العِمَارَةُ مَبْنِيٌّ.</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العِمَارَةُ مَبْنِيَّةٌ.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Passive participle agrees with feminine building.</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40</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Unit Review</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Cumulative F6 review text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city distinguished by?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markets and stone buildings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airports and skyscrapers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beaches only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train station?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outside the city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behind the airport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centre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speaker reach it?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bus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bicycle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foot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more expensive?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train</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bus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cost the same</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disadvantage is mentioned?</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city is unsafe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transport is sometimes delayed</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there are no markets</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for four families:</a:t>
            </a:r>
            <a:endParaRPr lang="en-US" sz="1250" dirty="0"/>
          </a:p>
          <a:p>
            <a:pPr algn="l" indent="0" marL="0">
              <a:buNone/>
            </a:pPr>
            <a:r>
              <a:rPr lang="en-US" sz="1250" dirty="0">
                <a:solidFill>
                  <a:srgbClr val="1E6B52"/>
                </a:solidFill>
                <a:latin typeface="Calibri" pitchFamily="34" charset="0"/>
                <a:cs typeface="Amiri" pitchFamily="2" charset="-78"/>
              </a:rPr>
              <a:t>existence · transport · comparison · advantage.</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40</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أَسْكُنُ فِي مَدِينَةٍ تَارِيخِيَّةٍ تَتَمَيَّزُ بِأَسْوَاقِهَا وَمَبَانِيهَا المَبْنِيَّةِ مِنَ الحَجَرِ.</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live in a historic city known for its markets and its stone buildings.</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تُوجَدُ مَحَطَّةُ القِطَارِ فِي المَرْكَزِ، وَأَذْهَبُ إِلَيْهَا مَشْيًا.</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train station is in the centre, and I walk there.</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القِطَارُ أَغْلَى مِنَ الحَافِلَةِ، وَلٰكِنَّهُ أَسْرَعُ وَتَسْتَغْرِقُ الرِّحْلَةُ أَرْبَعِينَ دَقِيقَةً.</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train is more expensive than the bus, but faster; the journey takes forty minutes.</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مِنْ مَزَايَا مَدِينَتِي أَنَّهَا آمِنَةٌ،</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advantage of my city is that it is safe,</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وَمِنْ عُيُوبِهَا أَنَّ المَوَاصَلَاتِ تَتَأَخَّرُ أَحْيَانًا.</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one disadvantage is that transport is sometimes late.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40</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city distinguished by?</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markets and stone buildings</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airports and skyscrapers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beaches only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أَسْوَاقِهَا وَمَبَانِيهَا المَبْنِيَّةِ مِنَ الحَجَرِ.</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train station?</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outside the city</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behind the airport</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the centre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فِي المَرْكَزِ.</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speaker reach it?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by bus</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by bicycle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on foot</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أَذْهَبُ إِلَيْهَا مَشْيًا.</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more expensive?</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train</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bus</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cost the same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القِطَارُ أَغْلَى مِنَ الحَافِلَةِ.</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disadvantage is mentioned?</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city is unsafe</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transport is sometimes delayed</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there are no markets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المَوَاصَلَاتِ تَتَأَخَّرُ أَحْيَانًا.</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for four families:</a:t>
            </a:r>
            <a:endParaRPr lang="en-US" sz="1250" dirty="0"/>
          </a:p>
          <a:p>
            <a:pPr algn="l" indent="0" marL="0">
              <a:buNone/>
            </a:pPr>
            <a:r>
              <a:rPr lang="en-US" sz="1250" dirty="0">
                <a:solidFill>
                  <a:srgbClr val="1E6B52"/>
                </a:solidFill>
                <a:latin typeface="Calibri" pitchFamily="34" charset="0"/>
                <a:cs typeface="Amiri" pitchFamily="2" charset="-78"/>
              </a:rPr>
              <a:t>existence · transport · comparison · advantage.</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40</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Unit Review</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Full F6 topic conversation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صِفْ مَدِينَتَكَ وَأَهَمَّ أَمَاكِنِهَا.</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كَيْفَ تَتَنَقَّلُ فِي مَدِينَتِكَ؟</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أَعْطِ اتِّجَاهَاتٍ مِنَ المَحَطَّةِ إِلَى المَسْجِدِ.</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C9780A"/>
          </a:solidFill>
          <a:ln w="12700">
            <a:solidFill>
              <a:srgbClr val="C9780A"/>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مَزَايَا مَدِينَتِكَ وَعُيُوبُهَا؟</a:t>
            </a:r>
            <a:endParaRPr lang="ar-SA" sz="1800" dirty="0"/>
          </a:p>
        </p:txBody>
      </p:sp>
      <p:sp>
        <p:nvSpPr>
          <p:cNvPr id="46" name="Shape 43"/>
          <p:cNvSpPr/>
          <p:nvPr/>
        </p:nvSpPr>
        <p:spPr>
          <a:xfrm>
            <a:off x="4754880" y="4974336"/>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4846320" y="5129784"/>
            <a:ext cx="960120" cy="256032"/>
          </a:xfrm>
          <a:prstGeom prst="roundRect">
            <a:avLst>
              <a:gd name="adj" fmla="val 50000"/>
            </a:avLst>
          </a:prstGeom>
          <a:solidFill>
            <a:srgbClr val="B83227"/>
          </a:solidFill>
          <a:ln w="12700">
            <a:solidFill>
              <a:srgbClr val="B83227"/>
            </a:solidFill>
            <a:prstDash val="solid"/>
          </a:ln>
        </p:spPr>
      </p:sp>
      <p:sp>
        <p:nvSpPr>
          <p:cNvPr id="48" name="Text 45"/>
          <p:cNvSpPr txBox="1"/>
          <p:nvPr/>
        </p:nvSpPr>
        <p:spPr>
          <a:xfrm>
            <a:off x="4846320" y="5129784"/>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9" name="Text 46"/>
          <p:cNvSpPr txBox="1"/>
          <p:nvPr/>
        </p:nvSpPr>
        <p:spPr>
          <a:xfrm>
            <a:off x="5897880" y="4974336"/>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أَيُّ مَبْنًى تُفَضِّلُ فِي مَدِينَتِكَ؟ وَلِمَاذَا؟</a:t>
            </a:r>
            <a:endParaRPr lang="ar-SA" sz="1800" dirty="0"/>
          </a:p>
        </p:txBody>
      </p:sp>
      <p:sp>
        <p:nvSpPr>
          <p:cNvPr id="50" name="Shape 47"/>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51" name="Text 48"/>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52" name="Shape 49"/>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53" name="Text 50"/>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4" name="Text 51"/>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أَسْكُنُ فِي … · تُوجَدُ فِيهَا …</a:t>
            </a:r>
            <a:endParaRPr lang="ar-SA" sz="1600" dirty="0"/>
          </a:p>
        </p:txBody>
      </p:sp>
      <p:sp>
        <p:nvSpPr>
          <p:cNvPr id="55" name="Shape 52"/>
          <p:cNvSpPr/>
          <p:nvPr/>
        </p:nvSpPr>
        <p:spPr>
          <a:xfrm>
            <a:off x="640080" y="3566160"/>
            <a:ext cx="1051560" cy="256032"/>
          </a:xfrm>
          <a:prstGeom prst="roundRect">
            <a:avLst>
              <a:gd name="adj" fmla="val 50000"/>
            </a:avLst>
          </a:prstGeom>
          <a:solidFill>
            <a:srgbClr val="2E8B57"/>
          </a:solidFill>
          <a:ln w="12700">
            <a:solidFill>
              <a:srgbClr val="2E8B57"/>
            </a:solidFill>
            <a:prstDash val="solid"/>
          </a:ln>
        </p:spPr>
      </p:sp>
      <p:sp>
        <p:nvSpPr>
          <p:cNvPr id="56" name="Text 53"/>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7" name="Text 54"/>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أَتَنَقَّلُ بِـ … لِأَنَّهُ …</a:t>
            </a:r>
            <a:endParaRPr lang="ar-SA" sz="1600" dirty="0"/>
          </a:p>
        </p:txBody>
      </p:sp>
      <p:sp>
        <p:nvSpPr>
          <p:cNvPr id="58" name="Shape 55"/>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9" name="Text 56"/>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60" name="Text 57"/>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اِذْهَبْ مُسْتَقِيمًا ثُمَّ اِنْعَطِفْ …</a:t>
            </a:r>
            <a:endParaRPr lang="ar-SA" sz="1600" dirty="0"/>
          </a:p>
        </p:txBody>
      </p:sp>
      <p:sp>
        <p:nvSpPr>
          <p:cNvPr id="61" name="Shape 58"/>
          <p:cNvSpPr/>
          <p:nvPr/>
        </p:nvSpPr>
        <p:spPr>
          <a:xfrm>
            <a:off x="640080" y="4681728"/>
            <a:ext cx="1051560" cy="256032"/>
          </a:xfrm>
          <a:prstGeom prst="roundRect">
            <a:avLst>
              <a:gd name="adj" fmla="val 50000"/>
            </a:avLst>
          </a:prstGeom>
          <a:solidFill>
            <a:srgbClr val="C9780A"/>
          </a:solidFill>
          <a:ln w="12700">
            <a:solidFill>
              <a:srgbClr val="C9780A"/>
            </a:solidFill>
            <a:prstDash val="solid"/>
          </a:ln>
        </p:spPr>
      </p:sp>
      <p:sp>
        <p:nvSpPr>
          <p:cNvPr id="62" name="Text 59"/>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63" name="Text 60"/>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مِنْ مَزَايَاهَا أَنَّ … وَمِنْ عُيُوبِهَا أَنَّ …</a:t>
            </a:r>
            <a:endParaRPr lang="ar-SA" sz="1600" dirty="0"/>
          </a:p>
        </p:txBody>
      </p:sp>
      <p:sp>
        <p:nvSpPr>
          <p:cNvPr id="64" name="Shape 61"/>
          <p:cNvSpPr/>
          <p:nvPr/>
        </p:nvSpPr>
        <p:spPr>
          <a:xfrm>
            <a:off x="640080" y="5239512"/>
            <a:ext cx="1051560" cy="256032"/>
          </a:xfrm>
          <a:prstGeom prst="roundRect">
            <a:avLst>
              <a:gd name="adj" fmla="val 50000"/>
            </a:avLst>
          </a:prstGeom>
          <a:solidFill>
            <a:srgbClr val="B83227"/>
          </a:solidFill>
          <a:ln w="12700">
            <a:solidFill>
              <a:srgbClr val="B83227"/>
            </a:solidFill>
            <a:prstDash val="solid"/>
          </a:ln>
        </p:spPr>
      </p:sp>
      <p:sp>
        <p:nvSpPr>
          <p:cNvPr id="65" name="Text 62"/>
          <p:cNvSpPr txBox="1"/>
          <p:nvPr/>
        </p:nvSpPr>
        <p:spPr>
          <a:xfrm>
            <a:off x="640080" y="5239512"/>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66" name="Text 63"/>
          <p:cNvSpPr txBox="1"/>
          <p:nvPr/>
        </p:nvSpPr>
        <p:spPr>
          <a:xfrm>
            <a:off x="1783080" y="5084064"/>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أُفَضِّلُ … لِأَنَّهُ مَبْنِيٌّ مِنْ …</a:t>
            </a:r>
            <a:endParaRPr lang="ar-SA" sz="1600" dirty="0"/>
          </a:p>
        </p:txBody>
      </p:sp>
      <p:sp>
        <p:nvSpPr>
          <p:cNvPr id="67" name="Shape 64"/>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9" name="Shape 66"/>
          <p:cNvSpPr/>
          <p:nvPr/>
        </p:nvSpPr>
        <p:spPr>
          <a:xfrm>
            <a:off x="11274552" y="5559552"/>
            <a:ext cx="292608" cy="292608"/>
          </a:xfrm>
          <a:prstGeom prst="ellipse">
            <a:avLst/>
          </a:prstGeom>
          <a:solidFill>
            <a:srgbClr val="1E6B52"/>
          </a:solidFill>
          <a:ln w="12700">
            <a:solidFill>
              <a:srgbClr val="1E6B52"/>
            </a:solidFill>
            <a:prstDash val="solid"/>
          </a:ln>
        </p:spPr>
      </p:sp>
      <p:sp>
        <p:nvSpPr>
          <p:cNvPr id="70" name="Text 67"/>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71" name="Text 68"/>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صِفْ مَدِينَتَكَ وَمَوَاصَلَاتِهَا.</a:t>
            </a:r>
            <a:endParaRPr lang="ar-SA" sz="1550" dirty="0"/>
          </a:p>
        </p:txBody>
      </p:sp>
      <p:sp>
        <p:nvSpPr>
          <p:cNvPr id="72" name="Text 69"/>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Describe your city and transport.</a:t>
            </a:r>
            <a:endParaRPr lang="en-US" sz="950" dirty="0"/>
          </a:p>
        </p:txBody>
      </p:sp>
      <p:sp>
        <p:nvSpPr>
          <p:cNvPr id="73" name="Shape 70"/>
          <p:cNvSpPr/>
          <p:nvPr/>
        </p:nvSpPr>
        <p:spPr>
          <a:xfrm>
            <a:off x="11274552" y="5925312"/>
            <a:ext cx="292608" cy="292608"/>
          </a:xfrm>
          <a:prstGeom prst="ellipse">
            <a:avLst/>
          </a:prstGeom>
          <a:solidFill>
            <a:srgbClr val="1E6B52"/>
          </a:solidFill>
          <a:ln w="12700">
            <a:solidFill>
              <a:srgbClr val="1E6B52"/>
            </a:solidFill>
            <a:prstDash val="solid"/>
          </a:ln>
        </p:spPr>
      </p:sp>
      <p:sp>
        <p:nvSpPr>
          <p:cNvPr id="74" name="Text 71"/>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75" name="Text 72"/>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مَدِينَتِي حَدِيثَةٌ وَتُوجَدُ فِيهَا أَمَاكِنُ كَثِيرَةٌ. أَتَنَقَّلُ بِالمِتْرُو لِأَنَّهُ سَرِيعٌ.</a:t>
            </a:r>
            <a:endParaRPr lang="ar-SA" sz="1550" dirty="0"/>
          </a:p>
        </p:txBody>
      </p:sp>
      <p:sp>
        <p:nvSpPr>
          <p:cNvPr id="76" name="Text 73"/>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00" i="1" dirty="0">
                <a:solidFill>
                  <a:srgbClr val="5A6472"/>
                </a:solidFill>
                <a:latin typeface="Calibri" pitchFamily="34" charset="0"/>
                <a:cs typeface="Amiri" pitchFamily="2" charset="-78"/>
              </a:rPr>
              <a:t>My city is modern and has many places. I travel by metro because it is fast.</a:t>
            </a:r>
            <a:endParaRPr lang="en-US" sz="90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40</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Unit Review</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Complete targeted repair on the two weakest grammar families.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Repair five sentences from the audit table, then write your own town sentence for each family.</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80–100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Produce a full integrated response and explain corrections.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portfolio task: places, transport, directions, opinion, four grammar families, and a target.</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Lead a peer clinic, justify every repair and complete an extended self-assessment.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Portfolio + repair three deliberate errors in your draft and explain each one.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40</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تَتَمَيَّزُ مَدِينَتِي بِـ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town is known for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350" b="1" dirty="0">
                <a:solidFill>
                  <a:srgbClr val="1B3B6F"/>
                </a:solidFill>
                <a:latin typeface="Amiri" pitchFamily="2" charset="-78"/>
                <a:cs typeface="Amiri" pitchFamily="2" charset="-78"/>
              </a:rPr>
              <a:t>لِلذَّهَابِ إِلَى المَسْجِدِ، اِذْهَبْ ______ ثُمَّ اِنْعَطِفْ ______ .</a:t>
            </a:r>
            <a:endParaRPr lang="ar-SA" sz="13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To get to the mosque, go … then turn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الحَافِلَةُ أَرْخَصُ مِنْ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bus is cheaper than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cs typeface="Amiri" pitchFamily="2" charset="-78"/>
              </a:rPr>
              <a:t>مِنْ مَزَايَاهَا أَنَّ ______ ، وَمِنْ عُيُوبِهَا أَنَّ ______ .</a:t>
            </a:r>
            <a:endParaRPr lang="ar-SA" sz="145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One advantage … one disadvantage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هَدَفِي ______ لِأَنِّي أَخْطَأْتُ فِي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target is … because I made mistakes in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يُوجَدُ / تُوجَدُ فِي مَدِينَتِي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There is a … in my town.</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أَذْهَبُ إِلَى المَدْرَسَةِ بِـ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go to school by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تَسْتَغْرِقُ الرِّحْلَةُ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journey takes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الـ ______ مَبْنِيٌّ / مَبْنِيَّةٌ مِنَ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 is built of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أَوْلَوِيَّتِي هِيَ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priority is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يُوجَدُ  ·  تُوجَدُ  ·  بِالحَافِلَةِ  ·  مَشْيًا  ·  تَسْتَغْرِقُ  ·  أَرْخَصُ مِنْ  ·  تَتَمَيَّزُ بِـ  ·  مَبْنِيَّةٌ مِنْ  ·  اِذْهَبُوا  ·  مِنْ مَزَايَا … أَنَّ  ·  أَوْلَوِيَّةٌ  ·  دَلِيلٌ</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40</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Produce a final F6 portfolio response and an evidence-based assessment target.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places, transport, directions and built-environment language.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at least four different grammar families.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Repair three deliberate errors in your first draft.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Set one precise target supported by evidence.</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غَيَّرْتُ … إِلَى … لِأَنَّ …</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changed … to … because …</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نُقْطَةُ قُوَّتِي هِيَ …</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strength is …</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أَخْطَأْتُ فِي … مَرَّتَيْنِ</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made mistakes in … twice</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أَصْبَحَ نَصِّي أَدَقَّ</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text became more accurate</a:t>
            </a:r>
            <a:endParaRPr lang="en-US" sz="10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40</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Unit Review</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أَسْكُنُ فِي مَدِينَةٍ حَدِيثَةٍ تُوجَدُ فِيهَا مَحَطَّاتٌ وَحَدَائِقُ وَمَبَانٍ تَارِيخِيَّةٌ. تَتَمَيَّزُ بِمَتْحَفٍ مَبْنِيٍّ مِنَ الحَجَرِ. أَذْهَبُ إِلَى المَدْرَسَةِ بِالمِتْرُو، وَتَسْتَغْرِقُ الرِّحْلَةُ عِشْرِينَ دَقِيقَةً. مِنْ مَزَايَا المَدِينَةِ أَنَّ المَوَاصَلَاتِ رَخِيصَةٌ، وَمِنْ عُيُوبِهَا أَنَّ الشَّوَارِعَ مُكْتَظَّةٌ. هَدَفِي قَبْلَ التَّقْيِيمِ هُوَ مُرَاجَعَةُ أَفْعَالِ الأَمْرِ لِأَنِّي أَخْطَأْتُ فِي صِيغَةِ الجَمْعِ مَرَّتَيْنِ.</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live in a modern city with stations, parks and historic buildings. It is known for a museum built of stone. I go to school by metro, and the journey takes twenty minutes. One advantage is that transport is cheap; one disadvantage is that the streets are crowded. My target before the assessment is to revise commands, because I made mistakes with the plural form twice.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existence + agreement</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transport pattern</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balanced view with anna</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 evidence-based target</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40</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Unit Review</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Existence verbs agree with the noun.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Transport: bi- / ʿalā / mashyan correct.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explained why each correction is needed.</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four grammar families.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target names a rule and my evidence.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40</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Unit Review</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existence form matches </a:t>
            </a:r>
            <a:pPr algn="l" indent="0" marL="0">
              <a:buNone/>
            </a:pPr>
            <a:r>
              <a:rPr lang="ar-SA" altLang="en-US" sz="1650" b="1" dirty="0">
                <a:solidFill>
                  <a:srgbClr val="1B3B6F"/>
                </a:solidFill>
                <a:latin typeface="Amiri" pitchFamily="2" charset="-78"/>
                <a:cs typeface="Amiri" pitchFamily="2" charset="-78"/>
              </a:rPr>
              <a:t>مَحَطَّةٌ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تُوجَدُ</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يُوجَدُ</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هُنَّ</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group command?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اِذْهَبِي</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اِذْهَبُوا</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اِذْهَبْ</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العِمَارَةُ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مِنَ الزُّجَاجِ</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مَبْنِيَّةٌ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مَبْنِيٌّ</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مَبْنِيَّاتٌ</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40</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Unit Review</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existence form matches </a:t>
            </a:r>
            <a:pPr algn="l" indent="0" marL="0">
              <a:buNone/>
            </a:pPr>
            <a:r>
              <a:rPr lang="ar-SA" altLang="en-US" sz="1650" b="1" dirty="0">
                <a:solidFill>
                  <a:srgbClr val="1B3B6F"/>
                </a:solidFill>
                <a:latin typeface="Amiri" pitchFamily="2" charset="-78"/>
                <a:cs typeface="Amiri" pitchFamily="2" charset="-78"/>
              </a:rPr>
              <a:t>مَحَطَّةٌ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تُوجَدُ</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يُوجَدُ</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هُنَّ</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مَحَطَّةٌ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group command?</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اِذْهَبِي</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اِذْهَبُوا</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اِذْهَبْ</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plural form ends </a:t>
            </a:r>
            <a:pPr algn="l" indent="0" marL="0">
              <a:buNone/>
            </a:pPr>
            <a:r>
              <a:rPr lang="ar-SA" altLang="en-US" sz="1350" dirty="0">
                <a:solidFill>
                  <a:srgbClr val="8A6D1E"/>
                </a:solidFill>
                <a:latin typeface="Amiri" pitchFamily="2" charset="-78"/>
                <a:cs typeface="Amiri" pitchFamily="2" charset="-78"/>
              </a:rPr>
              <a:t>ـوا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العِمَارَةُ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مِنَ الزُّجَاجِ</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مَبْنِيَّةٌ</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مَبْنِيٌّ</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مَبْنِيَّاتٌ</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participle agrees with </a:t>
            </a:r>
            <a:pPr algn="l" indent="0" marL="0">
              <a:buNone/>
            </a:pPr>
            <a:r>
              <a:rPr lang="ar-SA" altLang="en-US" sz="1350" dirty="0">
                <a:solidFill>
                  <a:srgbClr val="8A6D1E"/>
                </a:solidFill>
                <a:latin typeface="Amiri" pitchFamily="2" charset="-78"/>
                <a:cs typeface="Amiri" pitchFamily="2" charset="-78"/>
              </a:rPr>
              <a:t>العِمَارَةُ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40</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Error-analysis report</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رَاجَعَتْ لَيْلَى كِتَابَتَهَا فَوَجَدَتْ أَرْبَعَةَ أَخْطَاءٍ. كَتَبَتْ «يُوجَدُ مَدْرَسَةٌ»، فَغَيَّرَتْهَا إِلَى «تُوجَدُ مَدْرَسَةٌ» لِأَنَّ الاِسْمَ مُؤَنَّثٌ. وَكَتَبَتْ «أُسَافِرُ عَلَى الحَافِلَةِ»، فَاسْتَعْمَلَتْ «بِالحَافِلَةِ». ثُمَّ صَحَّحَتْ «العِمَارَةُ مَبْنِيٌّ» إِلَى «مَبْنِيَّةٌ». وَأَضَافَتْ «أَنَّ» بَعْدَ «مِنْ مَزَايَا مَدِينَتِي». بَعْدَ التَّصْحِيحِ أَصْبَحَ نَصُّهَا أَدَقَّ وَأَوْضَحَ.</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رَاجَعَتْ</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she reviewed</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كِتَابَتَهَا</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her writing</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فَوَجَدَتْ</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and she found</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أَرْبَعَةَ أَخْطَاءٍ</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four mistakes</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فَغَيَّرَتْهَا إِلَى</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so she changed it to</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لِأَنَّ الاِسْمَ مُؤَنَّثٌ</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because the noun is feminine</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فَاسْتَعْمَلَتْ</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so she used</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صَحَّحَتْ</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she corrected</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وَأَضَافَتْ</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and she added</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أَدَقَّ وَأَوْضَحَ</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more accurate and clearer</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40</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errors did Layla find?</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four</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five</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did she use </a:t>
            </a:r>
            <a:pPr algn="l" indent="0" marL="0">
              <a:buNone/>
            </a:pPr>
            <a:r>
              <a:rPr lang="ar-SA" altLang="en-US" sz="1650" b="1" dirty="0">
                <a:solidFill>
                  <a:srgbClr val="1B3B6F"/>
                </a:solidFill>
                <a:latin typeface="Amiri" pitchFamily="2" charset="-78"/>
                <a:cs typeface="Amiri" pitchFamily="2" charset="-78"/>
              </a:rPr>
              <a:t>تُوجَدُ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sentence was past tense</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place was far</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noun was feminine</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transport phrase did she correct?</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بِالحَافِلَةِ</a:t>
            </a:r>
            <a:endParaRPr lang="ar-SA" sz="20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 الدَّرَّاجَةِ</a:t>
            </a:r>
            <a:endParaRPr lang="ar-SA" sz="20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مَشْيًا</a:t>
            </a:r>
            <a:endParaRPr lang="ar-SA" sz="20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agreed with </a:t>
            </a:r>
            <a:pPr algn="l" indent="0" marL="0">
              <a:buNone/>
            </a:pPr>
            <a:r>
              <a:rPr lang="ar-SA" altLang="en-US" sz="1650" b="1" dirty="0">
                <a:solidFill>
                  <a:srgbClr val="1B3B6F"/>
                </a:solidFill>
                <a:latin typeface="Amiri" pitchFamily="2" charset="-78"/>
                <a:cs typeface="Amiri" pitchFamily="2" charset="-78"/>
              </a:rPr>
              <a:t>العِمَارَةُ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مَبْنِيٌّ</a:t>
            </a:r>
            <a:endParaRPr lang="ar-SA" sz="20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مَبْنِيَّةٌ</a:t>
            </a:r>
            <a:endParaRPr lang="ar-SA" sz="20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مَبْنِيُّونَ</a:t>
            </a:r>
            <a:endParaRPr lang="ar-SA" sz="20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word did she add after the advantage frame?</a:t>
            </a:r>
            <a:endParaRPr lang="en-US" sz="120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a:t>
            </a:r>
            <a:endParaRPr lang="ar-SA" sz="20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improved after correction?</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word count</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handwriting</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accuracy and clarity</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40</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errors did Layla find?</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three</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four</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five</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أَرْبَعَةَ أَخْطَاءٍ.</a:t>
            </a:r>
            <a:endParaRPr lang="ar-SA" sz="13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did she use </a:t>
            </a:r>
            <a:pPr algn="l" indent="0" marL="0">
              <a:buNone/>
            </a:pPr>
            <a:r>
              <a:rPr lang="ar-SA" altLang="en-US" sz="1650" b="1" dirty="0">
                <a:solidFill>
                  <a:srgbClr val="1B3B6F"/>
                </a:solidFill>
                <a:latin typeface="Amiri" pitchFamily="2" charset="-78"/>
                <a:cs typeface="Amiri" pitchFamily="2" charset="-78"/>
              </a:rPr>
              <a:t>تُوجَدُ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the sentence was past tense</a:t>
            </a:r>
            <a:endParaRPr lang="en-US" sz="11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place was far</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noun was feminine</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لِأَنَّ الاِسْمَ مُؤَنَّثٌ.</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transport phrase did she correct?</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بِالحَافِلَةِ</a:t>
            </a:r>
            <a:endParaRPr lang="ar-SA" sz="170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 الدَّرَّاجَةِ</a:t>
            </a:r>
            <a:endParaRPr lang="ar-SA" sz="170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مَشْيًا</a:t>
            </a:r>
            <a:endParaRPr lang="ar-SA" sz="170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changed </a:t>
            </a:r>
            <a:pPr algn="l" indent="0" marL="0">
              <a:buNone/>
            </a:pPr>
            <a:r>
              <a:rPr lang="ar-SA" altLang="en-US" sz="1350" dirty="0">
                <a:solidFill>
                  <a:srgbClr val="8A6D1E"/>
                </a:solidFill>
                <a:latin typeface="Amiri" pitchFamily="2" charset="-78"/>
                <a:cs typeface="Amiri" pitchFamily="2" charset="-78"/>
              </a:rPr>
              <a:t>عَلَى الحَافِلَةِ</a:t>
            </a:r>
            <a:pPr algn="l" indent="0" marL="0">
              <a:buNone/>
            </a:pPr>
            <a:r>
              <a:rPr lang="en-US" sz="1050" i="1" dirty="0">
                <a:solidFill>
                  <a:srgbClr val="8A6D1E"/>
                </a:solidFill>
                <a:latin typeface="Calibri" pitchFamily="34" charset="0"/>
                <a:cs typeface="Amiri" pitchFamily="2" charset="-78"/>
              </a:rPr>
              <a:t> to </a:t>
            </a:r>
            <a:pPr algn="l" indent="0" marL="0">
              <a:buNone/>
            </a:pPr>
            <a:r>
              <a:rPr lang="ar-SA" altLang="en-US" sz="1350" dirty="0">
                <a:solidFill>
                  <a:srgbClr val="8A6D1E"/>
                </a:solidFill>
                <a:latin typeface="Amiri" pitchFamily="2" charset="-78"/>
                <a:cs typeface="Amiri" pitchFamily="2" charset="-78"/>
              </a:rPr>
              <a:t>بِالحَافِلَةِ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agreed with </a:t>
            </a:r>
            <a:pPr algn="l" indent="0" marL="0">
              <a:buNone/>
            </a:pPr>
            <a:r>
              <a:rPr lang="ar-SA" altLang="en-US" sz="1650" b="1" dirty="0">
                <a:solidFill>
                  <a:srgbClr val="1B3B6F"/>
                </a:solidFill>
                <a:latin typeface="Amiri" pitchFamily="2" charset="-78"/>
                <a:cs typeface="Amiri" pitchFamily="2" charset="-78"/>
              </a:rPr>
              <a:t>العِمَارَةُ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مَبْنِيٌّ</a:t>
            </a:r>
            <a:endParaRPr lang="ar-SA" sz="170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مَبْنِيَّةٌ</a:t>
            </a:r>
            <a:endParaRPr lang="ar-SA" sz="170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مَبْنِيُّونَ</a:t>
            </a:r>
            <a:endParaRPr lang="ar-SA" sz="170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corrected it to feminine </a:t>
            </a:r>
            <a:pPr algn="l" indent="0" marL="0">
              <a:buNone/>
            </a:pPr>
            <a:r>
              <a:rPr lang="ar-SA" altLang="en-US" sz="1350" dirty="0">
                <a:solidFill>
                  <a:srgbClr val="8A6D1E"/>
                </a:solidFill>
                <a:latin typeface="Amiri" pitchFamily="2" charset="-78"/>
                <a:cs typeface="Amiri" pitchFamily="2" charset="-78"/>
              </a:rPr>
              <a:t>مَبْنِيَّةٌ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word did she add after the advantage frame?</a:t>
            </a:r>
            <a:endParaRPr lang="en-US" sz="120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أَنَّ</a:t>
            </a:r>
            <a:endParaRPr lang="ar-SA" sz="170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إِلَى</a:t>
            </a:r>
            <a:endParaRPr lang="ar-SA" sz="170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بِـ</a:t>
            </a:r>
            <a:endParaRPr lang="ar-SA" sz="170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added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improved after correction?</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word count</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handwriting</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accuracy and clarity</a:t>
            </a:r>
            <a:endParaRPr lang="en-US" sz="12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أَدَقَّ وَأَوْضَحَ.</a:t>
            </a:r>
            <a:endParaRPr lang="ar-SA" sz="13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40</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Unit Review</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F6-L12: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F6-L12 · F6 Review and Unit Assessment</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تَقْيِيمٌ</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assessment</a:t>
            </a:r>
            <a:pPr indent="0" marL="0">
              <a:buNone/>
            </a:pPr>
            <a:r>
              <a:rPr lang="en-US" sz="1000" i="1" dirty="0">
                <a:solidFill>
                  <a:srgbClr val="5A6472"/>
                </a:solidFill>
                <a:latin typeface="Calibri" pitchFamily="34" charset="0"/>
                <a:cs typeface="Amiri" pitchFamily="2" charset="-78"/>
              </a:rPr>
              <a:t>  pl. تَقْيِيمَاتٌ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مَهَارَةٌ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skill</a:t>
            </a:r>
            <a:pPr indent="0" marL="0">
              <a:buNone/>
            </a:pPr>
            <a:r>
              <a:rPr lang="en-US" sz="1000" i="1" dirty="0">
                <a:solidFill>
                  <a:srgbClr val="5A6472"/>
                </a:solidFill>
                <a:latin typeface="Calibri" pitchFamily="34" charset="0"/>
                <a:cs typeface="Amiri" pitchFamily="2" charset="-78"/>
              </a:rPr>
              <a:t>  pl. مَهَارَاتٌ</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دَرَجَةٌ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mark / score</a:t>
            </a:r>
            <a:pPr indent="0" marL="0">
              <a:buNone/>
            </a:pPr>
            <a:r>
              <a:rPr lang="en-US" sz="1000" i="1" dirty="0">
                <a:solidFill>
                  <a:srgbClr val="5A6472"/>
                </a:solidFill>
                <a:latin typeface="Calibri" pitchFamily="34" charset="0"/>
                <a:cs typeface="Amiri" pitchFamily="2" charset="-78"/>
              </a:rPr>
              <a:t>  pl. دَرَجَاتٌ</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تَعْلِيمَاتٌ</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instructions</a:t>
            </a:r>
            <a:pPr indent="0" marL="0">
              <a:buNone/>
            </a:pPr>
            <a:r>
              <a:rPr lang="en-US" sz="1000" i="1" dirty="0">
                <a:solidFill>
                  <a:srgbClr val="5A6472"/>
                </a:solidFill>
                <a:latin typeface="Calibri" pitchFamily="34" charset="0"/>
                <a:cs typeface="Amiri" pitchFamily="2" charset="-78"/>
              </a:rPr>
              <a:t>  sing. تَعْلِيمَةٌ</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أُرَاجِعُ</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revise / check</a:t>
            </a:r>
            <a:pPr indent="0" marL="0">
              <a:buNone/>
            </a:pPr>
            <a:r>
              <a:rPr lang="en-US" sz="1000" i="1" dirty="0">
                <a:solidFill>
                  <a:srgbClr val="5A6472"/>
                </a:solidFill>
                <a:latin typeface="Calibri" pitchFamily="34" charset="0"/>
                <a:cs typeface="Amiri" pitchFamily="2" charset="-78"/>
              </a:rPr>
              <a:t>  تُرَاجِعُ she</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Revise your reddest row from the audit table: write three correct sentences using it.</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أَوْلَوِيَّتِي: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F6-L11: redo the quiz and the sorter; learn the five assessment words.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portfolio task: final F6 response (80–100 words) with an evidence-based target.</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Portfolio + three repaired errors with explanations; practise the five conversation questions for one minute each.</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40</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F6-L11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400" b="1" dirty="0">
                <a:solidFill>
                  <a:srgbClr val="FFFFFF"/>
                </a:solidFill>
                <a:latin typeface="Cambria" pitchFamily="34" charset="0"/>
                <a:cs typeface="Amiri" pitchFamily="2" charset="-78"/>
              </a:rPr>
              <a:t>F6-L12 · F6 Review and Unit Assessment</a:t>
            </a:r>
            <a:endParaRPr lang="en-US" sz="24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المُرَاجَعَةُ وَتَقْيِيمُ الوَحْدَةِ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find what controls the form — the noun, the person or the transport — then explain, then repair.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F6-L11 · F6 Consolidation: Complete Town and Transport Review</dc:title>
  <dc:subject>PptxGenJS Presentation</dc:subject>
  <dc:creator>Al Madina Online School · Arabic Department</dc:creator>
  <cp:lastModifiedBy>Al Madina Online School · Arabic Department</cp:lastModifiedBy>
  <cp:revision>1</cp:revision>
  <dcterms:created xsi:type="dcterms:W3CDTF">2026-10-11T06:41:58Z</dcterms:created>
  <dcterms:modified xsi:type="dcterms:W3CDTF">2026-10-11T06:41:58Z</dcterms:modified>
</cp:coreProperties>
</file>