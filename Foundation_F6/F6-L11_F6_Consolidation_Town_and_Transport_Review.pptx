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F6-L11. The website lesson “F6 Consolidation: Complete Town and Transport Review”: vocabulary, grammar rules and quiz, patterns, common mistakes, sorter, listening, reading, speaking prompts and model, writing task and model, differentiation, final check and the lesson mission. Picture match: website visual game “F6 Consolidation: Complete Town and Transport Review”.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F6 review before the F6-L12 assessment.
• Core: targeted repair on the two weakest families (existence/agreement and transport patterns) using the audit table.
• Develop: an integrated response (places + transport + directions + opinion) and an explanation for each correction.
• Stretch: lead a “peer clinic”: justify every repair and complete an extended self-assessment.
• Website: “An error explanation is stronger than a corrected sentence because it makes the controlling rule reusable.”
• Use the Do Now and quick-check results to pick each student’s route for the final You Do.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F6-L10. Questions 3–5 retrieve F6-L10, F6-L08 and F6-L01. Note which of Q4–Q5 each student gets wrong: it points to their route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fix an ending, find what controls it: the noun, the person or the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تحلیل، دلیل، اولیت are shared. ترقی (progress) → Arabic تَرَقٍّ, but the website uses تَقَدُّمٌ. رجوع کرنا (to turn to / consult) shares the root of مُرَاجَعَةٌ (review: “going back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Review and reflection (website vocabulary (1 of 2)). Hear → Say → See → Use. Transliteration is printed for Core students (cover it for Develop/Stretch).
Review words: students need to understand them for today’s self-assessment and target. The Core route learns the five prep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Review and reflection (website vocabulary (2 of 2)). Hear → Say → See → Use. Transliteration is printed for Core students (cover it for Develop/Stretch).
Review words: students need to understand them for today’s self-assessment and target. The Core route learns the five prep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F6 grammar bank (website vocabulary (1 of 2)). Hear → Say → See → Use. Transliteration is printed for Core students (cover it for Develop/Stretch).
The complete F6 grammar bank: every structure the F6-L12 assessment can test. Students give themselves a traffic light for each (green: confident · amber: sometimes · red: need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F6 grammar bank (website vocabulary (2 of 2)). Hear → Say → See → Use. Transliteration is printed for Core students (cover it for Develop/Stretch).
FLEX: teach if time allows; otherwise these are on the website vocabulary tab for homework.
The complete F6 grammar bank: every structure the F6-L12 assessment can test. Students give themselves a traffic light for each (green: confident · amber: sometimes · red: need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“Existence and agreement”, “Movement and directions”, “Description and comparison” and “Balanced extended communication”, each with the website check question.
Website overview: “This lesson does not introduce a new rule. It connects the full F6 grammar system and teaches learners to diagnose why an error is wrong before repairing it.”
Row 5: after أَنَّ the noun takes -a (المَوَاصَلَاتِ, a feminine plural with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common error: “Do not correct only the visible ending. Explain which noun, person, transport type or reference controls the form.”
Website teaching point: “An error explanation is stronger than a corrected sentence because it makes the controlling rule reusable.”
This is exactly what Layla does in today’s reading text (error-analysis report). Practise the routine aloud on quiz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“This lesson does not introduce a new rule. It connects the full F6 grammar system and teaches learners to diagnose why an error is wrong before repairing it.”
• Existence and agreement: Check the noun gender before choosing the verb and adjective.
• Movement and directions: Check both the transport pattern and the person being addressed.
• Description and comparison: Check the preposition and any agreement in the surrounding phrase.
• Balanced extended communication: A complete response combines facts, movement, opinions and a balanced judgement.
Website common error: Do not correct only the visible ending. Explain which noun, person, transport type or reference controls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portfolio answer, built one family at a time. The last sentence is the evidence-based TARGET: it names the rule AND the evidence (“twice”). Students count the grammar families used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form by the rule it tests.
Stretch: for each item, say the check question (What is the noun’s gender? Who is addressed?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form by the rule it tests.
Stretch: for each item, say the check question (What is the noun’s gender? Who is addressed?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then name the grammar family behind each answer.
Listen 1: just listen. Listen 2: note answers. Then chat the letters.
Support: after the second listening, show the read-along slide (Arabic + English, line by line) for Core students.
SCRIPT (read aloud):
أَسْكُنُ فِي مَدِينَةٍ تَارِيخِيَّةٍ تَتَمَيَّزُ بِأَسْوَاقِهَا وَمَبَانِيهَا المَبْنِيَّةِ مِنَ الحَجَرِ. تُوجَدُ مَحَطَّةُ القِطَارِ فِي المَرْكَزِ، وَأَذْهَبُ إِلَيْهَا مَشْيًا. القِطَارُ أَغْلَى مِنَ الحَافِلَةِ، وَلٰكِنَّهُ أَسْرَعُ وَتَسْتَغْرِقُ الرِّحْلَةُ أَرْبَعِينَ دَقِيقَةً. مِنْ مَزَايَا مَدِينَتِي أَنَّهَا آمِنَةٌ، وَمِنْ عُيُوبِهَا أَنَّ المَوَاصَلَاتِ تَتَأَخَّرُ أَحْيَانًا.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اذْكُرْ مِيزَةً وَعَيْبًا وَأَعْطِنِي اتِّجَاهًا. (Give an advantage, disadvantage and one direction.)
B: مِنْ مَزَايَاهَا أَنَّهَا آمِنَةٌ، وَمِنْ عُيُوبِهَا الاِزْدِحَامُ. لِلذَّهَابِ إِلَى المَسْجِدِ، اِذْهَبْ مُسْتَقِيمًا ثُمَّ اِنْعَطِفْ يَسَارًا. (It is safe but crowded. Go straight then turn left to the mosque.)
Website “Full F6 topic conversation” — the same five questions the F6-L12 speaking assessment uses. Pairs: A asks, B answers for one minute; swap. Website model: صِفْ مَدِينَتَكَ وَمَوَاصَلَاتِهَا. — مَدِينَتِي حَدِيثَةٌ … أَتَنَقَّلُ بِالمِتْرُو لِأَنَّهُ سَرِيعٌ. — اذْكُرْ مِيزَةً وَعَيْبًا وَأَعْطِنِي اتِّجَاهًا. — مِنْ مَزَايَاهَا أَنَّهَا آمِنَةٌ، وَمِنْ عُيُوبِهَا الاِزْدِحَامُ. لِلذَّهَابِ إِلَى المَسْجِدِ، اِذْهَبْ مُسْتَقِيمًا ثُمَّ اِنْعَطِفْ يَسَارًا.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targeted repair on the two weakest grammar families. · Develop — Produce a full integrated response and explain corrections. · Stretch — Lead a peer clinic, justify every repair and complete an extended self-assessment.
Website writing task (Stretch): Produce a final F6 portfolio response and an evidence-based assessment target.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تُوجَدُ فِيهَا مَحَطَّاتٌ · بِمَتْحَفٍ مَبْنِيٍّ مِنَ الحَجَرِ · بِالمِتْرُو، تَسْتَغْرِقُ · مِنْ مَزَايَا … أَنَّ · هَدَفِي … لِأَنِّي أَخْطَأْتُ … مَرَّتَيْنِ.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(F6-L12 · F6 Review and Unit Assessment) will spend class time USING this language, so students prepare it tonight — short, simple, easy to access (school guidance: “Simple, Short, Interesting, Relevant, Easy to access”). The five words are the instruction words of the F6-L12 assessment (skills, marks, instructions).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F6 Consolidation: Complete Town and Transport Review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تَرْسِيخُ الوَحْدَةِ السَّادِسَةِ — مُرَاجَعَةٌ شَامِلَةٌ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Pull the whole of F6 together: four grammar families, a diagnose → explain → repair routine for errors, a one-minute topic conversation and one precise target before the assessment.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F6-L11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four F6 grammar families and a three-step repair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by family, repair the errors, then listen to a cumulative F6 text.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أَوْلَوِيَّةٌ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priority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mistake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question with </a:t>
            </a:r>
            <a:pPr algn="l" indent="0" marL="0">
              <a:buNone/>
            </a:pPr>
            <a:r>
              <a:rPr lang="ar-SA" altLang="en-US" sz="1650" b="1" dirty="0">
                <a:solidFill>
                  <a:srgbClr val="1B3B6F"/>
                </a:solidFill>
                <a:latin typeface="Amiri" pitchFamily="34" charset="0"/>
                <a:ea typeface="Amiri" pitchFamily="34" charset="-122"/>
                <a:cs typeface="Amiri" pitchFamily="34" charset="-120"/>
              </a:rPr>
              <a:t>كَمْ تَسْتَغْرِقُ</a:t>
            </a:r>
            <a:pPr algn="l" indent="0" marL="0">
              <a:buNone/>
            </a:pPr>
            <a:r>
              <a:rPr lang="en-US" sz="1250" b="1" dirty="0">
                <a:solidFill>
                  <a:srgbClr val="1B3B6F"/>
                </a:solidFill>
                <a:latin typeface="Calibri" pitchFamily="34" charset="0"/>
                <a:ea typeface="Calibri" pitchFamily="34" charset="-122"/>
                <a:cs typeface="Calibri" pitchFamily="34" charset="-120"/>
              </a:rPr>
              <a:t> expects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duration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left” to a group.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 يَسَارًا.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يَسَارًا.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اِنْعَطِفُوا يَسَارًا.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مَحَطَّةٌ قَرِيبَةٌ.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مَحَطَّةٌ قَرِيبٌ.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مَحَطَّةٌ قَرِيبٌ.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أَوْلَوِيَّةٌ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evidence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priority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strength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دَلِيلٌ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mistake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question with </a:t>
            </a:r>
            <a:pPr algn="l" indent="0" marL="0">
              <a:buNone/>
            </a:pPr>
            <a:r>
              <a:rPr lang="ar-SA" altLang="en-US" sz="1650" b="1" dirty="0">
                <a:solidFill>
                  <a:srgbClr val="1B3B6F"/>
                </a:solidFill>
                <a:latin typeface="Amiri" pitchFamily="34" charset="0"/>
                <a:ea typeface="Amiri" pitchFamily="34" charset="-122"/>
                <a:cs typeface="Amiri" pitchFamily="34" charset="-120"/>
              </a:rPr>
              <a:t>كَمْ تَسْتَغْرِقُ</a:t>
            </a:r>
            <a:pPr algn="l" indent="0" marL="0">
              <a:buNone/>
            </a:pPr>
            <a:r>
              <a:rPr lang="en-US" sz="1250" b="1" dirty="0">
                <a:solidFill>
                  <a:srgbClr val="1B3B6F"/>
                </a:solidFill>
                <a:latin typeface="Calibri" pitchFamily="34" charset="0"/>
                <a:ea typeface="Calibri" pitchFamily="34" charset="-122"/>
                <a:cs typeface="Calibri" pitchFamily="34" charset="-120"/>
              </a:rPr>
              <a:t> expects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duration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F6-L10: predict the answer type.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left” to a group.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اِنْعَطِفِي يَسَارًا.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 يَسَارًا.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اِنْعَطِفُوا يَسَارًا.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F6-L08: -ū for a group.</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مَحَطَّةٌ قَرِيبَةٌ.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مَحَطَّةٌ قَرِيبٌ.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 مَحَطَّةٌ قَرِيبٌ.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F6-L01: feminine noun → tūjadu +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Before you fix an ending, find what controls it: the noun, the person or the transport.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تُوجَدُ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مَحَطَّةٌ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اِنْعَطِفُوا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أَذْهَبُ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الحَافِلَةِ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all F6 vocabulary families.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repair grammar errors.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sustained topic conversation.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one evidence-based priority before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repair existence and transport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my town and journey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why each correction is needed.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speak for one minute on my town.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combine four grammar families in one text.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precise, evidence-based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22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Review and reflection · 10</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Complete F6 grammar bank · 12</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‎تحلیل‎ </a:t>
            </a:r>
            <a:pPr indent="0" marL="0">
              <a:buNone/>
            </a:pPr>
            <a:r>
              <a:rPr lang="en-US" sz="950" b="1" dirty="0">
                <a:solidFill>
                  <a:srgbClr val="2E8B57"/>
                </a:solidFill>
                <a:latin typeface="Calibri" pitchFamily="34" charset="0"/>
                <a:ea typeface="Calibri" pitchFamily="34" charset="-122"/>
                <a:cs typeface="Calibri" pitchFamily="34" charset="-120"/>
              </a:rPr>
              <a:t> tahlīl · analysis</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argument / proof → evidence</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أَوْلَوِيَّةٌ</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‎اولیت‎ </a:t>
            </a:r>
            <a:pPr indent="0" marL="0">
              <a:buNone/>
            </a:pPr>
            <a:r>
              <a:rPr lang="en-US" sz="950" b="1" dirty="0">
                <a:solidFill>
                  <a:srgbClr val="2E8B57"/>
                </a:solidFill>
                <a:latin typeface="Calibri" pitchFamily="34" charset="0"/>
                <a:ea typeface="Calibri" pitchFamily="34" charset="-122"/>
                <a:cs typeface="Calibri" pitchFamily="34" charset="-120"/>
              </a:rPr>
              <a:t> awwaliyat · priority</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تَرَقٍّ / تَقَدُّمٌ</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‎ترقی‎ </a:t>
            </a:r>
            <a:pPr indent="0" marL="0">
              <a:buNone/>
            </a:pPr>
            <a:r>
              <a:rPr lang="en-US" sz="950" b="1" dirty="0">
                <a:solidFill>
                  <a:srgbClr val="2E8B57"/>
                </a:solidFill>
                <a:latin typeface="Calibri" pitchFamily="34" charset="0"/>
                <a:ea typeface="Calibri" pitchFamily="34" charset="-122"/>
                <a:cs typeface="Calibri" pitchFamily="34" charset="-120"/>
              </a:rPr>
              <a:t> taraqqī · progress</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مُرَاجَعَةٌ</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‎رجوع‎ </a:t>
            </a:r>
            <a:pPr indent="0" marL="0">
              <a:buNone/>
            </a:pPr>
            <a:r>
              <a:rPr lang="en-US" sz="950" b="1" dirty="0">
                <a:solidFill>
                  <a:srgbClr val="2E8B57"/>
                </a:solidFill>
                <a:latin typeface="Calibri" pitchFamily="34" charset="0"/>
                <a:ea typeface="Calibri" pitchFamily="34" charset="-122"/>
                <a:cs typeface="Calibri" pitchFamily="34" charset="-120"/>
              </a:rPr>
              <a:t> rujū · Urdu: turning to → Arabic: review</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Review and reflection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شَامِلَةٌ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comprehensive 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 shā-mi-la-tun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تَكَامُلٌ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integration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ta-kā-mu-lun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تَحْلِيلُ الأَخْطَاءِ</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error analysis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taḥ-lī-lu al-akh-ṭā-ʾi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إِنْجَازٌ</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achievement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in-jā-zun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تَقَدُّمٌ مُسْتَمِرٌّ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continuous progress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ta-qad-du-mun mus-ta-mir-run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Review and reflection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مَدْرُوسٌ</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well-considered target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mad-rū-sun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أَوْلَوِيَّةٌ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priority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aw-la-wiy-ya-tun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اِسْتِقْلَالِيَّةٌ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independence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is-tiq-lā-liy-ya-tun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Complete F6 grammar bank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يُوجَدُ / تُوجَدُ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 is / 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yū-ja-du / tū-ja-du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قَرِيبٌ مِنْ / بَعِيدٌ عَنْ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near / far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qa-rī-bun min / ba-ʿī-dun ʿan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بِـ / عَلَى / مَشْيًا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transport patterns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 / ʿa-lā / mash-yan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تَسْتَغْرِقُ</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tas-tagh-ri-qu</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ثَمَنُهُ / ثَمَنُهَا</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tha-ma-nu-hu / tha-ma-nu-hā</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Complete F6 grammar bank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أَرْخَصُ / أَغْلَى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cheaper / more 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ar-kha-ṣu / agh-lā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تَتَمَيَّزُ بِـ</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ta-ta-may-ya-zu 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مَبْنِيٌّ مِنْ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mab-niy-yun min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مَزَايَا / مِنْ عُيُوبِ</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advantages / disadvantages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ma-zā-yā / min ʿu-yū-bi</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اِذْهَبْ / اِذْهَبِي / اِذْهَبُوا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 commands m/f/pl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idh-hab / idh-ha-bī / idh-ha-bū</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THE COMPLETE F6 GRAMMAR AUDIT (WEBSITE RULES 1–4)</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families, four checks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 …</a:t>
            </a:r>
            <a:endParaRPr lang="en-US" sz="1100" dirty="0"/>
          </a:p>
        </p:txBody>
      </p:sp>
      <p:sp>
        <p:nvSpPr>
          <p:cNvPr id="17" name="Text 14"/>
          <p:cNvSpPr txBox="1"/>
          <p:nvPr/>
        </p:nvSpPr>
        <p:spPr>
          <a:xfrm>
            <a:off x="59253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290779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253728" y="2267712"/>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noun’s gender</a:t>
            </a:r>
            <a:endParaRPr lang="en-US" sz="1100" dirty="0"/>
          </a:p>
        </p:txBody>
      </p:sp>
      <p:sp>
        <p:nvSpPr>
          <p:cNvPr id="22" name="Text 19"/>
          <p:cNvSpPr txBox="1"/>
          <p:nvPr/>
        </p:nvSpPr>
        <p:spPr>
          <a:xfrm>
            <a:off x="5943600" y="2267712"/>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تُوجَدُ</a:t>
            </a:r>
            <a:pPr rtl="1" algn="ctr" indent="0" marL="0">
              <a:buNone/>
            </a:pPr>
            <a:r>
              <a:rPr lang="ar-SA" altLang="en-US" sz="2000" b="1" dirty="0">
                <a:solidFill>
                  <a:srgbClr val="1B3B6F"/>
                </a:solidFill>
                <a:latin typeface="Amiri" pitchFamily="34" charset="0"/>
                <a:ea typeface="Amiri" pitchFamily="34" charset="-122"/>
                <a:cs typeface="Amiri" pitchFamily="34" charset="-120"/>
              </a:rPr>
              <a:t> مَحَطَّةٌ </a:t>
            </a:r>
            <a:pPr rtl="1" algn="ctr" indent="0" marL="0">
              <a:buNone/>
            </a:pPr>
            <a:r>
              <a:rPr lang="ar-SA" altLang="en-US" sz="2000" b="1" dirty="0">
                <a:solidFill>
                  <a:srgbClr val="0E7C86"/>
                </a:solidFill>
                <a:latin typeface="Amiri" pitchFamily="34" charset="0"/>
                <a:ea typeface="Amiri" pitchFamily="34" charset="-122"/>
                <a:cs typeface="Amiri" pitchFamily="34" charset="-120"/>
              </a:rPr>
              <a:t>قَرِيبَةٌ</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Text 20"/>
          <p:cNvSpPr txBox="1"/>
          <p:nvPr/>
        </p:nvSpPr>
        <p:spPr>
          <a:xfrm>
            <a:off x="292608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يُوجَدُ مَحَطَّةٌ قَرِيبٌ.</a:t>
            </a:r>
            <a:endParaRPr lang="ar-SA" sz="20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Existence + agreement (L01)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253728" y="300471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transport type</a:t>
            </a:r>
            <a:endParaRPr lang="en-US" sz="1100" dirty="0"/>
          </a:p>
        </p:txBody>
      </p:sp>
      <p:sp>
        <p:nvSpPr>
          <p:cNvPr id="29" name="Text 26"/>
          <p:cNvSpPr txBox="1"/>
          <p:nvPr/>
        </p:nvSpPr>
        <p:spPr>
          <a:xfrm>
            <a:off x="5943600" y="300471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أُسَافِرُ </a:t>
            </a:r>
            <a:pPr rtl="1" algn="ctr" indent="0" marL="0">
              <a:buNone/>
            </a:pPr>
            <a:r>
              <a:rPr lang="ar-SA" altLang="en-US" sz="2000" b="1" dirty="0">
                <a:solidFill>
                  <a:srgbClr val="0E7C86"/>
                </a:solidFill>
                <a:latin typeface="Amiri" pitchFamily="34" charset="0"/>
                <a:ea typeface="Amiri" pitchFamily="34" charset="-122"/>
                <a:cs typeface="Amiri" pitchFamily="34" charset="-120"/>
              </a:rPr>
              <a:t>بِـ</a:t>
            </a:r>
            <a:pPr rtl="1" algn="ctr" indent="0" marL="0">
              <a:buNone/>
            </a:pPr>
            <a:r>
              <a:rPr lang="ar-SA" altLang="en-US" sz="2000" b="1" dirty="0">
                <a:solidFill>
                  <a:srgbClr val="1B3B6F"/>
                </a:solidFill>
                <a:latin typeface="Amiri" pitchFamily="34" charset="0"/>
                <a:ea typeface="Amiri" pitchFamily="34" charset="-122"/>
                <a:cs typeface="Amiri" pitchFamily="34" charset="-120"/>
              </a:rPr>
              <a:t>الحَافِلَةِ.</a:t>
            </a:r>
            <a:endParaRPr lang="ar-SA" sz="2000" dirty="0"/>
          </a:p>
        </p:txBody>
      </p:sp>
      <p:sp>
        <p:nvSpPr>
          <p:cNvPr id="30" name="Text 27"/>
          <p:cNvSpPr txBox="1"/>
          <p:nvPr/>
        </p:nvSpPr>
        <p:spPr>
          <a:xfrm>
            <a:off x="292608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أُسَافِرُ عَلَى الحَافِلَةِ.</a:t>
            </a:r>
            <a:endParaRPr lang="ar-SA" sz="20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Transport (L03)</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253728" y="3741725"/>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is addressed</a:t>
            </a:r>
            <a:endParaRPr lang="en-US" sz="1100" dirty="0"/>
          </a:p>
        </p:txBody>
      </p:sp>
      <p:sp>
        <p:nvSpPr>
          <p:cNvPr id="36" name="Text 33"/>
          <p:cNvSpPr txBox="1"/>
          <p:nvPr/>
        </p:nvSpPr>
        <p:spPr>
          <a:xfrm>
            <a:off x="5943600" y="3741725"/>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اِذْهَبُوا</a:t>
            </a:r>
            <a:pPr rtl="1" algn="ctr" indent="0" marL="0">
              <a:buNone/>
            </a:pPr>
            <a:r>
              <a:rPr lang="ar-SA" altLang="en-US" sz="2000" b="1" dirty="0">
                <a:solidFill>
                  <a:srgbClr val="1B3B6F"/>
                </a:solidFill>
                <a:latin typeface="Amiri" pitchFamily="34" charset="0"/>
                <a:ea typeface="Amiri" pitchFamily="34" charset="-122"/>
                <a:cs typeface="Amiri" pitchFamily="34" charset="-120"/>
              </a:rPr>
              <a:t> يَمِينًا يَا طُلَّابُ.</a:t>
            </a:r>
            <a:endParaRPr lang="ar-SA" sz="2000" dirty="0"/>
          </a:p>
        </p:txBody>
      </p:sp>
      <p:sp>
        <p:nvSpPr>
          <p:cNvPr id="37" name="Text 34"/>
          <p:cNvSpPr txBox="1"/>
          <p:nvPr/>
        </p:nvSpPr>
        <p:spPr>
          <a:xfrm>
            <a:off x="292608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اِذْهَبِي يَمِينًا يَا طُلَّابُ.</a:t>
            </a:r>
            <a:endParaRPr lang="ar-SA" sz="20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Directions (L08)</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253728" y="4478731"/>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 + preposition</a:t>
            </a:r>
            <a:endParaRPr lang="en-US" sz="1100" dirty="0"/>
          </a:p>
        </p:txBody>
      </p:sp>
      <p:sp>
        <p:nvSpPr>
          <p:cNvPr id="41" name="Text 38"/>
          <p:cNvSpPr txBox="1"/>
          <p:nvPr/>
        </p:nvSpPr>
        <p:spPr>
          <a:xfrm>
            <a:off x="5943600" y="4478731"/>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العِمَارَةُ </a:t>
            </a:r>
            <a:pPr rtl="1" algn="ctr" indent="0" marL="0">
              <a:buNone/>
            </a:pPr>
            <a:r>
              <a:rPr lang="ar-SA" altLang="en-US" sz="2000" b="1" dirty="0">
                <a:solidFill>
                  <a:srgbClr val="0E7C86"/>
                </a:solidFill>
                <a:latin typeface="Amiri" pitchFamily="34" charset="0"/>
                <a:ea typeface="Amiri" pitchFamily="34" charset="-122"/>
                <a:cs typeface="Amiri" pitchFamily="34" charset="-120"/>
              </a:rPr>
              <a:t>مَبْنِيَّةٌ</a:t>
            </a:r>
            <a:pPr rtl="1" algn="ctr" indent="0" marL="0">
              <a:buNone/>
            </a:pPr>
            <a:r>
              <a:rPr lang="ar-SA" altLang="en-US" sz="2000" b="1" dirty="0">
                <a:solidFill>
                  <a:srgbClr val="1B3B6F"/>
                </a:solidFill>
                <a:latin typeface="Amiri" pitchFamily="34" charset="0"/>
                <a:ea typeface="Amiri" pitchFamily="34" charset="-122"/>
                <a:cs typeface="Amiri" pitchFamily="34" charset="-120"/>
              </a:rPr>
              <a:t> مِنَ الزُّجَاجِ.</a:t>
            </a:r>
            <a:endParaRPr lang="ar-SA" sz="2000" dirty="0"/>
          </a:p>
        </p:txBody>
      </p:sp>
      <p:sp>
        <p:nvSpPr>
          <p:cNvPr id="42" name="Text 39"/>
          <p:cNvSpPr txBox="1"/>
          <p:nvPr/>
        </p:nvSpPr>
        <p:spPr>
          <a:xfrm>
            <a:off x="292608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العِمَارَةُ مَبْنِيٌّ مِنَ الزُّجَاجِ.</a:t>
            </a:r>
            <a:endParaRPr lang="ar-SA" sz="2000" dirty="0"/>
          </a:p>
        </p:txBody>
      </p:sp>
      <p:sp>
        <p:nvSpPr>
          <p:cNvPr id="43" name="Text 40"/>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Description (L05, L07)</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253728" y="521573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missing anna</a:t>
            </a:r>
            <a:endParaRPr lang="en-US" sz="1100" dirty="0"/>
          </a:p>
        </p:txBody>
      </p:sp>
      <p:sp>
        <p:nvSpPr>
          <p:cNvPr id="46" name="Text 43"/>
          <p:cNvSpPr txBox="1"/>
          <p:nvPr/>
        </p:nvSpPr>
        <p:spPr>
          <a:xfrm>
            <a:off x="5943600" y="5215738"/>
            <a:ext cx="310896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مِنْ مَزَايَا مَدِينَتِي </a:t>
            </a:r>
            <a:pPr rtl="1" algn="ctr" indent="0" marL="0">
              <a:buNone/>
            </a:pPr>
            <a:r>
              <a:rPr lang="ar-SA" altLang="en-US" sz="1750" b="1" dirty="0">
                <a:solidFill>
                  <a:srgbClr val="0E7C86"/>
                </a:solidFill>
                <a:latin typeface="Amiri" pitchFamily="34" charset="0"/>
                <a:ea typeface="Amiri" pitchFamily="34" charset="-122"/>
                <a:cs typeface="Amiri" pitchFamily="34" charset="-120"/>
              </a:rPr>
              <a:t>أَنَّ</a:t>
            </a:r>
            <a:pPr rtl="1" algn="ctr" indent="0" marL="0">
              <a:buNone/>
            </a:pPr>
            <a:r>
              <a:rPr lang="ar-SA" altLang="en-US" sz="1750" b="1" dirty="0">
                <a:solidFill>
                  <a:srgbClr val="1B3B6F"/>
                </a:solidFill>
                <a:latin typeface="Amiri" pitchFamily="34" charset="0"/>
                <a:ea typeface="Amiri" pitchFamily="34" charset="-122"/>
                <a:cs typeface="Amiri" pitchFamily="34" charset="-120"/>
              </a:rPr>
              <a:t> المَوَاصَلَاتِ رَخِيصَةٌ.</a:t>
            </a:r>
            <a:endParaRPr lang="ar-SA" sz="1750" dirty="0"/>
          </a:p>
        </p:txBody>
      </p:sp>
      <p:sp>
        <p:nvSpPr>
          <p:cNvPr id="47" name="Text 44"/>
          <p:cNvSpPr txBox="1"/>
          <p:nvPr/>
        </p:nvSpPr>
        <p:spPr>
          <a:xfrm>
            <a:off x="2926080" y="5215738"/>
            <a:ext cx="28346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مِنْ مَزَايَا مَدِينَتِي المَوَاصَلَاتُ رَخِيصَةٌ.</a:t>
            </a:r>
            <a:endParaRPr lang="ar-SA" sz="1750" dirty="0"/>
          </a:p>
        </p:txBody>
      </p:sp>
      <p:sp>
        <p:nvSpPr>
          <p:cNvPr id="48" name="Text 45"/>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Balanced view (L05)</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Traffic-light each row for yourself: green · amber · red. Your reddest row is your priority (</a:t>
            </a:r>
            <a:pPr algn="l" indent="0" marL="0">
              <a:buNone/>
            </a:pPr>
            <a:r>
              <a:rPr lang="ar-SA" altLang="en-US" sz="1500" b="1" dirty="0">
                <a:solidFill>
                  <a:srgbClr val="1B3B6F"/>
                </a:solidFill>
                <a:latin typeface="Amiri" pitchFamily="34" charset="0"/>
                <a:ea typeface="Amiri" pitchFamily="34" charset="-122"/>
                <a:cs typeface="Amiri" pitchFamily="34" charset="-120"/>
              </a:rPr>
              <a:t>أَوْلَوِيَّةٌ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REPAIR ROUTINE (WEBSITE COMMON ERROR)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Diagnose, explain,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شَخِّصْ · اِشْرَحْ ·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DIAGNOSE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 الَّذِي يَتَحَكَّمُ؟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يُوجَدُ مَدْرَسَةٌ.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What controls the verb? The noun: madrasa.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Find the controller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EXPLAIN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 الاِسْمَ مُؤَنَّثٌ</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لِأَنَّ الاِسْمَ مُؤَنَّثٌ.</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Because the noun is feminine.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the rule in one line.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F7A4D"/>
          </a:solidFill>
          <a:ln w="12700">
            <a:solidFill>
              <a:srgbClr val="1F7A4D"/>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REPAIR</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تُوجَدُ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تُوجَدُ مَدْرَسَةٌ.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school.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Now the fix is reusable.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fixing only the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العِمَارَةُ مَبْنِيَّةٌ مِنَ الزُّجَاجِ.</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العِمَارَةُ مَبْنِيٌّ إِلَى الزُّجَاجِ.</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Complete F6 grammar audit and error analysis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 وَتَحْلِيلُ الأَخْطَاءِ</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Existence and agreement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يُوجَدُ مُذَكَّرٌ · تُوجَدُ مُؤَنَّثٌ</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يُوجَدُ مَسْجِدٌ قَرِيبٌ.   ·   تُوجَدُ مَحَطَّةٌ قَرِيبَةٌ.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Movement and directions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بِـ / عَلَى / مَشْيًا · أَمْرٌ مُذَكَّرٌ / مُؤَنَّثٌ / جَمْعٌ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أَذْهَبُ بِالحَافِلَةِ.   ·   اِنْعَطِفِي يَمِينًا.   ·   اِمْشُوا حَتَّى الجِسْرِ.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Description and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تَتَمَيَّزُ بِـ · مَبْنِيٌّ مِنْ · أَرْخَصُ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تَتَمَيَّزُ المَدِينَةُ بِأَسْوَاقِهَا.   ·   العِمَارَةُ مَبْنِيَّةٌ مِنَ الخَرَسَانَةِ.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Balanced extended communication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أَنَّ / مِنْ عُيُوبِ... أَنَّ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مَزَايَا مَدِينَتِي أَنَّ المَوَاصَلَاتِ رَخِيصَةٌ.   ·   مِنْ عُيُوبِهَا أَنَّ الشَّوَارِعَ مُكْتَظَّةٌ.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يُوجَدُ مَدْرَسَةٌ.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مَدْرَسٌ.</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هُنَاكَ المَدْرَسَةَ.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مَدْرَسَةٌ.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أُسَافِرُ عَلَى الحَافِلَةِ.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بِالحَافِلَةِ.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مَشْيًا الحَافِلَةَ.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الحَافِلَةُ.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Command a group to go right.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اِذْهَبِي يَمِينًا.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اِذْهَبُوا يَمِينًا.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 يَمِينًا.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العِمَارَةُ مَبْنِيٌّ مِنَ الزُّجَاجِ.</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العِمَارَةُ مَبْنِيَّةٌ مِنَ الزُّجَاجِ.</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العِمَارَةُ مَبْنِيٌّ إِلَى الزُّجَاجِ.</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العِمَارَةُ بِنَايَةٌ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يُوجَدُ مَدْرَسَةٌ.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مَدْرَسٌ.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هُنَاكَ المَدْرَسَةَ.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مَدْرَسَةٌ.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noun requires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أُسَافِرُ عَلَى الحَافِلَةِ.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أُسَافِرُ بِالحَافِلَةِ.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 مَشْيًا الحَافِلَةَ.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 الحَافِلَةُ.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the bus.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Command a group to go right.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اِذْهَبِي يَمِينًا.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اِذْهَبُوا يَمِينًا.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اِذْهَبْ يَمِينًا.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plural command ends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العِمَارَةُ مَبْنِيٌّ مِنَ الزُّجَاجِ.</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العِمَارَةُ مَبْنِيَّةٌ مِنَ الزُّجَاجِ.</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العِمَارَةُ مَبْنِيٌّ إِلَى الزُّجَاجِ.</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العِمَارَةُ بِنَايَةٌ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participle agrees with feminine </a:t>
            </a:r>
            <a:pPr algn="l" indent="0" marL="0">
              <a:buNone/>
            </a:pPr>
            <a:r>
              <a:rPr lang="ar-SA" altLang="en-US" sz="1350" dirty="0">
                <a:solidFill>
                  <a:srgbClr val="8A6D1E"/>
                </a:solidFill>
                <a:latin typeface="Amiri" pitchFamily="34" charset="0"/>
                <a:ea typeface="Amiri" pitchFamily="34" charset="-122"/>
                <a:cs typeface="Amiri" pitchFamily="34" charset="-120"/>
              </a:rPr>
              <a:t>العِمَارَةُ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build one integrated answer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Place + existence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أَسْكُنُ فِي مَدِينَةٍ حَدِيثَةٍ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فِيهَا مَحَطَّاتٌ.</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plural → tūjadu.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Description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تَتَمَيَّزُ</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بِمَتْحَفٍ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مَبْنِيٍّ</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مِنَ الحَجَرِ.</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 after tatamayyazu; mabniyyin agrees.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Journey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أَذْهَبُ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المِتْرُو، وَ</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تَسْتَغْرِقُ</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الرِّحْلَةُ عِشْرِينَ دَقِيقَةً.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 + duration.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Balanced view</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مِنْ مَزَايَا المَدِينَةِ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المَوَاصَلَاتِ رَخِيصَةٌ.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 not forget anna.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F6 GRAMMAR</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أَسْكُنُ فِي مَدِينَةٍ حَدِيثَةٍ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فِيهَا مَحَطَّاتٌ وَحَدَائِقُ وَمَبَانٍ تَارِيخِيَّةٌ.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بِمَتْحَفٍ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مَبْنِيٍّ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الحَجَرِ. أَذْهَبُ إِلَى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بِالمِتْرُو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تَسْتَغْرِقُ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الرِّحْلَةُ عِشْرِينَ دَقِيقَةً.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مَزَايَا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المَدِينَةِ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المَوَاصَلَاتِ رَخِيصَةٌ،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عُيُوبِهَا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الشَّوَارِعَ مُكْتَظَّةٌ. هَدَفِي قَبْلَ التَّقْيِيمِ هُوَ مُرَاجَعَةُ أَفْعَالِ الأَمْرِ لِأَنِّي أَخْطَأْتُ فِي صِيغَةِ الجَمْعِ مَرَّتَيْنِ.</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 live in a modern city with stations, parks and historic buildings. It is known for a museum built of stone. I go to school by metro, and the journey takes twenty minutes. One advantage of the city is that transport is cheap; one disadvantage is that the streets are crowded. My target before the assessment is to revise commands, because I made mistakes with the plural form twice.</a:t>
            </a:r>
            <a:endParaRPr lang="en-US" sz="9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تُوجَدُ مَحَطَّةٌ قَرِيبَةٌ.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There is a nearby station.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Existence + gender agreement.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اِذْهَبُوا مُسْتَقِيمًا ثُمَّ اِنْعَطِفُوا.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Go straight then turn (group).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direction commands.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الحَافِلَةُ أَرْخَصُ مِنَ التَّاكْسِي.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bus is cheaper than the taxi.</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Price comparison.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عُيُوبِهَا أَنَّ الشَّوَارِعَ مُكْتَظَّةٌ.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disadvantage is crowded streets.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Balanced argument.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grammar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تُوجَدُ مَدْرَسَةٌ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يُوجَدُ مَسْجِدٌ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بِالحَافِلَةِ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اِذْهَبُوا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تَتَمَيَّزُ بِـ</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عُيُوبِ... أَنَّ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مَبْنِيَّةٌ مِنْ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Existence and agreement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Movement and directions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Description and argument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Existence and agreement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تُوجَدُ مَدْرَسَةٌ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يُوجَدُ مَسْجِدٌ</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Movement and directions</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بِالحَافِلَةِ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اِذْهَبُوا</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Description and argument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تَتَمَيَّزُ بِـ</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عُيُوبِ... أَنَّ</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مَبْنِيَّةٌ مِنْ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car.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ثَمَنُهَا؟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needs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 مَدِينَتِي...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بِـ</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يَتَمَيَّزُ المَدِينَةُ بِالسُّوقِ.</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المَدِينَةُ إِلَى السُّوقِ.</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المَدِينَةُ بِالسُّوقِ.</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المَدِينَةِ.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duration phrase.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يَسْتَغْرِقُ الرِّحْلَةُ سَاعَةٌ.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الرِّحْلَةُ تَسْتَغْرِقَ إِلَى سَاعَةٍ.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تَسْتَغْرِقُ الرِّحْلَةُ سَاعَةً.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car.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ثَمَنُهَا؟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سَيَّارَةٌ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needs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 بِـ</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 مَدِينَتِي...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بِـ</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argument frame introduces a clause with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يَتَمَيَّزُ المَدِينَةُ بِالسُّوقِ.</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 المَدِينَةُ إِلَى السُّوقِ.</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 المَدِينَةُ بِالسُّوقِ.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المَدِينَةِ.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subject → </a:t>
            </a:r>
            <a:pPr algn="l" indent="0" marL="0">
              <a:buNone/>
            </a:pPr>
            <a:r>
              <a:rPr lang="ar-SA" altLang="en-US" sz="1350" dirty="0">
                <a:solidFill>
                  <a:srgbClr val="8A6D1E"/>
                </a:solidFill>
                <a:latin typeface="Amiri" pitchFamily="34" charset="0"/>
                <a:ea typeface="Amiri" pitchFamily="34" charset="-122"/>
                <a:cs typeface="Amiri" pitchFamily="34" charset="-120"/>
              </a:rPr>
              <a:t>تَتَمَيَّزُ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duration phrase.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يَسْتَغْرِقُ الرِّحْلَةُ سَاعَةٌ.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الرِّحْلَةُ تَسْتَغْرِقَ إِلَى سَاعَةٍ.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تَسْتَغْرِقُ الرِّحْلَةُ سَاعَةً.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feminine </a:t>
            </a:r>
            <a:pPr algn="l" indent="0" marL="0">
              <a:buNone/>
            </a:pPr>
            <a:r>
              <a:rPr lang="ar-SA" altLang="en-US" sz="1350" dirty="0">
                <a:solidFill>
                  <a:srgbClr val="8A6D1E"/>
                </a:solidFill>
                <a:latin typeface="Amiri" pitchFamily="34" charset="0"/>
                <a:ea typeface="Amiri" pitchFamily="34" charset="-122"/>
                <a:cs typeface="Amiri" pitchFamily="34" charset="-120"/>
              </a:rPr>
              <a:t>تَسْتَغْرِقُ</a:t>
            </a:r>
            <a:pPr algn="l" indent="0" marL="0">
              <a:buNone/>
            </a:pPr>
            <a:r>
              <a:rPr lang="en-US" sz="1050" i="1" dirty="0">
                <a:solidFill>
                  <a:srgbClr val="8A6D1E"/>
                </a:solidFill>
                <a:latin typeface="Calibri" pitchFamily="34" charset="0"/>
                <a:ea typeface="Calibri" pitchFamily="34" charset="-122"/>
                <a:cs typeface="Calibri" pitchFamily="34" charset="-120"/>
              </a:rPr>
              <a:t> and an accusative duration.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يُوجَدُ مَحَطَّةٌ.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Station is feminine: which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اِذْهَبِي يَمِينًا يَا طُلَّابُ.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being addressed?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العِمَارَةُ مَبْنِيٌّ.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Building is feminine: which participle?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يُوجَدُ مَحَطَّةٌ.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تُوجَدُ مَحَطَّةٌ.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Existence verb agrees with feminine station.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اِذْهَبِي يَمِينًا يَا طُلَّابُ.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اِذْهَبُوا يَمِينًا يَا طُلَّابُ.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group of students: the -ū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العِمَارَةُ مَبْنِيٌّ.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العِمَارَةُ مَبْنِيَّةٌ.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participle agrees with feminine building.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Cumulative F6 review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distinguished by?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markets and stone buildings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airports and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beaches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train station?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outside the city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centre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reach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bicycle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more expensive?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cost the same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mentioned?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is unsafe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is sometimes delayed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no markets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for four families: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existence · transport · comparison · advantage.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مَدِينَةٍ تَارِيخِيَّةٍ تَتَمَيَّزُ بِأَسْوَاقِهَا وَمَبَانِيهَا المَبْنِيَّةِ مِنَ الحَجَرِ.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a historic city known for its markets and its stone buildings.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تُوجَدُ مَحَطَّةُ القِطَارِ فِي المَرْكَزِ، وَأَذْهَبُ إِلَيْهَا مَشْيًا.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station is in the centre, and I walk there.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القِطَارُ أَغْلَى مِنَ الحَافِلَةِ، وَلٰكِنَّهُ أَسْرَعُ وَتَسْتَغْرِقُ الرِّحْلَةُ أَرْبَعِينَ دَقِيقَةً.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is more expensive than the bus, but faster; the journey takes forty minutes.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مَزَايَا مَدِينَتِي أَنَّهَا آمِنَةٌ،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advantage of my city is that it is safe,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وَمِنْ عُيُوبِهَا أَنَّ المَوَاصَلَاتِ تَتَأَخَّرُ أَحْيَانًا.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one disadvantage is that transport is sometimes late.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distinguished by?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markets and stone buildings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airports and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beaches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أَسْوَاقِهَا وَمَبَانِيهَا المَبْنِيَّةِ مِنَ الحَجَرِ.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train station?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outside the city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airport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centre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المَرْكَزِ.</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reach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bicycle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أَذْهَبُ إِلَيْهَا مَشْيًا.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more expensive?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cost the same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القِطَارُ أَغْلَى مِنَ الحَافِلَةِ.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mentioned?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is unsafe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transport is sometimes delayed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are no markets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المَوَاصَلَاتِ تَتَأَخَّرُ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for four families: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existence · transport · comparison · advantage.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Full F6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مَدِينَتَكَ وَأَهَمَّ أَمَاكِنِهَا.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تَتَنَقَّلُ فِي مَدِينَتِكَ؟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أَعْطِ اتِّجَاهَاتٍ مِنَ المَحَطَّةِ إِلَى المَسْجِدِ.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C9780A"/>
          </a:solidFill>
          <a:ln w="12700">
            <a:solidFill>
              <a:srgbClr val="C9780A"/>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مَزَايَا مَدِينَتِكَ وَعُيُوبُهَا؟</a:t>
            </a:r>
            <a:endParaRPr lang="ar-SA" sz="1800" dirty="0"/>
          </a:p>
        </p:txBody>
      </p:sp>
      <p:sp>
        <p:nvSpPr>
          <p:cNvPr id="46" name="Shape 43"/>
          <p:cNvSpPr/>
          <p:nvPr/>
        </p:nvSpPr>
        <p:spPr>
          <a:xfrm>
            <a:off x="4754880" y="4974336"/>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846320" y="5129784"/>
            <a:ext cx="960120" cy="256032"/>
          </a:xfrm>
          <a:prstGeom prst="roundRect">
            <a:avLst>
              <a:gd name="adj" fmla="val 50000"/>
            </a:avLst>
          </a:prstGeom>
          <a:solidFill>
            <a:srgbClr val="B83227"/>
          </a:solidFill>
          <a:ln w="12700">
            <a:solidFill>
              <a:srgbClr val="B83227"/>
            </a:solidFill>
            <a:prstDash val="solid"/>
          </a:ln>
        </p:spPr>
      </p:sp>
      <p:sp>
        <p:nvSpPr>
          <p:cNvPr id="48" name="Text 45"/>
          <p:cNvSpPr txBox="1"/>
          <p:nvPr/>
        </p:nvSpPr>
        <p:spPr>
          <a:xfrm>
            <a:off x="4846320" y="5129784"/>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9" name="Text 46"/>
          <p:cNvSpPr txBox="1"/>
          <p:nvPr/>
        </p:nvSpPr>
        <p:spPr>
          <a:xfrm>
            <a:off x="5897880" y="4974336"/>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مَبْنًى تُفَضِّلُ فِي مَدِينَتِكَ؟ وَلِمَاذَا؟</a:t>
            </a:r>
            <a:endParaRPr lang="ar-SA" sz="1800" dirty="0"/>
          </a:p>
        </p:txBody>
      </p:sp>
      <p:sp>
        <p:nvSpPr>
          <p:cNvPr id="50" name="Shape 47"/>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1" name="Text 48"/>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2" name="Shape 49"/>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أَسْكُنُ فِي … · تُوجَدُ فِيهَا …</a:t>
            </a:r>
            <a:endParaRPr lang="ar-SA" sz="1600" dirty="0"/>
          </a:p>
        </p:txBody>
      </p:sp>
      <p:sp>
        <p:nvSpPr>
          <p:cNvPr id="55" name="Shape 52"/>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أَتَنَقَّلُ بِـ … لِأَنَّهُ …</a:t>
            </a:r>
            <a:endParaRPr lang="ar-SA" sz="1600" dirty="0"/>
          </a:p>
        </p:txBody>
      </p:sp>
      <p:sp>
        <p:nvSpPr>
          <p:cNvPr id="58" name="Shape 55"/>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9" name="Text 56"/>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60" name="Text 57"/>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اِذْهَبْ مُسْتَقِيمًا ثُمَّ اِنْعَطِفْ …</a:t>
            </a:r>
            <a:endParaRPr lang="ar-SA" sz="1600" dirty="0"/>
          </a:p>
        </p:txBody>
      </p:sp>
      <p:sp>
        <p:nvSpPr>
          <p:cNvPr id="61" name="Shape 58"/>
          <p:cNvSpPr/>
          <p:nvPr/>
        </p:nvSpPr>
        <p:spPr>
          <a:xfrm>
            <a:off x="640080" y="4681728"/>
            <a:ext cx="1051560" cy="256032"/>
          </a:xfrm>
          <a:prstGeom prst="roundRect">
            <a:avLst>
              <a:gd name="adj" fmla="val 50000"/>
            </a:avLst>
          </a:prstGeom>
          <a:solidFill>
            <a:srgbClr val="C9780A"/>
          </a:solidFill>
          <a:ln w="12700">
            <a:solidFill>
              <a:srgbClr val="C9780A"/>
            </a:solidFill>
            <a:prstDash val="solid"/>
          </a:ln>
        </p:spPr>
      </p:sp>
      <p:sp>
        <p:nvSpPr>
          <p:cNvPr id="62" name="Text 59"/>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63" name="Text 60"/>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مَزَايَاهَا أَنَّ … وَمِنْ عُيُوبِهَا أَنَّ …</a:t>
            </a:r>
            <a:endParaRPr lang="ar-SA" sz="1600" dirty="0"/>
          </a:p>
        </p:txBody>
      </p:sp>
      <p:sp>
        <p:nvSpPr>
          <p:cNvPr id="64" name="Shape 61"/>
          <p:cNvSpPr/>
          <p:nvPr/>
        </p:nvSpPr>
        <p:spPr>
          <a:xfrm>
            <a:off x="640080" y="5239512"/>
            <a:ext cx="1051560" cy="256032"/>
          </a:xfrm>
          <a:prstGeom prst="roundRect">
            <a:avLst>
              <a:gd name="adj" fmla="val 50000"/>
            </a:avLst>
          </a:prstGeom>
          <a:solidFill>
            <a:srgbClr val="B83227"/>
          </a:solidFill>
          <a:ln w="12700">
            <a:solidFill>
              <a:srgbClr val="B83227"/>
            </a:solidFill>
            <a:prstDash val="solid"/>
          </a:ln>
        </p:spPr>
      </p:sp>
      <p:sp>
        <p:nvSpPr>
          <p:cNvPr id="65" name="Text 62"/>
          <p:cNvSpPr txBox="1"/>
          <p:nvPr/>
        </p:nvSpPr>
        <p:spPr>
          <a:xfrm>
            <a:off x="640080" y="5239512"/>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6" name="Text 63"/>
          <p:cNvSpPr txBox="1"/>
          <p:nvPr/>
        </p:nvSpPr>
        <p:spPr>
          <a:xfrm>
            <a:off x="1783080" y="5084064"/>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 لِأَنَّهُ مَبْنِيٌّ مِنْ …</a:t>
            </a:r>
            <a:endParaRPr lang="ar-SA" sz="1600" dirty="0"/>
          </a:p>
        </p:txBody>
      </p:sp>
      <p:sp>
        <p:nvSpPr>
          <p:cNvPr id="67" name="Shape 64"/>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9" name="Shape 66"/>
          <p:cNvSpPr/>
          <p:nvPr/>
        </p:nvSpPr>
        <p:spPr>
          <a:xfrm>
            <a:off x="11274552" y="5559552"/>
            <a:ext cx="292608" cy="292608"/>
          </a:xfrm>
          <a:prstGeom prst="ellipse">
            <a:avLst/>
          </a:prstGeom>
          <a:solidFill>
            <a:srgbClr val="1E6B52"/>
          </a:solidFill>
          <a:ln w="12700">
            <a:solidFill>
              <a:srgbClr val="1E6B52"/>
            </a:solidFill>
            <a:prstDash val="solid"/>
          </a:ln>
        </p:spPr>
      </p:sp>
      <p:sp>
        <p:nvSpPr>
          <p:cNvPr id="70" name="Text 67"/>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71" name="Text 68"/>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مَدِينَتَكَ وَمَوَاصَلَاتِهَا.</a:t>
            </a:r>
            <a:endParaRPr lang="ar-SA" sz="1550" dirty="0"/>
          </a:p>
        </p:txBody>
      </p:sp>
      <p:sp>
        <p:nvSpPr>
          <p:cNvPr id="72" name="Text 69"/>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city and transport.</a:t>
            </a:r>
            <a:endParaRPr lang="en-US" sz="950" dirty="0"/>
          </a:p>
        </p:txBody>
      </p:sp>
      <p:sp>
        <p:nvSpPr>
          <p:cNvPr id="73" name="Shape 70"/>
          <p:cNvSpPr/>
          <p:nvPr/>
        </p:nvSpPr>
        <p:spPr>
          <a:xfrm>
            <a:off x="11274552" y="5925312"/>
            <a:ext cx="292608" cy="292608"/>
          </a:xfrm>
          <a:prstGeom prst="ellipse">
            <a:avLst/>
          </a:prstGeom>
          <a:solidFill>
            <a:srgbClr val="1E6B52"/>
          </a:solidFill>
          <a:ln w="12700">
            <a:solidFill>
              <a:srgbClr val="1E6B52"/>
            </a:solidFill>
            <a:prstDash val="solid"/>
          </a:ln>
        </p:spPr>
      </p:sp>
      <p:sp>
        <p:nvSpPr>
          <p:cNvPr id="74" name="Text 71"/>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5" name="Text 72"/>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مَدِينَتِي حَدِيثَةٌ وَتُوجَدُ فِيهَا أَمَاكِنُ كَثِيرَةٌ. أَتَنَقَّلُ بِالمِتْرُو لِأَنَّهُ سَرِيعٌ.</a:t>
            </a:r>
            <a:endParaRPr lang="ar-SA" sz="1550" dirty="0"/>
          </a:p>
        </p:txBody>
      </p:sp>
      <p:sp>
        <p:nvSpPr>
          <p:cNvPr id="76" name="Text 73"/>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My city is modern and has many places. I travel by metro because it is fast.</a:t>
            </a:r>
            <a:endParaRPr lang="en-US" sz="9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targeted repair on the two weakest grammar families.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Repair five sentences from the audit table, then write your own town sentence for each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Produce a full integrated response and explain corrections.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portfolio task: places, transport, directions, opinion, four grammar families, and a target.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Lead a peer clinic, justify every repair and complete an extended self-assessment.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Portfolio + repair three deliberate errors in your draft and explain each one.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مَدِينَتِي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town is known for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لِلذَّهَابِ إِلَى المَسْجِدِ، اِذْهَبْ ______ ثُمَّ اِنْعَطِفْ ______ .</a:t>
            </a:r>
            <a:endParaRPr lang="ar-SA" sz="13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get to the mosque, go … then turn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الحَافِلَةُ أَرْخَصُ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bus is cheaper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مِنْ مَزَايَاهَا أَنَّ ______ ، وَمِنْ عُيُوبِهَا أَنَّ ______ .</a:t>
            </a:r>
            <a:endParaRPr lang="ar-SA" sz="14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 one disadvantage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______ لِأَنِّي أَخْطَأْتُ 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target is … because I made mistakes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يُوجَدُ / تُوجَدُ فِي مَدِينَتِي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 in my town.</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بِـ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by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تَسْتَغْرِقُ الرِّحْلَةُ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journey takes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الـ ______ مَبْنِيٌّ / مَبْنِيَّةٌ مِنَ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is built of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أَوْلَوِيَّتِي هِيَ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priority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يُوجَدُ  ·  تُوجَدُ  ·  بِالحَافِلَةِ  ·  مَشْيًا  ·  تَسْتَغْرِقُ  ·  أَرْخَصُ مِنْ  ·  تَتَمَيَّزُ بِـ  ·  مَبْنِيَّةٌ مِنْ  ·  اِذْهَبُوا  ·  مِنْ مَزَايَا … أَنَّ  ·  أَوْلَوِيَّةٌ  ·  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Produce a final F6 portfolio response and an evidence-based assessment target.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places, transport, directions and built-environment language.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four different grammar families.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Repair three deliberate errors in your first draft.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Set one precise target supported by evidence.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غَيَّرْتُ … إِلَى … لِأَنَّ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changed … to … because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نُقْطَةُ قُوَّتِي هِيَ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strength is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أَخْطَأْتُ فِي … مَرَّتَيْنِ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made mistakes in … twice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أَصْبَحَ نَصِّي أَدَقَّ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text became more accurate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مَدِينَةٍ حَدِيثَةٍ تُوجَدُ فِيهَا مَحَطَّاتٌ وَحَدَائِقُ وَمَبَانٍ تَارِيخِيَّةٌ. تَتَمَيَّزُ بِمَتْحَفٍ مَبْنِيٍّ مِنَ الحَجَرِ. أَذْهَبُ إِلَى المَدْرَسَةِ بِالمِتْرُو، وَتَسْتَغْرِقُ الرِّحْلَةُ عِشْرِينَ دَقِيقَةً. مِنْ مَزَايَا المَدِينَةِ أَنَّ المَوَاصَلَاتِ رَخِيصَةٌ، وَمِنْ عُيُوبِهَا أَنَّ الشَّوَارِعَ مُكْتَظَّةٌ. هَدَفِي قَبْلَ التَّقْيِيمِ هُوَ مُرَاجَعَةُ أَفْعَالِ الأَمْرِ لِأَنِّي أَخْطَأْتُ فِي صِيغَةِ الجَمْعِ مَرَّتَيْنِ.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modern city with stations, parks and historic buildings. It is known for a museum built of stone. I go to school by metro, and the journey takes twenty minutes. One advantage is that transport is cheap; one disadvantage is that the streets are crowded. My target before the assessment is to revise commands, because I made mistakes with the plural form twice.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existence + agreement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transport pattern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balanced view with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evidence-based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Existence verbs agree with the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Transport: bi- / ʿalā / mashyan correct.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why each correction is needed.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four grammar families.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target names a rule and my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existence form matches </a:t>
            </a:r>
            <a:pPr algn="l" indent="0" marL="0">
              <a:buNone/>
            </a:pPr>
            <a:r>
              <a:rPr lang="ar-SA" altLang="en-US" sz="1650" b="1" dirty="0">
                <a:solidFill>
                  <a:srgbClr val="1B3B6F"/>
                </a:solidFill>
                <a:latin typeface="Amiri" pitchFamily="34" charset="0"/>
                <a:ea typeface="Amiri" pitchFamily="34" charset="-122"/>
                <a:cs typeface="Amiri" pitchFamily="34" charset="-120"/>
              </a:rPr>
              <a:t>مَحَطَّةٌ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group command?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اِذْهَبْ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الزُّجَاجِ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مَبْنِيَّاتٌ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existence form matches </a:t>
            </a:r>
            <a:pPr algn="l" indent="0" marL="0">
              <a:buNone/>
            </a:pPr>
            <a:r>
              <a:rPr lang="ar-SA" altLang="en-US" sz="1650" b="1" dirty="0">
                <a:solidFill>
                  <a:srgbClr val="1B3B6F"/>
                </a:solidFill>
                <a:latin typeface="Amiri" pitchFamily="34" charset="0"/>
                <a:ea typeface="Amiri" pitchFamily="34" charset="-122"/>
                <a:cs typeface="Amiri" pitchFamily="34" charset="-120"/>
              </a:rPr>
              <a:t>مَحَطَّةٌ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تُوجَدُ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مَحَطَّةٌ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group command?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اِذْهَبِي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اِذْهَبُوا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اِذْهَبْ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plural form ends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الزُّجَاجِ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مَبْنِيَّةٌ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مَبْنِيَّاتٌ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participle agrees with </a:t>
            </a:r>
            <a:pPr algn="l" indent="0" marL="0">
              <a:buNone/>
            </a:pPr>
            <a:r>
              <a:rPr lang="ar-SA" altLang="en-US" sz="1350" dirty="0">
                <a:solidFill>
                  <a:srgbClr val="8A6D1E"/>
                </a:solidFill>
                <a:latin typeface="Amiri" pitchFamily="34" charset="0"/>
                <a:ea typeface="Amiri" pitchFamily="34" charset="-122"/>
                <a:cs typeface="Amiri" pitchFamily="34" charset="-120"/>
              </a:rPr>
              <a:t>العِمَارَةُ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Error-analysis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رَاجَعَتْ لَيْلَى كِتَابَتَهَا فَوَجَدَتْ أَرْبَعَةَ أَخْطَاءٍ. كَتَبَتْ «يُوجَدُ مَدْرَسَةٌ»، فَغَيَّرَتْهَا إِلَى «تُوجَدُ مَدْرَسَةٌ» لِأَنَّ الاِسْمَ مُؤَنَّثٌ. وَكَتَبَتْ «أُسَافِرُ عَلَى الحَافِلَةِ»، فَاسْتَعْمَلَتْ «بِالحَافِلَةِ». ثُمَّ صَحَّحَتْ «العِمَارَةُ مَبْنِيٌّ» إِلَى «مَبْنِيَّةٌ». وَأَضَافَتْ «أَنَّ» بَعْدَ «مِنْ مَزَايَا مَدِينَتِي». بَعْدَ التَّصْحِيحِ أَصْبَحَ نَصُّهَا أَدَقَّ وَأَوْضَحَ.</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رَاجَعَتْ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reviewed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كِتَابَتَهَا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writing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فَوَجَدَتْ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she found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أَرْبَعَةَ أَخْطَاءٍ</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four mistakes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فَغَيَّرَتْهَا إِلَى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she changed it to</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لِأَنَّ الاِسْمَ مُؤَنَّثٌ</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because the noun is feminine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فَاسْتَعْمَلَتْ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she used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صَحَّحَتْ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corrected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وَأَضَافَتْ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she added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أَدَقَّ وَأَوْضَحَ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accurate and clearer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errors did Layla find?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she use </a:t>
            </a:r>
            <a:pPr algn="l" indent="0" marL="0">
              <a:buNone/>
            </a:pPr>
            <a:r>
              <a:rPr lang="ar-SA" altLang="en-US" sz="1650" b="1" dirty="0">
                <a:solidFill>
                  <a:srgbClr val="1B3B6F"/>
                </a:solidFill>
                <a:latin typeface="Amiri" pitchFamily="34" charset="0"/>
                <a:ea typeface="Amiri" pitchFamily="34" charset="-122"/>
                <a:cs typeface="Amiri" pitchFamily="34" charset="-120"/>
              </a:rPr>
              <a:t>تُوجَدُ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sentence was past tense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place was far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noun was feminine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phrase did she correct?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بِالحَافِلَةِ</a:t>
            </a:r>
            <a:endParaRPr lang="ar-SA" sz="20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الدَّرَّاجَةِ</a:t>
            </a:r>
            <a:endParaRPr lang="ar-SA" sz="20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agreed with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مَبْنِيُّونَ</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did she add after the advantage frame?</a:t>
            </a:r>
            <a:endParaRPr lang="en-US" sz="120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improved after correction?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word count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handwriting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 and clarity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errors did Layla find?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أَخْطَاءٍ.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she use </a:t>
            </a:r>
            <a:pPr algn="l" indent="0" marL="0">
              <a:buNone/>
            </a:pPr>
            <a:r>
              <a:rPr lang="ar-SA" altLang="en-US" sz="1650" b="1" dirty="0">
                <a:solidFill>
                  <a:srgbClr val="1B3B6F"/>
                </a:solidFill>
                <a:latin typeface="Amiri" pitchFamily="34" charset="0"/>
                <a:ea typeface="Amiri" pitchFamily="34" charset="-122"/>
                <a:cs typeface="Amiri" pitchFamily="34" charset="-120"/>
              </a:rPr>
              <a:t>تُوجَدُ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sentence was past tense</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place was far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noun was feminine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الاِسْمَ مُؤَنَّثٌ.</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phrase did she correct?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بِالحَافِلَةِ</a:t>
            </a:r>
            <a:endParaRPr lang="ar-SA" sz="170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الدَّرَّاجَةِ</a:t>
            </a:r>
            <a:endParaRPr lang="ar-SA" sz="17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changed </a:t>
            </a:r>
            <a:pPr algn="l" indent="0" marL="0">
              <a:buNone/>
            </a:pPr>
            <a:r>
              <a:rPr lang="ar-SA" altLang="en-US" sz="1350" dirty="0">
                <a:solidFill>
                  <a:srgbClr val="8A6D1E"/>
                </a:solidFill>
                <a:latin typeface="Amiri" pitchFamily="34" charset="0"/>
                <a:ea typeface="Amiri" pitchFamily="34" charset="-122"/>
                <a:cs typeface="Amiri" pitchFamily="34" charset="-120"/>
              </a:rPr>
              <a:t>عَلَى الحَافِلَةِ</a:t>
            </a:r>
            <a:pPr algn="l" indent="0" marL="0">
              <a:buNone/>
            </a:pPr>
            <a:r>
              <a:rPr lang="en-US" sz="1050" i="1" dirty="0">
                <a:solidFill>
                  <a:srgbClr val="8A6D1E"/>
                </a:solidFill>
                <a:latin typeface="Calibri" pitchFamily="34" charset="0"/>
                <a:ea typeface="Calibri" pitchFamily="34" charset="-122"/>
                <a:cs typeface="Calibri" pitchFamily="34" charset="-120"/>
              </a:rPr>
              <a:t> to </a:t>
            </a:r>
            <a:pPr algn="l" indent="0" marL="0">
              <a:buNone/>
            </a:pPr>
            <a:r>
              <a:rPr lang="ar-SA" altLang="en-US" sz="1350" dirty="0">
                <a:solidFill>
                  <a:srgbClr val="8A6D1E"/>
                </a:solidFill>
                <a:latin typeface="Amiri" pitchFamily="34" charset="0"/>
                <a:ea typeface="Amiri" pitchFamily="34" charset="-122"/>
                <a:cs typeface="Amiri" pitchFamily="34" charset="-120"/>
              </a:rPr>
              <a:t>بِالحَافِلَةِ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agreed with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مَبْنِيَّةٌ</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مَبْنِيُّونَ</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corrected it to feminine </a:t>
            </a:r>
            <a:pPr algn="l" indent="0" marL="0">
              <a:buNone/>
            </a:pPr>
            <a:r>
              <a:rPr lang="ar-SA" altLang="en-US" sz="1350" dirty="0">
                <a:solidFill>
                  <a:srgbClr val="8A6D1E"/>
                </a:solidFill>
                <a:latin typeface="Amiri" pitchFamily="34" charset="0"/>
                <a:ea typeface="Amiri" pitchFamily="34" charset="-122"/>
                <a:cs typeface="Amiri" pitchFamily="34" charset="-120"/>
              </a:rPr>
              <a:t>مَبْنِيَّةٌ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did she add after the advantage frame?</a:t>
            </a:r>
            <a:endParaRPr lang="en-US" sz="120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added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improved after correction?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word count</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handwriting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 and clarity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أَدَقَّ وَأَوْضَحَ.</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F6-L12 · F6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skill</a:t>
            </a:r>
            <a:pPr indent="0" marL="0">
              <a:buNone/>
            </a:pPr>
            <a:r>
              <a:rPr lang="en-US" sz="1000" i="1" dirty="0">
                <a:solidFill>
                  <a:srgbClr val="5A6472"/>
                </a:solidFill>
                <a:latin typeface="Calibri" pitchFamily="34" charset="0"/>
                <a:ea typeface="Calibri" pitchFamily="34" charset="-122"/>
                <a:cs typeface="Calibri" pitchFamily="34" charset="-120"/>
              </a:rPr>
              <a:t>  pl. مَهَارَاتٌ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mark / score</a:t>
            </a:r>
            <a:pPr indent="0" marL="0">
              <a:buNone/>
            </a:pPr>
            <a:r>
              <a:rPr lang="en-US" sz="1000" i="1" dirty="0">
                <a:solidFill>
                  <a:srgbClr val="5A6472"/>
                </a:solidFill>
                <a:latin typeface="Calibri" pitchFamily="34" charset="0"/>
                <a:ea typeface="Calibri" pitchFamily="34" charset="-122"/>
                <a:cs typeface="Calibri" pitchFamily="34" charset="-120"/>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تَعْلِيمَاتٌ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instructions</a:t>
            </a:r>
            <a:pPr indent="0" marL="0">
              <a:buNone/>
            </a:pPr>
            <a:r>
              <a:rPr lang="en-US" sz="1000" i="1" dirty="0">
                <a:solidFill>
                  <a:srgbClr val="5A6472"/>
                </a:solidFill>
                <a:latin typeface="Calibri" pitchFamily="34" charset="0"/>
                <a:ea typeface="Calibri" pitchFamily="34" charset="-122"/>
                <a:cs typeface="Calibri" pitchFamily="34" charset="-120"/>
              </a:rPr>
              <a:t>  sing. تَعْلِيمَةٌ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revise / check</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your reddest row from the audit table: write three correct sentences using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أَوْلَوِيَّتِي: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F6-L11: redo the quiz and the sorter;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portfolio task: final F6 response (80–100 words) with an evidence-based target.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Portfolio + three repaired errors with explanations; practise the five conversation questions for one minute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F6-L12 · F6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find what controls the form — the noun, the person or the transport — then explain, then repair.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F6-L11 · F6 Consolidation: Complete Town and Transport Review</dc:title>
  <dc:subject>PptxGenJS Presentation</dc:subject>
  <dc:creator>Al Madina Online School · Arabic Department</dc:creator>
  <cp:lastModifiedBy>Al Madina Online School · Arabic Department</cp:lastModifiedBy>
  <cp:revision>1</cp:revision>
  <dcterms:created xsi:type="dcterms:W3CDTF">2026-09-27T22:22:41Z</dcterms:created>
  <dcterms:modified xsi:type="dcterms:W3CDTF">2026-09-27T22:22:41Z</dcterms:modified>
</cp:coreProperties>
</file>