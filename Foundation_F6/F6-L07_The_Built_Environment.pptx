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F6 My Town and Transport › F6-L07. The website lesson “The Built Environment: Buildings, Materials and Urban Life”: vocabulary, grammar rules and quiz, patterns, common mistakes, sorter, listening, reading, speaking prompts and model, writing task and model, differentiation, final check and the lesson mission. Picture match: website visual game “The Built Environment: Buildings, Materials and Urban Life”.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match four buildings to their materials — البَيْتُ مَبْنِيٌّ مِنَ الحَجَرِ.
• Develop: an accurate comparison with agreement (مَبْنِيٌّ / مَبْنِيَّةٌ) and بَيْنَمَا.
• Stretch: analyse how a contemporary building can respect heritage and propose one design feature.
• Website: “Cultural comparison should notice diversity within the Arab world and avoid presenting one building style as universal.”
• Link: the same agreement rule as F6-L05 — the building decides: m. building → مَبْنِيٌّ, f. building → مَبْنِيَّةٌ.
• Invite examples students know: mosques with domes (قُبَّةٌ) and minarets (مِئْذَنَةٌ), skyscrapers in the Gulf, mud-brick towns (e.g. Shibam in Yemen).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F6-L06. Questions 3–5 retrieve F6-L06 (price suffix, comparative) and F6-L05 (tatamayyazu).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building decides the ending: a house is مَبْنِيٌّ, a school is مَبْنِيَّةٌ.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عمارت (a building) = Arabic عِمَارَةٌ (an apartment block). معمار (Urdu: builder, mason) → مِعْمَارٌ (architecture). قلعہ (as in Lahore Fort) = قَلْعَةٌ. ورثہ / میراث (inheritance) share the root of تُرَاثٌ (heritage). معدنیات (minerals) → مَعْدِنٌ (metal).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Building materials (website vocabulary (1 of 2)). Hear → Say → See → Use. Transliteration is printed for Core students (cover it for Develop/Stretch).
Materials: after مِنْ + الـ they end in -i: مِنَ الحَجَرِ، مِنَ الطُّوبِ، مِنَ الزُّجَاجِ.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Building materials (website vocabulary (2 of 2)). Hear → Say → See → Use. Transliteration is printed for Core students (cover it for Develop/Stretch).
Materials: after مِنْ + الـ they end in -i: مِنَ الحَجَرِ، مِنَ الطُّوبِ، مِنَ الزُّجَاجِ.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Buildings and settlement types (website vocabulary (1 of 2)). Hear → Say → See → Use. Transliteration is printed for Core students (cover it for Develop/Stretch).
نَاطِحَةُ سَحَابٍ = “cloud-butter” (skyscraper) — students enjoy the image. Detached / semi-detached are useful for UK homes.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Buildings and settlement types (website vocabulary (2 of 2)). Hear → Say → See → Use. Transliteration is printed for Core students (cover it for Develop/Stretch).
نَاطِحَةُ سَحَابٍ = “cloud-butter” (skyscraper) — students enjoy the image. Detached / semi-detached are useful for UK homes.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Architecture and comparison (website vocabulary (1 of 2)). Hear → Say → See → Use. Transliteration is printed for Core students (cover it for Develop/Stretch).
FLEX: teach if time allows; otherwise these are on the website vocabulary tab for homework.
FLEX: architecture adjectives with m. / f. — the same agreement rule as F6-L05.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Architecture and comparison (website vocabulary (2 of 2)). Hear → Say → See → Use. Transliteration is printed for Core students (cover it for Develop/Stretch).
FLEX: teach if time allows; otherwise these are on the website vocabulary tab for homework.
FLEX: architecture adjectives with m. / f. — the same agreement rule as F6-L05.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“Describe a masculine building material” (بَيْتٌ، مَسْجِدٌ، جِسْرٌ → مَبْنِيٌّ مِنْ) and “… a feminine building material” (مَدْرَسَةٌ، عِمَارَةٌ → مَبْنِيَّةٌ مِنْ).
Website overview: “The passive participle agrees with the building noun.”
Website common error: العِمَارَةُ مَبْنِيٌّ ✗ → مَبْنِيَّةٌ ✓. Question (website speaking): مِمَّ بُنِيَ …؟ (= مِنْ + مَا).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“Describe architectural identity” (يَتَمَيَّزُ / تَتَمَيَّزُ بِـ from the subject’s gender) and “Contrast city and countryside” (…، بَيْنَمَا … — each side a complete idea that creates a meaningful contrast).
Website example: تَكْثُرُ نَاطِحَاتُ السَّحَابِ فِي المَدِينَةِ، بَيْنَمَا تَكْثُرُ البُيُوتُ الفَسِيحَةُ فِي الرِّيفِ.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“Describe what a building is made of with مَبْنِيٌّ مِنْ. The passive participle agrees with the building noun. Use بَيْنَمَا to compare genuinely different urban and rural features.”
• Describe a masculine building material: Use مَبْنِيٌّ with masculine nouns such as بَيْتٌ, مَسْجِدٌ and جِسْرٌ.
• Describe a feminine building material: Use مَبْنِيَّةٌ with feminine nouns such as مَدْرَسَةٌ and عِمَارَةٌ.
• Describe architectural identity: Choose the verb form from the subject gender and attach the feature with بِـ.
• Contrast city and countryside: Each side should contain a complete idea that creates a meaningful contrast.
Website common error: Do not write العِمَارَةُ مَبْنِيٌّ. The feminine noun requires مَبْنِيَّةٌ.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writing model built step by step (both buildings are masculine; ask how sentence 2 would change for مَدْرَسَةٌ → مَبْنِيَّةٌ، تَتَمَيَّزُ).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The Built Environment: Buildings, Materials and Urban Life”)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All three buildings are masculine → مَبْنِيٌّ. Stretch: make item 1 feminine (العِمَارَةُ مَبْنِيَّةٌ مِنَ الطُّوبِ). Other website items: glass, a building project (مَشْرُوعُ بِنَاءٍ), urban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The Built Environment: Buildings, Materials and Urban Life”)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All three buildings are masculine → مَبْنِيٌّ. Stretch: make item 1 feminine (العِمَارَةُ مَبْنِيَّةٌ مِنَ الطُّوبِ). Other website items: glass, a building project (مَشْرُوعُ بِنَاءٍ), urban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Classify each noun.
After sorting, pair each building with a material in a sentence (… مَبْنِيٌّ / مَبْنِيَّةٌ مِنْ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Classify each noun.
After sorting, pair each building with a material in a sentence (… مَبْنِيٌّ / مَبْنِيَّةٌ مِنْ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then give your own preference.
Listen 1: just listen. Listen 2: note answers. Then chat the letters.
Support: after the second listening, show the read-along slide (Arabic + English, line by line) for Core students.
SCRIPT (read aloud):
فِي الحَيِّ القَدِيمِ بُيُوتٌ تَقْلِيدِيَّةٌ مَبْنِيَّةٌ مِنَ الحَجَرِ وَالطِّينِ. تَتَمَيَّزُ البُيُوتُ بِأَبْوَابِهَا الخَشَبِيَّةِ وَسَاحَاتِهَا الدَّاخِلِيَّةِ. أَمَّا فِي الحَيِّ الجَدِيدِ فَتُوجَدُ عِمَارَاتٌ مُعَاصِرَةٌ مَبْنِيَّةٌ مِنَ الخَرَسَانَةِ وَالزُّجَاجِ. الحَيُّ الجَدِيدُ مُكْتَنِزٌ، بَيْنَمَا الحَيُّ القَدِيمُ أَكْثَرُ هُدُوءًا.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كَيْفَ يَخْتَلِفُ عَنِ العِمَارَةِ الحَدِيثَةِ؟ (How does it differ from the modern block?)
B: البَيْتُ تَقْلِيدِيٌّ وَفَسِيحٌ، بَيْنَمَا العِمَارَةُ مُعَاصِرَةٌ وَمُكْتَنِزَةٌ. (The house is traditional and spacious, whereas the block is contemporary and compact.)
Website “Architecture comparison” — all four prompts are the website’s. Show two photos (an old and a new building). Website model: مِمَّ بُنِيَ هٰذَا البَيْتُ؟ — هُوَ مَبْنِيٌّ مِنَ الحَجَرِ وَالخَشَبِ. — كَيْفَ يَخْتَلِفُ عَنِ العِمَارَةِ الحَدِيثَةِ؟ — البَيْتُ تَقْلِيدِيٌّ وَفَسِيحٌ، بَيْنَمَا العِمَارَةُ مُعَاصِرَةٌ وَمُكْتَنِزَةٌ.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Match four buildings to their materials. · Develop — Write an accurate comparison using agreement and بَيْنَمَا. · Stretch — Analyse how a contemporary building can respect architectural heritage and propose one design feature.
Website writing task (Stretch): Compare an old building and a modern building in 80–100 Arabic words.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مَبْنِيٌّ مِنَ الحَجَرِ · يَتَمَيَّزُ بِقُبَّتِهِ · بَيْنَمَا المَرْكَزُ نَشِيطٌ · أُحِبُّ المَبْنَيَيْنِ لِأَنَّ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(F6-L08 · Giving Directions: Signs, Streets and Maps) will spend class time USING this language, so students prepare it tonight — short, simple, easy to access (school guidance: “Simple, Short, Interesting, Relevant, Easy to access”). The five words come from the website F6-L08 lesson (giving directions).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F6  ·  F6-L07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F6-L07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The Built Environment: Buildings, Materials and Urban Life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البِيئَةُ المَبْنِيَّةُ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Say what buildings are made of with </a:t>
            </a:r>
            <a:pPr algn="l" indent="0" marL="0">
              <a:buNone/>
            </a:pPr>
            <a:r>
              <a:rPr lang="ar-SA" altLang="en-US" sz="1800" dirty="0">
                <a:solidFill>
                  <a:srgbClr val="C6D2E6"/>
                </a:solidFill>
                <a:latin typeface="Amiri" pitchFamily="34" charset="0"/>
                <a:ea typeface="Amiri" pitchFamily="34" charset="-122"/>
                <a:cs typeface="Amiri" pitchFamily="34" charset="-120"/>
              </a:rPr>
              <a:t>مَبْنِيٌّ / مَبْنِيَّةٌ مِنْ</a:t>
            </a:r>
            <a:pPr algn="l" indent="0" marL="0">
              <a:buNone/>
            </a:pPr>
            <a:r>
              <a:rPr lang="en-US" sz="1400" dirty="0">
                <a:solidFill>
                  <a:srgbClr val="C6D2E6"/>
                </a:solidFill>
                <a:latin typeface="Calibri" pitchFamily="34" charset="0"/>
                <a:ea typeface="Calibri" pitchFamily="34" charset="-122"/>
                <a:cs typeface="Calibri" pitchFamily="34" charset="-120"/>
              </a:rPr>
              <a:t>, describe their special features and compare old and new, city and countryside with </a:t>
            </a:r>
            <a:pPr algn="l" indent="0" marL="0">
              <a:buNone/>
            </a:pPr>
            <a:r>
              <a:rPr lang="ar-SA" altLang="en-US" sz="1800" dirty="0">
                <a:solidFill>
                  <a:srgbClr val="C6D2E6"/>
                </a:solidFill>
                <a:latin typeface="Amiri" pitchFamily="34" charset="0"/>
                <a:ea typeface="Amiri" pitchFamily="34" charset="-122"/>
                <a:cs typeface="Amiri" pitchFamily="34" charset="-120"/>
              </a:rPr>
              <a:t>بَيْنَمَا</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F6-L07 · Foundation F6 · My Town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F6 › F6-L07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F6-L07 · Built Environment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F6-L07 · Built Environment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Materials, buildings and architecture words, then built of … · distinguished by … · whereas …</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material / building, fix the agreement and listen to two neighbourhoods.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F6-L08.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F6-L07 · Built Environment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حَجَرٌ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glass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stone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tower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زُجَاجٌ</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glass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wood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building</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the price of a bag.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ثَمَنُهُ؟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ثَمَنُهَا؟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ثَمَنُهَا؟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accurate?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الحَقِيبَةُ أَغْلَيَةٌ مِنَ الكِتَابِ.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الحَقِيبَةُ غَالِيَةٌ مِنَ الكِتَابِ.</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الحَقِيبَةُ أَغْلَى مِنَ الكِتَابِ.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____ </a:t>
            </a:r>
            <a:pPr algn="l" indent="0" marL="0">
              <a:buNone/>
            </a:pPr>
            <a:r>
              <a:rPr lang="ar-SA" altLang="en-US" sz="1650" b="1" dirty="0">
                <a:solidFill>
                  <a:srgbClr val="1B3B6F"/>
                </a:solidFill>
                <a:latin typeface="Amiri" pitchFamily="34" charset="0"/>
                <a:ea typeface="Amiri" pitchFamily="34" charset="-122"/>
                <a:cs typeface="Amiri" pitchFamily="34" charset="-120"/>
              </a:rPr>
              <a:t>المَدِينَةُ بِأَسْوَاقِهَا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تَتَمَيَّزُ</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يَتَمَيَّزُ</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أَتَمَيَّزُ</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F6-L07 · Built Environment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حَجَرٌ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glass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stone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tower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(F6-L06).</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زُجَاجٌ</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glass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wood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building</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(F6-L06).</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the price of a bag.</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ثَمَنُهُ؟</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 ثَمَنُهَا؟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كَمْ ثَمَنُهَا؟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F6-L06: a bag is feminine.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accurate?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الحَقِيبَةُ أَغْلَيَةٌ مِنَ الكِتَابِ.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الحَقِيبَةُ غَالِيَةٌ مِنَ الكِتَابِ.</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الحَقِيبَةُ أَغْلَى مِنَ الكِتَابِ.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F6-L06: the comparative never changes.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____ </a:t>
            </a:r>
            <a:pPr algn="l" indent="0" marL="0">
              <a:buNone/>
            </a:pPr>
            <a:r>
              <a:rPr lang="ar-SA" altLang="en-US" sz="1650" b="1" dirty="0">
                <a:solidFill>
                  <a:srgbClr val="1B3B6F"/>
                </a:solidFill>
                <a:latin typeface="Amiri" pitchFamily="34" charset="0"/>
                <a:ea typeface="Amiri" pitchFamily="34" charset="-122"/>
                <a:cs typeface="Amiri" pitchFamily="34" charset="-120"/>
              </a:rPr>
              <a:t>المَدِينَةُ بِأَسْوَاقِهَا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تَتَمَيَّزُ</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يَتَمَيَّزُ</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أَتَمَيَّزُ</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F6-L05: city is feminine.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building decides the ending: a house is </a:t>
            </a:r>
            <a:pPr algn="l" indent="0" marL="0">
              <a:buNone/>
            </a:pPr>
            <a:r>
              <a:rPr lang="ar-SA" altLang="en-US" sz="1700" b="1" dirty="0">
                <a:solidFill>
                  <a:srgbClr val="1F2A37"/>
                </a:solidFill>
                <a:latin typeface="Amiri" pitchFamily="34" charset="0"/>
                <a:ea typeface="Amiri" pitchFamily="34" charset="-122"/>
                <a:cs typeface="Amiri" pitchFamily="34" charset="-120"/>
              </a:rPr>
              <a:t>مَبْنِيٌّ</a:t>
            </a:r>
            <a:pPr algn="l" indent="0" marL="0">
              <a:buNone/>
            </a:pPr>
            <a:r>
              <a:rPr lang="en-US" sz="1300" b="1" dirty="0">
                <a:solidFill>
                  <a:srgbClr val="1F2A37"/>
                </a:solidFill>
                <a:latin typeface="Calibri" pitchFamily="34" charset="0"/>
                <a:ea typeface="Calibri" pitchFamily="34" charset="-122"/>
                <a:cs typeface="Calibri" pitchFamily="34" charset="-120"/>
              </a:rPr>
              <a:t>, a school is </a:t>
            </a:r>
            <a:pPr algn="l" indent="0" marL="0">
              <a:buNone/>
            </a:pPr>
            <a:r>
              <a:rPr lang="ar-SA" altLang="en-US" sz="1700" b="1" dirty="0">
                <a:solidFill>
                  <a:srgbClr val="1F2A37"/>
                </a:solidFill>
                <a:latin typeface="Amiri" pitchFamily="34" charset="0"/>
                <a:ea typeface="Amiri" pitchFamily="34" charset="-122"/>
                <a:cs typeface="Amiri" pitchFamily="34" charset="-120"/>
              </a:rPr>
              <a:t>مَبْنِيَّةٌ</a:t>
            </a:r>
            <a:pPr algn="l" indent="0" marL="0">
              <a:buNone/>
            </a:pPr>
            <a:r>
              <a:rPr lang="en-US" sz="1300" b="1" dirty="0">
                <a:solidFill>
                  <a:srgbClr val="1F2A37"/>
                </a:solidFill>
                <a:latin typeface="Calibri" pitchFamily="34" charset="0"/>
                <a:ea typeface="Calibri" pitchFamily="34" charset="-122"/>
                <a:cs typeface="Calibri" pitchFamily="34" charset="-120"/>
              </a:rPr>
              <a: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البَيْتُ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مَبْنِيٌّ</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مِنَ الحَجَرِ · المَدْرَسَةُ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مَبْنِيَّةٌ</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مِنَ الطُّوبِ</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F6-L07 · Built Environment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key building materials and settlement types.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Make </a:t>
            </a:r>
            <a:pPr algn="l" indent="0" marL="0">
              <a:buNone/>
            </a:pPr>
            <a:r>
              <a:rPr lang="ar-SA" altLang="en-US" sz="1700" dirty="0">
                <a:solidFill>
                  <a:srgbClr val="1F2A37"/>
                </a:solidFill>
                <a:latin typeface="Amiri" pitchFamily="34" charset="0"/>
                <a:ea typeface="Amiri" pitchFamily="34" charset="-122"/>
                <a:cs typeface="Amiri" pitchFamily="34" charset="-120"/>
              </a:rPr>
              <a:t>مَبْنِيٌّ / مَبْنِيَّةٌ</a:t>
            </a:r>
            <a:pPr algn="l" indent="0" marL="0">
              <a:buNone/>
            </a:pPr>
            <a:r>
              <a:rPr lang="en-US" sz="1300" dirty="0">
                <a:solidFill>
                  <a:srgbClr val="1F2A37"/>
                </a:solidFill>
                <a:latin typeface="Calibri" pitchFamily="34" charset="0"/>
                <a:ea typeface="Calibri" pitchFamily="34" charset="-122"/>
                <a:cs typeface="Calibri" pitchFamily="34" charset="-120"/>
              </a:rPr>
              <a:t> agree with the building.</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a:r>
            <a:pPr algn="l" indent="0" marL="0">
              <a:buNone/>
            </a:pPr>
            <a:r>
              <a:rPr lang="ar-SA" altLang="en-US" sz="1700" dirty="0">
                <a:solidFill>
                  <a:srgbClr val="1F2A37"/>
                </a:solidFill>
                <a:latin typeface="Amiri" pitchFamily="34" charset="0"/>
                <a:ea typeface="Amiri" pitchFamily="34" charset="-122"/>
                <a:cs typeface="Amiri" pitchFamily="34" charset="-120"/>
              </a:rPr>
              <a:t>يَتَمَيَّزُ / تَتَمَيَّزُ بِـ</a:t>
            </a:r>
            <a:pPr algn="l" indent="0" marL="0">
              <a:buNone/>
            </a:pPr>
            <a:r>
              <a:rPr lang="en-US" sz="1300" dirty="0">
                <a:solidFill>
                  <a:srgbClr val="1F2A37"/>
                </a:solidFill>
                <a:latin typeface="Calibri" pitchFamily="34" charset="0"/>
                <a:ea typeface="Calibri" pitchFamily="34" charset="-122"/>
                <a:cs typeface="Calibri" pitchFamily="34" charset="-120"/>
              </a:rPr>
              <a:t> accurately.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Compare urban and rural built environments with </a:t>
            </a:r>
            <a:pPr algn="l" indent="0" marL="0">
              <a:buNone/>
            </a:pPr>
            <a:r>
              <a:rPr lang="ar-SA" altLang="en-US" sz="1700" dirty="0">
                <a:solidFill>
                  <a:srgbClr val="1F2A37"/>
                </a:solidFill>
                <a:latin typeface="Amiri" pitchFamily="34" charset="0"/>
                <a:ea typeface="Amiri" pitchFamily="34" charset="-122"/>
                <a:cs typeface="Amiri" pitchFamily="34" charset="-120"/>
              </a:rPr>
              <a:t>بَيْنَمَا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eight materials.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a building is made of.</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make </a:t>
            </a:r>
            <a:pPr algn="l" indent="0" marL="0">
              <a:buNone/>
            </a:pPr>
            <a:r>
              <a:rPr lang="ar-SA" altLang="en-US" sz="1700" b="1" dirty="0">
                <a:solidFill>
                  <a:srgbClr val="C9780A"/>
                </a:solidFill>
                <a:latin typeface="Amiri" pitchFamily="34" charset="0"/>
                <a:ea typeface="Amiri" pitchFamily="34" charset="-122"/>
                <a:cs typeface="Amiri" pitchFamily="34" charset="-120"/>
              </a:rPr>
              <a:t>مَبْنِيٌّ / مَبْنِيَّةٌ</a:t>
            </a:r>
            <a:pPr algn="l" indent="0" marL="0">
              <a:buNone/>
            </a:pPr>
            <a:r>
              <a:rPr lang="en-US" sz="1300" b="1" dirty="0">
                <a:solidFill>
                  <a:srgbClr val="C9780A"/>
                </a:solidFill>
                <a:latin typeface="Calibri" pitchFamily="34" charset="0"/>
                <a:ea typeface="Calibri" pitchFamily="34" charset="-122"/>
                <a:cs typeface="Calibri" pitchFamily="34" charset="-120"/>
              </a:rPr>
              <a:t> agree.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compare with </a:t>
            </a:r>
            <a:pPr algn="l" indent="0" marL="0">
              <a:buNone/>
            </a:pPr>
            <a:r>
              <a:rPr lang="ar-SA" altLang="en-US" sz="1700" b="1" dirty="0">
                <a:solidFill>
                  <a:srgbClr val="C9780A"/>
                </a:solidFill>
                <a:latin typeface="Amiri" pitchFamily="34" charset="0"/>
                <a:ea typeface="Amiri" pitchFamily="34" charset="-122"/>
                <a:cs typeface="Amiri" pitchFamily="34" charset="-120"/>
              </a:rPr>
              <a:t>بَيْنَمَا</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describe architectural heritage.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respectful cultural comparison.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30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Building materials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Buildings and settlement types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Architecture and comparison · 10</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عِمَارَةٌ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‎عمارت‎ </a:t>
            </a:r>
            <a:pPr indent="0" marL="0">
              <a:buNone/>
            </a:pPr>
            <a:r>
              <a:rPr lang="en-US" sz="950" b="1" dirty="0">
                <a:solidFill>
                  <a:srgbClr val="2E8B57"/>
                </a:solidFill>
                <a:latin typeface="Calibri" pitchFamily="34" charset="0"/>
                <a:ea typeface="Calibri" pitchFamily="34" charset="-122"/>
                <a:cs typeface="Calibri" pitchFamily="34" charset="-120"/>
              </a:rPr>
              <a:t> imārat · a building / block</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مِعْمَارٌ</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‎معمار‎ </a:t>
            </a:r>
            <a:pPr indent="0" marL="0">
              <a:buNone/>
            </a:pPr>
            <a:r>
              <a:rPr lang="en-US" sz="950" b="1" dirty="0">
                <a:solidFill>
                  <a:srgbClr val="2E8B57"/>
                </a:solidFill>
                <a:latin typeface="Calibri" pitchFamily="34" charset="0"/>
                <a:ea typeface="Calibri" pitchFamily="34" charset="-122"/>
                <a:cs typeface="Calibri" pitchFamily="34" charset="-120"/>
              </a:rPr>
              <a:t> meʿmār · Urdu: builder · Arabic: architecture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تُرَاثٌ</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‎ورثہ / میراث‎ </a:t>
            </a:r>
            <a:pPr indent="0" marL="0">
              <a:buNone/>
            </a:pPr>
            <a:r>
              <a:rPr lang="en-US" sz="950" b="1" dirty="0">
                <a:solidFill>
                  <a:srgbClr val="2E8B57"/>
                </a:solidFill>
                <a:latin typeface="Calibri" pitchFamily="34" charset="0"/>
                <a:ea typeface="Calibri" pitchFamily="34" charset="-122"/>
                <a:cs typeface="Calibri" pitchFamily="34" charset="-120"/>
              </a:rPr>
              <a:t> wirsa · inheritance → heritage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قَلْعَةٌ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‎قلعہ‎ </a:t>
            </a:r>
            <a:pPr indent="0" marL="0">
              <a:buNone/>
            </a:pPr>
            <a:r>
              <a:rPr lang="en-US" sz="950" b="1" dirty="0">
                <a:solidFill>
                  <a:srgbClr val="2E8B57"/>
                </a:solidFill>
                <a:latin typeface="Calibri" pitchFamily="34" charset="0"/>
                <a:ea typeface="Calibri" pitchFamily="34" charset="-122"/>
                <a:cs typeface="Calibri" pitchFamily="34" charset="-120"/>
              </a:rPr>
              <a:t> qilʿa · fort / castle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مَعْدِنٌ</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‎معدنیات‎ </a:t>
            </a:r>
            <a:pPr indent="0" marL="0">
              <a:buNone/>
            </a:pPr>
            <a:r>
              <a:rPr lang="en-US" sz="950" b="1" dirty="0">
                <a:solidFill>
                  <a:srgbClr val="2E8B57"/>
                </a:solidFill>
                <a:latin typeface="Calibri" pitchFamily="34" charset="0"/>
                <a:ea typeface="Calibri" pitchFamily="34" charset="-122"/>
                <a:cs typeface="Calibri" pitchFamily="34" charset="-120"/>
              </a:rPr>
              <a:t> maʿdaniyāt · minerals → metal</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F6-L07 · Built Environment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Building materials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مَبْنِيٌّ مِنْ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built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mab-niy-yun min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مَبْنِيٌّ</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مَبْنِيَّةٌ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buildings</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مَبَانٍ مَبْنِيَّةٌ</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8" name="Text 3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حَجَرٌ</a:t>
            </a:r>
            <a:endParaRPr lang="ar-SA" sz="3000" dirty="0"/>
          </a:p>
        </p:txBody>
      </p:sp>
      <p:sp>
        <p:nvSpPr>
          <p:cNvPr id="39" name="Text 3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stone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ḥa-ja-run</a:t>
            </a:r>
            <a:endParaRPr lang="en-US"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3" name="Shape 4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5" name="Text 4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طُوبٌ</a:t>
            </a:r>
            <a:endParaRPr lang="ar-SA" sz="3000" dirty="0"/>
          </a:p>
        </p:txBody>
      </p:sp>
      <p:sp>
        <p:nvSpPr>
          <p:cNvPr id="46" name="Text 4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brick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ṭū-bun</a:t>
            </a:r>
            <a:endParaRPr lang="en-US" sz="135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خَرَسَانَةٌ</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concrete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kha-ra-sā-na-tun</a:t>
            </a:r>
            <a:endParaRPr lang="en-US" sz="135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7" name="Shape 54"/>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8" name="Text 55"/>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9" name="Text 56"/>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خَشَبٌ</a:t>
            </a:r>
            <a:endParaRPr lang="ar-SA" sz="3000" dirty="0"/>
          </a:p>
        </p:txBody>
      </p:sp>
      <p:sp>
        <p:nvSpPr>
          <p:cNvPr id="60" name="Text 57"/>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wood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kha-sha-bun</a:t>
            </a:r>
            <a:endParaRPr lang="en-US" sz="13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F6-L07 · Built Environment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Building materials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زُجَاجٌ</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glass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zu-jā-jun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مَعْدِنٌ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metal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maʿ-di-nun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رَمْلٌ</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ram-lun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طِينٌ</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clay / mud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ṭī-nun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صَخْرٌ</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rock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ṣakh-run</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F6-L07 · Built Environment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Buildings and settlement types (1 of 2)</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نَاطِحَةُ سَحَابٍ</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skyscraper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nā-ṭi-ḥa-tu sa-ḥā-bin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نَاطِحَةُ سَحَابٍ</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نَاطِحَاتُ سَحَابٍ</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3" name="Text 3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بِنَايَةٌ</a:t>
            </a:r>
            <a:endParaRPr lang="ar-SA" sz="3000" dirty="0"/>
          </a:p>
        </p:txBody>
      </p:sp>
      <p:sp>
        <p:nvSpPr>
          <p:cNvPr id="34" name="Text 3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building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bi-nā-ya-tun</a:t>
            </a:r>
            <a:endParaRPr lang="en-US" sz="135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8" name="Shape 35"/>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pl</a:t>
            </a:r>
            <a:endParaRPr lang="en-US" sz="800" dirty="0"/>
          </a:p>
        </p:txBody>
      </p:sp>
      <p:sp>
        <p:nvSpPr>
          <p:cNvPr id="40" name="Shape 3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2" name="Text 3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عِمَارَةٌ</a:t>
            </a:r>
            <a:endParaRPr lang="ar-SA" sz="3000" dirty="0"/>
          </a:p>
        </p:txBody>
      </p:sp>
      <p:sp>
        <p:nvSpPr>
          <p:cNvPr id="43" name="Text 4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apartment block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ʿi-mā-ra-tun</a:t>
            </a:r>
            <a:endParaRPr lang="en-US" sz="1350" dirty="0"/>
          </a:p>
        </p:txBody>
      </p:sp>
      <p:sp>
        <p:nvSpPr>
          <p:cNvPr id="44" name="Shape 4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46" name="Text 4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عِمَارَةٌ</a:t>
            </a:r>
            <a:endParaRPr lang="ar-SA" sz="1500" dirty="0"/>
          </a:p>
        </p:txBody>
      </p:sp>
      <p:sp>
        <p:nvSpPr>
          <p:cNvPr id="47" name="Shape 4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9" name="Text 4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عِمَارَاتٌ</a:t>
            </a:r>
            <a:endParaRPr lang="ar-SA" sz="1500" dirty="0"/>
          </a:p>
        </p:txBody>
      </p:sp>
      <p:sp>
        <p:nvSpPr>
          <p:cNvPr id="50" name="Shape 4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8211312"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53" name="Text 5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مَنْزِلٌ مُسْتَقِلٌّ</a:t>
            </a:r>
            <a:endParaRPr lang="ar-SA" sz="3000" dirty="0"/>
          </a:p>
        </p:txBody>
      </p:sp>
      <p:sp>
        <p:nvSpPr>
          <p:cNvPr id="54" name="Text 5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detached house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man-zi-lun mus-ta-qil-lun</a:t>
            </a:r>
            <a:endParaRPr lang="en-US" sz="1350" dirty="0"/>
          </a:p>
        </p:txBody>
      </p:sp>
      <p:sp>
        <p:nvSpPr>
          <p:cNvPr id="55" name="Shape 5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4389120"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58" name="Text 5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مَنْزِلٌ شِبْهُ مُسْتَقِلٍّ</a:t>
            </a:r>
            <a:endParaRPr lang="ar-SA" sz="3000" dirty="0"/>
          </a:p>
        </p:txBody>
      </p:sp>
      <p:sp>
        <p:nvSpPr>
          <p:cNvPr id="59" name="Text 5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semi-detached house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man-zi-lun shib-hu mus-ta-qil-lin</a:t>
            </a:r>
            <a:endParaRPr lang="en-US" sz="13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F6-L07 · Built Environment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Buildings and settlement types (2 of 2)</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بَيْتٌ تَقْلِيدِيٌّ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traditional house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bay-tun taq-lī-diy-yun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مَبْنًى تَارِيخِيٌّ</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historic building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mab-nan tā-rī-khiy-yun</a:t>
            </a:r>
            <a:endParaRPr lang="en-US" sz="1350" dirty="0"/>
          </a:p>
        </p:txBody>
      </p:sp>
      <p:sp>
        <p:nvSpPr>
          <p:cNvPr id="31" name="Shape 2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33" name="Text 3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مَبْنًى تَارِيخِيٌّ</a:t>
            </a:r>
            <a:endParaRPr lang="ar-SA" sz="1500" dirty="0"/>
          </a:p>
        </p:txBody>
      </p:sp>
      <p:sp>
        <p:nvSpPr>
          <p:cNvPr id="34" name="Shape 3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6" name="Text 3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مَبَانٍ تَارِيخِيَّةٌ</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رِيفٌ</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countryside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rī-fun</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حَضَرٌ</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urban area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ḥa-ḍa-run</a:t>
            </a:r>
            <a:endParaRPr lang="en-US" sz="135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50" name="Text 4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عُمْرَانٌ</a:t>
            </a:r>
            <a:endParaRPr lang="ar-SA" sz="3000" dirty="0"/>
          </a:p>
        </p:txBody>
      </p:sp>
      <p:sp>
        <p:nvSpPr>
          <p:cNvPr id="51" name="Text 4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built environment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ʿum-rā-nun</a:t>
            </a:r>
            <a:endParaRPr lang="en-US" sz="13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F6-L07 · Built Environment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Architecture and comparison (1 of 2)</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تُرَاثٌ</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heritage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tu-rā-thun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مِعْمَارٌ</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architecture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miʿ-mā-run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مِعْمَارِيٌّ / مِعْمَارِيَّةٌ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architectural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miʿ-mā-riy-yun / miʿ-mā-riy-ya-tun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حَضَرِيٌّ / حَضَرِيَّةٌ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urban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ḥa-ḍa-riy-yun / ḥa-ḍa-riy-ya-tun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رِيفِيٌّ / رِيفِيَّةٌ</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rural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rī-fiy-yun / rī-fiy-ya-tun</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F6-L07 · Built Environment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Architecture and comparison (2 of 2)</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مُكْتَنِزٌ / مُكْتَنِزَةٌ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dense / compact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muk-ta-ni-zun / muk-ta-ni-za-tun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فَسِيحٌ / فَسِيحَةٌ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spacious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fa-sī-ḥun / fa-sī-ḥa-tun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تَارِيخِيٌّ / تَارِيخِيَّةٌ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historic</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tā-rī-khiy-yun / tā-rī-khiy-ya-tun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مُعَاصِرٌ / مُعَاصِرَةٌ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contemporary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mu-ʿā-ṣi-run / mu-ʿā-ṣi-ra-tun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 / while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F6-L07 · Built Environment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BUILT OF … (WEBSITE RULES 1 AND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house is built of stone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مَبْنِيٌّ / مَبْنِيَّةٌ 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227064" y="1810512"/>
            <a:ext cx="5431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Masculine building</a:t>
            </a:r>
            <a:endParaRPr lang="en-US" sz="1100" dirty="0"/>
          </a:p>
        </p:txBody>
      </p:sp>
      <p:sp>
        <p:nvSpPr>
          <p:cNvPr id="17" name="Text 14"/>
          <p:cNvSpPr txBox="1"/>
          <p:nvPr/>
        </p:nvSpPr>
        <p:spPr>
          <a:xfrm>
            <a:off x="530352" y="1810512"/>
            <a:ext cx="5550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Feminine building</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245352" y="2286000"/>
            <a:ext cx="53949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البَيْتُ </a:t>
            </a:r>
            <a:pPr rtl="1" algn="ctr" indent="0" marL="0">
              <a:buNone/>
            </a:pPr>
            <a:r>
              <a:rPr lang="ar-SA" altLang="en-US" sz="2100" b="1" dirty="0">
                <a:solidFill>
                  <a:srgbClr val="1D5FBF"/>
                </a:solidFill>
                <a:latin typeface="Amiri" pitchFamily="34" charset="0"/>
                <a:ea typeface="Amiri" pitchFamily="34" charset="-122"/>
                <a:cs typeface="Amiri" pitchFamily="34" charset="-120"/>
              </a:rPr>
              <a:t>مَبْنِيٌّ</a:t>
            </a:r>
            <a:pPr rtl="1" algn="ctr" indent="0" marL="0">
              <a:buNone/>
            </a:pPr>
            <a:r>
              <a:rPr lang="ar-SA" altLang="en-US" sz="2100" b="1" dirty="0">
                <a:solidFill>
                  <a:srgbClr val="1B3B6F"/>
                </a:solidFill>
                <a:latin typeface="Amiri" pitchFamily="34" charset="0"/>
                <a:ea typeface="Amiri" pitchFamily="34" charset="-122"/>
                <a:cs typeface="Amiri" pitchFamily="34" charset="-120"/>
              </a:rPr>
              <a:t> مِنَ الحَجَرِ.</a:t>
            </a:r>
            <a:endParaRPr lang="ar-SA" sz="2100" dirty="0"/>
          </a:p>
        </p:txBody>
      </p:sp>
      <p:sp>
        <p:nvSpPr>
          <p:cNvPr id="20" name="Text 17"/>
          <p:cNvSpPr txBox="1"/>
          <p:nvPr/>
        </p:nvSpPr>
        <p:spPr>
          <a:xfrm>
            <a:off x="6199632" y="2706624"/>
            <a:ext cx="54864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house is built of stone.</a:t>
            </a:r>
            <a:endParaRPr lang="en-US" sz="950" dirty="0"/>
          </a:p>
        </p:txBody>
      </p:sp>
      <p:sp>
        <p:nvSpPr>
          <p:cNvPr id="21" name="Text 18"/>
          <p:cNvSpPr txBox="1"/>
          <p:nvPr/>
        </p:nvSpPr>
        <p:spPr>
          <a:xfrm>
            <a:off x="548640" y="2286000"/>
            <a:ext cx="551383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المَدْرَسَةُ </a:t>
            </a:r>
            <a:pPr rtl="1" algn="ctr" indent="0" marL="0">
              <a:buNone/>
            </a:pPr>
            <a:r>
              <a:rPr lang="ar-SA" altLang="en-US" sz="2100" b="1" dirty="0">
                <a:solidFill>
                  <a:srgbClr val="D6336C"/>
                </a:solidFill>
                <a:latin typeface="Amiri" pitchFamily="34" charset="0"/>
                <a:ea typeface="Amiri" pitchFamily="34" charset="-122"/>
                <a:cs typeface="Amiri" pitchFamily="34" charset="-120"/>
              </a:rPr>
              <a:t>مَبْنِيَّةٌ</a:t>
            </a:r>
            <a:pPr rtl="1" algn="ctr" indent="0" marL="0">
              <a:buNone/>
            </a:pPr>
            <a:r>
              <a:rPr lang="ar-SA" altLang="en-US" sz="2100" b="1" dirty="0">
                <a:solidFill>
                  <a:srgbClr val="1B3B6F"/>
                </a:solidFill>
                <a:latin typeface="Amiri" pitchFamily="34" charset="0"/>
                <a:ea typeface="Amiri" pitchFamily="34" charset="-122"/>
                <a:cs typeface="Amiri" pitchFamily="34" charset="-120"/>
              </a:rPr>
              <a:t> مِنَ الطُّوبِ.</a:t>
            </a:r>
            <a:endParaRPr lang="ar-SA" sz="2100" dirty="0"/>
          </a:p>
        </p:txBody>
      </p:sp>
      <p:sp>
        <p:nvSpPr>
          <p:cNvPr id="22" name="Text 19"/>
          <p:cNvSpPr txBox="1"/>
          <p:nvPr/>
        </p:nvSpPr>
        <p:spPr>
          <a:xfrm>
            <a:off x="502920" y="2706624"/>
            <a:ext cx="560527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school is built of brick.</a:t>
            </a:r>
            <a:endParaRPr lang="en-US" sz="95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6245352" y="3072384"/>
            <a:ext cx="53949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الجِسْرُ </a:t>
            </a:r>
            <a:pPr rtl="1" algn="ctr" indent="0" marL="0">
              <a:buNone/>
            </a:pPr>
            <a:r>
              <a:rPr lang="ar-SA" altLang="en-US" sz="2100" b="1" dirty="0">
                <a:solidFill>
                  <a:srgbClr val="1D5FBF"/>
                </a:solidFill>
                <a:latin typeface="Amiri" pitchFamily="34" charset="0"/>
                <a:ea typeface="Amiri" pitchFamily="34" charset="-122"/>
                <a:cs typeface="Amiri" pitchFamily="34" charset="-120"/>
              </a:rPr>
              <a:t>مَبْنِيٌّ</a:t>
            </a:r>
            <a:pPr rtl="1" algn="ctr" indent="0" marL="0">
              <a:buNone/>
            </a:pPr>
            <a:r>
              <a:rPr lang="ar-SA" altLang="en-US" sz="2100" b="1" dirty="0">
                <a:solidFill>
                  <a:srgbClr val="1B3B6F"/>
                </a:solidFill>
                <a:latin typeface="Amiri" pitchFamily="34" charset="0"/>
                <a:ea typeface="Amiri" pitchFamily="34" charset="-122"/>
                <a:cs typeface="Amiri" pitchFamily="34" charset="-120"/>
              </a:rPr>
              <a:t> مِنَ المَعْدِنِ.</a:t>
            </a:r>
            <a:endParaRPr lang="ar-SA" sz="2100" dirty="0"/>
          </a:p>
        </p:txBody>
      </p:sp>
      <p:sp>
        <p:nvSpPr>
          <p:cNvPr id="27" name="Text 24"/>
          <p:cNvSpPr txBox="1"/>
          <p:nvPr/>
        </p:nvSpPr>
        <p:spPr>
          <a:xfrm>
            <a:off x="6199632" y="3493008"/>
            <a:ext cx="54864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bridge is built of metal.</a:t>
            </a:r>
            <a:endParaRPr lang="en-US" sz="950" dirty="0"/>
          </a:p>
        </p:txBody>
      </p:sp>
      <p:sp>
        <p:nvSpPr>
          <p:cNvPr id="28" name="Text 25"/>
          <p:cNvSpPr txBox="1"/>
          <p:nvPr/>
        </p:nvSpPr>
        <p:spPr>
          <a:xfrm>
            <a:off x="548640" y="3072384"/>
            <a:ext cx="551383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العِمَارَةُ </a:t>
            </a:r>
            <a:pPr rtl="1" algn="ctr" indent="0" marL="0">
              <a:buNone/>
            </a:pPr>
            <a:r>
              <a:rPr lang="ar-SA" altLang="en-US" sz="2100" b="1" dirty="0">
                <a:solidFill>
                  <a:srgbClr val="D6336C"/>
                </a:solidFill>
                <a:latin typeface="Amiri" pitchFamily="34" charset="0"/>
                <a:ea typeface="Amiri" pitchFamily="34" charset="-122"/>
                <a:cs typeface="Amiri" pitchFamily="34" charset="-120"/>
              </a:rPr>
              <a:t>مَبْنِيَّةٌ</a:t>
            </a:r>
            <a:pPr rtl="1" algn="ctr" indent="0" marL="0">
              <a:buNone/>
            </a:pPr>
            <a:r>
              <a:rPr lang="ar-SA" altLang="en-US" sz="2100" b="1" dirty="0">
                <a:solidFill>
                  <a:srgbClr val="1B3B6F"/>
                </a:solidFill>
                <a:latin typeface="Amiri" pitchFamily="34" charset="0"/>
                <a:ea typeface="Amiri" pitchFamily="34" charset="-122"/>
                <a:cs typeface="Amiri" pitchFamily="34" charset="-120"/>
              </a:rPr>
              <a:t> مِنَ الخَرَسَانَةِ.</a:t>
            </a:r>
            <a:endParaRPr lang="ar-SA" sz="2100" dirty="0"/>
          </a:p>
        </p:txBody>
      </p:sp>
      <p:sp>
        <p:nvSpPr>
          <p:cNvPr id="29" name="Text 26"/>
          <p:cNvSpPr txBox="1"/>
          <p:nvPr/>
        </p:nvSpPr>
        <p:spPr>
          <a:xfrm>
            <a:off x="502920" y="3493008"/>
            <a:ext cx="560527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block is built of concrete.</a:t>
            </a:r>
            <a:endParaRPr lang="en-US" sz="950" dirty="0"/>
          </a:p>
        </p:txBody>
      </p:sp>
      <p:sp>
        <p:nvSpPr>
          <p:cNvPr id="30" name="Shape 27"/>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2" name="Shape 29"/>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3" name="Text 30"/>
          <p:cNvSpPr txBox="1"/>
          <p:nvPr/>
        </p:nvSpPr>
        <p:spPr>
          <a:xfrm>
            <a:off x="6245352" y="3858768"/>
            <a:ext cx="53949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المَسْجِدُ </a:t>
            </a:r>
            <a:pPr rtl="1" algn="ctr" indent="0" marL="0">
              <a:buNone/>
            </a:pPr>
            <a:r>
              <a:rPr lang="ar-SA" altLang="en-US" sz="2100" b="1" dirty="0">
                <a:solidFill>
                  <a:srgbClr val="1D5FBF"/>
                </a:solidFill>
                <a:latin typeface="Amiri" pitchFamily="34" charset="0"/>
                <a:ea typeface="Amiri" pitchFamily="34" charset="-122"/>
                <a:cs typeface="Amiri" pitchFamily="34" charset="-120"/>
              </a:rPr>
              <a:t>مَبْنِيٌّ</a:t>
            </a:r>
            <a:pPr rtl="1" algn="ctr" indent="0" marL="0">
              <a:buNone/>
            </a:pPr>
            <a:r>
              <a:rPr lang="ar-SA" altLang="en-US" sz="2100" b="1" dirty="0">
                <a:solidFill>
                  <a:srgbClr val="1B3B6F"/>
                </a:solidFill>
                <a:latin typeface="Amiri" pitchFamily="34" charset="0"/>
                <a:ea typeface="Amiri" pitchFamily="34" charset="-122"/>
                <a:cs typeface="Amiri" pitchFamily="34" charset="-120"/>
              </a:rPr>
              <a:t> مِنَ الحَجَرِ وَالخَشَبِ.</a:t>
            </a:r>
            <a:endParaRPr lang="ar-SA" sz="2100" dirty="0"/>
          </a:p>
        </p:txBody>
      </p:sp>
      <p:sp>
        <p:nvSpPr>
          <p:cNvPr id="34" name="Text 31"/>
          <p:cNvSpPr txBox="1"/>
          <p:nvPr/>
        </p:nvSpPr>
        <p:spPr>
          <a:xfrm>
            <a:off x="6199632" y="4279392"/>
            <a:ext cx="54864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mosque is built of stone and wood.</a:t>
            </a:r>
            <a:endParaRPr lang="en-US" sz="950" dirty="0"/>
          </a:p>
        </p:txBody>
      </p:sp>
      <p:sp>
        <p:nvSpPr>
          <p:cNvPr id="35" name="Text 32"/>
          <p:cNvSpPr txBox="1"/>
          <p:nvPr/>
        </p:nvSpPr>
        <p:spPr>
          <a:xfrm>
            <a:off x="548640" y="3858768"/>
            <a:ext cx="551383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نَاطِحَةُ السَّحَابِ </a:t>
            </a:r>
            <a:pPr rtl="1" algn="ctr" indent="0" marL="0">
              <a:buNone/>
            </a:pPr>
            <a:r>
              <a:rPr lang="ar-SA" altLang="en-US" sz="2100" b="1" dirty="0">
                <a:solidFill>
                  <a:srgbClr val="D6336C"/>
                </a:solidFill>
                <a:latin typeface="Amiri" pitchFamily="34" charset="0"/>
                <a:ea typeface="Amiri" pitchFamily="34" charset="-122"/>
                <a:cs typeface="Amiri" pitchFamily="34" charset="-120"/>
              </a:rPr>
              <a:t>مَبْنِيَّةٌ</a:t>
            </a:r>
            <a:pPr rtl="1" algn="ctr" indent="0" marL="0">
              <a:buNone/>
            </a:pPr>
            <a:r>
              <a:rPr lang="ar-SA" altLang="en-US" sz="2100" b="1" dirty="0">
                <a:solidFill>
                  <a:srgbClr val="1B3B6F"/>
                </a:solidFill>
                <a:latin typeface="Amiri" pitchFamily="34" charset="0"/>
                <a:ea typeface="Amiri" pitchFamily="34" charset="-122"/>
                <a:cs typeface="Amiri" pitchFamily="34" charset="-120"/>
              </a:rPr>
              <a:t> مِنَ الزُّجَاجِ.</a:t>
            </a:r>
            <a:endParaRPr lang="ar-SA" sz="2100" dirty="0"/>
          </a:p>
        </p:txBody>
      </p:sp>
      <p:sp>
        <p:nvSpPr>
          <p:cNvPr id="36" name="Text 33"/>
          <p:cNvSpPr txBox="1"/>
          <p:nvPr/>
        </p:nvSpPr>
        <p:spPr>
          <a:xfrm>
            <a:off x="502920" y="4279392"/>
            <a:ext cx="560527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skyscraper is built of glass.</a:t>
            </a:r>
            <a:endParaRPr lang="en-US" sz="9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6245352" y="4645152"/>
            <a:ext cx="53949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مِمَّ بُنِيَ هٰذَا البَيْتُ؟</a:t>
            </a:r>
            <a:endParaRPr lang="ar-SA" sz="2100" dirty="0"/>
          </a:p>
        </p:txBody>
      </p:sp>
      <p:sp>
        <p:nvSpPr>
          <p:cNvPr id="39" name="Text 36"/>
          <p:cNvSpPr txBox="1"/>
          <p:nvPr/>
        </p:nvSpPr>
        <p:spPr>
          <a:xfrm>
            <a:off x="6199632" y="5065776"/>
            <a:ext cx="54864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What is this house built from?</a:t>
            </a:r>
            <a:endParaRPr lang="en-US" sz="950" dirty="0"/>
          </a:p>
        </p:txBody>
      </p:sp>
      <p:sp>
        <p:nvSpPr>
          <p:cNvPr id="40" name="Text 37"/>
          <p:cNvSpPr txBox="1"/>
          <p:nvPr/>
        </p:nvSpPr>
        <p:spPr>
          <a:xfrm>
            <a:off x="548640" y="4645152"/>
            <a:ext cx="551383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البُيُوتُ </a:t>
            </a:r>
            <a:pPr rtl="1" algn="ctr" indent="0" marL="0">
              <a:buNone/>
            </a:pPr>
            <a:r>
              <a:rPr lang="ar-SA" altLang="en-US" sz="2100" b="1" dirty="0">
                <a:solidFill>
                  <a:srgbClr val="D6336C"/>
                </a:solidFill>
                <a:latin typeface="Amiri" pitchFamily="34" charset="0"/>
                <a:ea typeface="Amiri" pitchFamily="34" charset="-122"/>
                <a:cs typeface="Amiri" pitchFamily="34" charset="-120"/>
              </a:rPr>
              <a:t>مَبْنِيَّةٌ</a:t>
            </a:r>
            <a:pPr rtl="1" algn="ctr" indent="0" marL="0">
              <a:buNone/>
            </a:pPr>
            <a:r>
              <a:rPr lang="ar-SA" altLang="en-US" sz="2100" b="1" dirty="0">
                <a:solidFill>
                  <a:srgbClr val="1B3B6F"/>
                </a:solidFill>
                <a:latin typeface="Amiri" pitchFamily="34" charset="0"/>
                <a:ea typeface="Amiri" pitchFamily="34" charset="-122"/>
                <a:cs typeface="Amiri" pitchFamily="34" charset="-120"/>
              </a:rPr>
              <a:t> مِنَ الطِّينِ.</a:t>
            </a:r>
            <a:endParaRPr lang="ar-SA" sz="2100" dirty="0"/>
          </a:p>
        </p:txBody>
      </p:sp>
      <p:sp>
        <p:nvSpPr>
          <p:cNvPr id="41" name="Text 38"/>
          <p:cNvSpPr txBox="1"/>
          <p:nvPr/>
        </p:nvSpPr>
        <p:spPr>
          <a:xfrm>
            <a:off x="502920" y="5065776"/>
            <a:ext cx="560527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houses are built of mud.</a:t>
            </a:r>
            <a:endParaRPr lang="en-US" sz="950" dirty="0"/>
          </a:p>
        </p:txBody>
      </p:sp>
      <p:sp>
        <p:nvSpPr>
          <p:cNvPr id="42" name="Text 3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building decides the ending. Plural buildings take mabniyya (like F6-L05: ash-shawāriʿu muktaẓẓa).</a:t>
            </a:r>
            <a:endParaRPr lang="en-US" sz="11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F6-L07 · Built Environment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2 · FEATURES AND CONTRAST (WEBSITE RULES 3 AND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Known for … whereas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تَتَمَيَّزُ بِـ · بَيْنَمَا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972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FEATURE · m.</a:t>
            </a:r>
            <a:endParaRPr lang="en-US" sz="850" dirty="0"/>
          </a:p>
        </p:txBody>
      </p:sp>
      <p:sp>
        <p:nvSpPr>
          <p:cNvPr id="18" name="Text 15"/>
          <p:cNvSpPr txBox="1"/>
          <p:nvPr/>
        </p:nvSpPr>
        <p:spPr>
          <a:xfrm>
            <a:off x="9375648"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يَتَمَيَّزُ بِـ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يَتَمَيَّزُ المَسْجِدُ بِمِئْذَنَتِهِ التَّارِيخِيَّةِ.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mosque is known for its historic minaret.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Mosque m. → ya-.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9728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FEATURE · f.</a:t>
            </a:r>
            <a:endParaRPr lang="en-US" sz="850" dirty="0"/>
          </a:p>
        </p:txBody>
      </p:sp>
      <p:sp>
        <p:nvSpPr>
          <p:cNvPr id="26" name="Text 23"/>
          <p:cNvSpPr txBox="1"/>
          <p:nvPr/>
        </p:nvSpPr>
        <p:spPr>
          <a:xfrm>
            <a:off x="5556504"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تَتَمَيَّزُ بِـ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34" charset="0"/>
                <a:ea typeface="Amiri" pitchFamily="34" charset="-122"/>
                <a:cs typeface="Amiri" pitchFamily="34" charset="-120"/>
              </a:rPr>
              <a:t>تَتَمَيَّزُ القَرْيَةُ بِبُيُوتِهَا الطِّينِيَّةِ.</a:t>
            </a:r>
            <a:endParaRPr lang="ar-SA" sz="22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village is known for its mud houses.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Village f. → ta-.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7543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WHEREAS</a:t>
            </a:r>
            <a:endParaRPr lang="en-US" sz="850" dirty="0"/>
          </a:p>
        </p:txBody>
      </p:sp>
      <p:sp>
        <p:nvSpPr>
          <p:cNvPr id="34" name="Text 31"/>
          <p:cNvSpPr txBox="1"/>
          <p:nvPr/>
        </p:nvSpPr>
        <p:spPr>
          <a:xfrm>
            <a:off x="1394460" y="1874520"/>
            <a:ext cx="25618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 بَيْنَمَا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المَدِينَةُ مُكْتَظَّةٌ، بَيْنَمَا القَرْيَةُ هَادِئَةٌ.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city is crowded, whereas the village is quiet.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Two complete, different ideas.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whereas needs two complete ideas.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المَدِينَةُ مُكْتَظَّةٌ، بَيْنَمَا القَرْيَةُ هَادِئَةٌ.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المَدِينَةُ مُكْتَظَّةٌ بَيْنَمَا مُكْتَظَّةٌ.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F6-L07 · Built Environment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00" b="1" dirty="0">
                <a:solidFill>
                  <a:srgbClr val="8A6D1E"/>
                </a:solidFill>
                <a:latin typeface="Amiri" pitchFamily="34" charset="0"/>
                <a:ea typeface="Amiri" pitchFamily="34" charset="-122"/>
                <a:cs typeface="Amiri" pitchFamily="34" charset="-120"/>
              </a:rPr>
              <a:t>المَبْنِيُّ لِلْمَجْهُولِ وَالمُقَارَنَةُ بِـ بَيْنَمَا</a:t>
            </a:r>
            <a:endParaRPr lang="ar-SA" sz="26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Describe a masculine building material</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اِسْمٌ مُذَكَّرٌ + مَبْنِيٌّ مِنْ + مَادَّةٍ</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البَيْتُ مَبْنِيٌّ مِنَ الحَجَرِ.   ·   الجِسْرُ مَبْنِيٌّ مِنَ المَعْدِنِ.</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Describe a feminine building material</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اِسْمٌ مُؤَنَّثٌ + مَبْنِيَّةٌ مِنْ + مَادَّةٍ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المَدْرَسَةُ مَبْنِيَّةٌ مِنَ الطُّوبِ.   ·   العِمَارَةُ مَبْنِيَّةٌ مِنَ الخَرَسَانَةِ وَالزُّجَاجِ.</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Describe architectural identity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يَتَمَيَّزُ / تَتَمَيَّزُ بِـ</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يَتَمَيَّزُ المَسْجِدُ بِمِئْذَنَتِهِ التَّارِيخِيَّةِ.   ·   تَتَمَيَّزُ القَرْيَةُ بِبُيُوتِهَا الطِّينِيَّةِ.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Contrast city and countryside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 بَيْنَمَا ...</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تَكْثُرُ نَاطِحَاتُ السَّحَابِ فِي المَدِينَةِ، بَيْنَمَا تَكْثُرُ البُيُوتُ الفَسِيحَةُ فِي الرِّيفِ.   ·   المَدِينَةُ مُكْتَظَّةٌ، بَيْنَمَا القَرْيَةُ هَادِئَةٌ.</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F6-L07 · Built Environment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البَيْتُ ___ مِنَ الحَجَرِ.</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مَبْنِيَّةٌ</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مَبْنِيَّاتٌ</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مَبْنِيٌّ</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المَدْرَسَةُ ___ مِنَ الطُّوبِ.</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مَبْنِيَّةٌ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مَبْنِيٌّ</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مَبْنِيَّانِ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material means glass?</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خَشَبٌ</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زُجَاجٌ</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طِينٌ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means “whereas”?</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F6-L07 · Built Environment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البَيْتُ ___ مِنَ الحَجَرِ.</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مَبْنِيَّةٌ</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مَبْنِيَّاتٌ</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مَبْنِيٌّ</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بَيْتٌ</a:t>
            </a:r>
            <a:pPr algn="l" indent="0" marL="0">
              <a:buNone/>
            </a:pPr>
            <a:r>
              <a:rPr lang="en-US" sz="1050" i="1" dirty="0">
                <a:solidFill>
                  <a:srgbClr val="8A6D1E"/>
                </a:solidFill>
                <a:latin typeface="Calibri" pitchFamily="34" charset="0"/>
                <a:ea typeface="Calibri" pitchFamily="34" charset="-122"/>
                <a:cs typeface="Calibri" pitchFamily="34" charset="-120"/>
              </a:rPr>
              <a:t> is masculine.</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المَدْرَسَةُ ___ مِنَ الطُّوبِ.</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مَبْنِيَّةٌ</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مَبْنِيٌّ</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مَبْنِيَّانِ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مَدْرَسَةٌ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material means glass?</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خَشَبٌ</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زُجَاجٌ</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طِينٌ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زُجَاجٌ</a:t>
            </a:r>
            <a:pPr algn="l" indent="0" marL="0">
              <a:buNone/>
            </a:pPr>
            <a:r>
              <a:rPr lang="en-US" sz="1050" i="1" dirty="0">
                <a:solidFill>
                  <a:srgbClr val="8A6D1E"/>
                </a:solidFill>
                <a:latin typeface="Calibri" pitchFamily="34" charset="0"/>
                <a:ea typeface="Calibri" pitchFamily="34" charset="-122"/>
                <a:cs typeface="Calibri" pitchFamily="34" charset="-120"/>
              </a:rPr>
              <a:t> means glass.</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means “whereas”?</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بَيْنَمَا</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بَيْنَمَا</a:t>
            </a:r>
            <a:pPr algn="l" indent="0" marL="0">
              <a:buNone/>
            </a:pPr>
            <a:r>
              <a:rPr lang="en-US" sz="1050" i="1" dirty="0">
                <a:solidFill>
                  <a:srgbClr val="8A6D1E"/>
                </a:solidFill>
                <a:latin typeface="Calibri" pitchFamily="34" charset="0"/>
                <a:ea typeface="Calibri" pitchFamily="34" charset="-122"/>
                <a:cs typeface="Calibri" pitchFamily="34" charset="-120"/>
              </a:rPr>
              <a:t> creates contrast.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F6-L07 · Built Environment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compare two buildings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1 · Introduce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فِي مَدِينَتِي مَسْجِدٌ تَارِيخِيٌّ وَمَرْكَزٌ ثَقَافِيٌّ حَدِيثٌ.</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buildings: both m.</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2 · Old one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المَسْجِدُ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مَبْنِيٌّ</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مِنَ الحَجَرِ، وَ</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يَتَمَيَّزُ</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بِقُبَّتِهِ.</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Material + feature.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3 · New one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أَمَّا المَرْكَزُ فَهُوَ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مَبْنِيٌّ</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مِنَ الزُّجَاجِ وَالمَعْدِنِ.</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As for …</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4 · Contrast + opinion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المَسْجِدُ هَادِئٌ وَتَقْلِيدِيٌّ، </a:t>
            </a:r>
            <a:pPr rtl="1" algn="ctr" indent="0" marL="0">
              <a:lnSpc>
                <a:spcPct val="120000"/>
              </a:lnSpc>
              <a:buNone/>
            </a:pPr>
            <a:r>
              <a:rPr lang="ar-SA" altLang="en-US" sz="1750" b="1" dirty="0">
                <a:solidFill>
                  <a:srgbClr val="7B3FA0"/>
                </a:solidFill>
                <a:latin typeface="Amiri" pitchFamily="34" charset="0"/>
                <a:ea typeface="Amiri" pitchFamily="34" charset="-122"/>
                <a:cs typeface="Amiri" pitchFamily="34" charset="-120"/>
              </a:rPr>
              <a:t>بَيْنَمَا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المَرْكَزُ نَشِيطٌ وَمُعَاصِرٌ.</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Whereas + two ideas.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BUILT · FEATURE</a:t>
            </a:r>
            <a:endParaRPr lang="en-US" sz="800" dirty="0"/>
          </a:p>
        </p:txBody>
      </p:sp>
      <p:sp>
        <p:nvSpPr>
          <p:cNvPr id="47" name="Shape 43"/>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WHEREAS</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فِي مَدِينَتِي مَسْجِدٌ تَارِيخِيٌّ وَمَرْكَزٌ ثَقَافِيٌّ حَدِيثٌ. المَسْجِدُ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مَبْنِيٌّ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مِنَ الحَجَرِ، وَ</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يَتَمَيَّزُ</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بِقُبَّتِهِ وَأَبْوَابِهِ الخَشَبِيَّةِ. أَمَّا المَرْكَزُ فَهُوَ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مَبْنِيٌّ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مِنَ الزُّجَاجِ وَالمَعْدِنِ، وَفِيهِ قَاعَاتٌ فَسِيحَةٌ. المَسْجِدُ هَادِئٌ وَتَقْلِيدِيٌّ،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بَيْنَمَا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المَرْكَزُ نَشِيطٌ وَمُعَاصِرٌ. أُحِبُّ المَبْنَيَيْنِ لِأَنَّ الأَوَّلَ يَحْمِي التُّرَاثَ وَالثَّانِيَ يُقَدِّمُ خِدْمَاتٍ جَدِيدَةً.</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ea typeface="Calibri" pitchFamily="34" charset="-122"/>
                <a:cs typeface="Calibri" pitchFamily="34" charset="-120"/>
              </a:rPr>
              <a:t>In my city there is a historic mosque and a modern cultural centre. The mosque is built of stone and is known for its dome and wooden doors. As for the centre, it is built of glass and metal and has spacious halls. The mosque is quiet and traditional, whereas the centre is lively and contemporary. I like both buildings because the first protects heritage and the second offers new services.</a:t>
            </a:r>
            <a:endParaRPr lang="en-US" sz="9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F6-L07 · Built Environment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F6-L07</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البَيْتُ مَبْنِيٌّ مِنَ الحَجَرِ.</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house is built of stone.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Masculine building → مَبْنِيٌّ.</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المَدْرَسَةُ مَبْنِيَّةٌ مِنَ الطُّوبِ.</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school is built of brick.</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Feminine building → مَبْنِيَّةٌ.</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تَتَمَيَّزُ القَرْيَةُ بِبُيُوتِهَا التَّقْلِيدِيَّةِ.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village is distinguished by its traditional houses.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Feminine subject → تَتَمَيَّزُ.</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المَدِينَةُ مُكْتَظَّةٌ، بَيْنَمَا الرِّيفُ فَسِيحٌ.</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city is dense, whereas the countryside is spacious.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complete contrasting clauses.</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F6-L07 · Built Environment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THE BUILT ENVIRONMENT: BUILDINGS, MATERIALS AND URBAN LIFE”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Materials: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المَبَانِي وَالمَوَادُّ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brick</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wood</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stone</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المَبْنَى القَدِيمُ مَبْنِيٌّ مِنَ الحَجَرِ.</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المَبْنَى مَبْنِيٌّ مِنَ الطُّوبِ.</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البَيْتُ مَبْنِيٌّ مِنَ الخَشَبِ.</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F6-L07 · Built Environment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المَبَانِي وَالمَوَادُّ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brick</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المَبْنَى مَبْنِيٌّ مِنَ الطُّوبِ.</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building is built of brick.</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wood</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البَيْتُ مَبْنِيٌّ مِنَ الخَشَبِ.</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house is built of wood.</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stone</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المَبْنَى القَدِيمُ مَبْنِيٌّ مِنَ الحَجَرِ.</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old building is built of stone.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F6-L07 · Built Environment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Material or building?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حَجَرٌ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خَرَسَانَةٌ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زُجَاجٌ</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طِينٌ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نَاطِحَةُ سَحَابٍ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عِمَارَةٌ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مَنْزِلٌ مُسْتَقِلٌّ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مَبْنًى تَارِيخِيٌّ</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مَادَّةٌ · material</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مَبْنًى · building</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F6-L07 · Built Environment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F6-L07</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مَادَّةٌ · material</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حَجَرٌ</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خَرَسَانَةٌ</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زُجَاجٌ</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طِينٌ</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مَبْنًى · building</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نَاطِحَةُ سَحَابٍ</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عِمَارَةٌ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مَنْزِلٌ مُسْتَقِلٌّ</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مَبْنًى تَارِيخِيٌّ</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F6-L07 · Built Environment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F6-L07</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meaningful contrast.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34" charset="0"/>
                <a:ea typeface="Amiri" pitchFamily="34" charset="-122"/>
                <a:cs typeface="Amiri" pitchFamily="34" charset="-120"/>
              </a:rPr>
              <a:t>المَدِينَةُ مُكْتَظَّةٌ، بَيْنَمَا المَدِينَةُ مُكْتَظَّةٌ.</a:t>
            </a:r>
            <a:endParaRPr lang="ar-SA" sz="16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34" charset="0"/>
                <a:ea typeface="Amiri" pitchFamily="34" charset="-122"/>
                <a:cs typeface="Amiri" pitchFamily="34" charset="-120"/>
              </a:rPr>
              <a:t>المَدِينَةُ لِأَنَّ القَرْيَةَ.</a:t>
            </a:r>
            <a:endParaRPr lang="ar-SA" sz="16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34" charset="0"/>
                <a:ea typeface="Amiri" pitchFamily="34" charset="-122"/>
                <a:cs typeface="Amiri" pitchFamily="34" charset="-120"/>
              </a:rPr>
              <a:t>المَدِينَةُ مُكْتَظَّةٌ، بَيْنَمَا القَرْيَةُ هَادِئَةٌ.</a:t>
            </a:r>
            <a:endParaRPr lang="ar-SA" sz="16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contemporary?</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تَارِيخِيٌّ</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مُعَاصِرٌ</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رِيفِيٌّ</a:t>
            </a:r>
            <a:endParaRPr lang="ar-SA" sz="20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architectural heritage?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مَوَاصَلَاتٌ عَامَّةٌ</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تُرَاثٌ مِعْمَارِيٌّ</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رِحْلَةٌ مُبَاشِرَةٌ</a:t>
            </a:r>
            <a:endParaRPr lang="ar-SA" sz="20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F6-L07 · Built Environment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F6-L07</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meaningful contrast.</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650" dirty="0">
                <a:solidFill>
                  <a:srgbClr val="9AA1AB"/>
                </a:solidFill>
                <a:latin typeface="Amiri" pitchFamily="34" charset="0"/>
                <a:ea typeface="Amiri" pitchFamily="34" charset="-122"/>
                <a:cs typeface="Amiri" pitchFamily="34" charset="-120"/>
              </a:rPr>
              <a:t>المَدِينَةُ مُكْتَظَّةٌ، بَيْنَمَا المَدِينَةُ مُكْتَظَّةٌ.</a:t>
            </a:r>
            <a:endParaRPr lang="ar-SA" sz="16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650" dirty="0">
                <a:solidFill>
                  <a:srgbClr val="9AA1AB"/>
                </a:solidFill>
                <a:latin typeface="Amiri" pitchFamily="34" charset="0"/>
                <a:ea typeface="Amiri" pitchFamily="34" charset="-122"/>
                <a:cs typeface="Amiri" pitchFamily="34" charset="-120"/>
              </a:rPr>
              <a:t>المَدِينَةُ لِأَنَّ القَرْيَةَ.</a:t>
            </a:r>
            <a:endParaRPr lang="ar-SA" sz="16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650" b="1" dirty="0">
                <a:solidFill>
                  <a:srgbClr val="1F2A37"/>
                </a:solidFill>
                <a:latin typeface="Amiri" pitchFamily="34" charset="0"/>
                <a:ea typeface="Amiri" pitchFamily="34" charset="-122"/>
                <a:cs typeface="Amiri" pitchFamily="34" charset="-120"/>
              </a:rPr>
              <a:t>المَدِينَةُ مُكْتَظَّةٌ، بَيْنَمَا القَرْيَةُ هَادِئَةٌ.</a:t>
            </a:r>
            <a:endParaRPr lang="ar-SA" sz="16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two clauses contrast urban and rural life.</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contemporary?</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تَارِيخِيٌّ</a:t>
            </a:r>
            <a:endParaRPr lang="ar-SA" sz="20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مُعَاصِرٌ</a:t>
            </a:r>
            <a:endParaRPr lang="ar-SA" sz="20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رِيفِيٌّ</a:t>
            </a:r>
            <a:endParaRPr lang="ar-SA" sz="20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مُعَاصِرٌ</a:t>
            </a:r>
            <a:pPr algn="l" indent="0" marL="0">
              <a:buNone/>
            </a:pPr>
            <a:r>
              <a:rPr lang="en-US" sz="1050" i="1" dirty="0">
                <a:solidFill>
                  <a:srgbClr val="8A6D1E"/>
                </a:solidFill>
                <a:latin typeface="Calibri" pitchFamily="34" charset="0"/>
                <a:ea typeface="Calibri" pitchFamily="34" charset="-122"/>
                <a:cs typeface="Calibri" pitchFamily="34" charset="-120"/>
              </a:rPr>
              <a:t> means contemporary.</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architectural heritage?</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مَوَاصَلَاتٌ عَامَّةٌ</a:t>
            </a:r>
            <a:endParaRPr lang="ar-SA" sz="20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تُرَاثٌ مِعْمَارِيٌّ</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رِحْلَةٌ مُبَاشِرَةٌ</a:t>
            </a:r>
            <a:endParaRPr lang="ar-SA" sz="20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تُرَاثٌ مِعْمَارِيٌّ</a:t>
            </a:r>
            <a:pPr algn="l" indent="0" marL="0">
              <a:buNone/>
            </a:pPr>
            <a:r>
              <a:rPr lang="en-US" sz="1050" i="1" dirty="0">
                <a:solidFill>
                  <a:srgbClr val="8A6D1E"/>
                </a:solidFill>
                <a:latin typeface="Calibri" pitchFamily="34" charset="0"/>
                <a:ea typeface="Calibri" pitchFamily="34" charset="-122"/>
                <a:cs typeface="Calibri" pitchFamily="34" charset="-120"/>
              </a:rPr>
              <a:t> means architectural heritage.</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F6-L07 · Built Environment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العِمَارَةُ مَبْنِيٌّ مِنَ الخَرَسَانَةِ.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Block (</a:t>
            </a:r>
            <a:pPr algn="l" indent="0" marL="0">
              <a:buNone/>
            </a:pPr>
            <a:r>
              <a:rPr lang="ar-SA" altLang="en-US" sz="1700" dirty="0">
                <a:solidFill>
                  <a:srgbClr val="5A6472"/>
                </a:solidFill>
                <a:latin typeface="Amiri" pitchFamily="34" charset="0"/>
                <a:ea typeface="Amiri" pitchFamily="34" charset="-122"/>
                <a:cs typeface="Amiri" pitchFamily="34" charset="-120"/>
              </a:rPr>
              <a:t>عِمَارَةٌ</a:t>
            </a:r>
            <a:pPr algn="l" indent="0" marL="0">
              <a:buNone/>
            </a:pPr>
            <a:r>
              <a:rPr lang="en-US" sz="1300" i="1" dirty="0">
                <a:solidFill>
                  <a:srgbClr val="5A6472"/>
                </a:solidFill>
                <a:latin typeface="Calibri" pitchFamily="34" charset="0"/>
                <a:ea typeface="Calibri" pitchFamily="34" charset="-122"/>
                <a:cs typeface="Calibri" pitchFamily="34" charset="-120"/>
              </a:rPr>
              <a:t>): m. or f.?</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يَتَمَيَّزُ القَرْيَةُ بِالتُّرَاثِ.</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Village: which verb form?</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المَدِينَةُ مُكْتَظَّةٌ بَيْنَمَا مُكْتَظَّةٌ.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Does whereas have two ideas?</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F6-L07 · Built Environment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العِمَارَةُ مَبْنِيٌّ مِنَ الخَرَسَانَةِ.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العِمَارَةُ مَبْنِيَّةٌ مِنَ الخَرَسَانَةِ.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participle agrees with the feminine building.</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يَتَمَيَّزُ القَرْيَةُ بِالتُّرَاثِ.</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تَتَمَيَّزُ القَرْيَةُ بِالتُّرَاثِ.</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verb agrees with feminine </a:t>
            </a:r>
            <a:pPr algn="l" indent="0" marL="0">
              <a:buNone/>
            </a:pPr>
            <a:r>
              <a:rPr lang="ar-SA" altLang="en-US" sz="1500" b="1" dirty="0">
                <a:solidFill>
                  <a:srgbClr val="1B3B6F"/>
                </a:solidFill>
                <a:latin typeface="Amiri" pitchFamily="34" charset="0"/>
                <a:ea typeface="Amiri" pitchFamily="34" charset="-122"/>
                <a:cs typeface="Amiri" pitchFamily="34" charset="-120"/>
              </a:rPr>
              <a:t>القَرْيَةُ</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المَدِينَةُ مُكْتَظَّةٌ بَيْنَمَا مُكْتَظَّةٌ.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المَدِينَةُ مُكْتَظَّةٌ، بَيْنَمَا القَرْيَةُ هَادِئَةٌ.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بَيْنَمَا</a:t>
            </a:r>
            <a:pPr algn="l" indent="0" marL="0">
              <a:buNone/>
            </a:pPr>
            <a:r>
              <a:rPr lang="en-US" sz="1150" b="1" dirty="0">
                <a:solidFill>
                  <a:srgbClr val="1B3B6F"/>
                </a:solidFill>
                <a:latin typeface="Calibri" pitchFamily="34" charset="0"/>
                <a:ea typeface="Calibri" pitchFamily="34" charset="-122"/>
                <a:cs typeface="Calibri" pitchFamily="34" charset="-120"/>
              </a:rPr>
              <a:t> needs two complete contrasting ideas.</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F6-L07 · Built Environment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Architecture in two neighbourhoods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the traditional houses built of?</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stone and clay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glass and metal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wood only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distinguishes the traditional houses?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tall towers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large stations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wooden doors and inner courtyards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in the new neighbourhood?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mud houses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village market only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contemporary apartment blocks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materials are used there?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concrete and glass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stone and clay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sand and rock</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neighbourhood is quieter?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new one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old one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the same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مَبْنِيَّةٌ مِنَ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أَمَّا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بَيْنَمَا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F6-L07 · Built Environment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F6-L07</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الحَيِّ القَدِيمِ بُيُوتٌ تَقْلِيدِيَّةٌ مَبْنِيَّةٌ مِنَ الحَجَرِ وَالطِّينِ.</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old neighbourhood there are traditional houses built of stone and clay.</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تَتَمَيَّزُ البُيُوتُ بِأَبْوَابِهَا الخَشَبِيَّةِ وَسَاحَاتِهَا الدَّاخِلِيَّةِ.</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houses are known for their wooden doors and inner courtyards.</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فِي الحَيِّ الجَدِيدِ فَتُوجَدُ عِمَارَاتٌ مُعَاصِرَةٌ مَبْنِيَّةٌ مِنَ الخَرَسَانَةِ وَالزُّجَاجِ.</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the new neighbourhood, there are contemporary blocks built of concrete and glass.</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الحَيُّ الجَدِيدُ مُكْتَنِزٌ، بَيْنَمَا الحَيُّ القَدِيمُ أَكْثَرُ هُدُوءًا.</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new neighbourhood is dense, whereas the old one is quieter.</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F6-L07 · Built Environment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the traditional houses built of?</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stone and clay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glass and metal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wood only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مِنَ الحَجَرِ وَالطِّينِ.</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distinguishes the traditional houses?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tall towers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large stations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wooden doors and inner courtyards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أَبْوَابِهَا الخَشَبِيَّةِ وَسَاحَاتِهَا.</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in the new neighbourhood?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mud houses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village market only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contemporary apartment blocks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عِمَارَاتٌ مُعَاصِرَةٌ.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materials are used there?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concrete and glass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stone and clay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sand and rock</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مِنَ الخَرَسَانَةِ وَالزُّجَاجِ.</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neighbourhood is quieter?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new one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old one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 the same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الحَيُّ القَدِيمُ أَكْثَرُ هُدُوءًا.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مَبْنِيَّةٌ مِنَ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أَمَّا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بَيْنَمَا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F6-L07 · Built Environment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Architecture comparison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مِمَّ بُنِيَ هٰذَا المَبْنَى؟</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مَبْنًى تَارِيخِيًّا فِي مَدِينَتِكَ.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الفَرْقُ بَيْنَ الحَيِّ القَدِيمِ وَالجَدِيدِ؟</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نَوْعٍ مِنَ العُمْرَانِ تُفَضِّلُ؟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هُوَ مَبْنِيٌّ / هِيَ مَبْنِيَّةٌ مِنَ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يَتَمَيَّزُ / تَتَمَيَّزُ بِـ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الحَيُّ القَدِيمُ ___ ، بَيْنَمَا الحَيُّ الجَدِيدُ ___ .</a:t>
            </a:r>
            <a:endParaRPr lang="ar-SA" sz="13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أُفَضِّلُ … لِأَنَّهُ يَحْمِي التُّرَاثَ / يُقَدِّمُ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مِمَّ بُنِيَ هٰذَا البَيْتُ؟</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this house built from?</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هُوَ مَبْنِيٌّ مِنَ الحَجَرِ وَالخَشَبِ.</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It is built of stone and wood.</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F6-L07 · Built Environment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Match four buildings to their materials.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Four buildings with their materials (built of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an accurate comparison using agreement and </a:t>
            </a:r>
            <a:pPr algn="l" indent="0" marL="0">
              <a:buNone/>
            </a:pPr>
            <a:r>
              <a:rPr lang="ar-SA" altLang="en-US" sz="1800" b="1" dirty="0">
                <a:solidFill>
                  <a:srgbClr val="1F2A37"/>
                </a:solidFill>
                <a:latin typeface="Amiri" pitchFamily="34" charset="0"/>
                <a:ea typeface="Amiri" pitchFamily="34" charset="-122"/>
                <a:cs typeface="Amiri" pitchFamily="34" charset="-120"/>
              </a:rPr>
              <a:t>بَيْنَمَا</a:t>
            </a:r>
            <a:pPr algn="l" indent="0" marL="0">
              <a:buNone/>
            </a:pPr>
            <a:r>
              <a:rPr lang="en-US" sz="1400" b="1" dirty="0">
                <a:solidFill>
                  <a:srgbClr val="1F2A37"/>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An old and a new building with agreement and whereas.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Analyse how a contemporary building can respect architectural heritage and propose one design feature.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 how a modern building can respect heritage (one design idea).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F6-L07 · Built Environment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يَتَمَيَّزُ / تَتَمَيَّزُ بِـ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known for its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المَبْنَى الجَدِيدُ فَهُوَ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As for the new building, it is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الحَيُّ القَدِيمُ هَادِئٌ، بَيْنَمَا الجَدِيدُ نَشِيطٌ.</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old area is quiet, whereas the new one is lively.</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المَدِينَةُ مُكْتَنِزَةٌ، بَيْنَمَا الرِّيفُ فَسِيحٌ.</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city is dense, whereas the countryside is spacious.</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أُفَضِّلُ ______ لِأَنَّ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prefer … because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البَيْتُ مَبْنِيٌّ مِنَ الحَجَرِ.</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house is built of stone.</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المَدْرَسَةُ مَبْنِيَّةٌ مِنَ الطُّوبِ.</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school is built of brick.</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الجِسْرُ مَبْنِيٌّ مِنَ المَعْدِنِ.</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bridge is built of metal.</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البُرْجُ مَبْنِيٌّ مِنَ الزُّجَاجِ.</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tower is built of glass.</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مَدِينَتِي مَبْنًى تَارِيخِيٌّ.</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my town there is a historic building.</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مَبْنِيٌّ  ·  مَبْنِيَّةٌ  ·  مِنَ الحَجَرِ  ·  مِنَ الطُّوبِ  ·  مِنَ الزُّجَاجِ  ·  مِنَ الخَشَبِ  ·  يَتَمَيَّزُ بِـ  ·  تَتَمَيَّزُ بِـ  ·  بَيْنَمَا  ·  تَقْلِيدِيٌّ  ·  مُعَاصِرٌ  ·  فَسِيحٌ</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F6-L07 · Built Environment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Compare an old building and a modern building in 80–100 Arabic words.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Name at least four materials.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مَبْنِيٌّ / مَبْنِيَّةٌ</a:t>
            </a:r>
            <a:pPr algn="l" indent="0" marL="0">
              <a:buNone/>
            </a:pPr>
            <a:r>
              <a:rPr lang="en-US" sz="1200" dirty="0">
                <a:solidFill>
                  <a:srgbClr val="1F2A37"/>
                </a:solidFill>
                <a:latin typeface="Calibri" pitchFamily="34" charset="0"/>
                <a:ea typeface="Calibri" pitchFamily="34" charset="-122"/>
                <a:cs typeface="Calibri" pitchFamily="34" charset="-120"/>
              </a:rPr>
              <a:t>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يَتَمَيَّزُ / تَتَمَيَّزُ بِـ</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Create a meaningful contrast with </a:t>
            </a:r>
            <a:pPr algn="l" indent="0" marL="0">
              <a:buNone/>
            </a:pPr>
            <a:r>
              <a:rPr lang="ar-SA" altLang="en-US" sz="1550" dirty="0">
                <a:solidFill>
                  <a:srgbClr val="1F2A37"/>
                </a:solidFill>
                <a:latin typeface="Amiri" pitchFamily="34" charset="0"/>
                <a:ea typeface="Amiri" pitchFamily="34" charset="-122"/>
                <a:cs typeface="Amiri" pitchFamily="34" charset="-120"/>
              </a:rPr>
              <a:t>بَيْنَمَا</a:t>
            </a:r>
            <a:pPr algn="l" indent="0" marL="0">
              <a:buNone/>
            </a:pPr>
            <a:r>
              <a:rPr lang="en-US" sz="1200" dirty="0">
                <a:solidFill>
                  <a:srgbClr val="1F2A37"/>
                </a:solidFill>
                <a:latin typeface="Calibri" pitchFamily="34" charset="0"/>
                <a:ea typeface="Calibri" pitchFamily="34" charset="-122"/>
                <a:cs typeface="Calibri" pitchFamily="34" charset="-120"/>
              </a:rPr>
              <a:t> and give an opinion.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تَجْمَعُ المَدِينَةُ بَيْنَ التُّرَاثِ وَالحَدَاثَةِ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city combines heritage and modernity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يَحْتَرِمُ تَصْمِيمُهُ المِعْمَارَ القَدِيمَ</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its design respects the old architecture</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يُوَفِّرُ مَسَاحَاتٍ فَسِيحَةً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provides spacious areas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يَحْمِي التُّرَاثَ وَيُطَوِّرُ المَدِينَةَ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protects heritage and develops the city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أَقْتَرِحُ أَنْ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suggest that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F6-L07 · Built Environment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مَدِينَتِي مَسْجِدٌ تَارِيخِيٌّ وَمَرْكَزٌ ثَقَافِيٌّ حَدِيثٌ. المَسْجِدُ مَبْنِيٌّ مِنَ الحَجَرِ، وَيَتَمَيَّزُ بِقُبَّتِهِ وَأَبْوَابِهِ الخَشَبِيَّةِ. أَمَّا المَرْكَزُ فَهُوَ مَبْنِيٌّ مِنَ الزُّجَاجِ وَالمَعْدِنِ، وَفِيهِ قَاعَاتٌ فَسِيحَةٌ. المَسْجِدُ هَادِئٌ وَتَقْلِيدِيٌّ، بَيْنَمَا المَرْكَزُ نَشِيطٌ وَمُعَاصِرٌ. أُحِبُّ المَبْنَيَيْنِ لِأَنَّ الأَوَّلَ يَحْمِي التُّرَاثَ وَالثَّانِيَ يُقَدِّمُ خِدْمَاتٍ جَدِيدَةً.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In my city there is a historic mosque and a modern cultural centre. The mosque is built of stone and is known for its dome and wooden doors. As for the centre, it is built of glass and metal and has spacious halls. The mosque is quiet and traditional, whereas the centre is lively and contemporary. I like both buildings because the first protects heritage and the second offers new services.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built of</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known for</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whereas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opinion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F6-L07 · Built Environment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four materials.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ar-SA" altLang="en-US" sz="1700" dirty="0">
                <a:solidFill>
                  <a:srgbClr val="1F2A37"/>
                </a:solidFill>
                <a:latin typeface="Amiri" pitchFamily="34" charset="0"/>
                <a:ea typeface="Amiri" pitchFamily="34" charset="-122"/>
                <a:cs typeface="Amiri" pitchFamily="34" charset="-120"/>
              </a:rPr>
              <a:t>مِنَ</a:t>
            </a:r>
            <a:pPr algn="l" indent="0" marL="0">
              <a:buNone/>
            </a:pPr>
            <a:r>
              <a:rPr lang="en-US" sz="1300" dirty="0">
                <a:solidFill>
                  <a:srgbClr val="1F2A37"/>
                </a:solidFill>
                <a:latin typeface="Calibri" pitchFamily="34" charset="0"/>
                <a:ea typeface="Calibri" pitchFamily="34" charset="-122"/>
                <a:cs typeface="Calibri" pitchFamily="34" charset="-120"/>
              </a:rPr>
              <a:t> + material (-i).</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ar-SA" altLang="en-US" sz="1700" dirty="0">
                <a:solidFill>
                  <a:srgbClr val="1F2A37"/>
                </a:solidFill>
                <a:latin typeface="Amiri" pitchFamily="34" charset="0"/>
                <a:ea typeface="Amiri" pitchFamily="34" charset="-122"/>
                <a:cs typeface="Amiri" pitchFamily="34" charset="-120"/>
              </a:rPr>
              <a:t>مَبْنِيٌّ / مَبْنِيَّةٌ</a:t>
            </a:r>
            <a:pPr algn="l" indent="0" marL="0">
              <a:buNone/>
            </a:pPr>
            <a:r>
              <a:rPr lang="en-US" sz="1300" dirty="0">
                <a:solidFill>
                  <a:srgbClr val="1F2A37"/>
                </a:solidFill>
                <a:latin typeface="Calibri" pitchFamily="34" charset="0"/>
                <a:ea typeface="Calibri" pitchFamily="34" charset="-122"/>
                <a:cs typeface="Calibri" pitchFamily="34" charset="-120"/>
              </a:rPr>
              <a:t> agree with the building.</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ar-SA" altLang="en-US" sz="1700" dirty="0">
                <a:solidFill>
                  <a:srgbClr val="1F2A37"/>
                </a:solidFill>
                <a:latin typeface="Amiri" pitchFamily="34" charset="0"/>
                <a:ea typeface="Amiri" pitchFamily="34" charset="-122"/>
                <a:cs typeface="Amiri" pitchFamily="34" charset="-120"/>
              </a:rPr>
              <a:t>بَيْنَمَا</a:t>
            </a:r>
            <a:pPr algn="l" indent="0" marL="0">
              <a:buNone/>
            </a:pPr>
            <a:r>
              <a:rPr lang="en-US" sz="1300" dirty="0">
                <a:solidFill>
                  <a:srgbClr val="1F2A37"/>
                </a:solidFill>
                <a:latin typeface="Calibri" pitchFamily="34" charset="0"/>
                <a:ea typeface="Calibri" pitchFamily="34" charset="-122"/>
                <a:cs typeface="Calibri" pitchFamily="34" charset="-120"/>
              </a:rPr>
              <a:t> joins two complete ideas.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Heritage + a design suggestion.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F6-L07 · Built Environment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stone?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حَجَرٌ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زُجَاجٌ</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خَشَبٌ</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العِمَارَةُ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مِنَ الخَرَسَانَةِ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مَبْنِيٌّ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مَبْنِيَّةٌ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مَبْنِيَّانِ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contrasts two settings?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لِذٰلِكَ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F6-L07 · Built Environment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stone?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حَجَرٌ</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زُجَاجٌ</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خَشَبٌ</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حَجَرٌ</a:t>
            </a:r>
            <a:pPr algn="l" indent="0" marL="0">
              <a:buNone/>
            </a:pPr>
            <a:r>
              <a:rPr lang="en-US" sz="1050" i="1" dirty="0">
                <a:solidFill>
                  <a:srgbClr val="8A6D1E"/>
                </a:solidFill>
                <a:latin typeface="Calibri" pitchFamily="34" charset="0"/>
                <a:ea typeface="Calibri" pitchFamily="34" charset="-122"/>
                <a:cs typeface="Calibri" pitchFamily="34" charset="-120"/>
              </a:rPr>
              <a:t> means stone.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العِمَارَةُ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مِنَ الخَرَسَانَةِ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مَبْنِيٌّ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مَبْنِيَّةٌ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مَبْنِيَّانِ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العِمَارَةُ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contrasts two settings?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بَيْنَمَا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لِذٰلِكَ</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ثُمَّ</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بَيْنَمَا</a:t>
            </a:r>
            <a:pPr algn="l" indent="0" marL="0">
              <a:buNone/>
            </a:pPr>
            <a:r>
              <a:rPr lang="en-US" sz="1050" i="1" dirty="0">
                <a:solidFill>
                  <a:srgbClr val="8A6D1E"/>
                </a:solidFill>
                <a:latin typeface="Calibri" pitchFamily="34" charset="0"/>
                <a:ea typeface="Calibri" pitchFamily="34" charset="-122"/>
                <a:cs typeface="Calibri" pitchFamily="34" charset="-120"/>
              </a:rPr>
              <a:t> means whereas.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F6-L07 · Built Environment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Old and new architecture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تَجْمَعُ مَدِينَةُ الرِّوَاقِ بَيْنَ التُّرَاثِ وَالعُمْرَانِ المُعَاصِرِ. فِي القَلْعَةِ القَدِيمَةِ مَبَانٍ مَبْنِيَّةٌ مِنَ الحَجَرِ، وَتَتَمَيَّزُ بِنَوَافِذِهَا الصَّغِيرَةِ وَأَقْوَاسِهَا. بِالقُرْبِ مِنْهَا مَرْكَزٌ ثَقَافِيٌّ حَدِيثٌ مَبْنِيٌّ مِنَ الزُّجَاجِ وَالمَعْدِنِ. يَحْتَرِمُ تَصْمِيمُهُ المِعْمَارَ القَدِيمَ، بَيْنَمَا يُوَفِّرُ مَسَاحَاتٍ فَسِيحَةً لِلزُّوَّارِ. لِذٰلِكَ يَرَى السُّكَّانُ أَنَّ المَشْرُوعَ يَحْمِي التُّرَاثَ وَيُطَوِّرُ المَدِينَةَ.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تَجْمَعُ بَيْنَ</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combines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العُمْرَانِ المُعَاصِرِ</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contemporary development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القَلْعَةِ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citadel</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نَوَافِذِهَا</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its windows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أَقْوَاسِهَا</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its arches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مَرْكَزٌ ثَقَافِيٌّ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cultural centre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تَصْمِيمُهُ</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its design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يُوَفِّرُ</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provides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لِلزُّوَّارِ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for visitors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السُّكَّانُ</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residents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F6-L07 · Built Environment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F6-L07</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city combine?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rural and coastal life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heritage and contemporary development</a:t>
            </a:r>
            <a:endParaRPr lang="en-US" sz="120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transport and shopping</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the old buildings made of?</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glass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metal</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stone</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features do they have?</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small windows and arches</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large glass doors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platforms</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cultural centre made of?</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brick and clay</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glass and metal</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wood and sand</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design respect?</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old architecture</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railway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market</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residents’ view?</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destroys the old city.</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should be closed.</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protects heritage and develops the city.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F6-L07 · Built Environment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F6-L07</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city combine?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rural and coastal life</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heritage and contemporary development</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transport and shopping</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بَيْنَ التُّرَاثِ وَالعُمْرَانِ المُعَاصِرِ.</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the old buildings made of?</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glass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metal</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stone</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مَبْنِيَّةٌ مِنَ الحَجَرِ.</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features do they have?</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small windows and arches</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large glass doors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platforms</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نَوَافِذِهَا الصَّغِيرَةِ وَأَقْوَاسِهَا.</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cultural centre made of?</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brick and clay</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glass and metal</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wood and sand</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مِنَ الزُّجَاجِ وَالمَعْدِنِ.</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design respect?</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old architecture</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railway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market</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يَحْتَرِمُ ... المِعْمَارَ القَدِيمَ.</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residents’ view?</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destroys the old city.</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should be closed.</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protects heritage and develops the city.</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sentence gives this positive balanced view.</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F6-L07 · Built Environment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F6-L08: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F6 · My Town and Transport · F6-L07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F6-L08 · Giving Directions: Signs, Streets and Maps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اِتِّجَاهٌ</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direction</a:t>
            </a:r>
            <a:pPr indent="0" marL="0">
              <a:buNone/>
            </a:pPr>
            <a:r>
              <a:rPr lang="en-US" sz="1000" i="1" dirty="0">
                <a:solidFill>
                  <a:srgbClr val="5A6472"/>
                </a:solidFill>
                <a:latin typeface="Calibri" pitchFamily="34" charset="0"/>
                <a:ea typeface="Calibri" pitchFamily="34" charset="-122"/>
                <a:cs typeface="Calibri" pitchFamily="34" charset="-120"/>
              </a:rPr>
              <a:t>  pl. اِتِّجَاهَاتٌ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اِذْهَبْ / اِذْهَبِي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go! (m. / f.)</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اِنْعَطِفْ / اِنْعَطِفِي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turn! (m. / f.)</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يَمِينًا · يَسَارًا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right · left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إِشَارَةُ المُرُورِ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traffic lights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How do you get from your front door to the nearest shop? Think of two directions.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اِذْهَبْ … ثُمَّ اِنْعَطِفْ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F6-L07: the vocabulary tab and the “Material or building?”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Compare an old and a new building (60–80 words) with agreement and whereas.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(80–100 words) + one design idea that respects heritage.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F6-L07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F6-L08 · Giving Directions: Signs, Streets and Maps</a:t>
            </a:r>
            <a:endParaRPr lang="en-US" sz="19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إِعْطَاءُ الاِتِّجَاهَاتِ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m. building → </a:t>
            </a:r>
            <a:pPr algn="l" indent="0" marL="0">
              <a:buNone/>
            </a:pPr>
            <a:r>
              <a:rPr lang="ar-SA" altLang="en-US" sz="1700" b="1" dirty="0">
                <a:solidFill>
                  <a:srgbClr val="FFFFFF"/>
                </a:solidFill>
                <a:latin typeface="Amiri" pitchFamily="34" charset="0"/>
                <a:ea typeface="Amiri" pitchFamily="34" charset="-122"/>
                <a:cs typeface="Amiri" pitchFamily="34" charset="-120"/>
              </a:rPr>
              <a:t>مَبْنِيٌّ</a:t>
            </a:r>
            <a:pPr algn="l" indent="0" marL="0">
              <a:buNone/>
            </a:pPr>
            <a:r>
              <a:rPr lang="en-US" sz="1300" b="1" dirty="0">
                <a:solidFill>
                  <a:srgbClr val="FFFFFF"/>
                </a:solidFill>
                <a:latin typeface="Calibri" pitchFamily="34" charset="0"/>
                <a:ea typeface="Calibri" pitchFamily="34" charset="-122"/>
                <a:cs typeface="Calibri" pitchFamily="34" charset="-120"/>
              </a:rPr>
              <a:t> · f. building → </a:t>
            </a:r>
            <a:pPr algn="l" indent="0" marL="0">
              <a:buNone/>
            </a:pPr>
            <a:r>
              <a:rPr lang="ar-SA" altLang="en-US" sz="1700" b="1" dirty="0">
                <a:solidFill>
                  <a:srgbClr val="FFFFFF"/>
                </a:solidFill>
                <a:latin typeface="Amiri" pitchFamily="34" charset="0"/>
                <a:ea typeface="Amiri" pitchFamily="34" charset="-122"/>
                <a:cs typeface="Amiri" pitchFamily="34" charset="-120"/>
              </a:rPr>
              <a:t>مَبْنِيَّةٌ</a:t>
            </a:r>
            <a:pPr algn="l" indent="0" marL="0">
              <a:buNone/>
            </a:pPr>
            <a:r>
              <a:rPr lang="en-US" sz="1300" b="1" dirty="0">
                <a:solidFill>
                  <a:srgbClr val="FFFFFF"/>
                </a:solidFill>
                <a:latin typeface="Calibri" pitchFamily="34" charset="0"/>
                <a:ea typeface="Calibri" pitchFamily="34" charset="-122"/>
                <a:cs typeface="Calibri" pitchFamily="34" charset="-120"/>
              </a:rPr>
              <a:t> · </a:t>
            </a:r>
            <a:pPr algn="l" indent="0" marL="0">
              <a:buNone/>
            </a:pPr>
            <a:r>
              <a:rPr lang="ar-SA" altLang="en-US" sz="1700" b="1" dirty="0">
                <a:solidFill>
                  <a:srgbClr val="FFFFFF"/>
                </a:solidFill>
                <a:latin typeface="Amiri" pitchFamily="34" charset="0"/>
                <a:ea typeface="Amiri" pitchFamily="34" charset="-122"/>
                <a:cs typeface="Amiri" pitchFamily="34" charset="-120"/>
              </a:rPr>
              <a:t>بَيْنَمَا</a:t>
            </a:r>
            <a:pPr algn="l" indent="0" marL="0">
              <a:buNone/>
            </a:pPr>
            <a:r>
              <a:rPr lang="en-US" sz="1300" b="1" dirty="0">
                <a:solidFill>
                  <a:srgbClr val="FFFFFF"/>
                </a:solidFill>
                <a:latin typeface="Calibri" pitchFamily="34" charset="0"/>
                <a:ea typeface="Calibri" pitchFamily="34" charset="-122"/>
                <a:cs typeface="Calibri" pitchFamily="34" charset="-120"/>
              </a:rPr>
              <a:t> + two complete ideas.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F6-L07 · The Built Environment: Buildings, Materials and Urban Life</dc:title>
  <dc:subject>PptxGenJS Presentation</dc:subject>
  <dc:creator>Al Madina Online School · Arabic Department</dc:creator>
  <cp:lastModifiedBy>Al Madina Online School · Arabic Department</cp:lastModifiedBy>
  <cp:revision>1</cp:revision>
  <dcterms:created xsi:type="dcterms:W3CDTF">2026-09-27T22:11:45Z</dcterms:created>
  <dcterms:modified xsi:type="dcterms:W3CDTF">2026-09-27T22:11:45Z</dcterms:modified>
</cp:coreProperties>
</file>