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F6-L07. The website lesson “The Built Environment: Buildings, Materials and Urban Life”: vocabulary, grammar rules and quiz, patterns, common mistakes, sorter, listening, reading, speaking prompts and model, writing task and model, differentiation, final check and the lesson mission. Picture match: website visual game “The Built Environment: Buildings, Materials and Urban Life”.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match four buildings to their materials — البَيْتُ مَبْنِيٌّ مِنَ الحَجَرِ.
• Develop: an accurate comparison with agreement (مَبْنِيٌّ / مَبْنِيَّةٌ) and بَيْنَمَا.
• Stretch: analyse how a contemporary building can respect heritage and propose one design feature.
• Website: “Cultural comparison should notice diversity within the Arab world and avoid presenting one building style as universal.”
• Link: the same agreement rule as F6-L05 — the building decides: m. building → مَبْنِيٌّ, f. building → مَبْنِيَّةٌ.
• Invite examples students know: mosques with domes (قُبَّةٌ) and minarets (مِئْذَنَةٌ), skyscrapers in the Gulf, mud-brick towns (e.g. Shibam in Yemen).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F6-L06. Questions 3–5 retrieve F6-L06 (price suffix, comparative) and F6-L05 (tatamayyazu).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building decides the ending: a house is مَبْنِيٌّ, a school is مَبْنِيَّةٌ.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عمارت (a building) = Arabic عِمَارَةٌ (an apartment block). معمار (Urdu: builder, mason) → مِعْمَارٌ (architecture). قلعہ (as in Lahore Fort) = قَلْعَةٌ. ورثہ / میراث (inheritance) share the root of تُرَاثٌ (heritage). معدنیات (minerals) → مَعْدِنٌ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Building materials (website vocabulary (1 of 2)). Hear → Say → See → Use. Transliteration is printed for Core students (cover it for Develop/Stretch).
Materials: after مِنْ + الـ they end in -i: مِنَ الحَجَرِ، مِنَ الطُّوبِ، مِنَ الزُّجَاجِ.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Building materials (website vocabulary (2 of 2)). Hear → Say → See → Use. Transliteration is printed for Core students (cover it for Develop/Stretch).
Materials: after مِنْ + الـ they end in -i: مِنَ الحَجَرِ، مِنَ الطُّوبِ، مِنَ الزُّجَاجِ.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Buildings and settlement types (website vocabulary (1 of 2)). Hear → Say → See → Use. Transliteration is printed for Core students (cover it for Develop/Stretch).
نَاطِحَةُ سَحَابٍ = “cloud-butter” (skyscraper) — students enjoy the image. Detached / semi-detached are useful for UK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Buildings and settlement types (website vocabulary (2 of 2)). Hear → Say → See → Use. Transliteration is printed for Core students (cover it for Develop/Stretch).
نَاطِحَةُ سَحَابٍ = “cloud-butter” (skyscraper) — students enjoy the image. Detached / semi-detached are useful for UK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Architecture and comparison (website vocabulary (1 of 2)). Hear → Say → See → Use. Transliteration is printed for Core students (cover it for Develop/Stretch).
FLEX: teach if time allows; otherwise these are on the website vocabulary tab for homework.
FLEX: architecture adjectives with m. / f. — the same agreement rule as F6-L05.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Architecture and comparison (website vocabulary (2 of 2)). Hear → Say → See → Use. Transliteration is printed for Core students (cover it for Develop/Stretch).
FLEX: teach if time allows; otherwise these are on the website vocabulary tab for homework.
FLEX: architecture adjectives with m. / f. — the same agreement rule as F6-L05.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“Describe a masculine building material” (بَيْتٌ، مَسْجِدٌ، جِسْرٌ → مَبْنِيٌّ مِنْ) and “… a feminine building material” (مَدْرَسَةٌ، عِمَارَةٌ → مَبْنِيَّةٌ مِنْ).
Website overview: “The passive participle agrees with the building noun.”
Website common error: العِمَارَةُ مَبْنِيٌّ ✗ → مَبْنِيَّةٌ ✓. Question (website speaking): مِمَّ بُنِيَ …؟ (= مِنْ + 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“Describe architectural identity” (يَتَمَيَّزُ / تَتَمَيَّزُ بِـ from the subject’s gender) and “Contrast city and countryside” (…، بَيْنَمَا … — each side a complete idea that creates a meaningful contrast).
Website example: تَكْثُرُ نَاطِحَاتُ السَّحَابِ فِي المَدِينَةِ، بَيْنَمَا تَكْثُرُ البُيُوتُ الفَسِيحَةُ فِي الرِّيفِ.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“Describe what a building is made of with مَبْنِيٌّ مِنْ. The passive participle agrees with the building noun. Use بَيْنَمَا to compare genuinely different urban and rural features.”
• Describe a masculine building material: Use مَبْنِيٌّ with masculine nouns such as بَيْتٌ, مَسْجِدٌ and جِسْرٌ.
• Describe a feminine building material: Use مَبْنِيَّةٌ with feminine nouns such as مَدْرَسَةٌ and عِمَارَةٌ.
• Describe architectural identity: Choose the verb form from the subject gender and attach the feature with بِـ.
• Contrast city and countryside: Each side should contain a complete idea that creates a meaningful contrast.
Website common error: Do not write العِمَارَةُ مَبْنِيٌّ. The feminine noun requires مَبْنِيَّةٌ.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(both buildings are masculine; ask how sentence 2 would change for مَدْرَسَةٌ → مَبْنِيَّةٌ، تَتَمَيَّزُ).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Built Environment: Buildings, Materials and Urban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buildings are masculine → مَبْنِيٌّ. Stretch: make item 1 feminine (العِمَارَةُ مَبْنِيَّةٌ مِنَ الطُّوبِ). Other website items: glass, a building project (مَشْرُوعُ بِنَاءٍ), urban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Built Environment: Buildings, Materials and Urban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buildings are masculine → مَبْنِيٌّ. Stretch: make item 1 feminine (العِمَارَةُ مَبْنِيَّةٌ مِنَ الطُّوبِ). Other website items: glass, a building project (مَشْرُوعُ بِنَاءٍ), urban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each noun.
After sorting, pair each building with a material in a sentence (… مَبْنِيٌّ / مَبْنِيَّةٌ مِنْ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each noun.
After sorting, pair each building with a material in a sentence (… مَبْنِيٌّ / مَبْنِيَّةٌ مِنْ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then give your own preference.
Listen 1: just listen. Listen 2: note answers. Then chat the letters.
Support: after the second listening, show the read-along slide (Arabic + English, line by line) for Core students.
SCRIPT (read aloud):
فِي الحَيِّ القَدِيمِ بُيُوتٌ تَقْلِيدِيَّةٌ مَبْنِيَّةٌ مِنَ الحَجَرِ وَالطِّينِ. تَتَمَيَّزُ البُيُوتُ بِأَبْوَابِهَا الخَشَبِيَّةِ وَسَاحَاتِهَا الدَّاخِلِيَّةِ. أَمَّا فِي الحَيِّ الجَدِيدِ فَتُوجَدُ عِمَارَاتٌ مُعَاصِرَةٌ مَبْنِيَّةٌ مِنَ الخَرَسَانَةِ وَالزُّجَاجِ. الحَيُّ الجَدِيدُ مُكْتَنِزٌ، بَيْنَمَا الحَيُّ القَدِيمُ أَكْثَرُ هُدُوءًا.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يَخْتَلِفُ عَنِ العِمَارَةِ الحَدِيثَةِ؟ (How does it differ from the modern block?)
B: البَيْتُ تَقْلِيدِيٌّ وَفَسِيحٌ، بَيْنَمَا العِمَارَةُ مُعَاصِرَةٌ وَمُكْتَنِزَةٌ. (The house is traditional and spacious, whereas the block is contemporary and compact.)
Website “Architecture comparison” — all four prompts are the website’s. Show two photos (an old and a new building). Website model: مِمَّ بُنِيَ هٰذَا البَيْتُ؟ — هُوَ مَبْنِيٌّ مِنَ الحَجَرِ وَالخَشَبِ. — كَيْفَ يَخْتَلِفُ عَنِ العِمَارَةِ الحَدِيثَةِ؟ — البَيْتُ تَقْلِيدِيٌّ وَفَسِيحٌ، بَيْنَمَا العِمَارَةُ مُعَاصِرَةٌ وَمُكْتَنِزَةٌ.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Match four buildings to their materials. · Develop — Write an accurate comparison using agreement and بَيْنَمَا. · Stretch — Analyse how a contemporary building can respect architectural heritage and propose one design feature.
Website writing task (Stretch): Compare an old building and a modern building in 80–100 Arabic words.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مَبْنِيٌّ مِنَ الحَجَرِ · يَتَمَيَّزُ بِقُبَّتِهِ · بَيْنَمَا المَرْكَزُ نَشِيطٌ · أُحِبُّ المَبْنَيَيْنِ لِأَنَّ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(F6-L08 · Giving Directions: Signs, Streets and Maps) will spend class time USING this language, so students prepare it tonight — short, simple, easy to access (school guidance: “Simple, Short, Interesting, Relevant, Easy to access”). The five words come from the website F6-L08 lesson (giving directions).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Built Environment: Buildings, Materials and Urban Life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البِيئَةُ المَبْنِيَّةُ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what buildings are made of with </a:t>
            </a:r>
            <a:pPr algn="l" indent="0" marL="0">
              <a:buNone/>
            </a:pPr>
            <a:r>
              <a:rPr lang="ar-SA" altLang="en-US" sz="1800" dirty="0">
                <a:solidFill>
                  <a:srgbClr val="C6D2E6"/>
                </a:solidFill>
                <a:latin typeface="Amiri" pitchFamily="2" charset="-78"/>
                <a:cs typeface="Amiri" pitchFamily="2" charset="-78"/>
              </a:rPr>
              <a:t>مَبْنِيٌّ / مَبْنِيَّةٌ مِنْ</a:t>
            </a:r>
            <a:pPr algn="l" indent="0" marL="0">
              <a:buNone/>
            </a:pPr>
            <a:r>
              <a:rPr lang="en-US" sz="1400" dirty="0">
                <a:solidFill>
                  <a:srgbClr val="C6D2E6"/>
                </a:solidFill>
                <a:latin typeface="Calibri" pitchFamily="34" charset="0"/>
                <a:cs typeface="Amiri" pitchFamily="2" charset="-78"/>
              </a:rPr>
              <a:t>, describe their special features and compare old and new, city and countryside with </a:t>
            </a:r>
            <a:pPr algn="l" indent="0" marL="0">
              <a:buNone/>
            </a:pPr>
            <a:r>
              <a:rPr lang="ar-SA" altLang="en-US" sz="1800" dirty="0">
                <a:solidFill>
                  <a:srgbClr val="C6D2E6"/>
                </a:solidFill>
                <a:latin typeface="Amiri" pitchFamily="2" charset="-78"/>
                <a:cs typeface="Amiri" pitchFamily="2" charset="-78"/>
              </a:rPr>
              <a:t>بَيْنَمَا</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F6-L07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Materials, buildings and architecture words, then built of … · distinguished by … · whereas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material / building, fix the agreement and listen to two neighbourhoods.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حَجَرٌ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tower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زُجَاجٌ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ثَمَنُهَا؟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أَغْلَيَةٌ مِنَ الكِتَابِ.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غَالِيَةٌ مِنَ الكِتَابِ.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أَغْلَى مِنَ الكِتَابِ.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____ </a:t>
            </a:r>
            <a:pPr algn="l" indent="0" marL="0">
              <a:buNone/>
            </a:pPr>
            <a:r>
              <a:rPr lang="ar-SA" altLang="en-US" sz="1650" b="1" dirty="0">
                <a:solidFill>
                  <a:srgbClr val="1B3B6F"/>
                </a:solidFill>
                <a:latin typeface="Amiri" pitchFamily="2" charset="-78"/>
                <a:cs typeface="Amiri" pitchFamily="2" charset="-78"/>
              </a:rPr>
              <a:t>المَدِينَةُ بِأَسْوَاقِهَا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أَتَمَيَّزُ</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حَجَرٌ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tower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زُجَاجٌ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glass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ثَمَنُهَا؟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ثَمَنُهَا؟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F6-L06: a bag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الحَقِيبَةُ أَغْلَيَةٌ مِنَ الكِتَابِ.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الحَقِيبَةُ غَالِيَةٌ مِنَ الكِتَابِ.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الحَقِيبَةُ أَغْلَى مِنَ الكِتَابِ.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F6-L06: the comparative never changes.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____ </a:t>
            </a:r>
            <a:pPr algn="l" indent="0" marL="0">
              <a:buNone/>
            </a:pPr>
            <a:r>
              <a:rPr lang="ar-SA" altLang="en-US" sz="1650" b="1" dirty="0">
                <a:solidFill>
                  <a:srgbClr val="1B3B6F"/>
                </a:solidFill>
                <a:latin typeface="Amiri" pitchFamily="2" charset="-78"/>
                <a:cs typeface="Amiri" pitchFamily="2" charset="-78"/>
              </a:rPr>
              <a:t>المَدِينَةُ بِأَسْوَاقِهَا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تَتَمَيَّزُ</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يَتَمَيَّزُ</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أَتَمَيَّزُ</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 city is feminine.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building decides the ending: a house is </a:t>
            </a:r>
            <a:pPr algn="l" indent="0" marL="0">
              <a:buNone/>
            </a:pPr>
            <a:r>
              <a:rPr lang="ar-SA" altLang="en-US" sz="1700" b="1" dirty="0">
                <a:solidFill>
                  <a:srgbClr val="1F2A37"/>
                </a:solidFill>
                <a:latin typeface="Amiri" pitchFamily="2" charset="-78"/>
                <a:cs typeface="Amiri" pitchFamily="2" charset="-78"/>
              </a:rPr>
              <a:t>مَبْنِيٌّ</a:t>
            </a:r>
            <a:pPr algn="l" indent="0" marL="0">
              <a:buNone/>
            </a:pPr>
            <a:r>
              <a:rPr lang="en-US" sz="1300" b="1" dirty="0">
                <a:solidFill>
                  <a:srgbClr val="1F2A37"/>
                </a:solidFill>
                <a:latin typeface="Calibri" pitchFamily="34" charset="0"/>
                <a:cs typeface="Amiri" pitchFamily="2" charset="-78"/>
              </a:rPr>
              <a:t>, a school is </a:t>
            </a:r>
            <a:pPr algn="l" indent="0" marL="0">
              <a:buNone/>
            </a:pPr>
            <a:r>
              <a:rPr lang="ar-SA" altLang="en-US" sz="1700" b="1" dirty="0">
                <a:solidFill>
                  <a:srgbClr val="1F2A37"/>
                </a:solidFill>
                <a:latin typeface="Amiri" pitchFamily="2" charset="-78"/>
                <a:cs typeface="Amiri" pitchFamily="2" charset="-78"/>
              </a:rPr>
              <a:t>مَبْنِيَّةٌ</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البَيْتُ </a:t>
            </a:r>
            <a:pPr rtl="1" algn="ctr" indent="0" marL="0">
              <a:lnSpc>
                <a:spcPct val="120000"/>
              </a:lnSpc>
              <a:buNone/>
            </a:pPr>
            <a:r>
              <a:rPr lang="ar-SA" altLang="en-US" sz="1950" b="1" dirty="0">
                <a:solidFill>
                  <a:srgbClr val="1D5FBF"/>
                </a:solidFill>
                <a:latin typeface="Amiri" pitchFamily="2" charset="-78"/>
                <a:cs typeface="Amiri" pitchFamily="2" charset="-78"/>
              </a:rPr>
              <a:t>مَبْنِيٌّ</a:t>
            </a:r>
            <a:pPr rtl="1" algn="ctr" indent="0" marL="0">
              <a:lnSpc>
                <a:spcPct val="120000"/>
              </a:lnSpc>
              <a:buNone/>
            </a:pPr>
            <a:r>
              <a:rPr lang="ar-SA" altLang="en-US" sz="1950" b="1" dirty="0">
                <a:solidFill>
                  <a:srgbClr val="1B3B6F"/>
                </a:solidFill>
                <a:latin typeface="Amiri" pitchFamily="2" charset="-78"/>
                <a:cs typeface="Amiri" pitchFamily="2" charset="-78"/>
              </a:rPr>
              <a:t> مِنَ الحَجَرِ · المَدْرَسَةُ </a:t>
            </a:r>
            <a:pPr rtl="1" algn="ctr" indent="0" marL="0">
              <a:lnSpc>
                <a:spcPct val="120000"/>
              </a:lnSpc>
              <a:buNone/>
            </a:pPr>
            <a:r>
              <a:rPr lang="ar-SA" altLang="en-US" sz="1950" b="1" dirty="0">
                <a:solidFill>
                  <a:srgbClr val="D6336C"/>
                </a:solidFill>
                <a:latin typeface="Amiri" pitchFamily="2" charset="-78"/>
                <a:cs typeface="Amiri" pitchFamily="2" charset="-78"/>
              </a:rPr>
              <a:t>مَبْنِيَّةٌ</a:t>
            </a:r>
            <a:pPr rtl="1" algn="ctr" indent="0" marL="0">
              <a:lnSpc>
                <a:spcPct val="120000"/>
              </a:lnSpc>
              <a:buNone/>
            </a:pPr>
            <a:r>
              <a:rPr lang="ar-SA" altLang="en-US" sz="1950" b="1" dirty="0">
                <a:solidFill>
                  <a:srgbClr val="1B3B6F"/>
                </a:solidFill>
                <a:latin typeface="Amiri" pitchFamily="2" charset="-78"/>
                <a:cs typeface="Amiri" pitchFamily="2" charset="-78"/>
              </a:rPr>
              <a:t> مِنَ الطُّوبِ</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key building materials and settlement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t>
            </a:r>
            <a:pPr algn="l" indent="0" marL="0">
              <a:buNone/>
            </a:pPr>
            <a:r>
              <a:rPr lang="ar-SA" altLang="en-US" sz="1700" dirty="0">
                <a:solidFill>
                  <a:srgbClr val="1F2A37"/>
                </a:solidFill>
                <a:latin typeface="Amiri" pitchFamily="2" charset="-78"/>
                <a:cs typeface="Amiri" pitchFamily="2" charset="-78"/>
              </a:rPr>
              <a:t>مَبْنِيٌّ / مَبْنِيَّةٌ</a:t>
            </a:r>
            <a:pPr algn="l" indent="0" marL="0">
              <a:buNone/>
            </a:pPr>
            <a:r>
              <a:rPr lang="en-US" sz="1300" dirty="0">
                <a:solidFill>
                  <a:srgbClr val="1F2A37"/>
                </a:solidFill>
                <a:latin typeface="Calibri" pitchFamily="34" charset="0"/>
                <a:cs typeface="Amiri" pitchFamily="2" charset="-78"/>
              </a:rPr>
              <a:t> agree with the building.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يَتَمَيَّزُ / تَتَمَيَّزُ بِـ</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urban and rural built environments with </a:t>
            </a:r>
            <a:pPr algn="l" indent="0" marL="0">
              <a:buNone/>
            </a:pPr>
            <a:r>
              <a:rPr lang="ar-SA" altLang="en-US" sz="1700" dirty="0">
                <a:solidFill>
                  <a:srgbClr val="1F2A37"/>
                </a:solidFill>
                <a:latin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materials.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a building is made of.</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t>
            </a:r>
            <a:pPr algn="l" indent="0" marL="0">
              <a:buNone/>
            </a:pPr>
            <a:r>
              <a:rPr lang="ar-SA" altLang="en-US" sz="1700" b="1" dirty="0">
                <a:solidFill>
                  <a:srgbClr val="C9780A"/>
                </a:solidFill>
                <a:latin typeface="Amiri" pitchFamily="2" charset="-78"/>
                <a:cs typeface="Amiri" pitchFamily="2" charset="-78"/>
              </a:rPr>
              <a:t>مَبْنِيٌّ / مَبْنِيَّةٌ</a:t>
            </a:r>
            <a:pPr algn="l" indent="0" marL="0">
              <a:buNone/>
            </a:pPr>
            <a:r>
              <a:rPr lang="en-US" sz="1300" b="1" dirty="0">
                <a:solidFill>
                  <a:srgbClr val="C9780A"/>
                </a:solidFill>
                <a:latin typeface="Calibri" pitchFamily="34" charset="0"/>
                <a:cs typeface="Amiri" pitchFamily="2" charset="-78"/>
              </a:rPr>
              <a:t> agree.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with </a:t>
            </a:r>
            <a:pPr algn="l" indent="0" marL="0">
              <a:buNone/>
            </a:pPr>
            <a:r>
              <a:rPr lang="ar-SA" altLang="en-US" sz="1700" b="1" dirty="0">
                <a:solidFill>
                  <a:srgbClr val="C9780A"/>
                </a:solidFill>
                <a:latin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architectural heritage.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respectful cultural comparison.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Building materials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Buildings and settlement types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Architecture and comparison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عِمَارَةٌ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‎عمارت‎ </a:t>
            </a:r>
            <a:pPr indent="0" marL="0">
              <a:buNone/>
            </a:pPr>
            <a:r>
              <a:rPr lang="en-US" sz="950" b="1" dirty="0">
                <a:solidFill>
                  <a:srgbClr val="2E8B57"/>
                </a:solidFill>
                <a:latin typeface="Calibri" pitchFamily="34" charset="0"/>
                <a:cs typeface="Amiri" pitchFamily="2" charset="-78"/>
              </a:rPr>
              <a:t> imārat · a building / block</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مِعْمَارٌ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‎معمار‎ </a:t>
            </a:r>
            <a:pPr indent="0" marL="0">
              <a:buNone/>
            </a:pPr>
            <a:r>
              <a:rPr lang="en-US" sz="950" b="1" dirty="0">
                <a:solidFill>
                  <a:srgbClr val="2E8B57"/>
                </a:solidFill>
                <a:latin typeface="Calibri" pitchFamily="34" charset="0"/>
                <a:cs typeface="Amiri" pitchFamily="2" charset="-78"/>
              </a:rPr>
              <a:t> meʿmār · Urdu: builder · Arabic: architecture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تُرَاثٌ</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‎ورثہ / میراث‎ </a:t>
            </a:r>
            <a:pPr indent="0" marL="0">
              <a:buNone/>
            </a:pPr>
            <a:r>
              <a:rPr lang="en-US" sz="950" b="1" dirty="0">
                <a:solidFill>
                  <a:srgbClr val="2E8B57"/>
                </a:solidFill>
                <a:latin typeface="Calibri" pitchFamily="34" charset="0"/>
                <a:cs typeface="Amiri" pitchFamily="2" charset="-78"/>
              </a:rPr>
              <a:t> wirsa · inheritance → heritage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قَلْعَةٌ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‎قلعہ‎ </a:t>
            </a:r>
            <a:pPr indent="0" marL="0">
              <a:buNone/>
            </a:pPr>
            <a:r>
              <a:rPr lang="en-US" sz="950" b="1" dirty="0">
                <a:solidFill>
                  <a:srgbClr val="2E8B57"/>
                </a:solidFill>
                <a:latin typeface="Calibri" pitchFamily="34" charset="0"/>
                <a:cs typeface="Amiri" pitchFamily="2" charset="-78"/>
              </a:rPr>
              <a:t> qilʿa · fort / castle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مَعْدِنٌ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‎معدنیات‎ </a:t>
            </a:r>
            <a:pPr indent="0" marL="0">
              <a:buNone/>
            </a:pPr>
            <a:r>
              <a:rPr lang="en-US" sz="950" b="1" dirty="0">
                <a:solidFill>
                  <a:srgbClr val="2E8B57"/>
                </a:solidFill>
                <a:latin typeface="Calibri" pitchFamily="34" charset="0"/>
                <a:cs typeface="Amiri" pitchFamily="2" charset="-78"/>
              </a:rPr>
              <a:t> maʿdaniyāt · minerals → metal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Building materials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مَبْنِيٌّ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مَبْنِيٌّ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مَبْنِيَّةٌ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buildings</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مَبَانٍ مَبْنِيَّةٌ</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حَجَرٌ</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stone</a:t>
            </a:r>
            <a:endParaRPr lang="en-US" sz="1350" dirty="0"/>
          </a:p>
          <a:p>
            <a:pPr indent="0" marL="0">
              <a:buNone/>
            </a:pPr>
            <a:r>
              <a:rPr lang="en-US" sz="1100" i="1" dirty="0">
                <a:solidFill>
                  <a:srgbClr val="5A6472"/>
                </a:solidFill>
                <a:latin typeface="Calibri" pitchFamily="34" charset="0"/>
                <a:cs typeface="Amiri" pitchFamily="2" charset="-78"/>
              </a:rPr>
              <a:t>ḥa-ja-run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طُوبٌ</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brick</a:t>
            </a:r>
            <a:endParaRPr lang="en-US" sz="1350" dirty="0"/>
          </a:p>
          <a:p>
            <a:pPr indent="0" marL="0">
              <a:buNone/>
            </a:pPr>
            <a:r>
              <a:rPr lang="en-US" sz="1100" i="1" dirty="0">
                <a:solidFill>
                  <a:srgbClr val="5A6472"/>
                </a:solidFill>
                <a:latin typeface="Calibri" pitchFamily="34" charset="0"/>
                <a:cs typeface="Amiri" pitchFamily="2" charset="-78"/>
              </a:rPr>
              <a:t>ṭū-bun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خَرَسَانَةٌ</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concrete</a:t>
            </a:r>
            <a:endParaRPr lang="en-US" sz="1350" dirty="0"/>
          </a:p>
          <a:p>
            <a:pPr indent="0" marL="0">
              <a:buNone/>
            </a:pPr>
            <a:r>
              <a:rPr lang="en-US" sz="1100" i="1" dirty="0">
                <a:solidFill>
                  <a:srgbClr val="5A6472"/>
                </a:solidFill>
                <a:latin typeface="Calibri" pitchFamily="34" charset="0"/>
                <a:cs typeface="Amiri" pitchFamily="2" charset="-78"/>
              </a:rPr>
              <a:t>kha-ra-sā-na-tun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خَشَبٌ</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wood</a:t>
            </a:r>
            <a:endParaRPr lang="en-US" sz="1350" dirty="0"/>
          </a:p>
          <a:p>
            <a:pPr indent="0" marL="0">
              <a:buNone/>
            </a:pPr>
            <a:r>
              <a:rPr lang="en-US" sz="1100" i="1" dirty="0">
                <a:solidFill>
                  <a:srgbClr val="5A6472"/>
                </a:solidFill>
                <a:latin typeface="Calibri" pitchFamily="34" charset="0"/>
                <a:cs typeface="Amiri" pitchFamily="2" charset="-78"/>
              </a:rPr>
              <a:t>kha-sha-bun</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Building materials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زُجَاجٌ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glass</a:t>
            </a:r>
            <a:endParaRPr lang="en-US" sz="1350" dirty="0"/>
          </a:p>
          <a:p>
            <a:pPr indent="0" marL="0">
              <a:buNone/>
            </a:pPr>
            <a:r>
              <a:rPr lang="en-US" sz="1100" i="1" dirty="0">
                <a:solidFill>
                  <a:srgbClr val="5A6472"/>
                </a:solidFill>
                <a:latin typeface="Calibri" pitchFamily="34" charset="0"/>
                <a:cs typeface="Amiri" pitchFamily="2" charset="-78"/>
              </a:rPr>
              <a:t>zu-jā-jun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مَعْدِنٌ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metal</a:t>
            </a:r>
            <a:endParaRPr lang="en-US" sz="1350" dirty="0"/>
          </a:p>
          <a:p>
            <a:pPr indent="0" marL="0">
              <a:buNone/>
            </a:pPr>
            <a:r>
              <a:rPr lang="en-US" sz="1100" i="1" dirty="0">
                <a:solidFill>
                  <a:srgbClr val="5A6472"/>
                </a:solidFill>
                <a:latin typeface="Calibri" pitchFamily="34" charset="0"/>
                <a:cs typeface="Amiri" pitchFamily="2" charset="-78"/>
              </a:rPr>
              <a:t>maʿ-di-nun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رَمْلٌ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sand</a:t>
            </a:r>
            <a:endParaRPr lang="en-US" sz="1350" dirty="0"/>
          </a:p>
          <a:p>
            <a:pPr indent="0" marL="0">
              <a:buNone/>
            </a:pPr>
            <a:r>
              <a:rPr lang="en-US" sz="1100" i="1" dirty="0">
                <a:solidFill>
                  <a:srgbClr val="5A6472"/>
                </a:solidFill>
                <a:latin typeface="Calibri" pitchFamily="34" charset="0"/>
                <a:cs typeface="Amiri" pitchFamily="2" charset="-78"/>
              </a:rPr>
              <a:t>ram-lun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طِينٌ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clay / mud</a:t>
            </a:r>
            <a:endParaRPr lang="en-US" sz="1350" dirty="0"/>
          </a:p>
          <a:p>
            <a:pPr indent="0" marL="0">
              <a:buNone/>
            </a:pPr>
            <a:r>
              <a:rPr lang="en-US" sz="1100" i="1" dirty="0">
                <a:solidFill>
                  <a:srgbClr val="5A6472"/>
                </a:solidFill>
                <a:latin typeface="Calibri" pitchFamily="34" charset="0"/>
                <a:cs typeface="Amiri" pitchFamily="2" charset="-78"/>
              </a:rPr>
              <a:t>ṭī-nun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صَخْرٌ</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rock</a:t>
            </a:r>
            <a:endParaRPr lang="en-US" sz="1350" dirty="0"/>
          </a:p>
          <a:p>
            <a:pPr indent="0" marL="0">
              <a:buNone/>
            </a:pPr>
            <a:r>
              <a:rPr lang="en-US" sz="1100" i="1" dirty="0">
                <a:solidFill>
                  <a:srgbClr val="5A6472"/>
                </a:solidFill>
                <a:latin typeface="Calibri" pitchFamily="34" charset="0"/>
                <a:cs typeface="Amiri" pitchFamily="2" charset="-78"/>
              </a:rPr>
              <a:t>ṣakh-run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Buildings and settlement types (1 of 2)</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نَاطِحَةُ سَحَابٍ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skyscraper</a:t>
            </a:r>
            <a:endParaRPr lang="en-US" sz="1350" dirty="0"/>
          </a:p>
          <a:p>
            <a:pPr indent="0" marL="0">
              <a:buNone/>
            </a:pPr>
            <a:r>
              <a:rPr lang="en-US" sz="1100" i="1" dirty="0">
                <a:solidFill>
                  <a:srgbClr val="5A6472"/>
                </a:solidFill>
                <a:latin typeface="Calibri" pitchFamily="34" charset="0"/>
                <a:cs typeface="Amiri" pitchFamily="2" charset="-78"/>
              </a:rPr>
              <a:t>nā-ṭi-ḥa-tu sa-ḥā-bin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نَاطِحَةُ سَحَابٍ</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نَاطِحَاتُ سَحَابٍ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بِنَايَةٌ</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building</a:t>
            </a:r>
            <a:endParaRPr lang="en-US" sz="1350" dirty="0"/>
          </a:p>
          <a:p>
            <a:pPr indent="0" marL="0">
              <a:buNone/>
            </a:pPr>
            <a:r>
              <a:rPr lang="en-US" sz="1100" i="1" dirty="0">
                <a:solidFill>
                  <a:srgbClr val="5A6472"/>
                </a:solidFill>
                <a:latin typeface="Calibri" pitchFamily="34" charset="0"/>
                <a:cs typeface="Amiri" pitchFamily="2" charset="-78"/>
              </a:rPr>
              <a:t>bi-nā-ya-tun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عِمَارَةٌ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apartment block</a:t>
            </a:r>
            <a:endParaRPr lang="en-US" sz="1350" dirty="0"/>
          </a:p>
          <a:p>
            <a:pPr indent="0" marL="0">
              <a:buNone/>
            </a:pPr>
            <a:r>
              <a:rPr lang="en-US" sz="1100" i="1" dirty="0">
                <a:solidFill>
                  <a:srgbClr val="5A6472"/>
                </a:solidFill>
                <a:latin typeface="Calibri" pitchFamily="34" charset="0"/>
                <a:cs typeface="Amiri" pitchFamily="2" charset="-78"/>
              </a:rPr>
              <a:t>ʿi-mā-ra-tun</a:t>
            </a:r>
            <a:endParaRPr lang="en-US" sz="1350" dirty="0"/>
          </a:p>
        </p:txBody>
      </p:sp>
      <p:sp>
        <p:nvSpPr>
          <p:cNvPr id="44" name="Shape 4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6" name="Text 4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عِمَارَةٌ</a:t>
            </a:r>
            <a:endParaRPr lang="ar-SA" sz="1500" dirty="0"/>
          </a:p>
        </p:txBody>
      </p:sp>
      <p:sp>
        <p:nvSpPr>
          <p:cNvPr id="47" name="Shape 4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عِمَارَاتٌ</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مَنْزِلٌ مُسْتَقِلٌّ</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detached house</a:t>
            </a:r>
            <a:endParaRPr lang="en-US" sz="1350" dirty="0"/>
          </a:p>
          <a:p>
            <a:pPr indent="0" marL="0">
              <a:buNone/>
            </a:pPr>
            <a:r>
              <a:rPr lang="en-US" sz="1100" i="1" dirty="0">
                <a:solidFill>
                  <a:srgbClr val="5A6472"/>
                </a:solidFill>
                <a:latin typeface="Calibri" pitchFamily="34" charset="0"/>
                <a:cs typeface="Amiri" pitchFamily="2" charset="-78"/>
              </a:rPr>
              <a:t>man-zi-lun mus-ta-qil-lun</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مَنْزِلٌ شِبْهُ مُسْتَقِلٍّ</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semi-detached house</a:t>
            </a:r>
            <a:endParaRPr lang="en-US" sz="1350" dirty="0"/>
          </a:p>
          <a:p>
            <a:pPr indent="0" marL="0">
              <a:buNone/>
            </a:pPr>
            <a:r>
              <a:rPr lang="en-US" sz="1100" i="1" dirty="0">
                <a:solidFill>
                  <a:srgbClr val="5A6472"/>
                </a:solidFill>
                <a:latin typeface="Calibri" pitchFamily="34" charset="0"/>
                <a:cs typeface="Amiri" pitchFamily="2" charset="-78"/>
              </a:rPr>
              <a:t>man-zi-lun shib-hu mus-ta-qil-lin</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Buildings and settlement types (2 of 2)</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بَيْتٌ تَقْلِيدِيٌّ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house</a:t>
            </a:r>
            <a:endParaRPr lang="en-US" sz="1350" dirty="0"/>
          </a:p>
          <a:p>
            <a:pPr indent="0" marL="0">
              <a:buNone/>
            </a:pPr>
            <a:r>
              <a:rPr lang="en-US" sz="1100" i="1" dirty="0">
                <a:solidFill>
                  <a:srgbClr val="5A6472"/>
                </a:solidFill>
                <a:latin typeface="Calibri" pitchFamily="34" charset="0"/>
                <a:cs typeface="Amiri" pitchFamily="2" charset="-78"/>
              </a:rPr>
              <a:t>bay-tun taq-lī-diy-yun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مَبْنًى تَارِيخِيٌّ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historic building</a:t>
            </a:r>
            <a:endParaRPr lang="en-US" sz="1350" dirty="0"/>
          </a:p>
          <a:p>
            <a:pPr indent="0" marL="0">
              <a:buNone/>
            </a:pPr>
            <a:r>
              <a:rPr lang="en-US" sz="1100" i="1" dirty="0">
                <a:solidFill>
                  <a:srgbClr val="5A6472"/>
                </a:solidFill>
                <a:latin typeface="Calibri" pitchFamily="34" charset="0"/>
                <a:cs typeface="Amiri" pitchFamily="2" charset="-78"/>
              </a:rPr>
              <a:t>mab-nan tā-rī-khiy-yun</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مَبْنًى تَارِيخِيٌّ</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مَبَانٍ تَارِيخِيَّةٌ</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رِيفٌ</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countryside</a:t>
            </a:r>
            <a:endParaRPr lang="en-US" sz="1350" dirty="0"/>
          </a:p>
          <a:p>
            <a:pPr indent="0" marL="0">
              <a:buNone/>
            </a:pPr>
            <a:r>
              <a:rPr lang="en-US" sz="1100" i="1" dirty="0">
                <a:solidFill>
                  <a:srgbClr val="5A6472"/>
                </a:solidFill>
                <a:latin typeface="Calibri" pitchFamily="34" charset="0"/>
                <a:cs typeface="Amiri" pitchFamily="2" charset="-78"/>
              </a:rPr>
              <a:t>rī-fun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حَضَرٌ</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area</a:t>
            </a:r>
            <a:endParaRPr lang="en-US" sz="1350" dirty="0"/>
          </a:p>
          <a:p>
            <a:pPr indent="0" marL="0">
              <a:buNone/>
            </a:pPr>
            <a:r>
              <a:rPr lang="en-US" sz="1100" i="1" dirty="0">
                <a:solidFill>
                  <a:srgbClr val="5A6472"/>
                </a:solidFill>
                <a:latin typeface="Calibri" pitchFamily="34" charset="0"/>
                <a:cs typeface="Amiri" pitchFamily="2" charset="-78"/>
              </a:rPr>
              <a:t>ḥa-ḍa-run</a:t>
            </a:r>
            <a:endParaRPr lang="en-US" sz="135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عُمْرَانٌ</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environment</a:t>
            </a:r>
            <a:endParaRPr lang="en-US" sz="1350" dirty="0"/>
          </a:p>
          <a:p>
            <a:pPr indent="0" marL="0">
              <a:buNone/>
            </a:pPr>
            <a:r>
              <a:rPr lang="en-US" sz="1100" i="1" dirty="0">
                <a:solidFill>
                  <a:srgbClr val="5A6472"/>
                </a:solidFill>
                <a:latin typeface="Calibri" pitchFamily="34" charset="0"/>
                <a:cs typeface="Amiri" pitchFamily="2" charset="-78"/>
              </a:rPr>
              <a:t>ʿum-rā-nun</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Architecture and comparison (1 of 2)</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تُرَاثٌ</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heritage</a:t>
            </a:r>
            <a:endParaRPr lang="en-US" sz="1350" dirty="0"/>
          </a:p>
          <a:p>
            <a:pPr indent="0" marL="0">
              <a:buNone/>
            </a:pPr>
            <a:r>
              <a:rPr lang="en-US" sz="1100" i="1" dirty="0">
                <a:solidFill>
                  <a:srgbClr val="5A6472"/>
                </a:solidFill>
                <a:latin typeface="Calibri" pitchFamily="34" charset="0"/>
                <a:cs typeface="Amiri" pitchFamily="2" charset="-78"/>
              </a:rPr>
              <a:t>tu-rā-thun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مِعْمَارٌ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architecture</a:t>
            </a:r>
            <a:endParaRPr lang="en-US" sz="1350" dirty="0"/>
          </a:p>
          <a:p>
            <a:pPr indent="0" marL="0">
              <a:buNone/>
            </a:pPr>
            <a:r>
              <a:rPr lang="en-US" sz="1100" i="1" dirty="0">
                <a:solidFill>
                  <a:srgbClr val="5A6472"/>
                </a:solidFill>
                <a:latin typeface="Calibri" pitchFamily="34" charset="0"/>
                <a:cs typeface="Amiri" pitchFamily="2" charset="-78"/>
              </a:rPr>
              <a:t>miʿ-mā-run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مِعْمَارِيٌّ / مِعْمَارِيَّةٌ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architectural</a:t>
            </a:r>
            <a:endParaRPr lang="en-US" sz="1350" dirty="0"/>
          </a:p>
          <a:p>
            <a:pPr indent="0" marL="0">
              <a:buNone/>
            </a:pPr>
            <a:r>
              <a:rPr lang="en-US" sz="1100" i="1" dirty="0">
                <a:solidFill>
                  <a:srgbClr val="5A6472"/>
                </a:solidFill>
                <a:latin typeface="Calibri" pitchFamily="34" charset="0"/>
                <a:cs typeface="Amiri" pitchFamily="2" charset="-78"/>
              </a:rPr>
              <a:t>miʿ-mā-riy-yun / miʿ-mā-riy-ya-tun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حَضَرِيٌّ / حَضَرِيَّةٌ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a:t>
            </a:r>
            <a:endParaRPr lang="en-US" sz="1350" dirty="0"/>
          </a:p>
          <a:p>
            <a:pPr indent="0" marL="0">
              <a:buNone/>
            </a:pPr>
            <a:r>
              <a:rPr lang="en-US" sz="1100" i="1" dirty="0">
                <a:solidFill>
                  <a:srgbClr val="5A6472"/>
                </a:solidFill>
                <a:latin typeface="Calibri" pitchFamily="34" charset="0"/>
                <a:cs typeface="Amiri" pitchFamily="2" charset="-78"/>
              </a:rPr>
              <a:t>ḥa-ḍa-riy-yun / ḥa-ḍa-riy-ya-tun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رِيفِيٌّ / رِيفِيَّةٌ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rural</a:t>
            </a:r>
            <a:endParaRPr lang="en-US" sz="1350" dirty="0"/>
          </a:p>
          <a:p>
            <a:pPr indent="0" marL="0">
              <a:buNone/>
            </a:pPr>
            <a:r>
              <a:rPr lang="en-US" sz="1100" i="1" dirty="0">
                <a:solidFill>
                  <a:srgbClr val="5A6472"/>
                </a:solidFill>
                <a:latin typeface="Calibri" pitchFamily="34" charset="0"/>
                <a:cs typeface="Amiri" pitchFamily="2" charset="-78"/>
              </a:rPr>
              <a:t>rī-fiy-yun / rī-fiy-ya-tun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Architecture and comparison (2 of 2)</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مُكْتَنِزٌ / مُكْتَنِزَةٌ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dense / compact</a:t>
            </a:r>
            <a:endParaRPr lang="en-US" sz="1350" dirty="0"/>
          </a:p>
          <a:p>
            <a:pPr indent="0" marL="0">
              <a:buNone/>
            </a:pPr>
            <a:r>
              <a:rPr lang="en-US" sz="1100" i="1" dirty="0">
                <a:solidFill>
                  <a:srgbClr val="5A6472"/>
                </a:solidFill>
                <a:latin typeface="Calibri" pitchFamily="34" charset="0"/>
                <a:cs typeface="Amiri" pitchFamily="2" charset="-78"/>
              </a:rPr>
              <a:t>muk-ta-ni-zun / muk-ta-ni-za-tun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فَسِيحٌ / فَسِيحَةٌ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spacious</a:t>
            </a:r>
            <a:endParaRPr lang="en-US" sz="1350" dirty="0"/>
          </a:p>
          <a:p>
            <a:pPr indent="0" marL="0">
              <a:buNone/>
            </a:pPr>
            <a:r>
              <a:rPr lang="en-US" sz="1100" i="1" dirty="0">
                <a:solidFill>
                  <a:srgbClr val="5A6472"/>
                </a:solidFill>
                <a:latin typeface="Calibri" pitchFamily="34" charset="0"/>
                <a:cs typeface="Amiri" pitchFamily="2" charset="-78"/>
              </a:rPr>
              <a:t>fa-sī-ḥun / fa-sī-ḥa-tun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تَارِيخِيٌّ / تَارِيخِيَّةٌ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historic</a:t>
            </a:r>
            <a:endParaRPr lang="en-US" sz="1350" dirty="0"/>
          </a:p>
          <a:p>
            <a:pPr indent="0" marL="0">
              <a:buNone/>
            </a:pPr>
            <a:r>
              <a:rPr lang="en-US" sz="1100" i="1" dirty="0">
                <a:solidFill>
                  <a:srgbClr val="5A6472"/>
                </a:solidFill>
                <a:latin typeface="Calibri" pitchFamily="34" charset="0"/>
                <a:cs typeface="Amiri" pitchFamily="2" charset="-78"/>
              </a:rPr>
              <a:t>tā-rī-khiy-yun / tā-rī-khiy-ya-tun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مُعَاصِرٌ / مُعَاصِرَةٌ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contemporary</a:t>
            </a:r>
            <a:endParaRPr lang="en-US" sz="1350" dirty="0"/>
          </a:p>
          <a:p>
            <a:pPr indent="0" marL="0">
              <a:buNone/>
            </a:pPr>
            <a:r>
              <a:rPr lang="en-US" sz="1100" i="1" dirty="0">
                <a:solidFill>
                  <a:srgbClr val="5A6472"/>
                </a:solidFill>
                <a:latin typeface="Calibri" pitchFamily="34" charset="0"/>
                <a:cs typeface="Amiri" pitchFamily="2" charset="-78"/>
              </a:rPr>
              <a:t>mu-ʿā-ṣi-run / mu-ʿā-ṣi-ra-tun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BUILT OF …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house is built of stone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مَبْنِيٌّ / مَبْنِيَّةٌ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27064"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building</a:t>
            </a:r>
            <a:endParaRPr lang="en-US" sz="1100" dirty="0"/>
          </a:p>
        </p:txBody>
      </p:sp>
      <p:sp>
        <p:nvSpPr>
          <p:cNvPr id="17" name="Text 14"/>
          <p:cNvSpPr txBox="1"/>
          <p:nvPr/>
        </p:nvSpPr>
        <p:spPr>
          <a:xfrm>
            <a:off x="53035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building</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245352" y="2286000"/>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البَيْتُ </a:t>
            </a:r>
            <a:pPr rtl="1" algn="ctr" indent="0" marL="0">
              <a:buNone/>
            </a:pPr>
            <a:r>
              <a:rPr lang="ar-SA" altLang="en-US" sz="2100" b="1" dirty="0">
                <a:solidFill>
                  <a:srgbClr val="1D5FBF"/>
                </a:solidFill>
                <a:latin typeface="Amiri" pitchFamily="2" charset="-78"/>
                <a:cs typeface="Amiri" pitchFamily="2" charset="-78"/>
              </a:rPr>
              <a:t>مَبْنِيٌّ</a:t>
            </a:r>
            <a:pPr rtl="1" algn="ctr" indent="0" marL="0">
              <a:buNone/>
            </a:pPr>
            <a:r>
              <a:rPr lang="ar-SA" altLang="en-US" sz="2100" b="1" dirty="0">
                <a:solidFill>
                  <a:srgbClr val="1B3B6F"/>
                </a:solidFill>
                <a:latin typeface="Amiri" pitchFamily="2" charset="-78"/>
                <a:cs typeface="Amiri" pitchFamily="2" charset="-78"/>
              </a:rPr>
              <a:t> مِنَ الحَجَرِ.</a:t>
            </a:r>
            <a:endParaRPr lang="ar-SA" sz="2100" dirty="0"/>
          </a:p>
        </p:txBody>
      </p:sp>
      <p:sp>
        <p:nvSpPr>
          <p:cNvPr id="20" name="Text 17"/>
          <p:cNvSpPr txBox="1"/>
          <p:nvPr/>
        </p:nvSpPr>
        <p:spPr>
          <a:xfrm>
            <a:off x="6199632" y="2706624"/>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house is built of stone.</a:t>
            </a:r>
            <a:endParaRPr lang="en-US" sz="950" dirty="0"/>
          </a:p>
        </p:txBody>
      </p:sp>
      <p:sp>
        <p:nvSpPr>
          <p:cNvPr id="21" name="Text 18"/>
          <p:cNvSpPr txBox="1"/>
          <p:nvPr/>
        </p:nvSpPr>
        <p:spPr>
          <a:xfrm>
            <a:off x="548640" y="2286000"/>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المَدْرَسَةُ </a:t>
            </a:r>
            <a:pPr rtl="1" algn="ctr" indent="0" marL="0">
              <a:buNone/>
            </a:pPr>
            <a:r>
              <a:rPr lang="ar-SA" altLang="en-US" sz="2100" b="1" dirty="0">
                <a:solidFill>
                  <a:srgbClr val="D6336C"/>
                </a:solidFill>
                <a:latin typeface="Amiri" pitchFamily="2" charset="-78"/>
                <a:cs typeface="Amiri" pitchFamily="2" charset="-78"/>
              </a:rPr>
              <a:t>مَبْنِيَّةٌ</a:t>
            </a:r>
            <a:pPr rtl="1" algn="ctr" indent="0" marL="0">
              <a:buNone/>
            </a:pPr>
            <a:r>
              <a:rPr lang="ar-SA" altLang="en-US" sz="2100" b="1" dirty="0">
                <a:solidFill>
                  <a:srgbClr val="1B3B6F"/>
                </a:solidFill>
                <a:latin typeface="Amiri" pitchFamily="2" charset="-78"/>
                <a:cs typeface="Amiri" pitchFamily="2" charset="-78"/>
              </a:rPr>
              <a:t> مِنَ الطُّوبِ.</a:t>
            </a:r>
            <a:endParaRPr lang="ar-SA" sz="2100" dirty="0"/>
          </a:p>
        </p:txBody>
      </p:sp>
      <p:sp>
        <p:nvSpPr>
          <p:cNvPr id="22" name="Text 19"/>
          <p:cNvSpPr txBox="1"/>
          <p:nvPr/>
        </p:nvSpPr>
        <p:spPr>
          <a:xfrm>
            <a:off x="502920" y="2706624"/>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school is built of brick.</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245352" y="3072384"/>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الجِسْرُ </a:t>
            </a:r>
            <a:pPr rtl="1" algn="ctr" indent="0" marL="0">
              <a:buNone/>
            </a:pPr>
            <a:r>
              <a:rPr lang="ar-SA" altLang="en-US" sz="2100" b="1" dirty="0">
                <a:solidFill>
                  <a:srgbClr val="1D5FBF"/>
                </a:solidFill>
                <a:latin typeface="Amiri" pitchFamily="2" charset="-78"/>
                <a:cs typeface="Amiri" pitchFamily="2" charset="-78"/>
              </a:rPr>
              <a:t>مَبْنِيٌّ</a:t>
            </a:r>
            <a:pPr rtl="1" algn="ctr" indent="0" marL="0">
              <a:buNone/>
            </a:pPr>
            <a:r>
              <a:rPr lang="ar-SA" altLang="en-US" sz="2100" b="1" dirty="0">
                <a:solidFill>
                  <a:srgbClr val="1B3B6F"/>
                </a:solidFill>
                <a:latin typeface="Amiri" pitchFamily="2" charset="-78"/>
                <a:cs typeface="Amiri" pitchFamily="2" charset="-78"/>
              </a:rPr>
              <a:t> مِنَ المَعْدِنِ.</a:t>
            </a:r>
            <a:endParaRPr lang="ar-SA" sz="2100" dirty="0"/>
          </a:p>
        </p:txBody>
      </p:sp>
      <p:sp>
        <p:nvSpPr>
          <p:cNvPr id="27" name="Text 24"/>
          <p:cNvSpPr txBox="1"/>
          <p:nvPr/>
        </p:nvSpPr>
        <p:spPr>
          <a:xfrm>
            <a:off x="6199632" y="3493008"/>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bridge is built of metal.</a:t>
            </a:r>
            <a:endParaRPr lang="en-US" sz="950" dirty="0"/>
          </a:p>
        </p:txBody>
      </p:sp>
      <p:sp>
        <p:nvSpPr>
          <p:cNvPr id="28" name="Text 25"/>
          <p:cNvSpPr txBox="1"/>
          <p:nvPr/>
        </p:nvSpPr>
        <p:spPr>
          <a:xfrm>
            <a:off x="548640" y="3072384"/>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العِمَارَةُ </a:t>
            </a:r>
            <a:pPr rtl="1" algn="ctr" indent="0" marL="0">
              <a:buNone/>
            </a:pPr>
            <a:r>
              <a:rPr lang="ar-SA" altLang="en-US" sz="2100" b="1" dirty="0">
                <a:solidFill>
                  <a:srgbClr val="D6336C"/>
                </a:solidFill>
                <a:latin typeface="Amiri" pitchFamily="2" charset="-78"/>
                <a:cs typeface="Amiri" pitchFamily="2" charset="-78"/>
              </a:rPr>
              <a:t>مَبْنِيَّةٌ</a:t>
            </a:r>
            <a:pPr rtl="1" algn="ctr" indent="0" marL="0">
              <a:buNone/>
            </a:pPr>
            <a:r>
              <a:rPr lang="ar-SA" altLang="en-US" sz="2100" b="1" dirty="0">
                <a:solidFill>
                  <a:srgbClr val="1B3B6F"/>
                </a:solidFill>
                <a:latin typeface="Amiri" pitchFamily="2" charset="-78"/>
                <a:cs typeface="Amiri" pitchFamily="2" charset="-78"/>
              </a:rPr>
              <a:t> مِنَ الخَرَسَانَةِ.</a:t>
            </a:r>
            <a:endParaRPr lang="ar-SA" sz="2100" dirty="0"/>
          </a:p>
        </p:txBody>
      </p:sp>
      <p:sp>
        <p:nvSpPr>
          <p:cNvPr id="29" name="Text 26"/>
          <p:cNvSpPr txBox="1"/>
          <p:nvPr/>
        </p:nvSpPr>
        <p:spPr>
          <a:xfrm>
            <a:off x="502920" y="3493008"/>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block is built of concrete.</a:t>
            </a:r>
            <a:endParaRPr lang="en-US" sz="950" dirty="0"/>
          </a:p>
        </p:txBody>
      </p:sp>
      <p:sp>
        <p:nvSpPr>
          <p:cNvPr id="30" name="Shape 27"/>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6245352" y="3858768"/>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المَسْجِدُ </a:t>
            </a:r>
            <a:pPr rtl="1" algn="ctr" indent="0" marL="0">
              <a:buNone/>
            </a:pPr>
            <a:r>
              <a:rPr lang="ar-SA" altLang="en-US" sz="2100" b="1" dirty="0">
                <a:solidFill>
                  <a:srgbClr val="1D5FBF"/>
                </a:solidFill>
                <a:latin typeface="Amiri" pitchFamily="2" charset="-78"/>
                <a:cs typeface="Amiri" pitchFamily="2" charset="-78"/>
              </a:rPr>
              <a:t>مَبْنِيٌّ</a:t>
            </a:r>
            <a:pPr rtl="1" algn="ctr" indent="0" marL="0">
              <a:buNone/>
            </a:pPr>
            <a:r>
              <a:rPr lang="ar-SA" altLang="en-US" sz="2100" b="1" dirty="0">
                <a:solidFill>
                  <a:srgbClr val="1B3B6F"/>
                </a:solidFill>
                <a:latin typeface="Amiri" pitchFamily="2" charset="-78"/>
                <a:cs typeface="Amiri" pitchFamily="2" charset="-78"/>
              </a:rPr>
              <a:t> مِنَ الحَجَرِ وَالخَشَبِ.</a:t>
            </a:r>
            <a:endParaRPr lang="ar-SA" sz="2100" dirty="0"/>
          </a:p>
        </p:txBody>
      </p:sp>
      <p:sp>
        <p:nvSpPr>
          <p:cNvPr id="34" name="Text 31"/>
          <p:cNvSpPr txBox="1"/>
          <p:nvPr/>
        </p:nvSpPr>
        <p:spPr>
          <a:xfrm>
            <a:off x="6199632" y="4279392"/>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mosque is built of stone and wood.</a:t>
            </a:r>
            <a:endParaRPr lang="en-US" sz="950" dirty="0"/>
          </a:p>
        </p:txBody>
      </p:sp>
      <p:sp>
        <p:nvSpPr>
          <p:cNvPr id="35" name="Text 32"/>
          <p:cNvSpPr txBox="1"/>
          <p:nvPr/>
        </p:nvSpPr>
        <p:spPr>
          <a:xfrm>
            <a:off x="548640" y="3858768"/>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نَاطِحَةُ السَّحَابِ </a:t>
            </a:r>
            <a:pPr rtl="1" algn="ctr" indent="0" marL="0">
              <a:buNone/>
            </a:pPr>
            <a:r>
              <a:rPr lang="ar-SA" altLang="en-US" sz="2100" b="1" dirty="0">
                <a:solidFill>
                  <a:srgbClr val="D6336C"/>
                </a:solidFill>
                <a:latin typeface="Amiri" pitchFamily="2" charset="-78"/>
                <a:cs typeface="Amiri" pitchFamily="2" charset="-78"/>
              </a:rPr>
              <a:t>مَبْنِيَّةٌ</a:t>
            </a:r>
            <a:pPr rtl="1" algn="ctr" indent="0" marL="0">
              <a:buNone/>
            </a:pPr>
            <a:r>
              <a:rPr lang="ar-SA" altLang="en-US" sz="2100" b="1" dirty="0">
                <a:solidFill>
                  <a:srgbClr val="1B3B6F"/>
                </a:solidFill>
                <a:latin typeface="Amiri" pitchFamily="2" charset="-78"/>
                <a:cs typeface="Amiri" pitchFamily="2" charset="-78"/>
              </a:rPr>
              <a:t> مِنَ الزُّجَاجِ.</a:t>
            </a:r>
            <a:endParaRPr lang="ar-SA" sz="2100" dirty="0"/>
          </a:p>
        </p:txBody>
      </p:sp>
      <p:sp>
        <p:nvSpPr>
          <p:cNvPr id="36" name="Text 33"/>
          <p:cNvSpPr txBox="1"/>
          <p:nvPr/>
        </p:nvSpPr>
        <p:spPr>
          <a:xfrm>
            <a:off x="502920" y="4279392"/>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skyscraper is built of glass.</a:t>
            </a:r>
            <a:endParaRPr lang="en-US" sz="9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6245352" y="4645152"/>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مِمَّ بُنِيَ هٰذَا البَيْتُ؟</a:t>
            </a:r>
            <a:endParaRPr lang="ar-SA" sz="2100" dirty="0"/>
          </a:p>
        </p:txBody>
      </p:sp>
      <p:sp>
        <p:nvSpPr>
          <p:cNvPr id="39" name="Text 36"/>
          <p:cNvSpPr txBox="1"/>
          <p:nvPr/>
        </p:nvSpPr>
        <p:spPr>
          <a:xfrm>
            <a:off x="6199632" y="5065776"/>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What is this house built from?</a:t>
            </a:r>
            <a:endParaRPr lang="en-US" sz="950" dirty="0"/>
          </a:p>
        </p:txBody>
      </p:sp>
      <p:sp>
        <p:nvSpPr>
          <p:cNvPr id="40" name="Text 37"/>
          <p:cNvSpPr txBox="1"/>
          <p:nvPr/>
        </p:nvSpPr>
        <p:spPr>
          <a:xfrm>
            <a:off x="548640" y="4645152"/>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البُيُوتُ </a:t>
            </a:r>
            <a:pPr rtl="1" algn="ctr" indent="0" marL="0">
              <a:buNone/>
            </a:pPr>
            <a:r>
              <a:rPr lang="ar-SA" altLang="en-US" sz="2100" b="1" dirty="0">
                <a:solidFill>
                  <a:srgbClr val="D6336C"/>
                </a:solidFill>
                <a:latin typeface="Amiri" pitchFamily="2" charset="-78"/>
                <a:cs typeface="Amiri" pitchFamily="2" charset="-78"/>
              </a:rPr>
              <a:t>مَبْنِيَّةٌ</a:t>
            </a:r>
            <a:pPr rtl="1" algn="ctr" indent="0" marL="0">
              <a:buNone/>
            </a:pPr>
            <a:r>
              <a:rPr lang="ar-SA" altLang="en-US" sz="2100" b="1" dirty="0">
                <a:solidFill>
                  <a:srgbClr val="1B3B6F"/>
                </a:solidFill>
                <a:latin typeface="Amiri" pitchFamily="2" charset="-78"/>
                <a:cs typeface="Amiri" pitchFamily="2" charset="-78"/>
              </a:rPr>
              <a:t> مِنَ الطِّينِ.</a:t>
            </a:r>
            <a:endParaRPr lang="ar-SA" sz="2100" dirty="0"/>
          </a:p>
        </p:txBody>
      </p:sp>
      <p:sp>
        <p:nvSpPr>
          <p:cNvPr id="41" name="Text 38"/>
          <p:cNvSpPr txBox="1"/>
          <p:nvPr/>
        </p:nvSpPr>
        <p:spPr>
          <a:xfrm>
            <a:off x="502920" y="5065776"/>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houses are built of mud.</a:t>
            </a:r>
            <a:endParaRPr lang="en-US" sz="95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building decides the ending. Plural buildings take mabniyya (like F6-L05: ash-shawāriʿu muktaẓẓa).</a:t>
            </a:r>
            <a:endParaRPr lang="en-US" sz="11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FEATURES AND CONTRAST (WEBSITE RULES 3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Known for … whereas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تَتَمَيَّزُ بِـ · بَيْنَمَا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FEATURE · m.</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يَتَمَيَّزُ بِـ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يَتَمَيَّزُ المَسْجِدُ بِمِئْذَنَتِهِ التَّارِيخِيَّةِ.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mosque is known for its historic minaret.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Mosque m. → ya-.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FEATURE · f.</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تَتَمَيَّزُ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تَتَمَيَّزُ القَرْيَةُ بِبُيُوتِهَا الطِّينِيَّةِ.</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village is known for its mud houses.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Village f. → ta-.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WHEREAS</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 بَيْنَمَا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المَدِينَةُ مُكْتَظَّةٌ، بَيْنَمَا القَرْيَةُ هَادِئَةٌ.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city is crowded, whereas the village is quiet.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complete, different ideas.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whereas needs two complete ideas.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المَدِينَةُ مُكْتَظَّةٌ، بَيْنَمَا القَرْيَةُ هَادِئَةٌ.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المَدِينَةُ مُكْتَظَّةٌ بَيْنَمَا مُكْتَظَّةٌ.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cs typeface="Amiri" pitchFamily="2" charset="-78"/>
              </a:rPr>
              <a:t>المَبْنِيُّ لِلْمَجْهُولِ وَالمُقَارَنَةُ بِـ بَيْنَمَا</a:t>
            </a:r>
            <a:endParaRPr lang="ar-SA" sz="26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Describe a masculine building material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اِسْمٌ مُذَكَّرٌ + مَبْنِيٌّ مِنْ + مَادَّةٍ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البَيْتُ مَبْنِيٌّ مِنَ الحَجَرِ.   ·   الجِسْرُ مَبْنِيٌّ مِنَ المَعْدِنِ.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Describe a feminine building material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اِسْمٌ مُؤَنَّثٌ + مَبْنِيَّةٌ مِنْ + مَادَّةٍ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المَدْرَسَةُ مَبْنِيَّةٌ مِنَ الطُّوبِ.   ·   العِمَارَةُ مَبْنِيَّةٌ مِنَ الخَرَسَانَةِ وَالزُّجَاجِ.</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Describe architectural identity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يَتَمَيَّزُ / تَتَمَيَّزُ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يَتَمَيَّزُ المَسْجِدُ بِمِئْذَنَتِهِ التَّارِيخِيَّةِ.   ·   تَتَمَيَّزُ القَرْيَةُ بِبُيُوتِهَا الطِّينِيَّةِ.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Contrast city and countryside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 بَيْنَمَا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تَكْثُرُ نَاطِحَاتُ السَّحَابِ فِي المَدِينَةِ، بَيْنَمَا تَكْثُرُ البُيُوتُ الفَسِيحَةُ فِي الرِّيفِ.   ·   المَدِينَةُ مُكْتَظَّةٌ، بَيْنَمَا القَرْيَةُ هَادِئَةٌ.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البَيْتُ ___ مِنَ الحَجَرِ.</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مَبْنِيَّاتٌ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المَدْرَسَةُ ___ مِنَ الطُّوبِ.</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مَبْنِيَّانِ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material means glass?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خَشَبٌ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زُجَاجٌ</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طِينٌ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“whereas”?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البَيْتُ ___ مِنَ الحَجَرِ.</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مَبْنِيَّاتٌ</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مَبْنِيٌّ</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المَدْرَسَةُ ___ مِنَ الطُّوبِ.</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مَبْنِيَّةٌ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مَبْنِيَّانِ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material means glass?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خَشَبٌ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زُجَاجٌ</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طِينٌ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زُجَاجٌ</a:t>
            </a:r>
            <a:pPr algn="l" indent="0" marL="0">
              <a:buNone/>
            </a:pPr>
            <a:r>
              <a:rPr lang="en-US" sz="1050" i="1" dirty="0">
                <a:solidFill>
                  <a:srgbClr val="8A6D1E"/>
                </a:solidFill>
                <a:latin typeface="Calibri" pitchFamily="34" charset="0"/>
                <a:cs typeface="Amiri" pitchFamily="2" charset="-78"/>
              </a:rPr>
              <a:t> means glass.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“whereas”?</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بَيْنَمَا</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creates contrast.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two buildings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Introduce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فِي مَدِينَتِي مَسْجِدٌ تَارِيخِيٌّ وَمَرْكَزٌ ثَقَافِيٌّ حَدِيثٌ.</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buildings: both 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Old one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المَسْجِدُ </a:t>
            </a:r>
            <a:pPr rtl="1" algn="ctr" indent="0" marL="0">
              <a:lnSpc>
                <a:spcPct val="120000"/>
              </a:lnSpc>
              <a:buNone/>
            </a:pPr>
            <a:r>
              <a:rPr lang="ar-SA" altLang="en-US" sz="1750" b="1" dirty="0">
                <a:solidFill>
                  <a:srgbClr val="1D5FBF"/>
                </a:solidFill>
                <a:latin typeface="Amiri" pitchFamily="2" charset="-78"/>
                <a:cs typeface="Amiri" pitchFamily="2" charset="-78"/>
              </a:rPr>
              <a:t>مَبْنِيٌّ</a:t>
            </a:r>
            <a:pPr rtl="1" algn="ctr" indent="0" marL="0">
              <a:lnSpc>
                <a:spcPct val="120000"/>
              </a:lnSpc>
              <a:buNone/>
            </a:pPr>
            <a:r>
              <a:rPr lang="ar-SA" altLang="en-US" sz="1750" b="1" dirty="0">
                <a:solidFill>
                  <a:srgbClr val="1B3B6F"/>
                </a:solidFill>
                <a:latin typeface="Amiri" pitchFamily="2" charset="-78"/>
                <a:cs typeface="Amiri" pitchFamily="2" charset="-78"/>
              </a:rPr>
              <a:t> مِنَ الحَجَرِ، وَ</a:t>
            </a:r>
            <a:pPr rtl="1" algn="ctr" indent="0" marL="0">
              <a:lnSpc>
                <a:spcPct val="120000"/>
              </a:lnSpc>
              <a:buNone/>
            </a:pPr>
            <a:r>
              <a:rPr lang="ar-SA" altLang="en-US" sz="1750" b="1" dirty="0">
                <a:solidFill>
                  <a:srgbClr val="1D5FBF"/>
                </a:solidFill>
                <a:latin typeface="Amiri" pitchFamily="2" charset="-78"/>
                <a:cs typeface="Amiri" pitchFamily="2" charset="-78"/>
              </a:rPr>
              <a:t>يَتَمَيَّزُ</a:t>
            </a:r>
            <a:pPr rtl="1" algn="ctr" indent="0" marL="0">
              <a:lnSpc>
                <a:spcPct val="120000"/>
              </a:lnSpc>
              <a:buNone/>
            </a:pPr>
            <a:r>
              <a:rPr lang="ar-SA" altLang="en-US" sz="1750" b="1" dirty="0">
                <a:solidFill>
                  <a:srgbClr val="1B3B6F"/>
                </a:solidFill>
                <a:latin typeface="Amiri" pitchFamily="2" charset="-78"/>
                <a:cs typeface="Amiri" pitchFamily="2" charset="-78"/>
              </a:rPr>
              <a:t> بِقُبَّتِهِ.</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Material + feature.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New one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أَمَّا المَرْكَزُ فَهُوَ </a:t>
            </a:r>
            <a:pPr rtl="1" algn="ctr" indent="0" marL="0">
              <a:lnSpc>
                <a:spcPct val="120000"/>
              </a:lnSpc>
              <a:buNone/>
            </a:pPr>
            <a:r>
              <a:rPr lang="ar-SA" altLang="en-US" sz="1750" b="1" dirty="0">
                <a:solidFill>
                  <a:srgbClr val="1D5FBF"/>
                </a:solidFill>
                <a:latin typeface="Amiri" pitchFamily="2" charset="-78"/>
                <a:cs typeface="Amiri" pitchFamily="2" charset="-78"/>
              </a:rPr>
              <a:t>مَبْنِيٌّ</a:t>
            </a:r>
            <a:pPr rtl="1" algn="ctr" indent="0" marL="0">
              <a:lnSpc>
                <a:spcPct val="120000"/>
              </a:lnSpc>
              <a:buNone/>
            </a:pPr>
            <a:r>
              <a:rPr lang="ar-SA" altLang="en-US" sz="1750" b="1" dirty="0">
                <a:solidFill>
                  <a:srgbClr val="1B3B6F"/>
                </a:solidFill>
                <a:latin typeface="Amiri" pitchFamily="2" charset="-78"/>
                <a:cs typeface="Amiri" pitchFamily="2" charset="-78"/>
              </a:rPr>
              <a:t> مِنَ الزُّجَاجِ وَالمَعْدِنِ.</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 for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Contrast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المَسْجِدُ هَادِئٌ وَتَقْلِيدِيٌّ، </a:t>
            </a:r>
            <a:pPr rtl="1" algn="ctr" indent="0" marL="0">
              <a:lnSpc>
                <a:spcPct val="120000"/>
              </a:lnSpc>
              <a:buNone/>
            </a:pPr>
            <a:r>
              <a:rPr lang="ar-SA" altLang="en-US" sz="1750" b="1" dirty="0">
                <a:solidFill>
                  <a:srgbClr val="7B3FA0"/>
                </a:solidFill>
                <a:latin typeface="Amiri" pitchFamily="2" charset="-78"/>
                <a:cs typeface="Amiri" pitchFamily="2" charset="-78"/>
              </a:rPr>
              <a:t>بَيْنَمَا</a:t>
            </a:r>
            <a:pPr rtl="1" algn="ctr" indent="0" marL="0">
              <a:lnSpc>
                <a:spcPct val="120000"/>
              </a:lnSpc>
              <a:buNone/>
            </a:pPr>
            <a:r>
              <a:rPr lang="ar-SA" altLang="en-US" sz="1750" b="1" dirty="0">
                <a:solidFill>
                  <a:srgbClr val="1B3B6F"/>
                </a:solidFill>
                <a:latin typeface="Amiri" pitchFamily="2" charset="-78"/>
                <a:cs typeface="Amiri" pitchFamily="2" charset="-78"/>
              </a:rPr>
              <a:t> المَرْكَزُ نَشِيطٌ وَمُعَاصِرٌ.</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Whereas + two ideas.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BUILT · FEATURE</a:t>
            </a:r>
            <a:endParaRPr lang="en-US" sz="800" dirty="0"/>
          </a:p>
        </p:txBody>
      </p:sp>
      <p:sp>
        <p:nvSpPr>
          <p:cNvPr id="47" name="Shape 43"/>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WHEREAS</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مَدِينَتِي مَسْجِدٌ تَارِيخِيٌّ وَمَرْكَزٌ ثَقَافِيٌّ حَدِيثٌ. المَسْجِدُ </a:t>
            </a:r>
            <a:pPr rtl="1" algn="r" indent="0" marL="0">
              <a:lnSpc>
                <a:spcPct val="120000"/>
              </a:lnSpc>
              <a:buNone/>
            </a:pPr>
            <a:r>
              <a:rPr lang="ar-SA" altLang="en-US" sz="1400" b="1" dirty="0">
                <a:solidFill>
                  <a:srgbClr val="1D5FBF"/>
                </a:solidFill>
                <a:latin typeface="Amiri" pitchFamily="2" charset="-78"/>
                <a:cs typeface="Amiri" pitchFamily="2" charset="-78"/>
              </a:rPr>
              <a:t>مَبْنِيٌّ</a:t>
            </a:r>
            <a:pPr rtl="1" algn="r" indent="0" marL="0">
              <a:lnSpc>
                <a:spcPct val="120000"/>
              </a:lnSpc>
              <a:buNone/>
            </a:pPr>
            <a:r>
              <a:rPr lang="ar-SA" altLang="en-US" sz="1400" b="1" dirty="0">
                <a:solidFill>
                  <a:srgbClr val="1B3B6F"/>
                </a:solidFill>
                <a:latin typeface="Amiri" pitchFamily="2" charset="-78"/>
                <a:cs typeface="Amiri" pitchFamily="2" charset="-78"/>
              </a:rPr>
              <a:t> مِنَ الحَجَرِ، وَ</a:t>
            </a:r>
            <a:pPr rtl="1" algn="r" indent="0" marL="0">
              <a:lnSpc>
                <a:spcPct val="120000"/>
              </a:lnSpc>
              <a:buNone/>
            </a:pPr>
            <a:r>
              <a:rPr lang="ar-SA" altLang="en-US" sz="1400" b="1" dirty="0">
                <a:solidFill>
                  <a:srgbClr val="1D5FBF"/>
                </a:solidFill>
                <a:latin typeface="Amiri" pitchFamily="2" charset="-78"/>
                <a:cs typeface="Amiri" pitchFamily="2" charset="-78"/>
              </a:rPr>
              <a:t>يَتَمَيَّزُ</a:t>
            </a:r>
            <a:pPr rtl="1" algn="r" indent="0" marL="0">
              <a:lnSpc>
                <a:spcPct val="120000"/>
              </a:lnSpc>
              <a:buNone/>
            </a:pPr>
            <a:r>
              <a:rPr lang="ar-SA" altLang="en-US" sz="1400" b="1" dirty="0">
                <a:solidFill>
                  <a:srgbClr val="1B3B6F"/>
                </a:solidFill>
                <a:latin typeface="Amiri" pitchFamily="2" charset="-78"/>
                <a:cs typeface="Amiri" pitchFamily="2" charset="-78"/>
              </a:rPr>
              <a:t> بِقُبَّتِهِ وَأَبْوَابِهِ الخَشَبِيَّةِ. أَمَّا المَرْكَزُ فَهُوَ </a:t>
            </a:r>
            <a:pPr rtl="1" algn="r" indent="0" marL="0">
              <a:lnSpc>
                <a:spcPct val="120000"/>
              </a:lnSpc>
              <a:buNone/>
            </a:pPr>
            <a:r>
              <a:rPr lang="ar-SA" altLang="en-US" sz="1400" b="1" dirty="0">
                <a:solidFill>
                  <a:srgbClr val="1D5FBF"/>
                </a:solidFill>
                <a:latin typeface="Amiri" pitchFamily="2" charset="-78"/>
                <a:cs typeface="Amiri" pitchFamily="2" charset="-78"/>
              </a:rPr>
              <a:t>مَبْنِيٌّ</a:t>
            </a:r>
            <a:pPr rtl="1" algn="r" indent="0" marL="0">
              <a:lnSpc>
                <a:spcPct val="120000"/>
              </a:lnSpc>
              <a:buNone/>
            </a:pPr>
            <a:r>
              <a:rPr lang="ar-SA" altLang="en-US" sz="1400" b="1" dirty="0">
                <a:solidFill>
                  <a:srgbClr val="1B3B6F"/>
                </a:solidFill>
                <a:latin typeface="Amiri" pitchFamily="2" charset="-78"/>
                <a:cs typeface="Amiri" pitchFamily="2" charset="-78"/>
              </a:rPr>
              <a:t> مِنَ الزُّجَاجِ وَالمَعْدِنِ، وَفِيهِ قَاعَاتٌ فَسِيحَةٌ. المَسْجِدُ هَادِئٌ وَتَقْلِيدِيٌّ، </a:t>
            </a:r>
            <a:pPr rtl="1" algn="r" indent="0" marL="0">
              <a:lnSpc>
                <a:spcPct val="120000"/>
              </a:lnSpc>
              <a:buNone/>
            </a:pPr>
            <a:r>
              <a:rPr lang="ar-SA" altLang="en-US" sz="1400" b="1" dirty="0">
                <a:solidFill>
                  <a:srgbClr val="7B3FA0"/>
                </a:solidFill>
                <a:latin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cs typeface="Amiri" pitchFamily="2" charset="-78"/>
              </a:rPr>
              <a:t> المَرْكَزُ نَشِيطٌ وَمُعَاصِرٌ. أُحِبُّ المَبْنَيَيْنِ لِأَنَّ الأَوَّلَ يَحْمِي التُّرَاثَ وَالثَّانِيَ يُقَدِّمُ خِدْمَاتٍ جَدِيدَةً.</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In my city there is a historic mosque and a modern cultural centre. The mosque is built of stone and is known for its dome and wooden doors. As for the centre, it is built of glass and metal and has spacious halls. The mosque is quiet and traditional, whereas the centre is lively and contemporary. I like both buildings because the first protects heritage and the second offers new services.</a:t>
            </a:r>
            <a:endParaRPr lang="en-US" sz="9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البَيْتُ مَبْنِيٌّ مِنَ الحَجَرِ.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house is built of stone.</a:t>
            </a:r>
            <a:endParaRPr lang="en-US" sz="1250" dirty="0"/>
          </a:p>
          <a:p>
            <a:pPr indent="0" marL="0">
              <a:buNone/>
            </a:pPr>
            <a:r>
              <a:rPr lang="en-US" sz="1050" i="1" dirty="0">
                <a:solidFill>
                  <a:srgbClr val="8A6D1E"/>
                </a:solidFill>
                <a:latin typeface="Calibri" pitchFamily="34" charset="0"/>
                <a:cs typeface="Amiri" pitchFamily="2" charset="-78"/>
              </a:rPr>
              <a:t>Masculine building → مَبْنِيٌّ.</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المَدْرَسَةُ مَبْنِيَّةٌ مِنَ الطُّوبِ.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 is built of brick.</a:t>
            </a:r>
            <a:endParaRPr lang="en-US" sz="1250" dirty="0"/>
          </a:p>
          <a:p>
            <a:pPr indent="0" marL="0">
              <a:buNone/>
            </a:pPr>
            <a:r>
              <a:rPr lang="en-US" sz="1050" i="1" dirty="0">
                <a:solidFill>
                  <a:srgbClr val="8A6D1E"/>
                </a:solidFill>
                <a:latin typeface="Calibri" pitchFamily="34" charset="0"/>
                <a:cs typeface="Amiri" pitchFamily="2" charset="-78"/>
              </a:rPr>
              <a:t>Feminine building → مَبْنِيَّةٌ.</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تَتَمَيَّزُ القَرْيَةُ بِبُيُوتِهَا التَّقْلِيدِيَّةِ.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village is distinguished by its traditional houses.</a:t>
            </a:r>
            <a:endParaRPr lang="en-US" sz="1250" dirty="0"/>
          </a:p>
          <a:p>
            <a:pPr indent="0" marL="0">
              <a:buNone/>
            </a:pPr>
            <a:r>
              <a:rPr lang="en-US" sz="1050" i="1" dirty="0">
                <a:solidFill>
                  <a:srgbClr val="8A6D1E"/>
                </a:solidFill>
                <a:latin typeface="Calibri" pitchFamily="34" charset="0"/>
                <a:cs typeface="Amiri" pitchFamily="2" charset="-78"/>
              </a:rPr>
              <a:t>Feminine subject → تَتَمَيَّزُ.</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المَدِينَةُ مُكْتَظَّةٌ، بَيْنَمَا الرِّيفُ فَسِيحٌ.</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city is dense, whereas the countryside is spacious.</a:t>
            </a:r>
            <a:endParaRPr lang="en-US" sz="1250" dirty="0"/>
          </a:p>
          <a:p>
            <a:pPr indent="0" marL="0">
              <a:buNone/>
            </a:pPr>
            <a:r>
              <a:rPr lang="en-US" sz="1050" i="1" dirty="0">
                <a:solidFill>
                  <a:srgbClr val="8A6D1E"/>
                </a:solidFill>
                <a:latin typeface="Calibri" pitchFamily="34" charset="0"/>
                <a:cs typeface="Amiri" pitchFamily="2" charset="-78"/>
              </a:rPr>
              <a:t>Use complete contrasting clauses.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BUILT ENVIRONMENT: BUILDINGS, MATERIALS AND URBAN LIFE”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Materials: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المَبَانِي وَالمَوَادُّ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brick</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wood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stone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المَبْنَى القَدِيمُ مَبْنِيٌّ مِنَ الحَجَرِ.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المَبْنَى مَبْنِيٌّ مِنَ الطُّوبِ.</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البَيْتُ مَبْنِيٌّ مِنَ الخَشَبِ.</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المَبَانِي وَالمَوَادُّ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brick</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المَبْنَى مَبْنِيٌّ مِنَ الطُّوبِ.</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building is built of brick.</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wood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البَيْتُ مَبْنِيٌّ مِنَ الخَشَبِ.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house is built of wood.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stone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المَبْنَى القَدِيمُ مَبْنِيٌّ مِنَ الحَجَرِ.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old building is built of stone.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Material or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حَجَرٌ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خَرَسَانَةٌ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زُجَاجٌ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طِينٌ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نَاطِحَةُ سَحَابٍ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عِمَارَةٌ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مَنْزِلٌ مُسْتَقِلٌّ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مَبْنًى تَارِيخِيٌّ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مَادَّةٌ · material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مَبْنًى · building</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مَادَّةٌ · material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حَجَرٌ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خَرَسَانَةٌ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زُجَاجٌ</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مَبْنًى · building</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نَاطِحَةُ سَحَابٍ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عِمَارَةٌ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مَنْزِلٌ مُسْتَقِلٌّ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مَبْنًى تَارِيخِيٌّ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meaningful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المَدِينَةُ مُكْتَظَّةٌ، بَيْنَمَا المَدِينَةُ مُكْتَظَّةٌ.</a:t>
            </a:r>
            <a:endParaRPr lang="ar-SA" sz="16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المَدِينَةُ لِأَنَّ القَرْيَةَ.</a:t>
            </a:r>
            <a:endParaRPr lang="ar-SA" sz="16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المَدِينَةُ مُكْتَظَّةٌ، بَيْنَمَا القَرْيَةُ هَادِئَةٌ.</a:t>
            </a:r>
            <a:endParaRPr lang="ar-SA" sz="16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contemporary?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تَارِيخِيٌّ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مُعَاصِرٌ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رِيفِيٌّ</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architectural heritage?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مَوَاصَلَاتٌ عَامَّةٌ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تُرَاثٌ مِعْمَارِيٌّ</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رِحْلَةٌ مُبَاشِرَةٌ</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meaningful contrast.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المَدِينَةُ مُكْتَظَّةٌ، بَيْنَمَا المَدِينَةُ مُكْتَظَّةٌ.</a:t>
            </a:r>
            <a:endParaRPr lang="ar-SA" sz="16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المَدِينَةُ لِأَنَّ القَرْيَةَ.</a:t>
            </a:r>
            <a:endParaRPr lang="ar-SA" sz="16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cs typeface="Amiri" pitchFamily="2" charset="-78"/>
              </a:rPr>
              <a:t>المَدِينَةُ مُكْتَظَّةٌ، بَيْنَمَا القَرْيَةُ هَادِئَةٌ.</a:t>
            </a:r>
            <a:endParaRPr lang="ar-SA" sz="16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two clauses contrast urban and rural life.</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contemporary?</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تَارِيخِيٌّ</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مُعَاصِرٌ</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رِيفِيٌّ</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مُعَاصِرٌ</a:t>
            </a:r>
            <a:pPr algn="l" indent="0" marL="0">
              <a:buNone/>
            </a:pPr>
            <a:r>
              <a:rPr lang="en-US" sz="1050" i="1" dirty="0">
                <a:solidFill>
                  <a:srgbClr val="8A6D1E"/>
                </a:solidFill>
                <a:latin typeface="Calibri" pitchFamily="34" charset="0"/>
                <a:cs typeface="Amiri" pitchFamily="2" charset="-78"/>
              </a:rPr>
              <a:t> means contemporary.</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architectural heritage?</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مَوَاصَلَاتٌ عَامَّةٌ</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تُرَاثٌ مِعْمَارِيٌّ</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رِحْلَةٌ مُبَاشِرَةٌ</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تُرَاثٌ مِعْمَارِيٌّ</a:t>
            </a:r>
            <a:pPr algn="l" indent="0" marL="0">
              <a:buNone/>
            </a:pPr>
            <a:r>
              <a:rPr lang="en-US" sz="1050" i="1" dirty="0">
                <a:solidFill>
                  <a:srgbClr val="8A6D1E"/>
                </a:solidFill>
                <a:latin typeface="Calibri" pitchFamily="34" charset="0"/>
                <a:cs typeface="Amiri" pitchFamily="2" charset="-78"/>
              </a:rPr>
              <a:t> means architectural heritage.</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العِمَارَةُ مَبْنِيٌّ مِنَ الخَرَسَانَةِ.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Block (</a:t>
            </a:r>
            <a:pPr algn="l" indent="0" marL="0">
              <a:buNone/>
            </a:pPr>
            <a:r>
              <a:rPr lang="ar-SA" altLang="en-US" sz="1700" dirty="0">
                <a:solidFill>
                  <a:srgbClr val="5A6472"/>
                </a:solidFill>
                <a:latin typeface="Amiri" pitchFamily="2" charset="-78"/>
                <a:cs typeface="Amiri" pitchFamily="2" charset="-78"/>
              </a:rPr>
              <a:t>عِمَارَةٌ</a:t>
            </a:r>
            <a:pPr algn="l" indent="0" marL="0">
              <a:buNone/>
            </a:pPr>
            <a:r>
              <a:rPr lang="en-US" sz="1300" i="1" dirty="0">
                <a:solidFill>
                  <a:srgbClr val="5A6472"/>
                </a:solidFill>
                <a:latin typeface="Calibri" pitchFamily="34" charset="0"/>
                <a:cs typeface="Amiri" pitchFamily="2" charset="-78"/>
              </a:rPr>
              <a:t>):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يَتَمَيَّزُ القَرْيَةُ بِالتُّرَاثِ.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Village: which verb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المَدِينَةُ مُكْتَظَّةٌ بَيْنَمَا مُكْتَظَّةٌ.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whereas have two ideas?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العِمَارَةُ مَبْنِيٌّ مِنَ الخَرَسَانَةِ.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العِمَارَةُ مَبْنِيَّةٌ مِنَ الخَرَسَانَةِ.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participle agrees with the feminine building.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يَتَمَيَّزُ القَرْيَةُ بِالتُّرَاثِ.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تَتَمَيَّزُ القَرْيَةُ بِالتُّرَاثِ.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feminine </a:t>
            </a:r>
            <a:pPr algn="l" indent="0" marL="0">
              <a:buNone/>
            </a:pPr>
            <a:r>
              <a:rPr lang="ar-SA" altLang="en-US" sz="1500" b="1" dirty="0">
                <a:solidFill>
                  <a:srgbClr val="1B3B6F"/>
                </a:solidFill>
                <a:latin typeface="Amiri" pitchFamily="2" charset="-78"/>
                <a:cs typeface="Amiri" pitchFamily="2" charset="-78"/>
              </a:rPr>
              <a:t>القَرْيَةُ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المَدِينَةُ مُكْتَظَّةٌ بَيْنَمَا مُكْتَظَّةٌ.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المَدِينَةُ مُكْتَظَّةٌ، بَيْنَمَا القَرْيَةُ هَادِئَةٌ.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بَيْنَمَا</a:t>
            </a:r>
            <a:pPr algn="l" indent="0" marL="0">
              <a:buNone/>
            </a:pPr>
            <a:r>
              <a:rPr lang="en-US" sz="1150" b="1" dirty="0">
                <a:solidFill>
                  <a:srgbClr val="1B3B6F"/>
                </a:solidFill>
                <a:latin typeface="Calibri" pitchFamily="34" charset="0"/>
                <a:cs typeface="Amiri" pitchFamily="2" charset="-78"/>
              </a:rPr>
              <a:t> needs two complete contrasting ideas.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Architecture in two neighbourhoods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traditional houses built of?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and clay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metal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the traditional houses?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towers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stations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wooden doors and inner courtyards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new neighbourhood?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mud houses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village market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contemporary apartment blocks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materials are used there?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concrete and glass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and clay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sand and rock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neighbourhood is quieter?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 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the same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مَبْنِيَّةٌ مِنَ</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cs typeface="Amiri" pitchFamily="2" charset="-78"/>
              </a:rPr>
              <a:t>أَمَّا</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cs typeface="Amiri" pitchFamily="2" charset="-78"/>
              </a:rPr>
              <a:t>بَيْنَمَا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الحَيِّ القَدِيمِ بُيُوتٌ تَقْلِيدِيَّةٌ مَبْنِيَّةٌ مِنَ الحَجَرِ وَالطِّينِ.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old neighbourhood there are traditional houses built of stone and clay.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تَتَمَيَّزُ البُيُوتُ بِأَبْوَابِهَا الخَشَبِيَّةِ وَسَاحَاتِهَا الدَّاخِلِيَّةِ.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houses are known for their wooden doors and inner courtyards.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فِي الحَيِّ الجَدِيدِ فَتُوجَدُ عِمَارَاتٌ مُعَاصِرَةٌ مَبْنِيَّةٌ مِنَ الخَرَسَانَةِ وَالزُّجَاجِ.</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new neighbourhood, there are contemporary blocks built of concrete and glass.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الحَيُّ الجَدِيدُ مُكْتَنِزٌ، بَيْنَمَا الحَيُّ القَدِيمُ أَكْثَرُ هُدُوءًا.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neighbourhood is dense, whereas the old one is quieter.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traditional houses built of?</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 and clay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 and metal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الحَجَرِ وَالطِّينِ.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the traditional houses?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towers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stations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wooden doors and inner courtyards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أَبْوَابِهَا الخَشَبِيَّةِ وَسَاحَاتِهَا.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new neighbourhood?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mud houses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village market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contemporary apartment blocks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عِمَارَاتٌ مُعَاصِرَةٌ.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materials are used there?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concrete and glass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stone and clay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sand and rock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الخَرَسَانَةِ وَالزُّجَاجِ.</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neighbourhood is quieter?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new one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old 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the same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الحَيُّ القَدِيمُ أَكْثَرُ هُدُوءًا.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مَبْنِيَّةٌ مِنَ</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cs typeface="Amiri" pitchFamily="2" charset="-78"/>
              </a:rPr>
              <a:t>أَمَّا</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cs typeface="Amiri" pitchFamily="2" charset="-78"/>
              </a:rPr>
              <a:t>بَيْنَمَا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Architecture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مِمَّ بُنِيَ هٰذَا المَبْنَى؟</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مَبْنًى تَارِيخِيًّا فِي مَدِينَتِكَ.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الفَرْقُ بَيْنَ الحَيِّ القَدِيمِ وَالجَدِيدِ؟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نَوْعٍ مِنَ العُمْرَانِ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هُوَ مَبْنِيٌّ / هِيَ مَبْنِيَّةٌ مِنَ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يَتَمَيَّزُ / تَتَمَيَّزُ بِـ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الحَيُّ القَدِيمُ ___ ، بَيْنَمَا الحَيُّ الجَدِيدُ ___ .</a:t>
            </a:r>
            <a:endParaRPr lang="ar-SA" sz="13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 لِأَنَّهُ يَحْمِي التُّرَاثَ / يُقَدِّمُ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مِمَّ بُنِيَ هٰذَا البَيْتُ؟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house built from?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هُوَ مَبْنِيٌّ مِنَ الحَجَرِ وَالخَشَبِ.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is built of stone and wood.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Match four buildings to their materials.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buildings with their materials (built of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an accurate comparison using agreement and </a:t>
            </a:r>
            <a:pPr algn="l" indent="0" marL="0">
              <a:buNone/>
            </a:pPr>
            <a:r>
              <a:rPr lang="ar-SA" altLang="en-US" sz="1800" b="1" dirty="0">
                <a:solidFill>
                  <a:srgbClr val="1F2A37"/>
                </a:solidFill>
                <a:latin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 old and a new building with agreement and whereas.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Analyse how a contemporary building can respect architectural heritage and propose one design feature.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 how a modern building can respect heritage (one design idea).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يَتَمَيَّزُ / تَتَمَيَّزُ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known for its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المَبْنَى الجَدِيدُ فَهُوَ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the new building, it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الحَيُّ القَدِيمُ هَادِئٌ، بَيْنَمَا الجَدِيدُ نَشِيطٌ.</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old area is quiet, whereas the new one is lively.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المَدِينَةُ مُكْتَنِزَةٌ، بَيْنَمَا الرِّيفُ فَسِيحٌ.</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city is dense, whereas the countryside is spacious.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لِأَنَّ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البَيْتُ مَبْنِيٌّ مِنَ الحَجَرِ.</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house is built of stone.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المَدْرَسَةُ مَبْنِيَّةٌ مِنَ الطُّوبِ.</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is built of brick.</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الجِسْرُ مَبْنِيٌّ مِنَ المَعْدِنِ.</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bridge is built of metal.</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البُرْجُ مَبْنِيٌّ مِنَ الزُّجَاجِ.</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tower is built of glass.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مَدِينَتِي مَبْنًى تَارِيخِيٌّ.</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a historic building.</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مَبْنِيٌّ  ·  مَبْنِيَّةٌ  ·  مِنَ الحَجَرِ  ·  مِنَ الطُّوبِ  ·  مِنَ الزُّجَاجِ  ·  مِنَ الخَشَبِ  ·  يَتَمَيَّزُ بِـ  ·  تَتَمَيَّزُ بِـ  ·  بَيْنَمَا  ·  تَقْلِيدِيٌّ  ·  مُعَاصِرٌ  ·  فَسِيحٌ</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Compare an old building and a modern building in 80–100 Arabic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at least four materials.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مَبْنِيٌّ / مَبْنِيَّةٌ</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يَتَمَيَّزُ / تَتَمَيَّزُ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Create a meaningful contrast with </a:t>
            </a:r>
            <a:pPr algn="l" indent="0" marL="0">
              <a:buNone/>
            </a:pPr>
            <a:r>
              <a:rPr lang="ar-SA" altLang="en-US" sz="1550" dirty="0">
                <a:solidFill>
                  <a:srgbClr val="1F2A37"/>
                </a:solidFill>
                <a:latin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and give an opinion.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تَجْمَعُ المَدِينَةُ بَيْنَ التُّرَاثِ وَالحَدَاثَةِ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city combines heritage and modernity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يَحْتَرِمُ تَصْمِيمُهُ المِعْمَارَ القَدِيمَ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its design respects the old architecture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يُوَفِّرُ مَسَاحَاتٍ فَسِيحَةً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provides spacious areas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يَحْمِي التُّرَاثَ وَيُطَوِّرُ المَدِينَةَ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protects heritage and develops the city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أَقْتَرِحُ أَنْ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suggest that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مَدِينَتِي مَسْجِدٌ تَارِيخِيٌّ وَمَرْكَزٌ ثَقَافِيٌّ حَدِيثٌ. المَسْجِدُ مَبْنِيٌّ مِنَ الحَجَرِ، وَيَتَمَيَّزُ بِقُبَّتِهِ وَأَبْوَابِهِ الخَشَبِيَّةِ. أَمَّا المَرْكَزُ فَهُوَ مَبْنِيٌّ مِنَ الزُّجَاجِ وَالمَعْدِنِ، وَفِيهِ قَاعَاتٌ فَسِيحَةٌ. المَسْجِدُ هَادِئٌ وَتَقْلِيدِيٌّ، بَيْنَمَا المَرْكَزُ نَشِيطٌ وَمُعَاصِرٌ. أُحِبُّ المَبْنَيَيْنِ لِأَنَّ الأَوَّلَ يَحْمِي التُّرَاثَ وَالثَّانِيَ يُقَدِّمُ خِدْمَاتٍ جَدِيدَةً.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city there is a historic mosque and a modern cultural centre. The mosque is built of stone and is known for its dome and wooden doors. As for the centre, it is built of glass and metal and has spacious halls. The mosque is quiet and traditional, whereas the centre is lively and contemporary. I like both buildings because the first protects heritage and the second offers new services.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built of</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known for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whereas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four materials.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 + material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مَبْنِيٌّ / مَبْنِيَّةٌ</a:t>
            </a:r>
            <a:pPr algn="l" indent="0" marL="0">
              <a:buNone/>
            </a:pPr>
            <a:r>
              <a:rPr lang="en-US" sz="1300" dirty="0">
                <a:solidFill>
                  <a:srgbClr val="1F2A37"/>
                </a:solidFill>
                <a:latin typeface="Calibri" pitchFamily="34" charset="0"/>
                <a:cs typeface="Amiri" pitchFamily="2" charset="-78"/>
              </a:rPr>
              <a:t> agree with the building.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joins two complete ideas.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Heritage + a design suggestion.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stone?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حَجَرٌ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زُجَاجٌ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خَشَبٌ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 الخَرَسَانَةِ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contrasts two settings?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stone?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حَجَرٌ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زُجَاجٌ</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خَشَبٌ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حَجَرٌ</a:t>
            </a:r>
            <a:pPr algn="l" indent="0" marL="0">
              <a:buNone/>
            </a:pPr>
            <a:r>
              <a:rPr lang="en-US" sz="1050" i="1" dirty="0">
                <a:solidFill>
                  <a:srgbClr val="8A6D1E"/>
                </a:solidFill>
                <a:latin typeface="Calibri" pitchFamily="34" charset="0"/>
                <a:cs typeface="Amiri" pitchFamily="2" charset="-78"/>
              </a:rPr>
              <a:t> means stone.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 الخَرَسَانَةِ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مَبْنِيٌّ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مَبْنِيَّةٌ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مَبْنِيَّانِ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العِمَارَةُ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contrasts two settings?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بَيْنَمَا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لِذٰلِكَ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means whereas.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Old and new architecture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تَجْمَعُ مَدِينَةُ الرِّوَاقِ بَيْنَ التُّرَاثِ وَالعُمْرَانِ المُعَاصِرِ. فِي القَلْعَةِ القَدِيمَةِ مَبَانٍ مَبْنِيَّةٌ مِنَ الحَجَرِ، وَتَتَمَيَّزُ بِنَوَافِذِهَا الصَّغِيرَةِ وَأَقْوَاسِهَا. بِالقُرْبِ مِنْهَا مَرْكَزٌ ثَقَافِيٌّ حَدِيثٌ مَبْنِيٌّ مِنَ الزُّجَاجِ وَالمَعْدِنِ. يَحْتَرِمُ تَصْمِيمُهُ المِعْمَارَ القَدِيمَ، بَيْنَمَا يُوَفِّرُ مَسَاحَاتٍ فَسِيحَةً لِلزُّوَّارِ. لِذٰلِكَ يَرَى السُّكَّانُ أَنَّ المَشْرُوعَ يَحْمِي التُّرَاثَ وَيُطَوِّرُ المَدِينَةَ.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تَجْمَعُ بَيْنَ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combines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العُمْرَانِ المُعَاصِرِ</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contemporary development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القَلْعَةِ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citadel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نَوَافِذِهَا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windows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أَقْوَاسِهَا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arches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مَرْكَزٌ ثَقَافِيٌّ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cultural centre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تَصْمِيمُهُ</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design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يُوَفِّرُ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provides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لِلزُّوَّارِ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visitors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السُّكَّانُ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residents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city combine?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rural and coastal life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heritage and contemporary development</a:t>
            </a:r>
            <a:endParaRPr lang="en-US" sz="12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transport and shopping</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buildings made of?</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metal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features do they have?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windows and arches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glass doors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cultural centre made of?</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brick and clay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metal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 and sand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design respect?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architecture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railway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residents’ view?</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destroys the old city.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should be closed.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protects heritage and develops the city.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city combine?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rural and coastal life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heritage and contemporary development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transport and shopping</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بَيْنَ التُّرَاثِ وَالعُمْرَانِ المُعَاصِرِ.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buildings made of?</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metal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مَبْنِيَّةٌ مِنَ الحَجَرِ.</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features do they have?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windows and arches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glass doors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platforms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نَوَافِذِهَا الصَّغِيرَةِ وَأَقْوَاسِهَا.</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cultural centre made of?</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brick and clay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glass and metal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 and sand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الزُّجَاجِ وَالمَعْدِنِ.</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design respect?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old architecture</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railway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يَحْتَرِمُ ... المِعْمَارَ القَدِيمَ.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residents’ view?</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destroys the old city.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should be closed.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protects heritage and develops the city.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gives this positive balanced view.</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F6-L07 · Built Environment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F6-L08 · Giving Directions: Signs, Streets and Maps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اِتِّجَاهٌ</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direction</a:t>
            </a:r>
            <a:pPr indent="0" marL="0">
              <a:buNone/>
            </a:pPr>
            <a:r>
              <a:rPr lang="en-US" sz="1000" i="1" dirty="0">
                <a:solidFill>
                  <a:srgbClr val="5A6472"/>
                </a:solidFill>
                <a:latin typeface="Calibri" pitchFamily="34" charset="0"/>
                <a:cs typeface="Amiri" pitchFamily="2" charset="-78"/>
              </a:rPr>
              <a:t>  pl. اِتِّجَاهَاتٌ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اِذْهَبْ / اِذْهَبِي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go!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اِنْعَطِفْ / اِنْعَطِفِي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turn!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يَمِينًا · يَسَارًا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right · left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إِشَارَةُ المُرُورِ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traffic lights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get from your front door to the nearest shop? Think of two directions.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اِذْهَبْ … ثُمَّ اِنْعَطِفْ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F6-L07: the vocabulary tab and the “Material or building?”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an old and a new building (60–80 words) with agreement and whereas.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(80–100 words) + one design idea that respects heritage.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F6-L08 · Giving Directions: Signs, Streets and Maps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إِعْطَاءُ الاِتِّجَاهَاتِ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 building → </a:t>
            </a:r>
            <a:pPr algn="l" indent="0" marL="0">
              <a:buNone/>
            </a:pPr>
            <a:r>
              <a:rPr lang="ar-SA" altLang="en-US" sz="1700" b="1" dirty="0">
                <a:solidFill>
                  <a:srgbClr val="FFFFFF"/>
                </a:solidFill>
                <a:latin typeface="Amiri" pitchFamily="2" charset="-78"/>
                <a:cs typeface="Amiri" pitchFamily="2" charset="-78"/>
              </a:rPr>
              <a:t>مَبْنِيٌّ</a:t>
            </a:r>
            <a:pPr algn="l" indent="0" marL="0">
              <a:buNone/>
            </a:pPr>
            <a:r>
              <a:rPr lang="en-US" sz="1300" b="1" dirty="0">
                <a:solidFill>
                  <a:srgbClr val="FFFFFF"/>
                </a:solidFill>
                <a:latin typeface="Calibri" pitchFamily="34" charset="0"/>
                <a:cs typeface="Amiri" pitchFamily="2" charset="-78"/>
              </a:rPr>
              <a:t> · f. building → </a:t>
            </a:r>
            <a:pPr algn="l" indent="0" marL="0">
              <a:buNone/>
            </a:pPr>
            <a:r>
              <a:rPr lang="ar-SA" altLang="en-US" sz="1700" b="1" dirty="0">
                <a:solidFill>
                  <a:srgbClr val="FFFFFF"/>
                </a:solidFill>
                <a:latin typeface="Amiri" pitchFamily="2" charset="-78"/>
                <a:cs typeface="Amiri" pitchFamily="2" charset="-78"/>
              </a:rPr>
              <a:t>مَبْنِيَّةٌ</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بَيْنَمَا</a:t>
            </a:r>
            <a:pPr algn="l" indent="0" marL="0">
              <a:buNone/>
            </a:pPr>
            <a:r>
              <a:rPr lang="en-US" sz="1300" b="1" dirty="0">
                <a:solidFill>
                  <a:srgbClr val="FFFFFF"/>
                </a:solidFill>
                <a:latin typeface="Calibri" pitchFamily="34" charset="0"/>
                <a:cs typeface="Amiri" pitchFamily="2" charset="-78"/>
              </a:rPr>
              <a:t> + two complete ideas.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F6-L07 · The Built Environment: Buildings, Materials and Urban Life</dc:title>
  <dc:subject>PptxGenJS Presentation</dc:subject>
  <dc:creator>Al Madina Online School · Arabic Department</dc:creator>
  <cp:lastModifiedBy>Al Madina Online School · Arabic Department</cp:lastModifiedBy>
  <cp:revision>1</cp:revision>
  <dcterms:created xsi:type="dcterms:W3CDTF">2026-10-11T06:41:55Z</dcterms:created>
  <dcterms:modified xsi:type="dcterms:W3CDTF">2026-10-11T06:41:55Z</dcterms:modified>
</cp:coreProperties>
</file>