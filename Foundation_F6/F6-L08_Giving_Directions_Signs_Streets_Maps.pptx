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F6-L08. The website lesson “Giving Directions: Signs, Streets and Maps”: vocabulary, grammar rules and quiz, patterns, common mistakes, sorter, listening, reading, speaking prompts and model, writing task and model, differentiation, final check and the lesson mission. Picture match: website visual game “Giving Directions: Signs, Streets and Maps”.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follow and write three basic commands with a map (اِذْهَبْ مُسْتَقِيمًا · اِنْعَطِفْ يَمِينًا · اِعْبُرِ الشَّارِعَ).
• Develop: a complete route with correct male / female commands, landmarks and ثُمَّ / بَعْدَ ذَلِكَ.
• Stretch: adapt the route for a group (-ū), include signs and give an alternative if a road is closed.
• Three endings: one boy — (اِذْهَبْ) · one girl -ī (اِذْهَبِي) · a group -ū (اِذْهَبُوا). The same system as F5-L09 (doctor’s commands).
• Website: “Signs are often short and unvowelled in the real world, so secure recognition of the whole word is important.” (مدخل، مخرج، قف …)
• Online: share a street map; students give each other routes in the chat and the partner traces them with the annotation pen.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F6-L07. Questions 3–5 retrieve F6-L07 (mabniyya, bayna-mā) and F6-L02 (position).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command, three endings: to a boy (nothing), to a girl (-ī), to a group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مستقیم (as in صراطِ مستقیم, the straight path) → مُسْتَقِيمًا (straight ahead). ممنوع is identical (ممنوع الدخول is even seen on signs in Pakistan). داخلہ (admission) → مَدْخَلٌ (entrance); خارج → مَخْرَجٌ (exit) — the مَـ pattern makes a PLACE again. جہت / توجہ (direction, attention) share the root of اِتِّجَاهٌ.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Directions (website vocabulary (1 of 2)). Hear → Say → See → Use. Transliteration is printed for Core students (cover it for Develop/Stretch).
Each command shows three forms: one boy / one girl / a group. Mime them: point straight on, turn a hand right /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Directions (website vocabulary (2 of 2)). Hear → Say → See → Use. Transliteration is printed for Core students (cover it for Develop/Stretch).
Each command shows three forms: one boy / one girl / a group. Mime them: point straight on, turn a hand right /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Signs and road features (website vocabulary (1 of 3)). Hear → Say → See → Use. Transliteration is printed for Core students (cover it for Develop/Stretch).
FLEX: signs. On real signs the vowels are missing: مدخل، مخرج، قف، ممنوع الدخول — practise reading them unvowelled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Signs and road features (website vocabulary (2 of 3)). Hear → Say → See → Use. Transliteration is printed for Core students (cover it for Develop/Stretch).
FLEX: teach if time allows; otherwise these are on the website vocabulary tab for homework.
FLEX: signs. On real signs the vowels are missing: مدخل، مخرج، قف، ممنوع الدخول — practise reading them unvowelled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Signs and road features (website vocabulary (3 of 3)). Hear → Say → See → Use. Transliteration is printed for Core students (cover it for Develop/Stretch).
FLEX: teach if time allows; otherwise these are on the website vocabulary tab for homework.
FLEX: signs. On real signs the vowels are missing: مدخل، مخرج، قف، ممنوع الدخول — practise reading them unvowelled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Asking for directions (website vocabulary). Hear → Say → See → Use. Transliteration is printed for Core students (cover it for Develop/Stretch).
FLEX: teach if time allows; otherwise these are on the website vocabulary tab for homework.
FLEX: asking for directions (the speaking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“Command one male person” (the dictionary-style command, used on many signs), “Command one female person” (add long ـي) and “Command a group” (ـوا — the alif is written but not pronounced).
Website mistakes: اِذْهَبِي to a group ✗ → اِذْهَبُوا ✓ · اِنْعَطِفْ يَمِينٌ ✗ → يَمِينًا ✓ (adverb, -an).
Game: teacher points at one student / one girl / the whole class and says “go!” — students give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“Sequence a complete route” (command + ثُمَّ / بَعْدَ ذَلِكَ + command). Website teaching note: “A complete route uses a starting point, ordered actions, landmarks and an endpoint.”
Ordinals for streets: الشَّارِعَ الأَوَّلَ / الثَّانِيَ / الثَّالِثَ. عَلَى يَمِينِكَ / يَمِينِكِ (on your right, m.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“Direction commands must match the person or group being addressed. Teach the three forms as a system and sequence them with ثُمَّ and بَعْدَ ذٰلِكَ.”
• Command one male person: The masculine singular command is the dictionary-style command used in many signs and basic directions.
• Command one female person: Add the long ـي ending when speaking to one female person.
• Command a group: Use ـوا when directing two or more people as a group.
• Sequence a complete route: A useful route contains ordered actions, landmarks and a clear endpoint.
Website common error: Do not say اِذْهَبِي to a group. Use اِذْهَبُوا for plural addressees.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traced live on a map. Then ask: how would I say this to Yusuf? (remove every -ī) — and to the whole class?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Directions: Signs, Streets and Maps”)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an Arabic reader faces the same way — right is still right! Other website items: at the traffic lights turn right; you will find the bank on your right; the school is on your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Directions: Signs, Streets and Maps”)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an Arabic reader faces the same way — right is still right! Other website items: at the traffic lights turn right; you will find the bank on your right; the school is on your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command by addressee.
Say who is being addressed by pointing: one boy, one girl, or the whole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command by addressee.
Say who is being addressed by pointing: one boy, one girl, or the whole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then say the route to a man.
Listen 1: just listen. Listen 2: note answers. Then chat the letters.
Support: after the second listening, show the read-along slide (Arabic + English, line by line) for Core students.
SCRIPT (read aloud):
السَّائِحَةُ: مِنْ فَضْلِكَ، كَيْفَ أَذْهَبُ إِلَى المَتْحَفِ؟ الرَّجُلُ: اِذْهَبِي مُسْتَقِيمًا حَتَّى إِشَارَةِ المَرُورِ. ثُمَّ اِنْعَطِفِي يَمِينًا وَاعْبُرِي مَمَرَّ المُشَاةِ. اِسْتَمِرِّي حَتَّى الدَّوَّارِ، وَخُذِي الشَّارِعَ الثَّانِيَ عَلَى يَسَارِكِ. المَتْحَفُ مُقَابِلَ المَكْتَبَةِ وَبِجَانِبِ المَقْهَى. السَّائِحَةُ: هَلْ هُوَ بَعِيدٌ؟ الرَّجُلُ: لَا، تَسْتَغْرِقُ الطَّرِيقُ عَشْرَ دَقَائِقَ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هُوَ بَعِيدٌ؟ (Is it far?)
B: لَا، تَسْتَغْرِقُ الطَّرِيقُ خَمْسَ دَقَائِقَ مَشْيًا. (No, it takes five minutes on foot.)
Website “Directions information gap” — all four prompts are the website’s. A has a map with the destination marked; B asks and traces. Swap and change addressee (boy / girl / group). Website model: مِنْ فَضْلِكَ، كَيْفَ أَذْهَبُ إِلَى المَسْجِدِ؟ — اِذْهَبْ مُسْتَقِيمًا، ثُمَّ اِنْعَطِفْ يَسَارًا عِنْدَ الدَّوَّارِ. — هَلْ هُوَ بَعِيدٌ؟ — لَا، تَسْتَغْرِقُ الطَّرِيقُ خَمْسَ دَقَائِقَ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Follow and write three basic commands with a map. · Develop — Give a complete route with correct male/female commands. · Stretch — Adapt one route for a group, include signs and explain an alternative route if a road is closed.
Website writing task (Stretch): Write directions from a station to a town place and design four Arabic signs.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اِذْهَبِي، اِنْعَطِفِي، اِعْبُرِي، خُذِي · حَتَّى إِشَارَةِ المَرُورِ · ثُمَّ / بَعْدَ ذَلِكَ · تَسْتَغْرِقُ الطَّرِيقُ … دَقِيقَةً.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(F6-L09 · Extended Writing: My Town and How I Get Around) will spend class time USING this language, so students prepare it tonight — short, simple, easy to access (school guidance: “Simple, Short, Interesting, Relevant, Easy to access”). The five words prepare the website F6-L09 lesson (extended writing: my town and how I get around).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Giving Directions: Signs, Streets and Maps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إِعْطَاءُ الاِتِّجَاهَاتِ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a:t>
            </a:r>
            <a:pPr algn="l" indent="0" marL="0">
              <a:buNone/>
            </a:pPr>
            <a:r>
              <a:rPr lang="ar-SA" altLang="en-US" sz="1800" dirty="0">
                <a:solidFill>
                  <a:srgbClr val="C6D2E6"/>
                </a:solidFill>
                <a:latin typeface="Amiri" pitchFamily="2" charset="-78"/>
                <a:ea typeface="Amiri" pitchFamily="2" charset="-78"/>
                <a:cs typeface="Amiri" pitchFamily="2" charset="-78"/>
              </a:rPr>
              <a:t>كَيْفَ أَذْهَبُ إِلَى …؟</a:t>
            </a:r>
            <a:pPr algn="l" indent="0" marL="0">
              <a:buNone/>
            </a:pPr>
            <a:r>
              <a:rPr lang="en-US" sz="1400" dirty="0">
                <a:solidFill>
                  <a:srgbClr val="C6D2E6"/>
                </a:solidFill>
                <a:latin typeface="Calibri" pitchFamily="34" charset="0"/>
                <a:cs typeface="Amiri" pitchFamily="2" charset="-78"/>
              </a:rPr>
              <a:t> and give a complete route with commands for a boy, a girl or a group — straight on, turn right, cross, then … — and read common Arabic signs.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F6-L08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Direction commands and signs, then go / turn / cross for a boy, a girl or a group.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who is being addressed, fix the mistakes and follow directions to the museum.</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اِنْعَطِفْ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إِشَارَةُ المُرُورِ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traffic lights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roundabout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direction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مِنَ الطُّوبِ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library is next to the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المَكْتَبَةُ بِجَانِبِ المَدْرَسَةِ.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المَكْتَبَةُ بَيْنَ المَدْرَسَةِ.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المَكْتَبَةُ مَبْنِيَّةٌ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اِنْعَطِفْ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turn!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إِشَارَةُ المُرُورِ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traffic lights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roundabout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direction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مِنَ الطُّوبِ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مَبْنِيَّانِ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مَبْنِيَّةٌ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F6-L07: the school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library is next to the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المَكْتَبَةُ بِجَانِبِ المَدْرَسَةِ.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المَكْتَبَةُ بَيْنَ المَدْرَسَةِ.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المَكْتَبَةُ مَبْنِيَّةٌ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F6-L02 position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command, three endings: to a boy (nothing), to a girl (-ī), to a group (-ū).</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اِذْهَبْ · اِذْهَبِ</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 · اِذْهَبُ</a:t>
            </a:r>
            <a:pPr rtl="1" algn="ctr" indent="0" marL="0">
              <a:buNone/>
            </a:pPr>
            <a:r>
              <a:rPr lang="ar-SA" altLang="en-US" sz="2400" b="1" dirty="0">
                <a:solidFill>
                  <a:srgbClr val="0E7C86"/>
                </a:solidFill>
                <a:latin typeface="Amiri" pitchFamily="2" charset="-78"/>
                <a:ea typeface="Amiri" pitchFamily="2" charset="-78"/>
                <a:cs typeface="Amiri" pitchFamily="2" charset="-78"/>
              </a:rPr>
              <a:t>وا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essential direction and sign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commands for one male, one female and a group.</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Sequence a route using landmarks.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respond to signs and maps.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how to get to a place.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three basic directions.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route to a boy or a girl.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landmarks and sequence words.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directions to a group.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suggest an alternative route.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Directions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Signs and road features · 13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Asking for directions · 5</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اِتِّجَاهٌ</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‎توجہ / جہت‎ </a:t>
            </a:r>
            <a:pPr indent="0" marL="0">
              <a:buNone/>
            </a:pPr>
            <a:r>
              <a:rPr lang="en-US" sz="950" b="1" dirty="0">
                <a:solidFill>
                  <a:srgbClr val="2E8B57"/>
                </a:solidFill>
                <a:latin typeface="Calibri" pitchFamily="34" charset="0"/>
                <a:cs typeface="Amiri" pitchFamily="2" charset="-78"/>
              </a:rPr>
              <a:t> jihat · direction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مُسْتَقِيمًا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‎مستقیم‎ </a:t>
            </a:r>
            <a:pPr indent="0" marL="0">
              <a:buNone/>
            </a:pPr>
            <a:r>
              <a:rPr lang="ar-SA" sz="950" b="1" dirty="0">
                <a:solidFill>
                  <a:srgbClr val="2E8B57"/>
                </a:solidFill>
                <a:latin typeface="Calibri" pitchFamily="34" charset="0"/>
                <a:ea typeface="Amiri" pitchFamily="2" charset="-78"/>
                <a:cs typeface="Amiri" pitchFamily="2" charset="-78"/>
              </a:rPr>
              <a:t> mustaqīm · straight (as in صراط مستقیم)</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مَمْنُوعٌ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‎ممنوع‎ </a:t>
            </a:r>
            <a:pPr indent="0" marL="0">
              <a:buNone/>
            </a:pPr>
            <a:r>
              <a:rPr lang="en-US" sz="950" b="1" dirty="0">
                <a:solidFill>
                  <a:srgbClr val="2E8B57"/>
                </a:solidFill>
                <a:latin typeface="Calibri" pitchFamily="34" charset="0"/>
                <a:cs typeface="Amiri" pitchFamily="2" charset="-78"/>
              </a:rPr>
              <a:t> mamnūʿ · forbidden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دَاخِلَ · مَدْخَلٌ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‎داخلہ‎ </a:t>
            </a:r>
            <a:pPr indent="0" marL="0">
              <a:buNone/>
            </a:pPr>
            <a:r>
              <a:rPr lang="en-US" sz="950" b="1" dirty="0">
                <a:solidFill>
                  <a:srgbClr val="2E8B57"/>
                </a:solidFill>
                <a:latin typeface="Calibri" pitchFamily="34" charset="0"/>
                <a:cs typeface="Amiri" pitchFamily="2" charset="-78"/>
              </a:rPr>
              <a:t> dākhila · admission → entrance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خَارِجَ · مَخْرَجٌ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‎خارج‎ </a:t>
            </a:r>
            <a:pPr indent="0" marL="0">
              <a:buNone/>
            </a:pPr>
            <a:r>
              <a:rPr lang="en-US" sz="950" b="1" dirty="0">
                <a:solidFill>
                  <a:srgbClr val="2E8B57"/>
                </a:solidFill>
                <a:latin typeface="Calibri" pitchFamily="34" charset="0"/>
                <a:cs typeface="Amiri" pitchFamily="2" charset="-78"/>
              </a:rPr>
              <a:t> khārij · outside → exit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اِذْهَبْ / اِذْهَبِي / اِذْهَبُوا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 m/f/pl</a:t>
            </a:r>
            <a:endParaRPr lang="en-US" sz="1350" dirty="0"/>
          </a:p>
          <a:p>
            <a:pPr indent="0" marL="0">
              <a:buNone/>
            </a:pPr>
            <a:r>
              <a:rPr lang="en-US" sz="1100" i="1" dirty="0">
                <a:solidFill>
                  <a:srgbClr val="5A6472"/>
                </a:solidFill>
                <a:latin typeface="Calibri" pitchFamily="34" charset="0"/>
                <a:cs typeface="Amiri" pitchFamily="2" charset="-78"/>
              </a:rPr>
              <a:t>idh-hab / idh-ha-bī / idh-ha-bū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اِمْشِ / اِمْشِي / اِمْشُوا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 m/f/pl</a:t>
            </a:r>
            <a:endParaRPr lang="en-US" sz="1350" dirty="0"/>
          </a:p>
          <a:p>
            <a:pPr indent="0" marL="0">
              <a:buNone/>
            </a:pPr>
            <a:r>
              <a:rPr lang="en-US" sz="1100" i="1" dirty="0">
                <a:solidFill>
                  <a:srgbClr val="5A6472"/>
                </a:solidFill>
                <a:latin typeface="Calibri" pitchFamily="34" charset="0"/>
                <a:cs typeface="Amiri" pitchFamily="2" charset="-78"/>
              </a:rPr>
              <a:t>im-shi / im-shī / im-shū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اِنْعَطِفْ / اِنْعَطِفِي / اِنْعَطِفُوا</a:t>
            </a:r>
            <a:endParaRPr lang="ar-SA" sz="28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turn m/f/pl</a:t>
            </a:r>
            <a:endParaRPr lang="en-US" sz="1350" dirty="0"/>
          </a:p>
          <a:p>
            <a:pPr indent="0" marL="0">
              <a:buNone/>
            </a:pPr>
            <a:r>
              <a:rPr lang="en-US" sz="1100" i="1" dirty="0">
                <a:solidFill>
                  <a:srgbClr val="5A6472"/>
                </a:solidFill>
                <a:latin typeface="Calibri" pitchFamily="34" charset="0"/>
                <a:cs typeface="Amiri" pitchFamily="2" charset="-78"/>
              </a:rPr>
              <a:t>in-ʿa-ṭif / in-ʿa-ṭi-fī / in-ʿa-ṭi-fū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خُذْ / خُذِي / خُذُوا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 m/f/pl</a:t>
            </a:r>
            <a:endParaRPr lang="en-US" sz="1350" dirty="0"/>
          </a:p>
          <a:p>
            <a:pPr indent="0" marL="0">
              <a:buNone/>
            </a:pPr>
            <a:r>
              <a:rPr lang="en-US" sz="1100" i="1" dirty="0">
                <a:solidFill>
                  <a:srgbClr val="5A6472"/>
                </a:solidFill>
                <a:latin typeface="Calibri" pitchFamily="34" charset="0"/>
                <a:cs typeface="Amiri" pitchFamily="2" charset="-78"/>
              </a:rPr>
              <a:t>khudh / khu-dhī / khu-dhū</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اِعْبُرْ / اِعْبُرِي / اِعْبُرُوا</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cross m/f/pl</a:t>
            </a:r>
            <a:endParaRPr lang="en-US" sz="1350" dirty="0"/>
          </a:p>
          <a:p>
            <a:pPr indent="0" marL="0">
              <a:buNone/>
            </a:pPr>
            <a:r>
              <a:rPr lang="en-US" sz="1100" i="1" dirty="0">
                <a:solidFill>
                  <a:srgbClr val="5A6472"/>
                </a:solidFill>
                <a:latin typeface="Calibri" pitchFamily="34" charset="0"/>
                <a:cs typeface="Amiri" pitchFamily="2" charset="-78"/>
              </a:rPr>
              <a:t>iʿ-bur / iʿ-bu-rī / iʿ-bu-rū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اِسْتَمِرَّ / اِسْتَمِرِّي / اِسْتَمِرُّوا</a:t>
            </a:r>
            <a:endParaRPr lang="ar-SA" sz="28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continue m/f/pl</a:t>
            </a:r>
            <a:endParaRPr lang="en-US" sz="1350" dirty="0"/>
          </a:p>
          <a:p>
            <a:pPr indent="0" marL="0">
              <a:buNone/>
            </a:pPr>
            <a:r>
              <a:rPr lang="en-US" sz="1100" i="1" dirty="0">
                <a:solidFill>
                  <a:srgbClr val="5A6472"/>
                </a:solidFill>
                <a:latin typeface="Calibri" pitchFamily="34" charset="0"/>
                <a:cs typeface="Amiri" pitchFamily="2" charset="-78"/>
              </a:rPr>
              <a:t>is-ta-mir-ra / is-ta-mir-rī / is-ta-mir-rū</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مُسْتَقِيمًا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ahead</a:t>
            </a:r>
            <a:endParaRPr lang="en-US" sz="1350" dirty="0"/>
          </a:p>
          <a:p>
            <a:pPr indent="0" marL="0">
              <a:buNone/>
            </a:pPr>
            <a:r>
              <a:rPr lang="en-US" sz="1100" i="1" dirty="0">
                <a:solidFill>
                  <a:srgbClr val="5A6472"/>
                </a:solidFill>
                <a:latin typeface="Calibri" pitchFamily="34" charset="0"/>
                <a:cs typeface="Amiri" pitchFamily="2" charset="-78"/>
              </a:rPr>
              <a:t>mus-ta-qī-man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يَمِينًا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right</a:t>
            </a:r>
            <a:endParaRPr lang="en-US" sz="1350" dirty="0"/>
          </a:p>
          <a:p>
            <a:pPr indent="0" marL="0">
              <a:buNone/>
            </a:pPr>
            <a:r>
              <a:rPr lang="en-US" sz="1100" i="1" dirty="0">
                <a:solidFill>
                  <a:srgbClr val="5A6472"/>
                </a:solidFill>
                <a:latin typeface="Calibri" pitchFamily="34" charset="0"/>
                <a:cs typeface="Amiri" pitchFamily="2" charset="-78"/>
              </a:rPr>
              <a:t>ya-mī-nan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يَسَارًا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left</a:t>
            </a:r>
            <a:endParaRPr lang="en-US" sz="1350" dirty="0"/>
          </a:p>
          <a:p>
            <a:pPr indent="0" marL="0">
              <a:buNone/>
            </a:pPr>
            <a:r>
              <a:rPr lang="en-US" sz="1100" i="1" dirty="0">
                <a:solidFill>
                  <a:srgbClr val="5A6472"/>
                </a:solidFill>
                <a:latin typeface="Calibri" pitchFamily="34" charset="0"/>
                <a:cs typeface="Amiri" pitchFamily="2" charset="-78"/>
              </a:rPr>
              <a:t>ya-sā-ran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until</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Signs and road features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مَدْخَلٌ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entrance</a:t>
            </a:r>
            <a:endParaRPr lang="en-US" sz="1350" dirty="0"/>
          </a:p>
          <a:p>
            <a:pPr indent="0" marL="0">
              <a:buNone/>
            </a:pPr>
            <a:r>
              <a:rPr lang="en-US" sz="1100" i="1" dirty="0">
                <a:solidFill>
                  <a:srgbClr val="5A6472"/>
                </a:solidFill>
                <a:latin typeface="Calibri" pitchFamily="34" charset="0"/>
                <a:cs typeface="Amiri" pitchFamily="2" charset="-78"/>
              </a:rPr>
              <a:t>mad-kha-lun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مَخْرَجٌ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exit</a:t>
            </a:r>
            <a:endParaRPr lang="en-US" sz="1350" dirty="0"/>
          </a:p>
          <a:p>
            <a:pPr indent="0" marL="0">
              <a:buNone/>
            </a:pPr>
            <a:r>
              <a:rPr lang="en-US" sz="1100" i="1" dirty="0">
                <a:solidFill>
                  <a:srgbClr val="5A6472"/>
                </a:solidFill>
                <a:latin typeface="Calibri" pitchFamily="34" charset="0"/>
                <a:cs typeface="Amiri" pitchFamily="2" charset="-78"/>
              </a:rPr>
              <a:t>makh-ra-jun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مَمْنُوعُ الدُّخُولِ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 entry</a:t>
            </a:r>
            <a:endParaRPr lang="en-US" sz="1350" dirty="0"/>
          </a:p>
          <a:p>
            <a:pPr indent="0" marL="0">
              <a:buNone/>
            </a:pPr>
            <a:r>
              <a:rPr lang="en-US" sz="1100" i="1" dirty="0">
                <a:solidFill>
                  <a:srgbClr val="5A6472"/>
                </a:solidFill>
                <a:latin typeface="Calibri" pitchFamily="34" charset="0"/>
                <a:cs typeface="Amiri" pitchFamily="2" charset="-78"/>
              </a:rPr>
              <a:t>mam-nū-ʿu ad-du-khū-li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مَمْنُوعُ الوُقُوفِ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 parking</a:t>
            </a:r>
            <a:endParaRPr lang="en-US" sz="1350" dirty="0"/>
          </a:p>
          <a:p>
            <a:pPr indent="0" marL="0">
              <a:buNone/>
            </a:pPr>
            <a:r>
              <a:rPr lang="en-US" sz="1100" i="1" dirty="0">
                <a:solidFill>
                  <a:srgbClr val="5A6472"/>
                </a:solidFill>
                <a:latin typeface="Calibri" pitchFamily="34" charset="0"/>
                <a:cs typeface="Amiri" pitchFamily="2" charset="-78"/>
              </a:rPr>
              <a:t>mam-nū-ʿu al-wu-qū-fi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قِفْ</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stop</a:t>
            </a:r>
            <a:endParaRPr lang="en-US" sz="1350" dirty="0"/>
          </a:p>
          <a:p>
            <a:pPr indent="0" marL="0">
              <a:buNone/>
            </a:pPr>
            <a:r>
              <a:rPr lang="en-US" sz="1100" i="1" dirty="0">
                <a:solidFill>
                  <a:srgbClr val="5A6472"/>
                </a:solidFill>
                <a:latin typeface="Calibri" pitchFamily="34" charset="0"/>
                <a:cs typeface="Amiri" pitchFamily="2" charset="-78"/>
              </a:rPr>
              <a:t>qif</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Signs and road features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 المُشَاةِ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pedestrian crossing</a:t>
            </a:r>
            <a:endParaRPr lang="en-US" sz="1350" dirty="0"/>
          </a:p>
          <a:p>
            <a:pPr indent="0" marL="0">
              <a:buNone/>
            </a:pPr>
            <a:r>
              <a:rPr lang="en-US" sz="1100" i="1" dirty="0">
                <a:solidFill>
                  <a:srgbClr val="5A6472"/>
                </a:solidFill>
                <a:latin typeface="Calibri" pitchFamily="34" charset="0"/>
                <a:cs typeface="Amiri" pitchFamily="2" charset="-78"/>
              </a:rPr>
              <a:t>ma-mar-ru al-mu-shā-ti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إِشَارَةُ المَرُورِ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traffic lights</a:t>
            </a:r>
            <a:endParaRPr lang="en-US" sz="1350" dirty="0"/>
          </a:p>
          <a:p>
            <a:pPr indent="0" marL="0">
              <a:buNone/>
            </a:pPr>
            <a:r>
              <a:rPr lang="en-US" sz="1100" i="1" dirty="0">
                <a:solidFill>
                  <a:srgbClr val="5A6472"/>
                </a:solidFill>
                <a:latin typeface="Calibri" pitchFamily="34" charset="0"/>
                <a:cs typeface="Amiri" pitchFamily="2" charset="-78"/>
              </a:rPr>
              <a:t>i-shā-ra-tu al-ma-rū-ri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roundabout</a:t>
            </a:r>
            <a:endParaRPr lang="en-US" sz="1350" dirty="0"/>
          </a:p>
          <a:p>
            <a:pPr indent="0" marL="0">
              <a:buNone/>
            </a:pPr>
            <a:r>
              <a:rPr lang="en-US" sz="1100" i="1" dirty="0">
                <a:solidFill>
                  <a:srgbClr val="5A6472"/>
                </a:solidFill>
                <a:latin typeface="Calibri" pitchFamily="34" charset="0"/>
                <a:cs typeface="Amiri" pitchFamily="2" charset="-78"/>
              </a:rPr>
              <a:t>daw-wā-run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جِسْرٌ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bridge</a:t>
            </a:r>
            <a:endParaRPr lang="en-US" sz="1350" dirty="0"/>
          </a:p>
          <a:p>
            <a:pPr indent="0" marL="0">
              <a:buNone/>
            </a:pPr>
            <a:r>
              <a:rPr lang="en-US" sz="1100" i="1" dirty="0">
                <a:solidFill>
                  <a:srgbClr val="5A6472"/>
                </a:solidFill>
                <a:latin typeface="Calibri" pitchFamily="34" charset="0"/>
                <a:cs typeface="Amiri" pitchFamily="2" charset="-78"/>
              </a:rPr>
              <a:t>jis-run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نَفَقٌ</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tunnel</a:t>
            </a:r>
            <a:endParaRPr lang="en-US" sz="1350" dirty="0"/>
          </a:p>
          <a:p>
            <a:pPr indent="0" marL="0">
              <a:buNone/>
            </a:pPr>
            <a:r>
              <a:rPr lang="en-US" sz="1100" i="1" dirty="0">
                <a:solidFill>
                  <a:srgbClr val="5A6472"/>
                </a:solidFill>
                <a:latin typeface="Calibri" pitchFamily="34" charset="0"/>
                <a:cs typeface="Amiri" pitchFamily="2" charset="-78"/>
              </a:rPr>
              <a:t>na-fa-qun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Signs and road features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رُكْنٌ / زَاوِيَةٌ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corner</a:t>
            </a:r>
            <a:endParaRPr lang="en-US" sz="1350" dirty="0"/>
          </a:p>
          <a:p>
            <a:pPr indent="0" marL="0">
              <a:buNone/>
            </a:pPr>
            <a:r>
              <a:rPr lang="en-US" sz="1100" i="1" dirty="0">
                <a:solidFill>
                  <a:srgbClr val="5A6472"/>
                </a:solidFill>
                <a:latin typeface="Calibri" pitchFamily="34" charset="0"/>
                <a:cs typeface="Amiri" pitchFamily="2" charset="-78"/>
              </a:rPr>
              <a:t>ruk-nun / zā-wi-ya-tun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لاَفِتَةٌ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sign</a:t>
            </a:r>
            <a:endParaRPr lang="en-US" sz="1350" dirty="0"/>
          </a:p>
          <a:p>
            <a:pPr indent="0" marL="0">
              <a:buNone/>
            </a:pPr>
            <a:r>
              <a:rPr lang="en-US" sz="1100" i="1" dirty="0">
                <a:solidFill>
                  <a:srgbClr val="5A6472"/>
                </a:solidFill>
                <a:latin typeface="Calibri" pitchFamily="34" charset="0"/>
                <a:cs typeface="Amiri" pitchFamily="2" charset="-78"/>
              </a:rPr>
              <a:t>l-fi-ta-tun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اتِّجَاهٌ</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direction</a:t>
            </a:r>
            <a:endParaRPr lang="en-US" sz="1350" dirty="0"/>
          </a:p>
          <a:p>
            <a:pPr indent="0" marL="0">
              <a:buNone/>
            </a:pPr>
            <a:r>
              <a:rPr lang="en-US" sz="1100" i="1" dirty="0">
                <a:solidFill>
                  <a:srgbClr val="5A6472"/>
                </a:solidFill>
                <a:latin typeface="Calibri" pitchFamily="34" charset="0"/>
                <a:cs typeface="Amiri" pitchFamily="2" charset="-78"/>
              </a:rPr>
              <a:t>at-ti-jā-hun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Asking for directions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 أَذْهَبُ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do I get to...?</a:t>
            </a:r>
            <a:endParaRPr lang="en-US" sz="1350" dirty="0"/>
          </a:p>
          <a:p>
            <a:pPr indent="0" marL="0">
              <a:buNone/>
            </a:pPr>
            <a:r>
              <a:rPr lang="en-US" sz="1100" i="1" dirty="0">
                <a:solidFill>
                  <a:srgbClr val="5A6472"/>
                </a:solidFill>
                <a:latin typeface="Calibri" pitchFamily="34" charset="0"/>
                <a:cs typeface="Amiri" pitchFamily="2" charset="-78"/>
              </a:rPr>
              <a:t>kay-fa adh-ha-bu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هُوَ بَعِيدٌ؟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it far?</a:t>
            </a:r>
            <a:endParaRPr lang="en-US" sz="1350" dirty="0"/>
          </a:p>
          <a:p>
            <a:pPr indent="0" marL="0">
              <a:buNone/>
            </a:pPr>
            <a:r>
              <a:rPr lang="en-US" sz="1100" i="1" dirty="0">
                <a:solidFill>
                  <a:srgbClr val="5A6472"/>
                </a:solidFill>
                <a:latin typeface="Calibri" pitchFamily="34" charset="0"/>
                <a:cs typeface="Amiri" pitchFamily="2" charset="-78"/>
              </a:rPr>
              <a:t>hal hu-wa ba-ʿī-dun?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دَقِيقَةً مَشْيًا؟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minutes on foot?</a:t>
            </a:r>
            <a:endParaRPr lang="en-US" sz="1350" dirty="0"/>
          </a:p>
          <a:p>
            <a:pPr indent="0" marL="0">
              <a:buNone/>
            </a:pPr>
            <a:r>
              <a:rPr lang="en-US" sz="1100" i="1" dirty="0">
                <a:solidFill>
                  <a:srgbClr val="5A6472"/>
                </a:solidFill>
                <a:latin typeface="Calibri" pitchFamily="34" charset="0"/>
                <a:cs typeface="Amiri" pitchFamily="2" charset="-78"/>
              </a:rPr>
              <a:t>kam da-qī-qa-tan mash-yan?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يُمْكِنُكَ أَنْ تُعِيدَ؟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Can you repeat?</a:t>
            </a:r>
            <a:endParaRPr lang="en-US" sz="1350" dirty="0"/>
          </a:p>
          <a:p>
            <a:pPr indent="0" marL="0">
              <a:buNone/>
            </a:pPr>
            <a:r>
              <a:rPr lang="en-US" sz="1100" i="1" dirty="0">
                <a:solidFill>
                  <a:srgbClr val="5A6472"/>
                </a:solidFill>
                <a:latin typeface="Calibri" pitchFamily="34" charset="0"/>
                <a:cs typeface="Amiri" pitchFamily="2" charset="-78"/>
              </a:rPr>
              <a:t>hal yum-ki-nu-ka an tu-ʿī-da?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 عَلَى المُسَاعَدَةِ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 for the help</a:t>
            </a:r>
            <a:endParaRPr lang="en-US" sz="1350" dirty="0"/>
          </a:p>
          <a:p>
            <a:pPr indent="0" marL="0">
              <a:buNone/>
            </a:pPr>
            <a:r>
              <a:rPr lang="en-US" sz="1100" i="1" dirty="0">
                <a:solidFill>
                  <a:srgbClr val="5A6472"/>
                </a:solidFill>
                <a:latin typeface="Calibri" pitchFamily="34" charset="0"/>
                <a:cs typeface="Amiri" pitchFamily="2" charset="-78"/>
              </a:rPr>
              <a:t>shuk-ran ʿa-lā al-mu-sā-ʿa-da-ti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COMMANDS FOR A BOY, A GIRL, A GROUP (WEBSITE RULES 1–3)</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Go · turn · cross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 boy</a:t>
            </a:r>
            <a:endParaRPr lang="en-US" sz="1100" dirty="0"/>
          </a:p>
        </p:txBody>
      </p:sp>
      <p:sp>
        <p:nvSpPr>
          <p:cNvPr id="17" name="Text 14"/>
          <p:cNvSpPr txBox="1"/>
          <p:nvPr/>
        </p:nvSpPr>
        <p:spPr>
          <a:xfrm>
            <a:off x="52212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 girl</a:t>
            </a:r>
            <a:endParaRPr lang="en-US" sz="1100" dirty="0"/>
          </a:p>
        </p:txBody>
      </p:sp>
      <p:sp>
        <p:nvSpPr>
          <p:cNvPr id="18" name="Text 15"/>
          <p:cNvSpPr txBox="1"/>
          <p:nvPr/>
        </p:nvSpPr>
        <p:spPr>
          <a:xfrm>
            <a:off x="19293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group</a:t>
            </a:r>
            <a:endParaRPr lang="en-US" sz="1100" dirty="0"/>
          </a:p>
        </p:txBody>
      </p:sp>
      <p:sp>
        <p:nvSpPr>
          <p:cNvPr id="19" name="Text 16"/>
          <p:cNvSpPr txBox="1"/>
          <p:nvPr/>
        </p:nvSpPr>
        <p:spPr>
          <a:xfrm>
            <a:off x="53035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531352"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اِذْهَبْ</a:t>
            </a:r>
            <a:endParaRPr lang="ar-SA" sz="2600" dirty="0"/>
          </a:p>
        </p:txBody>
      </p:sp>
      <p:sp>
        <p:nvSpPr>
          <p:cNvPr id="22" name="Text 19"/>
          <p:cNvSpPr txBox="1"/>
          <p:nvPr/>
        </p:nvSpPr>
        <p:spPr>
          <a:xfrm>
            <a:off x="5239512"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اِذْهَبِي</a:t>
            </a:r>
            <a:endParaRPr lang="ar-SA" sz="2600" dirty="0"/>
          </a:p>
        </p:txBody>
      </p:sp>
      <p:sp>
        <p:nvSpPr>
          <p:cNvPr id="23" name="Text 20"/>
          <p:cNvSpPr txBox="1"/>
          <p:nvPr/>
        </p:nvSpPr>
        <p:spPr>
          <a:xfrm>
            <a:off x="1947672"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اِذْهَبُوا</a:t>
            </a:r>
            <a:endParaRPr lang="ar-SA" sz="2600" dirty="0"/>
          </a:p>
        </p:txBody>
      </p:sp>
      <p:sp>
        <p:nvSpPr>
          <p:cNvPr id="24" name="Text 21"/>
          <p:cNvSpPr txBox="1"/>
          <p:nvPr/>
        </p:nvSpPr>
        <p:spPr>
          <a:xfrm>
            <a:off x="566928" y="2267712"/>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531352"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اِنْعَطِفْ</a:t>
            </a:r>
            <a:endParaRPr lang="ar-SA" sz="2600" dirty="0"/>
          </a:p>
        </p:txBody>
      </p:sp>
      <p:sp>
        <p:nvSpPr>
          <p:cNvPr id="29" name="Text 26"/>
          <p:cNvSpPr txBox="1"/>
          <p:nvPr/>
        </p:nvSpPr>
        <p:spPr>
          <a:xfrm>
            <a:off x="5239512"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اِنْعَطِفِي</a:t>
            </a:r>
            <a:endParaRPr lang="ar-SA" sz="2600" dirty="0"/>
          </a:p>
        </p:txBody>
      </p:sp>
      <p:sp>
        <p:nvSpPr>
          <p:cNvPr id="30" name="Text 27"/>
          <p:cNvSpPr txBox="1"/>
          <p:nvPr/>
        </p:nvSpPr>
        <p:spPr>
          <a:xfrm>
            <a:off x="1947672"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اِنْعَطِفُوا</a:t>
            </a:r>
            <a:endParaRPr lang="ar-SA" sz="2600" dirty="0"/>
          </a:p>
        </p:txBody>
      </p:sp>
      <p:sp>
        <p:nvSpPr>
          <p:cNvPr id="31" name="Text 28"/>
          <p:cNvSpPr txBox="1"/>
          <p:nvPr/>
        </p:nvSpPr>
        <p:spPr>
          <a:xfrm>
            <a:off x="566928" y="2881884"/>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turn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531352"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اِعْبُرْ</a:t>
            </a:r>
            <a:endParaRPr lang="ar-SA" sz="2600" dirty="0"/>
          </a:p>
        </p:txBody>
      </p:sp>
      <p:sp>
        <p:nvSpPr>
          <p:cNvPr id="36" name="Text 33"/>
          <p:cNvSpPr txBox="1"/>
          <p:nvPr/>
        </p:nvSpPr>
        <p:spPr>
          <a:xfrm>
            <a:off x="5239512"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اِعْبُرِي</a:t>
            </a:r>
            <a:endParaRPr lang="ar-SA" sz="2600" dirty="0"/>
          </a:p>
        </p:txBody>
      </p:sp>
      <p:sp>
        <p:nvSpPr>
          <p:cNvPr id="37" name="Text 34"/>
          <p:cNvSpPr txBox="1"/>
          <p:nvPr/>
        </p:nvSpPr>
        <p:spPr>
          <a:xfrm>
            <a:off x="1947672"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اِعْبُرُوا</a:t>
            </a:r>
            <a:endParaRPr lang="ar-SA" sz="2600" dirty="0"/>
          </a:p>
        </p:txBody>
      </p:sp>
      <p:sp>
        <p:nvSpPr>
          <p:cNvPr id="38" name="Text 35"/>
          <p:cNvSpPr txBox="1"/>
          <p:nvPr/>
        </p:nvSpPr>
        <p:spPr>
          <a:xfrm>
            <a:off x="566928" y="3496056"/>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cross</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531352"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خُذْ</a:t>
            </a:r>
            <a:endParaRPr lang="ar-SA" sz="2600" dirty="0"/>
          </a:p>
        </p:txBody>
      </p:sp>
      <p:sp>
        <p:nvSpPr>
          <p:cNvPr id="43" name="Text 40"/>
          <p:cNvSpPr txBox="1"/>
          <p:nvPr/>
        </p:nvSpPr>
        <p:spPr>
          <a:xfrm>
            <a:off x="5239512"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خُذِي</a:t>
            </a:r>
            <a:endParaRPr lang="ar-SA" sz="2600" dirty="0"/>
          </a:p>
        </p:txBody>
      </p:sp>
      <p:sp>
        <p:nvSpPr>
          <p:cNvPr id="44" name="Text 41"/>
          <p:cNvSpPr txBox="1"/>
          <p:nvPr/>
        </p:nvSpPr>
        <p:spPr>
          <a:xfrm>
            <a:off x="1947672"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خُذُوا</a:t>
            </a:r>
            <a:endParaRPr lang="ar-SA" sz="2600" dirty="0"/>
          </a:p>
        </p:txBody>
      </p:sp>
      <p:sp>
        <p:nvSpPr>
          <p:cNvPr id="45" name="Text 42"/>
          <p:cNvSpPr txBox="1"/>
          <p:nvPr/>
        </p:nvSpPr>
        <p:spPr>
          <a:xfrm>
            <a:off x="566928" y="4110228"/>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531352"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اِمْشِ</a:t>
            </a:r>
            <a:endParaRPr lang="ar-SA" sz="2600" dirty="0"/>
          </a:p>
        </p:txBody>
      </p:sp>
      <p:sp>
        <p:nvSpPr>
          <p:cNvPr id="48" name="Text 45"/>
          <p:cNvSpPr txBox="1"/>
          <p:nvPr/>
        </p:nvSpPr>
        <p:spPr>
          <a:xfrm>
            <a:off x="5239512"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اِمْشِي</a:t>
            </a:r>
            <a:endParaRPr lang="ar-SA" sz="2600" dirty="0"/>
          </a:p>
        </p:txBody>
      </p:sp>
      <p:sp>
        <p:nvSpPr>
          <p:cNvPr id="49" name="Text 46"/>
          <p:cNvSpPr txBox="1"/>
          <p:nvPr/>
        </p:nvSpPr>
        <p:spPr>
          <a:xfrm>
            <a:off x="1947672"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اِمْشُوا</a:t>
            </a:r>
            <a:endParaRPr lang="ar-SA" sz="2600" dirty="0"/>
          </a:p>
        </p:txBody>
      </p:sp>
      <p:sp>
        <p:nvSpPr>
          <p:cNvPr id="50" name="Text 47"/>
          <p:cNvSpPr txBox="1"/>
          <p:nvPr/>
        </p:nvSpPr>
        <p:spPr>
          <a:xfrm>
            <a:off x="566928" y="4724400"/>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walk</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531352"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اِسْتَمِرَّ</a:t>
            </a:r>
            <a:endParaRPr lang="ar-SA" sz="2600" dirty="0"/>
          </a:p>
        </p:txBody>
      </p:sp>
      <p:sp>
        <p:nvSpPr>
          <p:cNvPr id="53" name="Text 50"/>
          <p:cNvSpPr txBox="1"/>
          <p:nvPr/>
        </p:nvSpPr>
        <p:spPr>
          <a:xfrm>
            <a:off x="5239512"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اِسْتَمِرِّي</a:t>
            </a:r>
            <a:endParaRPr lang="ar-SA" sz="2600" dirty="0"/>
          </a:p>
        </p:txBody>
      </p:sp>
      <p:sp>
        <p:nvSpPr>
          <p:cNvPr id="54" name="Text 51"/>
          <p:cNvSpPr txBox="1"/>
          <p:nvPr/>
        </p:nvSpPr>
        <p:spPr>
          <a:xfrm>
            <a:off x="1947672"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اِسْتَمِرُّوا</a:t>
            </a:r>
            <a:endParaRPr lang="ar-SA" sz="2600" dirty="0"/>
          </a:p>
        </p:txBody>
      </p:sp>
      <p:sp>
        <p:nvSpPr>
          <p:cNvPr id="55" name="Text 52"/>
          <p:cNvSpPr txBox="1"/>
          <p:nvPr/>
        </p:nvSpPr>
        <p:spPr>
          <a:xfrm>
            <a:off x="566928" y="5338572"/>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continue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a direction: mustaqīman (straight) · yamīnan (right) · yasāran (left) — all end in -an.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A COMPLETE ROUTE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Start · actions · landmarks · 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الطَّرِيقُ الكَامِلُ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48006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a:t>
            </a:r>
            <a:endParaRPr lang="en-US" sz="850" dirty="0"/>
          </a:p>
        </p:txBody>
      </p:sp>
      <p:sp>
        <p:nvSpPr>
          <p:cNvPr id="18" name="Text 15"/>
          <p:cNvSpPr txBox="1"/>
          <p:nvPr/>
        </p:nvSpPr>
        <p:spPr>
          <a:xfrm>
            <a:off x="8758428"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كَيْفَ أَذْهَبُ إِلَى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مِنْ فَضْلِكَ، كَيْفَ أَذْهَبُ إِلَى المَحَطَّةِ؟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Please, how do I get to the station?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ilā before the place.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ROUTE</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 حَتَّى … ثُمَّ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اِذْهَبْ مُسْتَقِيمًا حَتَّى إِشَارَةِ المَرُورِ، ثُمَّ اِنْعَطِفْ يَسَارًا.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Go straight to the traffic lights, then turn left.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Until a landmark, then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4800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END</a:t>
            </a:r>
            <a:endParaRPr lang="en-US" sz="850" dirty="0"/>
          </a:p>
        </p:txBody>
      </p:sp>
      <p:sp>
        <p:nvSpPr>
          <p:cNvPr id="34" name="Text 31"/>
          <p:cNvSpPr txBox="1"/>
          <p:nvPr/>
        </p:nvSpPr>
        <p:spPr>
          <a:xfrm>
            <a:off x="1120140"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المَكَانُ + مَوْقِعٌ</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المَتْحَفُ مُقَابِلَ المَكْتَبَةِ. تَسْتَغْرِقُ الطَّرِيقُ عَشْرَ دَقَائِقَ.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museum is opposite the library. It takes ten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F6-L02 + F6-L04.</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ilā before the destination.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كَيْفَ أَذْهَبُ إِلَى المَحَطَّةِ؟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كَيْفَ أَذْهَبُ المَحَطَّةَ؟</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Direction imperatives for male, female and plural addressees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الأَمْرِ لِإِعْطَاءِ الاِّتِّجَاهَاتِ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Command one male person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اِذْهَبْ · اِمْشِ · اِنْعَطِفْ · خُذْ</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اِذْهَبْ مُسْتَقِيمًا.   ·   اِنْعَطِفْ يَمِينًا عِنْدَ الإِشَارَةِ.   ·   خُذْ الشَّارِعَ الثَّانِيَ.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Command one female person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اِذْهَبِي · اِمْشِي · اِنْعَطِفِي · خُذِي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اِذْهَبِي مُسْتَقِيمًا.   ·   اِنْعَطِفِي يَسَارًا.   ·   خُذِي الحَافِلَةَ رَقْمَ خَمْسَةٍ.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Command a group</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اِذْهَبُوا · اِمْشُوا · اِنْعَطِفُوا · خُذُوا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اِمْشُوا حَتَّى الدَّوَّارِ.   ·   اِعْبُرُوا الجِسْرَ ثُمَّ اِنْعَطِفُوا يَمِينًا.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Sequence a complete route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فِعْلُ أَمْرٍ + ثُمَّ / بَعْدَ ذٰلِكَ + فِعْلُ أَمْرٍ</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اِذْهَبْ مُسْتَقِيمًا حَتَّى إِشَارَةِ المَرُورِ، ثُمَّ اِنْعَطِفْ يَسَارًا.   ·   بَعْدَ ذٰلِكَ، اِعْبُرِ الشَّارِعَ.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“go”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اِذْهَبُوا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to one female.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“walk” to a group.</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اِمْشِي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اِمْشُوا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اِمْشِ</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how to reach the station?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أَذْهَبُ إِلَى المَحَطَّةِ؟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أَذْهَبُ المَحَطَّةَ؟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المَحَطَّةُ؟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“go” to one 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اِذْهَبِي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اِذْهَبُوا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اِذْهَبْ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singular form ends without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or </a:t>
            </a:r>
            <a:pPr algn="l" indent="0" marL="0">
              <a:buNone/>
            </a:pPr>
            <a:r>
              <a:rPr lang="ar-SA" altLang="en-US" sz="1350" dirty="0">
                <a:solidFill>
                  <a:srgbClr val="8A6D1E"/>
                </a:solidFill>
                <a:latin typeface="Amiri" pitchFamily="2" charset="-78"/>
                <a:ea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to one female.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اِنْعَطِفِي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 ends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“walk” to a group.</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اِمْشِي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اِمْشُوا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اِمْشِ</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command ends </a:t>
            </a:r>
            <a:pPr algn="l" indent="0" marL="0">
              <a:buNone/>
            </a:pPr>
            <a:r>
              <a:rPr lang="ar-SA" altLang="en-US" sz="1350" dirty="0">
                <a:solidFill>
                  <a:srgbClr val="8A6D1E"/>
                </a:solidFill>
                <a:latin typeface="Amiri" pitchFamily="2" charset="-78"/>
                <a:ea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how to reach the station?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أَذْهَبُ إِلَى المَحَطَّةِ؟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أَذْهَبُ المَحَطَّةَ؟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المَحَطَّةُ؟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كَيْفَ أَذْهَبُ إِلَى</a:t>
            </a:r>
            <a:pPr algn="l" indent="0" marL="0">
              <a:buNone/>
            </a:pPr>
            <a:r>
              <a:rPr lang="en-US" sz="1050" i="1" dirty="0">
                <a:solidFill>
                  <a:srgbClr val="8A6D1E"/>
                </a:solidFill>
                <a:latin typeface="Calibri" pitchFamily="34" charset="0"/>
                <a:cs typeface="Amiri" pitchFamily="2" charset="-78"/>
              </a:rPr>
              <a:t>...</a:t>
            </a:r>
            <a:pPr algn="l" indent="0" marL="0">
              <a:buNone/>
            </a:pPr>
            <a:r>
              <a:rPr lang="ar-SA" altLang="en-US" sz="1350" dirty="0">
                <a:solidFill>
                  <a:srgbClr val="8A6D1E"/>
                </a:solidFill>
                <a:latin typeface="Amiri" pitchFamily="2" charset="-78"/>
                <a:ea typeface="Amiri" pitchFamily="2" charset="-78"/>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direct Maryam to the museum</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يَا مَرْيَمُ، اُخْرُجِي مِنَ المَحَطَّةِ مِنَ المَخْرَجِ الرَّئِيسِيِّ.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girl → -ī.</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Straight + turn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اِذْهَبِ</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مُسْتَقِيمًا حَتَّى إِشَارَةِ المَرُورِ،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ثُمَّ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اِنْعَطِفِ</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يَمِينًا.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Landmark, then turn.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Cross + take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2" charset="-78"/>
                <a:ea typeface="Amiri" pitchFamily="2" charset="-78"/>
                <a:cs typeface="Amiri" pitchFamily="2" charset="-78"/>
              </a:rPr>
              <a:t>بَعْدَ ذَلِكَ</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اِعْبُرِ</a:t>
            </a:r>
            <a:pPr rtl="1" algn="ctr" indent="0" marL="0">
              <a:lnSpc>
                <a:spcPct val="120000"/>
              </a:lnSpc>
              <a:buNone/>
            </a:pPr>
            <a:r>
              <a:rPr lang="ar-SA" altLang="en-US" sz="1700" b="1" dirty="0">
                <a:solidFill>
                  <a:srgbClr val="D6336C"/>
                </a:solidFill>
                <a:latin typeface="Amiri" pitchFamily="2" charset="-78"/>
                <a:ea typeface="Amiri" pitchFamily="2" charset="-78"/>
                <a:cs typeface="Amiri" pitchFamily="2" charset="-78"/>
              </a:rPr>
              <a:t>ي</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مَمَرَّ المُشَاةِ وَخُذِ</a:t>
            </a:r>
            <a:pPr rtl="1" algn="ctr" indent="0" marL="0">
              <a:lnSpc>
                <a:spcPct val="120000"/>
              </a:lnSpc>
              <a:buNone/>
            </a:pPr>
            <a:r>
              <a:rPr lang="ar-SA" altLang="en-US" sz="1700" b="1" dirty="0">
                <a:solidFill>
                  <a:srgbClr val="D6336C"/>
                </a:solidFill>
                <a:latin typeface="Amiri" pitchFamily="2" charset="-78"/>
                <a:ea typeface="Amiri" pitchFamily="2" charset="-78"/>
                <a:cs typeface="Amiri" pitchFamily="2" charset="-78"/>
              </a:rPr>
              <a:t>ي</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الشَّارِعَ الأَوَّلَ عَلَى يَسَارِكِ.</a:t>
            </a:r>
            <a:endParaRPr lang="ar-SA" sz="1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more steps.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End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المَتْحَفُ مُقَابِلَ الحَدِيقَةِ. تَسْتَغْرِقُ الطَّرِيقُ خَمْسَ عَشْرَةَ دَقِيقَةً.</a:t>
            </a:r>
            <a:endParaRPr lang="ar-SA" sz="1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Location +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A GIRL</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SEQUENCE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يَا مَرْيَمُ، اُخْرُجِي مِنَ المَحَطَّةِ مِنَ المَخْرَجِ الرَّئِيسِيِّ. اِذْهَبِي مُسْتَقِيمًا حَتَّى إِشَارَةِ المَرُورِ،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ثُمَّ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اِنْعَطِفِي يَمِينًا.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بَعْدَ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اِعْبُرِي مَمَرَّ المُشَاةِ وَخُذِي الشَّارِعَ الأَوَّلَ عَلَى يَسَارِكِ. سَتَرَيْنَ لَافِتَةَ «مَدْخَلُ المَتْحَفِ». المَتْحَفُ مُقَابِلَ الحَدِيقَةِ. تَسْتَغْرِقُ الطَّرِيقُ حَوَالَيْ خَمْسَ عَشْرَةَ دَقِيقَةً مَشْيًا.</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Maryam, leave the station by the main exit. Go straight until the traffic lights, then turn right. After that, cross the pedestrian crossing and take the first street on your left. You will see a sign “Museum entrance”. The museum is opposite the park. The route takes about fifteen minutes on foot.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اِذْهَبْ مُسْتَقِيمًا.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 straight (to one male).</a:t>
            </a:r>
            <a:endParaRPr lang="en-US" sz="1250" dirty="0"/>
          </a:p>
          <a:p>
            <a:pPr indent="0" marL="0">
              <a:buNone/>
            </a:pPr>
            <a:r>
              <a:rPr lang="en-US" sz="1050" i="1" dirty="0">
                <a:solidFill>
                  <a:srgbClr val="8A6D1E"/>
                </a:solidFill>
                <a:latin typeface="Calibri" pitchFamily="34" charset="0"/>
                <a:cs typeface="Amiri" pitchFamily="2" charset="-78"/>
              </a:rPr>
              <a:t>Masculine singular command.</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اِنْعَطِفِي يَسَارًا.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Turn left (to one female).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command ends ـي.</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اِعْبُرُوا الجِسْرَ.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Cross the bridge (to a group).</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Plural command ends ـوا.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ثُمَّ خُذْ الشَّارِعَ الثَّانِيَ.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Then take the second street.</a:t>
            </a:r>
            <a:endParaRPr lang="en-US" sz="1250" dirty="0"/>
          </a:p>
          <a:p>
            <a:pPr indent="0" marL="0">
              <a:buNone/>
            </a:pPr>
            <a:r>
              <a:rPr lang="en-US" sz="1050" i="1" dirty="0">
                <a:solidFill>
                  <a:srgbClr val="8A6D1E"/>
                </a:solidFill>
                <a:latin typeface="Calibri" pitchFamily="34" charset="0"/>
                <a:cs typeface="Amiri" pitchFamily="2" charset="-78"/>
              </a:rPr>
              <a:t>Use sequence language and an ordinal.</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GIVING DIRECTIONS: SIGNS, STREETS AND MAPS”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اِتَّبِعِ الطَّرِيقَ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straight</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right</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left</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اِنْعَطِفْ يَمِينًا.</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اِنْعَطِفْ يَسَارًا.</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اِذْهَبْ مُسْتَقِيمًا.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اِتَّبِعِ الطَّرِيقَ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straight</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اِذْهَبْ مُسْتَقِيمًا.</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 straight ahead.</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right</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اِنْعَطِفْ يَمِينًا.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Turn right.</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left</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اِنْعَطِفْ يَسَارًا.</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Turn left.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being addressed?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خُذِي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اِمْشِي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اِذْهَبُوا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اِعْبُرُوا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خُذْ</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وَاحِدٌ مُذَكَّرٌ · one male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وَاحِدَةٌ مُؤَنَّثَةٌ · one female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جَمْعٌ · group</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وَاحِدٌ مُذَكَّرٌ · one male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خُذْ</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وَاحِدَةٌ مُؤَنَّثَةٌ · one female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خُذِي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اِمْشِي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اِسْتَمِرِّي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جَمْعٌ · group</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اِذْهَبُوا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اِعْبُرُوا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means no entry?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مَدْخَلٌ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مَخْرَجٌ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مَمْنُوعُ الدُّخُولِ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اِذْهَبْ ثُمَّ يَمِينٌ.</a:t>
            </a:r>
            <a:endParaRPr lang="ar-SA" sz="20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اِذْهَبْ مُسْتَقِيمًا، ثُمَّ اِنْعَطِفْ يَمِينًا.</a:t>
            </a:r>
            <a:endParaRPr lang="ar-SA" sz="20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مُسْتَقِيمًا لِأَنَّ يَمِينًا.</a:t>
            </a:r>
            <a:endParaRPr lang="ar-SA" sz="200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pedestrian crossing?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دَوَّارٌ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مَمَرُّ المُشَاةِ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نَفَقٌ</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means no entry?</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مَدْخَلٌ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مَخْرَجٌ</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مَمْنُوعُ الدُّخُولِ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مَمْنُوعُ الدُّخُولِ</a:t>
            </a:r>
            <a:pPr algn="l" indent="0" marL="0">
              <a:buNone/>
            </a:pPr>
            <a:r>
              <a:rPr lang="en-US" sz="1050" i="1" dirty="0">
                <a:solidFill>
                  <a:srgbClr val="8A6D1E"/>
                </a:solidFill>
                <a:latin typeface="Calibri" pitchFamily="34" charset="0"/>
                <a:cs typeface="Amiri" pitchFamily="2" charset="-78"/>
              </a:rPr>
              <a:t> means no entry.</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اِذْهَبْ ثُمَّ يَمِينٌ.</a:t>
            </a:r>
            <a:endParaRPr lang="ar-SA" sz="200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اِذْهَبْ مُسْتَقِيمًا، ثُمَّ اِنْعَطِفْ يَمِينًا.</a:t>
            </a:r>
            <a:endParaRPr lang="ar-SA" sz="200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مُسْتَقِيمًا لِأَنَّ يَمِينًا.</a:t>
            </a:r>
            <a:endParaRPr lang="ar-SA" sz="200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contains two complete ordered commands.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pedestrian crossing?</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دَوَّارٌ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مَمَرُّ المُشَاةِ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نَفَقٌ</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مَمَرُّ المُشَاةِ</a:t>
            </a:r>
            <a:pPr algn="l" indent="0" marL="0">
              <a:buNone/>
            </a:pPr>
            <a:r>
              <a:rPr lang="en-US" sz="1050" i="1" dirty="0">
                <a:solidFill>
                  <a:srgbClr val="8A6D1E"/>
                </a:solidFill>
                <a:latin typeface="Calibri" pitchFamily="34" charset="0"/>
                <a:cs typeface="Amiri" pitchFamily="2" charset="-78"/>
              </a:rPr>
              <a:t> means pedestrian crossing.</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اِذْهَبِي مُسْتَقِيمًا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 a group: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اِنْعَطِفْ يَمِينٌ.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Right / left end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كَيْفَ أَذْهَبُ المَحَطَّةَ؟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word goes before the destination?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اِذْهَبِي مُسْتَقِيمًا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اِذْهَبُوا مُسْتَقِيمًا.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plural ending </a:t>
            </a:r>
            <a:pPr algn="l" indent="0" marL="0">
              <a:buNone/>
            </a:pPr>
            <a:r>
              <a:rPr lang="ar-SA" altLang="en-US" sz="1500" b="1" dirty="0">
                <a:solidFill>
                  <a:srgbClr val="1B3B6F"/>
                </a:solidFill>
                <a:latin typeface="Amiri" pitchFamily="2" charset="-78"/>
                <a:ea typeface="Amiri" pitchFamily="2" charset="-78"/>
                <a:cs typeface="Amiri" pitchFamily="2" charset="-78"/>
              </a:rPr>
              <a:t>ـوا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اِنْعَطِفْ يَمِينٌ.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اِنْعَطِفْ يَمِينًا.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adverbial form </a:t>
            </a:r>
            <a:pPr algn="l" indent="0" marL="0">
              <a:buNone/>
            </a:pPr>
            <a:r>
              <a:rPr lang="ar-SA" altLang="en-US" sz="1500" b="1" dirty="0">
                <a:solidFill>
                  <a:srgbClr val="1B3B6F"/>
                </a:solidFill>
                <a:latin typeface="Amiri" pitchFamily="2" charset="-78"/>
                <a:ea typeface="Amiri" pitchFamily="2" charset="-78"/>
                <a:cs typeface="Amiri" pitchFamily="2" charset="-78"/>
              </a:rPr>
              <a:t>يَمِينًا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كَيْفَ أَذْهَبُ المَحَطَّةَ؟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كَيْفَ أَذْهَبُ إِلَى المَحَطَّةِ؟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before the destination.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to the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tourist do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straight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turn 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cross the bridge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turn right?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station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museum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traffic lights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cross?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bridge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pedestrian crossing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street does she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street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street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third street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take on foot?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minutes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trace the route on the map.</a:t>
            </a:r>
            <a:endParaRPr lang="en-US" sz="1250" dirty="0"/>
          </a:p>
          <a:p>
            <a:pPr algn="l" indent="0" marL="0">
              <a:buNone/>
            </a:pPr>
            <a:r>
              <a:rPr lang="en-US" sz="1250" dirty="0">
                <a:solidFill>
                  <a:srgbClr val="1E6B52"/>
                </a:solidFill>
                <a:latin typeface="Calibri" pitchFamily="34" charset="0"/>
                <a:cs typeface="Amiri" pitchFamily="2" charset="-78"/>
              </a:rPr>
              <a:t>Listen for: -ī endings (she is a woman).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السَّائِحَةُ: مِنْ فَضْلِكَ، كَيْفَ أَذْهَبُ إِلَى المَتْحَفِ؟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 (f.): Please, how do I get to the museum?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الرَّجُلُ: اِذْهَبِي مُسْتَقِيمًا حَتَّى إِشَارَةِ المَرُورِ. ثُمَّ اِنْعَطِفِي يَمِينًا وَاعْبُرِي مَمَرَّ المُشَاةِ.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 Go straight to the traffic lights. Then turn right and cross the pedestrian crossing.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اِسْتَمِرِّي حَتَّى الدَّوَّارِ، وَخُذِي الشَّارِعَ الثَّانِيَ عَلَى يَسَارِكِ.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Continue to the roundabout, and take the second street on your left.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المَتْحَفُ مُقَابِلَ المَكْتَبَةِ وَبِجَانِبِ المَقْهَى.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 is opposite the library and next to the café.</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السَّائِحَةُ: هَلْ هُوَ بَعِيدٌ؟ الرَّجُلُ: لَا، تَسْتَغْرِقُ الطَّرِيقُ عَشْرَ دَقَائِقَ مَشْيًا.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it far? — No, it takes ten minutes on foot.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tourist do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 straight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turn 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cross the bridge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اِذْهَبِي مُسْتَقِيمًا.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turn right?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station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museum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traffic lights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حَتَّى إِشَارَةِ المَرُورِ ثُمَّ ... يَمِينًا.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cross?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bridge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pedestrian crossing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اعْبُرِي مَمَرَّ المُشَاةِ.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street does she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street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street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third street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الشَّارِعَ الثَّانِيَ.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take on foot?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minutes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minutes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عَشْرَ دَقَائِقَ مَشْيًا.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trace the route on the map.</a:t>
            </a:r>
            <a:endParaRPr lang="en-US" sz="1250" dirty="0"/>
          </a:p>
          <a:p>
            <a:pPr algn="l" indent="0" marL="0">
              <a:buNone/>
            </a:pPr>
            <a:r>
              <a:rPr lang="en-US" sz="1250" dirty="0">
                <a:solidFill>
                  <a:srgbClr val="1E6B52"/>
                </a:solidFill>
                <a:latin typeface="Calibri" pitchFamily="34" charset="0"/>
                <a:cs typeface="Amiri" pitchFamily="2" charset="-78"/>
              </a:rPr>
              <a:t>Listen for: -ī endings (she is a woman).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information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أَذْهَبُ إِلَى المَحَطَّةِ؟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هِيَ بَعِيدَةٌ؟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دَقِيقَةً مَشْيًا؟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يُمْكِنُكَ أَنْ تُعِيدَ الاِتِّجَاهَاتِ؟ (الشَّارِعُ مُغْلَقٌ!)</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ea typeface="Amiri" pitchFamily="2" charset="-78"/>
                <a:cs typeface="Amiri" pitchFamily="2" charset="-78"/>
              </a:rPr>
              <a:t>اِذْهَبْ / اِذْهَبِي مُسْتَقِيمًا، ثُمَّ اِنْعَطِفْ / اِنْعَطِفِي …</a:t>
            </a:r>
            <a:endParaRPr lang="ar-SA" sz="13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هِيَ قَرِيبَةٌ … / نَعَمْ، هِيَ بَعِيدَةٌ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تَسْتَغْرِقُ الطَّرِيقُ ___ دَقَائِقَ مَشْيًا.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الشَّارِعُ مُغْلَقٌ، لِذَلِكَ خُذْ … بَدَلًا مِنْهُ.</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فَضْلِكَ، كَيْفَ أَذْهَبُ إِلَى المَسْجِدِ؟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Please, how do I get to the mosque?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اِذْهَبْ مُسْتَقِيمًا، ثُمَّ اِنْعَطِفْ يَسَارًا عِنْدَ الدَّوَّارِ.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 straight, then turn left at the roundabout.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3–4 commands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Follow and write three basic commands with a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Directions on a map to one boy: go, turn, cross + one landmark.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commands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Give a complete route with correct male/female commands.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named boy or girl, three sequence words, landmarks, a sign and a time.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two routes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Adapt one route for a group, include signs and explain an alternative route if a road is closed.</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same route for a group (-ū) + an alternative because a road is closed; design four signs.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اِذْهَبِي مُسْتَقِيمًا حَتَّى إِشَارَةِ المَرُورِ.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Go straight until the lights.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اِنْعَطِفِي يَسَارًا.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Then turn left.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خُذِ الشَّارِعَ الثَّانِيَ عَلَى يَمِينِكَ.</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Take the second street on your right.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اِسْتَمِرَّ حَتَّى الدَّوَّارِ.</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continue to the roundabout.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الطَّرِيقُ عَشْرَ دَقَائِقَ مَشْيًا.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takes ten minutes on foot.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 مُسْتَقِيمًا.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 straight ahead.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اِنْعَطِفْ يَمِينًا / يَسَارًا.</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Turn right / left.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اِعْبُرِ الشَّارِعَ.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Cross the street.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الـ ______ بِجَانِبِ الـ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is next to the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أَذْهَبُ إِلَى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do I get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اِذْهَبْ  ·  اِنْعَطِفْ  ·  اِعْبُرْ  ·  خُذْ  ·  اِسْتَمِرَّ  ·  مُسْتَقِيمًا  ·  يَمِينًا  ·  يَسَارًا  ·  حَتَّى  ·  ثُمَّ  ·  بَعْدَ ذَلِكَ  ·  عَلَى يَمِينِكَ</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directions from a station to a town place and design four Arabic signs.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one named male, female or group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five commands and three sequence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landmarks, one sign and a time estimate.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destination prepositions and command endings.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اِذْهَبُوا … ثُمَّ اِنْعَطِفُوا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 (all) … then turn (all)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الشَّارِعُ مُغْلَقٌ اليَوْمَ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street is closed today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خُذُوا الطَّرِيقَ الآخَرَ بَدَلًا مِنْهُ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take the other road instead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اِتَّبِعُوا اللَّافِتَاتِ الخَضْرَاءَ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follow the green signs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سَتَرَوْنَ … عَلَى يَمِينِكُمْ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will see … on your right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يَا مَرْيَمُ، اِخْرُجِي مِنَ المَحَطَّةِ مِنَ المَخْرَجِ الرَّئِيسِيِّ. اِذْهَبِي مُسْتَقِيمًا حَتَّى إِشَارَةِ المَرُورِ، ثُمَّ اِنْعَطِفِي يَمِينًا. بَعْدَ ذٰلِكَ، اِعْبُرِي مَمَرَّ المُشَاةِ وَخُذِي الشَّارِعَ الأَوَّلَ عَلَى يَسَارِكِ. سَتَرَيْنَ لاَفِتَةَ «مَدْخَلُ المَتْحَفِ». المَتْحَفُ مُقَابِلَ الحَدِيقَةِ. تَسْتَغْرِقُ الطَّرِيقُ حَوَالَيْ خَمْسَ عَشْرَةَ دَقِيقَةً مَشْيًا.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Maryam, leave the station by the main exit. Go straight until the traffic lights, then turn right. After that, cross the pedestrian crossing and take the first street on your left. You will see a sign: Museum entrance. The museum is opposite the park. The route takes about fifteen minutes on foot.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command to a girl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until + landmark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sequence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time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commands.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يَمِينًا / يَسَارًا / مُسْتَقِيمًا</a:t>
            </a:r>
            <a:pPr algn="l" indent="0" marL="0">
              <a:buNone/>
            </a:pPr>
            <a:r>
              <a:rPr lang="en-US" sz="1300" dirty="0">
                <a:solidFill>
                  <a:srgbClr val="1F2A37"/>
                </a:solidFill>
                <a:latin typeface="Calibri" pitchFamily="34" charset="0"/>
                <a:cs typeface="Amiri" pitchFamily="2" charset="-78"/>
              </a:rPr>
              <a:t> end in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Command endings match the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landmarks and sequence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group version and an alternative route.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addresses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turn right?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اِمْشِ يَسَارًا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 يَمِينًا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خُذْ مُسْتَقِيمًا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addresses a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اِعْبُرُوا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اِعْبُرِي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اِعْبُرْ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addresses one female?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اِذْهَبِي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اِذْهَبُوا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 ends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turn right?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اِمْشِ يَسَارًا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اِنْعَطِفْ يَمِينًا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خُذْ مُسْتَقِيمًا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اِنْعَطِفْ يَمِينًا</a:t>
            </a:r>
            <a:pPr algn="l" indent="0" marL="0">
              <a:buNone/>
            </a:pPr>
            <a:r>
              <a:rPr lang="en-US" sz="1050" i="1" dirty="0">
                <a:solidFill>
                  <a:srgbClr val="8A6D1E"/>
                </a:solidFill>
                <a:latin typeface="Calibri" pitchFamily="34" charset="0"/>
                <a:cs typeface="Amiri" pitchFamily="2" charset="-78"/>
              </a:rPr>
              <a:t> means turn right.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addresses a group?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اِعْبُرُوا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اِعْبُرِي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اِعْبُرْ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form ends </a:t>
            </a:r>
            <a:pPr algn="l" indent="0" marL="0">
              <a:buNone/>
            </a:pPr>
            <a:r>
              <a:rPr lang="ar-SA" altLang="en-US" sz="1350" dirty="0">
                <a:solidFill>
                  <a:srgbClr val="8A6D1E"/>
                </a:solidFill>
                <a:latin typeface="Amiri" pitchFamily="2" charset="-78"/>
                <a:ea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Town signs and a route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مَدْخَلُ المَحَطَّةِ مِنَ البَوَّابَةِ الشَّرْقِيَّةِ. مَمْنُوعُ الدُّخُولِ مِنَ البَوَّابَةِ الغَرْبِيَّةِ. لِلذَّهَابِ إِلَى رَصِيفِ الحَافِلَاتِ، اِعْبُرْ مَمَرَّ المُشَاةِ ثُمَّ اِنْعَطِفْ يَسَارًا. مَمْنُوعُ الوُقُوفِ أَمَامَ المَدْخَلِ. مَخْرَجُ سَيَّارَاتِ الأُجْرَةِ خَلْفَ المَبْنَى. عِنْدَ الطَّوَارِئِ، اِتَّبِعِ اللاَّفِتَاتِ الخَضْرَاءَ إِلَى المَخْرَجِ.</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مَدْخَلُ المَحَطَّةِ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station entrance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البَوَّابَةِ الشَّرْقِيَّةِ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eastern gate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مَمْنُوعُ الدُّخُولِ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 entry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لِلذَّهَابِ إِلَى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go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رَصِيفِ الحَافِلَاتِ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platform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مَمْنُوعُ الوُقُوفِ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 parking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مَخْرَجُ</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exit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خَلْفَ المَبْنَى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behind the building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 الطَّوَارِئِ</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an emergency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اِتَّبِعْ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follow</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gate is the entrance?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western gate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eastern gate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northern gate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entry forbidden?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eastern gate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taxi exit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western gate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cross to reach the bus platform?</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pedestrian crossing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tunnel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way do you turn?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front of the entrance?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parking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tickets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signs lead to the emergency exit?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 signs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signs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 signs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gate is the entrance?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western gate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eastern gate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northern gate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البَوَّابَةِ الشَّرْقِيَّةِ.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entry forbidden?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eastern gate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taxi exit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western gate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مَمْنُوعُ الدُّخُولِ مِنَ البَوَّابَةِ الغَرْبِيَّةِ.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cross to reach the bus platform?</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pedestrian crossing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bridge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tunnel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اِعْبُرْ مَمَرَّ المُشَاةِ.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way do you turn?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left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straight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اِنْعَطِفْ يَسَارًا.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front of the entrance?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parking</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tickets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مَمْنُوعُ الوُقُوفِ.</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signs lead to the emergency exit?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 signs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signs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green signs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اللاَّفِتَاتِ الخَضْرَاءَ.</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F6-L09 · Extended Writing: My Town and How I Get Around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فِقْرَةٌ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paragraph</a:t>
            </a:r>
            <a:pPr indent="0" marL="0">
              <a:buNone/>
            </a:pPr>
            <a:r>
              <a:rPr lang="ar-SA" sz="1000" i="1" dirty="0">
                <a:solidFill>
                  <a:srgbClr val="5A6472"/>
                </a:solidFill>
                <a:latin typeface="Calibri" pitchFamily="34" charset="0"/>
                <a:ea typeface="Amiri" pitchFamily="2" charset="-78"/>
                <a:cs typeface="Amiri" pitchFamily="2" charset="-78"/>
              </a:rPr>
              <a:t>  pl. فِقْرَاتٌ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مُقَدِّمَةٌ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introduction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خَاتِمَةٌ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أَتَنَقَّلُ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around</a:t>
            </a:r>
            <a:pPr indent="0" marL="0">
              <a:buNone/>
            </a:pPr>
            <a:r>
              <a:rPr lang="ar-SA" sz="1000" i="1" dirty="0">
                <a:solidFill>
                  <a:srgbClr val="5A6472"/>
                </a:solidFill>
                <a:latin typeface="Calibri" pitchFamily="34" charset="0"/>
                <a:ea typeface="Amiri" pitchFamily="2" charset="-78"/>
                <a:cs typeface="Amiri" pitchFamily="2" charset="-78"/>
              </a:rPr>
              <a:t>  she: تَتَنَقَّلُ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مَسْوَدَّةٌ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draft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write three things you will say about your town and three about transport.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مَدِينَتِي … · أَتَنَقَّلُ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F6-L08: the vocabulary tab and the “Who is being addressed?”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directions from the station to a town place + four signs.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the route for a group and add an alternative route.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F6-L09 · Extended Writing: My Town and How I Get Around</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المُوَسَّعَةُ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to a boy </a:t>
            </a:r>
            <a:pPr algn="l" indent="0" marL="0">
              <a:buNone/>
            </a:pPr>
            <a:r>
              <a:rPr lang="ar-SA" altLang="en-US" sz="1700" b="1" dirty="0">
                <a:solidFill>
                  <a:srgbClr val="FFFFFF"/>
                </a:solidFill>
                <a:latin typeface="Amiri" pitchFamily="2" charset="-78"/>
                <a:ea typeface="Amiri" pitchFamily="2" charset="-78"/>
                <a:cs typeface="Amiri" pitchFamily="2" charset="-78"/>
              </a:rPr>
              <a:t>اِذْهَبْ</a:t>
            </a:r>
            <a:pPr algn="l" indent="0" marL="0">
              <a:buNone/>
            </a:pPr>
            <a:r>
              <a:rPr lang="en-US" sz="1300" b="1" dirty="0">
                <a:solidFill>
                  <a:srgbClr val="FFFFFF"/>
                </a:solidFill>
                <a:latin typeface="Calibri" pitchFamily="34" charset="0"/>
                <a:cs typeface="Amiri" pitchFamily="2" charset="-78"/>
              </a:rPr>
              <a:t> · to a girl </a:t>
            </a:r>
            <a:pPr algn="l" indent="0" marL="0">
              <a:buNone/>
            </a:pPr>
            <a:r>
              <a:rPr lang="ar-SA" altLang="en-US" sz="1700" b="1" dirty="0">
                <a:solidFill>
                  <a:srgbClr val="FFFFFF"/>
                </a:solidFill>
                <a:latin typeface="Amiri" pitchFamily="2" charset="-78"/>
                <a:ea typeface="Amiri" pitchFamily="2" charset="-78"/>
                <a:cs typeface="Amiri" pitchFamily="2" charset="-78"/>
              </a:rPr>
              <a:t>اِذْهَبِي</a:t>
            </a:r>
            <a:pPr algn="l" indent="0" marL="0">
              <a:buNone/>
            </a:pPr>
            <a:r>
              <a:rPr lang="en-US" sz="1300" b="1" dirty="0">
                <a:solidFill>
                  <a:srgbClr val="FFFFFF"/>
                </a:solidFill>
                <a:latin typeface="Calibri" pitchFamily="34" charset="0"/>
                <a:cs typeface="Amiri" pitchFamily="2" charset="-78"/>
              </a:rPr>
              <a:t> · to a group </a:t>
            </a:r>
            <a:pPr algn="l" indent="0" marL="0">
              <a:buNone/>
            </a:pPr>
            <a:r>
              <a:rPr lang="ar-SA" altLang="en-US" sz="1700" b="1" dirty="0">
                <a:solidFill>
                  <a:srgbClr val="FFFFFF"/>
                </a:solidFill>
                <a:latin typeface="Amiri" pitchFamily="2" charset="-78"/>
                <a:ea typeface="Amiri" pitchFamily="2" charset="-78"/>
                <a:cs typeface="Amiri" pitchFamily="2" charset="-78"/>
              </a:rPr>
              <a:t>اِذْهَبُوا</a:t>
            </a:r>
            <a:pPr algn="l" indent="0" marL="0">
              <a:buNone/>
            </a:pPr>
            <a:r>
              <a:rPr lang="en-US" sz="1300" b="1" dirty="0">
                <a:solidFill>
                  <a:srgbClr val="FFFFFF"/>
                </a:solidFill>
                <a:latin typeface="Calibri" pitchFamily="34" charset="0"/>
                <a:cs typeface="Amiri" pitchFamily="2" charset="-78"/>
              </a:rPr>
              <a:t> · + </a:t>
            </a:r>
            <a:pPr algn="l" indent="0" marL="0">
              <a:buNone/>
            </a:pPr>
            <a:r>
              <a:rPr lang="ar-SA" altLang="en-US" sz="1700" b="1" dirty="0">
                <a:solidFill>
                  <a:srgbClr val="FFFFFF"/>
                </a:solidFill>
                <a:latin typeface="Amiri" pitchFamily="2" charset="-78"/>
                <a:ea typeface="Amiri" pitchFamily="2" charset="-78"/>
                <a:cs typeface="Amiri" pitchFamily="2" charset="-78"/>
              </a:rPr>
              <a:t>مُسْتَقِيمًا / يَمِينًا / يَسَارًا</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F6-L08 · Giving Directions: Signs, Streets and Maps</dc:title>
  <dc:subject>PptxGenJS Presentation</dc:subject>
  <dc:creator>Al Madina Online School · Arabic Department</dc:creator>
  <cp:lastModifiedBy>Al Madina Online School · Arabic Department</cp:lastModifiedBy>
  <cp:revision>1</cp:revision>
  <dcterms:created xsi:type="dcterms:W3CDTF">2026-10-11T06:41:56Z</dcterms:created>
  <dcterms:modified xsi:type="dcterms:W3CDTF">2026-10-11T06:41:56Z</dcterms:modified>
</cp:coreProperties>
</file>