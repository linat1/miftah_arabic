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Lst>
  <p:notesMasterIdLst>
    <p:notesMasterId r:id="rId46"/>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notesMaster" Target="notesMasters/notesMaster1.xml"/><Relationship Id="rId47" Type="http://schemas.openxmlformats.org/officeDocument/2006/relationships/presProps" Target="presProps.xml"/><Relationship Id="rId48" Type="http://schemas.openxmlformats.org/officeDocument/2006/relationships/viewProps" Target="viewProps.xml"/><Relationship Id="rId49" Type="http://schemas.openxmlformats.org/officeDocument/2006/relationships/theme" Target="theme/theme1.xml"/><Relationship Id="rId50"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Foundation › F6 My Town and Transport › F6-L08. The website lesson “Giving Directions: Signs, Streets and Maps”: vocabulary, grammar rules and quiz, patterns, common mistakes, sorter, listening, reading, speaking prompts and model, writing task and model, differentiation, final check and the lesson mission. Picture match: website visual game “Giving Directions: Signs, Streets and Maps”.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follow and write three basic commands with a map (اِذْهَبْ مُسْتَقِيمًا · اِنْعَطِفْ يَمِينًا · اِعْبُرِ الشَّارِعَ).
• Develop: a complete route with correct male / female commands, landmarks and ثُمَّ / بَعْدَ ذَلِكَ.
• Stretch: adapt the route for a group (-ū), include signs and give an alternative if a road is closed.
• Three endings: one boy — (اِذْهَبْ) · one girl -ī (اِذْهَبِي) · a group -ū (اِذْهَبُوا). The same system as F5-L09 (doctor’s commands).
• Website: “Signs are often short and unvowelled in the real world, so secure recognition of the whole word is important.” (مدخل، مخرج، قف …)
• Online: share a street map; students give each other routes in the chat and the partner traces them with the annotation pen.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words prepared at home at the end of F6-L07. Questions 3–5 retrieve F6-L07 (mabniyya, bayna-mā) and F6-L02 (position).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One command, three endings: to a boy (nothing), to a girl (-ī), to a group (-ū).</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مستقیم (as in صراطِ مستقیم, the straight path) → مُسْتَقِيمًا (straight ahead). ممنوع is identical (ممنوع الدخول is even seen on signs in Pakistan). داخلہ (admission) → مَدْخَلٌ (entrance); خارج → مَخْرَجٌ (exit) — the مَـ pattern makes a PLACE again. جہت / توجہ (direction, attention) share the root of اِتِّجَاهٌ.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Directions (website vocabulary (1 of 2)). Hear → Say → See → Use. Transliteration is printed for Core students (cover it for Develop/Stretch).
Each command shows three forms: one boy / one girl / a group. Mime them: point straight on, turn a hand right / left.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Directions (website vocabulary (2 of 2)). Hear → Say → See → Use. Transliteration is printed for Core students (cover it for Develop/Stretch).
Each command shows three forms: one boy / one girl / a group. Mime them: point straight on, turn a hand right / left.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Signs and road features (website vocabulary (1 of 3)). Hear → Say → See → Use. Transliteration is printed for Core students (cover it for Develop/Stretch).
FLEX: signs. On real signs the vowels are missing: مدخل، مخرج، قف، ممنوع الدخول — practise reading them unvowelled too.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Signs and road features (website vocabulary (2 of 3)). Hear → Say → See → Use. Transliteration is printed for Core students (cover it for Develop/Stretch).
FLEX: teach if time allows; otherwise these are on the website vocabulary tab for homework.
FLEX: signs. On real signs the vowels are missing: مدخل، مخرج، قف، ممنوع الدخول — practise reading them unvowelled too.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Signs and road features (website vocabulary (3 of 3)). Hear → Say → See → Use. Transliteration is printed for Core students (cover it for Develop/Stretch).
FLEX: teach if time allows; otherwise these are on the website vocabulary tab for homework.
FLEX: signs. On real signs the vowels are missing: مدخل، مخرج، قف، ممنوع الدخول — practise reading them unvowelled too.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Asking for directions (website vocabulary). Hear → Say → See → Use. Transliteration is printed for Core students (cover it for Develop/Stretch).
FLEX: teach if time allows; otherwise these are on the website vocabulary tab for homework.
FLEX: asking for directions (the speaking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rules “Command one male person” (the dictionary-style command, used on many signs), “Command one female person” (add long ـي) and “Command a group” (ـوا — the alif is written but not pronounced).
Website mistakes: اِذْهَبِي to a group ✗ → اِذْهَبُوا ✓ · اِنْعَطِفْ يَمِينٌ ✗ → يَمِينًا ✓ (adverb, -an).
Game: teacher points at one student / one girl / the whole class and says “go!” — students give the correct 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rule “Sequence a complete route” (command + ثُمَّ / بَعْدَ ذَلِكَ + command). Website teaching note: “A complete route uses a starting point, ordered actions, landmarks and an endpoint.”
Ordinals for streets: الشَّارِعَ الأَوَّلَ / الثَّانِيَ / الثَّالِثَ. عَلَى يَمِينِكَ / يَمِينِكِ (on your right, m. / 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“Direction commands must match the person or group being addressed. Teach the three forms as a system and sequence them with ثُمَّ and بَعْدَ ذٰلِكَ.”
• Command one male person: The masculine singular command is the dictionary-style command used in many signs and basic directions.
• Command one female person: Add the long ـي ending when speaking to one female person.
• Command a group: Use ـوا when directing two or more people as a group.
• Sequence a complete route: A useful route contains ordered actions, landmarks and a clear endpoint.
Website common error: Do not say اِذْهَبِي to a group. Use اِذْهَبُوا for plural addressees.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7.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the website writing model, traced live on a map. Then ask: how would I say this to Yusuf? (remove every -ī) — and to the whole class? (-ū).</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Giving Directions: Signs, Streets and Maps”)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Note: an Arabic reader faces the same way — right is still right! Other website items: at the traffic lights turn right; you will find the bank on your right; the school is on your left.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Giving Directions: Signs, Streets and Maps”)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Note: an Arabic reader faces the same way — right is still right! Other website items: at the traffic lights turn right; you will find the bank on your right; the school is on your left.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command by addressee.
Say who is being addressed by pointing: one boy, one girl, or the whole group.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command by addressee.
Say who is being addressed by pointing: one boy, one girl, or the whole group.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5, 6,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2 and 5. Develop / Stretch: all 5, then say the route to a man.
Listen 1: just listen. Listen 2: note answers. Then chat the letters.
Support: after the second listening, show the read-along slide (Arabic + English, line by line) for Core students.
SCRIPT (read aloud):
السَّائِحَةُ: مِنْ فَضْلِكَ، كَيْفَ أَذْهَبُ إِلَى المَتْحَفِ؟ الرَّجُلُ: اِذْهَبِي مُسْتَقِيمًا حَتَّى إِشَارَةِ المَرُورِ. ثُمَّ اِنْعَطِفِي يَمِينًا وَاعْبُرِي مَمَرَّ المُشَاةِ. اِسْتَمِرِّي حَتَّى الدَّوَّارِ، وَخُذِي الشَّارِعَ الثَّانِيَ عَلَى يَسَارِكِ. المَتْحَفُ مُقَابِلَ المَكْتَبَةِ وَبِجَانِبِ المَقْهَى. السَّائِحَةُ: هَلْ هُوَ بَعِيدٌ؟ الرَّجُلُ: لَا، تَسْتَغْرِقُ الطَّرِيقُ عَشْرَ دَقَائِقَ مَشْيًا.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هَلْ هُوَ بَعِيدٌ؟ (Is it far?)
B: لَا، تَسْتَغْرِقُ الطَّرِيقُ خَمْسَ دَقَائِقَ مَشْيًا. (No, it takes five minutes on foot.)
Website “Directions information gap” — all four prompts are the website’s. A has a map with the destination marked; B asks and traces. Swap and change addressee (boy / girl / group). Website model: مِنْ فَضْلِكَ، كَيْفَ أَذْهَبُ إِلَى المَسْجِدِ؟ — اِذْهَبْ مُسْتَقِيمًا، ثُمَّ اِنْعَطِفْ يَسَارًا عِنْدَ الدَّوَّارِ. — هَلْ هُوَ بَعِيدٌ؟ — لَا، تَسْتَغْرِقُ الطَّرِيقُ خَمْسَ دَقَائِقَ مَشْيًا.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Follow and write three basic commands with a map. · Develop — Give a complete route with correct male/female commands. · Stretch — Adapt one route for a group, include signs and explain an alternative route if a road is closed.
Website writing task (Stretch): Write directions from a station to a town place and design four Arabic signs.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Evidence: اِذْهَبِي، اِنْعَطِفِي، اِعْبُرِي، خُذِي · حَتَّى إِشَارَةِ المَرُورِ · ثُمَّ / بَعْدَ ذَلِكَ · تَسْتَغْرِقُ الطَّرِيقُ … دَقِيقَةً.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6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(F6-L09 · Extended Writing: My Town and How I Get Around) will spend class time USING this language, so students prepare it tonight — short, simple, easy to access (school guidance: “Simple, Short, Interesting, Relevant, Easy to access”). The five words prepare the website F6-L09 lesson (extended writing: my town and how I get around).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slideLayout" Target="../slideLayouts/slideLayout1.xml"/><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slideLayout" Target="../slideLayouts/slideLayout1.xml"/><Relationship Id="rId5"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7  ·  FOUNDATION F6  ·  F6-L08</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F6-L08</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Giving Directions: Signs, Streets and Maps</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cs typeface="Amiri" pitchFamily="2" charset="-78"/>
              </a:rPr>
              <a:t>إِعْطَاءُ الاِتِّجَاهَاتِ</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Ask </a:t>
            </a:r>
            <a:pPr algn="l" indent="0" marL="0">
              <a:buNone/>
            </a:pPr>
            <a:r>
              <a:rPr lang="ar-SA" altLang="en-US" sz="1800" dirty="0">
                <a:solidFill>
                  <a:srgbClr val="C6D2E6"/>
                </a:solidFill>
                <a:latin typeface="Amiri" pitchFamily="2" charset="-78"/>
                <a:cs typeface="Amiri" pitchFamily="2" charset="-78"/>
              </a:rPr>
              <a:t>كَيْفَ أَذْهَبُ إِلَى …؟</a:t>
            </a:r>
            <a:pPr algn="l" indent="0" marL="0">
              <a:buNone/>
            </a:pPr>
            <a:r>
              <a:rPr lang="en-US" sz="1400" dirty="0">
                <a:solidFill>
                  <a:srgbClr val="C6D2E6"/>
                </a:solidFill>
                <a:latin typeface="Calibri" pitchFamily="34" charset="0"/>
                <a:cs typeface="Amiri" pitchFamily="2" charset="-78"/>
              </a:rPr>
              <a:t> and give a complete route with commands for a boy, a girl or a group — straight on, turn right, cross, then … — and read common Arabic signs.</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F6-L08 · Foundation F6 · My Town and Transport</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Foundation · A1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Foundation › F6 › F6-L08</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F6-L08 · Giving Directions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F6-L08</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44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F6-L08 · Giving Directions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F6-L08</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Direction commands and signs, then go / turn / cross for a boy, a girl or a group.</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Picture match, sort who is being addressed, fix the mistakes and follow directions to the museum.</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F6-L09.</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44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F6-L08 · Giving Directions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اِنْعَطِفْ</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go!</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turn!</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stop!</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إِشَارَةُ المُرُورِ</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traffic lights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roundabout</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direction</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المَدْرَسَةُ</a:t>
            </a:r>
            <a:pPr algn="l" indent="0" marL="0">
              <a:buNone/>
            </a:pPr>
            <a:r>
              <a:rPr lang="en-US" sz="1250" b="1" dirty="0">
                <a:solidFill>
                  <a:srgbClr val="1B3B6F"/>
                </a:solidFill>
                <a:latin typeface="Calibri" pitchFamily="34" charset="0"/>
                <a:cs typeface="Amiri" pitchFamily="2" charset="-78"/>
              </a:rPr>
              <a:t> ____ </a:t>
            </a:r>
            <a:pPr algn="l" indent="0" marL="0">
              <a:buNone/>
            </a:pPr>
            <a:r>
              <a:rPr lang="ar-SA" altLang="en-US" sz="1650" b="1" dirty="0">
                <a:solidFill>
                  <a:srgbClr val="1B3B6F"/>
                </a:solidFill>
                <a:latin typeface="Amiri" pitchFamily="2" charset="-78"/>
                <a:cs typeface="Amiri" pitchFamily="2" charset="-78"/>
              </a:rPr>
              <a:t>مِنَ الطُّوبِ</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مَبْنِيٌّ</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مَبْنِيَّانِ</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مَبْنِيَّةٌ</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connector means “whereas”?</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لِأَنَّ</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ثُمَّ</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بَيْنَمَا</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library is next to the school.”</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المَكْتَبَةُ بِجَانِبِ المَدْرَسَةِ.</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المَكْتَبَةُ بَيْنَ المَدْرَسَةِ.</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المَكْتَبَةُ مَبْنِيَّةٌ المَدْرَسَةَ.</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44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F6-L08 · Giving Directions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اِنْعَطِفْ</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go!</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turn!</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stop!</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(F6-L07).</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إِشَارَةُ المُرُورِ</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traffic lights</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roundabout</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direction</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(F6-L07).</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المَدْرَسَةُ</a:t>
            </a:r>
            <a:pPr algn="l" indent="0" marL="0">
              <a:buNone/>
            </a:pPr>
            <a:r>
              <a:rPr lang="en-US" sz="1250" b="1" dirty="0">
                <a:solidFill>
                  <a:srgbClr val="1B3B6F"/>
                </a:solidFill>
                <a:latin typeface="Calibri" pitchFamily="34" charset="0"/>
                <a:cs typeface="Amiri" pitchFamily="2" charset="-78"/>
              </a:rPr>
              <a:t> ____ </a:t>
            </a:r>
            <a:pPr algn="l" indent="0" marL="0">
              <a:buNone/>
            </a:pPr>
            <a:r>
              <a:rPr lang="ar-SA" altLang="en-US" sz="1650" b="1" dirty="0">
                <a:solidFill>
                  <a:srgbClr val="1B3B6F"/>
                </a:solidFill>
                <a:latin typeface="Amiri" pitchFamily="2" charset="-78"/>
                <a:cs typeface="Amiri" pitchFamily="2" charset="-78"/>
              </a:rPr>
              <a:t>مِنَ الطُّوبِ</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مَبْنِيٌّ</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مَبْنِيَّانِ</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مَبْنِيَّةٌ</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F6-L07: the school is feminine.</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connector means “whereas”?</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لِأَنَّ</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ثُمَّ</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بَيْنَمَا</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F6-L07.</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library is next to the school.”</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المَكْتَبَةُ بِجَانِبِ المَدْرَسَةِ.</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المَكْتَبَةُ بَيْنَ المَدْرَسَةِ.</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المَكْتَبَةُ مَبْنِيَّةٌ المَدْرَسَةَ.</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F6-L02 position words.</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One command, three endings: to a boy (nothing), to a girl (-ī), to a group (-ū).</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اِذْهَبْ · اِذْهَبِ</a:t>
            </a:r>
            <a:pPr rtl="1" algn="ctr" indent="0" marL="0">
              <a:buNone/>
            </a:pPr>
            <a:r>
              <a:rPr lang="ar-SA" altLang="en-US" sz="2400" b="1" dirty="0">
                <a:solidFill>
                  <a:srgbClr val="D6336C"/>
                </a:solidFill>
                <a:latin typeface="Amiri" pitchFamily="2" charset="-78"/>
                <a:cs typeface="Amiri" pitchFamily="2" charset="-78"/>
              </a:rPr>
              <a:t>ي</a:t>
            </a:r>
            <a:pPr rtl="1" algn="ctr" indent="0" marL="0">
              <a:buNone/>
            </a:pPr>
            <a:r>
              <a:rPr lang="ar-SA" altLang="en-US" sz="2400" b="1" dirty="0">
                <a:solidFill>
                  <a:srgbClr val="1B3B6F"/>
                </a:solidFill>
                <a:latin typeface="Amiri" pitchFamily="2" charset="-78"/>
                <a:cs typeface="Amiri" pitchFamily="2" charset="-78"/>
              </a:rPr>
              <a:t> · اِذْهَبُ</a:t>
            </a:r>
            <a:pPr rtl="1" algn="ctr" indent="0" marL="0">
              <a:buNone/>
            </a:pPr>
            <a:r>
              <a:rPr lang="ar-SA" altLang="en-US" sz="2400" b="1" dirty="0">
                <a:solidFill>
                  <a:srgbClr val="0E7C86"/>
                </a:solidFill>
                <a:latin typeface="Amiri" pitchFamily="2" charset="-78"/>
                <a:cs typeface="Amiri" pitchFamily="2" charset="-78"/>
              </a:rPr>
              <a:t>وا</a:t>
            </a:r>
            <a:endParaRPr lang="ar-SA" sz="24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44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F6-L08 · Giving Directions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F6-L08</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essential direction and sign vocabulary.</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Form commands for one male, one female and a group.</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Sequence a route using landmarks.</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Read and respond to signs and maps.</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ask how to get to a place.</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give three basic directions.</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give a route to a boy or a girl.</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use landmarks and sequence words.</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give directions to a group.</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suggest an alternative route.</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44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30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Directions · 12</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Signs and road features · 13</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Asking for directions · 5</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اِتِّجَاهٌ</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‎توجہ / جہت‎ </a:t>
            </a:r>
            <a:pPr indent="0" marL="0">
              <a:buNone/>
            </a:pPr>
            <a:r>
              <a:rPr lang="en-US" sz="950" b="1" dirty="0">
                <a:solidFill>
                  <a:srgbClr val="2E8B57"/>
                </a:solidFill>
                <a:latin typeface="Calibri" pitchFamily="34" charset="0"/>
                <a:cs typeface="Amiri" pitchFamily="2" charset="-78"/>
              </a:rPr>
              <a:t> jihat · direction</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مُسْتَقِيمًا</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‎مستقیم‎ </a:t>
            </a:r>
            <a:pPr indent="0" marL="0">
              <a:buNone/>
            </a:pPr>
            <a:r>
              <a:rPr lang="en-US" sz="950" b="1" dirty="0">
                <a:solidFill>
                  <a:srgbClr val="2E8B57"/>
                </a:solidFill>
                <a:latin typeface="Calibri" pitchFamily="34" charset="0"/>
                <a:cs typeface="Amiri" pitchFamily="2" charset="-78"/>
              </a:rPr>
              <a:t> mustaqīm · straight (as in صراط مستقیم)</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مَمْنُوعٌ</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‎ممنوع‎ </a:t>
            </a:r>
            <a:pPr indent="0" marL="0">
              <a:buNone/>
            </a:pPr>
            <a:r>
              <a:rPr lang="en-US" sz="950" b="1" dirty="0">
                <a:solidFill>
                  <a:srgbClr val="2E8B57"/>
                </a:solidFill>
                <a:latin typeface="Calibri" pitchFamily="34" charset="0"/>
                <a:cs typeface="Amiri" pitchFamily="2" charset="-78"/>
              </a:rPr>
              <a:t> mamnūʿ · forbidden</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دَاخِلَ · مَدْخَلٌ</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‎داخلہ‎ </a:t>
            </a:r>
            <a:pPr indent="0" marL="0">
              <a:buNone/>
            </a:pPr>
            <a:r>
              <a:rPr lang="en-US" sz="950" b="1" dirty="0">
                <a:solidFill>
                  <a:srgbClr val="2E8B57"/>
                </a:solidFill>
                <a:latin typeface="Calibri" pitchFamily="34" charset="0"/>
                <a:cs typeface="Amiri" pitchFamily="2" charset="-78"/>
              </a:rPr>
              <a:t> dākhila · admission → entrance</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خَارِجَ · مَخْرَجٌ</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‎خارج‎ </a:t>
            </a:r>
            <a:pPr indent="0" marL="0">
              <a:buNone/>
            </a:pPr>
            <a:r>
              <a:rPr lang="en-US" sz="950" b="1" dirty="0">
                <a:solidFill>
                  <a:srgbClr val="2E8B57"/>
                </a:solidFill>
                <a:latin typeface="Calibri" pitchFamily="34" charset="0"/>
                <a:cs typeface="Amiri" pitchFamily="2" charset="-78"/>
              </a:rPr>
              <a:t> khārij · outside → exit</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44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F6-L08 · Giving Directions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Directions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F6-L08</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اِذْهَبْ / اِذْهَبِي / اِذْهَبُوا</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go m/f/pl</a:t>
            </a:r>
            <a:endParaRPr lang="en-US" sz="1350" dirty="0"/>
          </a:p>
          <a:p>
            <a:pPr indent="0" marL="0">
              <a:buNone/>
            </a:pPr>
            <a:r>
              <a:rPr lang="en-US" sz="1100" i="1" dirty="0">
                <a:solidFill>
                  <a:srgbClr val="5A6472"/>
                </a:solidFill>
                <a:latin typeface="Calibri" pitchFamily="34" charset="0"/>
                <a:cs typeface="Amiri" pitchFamily="2" charset="-78"/>
              </a:rPr>
              <a:t>idh-hab / idh-ha-bī / idh-ha-bū</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اِمْشِ / اِمْشِي / اِمْشُوا</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walk m/f/pl</a:t>
            </a:r>
            <a:endParaRPr lang="en-US" sz="1350" dirty="0"/>
          </a:p>
          <a:p>
            <a:pPr indent="0" marL="0">
              <a:buNone/>
            </a:pPr>
            <a:r>
              <a:rPr lang="en-US" sz="1100" i="1" dirty="0">
                <a:solidFill>
                  <a:srgbClr val="5A6472"/>
                </a:solidFill>
                <a:latin typeface="Calibri" pitchFamily="34" charset="0"/>
                <a:cs typeface="Amiri" pitchFamily="2" charset="-78"/>
              </a:rPr>
              <a:t>im-shi / im-shī / im-shū</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0" name="Shape 2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1" name="Text 2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cs typeface="Amiri" pitchFamily="2" charset="-78"/>
              </a:rPr>
              <a:t>اِنْعَطِفْ / اِنْعَطِفِي / اِنْعَطِفُوا</a:t>
            </a:r>
            <a:endParaRPr lang="ar-SA" sz="28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turn m/f/pl</a:t>
            </a:r>
            <a:endParaRPr lang="en-US" sz="1350" dirty="0"/>
          </a:p>
          <a:p>
            <a:pPr indent="0" marL="0">
              <a:buNone/>
            </a:pPr>
            <a:r>
              <a:rPr lang="en-US" sz="1100" i="1" dirty="0">
                <a:solidFill>
                  <a:srgbClr val="5A6472"/>
                </a:solidFill>
                <a:latin typeface="Calibri" pitchFamily="34" charset="0"/>
                <a:cs typeface="Amiri" pitchFamily="2" charset="-78"/>
              </a:rPr>
              <a:t>in-ʿa-ṭif / in-ʿa-ṭi-fī / in-ʿa-ṭi-fū</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37" name="Text 3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خُذْ / خُذِي / خُذُوا</a:t>
            </a:r>
            <a:endParaRPr lang="ar-SA" sz="3000" dirty="0"/>
          </a:p>
        </p:txBody>
      </p:sp>
      <p:sp>
        <p:nvSpPr>
          <p:cNvPr id="38" name="Text 3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take m/f/pl</a:t>
            </a:r>
            <a:endParaRPr lang="en-US" sz="1350" dirty="0"/>
          </a:p>
          <a:p>
            <a:pPr indent="0" marL="0">
              <a:buNone/>
            </a:pPr>
            <a:r>
              <a:rPr lang="en-US" sz="1100" i="1" dirty="0">
                <a:solidFill>
                  <a:srgbClr val="5A6472"/>
                </a:solidFill>
                <a:latin typeface="Calibri" pitchFamily="34" charset="0"/>
                <a:cs typeface="Amiri" pitchFamily="2" charset="-78"/>
              </a:rPr>
              <a:t>khudh / khu-dhī / khu-dhū</a:t>
            </a:r>
            <a:endParaRPr lang="en-US" sz="1350" dirty="0"/>
          </a:p>
        </p:txBody>
      </p:sp>
      <p:sp>
        <p:nvSpPr>
          <p:cNvPr id="39" name="Shape 36"/>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4389120"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42" name="Shape 39"/>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4" name="Text 41"/>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اِعْبُرْ / اِعْبُرِي / اِعْبُرُوا</a:t>
            </a:r>
            <a:endParaRPr lang="ar-SA" sz="3000" dirty="0"/>
          </a:p>
        </p:txBody>
      </p:sp>
      <p:sp>
        <p:nvSpPr>
          <p:cNvPr id="45" name="Text 42"/>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cross m/f/pl</a:t>
            </a:r>
            <a:endParaRPr lang="en-US" sz="1350" dirty="0"/>
          </a:p>
          <a:p>
            <a:pPr indent="0" marL="0">
              <a:buNone/>
            </a:pPr>
            <a:r>
              <a:rPr lang="en-US" sz="1100" i="1" dirty="0">
                <a:solidFill>
                  <a:srgbClr val="5A6472"/>
                </a:solidFill>
                <a:latin typeface="Calibri" pitchFamily="34" charset="0"/>
                <a:cs typeface="Amiri" pitchFamily="2" charset="-78"/>
              </a:rPr>
              <a:t>iʿ-bur / iʿ-bu-rī / iʿ-bu-rū</a:t>
            </a:r>
            <a:endParaRPr lang="en-US" sz="1350" dirty="0"/>
          </a:p>
        </p:txBody>
      </p:sp>
      <p:sp>
        <p:nvSpPr>
          <p:cNvPr id="46" name="Shape 43"/>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566928" y="4261104"/>
            <a:ext cx="310896" cy="310896"/>
          </a:xfrm>
          <a:prstGeom prst="ellipse">
            <a:avLst/>
          </a:prstGeom>
          <a:solidFill>
            <a:srgbClr val="F4F1EA"/>
          </a:solidFill>
          <a:ln w="12700">
            <a:solidFill>
              <a:srgbClr val="F4F1EA"/>
            </a:solidFill>
            <a:prstDash val="solid"/>
          </a:ln>
        </p:spPr>
      </p:sp>
      <p:sp>
        <p:nvSpPr>
          <p:cNvPr id="48" name="Text 45"/>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49" name="Text 46"/>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cs typeface="Amiri" pitchFamily="2" charset="-78"/>
              </a:rPr>
              <a:t>اِسْتَمِرَّ / اِسْتَمِرِّي / اِسْتَمِرُّوا</a:t>
            </a:r>
            <a:endParaRPr lang="ar-SA" sz="2800" dirty="0"/>
          </a:p>
        </p:txBody>
      </p:sp>
      <p:sp>
        <p:nvSpPr>
          <p:cNvPr id="50" name="Text 47"/>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continue m/f/pl</a:t>
            </a:r>
            <a:endParaRPr lang="en-US" sz="1350" dirty="0"/>
          </a:p>
          <a:p>
            <a:pPr indent="0" marL="0">
              <a:buNone/>
            </a:pPr>
            <a:r>
              <a:rPr lang="en-US" sz="1100" i="1" dirty="0">
                <a:solidFill>
                  <a:srgbClr val="5A6472"/>
                </a:solidFill>
                <a:latin typeface="Calibri" pitchFamily="34" charset="0"/>
                <a:cs typeface="Amiri" pitchFamily="2" charset="-78"/>
              </a:rPr>
              <a:t>is-ta-mir-ra / is-ta-mir-rī / is-ta-mir-rū</a:t>
            </a:r>
            <a:endParaRPr lang="en-US" sz="1350" dirty="0"/>
          </a:p>
        </p:txBody>
      </p:sp>
      <p:sp>
        <p:nvSpPr>
          <p:cNvPr id="51" name="Text 4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44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F6-L08 · Giving Directions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Directions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F6-L08</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مُسْتَقِيمًا</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straight ahead</a:t>
            </a:r>
            <a:endParaRPr lang="en-US" sz="1350" dirty="0"/>
          </a:p>
          <a:p>
            <a:pPr indent="0" marL="0">
              <a:buNone/>
            </a:pPr>
            <a:r>
              <a:rPr lang="en-US" sz="1100" i="1" dirty="0">
                <a:solidFill>
                  <a:srgbClr val="5A6472"/>
                </a:solidFill>
                <a:latin typeface="Calibri" pitchFamily="34" charset="0"/>
                <a:cs typeface="Amiri" pitchFamily="2" charset="-78"/>
              </a:rPr>
              <a:t>mus-ta-qī-man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يَمِينًا</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right</a:t>
            </a:r>
            <a:endParaRPr lang="en-US" sz="1350" dirty="0"/>
          </a:p>
          <a:p>
            <a:pPr indent="0" marL="0">
              <a:buNone/>
            </a:pPr>
            <a:r>
              <a:rPr lang="en-US" sz="1100" i="1" dirty="0">
                <a:solidFill>
                  <a:srgbClr val="5A6472"/>
                </a:solidFill>
                <a:latin typeface="Calibri" pitchFamily="34" charset="0"/>
                <a:cs typeface="Amiri" pitchFamily="2" charset="-78"/>
              </a:rPr>
              <a:t>ya-mī-nan</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يَسَارًا</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left</a:t>
            </a:r>
            <a:endParaRPr lang="en-US" sz="1350" dirty="0"/>
          </a:p>
          <a:p>
            <a:pPr indent="0" marL="0">
              <a:buNone/>
            </a:pPr>
            <a:r>
              <a:rPr lang="en-US" sz="1100" i="1" dirty="0">
                <a:solidFill>
                  <a:srgbClr val="5A6472"/>
                </a:solidFill>
                <a:latin typeface="Calibri" pitchFamily="34" charset="0"/>
                <a:cs typeface="Amiri" pitchFamily="2" charset="-78"/>
              </a:rPr>
              <a:t>ya-sā-ran</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39" name="Shape 36"/>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1" name="Text 38"/>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حَتَّى</a:t>
            </a:r>
            <a:endParaRPr lang="ar-SA" sz="3000" dirty="0"/>
          </a:p>
        </p:txBody>
      </p:sp>
      <p:sp>
        <p:nvSpPr>
          <p:cNvPr id="42" name="Text 39"/>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until</a:t>
            </a:r>
            <a:endParaRPr lang="en-US" sz="1350" dirty="0"/>
          </a:p>
          <a:p>
            <a:pPr indent="0" marL="0">
              <a:buNone/>
            </a:pPr>
            <a:r>
              <a:rPr lang="en-US" sz="1100" i="1" dirty="0">
                <a:solidFill>
                  <a:srgbClr val="5A6472"/>
                </a:solidFill>
                <a:latin typeface="Calibri" pitchFamily="34" charset="0"/>
                <a:cs typeface="Amiri" pitchFamily="2" charset="-78"/>
              </a:rPr>
              <a:t>ḥat-tā</a:t>
            </a:r>
            <a:endParaRPr lang="en-US" sz="1350" dirty="0"/>
          </a:p>
        </p:txBody>
      </p:sp>
      <p:sp>
        <p:nvSpPr>
          <p:cNvPr id="43" name="Shape 40"/>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4389120" y="4261104"/>
            <a:ext cx="310896" cy="310896"/>
          </a:xfrm>
          <a:prstGeom prst="ellipse">
            <a:avLst/>
          </a:prstGeom>
          <a:solidFill>
            <a:srgbClr val="F4F1EA"/>
          </a:solidFill>
          <a:ln w="12700">
            <a:solidFill>
              <a:srgbClr val="F4F1EA"/>
            </a:solidFill>
            <a:prstDash val="solid"/>
          </a:ln>
        </p:spPr>
      </p:sp>
      <p:sp>
        <p:nvSpPr>
          <p:cNvPr id="45" name="Text 42"/>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46" name="Text 43"/>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ثُمَّ</a:t>
            </a:r>
            <a:endParaRPr lang="ar-SA" sz="3000" dirty="0"/>
          </a:p>
        </p:txBody>
      </p:sp>
      <p:sp>
        <p:nvSpPr>
          <p:cNvPr id="47" name="Text 44"/>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then</a:t>
            </a:r>
            <a:endParaRPr lang="en-US" sz="1350" dirty="0"/>
          </a:p>
          <a:p>
            <a:pPr indent="0" marL="0">
              <a:buNone/>
            </a:pPr>
            <a:r>
              <a:rPr lang="en-US" sz="1100" i="1" dirty="0">
                <a:solidFill>
                  <a:srgbClr val="5A6472"/>
                </a:solidFill>
                <a:latin typeface="Calibri" pitchFamily="34" charset="0"/>
                <a:cs typeface="Amiri" pitchFamily="2" charset="-78"/>
              </a:rPr>
              <a:t>thum-ma</a:t>
            </a:r>
            <a:endParaRPr lang="en-US" sz="1350" dirty="0"/>
          </a:p>
        </p:txBody>
      </p:sp>
      <p:sp>
        <p:nvSpPr>
          <p:cNvPr id="48" name="Shape 45"/>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566928" y="4261104"/>
            <a:ext cx="310896" cy="310896"/>
          </a:xfrm>
          <a:prstGeom prst="ellipse">
            <a:avLst/>
          </a:prstGeom>
          <a:solidFill>
            <a:srgbClr val="F4F1EA"/>
          </a:solidFill>
          <a:ln w="12700">
            <a:solidFill>
              <a:srgbClr val="F4F1EA"/>
            </a:solidFill>
            <a:prstDash val="solid"/>
          </a:ln>
        </p:spPr>
      </p:sp>
      <p:sp>
        <p:nvSpPr>
          <p:cNvPr id="50" name="Text 47"/>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51" name="Text 48"/>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بَعْدَ ذٰلِكَ</a:t>
            </a:r>
            <a:endParaRPr lang="ar-SA" sz="3000" dirty="0"/>
          </a:p>
        </p:txBody>
      </p:sp>
      <p:sp>
        <p:nvSpPr>
          <p:cNvPr id="52" name="Text 49"/>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after that</a:t>
            </a:r>
            <a:endParaRPr lang="en-US" sz="1350" dirty="0"/>
          </a:p>
          <a:p>
            <a:pPr indent="0" marL="0">
              <a:buNone/>
            </a:pPr>
            <a:r>
              <a:rPr lang="en-US" sz="1100" i="1" dirty="0">
                <a:solidFill>
                  <a:srgbClr val="5A6472"/>
                </a:solidFill>
                <a:latin typeface="Calibri" pitchFamily="34" charset="0"/>
                <a:cs typeface="Amiri" pitchFamily="2" charset="-78"/>
              </a:rPr>
              <a:t>baʿ-da dhā-li-ka</a:t>
            </a:r>
            <a:endParaRPr lang="en-US" sz="1350" dirty="0"/>
          </a:p>
        </p:txBody>
      </p:sp>
      <p:sp>
        <p:nvSpPr>
          <p:cNvPr id="53" name="Text 5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44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F6-L08 · Giving Directions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Signs and road features (1 of 3)</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F6-L08</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13</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مَدْخَلٌ</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entrance</a:t>
            </a:r>
            <a:endParaRPr lang="en-US" sz="1350" dirty="0"/>
          </a:p>
          <a:p>
            <a:pPr indent="0" marL="0">
              <a:buNone/>
            </a:pPr>
            <a:r>
              <a:rPr lang="en-US" sz="1100" i="1" dirty="0">
                <a:solidFill>
                  <a:srgbClr val="5A6472"/>
                </a:solidFill>
                <a:latin typeface="Calibri" pitchFamily="34" charset="0"/>
                <a:cs typeface="Amiri" pitchFamily="2" charset="-78"/>
              </a:rPr>
              <a:t>mad-kha-lun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14</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مَخْرَجٌ</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exit</a:t>
            </a:r>
            <a:endParaRPr lang="en-US" sz="1350" dirty="0"/>
          </a:p>
          <a:p>
            <a:pPr indent="0" marL="0">
              <a:buNone/>
            </a:pPr>
            <a:r>
              <a:rPr lang="en-US" sz="1100" i="1" dirty="0">
                <a:solidFill>
                  <a:srgbClr val="5A6472"/>
                </a:solidFill>
                <a:latin typeface="Calibri" pitchFamily="34" charset="0"/>
                <a:cs typeface="Amiri" pitchFamily="2" charset="-78"/>
              </a:rPr>
              <a:t>makh-ra-jun</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15</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مَمْنُوعُ الدُّخُولِ</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no entry</a:t>
            </a:r>
            <a:endParaRPr lang="en-US" sz="1350" dirty="0"/>
          </a:p>
          <a:p>
            <a:pPr indent="0" marL="0">
              <a:buNone/>
            </a:pPr>
            <a:r>
              <a:rPr lang="en-US" sz="1100" i="1" dirty="0">
                <a:solidFill>
                  <a:srgbClr val="5A6472"/>
                </a:solidFill>
                <a:latin typeface="Calibri" pitchFamily="34" charset="0"/>
                <a:cs typeface="Amiri" pitchFamily="2" charset="-78"/>
              </a:rPr>
              <a:t>mam-nū-ʿu ad-du-khū-li</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16</a:t>
            </a:r>
            <a:endParaRPr lang="en-US" sz="1000" dirty="0"/>
          </a:p>
        </p:txBody>
      </p:sp>
      <p:sp>
        <p:nvSpPr>
          <p:cNvPr id="39" name="Text 3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مَمْنُوعُ الوُقُوفِ</a:t>
            </a:r>
            <a:endParaRPr lang="ar-SA" sz="3000" dirty="0"/>
          </a:p>
        </p:txBody>
      </p:sp>
      <p:sp>
        <p:nvSpPr>
          <p:cNvPr id="40" name="Text 3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no parking</a:t>
            </a:r>
            <a:endParaRPr lang="en-US" sz="1350" dirty="0"/>
          </a:p>
          <a:p>
            <a:pPr indent="0" marL="0">
              <a:buNone/>
            </a:pPr>
            <a:r>
              <a:rPr lang="en-US" sz="1100" i="1" dirty="0">
                <a:solidFill>
                  <a:srgbClr val="5A6472"/>
                </a:solidFill>
                <a:latin typeface="Calibri" pitchFamily="34" charset="0"/>
                <a:cs typeface="Amiri" pitchFamily="2" charset="-78"/>
              </a:rPr>
              <a:t>mam-nū-ʿu al-wu-qū-fi</a:t>
            </a:r>
            <a:endParaRPr lang="en-US" sz="1350" dirty="0"/>
          </a:p>
        </p:txBody>
      </p:sp>
      <p:sp>
        <p:nvSpPr>
          <p:cNvPr id="41" name="Shape 3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4389120" y="4261104"/>
            <a:ext cx="310896" cy="310896"/>
          </a:xfrm>
          <a:prstGeom prst="ellipse">
            <a:avLst/>
          </a:prstGeom>
          <a:solidFill>
            <a:srgbClr val="F4F1EA"/>
          </a:solidFill>
          <a:ln w="12700">
            <a:solidFill>
              <a:srgbClr val="F4F1EA"/>
            </a:solidFill>
            <a:prstDash val="solid"/>
          </a:ln>
        </p:spPr>
      </p:sp>
      <p:sp>
        <p:nvSpPr>
          <p:cNvPr id="43" name="Text 4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17</a:t>
            </a:r>
            <a:endParaRPr lang="en-US" sz="1000" dirty="0"/>
          </a:p>
        </p:txBody>
      </p:sp>
      <p:sp>
        <p:nvSpPr>
          <p:cNvPr id="44" name="Text 41"/>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قِفْ</a:t>
            </a:r>
            <a:endParaRPr lang="ar-SA" sz="3000" dirty="0"/>
          </a:p>
        </p:txBody>
      </p:sp>
      <p:sp>
        <p:nvSpPr>
          <p:cNvPr id="45" name="Text 42"/>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stop</a:t>
            </a:r>
            <a:endParaRPr lang="en-US" sz="1350" dirty="0"/>
          </a:p>
          <a:p>
            <a:pPr indent="0" marL="0">
              <a:buNone/>
            </a:pPr>
            <a:r>
              <a:rPr lang="en-US" sz="1100" i="1" dirty="0">
                <a:solidFill>
                  <a:srgbClr val="5A6472"/>
                </a:solidFill>
                <a:latin typeface="Calibri" pitchFamily="34" charset="0"/>
                <a:cs typeface="Amiri" pitchFamily="2" charset="-78"/>
              </a:rPr>
              <a:t>qif</a:t>
            </a:r>
            <a:endParaRPr lang="en-US" sz="1350" dirty="0"/>
          </a:p>
        </p:txBody>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44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F6-L08 · Giving Directions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Signs and road features (2 of 3)</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F6-L08</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18</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مَمَرُّ المُشَاةِ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pedestrian crossing</a:t>
            </a:r>
            <a:endParaRPr lang="en-US" sz="1350" dirty="0"/>
          </a:p>
          <a:p>
            <a:pPr indent="0" marL="0">
              <a:buNone/>
            </a:pPr>
            <a:r>
              <a:rPr lang="en-US" sz="1100" i="1" dirty="0">
                <a:solidFill>
                  <a:srgbClr val="5A6472"/>
                </a:solidFill>
                <a:latin typeface="Calibri" pitchFamily="34" charset="0"/>
                <a:cs typeface="Amiri" pitchFamily="2" charset="-78"/>
              </a:rPr>
              <a:t>ma-mar-ru al-mu-shā-ti</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19</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إِشَارَةُ المَرُورِ</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traffic lights</a:t>
            </a:r>
            <a:endParaRPr lang="en-US" sz="1350" dirty="0"/>
          </a:p>
          <a:p>
            <a:pPr indent="0" marL="0">
              <a:buNone/>
            </a:pPr>
            <a:r>
              <a:rPr lang="en-US" sz="1100" i="1" dirty="0">
                <a:solidFill>
                  <a:srgbClr val="5A6472"/>
                </a:solidFill>
                <a:latin typeface="Calibri" pitchFamily="34" charset="0"/>
                <a:cs typeface="Amiri" pitchFamily="2" charset="-78"/>
              </a:rPr>
              <a:t>i-shā-ra-tu al-ma-rū-ri</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20</a:t>
            </a:r>
            <a:endParaRPr lang="en-US" sz="1000" dirty="0"/>
          </a:p>
        </p:txBody>
      </p:sp>
      <p:sp>
        <p:nvSpPr>
          <p:cNvPr id="30" name="Shape 2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1" name="Text 2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دَوَّارٌ</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roundabout</a:t>
            </a:r>
            <a:endParaRPr lang="en-US" sz="1350" dirty="0"/>
          </a:p>
          <a:p>
            <a:pPr indent="0" marL="0">
              <a:buNone/>
            </a:pPr>
            <a:r>
              <a:rPr lang="en-US" sz="1100" i="1" dirty="0">
                <a:solidFill>
                  <a:srgbClr val="5A6472"/>
                </a:solidFill>
                <a:latin typeface="Calibri" pitchFamily="34" charset="0"/>
                <a:cs typeface="Amiri" pitchFamily="2" charset="-78"/>
              </a:rPr>
              <a:t>daw-wā-run</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21</a:t>
            </a:r>
            <a:endParaRPr lang="en-US" sz="1000" dirty="0"/>
          </a:p>
        </p:txBody>
      </p:sp>
      <p:sp>
        <p:nvSpPr>
          <p:cNvPr id="37" name="Text 3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جِسْرٌ</a:t>
            </a:r>
            <a:endParaRPr lang="ar-SA" sz="3000" dirty="0"/>
          </a:p>
        </p:txBody>
      </p:sp>
      <p:sp>
        <p:nvSpPr>
          <p:cNvPr id="38" name="Text 3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bridge</a:t>
            </a:r>
            <a:endParaRPr lang="en-US" sz="1350" dirty="0"/>
          </a:p>
          <a:p>
            <a:pPr indent="0" marL="0">
              <a:buNone/>
            </a:pPr>
            <a:r>
              <a:rPr lang="en-US" sz="1100" i="1" dirty="0">
                <a:solidFill>
                  <a:srgbClr val="5A6472"/>
                </a:solidFill>
                <a:latin typeface="Calibri" pitchFamily="34" charset="0"/>
                <a:cs typeface="Amiri" pitchFamily="2" charset="-78"/>
              </a:rPr>
              <a:t>jis-run</a:t>
            </a:r>
            <a:endParaRPr lang="en-US" sz="1350" dirty="0"/>
          </a:p>
        </p:txBody>
      </p:sp>
      <p:sp>
        <p:nvSpPr>
          <p:cNvPr id="39" name="Shape 36"/>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4389120"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22</a:t>
            </a:r>
            <a:endParaRPr lang="en-US" sz="1000" dirty="0"/>
          </a:p>
        </p:txBody>
      </p:sp>
      <p:sp>
        <p:nvSpPr>
          <p:cNvPr id="42" name="Text 3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نَفَقٌ</a:t>
            </a:r>
            <a:endParaRPr lang="ar-SA" sz="3000" dirty="0"/>
          </a:p>
        </p:txBody>
      </p:sp>
      <p:sp>
        <p:nvSpPr>
          <p:cNvPr id="43" name="Text 4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tunnel</a:t>
            </a:r>
            <a:endParaRPr lang="en-US" sz="1350" dirty="0"/>
          </a:p>
          <a:p>
            <a:pPr indent="0" marL="0">
              <a:buNone/>
            </a:pPr>
            <a:r>
              <a:rPr lang="en-US" sz="1100" i="1" dirty="0">
                <a:solidFill>
                  <a:srgbClr val="5A6472"/>
                </a:solidFill>
                <a:latin typeface="Calibri" pitchFamily="34" charset="0"/>
                <a:cs typeface="Amiri" pitchFamily="2" charset="-78"/>
              </a:rPr>
              <a:t>na-fa-qun</a:t>
            </a:r>
            <a:endParaRPr lang="en-US" sz="13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44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F6-L08 · Giving Directions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Signs and road features (3 of 3)</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F6-L08</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23</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رُكْنٌ / زَاوِيَةٌ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corner</a:t>
            </a:r>
            <a:endParaRPr lang="en-US" sz="1350" dirty="0"/>
          </a:p>
          <a:p>
            <a:pPr indent="0" marL="0">
              <a:buNone/>
            </a:pPr>
            <a:r>
              <a:rPr lang="en-US" sz="1100" i="1" dirty="0">
                <a:solidFill>
                  <a:srgbClr val="5A6472"/>
                </a:solidFill>
                <a:latin typeface="Calibri" pitchFamily="34" charset="0"/>
                <a:cs typeface="Amiri" pitchFamily="2" charset="-78"/>
              </a:rPr>
              <a:t>ruk-nun / zā-wi-ya-tun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24</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لاَفِتَةٌ</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sign</a:t>
            </a:r>
            <a:endParaRPr lang="en-US" sz="1350" dirty="0"/>
          </a:p>
          <a:p>
            <a:pPr indent="0" marL="0">
              <a:buNone/>
            </a:pPr>
            <a:r>
              <a:rPr lang="en-US" sz="1100" i="1" dirty="0">
                <a:solidFill>
                  <a:srgbClr val="5A6472"/>
                </a:solidFill>
                <a:latin typeface="Calibri" pitchFamily="34" charset="0"/>
                <a:cs typeface="Amiri" pitchFamily="2" charset="-78"/>
              </a:rPr>
              <a:t>l-fi-ta-tun</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25</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اتِّجَاهٌ</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direction</a:t>
            </a:r>
            <a:endParaRPr lang="en-US" sz="1350" dirty="0"/>
          </a:p>
          <a:p>
            <a:pPr indent="0" marL="0">
              <a:buNone/>
            </a:pPr>
            <a:r>
              <a:rPr lang="en-US" sz="1100" i="1" dirty="0">
                <a:solidFill>
                  <a:srgbClr val="5A6472"/>
                </a:solidFill>
                <a:latin typeface="Calibri" pitchFamily="34" charset="0"/>
                <a:cs typeface="Amiri" pitchFamily="2" charset="-78"/>
              </a:rPr>
              <a:t>at-ti-jā-hun</a:t>
            </a:r>
            <a:endParaRPr lang="en-US" sz="1350" dirty="0"/>
          </a:p>
        </p:txBody>
      </p:sp>
      <p:sp>
        <p:nvSpPr>
          <p:cNvPr id="32" name="Text 2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44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F6-L08 · Giving Directions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Asking for directions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F6-L08</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26</a:t>
            </a:r>
            <a:endParaRPr lang="en-US" sz="10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كَيْفَ أَذْهَبُ إِلَى...؟</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How do I get to...?</a:t>
            </a:r>
            <a:endParaRPr lang="en-US" sz="1350" dirty="0"/>
          </a:p>
          <a:p>
            <a:pPr indent="0" marL="0">
              <a:buNone/>
            </a:pPr>
            <a:r>
              <a:rPr lang="en-US" sz="1100" i="1" dirty="0">
                <a:solidFill>
                  <a:srgbClr val="5A6472"/>
                </a:solidFill>
                <a:latin typeface="Calibri" pitchFamily="34" charset="0"/>
                <a:cs typeface="Amiri" pitchFamily="2" charset="-78"/>
              </a:rPr>
              <a:t>kay-fa adh-ha-bu i-lā...?</a:t>
            </a:r>
            <a:endParaRPr lang="en-US" sz="1350" dirty="0"/>
          </a:p>
        </p:txBody>
      </p:sp>
      <p:sp>
        <p:nvSpPr>
          <p:cNvPr id="24" name="Shape 21"/>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4389120" y="1920240"/>
            <a:ext cx="310896" cy="310896"/>
          </a:xfrm>
          <a:prstGeom prst="ellipse">
            <a:avLst/>
          </a:prstGeom>
          <a:solidFill>
            <a:srgbClr val="F4F1EA"/>
          </a:solidFill>
          <a:ln w="12700">
            <a:solidFill>
              <a:srgbClr val="F4F1EA"/>
            </a:solidFill>
            <a:prstDash val="solid"/>
          </a:ln>
        </p:spPr>
      </p:sp>
      <p:sp>
        <p:nvSpPr>
          <p:cNvPr id="26" name="Text 23"/>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27</a:t>
            </a:r>
            <a:endParaRPr lang="en-US" sz="10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هَلْ هُوَ بَعِيدٌ؟</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Is it far?</a:t>
            </a:r>
            <a:endParaRPr lang="en-US" sz="1350" dirty="0"/>
          </a:p>
          <a:p>
            <a:pPr indent="0" marL="0">
              <a:buNone/>
            </a:pPr>
            <a:r>
              <a:rPr lang="en-US" sz="1100" i="1" dirty="0">
                <a:solidFill>
                  <a:srgbClr val="5A6472"/>
                </a:solidFill>
                <a:latin typeface="Calibri" pitchFamily="34" charset="0"/>
                <a:cs typeface="Amiri" pitchFamily="2" charset="-78"/>
              </a:rPr>
              <a:t>hal hu-wa ba-ʿī-dun?</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28</a:t>
            </a:r>
            <a:endParaRPr lang="en-US" sz="10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كَمْ دَقِيقَةً مَشْيًا؟</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How many minutes on foot?</a:t>
            </a:r>
            <a:endParaRPr lang="en-US" sz="1350" dirty="0"/>
          </a:p>
          <a:p>
            <a:pPr indent="0" marL="0">
              <a:buNone/>
            </a:pPr>
            <a:r>
              <a:rPr lang="en-US" sz="1100" i="1" dirty="0">
                <a:solidFill>
                  <a:srgbClr val="5A6472"/>
                </a:solidFill>
                <a:latin typeface="Calibri" pitchFamily="34" charset="0"/>
                <a:cs typeface="Amiri" pitchFamily="2" charset="-78"/>
              </a:rPr>
              <a:t>kam da-qī-qa-tan mash-yan?</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29</a:t>
            </a:r>
            <a:endParaRPr lang="en-US" sz="1000" dirty="0"/>
          </a:p>
        </p:txBody>
      </p:sp>
      <p:sp>
        <p:nvSpPr>
          <p:cNvPr id="37" name="Text 3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هَلْ يُمْكِنُكَ أَنْ تُعِيدَ؟</a:t>
            </a:r>
            <a:endParaRPr lang="ar-SA" sz="3000" dirty="0"/>
          </a:p>
        </p:txBody>
      </p:sp>
      <p:sp>
        <p:nvSpPr>
          <p:cNvPr id="38" name="Text 3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Can you repeat?</a:t>
            </a:r>
            <a:endParaRPr lang="en-US" sz="1350" dirty="0"/>
          </a:p>
          <a:p>
            <a:pPr indent="0" marL="0">
              <a:buNone/>
            </a:pPr>
            <a:r>
              <a:rPr lang="en-US" sz="1100" i="1" dirty="0">
                <a:solidFill>
                  <a:srgbClr val="5A6472"/>
                </a:solidFill>
                <a:latin typeface="Calibri" pitchFamily="34" charset="0"/>
                <a:cs typeface="Amiri" pitchFamily="2" charset="-78"/>
              </a:rPr>
              <a:t>hal yum-ki-nu-ka an tu-ʿī-da?</a:t>
            </a:r>
            <a:endParaRPr lang="en-US" sz="1350" dirty="0"/>
          </a:p>
        </p:txBody>
      </p:sp>
      <p:sp>
        <p:nvSpPr>
          <p:cNvPr id="39" name="Shape 36"/>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4389120"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30</a:t>
            </a:r>
            <a:endParaRPr lang="en-US" sz="1000" dirty="0"/>
          </a:p>
        </p:txBody>
      </p:sp>
      <p:sp>
        <p:nvSpPr>
          <p:cNvPr id="42" name="Text 3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شُكْرًا عَلَى المُسَاعَدَةِ</a:t>
            </a:r>
            <a:endParaRPr lang="ar-SA" sz="3000" dirty="0"/>
          </a:p>
        </p:txBody>
      </p:sp>
      <p:sp>
        <p:nvSpPr>
          <p:cNvPr id="43" name="Text 4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Thank you for the help</a:t>
            </a:r>
            <a:endParaRPr lang="en-US" sz="1350" dirty="0"/>
          </a:p>
          <a:p>
            <a:pPr indent="0" marL="0">
              <a:buNone/>
            </a:pPr>
            <a:r>
              <a:rPr lang="en-US" sz="1100" i="1" dirty="0">
                <a:solidFill>
                  <a:srgbClr val="5A6472"/>
                </a:solidFill>
                <a:latin typeface="Calibri" pitchFamily="34" charset="0"/>
                <a:cs typeface="Amiri" pitchFamily="2" charset="-78"/>
              </a:rPr>
              <a:t>shuk-ran ʿa-lā al-mu-sā-ʿa-da-ti</a:t>
            </a:r>
            <a:endParaRPr lang="en-US" sz="13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44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F6-L08 · Giving Directions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60" b="1" spc="150" kern="0" dirty="0">
                <a:solidFill>
                  <a:srgbClr val="1B3B6F"/>
                </a:solidFill>
                <a:latin typeface="Calibri" pitchFamily="34" charset="0"/>
                <a:cs typeface="Amiri" pitchFamily="2" charset="-78"/>
              </a:rPr>
              <a:t>GRAMMAR FOCUS · PART 1 · COMMANDS FOR A BOY, A GIRL, A GROUP (WEBSITE RULES 1–3)</a:t>
            </a:r>
            <a:endParaRPr lang="en-US" sz="86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Go · turn · cross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أَفْعَالُ الأَمْرِ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F6-L08</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513064"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One boy</a:t>
            </a:r>
            <a:endParaRPr lang="en-US" sz="1100" dirty="0"/>
          </a:p>
        </p:txBody>
      </p:sp>
      <p:sp>
        <p:nvSpPr>
          <p:cNvPr id="17" name="Text 14"/>
          <p:cNvSpPr txBox="1"/>
          <p:nvPr/>
        </p:nvSpPr>
        <p:spPr>
          <a:xfrm>
            <a:off x="5221224"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One girl</a:t>
            </a:r>
            <a:endParaRPr lang="en-US" sz="1100" dirty="0"/>
          </a:p>
        </p:txBody>
      </p:sp>
      <p:sp>
        <p:nvSpPr>
          <p:cNvPr id="18" name="Text 15"/>
          <p:cNvSpPr txBox="1"/>
          <p:nvPr/>
        </p:nvSpPr>
        <p:spPr>
          <a:xfrm>
            <a:off x="1929384"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 group</a:t>
            </a:r>
            <a:endParaRPr lang="en-US" sz="1100" dirty="0"/>
          </a:p>
        </p:txBody>
      </p:sp>
      <p:sp>
        <p:nvSpPr>
          <p:cNvPr id="19" name="Text 16"/>
          <p:cNvSpPr txBox="1"/>
          <p:nvPr/>
        </p:nvSpPr>
        <p:spPr>
          <a:xfrm>
            <a:off x="530352" y="1810512"/>
            <a:ext cx="12527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20" name="Shape 17"/>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1" name="Text 18"/>
          <p:cNvSpPr txBox="1"/>
          <p:nvPr/>
        </p:nvSpPr>
        <p:spPr>
          <a:xfrm>
            <a:off x="8531352" y="2267712"/>
            <a:ext cx="310896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اِذْهَبْ</a:t>
            </a:r>
            <a:endParaRPr lang="ar-SA" sz="2600" dirty="0"/>
          </a:p>
        </p:txBody>
      </p:sp>
      <p:sp>
        <p:nvSpPr>
          <p:cNvPr id="22" name="Text 19"/>
          <p:cNvSpPr txBox="1"/>
          <p:nvPr/>
        </p:nvSpPr>
        <p:spPr>
          <a:xfrm>
            <a:off x="5239512" y="2267712"/>
            <a:ext cx="310896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اِذْهَبِي</a:t>
            </a:r>
            <a:endParaRPr lang="ar-SA" sz="2600" dirty="0"/>
          </a:p>
        </p:txBody>
      </p:sp>
      <p:sp>
        <p:nvSpPr>
          <p:cNvPr id="23" name="Text 20"/>
          <p:cNvSpPr txBox="1"/>
          <p:nvPr/>
        </p:nvSpPr>
        <p:spPr>
          <a:xfrm>
            <a:off x="1947672" y="2267712"/>
            <a:ext cx="310896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اِذْهَبُوا</a:t>
            </a:r>
            <a:endParaRPr lang="ar-SA" sz="2600" dirty="0"/>
          </a:p>
        </p:txBody>
      </p:sp>
      <p:sp>
        <p:nvSpPr>
          <p:cNvPr id="24" name="Text 21"/>
          <p:cNvSpPr txBox="1"/>
          <p:nvPr/>
        </p:nvSpPr>
        <p:spPr>
          <a:xfrm>
            <a:off x="566928" y="2267712"/>
            <a:ext cx="12161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go</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8" name="Text 25"/>
          <p:cNvSpPr txBox="1"/>
          <p:nvPr/>
        </p:nvSpPr>
        <p:spPr>
          <a:xfrm>
            <a:off x="8531352" y="2881884"/>
            <a:ext cx="310896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اِنْعَطِفْ</a:t>
            </a:r>
            <a:endParaRPr lang="ar-SA" sz="2600" dirty="0"/>
          </a:p>
        </p:txBody>
      </p:sp>
      <p:sp>
        <p:nvSpPr>
          <p:cNvPr id="29" name="Text 26"/>
          <p:cNvSpPr txBox="1"/>
          <p:nvPr/>
        </p:nvSpPr>
        <p:spPr>
          <a:xfrm>
            <a:off x="5239512" y="2881884"/>
            <a:ext cx="310896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اِنْعَطِفِي</a:t>
            </a:r>
            <a:endParaRPr lang="ar-SA" sz="2600" dirty="0"/>
          </a:p>
        </p:txBody>
      </p:sp>
      <p:sp>
        <p:nvSpPr>
          <p:cNvPr id="30" name="Text 27"/>
          <p:cNvSpPr txBox="1"/>
          <p:nvPr/>
        </p:nvSpPr>
        <p:spPr>
          <a:xfrm>
            <a:off x="1947672" y="2881884"/>
            <a:ext cx="310896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اِنْعَطِفُوا</a:t>
            </a:r>
            <a:endParaRPr lang="ar-SA" sz="2600" dirty="0"/>
          </a:p>
        </p:txBody>
      </p:sp>
      <p:sp>
        <p:nvSpPr>
          <p:cNvPr id="31" name="Text 28"/>
          <p:cNvSpPr txBox="1"/>
          <p:nvPr/>
        </p:nvSpPr>
        <p:spPr>
          <a:xfrm>
            <a:off x="566928" y="2881884"/>
            <a:ext cx="12161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turn</a:t>
            </a:r>
            <a:endParaRPr lang="en-US" sz="1100" dirty="0"/>
          </a:p>
        </p:txBody>
      </p:sp>
      <p:sp>
        <p:nvSpPr>
          <p:cNvPr id="32" name="Shape 29"/>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5" name="Text 32"/>
          <p:cNvSpPr txBox="1"/>
          <p:nvPr/>
        </p:nvSpPr>
        <p:spPr>
          <a:xfrm>
            <a:off x="8531352" y="3496056"/>
            <a:ext cx="310896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اِعْبُرْ</a:t>
            </a:r>
            <a:endParaRPr lang="ar-SA" sz="2600" dirty="0"/>
          </a:p>
        </p:txBody>
      </p:sp>
      <p:sp>
        <p:nvSpPr>
          <p:cNvPr id="36" name="Text 33"/>
          <p:cNvSpPr txBox="1"/>
          <p:nvPr/>
        </p:nvSpPr>
        <p:spPr>
          <a:xfrm>
            <a:off x="5239512" y="3496056"/>
            <a:ext cx="310896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اِعْبُرِي</a:t>
            </a:r>
            <a:endParaRPr lang="ar-SA" sz="2600" dirty="0"/>
          </a:p>
        </p:txBody>
      </p:sp>
      <p:sp>
        <p:nvSpPr>
          <p:cNvPr id="37" name="Text 34"/>
          <p:cNvSpPr txBox="1"/>
          <p:nvPr/>
        </p:nvSpPr>
        <p:spPr>
          <a:xfrm>
            <a:off x="1947672" y="3496056"/>
            <a:ext cx="310896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اِعْبُرُوا</a:t>
            </a:r>
            <a:endParaRPr lang="ar-SA" sz="2600" dirty="0"/>
          </a:p>
        </p:txBody>
      </p:sp>
      <p:sp>
        <p:nvSpPr>
          <p:cNvPr id="38" name="Text 35"/>
          <p:cNvSpPr txBox="1"/>
          <p:nvPr/>
        </p:nvSpPr>
        <p:spPr>
          <a:xfrm>
            <a:off x="566928" y="3496056"/>
            <a:ext cx="12161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cross</a:t>
            </a:r>
            <a:endParaRPr lang="en-US" sz="1100" dirty="0"/>
          </a:p>
        </p:txBody>
      </p:sp>
      <p:sp>
        <p:nvSpPr>
          <p:cNvPr id="39" name="Shape 36"/>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2" name="Text 39"/>
          <p:cNvSpPr txBox="1"/>
          <p:nvPr/>
        </p:nvSpPr>
        <p:spPr>
          <a:xfrm>
            <a:off x="8531352" y="4110228"/>
            <a:ext cx="310896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خُذْ</a:t>
            </a:r>
            <a:endParaRPr lang="ar-SA" sz="2600" dirty="0"/>
          </a:p>
        </p:txBody>
      </p:sp>
      <p:sp>
        <p:nvSpPr>
          <p:cNvPr id="43" name="Text 40"/>
          <p:cNvSpPr txBox="1"/>
          <p:nvPr/>
        </p:nvSpPr>
        <p:spPr>
          <a:xfrm>
            <a:off x="5239512" y="4110228"/>
            <a:ext cx="310896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خُذِي</a:t>
            </a:r>
            <a:endParaRPr lang="ar-SA" sz="2600" dirty="0"/>
          </a:p>
        </p:txBody>
      </p:sp>
      <p:sp>
        <p:nvSpPr>
          <p:cNvPr id="44" name="Text 41"/>
          <p:cNvSpPr txBox="1"/>
          <p:nvPr/>
        </p:nvSpPr>
        <p:spPr>
          <a:xfrm>
            <a:off x="1947672" y="4110228"/>
            <a:ext cx="310896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خُذُوا</a:t>
            </a:r>
            <a:endParaRPr lang="ar-SA" sz="2600" dirty="0"/>
          </a:p>
        </p:txBody>
      </p:sp>
      <p:sp>
        <p:nvSpPr>
          <p:cNvPr id="45" name="Text 42"/>
          <p:cNvSpPr txBox="1"/>
          <p:nvPr/>
        </p:nvSpPr>
        <p:spPr>
          <a:xfrm>
            <a:off x="566928" y="4110228"/>
            <a:ext cx="12161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take</a:t>
            </a:r>
            <a:endParaRPr lang="en-US" sz="1100" dirty="0"/>
          </a:p>
        </p:txBody>
      </p:sp>
      <p:sp>
        <p:nvSpPr>
          <p:cNvPr id="46" name="Shape 43"/>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7" name="Text 44"/>
          <p:cNvSpPr txBox="1"/>
          <p:nvPr/>
        </p:nvSpPr>
        <p:spPr>
          <a:xfrm>
            <a:off x="8531352" y="4724400"/>
            <a:ext cx="310896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اِمْشِ</a:t>
            </a:r>
            <a:endParaRPr lang="ar-SA" sz="2600" dirty="0"/>
          </a:p>
        </p:txBody>
      </p:sp>
      <p:sp>
        <p:nvSpPr>
          <p:cNvPr id="48" name="Text 45"/>
          <p:cNvSpPr txBox="1"/>
          <p:nvPr/>
        </p:nvSpPr>
        <p:spPr>
          <a:xfrm>
            <a:off x="5239512" y="4724400"/>
            <a:ext cx="310896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اِمْشِي</a:t>
            </a:r>
            <a:endParaRPr lang="ar-SA" sz="2600" dirty="0"/>
          </a:p>
        </p:txBody>
      </p:sp>
      <p:sp>
        <p:nvSpPr>
          <p:cNvPr id="49" name="Text 46"/>
          <p:cNvSpPr txBox="1"/>
          <p:nvPr/>
        </p:nvSpPr>
        <p:spPr>
          <a:xfrm>
            <a:off x="1947672" y="4724400"/>
            <a:ext cx="310896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اِمْشُوا</a:t>
            </a:r>
            <a:endParaRPr lang="ar-SA" sz="2600" dirty="0"/>
          </a:p>
        </p:txBody>
      </p:sp>
      <p:sp>
        <p:nvSpPr>
          <p:cNvPr id="50" name="Text 47"/>
          <p:cNvSpPr txBox="1"/>
          <p:nvPr/>
        </p:nvSpPr>
        <p:spPr>
          <a:xfrm>
            <a:off x="566928" y="4724400"/>
            <a:ext cx="12161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walk</a:t>
            </a:r>
            <a:endParaRPr lang="en-US" sz="1100" dirty="0"/>
          </a:p>
        </p:txBody>
      </p:sp>
      <p:sp>
        <p:nvSpPr>
          <p:cNvPr id="51" name="Shape 48"/>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2" name="Text 49"/>
          <p:cNvSpPr txBox="1"/>
          <p:nvPr/>
        </p:nvSpPr>
        <p:spPr>
          <a:xfrm>
            <a:off x="8531352" y="5338572"/>
            <a:ext cx="310896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اِسْتَمِرَّ</a:t>
            </a:r>
            <a:endParaRPr lang="ar-SA" sz="2600" dirty="0"/>
          </a:p>
        </p:txBody>
      </p:sp>
      <p:sp>
        <p:nvSpPr>
          <p:cNvPr id="53" name="Text 50"/>
          <p:cNvSpPr txBox="1"/>
          <p:nvPr/>
        </p:nvSpPr>
        <p:spPr>
          <a:xfrm>
            <a:off x="5239512" y="5338572"/>
            <a:ext cx="310896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اِسْتَمِرِّي</a:t>
            </a:r>
            <a:endParaRPr lang="ar-SA" sz="2600" dirty="0"/>
          </a:p>
        </p:txBody>
      </p:sp>
      <p:sp>
        <p:nvSpPr>
          <p:cNvPr id="54" name="Text 51"/>
          <p:cNvSpPr txBox="1"/>
          <p:nvPr/>
        </p:nvSpPr>
        <p:spPr>
          <a:xfrm>
            <a:off x="1947672" y="5338572"/>
            <a:ext cx="310896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اِسْتَمِرُّوا</a:t>
            </a:r>
            <a:endParaRPr lang="ar-SA" sz="2600" dirty="0"/>
          </a:p>
        </p:txBody>
      </p:sp>
      <p:sp>
        <p:nvSpPr>
          <p:cNvPr id="55" name="Text 52"/>
          <p:cNvSpPr txBox="1"/>
          <p:nvPr/>
        </p:nvSpPr>
        <p:spPr>
          <a:xfrm>
            <a:off x="566928" y="5338572"/>
            <a:ext cx="12161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continue</a:t>
            </a:r>
            <a:endParaRPr lang="en-US" sz="1100" dirty="0"/>
          </a:p>
        </p:txBody>
      </p:sp>
      <p:sp>
        <p:nvSpPr>
          <p:cNvPr id="56" name="Text 53"/>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Add a direction: mustaqīman (straight) · yamīnan (right) · yasāran (left) — all end in -an.</a:t>
            </a:r>
            <a:endParaRPr lang="en-US" sz="11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44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F6-L08 · Giving Directions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PART 2 · A COMPLETE ROUTE (WEBSITE RULE 4)</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Start · actions · landmarks · end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الطَّرِيقُ الكَامِلُ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F6-L08</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480060" cy="274320"/>
          </a:xfrm>
          <a:prstGeom prst="roundRect">
            <a:avLst>
              <a:gd name="adj" fmla="val 50000"/>
            </a:avLst>
          </a:prstGeom>
          <a:solidFill>
            <a:srgbClr val="6B4C9A"/>
          </a:solidFill>
          <a:ln w="12700">
            <a:solidFill>
              <a:srgbClr val="6B4C9A"/>
            </a:solidFill>
            <a:prstDash val="solid"/>
          </a:ln>
        </p:spPr>
      </p:sp>
      <p:sp>
        <p:nvSpPr>
          <p:cNvPr id="17" name="Text 14"/>
          <p:cNvSpPr txBox="1"/>
          <p:nvPr/>
        </p:nvSpPr>
        <p:spPr>
          <a:xfrm>
            <a:off x="8232648" y="1920240"/>
            <a:ext cx="4800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ASK</a:t>
            </a:r>
            <a:endParaRPr lang="en-US" sz="850" dirty="0"/>
          </a:p>
        </p:txBody>
      </p:sp>
      <p:sp>
        <p:nvSpPr>
          <p:cNvPr id="18" name="Text 15"/>
          <p:cNvSpPr txBox="1"/>
          <p:nvPr/>
        </p:nvSpPr>
        <p:spPr>
          <a:xfrm>
            <a:off x="8758428" y="1874520"/>
            <a:ext cx="28361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كَيْفَ أَذْهَبُ إِلَى …؟</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250" b="1" dirty="0">
                <a:solidFill>
                  <a:srgbClr val="1B3B6F"/>
                </a:solidFill>
                <a:latin typeface="Amiri" pitchFamily="2" charset="-78"/>
                <a:cs typeface="Amiri" pitchFamily="2" charset="-78"/>
              </a:rPr>
              <a:t>مِنْ فَضْلِكَ، كَيْفَ أَذْهَبُ إِلَى المَحَطَّةِ؟</a:t>
            </a:r>
            <a:endParaRPr lang="ar-SA" sz="225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Please, how do I get to the station?</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ilā before the place.</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617220" cy="274320"/>
          </a:xfrm>
          <a:prstGeom prst="roundRect">
            <a:avLst>
              <a:gd name="adj" fmla="val 50000"/>
            </a:avLst>
          </a:prstGeom>
          <a:solidFill>
            <a:srgbClr val="1D5FBF"/>
          </a:solidFill>
          <a:ln w="12700">
            <a:solidFill>
              <a:srgbClr val="1D5FBF"/>
            </a:solidFill>
            <a:prstDash val="solid"/>
          </a:ln>
        </p:spPr>
      </p:sp>
      <p:sp>
        <p:nvSpPr>
          <p:cNvPr id="25" name="Text 22"/>
          <p:cNvSpPr txBox="1"/>
          <p:nvPr/>
        </p:nvSpPr>
        <p:spPr>
          <a:xfrm>
            <a:off x="4413504" y="1920240"/>
            <a:ext cx="6172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ROUTE</a:t>
            </a:r>
            <a:endParaRPr lang="en-US" sz="850" dirty="0"/>
          </a:p>
        </p:txBody>
      </p:sp>
      <p:sp>
        <p:nvSpPr>
          <p:cNvPr id="26" name="Text 23"/>
          <p:cNvSpPr txBox="1"/>
          <p:nvPr/>
        </p:nvSpPr>
        <p:spPr>
          <a:xfrm>
            <a:off x="5076444" y="1874520"/>
            <a:ext cx="26990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 حَتَّى … ثُمَّ …</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cs typeface="Amiri" pitchFamily="2" charset="-78"/>
              </a:rPr>
              <a:t>اِذْهَبْ مُسْتَقِيمًا حَتَّى إِشَارَةِ المَرُورِ، ثُمَّ اِنْعَطِفْ يَسَارًا.</a:t>
            </a:r>
            <a:endParaRPr lang="ar-SA" sz="21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Go straight to the traffic lights, then turn left.</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Until a landmark, then …</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480060" cy="274320"/>
          </a:xfrm>
          <a:prstGeom prst="roundRect">
            <a:avLst>
              <a:gd name="adj" fmla="val 50000"/>
            </a:avLst>
          </a:prstGeom>
          <a:solidFill>
            <a:srgbClr val="1E7B4F"/>
          </a:solidFill>
          <a:ln w="12700">
            <a:solidFill>
              <a:srgbClr val="1E7B4F"/>
            </a:solidFill>
            <a:prstDash val="solid"/>
          </a:ln>
        </p:spPr>
      </p:sp>
      <p:sp>
        <p:nvSpPr>
          <p:cNvPr id="33" name="Text 30"/>
          <p:cNvSpPr txBox="1"/>
          <p:nvPr/>
        </p:nvSpPr>
        <p:spPr>
          <a:xfrm>
            <a:off x="594360" y="1920240"/>
            <a:ext cx="4800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END</a:t>
            </a:r>
            <a:endParaRPr lang="en-US" sz="850" dirty="0"/>
          </a:p>
        </p:txBody>
      </p:sp>
      <p:sp>
        <p:nvSpPr>
          <p:cNvPr id="34" name="Text 31"/>
          <p:cNvSpPr txBox="1"/>
          <p:nvPr/>
        </p:nvSpPr>
        <p:spPr>
          <a:xfrm>
            <a:off x="1120140" y="1874520"/>
            <a:ext cx="28361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المَكَانُ + مَوْقِعٌ</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cs typeface="Amiri" pitchFamily="2" charset="-78"/>
              </a:rPr>
              <a:t>المَتْحَفُ مُقَابِلَ المَكْتَبَةِ. تَسْتَغْرِقُ الطَّرِيقُ عَشْرَ دَقَائِقَ.</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The museum is opposite the library. It takes ten minutes.</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F6-L02 + F6-L04.</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Website common error: ilā before the destination.</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1B3B6F"/>
                </a:solidFill>
                <a:latin typeface="Amiri" pitchFamily="2" charset="-78"/>
                <a:cs typeface="Amiri" pitchFamily="2" charset="-78"/>
              </a:rPr>
              <a:t>كَيْفَ أَذْهَبُ إِلَى المَحَطَّةِ؟</a:t>
            </a:r>
            <a:endParaRPr lang="ar-SA" sz="165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buNone/>
            </a:pPr>
            <a:r>
              <a:rPr lang="ar-SA" altLang="en-US" sz="2000" b="1" dirty="0">
                <a:solidFill>
                  <a:srgbClr val="B83227"/>
                </a:solidFill>
                <a:latin typeface="Amiri" pitchFamily="2" charset="-78"/>
                <a:cs typeface="Amiri" pitchFamily="2" charset="-78"/>
              </a:rPr>
              <a:t>كَيْفَ أَذْهَبُ المَحَطَّةَ؟</a:t>
            </a:r>
            <a:endParaRPr lang="ar-SA" sz="20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44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F6-L08 · Giving Directions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cs typeface="Amiri" pitchFamily="2" charset="-78"/>
              </a:rPr>
              <a:t>Direction imperatives for male, female and plural addressees</a:t>
            </a:r>
            <a:endParaRPr lang="en-US" sz="17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أَفْعَالُ الأَمْرِ لِإِعْطَاءِ الاِّتِّجَاهَاتِ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F6-L08</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1. Command one male person</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cs typeface="Amiri" pitchFamily="2" charset="-78"/>
              </a:rPr>
              <a:t>اِذْهَبْ · اِمْشِ · اِنْعَطِفْ · خُذْ</a:t>
            </a:r>
            <a:endParaRPr lang="ar-SA" sz="13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اِذْهَبْ مُسْتَقِيمًا.   ·   اِنْعَطِفْ يَمِينًا عِنْدَ الإِشَارَةِ.   ·   خُذْ الشَّارِعَ الثَّانِيَ.</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2. Command one female person</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cs typeface="Amiri" pitchFamily="2" charset="-78"/>
              </a:rPr>
              <a:t>اِذْهَبِي · اِمْشِي · اِنْعَطِفِي · خُذِي</a:t>
            </a:r>
            <a:endParaRPr lang="ar-SA" sz="13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اِذْهَبِي مُسْتَقِيمًا.   ·   اِنْعَطِفِي يَسَارًا.   ·   خُذِي الحَافِلَةَ رَقْمَ خَمْسَةٍ.</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3. Command a group</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cs typeface="Amiri" pitchFamily="2" charset="-78"/>
              </a:rPr>
              <a:t>اِذْهَبُوا · اِمْشُوا · اِنْعَطِفُوا · خُذُوا</a:t>
            </a:r>
            <a:endParaRPr lang="ar-SA" sz="13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اِمْشُوا حَتَّى الدَّوَّارِ.   ·   اِعْبُرُوا الجِسْرَ ثُمَّ اِنْعَطِفُوا يَمِينًا.</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4. Sequence a complete route</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cs typeface="Amiri" pitchFamily="2" charset="-78"/>
              </a:rPr>
              <a:t>فِعْلُ أَمْرٍ + ثُمَّ / بَعْدَ ذٰلِكَ + فِعْلُ أَمْرٍ</a:t>
            </a:r>
            <a:endParaRPr lang="ar-SA" sz="13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اِذْهَبْ مُسْتَقِيمًا حَتَّى إِشَارَةِ المَرُورِ، ثُمَّ اِنْعَطِفْ يَسَارًا.   ·   بَعْدَ ذٰلِكَ، اِعْبُرِ الشَّارِعَ.</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44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F6-L08 · Giving Directions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F6-L08</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Give “go” to one male.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اِذْهَبِي</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اِذْهَبُوا</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اِذْهَبْ</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Give “turn” to one female.</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اِنْعَطِفِي</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اِنْعَطِفْ</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اِنْعَطِفُوا</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Give “walk” to a group.</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اِمْشِي</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اِمْشُوا</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اِمْشِ</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asks how to reach the station?</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كَيْفَ أَذْهَبُ إِلَى المَحَطَّةِ؟</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أَيْنَ أَذْهَبُ المَحَطَّةَ؟</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كَمْ المَحَطَّةُ؟</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44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F6-L08 · Giving Directions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F6-L08</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Give “go” to one male.</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اِذْهَبِي</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اِذْهَبُوا</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اِذْهَبْ</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masculine singular form ends without </a:t>
            </a:r>
            <a:pPr algn="l" indent="0" marL="0">
              <a:buNone/>
            </a:pPr>
            <a:r>
              <a:rPr lang="ar-SA" altLang="en-US" sz="1350" dirty="0">
                <a:solidFill>
                  <a:srgbClr val="8A6D1E"/>
                </a:solidFill>
                <a:latin typeface="Amiri" pitchFamily="2" charset="-78"/>
                <a:cs typeface="Amiri" pitchFamily="2" charset="-78"/>
              </a:rPr>
              <a:t>ـي</a:t>
            </a:r>
            <a:pPr algn="l" indent="0" marL="0">
              <a:buNone/>
            </a:pPr>
            <a:r>
              <a:rPr lang="en-US" sz="1050" i="1" dirty="0">
                <a:solidFill>
                  <a:srgbClr val="8A6D1E"/>
                </a:solidFill>
                <a:latin typeface="Calibri" pitchFamily="34" charset="0"/>
                <a:cs typeface="Amiri" pitchFamily="2" charset="-78"/>
              </a:rPr>
              <a:t> or </a:t>
            </a:r>
            <a:pPr algn="l" indent="0" marL="0">
              <a:buNone/>
            </a:pPr>
            <a:r>
              <a:rPr lang="ar-SA" altLang="en-US" sz="1350" dirty="0">
                <a:solidFill>
                  <a:srgbClr val="8A6D1E"/>
                </a:solidFill>
                <a:latin typeface="Amiri" pitchFamily="2" charset="-78"/>
                <a:cs typeface="Amiri" pitchFamily="2" charset="-78"/>
              </a:rPr>
              <a:t>ـوا</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Give “turn” to one female.</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اِنْعَطِفِي</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اِنْعَطِفْ</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اِنْعَطِفُوا</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feminine form ends </a:t>
            </a:r>
            <a:pPr algn="l" indent="0" marL="0">
              <a:buNone/>
            </a:pPr>
            <a:r>
              <a:rPr lang="ar-SA" altLang="en-US" sz="1350" dirty="0">
                <a:solidFill>
                  <a:srgbClr val="8A6D1E"/>
                </a:solidFill>
                <a:latin typeface="Amiri" pitchFamily="2" charset="-78"/>
                <a:cs typeface="Amiri" pitchFamily="2" charset="-78"/>
              </a:rPr>
              <a:t>ـي</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Give “walk” to a group.</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اِمْشِي</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اِمْشُوا</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اِمْشِ</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plural command ends </a:t>
            </a:r>
            <a:pPr algn="l" indent="0" marL="0">
              <a:buNone/>
            </a:pPr>
            <a:r>
              <a:rPr lang="ar-SA" altLang="en-US" sz="1350" dirty="0">
                <a:solidFill>
                  <a:srgbClr val="8A6D1E"/>
                </a:solidFill>
                <a:latin typeface="Amiri" pitchFamily="2" charset="-78"/>
                <a:cs typeface="Amiri" pitchFamily="2" charset="-78"/>
              </a:rPr>
              <a:t>ـوا</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asks how to reach the station?</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كَيْفَ أَذْهَبُ إِلَى المَحَطَّةِ؟</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أَيْنَ أَذْهَبُ المَحَطَّةَ؟</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كَمْ المَحَطَّةُ؟</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Use </a:t>
            </a:r>
            <a:pPr algn="l" indent="0" marL="0">
              <a:buNone/>
            </a:pPr>
            <a:r>
              <a:rPr lang="ar-SA" altLang="en-US" sz="1350" dirty="0">
                <a:solidFill>
                  <a:srgbClr val="8A6D1E"/>
                </a:solidFill>
                <a:latin typeface="Amiri" pitchFamily="2" charset="-78"/>
                <a:cs typeface="Amiri" pitchFamily="2" charset="-78"/>
              </a:rPr>
              <a:t>كَيْفَ أَذْهَبُ إِلَى</a:t>
            </a:r>
            <a:pPr algn="l" indent="0" marL="0">
              <a:buNone/>
            </a:pPr>
            <a:r>
              <a:rPr lang="en-US" sz="1050" i="1" dirty="0">
                <a:solidFill>
                  <a:srgbClr val="8A6D1E"/>
                </a:solidFill>
                <a:latin typeface="Calibri" pitchFamily="34" charset="0"/>
                <a:cs typeface="Amiri" pitchFamily="2" charset="-78"/>
              </a:rPr>
              <a:t>...</a:t>
            </a:r>
            <a:pPr algn="l" indent="0" marL="0">
              <a:buNone/>
            </a:pPr>
            <a:r>
              <a:rPr lang="ar-SA" altLang="en-US" sz="1350" dirty="0">
                <a:solidFill>
                  <a:srgbClr val="8A6D1E"/>
                </a:solidFill>
                <a:latin typeface="Amiri" pitchFamily="2" charset="-78"/>
                <a:cs typeface="Amiri" pitchFamily="2" charset="-78"/>
              </a:rPr>
              <a:t>؟</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44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F6-L08 · Giving Directions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Watch me direct Maryam to the museum</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F6-L08</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1 · Start</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2" charset="-78"/>
                <a:cs typeface="Amiri" pitchFamily="2" charset="-78"/>
              </a:rPr>
              <a:t>يَا مَرْيَمُ، اُخْرُجِي مِنَ المَحَطَّةِ مِنَ المَخْرَجِ الرَّئِيسِيِّ.</a:t>
            </a:r>
            <a:endParaRPr lang="ar-SA" sz="175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 girl → -ī.</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2 · Straight + turn</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2" charset="-78"/>
                <a:cs typeface="Amiri" pitchFamily="2" charset="-78"/>
              </a:rPr>
              <a:t>اِذْهَبِ</a:t>
            </a:r>
            <a:pPr rtl="1" algn="ctr" indent="0" marL="0">
              <a:lnSpc>
                <a:spcPct val="120000"/>
              </a:lnSpc>
              <a:buNone/>
            </a:pPr>
            <a:r>
              <a:rPr lang="ar-SA" altLang="en-US" sz="1750" b="1" dirty="0">
                <a:solidFill>
                  <a:srgbClr val="D6336C"/>
                </a:solidFill>
                <a:latin typeface="Amiri" pitchFamily="2" charset="-78"/>
                <a:cs typeface="Amiri" pitchFamily="2" charset="-78"/>
              </a:rPr>
              <a:t>ي</a:t>
            </a:r>
            <a:pPr rtl="1" algn="ctr" indent="0" marL="0">
              <a:lnSpc>
                <a:spcPct val="120000"/>
              </a:lnSpc>
              <a:buNone/>
            </a:pPr>
            <a:r>
              <a:rPr lang="ar-SA" altLang="en-US" sz="1750" b="1" dirty="0">
                <a:solidFill>
                  <a:srgbClr val="1B3B6F"/>
                </a:solidFill>
                <a:latin typeface="Amiri" pitchFamily="2" charset="-78"/>
                <a:cs typeface="Amiri" pitchFamily="2" charset="-78"/>
              </a:rPr>
              <a:t> مُسْتَقِيمًا حَتَّى إِشَارَةِ المَرُورِ، </a:t>
            </a:r>
            <a:pPr rtl="1" algn="ctr" indent="0" marL="0">
              <a:lnSpc>
                <a:spcPct val="120000"/>
              </a:lnSpc>
              <a:buNone/>
            </a:pPr>
            <a:r>
              <a:rPr lang="ar-SA" altLang="en-US" sz="1750" b="1" dirty="0">
                <a:solidFill>
                  <a:srgbClr val="0E7C86"/>
                </a:solidFill>
                <a:latin typeface="Amiri" pitchFamily="2" charset="-78"/>
                <a:cs typeface="Amiri" pitchFamily="2" charset="-78"/>
              </a:rPr>
              <a:t>ثُمَّ</a:t>
            </a:r>
            <a:pPr rtl="1" algn="ctr" indent="0" marL="0">
              <a:lnSpc>
                <a:spcPct val="120000"/>
              </a:lnSpc>
              <a:buNone/>
            </a:pPr>
            <a:r>
              <a:rPr lang="ar-SA" altLang="en-US" sz="1750" b="1" dirty="0">
                <a:solidFill>
                  <a:srgbClr val="1B3B6F"/>
                </a:solidFill>
                <a:latin typeface="Amiri" pitchFamily="2" charset="-78"/>
                <a:cs typeface="Amiri" pitchFamily="2" charset="-78"/>
              </a:rPr>
              <a:t> اِنْعَطِفِ</a:t>
            </a:r>
            <a:pPr rtl="1" algn="ctr" indent="0" marL="0">
              <a:lnSpc>
                <a:spcPct val="120000"/>
              </a:lnSpc>
              <a:buNone/>
            </a:pPr>
            <a:r>
              <a:rPr lang="ar-SA" altLang="en-US" sz="1750" b="1" dirty="0">
                <a:solidFill>
                  <a:srgbClr val="D6336C"/>
                </a:solidFill>
                <a:latin typeface="Amiri" pitchFamily="2" charset="-78"/>
                <a:cs typeface="Amiri" pitchFamily="2" charset="-78"/>
              </a:rPr>
              <a:t>ي</a:t>
            </a:r>
            <a:pPr rtl="1" algn="ctr" indent="0" marL="0">
              <a:lnSpc>
                <a:spcPct val="120000"/>
              </a:lnSpc>
              <a:buNone/>
            </a:pPr>
            <a:r>
              <a:rPr lang="ar-SA" altLang="en-US" sz="1750" b="1" dirty="0">
                <a:solidFill>
                  <a:srgbClr val="1B3B6F"/>
                </a:solidFill>
                <a:latin typeface="Amiri" pitchFamily="2" charset="-78"/>
                <a:cs typeface="Amiri" pitchFamily="2" charset="-78"/>
              </a:rPr>
              <a:t> يَمِينًا.</a:t>
            </a:r>
            <a:endParaRPr lang="ar-SA" sz="175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Landmark, then turn.</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3 · Cross + take</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00" b="1" dirty="0">
                <a:solidFill>
                  <a:srgbClr val="0E7C86"/>
                </a:solidFill>
                <a:latin typeface="Amiri" pitchFamily="2" charset="-78"/>
                <a:cs typeface="Amiri" pitchFamily="2" charset="-78"/>
              </a:rPr>
              <a:t>بَعْدَ ذَلِكَ</a:t>
            </a:r>
            <a:pPr rtl="1" algn="ctr" indent="0" marL="0">
              <a:lnSpc>
                <a:spcPct val="120000"/>
              </a:lnSpc>
              <a:buNone/>
            </a:pPr>
            <a:r>
              <a:rPr lang="ar-SA" altLang="en-US" sz="1700" b="1" dirty="0">
                <a:solidFill>
                  <a:srgbClr val="1B3B6F"/>
                </a:solidFill>
                <a:latin typeface="Amiri" pitchFamily="2" charset="-78"/>
                <a:cs typeface="Amiri" pitchFamily="2" charset="-78"/>
              </a:rPr>
              <a:t>، اِعْبُرِ</a:t>
            </a:r>
            <a:pPr rtl="1" algn="ctr" indent="0" marL="0">
              <a:lnSpc>
                <a:spcPct val="120000"/>
              </a:lnSpc>
              <a:buNone/>
            </a:pPr>
            <a:r>
              <a:rPr lang="ar-SA" altLang="en-US" sz="1700" b="1" dirty="0">
                <a:solidFill>
                  <a:srgbClr val="D6336C"/>
                </a:solidFill>
                <a:latin typeface="Amiri" pitchFamily="2" charset="-78"/>
                <a:cs typeface="Amiri" pitchFamily="2" charset="-78"/>
              </a:rPr>
              <a:t>ي</a:t>
            </a:r>
            <a:pPr rtl="1" algn="ctr" indent="0" marL="0">
              <a:lnSpc>
                <a:spcPct val="120000"/>
              </a:lnSpc>
              <a:buNone/>
            </a:pPr>
            <a:r>
              <a:rPr lang="ar-SA" altLang="en-US" sz="1700" b="1" dirty="0">
                <a:solidFill>
                  <a:srgbClr val="1B3B6F"/>
                </a:solidFill>
                <a:latin typeface="Amiri" pitchFamily="2" charset="-78"/>
                <a:cs typeface="Amiri" pitchFamily="2" charset="-78"/>
              </a:rPr>
              <a:t> مَمَرَّ المُشَاةِ وَخُذِ</a:t>
            </a:r>
            <a:pPr rtl="1" algn="ctr" indent="0" marL="0">
              <a:lnSpc>
                <a:spcPct val="120000"/>
              </a:lnSpc>
              <a:buNone/>
            </a:pPr>
            <a:r>
              <a:rPr lang="ar-SA" altLang="en-US" sz="1700" b="1" dirty="0">
                <a:solidFill>
                  <a:srgbClr val="D6336C"/>
                </a:solidFill>
                <a:latin typeface="Amiri" pitchFamily="2" charset="-78"/>
                <a:cs typeface="Amiri" pitchFamily="2" charset="-78"/>
              </a:rPr>
              <a:t>ي</a:t>
            </a:r>
            <a:pPr rtl="1" algn="ctr" indent="0" marL="0">
              <a:lnSpc>
                <a:spcPct val="120000"/>
              </a:lnSpc>
              <a:buNone/>
            </a:pPr>
            <a:r>
              <a:rPr lang="ar-SA" altLang="en-US" sz="1700" b="1" dirty="0">
                <a:solidFill>
                  <a:srgbClr val="1B3B6F"/>
                </a:solidFill>
                <a:latin typeface="Amiri" pitchFamily="2" charset="-78"/>
                <a:cs typeface="Amiri" pitchFamily="2" charset="-78"/>
              </a:rPr>
              <a:t> الشَّارِعَ الأَوَّلَ عَلَى يَسَارِكِ.</a:t>
            </a:r>
            <a:endParaRPr lang="ar-SA" sz="17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Two more steps.</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4 · End</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00" b="1" dirty="0">
                <a:solidFill>
                  <a:srgbClr val="1B3B6F"/>
                </a:solidFill>
                <a:latin typeface="Amiri" pitchFamily="2" charset="-78"/>
                <a:cs typeface="Amiri" pitchFamily="2" charset="-78"/>
              </a:rPr>
              <a:t>المَتْحَفُ مُقَابِلَ الحَدِيقَةِ. تَسْتَغْرِقُ الطَّرِيقُ خَمْسَ عَشْرَةَ دَقِيقَةً.</a:t>
            </a:r>
            <a:endParaRPr lang="ar-SA" sz="17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Location + time.</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D6336C"/>
          </a:solidFill>
          <a:ln w="12700">
            <a:solidFill>
              <a:srgbClr val="D6336C"/>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TO A GIRL</a:t>
            </a:r>
            <a:endParaRPr lang="en-US" sz="800" dirty="0"/>
          </a:p>
        </p:txBody>
      </p:sp>
      <p:sp>
        <p:nvSpPr>
          <p:cNvPr id="47" name="Shape 43"/>
          <p:cNvSpPr/>
          <p:nvPr/>
        </p:nvSpPr>
        <p:spPr>
          <a:xfrm>
            <a:off x="10515600" y="4736592"/>
            <a:ext cx="914400" cy="237744"/>
          </a:xfrm>
          <a:prstGeom prst="roundRect">
            <a:avLst>
              <a:gd name="adj" fmla="val 50000"/>
            </a:avLst>
          </a:prstGeom>
          <a:solidFill>
            <a:srgbClr val="0E7C86"/>
          </a:solidFill>
          <a:ln w="12700">
            <a:solidFill>
              <a:srgbClr val="0E7C86"/>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SEQUENCE</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B3B6F"/>
                </a:solidFill>
                <a:latin typeface="Amiri" pitchFamily="2" charset="-78"/>
                <a:cs typeface="Amiri" pitchFamily="2" charset="-78"/>
              </a:rPr>
              <a:t>يَا مَرْيَمُ، اُخْرُجِي مِنَ المَحَطَّةِ مِنَ المَخْرَجِ الرَّئِيسِيِّ. اِذْهَبِي مُسْتَقِيمًا حَتَّى إِشَارَةِ المَرُورِ، </a:t>
            </a:r>
            <a:pPr rtl="1" algn="r" indent="0" marL="0">
              <a:lnSpc>
                <a:spcPct val="120000"/>
              </a:lnSpc>
              <a:buNone/>
            </a:pPr>
            <a:r>
              <a:rPr lang="ar-SA" altLang="en-US" sz="1400" b="1" dirty="0">
                <a:solidFill>
                  <a:srgbClr val="0E7C86"/>
                </a:solidFill>
                <a:latin typeface="Amiri" pitchFamily="2" charset="-78"/>
                <a:cs typeface="Amiri" pitchFamily="2" charset="-78"/>
              </a:rPr>
              <a:t>ثُمَّ</a:t>
            </a:r>
            <a:pPr rtl="1" algn="r" indent="0" marL="0">
              <a:lnSpc>
                <a:spcPct val="120000"/>
              </a:lnSpc>
              <a:buNone/>
            </a:pPr>
            <a:r>
              <a:rPr lang="ar-SA" altLang="en-US" sz="1400" b="1" dirty="0">
                <a:solidFill>
                  <a:srgbClr val="1B3B6F"/>
                </a:solidFill>
                <a:latin typeface="Amiri" pitchFamily="2" charset="-78"/>
                <a:cs typeface="Amiri" pitchFamily="2" charset="-78"/>
              </a:rPr>
              <a:t> اِنْعَطِفِي يَمِينًا. </a:t>
            </a:r>
            <a:pPr rtl="1" algn="r" indent="0" marL="0">
              <a:lnSpc>
                <a:spcPct val="120000"/>
              </a:lnSpc>
              <a:buNone/>
            </a:pPr>
            <a:r>
              <a:rPr lang="ar-SA" altLang="en-US" sz="1400" b="1" dirty="0">
                <a:solidFill>
                  <a:srgbClr val="0E7C86"/>
                </a:solidFill>
                <a:latin typeface="Amiri" pitchFamily="2" charset="-78"/>
                <a:cs typeface="Amiri" pitchFamily="2" charset="-78"/>
              </a:rPr>
              <a:t>بَعْدَ ذَلِكَ</a:t>
            </a:r>
            <a:pPr rtl="1" algn="r" indent="0" marL="0">
              <a:lnSpc>
                <a:spcPct val="120000"/>
              </a:lnSpc>
              <a:buNone/>
            </a:pPr>
            <a:r>
              <a:rPr lang="ar-SA" altLang="en-US" sz="1400" b="1" dirty="0">
                <a:solidFill>
                  <a:srgbClr val="1B3B6F"/>
                </a:solidFill>
                <a:latin typeface="Amiri" pitchFamily="2" charset="-78"/>
                <a:cs typeface="Amiri" pitchFamily="2" charset="-78"/>
              </a:rPr>
              <a:t>، اِعْبُرِي مَمَرَّ المُشَاةِ وَخُذِي الشَّارِعَ الأَوَّلَ عَلَى يَسَارِكِ. سَتَرَيْنَ لَافِتَةَ «مَدْخَلُ المَتْحَفِ». المَتْحَفُ مُقَابِلَ الحَدِيقَةِ. تَسْتَغْرِقُ الطَّرِيقُ حَوَالَيْ خَمْسَ عَشْرَةَ دَقِيقَةً مَشْيًا.</a:t>
            </a:r>
            <a:endParaRPr lang="ar-SA" sz="140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Maryam, leave the station by the main exit. Go straight until the traffic lights, then turn right. After that, cross the pedestrian crossing and take the first street on your left. You will see a sign “Museum entrance”. The museum is opposite the park. The route takes about fifteen minutes on foot.</a:t>
            </a:r>
            <a:endParaRPr lang="en-US" sz="110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44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F6-L08 · Giving Directions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F6-L08</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اِذْهَبْ مُسْتَقِيمًا.</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Go straight (to one male).</a:t>
            </a:r>
            <a:endParaRPr lang="en-US" sz="1250" dirty="0"/>
          </a:p>
          <a:p>
            <a:pPr indent="0" marL="0">
              <a:buNone/>
            </a:pPr>
            <a:r>
              <a:rPr lang="en-US" sz="1050" i="1" dirty="0">
                <a:solidFill>
                  <a:srgbClr val="8A6D1E"/>
                </a:solidFill>
                <a:latin typeface="Calibri" pitchFamily="34" charset="0"/>
                <a:cs typeface="Amiri" pitchFamily="2" charset="-78"/>
              </a:rPr>
              <a:t>Masculine singular command.</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اِنْعَطِفِي يَسَارًا.</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Turn left (to one female).</a:t>
            </a:r>
            <a:endParaRPr lang="en-US" sz="1250" dirty="0"/>
          </a:p>
          <a:p>
            <a:pPr indent="0" marL="0">
              <a:buNone/>
            </a:pPr>
            <a:r>
              <a:rPr lang="en-US" sz="1050" i="1" dirty="0">
                <a:solidFill>
                  <a:srgbClr val="8A6D1E"/>
                </a:solidFill>
                <a:latin typeface="Calibri" pitchFamily="34" charset="0"/>
                <a:cs typeface="Amiri" pitchFamily="2" charset="-78"/>
              </a:rPr>
              <a:t>Feminine command ends ـي.</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اِعْبُرُوا الجِسْرَ.</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Cross the bridge (to a group).</a:t>
            </a:r>
            <a:endParaRPr lang="en-US" sz="1250" dirty="0"/>
          </a:p>
          <a:p>
            <a:pPr indent="0" marL="0">
              <a:buNone/>
            </a:pPr>
            <a:r>
              <a:rPr lang="en-US" sz="1050" i="1" dirty="0">
                <a:solidFill>
                  <a:srgbClr val="8A6D1E"/>
                </a:solidFill>
                <a:latin typeface="Calibri" pitchFamily="34" charset="0"/>
                <a:cs typeface="Amiri" pitchFamily="2" charset="-78"/>
              </a:rPr>
              <a:t>Plural command ends ـوا.</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ثُمَّ خُذْ الشَّارِعَ الثَّانِيَ.</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Then take the second street.</a:t>
            </a:r>
            <a:endParaRPr lang="en-US" sz="1250" dirty="0"/>
          </a:p>
          <a:p>
            <a:pPr indent="0" marL="0">
              <a:buNone/>
            </a:pPr>
            <a:r>
              <a:rPr lang="en-US" sz="1050" i="1" dirty="0">
                <a:solidFill>
                  <a:srgbClr val="8A6D1E"/>
                </a:solidFill>
                <a:latin typeface="Calibri" pitchFamily="34" charset="0"/>
                <a:cs typeface="Amiri" pitchFamily="2" charset="-78"/>
              </a:rPr>
              <a:t>Use sequence language and an ordinal.</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44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F6-L08 · Giving Directions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2F6FB0"/>
                </a:solidFill>
                <a:latin typeface="Calibri" pitchFamily="34" charset="0"/>
                <a:cs typeface="Amiri" pitchFamily="2" charset="-78"/>
              </a:rPr>
              <a:t>WE DO · PICTURE MATCH · WEBSITE GAME “VISUAL GAME — GIVING DIRECTIONS: SIGNS, STREETS AND MAPS”</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Directions: match the picture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اِتَّبِعِ الطَّرِيقَ</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F6-L08</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940612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9589008" y="2249424"/>
            <a:ext cx="649224" cy="649224"/>
          </a:xfrm>
          <a:prstGeom prst="rect">
            <a:avLst/>
          </a:prstGeom>
        </p:spPr>
      </p:pic>
      <p:sp>
        <p:nvSpPr>
          <p:cNvPr id="20" name="Text 16"/>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straight</a:t>
            </a:r>
            <a:endParaRPr lang="en-US" sz="1100" dirty="0"/>
          </a:p>
        </p:txBody>
      </p:sp>
      <p:sp>
        <p:nvSpPr>
          <p:cNvPr id="21" name="Shape 17"/>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Shape 18"/>
          <p:cNvSpPr/>
          <p:nvPr/>
        </p:nvSpPr>
        <p:spPr>
          <a:xfrm>
            <a:off x="4404360" y="1938528"/>
            <a:ext cx="365760" cy="365760"/>
          </a:xfrm>
          <a:prstGeom prst="ellipse">
            <a:avLst/>
          </a:prstGeom>
          <a:solidFill>
            <a:srgbClr val="1B3B6F"/>
          </a:solidFill>
          <a:ln w="12700">
            <a:solidFill>
              <a:srgbClr val="1B3B6F"/>
            </a:solidFill>
            <a:prstDash val="solid"/>
          </a:ln>
        </p:spPr>
      </p:sp>
      <p:sp>
        <p:nvSpPr>
          <p:cNvPr id="23" name="Text 19"/>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4" name="Shape 20"/>
          <p:cNvSpPr/>
          <p:nvPr/>
        </p:nvSpPr>
        <p:spPr>
          <a:xfrm>
            <a:off x="5586984" y="2066544"/>
            <a:ext cx="1014984" cy="1014984"/>
          </a:xfrm>
          <a:prstGeom prst="ellipse">
            <a:avLst/>
          </a:prstGeom>
          <a:solidFill>
            <a:srgbClr val="F4F1EA"/>
          </a:solidFill>
          <a:ln w="12700">
            <a:solidFill>
              <a:srgbClr val="F4F1EA"/>
            </a:solidFill>
            <a:prstDash val="solid"/>
          </a:ln>
        </p:spPr>
      </p:sp>
      <p:pic>
        <p:nvPicPr>
          <p:cNvPr id="25" name="Image 1" descr="preencoded.png">    </p:cNvPr>
          <p:cNvPicPr>
            <a:picLocks noChangeAspect="1"/>
          </p:cNvPicPr>
          <p:nvPr/>
        </p:nvPicPr>
        <p:blipFill>
          <a:blip r:embed="rId2"/>
          <a:stretch>
            <a:fillRect/>
          </a:stretch>
        </p:blipFill>
        <p:spPr>
          <a:xfrm>
            <a:off x="5769864" y="2249424"/>
            <a:ext cx="649224" cy="649224"/>
          </a:xfrm>
          <a:prstGeom prst="rect">
            <a:avLst/>
          </a:prstGeom>
        </p:spPr>
      </p:pic>
      <p:sp>
        <p:nvSpPr>
          <p:cNvPr id="26" name="Text 21"/>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right</a:t>
            </a:r>
            <a:endParaRPr lang="en-US" sz="1100" dirty="0"/>
          </a:p>
        </p:txBody>
      </p:sp>
      <p:sp>
        <p:nvSpPr>
          <p:cNvPr id="27" name="Shape 22"/>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3"/>
          <p:cNvSpPr/>
          <p:nvPr/>
        </p:nvSpPr>
        <p:spPr>
          <a:xfrm>
            <a:off x="585216" y="1938528"/>
            <a:ext cx="365760" cy="365760"/>
          </a:xfrm>
          <a:prstGeom prst="ellipse">
            <a:avLst/>
          </a:prstGeom>
          <a:solidFill>
            <a:srgbClr val="1B3B6F"/>
          </a:solidFill>
          <a:ln w="12700">
            <a:solidFill>
              <a:srgbClr val="1B3B6F"/>
            </a:solidFill>
            <a:prstDash val="solid"/>
          </a:ln>
        </p:spPr>
      </p:sp>
      <p:sp>
        <p:nvSpPr>
          <p:cNvPr id="29" name="Text 24"/>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0" name="Shape 25"/>
          <p:cNvSpPr/>
          <p:nvPr/>
        </p:nvSpPr>
        <p:spPr>
          <a:xfrm>
            <a:off x="1767840" y="2066544"/>
            <a:ext cx="1014984" cy="1014984"/>
          </a:xfrm>
          <a:prstGeom prst="ellipse">
            <a:avLst/>
          </a:prstGeom>
          <a:solidFill>
            <a:srgbClr val="F4F1EA"/>
          </a:solidFill>
          <a:ln w="12700">
            <a:solidFill>
              <a:srgbClr val="F4F1EA"/>
            </a:solidFill>
            <a:prstDash val="solid"/>
          </a:ln>
        </p:spPr>
      </p:sp>
      <p:pic>
        <p:nvPicPr>
          <p:cNvPr id="31" name="Image 2" descr="preencoded.png">    </p:cNvPr>
          <p:cNvPicPr>
            <a:picLocks noChangeAspect="1"/>
          </p:cNvPicPr>
          <p:nvPr/>
        </p:nvPicPr>
        <p:blipFill>
          <a:blip r:embed="rId3"/>
          <a:stretch>
            <a:fillRect/>
          </a:stretch>
        </p:blipFill>
        <p:spPr>
          <a:xfrm>
            <a:off x="1950720" y="2249424"/>
            <a:ext cx="649224" cy="649224"/>
          </a:xfrm>
          <a:prstGeom prst="rect">
            <a:avLst/>
          </a:prstGeom>
        </p:spPr>
      </p:pic>
      <p:sp>
        <p:nvSpPr>
          <p:cNvPr id="32" name="Text 26"/>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left</a:t>
            </a:r>
            <a:endParaRPr lang="en-US" sz="1100" dirty="0"/>
          </a:p>
        </p:txBody>
      </p:sp>
      <p:sp>
        <p:nvSpPr>
          <p:cNvPr id="33" name="Shape 27"/>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34" name="Shape 28"/>
          <p:cNvSpPr/>
          <p:nvPr/>
        </p:nvSpPr>
        <p:spPr>
          <a:xfrm>
            <a:off x="11247120" y="3831336"/>
            <a:ext cx="292608" cy="292608"/>
          </a:xfrm>
          <a:prstGeom prst="ellipse">
            <a:avLst/>
          </a:prstGeom>
          <a:solidFill>
            <a:srgbClr val="2F6FB0"/>
          </a:solidFill>
          <a:ln w="12700">
            <a:solidFill>
              <a:srgbClr val="2F6FB0"/>
            </a:solidFill>
            <a:prstDash val="solid"/>
          </a:ln>
        </p:spPr>
      </p:sp>
      <p:sp>
        <p:nvSpPr>
          <p:cNvPr id="35" name="Text 29"/>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36" name="Text 30"/>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اِنْعَطِفْ يَمِينًا.</a:t>
            </a:r>
            <a:endParaRPr lang="ar-SA" sz="2000" dirty="0"/>
          </a:p>
        </p:txBody>
      </p:sp>
      <p:sp>
        <p:nvSpPr>
          <p:cNvPr id="37" name="Shape 31"/>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38" name="Shape 32"/>
          <p:cNvSpPr/>
          <p:nvPr/>
        </p:nvSpPr>
        <p:spPr>
          <a:xfrm>
            <a:off x="11247120" y="4398264"/>
            <a:ext cx="292608" cy="292608"/>
          </a:xfrm>
          <a:prstGeom prst="ellipse">
            <a:avLst/>
          </a:prstGeom>
          <a:solidFill>
            <a:srgbClr val="2F6FB0"/>
          </a:solidFill>
          <a:ln w="12700">
            <a:solidFill>
              <a:srgbClr val="2F6FB0"/>
            </a:solidFill>
            <a:prstDash val="solid"/>
          </a:ln>
        </p:spPr>
      </p:sp>
      <p:sp>
        <p:nvSpPr>
          <p:cNvPr id="39" name="Text 33"/>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40" name="Text 34"/>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اِنْعَطِفْ يَسَارًا.</a:t>
            </a:r>
            <a:endParaRPr lang="ar-SA" sz="2000" dirty="0"/>
          </a:p>
        </p:txBody>
      </p:sp>
      <p:sp>
        <p:nvSpPr>
          <p:cNvPr id="41" name="Shape 35"/>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2" name="Shape 36"/>
          <p:cNvSpPr/>
          <p:nvPr/>
        </p:nvSpPr>
        <p:spPr>
          <a:xfrm>
            <a:off x="11247120" y="4965192"/>
            <a:ext cx="292608" cy="292608"/>
          </a:xfrm>
          <a:prstGeom prst="ellipse">
            <a:avLst/>
          </a:prstGeom>
          <a:solidFill>
            <a:srgbClr val="2F6FB0"/>
          </a:solidFill>
          <a:ln w="12700">
            <a:solidFill>
              <a:srgbClr val="2F6FB0"/>
            </a:solidFill>
            <a:prstDash val="solid"/>
          </a:ln>
        </p:spPr>
      </p:sp>
      <p:sp>
        <p:nvSpPr>
          <p:cNvPr id="43" name="Text 37"/>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C</a:t>
            </a:r>
            <a:endParaRPr lang="en-US" sz="1000" dirty="0"/>
          </a:p>
        </p:txBody>
      </p:sp>
      <p:sp>
        <p:nvSpPr>
          <p:cNvPr id="44" name="Text 38"/>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اِذْهَبْ مُسْتَقِيمًا.</a:t>
            </a:r>
            <a:endParaRPr lang="ar-SA" sz="2000" dirty="0"/>
          </a:p>
        </p:txBody>
      </p:sp>
      <p:sp>
        <p:nvSpPr>
          <p:cNvPr id="45" name="Text 39"/>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cs typeface="Amiri" pitchFamily="2" charset="-78"/>
              </a:rPr>
              <a:t>Match each picture to a sentence. Type in the chat: 1_  2_  3_</a:t>
            </a:r>
            <a:endParaRPr lang="en-US" sz="1250" dirty="0"/>
          </a:p>
        </p:txBody>
      </p:sp>
      <p:sp>
        <p:nvSpPr>
          <p:cNvPr id="46" name="Text 40"/>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Core: find ONE key word you know in each sentence first.</a:t>
            </a:r>
            <a:endParaRPr lang="en-US" sz="1150" dirty="0"/>
          </a:p>
        </p:txBody>
      </p:sp>
      <p:sp>
        <p:nvSpPr>
          <p:cNvPr id="47"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44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F6-L08 · Giving Directions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اِتَّبِعِ الطَّرِيقَ</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F6-L08</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940612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9589008" y="2249424"/>
            <a:ext cx="649224" cy="649224"/>
          </a:xfrm>
          <a:prstGeom prst="rect">
            <a:avLst/>
          </a:prstGeom>
        </p:spPr>
      </p:pic>
      <p:sp>
        <p:nvSpPr>
          <p:cNvPr id="20" name="Text 16"/>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straight</a:t>
            </a:r>
            <a:endParaRPr lang="en-US" sz="1100" dirty="0"/>
          </a:p>
        </p:txBody>
      </p:sp>
      <p:sp>
        <p:nvSpPr>
          <p:cNvPr id="21" name="Shape 17"/>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Shape 18"/>
          <p:cNvSpPr/>
          <p:nvPr/>
        </p:nvSpPr>
        <p:spPr>
          <a:xfrm>
            <a:off x="11256264" y="3785616"/>
            <a:ext cx="329184" cy="329184"/>
          </a:xfrm>
          <a:prstGeom prst="ellipse">
            <a:avLst/>
          </a:prstGeom>
          <a:solidFill>
            <a:srgbClr val="2E8B57"/>
          </a:solidFill>
          <a:ln w="12700">
            <a:solidFill>
              <a:srgbClr val="2E8B57"/>
            </a:solidFill>
            <a:prstDash val="solid"/>
          </a:ln>
        </p:spPr>
      </p:sp>
      <p:sp>
        <p:nvSpPr>
          <p:cNvPr id="23" name="Text 19"/>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a:t>
            </a:r>
            <a:endParaRPr lang="en-US" sz="1100" dirty="0"/>
          </a:p>
        </p:txBody>
      </p:sp>
      <p:sp>
        <p:nvSpPr>
          <p:cNvPr id="24" name="Text 20"/>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اِذْهَبْ مُسْتَقِيمًا.</a:t>
            </a:r>
            <a:endParaRPr lang="ar-SA" sz="2200" dirty="0"/>
          </a:p>
        </p:txBody>
      </p:sp>
      <p:sp>
        <p:nvSpPr>
          <p:cNvPr id="25" name="Text 21"/>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Go straight ahead.</a:t>
            </a:r>
            <a:endParaRPr lang="en-US" sz="1200" dirty="0"/>
          </a:p>
        </p:txBody>
      </p:sp>
      <p:sp>
        <p:nvSpPr>
          <p:cNvPr id="26" name="Shape 22"/>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7" name="Shape 23"/>
          <p:cNvSpPr/>
          <p:nvPr/>
        </p:nvSpPr>
        <p:spPr>
          <a:xfrm>
            <a:off x="4404360" y="1938528"/>
            <a:ext cx="365760" cy="365760"/>
          </a:xfrm>
          <a:prstGeom prst="ellipse">
            <a:avLst/>
          </a:prstGeom>
          <a:solidFill>
            <a:srgbClr val="1B3B6F"/>
          </a:solidFill>
          <a:ln w="12700">
            <a:solidFill>
              <a:srgbClr val="1B3B6F"/>
            </a:solidFill>
            <a:prstDash val="solid"/>
          </a:ln>
        </p:spPr>
      </p:sp>
      <p:sp>
        <p:nvSpPr>
          <p:cNvPr id="28" name="Text 24"/>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9" name="Shape 25"/>
          <p:cNvSpPr/>
          <p:nvPr/>
        </p:nvSpPr>
        <p:spPr>
          <a:xfrm>
            <a:off x="5586984" y="2066544"/>
            <a:ext cx="1014984" cy="1014984"/>
          </a:xfrm>
          <a:prstGeom prst="ellipse">
            <a:avLst/>
          </a:prstGeom>
          <a:solidFill>
            <a:srgbClr val="F4F1EA"/>
          </a:solidFill>
          <a:ln w="12700">
            <a:solidFill>
              <a:srgbClr val="F4F1EA"/>
            </a:solidFill>
            <a:prstDash val="solid"/>
          </a:ln>
        </p:spPr>
      </p:sp>
      <p:pic>
        <p:nvPicPr>
          <p:cNvPr id="30" name="Image 1" descr="preencoded.png">    </p:cNvPr>
          <p:cNvPicPr>
            <a:picLocks noChangeAspect="1"/>
          </p:cNvPicPr>
          <p:nvPr/>
        </p:nvPicPr>
        <p:blipFill>
          <a:blip r:embed="rId2"/>
          <a:stretch>
            <a:fillRect/>
          </a:stretch>
        </p:blipFill>
        <p:spPr>
          <a:xfrm>
            <a:off x="5769864" y="2249424"/>
            <a:ext cx="649224" cy="649224"/>
          </a:xfrm>
          <a:prstGeom prst="rect">
            <a:avLst/>
          </a:prstGeom>
        </p:spPr>
      </p:pic>
      <p:sp>
        <p:nvSpPr>
          <p:cNvPr id="31" name="Text 26"/>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right</a:t>
            </a:r>
            <a:endParaRPr lang="en-US" sz="1100" dirty="0"/>
          </a:p>
        </p:txBody>
      </p:sp>
      <p:sp>
        <p:nvSpPr>
          <p:cNvPr id="32" name="Shape 27"/>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3" name="Shape 28"/>
          <p:cNvSpPr/>
          <p:nvPr/>
        </p:nvSpPr>
        <p:spPr>
          <a:xfrm>
            <a:off x="7437120" y="3785616"/>
            <a:ext cx="329184" cy="329184"/>
          </a:xfrm>
          <a:prstGeom prst="ellipse">
            <a:avLst/>
          </a:prstGeom>
          <a:solidFill>
            <a:srgbClr val="2E8B57"/>
          </a:solidFill>
          <a:ln w="12700">
            <a:solidFill>
              <a:srgbClr val="2E8B57"/>
            </a:solidFill>
            <a:prstDash val="solid"/>
          </a:ln>
        </p:spPr>
      </p:sp>
      <p:sp>
        <p:nvSpPr>
          <p:cNvPr id="34" name="Text 29"/>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a:t>
            </a:r>
            <a:endParaRPr lang="en-US" sz="1100" dirty="0"/>
          </a:p>
        </p:txBody>
      </p:sp>
      <p:sp>
        <p:nvSpPr>
          <p:cNvPr id="35" name="Text 30"/>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اِنْعَطِفْ يَمِينًا.</a:t>
            </a:r>
            <a:endParaRPr lang="ar-SA" sz="2200" dirty="0"/>
          </a:p>
        </p:txBody>
      </p:sp>
      <p:sp>
        <p:nvSpPr>
          <p:cNvPr id="36" name="Text 31"/>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Turn right.</a:t>
            </a:r>
            <a:endParaRPr lang="en-US" sz="1200" dirty="0"/>
          </a:p>
        </p:txBody>
      </p:sp>
      <p:sp>
        <p:nvSpPr>
          <p:cNvPr id="37" name="Shape 32"/>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3"/>
          <p:cNvSpPr/>
          <p:nvPr/>
        </p:nvSpPr>
        <p:spPr>
          <a:xfrm>
            <a:off x="585216" y="1938528"/>
            <a:ext cx="365760" cy="365760"/>
          </a:xfrm>
          <a:prstGeom prst="ellipse">
            <a:avLst/>
          </a:prstGeom>
          <a:solidFill>
            <a:srgbClr val="1B3B6F"/>
          </a:solidFill>
          <a:ln w="12700">
            <a:solidFill>
              <a:srgbClr val="1B3B6F"/>
            </a:solidFill>
            <a:prstDash val="solid"/>
          </a:ln>
        </p:spPr>
      </p:sp>
      <p:sp>
        <p:nvSpPr>
          <p:cNvPr id="39" name="Text 34"/>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40" name="Shape 35"/>
          <p:cNvSpPr/>
          <p:nvPr/>
        </p:nvSpPr>
        <p:spPr>
          <a:xfrm>
            <a:off x="1767840" y="2066544"/>
            <a:ext cx="1014984" cy="1014984"/>
          </a:xfrm>
          <a:prstGeom prst="ellipse">
            <a:avLst/>
          </a:prstGeom>
          <a:solidFill>
            <a:srgbClr val="F4F1EA"/>
          </a:solidFill>
          <a:ln w="12700">
            <a:solidFill>
              <a:srgbClr val="F4F1EA"/>
            </a:solidFill>
            <a:prstDash val="solid"/>
          </a:ln>
        </p:spPr>
      </p:sp>
      <p:pic>
        <p:nvPicPr>
          <p:cNvPr id="41" name="Image 2" descr="preencoded.png">    </p:cNvPr>
          <p:cNvPicPr>
            <a:picLocks noChangeAspect="1"/>
          </p:cNvPicPr>
          <p:nvPr/>
        </p:nvPicPr>
        <p:blipFill>
          <a:blip r:embed="rId3"/>
          <a:stretch>
            <a:fillRect/>
          </a:stretch>
        </p:blipFill>
        <p:spPr>
          <a:xfrm>
            <a:off x="1950720" y="2249424"/>
            <a:ext cx="649224" cy="649224"/>
          </a:xfrm>
          <a:prstGeom prst="rect">
            <a:avLst/>
          </a:prstGeom>
        </p:spPr>
      </p:pic>
      <p:sp>
        <p:nvSpPr>
          <p:cNvPr id="42" name="Text 36"/>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left</a:t>
            </a:r>
            <a:endParaRPr lang="en-US" sz="1100" dirty="0"/>
          </a:p>
        </p:txBody>
      </p:sp>
      <p:sp>
        <p:nvSpPr>
          <p:cNvPr id="43" name="Shape 37"/>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4" name="Shape 38"/>
          <p:cNvSpPr/>
          <p:nvPr/>
        </p:nvSpPr>
        <p:spPr>
          <a:xfrm>
            <a:off x="3617976" y="3785616"/>
            <a:ext cx="329184" cy="329184"/>
          </a:xfrm>
          <a:prstGeom prst="ellipse">
            <a:avLst/>
          </a:prstGeom>
          <a:solidFill>
            <a:srgbClr val="2E8B57"/>
          </a:solidFill>
          <a:ln w="12700">
            <a:solidFill>
              <a:srgbClr val="2E8B57"/>
            </a:solidFill>
            <a:prstDash val="solid"/>
          </a:ln>
        </p:spPr>
      </p:sp>
      <p:sp>
        <p:nvSpPr>
          <p:cNvPr id="45" name="Text 39"/>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a:t>
            </a:r>
            <a:endParaRPr lang="en-US" sz="1100" dirty="0"/>
          </a:p>
        </p:txBody>
      </p:sp>
      <p:sp>
        <p:nvSpPr>
          <p:cNvPr id="46" name="Text 40"/>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اِنْعَطِفْ يَسَارًا.</a:t>
            </a:r>
            <a:endParaRPr lang="ar-SA" sz="2200" dirty="0"/>
          </a:p>
        </p:txBody>
      </p:sp>
      <p:sp>
        <p:nvSpPr>
          <p:cNvPr id="47" name="Text 41"/>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Turn left.</a:t>
            </a:r>
            <a:endParaRPr lang="en-US" sz="1200" dirty="0"/>
          </a:p>
        </p:txBody>
      </p:sp>
      <p:sp>
        <p:nvSpPr>
          <p:cNvPr id="48"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44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F6-L08 · Giving Directions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Who is being addressed?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F6-L08</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اِذْهَبْ</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اِنْعَطِفْ</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خُذِي</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اِمْشِي</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اِذْهَبُوا</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اِعْبُرُوا</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اِسْتَمِرِّي</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خُذْ</a:t>
            </a:r>
            <a:endParaRPr lang="ar-SA" sz="1800" dirty="0"/>
          </a:p>
        </p:txBody>
      </p:sp>
      <p:sp>
        <p:nvSpPr>
          <p:cNvPr id="31" name="Shape 28"/>
          <p:cNvSpPr/>
          <p:nvPr/>
        </p:nvSpPr>
        <p:spPr>
          <a:xfrm>
            <a:off x="8095488" y="3017520"/>
            <a:ext cx="3636264"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8232648" y="3127248"/>
            <a:ext cx="3361944"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8232648"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وَاحِدٌ مُذَكَّرٌ · one male</a:t>
            </a:r>
            <a:endParaRPr lang="en-US" sz="950" dirty="0"/>
          </a:p>
        </p:txBody>
      </p:sp>
      <p:sp>
        <p:nvSpPr>
          <p:cNvPr id="34" name="Shape 31"/>
          <p:cNvSpPr/>
          <p:nvPr/>
        </p:nvSpPr>
        <p:spPr>
          <a:xfrm>
            <a:off x="4276344" y="3017520"/>
            <a:ext cx="3636264"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4413504" y="3127248"/>
            <a:ext cx="3361944"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4413504"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وَاحِدَةٌ مُؤَنَّثَةٌ · one female</a:t>
            </a:r>
            <a:endParaRPr lang="en-US" sz="950" dirty="0"/>
          </a:p>
        </p:txBody>
      </p:sp>
      <p:sp>
        <p:nvSpPr>
          <p:cNvPr id="37" name="Shape 34"/>
          <p:cNvSpPr/>
          <p:nvPr/>
        </p:nvSpPr>
        <p:spPr>
          <a:xfrm>
            <a:off x="457200" y="3017520"/>
            <a:ext cx="3636264" cy="3291840"/>
          </a:xfrm>
          <a:prstGeom prst="roundRect">
            <a:avLst>
              <a:gd name="adj" fmla="val 2222"/>
            </a:avLst>
          </a:prstGeom>
          <a:solidFill>
            <a:srgbClr val="EEF3FA"/>
          </a:solidFill>
          <a:ln w="9525">
            <a:solidFill>
              <a:srgbClr val="C9D6EA"/>
            </a:solidFill>
            <a:prstDash val="solid"/>
          </a:ln>
        </p:spPr>
      </p:sp>
      <p:sp>
        <p:nvSpPr>
          <p:cNvPr id="38" name="Shape 35"/>
          <p:cNvSpPr/>
          <p:nvPr/>
        </p:nvSpPr>
        <p:spPr>
          <a:xfrm>
            <a:off x="594360" y="3127248"/>
            <a:ext cx="3361944" cy="310896"/>
          </a:xfrm>
          <a:prstGeom prst="roundRect">
            <a:avLst>
              <a:gd name="adj" fmla="val 50000"/>
            </a:avLst>
          </a:prstGeom>
          <a:solidFill>
            <a:srgbClr val="2F6FB0"/>
          </a:solidFill>
          <a:ln w="12700">
            <a:solidFill>
              <a:srgbClr val="2F6FB0"/>
            </a:solidFill>
            <a:prstDash val="solid"/>
          </a:ln>
        </p:spPr>
      </p:sp>
      <p:sp>
        <p:nvSpPr>
          <p:cNvPr id="39" name="Text 36"/>
          <p:cNvSpPr txBox="1"/>
          <p:nvPr/>
        </p:nvSpPr>
        <p:spPr>
          <a:xfrm>
            <a:off x="594360"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جَمْعٌ · group</a:t>
            </a:r>
            <a:endParaRPr lang="en-US" sz="9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44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F6-L08 · Giving Directions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F6-L08</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وَاحِدٌ مُذَكَّرٌ · one male</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اِذْهَبْ</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اِنْعَطِفْ</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خُذْ</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وَاحِدَةٌ مُؤَنَّثَةٌ · one female</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خُذِي</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اِمْشِي</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اِسْتَمِرِّي</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جَمْعٌ · group</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اِذْهَبُوا</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اِعْبُرُوا</a:t>
            </a:r>
            <a:endParaRPr lang="ar-SA" sz="18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44</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F6-L08 · Giving Directions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WEBSITE QUIZ QUESTIONS 5, 6,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F6-L08</a:t>
            </a:r>
            <a:endParaRPr lang="en-US" sz="850" dirty="0"/>
          </a:p>
        </p:txBody>
      </p:sp>
      <p:sp>
        <p:nvSpPr>
          <p:cNvPr id="17" name="Shape 14"/>
          <p:cNvSpPr/>
          <p:nvPr/>
        </p:nvSpPr>
        <p:spPr>
          <a:xfrm>
            <a:off x="457200"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sign means no entry?</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مَدْخَلٌ</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مَخْرَجٌ</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مَمْنُوعُ الدُّخُولِ</a:t>
            </a:r>
            <a:endParaRPr lang="ar-SA" sz="2050" dirty="0"/>
          </a:p>
        </p:txBody>
      </p:sp>
      <p:sp>
        <p:nvSpPr>
          <p:cNvPr id="30" name="Shape 27"/>
          <p:cNvSpPr/>
          <p:nvPr/>
        </p:nvSpPr>
        <p:spPr>
          <a:xfrm>
            <a:off x="4276344"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sequence.</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2" charset="-78"/>
                <a:cs typeface="Amiri" pitchFamily="2" charset="-78"/>
              </a:rPr>
              <a:t>اِذْهَبْ ثُمَّ يَمِينٌ.</a:t>
            </a:r>
            <a:endParaRPr lang="ar-SA" sz="200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2" charset="-78"/>
                <a:cs typeface="Amiri" pitchFamily="2" charset="-78"/>
              </a:rPr>
              <a:t>اِذْهَبْ مُسْتَقِيمًا، ثُمَّ اِنْعَطِفْ يَمِينًا.</a:t>
            </a:r>
            <a:endParaRPr lang="ar-SA" sz="200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2" charset="-78"/>
                <a:cs typeface="Amiri" pitchFamily="2" charset="-78"/>
              </a:rPr>
              <a:t>مُسْتَقِيمًا لِأَنَّ يَمِينًا.</a:t>
            </a:r>
            <a:endParaRPr lang="ar-SA" sz="2000" dirty="0"/>
          </a:p>
        </p:txBody>
      </p:sp>
      <p:sp>
        <p:nvSpPr>
          <p:cNvPr id="43" name="Shape 40"/>
          <p:cNvSpPr/>
          <p:nvPr/>
        </p:nvSpPr>
        <p:spPr>
          <a:xfrm>
            <a:off x="8095488"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means pedestrian crossing?</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دَوَّارٌ</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مَمَرُّ المُشَاةِ</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نَفَقٌ</a:t>
            </a:r>
            <a:endParaRPr lang="ar-SA" sz="205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44</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F6-L08 · Giving Directions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F6-L08</a:t>
            </a:r>
            <a:endParaRPr lang="en-US" sz="850" dirty="0"/>
          </a:p>
        </p:txBody>
      </p:sp>
      <p:sp>
        <p:nvSpPr>
          <p:cNvPr id="17" name="Shape 14"/>
          <p:cNvSpPr/>
          <p:nvPr/>
        </p:nvSpPr>
        <p:spPr>
          <a:xfrm>
            <a:off x="457200"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sign means no entry?</a:t>
            </a:r>
            <a:endParaRPr lang="en-US" sz="1250" dirty="0"/>
          </a:p>
        </p:txBody>
      </p:sp>
      <p:sp>
        <p:nvSpPr>
          <p:cNvPr id="21" name="Shape 18"/>
          <p:cNvSpPr/>
          <p:nvPr/>
        </p:nvSpPr>
        <p:spPr>
          <a:xfrm>
            <a:off x="640080" y="2532888"/>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مَدْخَلٌ</a:t>
            </a:r>
            <a:endParaRPr lang="ar-SA" sz="2050" dirty="0"/>
          </a:p>
        </p:txBody>
      </p:sp>
      <p:sp>
        <p:nvSpPr>
          <p:cNvPr id="24" name="Shape 21"/>
          <p:cNvSpPr/>
          <p:nvPr/>
        </p:nvSpPr>
        <p:spPr>
          <a:xfrm>
            <a:off x="640080" y="2990088"/>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مَخْرَجٌ</a:t>
            </a:r>
            <a:endParaRPr lang="ar-SA" sz="2050" dirty="0"/>
          </a:p>
        </p:txBody>
      </p:sp>
      <p:sp>
        <p:nvSpPr>
          <p:cNvPr id="27" name="Shape 24"/>
          <p:cNvSpPr/>
          <p:nvPr/>
        </p:nvSpPr>
        <p:spPr>
          <a:xfrm>
            <a:off x="548640" y="3410712"/>
            <a:ext cx="3453384"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44728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مَمْنُوعُ الدُّخُولِ</a:t>
            </a:r>
            <a:endParaRPr lang="ar-SA" sz="2050" dirty="0"/>
          </a:p>
        </p:txBody>
      </p:sp>
      <p:sp>
        <p:nvSpPr>
          <p:cNvPr id="31" name="Text 28"/>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مَمْنُوعُ الدُّخُولِ</a:t>
            </a:r>
            <a:pPr algn="l" indent="0" marL="0">
              <a:buNone/>
            </a:pPr>
            <a:r>
              <a:rPr lang="en-US" sz="1050" i="1" dirty="0">
                <a:solidFill>
                  <a:srgbClr val="8A6D1E"/>
                </a:solidFill>
                <a:latin typeface="Calibri" pitchFamily="34" charset="0"/>
                <a:cs typeface="Amiri" pitchFamily="2" charset="-78"/>
              </a:rPr>
              <a:t> means no entry.</a:t>
            </a:r>
            <a:endParaRPr lang="en-US" sz="1050" dirty="0"/>
          </a:p>
        </p:txBody>
      </p:sp>
      <p:sp>
        <p:nvSpPr>
          <p:cNvPr id="32" name="Shape 29"/>
          <p:cNvSpPr/>
          <p:nvPr/>
        </p:nvSpPr>
        <p:spPr>
          <a:xfrm>
            <a:off x="4276344"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sequence.</a:t>
            </a:r>
            <a:endParaRPr lang="en-US" sz="1250" dirty="0"/>
          </a:p>
        </p:txBody>
      </p:sp>
      <p:sp>
        <p:nvSpPr>
          <p:cNvPr id="36" name="Shape 33"/>
          <p:cNvSpPr/>
          <p:nvPr/>
        </p:nvSpPr>
        <p:spPr>
          <a:xfrm>
            <a:off x="4459224" y="2532888"/>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00" dirty="0">
                <a:solidFill>
                  <a:srgbClr val="9AA1AB"/>
                </a:solidFill>
                <a:latin typeface="Amiri" pitchFamily="2" charset="-78"/>
                <a:cs typeface="Amiri" pitchFamily="2" charset="-78"/>
              </a:rPr>
              <a:t>اِذْهَبْ ثُمَّ يَمِينٌ.</a:t>
            </a:r>
            <a:endParaRPr lang="ar-SA" sz="2000" dirty="0"/>
          </a:p>
        </p:txBody>
      </p:sp>
      <p:sp>
        <p:nvSpPr>
          <p:cNvPr id="39" name="Shape 36"/>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4459224" y="2990088"/>
            <a:ext cx="256032" cy="256032"/>
          </a:xfrm>
          <a:prstGeom prst="ellipse">
            <a:avLst/>
          </a:prstGeom>
          <a:solidFill>
            <a:srgbClr val="2E8B57"/>
          </a:solidFill>
          <a:ln w="12700">
            <a:solidFill>
              <a:srgbClr val="2E8B57"/>
            </a:solidFill>
            <a:prstDash val="solid"/>
          </a:ln>
        </p:spPr>
      </p:sp>
      <p:sp>
        <p:nvSpPr>
          <p:cNvPr id="41" name="Text 38"/>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اِذْهَبْ مُسْتَقِيمًا، ثُمَّ اِنْعَطِفْ يَمِينًا.</a:t>
            </a:r>
            <a:endParaRPr lang="ar-SA" sz="2000" dirty="0"/>
          </a:p>
        </p:txBody>
      </p:sp>
      <p:sp>
        <p:nvSpPr>
          <p:cNvPr id="43" name="Shape 40"/>
          <p:cNvSpPr/>
          <p:nvPr/>
        </p:nvSpPr>
        <p:spPr>
          <a:xfrm>
            <a:off x="4459224" y="344728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00" dirty="0">
                <a:solidFill>
                  <a:srgbClr val="9AA1AB"/>
                </a:solidFill>
                <a:latin typeface="Amiri" pitchFamily="2" charset="-78"/>
                <a:cs typeface="Amiri" pitchFamily="2" charset="-78"/>
              </a:rPr>
              <a:t>مُسْتَقِيمًا لِأَنَّ يَمِينًا.</a:t>
            </a:r>
            <a:endParaRPr lang="ar-SA" sz="2000" dirty="0"/>
          </a:p>
        </p:txBody>
      </p:sp>
      <p:sp>
        <p:nvSpPr>
          <p:cNvPr id="46" name="Text 43"/>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It contains two complete ordered commands.</a:t>
            </a:r>
            <a:endParaRPr lang="en-US" sz="1050" dirty="0"/>
          </a:p>
        </p:txBody>
      </p:sp>
      <p:sp>
        <p:nvSpPr>
          <p:cNvPr id="47" name="Shape 44"/>
          <p:cNvSpPr/>
          <p:nvPr/>
        </p:nvSpPr>
        <p:spPr>
          <a:xfrm>
            <a:off x="8095488"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means pedestrian crossing?</a:t>
            </a:r>
            <a:endParaRPr lang="en-US" sz="1250" dirty="0"/>
          </a:p>
        </p:txBody>
      </p:sp>
      <p:sp>
        <p:nvSpPr>
          <p:cNvPr id="51" name="Shape 48"/>
          <p:cNvSpPr/>
          <p:nvPr/>
        </p:nvSpPr>
        <p:spPr>
          <a:xfrm>
            <a:off x="8278368" y="2532888"/>
            <a:ext cx="256032" cy="256032"/>
          </a:xfrm>
          <a:prstGeom prst="ellipse">
            <a:avLst/>
          </a:prstGeom>
          <a:solidFill>
            <a:srgbClr val="C9CED6"/>
          </a:solidFill>
          <a:ln w="12700">
            <a:solidFill>
              <a:srgbClr val="C9CED6"/>
            </a:solidFill>
            <a:prstDash val="solid"/>
          </a:ln>
        </p:spPr>
      </p:sp>
      <p:sp>
        <p:nvSpPr>
          <p:cNvPr id="52" name="Text 49"/>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دَوَّارٌ</a:t>
            </a:r>
            <a:endParaRPr lang="ar-SA" sz="2050" dirty="0"/>
          </a:p>
        </p:txBody>
      </p:sp>
      <p:sp>
        <p:nvSpPr>
          <p:cNvPr id="54" name="Shape 51"/>
          <p:cNvSpPr/>
          <p:nvPr/>
        </p:nvSpPr>
        <p:spPr>
          <a:xfrm>
            <a:off x="8186928" y="2953512"/>
            <a:ext cx="3453384"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8278368" y="2990088"/>
            <a:ext cx="256032" cy="256032"/>
          </a:xfrm>
          <a:prstGeom prst="ellipse">
            <a:avLst/>
          </a:prstGeom>
          <a:solidFill>
            <a:srgbClr val="2E8B57"/>
          </a:solidFill>
          <a:ln w="12700">
            <a:solidFill>
              <a:srgbClr val="2E8B57"/>
            </a:solidFill>
            <a:prstDash val="solid"/>
          </a:ln>
        </p:spPr>
      </p:sp>
      <p:sp>
        <p:nvSpPr>
          <p:cNvPr id="56" name="Text 53"/>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مَمَرُّ المُشَاةِ</a:t>
            </a:r>
            <a:endParaRPr lang="ar-SA" sz="2050" dirty="0"/>
          </a:p>
        </p:txBody>
      </p:sp>
      <p:sp>
        <p:nvSpPr>
          <p:cNvPr id="58" name="Shape 55"/>
          <p:cNvSpPr/>
          <p:nvPr/>
        </p:nvSpPr>
        <p:spPr>
          <a:xfrm>
            <a:off x="8278368" y="344728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نَفَقٌ</a:t>
            </a:r>
            <a:endParaRPr lang="ar-SA" sz="2050" dirty="0"/>
          </a:p>
        </p:txBody>
      </p:sp>
      <p:sp>
        <p:nvSpPr>
          <p:cNvPr id="61" name="Text 58"/>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مَمَرُّ المُشَاةِ</a:t>
            </a:r>
            <a:pPr algn="l" indent="0" marL="0">
              <a:buNone/>
            </a:pPr>
            <a:r>
              <a:rPr lang="en-US" sz="1050" i="1" dirty="0">
                <a:solidFill>
                  <a:srgbClr val="8A6D1E"/>
                </a:solidFill>
                <a:latin typeface="Calibri" pitchFamily="34" charset="0"/>
                <a:cs typeface="Amiri" pitchFamily="2" charset="-78"/>
              </a:rPr>
              <a:t> means pedestrian crossing.</a:t>
            </a:r>
            <a:endParaRPr lang="en-US" sz="1050" dirty="0"/>
          </a:p>
        </p:txBody>
      </p:sp>
      <p:sp>
        <p:nvSpPr>
          <p:cNvPr id="62" name="Text 5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44</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F6-L08 · Giving Directions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F6-L08</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اِذْهَبِي مُسْتَقِيمًا</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To a group: which ending?</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اِنْعَطِفْ يَمِينٌ.</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Right / left end in …?</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كَيْفَ أَذْهَبُ المَحَطَّةَ؟</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Which word goes before the destination?</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44</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F6-L08 · Giving Directions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F6-L08</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اِذْهَبِي مُسْتَقِيمًا</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اِذْهَبُوا مُسْتَقِيمًا.</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Use the plural ending </a:t>
            </a:r>
            <a:pPr algn="l" indent="0" marL="0">
              <a:buNone/>
            </a:pPr>
            <a:r>
              <a:rPr lang="ar-SA" altLang="en-US" sz="1500" b="1" dirty="0">
                <a:solidFill>
                  <a:srgbClr val="1B3B6F"/>
                </a:solidFill>
                <a:latin typeface="Amiri" pitchFamily="2" charset="-78"/>
                <a:cs typeface="Amiri" pitchFamily="2" charset="-78"/>
              </a:rPr>
              <a:t>ـوا</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اِنْعَطِفْ يَمِينٌ.</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اِنْعَطِفْ يَمِينًا.</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Use the adverbial form </a:t>
            </a:r>
            <a:pPr algn="l" indent="0" marL="0">
              <a:buNone/>
            </a:pPr>
            <a:r>
              <a:rPr lang="ar-SA" altLang="en-US" sz="1500" b="1" dirty="0">
                <a:solidFill>
                  <a:srgbClr val="1B3B6F"/>
                </a:solidFill>
                <a:latin typeface="Amiri" pitchFamily="2" charset="-78"/>
                <a:cs typeface="Amiri" pitchFamily="2" charset="-78"/>
              </a:rPr>
              <a:t>يَمِينًا</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كَيْفَ أَذْهَبُ المَحَطَّةَ؟</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كَيْفَ أَذْهَبُ إِلَى المَحَطَّةِ؟</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Use </a:t>
            </a:r>
            <a:pPr algn="l" indent="0" marL="0">
              <a:buNone/>
            </a:pPr>
            <a:r>
              <a:rPr lang="ar-SA" altLang="en-US" sz="1500" b="1" dirty="0">
                <a:solidFill>
                  <a:srgbClr val="1B3B6F"/>
                </a:solidFill>
                <a:latin typeface="Amiri" pitchFamily="2" charset="-78"/>
                <a:cs typeface="Amiri" pitchFamily="2" charset="-78"/>
              </a:rPr>
              <a:t>إِلَى</a:t>
            </a:r>
            <a:pPr algn="l" indent="0" marL="0">
              <a:buNone/>
            </a:pPr>
            <a:r>
              <a:rPr lang="en-US" sz="1150" b="1" dirty="0">
                <a:solidFill>
                  <a:srgbClr val="1B3B6F"/>
                </a:solidFill>
                <a:latin typeface="Calibri" pitchFamily="34" charset="0"/>
                <a:cs typeface="Amiri" pitchFamily="2" charset="-78"/>
              </a:rPr>
              <a:t> before the destination.</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44</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F6-L08 · Giving Directions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Directions to the museum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should the tourist do first?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go straight</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turn left</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cross the bridge</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does she turn right?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at the station</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at the museum</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at the traffic lights</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she cross?</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bridge</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market</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pedestrian crossing</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street does she take?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second street</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first street</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third street</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long does it take on foot?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20 minutes</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10 minutes</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half an hour</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and trace the route on the map.</a:t>
            </a:r>
            <a:endParaRPr lang="en-US" sz="1250" dirty="0"/>
          </a:p>
          <a:p>
            <a:pPr algn="l" indent="0" marL="0">
              <a:buNone/>
            </a:pPr>
            <a:r>
              <a:rPr lang="en-US" sz="1250" dirty="0">
                <a:solidFill>
                  <a:srgbClr val="1E6B52"/>
                </a:solidFill>
                <a:latin typeface="Calibri" pitchFamily="34" charset="0"/>
                <a:cs typeface="Amiri" pitchFamily="2" charset="-78"/>
              </a:rPr>
              <a:t>Listen for: -ī endings (she is a woman).</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44</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F6-L08 · Giving Directions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F6-L08</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السَّائِحَةُ: مِنْ فَضْلِكَ، كَيْفَ أَذْهَبُ إِلَى المَتْحَفِ؟</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Tourist (f.): Please, how do I get to the museum?</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1B3B6F"/>
                </a:solidFill>
                <a:latin typeface="Amiri" pitchFamily="2" charset="-78"/>
                <a:cs typeface="Amiri" pitchFamily="2" charset="-78"/>
              </a:rPr>
              <a:t>الرَّجُلُ: اِذْهَبِي مُسْتَقِيمًا حَتَّى إِشَارَةِ المَرُورِ. ثُمَّ اِنْعَطِفِي يَمِينًا وَاعْبُرِي مَمَرَّ المُشَاةِ.</a:t>
            </a:r>
            <a:endParaRPr lang="ar-SA" sz="18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Man: Go straight to the traffic lights. Then turn right and cross the pedestrian crossing.</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اِسْتَمِرِّي حَتَّى الدَّوَّارِ، وَخُذِي الشَّارِعَ الثَّانِيَ عَلَى يَسَارِكِ.</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Continue to the roundabout, and take the second street on your left.</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المَتْحَفُ مُقَابِلَ المَكْتَبَةِ وَبِجَانِبِ المَقْهَى.</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museum is opposite the library and next to the café.</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السَّائِحَةُ: هَلْ هُوَ بَعِيدٌ؟ الرَّجُلُ: لَا، تَسْتَغْرِقُ الطَّرِيقُ عَشْرَ دَقَائِقَ مَشْيًا.</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Is it far? — No, it takes ten minutes on foot.</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44</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F6-L08 · Giving Directions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should the tourist do first?</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go straight</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turn left</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cross the bridge</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اِذْهَبِي مُسْتَقِيمًا.</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does she turn right?</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at the station</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at the museum</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at the traffic lights</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حَتَّى إِشَارَةِ المَرُورِ ثُمَّ ... يَمِينًا.</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she cross?</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bridge</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market</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pedestrian crossing</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اعْبُرِي مَمَرَّ المُشَاةِ.</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street does she take?</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second street</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first street</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third street</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الشَّارِعَ الثَّانِيَ.</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long does it take on foot?</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20 minutes</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10 minutes</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half an hour</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عَشْرَ دَقَائِقَ مَشْيًا.</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and trace the route on the map.</a:t>
            </a:r>
            <a:endParaRPr lang="en-US" sz="1250" dirty="0"/>
          </a:p>
          <a:p>
            <a:pPr algn="l" indent="0" marL="0">
              <a:buNone/>
            </a:pPr>
            <a:r>
              <a:rPr lang="en-US" sz="1250" dirty="0">
                <a:solidFill>
                  <a:srgbClr val="1E6B52"/>
                </a:solidFill>
                <a:latin typeface="Calibri" pitchFamily="34" charset="0"/>
                <a:cs typeface="Amiri" pitchFamily="2" charset="-78"/>
              </a:rPr>
              <a:t>Listen for: -ī endings (she is a woman).</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44</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F6-L08 · Giving Directions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Directions information gap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F6-L08</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كَيْفَ أَذْهَبُ إِلَى المَحَطَّةِ؟</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هَلْ هِيَ بَعِيدَةٌ؟</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كَمْ دَقِيقَةً مَشْيًا؟</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هَلْ يُمْكِنُكَ أَنْ تُعِيدَ الاِتِّجَاهَاتِ؟ (الشَّارِعُ مُغْلَقٌ!)</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300" b="1" dirty="0">
                <a:solidFill>
                  <a:srgbClr val="1D5FBF"/>
                </a:solidFill>
                <a:latin typeface="Amiri" pitchFamily="2" charset="-78"/>
                <a:cs typeface="Amiri" pitchFamily="2" charset="-78"/>
              </a:rPr>
              <a:t>اِذْهَبْ / اِذْهَبِي مُسْتَقِيمًا، ثُمَّ اِنْعَطِفْ / اِنْعَطِفِي …</a:t>
            </a:r>
            <a:endParaRPr lang="ar-SA" sz="1300" dirty="0"/>
          </a:p>
        </p:txBody>
      </p:sp>
      <p:sp>
        <p:nvSpPr>
          <p:cNvPr id="51" name="Shape 48"/>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لَا، هِيَ قَرِيبَةٌ … / نَعَمْ، هِيَ بَعِيدَةٌ …</a:t>
            </a:r>
            <a:endParaRPr lang="ar-SA" sz="1600" dirty="0"/>
          </a:p>
        </p:txBody>
      </p:sp>
      <p:sp>
        <p:nvSpPr>
          <p:cNvPr id="54" name="Shape 51"/>
          <p:cNvSpPr/>
          <p:nvPr/>
        </p:nvSpPr>
        <p:spPr>
          <a:xfrm>
            <a:off x="640080" y="4123944"/>
            <a:ext cx="1051560" cy="256032"/>
          </a:xfrm>
          <a:prstGeom prst="roundRect">
            <a:avLst>
              <a:gd name="adj" fmla="val 50000"/>
            </a:avLst>
          </a:prstGeom>
          <a:solidFill>
            <a:srgbClr val="C9780A"/>
          </a:solidFill>
          <a:ln w="12700">
            <a:solidFill>
              <a:srgbClr val="C9780A"/>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تَسْتَغْرِقُ الطَّرِيقُ ___ دَقَائِقَ مَشْيًا.</a:t>
            </a:r>
            <a:endParaRPr lang="ar-SA" sz="1600" dirty="0"/>
          </a:p>
        </p:txBody>
      </p:sp>
      <p:sp>
        <p:nvSpPr>
          <p:cNvPr id="57" name="Shape 54"/>
          <p:cNvSpPr/>
          <p:nvPr/>
        </p:nvSpPr>
        <p:spPr>
          <a:xfrm>
            <a:off x="640080" y="4681728"/>
            <a:ext cx="1051560" cy="256032"/>
          </a:xfrm>
          <a:prstGeom prst="roundRect">
            <a:avLst>
              <a:gd name="adj" fmla="val 50000"/>
            </a:avLst>
          </a:prstGeom>
          <a:solidFill>
            <a:srgbClr val="B83227"/>
          </a:solidFill>
          <a:ln w="12700">
            <a:solidFill>
              <a:srgbClr val="B83227"/>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الشَّارِعُ مُغْلَقٌ، لِذَلِكَ خُذْ … بَدَلًا مِنْهُ.</a:t>
            </a:r>
            <a:endParaRPr lang="ar-SA" sz="160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مِنْ فَضْلِكَ، كَيْفَ أَذْهَبُ إِلَى المَسْجِدِ؟</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Please, how do I get to the mosque?</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اِذْهَبْ مُسْتَقِيمًا، ثُمَّ اِنْعَطِفْ يَسَارًا عِنْدَ الدَّوَّارِ.</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Go straight, then turn left at the roundabout.</a:t>
            </a:r>
            <a:endParaRPr lang="en-US" sz="9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44</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F6-L08 · Giving Directions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F6-L08</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3–4 commands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Follow and write three basic commands with a map.</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Directions on a map to one boy: go, turn, cross + one landmark.</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5+ commands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Give a complete route with correct male/female commands.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task: a named boy or girl, three sequence words, landmarks, a sign and a time.</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two routes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Adapt one route for a group, include signs and explain an alternative route if a road is closed.</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The same route for a group (-ū) + an alternative because a road is closed; design four signs.</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44</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F6-L08 · Giving Directions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F6-L08</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اِذْهَبِي مُسْتَقِيمًا حَتَّى إِشَارَةِ المَرُورِ.</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(to a girl) Go straight until the lights.</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ثُمَّ اِنْعَطِفِي يَسَارًا.</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(to a girl) Then turn left.</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خُذِ الشَّارِعَ الثَّانِيَ عَلَى يَمِينِكَ.</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Take the second street on your right.</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بَعْدَ ذَلِكَ، اِسْتَمِرَّ حَتَّى الدَّوَّارِ.</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After that, continue to the roundabout.</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تَسْتَغْرِقُ الطَّرِيقُ عَشْرَ دَقَائِقَ مَشْيًا.</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It takes ten minutes on foot.</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اِذْهَبْ مُسْتَقِيمًا.</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Go straight ahead.</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اِنْعَطِفْ يَمِينًا / يَسَارًا.</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Turn right / left.</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اِعْبُرِ الشَّارِعَ.</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Cross the street.</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الـ ______ بِجَانِبِ الـ ______ .</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 is next to the …</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كَيْفَ أَذْهَبُ إِلَى ______ ؟</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How do I get to …?</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اِذْهَبْ  ·  اِنْعَطِفْ  ·  اِعْبُرْ  ·  خُذْ  ·  اِسْتَمِرَّ  ·  مُسْتَقِيمًا  ·  يَمِينًا  ·  يَسَارًا  ·  حَتَّى  ·  ثُمَّ  ·  بَعْدَ ذَلِكَ  ·  عَلَى يَمِينِكَ</a:t>
            </a:r>
            <a:endParaRPr lang="ar-SA" sz="16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44</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F6-L08 · Giving Directions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F6-L08</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Write directions from a station to a town place and design four Arabic signs.</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Address one named male, female or group accurately.</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Use at least five commands and three sequence words.</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Include landmarks, one sign and a time estimate.</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Check destination prepositions and command endings.</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اِذْهَبُوا … ثُمَّ اِنْعَطِفُوا …</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go (all) … then turn (all) …</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الشَّارِعُ مُغْلَقٌ اليَوْمَ</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 street is closed today</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خُذُوا الطَّرِيقَ الآخَرَ بَدَلًا مِنْهُ</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take the other road instead</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اِتَّبِعُوا اللَّافِتَاتِ الخَضْرَاءَ</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follow the green signs</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سَتَرَوْنَ … عَلَى يَمِينِكُمْ</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you will see … on your right</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44</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F6-L08 · Giving Directions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F6-L08</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cs typeface="Amiri" pitchFamily="2" charset="-78"/>
              </a:rPr>
              <a:t>يَا مَرْيَمُ، اِخْرُجِي مِنَ المَحَطَّةِ مِنَ المَخْرَجِ الرَّئِيسِيِّ. اِذْهَبِي مُسْتَقِيمًا حَتَّى إِشَارَةِ المَرُورِ، ثُمَّ اِنْعَطِفِي يَمِينًا. بَعْدَ ذٰلِكَ، اِعْبُرِي مَمَرَّ المُشَاةِ وَخُذِي الشَّارِعَ الأَوَّلَ عَلَى يَسَارِكِ. سَتَرَيْنَ لاَفِتَةَ «مَدْخَلُ المَتْحَفِ». المَتْحَفُ مُقَابِلَ الحَدِيقَةِ. تَسْتَغْرِقُ الطَّرِيقُ حَوَالَيْ خَمْسَ عَشْرَةَ دَقِيقَةً مَشْيًا.</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Maryam, leave the station by the main exit. Go straight until the traffic lights, then turn right. After that, cross the pedestrian crossing and take the first street on your left. You will see a sign: Museum entrance. The museum is opposite the park. The route takes about fifteen minutes on foot.</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command to a girl</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until + landmark</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sequence word</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the time</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44</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F6-L08 · Giving Directions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F6-L08</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three commands.</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ar-SA" altLang="en-US" sz="1700" dirty="0">
                <a:solidFill>
                  <a:srgbClr val="1F2A37"/>
                </a:solidFill>
                <a:latin typeface="Amiri" pitchFamily="2" charset="-78"/>
                <a:cs typeface="Amiri" pitchFamily="2" charset="-78"/>
              </a:rPr>
              <a:t>يَمِينًا / يَسَارًا / مُسْتَقِيمًا</a:t>
            </a:r>
            <a:pPr algn="l" indent="0" marL="0">
              <a:buNone/>
            </a:pPr>
            <a:r>
              <a:rPr lang="en-US" sz="1300" dirty="0">
                <a:solidFill>
                  <a:srgbClr val="1F2A37"/>
                </a:solidFill>
                <a:latin typeface="Calibri" pitchFamily="34" charset="0"/>
                <a:cs typeface="Amiri" pitchFamily="2" charset="-78"/>
              </a:rPr>
              <a:t> end in -an.</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Command endings match the person.</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landmarks and sequence words.</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 group version and an alternative route.</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44</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F6-L08 · Giving Directions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F6-L08</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command addresses one female?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اِذْهَبِي</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اِذْهَبْ</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اِذْهَبُوا</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means turn right?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اِمْشِ يَسَارًا</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اِنْعَطِفْ يَمِينًا</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خُذْ مُسْتَقِيمًا</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command addresses a group?</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اِعْبُرُوا</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اِعْبُرِي</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اِعْبُرْ</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44</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F6-L08 · Giving Directions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F6-L08</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command addresses one female?</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اِذْهَبِي</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اِذْهَبْ</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اِذْهَبُوا</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feminine form ends </a:t>
            </a:r>
            <a:pPr algn="l" indent="0" marL="0">
              <a:buNone/>
            </a:pPr>
            <a:r>
              <a:rPr lang="ar-SA" altLang="en-US" sz="1350" dirty="0">
                <a:solidFill>
                  <a:srgbClr val="8A6D1E"/>
                </a:solidFill>
                <a:latin typeface="Amiri" pitchFamily="2" charset="-78"/>
                <a:cs typeface="Amiri" pitchFamily="2" charset="-78"/>
              </a:rPr>
              <a:t>ـي</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means turn right?</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اِمْشِ يَسَارًا</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اِنْعَطِفْ يَمِينًا</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خُذْ مُسْتَقِيمًا</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اِنْعَطِفْ يَمِينًا</a:t>
            </a:r>
            <a:pPr algn="l" indent="0" marL="0">
              <a:buNone/>
            </a:pPr>
            <a:r>
              <a:rPr lang="en-US" sz="1050" i="1" dirty="0">
                <a:solidFill>
                  <a:srgbClr val="8A6D1E"/>
                </a:solidFill>
                <a:latin typeface="Calibri" pitchFamily="34" charset="0"/>
                <a:cs typeface="Amiri" pitchFamily="2" charset="-78"/>
              </a:rPr>
              <a:t> means turn right.</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command addresses a group?</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اِعْبُرُوا</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اِعْبُرِي</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اِعْبُرْ</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plural form ends </a:t>
            </a:r>
            <a:pPr algn="l" indent="0" marL="0">
              <a:buNone/>
            </a:pPr>
            <a:r>
              <a:rPr lang="ar-SA" altLang="en-US" sz="1350" dirty="0">
                <a:solidFill>
                  <a:srgbClr val="8A6D1E"/>
                </a:solidFill>
                <a:latin typeface="Amiri" pitchFamily="2" charset="-78"/>
                <a:cs typeface="Amiri" pitchFamily="2" charset="-78"/>
              </a:rPr>
              <a:t>ـوا</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39 / 44</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F6-L08 · Giving Directions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Town signs and a route notice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F6-L08</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cs typeface="Amiri" pitchFamily="2" charset="-78"/>
              </a:rPr>
              <a:t>مَدْخَلُ المَحَطَّةِ مِنَ البَوَّابَةِ الشَّرْقِيَّةِ. مَمْنُوعُ الدُّخُولِ مِنَ البَوَّابَةِ الغَرْبِيَّةِ. لِلذَّهَابِ إِلَى رَصِيفِ الحَافِلَاتِ، اِعْبُرْ مَمَرَّ المُشَاةِ ثُمَّ اِنْعَطِفْ يَسَارًا. مَمْنُوعُ الوُقُوفِ أَمَامَ المَدْخَلِ. مَخْرَجُ سَيَّارَاتِ الأُجْرَةِ خَلْفَ المَبْنَى. عِنْدَ الطَّوَارِئِ، اِتَّبِعِ اللاَّفِتَاتِ الخَضْرَاءَ إِلَى المَخْرَجِ.</a:t>
            </a:r>
            <a:endParaRPr lang="ar-SA" sz="26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مَدْخَلُ المَحَطَّةِ</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station entrance</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البَوَّابَةِ الشَّرْقِيَّةِ</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eastern gate</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مَمْنُوعُ الدُّخُولِ</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no entry</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لِلذَّهَابِ إِلَى</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to go to</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رَصِيفِ الحَافِلَاتِ</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bus platform</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مَمْنُوعُ الوُقُوفِ</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no parking</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مَخْرَجُ</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exit</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خَلْفَ المَبْنَى</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behind the building</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عِنْدَ الطَّوَارِئِ</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in an emergency</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اِتَّبِعْ</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follow</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40 / 44</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F6-L08 · Giving Directions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F6-L08</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gate is the entrance?</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western gate</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eastern gate</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northern gate</a:t>
            </a:r>
            <a:endParaRPr lang="en-US" sz="12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is entry forbidden?</a:t>
            </a:r>
            <a:endParaRPr lang="en-US" sz="1250" dirty="0"/>
          </a:p>
        </p:txBody>
      </p:sp>
      <p:sp>
        <p:nvSpPr>
          <p:cNvPr id="34" name="Shape 31"/>
          <p:cNvSpPr/>
          <p:nvPr/>
        </p:nvSpPr>
        <p:spPr>
          <a:xfrm>
            <a:off x="3504438"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eastern gate</a:t>
            </a:r>
            <a:endParaRPr lang="en-US" sz="1250" dirty="0"/>
          </a:p>
        </p:txBody>
      </p:sp>
      <p:sp>
        <p:nvSpPr>
          <p:cNvPr id="37" name="Shape 34"/>
          <p:cNvSpPr/>
          <p:nvPr/>
        </p:nvSpPr>
        <p:spPr>
          <a:xfrm>
            <a:off x="3504438"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taxi exit</a:t>
            </a:r>
            <a:endParaRPr lang="en-US" sz="1250" dirty="0"/>
          </a:p>
        </p:txBody>
      </p:sp>
      <p:sp>
        <p:nvSpPr>
          <p:cNvPr id="40" name="Shape 37"/>
          <p:cNvSpPr/>
          <p:nvPr/>
        </p:nvSpPr>
        <p:spPr>
          <a:xfrm>
            <a:off x="3504438"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western gate</a:t>
            </a:r>
            <a:endParaRPr lang="en-US" sz="1250" dirty="0"/>
          </a:p>
        </p:txBody>
      </p:sp>
      <p:sp>
        <p:nvSpPr>
          <p:cNvPr id="43" name="Shape 40"/>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6313932"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must you cross to reach the bus platform?</a:t>
            </a:r>
            <a:endParaRPr lang="en-US" sz="1250" dirty="0"/>
          </a:p>
        </p:txBody>
      </p:sp>
      <p:sp>
        <p:nvSpPr>
          <p:cNvPr id="47" name="Shape 44"/>
          <p:cNvSpPr/>
          <p:nvPr/>
        </p:nvSpPr>
        <p:spPr>
          <a:xfrm>
            <a:off x="6368796"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pedestrian crossing</a:t>
            </a:r>
            <a:endParaRPr lang="en-US" sz="1250" dirty="0"/>
          </a:p>
        </p:txBody>
      </p:sp>
      <p:sp>
        <p:nvSpPr>
          <p:cNvPr id="50" name="Shape 47"/>
          <p:cNvSpPr/>
          <p:nvPr/>
        </p:nvSpPr>
        <p:spPr>
          <a:xfrm>
            <a:off x="6368796"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bridge</a:t>
            </a:r>
            <a:endParaRPr lang="en-US" sz="1250" dirty="0"/>
          </a:p>
        </p:txBody>
      </p:sp>
      <p:sp>
        <p:nvSpPr>
          <p:cNvPr id="53" name="Shape 50"/>
          <p:cNvSpPr/>
          <p:nvPr/>
        </p:nvSpPr>
        <p:spPr>
          <a:xfrm>
            <a:off x="6368796"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tunnel</a:t>
            </a:r>
            <a:endParaRPr lang="en-US" sz="1250" dirty="0"/>
          </a:p>
        </p:txBody>
      </p:sp>
      <p:sp>
        <p:nvSpPr>
          <p:cNvPr id="56" name="Shape 53"/>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9178290" y="1947672"/>
            <a:ext cx="310896" cy="310896"/>
          </a:xfrm>
          <a:prstGeom prst="ellipse">
            <a:avLst/>
          </a:prstGeom>
          <a:solidFill>
            <a:srgbClr val="1B3B6F"/>
          </a:solidFill>
          <a:ln w="12700">
            <a:solidFill>
              <a:srgbClr val="1B3B6F"/>
            </a:solidFill>
            <a:prstDash val="solid"/>
          </a:ln>
        </p:spPr>
      </p:sp>
      <p:sp>
        <p:nvSpPr>
          <p:cNvPr id="58" name="Text 55"/>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way do you turn?</a:t>
            </a:r>
            <a:endParaRPr lang="en-US" sz="1250" dirty="0"/>
          </a:p>
        </p:txBody>
      </p:sp>
      <p:sp>
        <p:nvSpPr>
          <p:cNvPr id="60" name="Shape 57"/>
          <p:cNvSpPr/>
          <p:nvPr/>
        </p:nvSpPr>
        <p:spPr>
          <a:xfrm>
            <a:off x="9233154" y="2532888"/>
            <a:ext cx="256032" cy="256032"/>
          </a:xfrm>
          <a:prstGeom prst="ellipse">
            <a:avLst/>
          </a:prstGeom>
          <a:solidFill>
            <a:srgbClr val="F4F1EA"/>
          </a:solidFill>
          <a:ln w="12700">
            <a:solidFill>
              <a:srgbClr val="F4F1EA"/>
            </a:solidFill>
            <a:prstDash val="solid"/>
          </a:ln>
        </p:spPr>
      </p:sp>
      <p:sp>
        <p:nvSpPr>
          <p:cNvPr id="61" name="Text 58"/>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right</a:t>
            </a:r>
            <a:endParaRPr lang="en-US" sz="1250" dirty="0"/>
          </a:p>
        </p:txBody>
      </p:sp>
      <p:sp>
        <p:nvSpPr>
          <p:cNvPr id="63" name="Shape 60"/>
          <p:cNvSpPr/>
          <p:nvPr/>
        </p:nvSpPr>
        <p:spPr>
          <a:xfrm>
            <a:off x="9233154" y="2990088"/>
            <a:ext cx="256032" cy="256032"/>
          </a:xfrm>
          <a:prstGeom prst="ellipse">
            <a:avLst/>
          </a:prstGeom>
          <a:solidFill>
            <a:srgbClr val="F4F1EA"/>
          </a:solidFill>
          <a:ln w="12700">
            <a:solidFill>
              <a:srgbClr val="F4F1EA"/>
            </a:solidFill>
            <a:prstDash val="solid"/>
          </a:ln>
        </p:spPr>
      </p:sp>
      <p:sp>
        <p:nvSpPr>
          <p:cNvPr id="64" name="Text 61"/>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left</a:t>
            </a:r>
            <a:endParaRPr lang="en-US" sz="1250" dirty="0"/>
          </a:p>
        </p:txBody>
      </p:sp>
      <p:sp>
        <p:nvSpPr>
          <p:cNvPr id="66" name="Shape 63"/>
          <p:cNvSpPr/>
          <p:nvPr/>
        </p:nvSpPr>
        <p:spPr>
          <a:xfrm>
            <a:off x="9233154" y="3447288"/>
            <a:ext cx="256032" cy="256032"/>
          </a:xfrm>
          <a:prstGeom prst="ellipse">
            <a:avLst/>
          </a:prstGeom>
          <a:solidFill>
            <a:srgbClr val="F4F1EA"/>
          </a:solidFill>
          <a:ln w="12700">
            <a:solidFill>
              <a:srgbClr val="F4F1EA"/>
            </a:solidFill>
            <a:prstDash val="solid"/>
          </a:ln>
        </p:spPr>
      </p:sp>
      <p:sp>
        <p:nvSpPr>
          <p:cNvPr id="67" name="Text 64"/>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straight</a:t>
            </a:r>
            <a:endParaRPr lang="en-US" sz="1250" dirty="0"/>
          </a:p>
        </p:txBody>
      </p:sp>
      <p:sp>
        <p:nvSpPr>
          <p:cNvPr id="69" name="Shape 66"/>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585216"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forbidden in front of the entrance?</a:t>
            </a:r>
            <a:endParaRPr lang="en-US" sz="1250" dirty="0"/>
          </a:p>
        </p:txBody>
      </p:sp>
      <p:sp>
        <p:nvSpPr>
          <p:cNvPr id="73" name="Shape 70"/>
          <p:cNvSpPr/>
          <p:nvPr/>
        </p:nvSpPr>
        <p:spPr>
          <a:xfrm>
            <a:off x="640080"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parking</a:t>
            </a:r>
            <a:endParaRPr lang="en-US" sz="1250" dirty="0"/>
          </a:p>
        </p:txBody>
      </p:sp>
      <p:sp>
        <p:nvSpPr>
          <p:cNvPr id="76" name="Shape 73"/>
          <p:cNvSpPr/>
          <p:nvPr/>
        </p:nvSpPr>
        <p:spPr>
          <a:xfrm>
            <a:off x="640080"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walking</a:t>
            </a:r>
            <a:endParaRPr lang="en-US" sz="1250" dirty="0"/>
          </a:p>
        </p:txBody>
      </p:sp>
      <p:sp>
        <p:nvSpPr>
          <p:cNvPr id="79" name="Shape 76"/>
          <p:cNvSpPr/>
          <p:nvPr/>
        </p:nvSpPr>
        <p:spPr>
          <a:xfrm>
            <a:off x="640080"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tickets</a:t>
            </a:r>
            <a:endParaRPr lang="en-US" sz="1250" dirty="0"/>
          </a:p>
        </p:txBody>
      </p:sp>
      <p:sp>
        <p:nvSpPr>
          <p:cNvPr id="82" name="Shape 7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344957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5" name="Text 8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signs lead to the emergency exit?</a:t>
            </a:r>
            <a:endParaRPr lang="en-US" sz="1250" dirty="0"/>
          </a:p>
        </p:txBody>
      </p:sp>
      <p:sp>
        <p:nvSpPr>
          <p:cNvPr id="86" name="Shape 83"/>
          <p:cNvSpPr/>
          <p:nvPr/>
        </p:nvSpPr>
        <p:spPr>
          <a:xfrm>
            <a:off x="350443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8" name="Text 85"/>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red signs</a:t>
            </a:r>
            <a:endParaRPr lang="en-US" sz="1250" dirty="0"/>
          </a:p>
        </p:txBody>
      </p:sp>
      <p:sp>
        <p:nvSpPr>
          <p:cNvPr id="89" name="Shape 86"/>
          <p:cNvSpPr/>
          <p:nvPr/>
        </p:nvSpPr>
        <p:spPr>
          <a:xfrm>
            <a:off x="350443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1" name="Text 88"/>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blue signs</a:t>
            </a:r>
            <a:endParaRPr lang="en-US" sz="1250" dirty="0"/>
          </a:p>
        </p:txBody>
      </p:sp>
      <p:sp>
        <p:nvSpPr>
          <p:cNvPr id="92" name="Shape 89"/>
          <p:cNvSpPr/>
          <p:nvPr/>
        </p:nvSpPr>
        <p:spPr>
          <a:xfrm>
            <a:off x="350443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4" name="Text 91"/>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green signs</a:t>
            </a:r>
            <a:endParaRPr lang="en-US" sz="1250" dirty="0"/>
          </a:p>
        </p:txBody>
      </p:sp>
      <p:sp>
        <p:nvSpPr>
          <p:cNvPr id="95" name="Shape 9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6" name="Text 93"/>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97" name="Text 94"/>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98" name="Text 9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41 / 44</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F6-L08 · Giving Directions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F6-L08</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gate is the entrance?</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western gate</a:t>
            </a:r>
            <a:endParaRPr lang="en-US" sz="1250" dirty="0"/>
          </a:p>
        </p:txBody>
      </p:sp>
      <p:sp>
        <p:nvSpPr>
          <p:cNvPr id="24" name="Shape 21"/>
          <p:cNvSpPr/>
          <p:nvPr/>
        </p:nvSpPr>
        <p:spPr>
          <a:xfrm>
            <a:off x="548640" y="2825496"/>
            <a:ext cx="2498598"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7" name="Text 24"/>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eastern gate</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northern gate</a:t>
            </a:r>
            <a:endParaRPr lang="en-US" sz="1250" dirty="0"/>
          </a:p>
        </p:txBody>
      </p:sp>
      <p:sp>
        <p:nvSpPr>
          <p:cNvPr id="31" name="Text 28"/>
          <p:cNvSpPr txBox="1"/>
          <p:nvPr/>
        </p:nvSpPr>
        <p:spPr>
          <a:xfrm>
            <a:off x="585216"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مِنَ البَوَّابَةِ الشَّرْقِيَّةِ.</a:t>
            </a:r>
            <a:endParaRPr lang="ar-SA" sz="1350" dirty="0"/>
          </a:p>
        </p:txBody>
      </p:sp>
      <p:sp>
        <p:nvSpPr>
          <p:cNvPr id="32" name="Shape 29"/>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3449574"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is entry forbidden?</a:t>
            </a:r>
            <a:endParaRPr lang="en-US" sz="1250" dirty="0"/>
          </a:p>
        </p:txBody>
      </p:sp>
      <p:sp>
        <p:nvSpPr>
          <p:cNvPr id="36" name="Shape 33"/>
          <p:cNvSpPr/>
          <p:nvPr/>
        </p:nvSpPr>
        <p:spPr>
          <a:xfrm>
            <a:off x="3504438"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eastern gate</a:t>
            </a:r>
            <a:endParaRPr lang="en-US" sz="1250" dirty="0"/>
          </a:p>
        </p:txBody>
      </p:sp>
      <p:sp>
        <p:nvSpPr>
          <p:cNvPr id="39" name="Shape 36"/>
          <p:cNvSpPr/>
          <p:nvPr/>
        </p:nvSpPr>
        <p:spPr>
          <a:xfrm>
            <a:off x="3504438"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taxi exit</a:t>
            </a:r>
            <a:endParaRPr lang="en-US" sz="1250" dirty="0"/>
          </a:p>
        </p:txBody>
      </p:sp>
      <p:sp>
        <p:nvSpPr>
          <p:cNvPr id="42" name="Shape 39"/>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3504438"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5" name="Text 42"/>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western gate</a:t>
            </a:r>
            <a:endParaRPr lang="en-US" sz="1250" dirty="0"/>
          </a:p>
        </p:txBody>
      </p:sp>
      <p:sp>
        <p:nvSpPr>
          <p:cNvPr id="46" name="Text 43"/>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مَمْنُوعُ الدُّخُولِ مِنَ البَوَّابَةِ الغَرْبِيَّةِ.</a:t>
            </a:r>
            <a:endParaRPr lang="ar-SA" sz="1350" dirty="0"/>
          </a:p>
        </p:txBody>
      </p:sp>
      <p:sp>
        <p:nvSpPr>
          <p:cNvPr id="47" name="Shape 44"/>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6313932"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must you cross to reach the bus platform?</a:t>
            </a:r>
            <a:endParaRPr lang="en-US" sz="1250" dirty="0"/>
          </a:p>
        </p:txBody>
      </p:sp>
      <p:sp>
        <p:nvSpPr>
          <p:cNvPr id="51" name="Shape 48"/>
          <p:cNvSpPr/>
          <p:nvPr/>
        </p:nvSpPr>
        <p:spPr>
          <a:xfrm>
            <a:off x="6277356" y="2453640"/>
            <a:ext cx="2498598"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6368796"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4" name="Text 51"/>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pedestrian crossing</a:t>
            </a:r>
            <a:endParaRPr lang="en-US" sz="1250" dirty="0"/>
          </a:p>
        </p:txBody>
      </p:sp>
      <p:sp>
        <p:nvSpPr>
          <p:cNvPr id="55" name="Shape 52"/>
          <p:cNvSpPr/>
          <p:nvPr/>
        </p:nvSpPr>
        <p:spPr>
          <a:xfrm>
            <a:off x="6368796"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bridge</a:t>
            </a:r>
            <a:endParaRPr lang="en-US" sz="1250" dirty="0"/>
          </a:p>
        </p:txBody>
      </p:sp>
      <p:sp>
        <p:nvSpPr>
          <p:cNvPr id="58" name="Shape 55"/>
          <p:cNvSpPr/>
          <p:nvPr/>
        </p:nvSpPr>
        <p:spPr>
          <a:xfrm>
            <a:off x="6368796"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tunnel</a:t>
            </a:r>
            <a:endParaRPr lang="en-US" sz="1250" dirty="0"/>
          </a:p>
        </p:txBody>
      </p:sp>
      <p:sp>
        <p:nvSpPr>
          <p:cNvPr id="61" name="Text 58"/>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اِعْبُرْ مَمَرَّ المُشَاةِ.</a:t>
            </a:r>
            <a:endParaRPr lang="ar-SA" sz="1350" dirty="0"/>
          </a:p>
        </p:txBody>
      </p:sp>
      <p:sp>
        <p:nvSpPr>
          <p:cNvPr id="62" name="Shape 59"/>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9178290" y="1947672"/>
            <a:ext cx="310896" cy="310896"/>
          </a:xfrm>
          <a:prstGeom prst="ellipse">
            <a:avLst/>
          </a:prstGeom>
          <a:solidFill>
            <a:srgbClr val="1B3B6F"/>
          </a:solidFill>
          <a:ln w="12700">
            <a:solidFill>
              <a:srgbClr val="1B3B6F"/>
            </a:solidFill>
            <a:prstDash val="solid"/>
          </a:ln>
        </p:spPr>
      </p:sp>
      <p:sp>
        <p:nvSpPr>
          <p:cNvPr id="64" name="Text 61"/>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way do you turn?</a:t>
            </a:r>
            <a:endParaRPr lang="en-US" sz="1250" dirty="0"/>
          </a:p>
        </p:txBody>
      </p:sp>
      <p:sp>
        <p:nvSpPr>
          <p:cNvPr id="66" name="Shape 63"/>
          <p:cNvSpPr/>
          <p:nvPr/>
        </p:nvSpPr>
        <p:spPr>
          <a:xfrm>
            <a:off x="9233154" y="2490216"/>
            <a:ext cx="256032" cy="256032"/>
          </a:xfrm>
          <a:prstGeom prst="ellipse">
            <a:avLst/>
          </a:prstGeom>
          <a:solidFill>
            <a:srgbClr val="C9CED6"/>
          </a:solidFill>
          <a:ln w="12700">
            <a:solidFill>
              <a:srgbClr val="C9CED6"/>
            </a:solidFill>
            <a:prstDash val="solid"/>
          </a:ln>
        </p:spPr>
      </p:sp>
      <p:sp>
        <p:nvSpPr>
          <p:cNvPr id="67" name="Text 64"/>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right</a:t>
            </a:r>
            <a:endParaRPr lang="en-US" sz="1250" dirty="0"/>
          </a:p>
        </p:txBody>
      </p:sp>
      <p:sp>
        <p:nvSpPr>
          <p:cNvPr id="69" name="Shape 66"/>
          <p:cNvSpPr/>
          <p:nvPr/>
        </p:nvSpPr>
        <p:spPr>
          <a:xfrm>
            <a:off x="9141714" y="2825496"/>
            <a:ext cx="2498598"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9233154" y="2862072"/>
            <a:ext cx="256032" cy="256032"/>
          </a:xfrm>
          <a:prstGeom prst="ellipse">
            <a:avLst/>
          </a:prstGeom>
          <a:solidFill>
            <a:srgbClr val="2E8B57"/>
          </a:solidFill>
          <a:ln w="12700">
            <a:solidFill>
              <a:srgbClr val="2E8B57"/>
            </a:solidFill>
            <a:prstDash val="solid"/>
          </a:ln>
        </p:spPr>
      </p:sp>
      <p:sp>
        <p:nvSpPr>
          <p:cNvPr id="71" name="Text 68"/>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2" name="Text 69"/>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left</a:t>
            </a:r>
            <a:endParaRPr lang="en-US" sz="1250" dirty="0"/>
          </a:p>
        </p:txBody>
      </p:sp>
      <p:sp>
        <p:nvSpPr>
          <p:cNvPr id="73" name="Shape 70"/>
          <p:cNvSpPr/>
          <p:nvPr/>
        </p:nvSpPr>
        <p:spPr>
          <a:xfrm>
            <a:off x="9233154" y="3233928"/>
            <a:ext cx="256032" cy="256032"/>
          </a:xfrm>
          <a:prstGeom prst="ellipse">
            <a:avLst/>
          </a:prstGeom>
          <a:solidFill>
            <a:srgbClr val="C9CED6"/>
          </a:solidFill>
          <a:ln w="12700">
            <a:solidFill>
              <a:srgbClr val="C9CED6"/>
            </a:solidFill>
            <a:prstDash val="solid"/>
          </a:ln>
        </p:spPr>
      </p:sp>
      <p:sp>
        <p:nvSpPr>
          <p:cNvPr id="74" name="Text 71"/>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straight</a:t>
            </a:r>
            <a:endParaRPr lang="en-US" sz="1250" dirty="0"/>
          </a:p>
        </p:txBody>
      </p:sp>
      <p:sp>
        <p:nvSpPr>
          <p:cNvPr id="76" name="Text 73"/>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اِنْعَطِفْ يَسَارًا.</a:t>
            </a:r>
            <a:endParaRPr lang="ar-SA" sz="1350" dirty="0"/>
          </a:p>
        </p:txBody>
      </p:sp>
      <p:sp>
        <p:nvSpPr>
          <p:cNvPr id="77" name="Shape 7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585216"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forbidden in front of the entrance?</a:t>
            </a:r>
            <a:endParaRPr lang="en-US" sz="1250" dirty="0"/>
          </a:p>
        </p:txBody>
      </p:sp>
      <p:sp>
        <p:nvSpPr>
          <p:cNvPr id="81" name="Shape 78"/>
          <p:cNvSpPr/>
          <p:nvPr/>
        </p:nvSpPr>
        <p:spPr>
          <a:xfrm>
            <a:off x="548640" y="4794504"/>
            <a:ext cx="2498598"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640080"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1"/>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parking</a:t>
            </a:r>
            <a:endParaRPr lang="en-US" sz="1250" dirty="0"/>
          </a:p>
        </p:txBody>
      </p:sp>
      <p:sp>
        <p:nvSpPr>
          <p:cNvPr id="85" name="Shape 82"/>
          <p:cNvSpPr/>
          <p:nvPr/>
        </p:nvSpPr>
        <p:spPr>
          <a:xfrm>
            <a:off x="640080"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4"/>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walking</a:t>
            </a:r>
            <a:endParaRPr lang="en-US" sz="1250" dirty="0"/>
          </a:p>
        </p:txBody>
      </p:sp>
      <p:sp>
        <p:nvSpPr>
          <p:cNvPr id="88" name="Shape 85"/>
          <p:cNvSpPr/>
          <p:nvPr/>
        </p:nvSpPr>
        <p:spPr>
          <a:xfrm>
            <a:off x="640080"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tickets</a:t>
            </a:r>
            <a:endParaRPr lang="en-US" sz="1250" dirty="0"/>
          </a:p>
        </p:txBody>
      </p:sp>
      <p:sp>
        <p:nvSpPr>
          <p:cNvPr id="91" name="Text 88"/>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مَمْنُوعُ الوُقُوفِ.</a:t>
            </a:r>
            <a:endParaRPr lang="ar-SA" sz="1350" dirty="0"/>
          </a:p>
        </p:txBody>
      </p:sp>
      <p:sp>
        <p:nvSpPr>
          <p:cNvPr id="92" name="Shape 8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0"/>
          <p:cNvSpPr/>
          <p:nvPr/>
        </p:nvSpPr>
        <p:spPr>
          <a:xfrm>
            <a:off x="3449574" y="4288536"/>
            <a:ext cx="310896" cy="310896"/>
          </a:xfrm>
          <a:prstGeom prst="ellipse">
            <a:avLst/>
          </a:prstGeom>
          <a:solidFill>
            <a:srgbClr val="1B3B6F"/>
          </a:solidFill>
          <a:ln w="12700">
            <a:solidFill>
              <a:srgbClr val="1B3B6F"/>
            </a:solidFill>
            <a:prstDash val="solid"/>
          </a:ln>
        </p:spPr>
      </p:sp>
      <p:sp>
        <p:nvSpPr>
          <p:cNvPr id="94" name="Text 9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5" name="Text 9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signs lead to the emergency exit?</a:t>
            </a:r>
            <a:endParaRPr lang="en-US" sz="1250" dirty="0"/>
          </a:p>
        </p:txBody>
      </p:sp>
      <p:sp>
        <p:nvSpPr>
          <p:cNvPr id="96" name="Shape 93"/>
          <p:cNvSpPr/>
          <p:nvPr/>
        </p:nvSpPr>
        <p:spPr>
          <a:xfrm>
            <a:off x="3504438" y="4831080"/>
            <a:ext cx="256032" cy="256032"/>
          </a:xfrm>
          <a:prstGeom prst="ellipse">
            <a:avLst/>
          </a:prstGeom>
          <a:solidFill>
            <a:srgbClr val="C9CED6"/>
          </a:solidFill>
          <a:ln w="12700">
            <a:solidFill>
              <a:srgbClr val="C9CED6"/>
            </a:solidFill>
            <a:prstDash val="solid"/>
          </a:ln>
        </p:spPr>
      </p:sp>
      <p:sp>
        <p:nvSpPr>
          <p:cNvPr id="97" name="Text 94"/>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8" name="Text 95"/>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red signs</a:t>
            </a:r>
            <a:endParaRPr lang="en-US" sz="1250" dirty="0"/>
          </a:p>
        </p:txBody>
      </p:sp>
      <p:sp>
        <p:nvSpPr>
          <p:cNvPr id="99" name="Shape 96"/>
          <p:cNvSpPr/>
          <p:nvPr/>
        </p:nvSpPr>
        <p:spPr>
          <a:xfrm>
            <a:off x="3504438" y="5202936"/>
            <a:ext cx="256032" cy="256032"/>
          </a:xfrm>
          <a:prstGeom prst="ellipse">
            <a:avLst/>
          </a:prstGeom>
          <a:solidFill>
            <a:srgbClr val="C9CED6"/>
          </a:solidFill>
          <a:ln w="12700">
            <a:solidFill>
              <a:srgbClr val="C9CED6"/>
            </a:solidFill>
            <a:prstDash val="solid"/>
          </a:ln>
        </p:spPr>
      </p:sp>
      <p:sp>
        <p:nvSpPr>
          <p:cNvPr id="100" name="Text 97"/>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101" name="Text 98"/>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blue signs</a:t>
            </a:r>
            <a:endParaRPr lang="en-US" sz="1250" dirty="0"/>
          </a:p>
        </p:txBody>
      </p:sp>
      <p:sp>
        <p:nvSpPr>
          <p:cNvPr id="102" name="Shape 99"/>
          <p:cNvSpPr/>
          <p:nvPr/>
        </p:nvSpPr>
        <p:spPr>
          <a:xfrm>
            <a:off x="3412998" y="5538216"/>
            <a:ext cx="2498598" cy="347472"/>
          </a:xfrm>
          <a:prstGeom prst="roundRect">
            <a:avLst>
              <a:gd name="adj" fmla="val 15789"/>
            </a:avLst>
          </a:prstGeom>
          <a:solidFill>
            <a:srgbClr val="E6F4EC"/>
          </a:solidFill>
          <a:ln w="9525">
            <a:solidFill>
              <a:srgbClr val="2E8B57"/>
            </a:solidFill>
            <a:prstDash val="solid"/>
          </a:ln>
        </p:spPr>
      </p:sp>
      <p:sp>
        <p:nvSpPr>
          <p:cNvPr id="103" name="Shape 100"/>
          <p:cNvSpPr/>
          <p:nvPr/>
        </p:nvSpPr>
        <p:spPr>
          <a:xfrm>
            <a:off x="3504438" y="5574792"/>
            <a:ext cx="256032" cy="256032"/>
          </a:xfrm>
          <a:prstGeom prst="ellipse">
            <a:avLst/>
          </a:prstGeom>
          <a:solidFill>
            <a:srgbClr val="2E8B57"/>
          </a:solidFill>
          <a:ln w="12700">
            <a:solidFill>
              <a:srgbClr val="2E8B57"/>
            </a:solidFill>
            <a:prstDash val="solid"/>
          </a:ln>
        </p:spPr>
      </p:sp>
      <p:sp>
        <p:nvSpPr>
          <p:cNvPr id="104" name="Text 101"/>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105" name="Text 102"/>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green signs</a:t>
            </a:r>
            <a:endParaRPr lang="en-US" sz="1250" dirty="0"/>
          </a:p>
        </p:txBody>
      </p:sp>
      <p:sp>
        <p:nvSpPr>
          <p:cNvPr id="106" name="Text 103"/>
          <p:cNvSpPr txBox="1"/>
          <p:nvPr/>
        </p:nvSpPr>
        <p:spPr>
          <a:xfrm>
            <a:off x="3449574"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اللاَّفِتَاتِ الخَضْرَاءَ.</a:t>
            </a:r>
            <a:endParaRPr lang="ar-SA" sz="1350" dirty="0"/>
          </a:p>
        </p:txBody>
      </p:sp>
      <p:sp>
        <p:nvSpPr>
          <p:cNvPr id="107" name="Shape 104"/>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8" name="Text 105"/>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109" name="Text 106"/>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110" name="Text 10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42 / 44</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F6-L08 · Giving Directions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F6-L09: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F6-L08</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F6-L09 · Extended Writing: My Town and How I Get Around</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فِقْرَةٌ</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paragraph</a:t>
            </a:r>
            <a:pPr indent="0" marL="0">
              <a:buNone/>
            </a:pPr>
            <a:r>
              <a:rPr lang="en-US" sz="1000" i="1" dirty="0">
                <a:solidFill>
                  <a:srgbClr val="5A6472"/>
                </a:solidFill>
                <a:latin typeface="Calibri" pitchFamily="34" charset="0"/>
                <a:cs typeface="Amiri" pitchFamily="2" charset="-78"/>
              </a:rPr>
              <a:t>  pl. فِقْرَاتٌ</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مُقَدِّمَةٌ</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an introduction</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خَاتِمَةٌ</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conclusion</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أَتَنَقَّلُ</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I get around</a:t>
            </a:r>
            <a:pPr indent="0" marL="0">
              <a:buNone/>
            </a:pPr>
            <a:r>
              <a:rPr lang="en-US" sz="1000" i="1" dirty="0">
                <a:solidFill>
                  <a:srgbClr val="5A6472"/>
                </a:solidFill>
                <a:latin typeface="Calibri" pitchFamily="34" charset="0"/>
                <a:cs typeface="Amiri" pitchFamily="2" charset="-78"/>
              </a:rPr>
              <a:t>  she: تَتَنَقَّلُ</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مَسْوَدَّةٌ</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draft</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Plan: write three things you will say about your town and three about transport.</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cs typeface="Amiri" pitchFamily="2" charset="-78"/>
              </a:rPr>
              <a:t>مَدِينَتِي … · أَتَنَقَّلُ بِـ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F6-L08: the vocabulary tab and the “Who is being addressed?” sorter.</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task: directions from the station to a town place + four signs.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Rewrite the route for a group and add an alternative route.</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43 / 44</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F6-L08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700" b="1" dirty="0">
                <a:solidFill>
                  <a:srgbClr val="FFFFFF"/>
                </a:solidFill>
                <a:latin typeface="Cambria" pitchFamily="34" charset="0"/>
                <a:cs typeface="Amiri" pitchFamily="2" charset="-78"/>
              </a:rPr>
              <a:t>F6-L09 · Extended Writing: My Town and How I Get Around</a:t>
            </a:r>
            <a:endParaRPr lang="en-US" sz="17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cs typeface="Amiri" pitchFamily="2" charset="-78"/>
              </a:rPr>
              <a:t>الكِتَابَةُ المُوَسَّعَةُ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to a boy </a:t>
            </a:r>
            <a:pPr algn="l" indent="0" marL="0">
              <a:buNone/>
            </a:pPr>
            <a:r>
              <a:rPr lang="ar-SA" altLang="en-US" sz="1700" b="1" dirty="0">
                <a:solidFill>
                  <a:srgbClr val="FFFFFF"/>
                </a:solidFill>
                <a:latin typeface="Amiri" pitchFamily="2" charset="-78"/>
                <a:cs typeface="Amiri" pitchFamily="2" charset="-78"/>
              </a:rPr>
              <a:t>اِذْهَبْ</a:t>
            </a:r>
            <a:pPr algn="l" indent="0" marL="0">
              <a:buNone/>
            </a:pPr>
            <a:r>
              <a:rPr lang="en-US" sz="1300" b="1" dirty="0">
                <a:solidFill>
                  <a:srgbClr val="FFFFFF"/>
                </a:solidFill>
                <a:latin typeface="Calibri" pitchFamily="34" charset="0"/>
                <a:cs typeface="Amiri" pitchFamily="2" charset="-78"/>
              </a:rPr>
              <a:t> · to a girl </a:t>
            </a:r>
            <a:pPr algn="l" indent="0" marL="0">
              <a:buNone/>
            </a:pPr>
            <a:r>
              <a:rPr lang="ar-SA" altLang="en-US" sz="1700" b="1" dirty="0">
                <a:solidFill>
                  <a:srgbClr val="FFFFFF"/>
                </a:solidFill>
                <a:latin typeface="Amiri" pitchFamily="2" charset="-78"/>
                <a:cs typeface="Amiri" pitchFamily="2" charset="-78"/>
              </a:rPr>
              <a:t>اِذْهَبِي</a:t>
            </a:r>
            <a:pPr algn="l" indent="0" marL="0">
              <a:buNone/>
            </a:pPr>
            <a:r>
              <a:rPr lang="en-US" sz="1300" b="1" dirty="0">
                <a:solidFill>
                  <a:srgbClr val="FFFFFF"/>
                </a:solidFill>
                <a:latin typeface="Calibri" pitchFamily="34" charset="0"/>
                <a:cs typeface="Amiri" pitchFamily="2" charset="-78"/>
              </a:rPr>
              <a:t> · to a group </a:t>
            </a:r>
            <a:pPr algn="l" indent="0" marL="0">
              <a:buNone/>
            </a:pPr>
            <a:r>
              <a:rPr lang="ar-SA" altLang="en-US" sz="1700" b="1" dirty="0">
                <a:solidFill>
                  <a:srgbClr val="FFFFFF"/>
                </a:solidFill>
                <a:latin typeface="Amiri" pitchFamily="2" charset="-78"/>
                <a:cs typeface="Amiri" pitchFamily="2" charset="-78"/>
              </a:rPr>
              <a:t>اِذْهَبُوا</a:t>
            </a:r>
            <a:pPr algn="l" indent="0" marL="0">
              <a:buNone/>
            </a:pPr>
            <a:r>
              <a:rPr lang="en-US" sz="1300" b="1" dirty="0">
                <a:solidFill>
                  <a:srgbClr val="FFFFFF"/>
                </a:solidFill>
                <a:latin typeface="Calibri" pitchFamily="34" charset="0"/>
                <a:cs typeface="Amiri" pitchFamily="2" charset="-78"/>
              </a:rPr>
              <a:t> · + </a:t>
            </a:r>
            <a:pPr algn="l" indent="0" marL="0">
              <a:buNone/>
            </a:pPr>
            <a:r>
              <a:rPr lang="ar-SA" altLang="en-US" sz="1700" b="1" dirty="0">
                <a:solidFill>
                  <a:srgbClr val="FFFFFF"/>
                </a:solidFill>
                <a:latin typeface="Amiri" pitchFamily="2" charset="-78"/>
                <a:cs typeface="Amiri" pitchFamily="2" charset="-78"/>
              </a:rPr>
              <a:t>مُسْتَقِيمًا / يَمِينًا / يَسَارًا</a:t>
            </a:r>
            <a:pPr algn="l" indent="0" marL="0">
              <a:buNone/>
            </a:pPr>
            <a:r>
              <a:rPr lang="en-US" sz="1300" b="1" dirty="0">
                <a:solidFill>
                  <a:srgbClr val="FFFFFF"/>
                </a:solidFill>
                <a:latin typeface="Calibri" pitchFamily="34" charset="0"/>
                <a:cs typeface="Amiri" pitchFamily="2" charset="-78"/>
              </a:rPr>
              <a: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44</Slides>
  <Notes>44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44</vt:i4>
      </vt:variant>
    </vt:vector>
  </HeadingPairs>
  <TitlesOfParts>
    <vt:vector size="4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F6-L08 · Giving Directions: Signs, Streets and Maps</dc:title>
  <dc:subject>PptxGenJS Presentation</dc:subject>
  <dc:creator>Al Madina Online School · Arabic Department</dc:creator>
  <cp:lastModifiedBy>Al Madina Online School · Arabic Department</cp:lastModifiedBy>
  <cp:revision>1</cp:revision>
  <dcterms:created xsi:type="dcterms:W3CDTF">2026-10-11T06:41:56Z</dcterms:created>
  <dcterms:modified xsi:type="dcterms:W3CDTF">2026-10-11T06:41:56Z</dcterms:modified>
</cp:coreProperties>
</file>