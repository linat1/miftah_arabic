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F6 My Town and Transport › F6-L04. The website lesson “Tickets, Timetables and Journey Duration”: vocabulary, grammar rules and quiz, patterns, common mistakes, sorter, listening, reading, speaking prompts and model, writing task and model, differentiation, final check and the lesson mission. Picture match: website visual game “Tickets, Timetables and Journey Duration”.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 supported ticket dialogue with the key chunks: أُرِيدُ تَذْكِرَةً إِلَى … · كَمْ ثَمَنُ التَّذْكِرَةِ؟ · مَتَى يُغَادِرُ القِطَارُ؟
• Develop: read the departure board and create a six-line transaction independently.
• Stretch: handle a delay, a platform change and an alternative journey with follow-up questions.
• Website: “Transport timetables reward scanning for destination, time, platform and delay status rather than translating every word.”
• Times: use numerals on the board (٨:٣٠ / 8:30); say them with the F4-L02 clock language (الثَّامِنَةُ وَالنِّصْفُ).
• The verb agrees with the vehicle: القِطَارُ يُغَادِرُ · الحَافِلَةُ تُغَادِرُ · الرِّحْلَةُ تَسْتَغْرِقُ.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F6-L03. Questions 3–5 retrieve F6-L03 (bi-, asking a girl, journey verbs).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Journey (رِحْلَةٌ) is feminine, so “it takes” is tastaghriqu.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مدت (a period — “kuch muddat”), درجہ (class: پہلا درجہ “first class”), تاخیر (delay) all share their roots with the lesson words. جواز (justification, permission) → جَوَازُ سَفَرٍ “permission to travel” = passport. وعدہ (promise) → مَوْعِدٌ (an agreed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Ticket office (website vocabulary (1 of 2)). Hear → Say → See → Use. Transliteration is printed for Core students (cover it for Develop/Stretch).
Ticket words. تَذْكِرَةٌ (pl. تَذَاكِرُ): مُفْرَدَةٌ (single) / ذَهَابٍ وَإِيَابٍ (return: “going and coming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Ticket office (website vocabulary (2 of 2)). Hear → Say → See → Use. Transliteration is printed for Core students (cover it for Develop/Stretch).
Ticket words. تَذْكِرَةٌ (pl. تَذَاكِرُ): مُفْرَدَةٌ (single) / ذَهَابٍ وَإِيَابٍ (return: “going and coming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Timetable and journey (website vocabulary (1 of 2)). Hear → Say → See → Use. Transliteration is printed for Core students (cover it for Develop/Stretch).
Timetable verbs: the cards show he / she (it, f.) / I. القِطَارُ يُغَادِرُ but الحَافِلَةُ تُغَادِرُ.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Timetable and journey (website vocabulary (2 of 2)). Hear → Say → See → Use. Transliteration is printed for Core students (cover it for Develop/Stretch).
Timetable verbs: the cards show he / she (it, f.) / I. القِطَارُ يُغَادِرُ but الحَافِلَةُ تُغَادِرُ.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Useful numbers and questions (website vocabulary (1 of 2)). Hear → Say → See → Use. Transliteration is printed for Core students (cover it for Develop/Stretch).
FLEX: teach if time allows; otherwise these are on the website vocabulary tab for homework.
FLEX: the four key questions are on the grammar slide. Times: سَاعَةٌ، سَاعَتَانِ (2), ثَلَاثُ سَاعَاتٍ; نِصْفُ سَاعَةٍ.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Useful numbers and questions (website vocabulary (2 of 2)). Hear → Say → See → Use. Transliteration is printed for Core students (cover it for Develop/Stretch).
FLEX: teach if time allows; otherwise these are on the website vocabulary tab for homework.
FLEX: the four key questions are on the grammar slide. Times: سَاعَةٌ، سَاعَتَانِ (2), ثَلَاثُ سَاعَاتٍ; نِصْفُ سَاعَةٍ.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“Book or buy a ticket” (أُرِيدُ أَنْ أَحْجُزَ / أَشْتَرِيَ تَذْكِرَةً, or simply أُرِيدُ تَذْكِرَةً), “Ask departure and arrival times” (مَتَى + verb + the transport noun as subject) and “Ask for platform and ticket type”.
Website mistakes: أُرِيدُ يَحْجُزُ ✗ → أُرِيدُ أَنْ أَحْجُزَ ✓ · مَتَى الرَّصِيفُ؟ ✗ → مِنْ أَيِّ رَصِيفٍ؟ ✓.
Price: كَمْ ثَمَنُ + noun (F5-L06).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“State journey duration”: تَسْتَغْرِقُ الرِّحْلَةُ + period (the duration is the object: سَاعَةً، سَاعَتَيْنِ، ثَلَاثَ سَاعَاتٍ، نِصْفَ سَاعَةٍ).
Website common error: يَسْتَغْرِقُ الرِّحْلَةُ ✗ → تَسْتَغْرِقُ الرِّحْلَةُ ✓.
Link: F5-L08 مُنْذُ (since / for) describes how long something HAS lasted; تَسْتَغْرِقُ says how long a journey 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“Ticket transactions combine present-tense verbs, question words, time and number language. The key new duration pattern is تَسْتَغْرِقُ الرِّحْلَةُ + time period.”
• Book or buy a ticket: Use أُرِيدُ أَنْ before the action when stating what you want to do. In simple transactional speech, أُرِيدُ تَذْكِرَةً is also useful.
• Ask departure and arrival times: مَتَى asks for a time. The transport noun remains the subject of the verb.
• State journey duration: The feminine verb form agrees with رِحْلَةٌ. Add the number and unit of time.
• Ask for platform and ticket type: These short questions are common in real transport exchanges.
Website common error: Do not use a masculine verb with رِحْلَةٌ. Write تَسْتَغْرِقُ الرِّحْلَةُ, not يَسْتَغْرِقُ الرِّحْلَةُ.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model dialogue. Perform it with a confident student (you are the clerk). Then swap and change the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Tickets, Timetables and Journey Duration”)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website’s departure items write يَغَادِرُ — the correct vowelling is يُغَادِرُ / تُغَادِرُ, so they are left out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Tickets, Timetables and Journey Duration”)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website’s departure items write يَغَادِرُ — the correct vowelling is يُغَادِرُ / تُغَادِرُ, so they are left out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Classify the word by its main function.
Ask: would you hear this at the ticket window or read it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Classify the word by its main function.
Ask: would you hear this at the ticket window or read it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then act the dialogue.
Listen 1: just listen. Listen 2: note answers. Then chat the letters.
Support: after the second listening, show the read-along slide (Arabic + English, line by line) for Core students.
SCRIPT (read aloud):
المُسَافِرُ: مِنْ فَضْلِكَ، أُرِيدُ تَذْكِرَةَ ذَهَابٍ وَإِيَابٍ إِلَى عَمَّانَ. المَوَظَّفُ: الدَّرَجَةُ الأُولَى أَمِ الثَّانِيَةُ؟ المُسَافِرُ: الدَّرَجَةُ الثَّانِيَةُ. كَمْ ثَمَنُ التَّذْكِرَةِ؟ المَوَظَّفُ: خَمْسَةٌ وَثَلَاثُونَ دِينَارًا. القِطَارُ يُغَادِرُ عِنْدَ السَّاعَةِ التَّاسِعَةِ وَالرُّبْعِ مِنَ الرَّصِيفِ الرَّابِعِ. المُسَافِرُ: كَمْ تَسْتَغْرِقُ الرِّحْلَةُ؟ المَوَظَّفُ: سَاعَتَيْنِ وَنِصْفًا، وَالقِطَارُ فِي الوَقْتِ.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ذَهَابًا وَإِيَابًا، مِنْ فَضْلِكَ. مَتَى تُغَادِرُ الرِّحْلَةُ؟ (Return please. When does it leave?)
B: تُغَادِرُ عِنْدَ السَّاعَةِ العَاشِرَةِ وَتَسْتَغْرِقُ ثَلَاثَ سَاعَاتٍ. (It leaves at ten and takes three hours.)
Website “Ticket-office role play” — all four prompts are the website’s. Put a departure board on screen (the reading text). Stretch: the clerk announces a delay or a platform change. Website model: مَرْحَبًا، أُرِيدُ تَذْكِرَةً إِلَى بَيْرُوتَ. — ذَهَابًا فَقَطْ أَمْ ذَهَابًا وَإِيَابًا؟ — ذَهَابًا وَإِيَابًا، مِنْ فَضْلِكَ. مَتَى تُغَادِرُ الرِّحْلَةُ؟ — تُغَادِرُ عِنْدَ السَّاعَةِ العَاشِرَةِ وَتَسْتَغْرِقُ ثَلَاثَ سَاعَاتٍ.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Complete a supported ticket dialogue using the key question chunks. · Develop — Read a timetable and create a six-line transaction independently. · Stretch — Handle a delay, change of platform and alternative journey using spontaneous follow-up questions.
Website writing task (Stretch): Write a complete ticket-office dialogue and a short timetable note.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تَذْكِرَةَ ذَهَابٍ وَإِيَابٍ · كَمْ ثَمَنُ التَّذْكِرَةِ؟ · مَتَى تُغَادِرُ الرِّحْلَةُ؟ · تَسْتَغْرِقُ سَاعَتَيْنِ.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(F6-L05 · Describing Your Town: Advantages and Disadvantages) will spend class time USING this language, so students prepare it tonight — short, simple, easy to access (school guidance: “Simple, Short, Interesting, Relevant, Easy to access”). The five words come from the website F6-L05 lesson (advantages and disadvantages of your town).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Tickets, Timetables and Journey Duration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التَّذَاكِرُ وَجَدَاوِلُ الرِّحْلَاتِ وَالمُدَّةُ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Buy a ticket, read a departure board and ask when, from which platform and how long: </a:t>
            </a:r>
            <a:pPr algn="l" indent="0" marL="0">
              <a:buNone/>
            </a:pPr>
            <a:r>
              <a:rPr lang="ar-SA" altLang="en-US" sz="1800" dirty="0">
                <a:solidFill>
                  <a:srgbClr val="C6D2E6"/>
                </a:solidFill>
                <a:latin typeface="Amiri" pitchFamily="2" charset="-78"/>
                <a:cs typeface="Amiri" pitchFamily="2" charset="-78"/>
              </a:rPr>
              <a:t>تَسْتَغْرِقُ الرِّحْلَةُ سَاعَتَيْنِ</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F6-L04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Ticket office and timetable words, then book · when? · which platform? · how long?</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ticket / timetable, fix the mistakes and listen at the train station.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F6-L05.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تَذْكِرَةٌ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timetable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ticket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platform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يُغَادِرُ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departs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arrives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delayed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by bus.”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عَلَى الحَافِلَةِ.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مَشْيًا الحَافِلَةَ.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بِالحَافِلَةِ.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how she travels.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تُسَافِرُ؟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أُسَافِرُ؟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تُسَافِرِينَ؟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يَقُودُ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drives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rides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walks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تَذْكِرَةٌ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timetable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ticket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platform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يُغَادِرُ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departs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arrives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delayed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by bus.”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أَذْهَبُ عَلَى الحَافِلَةِ.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أَذْهَبُ مَشْيًا الحَافِلَةَ.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أَذْهَبُ بِالحَافِلَةِ.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F6-L03: bi- with motor transport.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how she travels.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كَيْفَ تُسَافِرُ؟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كَيْفَ أُسَافِرُ؟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كَيْفَ تُسَافِرِينَ؟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F6-L03: -īna for a girl.</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يَقُودُ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drives</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rides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walks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F6-L03 journey verbs.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Journey (</a:t>
            </a:r>
            <a:pPr algn="l" indent="0" marL="0">
              <a:buNone/>
            </a:pPr>
            <a:r>
              <a:rPr lang="ar-SA" altLang="en-US" sz="1700" b="1" dirty="0">
                <a:solidFill>
                  <a:srgbClr val="1F2A37"/>
                </a:solidFill>
                <a:latin typeface="Amiri" pitchFamily="2" charset="-78"/>
                <a:cs typeface="Amiri" pitchFamily="2" charset="-78"/>
              </a:rPr>
              <a:t>رِحْلَةٌ</a:t>
            </a:r>
            <a:pPr algn="l" indent="0" marL="0">
              <a:buNone/>
            </a:pPr>
            <a:r>
              <a:rPr lang="en-US" sz="1300" b="1" dirty="0">
                <a:solidFill>
                  <a:srgbClr val="1F2A37"/>
                </a:solidFill>
                <a:latin typeface="Calibri" pitchFamily="34" charset="0"/>
                <a:cs typeface="Amiri" pitchFamily="2" charset="-78"/>
              </a:rPr>
              <a:t>) is feminine, so “it takes” is tastaghriqu.</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تَسْتَغْرِقُ</a:t>
            </a:r>
            <a:pPr rtl="1" algn="ctr" indent="0" marL="0">
              <a:buNone/>
            </a:pPr>
            <a:r>
              <a:rPr lang="ar-SA" altLang="en-US" sz="2400" b="1" dirty="0">
                <a:solidFill>
                  <a:srgbClr val="1B3B6F"/>
                </a:solidFill>
                <a:latin typeface="Amiri" pitchFamily="2" charset="-78"/>
                <a:cs typeface="Amiri" pitchFamily="2" charset="-78"/>
              </a:rPr>
              <a:t> الرِّحْلَةُ </a:t>
            </a:r>
            <a:pPr rtl="1" algn="ctr" indent="0" marL="0">
              <a:buNone/>
            </a:pPr>
            <a:r>
              <a:rPr lang="ar-SA" altLang="en-US" sz="2400" b="1" dirty="0">
                <a:solidFill>
                  <a:srgbClr val="0E7C86"/>
                </a:solidFill>
                <a:latin typeface="Amiri" pitchFamily="2" charset="-78"/>
                <a:cs typeface="Amiri" pitchFamily="2" charset="-78"/>
              </a:rPr>
              <a:t>سَاعَتَيْنِ</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essential station and ticket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and answer about departure, arrival, platform and price.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تَسْتَغْرِقُ</a:t>
            </a:r>
            <a:pPr algn="l" indent="0" marL="0">
              <a:buNone/>
            </a:pPr>
            <a:r>
              <a:rPr lang="en-US" sz="1300" dirty="0">
                <a:solidFill>
                  <a:srgbClr val="1F2A37"/>
                </a:solidFill>
                <a:latin typeface="Calibri" pitchFamily="34" charset="0"/>
                <a:cs typeface="Amiri" pitchFamily="2" charset="-78"/>
              </a:rPr>
              <a:t> with a time period.</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Complete a realistic ticket-office exchange.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for a single or a return ticket.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when the train leaves.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read a simple departure board.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how long a journey takes.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deal with a delay or a platform change.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perform the ticket dialogue without notes.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29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Ticket office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Timetable and journey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Useful numbers and questions · 7</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مَوْعِدٌ</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‎وعدہ‎ </a:t>
            </a:r>
            <a:pPr indent="0" marL="0">
              <a:buNone/>
            </a:pPr>
            <a:r>
              <a:rPr lang="en-US" sz="950" b="1" dirty="0">
                <a:solidFill>
                  <a:srgbClr val="2E8B57"/>
                </a:solidFill>
                <a:latin typeface="Calibri" pitchFamily="34" charset="0"/>
                <a:cs typeface="Amiri" pitchFamily="2" charset="-78"/>
              </a:rPr>
              <a:t> vaʿda · promise → set time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مُدَّةٌ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‎مدت‎ </a:t>
            </a:r>
            <a:pPr indent="0" marL="0">
              <a:buNone/>
            </a:pPr>
            <a:r>
              <a:rPr lang="en-US" sz="950" b="1" dirty="0">
                <a:solidFill>
                  <a:srgbClr val="2E8B57"/>
                </a:solidFill>
                <a:latin typeface="Calibri" pitchFamily="34" charset="0"/>
                <a:cs typeface="Amiri" pitchFamily="2" charset="-78"/>
              </a:rPr>
              <a:t> muddat · a period (of time)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دَرَجَةٌ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‎درجہ‎ </a:t>
            </a:r>
            <a:pPr indent="0" marL="0">
              <a:buNone/>
            </a:pPr>
            <a:r>
              <a:rPr lang="en-US" sz="950" b="1" dirty="0">
                <a:solidFill>
                  <a:srgbClr val="2E8B57"/>
                </a:solidFill>
                <a:latin typeface="Calibri" pitchFamily="34" charset="0"/>
                <a:cs typeface="Amiri" pitchFamily="2" charset="-78"/>
              </a:rPr>
              <a:t> darja · class / grade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جَوَازُ سَفَرٍ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‎جواز‎ </a:t>
            </a:r>
            <a:pPr indent="0" marL="0">
              <a:buNone/>
            </a:pPr>
            <a:r>
              <a:rPr lang="en-US" sz="950" b="1" dirty="0">
                <a:solidFill>
                  <a:srgbClr val="2E8B57"/>
                </a:solidFill>
                <a:latin typeface="Calibri" pitchFamily="34" charset="0"/>
                <a:cs typeface="Amiri" pitchFamily="2" charset="-78"/>
              </a:rPr>
              <a:t> jawāz · permission → passport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تَأَخُّرٌ</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‎تاخیر‎ </a:t>
            </a:r>
            <a:pPr indent="0" marL="0">
              <a:buNone/>
            </a:pPr>
            <a:r>
              <a:rPr lang="en-US" sz="950" b="1" dirty="0">
                <a:solidFill>
                  <a:srgbClr val="2E8B57"/>
                </a:solidFill>
                <a:latin typeface="Calibri" pitchFamily="34" charset="0"/>
                <a:cs typeface="Amiri" pitchFamily="2" charset="-78"/>
              </a:rPr>
              <a:t> tākhīr · a delay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Ticket office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شُبَّاكُ التَّذَاكِرِ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ticket window</a:t>
            </a:r>
            <a:endParaRPr lang="en-US" sz="1350" dirty="0"/>
          </a:p>
          <a:p>
            <a:pPr indent="0" marL="0">
              <a:buNone/>
            </a:pPr>
            <a:r>
              <a:rPr lang="en-US" sz="1100" i="1" dirty="0">
                <a:solidFill>
                  <a:srgbClr val="5A6472"/>
                </a:solidFill>
                <a:latin typeface="Calibri" pitchFamily="34" charset="0"/>
                <a:cs typeface="Amiri" pitchFamily="2" charset="-78"/>
              </a:rPr>
              <a:t>shub-bā-ku at-ta-dhā-ki-ri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مَكْتَبُ الحَجْزِ</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booking office</a:t>
            </a:r>
            <a:endParaRPr lang="en-US" sz="1350" dirty="0"/>
          </a:p>
          <a:p>
            <a:pPr indent="0" marL="0">
              <a:buNone/>
            </a:pPr>
            <a:r>
              <a:rPr lang="en-US" sz="1100" i="1" dirty="0">
                <a:solidFill>
                  <a:srgbClr val="5A6472"/>
                </a:solidFill>
                <a:latin typeface="Calibri" pitchFamily="34" charset="0"/>
                <a:cs typeface="Amiri" pitchFamily="2" charset="-78"/>
              </a:rPr>
              <a:t>mak-ta-bu al-ḥaj-zi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يَحْجُزُ / أَحْجُزُ</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books / I book</a:t>
            </a:r>
            <a:endParaRPr lang="en-US" sz="1350" dirty="0"/>
          </a:p>
          <a:p>
            <a:pPr indent="0" marL="0">
              <a:buNone/>
            </a:pPr>
            <a:r>
              <a:rPr lang="en-US" sz="1100" i="1" dirty="0">
                <a:solidFill>
                  <a:srgbClr val="5A6472"/>
                </a:solidFill>
                <a:latin typeface="Calibri" pitchFamily="34" charset="0"/>
                <a:cs typeface="Amiri" pitchFamily="2" charset="-78"/>
              </a:rPr>
              <a:t>yaḥ-ju-zu / aḥ-ju-zu</a:t>
            </a:r>
            <a:endParaRPr lang="en-US" sz="1350" dirty="0"/>
          </a:p>
        </p:txBody>
      </p:sp>
      <p:sp>
        <p:nvSpPr>
          <p:cNvPr id="34" name="Shape 3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6" name="Text 3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يَحْجُزُ</a:t>
            </a:r>
            <a:endParaRPr lang="ar-SA" sz="1500" dirty="0"/>
          </a:p>
        </p:txBody>
      </p:sp>
      <p:sp>
        <p:nvSpPr>
          <p:cNvPr id="37" name="Shape 3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9" name="Text 36"/>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تَحْجُزُ</a:t>
            </a:r>
            <a:endParaRPr lang="ar-SA" sz="1350" dirty="0"/>
          </a:p>
        </p:txBody>
      </p:sp>
      <p:sp>
        <p:nvSpPr>
          <p:cNvPr id="40" name="Shape 3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أَحْجُزُ</a:t>
            </a:r>
            <a:endParaRPr lang="ar-SA" sz="150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يَشْتَرِي / أَشْتَرِي</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buys / I buy</a:t>
            </a:r>
            <a:endParaRPr lang="en-US" sz="1350" dirty="0"/>
          </a:p>
          <a:p>
            <a:pPr indent="0" marL="0">
              <a:buNone/>
            </a:pPr>
            <a:r>
              <a:rPr lang="en-US" sz="1100" i="1" dirty="0">
                <a:solidFill>
                  <a:srgbClr val="5A6472"/>
                </a:solidFill>
                <a:latin typeface="Calibri" pitchFamily="34" charset="0"/>
                <a:cs typeface="Amiri" pitchFamily="2" charset="-78"/>
              </a:rPr>
              <a:t>yash-ta-rī / ash-ta-rī</a:t>
            </a:r>
            <a:endParaRPr lang="en-US" sz="135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1" name="Shape 4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تَذْكِرَةٌ مُفْرَدَةٌ</a:t>
            </a:r>
            <a:endParaRPr lang="ar-SA" sz="3000" dirty="0"/>
          </a:p>
        </p:txBody>
      </p:sp>
      <p:sp>
        <p:nvSpPr>
          <p:cNvPr id="54" name="Text 5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single ticket</a:t>
            </a:r>
            <a:endParaRPr lang="en-US" sz="1350" dirty="0"/>
          </a:p>
          <a:p>
            <a:pPr indent="0" marL="0">
              <a:buNone/>
            </a:pPr>
            <a:r>
              <a:rPr lang="en-US" sz="1100" i="1" dirty="0">
                <a:solidFill>
                  <a:srgbClr val="5A6472"/>
                </a:solidFill>
                <a:latin typeface="Calibri" pitchFamily="34" charset="0"/>
                <a:cs typeface="Amiri" pitchFamily="2" charset="-78"/>
              </a:rPr>
              <a:t>tadh-ki-ra-tun muf-ra-da-tun</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Ticket office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تَذْكِرَةُ ذَهَابٍ وَإِيَابٍ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return ticket</a:t>
            </a:r>
            <a:endParaRPr lang="en-US" sz="1350" dirty="0"/>
          </a:p>
          <a:p>
            <a:pPr indent="0" marL="0">
              <a:buNone/>
            </a:pPr>
            <a:r>
              <a:rPr lang="en-US" sz="1100" i="1" dirty="0">
                <a:solidFill>
                  <a:srgbClr val="5A6472"/>
                </a:solidFill>
                <a:latin typeface="Calibri" pitchFamily="34" charset="0"/>
                <a:cs typeface="Amiri" pitchFamily="2" charset="-78"/>
              </a:rPr>
              <a:t>tadh-ki-ra-tu dha-hā-bin wa-ʾi-yā-bin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دَرَجَةٌ أُولَى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 class</a:t>
            </a:r>
            <a:endParaRPr lang="en-US" sz="1350" dirty="0"/>
          </a:p>
          <a:p>
            <a:pPr indent="0" marL="0">
              <a:buNone/>
            </a:pPr>
            <a:r>
              <a:rPr lang="en-US" sz="1100" i="1" dirty="0">
                <a:solidFill>
                  <a:srgbClr val="5A6472"/>
                </a:solidFill>
                <a:latin typeface="Calibri" pitchFamily="34" charset="0"/>
                <a:cs typeface="Amiri" pitchFamily="2" charset="-78"/>
              </a:rPr>
              <a:t>da-ra-ja-tun ū-lā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دَرَجَةٌ ثَانِيَةٌ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second class</a:t>
            </a:r>
            <a:endParaRPr lang="en-US" sz="1350" dirty="0"/>
          </a:p>
          <a:p>
            <a:pPr indent="0" marL="0">
              <a:buNone/>
            </a:pPr>
            <a:r>
              <a:rPr lang="en-US" sz="1100" i="1" dirty="0">
                <a:solidFill>
                  <a:srgbClr val="5A6472"/>
                </a:solidFill>
                <a:latin typeface="Calibri" pitchFamily="34" charset="0"/>
                <a:cs typeface="Amiri" pitchFamily="2" charset="-78"/>
              </a:rPr>
              <a:t>da-ra-ja-tun thā-ni-ya-tun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حَجْزٌ مُسْبَقٌ</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advance booking</a:t>
            </a:r>
            <a:endParaRPr lang="en-US" sz="1350" dirty="0"/>
          </a:p>
          <a:p>
            <a:pPr indent="0" marL="0">
              <a:buNone/>
            </a:pPr>
            <a:r>
              <a:rPr lang="en-US" sz="1100" i="1" dirty="0">
                <a:solidFill>
                  <a:srgbClr val="5A6472"/>
                </a:solidFill>
                <a:latin typeface="Calibri" pitchFamily="34" charset="0"/>
                <a:cs typeface="Amiri" pitchFamily="2" charset="-78"/>
              </a:rPr>
              <a:t>ḥaj-zun mus-ba-qun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جَوَازُ سَفَرٍ</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passport</a:t>
            </a:r>
            <a:endParaRPr lang="en-US" sz="1350" dirty="0"/>
          </a:p>
          <a:p>
            <a:pPr indent="0" marL="0">
              <a:buNone/>
            </a:pPr>
            <a:r>
              <a:rPr lang="en-US" sz="1100" i="1" dirty="0">
                <a:solidFill>
                  <a:srgbClr val="5A6472"/>
                </a:solidFill>
                <a:latin typeface="Calibri" pitchFamily="34" charset="0"/>
                <a:cs typeface="Amiri" pitchFamily="2" charset="-78"/>
              </a:rPr>
              <a:t>ja-wā-zu sa-fa-rin</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Timetable and journey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مَوْعِدٌ</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 appointment</a:t>
            </a:r>
            <a:endParaRPr lang="en-US" sz="1350" dirty="0"/>
          </a:p>
          <a:p>
            <a:pPr indent="0" marL="0">
              <a:buNone/>
            </a:pPr>
            <a:r>
              <a:rPr lang="en-US" sz="1100" i="1" dirty="0">
                <a:solidFill>
                  <a:srgbClr val="5A6472"/>
                </a:solidFill>
                <a:latin typeface="Calibri" pitchFamily="34" charset="0"/>
                <a:cs typeface="Amiri" pitchFamily="2" charset="-78"/>
              </a:rPr>
              <a:t>maw-ʿi-dun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3" name="Shape 2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يُغَادِرُ</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departs</a:t>
            </a:r>
            <a:endParaRPr lang="en-US" sz="1350" dirty="0"/>
          </a:p>
          <a:p>
            <a:pPr indent="0" marL="0">
              <a:buNone/>
            </a:pPr>
            <a:r>
              <a:rPr lang="en-US" sz="1100" i="1" dirty="0">
                <a:solidFill>
                  <a:srgbClr val="5A6472"/>
                </a:solidFill>
                <a:latin typeface="Calibri" pitchFamily="34" charset="0"/>
                <a:cs typeface="Amiri" pitchFamily="2" charset="-78"/>
              </a:rPr>
              <a:t>yu-ghā-di-ru</a:t>
            </a:r>
            <a:endParaRPr lang="en-US" sz="1350" dirty="0"/>
          </a:p>
        </p:txBody>
      </p:sp>
      <p:sp>
        <p:nvSpPr>
          <p:cNvPr id="29" name="Shape 2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1" name="Text 28"/>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يُغَادِرُ</a:t>
            </a:r>
            <a:endParaRPr lang="ar-SA" sz="1500" dirty="0"/>
          </a:p>
        </p:txBody>
      </p:sp>
      <p:sp>
        <p:nvSpPr>
          <p:cNvPr id="32" name="Shape 2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4" name="Text 31"/>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تُغَادِرُ</a:t>
            </a:r>
            <a:endParaRPr lang="ar-SA" sz="1350" dirty="0"/>
          </a:p>
        </p:txBody>
      </p:sp>
      <p:sp>
        <p:nvSpPr>
          <p:cNvPr id="35" name="Shape 3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7" name="Text 3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أُغَادِرُ</a:t>
            </a:r>
            <a:endParaRPr lang="ar-SA" sz="15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1" name="Shape 38"/>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يَصِلُ</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arrives</a:t>
            </a:r>
            <a:endParaRPr lang="en-US" sz="1350" dirty="0"/>
          </a:p>
          <a:p>
            <a:pPr indent="0" marL="0">
              <a:buNone/>
            </a:pPr>
            <a:r>
              <a:rPr lang="en-US" sz="1100" i="1" dirty="0">
                <a:solidFill>
                  <a:srgbClr val="5A6472"/>
                </a:solidFill>
                <a:latin typeface="Calibri" pitchFamily="34" charset="0"/>
                <a:cs typeface="Amiri" pitchFamily="2" charset="-78"/>
              </a:rPr>
              <a:t>ya-ṣi-lu</a:t>
            </a:r>
            <a:endParaRPr lang="en-US" sz="1350" dirty="0"/>
          </a:p>
        </p:txBody>
      </p:sp>
      <p:sp>
        <p:nvSpPr>
          <p:cNvPr id="47" name="Shape 44"/>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9" name="Text 46"/>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يَصِلُ</a:t>
            </a:r>
            <a:endParaRPr lang="ar-SA" sz="1500" dirty="0"/>
          </a:p>
        </p:txBody>
      </p:sp>
      <p:sp>
        <p:nvSpPr>
          <p:cNvPr id="50" name="Shape 47"/>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2" name="Text 49"/>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تَصِلُ</a:t>
            </a:r>
            <a:endParaRPr lang="ar-SA" sz="1350" dirty="0"/>
          </a:p>
        </p:txBody>
      </p:sp>
      <p:sp>
        <p:nvSpPr>
          <p:cNvPr id="53" name="Shape 50"/>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5" name="Text 52"/>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أَصِلُ</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59" name="Shape 5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يَتَأَخَّرُ</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delayed</a:t>
            </a:r>
            <a:endParaRPr lang="en-US" sz="1350" dirty="0"/>
          </a:p>
          <a:p>
            <a:pPr indent="0" marL="0">
              <a:buNone/>
            </a:pPr>
            <a:r>
              <a:rPr lang="en-US" sz="1100" i="1" dirty="0">
                <a:solidFill>
                  <a:srgbClr val="5A6472"/>
                </a:solidFill>
                <a:latin typeface="Calibri" pitchFamily="34" charset="0"/>
                <a:cs typeface="Amiri" pitchFamily="2" charset="-78"/>
              </a:rPr>
              <a:t>ya-ta-ʾakh-kha-ru</a:t>
            </a:r>
            <a:endParaRPr lang="en-US" sz="1350" dirty="0"/>
          </a:p>
        </p:txBody>
      </p:sp>
      <p:sp>
        <p:nvSpPr>
          <p:cNvPr id="65" name="Shape 62"/>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7" name="Text 64"/>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يَتَأَخَّرُ</a:t>
            </a:r>
            <a:endParaRPr lang="ar-SA" sz="1500" dirty="0"/>
          </a:p>
        </p:txBody>
      </p:sp>
      <p:sp>
        <p:nvSpPr>
          <p:cNvPr id="68" name="Shape 65"/>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70" name="Text 67"/>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تَتَأَخَّرُ</a:t>
            </a:r>
            <a:endParaRPr lang="ar-SA" sz="1350" dirty="0"/>
          </a:p>
        </p:txBody>
      </p:sp>
      <p:sp>
        <p:nvSpPr>
          <p:cNvPr id="71" name="Shape 68"/>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3" name="Text 70"/>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أَتَأَخَّرُ</a:t>
            </a:r>
            <a:endParaRPr lang="ar-SA" sz="1500" dirty="0"/>
          </a:p>
        </p:txBody>
      </p:sp>
      <p:sp>
        <p:nvSpPr>
          <p:cNvPr id="74" name="Shape 7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4389120"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77" name="Shape 7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8" name="Text 7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9" name="Text 7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الوَقْتِ</a:t>
            </a:r>
            <a:endParaRPr lang="ar-SA" sz="3000" dirty="0"/>
          </a:p>
        </p:txBody>
      </p:sp>
      <p:sp>
        <p:nvSpPr>
          <p:cNvPr id="80" name="Text 7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time</a:t>
            </a:r>
            <a:endParaRPr lang="en-US" sz="1350" dirty="0"/>
          </a:p>
          <a:p>
            <a:pPr indent="0" marL="0">
              <a:buNone/>
            </a:pPr>
            <a:r>
              <a:rPr lang="en-US" sz="1100" i="1" dirty="0">
                <a:solidFill>
                  <a:srgbClr val="5A6472"/>
                </a:solidFill>
                <a:latin typeface="Calibri" pitchFamily="34" charset="0"/>
                <a:cs typeface="Amiri" pitchFamily="2" charset="-78"/>
              </a:rPr>
              <a:t>fī al-waq-ti</a:t>
            </a:r>
            <a:endParaRPr lang="en-US" sz="1350" dirty="0"/>
          </a:p>
        </p:txBody>
      </p:sp>
      <p:sp>
        <p:nvSpPr>
          <p:cNvPr id="81" name="Shape 7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566928"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84" name="Shape 81"/>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86" name="Shape 8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رَصِيفٌ</a:t>
            </a:r>
            <a:endParaRPr lang="ar-SA" sz="3000" dirty="0"/>
          </a:p>
        </p:txBody>
      </p:sp>
      <p:sp>
        <p:nvSpPr>
          <p:cNvPr id="89" name="Text 8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platform</a:t>
            </a:r>
            <a:endParaRPr lang="en-US" sz="1350" dirty="0"/>
          </a:p>
          <a:p>
            <a:pPr indent="0" marL="0">
              <a:buNone/>
            </a:pPr>
            <a:r>
              <a:rPr lang="en-US" sz="1100" i="1" dirty="0">
                <a:solidFill>
                  <a:srgbClr val="5A6472"/>
                </a:solidFill>
                <a:latin typeface="Calibri" pitchFamily="34" charset="0"/>
                <a:cs typeface="Amiri" pitchFamily="2" charset="-78"/>
              </a:rPr>
              <a:t>ra-ṣī-fun</a:t>
            </a:r>
            <a:endParaRPr lang="en-US" sz="1350" dirty="0"/>
          </a:p>
        </p:txBody>
      </p:sp>
      <p:sp>
        <p:nvSpPr>
          <p:cNvPr id="90" name="Shape 87"/>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92" name="Text 89"/>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رَصِيفٌ</a:t>
            </a:r>
            <a:endParaRPr lang="ar-SA" sz="1500" dirty="0"/>
          </a:p>
        </p:txBody>
      </p:sp>
      <p:sp>
        <p:nvSpPr>
          <p:cNvPr id="93" name="Shape 90"/>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5" name="Text 92"/>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أَرْصِفَةٌ</a:t>
            </a:r>
            <a:endParaRPr lang="ar-SA" sz="15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Timetable and journey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بَوَّابَةٌ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gate</a:t>
            </a:r>
            <a:endParaRPr lang="en-US" sz="1350" dirty="0"/>
          </a:p>
          <a:p>
            <a:pPr indent="0" marL="0">
              <a:buNone/>
            </a:pPr>
            <a:r>
              <a:rPr lang="en-US" sz="1100" i="1" dirty="0">
                <a:solidFill>
                  <a:srgbClr val="5A6472"/>
                </a:solidFill>
                <a:latin typeface="Calibri" pitchFamily="34" charset="0"/>
                <a:cs typeface="Amiri" pitchFamily="2" charset="-78"/>
              </a:rPr>
              <a:t>baw-wā-ba-tun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خَطٌّ</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line</a:t>
            </a:r>
            <a:endParaRPr lang="en-US" sz="1350" dirty="0"/>
          </a:p>
          <a:p>
            <a:pPr indent="0" marL="0">
              <a:buNone/>
            </a:pPr>
            <a:r>
              <a:rPr lang="en-US" sz="1100" i="1" dirty="0">
                <a:solidFill>
                  <a:srgbClr val="5A6472"/>
                </a:solidFill>
                <a:latin typeface="Calibri" pitchFamily="34" charset="0"/>
                <a:cs typeface="Amiri" pitchFamily="2" charset="-78"/>
              </a:rPr>
              <a:t>khaṭ-ṭun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رِحْلَةٌ مُبَاشِرَةٌ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direct journey</a:t>
            </a:r>
            <a:endParaRPr lang="en-US" sz="1350" dirty="0"/>
          </a:p>
          <a:p>
            <a:pPr indent="0" marL="0">
              <a:buNone/>
            </a:pPr>
            <a:r>
              <a:rPr lang="en-US" sz="1100" i="1" dirty="0">
                <a:solidFill>
                  <a:srgbClr val="5A6472"/>
                </a:solidFill>
                <a:latin typeface="Calibri" pitchFamily="34" charset="0"/>
                <a:cs typeface="Amiri" pitchFamily="2" charset="-78"/>
              </a:rPr>
              <a:t>riḥ-la-tun mu-bā-shi-ra-tun</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تَبْدِيلٌ</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change / transfer</a:t>
            </a:r>
            <a:endParaRPr lang="en-US" sz="1350" dirty="0"/>
          </a:p>
          <a:p>
            <a:pPr indent="0" marL="0">
              <a:buNone/>
            </a:pPr>
            <a:r>
              <a:rPr lang="en-US" sz="1100" i="1" dirty="0">
                <a:solidFill>
                  <a:srgbClr val="5A6472"/>
                </a:solidFill>
                <a:latin typeface="Calibri" pitchFamily="34" charset="0"/>
                <a:cs typeface="Amiri" pitchFamily="2" charset="-78"/>
              </a:rPr>
              <a:t>tab-dī-lun</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8" name="Shape 3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مُدَّةُ الرِّحْلَةِ</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journey duration</a:t>
            </a:r>
            <a:endParaRPr lang="en-US" sz="1350" dirty="0"/>
          </a:p>
          <a:p>
            <a:pPr indent="0" marL="0">
              <a:buNone/>
            </a:pPr>
            <a:r>
              <a:rPr lang="en-US" sz="1100" i="1" dirty="0">
                <a:solidFill>
                  <a:srgbClr val="5A6472"/>
                </a:solidFill>
                <a:latin typeface="Calibri" pitchFamily="34" charset="0"/>
                <a:cs typeface="Amiri" pitchFamily="2" charset="-78"/>
              </a:rPr>
              <a:t>mud-da-tu ar-riḥ-la-ti</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5" name="Shape 4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تَسْتَغْرِقُ</a:t>
            </a:r>
            <a:endParaRPr lang="ar-SA" sz="3000" dirty="0"/>
          </a:p>
        </p:txBody>
      </p:sp>
      <p:sp>
        <p:nvSpPr>
          <p:cNvPr id="48" name="Text 4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takes (time)</a:t>
            </a:r>
            <a:endParaRPr lang="en-US" sz="1350" dirty="0"/>
          </a:p>
          <a:p>
            <a:pPr indent="0" marL="0">
              <a:buNone/>
            </a:pPr>
            <a:r>
              <a:rPr lang="en-US" sz="1100" i="1" dirty="0">
                <a:solidFill>
                  <a:srgbClr val="5A6472"/>
                </a:solidFill>
                <a:latin typeface="Calibri" pitchFamily="34" charset="0"/>
                <a:cs typeface="Amiri" pitchFamily="2" charset="-78"/>
              </a:rPr>
              <a:t>tas-tagh-ri-qu</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Useful numbers and questions (1 of 2)</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كَمْ ثَمَنُ التَّذْكِرَةِ؟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the ticket?</a:t>
            </a:r>
            <a:endParaRPr lang="en-US" sz="1350" dirty="0"/>
          </a:p>
          <a:p>
            <a:pPr indent="0" marL="0">
              <a:buNone/>
            </a:pPr>
            <a:r>
              <a:rPr lang="en-US" sz="1100" i="1" dirty="0">
                <a:solidFill>
                  <a:srgbClr val="5A6472"/>
                </a:solidFill>
                <a:latin typeface="Calibri" pitchFamily="34" charset="0"/>
                <a:cs typeface="Amiri" pitchFamily="2" charset="-78"/>
              </a:rPr>
              <a:t>kam tha-ma-nu at-tadh-ki-ra-ti?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مَتَى يُغَادِرُ القِطَارُ؟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 does the train leave?</a:t>
            </a:r>
            <a:endParaRPr lang="en-US" sz="1350" dirty="0"/>
          </a:p>
          <a:p>
            <a:pPr indent="0" marL="0">
              <a:buNone/>
            </a:pPr>
            <a:r>
              <a:rPr lang="en-US" sz="1100" i="1" dirty="0">
                <a:solidFill>
                  <a:srgbClr val="5A6472"/>
                </a:solidFill>
                <a:latin typeface="Calibri" pitchFamily="34" charset="0"/>
                <a:cs typeface="Amiri" pitchFamily="2" charset="-78"/>
              </a:rPr>
              <a:t>ma-tā yu-ghā-di-ru al-qi-ṭā-ru?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أَيِّ رَصِيفٍ؟</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which platform?</a:t>
            </a:r>
            <a:endParaRPr lang="en-US" sz="1350" dirty="0"/>
          </a:p>
          <a:p>
            <a:pPr indent="0" marL="0">
              <a:buNone/>
            </a:pPr>
            <a:r>
              <a:rPr lang="en-US" sz="1100" i="1" dirty="0">
                <a:solidFill>
                  <a:srgbClr val="5A6472"/>
                </a:solidFill>
                <a:latin typeface="Calibri" pitchFamily="34" charset="0"/>
                <a:cs typeface="Amiri" pitchFamily="2" charset="-78"/>
              </a:rPr>
              <a:t>min ay-yi ra-ṣī-fin?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كَمْ تَسْتَغْرِقُ الرِّحْلَةُ؟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long does the journey take?</a:t>
            </a:r>
            <a:endParaRPr lang="en-US" sz="1350" dirty="0"/>
          </a:p>
          <a:p>
            <a:pPr indent="0" marL="0">
              <a:buNone/>
            </a:pPr>
            <a:r>
              <a:rPr lang="en-US" sz="1100" i="1" dirty="0">
                <a:solidFill>
                  <a:srgbClr val="5A6472"/>
                </a:solidFill>
                <a:latin typeface="Calibri" pitchFamily="34" charset="0"/>
                <a:cs typeface="Amiri" pitchFamily="2" charset="-78"/>
              </a:rPr>
              <a:t>kam tas-tagh-ri-qu ar-riḥ-la-tu?</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Useful numbers and questions (2 of 2)</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سَاعَةٌ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hour</a:t>
            </a:r>
            <a:endParaRPr lang="en-US" sz="1350" dirty="0"/>
          </a:p>
          <a:p>
            <a:pPr indent="0" marL="0">
              <a:buNone/>
            </a:pPr>
            <a:r>
              <a:rPr lang="en-US" sz="1100" i="1" dirty="0">
                <a:solidFill>
                  <a:srgbClr val="5A6472"/>
                </a:solidFill>
                <a:latin typeface="Calibri" pitchFamily="34" charset="0"/>
                <a:cs typeface="Amiri" pitchFamily="2" charset="-78"/>
              </a:rPr>
              <a:t>sā-ʿa-tun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دَقِيقَةٌ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minute</a:t>
            </a:r>
            <a:endParaRPr lang="en-US" sz="1350" dirty="0"/>
          </a:p>
          <a:p>
            <a:pPr indent="0" marL="0">
              <a:buNone/>
            </a:pPr>
            <a:r>
              <a:rPr lang="en-US" sz="1100" i="1" dirty="0">
                <a:solidFill>
                  <a:srgbClr val="5A6472"/>
                </a:solidFill>
                <a:latin typeface="Calibri" pitchFamily="34" charset="0"/>
                <a:cs typeface="Amiri" pitchFamily="2" charset="-78"/>
              </a:rPr>
              <a:t>da-qī-qa-tun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نِصْفُ سَاعَةٍ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half an hour</a:t>
            </a:r>
            <a:endParaRPr lang="en-US" sz="1350" dirty="0"/>
          </a:p>
          <a:p>
            <a:pPr indent="0" marL="0">
              <a:buNone/>
            </a:pPr>
            <a:r>
              <a:rPr lang="en-US" sz="1100" i="1" dirty="0">
                <a:solidFill>
                  <a:srgbClr val="5A6472"/>
                </a:solidFill>
                <a:latin typeface="Calibri" pitchFamily="34" charset="0"/>
                <a:cs typeface="Amiri" pitchFamily="2" charset="-78"/>
              </a:rPr>
              <a:t>niṣ-fu sā-ʿa-tin</a:t>
            </a:r>
            <a:endParaRPr lang="en-US" sz="13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FOCUS · PART 1 · THE TICKET QUESTIONS (WEBSITE RULES 1, 2 AND 4)</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Book · when? · which platform?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المُسَافِرِ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388352" y="1810512"/>
            <a:ext cx="4270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7" name="Text 14"/>
          <p:cNvSpPr txBox="1"/>
          <p:nvPr/>
        </p:nvSpPr>
        <p:spPr>
          <a:xfrm>
            <a:off x="2907792" y="1810512"/>
            <a:ext cx="4334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Traveller asks</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Need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406640" y="2267712"/>
            <a:ext cx="42336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ذَهَابًا فَقَطْ أَمْ ذَهَابًا وَإِيَابًا؟</a:t>
            </a:r>
            <a:endParaRPr lang="ar-SA" sz="2200" dirty="0"/>
          </a:p>
        </p:txBody>
      </p:sp>
      <p:sp>
        <p:nvSpPr>
          <p:cNvPr id="21" name="Text 18"/>
          <p:cNvSpPr txBox="1"/>
          <p:nvPr/>
        </p:nvSpPr>
        <p:spPr>
          <a:xfrm>
            <a:off x="2926080" y="2267712"/>
            <a:ext cx="4297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أُرِيدُ أَنْ أَحْجُزَ تَذْكِرَةً إِلَى دُبَيَّ.</a:t>
            </a:r>
            <a:endParaRPr lang="ar-SA" sz="24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book</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406640" y="3004718"/>
            <a:ext cx="42336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ثَمَنُهَا خَمْسَةٌ وَثَلَاثُونَ دِينَارًا.</a:t>
            </a:r>
            <a:endParaRPr lang="ar-SA" sz="2200" dirty="0"/>
          </a:p>
        </p:txBody>
      </p:sp>
      <p:sp>
        <p:nvSpPr>
          <p:cNvPr id="27" name="Text 24"/>
          <p:cNvSpPr txBox="1"/>
          <p:nvPr/>
        </p:nvSpPr>
        <p:spPr>
          <a:xfrm>
            <a:off x="2926080" y="3004718"/>
            <a:ext cx="4297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ثَمَنُ التَّذْكِرَةِ؟</a:t>
            </a:r>
            <a:endParaRPr lang="ar-SA" sz="24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price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406640" y="3741725"/>
            <a:ext cx="42336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يُغَادِرُ فِي السَّاعَةِ التَّاسِعَةِ.</a:t>
            </a:r>
            <a:endParaRPr lang="ar-SA" sz="2200" dirty="0"/>
          </a:p>
        </p:txBody>
      </p:sp>
      <p:sp>
        <p:nvSpPr>
          <p:cNvPr id="33" name="Text 30"/>
          <p:cNvSpPr txBox="1"/>
          <p:nvPr/>
        </p:nvSpPr>
        <p:spPr>
          <a:xfrm>
            <a:off x="2926080" y="3741725"/>
            <a:ext cx="4297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مَتَى يُغَادِرُ القِطَارُ؟</a:t>
            </a:r>
            <a:endParaRPr lang="ar-SA" sz="2400" dirty="0"/>
          </a:p>
        </p:txBody>
      </p:sp>
      <p:sp>
        <p:nvSpPr>
          <p:cNvPr id="34" name="Text 31"/>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departure</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406640" y="4478731"/>
            <a:ext cx="42336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تَصِلُ فِي السَّاعَةِ الحَادِيَةَ عَشْرَةَ.</a:t>
            </a:r>
            <a:endParaRPr lang="ar-SA" sz="2200" dirty="0"/>
          </a:p>
        </p:txBody>
      </p:sp>
      <p:sp>
        <p:nvSpPr>
          <p:cNvPr id="39" name="Text 36"/>
          <p:cNvSpPr txBox="1"/>
          <p:nvPr/>
        </p:nvSpPr>
        <p:spPr>
          <a:xfrm>
            <a:off x="2926080" y="4478731"/>
            <a:ext cx="4297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مَتَى تَصِلُ الحَافِلَةُ؟</a:t>
            </a:r>
            <a:endParaRPr lang="ar-SA" sz="2400" dirty="0"/>
          </a:p>
        </p:txBody>
      </p:sp>
      <p:sp>
        <p:nvSpPr>
          <p:cNvPr id="40" name="Text 37"/>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arrival</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406640" y="5215738"/>
            <a:ext cx="42336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 الرَّصِيفِ الرَّابِعِ.</a:t>
            </a:r>
            <a:endParaRPr lang="ar-SA" sz="2200" dirty="0"/>
          </a:p>
        </p:txBody>
      </p:sp>
      <p:sp>
        <p:nvSpPr>
          <p:cNvPr id="43" name="Text 40"/>
          <p:cNvSpPr txBox="1"/>
          <p:nvPr/>
        </p:nvSpPr>
        <p:spPr>
          <a:xfrm>
            <a:off x="2926080" y="5215738"/>
            <a:ext cx="4297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مِنْ أَيِّ رَصِيفٍ؟</a:t>
            </a:r>
            <a:endParaRPr lang="ar-SA" sz="2400" dirty="0"/>
          </a:p>
        </p:txBody>
      </p:sp>
      <p:sp>
        <p:nvSpPr>
          <p:cNvPr id="44" name="Text 41"/>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platform</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urīdu an the verb takes -a: an aḥjuza. The vehicle decides the verb: al-qiṭāru yughādiru · al-ḥāfilatu tughādiru.</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HOW LONG DOES IT TAKE? (WEBSITE RULE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journey takes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تَسْتَغْرِقُ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22960" cy="274320"/>
          </a:xfrm>
          <a:prstGeom prst="roundRect">
            <a:avLst>
              <a:gd name="adj" fmla="val 50000"/>
            </a:avLst>
          </a:prstGeom>
          <a:solidFill>
            <a:srgbClr val="6B4C9A"/>
          </a:solidFill>
          <a:ln w="12700">
            <a:solidFill>
              <a:srgbClr val="6B4C9A"/>
            </a:solidFill>
            <a:prstDash val="solid"/>
          </a:ln>
        </p:spPr>
      </p:sp>
      <p:sp>
        <p:nvSpPr>
          <p:cNvPr id="17" name="Text 14"/>
          <p:cNvSpPr txBox="1"/>
          <p:nvPr/>
        </p:nvSpPr>
        <p:spPr>
          <a:xfrm>
            <a:off x="8232648"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QUESTION</a:t>
            </a:r>
            <a:endParaRPr lang="en-US" sz="850" dirty="0"/>
          </a:p>
        </p:txBody>
      </p:sp>
      <p:sp>
        <p:nvSpPr>
          <p:cNvPr id="18" name="Text 15"/>
          <p:cNvSpPr txBox="1"/>
          <p:nvPr/>
        </p:nvSpPr>
        <p:spPr>
          <a:xfrm>
            <a:off x="9101328"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كَمْ تَسْتَغْرِقُ الرِّحْلَةُ؟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كَمْ تَسْتَغْرِقُ الرِّحْلَةُ؟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How long does the journey take?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Journey = f. → ta-.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61722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HOURS</a:t>
            </a:r>
            <a:endParaRPr lang="en-US" sz="850" dirty="0"/>
          </a:p>
        </p:txBody>
      </p:sp>
      <p:sp>
        <p:nvSpPr>
          <p:cNvPr id="26" name="Text 23"/>
          <p:cNvSpPr txBox="1"/>
          <p:nvPr/>
        </p:nvSpPr>
        <p:spPr>
          <a:xfrm>
            <a:off x="5076444"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سَاعَةً · سَاعَتَيْنِ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cs typeface="Amiri" pitchFamily="2" charset="-78"/>
              </a:rPr>
              <a:t>تَسْتَغْرِقُ الرِّحْلَةُ سَاعَتَيْنِ وَنِصْفًا.</a:t>
            </a:r>
            <a:endParaRPr lang="ar-SA" sz="24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journey takes two and a half hours.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 the dual (-ayni).</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MINUTES</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دَقِيقَةً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cs typeface="Amiri" pitchFamily="2" charset="-78"/>
              </a:rPr>
              <a:t>تَسْتَغْرِقُ الرِّحْلَةُ أَرْبَعِينَ دَقِيقَةً.</a:t>
            </a:r>
            <a:endParaRPr lang="ar-SA" sz="24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journey takes forty minutes.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11+ → singular -an.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the journey is feminine.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1B3B6F"/>
                </a:solidFill>
                <a:latin typeface="Amiri" pitchFamily="2" charset="-78"/>
                <a:cs typeface="Amiri" pitchFamily="2" charset="-78"/>
              </a:rPr>
              <a:t>تَسْتَغْرِقُ الرِّحْلَةُ سَاعَةً.</a:t>
            </a:r>
            <a:endParaRPr lang="ar-SA" sz="17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B83227"/>
                </a:solidFill>
                <a:latin typeface="Amiri" pitchFamily="2" charset="-78"/>
                <a:cs typeface="Amiri" pitchFamily="2" charset="-78"/>
              </a:rPr>
              <a:t>يَسْتَغْرِقُ الرِّحْلَةُ سَاعَةً.</a:t>
            </a:r>
            <a:endParaRPr lang="ar-SA" sz="17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Booking journeys and saying how long they take</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حَجْزُ الرِّحْلَاتِ وَالتَّعْبِيرُ عَنِ المُدَّةِ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Book or buy a ticket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أُرِيدُ أَنْ أَحْجُزَ / أَشْتَرِي + تَذْكِرَةً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أُرِيدُ أَنْ أَحْجُزَ تَذْكِرَةً إِلَى دُبَيَّ.   ·   أُرِيدُ تَذْكِرَةَ ذَهَابٍ وَإِيَابٍ، مِنْ فَضْلِكَ.</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Ask departure and arrival times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مَتَى يُغَادِرُ...؟ / مَتَى يَصِلُ...؟</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مَتَى يُغَادِرُ القِطَارُ؟   ·   مَتَى تَصِلُ الحَافِلَةُ؟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State journey duration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تَسْتَغْرِقُ الرِّحْلَةُ + مُدَّةً</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تَسْتَغْرِقُ الرِّحْلَةُ سَاعَةً.   ·   تَسْتَغْرِقُ الرِّحْلَةُ خَمْسًا وَأَرْبَعِينَ دَقِيقَةً.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Ask for platform and ticket type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مِنْ أَيِّ رَصِيفٍ؟ / ذَهَابًا فَقَطْ أَمْ ذَهَابًا وَإِيَابًا؟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مِنْ أَيِّ رَصِيفٍ يُغَادِرُ القِطَارُ؟   ·   هَلْ تُرِيدُ تَذْكِرَةً مُفْرَدَةً أَمْ تَذْكِرَةَ ذَهَابٍ وَإِيَابٍ؟</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to book a ticket.”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أُرِيدُ يَحْجُزُ تَذْكِرَةٌ.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أَحْجُزُ أَنْ تَذْكِرَةً.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أُرِيدُ أَنْ أَحْجُزَ تَذْكِرَةً.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when the train departs?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يُغَادِرُ القِطَارُ؟</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يُغَادِرُ القِطَارُ؟</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القِطَارُ؟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a return ticket?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تَذْكِرَةٌ مُفْرَدَةٌ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تَذْكِرَةُ ذَهَابٍ وَإِيَابٍ</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حَجْزٌ مُسْبَقٌ</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“from which platform?”</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أَيِّ رَصِيفٍ؟</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رَصِيفًا؟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الرَّصِيفُ؟</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to book a ticket.”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أُرِيدُ يَحْجُزُ تَذْكِرَةٌ.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أَحْجُزُ أَنْ تَذْكِرَةً.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أُرِيدُ أَنْ أَحْجُزَ تَذْكِرَةً.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أُرِيدُ أَنْ</a:t>
            </a:r>
            <a:pPr algn="l" indent="0" marL="0">
              <a:buNone/>
            </a:pPr>
            <a:r>
              <a:rPr lang="en-US" sz="1050" i="1" dirty="0">
                <a:solidFill>
                  <a:srgbClr val="8A6D1E"/>
                </a:solidFill>
                <a:latin typeface="Calibri" pitchFamily="34" charset="0"/>
                <a:cs typeface="Amiri" pitchFamily="2" charset="-78"/>
              </a:rPr>
              <a:t> + first-person verb.</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when the train departs?</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مَتَى يُغَادِرُ القِطَارُ؟</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يُغَادِرُ القِطَارُ؟</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كَيْفَ القِطَارُ؟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مَتَى</a:t>
            </a:r>
            <a:pPr algn="l" indent="0" marL="0">
              <a:buNone/>
            </a:pPr>
            <a:r>
              <a:rPr lang="en-US" sz="1050" i="1" dirty="0">
                <a:solidFill>
                  <a:srgbClr val="8A6D1E"/>
                </a:solidFill>
                <a:latin typeface="Calibri" pitchFamily="34" charset="0"/>
                <a:cs typeface="Amiri" pitchFamily="2" charset="-78"/>
              </a:rPr>
              <a:t> asks when.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a return ticket?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تَذْكِرَةٌ مُفْرَدَةٌ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تَذْكِرَةُ ذَهَابٍ وَإِيَابٍ</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حَجْزٌ مُسْبَقٌ</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ذَهَابٌ وَإِيَابٌ</a:t>
            </a:r>
            <a:pPr algn="l" indent="0" marL="0">
              <a:buNone/>
            </a:pPr>
            <a:r>
              <a:rPr lang="en-US" sz="1050" i="1" dirty="0">
                <a:solidFill>
                  <a:srgbClr val="8A6D1E"/>
                </a:solidFill>
                <a:latin typeface="Calibri" pitchFamily="34" charset="0"/>
                <a:cs typeface="Amiri" pitchFamily="2" charset="-78"/>
              </a:rPr>
              <a:t> means outward and return.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“from which platform?”</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أَيِّ رَصِيفٍ؟</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رَصِيفًا؟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الرَّصِيفُ؟</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مِنْ أَيِّ رَصِيفٍ؟</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buy a ticket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Ask</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أُرِيدُ تَذْكِرَةَ ذَهَابٍ وَإِيَابٍ إِلَى دُبَيَّ، مِنْ فَضْلِكَ.</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Ticket type + destination + please.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Class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المُوَظَّفُ: الدَّرَجَةُ الأُولَى أَمِ الثَّانِيَةُ؟ — الثَّانِيَةُ.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am = or (F5-L03).</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Price + time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كَمْ ثَمَنُ التَّذْكِرَةِ؟ وَ</a:t>
            </a:r>
            <a:pPr rtl="1" algn="ctr" indent="0" marL="0">
              <a:lnSpc>
                <a:spcPct val="120000"/>
              </a:lnSpc>
              <a:buNone/>
            </a:pPr>
            <a:r>
              <a:rPr lang="ar-SA" altLang="en-US" sz="1750" b="1" dirty="0">
                <a:solidFill>
                  <a:srgbClr val="0E7C86"/>
                </a:solidFill>
                <a:latin typeface="Amiri" pitchFamily="2" charset="-78"/>
                <a:cs typeface="Amiri" pitchFamily="2" charset="-78"/>
              </a:rPr>
              <a:t>مَتَى</a:t>
            </a:r>
            <a:pPr rtl="1" algn="ctr" indent="0" marL="0">
              <a:lnSpc>
                <a:spcPct val="120000"/>
              </a:lnSpc>
              <a:buNone/>
            </a:pPr>
            <a:r>
              <a:rPr lang="ar-SA" altLang="en-US" sz="1750" b="1" dirty="0">
                <a:solidFill>
                  <a:srgbClr val="1B3B6F"/>
                </a:solidFill>
                <a:latin typeface="Amiri" pitchFamily="2" charset="-78"/>
                <a:cs typeface="Amiri" pitchFamily="2" charset="-78"/>
              </a:rPr>
              <a:t> تُغَادِرُ الرِّحْلَةُ؟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questions.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Answer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تُغَادِرُ فِي السَّابِعَةِ مِنَ البَوَّابَةِ السَّادِسَةِ، وَ</a:t>
            </a:r>
            <a:pPr rtl="1" algn="ctr" indent="0" marL="0">
              <a:lnSpc>
                <a:spcPct val="120000"/>
              </a:lnSpc>
              <a:buNone/>
            </a:pPr>
            <a:r>
              <a:rPr lang="ar-SA" altLang="en-US" sz="1750" b="1" dirty="0">
                <a:solidFill>
                  <a:srgbClr val="D6336C"/>
                </a:solidFill>
                <a:latin typeface="Amiri" pitchFamily="2" charset="-78"/>
                <a:cs typeface="Amiri" pitchFamily="2" charset="-78"/>
              </a:rPr>
              <a:t>تَسْتَغْرِقُ</a:t>
            </a:r>
            <a:pPr rtl="1" algn="ctr" indent="0" marL="0">
              <a:lnSpc>
                <a:spcPct val="120000"/>
              </a:lnSpc>
              <a:buNone/>
            </a:pPr>
            <a:r>
              <a:rPr lang="ar-SA" altLang="en-US" sz="1750" b="1" dirty="0">
                <a:solidFill>
                  <a:srgbClr val="1B3B6F"/>
                </a:solidFill>
                <a:latin typeface="Amiri" pitchFamily="2" charset="-78"/>
                <a:cs typeface="Amiri" pitchFamily="2" charset="-78"/>
              </a:rPr>
              <a:t> سَاعَتَيْنِ.</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Time + gate + duration.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WHEN?</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IT TAKES</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المُسَافِرُ: مَرْحَبًا، أُرِيدُ تَذْكِرَةَ ذَهَابٍ وَإِيَابٍ إِلَى دُبَيَّ، مِنْ فَضْلِكَ. — المُوَظَّفُ: الدَّرَجَةُ الأُولَى أَمِ الثَّانِيَةُ؟ — المُسَافِرُ: الثَّانِيَةُ. كَمْ ثَمَنُ التَّذْكِرَةِ؟ وَ</a:t>
            </a:r>
            <a:pPr rtl="1" algn="r" indent="0" marL="0">
              <a:lnSpc>
                <a:spcPct val="120000"/>
              </a:lnSpc>
              <a:buNone/>
            </a:pPr>
            <a:r>
              <a:rPr lang="ar-SA" altLang="en-US" sz="1400" b="1" dirty="0">
                <a:solidFill>
                  <a:srgbClr val="0E7C86"/>
                </a:solidFill>
                <a:latin typeface="Amiri" pitchFamily="2" charset="-78"/>
                <a:cs typeface="Amiri" pitchFamily="2" charset="-78"/>
              </a:rPr>
              <a:t>مَتَى</a:t>
            </a:r>
            <a:pPr rtl="1" algn="r" indent="0" marL="0">
              <a:lnSpc>
                <a:spcPct val="120000"/>
              </a:lnSpc>
              <a:buNone/>
            </a:pPr>
            <a:r>
              <a:rPr lang="ar-SA" altLang="en-US" sz="1400" b="1" dirty="0">
                <a:solidFill>
                  <a:srgbClr val="1B3B6F"/>
                </a:solidFill>
                <a:latin typeface="Amiri" pitchFamily="2" charset="-78"/>
                <a:cs typeface="Amiri" pitchFamily="2" charset="-78"/>
              </a:rPr>
              <a:t> تُغَادِرُ الرِّحْلَةُ؟ — المُوَظَّفُ: ثَمَنُهَا مِئَةٌ وَعِشْرُونَ دِينَارًا. تُغَادِرُ فِي السَّاعَةِ السَّابِعَةِ مِنَ البَوَّابَةِ السَّادِسَةِ، وَ</a:t>
            </a:r>
            <a:pPr rtl="1" algn="r" indent="0" marL="0">
              <a:lnSpc>
                <a:spcPct val="120000"/>
              </a:lnSpc>
              <a:buNone/>
            </a:pPr>
            <a:r>
              <a:rPr lang="ar-SA" altLang="en-US" sz="1400" b="1" dirty="0">
                <a:solidFill>
                  <a:srgbClr val="D6336C"/>
                </a:solidFill>
                <a:latin typeface="Amiri" pitchFamily="2" charset="-78"/>
                <a:cs typeface="Amiri" pitchFamily="2" charset="-78"/>
              </a:rPr>
              <a:t>تَسْتَغْرِقُ</a:t>
            </a:r>
            <a:pPr rtl="1" algn="r" indent="0" marL="0">
              <a:lnSpc>
                <a:spcPct val="120000"/>
              </a:lnSpc>
              <a:buNone/>
            </a:pPr>
            <a:r>
              <a:rPr lang="ar-SA" altLang="en-US" sz="1400" b="1" dirty="0">
                <a:solidFill>
                  <a:srgbClr val="1B3B6F"/>
                </a:solidFill>
                <a:latin typeface="Amiri" pitchFamily="2" charset="-78"/>
                <a:cs typeface="Amiri" pitchFamily="2" charset="-78"/>
              </a:rPr>
              <a:t> سَاعَتَيْنِ. — المُسَافِرُ: شُكْرًا جَزِيلًا.</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Traveller: Hello, I would like a return ticket to Dubai, please. — Clerk: First or second class? — Second. How much is the ticket? And when does the journey leave? — It costs 120 dinars. It leaves at seven o’clock from gate six and takes two hours. — Thank you very much.</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أُرِيدُ تَذْكِرَةَ ذَهَابٍ وَإِيَابٍ.</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want a return ticket.</a:t>
            </a:r>
            <a:endParaRPr lang="en-US" sz="1250" dirty="0"/>
          </a:p>
          <a:p>
            <a:pPr indent="0" marL="0">
              <a:buNone/>
            </a:pPr>
            <a:r>
              <a:rPr lang="en-US" sz="1050" i="1" dirty="0">
                <a:solidFill>
                  <a:srgbClr val="8A6D1E"/>
                </a:solidFill>
                <a:latin typeface="Calibri" pitchFamily="34" charset="0"/>
                <a:cs typeface="Amiri" pitchFamily="2" charset="-78"/>
              </a:rPr>
              <a:t>Use a complete transactional chunk.</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مَتَى يُغَادِرُ القِطَارُ؟</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When does the train leave?</a:t>
            </a:r>
            <a:endParaRPr lang="en-US" sz="1250" dirty="0"/>
          </a:p>
          <a:p>
            <a:pPr indent="0" marL="0">
              <a:buNone/>
            </a:pPr>
            <a:r>
              <a:rPr lang="en-US" sz="1050" i="1" dirty="0">
                <a:solidFill>
                  <a:srgbClr val="8A6D1E"/>
                </a:solidFill>
                <a:latin typeface="Calibri" pitchFamily="34" charset="0"/>
                <a:cs typeface="Amiri" pitchFamily="2" charset="-78"/>
              </a:rPr>
              <a:t>مَتَى asks for time.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مِنْ أَيِّ رَصِيفٍ؟</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From which platform?</a:t>
            </a:r>
            <a:endParaRPr lang="en-US" sz="1250" dirty="0"/>
          </a:p>
          <a:p>
            <a:pPr indent="0" marL="0">
              <a:buNone/>
            </a:pPr>
            <a:r>
              <a:rPr lang="en-US" sz="1050" i="1" dirty="0">
                <a:solidFill>
                  <a:srgbClr val="8A6D1E"/>
                </a:solidFill>
                <a:latin typeface="Calibri" pitchFamily="34" charset="0"/>
                <a:cs typeface="Amiri" pitchFamily="2" charset="-78"/>
              </a:rPr>
              <a:t>Use مِنْ أَيِّ + noun.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تَسْتَغْرِقُ الرِّحْلَةُ سَاعَةً.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journey takes one hour.</a:t>
            </a:r>
            <a:endParaRPr lang="en-US" sz="1250" dirty="0"/>
          </a:p>
          <a:p>
            <a:pPr indent="0" marL="0">
              <a:buNone/>
            </a:pPr>
            <a:r>
              <a:rPr lang="en-US" sz="1050" i="1" dirty="0">
                <a:solidFill>
                  <a:srgbClr val="8A6D1E"/>
                </a:solidFill>
                <a:latin typeface="Calibri" pitchFamily="34" charset="0"/>
                <a:cs typeface="Amiri" pitchFamily="2" charset="-78"/>
              </a:rPr>
              <a:t>Feminine رِحْلَةٌ → تَسْتَغْرِقُ.</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TICKETS, TIMETABLES AND JOURNEY DURATION”</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Tickets and times: match the picture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لَوْحَةُ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way</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return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76784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 hours</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أُرِيدُ تَذْكِرَةَ ذَهَابٍ وَإِيَابٍ.</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تَسْتَغْرِقُ الرِّحْلَةُ سَاعَتَيْنِ.</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أُرِيدُ تَذْكِرَةَ ذَهَابٍ فَقَطْ.</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لَوْحَةُ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way</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أُرِيدُ تَذْكِرَةَ ذَهَابٍ فَقَطْ.</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want a single ticket.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return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أُرِيدُ تَذْكِرَةَ ذَهَابٍ وَإِيَابٍ.</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want a return ticket.</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76784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 hours</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تَسْتَغْرِقُ الرِّحْلَةُ سَاعَتَيْنِ.</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journey takes two hours.</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Ticket or timetable detail?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تَذْكِرَةٌ مُفْرَدَةٌ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ذَهَابًا وَإِيَابًا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حَجْزٌ مُسْبَقٌ</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دَرَجَةٌ أُولَى</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مَوْعِدُ المُغَادَرَةِ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رَصِيفٌ</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يَتَأَخَّرُ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مُدَّةُ الرِّحْلَةِ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تَذْكِرَةٌ وَحَجْزٌ · ticket/booking</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جَدْوَلٌ وَوَقْتٌ · timetable/time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تَذْكِرَةٌ وَحَجْزٌ · ticket/booking</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تَذْكِرَةٌ مُفْرَدَةٌ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ذَهَابًا وَإِيَابًا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حَجْزٌ مُسْبَقٌ</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دَرَجَةٌ أُولَى</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جَدْوَلٌ وَوَقْتٌ · timetable/time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مَوْعِدُ المُغَادَرَةِ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رَصِيفٌ</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يَتَأَخَّرُ</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مُدَّةُ الرِّحْلَةِ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الرِّحْلَةُ سَاعَةً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يَسْتَغْرِقُ</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أَسْتَغْرِقُ</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تَسْتَغْرِقُ</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“the train is delayed”?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القِطَارُ فِي الوَقْتِ.</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القِطَارُ مُتَأَخِّرٌ.</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القِطَارُ مُبَاشِرٌ.</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first class?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دَرَجَةٌ ثَانِيَةٌ</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دَرَجَةٌ أُولَى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رِحْلَةٌ مُبَاشِرَةٌ</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الرِّحْلَةُ سَاعَةً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يَسْتَغْرِقُ</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أَسْتَغْرِقُ</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تَسْتَغْرِقُ</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رِحْلَةٌ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“the train is delayed”?</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القِطَارُ فِي الوَقْتِ.</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القِطَارُ مُتَأَخِّرٌ.</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القِطَارُ مُبَاشِرٌ.</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مُتَأَخِّرٌ</a:t>
            </a:r>
            <a:pPr algn="l" indent="0" marL="0">
              <a:buNone/>
            </a:pPr>
            <a:r>
              <a:rPr lang="en-US" sz="1050" i="1" dirty="0">
                <a:solidFill>
                  <a:srgbClr val="8A6D1E"/>
                </a:solidFill>
                <a:latin typeface="Calibri" pitchFamily="34" charset="0"/>
                <a:cs typeface="Amiri" pitchFamily="2" charset="-78"/>
              </a:rPr>
              <a:t> means delayed.</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first class?</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دَرَجَةٌ ثَانِيَةٌ</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دَرَجَةٌ أُولَى</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رِحْلَةٌ مُبَاشِرَةٌ</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دَرَجَةٌ أُولَى</a:t>
            </a:r>
            <a:pPr algn="l" indent="0" marL="0">
              <a:buNone/>
            </a:pPr>
            <a:r>
              <a:rPr lang="en-US" sz="1050" i="1" dirty="0">
                <a:solidFill>
                  <a:srgbClr val="8A6D1E"/>
                </a:solidFill>
                <a:latin typeface="Calibri" pitchFamily="34" charset="0"/>
                <a:cs typeface="Amiri" pitchFamily="2" charset="-78"/>
              </a:rPr>
              <a:t> means first class.</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يَسْتَغْرِقُ الرِّحْلَةُ سَاعَةً.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Journey: m. or f.?</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أُرِيدُ يَحْجُزُ تَذْكِرَةً.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urīdu, what joins the next verb?</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مَتَى الرَّصِيفُ؟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question asks for the platform?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يَسْتَغْرِقُ الرِّحْلَةُ سَاعَةً.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تَسْتَغْرِقُ الرِّحْلَةُ سَاعَةً.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agrees with the feminine noun </a:t>
            </a:r>
            <a:pPr algn="l" indent="0" marL="0">
              <a:buNone/>
            </a:pPr>
            <a:r>
              <a:rPr lang="ar-SA" altLang="en-US" sz="1500" b="1" dirty="0">
                <a:solidFill>
                  <a:srgbClr val="1B3B6F"/>
                </a:solidFill>
                <a:latin typeface="Amiri" pitchFamily="2" charset="-78"/>
                <a:cs typeface="Amiri" pitchFamily="2" charset="-78"/>
              </a:rPr>
              <a:t>رِحْلَةٌ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أُرِيدُ يَحْجُزُ تَذْكِرَةً.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أُرِيدُ أَنْ أَحْجُزَ تَذْكِرَةً.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and the first-person verb after </a:t>
            </a:r>
            <a:pPr algn="l" indent="0" marL="0">
              <a:buNone/>
            </a:pPr>
            <a:r>
              <a:rPr lang="ar-SA" altLang="en-US" sz="1500" b="1" dirty="0">
                <a:solidFill>
                  <a:srgbClr val="1B3B6F"/>
                </a:solidFill>
                <a:latin typeface="Amiri" pitchFamily="2" charset="-78"/>
                <a:cs typeface="Amiri" pitchFamily="2" charset="-78"/>
              </a:rPr>
              <a:t>أُرِيدُ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مَتَى الرَّصِيفُ؟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مِنْ أَيِّ رَصِيفٍ؟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specific platform question.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train station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ticket does the traveller want?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return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way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class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class does he choose?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class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class stated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second class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ticket?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 dinars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45 dinars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 dinars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platform?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platform 4</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platform 9</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platform 2</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journey?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and a half hours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45 minutes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the number after </a:t>
            </a:r>
            <a:pPr algn="l" indent="0" marL="0">
              <a:lnSpc>
                <a:spcPct val="115000"/>
              </a:lnSpc>
              <a:buNone/>
            </a:pPr>
            <a:r>
              <a:rPr lang="ar-SA" altLang="en-US" sz="1650" dirty="0">
                <a:solidFill>
                  <a:srgbClr val="1E6B52"/>
                </a:solidFill>
                <a:latin typeface="Amiri" pitchFamily="2" charset="-78"/>
                <a:cs typeface="Amiri" pitchFamily="2" charset="-78"/>
              </a:rPr>
              <a:t>دِينَارًا</a:t>
            </a:r>
            <a:pPr algn="l" indent="0" marL="0">
              <a:lnSpc>
                <a:spcPct val="115000"/>
              </a:lnSpc>
              <a:buNone/>
            </a:pPr>
            <a:r>
              <a:rPr lang="en-US" sz="1250" dirty="0">
                <a:solidFill>
                  <a:srgbClr val="1E6B52"/>
                </a:solidFill>
                <a:latin typeface="Calibri" pitchFamily="34" charset="0"/>
                <a:cs typeface="Amiri" pitchFamily="2" charset="-78"/>
              </a:rPr>
              <a:t> and </a:t>
            </a:r>
            <a:pPr algn="l" indent="0" marL="0">
              <a:lnSpc>
                <a:spcPct val="115000"/>
              </a:lnSpc>
              <a:buNone/>
            </a:pPr>
            <a:r>
              <a:rPr lang="ar-SA" altLang="en-US" sz="1650" dirty="0">
                <a:solidFill>
                  <a:srgbClr val="1E6B52"/>
                </a:solidFill>
                <a:latin typeface="Amiri" pitchFamily="2" charset="-78"/>
                <a:cs typeface="Amiri" pitchFamily="2" charset="-78"/>
              </a:rPr>
              <a:t>الرَّصِيفِ</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المُسَافِرُ: مِنْ فَضْلِكَ، أُرِيدُ تَذْكِرَةَ ذَهَابٍ وَإِيَابٍ إِلَى عَمَّانَ.</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Traveller: Please, I would like a return ticket to Amman.</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cs typeface="Amiri" pitchFamily="2" charset="-78"/>
              </a:rPr>
              <a:t>المُوَظَّفُ: الدَّرَجَةُ الأُولَى أَمِ الثَّانِيَةُ؟ المُسَافِرُ: الدَّرَجَةُ الثَّانِيَةُ. كَمْ ثَمَنُ التَّذْكِرَةِ؟</a:t>
            </a:r>
            <a:endParaRPr lang="ar-SA" sz="17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Clerk: First or second class? — Second class. How much is the ticket?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المُوَظَّفُ: خَمْسَةٌ وَثَلَاثُونَ دِينَارًا.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Clerk: Thirty-five dinars.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القِطَارُ يُغَادِرُ عِنْدَ السَّاعَةِ التَّاسِعَةِ وَالرُّبْعِ مِنَ الرَّصِيفِ الرَّابِعِ.</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train leaves at a quarter past nine from platform four.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المُسَافِرُ: كَمْ تَسْتَغْرِقُ الرِّحْلَةُ؟ المُوَظَّفُ: سَاعَتَيْنِ وَنِصْفًا، وَالقِطَارُ فِي الوَقْتِ.</a:t>
            </a:r>
            <a:endParaRPr lang="ar-SA" sz="19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long does the journey take? — Two and a half hours, and the train is on time.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ticket does the traveller want?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return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way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first class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asks for </a:t>
            </a:r>
            <a:pPr algn="l" indent="0" marL="0">
              <a:buNone/>
            </a:pPr>
            <a:r>
              <a:rPr lang="ar-SA" altLang="en-US" sz="1350" dirty="0">
                <a:solidFill>
                  <a:srgbClr val="8A6D1E"/>
                </a:solidFill>
                <a:latin typeface="Amiri" pitchFamily="2" charset="-78"/>
                <a:cs typeface="Amiri" pitchFamily="2" charset="-78"/>
              </a:rPr>
              <a:t>ذَهَابٍ وَإِيَابٍ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class does he choose?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first class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class stated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second class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الدَّرَجَةُ الثَّانِيَةُ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ticket?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 dinars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45 dinars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35 dinars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خَمْسَةٌ وَثَلَاثُونَ دِينَارًا.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platform?</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platform 4</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platform 9</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platform 2</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الرَّصِيفِ الرَّابِعِ.</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journey?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hour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and a half hours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45 minutes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سَاعَتَيْنِ وَنِصْفًا.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the number after </a:t>
            </a:r>
            <a:pPr algn="l" indent="0" marL="0">
              <a:lnSpc>
                <a:spcPct val="115000"/>
              </a:lnSpc>
              <a:buNone/>
            </a:pPr>
            <a:r>
              <a:rPr lang="ar-SA" altLang="en-US" sz="1650" dirty="0">
                <a:solidFill>
                  <a:srgbClr val="1E6B52"/>
                </a:solidFill>
                <a:latin typeface="Amiri" pitchFamily="2" charset="-78"/>
                <a:cs typeface="Amiri" pitchFamily="2" charset="-78"/>
              </a:rPr>
              <a:t>دِينَارًا</a:t>
            </a:r>
            <a:pPr algn="l" indent="0" marL="0">
              <a:lnSpc>
                <a:spcPct val="115000"/>
              </a:lnSpc>
              <a:buNone/>
            </a:pPr>
            <a:r>
              <a:rPr lang="en-US" sz="1250" dirty="0">
                <a:solidFill>
                  <a:srgbClr val="1E6B52"/>
                </a:solidFill>
                <a:latin typeface="Calibri" pitchFamily="34" charset="0"/>
                <a:cs typeface="Amiri" pitchFamily="2" charset="-78"/>
              </a:rPr>
              <a:t> and </a:t>
            </a:r>
            <a:pPr algn="l" indent="0" marL="0">
              <a:lnSpc>
                <a:spcPct val="115000"/>
              </a:lnSpc>
              <a:buNone/>
            </a:pPr>
            <a:r>
              <a:rPr lang="ar-SA" altLang="en-US" sz="1650" dirty="0">
                <a:solidFill>
                  <a:srgbClr val="1E6B52"/>
                </a:solidFill>
                <a:latin typeface="Amiri" pitchFamily="2" charset="-78"/>
                <a:cs typeface="Amiri" pitchFamily="2" charset="-78"/>
              </a:rPr>
              <a:t>الرَّصِيفِ</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Ticket-office role play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أُرِيدُ تَذْكِرَةً إِلَى …</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تُرِيدُ ذَهَابًا فَقَطْ أَمْ ذَهَابًا وَإِيَابًا؟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تُغَادِرُ الرِّحْلَةُ؟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تَسْتَغْرِقُ الرِّحْلَةُ؟ القِطَارُ مُتَأَخِّرٌ — مَاذَا تَفْعَلُ؟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أُرِيدُ تَذْكِرَةً إِلَى ___ ، مِنْ فَضْلِكَ.</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ذَهَابًا وَإِيَابًا، مِنْ فَضْلِكَ.</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تُغَادِرُ فِي السَّاعَةِ ___ مِنَ الرَّصِيفِ ___ .</a:t>
            </a:r>
            <a:endParaRPr lang="ar-SA" sz="15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تَسْتَغْرِقُ ___ · هَلْ هُنَاكَ قِطَارٌ آخَرُ؟</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مَرْحَبًا، أُرِيدُ تَذْكِرَةً إِلَى بَيْرُوتَ.</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Hello, I would like a ticket to Beirut.</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ذَهَابًا فَقَطْ أَمْ ذَهَابًا وَإِيَابًا؟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One way or return?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Complete a supported ticket dialogue using the key question chunks.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supported ticket dialogue using the question chunks.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8–10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Read a timetable and create a six-line transaction independently.</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dialogue + a short timetable note (destination, type, price, time, platform, duration).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Handle a delay, change of platform and alternative journey using spontaneous follow-up questions.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delay or platform change and an alternative journey.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أَيِّ رَصِيفٍ؟</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which platform?</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تَسْتَغْرِقُ الرِّحْلَةُ؟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long does the journey take?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تَسْتَغْرِقُ الرِّحْلَةُ سَاعَتَيْنِ.</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journey takes two hours.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الحَافِلَةُ مُتَأَخِّرَةٌ عِشْرِينَ دَقِيقَةً.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bus is delayed twenty minutes.</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أُرِيدُ أَنْ أَحْجُزَ تَذْكِرَةً فِي الدَّرَجَةِ الأُولَى.</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book a first-class ticket.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أُرِيدُ تَذْكِرَةً إِلَى ______ ، مِنْ فَضْلِكَ.</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would like a ticket to …, please.</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تَذْكِرَةَ ذَهَابٍ وَإِيَابٍ، مِنْ فَضْلِكَ.</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return ticket, please.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ثَمَنُ التَّذْكِرَةِ؟</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much is the ticket?</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يُغَادِرُ القِطَارُ؟</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When does the train leave?</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شُكْرًا جَزِيلًا.</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very much.</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تَذْكِرَةٌ  ·  ذَهَابًا فَقَطْ  ·  ذَهَابًا وَإِيَابًا  ·  دَرَجَةٌ أُولَى  ·  يُغَادِرُ / تُغَادِرُ  ·  يَصِلُ / تَصِلُ  ·  رَصِيفٌ  ·  بَوَّابَةٌ  ·  مُتَأَخِّرٌ  ·  فِي الوَقْتِ  ·  تَسْتَغْرِقُ  ·  سَاعَتَيْنِ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complete ticket-office dialogue and a short timetable note.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destination and ticket type.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Ask about price, departure and platform.</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تَسْتَغْرِقُ</a:t>
            </a:r>
            <a:pPr algn="l" indent="0" marL="0">
              <a:buNone/>
            </a:pPr>
            <a:r>
              <a:rPr lang="en-US" sz="1200" dirty="0">
                <a:solidFill>
                  <a:srgbClr val="1F2A37"/>
                </a:solidFill>
                <a:latin typeface="Calibri" pitchFamily="34" charset="0"/>
                <a:cs typeface="Amiri" pitchFamily="2" charset="-78"/>
              </a:rPr>
              <a:t> with a duration.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Close the exchange politely and accurately.</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القِطَارُ مُتَأَخِّرٌ نِصْفَ سَاعَةٍ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train is half an hour late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تَغَيَّرَ الرَّصِيفُ</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platform has changed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هُنَاكَ رِحْلَةٌ مُبَاشِرَةٌ؟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is there a direct journey?</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التَّبْدِيلُ فِي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must change at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الحَجْزُ المُسْبَقُ</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advance booking is required</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المُسَافِرُ: مَرْحَبًا، أُرِيدُ تَذْكِرَةَ ذَهَابٍ وَإِيَابٍ إِلَى دُبَيَّ، مِنْ فَضْلِكَ.</a:t>
            </a:r>
            <a:endParaRPr lang="ar-SA" sz="2300" dirty="0"/>
          </a:p>
          <a:p>
            <a:pPr rtl="1" algn="r" indent="0" marL="0">
              <a:lnSpc>
                <a:spcPct val="120000"/>
              </a:lnSpc>
              <a:buNone/>
            </a:pPr>
            <a:r>
              <a:rPr lang="ar-SA" altLang="en-US" sz="2300" dirty="0">
                <a:solidFill>
                  <a:srgbClr val="1F2A37"/>
                </a:solidFill>
                <a:latin typeface="Amiri" pitchFamily="2" charset="-78"/>
                <a:cs typeface="Amiri" pitchFamily="2" charset="-78"/>
              </a:rPr>
              <a:t>المَوَظَّفُ: الدَّرَجَةُ الأُولَى أَمِ الثَّانِيَةُ؟</a:t>
            </a:r>
            <a:endParaRPr lang="ar-SA" sz="2300" dirty="0"/>
          </a:p>
          <a:p>
            <a:pPr rtl="1" algn="r" indent="0" marL="0">
              <a:lnSpc>
                <a:spcPct val="120000"/>
              </a:lnSpc>
              <a:buNone/>
            </a:pPr>
            <a:r>
              <a:rPr lang="ar-SA" altLang="en-US" sz="2300" dirty="0">
                <a:solidFill>
                  <a:srgbClr val="1F2A37"/>
                </a:solidFill>
                <a:latin typeface="Amiri" pitchFamily="2" charset="-78"/>
                <a:cs typeface="Amiri" pitchFamily="2" charset="-78"/>
              </a:rPr>
              <a:t>المُسَافِرُ: الثَّانِيَةُ. كَمْ ثَمَنُ التَّذْكِرَةِ؟ وَمَتَى تُغَادِرُ الرِّحْلَةُ؟</a:t>
            </a:r>
            <a:endParaRPr lang="ar-SA" sz="2300" dirty="0"/>
          </a:p>
          <a:p>
            <a:pPr rtl="1" algn="r" indent="0" marL="0">
              <a:lnSpc>
                <a:spcPct val="120000"/>
              </a:lnSpc>
              <a:buNone/>
            </a:pPr>
            <a:r>
              <a:rPr lang="ar-SA" altLang="en-US" sz="2300" dirty="0">
                <a:solidFill>
                  <a:srgbClr val="1F2A37"/>
                </a:solidFill>
                <a:latin typeface="Amiri" pitchFamily="2" charset="-78"/>
                <a:cs typeface="Amiri" pitchFamily="2" charset="-78"/>
              </a:rPr>
              <a:t>المَوَظَّفُ: ثَمَنُهَا مِئَةٌ وَعِشْرُونَ دِينَارًا. تُغَادِرُ عِنْدَ السَّاعَةِ السَّابِعَةِ مِنَ البَوَّابَةِ السَّادِسَةِ، وَتَسْتَغْرِقُ سَاعَتَيْنِ.</a:t>
            </a:r>
            <a:endParaRPr lang="ar-SA" sz="2300" dirty="0"/>
          </a:p>
          <a:p>
            <a:pPr rtl="1" algn="r" indent="0" marL="0">
              <a:lnSpc>
                <a:spcPct val="120000"/>
              </a:lnSpc>
              <a:buNone/>
            </a:pPr>
            <a:r>
              <a:rPr lang="ar-SA" altLang="en-US" sz="2300" dirty="0">
                <a:solidFill>
                  <a:srgbClr val="1F2A37"/>
                </a:solidFill>
                <a:latin typeface="Amiri" pitchFamily="2" charset="-78"/>
                <a:cs typeface="Amiri" pitchFamily="2" charset="-78"/>
              </a:rPr>
              <a:t>المُسَافِرُ: شُكْرًا جَزِيلًا.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Traveller: Hello, I would like a return ticket to Dubai, please. Clerk: First class or second? Traveller: Second. How much is the ticket? And when does the journey leave? Clerk: It costs 120 dinars. It leaves at seven o’clock from gate six and takes two hours. Traveller: Thank you very much.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ticket type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price question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when? question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it takes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for a ticket politely.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when it leaves.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cs typeface="Amiri" pitchFamily="2" charset="-78"/>
              </a:rPr>
              <a:t>تَسْتَغْرِقُ</a:t>
            </a:r>
            <a:pPr algn="l" indent="0" marL="0">
              <a:buNone/>
            </a:pPr>
            <a:r>
              <a:rPr lang="en-US" sz="1300" dirty="0">
                <a:solidFill>
                  <a:srgbClr val="1F2A37"/>
                </a:solidFill>
                <a:latin typeface="Calibri" pitchFamily="34" charset="0"/>
                <a:cs typeface="Amiri" pitchFamily="2" charset="-78"/>
              </a:rPr>
              <a:t> + a duration.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verb agrees with the vehicle.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handled a delay or a change.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“return ticket”?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تَذْكِرَةُ ذَهَابٍ وَإِيَابٍ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تَذْكِرَةٌ مُفْرَدَةٌ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رِحْلَةٌ مُبَاشِرَةٌ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الرِّحْلَةُ سَاعَةً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يَسْتَغْرِقُ</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تَسْتَغْرِقُ</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تُسَافِرُ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delayed?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مُتَأَخِّرٌ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مُبَاشِرٌ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مُسْبَقٌ</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“return ticket”?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تَذْكِرَةُ ذَهَابٍ وَإِيَابٍ</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تَذْكِرَةٌ مُفْرَدَةٌ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رِحْلَةٌ مُبَاشِرَةٌ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phrase includes outward and return.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الرِّحْلَةُ سَاعَةً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يَسْتَغْرِقُ</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تَسْتَغْرِقُ</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تُسَافِرُ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feminine form with </a:t>
            </a:r>
            <a:pPr algn="l" indent="0" marL="0">
              <a:buNone/>
            </a:pPr>
            <a:r>
              <a:rPr lang="ar-SA" altLang="en-US" sz="1350" dirty="0">
                <a:solidFill>
                  <a:srgbClr val="8A6D1E"/>
                </a:solidFill>
                <a:latin typeface="Amiri" pitchFamily="2" charset="-78"/>
                <a:cs typeface="Amiri" pitchFamily="2" charset="-78"/>
              </a:rPr>
              <a:t>رِحْلَةٌ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delayed?</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مُتَأَخِّرٌ</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مُبَاشِرٌ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مُسْبَقٌ</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مُتَأَخِّرٌ</a:t>
            </a:r>
            <a:pPr algn="l" indent="0" marL="0">
              <a:buNone/>
            </a:pPr>
            <a:r>
              <a:rPr lang="en-US" sz="1050" i="1" dirty="0">
                <a:solidFill>
                  <a:srgbClr val="8A6D1E"/>
                </a:solidFill>
                <a:latin typeface="Calibri" pitchFamily="34" charset="0"/>
                <a:cs typeface="Amiri" pitchFamily="2" charset="-78"/>
              </a:rPr>
              <a:t> means delayed.</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Departure board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جَدْوَلُ الرِّحْلَاتِ: القِطَارُ إِلَى العَقَبَةِ يُغَادِرُ عِنْدَ السَّاعَةِ 8:30 مِنَ الرَّصِيفِ ٢، وَيَصِلُ عِنْدَ 11:00. الحَافِلَةُ إِلَى إِرْبِدَ تُغَادِرُ عِنْدَ 9:15 مِنَ البَوَّابَةِ ٥، وَلٰكِنَّهَا مُتَأَخِّرَةٌ عِشْرِينَ دَقِيقَةً. رِحْلَةُ المَطَارِ مُبَاشِرَةٌ وَتَسْتَغْرِقُ أَرْبَعِينَ دَقِيقَةً. يَجِبُ الحَجْزُ المُسْبَقُ لِلدَّرَجَةِ الأُولَى.</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جَدْوَلُ الرِّحْلَاتِ</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departure board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إِلَى العَقَبَةِ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Aqaba</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مِنَ الرَّصِيفِ</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from platform</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يَصِلُ عِنْدَ</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arrives at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إِلَى إِرْبِدَ</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Irbid</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البَوَّابَةِ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gate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مُتَأَخِّرَةٌ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delayed (f.)</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مُبَاشِرَةٌ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direct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تَسْتَغْرِقُ</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takes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الحَجْزُ المُسْبَقُ</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advance booking</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Aqaba train depart?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9:15</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8:30</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11:00</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platform is it on?</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service is delayed?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Irbid bus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Aqaba train</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airport service</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delay?</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40 minutes</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minutes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 minutes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airport journey take?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40 minutes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hours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requires advance booking?</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second class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class</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Aqaba train depart?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9:15</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8:30</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11:00</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board states 8:30.</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platform is it on?</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الرَّصِيفِ ٢.</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service is delayed?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Irbid bus</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Aqaba train</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airport service</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الحَافِلَةُ إِلَى إِرْبِدَ مُتَأَخِّرَةٌ.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delay?</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40 minutes</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20 minutes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 minutes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عِشْرِينَ دَقِيقَةً.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airport journey take?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40 minutes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hours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hour</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تَسْتَغْرِقُ أَرْبَعِينَ دَقِيقَةً.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requires advance booking?</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second class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first class</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الحَجْزُ المُسْبَقُ لِلدَّرَجَةِ الأُولَى.</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F6-L04 · Tickets and Timetables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F6-L05: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F6-L05 · Describing Your Town: Advantages and Disadvantages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مَزَايَا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advantages</a:t>
            </a:r>
            <a:pPr indent="0" marL="0">
              <a:buNone/>
            </a:pPr>
            <a:r>
              <a:rPr lang="en-US" sz="1000" i="1" dirty="0">
                <a:solidFill>
                  <a:srgbClr val="5A6472"/>
                </a:solidFill>
                <a:latin typeface="Calibri" pitchFamily="34" charset="0"/>
                <a:cs typeface="Amiri" pitchFamily="2" charset="-78"/>
              </a:rPr>
              <a:t>  sing. مِيزَةٌ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عُيُوبٌ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disadvantages</a:t>
            </a:r>
            <a:pPr indent="0" marL="0">
              <a:buNone/>
            </a:pPr>
            <a:r>
              <a:rPr lang="en-US" sz="1000" i="1" dirty="0">
                <a:solidFill>
                  <a:srgbClr val="5A6472"/>
                </a:solidFill>
                <a:latin typeface="Calibri" pitchFamily="34" charset="0"/>
                <a:cs typeface="Amiri" pitchFamily="2" charset="-78"/>
              </a:rPr>
              <a:t>  sing. عَيْبٌ</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هَادِئٌ</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quiet</a:t>
            </a:r>
            <a:pPr indent="0" marL="0">
              <a:buNone/>
            </a:pPr>
            <a:r>
              <a:rPr lang="en-US" sz="1000" i="1" dirty="0">
                <a:solidFill>
                  <a:srgbClr val="5A6472"/>
                </a:solidFill>
                <a:latin typeface="Calibri" pitchFamily="34" charset="0"/>
                <a:cs typeface="Amiri" pitchFamily="2" charset="-78"/>
              </a:rPr>
              <a:t>  f. هَادِئَةٌ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مُزْدَحِمٌ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crowded</a:t>
            </a:r>
            <a:pPr indent="0" marL="0">
              <a:buNone/>
            </a:pPr>
            <a:r>
              <a:rPr lang="en-US" sz="1000" i="1" dirty="0">
                <a:solidFill>
                  <a:srgbClr val="5A6472"/>
                </a:solidFill>
                <a:latin typeface="Calibri" pitchFamily="34" charset="0"/>
                <a:cs typeface="Amiri" pitchFamily="2" charset="-78"/>
              </a:rPr>
              <a:t>  f. مُزْدَحِمَةٌ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نَظِيفٌ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clean</a:t>
            </a:r>
            <a:pPr indent="0" marL="0">
              <a:buNone/>
            </a:pPr>
            <a:r>
              <a:rPr lang="en-US" sz="1000" i="1" dirty="0">
                <a:solidFill>
                  <a:srgbClr val="5A6472"/>
                </a:solidFill>
                <a:latin typeface="Calibri" pitchFamily="34" charset="0"/>
                <a:cs typeface="Amiri" pitchFamily="2" charset="-78"/>
              </a:rPr>
              <a:t>  f. نَظِيفَةٌ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Is your town quiet or crowded?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مَدِينَتِي … لِأَنَّ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F6-L04: the vocabulary tab and the “Ticket or timetable detail?”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ticket dialogue and a short timetable note.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dialogue with a delay, a platform change and an alternative journey.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F6-L05 · Describing Your Town: Advantages and Disadvantages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وَصْفُ مَدِينَتِكَ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cs typeface="Amiri" pitchFamily="2" charset="-78"/>
              </a:rPr>
              <a:t>أُرِيدُ أَنْ أَحْجُزَ</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cs typeface="Amiri" pitchFamily="2" charset="-78"/>
              </a:rPr>
              <a:t>مَتَى يُغَادِرُ؟</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cs typeface="Amiri" pitchFamily="2" charset="-78"/>
              </a:rPr>
              <a:t>مِنْ أَيِّ رَصِيفٍ؟</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cs typeface="Amiri" pitchFamily="2" charset="-78"/>
              </a:rPr>
              <a:t>تَسْتَغْرِقُ الرِّحْلَةُ</a:t>
            </a:r>
            <a:pPr algn="l" indent="0" marL="0">
              <a:buNone/>
            </a:pPr>
            <a:r>
              <a:rPr lang="en-US" sz="1300" b="1" dirty="0">
                <a:solidFill>
                  <a:srgbClr val="FFFFFF"/>
                </a:solidFill>
                <a:latin typeface="Calibri" pitchFamily="34" charset="0"/>
                <a:cs typeface="Amiri" pitchFamily="2" charset="-78"/>
              </a:rPr>
              <a:t>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F6-L04 · Tickets, Timetables and Journey Duration</dc:title>
  <dc:subject>PptxGenJS Presentation</dc:subject>
  <dc:creator>Al Madina Online School · Arabic Department</dc:creator>
  <cp:lastModifiedBy>Al Madina Online School · Arabic Department</cp:lastModifiedBy>
  <cp:revision>1</cp:revision>
  <dcterms:created xsi:type="dcterms:W3CDTF">2026-10-11T06:41:53Z</dcterms:created>
  <dcterms:modified xsi:type="dcterms:W3CDTF">2026-10-11T06:41:53Z</dcterms:modified>
</cp:coreProperties>
</file>