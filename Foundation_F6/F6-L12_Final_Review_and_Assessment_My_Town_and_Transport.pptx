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Map · 2–6 Readiness check (not marked) · 6–8 Grammar review + assessment map · 8–22 Listening (20) · 22–30 Reading (10) · 30–46 Writing (20) · 46–56 Speaking (10, one-to-one or trusted pairs) · 56–60 Profile and D1 step.
FLEX slides are optional. Use them if the class is moving quickly; otherwise the same activities are on the website for homework.
Content source: Miftah Arabic website, Pathways › Foundation › F6 My Town and Transport › F6-L12. The website F6-L12 is the Foundation-stage final assessment (60 marks): an eight-question F6 readiness check, the complete F6 language vault (all eleven lessons) and grammar review (four families + eight questions), Part A listening (directions to the station 8 · two people discuss their towns 6 · a guide describes a city 2 — reported /20), Part B reading (مَدِينَةُ السَّلَامِ: 10 questions), Part C writing (a five-field transport registration form 5 + an 80–100-word response 15, three route choices), Part D speaking (role play 4 · conversation 6) and an evidence-based reflection before Development D1.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Listening has 16 questions; the website dashboard reports the section out of 20. On paper: mark /16 and multiply by 1.25 (round to the nearest whole mark).
• Website: “Use the profile to identify the next specific language action for Development D1.”
• This is the END of the Foundation stage (F1–F6): celebrate it!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01 readiness check · language vault · 02 grammar review · 03 four-skills dashboard · 04 listening · 05 reading · 06 writing · 07 speaking · 08 evidence-based reflection (complete Foundation, prepare for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F6-L11. Questions 2–5 are from the website eight-question F6 readiness check (used diagnostically; the other items are in the grammar review).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find ONE gap to repair before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“Complete F6 grammar review”): 1 Existence and gender (يُوجَدُ + مُذَكَّرٌ · تُوجَدُ + مُؤَنَّثٌ) · 2 Movement and direction (بِـ / عَلَى / مَشْيًا · اِذْهَبْ / اِذْهَبِي / اِذْهَبُوا) · 3 Prices and duration (كَمْ ثَمَنُهُ / ثَمَنُهَا؟ · تَسْتَغْرِقُ + مُدَّةً) · 4 Buildings and balanced judgement (مَبْنِيٌّ / مَبْنِيَّةٌ مِنْ · مِنْ مَزَايَا / عُيُوبِ … أَنَّ).
Website grammar questions (quick oral round if time): تُوجَدُ مَكْتَبَةٌ · اِنْعَطِفِي يَمِينًا (one female) · أَرْخَصُ مِنْ · البَيْتُ مَبْنِيٌّ مِنَ الحَجَرِ · مِنْ مَزَايَا المَدِينَةِ أَنَّ … · الرِّحْلَةُ ← تَسْتَغْرِقُ · يَتَمَيَّزُ بِـ.
NOTE: website grammar question 2 gives عَلَى الدَّرَّاجَةِ as the accurate answer and “بِالدَّرَّاجَةِ always” as wrong; both are used — F6-L03 taught بِالدَّرَّاجَةِ. Accept either in writing and speaking.
The website language vault (all F6 vocabulary by lesson) is for revision BEFORE the assessment — close it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“Assessment dashboard”): “Automatic listening and reading scores combine with the entered writing and speaking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1–4 (website). Read twice at natural pace (website: “Read each set first. Listen twice.”); students answer after the second reading.
SCRIPT: السَّائِحُ: مِنْ فَضْلِكَ، أَيْنَ مَحَطَّةُ القِطَارِ؟ المُوَاطِنُ: اِذْهَبْ مُسْتَقِيمًا حَتَّى إِشَارَةِ المُرُورِ، ثُمَّ اِنْعَطِفْ يَمِينًا. سَتَمُرُّ بِمَكْتَبَةٍ كَبِيرَةٍ عَلَى يَسَارِكَ، وَالمَحَطَّةُ خَلْفَ المَكْتَبَةِ. هِيَ قَرِيبَةٌ؛ تَسْتَغْرِقُ المَسَافَةُ عَشْرَ دَقَائِقَ مَشْيًا. اِشْتَرِ تَذْكِرَةَ ذَهَابٍ وَإِيَابٍ مِنَ الشُّبَّاكِ الثَّانِي. يُغَادِرُ القِطَارُ مِنَ الرَّصِيفِ الرَّابِعِ فِي السَّاعَةِ العَاشِرَةِ وَالنِّصْفِ. الرِّحْلَةُ تَسْتَغْرِقُ خَمْسًا وَأَرْبَعِينَ دَقِيقَةً. فِي العَوْدَةِ أَنْصَحُكَ بِالحَافِلَةِ لِأَنَّهَا أَرْخَصُ، وَلٰكِنَّ القِطَارَ أَسْرَعُ.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Website: use the script only for analysis AFTER the attempt; students name one listening cue they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1 · QUESTIONS 5–8 (website). Read twice at natural pace (website: “Read each set first. Listen twice.”); students answer after the second reading.
SCRIPT: Same script as the previous slide (read it twice again, or once if students heard it twice already).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Website: use the script only for analysis AFTER the attempt; students name one listening cue they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 6 QUESTIONS (website). Read twice at natural pace (website: “Read each set first. Listen twice.”); students answer after the second reading.
SCRIPT: سَلْمَى: أَسْكُنُ فِي مَدِينَةٍ حَدِيثَةٍ تَتَمَيَّزُ بِمِتْرُو سَرِيعٍ وَمَرْكَزٍ تِجَارِيٍّ كَبِيرٍ. مِنْ مَزَايَاهَا أَنَّ المَوَاصَلَاتِ مُنَظَّمَةٌ، وَلٰكِنَّ الشَّوَارِعَ مُكْتَظَّةٌ. أَذْهَبُ إِلَى الجَامِعَةِ بِالمِتْرُو. حَسَنٌ: أَمَّا أَنَا فَأَسْكُنُ فِي بَلْدَةٍ تَارِيخِيَّةٍ هَادِئَةٍ. تُوجَدُ فِيهَا أَسْوَاقٌ قَدِيمَةٌ وَمَبَانٍ مَبْنِيَّةٌ مِنَ الحَجَرِ. لَا يُوجَدُ مِتْرُو، لِذٰلِكَ أَتَنَقَّلُ بِالحَافِلَةِ أَوْ مَشْيًا. نَحْنُ الاثْنَانِ نُحِبُّ مَكَانَ سَكَنِنَا، وَلٰكِنَّنَا نُرِيدُ مَوَاصَلَاتٍ أَنْظَفَ.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Website: use the script only for analysis AFTER the attempt; students name one listening cue they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3 · 2 QUESTIONS (website). Read twice at natural pace (website: “Read each set first. Listen twice.”); students answer after the second reading.
SCRIPT: مَرْحَبًا بِكُمْ فِي مَدِينَةِ الوَاحَةِ. يَقَعُ الحَيُّ التَّارِيخِيُّ فِي شَمَالِ المَدِينَةِ، وَيَتَمَيَّزُ بِبُيُوتٍ مَبْنِيَّةٍ مِنَ الطِّينِ وَالحَجَرِ. فِي الوَسَطِ تُوجَدُ قَلْعَةٌ قَدِيمَةٌ وَسُوقٌ شَعْبِيٌّ. المَطَارُ خَارِجَ المَدِينَةِ، وَتَسْتَغْرِقُ الرِّحْلَةُ إِلَيْهِ نِصْفَ سَاعَةٍ بِسَيَّارَةِ الأُجْرَةِ. أَنْصَحُ الزُّوَّارَ بِاسْتِقْلَالِ الحَافِلَةِ فِي المَرْكَزِ لِأَنَّهَا رَخِيصَةٌ، وَبِالمَشْيِ فِي الحَيِّ القَدِيمِ لِأَنَّ شَوَارِعَهُ ضَيِّقَةٌ.
Private chat: 2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/2. Website: use the script only for analysis AFTER the attempt; students name one listening cue they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No English support on assessment texts. Website strategy: read for gist first, then locate the exact evidence, then decide the writer’s attitude.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“Read for gist, locate the exact evidence, then interpret the writer’s attitude.”). Keep the text available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“Read for gist, locate the exact evidence, then interpret the writer’s attitude.”). Keep the text available (flick back or share it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TASK 1 (website, 5 marks): one mark per field completed accurately in Arabic. Accept a short phrase (not a sentence) in each field; the spelling and agreement must be correct for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TASK 2 (website, 15 marks): 80–100 words on one route. Suggested strands (as in F3–F5): task completion (5) · range of F6 structures (5) · accuracy (5).
The F6-L09 website model answer (أَسْكُنُ فِي مَدِينَةٍ مُتَوَسِّطَةٍ وَحَدِيثَةٍ …) is the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(website, 10 marks). Website possible questions: صِفْ مَدِينَتَكَ. · كَيْفَ تَتَنَقَّلُ فِي مَدِينَتِكَ؟ · مَا مَزَايَا مَدِينَتِكَ وَعُيُوبُهَا؟ · أَيْنَ أَقْرَبُ مَحَطَّةٍ؟ · كَيْفَ أَذْهَبُ إِلَى المَتْحَفِ؟
To a girl: صِفِي مَدِينَتَكِ · كَيْفَ تَتَنَقَّلِينَ فِي مَدِينَتِكِ؟
Website preparation notes (three boxes): places and description · transport and duration · advantage, disadvantage and direction.
ORGANISATION: one-to-one with the teacher while others finish writing, or trusted pairs with the teacher listening (the teacher plays the local person in the role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“Evidence-based reflection”: “Name evidence and a measurable next action.”). The bands are a teacher guide in line with the F3–F5 assessments.
Website: “Foundation F1–F6 complete. You can now read and form Arabic, exchange personal information, describe family and home, discuss school, communicate about food and health, and navigate town and transport contexts. Development D1 will deepen connected communication through routines, time and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(D1-L01 · My Morning Routine) will spend class time USING this language, so students prepare it tonight — short, simple, easy to access (school guidance: “Simple, Short, Interesting, Relevant, Easy to access”). Development D1 begins with daily routines (website D1-L01 “My Morning Routine”).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Final Review and Assessment: My Town and Transport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المُرَاجَعَةُ النِّهَائِيَّةُ وَتَقْيِيمُ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can understand and produce about places, transport, tickets, shopping, buildings and directions — then choose one precise next step for Development D1.</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F6-L12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F6 and of the Foundation stage</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Readiness check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review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26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next step.</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Development D1.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readiness check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skill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assessment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instructions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مَحَطَّةٌ قَرِيبَةٌ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“by train”?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القِطَارِ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مَشْيًا القِطَارَ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بِالقِطَارِ</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Command a group to go straight.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اِذْهَبِي مُسْتَقِيمًا.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اِذْهَبْ مُسْتَقِيمًا.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اِذْهَبُوا مُسْتَقِيمًا.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for the nearest station?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أَقْرَبُ مَحَطَّةٍ؟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مَحَطَّةٌ؟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المَحَطَّةُ؟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تَقْيِيمٌ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skill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assessment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instructions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(F6-L11).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مَحَطَّةٌ قَرِيبَةٌ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تُوجَدُ</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readiness check 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“by train”?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القِطَارِ</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مَشْيًا القِطَارَ</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بِالقِطَارِ</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readiness check 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Command a group to go straight.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اِذْهَبِي مُسْتَقِيمًا.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اِذْهَبْ مُسْتَقِيمًا.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اِذْهَبُوا مُسْتَقِيمًا.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readiness check 3.</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for the nearest station?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أَيْنَ أَقْرَبُ مَحَطَّةٍ؟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مَحَطَّةٌ؟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المَحَطَّةُ؟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readiness check 8.</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find ONE gap to repair before the assessment.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اِقْرَأْ · اِبْحَثْ عَنِ الدَّلِيلِ · أَجِبْ</a:t>
            </a:r>
            <a:endParaRPr lang="ar-SA" sz="2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F6 GRAMMAR SYSTEM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families to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EXISTENCE + GENDER</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يُوجَدُ · تُوجَدُ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تُوجَدُ مَكْتَبَةٌ.</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There is a library.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noun controls the verb.</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MOVEMENT + DIRECTION</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بِـ · اِنْعَطِفُوا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أَذْهَبُ بِالحَافِلَةِ.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go by bus.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Transport → preposition; listener → ending.</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1450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BUILDINGS + JUDGEMENT</a:t>
            </a:r>
            <a:endParaRPr lang="en-US" sz="850" dirty="0"/>
          </a:p>
        </p:txBody>
      </p:sp>
      <p:sp>
        <p:nvSpPr>
          <p:cNvPr id="34" name="Text 31"/>
          <p:cNvSpPr txBox="1"/>
          <p:nvPr/>
        </p:nvSpPr>
        <p:spPr>
          <a:xfrm>
            <a:off x="2354580" y="1874520"/>
            <a:ext cx="16017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مَبْنِيَّةٌ ·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مِنْ مَزَايَاهَا أَنَّهَا آمِنَةٌ.</a:t>
            </a:r>
            <a:endParaRPr lang="ar-SA" sz="31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advantage is that it is safe.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Agreement stays visible.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grammar review: the journey noun is feminine.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تَسْتَغْرِقُ الرِّحْلَةُ نِصْفَ سَاعَةٍ.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يَسْتَغْرِقُ الرِّحْلَةُ نِصْفَ سَاعَةٍ.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recordings (heard twice): directions to the station (8) · two people discuss their towns (6) · a guide describes a city (2)</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text, The City of Peace: gist, exact evidence and the writer’s attitude — 10 questions</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transport form (5) + an 80–100-word response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Role play: asking the way to the metro (4) · conversation about your town (6)</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Directions to the train station (1)</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the traffic lights, which way should the tourist turn?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right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left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back</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landmark is on the tourist’s left?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mosque</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bank</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 library</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station?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opposite the airport</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inside the market</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library</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walk take?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 minutes</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minutes</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45 minutes</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Directions to the train station (1): answers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the traffic lights, which way should the tourist turn?</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right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left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back</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 اِنْعَطِفْ يَمِينًا</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landmark is on the tourist’s left?</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mosque</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bank</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large library</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بِمَكْتَبَةٍ كَبِيرَةٍ عَلَى يَسَارِكَ</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station?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opposite the airport</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inside the market</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behind the library</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وَالمَحَطَّةُ خَلْفَ المَكْتَبَةِ</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does the walk take?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 minutes</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 minutes</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45 minutes</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عَشْرَ دَقَائِقَ مَشْيًا</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Directions to the train station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ticket should be bought?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single only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weekly pass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return</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platform is needed?</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platform 2</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platform 10</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platform 4</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the train leave?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10:30</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10:15</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11:30</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bus recommended for the return?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faster</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cheaper</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quieter</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Directions to the train station (2): answers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ticket should be bought?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single only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weekly pass</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return</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تَذْكِرَةَ ذَهَابٍ وَإِيَابٍ</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platform is needed?</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platform 2</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platform 10</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platform 4</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 الرَّصِيفِ الرَّابِعِ</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does the train leave?</a:t>
            </a:r>
            <a:endParaRPr lang="en-US" sz="1250" dirty="0"/>
          </a:p>
        </p:txBody>
      </p:sp>
      <p:sp>
        <p:nvSpPr>
          <p:cNvPr id="49" name="Shape 46"/>
          <p:cNvSpPr/>
          <p:nvPr/>
        </p:nvSpPr>
        <p:spPr>
          <a:xfrm>
            <a:off x="548640" y="4794504"/>
            <a:ext cx="5362956"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40080" y="4831080"/>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10:30</a:t>
            </a:r>
            <a:endParaRPr lang="en-US" sz="1250" dirty="0"/>
          </a:p>
        </p:txBody>
      </p:sp>
      <p:sp>
        <p:nvSpPr>
          <p:cNvPr id="53" name="Shape 50"/>
          <p:cNvSpPr/>
          <p:nvPr/>
        </p:nvSpPr>
        <p:spPr>
          <a:xfrm>
            <a:off x="640080" y="5202936"/>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10:15</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11:30</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السَّاعَةِ العَاشِرَةِ وَالنِّصْفِ</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bus recommended for the return?</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faster</a:t>
            </a:r>
            <a:endParaRPr lang="en-US" sz="1250" dirty="0"/>
          </a:p>
        </p:txBody>
      </p:sp>
      <p:sp>
        <p:nvSpPr>
          <p:cNvPr id="67" name="Shape 64"/>
          <p:cNvSpPr/>
          <p:nvPr/>
        </p:nvSpPr>
        <p:spPr>
          <a:xfrm>
            <a:off x="6277356" y="5166360"/>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cheaper</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quieter</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لِأَنَّهَا أَرْخَصُ</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people discuss their towns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in a modern city?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Hasan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mentions historic stone buildings?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Hasan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travels by metro?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Hasan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sometimes walks?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Hasan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likes where they live?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Hasan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wants cleaner transport?</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Hasan</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Two people discuss their towns: answers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in a modern city?</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Hasan</a:t>
            </a:r>
            <a:endParaRPr lang="en-US" sz="1250" dirty="0"/>
          </a:p>
        </p:txBody>
      </p:sp>
      <p:sp>
        <p:nvSpPr>
          <p:cNvPr id="22" name="Shape 19"/>
          <p:cNvSpPr/>
          <p:nvPr/>
        </p:nvSpPr>
        <p:spPr>
          <a:xfrm>
            <a:off x="640080" y="2990088"/>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25" name="Shape 22"/>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44728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Salma</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mentions historic stone buildings?</a:t>
            </a:r>
            <a:endParaRPr lang="en-US" sz="1250" dirty="0"/>
          </a:p>
        </p:txBody>
      </p:sp>
      <p:sp>
        <p:nvSpPr>
          <p:cNvPr id="33" name="Shape 30"/>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4" name="Shape 31"/>
          <p:cNvSpPr/>
          <p:nvPr/>
        </p:nvSpPr>
        <p:spPr>
          <a:xfrm>
            <a:off x="4459224" y="2532888"/>
            <a:ext cx="256032" cy="256032"/>
          </a:xfrm>
          <a:prstGeom prst="ellipse">
            <a:avLst/>
          </a:prstGeom>
          <a:solidFill>
            <a:srgbClr val="2E8B57"/>
          </a:solidFill>
          <a:ln w="12700">
            <a:solidFill>
              <a:srgbClr val="2E8B57"/>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Hasan</a:t>
            </a:r>
            <a:endParaRPr lang="en-US" sz="1250" dirty="0"/>
          </a:p>
        </p:txBody>
      </p:sp>
      <p:sp>
        <p:nvSpPr>
          <p:cNvPr id="37" name="Shape 34"/>
          <p:cNvSpPr/>
          <p:nvPr/>
        </p:nvSpPr>
        <p:spPr>
          <a:xfrm>
            <a:off x="4459224" y="2990088"/>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Salma</a:t>
            </a:r>
            <a:endParaRPr lang="en-US" sz="1250" dirty="0"/>
          </a:p>
        </p:txBody>
      </p:sp>
      <p:sp>
        <p:nvSpPr>
          <p:cNvPr id="40" name="Shape 37"/>
          <p:cNvSpPr/>
          <p:nvPr/>
        </p:nvSpPr>
        <p:spPr>
          <a:xfrm>
            <a:off x="4459224" y="3447288"/>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travels by metro?</a:t>
            </a:r>
            <a:endParaRPr lang="en-US" sz="1250" dirty="0"/>
          </a:p>
        </p:txBody>
      </p:sp>
      <p:sp>
        <p:nvSpPr>
          <p:cNvPr id="47" name="Shape 44"/>
          <p:cNvSpPr/>
          <p:nvPr/>
        </p:nvSpPr>
        <p:spPr>
          <a:xfrm>
            <a:off x="8278368" y="2532888"/>
            <a:ext cx="256032" cy="256032"/>
          </a:xfrm>
          <a:prstGeom prst="ellipse">
            <a:avLst/>
          </a:prstGeom>
          <a:solidFill>
            <a:srgbClr val="C9CED6"/>
          </a:solidFill>
          <a:ln w="12700">
            <a:solidFill>
              <a:srgbClr val="C9CED6"/>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Hasan</a:t>
            </a:r>
            <a:endParaRPr lang="en-US" sz="1250" dirty="0"/>
          </a:p>
        </p:txBody>
      </p:sp>
      <p:sp>
        <p:nvSpPr>
          <p:cNvPr id="50" name="Shape 47"/>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9900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Salma</a:t>
            </a:r>
            <a:endParaRPr lang="en-US" sz="1250" dirty="0"/>
          </a:p>
        </p:txBody>
      </p:sp>
      <p:sp>
        <p:nvSpPr>
          <p:cNvPr id="54" name="Shape 51"/>
          <p:cNvSpPr/>
          <p:nvPr/>
        </p:nvSpPr>
        <p:spPr>
          <a:xfrm>
            <a:off x="8278368" y="34472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sometimes walks?</a:t>
            </a:r>
            <a:endParaRPr lang="en-US" sz="1250" dirty="0"/>
          </a:p>
        </p:txBody>
      </p:sp>
      <p:sp>
        <p:nvSpPr>
          <p:cNvPr id="61" name="Shape 58"/>
          <p:cNvSpPr/>
          <p:nvPr/>
        </p:nvSpPr>
        <p:spPr>
          <a:xfrm>
            <a:off x="548640" y="4837176"/>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4873752"/>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Hasan</a:t>
            </a:r>
            <a:endParaRPr lang="en-US" sz="1250" dirty="0"/>
          </a:p>
        </p:txBody>
      </p:sp>
      <p:sp>
        <p:nvSpPr>
          <p:cNvPr id="65" name="Shape 62"/>
          <p:cNvSpPr/>
          <p:nvPr/>
        </p:nvSpPr>
        <p:spPr>
          <a:xfrm>
            <a:off x="640080" y="533095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Salma</a:t>
            </a:r>
            <a:endParaRPr lang="en-US" sz="1250" dirty="0"/>
          </a:p>
        </p:txBody>
      </p:sp>
      <p:sp>
        <p:nvSpPr>
          <p:cNvPr id="68" name="Shape 65"/>
          <p:cNvSpPr/>
          <p:nvPr/>
        </p:nvSpPr>
        <p:spPr>
          <a:xfrm>
            <a:off x="640080" y="578815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likes where they live?</a:t>
            </a:r>
            <a:endParaRPr lang="en-US" sz="1250" dirty="0"/>
          </a:p>
        </p:txBody>
      </p:sp>
      <p:sp>
        <p:nvSpPr>
          <p:cNvPr id="75" name="Shape 72"/>
          <p:cNvSpPr/>
          <p:nvPr/>
        </p:nvSpPr>
        <p:spPr>
          <a:xfrm>
            <a:off x="4459224" y="487375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Salma</a:t>
            </a:r>
            <a:endParaRPr lang="en-US" sz="1250" dirty="0"/>
          </a:p>
        </p:txBody>
      </p:sp>
      <p:sp>
        <p:nvSpPr>
          <p:cNvPr id="78" name="Shape 75"/>
          <p:cNvSpPr/>
          <p:nvPr/>
        </p:nvSpPr>
        <p:spPr>
          <a:xfrm>
            <a:off x="4459224" y="5330952"/>
            <a:ext cx="256032" cy="256032"/>
          </a:xfrm>
          <a:prstGeom prst="ellipse">
            <a:avLst/>
          </a:prstGeom>
          <a:solidFill>
            <a:srgbClr val="C9CED6"/>
          </a:solidFill>
          <a:ln w="12700">
            <a:solidFill>
              <a:srgbClr val="C9CED6"/>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Hasan</a:t>
            </a:r>
            <a:endParaRPr lang="en-US" sz="1250" dirty="0"/>
          </a:p>
        </p:txBody>
      </p:sp>
      <p:sp>
        <p:nvSpPr>
          <p:cNvPr id="81" name="Shape 78"/>
          <p:cNvSpPr/>
          <p:nvPr/>
        </p:nvSpPr>
        <p:spPr>
          <a:xfrm>
            <a:off x="4367784" y="5751576"/>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5788152"/>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85" name="Shape 82"/>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223504" y="4288536"/>
            <a:ext cx="310896" cy="310896"/>
          </a:xfrm>
          <a:prstGeom prst="ellipse">
            <a:avLst/>
          </a:prstGeom>
          <a:solidFill>
            <a:srgbClr val="1B3B6F"/>
          </a:solidFill>
          <a:ln w="12700">
            <a:solidFill>
              <a:srgbClr val="1B3B6F"/>
            </a:solidFill>
            <a:prstDash val="solid"/>
          </a:ln>
        </p:spPr>
      </p:sp>
      <p:sp>
        <p:nvSpPr>
          <p:cNvPr id="87" name="Text 84"/>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8" name="Text 85"/>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wants cleaner transport?</a:t>
            </a:r>
            <a:endParaRPr lang="en-US" sz="1250" dirty="0"/>
          </a:p>
        </p:txBody>
      </p:sp>
      <p:sp>
        <p:nvSpPr>
          <p:cNvPr id="89" name="Shape 86"/>
          <p:cNvSpPr/>
          <p:nvPr/>
        </p:nvSpPr>
        <p:spPr>
          <a:xfrm>
            <a:off x="8278368" y="4873752"/>
            <a:ext cx="256032" cy="256032"/>
          </a:xfrm>
          <a:prstGeom prst="ellipse">
            <a:avLst/>
          </a:prstGeom>
          <a:solidFill>
            <a:srgbClr val="C9CED6"/>
          </a:solidFill>
          <a:ln w="12700">
            <a:solidFill>
              <a:srgbClr val="C9CED6"/>
            </a:solidFill>
            <a:prstDash val="solid"/>
          </a:ln>
        </p:spPr>
      </p:sp>
      <p:sp>
        <p:nvSpPr>
          <p:cNvPr id="90" name="Text 87"/>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1" name="Text 88"/>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Salma</a:t>
            </a:r>
            <a:endParaRPr lang="en-US" sz="1250" dirty="0"/>
          </a:p>
        </p:txBody>
      </p:sp>
      <p:sp>
        <p:nvSpPr>
          <p:cNvPr id="92" name="Shape 89"/>
          <p:cNvSpPr/>
          <p:nvPr/>
        </p:nvSpPr>
        <p:spPr>
          <a:xfrm>
            <a:off x="8186928" y="5294376"/>
            <a:ext cx="3453384" cy="347472"/>
          </a:xfrm>
          <a:prstGeom prst="roundRect">
            <a:avLst>
              <a:gd name="adj" fmla="val 15789"/>
            </a:avLst>
          </a:prstGeom>
          <a:solidFill>
            <a:srgbClr val="E6F4EC"/>
          </a:solidFill>
          <a:ln w="9525">
            <a:solidFill>
              <a:srgbClr val="2E8B57"/>
            </a:solidFill>
            <a:prstDash val="solid"/>
          </a:ln>
        </p:spPr>
      </p:sp>
      <p:sp>
        <p:nvSpPr>
          <p:cNvPr id="93" name="Shape 90"/>
          <p:cNvSpPr/>
          <p:nvPr/>
        </p:nvSpPr>
        <p:spPr>
          <a:xfrm>
            <a:off x="8278368" y="5330952"/>
            <a:ext cx="256032" cy="256032"/>
          </a:xfrm>
          <a:prstGeom prst="ellipse">
            <a:avLst/>
          </a:prstGeom>
          <a:solidFill>
            <a:srgbClr val="2E8B57"/>
          </a:solidFill>
          <a:ln w="12700">
            <a:solidFill>
              <a:srgbClr val="2E8B57"/>
            </a:solidFill>
            <a:prstDash val="solid"/>
          </a:ln>
        </p:spPr>
      </p:sp>
      <p:sp>
        <p:nvSpPr>
          <p:cNvPr id="94" name="Text 91"/>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95" name="Text 92"/>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96" name="Shape 93"/>
          <p:cNvSpPr/>
          <p:nvPr/>
        </p:nvSpPr>
        <p:spPr>
          <a:xfrm>
            <a:off x="8278368" y="5788152"/>
            <a:ext cx="256032" cy="256032"/>
          </a:xfrm>
          <a:prstGeom prst="ellipse">
            <a:avLst/>
          </a:prstGeom>
          <a:solidFill>
            <a:srgbClr val="C9CED6"/>
          </a:solidFill>
          <a:ln w="12700">
            <a:solidFill>
              <a:srgbClr val="C9CED6"/>
            </a:solidFill>
            <a:prstDash val="solid"/>
          </a:ln>
        </p:spPr>
      </p:sp>
      <p:sp>
        <p:nvSpPr>
          <p:cNvPr id="97" name="Text 94"/>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8" name="Text 95"/>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Hasan</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2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guide describes a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correct?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historic district is in the north.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airport is in the centre.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castle is modern.</a:t>
            </a:r>
            <a:endParaRPr lang="en-US" sz="1250" dirty="0"/>
          </a:p>
        </p:txBody>
      </p:sp>
      <p:sp>
        <p:nvSpPr>
          <p:cNvPr id="28" name="Shape 25"/>
          <p:cNvSpPr/>
          <p:nvPr/>
        </p:nvSpPr>
        <p:spPr>
          <a:xfrm>
            <a:off x="6185916"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second statement is correct?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old streets are wide.</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is recommended in the centre.</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airport journey takes ten minutes.</a:t>
            </a:r>
            <a:endParaRPr lang="en-US" sz="12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2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guide describes a city: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correct?</a:t>
            </a:r>
            <a:endParaRPr lang="en-US" sz="1250" dirty="0"/>
          </a:p>
        </p:txBody>
      </p:sp>
      <p:sp>
        <p:nvSpPr>
          <p:cNvPr id="19" name="Shape 16"/>
          <p:cNvSpPr/>
          <p:nvPr/>
        </p:nvSpPr>
        <p:spPr>
          <a:xfrm>
            <a:off x="548640" y="2496312"/>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historic district is in the north.</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airport is in the centre.</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castle is modern.</a:t>
            </a:r>
            <a:endParaRPr lang="en-US" sz="1250" dirty="0"/>
          </a:p>
        </p:txBody>
      </p:sp>
      <p:sp>
        <p:nvSpPr>
          <p:cNvPr id="29" name="Text 2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يَقَعُ الحَيُّ التَّارِيخِيُّ فِي شَمَالِ المَدِينَةِ</a:t>
            </a:r>
            <a:endParaRPr lang="ar-SA" sz="1350" dirty="0"/>
          </a:p>
        </p:txBody>
      </p:sp>
      <p:sp>
        <p:nvSpPr>
          <p:cNvPr id="30" name="Shape 27"/>
          <p:cNvSpPr/>
          <p:nvPr/>
        </p:nvSpPr>
        <p:spPr>
          <a:xfrm>
            <a:off x="6185916" y="1810512"/>
            <a:ext cx="5545836"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second statement is correct?</a:t>
            </a:r>
            <a:endParaRPr lang="en-US" sz="1250" dirty="0"/>
          </a:p>
        </p:txBody>
      </p:sp>
      <p:sp>
        <p:nvSpPr>
          <p:cNvPr id="34" name="Shape 31"/>
          <p:cNvSpPr/>
          <p:nvPr/>
        </p:nvSpPr>
        <p:spPr>
          <a:xfrm>
            <a:off x="6368796"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old streets are wide.</a:t>
            </a:r>
            <a:endParaRPr lang="en-US" sz="1250" dirty="0"/>
          </a:p>
        </p:txBody>
      </p:sp>
      <p:sp>
        <p:nvSpPr>
          <p:cNvPr id="37" name="Shape 34"/>
          <p:cNvSpPr/>
          <p:nvPr/>
        </p:nvSpPr>
        <p:spPr>
          <a:xfrm>
            <a:off x="6277356" y="2953512"/>
            <a:ext cx="5362956"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6368796"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bus is recommended in the centre.</a:t>
            </a:r>
            <a:endParaRPr lang="en-US" sz="1250" dirty="0"/>
          </a:p>
        </p:txBody>
      </p:sp>
      <p:sp>
        <p:nvSpPr>
          <p:cNvPr id="41" name="Shape 38"/>
          <p:cNvSpPr/>
          <p:nvPr/>
        </p:nvSpPr>
        <p:spPr>
          <a:xfrm>
            <a:off x="6368796"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airport journey takes ten minutes.</a:t>
            </a:r>
            <a:endParaRPr lang="en-US" sz="1250" dirty="0"/>
          </a:p>
        </p:txBody>
      </p:sp>
      <p:sp>
        <p:nvSpPr>
          <p:cNvPr id="44" name="Text 4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أَنْصَحُ الزُّوَّارَ بِاسْتِقْلَالِ الحَافِلَةِ فِي المَرْكَزِ</a:t>
            </a:r>
            <a:endParaRPr lang="ar-SA"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City of Peace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مَدِينَةُ السَّلَامِ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مَدِينَةُ السَّلَامِ مَدِينَةٌ سَاحِلِيَّةٌ مُتَوَسِّطَةُ الحَجْمِ. فِي مَرْكَزِهَا تُوجَدُ مَكْتَبَةٌ حَدِيثَةٌ وَمَتْحَفٌ مَبْنِيٌّ مِنَ الحَجَرِ. أَمَّا المَحَطَّةُ فَهِيَ مُقَابِلَ السُّوقِ وَقَرِيبَةٌ مِنَ الفُنْدُقِ. أَذْهَبُ إِلَى المَدْرَسَةِ بِالحَافِلَةِ، وَتَسْتَغْرِقُ الرِّحْلَةُ خَمْسًا وَعِشْرِينَ دَقِيقَةً. مِنْ مَزَايَا المَدِينَةِ أَنَّ المَوَاصَلَاتِ رَخِيصَةٌ وَأَنَّ الحَدَائِقَ نَظِيفَةٌ. وَلٰكِنْ مِنْ عُيُوبِهَا أَنَّ الطُّرُقَ مُزْدَحِمَةٌ فِي الصَّبَاحِ. بِصِفَةٍ عَامَّةٍ أُحِبُّ مَدِينَتِي لِأَنَّهَا آمِنَةٌ وَنَشِيطَةٌ.</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city is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tiny mountain village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medium-sized coastal city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capital in the desert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museum built of?</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wood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station?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airport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inside the museum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opposite the market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station near?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hotel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bridge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writer go to school?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metro</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bus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foot</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type of city is described?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tiny mountain village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medium-sized coastal city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capital in the desert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مَدِينَةٌ سَاحِلِيَّةٌ مُتَوَسِّطَةُ الحَجْمِ</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museum built of?</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stone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wood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مَتْحَفٌ مَبْنِيٌّ مِنَ الحَجَرِ</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station?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 the airport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inside the museum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opposite the market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مُقَابِلَ السُّوقِ</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station near?</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school</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hotel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bridge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قَرِيبَةٌ مِنَ الفُنْدُقِ</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writer go to school?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metro</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bus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foot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بِالحَافِلَةِ</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journey?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25 minutes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 minutes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 minutes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advantage is mentioned?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nearby airport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wide roads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cheap transport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disadvantage?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unsafe parks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morning congestion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expensive tickets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overall attitude?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negative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positive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uncertain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proves the city feels secure?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سَاحِلِيَّةٌ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مُزْدَحِمَةٌ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آمِنَةٌ</a:t>
            </a:r>
            <a:endParaRPr lang="ar-SA" sz="2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journey?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25 minutes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15 minutes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50 minutes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خَمْسًا وَعِشْرِينَ دَقِيقَةً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advantage is mentioned?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nearby airport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wide roads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cheap transport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المَوَاصَلَاتِ رَخِيصَةٌ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disadvantage?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unsafe parks</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morning congestion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expensive tickets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الطُّرُقَ مُزْدَحِمَةٌ فِي الصَّبَاحِ</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overall attitude?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negative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positive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uncertain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بِصِفَةٍ عَامَّةٍ أُحِبُّ مَدِينَتِي</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proves the city feels secure?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سَاحِلِيَّةٌ</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مُزْدَحِمَةٌ</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 آمِنَةٌ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آمِنَةٌ</a:t>
            </a:r>
            <a:pPr algn="l" indent="0" marL="0">
              <a:buNone/>
            </a:pPr>
            <a:r>
              <a:rPr lang="en-US" sz="1050" i="1" dirty="0">
                <a:solidFill>
                  <a:srgbClr val="8A6D1E"/>
                </a:solidFill>
                <a:latin typeface="Calibri" pitchFamily="34" charset="0"/>
                <a:cs typeface="Amiri" pitchFamily="2" charset="-78"/>
              </a:rPr>
              <a:t> = safe</a:t>
            </a:r>
            <a:endParaRPr lang="en-US" sz="10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WRITING · TASK 1 · TRANSPORT REGISTRATION FORM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transport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النَّقْلِ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400507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699248" y="2267712"/>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4023360" y="2267712"/>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اِسْمُ المَدِينَةِ</a:t>
            </a:r>
            <a:endParaRPr lang="ar-SA" sz="2200" dirty="0"/>
          </a:p>
        </p:txBody>
      </p:sp>
      <p:sp>
        <p:nvSpPr>
          <p:cNvPr id="22" name="Text 19"/>
          <p:cNvSpPr txBox="1"/>
          <p:nvPr/>
        </p:nvSpPr>
        <p:spPr>
          <a:xfrm>
            <a:off x="566928" y="2267712"/>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Name of the city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699248" y="300471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4023360" y="300471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وَسِيلَةُ النَّقْلِ الرَّئِيسِيَّةُ</a:t>
            </a:r>
            <a:endParaRPr lang="ar-SA" sz="2200" dirty="0"/>
          </a:p>
        </p:txBody>
      </p:sp>
      <p:sp>
        <p:nvSpPr>
          <p:cNvPr id="28" name="Text 25"/>
          <p:cNvSpPr txBox="1"/>
          <p:nvPr/>
        </p:nvSpPr>
        <p:spPr>
          <a:xfrm>
            <a:off x="566928" y="3004718"/>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Main transport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699248" y="3741725"/>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4023360" y="3741725"/>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المَسَافَةُ إِلَى المَدْرَسَةِ</a:t>
            </a:r>
            <a:endParaRPr lang="ar-SA" sz="2200" dirty="0"/>
          </a:p>
        </p:txBody>
      </p:sp>
      <p:sp>
        <p:nvSpPr>
          <p:cNvPr id="34" name="Text 31"/>
          <p:cNvSpPr txBox="1"/>
          <p:nvPr/>
        </p:nvSpPr>
        <p:spPr>
          <a:xfrm>
            <a:off x="566928" y="3741725"/>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Distance to school</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699248" y="4478731"/>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4023360" y="4478731"/>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مِيزَةٌ وَاحِدَةٌ</a:t>
            </a:r>
            <a:endParaRPr lang="ar-SA" sz="2200" dirty="0"/>
          </a:p>
        </p:txBody>
      </p:sp>
      <p:sp>
        <p:nvSpPr>
          <p:cNvPr id="40" name="Text 37"/>
          <p:cNvSpPr txBox="1"/>
          <p:nvPr/>
        </p:nvSpPr>
        <p:spPr>
          <a:xfrm>
            <a:off x="566928" y="4478731"/>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One advantage</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699248" y="5215738"/>
            <a:ext cx="39593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4023360" y="521573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عَيْبٌ وَاحِدٌ</a:t>
            </a:r>
            <a:endParaRPr lang="ar-SA" sz="2200" dirty="0"/>
          </a:p>
        </p:txBody>
      </p:sp>
      <p:sp>
        <p:nvSpPr>
          <p:cNvPr id="46" name="Text 43"/>
          <p:cNvSpPr txBox="1"/>
          <p:nvPr/>
        </p:nvSpPr>
        <p:spPr>
          <a:xfrm>
            <a:off x="566928" y="5215738"/>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One disadvantage</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Example: </a:t>
            </a:r>
            <a:pPr algn="l" indent="0" marL="0">
              <a:buNone/>
            </a:pPr>
            <a:r>
              <a:rPr lang="ar-SA" altLang="en-US" sz="1500" b="1" dirty="0">
                <a:solidFill>
                  <a:srgbClr val="1B3B6F"/>
                </a:solidFill>
                <a:latin typeface="Amiri" pitchFamily="2" charset="-78"/>
                <a:ea typeface="Amiri" pitchFamily="2" charset="-78"/>
                <a:cs typeface="Amiri" pitchFamily="2" charset="-78"/>
              </a:rPr>
              <a:t>لَنْدَنُ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الحَافِلَةُ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خَمْسَةُ كِيلُومِتْرَاتٍ</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المَوَاصَلَاتُ رَخِيصَةٌ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الشَّوَارِعُ مُكْتَظَّةٌ</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TASK 2 · 80–100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Choose one route and write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46811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checklist — include all four</a:t>
            </a:r>
            <a:endParaRPr lang="en-US" sz="1100" dirty="0"/>
          </a:p>
        </p:txBody>
      </p:sp>
      <p:sp>
        <p:nvSpPr>
          <p:cNvPr id="17" name="Text 14"/>
          <p:cNvSpPr txBox="1"/>
          <p:nvPr/>
        </p:nvSpPr>
        <p:spPr>
          <a:xfrm>
            <a:off x="53035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Choose ONE title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550468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yūjadu / tūjadu accurately.</a:t>
            </a:r>
            <a:endParaRPr lang="en-US" sz="1100" dirty="0"/>
          </a:p>
        </p:txBody>
      </p:sp>
      <p:sp>
        <p:nvSpPr>
          <p:cNvPr id="20" name="Text 17"/>
          <p:cNvSpPr txBox="1"/>
          <p:nvPr/>
        </p:nvSpPr>
        <p:spPr>
          <a:xfrm>
            <a:off x="566928" y="2267712"/>
            <a:ext cx="4754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My town and how I get around</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550468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transport with the correct preposition and duration.</a:t>
            </a:r>
            <a:endParaRPr lang="en-US" sz="1100" dirty="0"/>
          </a:p>
        </p:txBody>
      </p:sp>
      <p:sp>
        <p:nvSpPr>
          <p:cNvPr id="25" name="Text 22"/>
          <p:cNvSpPr txBox="1"/>
          <p:nvPr/>
        </p:nvSpPr>
        <p:spPr>
          <a:xfrm>
            <a:off x="566928" y="3054096"/>
            <a:ext cx="4754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My ideal town</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550468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mabniyyun min or yatamayyazu bi-.</a:t>
            </a:r>
            <a:endParaRPr lang="en-US" sz="1100" dirty="0"/>
          </a:p>
        </p:txBody>
      </p:sp>
      <p:sp>
        <p:nvSpPr>
          <p:cNvPr id="30" name="Text 27"/>
          <p:cNvSpPr txBox="1"/>
          <p:nvPr/>
        </p:nvSpPr>
        <p:spPr>
          <a:xfrm>
            <a:off x="566928" y="3840480"/>
            <a:ext cx="4754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Advantages and disadvantages of my town</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550468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advantage, one disadvantage and a justified conclusion.</a:t>
            </a:r>
            <a:endParaRPr lang="en-US" sz="1100" dirty="0"/>
          </a:p>
        </p:txBody>
      </p:sp>
      <p:sp>
        <p:nvSpPr>
          <p:cNvPr id="35" name="Text 32"/>
          <p:cNvSpPr txBox="1"/>
          <p:nvPr/>
        </p:nvSpPr>
        <p:spPr>
          <a:xfrm>
            <a:off x="566928" y="4626864"/>
            <a:ext cx="47548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Plan → draft → check → improve (F6-L09)</a:t>
            </a:r>
            <a:endParaRPr lang="en-US" sz="1100" dirty="0"/>
          </a:p>
        </p:txBody>
      </p:sp>
      <p:sp>
        <p:nvSpPr>
          <p:cNvPr id="36" name="Text 3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Independent evidence: no translation software or AI. Three paragraphs, three jobs: town · transport · judgement.</a:t>
            </a:r>
            <a:endParaRPr lang="en-US" sz="11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D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role play and a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05872" y="1810512"/>
            <a:ext cx="1252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3273552" y="1810512"/>
            <a:ext cx="6986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Card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442448" y="2267712"/>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21" name="Text 18"/>
          <p:cNvSpPr txBox="1"/>
          <p:nvPr/>
        </p:nvSpPr>
        <p:spPr>
          <a:xfrm>
            <a:off x="3310128" y="2267712"/>
            <a:ext cx="6949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where the nearest metro is, ask how to get there, ask how long the walk takes, and respond appropriately.</a:t>
            </a:r>
            <a:endParaRPr lang="en-US" sz="1100" dirty="0"/>
          </a:p>
        </p:txBody>
      </p:sp>
      <p:sp>
        <p:nvSpPr>
          <p:cNvPr id="22" name="Text 19"/>
          <p:cNvSpPr txBox="1"/>
          <p:nvPr/>
        </p:nvSpPr>
        <p:spPr>
          <a:xfrm>
            <a:off x="56692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Role play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442448" y="3054096"/>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27" name="Text 24"/>
          <p:cNvSpPr txBox="1"/>
          <p:nvPr/>
        </p:nvSpPr>
        <p:spPr>
          <a:xfrm>
            <a:off x="3310128" y="3054096"/>
            <a:ext cx="6949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town, explain how you travel, and present one advantage and one disadvantage.</a:t>
            </a:r>
            <a:endParaRPr lang="en-US" sz="1100" dirty="0"/>
          </a:p>
        </p:txBody>
      </p:sp>
      <p:sp>
        <p:nvSpPr>
          <p:cNvPr id="28" name="Text 25"/>
          <p:cNvSpPr txBox="1"/>
          <p:nvPr/>
        </p:nvSpPr>
        <p:spPr>
          <a:xfrm>
            <a:off x="56692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Conversation</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442448" y="3840480"/>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3" name="Text 30"/>
          <p:cNvSpPr txBox="1"/>
          <p:nvPr/>
        </p:nvSpPr>
        <p:spPr>
          <a:xfrm>
            <a:off x="3310128" y="3840480"/>
            <a:ext cx="6949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direction command, one existence structure and one justified opinion.</a:t>
            </a:r>
            <a:endParaRPr lang="en-US" sz="1100" dirty="0"/>
          </a:p>
        </p:txBody>
      </p:sp>
      <p:sp>
        <p:nvSpPr>
          <p:cNvPr id="34" name="Text 31"/>
          <p:cNvSpPr txBox="1"/>
          <p:nvPr/>
        </p:nvSpPr>
        <p:spPr>
          <a:xfrm>
            <a:off x="56692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 target</a:t>
            </a: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use the preparation space to organise ideas, not to write a script.</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F6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F6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confident town and transport communication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selected F6 lessons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reflection: My strongest F6 evidence was … · Before D1, I will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places in town and say where they are.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how I travel and how long it takes.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ask for and give directions.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buy a ticket and compare prices.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 balanced 80–100-word text about my town.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F6-L12 · F6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D1-L01 · My Morning Routine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أَسْتَيْقِظُ</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wake up</a:t>
            </a:r>
            <a:pPr indent="0" marL="0">
              <a:buNone/>
            </a:pPr>
            <a:r>
              <a:rPr lang="ar-SA" sz="1000" i="1" dirty="0">
                <a:solidFill>
                  <a:srgbClr val="5A6472"/>
                </a:solidFill>
                <a:latin typeface="Calibri" pitchFamily="34" charset="0"/>
                <a:ea typeface="Amiri" pitchFamily="2" charset="-78"/>
                <a:cs typeface="Amiri" pitchFamily="2" charset="-78"/>
              </a:rPr>
              <a:t>  تَسْتَيْقِظُ she</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أَغْسِلُ وَجْهِي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wash my face</a:t>
            </a:r>
            <a:pPr indent="0" marL="0">
              <a:buNone/>
            </a:pPr>
            <a:r>
              <a:rPr lang="ar-SA" sz="1000" i="1" dirty="0">
                <a:solidFill>
                  <a:srgbClr val="5A6472"/>
                </a:solidFill>
                <a:latin typeface="Calibri" pitchFamily="34" charset="0"/>
                <a:ea typeface="Amiri" pitchFamily="2" charset="-78"/>
                <a:cs typeface="Amiri" pitchFamily="2" charset="-78"/>
              </a:rPr>
              <a:t>  تَغْسِلُ she</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أَتَنَاوَلُ الفُطُورَ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have breakfast</a:t>
            </a:r>
            <a:pPr indent="0" marL="0">
              <a:buNone/>
            </a:pPr>
            <a:r>
              <a:rPr lang="ar-SA" sz="1000" i="1" dirty="0">
                <a:solidFill>
                  <a:srgbClr val="5A6472"/>
                </a:solidFill>
                <a:latin typeface="Calibri" pitchFamily="34" charset="0"/>
                <a:ea typeface="Amiri" pitchFamily="2" charset="-78"/>
                <a:cs typeface="Amiri" pitchFamily="2" charset="-78"/>
              </a:rPr>
              <a:t>  نَتَنَاوَلُ we</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أَلْبَسُ</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put on / wear</a:t>
            </a:r>
            <a:pPr indent="0" marL="0">
              <a:buNone/>
            </a:pPr>
            <a:r>
              <a:rPr lang="ar-SA" sz="1000" i="1" dirty="0">
                <a:solidFill>
                  <a:srgbClr val="5A6472"/>
                </a:solidFill>
                <a:latin typeface="Calibri" pitchFamily="34" charset="0"/>
                <a:ea typeface="Amiri" pitchFamily="2" charset="-78"/>
                <a:cs typeface="Amiri" pitchFamily="2" charset="-78"/>
              </a:rPr>
              <a:t>  تَلْبَسُ she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أَخْرُجُ مِنَ البَيْتِ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leave the house</a:t>
            </a:r>
            <a:pPr indent="0" marL="0">
              <a:buNone/>
            </a:pPr>
            <a:r>
              <a:rPr lang="ar-SA" sz="1000" i="1" dirty="0">
                <a:solidFill>
                  <a:srgbClr val="5A6472"/>
                </a:solidFill>
                <a:latin typeface="Calibri" pitchFamily="34" charset="0"/>
                <a:ea typeface="Amiri" pitchFamily="2" charset="-78"/>
                <a:cs typeface="Amiri" pitchFamily="2" charset="-78"/>
              </a:rPr>
              <a:t>  يَخْرُجُ 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you do first every morning?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الصَّبَاحِ، أَوَّلًا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F6-L12 section with your lowest score; learn the five morning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paragraph of your assessed text, then learn the five morning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morning routine in five sentences with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بَعْدَ 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D1-L01 · My Morning Routine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رُوتِينِي الصَّبَاحِيُّ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Foundation complete — mabrūk! Carry the same habits into Development: agreement, complete structures, reasons.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F6-L12 · Final Review and Assessment: My Town and Transport</dc:title>
  <dc:subject>PptxGenJS Presentation</dc:subject>
  <dc:creator>Al Madina Online School · Arabic Department</dc:creator>
  <cp:lastModifiedBy>Al Madina Online School · Arabic Department</cp:lastModifiedBy>
  <cp:revision>1</cp:revision>
  <dcterms:created xsi:type="dcterms:W3CDTF">2026-10-11T06:41:58Z</dcterms:created>
  <dcterms:modified xsi:type="dcterms:W3CDTF">2026-10-11T06:41:58Z</dcterms:modified>
</cp:coreProperties>
</file>