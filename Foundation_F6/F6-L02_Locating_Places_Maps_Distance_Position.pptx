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F6 My Town and Transport › F6-L02. The website lesson “Locating Places: Maps, Distance and Position”: vocabulary, grammar rules and quiz, patterns, common mistakes, sorter, listening, reading, speaking prompts and model, writing task and model, differentiation, final check and the lesson mission. Picture match: website visual game “Locating Places: Maps, Distance and Position”.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four basic prepositions with a labelled map (بِجَانِبِ، أَمَامَ، خَلْفَ، بَيْنَ).
• Develop: eight positions and near / far agreement (المَحَطَّةُ قَرِيبَةٌ مِنَ …).
• Stretch: an information-gap map (unlabelled) and a precise guide with north / south / east / west.
• Website: “A map answer should name the place and provide a reference point; isolated words do not show full control.”
• Online: share a simple town map (draw one in the whiteboard app) — students annotate or answer in the chat.
• The reference noun after a preposition ends in -i (kasrah) — say it, praise it, don’t over-correct Core.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F6-L01. Questions 3–5 retrieve F6-L01 (yūjadu / tūjadu / hunāka, places).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map answer = the place + a position word + a reference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شمال، جنوب، مشرق، مغرب are shared (think of نمازِ مغرب at sunset, in the west). Urdu موقع means “occasion, opportunity”; in Arabic مَوْقِعٌ is a location (and a website!). خارج in Urdu (expelled, “outside”) → خَارِجَ المَدِينَةِ = outside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Position and distance (website vocabulary (1 of 4)). Hear → Say → See → Use. Transliteration is printed for Core students (cover it for Develop/Stretch).
Position words (website group 1, 19 words over several cards). Mime them on camera: hand beside / in front of / behind the other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Position and distance (website vocabulary (2 of 4)). Hear → Say → See → Use. Transliteration is printed for Core students (cover it for Develop/Stretch).
Position words (website group 1, 19 words over several cards). Mime them on camera: hand beside / in front of / behind the other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Position and distance (website vocabulary (3 of 4)). Hear → Say → See → Use. Transliteration is printed for Core students (cover it for Develop/Stretch).
Position words (website group 1, 19 words over several cards). Mime them on camera: hand beside / in front of / behind the other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Position and distance (website vocabulary (4 of 4)). Hear → Say → See → Use. Transliteration is printed for Core students (cover it for Develop/Stretch).
FLEX: teach if time allows; otherwise these are on the website vocabulary tab for homework.
Position words (website group 1, 19 words over several cards). Mime them on camera: hand beside / in front of / behind the other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Map and route language (website vocabulary (1 of 2)). Hear → Say → See → Use. Transliteration is printed for Core students (cover it for Develop/Stretch).
FLEX: teach if time allows; otherwise these are on the website vocabulary tab for homework.
Directions: فِي شَمَالِ / جَنُوبِ (in the north / south of), شَرْقَ / غَرْبَ (east / west of) —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Map and route language (website vocabulary (2 of 2)). Hear → Say → See → Use. Transliteration is printed for Core students (cover it for Develop/Stretch).
FLEX: teach if time allows; otherwise these are on the website vocabulary tab for homework.
Directions: فِي شَمَالِ / جَنُوبِ (in the north / south of), شَرْقَ / غَرْبَ (east / west of) —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“Ask where a definite place is” (أَيْنَ + الـ), “Answer with a place preposition” (the reference noun takes kasrah) and “Use بَيْنَ with two reference points”.
Website mistakes: أَيْنَ مَحَطَّةٌ؟ ✗ → أَيْنَ المَحَطَّةُ؟ ✓ · البَنْكُ بَيْنَ السُّوقِ ✗ → بَيْنَ السُّوقِ وَالمَقْهَى ✓.
Website teaching note: “After a place preposition, listen for and write the kasrah on the reference noun when the text is fully vowelled.”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“Make near and far agree”: “The adjective agrees with the place being described, not the reference place.”
Website common error: “Do not make قَرِيبٌ agree with the noun after مِنْ.”
Pronunciation: مِنْ + الـ → مِنَ الـ; عَنْ + الـ → عَنِ الـ (mina l-bayti, ʿani l-markazi).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“Use أَيْنَ with a definite place, then answer with a complete location phrase. Prepositions such as بِجَانِبِ and أَمَامَ are followed by a definite noun and make the description precise.”
• Ask where a definite place is: The place normally includes الـ because both speakers know which place is being discussed.
• Answer with a place preposition: The noun after the preposition is pronounced with a kasrah when fully vowelled.
• Use بَيْنَ with two reference points: A place between two landmarks needs both reference points.
• Make near and far agree: The adjective agrees with the place being described, not the reference place.
Website common error: Do not make قَرِيبٌ agree with the noun after مِنْ. In المَحَطَّةُ قَرِيبَةٌ مِنَ البَنْكِ, قَرِيبَةٌ agrees with المَحَطَّةُ.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writing model, drawn live: sketch each place on the whiteboard as you say the sentence. Students copy the model and draw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Locating Places: Maps, Distance and Position”)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Items 2 and 3 differ only in near / far — ask students to explain their choice with قَرِيبٌ / بَعِيدٌ. Other website items: opposite the shop, on / under the chair (عَلَى، تَحْتَ).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Locating Places: Maps, Distance and Position”)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Items 2 and 3 differ only in near / far — ask students to explain their choice with قَرِيبٌ / بَعِيدٌ. Other website items: opposite the shop, on / under the chair (عَلَى، تَحْتَ).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Choose the type of location meaning.
Most words are “exact position” — the point: قَرِيبٌ / بَعِيدٌ tell distance, the others tell exact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Choose the type of location meaning.
Most words are “exact position” — the point: قَرِيبٌ / بَعِيدٌ tell distance, the others tell exact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then draw the whole map.
Listen 1: just listen. Listen 2: note answers. Then chat the letters.
Support: after the second listening, show the read-along slide (Arabic + English, line by line) for Core students.
SCRIPT (read aloud):
اِبْدَأْ مِنَ المَدْرَسَةِ. المَكْتَبَةُ عَلَى يَمِينِ المَدْرَسَةِ، وَالمَسْجِدُ عَلَى يَسَارِهَا. أَمَامَ المَدْرَسَةِ حَدِيقَةٌ، وَخَلْفَ الحَدِيقَةِ مَقْهًى صَغِيرٌ. البَنْكُ بَيْنَ المَقْهَى وَالسُّوقِ. المَحَطَّةُ بَعِيدَةٌ عَنِ المَدْرَسَةِ، وَلٰكِنَّهَا قَرِيبَةٌ مِنَ المَطْعَمِ.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هَلْ هِيَ بَعِيدَةٌ؟ (Is it far?)
B: لَا، هِيَ قَرِيبَةٌ مِنَ المَيْدَانِ. (No, it is near the square.)
Website “Map detective role-play” — all four prompts are the website’s. Information gap: A has a labelled map, B an empty one; B asks أَيْنَ …؟ and draws. Website model: أَيْنَ أَقْرَبُ مَحَطَّةٍ؟ — المَحَطَّةُ بَيْنَ البَنْكِ وَمَكْتَبِ البَرِيدِ. — هَلْ هِيَ بَعِيدَةٌ؟ — لَا، هِيَ قَرِيبَةٌ مِنَ المَيْدَانِ.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four basic prepositions with a labelled map. · Develop — Describe eight positions and control near/far agreement. · Stretch — Create an unlabelled information-gap map and write a precise guide using cardinal directions.
Website writing task (Stretch): Describe a simple town map in 60–80 Arabic words.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بِجَانِبِ المَدْرَسَةِ · بَيْنَ البَنْكِ وَالمَقْهَى · أَيْنَ السُّوقُ؟ · قَرِيبَةٌ مِنَ المَيْدَانِ / بَعِيدٌ عَنِ المَرْكَزِ.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(F6-L03 · Transport: Types and How We Travel) will spend class time USING this language, so students prepare it tonight — short, simple, easy to access (school guidance: “Simple, Short, Interesting, Relevant, Easy to access”). The five words come from the website F6-L03 lesson (transport).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Locating Places: Maps, Distance and Position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تَحْدِيدُ الأَمَاكِنِ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Ask </a:t>
            </a:r>
            <a:pPr algn="l" indent="0" marL="0">
              <a:buNone/>
            </a:pPr>
            <a:r>
              <a:rPr lang="ar-SA" altLang="en-US" sz="1800" dirty="0">
                <a:solidFill>
                  <a:srgbClr val="C6D2E6"/>
                </a:solidFill>
                <a:latin typeface="Amiri" pitchFamily="2" charset="-78"/>
                <a:cs typeface="Amiri" pitchFamily="2" charset="-78"/>
              </a:rPr>
              <a:t>أَيْنَ …؟</a:t>
            </a:r>
            <a:pPr algn="l" indent="0" marL="0">
              <a:buNone/>
            </a:pPr>
            <a:r>
              <a:rPr lang="en-US" sz="1400" dirty="0">
                <a:solidFill>
                  <a:srgbClr val="C6D2E6"/>
                </a:solidFill>
                <a:latin typeface="Calibri" pitchFamily="34" charset="0"/>
                <a:cs typeface="Amiri" pitchFamily="2" charset="-78"/>
              </a:rPr>
              <a:t> and describe exact positions on a map: next to, opposite, between, right and left, near and far — with accurate agreement.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F6-L02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Position words and map language, then where is …? · it is next to / between …</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near / far / exact, fix the map sentences and follow a spoken map.</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F6-L03.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خَرِيطَةٌ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street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map</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بَيْنَ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between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near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“There is a school.”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 مَدْرَسَةٌ.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هُنَاكَ المَدْرَسَةُ.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 مَدْرَسَةٌ.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never changes for gender?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هُنَاكَ</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مَكْتَبَةٌ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library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office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خَرِيطَةٌ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street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map</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بَيْنَ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between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behind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near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“There is a school.”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يُوجَدُ مَدْرَسَةٌ.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هُنَاكَ المَدْرَسَةُ.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تُوجَدُ مَدْرَسَةٌ.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F6-L01: a feminine place → tūjadu.</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never changes for gender?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يُوجَدُ</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تُوجَدُ</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هُنَاكَ</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F6-L01: hunāka.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مَكْتَبَةٌ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library</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office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F6-L01 places.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map answer = the place + a position word + a reference point.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المَكْتَبَةُ </a:t>
            </a:r>
            <a:pPr rtl="1" algn="ctr" indent="0" marL="0">
              <a:buNone/>
            </a:pPr>
            <a:r>
              <a:rPr lang="ar-SA" altLang="en-US" sz="2400" b="1" dirty="0">
                <a:solidFill>
                  <a:srgbClr val="0E7C86"/>
                </a:solidFill>
                <a:latin typeface="Amiri" pitchFamily="2" charset="-78"/>
                <a:cs typeface="Amiri" pitchFamily="2" charset="-78"/>
              </a:rPr>
              <a:t>بِجَانِبِ</a:t>
            </a:r>
            <a:pPr rtl="1" algn="ctr" indent="0" marL="0">
              <a:buNone/>
            </a:pPr>
            <a:r>
              <a:rPr lang="ar-SA" altLang="en-US" sz="2400" b="1" dirty="0">
                <a:solidFill>
                  <a:srgbClr val="1B3B6F"/>
                </a:solidFill>
                <a:latin typeface="Amiri" pitchFamily="2" charset="-78"/>
                <a:cs typeface="Amiri" pitchFamily="2" charset="-78"/>
              </a:rPr>
              <a:t> المَدْرَسَةِ.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and answer </a:t>
            </a:r>
            <a:pPr algn="l" indent="0" marL="0">
              <a:buNone/>
            </a:pPr>
            <a:r>
              <a:rPr lang="ar-SA" altLang="en-US" sz="1700" dirty="0">
                <a:solidFill>
                  <a:srgbClr val="1F2A37"/>
                </a:solidFill>
                <a:latin typeface="Amiri" pitchFamily="2" charset="-78"/>
                <a:cs typeface="Amiri" pitchFamily="2" charset="-78"/>
              </a:rPr>
              <a:t>أَيْنَ؟</a:t>
            </a:r>
            <a:pPr algn="l" indent="0" marL="0">
              <a:buNone/>
            </a:pPr>
            <a:r>
              <a:rPr lang="en-US" sz="1300" dirty="0">
                <a:solidFill>
                  <a:srgbClr val="1F2A37"/>
                </a:solidFill>
                <a:latin typeface="Calibri" pitchFamily="34" charset="0"/>
                <a:cs typeface="Amiri" pitchFamily="2" charset="-78"/>
              </a:rPr>
              <a:t> questions.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 wide range of place prepositions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masculine and feminine near/far agreement.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and produce map descriptions.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where four places are.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four position words.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locate places with six expressions.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near / far agree.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north, south, east and west.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precise map guide.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27 words from the website in 2 groups. Learn the CORE words first. Hear it → say it → see it → use it.</a:t>
            </a:r>
            <a:endParaRPr lang="en-US" sz="1600" dirty="0"/>
          </a:p>
        </p:txBody>
      </p:sp>
      <p:sp>
        <p:nvSpPr>
          <p:cNvPr id="8" name="Shape 6"/>
          <p:cNvSpPr/>
          <p:nvPr/>
        </p:nvSpPr>
        <p:spPr>
          <a:xfrm>
            <a:off x="457200" y="4572000"/>
            <a:ext cx="3863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Position and distance · 19</a:t>
            </a:r>
            <a:endParaRPr lang="en-US" sz="900" dirty="0"/>
          </a:p>
        </p:txBody>
      </p:sp>
      <p:sp>
        <p:nvSpPr>
          <p:cNvPr id="10" name="Shape 8"/>
          <p:cNvSpPr/>
          <p:nvPr/>
        </p:nvSpPr>
        <p:spPr>
          <a:xfrm>
            <a:off x="4457700" y="4572000"/>
            <a:ext cx="3863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45948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Map and route language · 8</a:t>
            </a:r>
            <a:endParaRPr lang="en-US" sz="900" dirty="0"/>
          </a:p>
        </p:txBody>
      </p:sp>
      <p:sp>
        <p:nvSpPr>
          <p:cNvPr id="12" name="Shape 10"/>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3" name="Text 11"/>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4" name="Text 12"/>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مَوْقِعٌ</a:t>
            </a:r>
            <a:endParaRPr lang="ar-SA" sz="1900" dirty="0"/>
          </a:p>
        </p:txBody>
      </p:sp>
      <p:sp>
        <p:nvSpPr>
          <p:cNvPr id="15" name="Text 13"/>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‎موقع‎ </a:t>
            </a:r>
            <a:pPr indent="0" marL="0">
              <a:buNone/>
            </a:pPr>
            <a:r>
              <a:rPr lang="en-US" sz="950" b="1" dirty="0">
                <a:solidFill>
                  <a:srgbClr val="2E8B57"/>
                </a:solidFill>
                <a:latin typeface="Calibri" pitchFamily="34" charset="0"/>
                <a:cs typeface="Amiri" pitchFamily="2" charset="-78"/>
              </a:rPr>
              <a:t> mauqaʿ · Urdu: occasion · Arabic: location</a:t>
            </a:r>
            <a:endParaRPr lang="en-US" sz="1400" dirty="0"/>
          </a:p>
        </p:txBody>
      </p:sp>
      <p:sp>
        <p:nvSpPr>
          <p:cNvPr id="16" name="Text 14"/>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شَمَالٌ</a:t>
            </a:r>
            <a:endParaRPr lang="ar-SA" sz="1900" dirty="0"/>
          </a:p>
        </p:txBody>
      </p:sp>
      <p:sp>
        <p:nvSpPr>
          <p:cNvPr id="17" name="Text 15"/>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‎شمال‎ </a:t>
            </a:r>
            <a:pPr indent="0" marL="0">
              <a:buNone/>
            </a:pPr>
            <a:r>
              <a:rPr lang="en-US" sz="950" b="1" dirty="0">
                <a:solidFill>
                  <a:srgbClr val="2E8B57"/>
                </a:solidFill>
                <a:latin typeface="Calibri" pitchFamily="34" charset="0"/>
                <a:cs typeface="Amiri" pitchFamily="2" charset="-78"/>
              </a:rPr>
              <a:t> shumāl · north</a:t>
            </a:r>
            <a:endParaRPr lang="en-US" sz="1400" dirty="0"/>
          </a:p>
        </p:txBody>
      </p:sp>
      <p:sp>
        <p:nvSpPr>
          <p:cNvPr id="18" name="Text 16"/>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جَنُوبٌ</a:t>
            </a:r>
            <a:endParaRPr lang="ar-SA" sz="1900" dirty="0"/>
          </a:p>
        </p:txBody>
      </p:sp>
      <p:sp>
        <p:nvSpPr>
          <p:cNvPr id="19" name="Text 17"/>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‎جنوب‎ </a:t>
            </a:r>
            <a:pPr indent="0" marL="0">
              <a:buNone/>
            </a:pPr>
            <a:r>
              <a:rPr lang="en-US" sz="950" b="1" dirty="0">
                <a:solidFill>
                  <a:srgbClr val="2E8B57"/>
                </a:solidFill>
                <a:latin typeface="Calibri" pitchFamily="34" charset="0"/>
                <a:cs typeface="Amiri" pitchFamily="2" charset="-78"/>
              </a:rPr>
              <a:t> janūb · south</a:t>
            </a:r>
            <a:endParaRPr lang="en-US" sz="1400" dirty="0"/>
          </a:p>
        </p:txBody>
      </p:sp>
      <p:sp>
        <p:nvSpPr>
          <p:cNvPr id="20" name="Text 18"/>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مَشْرِقٌ · مَغْرِبٌ</a:t>
            </a:r>
            <a:endParaRPr lang="ar-SA" sz="1900" dirty="0"/>
          </a:p>
        </p:txBody>
      </p:sp>
      <p:sp>
        <p:nvSpPr>
          <p:cNvPr id="21" name="Text 19"/>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‎مشرق · مغرب‎ </a:t>
            </a:r>
            <a:pPr indent="0" marL="0">
              <a:buNone/>
            </a:pPr>
            <a:r>
              <a:rPr lang="en-US" sz="950" b="1" dirty="0">
                <a:solidFill>
                  <a:srgbClr val="2E8B57"/>
                </a:solidFill>
                <a:latin typeface="Calibri" pitchFamily="34" charset="0"/>
                <a:cs typeface="Amiri" pitchFamily="2" charset="-78"/>
              </a:rPr>
              <a:t> mashriq · maghrib · east · west</a:t>
            </a:r>
            <a:endParaRPr lang="en-US" sz="1400" dirty="0"/>
          </a:p>
        </p:txBody>
      </p:sp>
      <p:sp>
        <p:nvSpPr>
          <p:cNvPr id="22" name="Text 20"/>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خَارِجَ</a:t>
            </a:r>
            <a:endParaRPr lang="ar-SA" sz="1900" dirty="0"/>
          </a:p>
        </p:txBody>
      </p:sp>
      <p:sp>
        <p:nvSpPr>
          <p:cNvPr id="23" name="Text 21"/>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‎خارج‎ </a:t>
            </a:r>
            <a:pPr indent="0" marL="0">
              <a:buNone/>
            </a:pPr>
            <a:r>
              <a:rPr lang="en-US" sz="950" b="1" dirty="0">
                <a:solidFill>
                  <a:srgbClr val="2E8B57"/>
                </a:solidFill>
                <a:latin typeface="Calibri" pitchFamily="34" charset="0"/>
                <a:cs typeface="Amiri" pitchFamily="2" charset="-78"/>
              </a:rPr>
              <a:t> khārij · outside (Urdu: expelled)</a:t>
            </a:r>
            <a:endParaRPr lang="en-US" sz="1400" dirty="0"/>
          </a:p>
        </p:txBody>
      </p:sp>
      <p:sp>
        <p:nvSpPr>
          <p:cNvPr id="25" name="Text 2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Position and distance (1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أَيْنَ؟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t>
            </a:r>
            <a:endParaRPr lang="en-US" sz="1350" dirty="0"/>
          </a:p>
          <a:p>
            <a:pPr indent="0" marL="0">
              <a:buNone/>
            </a:pPr>
            <a:r>
              <a:rPr lang="en-US" sz="1100" i="1" dirty="0">
                <a:solidFill>
                  <a:srgbClr val="5A6472"/>
                </a:solidFill>
                <a:latin typeface="Calibri" pitchFamily="34" charset="0"/>
                <a:cs typeface="Amiri" pitchFamily="2" charset="-78"/>
              </a:rPr>
              <a:t>ay-na?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هُنَا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here</a:t>
            </a:r>
            <a:endParaRPr lang="en-US" sz="1350" dirty="0"/>
          </a:p>
          <a:p>
            <a:pPr indent="0" marL="0">
              <a:buNone/>
            </a:pPr>
            <a:r>
              <a:rPr lang="en-US" sz="1100" i="1" dirty="0">
                <a:solidFill>
                  <a:srgbClr val="5A6472"/>
                </a:solidFill>
                <a:latin typeface="Calibri" pitchFamily="34" charset="0"/>
                <a:cs typeface="Amiri" pitchFamily="2" charset="-78"/>
              </a:rPr>
              <a:t>hu-nā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هُنَاكَ</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a:t>
            </a:r>
            <a:endParaRPr lang="en-US" sz="1350" dirty="0"/>
          </a:p>
          <a:p>
            <a:pPr indent="0" marL="0">
              <a:buNone/>
            </a:pPr>
            <a:r>
              <a:rPr lang="en-US" sz="1100" i="1" dirty="0">
                <a:solidFill>
                  <a:srgbClr val="5A6472"/>
                </a:solidFill>
                <a:latin typeface="Calibri" pitchFamily="34" charset="0"/>
                <a:cs typeface="Amiri" pitchFamily="2" charset="-78"/>
              </a:rPr>
              <a:t>hu-nā-ka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5" name="Shape 32"/>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قَرِيبٌ مِنْ</a:t>
            </a:r>
            <a:endParaRPr lang="ar-SA" sz="3000" dirty="0"/>
          </a:p>
        </p:txBody>
      </p:sp>
      <p:sp>
        <p:nvSpPr>
          <p:cNvPr id="40" name="Text 3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near</a:t>
            </a:r>
            <a:endParaRPr lang="en-US" sz="1350" dirty="0"/>
          </a:p>
          <a:p>
            <a:pPr indent="0" marL="0">
              <a:buNone/>
            </a:pPr>
            <a:r>
              <a:rPr lang="en-US" sz="1100" i="1" dirty="0">
                <a:solidFill>
                  <a:srgbClr val="5A6472"/>
                </a:solidFill>
                <a:latin typeface="Calibri" pitchFamily="34" charset="0"/>
                <a:cs typeface="Amiri" pitchFamily="2" charset="-78"/>
              </a:rPr>
              <a:t>qa-rī-bun min</a:t>
            </a:r>
            <a:endParaRPr lang="en-US" sz="1350" dirty="0"/>
          </a:p>
        </p:txBody>
      </p:sp>
      <p:sp>
        <p:nvSpPr>
          <p:cNvPr id="41" name="Shape 38"/>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3" name="Text 40"/>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قَرِيبٌ</a:t>
            </a:r>
            <a:endParaRPr lang="ar-SA" sz="1500" dirty="0"/>
          </a:p>
        </p:txBody>
      </p:sp>
      <p:sp>
        <p:nvSpPr>
          <p:cNvPr id="44" name="Shape 41"/>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6" name="Text 43"/>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قَرِيبَةٌ</a:t>
            </a:r>
            <a:endParaRPr lang="ar-SA" sz="1500" dirty="0"/>
          </a:p>
        </p:txBody>
      </p:sp>
      <p:sp>
        <p:nvSpPr>
          <p:cNvPr id="47" name="Shape 44"/>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nearest</a:t>
            </a:r>
            <a:endParaRPr lang="en-US" sz="700" dirty="0"/>
          </a:p>
        </p:txBody>
      </p:sp>
      <p:sp>
        <p:nvSpPr>
          <p:cNvPr id="49" name="Text 46"/>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أَقْرَبُ</a:t>
            </a:r>
            <a:endParaRPr lang="ar-SA" sz="1350" dirty="0"/>
          </a:p>
        </p:txBody>
      </p:sp>
      <p:sp>
        <p:nvSpPr>
          <p:cNvPr id="50" name="Shape 4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4389120"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3" name="Shape 50"/>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5" name="Shape 5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بَعِيدٌ عَنْ</a:t>
            </a:r>
            <a:endParaRPr lang="ar-SA" sz="3000" dirty="0"/>
          </a:p>
        </p:txBody>
      </p:sp>
      <p:sp>
        <p:nvSpPr>
          <p:cNvPr id="58" name="Text 5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far from</a:t>
            </a:r>
            <a:endParaRPr lang="en-US" sz="1350" dirty="0"/>
          </a:p>
          <a:p>
            <a:pPr indent="0" marL="0">
              <a:buNone/>
            </a:pPr>
            <a:r>
              <a:rPr lang="en-US" sz="1100" i="1" dirty="0">
                <a:solidFill>
                  <a:srgbClr val="5A6472"/>
                </a:solidFill>
                <a:latin typeface="Calibri" pitchFamily="34" charset="0"/>
                <a:cs typeface="Amiri" pitchFamily="2" charset="-78"/>
              </a:rPr>
              <a:t>ba-ʿī-dun ʿan</a:t>
            </a:r>
            <a:endParaRPr lang="en-US" sz="1350" dirty="0"/>
          </a:p>
        </p:txBody>
      </p:sp>
      <p:sp>
        <p:nvSpPr>
          <p:cNvPr id="59" name="Shape 56"/>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1" name="Text 58"/>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بَعِيدٌ</a:t>
            </a:r>
            <a:endParaRPr lang="ar-SA" sz="1500" dirty="0"/>
          </a:p>
        </p:txBody>
      </p:sp>
      <p:sp>
        <p:nvSpPr>
          <p:cNvPr id="62" name="Shape 59"/>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4" name="Text 61"/>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بَعِيدَةٌ</a:t>
            </a:r>
            <a:endParaRPr lang="ar-SA" sz="1500" dirty="0"/>
          </a:p>
        </p:txBody>
      </p:sp>
      <p:sp>
        <p:nvSpPr>
          <p:cNvPr id="65" name="Shape 62"/>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furthest</a:t>
            </a:r>
            <a:endParaRPr lang="en-US" sz="700" dirty="0"/>
          </a:p>
        </p:txBody>
      </p:sp>
      <p:sp>
        <p:nvSpPr>
          <p:cNvPr id="67" name="Text 64"/>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أَبْعَدُ</a:t>
            </a:r>
            <a:endParaRPr lang="ar-SA"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Position and distance (2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بِجَانِبِ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next to</a:t>
            </a:r>
            <a:endParaRPr lang="en-US" sz="1350" dirty="0"/>
          </a:p>
          <a:p>
            <a:pPr indent="0" marL="0">
              <a:buNone/>
            </a:pPr>
            <a:r>
              <a:rPr lang="en-US" sz="1100" i="1" dirty="0">
                <a:solidFill>
                  <a:srgbClr val="5A6472"/>
                </a:solidFill>
                <a:latin typeface="Calibri" pitchFamily="34" charset="0"/>
                <a:cs typeface="Amiri" pitchFamily="2" charset="-78"/>
              </a:rPr>
              <a:t>bi-jā-ni-bi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أَمَامَ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front of</a:t>
            </a:r>
            <a:endParaRPr lang="en-US" sz="1350" dirty="0"/>
          </a:p>
          <a:p>
            <a:pPr indent="0" marL="0">
              <a:buNone/>
            </a:pPr>
            <a:r>
              <a:rPr lang="en-US" sz="1100" i="1" dirty="0">
                <a:solidFill>
                  <a:srgbClr val="5A6472"/>
                </a:solidFill>
                <a:latin typeface="Calibri" pitchFamily="34" charset="0"/>
                <a:cs typeface="Amiri" pitchFamily="2" charset="-78"/>
              </a:rPr>
              <a:t>a-mā-ma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خَلْفَ</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behind</a:t>
            </a:r>
            <a:endParaRPr lang="en-US" sz="1350" dirty="0"/>
          </a:p>
          <a:p>
            <a:pPr indent="0" marL="0">
              <a:buNone/>
            </a:pPr>
            <a:r>
              <a:rPr lang="en-US" sz="1100" i="1" dirty="0">
                <a:solidFill>
                  <a:srgbClr val="5A6472"/>
                </a:solidFill>
                <a:latin typeface="Calibri" pitchFamily="34" charset="0"/>
                <a:cs typeface="Amiri" pitchFamily="2" charset="-78"/>
              </a:rPr>
              <a:t>khal-fa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between</a:t>
            </a:r>
            <a:endParaRPr lang="en-US" sz="1350" dirty="0"/>
          </a:p>
          <a:p>
            <a:pPr indent="0" marL="0">
              <a:buNone/>
            </a:pPr>
            <a:r>
              <a:rPr lang="en-US" sz="1100" i="1" dirty="0">
                <a:solidFill>
                  <a:srgbClr val="5A6472"/>
                </a:solidFill>
                <a:latin typeface="Calibri" pitchFamily="34" charset="0"/>
                <a:cs typeface="Amiri" pitchFamily="2" charset="-78"/>
              </a:rPr>
              <a:t>bay-na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مُقَابِلَ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opposite</a:t>
            </a:r>
            <a:endParaRPr lang="en-US" sz="1350" dirty="0"/>
          </a:p>
          <a:p>
            <a:pPr indent="0" marL="0">
              <a:buNone/>
            </a:pPr>
            <a:r>
              <a:rPr lang="en-US" sz="1100" i="1" dirty="0">
                <a:solidFill>
                  <a:srgbClr val="5A6472"/>
                </a:solidFill>
                <a:latin typeface="Calibri" pitchFamily="34" charset="0"/>
                <a:cs typeface="Amiri" pitchFamily="2" charset="-78"/>
              </a:rPr>
              <a:t>mu-qā-bi-la</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Position and distance (3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يَمِينِ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the right of</a:t>
            </a:r>
            <a:endParaRPr lang="en-US" sz="1350" dirty="0"/>
          </a:p>
          <a:p>
            <a:pPr indent="0" marL="0">
              <a:buNone/>
            </a:pPr>
            <a:r>
              <a:rPr lang="en-US" sz="1100" i="1" dirty="0">
                <a:solidFill>
                  <a:srgbClr val="5A6472"/>
                </a:solidFill>
                <a:latin typeface="Calibri" pitchFamily="34" charset="0"/>
                <a:cs typeface="Amiri" pitchFamily="2" charset="-78"/>
              </a:rPr>
              <a:t>ʿa-lā ya-mī-ni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يَسَارِ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the left of</a:t>
            </a:r>
            <a:endParaRPr lang="en-US" sz="1350" dirty="0"/>
          </a:p>
          <a:p>
            <a:pPr indent="0" marL="0">
              <a:buNone/>
            </a:pPr>
            <a:r>
              <a:rPr lang="en-US" sz="1100" i="1" dirty="0">
                <a:solidFill>
                  <a:srgbClr val="5A6472"/>
                </a:solidFill>
                <a:latin typeface="Calibri" pitchFamily="34" charset="0"/>
                <a:cs typeface="Amiri" pitchFamily="2" charset="-78"/>
              </a:rPr>
              <a:t>ʿa-lā ya-sā-ri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وَسَطِ</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middle of</a:t>
            </a:r>
            <a:endParaRPr lang="en-US" sz="1350" dirty="0"/>
          </a:p>
          <a:p>
            <a:pPr indent="0" marL="0">
              <a:buNone/>
            </a:pPr>
            <a:r>
              <a:rPr lang="en-US" sz="1100" i="1" dirty="0">
                <a:solidFill>
                  <a:srgbClr val="5A6472"/>
                </a:solidFill>
                <a:latin typeface="Calibri" pitchFamily="34" charset="0"/>
                <a:cs typeface="Amiri" pitchFamily="2" charset="-78"/>
              </a:rPr>
              <a:t>fī wa-sa-ṭi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شَمَالِ</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north of</a:t>
            </a:r>
            <a:endParaRPr lang="en-US" sz="1350" dirty="0"/>
          </a:p>
          <a:p>
            <a:pPr indent="0" marL="0">
              <a:buNone/>
            </a:pPr>
            <a:r>
              <a:rPr lang="en-US" sz="1100" i="1" dirty="0">
                <a:solidFill>
                  <a:srgbClr val="5A6472"/>
                </a:solidFill>
                <a:latin typeface="Calibri" pitchFamily="34" charset="0"/>
                <a:cs typeface="Amiri" pitchFamily="2" charset="-78"/>
              </a:rPr>
              <a:t>fī sha-mā-li</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جَنُوبِ</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south of</a:t>
            </a:r>
            <a:endParaRPr lang="en-US" sz="1350" dirty="0"/>
          </a:p>
          <a:p>
            <a:pPr indent="0" marL="0">
              <a:buNone/>
            </a:pPr>
            <a:r>
              <a:rPr lang="en-US" sz="1100" i="1" dirty="0">
                <a:solidFill>
                  <a:srgbClr val="5A6472"/>
                </a:solidFill>
                <a:latin typeface="Calibri" pitchFamily="34" charset="0"/>
                <a:cs typeface="Amiri" pitchFamily="2" charset="-78"/>
              </a:rPr>
              <a:t>fī ja-nū-bi</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Position and distance (4 of 4)</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شَرْقَ</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east of</a:t>
            </a:r>
            <a:endParaRPr lang="en-US" sz="1350" dirty="0"/>
          </a:p>
          <a:p>
            <a:pPr indent="0" marL="0">
              <a:buNone/>
            </a:pPr>
            <a:r>
              <a:rPr lang="en-US" sz="1100" i="1" dirty="0">
                <a:solidFill>
                  <a:srgbClr val="5A6472"/>
                </a:solidFill>
                <a:latin typeface="Calibri" pitchFamily="34" charset="0"/>
                <a:cs typeface="Amiri" pitchFamily="2" charset="-78"/>
              </a:rPr>
              <a:t>shar-qa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غَرْبَ</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west of</a:t>
            </a:r>
            <a:endParaRPr lang="en-US" sz="1350" dirty="0"/>
          </a:p>
          <a:p>
            <a:pPr indent="0" marL="0">
              <a:buNone/>
            </a:pPr>
            <a:r>
              <a:rPr lang="en-US" sz="1100" i="1" dirty="0">
                <a:solidFill>
                  <a:srgbClr val="5A6472"/>
                </a:solidFill>
                <a:latin typeface="Calibri" pitchFamily="34" charset="0"/>
                <a:cs typeface="Amiri" pitchFamily="2" charset="-78"/>
              </a:rPr>
              <a:t>ghar-ba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دَاخِلَ</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inside</a:t>
            </a:r>
            <a:endParaRPr lang="en-US" sz="1350" dirty="0"/>
          </a:p>
          <a:p>
            <a:pPr indent="0" marL="0">
              <a:buNone/>
            </a:pPr>
            <a:r>
              <a:rPr lang="en-US" sz="1100" i="1" dirty="0">
                <a:solidFill>
                  <a:srgbClr val="5A6472"/>
                </a:solidFill>
                <a:latin typeface="Calibri" pitchFamily="34" charset="0"/>
                <a:cs typeface="Amiri" pitchFamily="2" charset="-78"/>
              </a:rPr>
              <a:t>dā-khi-la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خَارِجَ</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outside</a:t>
            </a:r>
            <a:endParaRPr lang="en-US" sz="1350" dirty="0"/>
          </a:p>
          <a:p>
            <a:pPr indent="0" marL="0">
              <a:buNone/>
            </a:pPr>
            <a:r>
              <a:rPr lang="en-US" sz="1100" i="1" dirty="0">
                <a:solidFill>
                  <a:srgbClr val="5A6472"/>
                </a:solidFill>
                <a:latin typeface="Calibri" pitchFamily="34" charset="0"/>
                <a:cs typeface="Amiri" pitchFamily="2" charset="-78"/>
              </a:rPr>
              <a:t>khā-ri-ja</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Map and route language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خَرِيطَةٌ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map</a:t>
            </a:r>
            <a:endParaRPr lang="en-US" sz="1350" dirty="0"/>
          </a:p>
          <a:p>
            <a:pPr indent="0" marL="0">
              <a:buNone/>
            </a:pPr>
            <a:r>
              <a:rPr lang="en-US" sz="1100" i="1" dirty="0">
                <a:solidFill>
                  <a:srgbClr val="5A6472"/>
                </a:solidFill>
                <a:latin typeface="Calibri" pitchFamily="34" charset="0"/>
                <a:cs typeface="Amiri" pitchFamily="2" charset="-78"/>
              </a:rPr>
              <a:t>kha-rī-ṭa-tun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خَرِيطَةٌ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خَرَائِطُ</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3" name="Text 3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مَوْقِعٌ</a:t>
            </a:r>
            <a:endParaRPr lang="ar-SA" sz="3000" dirty="0"/>
          </a:p>
        </p:txBody>
      </p:sp>
      <p:sp>
        <p:nvSpPr>
          <p:cNvPr id="34" name="Text 3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location</a:t>
            </a:r>
            <a:endParaRPr lang="en-US" sz="1350" dirty="0"/>
          </a:p>
          <a:p>
            <a:pPr indent="0" marL="0">
              <a:buNone/>
            </a:pPr>
            <a:r>
              <a:rPr lang="en-US" sz="1100" i="1" dirty="0">
                <a:solidFill>
                  <a:srgbClr val="5A6472"/>
                </a:solidFill>
                <a:latin typeface="Calibri" pitchFamily="34" charset="0"/>
                <a:cs typeface="Amiri" pitchFamily="2" charset="-78"/>
              </a:rPr>
              <a:t>maw-qi-ʿun</a:t>
            </a:r>
            <a:endParaRPr lang="en-US" sz="135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8" name="Shape 3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طَرِيقٌ</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road / route</a:t>
            </a:r>
            <a:endParaRPr lang="en-US" sz="1350" dirty="0"/>
          </a:p>
          <a:p>
            <a:pPr indent="0" marL="0">
              <a:buNone/>
            </a:pPr>
            <a:r>
              <a:rPr lang="en-US" sz="1100" i="1" dirty="0">
                <a:solidFill>
                  <a:srgbClr val="5A6472"/>
                </a:solidFill>
                <a:latin typeface="Calibri" pitchFamily="34" charset="0"/>
                <a:cs typeface="Amiri" pitchFamily="2" charset="-78"/>
              </a:rPr>
              <a:t>ṭa-rī-qun</a:t>
            </a:r>
            <a:endParaRPr lang="en-US" sz="1350" dirty="0"/>
          </a:p>
        </p:txBody>
      </p:sp>
      <p:sp>
        <p:nvSpPr>
          <p:cNvPr id="42" name="Shape 3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4" name="Text 4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طَرِيقٌ</a:t>
            </a:r>
            <a:endParaRPr lang="ar-SA" sz="1500" dirty="0"/>
          </a:p>
        </p:txBody>
      </p:sp>
      <p:sp>
        <p:nvSpPr>
          <p:cNvPr id="45" name="Shape 4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7" name="Text 4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طُرُقٌ</a:t>
            </a:r>
            <a:endParaRPr lang="ar-SA" sz="150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تَقَاطُعٌ</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junction</a:t>
            </a:r>
            <a:endParaRPr lang="en-US" sz="1350" dirty="0"/>
          </a:p>
          <a:p>
            <a:pPr indent="0" marL="0">
              <a:buNone/>
            </a:pPr>
            <a:r>
              <a:rPr lang="en-US" sz="1100" i="1" dirty="0">
                <a:solidFill>
                  <a:srgbClr val="5A6472"/>
                </a:solidFill>
                <a:latin typeface="Calibri" pitchFamily="34" charset="0"/>
                <a:cs typeface="Amiri" pitchFamily="2" charset="-78"/>
              </a:rPr>
              <a:t>ta-qā-ṭu-ʿun</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Map and route language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إِشَارَةُ المَرُورِ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traffic lights</a:t>
            </a:r>
            <a:endParaRPr lang="en-US" sz="1350" dirty="0"/>
          </a:p>
          <a:p>
            <a:pPr indent="0" marL="0">
              <a:buNone/>
            </a:pPr>
            <a:r>
              <a:rPr lang="en-US" sz="1100" i="1" dirty="0">
                <a:solidFill>
                  <a:srgbClr val="5A6472"/>
                </a:solidFill>
                <a:latin typeface="Calibri" pitchFamily="34" charset="0"/>
                <a:cs typeface="Amiri" pitchFamily="2" charset="-78"/>
              </a:rPr>
              <a:t>i-shā-ra-tu al-ma-rū-ri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زَاوِيَةٌ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corner</a:t>
            </a:r>
            <a:endParaRPr lang="en-US" sz="1350" dirty="0"/>
          </a:p>
          <a:p>
            <a:pPr indent="0" marL="0">
              <a:buNone/>
            </a:pPr>
            <a:r>
              <a:rPr lang="en-US" sz="1100" i="1" dirty="0">
                <a:solidFill>
                  <a:srgbClr val="5A6472"/>
                </a:solidFill>
                <a:latin typeface="Calibri" pitchFamily="34" charset="0"/>
                <a:cs typeface="Amiri" pitchFamily="2" charset="-78"/>
              </a:rPr>
              <a:t>zā-wi-ya-tun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نِهَايَةُ الشَّارِعِ</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end of the street</a:t>
            </a:r>
            <a:endParaRPr lang="en-US" sz="1350" dirty="0"/>
          </a:p>
          <a:p>
            <a:pPr indent="0" marL="0">
              <a:buNone/>
            </a:pPr>
            <a:r>
              <a:rPr lang="en-US" sz="1100" i="1" dirty="0">
                <a:solidFill>
                  <a:srgbClr val="5A6472"/>
                </a:solidFill>
                <a:latin typeface="Calibri" pitchFamily="34" charset="0"/>
                <a:cs typeface="Amiri" pitchFamily="2" charset="-78"/>
              </a:rPr>
              <a:t>ni-hā-ya-tu ash-shā-ri-ʿi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أَقْرَبُ</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nearest</a:t>
            </a:r>
            <a:endParaRPr lang="en-US" sz="1350" dirty="0"/>
          </a:p>
          <a:p>
            <a:pPr indent="0" marL="0">
              <a:buNone/>
            </a:pPr>
            <a:r>
              <a:rPr lang="en-US" sz="1100" i="1" dirty="0">
                <a:solidFill>
                  <a:srgbClr val="5A6472"/>
                </a:solidFill>
                <a:latin typeface="Calibri" pitchFamily="34" charset="0"/>
                <a:cs typeface="Amiri" pitchFamily="2" charset="-78"/>
              </a:rPr>
              <a:t>aq-ra-bu</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WHERE IS …? (WEBSITE RULES 1–3)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is the station?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أَيْنَ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418795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a:t>
            </a:r>
            <a:endParaRPr lang="en-US" sz="1100" dirty="0"/>
          </a:p>
        </p:txBody>
      </p:sp>
      <p:sp>
        <p:nvSpPr>
          <p:cNvPr id="18" name="Text 15"/>
          <p:cNvSpPr txBox="1"/>
          <p:nvPr/>
        </p:nvSpPr>
        <p:spPr>
          <a:xfrm>
            <a:off x="53035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to the school</a:t>
            </a:r>
            <a:endParaRPr lang="en-US" sz="1100" dirty="0"/>
          </a:p>
        </p:txBody>
      </p:sp>
      <p:sp>
        <p:nvSpPr>
          <p:cNvPr id="21" name="Text 18"/>
          <p:cNvSpPr txBox="1"/>
          <p:nvPr/>
        </p:nvSpPr>
        <p:spPr>
          <a:xfrm>
            <a:off x="4206240" y="2267712"/>
            <a:ext cx="4937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المَكْتَبَةُ </a:t>
            </a:r>
            <a:pPr rtl="1" algn="ctr" indent="0" marL="0">
              <a:buNone/>
            </a:pPr>
            <a:r>
              <a:rPr lang="ar-SA" altLang="en-US" sz="2400" b="1" dirty="0">
                <a:solidFill>
                  <a:srgbClr val="1D5FBF"/>
                </a:solidFill>
                <a:latin typeface="Amiri" pitchFamily="2" charset="-78"/>
                <a:cs typeface="Amiri" pitchFamily="2" charset="-78"/>
              </a:rPr>
              <a:t>بِجَانِبِ</a:t>
            </a:r>
            <a:pPr rtl="1" algn="ctr" indent="0" marL="0">
              <a:buNone/>
            </a:pPr>
            <a:r>
              <a:rPr lang="ar-SA" altLang="en-US" sz="2400" b="1" dirty="0">
                <a:solidFill>
                  <a:srgbClr val="1B3B6F"/>
                </a:solidFill>
                <a:latin typeface="Amiri" pitchFamily="2" charset="-78"/>
                <a:cs typeface="Amiri" pitchFamily="2" charset="-78"/>
              </a:rPr>
              <a:t> المَدْرَسَةِ.</a:t>
            </a:r>
            <a:endParaRPr lang="ar-SA" sz="2400" dirty="0"/>
          </a:p>
        </p:txBody>
      </p:sp>
      <p:sp>
        <p:nvSpPr>
          <p:cNvPr id="22" name="Text 19"/>
          <p:cNvSpPr txBox="1"/>
          <p:nvPr/>
        </p:nvSpPr>
        <p:spPr>
          <a:xfrm>
            <a:off x="548640" y="2267712"/>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أَيْنَ</a:t>
            </a:r>
            <a:pPr rtl="1" algn="ctr" indent="0" marL="0">
              <a:buNone/>
            </a:pPr>
            <a:r>
              <a:rPr lang="ar-SA" altLang="en-US" sz="2400" b="1" dirty="0">
                <a:solidFill>
                  <a:srgbClr val="1B3B6F"/>
                </a:solidFill>
                <a:latin typeface="Amiri" pitchFamily="2" charset="-78"/>
                <a:cs typeface="Amiri" pitchFamily="2" charset="-78"/>
              </a:rPr>
              <a:t> المَكْتَبَةُ؟</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opposite the museum</a:t>
            </a:r>
            <a:endParaRPr lang="en-US" sz="1100" dirty="0"/>
          </a:p>
        </p:txBody>
      </p:sp>
      <p:sp>
        <p:nvSpPr>
          <p:cNvPr id="27" name="Text 24"/>
          <p:cNvSpPr txBox="1"/>
          <p:nvPr/>
        </p:nvSpPr>
        <p:spPr>
          <a:xfrm>
            <a:off x="4206240" y="3004718"/>
            <a:ext cx="4937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المَطْعَمُ </a:t>
            </a:r>
            <a:pPr rtl="1" algn="ctr" indent="0" marL="0">
              <a:buNone/>
            </a:pPr>
            <a:r>
              <a:rPr lang="ar-SA" altLang="en-US" sz="2400" b="1" dirty="0">
                <a:solidFill>
                  <a:srgbClr val="1D5FBF"/>
                </a:solidFill>
                <a:latin typeface="Amiri" pitchFamily="2" charset="-78"/>
                <a:cs typeface="Amiri" pitchFamily="2" charset="-78"/>
              </a:rPr>
              <a:t>مُقَابِلَ</a:t>
            </a:r>
            <a:pPr rtl="1" algn="ctr" indent="0" marL="0">
              <a:buNone/>
            </a:pPr>
            <a:r>
              <a:rPr lang="ar-SA" altLang="en-US" sz="2400" b="1" dirty="0">
                <a:solidFill>
                  <a:srgbClr val="1B3B6F"/>
                </a:solidFill>
                <a:latin typeface="Amiri" pitchFamily="2" charset="-78"/>
                <a:cs typeface="Amiri" pitchFamily="2" charset="-78"/>
              </a:rPr>
              <a:t> المَتْحَفِ.</a:t>
            </a:r>
            <a:endParaRPr lang="ar-SA" sz="2400" dirty="0"/>
          </a:p>
        </p:txBody>
      </p:sp>
      <p:sp>
        <p:nvSpPr>
          <p:cNvPr id="28" name="Text 25"/>
          <p:cNvSpPr txBox="1"/>
          <p:nvPr/>
        </p:nvSpPr>
        <p:spPr>
          <a:xfrm>
            <a:off x="548640" y="3004718"/>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أَيْنَ</a:t>
            </a:r>
            <a:pPr rtl="1" algn="ctr" indent="0" marL="0">
              <a:buNone/>
            </a:pPr>
            <a:r>
              <a:rPr lang="ar-SA" altLang="en-US" sz="2400" b="1" dirty="0">
                <a:solidFill>
                  <a:srgbClr val="1B3B6F"/>
                </a:solidFill>
                <a:latin typeface="Amiri" pitchFamily="2" charset="-78"/>
                <a:cs typeface="Amiri" pitchFamily="2" charset="-78"/>
              </a:rPr>
              <a:t> المَطْعَمُ؟</a:t>
            </a:r>
            <a:endParaRPr lang="ar-SA" sz="24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behind the mosque</a:t>
            </a:r>
            <a:endParaRPr lang="en-US" sz="1100" dirty="0"/>
          </a:p>
        </p:txBody>
      </p:sp>
      <p:sp>
        <p:nvSpPr>
          <p:cNvPr id="33" name="Text 30"/>
          <p:cNvSpPr txBox="1"/>
          <p:nvPr/>
        </p:nvSpPr>
        <p:spPr>
          <a:xfrm>
            <a:off x="4206240" y="3741725"/>
            <a:ext cx="4937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الحَدِيقَةُ </a:t>
            </a:r>
            <a:pPr rtl="1" algn="ctr" indent="0" marL="0">
              <a:buNone/>
            </a:pPr>
            <a:r>
              <a:rPr lang="ar-SA" altLang="en-US" sz="2400" b="1" dirty="0">
                <a:solidFill>
                  <a:srgbClr val="1D5FBF"/>
                </a:solidFill>
                <a:latin typeface="Amiri" pitchFamily="2" charset="-78"/>
                <a:cs typeface="Amiri" pitchFamily="2" charset="-78"/>
              </a:rPr>
              <a:t>خَلْفَ</a:t>
            </a:r>
            <a:pPr rtl="1" algn="ctr" indent="0" marL="0">
              <a:buNone/>
            </a:pPr>
            <a:r>
              <a:rPr lang="ar-SA" altLang="en-US" sz="2400" b="1" dirty="0">
                <a:solidFill>
                  <a:srgbClr val="1B3B6F"/>
                </a:solidFill>
                <a:latin typeface="Amiri" pitchFamily="2" charset="-78"/>
                <a:cs typeface="Amiri" pitchFamily="2" charset="-78"/>
              </a:rPr>
              <a:t> المَسْجِدِ.</a:t>
            </a:r>
            <a:endParaRPr lang="ar-SA" sz="2400" dirty="0"/>
          </a:p>
        </p:txBody>
      </p:sp>
      <p:sp>
        <p:nvSpPr>
          <p:cNvPr id="34" name="Text 31"/>
          <p:cNvSpPr txBox="1"/>
          <p:nvPr/>
        </p:nvSpPr>
        <p:spPr>
          <a:xfrm>
            <a:off x="548640" y="3741725"/>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أَيْنَ</a:t>
            </a:r>
            <a:pPr rtl="1" algn="ctr" indent="0" marL="0">
              <a:buNone/>
            </a:pPr>
            <a:r>
              <a:rPr lang="ar-SA" altLang="en-US" sz="2400" b="1" dirty="0">
                <a:solidFill>
                  <a:srgbClr val="1B3B6F"/>
                </a:solidFill>
                <a:latin typeface="Amiri" pitchFamily="2" charset="-78"/>
                <a:cs typeface="Amiri" pitchFamily="2" charset="-78"/>
              </a:rPr>
              <a:t> الحَدِيقَةُ؟</a:t>
            </a:r>
            <a:endParaRPr lang="ar-SA" sz="24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between the market and the café</a:t>
            </a:r>
            <a:endParaRPr lang="en-US" sz="1100" dirty="0"/>
          </a:p>
        </p:txBody>
      </p:sp>
      <p:sp>
        <p:nvSpPr>
          <p:cNvPr id="39" name="Text 36"/>
          <p:cNvSpPr txBox="1"/>
          <p:nvPr/>
        </p:nvSpPr>
        <p:spPr>
          <a:xfrm>
            <a:off x="4206240" y="4478731"/>
            <a:ext cx="4937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البَنْكُ </a:t>
            </a:r>
            <a:pPr rtl="1" algn="ctr" indent="0" marL="0">
              <a:buNone/>
            </a:pPr>
            <a:r>
              <a:rPr lang="ar-SA" altLang="en-US" sz="2400" b="1" dirty="0">
                <a:solidFill>
                  <a:srgbClr val="1D5FBF"/>
                </a:solidFill>
                <a:latin typeface="Amiri" pitchFamily="2" charset="-78"/>
                <a:cs typeface="Amiri" pitchFamily="2" charset="-78"/>
              </a:rPr>
              <a:t>بَيْنَ</a:t>
            </a:r>
            <a:pPr rtl="1" algn="ctr" indent="0" marL="0">
              <a:buNone/>
            </a:pPr>
            <a:r>
              <a:rPr lang="ar-SA" altLang="en-US" sz="2400" b="1" dirty="0">
                <a:solidFill>
                  <a:srgbClr val="1B3B6F"/>
                </a:solidFill>
                <a:latin typeface="Amiri" pitchFamily="2" charset="-78"/>
                <a:cs typeface="Amiri" pitchFamily="2" charset="-78"/>
              </a:rPr>
              <a:t> السُّوقِ </a:t>
            </a:r>
            <a:pPr rtl="1" algn="ctr" indent="0" marL="0">
              <a:buNone/>
            </a:pPr>
            <a:r>
              <a:rPr lang="ar-SA" altLang="en-US" sz="2400" b="1" dirty="0">
                <a:solidFill>
                  <a:srgbClr val="1D5FBF"/>
                </a:solidFill>
                <a:latin typeface="Amiri" pitchFamily="2" charset="-78"/>
                <a:cs typeface="Amiri" pitchFamily="2" charset="-78"/>
              </a:rPr>
              <a:t>وَ</a:t>
            </a:r>
            <a:pPr rtl="1" algn="ctr" indent="0" marL="0">
              <a:buNone/>
            </a:pPr>
            <a:r>
              <a:rPr lang="ar-SA" altLang="en-US" sz="2400" b="1" dirty="0">
                <a:solidFill>
                  <a:srgbClr val="1B3B6F"/>
                </a:solidFill>
                <a:latin typeface="Amiri" pitchFamily="2" charset="-78"/>
                <a:cs typeface="Amiri" pitchFamily="2" charset="-78"/>
              </a:rPr>
              <a:t>المَقْهَى.</a:t>
            </a:r>
            <a:endParaRPr lang="ar-SA" sz="2400" dirty="0"/>
          </a:p>
        </p:txBody>
      </p:sp>
      <p:sp>
        <p:nvSpPr>
          <p:cNvPr id="40" name="Text 37"/>
          <p:cNvSpPr txBox="1"/>
          <p:nvPr/>
        </p:nvSpPr>
        <p:spPr>
          <a:xfrm>
            <a:off x="548640" y="4478731"/>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أَيْنَ</a:t>
            </a:r>
            <a:pPr rtl="1" algn="ctr" indent="0" marL="0">
              <a:buNone/>
            </a:pPr>
            <a:r>
              <a:rPr lang="ar-SA" altLang="en-US" sz="2400" b="1" dirty="0">
                <a:solidFill>
                  <a:srgbClr val="1B3B6F"/>
                </a:solidFill>
                <a:latin typeface="Amiri" pitchFamily="2" charset="-78"/>
                <a:cs typeface="Amiri" pitchFamily="2" charset="-78"/>
              </a:rPr>
              <a:t> البَنْكُ؟</a:t>
            </a:r>
            <a:endParaRPr lang="ar-SA" sz="24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the right of the station</a:t>
            </a:r>
            <a:endParaRPr lang="en-US" sz="1100" dirty="0"/>
          </a:p>
        </p:txBody>
      </p:sp>
      <p:sp>
        <p:nvSpPr>
          <p:cNvPr id="45" name="Text 42"/>
          <p:cNvSpPr txBox="1"/>
          <p:nvPr/>
        </p:nvSpPr>
        <p:spPr>
          <a:xfrm>
            <a:off x="4206240" y="5215738"/>
            <a:ext cx="4937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عَلَى يَمِينِ المَحَطَّةِ.</a:t>
            </a:r>
            <a:endParaRPr lang="ar-SA" sz="2400" dirty="0"/>
          </a:p>
        </p:txBody>
      </p:sp>
      <p:sp>
        <p:nvSpPr>
          <p:cNvPr id="46" name="Text 43"/>
          <p:cNvSpPr txBox="1"/>
          <p:nvPr/>
        </p:nvSpPr>
        <p:spPr>
          <a:xfrm>
            <a:off x="548640" y="5215738"/>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أَيْنَ</a:t>
            </a:r>
            <a:pPr rtl="1" algn="ctr" indent="0" marL="0">
              <a:buNone/>
            </a:pPr>
            <a:r>
              <a:rPr lang="ar-SA" altLang="en-US" sz="2400" b="1" dirty="0">
                <a:solidFill>
                  <a:srgbClr val="1B3B6F"/>
                </a:solidFill>
                <a:latin typeface="Amiri" pitchFamily="2" charset="-78"/>
                <a:cs typeface="Amiri" pitchFamily="2" charset="-78"/>
              </a:rPr>
              <a:t> أَقْرَبُ صَيْدَلِيَّةٍ؟</a:t>
            </a:r>
            <a:endParaRPr lang="ar-SA" sz="24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Ask with al- (a place both speakers know). After the position word the reference noun ends in -i: al-madrasati, al-matḥafi.</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NEAR AND FAR AGREE (WEBSITE RULE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Near to · far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قَرِيبٌ مِنْ · بَعِيدٌ عَنْ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MASCULINE PLACE</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بَعِيدٌ عَنْ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المَطَارُ بَعِيدٌ عَنِ المَرْكَزِ.</a:t>
            </a:r>
            <a:endParaRPr lang="ar-SA" sz="30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airport is far from the centre.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Airport = m.</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FEMININE PLACE</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قَرِيبَةٌ مِنْ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المَحَطَّةُ قَرِيبَةٌ مِنَ البَيْتِ.</a:t>
            </a:r>
            <a:endParaRPr lang="ar-SA" sz="30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station is near the house.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Station = f. → -a.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85166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THE FIRST PLACE DECIDES</a:t>
            </a:r>
            <a:endParaRPr lang="en-US" sz="850" dirty="0"/>
          </a:p>
        </p:txBody>
      </p:sp>
      <p:sp>
        <p:nvSpPr>
          <p:cNvPr id="34" name="Text 31"/>
          <p:cNvSpPr txBox="1"/>
          <p:nvPr/>
        </p:nvSpPr>
        <p:spPr>
          <a:xfrm>
            <a:off x="2491740"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 مِنَ البَنْكِ</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المَحَطَّةُ قَرِيبَةٌ مِنَ البَنْكِ.</a:t>
            </a:r>
            <a:endParaRPr lang="ar-SA" sz="30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station is near the bank.</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Agree with the station, not the bank.</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the station is feminine.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المَحَطَّةُ قَرِيبَةٌ مِنَ البَيْتِ.</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المَحَطَّةُ قَرِيبٌ مِنَ البَيْتِ.</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Asking where and locating places precisely</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السُّؤَالُ بِـ أَيْنَ وَحُرُوفُ المَكَانِ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Ask where a definite place is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أَيْنَ + المَكَانُ؟</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أَيْنَ المَحَطَّةُ؟   ·   أَيْنَ أَقْرَبُ صَيْدَلِيَّةٍ؟   ·   أَيْنَ مَرْكَزُ المَدِينَةِ؟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Answer with a place preposition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المَكَانُ + بِجَانِبِ / أَمَامَ / خَلْفَ + الاِسْمِ</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المَكْتَبَةُ بِجَانِبِ المَدْرَسَةِ.   ·   المَطْعَمُ مُقَابِلَ المَتْحَفِ.   ·   الحَدِيقَةُ خَلْفَ المَسْجِدِ.</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Use </a:t>
            </a:r>
            <a:pPr algn="l" indent="0" marL="0">
              <a:buNone/>
            </a:pPr>
            <a:r>
              <a:rPr lang="ar-SA" altLang="en-US" sz="1650" b="1" dirty="0">
                <a:solidFill>
                  <a:srgbClr val="1B3B6F"/>
                </a:solidFill>
                <a:latin typeface="Amiri" pitchFamily="2" charset="-78"/>
                <a:cs typeface="Amiri" pitchFamily="2" charset="-78"/>
              </a:rPr>
              <a:t>بَيْنَ</a:t>
            </a:r>
            <a:pPr algn="l" indent="0" marL="0">
              <a:buNone/>
            </a:pPr>
            <a:r>
              <a:rPr lang="en-US" sz="1250" b="1" dirty="0">
                <a:solidFill>
                  <a:srgbClr val="1B3B6F"/>
                </a:solidFill>
                <a:latin typeface="Calibri" pitchFamily="34" charset="0"/>
                <a:cs typeface="Amiri" pitchFamily="2" charset="-78"/>
              </a:rPr>
              <a:t> with two reference points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بَيْنَ + الاِسْمِ + وَ + الاِسْمِ</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البَنْكُ بَيْنَ السُّوقِ وَالمَقْهَى.   ·   المَدْرَسَةُ بَيْنَ الحَدِيقَةِ وَالمَكْتَبَةِ.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Make near and far agree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قَرِيبٌ / قَرِيبَةٌ · بَعِيدٌ / بَعِيدَةٌ</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المَطَارُ بَعِيدٌ عَنِ المَرْكَزِ.   ·   المَحَطَّةُ قَرِيبَةٌ مِنَ الفُنْدُقِ.</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“Where is the station?”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المَحَطَّةُ؟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المَحَطَّةُ؟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المَحَطَّةُ؟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“opposite the museum”?</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مُقَابِلَ المَتْحَفِ</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خَلْفَ المَتْحَفِ</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دَاخِلَ المَتْحَفِ</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البَنْكُ بَيْنَ السُّوقِ ___ المَقْهَى.</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airport is far from the centre.”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المَطَارُ بَعِيدٌ عَنِ المَرْكَزِ.</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المَطَارُ قَرِيبٌ مِنَ المَرْكَزِ.</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المَطَارُ أَمَامَ المَرْكَزِ.</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“Where is the station?”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مَاذَا المَحَطَّةُ؟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كَيْفَ المَحَطَّةُ؟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أَيْنَ المَحَطَّةُ؟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أَيْنَ</a:t>
            </a:r>
            <a:pPr algn="l" indent="0" marL="0">
              <a:buNone/>
            </a:pPr>
            <a:r>
              <a:rPr lang="en-US" sz="1050" i="1" dirty="0">
                <a:solidFill>
                  <a:srgbClr val="8A6D1E"/>
                </a:solidFill>
                <a:latin typeface="Calibri" pitchFamily="34" charset="0"/>
                <a:cs typeface="Amiri" pitchFamily="2" charset="-78"/>
              </a:rPr>
              <a:t> asks where.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“opposite the museum”?</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مُقَابِلَ المَتْحَفِ</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خَلْفَ المَتْحَفِ</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دَاخِلَ المَتْحَفِ</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مُقَابِلَ</a:t>
            </a:r>
            <a:pPr algn="l" indent="0" marL="0">
              <a:buNone/>
            </a:pPr>
            <a:r>
              <a:rPr lang="en-US" sz="1050" i="1" dirty="0">
                <a:solidFill>
                  <a:srgbClr val="8A6D1E"/>
                </a:solidFill>
                <a:latin typeface="Calibri" pitchFamily="34" charset="0"/>
                <a:cs typeface="Amiri" pitchFamily="2" charset="-78"/>
              </a:rPr>
              <a:t> means opposite.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البَنْكُ بَيْنَ السُّوقِ ___ المَقْهَى.</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Join the two landmarks with </a:t>
            </a:r>
            <a:pPr algn="l" indent="0" marL="0">
              <a:buNone/>
            </a:pPr>
            <a:r>
              <a:rPr lang="ar-SA" altLang="en-US" sz="1350" dirty="0">
                <a:solidFill>
                  <a:srgbClr val="8A6D1E"/>
                </a:solidFill>
                <a:latin typeface="Amiri" pitchFamily="2" charset="-78"/>
                <a:cs typeface="Amiri" pitchFamily="2" charset="-78"/>
              </a:rPr>
              <a:t>وَ</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airport is far from the centre.”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المَطَارُ بَعِيدٌ عَنِ المَرْكَزِ.</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المَطَارُ قَرِيبٌ مِنَ المَرْكَزِ.</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المَطَارُ أَمَامَ المَرْكَزِ.</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بَعِيدٌ عَنْ</a:t>
            </a:r>
            <a:pPr algn="l" indent="0" marL="0">
              <a:buNone/>
            </a:pPr>
            <a:r>
              <a:rPr lang="en-US" sz="1050" i="1" dirty="0">
                <a:solidFill>
                  <a:srgbClr val="8A6D1E"/>
                </a:solidFill>
                <a:latin typeface="Calibri" pitchFamily="34" charset="0"/>
                <a:cs typeface="Amiri" pitchFamily="2" charset="-78"/>
              </a:rPr>
              <a:t> means far from.</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a town map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Centre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فِي وَسَطِ الخَرِيطَةِ تُوجَدُ مَدْرَسَةٌ كَبِيرَةٌ.</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from the middle.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Around it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المَكْتَبَةُ </a:t>
            </a:r>
            <a:pPr rtl="1" algn="ctr" indent="0" marL="0">
              <a:lnSpc>
                <a:spcPct val="120000"/>
              </a:lnSpc>
              <a:buNone/>
            </a:pPr>
            <a:r>
              <a:rPr lang="ar-SA" altLang="en-US" sz="1750" b="1" dirty="0">
                <a:solidFill>
                  <a:srgbClr val="1D5FBF"/>
                </a:solidFill>
                <a:latin typeface="Amiri" pitchFamily="2" charset="-78"/>
                <a:cs typeface="Amiri" pitchFamily="2" charset="-78"/>
              </a:rPr>
              <a:t>بِجَانِبِ</a:t>
            </a:r>
            <a:pPr rtl="1" algn="ctr" indent="0" marL="0">
              <a:lnSpc>
                <a:spcPct val="120000"/>
              </a:lnSpc>
              <a:buNone/>
            </a:pPr>
            <a:r>
              <a:rPr lang="ar-SA" altLang="en-US" sz="1750" b="1" dirty="0">
                <a:solidFill>
                  <a:srgbClr val="1B3B6F"/>
                </a:solidFill>
                <a:latin typeface="Amiri" pitchFamily="2" charset="-78"/>
                <a:cs typeface="Amiri" pitchFamily="2" charset="-78"/>
              </a:rPr>
              <a:t> المَدْرَسَةِ، وَالحَدِيقَةُ </a:t>
            </a:r>
            <a:pPr rtl="1" algn="ctr" indent="0" marL="0">
              <a:lnSpc>
                <a:spcPct val="120000"/>
              </a:lnSpc>
              <a:buNone/>
            </a:pPr>
            <a:r>
              <a:rPr lang="ar-SA" altLang="en-US" sz="1750" b="1" dirty="0">
                <a:solidFill>
                  <a:srgbClr val="1D5FBF"/>
                </a:solidFill>
                <a:latin typeface="Amiri" pitchFamily="2" charset="-78"/>
                <a:cs typeface="Amiri" pitchFamily="2" charset="-78"/>
              </a:rPr>
              <a:t>خَلْفَهَا</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khalfahā = behind it (the school).</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Question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أَيْنَ</a:t>
            </a:r>
            <a:pPr rtl="1" algn="ctr" indent="0" marL="0">
              <a:lnSpc>
                <a:spcPct val="120000"/>
              </a:lnSpc>
              <a:buNone/>
            </a:pPr>
            <a:r>
              <a:rPr lang="ar-SA" altLang="en-US" sz="1750" b="1" dirty="0">
                <a:solidFill>
                  <a:srgbClr val="1B3B6F"/>
                </a:solidFill>
                <a:latin typeface="Amiri" pitchFamily="2" charset="-78"/>
                <a:cs typeface="Amiri" pitchFamily="2" charset="-78"/>
              </a:rPr>
              <a:t> السُّوقُ؟ السُّوقُ </a:t>
            </a:r>
            <a:pPr rtl="1" algn="ctr" indent="0" marL="0">
              <a:lnSpc>
                <a:spcPct val="120000"/>
              </a:lnSpc>
              <a:buNone/>
            </a:pPr>
            <a:r>
              <a:rPr lang="ar-SA" altLang="en-US" sz="1750" b="1" dirty="0">
                <a:solidFill>
                  <a:srgbClr val="1D5FBF"/>
                </a:solidFill>
                <a:latin typeface="Amiri" pitchFamily="2" charset="-78"/>
                <a:cs typeface="Amiri" pitchFamily="2" charset="-78"/>
              </a:rPr>
              <a:t>بَيْنَ</a:t>
            </a:r>
            <a:pPr rtl="1" algn="ctr" indent="0" marL="0">
              <a:lnSpc>
                <a:spcPct val="120000"/>
              </a:lnSpc>
              <a:buNone/>
            </a:pPr>
            <a:r>
              <a:rPr lang="ar-SA" altLang="en-US" sz="1750" b="1" dirty="0">
                <a:solidFill>
                  <a:srgbClr val="1B3B6F"/>
                </a:solidFill>
                <a:latin typeface="Amiri" pitchFamily="2" charset="-78"/>
                <a:cs typeface="Amiri" pitchFamily="2" charset="-78"/>
              </a:rPr>
              <a:t> البَنْكِ </a:t>
            </a:r>
            <a:pPr rtl="1" algn="ctr" indent="0" marL="0">
              <a:lnSpc>
                <a:spcPct val="120000"/>
              </a:lnSpc>
              <a:buNone/>
            </a:pPr>
            <a:r>
              <a:rPr lang="ar-SA" altLang="en-US" sz="1750" b="1" dirty="0">
                <a:solidFill>
                  <a:srgbClr val="1D5FBF"/>
                </a:solidFill>
                <a:latin typeface="Amiri" pitchFamily="2" charset="-78"/>
                <a:cs typeface="Amiri" pitchFamily="2" charset="-78"/>
              </a:rPr>
              <a:t>وَ</a:t>
            </a:r>
            <a:pPr rtl="1" algn="ctr" indent="0" marL="0">
              <a:lnSpc>
                <a:spcPct val="120000"/>
              </a:lnSpc>
              <a:buNone/>
            </a:pPr>
            <a:r>
              <a:rPr lang="ar-SA" altLang="en-US" sz="1750" b="1" dirty="0">
                <a:solidFill>
                  <a:srgbClr val="1B3B6F"/>
                </a:solidFill>
                <a:latin typeface="Amiri" pitchFamily="2" charset="-78"/>
                <a:cs typeface="Amiri" pitchFamily="2" charset="-78"/>
              </a:rPr>
              <a:t>المَقْهَى.</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reference points.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Near / far</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1B3B6F"/>
                </a:solidFill>
                <a:latin typeface="Amiri" pitchFamily="2" charset="-78"/>
                <a:cs typeface="Amiri" pitchFamily="2" charset="-78"/>
              </a:rPr>
              <a:t>المَحَطَّةُ </a:t>
            </a:r>
            <a:pPr rtl="1" algn="ctr" indent="0" marL="0">
              <a:lnSpc>
                <a:spcPct val="120000"/>
              </a:lnSpc>
              <a:buNone/>
            </a:pPr>
            <a:r>
              <a:rPr lang="ar-SA" altLang="en-US" sz="1700" b="1" dirty="0">
                <a:solidFill>
                  <a:srgbClr val="D6336C"/>
                </a:solidFill>
                <a:latin typeface="Amiri" pitchFamily="2" charset="-78"/>
                <a:cs typeface="Amiri" pitchFamily="2" charset="-78"/>
              </a:rPr>
              <a:t>قَرِيبَةٌ</a:t>
            </a:r>
            <a:pPr rtl="1" algn="ctr" indent="0" marL="0">
              <a:lnSpc>
                <a:spcPct val="120000"/>
              </a:lnSpc>
              <a:buNone/>
            </a:pPr>
            <a:r>
              <a:rPr lang="ar-SA" altLang="en-US" sz="1700" b="1" dirty="0">
                <a:solidFill>
                  <a:srgbClr val="1B3B6F"/>
                </a:solidFill>
                <a:latin typeface="Amiri" pitchFamily="2" charset="-78"/>
                <a:cs typeface="Amiri" pitchFamily="2" charset="-78"/>
              </a:rPr>
              <a:t> مِنَ المَيْدَانِ، أَمَّا المَطَارُ فَهُوَ </a:t>
            </a:r>
            <a:pPr rtl="1" algn="ctr" indent="0" marL="0">
              <a:lnSpc>
                <a:spcPct val="120000"/>
              </a:lnSpc>
              <a:buNone/>
            </a:pPr>
            <a:r>
              <a:rPr lang="ar-SA" altLang="en-US" sz="1700" b="1" dirty="0">
                <a:solidFill>
                  <a:srgbClr val="D6336C"/>
                </a:solidFill>
                <a:latin typeface="Amiri" pitchFamily="2" charset="-78"/>
                <a:cs typeface="Amiri" pitchFamily="2" charset="-78"/>
              </a:rPr>
              <a:t>بَعِيدٌ</a:t>
            </a:r>
            <a:pPr rtl="1" algn="ctr" indent="0" marL="0">
              <a:lnSpc>
                <a:spcPct val="120000"/>
              </a:lnSpc>
              <a:buNone/>
            </a:pPr>
            <a:r>
              <a:rPr lang="ar-SA" altLang="en-US" sz="1700" b="1" dirty="0">
                <a:solidFill>
                  <a:srgbClr val="1B3B6F"/>
                </a:solidFill>
                <a:latin typeface="Amiri" pitchFamily="2" charset="-78"/>
                <a:cs typeface="Amiri" pitchFamily="2" charset="-78"/>
              </a:rPr>
              <a:t> عَنِ المَرْكَزِ.</a:t>
            </a:r>
            <a:endParaRPr lang="ar-SA" sz="17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Station f., airport m.</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POSITION</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QUESTION</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AGREEMENT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فِي وَسَطِ الخَرِيطَةِ تُوجَدُ مَدْرَسَةٌ كَبِيرَةٌ. المَكْتَبَةُ </a:t>
            </a:r>
            <a:pPr rtl="1" algn="r" indent="0" marL="0">
              <a:lnSpc>
                <a:spcPct val="120000"/>
              </a:lnSpc>
              <a:buNone/>
            </a:pPr>
            <a:r>
              <a:rPr lang="ar-SA" altLang="en-US" sz="1400" b="1" dirty="0">
                <a:solidFill>
                  <a:srgbClr val="1D5FBF"/>
                </a:solidFill>
                <a:latin typeface="Amiri" pitchFamily="2" charset="-78"/>
                <a:cs typeface="Amiri" pitchFamily="2" charset="-78"/>
              </a:rPr>
              <a:t>بِجَانِبِ</a:t>
            </a:r>
            <a:pPr rtl="1" algn="r" indent="0" marL="0">
              <a:lnSpc>
                <a:spcPct val="120000"/>
              </a:lnSpc>
              <a:buNone/>
            </a:pPr>
            <a:r>
              <a:rPr lang="ar-SA" altLang="en-US" sz="1400" b="1" dirty="0">
                <a:solidFill>
                  <a:srgbClr val="1B3B6F"/>
                </a:solidFill>
                <a:latin typeface="Amiri" pitchFamily="2" charset="-78"/>
                <a:cs typeface="Amiri" pitchFamily="2" charset="-78"/>
              </a:rPr>
              <a:t> المَدْرَسَةِ، وَالحَدِيقَةُ </a:t>
            </a:r>
            <a:pPr rtl="1" algn="r" indent="0" marL="0">
              <a:lnSpc>
                <a:spcPct val="120000"/>
              </a:lnSpc>
              <a:buNone/>
            </a:pPr>
            <a:r>
              <a:rPr lang="ar-SA" altLang="en-US" sz="1400" b="1" dirty="0">
                <a:solidFill>
                  <a:srgbClr val="1D5FBF"/>
                </a:solidFill>
                <a:latin typeface="Amiri" pitchFamily="2" charset="-78"/>
                <a:cs typeface="Amiri" pitchFamily="2" charset="-78"/>
              </a:rPr>
              <a:t>خَلْفَهَا</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cs typeface="Amiri" pitchFamily="2" charset="-78"/>
              </a:rPr>
              <a:t>أَمَامَ</a:t>
            </a:r>
            <a:pPr rtl="1" algn="r" indent="0" marL="0">
              <a:lnSpc>
                <a:spcPct val="120000"/>
              </a:lnSpc>
              <a:buNone/>
            </a:pPr>
            <a:r>
              <a:rPr lang="ar-SA" altLang="en-US" sz="1400" b="1" dirty="0">
                <a:solidFill>
                  <a:srgbClr val="1B3B6F"/>
                </a:solidFill>
                <a:latin typeface="Amiri" pitchFamily="2" charset="-78"/>
                <a:cs typeface="Amiri" pitchFamily="2" charset="-78"/>
              </a:rPr>
              <a:t> المَدْرَسَةِ يُوجَدُ مَسْجِدٌ صَغِيرٌ. </a:t>
            </a:r>
            <a:pPr rtl="1" algn="r" indent="0" marL="0">
              <a:lnSpc>
                <a:spcPct val="120000"/>
              </a:lnSpc>
              <a:buNone/>
            </a:pPr>
            <a:r>
              <a:rPr lang="ar-SA" altLang="en-US" sz="1400" b="1" dirty="0">
                <a:solidFill>
                  <a:srgbClr val="0E7C86"/>
                </a:solidFill>
                <a:latin typeface="Amiri" pitchFamily="2" charset="-78"/>
                <a:cs typeface="Amiri" pitchFamily="2" charset="-78"/>
              </a:rPr>
              <a:t>أَيْنَ</a:t>
            </a:r>
            <a:pPr rtl="1" algn="r" indent="0" marL="0">
              <a:lnSpc>
                <a:spcPct val="120000"/>
              </a:lnSpc>
              <a:buNone/>
            </a:pPr>
            <a:r>
              <a:rPr lang="ar-SA" altLang="en-US" sz="1400" b="1" dirty="0">
                <a:solidFill>
                  <a:srgbClr val="1B3B6F"/>
                </a:solidFill>
                <a:latin typeface="Amiri" pitchFamily="2" charset="-78"/>
                <a:cs typeface="Amiri" pitchFamily="2" charset="-78"/>
              </a:rPr>
              <a:t> السُّوقُ؟ السُّوقُ </a:t>
            </a:r>
            <a:pPr rtl="1" algn="r" indent="0" marL="0">
              <a:lnSpc>
                <a:spcPct val="120000"/>
              </a:lnSpc>
              <a:buNone/>
            </a:pPr>
            <a:r>
              <a:rPr lang="ar-SA" altLang="en-US" sz="1400" b="1" dirty="0">
                <a:solidFill>
                  <a:srgbClr val="1D5FBF"/>
                </a:solidFill>
                <a:latin typeface="Amiri" pitchFamily="2" charset="-78"/>
                <a:cs typeface="Amiri" pitchFamily="2" charset="-78"/>
              </a:rPr>
              <a:t>بَيْنَ</a:t>
            </a:r>
            <a:pPr rtl="1" algn="r" indent="0" marL="0">
              <a:lnSpc>
                <a:spcPct val="120000"/>
              </a:lnSpc>
              <a:buNone/>
            </a:pPr>
            <a:r>
              <a:rPr lang="ar-SA" altLang="en-US" sz="1400" b="1" dirty="0">
                <a:solidFill>
                  <a:srgbClr val="1B3B6F"/>
                </a:solidFill>
                <a:latin typeface="Amiri" pitchFamily="2" charset="-78"/>
                <a:cs typeface="Amiri" pitchFamily="2" charset="-78"/>
              </a:rPr>
              <a:t> البَنْكِ وَالمَقْهَى. المَحَطَّةُ </a:t>
            </a:r>
            <a:pPr rtl="1" algn="r" indent="0" marL="0">
              <a:lnSpc>
                <a:spcPct val="120000"/>
              </a:lnSpc>
              <a:buNone/>
            </a:pPr>
            <a:r>
              <a:rPr lang="ar-SA" altLang="en-US" sz="1400" b="1" dirty="0">
                <a:solidFill>
                  <a:srgbClr val="D6336C"/>
                </a:solidFill>
                <a:latin typeface="Amiri" pitchFamily="2" charset="-78"/>
                <a:cs typeface="Amiri" pitchFamily="2" charset="-78"/>
              </a:rPr>
              <a:t>قَرِيبَةٌ</a:t>
            </a:r>
            <a:pPr rtl="1" algn="r" indent="0" marL="0">
              <a:lnSpc>
                <a:spcPct val="120000"/>
              </a:lnSpc>
              <a:buNone/>
            </a:pPr>
            <a:r>
              <a:rPr lang="ar-SA" altLang="en-US" sz="1400" b="1" dirty="0">
                <a:solidFill>
                  <a:srgbClr val="1B3B6F"/>
                </a:solidFill>
                <a:latin typeface="Amiri" pitchFamily="2" charset="-78"/>
                <a:cs typeface="Amiri" pitchFamily="2" charset="-78"/>
              </a:rPr>
              <a:t> مِنَ المَيْدَانِ، أَمَّا المَطَارُ فَهُوَ </a:t>
            </a:r>
            <a:pPr rtl="1" algn="r" indent="0" marL="0">
              <a:lnSpc>
                <a:spcPct val="120000"/>
              </a:lnSpc>
              <a:buNone/>
            </a:pPr>
            <a:r>
              <a:rPr lang="ar-SA" altLang="en-US" sz="1400" b="1" dirty="0">
                <a:solidFill>
                  <a:srgbClr val="D6336C"/>
                </a:solidFill>
                <a:latin typeface="Amiri" pitchFamily="2" charset="-78"/>
                <a:cs typeface="Amiri" pitchFamily="2" charset="-78"/>
              </a:rPr>
              <a:t>بَعِيدٌ</a:t>
            </a:r>
            <a:pPr rtl="1" algn="r" indent="0" marL="0">
              <a:lnSpc>
                <a:spcPct val="120000"/>
              </a:lnSpc>
              <a:buNone/>
            </a:pPr>
            <a:r>
              <a:rPr lang="ar-SA" altLang="en-US" sz="1400" b="1" dirty="0">
                <a:solidFill>
                  <a:srgbClr val="1B3B6F"/>
                </a:solidFill>
                <a:latin typeface="Amiri" pitchFamily="2" charset="-78"/>
                <a:cs typeface="Amiri" pitchFamily="2" charset="-78"/>
              </a:rPr>
              <a:t> عَنِ المَرْكَزِ وَخَارِجَ المَدِينَةِ.</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In the middle of the map there is a big school. The library is next to the school, and the park is behind it. In front of the school there is a small mosque. Where is the market? The market is between the bank and the café. The station is near the square, while the airport is far from the centre and outside the city.</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أَيْنَ المَحَطَّةُ؟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Where is the station?</a:t>
            </a:r>
            <a:endParaRPr lang="en-US" sz="1250" dirty="0"/>
          </a:p>
          <a:p>
            <a:pPr indent="0" marL="0">
              <a:buNone/>
            </a:pPr>
            <a:r>
              <a:rPr lang="en-US" sz="1050" i="1" dirty="0">
                <a:solidFill>
                  <a:srgbClr val="8A6D1E"/>
                </a:solidFill>
                <a:latin typeface="Calibri" pitchFamily="34" charset="0"/>
                <a:cs typeface="Amiri" pitchFamily="2" charset="-78"/>
              </a:rPr>
              <a:t>Use أَيْنَ with a definite place.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المَكْتَبَةُ بِجَانِبِ المَدْرَسَةِ.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library is next to the school.</a:t>
            </a:r>
            <a:endParaRPr lang="en-US" sz="1250" dirty="0"/>
          </a:p>
          <a:p>
            <a:pPr indent="0" marL="0">
              <a:buNone/>
            </a:pPr>
            <a:r>
              <a:rPr lang="en-US" sz="1050" i="1" dirty="0">
                <a:solidFill>
                  <a:srgbClr val="8A6D1E"/>
                </a:solidFill>
                <a:latin typeface="Calibri" pitchFamily="34" charset="0"/>
                <a:cs typeface="Amiri" pitchFamily="2" charset="-78"/>
              </a:rPr>
              <a:t>The reference noun follows the preposition.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البَنْكُ بَيْنَ السُّوقِ وَالمَقْهَى.</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bank is between the market and café.</a:t>
            </a:r>
            <a:endParaRPr lang="en-US" sz="1250" dirty="0"/>
          </a:p>
          <a:p>
            <a:pPr indent="0" marL="0">
              <a:buNone/>
            </a:pPr>
            <a:r>
              <a:rPr lang="en-US" sz="1050" i="1" dirty="0">
                <a:solidFill>
                  <a:srgbClr val="8A6D1E"/>
                </a:solidFill>
                <a:latin typeface="Calibri" pitchFamily="34" charset="0"/>
                <a:cs typeface="Amiri" pitchFamily="2" charset="-78"/>
              </a:rPr>
              <a:t>بَيْنَ requires two points.</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المَحَطَّةُ قَرِيبَةٌ مِنَ البَيْتِ.</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station is near the house.</a:t>
            </a:r>
            <a:endParaRPr lang="en-US" sz="1250" dirty="0"/>
          </a:p>
          <a:p>
            <a:pPr indent="0" marL="0">
              <a:buNone/>
            </a:pPr>
            <a:r>
              <a:rPr lang="en-US" sz="1050" i="1" dirty="0">
                <a:solidFill>
                  <a:srgbClr val="8A6D1E"/>
                </a:solidFill>
                <a:latin typeface="Calibri" pitchFamily="34" charset="0"/>
                <a:cs typeface="Amiri" pitchFamily="2" charset="-78"/>
              </a:rPr>
              <a:t>Make the adjective agree with station.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LOCATING PLACES: MAPS, DISTANCE AND POSITION”</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is it?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أَيْنَ هُوَ؟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bank beside hospital</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house · school (near)</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hospital · house (far)</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المُسْتَشْفَى بَعِيدٌ عَنِ البَيْتِ.</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المَصْرِفُ بِجَانِبِ المُسْتَشْفَى.</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البَيْتُ قَرِيبٌ مِنَ المَدْرَسَةِ.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أَيْنَ هُوَ؟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bank beside hospital</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المَصْرِفُ بِجَانِبِ المُسْتَشْفَى.</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bank is next to the hospital.</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house · school (near)</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البَيْتُ قَرِيبٌ مِنَ المَدْرَسَةِ.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house is near the school.</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hospital · house (far)</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المُسْتَشْفَى بَعِيدٌ عَنِ البَيْتِ.</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hospital is far from the house.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Near, far or exact position?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قَرِيبٌ مِنْ</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بَعِيدٌ عَنْ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بِجَانِبِ</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مُقَابِلَ</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أَمَامَ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خَلْفَ</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وَسَطِ</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خَارِجَ</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قَرِيبٌ · near</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بَعِيدٌ · far</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مَوْقِعٌ دَقِيقٌ · exact position</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قَرِيبٌ · near</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قَرِيبٌ مِنْ</a:t>
            </a:r>
            <a:endParaRPr lang="ar-SA" sz="1800" dirty="0"/>
          </a:p>
        </p:txBody>
      </p:sp>
      <p:sp>
        <p:nvSpPr>
          <p:cNvPr id="20" name="Shape 17"/>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1" name="Shape 18"/>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2" name="Text 19"/>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بَعِيدٌ · far</a:t>
            </a:r>
            <a:endParaRPr lang="en-US" sz="950" dirty="0"/>
          </a:p>
        </p:txBody>
      </p:sp>
      <p:sp>
        <p:nvSpPr>
          <p:cNvPr id="23" name="Shape 20"/>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4" name="Text 21"/>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بَعِيدٌ عَنْ</a:t>
            </a:r>
            <a:endParaRPr lang="ar-SA" sz="1800" dirty="0"/>
          </a:p>
        </p:txBody>
      </p:sp>
      <p:sp>
        <p:nvSpPr>
          <p:cNvPr id="25" name="Shape 2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26" name="Shape 2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27" name="Text 2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مَوْقِعٌ دَقِيقٌ · exact position</a:t>
            </a:r>
            <a:endParaRPr lang="en-US" sz="950" dirty="0"/>
          </a:p>
        </p:txBody>
      </p:sp>
      <p:sp>
        <p:nvSpPr>
          <p:cNvPr id="28" name="Shape 2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29" name="Text 2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بِجَانِبِ</a:t>
            </a:r>
            <a:endParaRPr lang="ar-SA" sz="1800" dirty="0"/>
          </a:p>
        </p:txBody>
      </p:sp>
      <p:sp>
        <p:nvSpPr>
          <p:cNvPr id="30" name="Shape 2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1" name="Text 2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مُقَابِلَ</a:t>
            </a:r>
            <a:endParaRPr lang="ar-SA" sz="1800" dirty="0"/>
          </a:p>
        </p:txBody>
      </p:sp>
      <p:sp>
        <p:nvSpPr>
          <p:cNvPr id="32" name="Shape 2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أَمَامَ</a:t>
            </a:r>
            <a:endParaRPr lang="ar-SA" sz="1800" dirty="0"/>
          </a:p>
        </p:txBody>
      </p:sp>
      <p:sp>
        <p:nvSpPr>
          <p:cNvPr id="34" name="Shape 31"/>
          <p:cNvSpPr/>
          <p:nvPr/>
        </p:nvSpPr>
        <p:spPr>
          <a:xfrm>
            <a:off x="594360" y="3913632"/>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3913632"/>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خَلْفَ</a:t>
            </a:r>
            <a:endParaRPr lang="ar-SA" sz="1800" dirty="0"/>
          </a:p>
        </p:txBody>
      </p:sp>
      <p:sp>
        <p:nvSpPr>
          <p:cNvPr id="36" name="Shape 33"/>
          <p:cNvSpPr/>
          <p:nvPr/>
        </p:nvSpPr>
        <p:spPr>
          <a:xfrm>
            <a:off x="594360" y="4425696"/>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4425696"/>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وَسَطِ</a:t>
            </a:r>
            <a:endParaRPr lang="ar-SA" sz="1800" dirty="0"/>
          </a:p>
        </p:txBody>
      </p:sp>
      <p:sp>
        <p:nvSpPr>
          <p:cNvPr id="38" name="Shape 35"/>
          <p:cNvSpPr/>
          <p:nvPr/>
        </p:nvSpPr>
        <p:spPr>
          <a:xfrm>
            <a:off x="594360" y="493776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493776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خَارِجَ</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7" name="Shape 14"/>
          <p:cNvSpPr/>
          <p:nvPr/>
        </p:nvSpPr>
        <p:spPr>
          <a:xfrm>
            <a:off x="457200"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for the nearest pharmacy?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صَيْدَلِيَّةً؟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الصَيْدَلِيَّةُ؟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أَقْرَبُ صَيْدَلِيَّةٍ؟</a:t>
            </a:r>
            <a:endParaRPr lang="ar-SA" sz="20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7" name="Shape 14"/>
          <p:cNvSpPr/>
          <p:nvPr/>
        </p:nvSpPr>
        <p:spPr>
          <a:xfrm>
            <a:off x="457200"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for the nearest pharmacy?</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كَمْ صَيْدَلِيَّةً؟</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هَلْ الصَيْدَلِيَّةُ؟</a:t>
            </a:r>
            <a:endParaRPr lang="ar-SA" sz="2050" dirty="0"/>
          </a:p>
        </p:txBody>
      </p:sp>
      <p:sp>
        <p:nvSpPr>
          <p:cNvPr id="27" name="Shape 24"/>
          <p:cNvSpPr/>
          <p:nvPr/>
        </p:nvSpPr>
        <p:spPr>
          <a:xfrm>
            <a:off x="548640" y="341071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أَيْنَ أَقْرَبُ صَيْدَلِيَّةٍ؟</a:t>
            </a:r>
            <a:endParaRPr lang="ar-SA" sz="2050" dirty="0"/>
          </a:p>
        </p:txBody>
      </p:sp>
      <p:sp>
        <p:nvSpPr>
          <p:cNvPr id="31" name="Text 2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أَيْنَ أَقْرَبُ</a:t>
            </a:r>
            <a:pPr algn="l" indent="0" marL="0">
              <a:buNone/>
            </a:pPr>
            <a:r>
              <a:rPr lang="en-US" sz="1050" i="1" dirty="0">
                <a:solidFill>
                  <a:srgbClr val="8A6D1E"/>
                </a:solidFill>
                <a:latin typeface="Calibri" pitchFamily="34" charset="0"/>
                <a:cs typeface="Amiri" pitchFamily="2" charset="-78"/>
              </a:rPr>
              <a:t>...</a:t>
            </a:r>
            <a:pPr algn="l" indent="0" marL="0">
              <a:buNone/>
            </a:pPr>
            <a:r>
              <a:rPr lang="ar-SA" altLang="en-US" sz="1350" dirty="0">
                <a:solidFill>
                  <a:srgbClr val="8A6D1E"/>
                </a:solidFill>
                <a:latin typeface="Amiri" pitchFamily="2" charset="-78"/>
                <a:cs typeface="Amiri" pitchFamily="2" charset="-78"/>
              </a:rPr>
              <a:t>؟</a:t>
            </a:r>
            <a:pPr algn="l" indent="0" marL="0">
              <a:buNone/>
            </a:pPr>
            <a:r>
              <a:rPr lang="en-US" sz="1050" i="1" dirty="0">
                <a:solidFill>
                  <a:srgbClr val="8A6D1E"/>
                </a:solidFill>
                <a:latin typeface="Calibri" pitchFamily="34" charset="0"/>
                <a:cs typeface="Amiri" pitchFamily="2" charset="-78"/>
              </a:rPr>
              <a:t> asks where the nearest place is.</a:t>
            </a:r>
            <a:endParaRPr lang="en-US" sz="10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المَحَطَّةُ قَرِيبٌ مِنَ البَيْتِ.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Station is m. or f.?</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البَنْكُ بَيْنَ السُّوقِ.</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Between needs how many places?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أَيْنَ مَحَطَّةٌ؟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Known place: al- or -un?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المَحَطَّةُ قَرِيبٌ مِنَ البَيْتِ.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المَحَطَّةُ قَرِيبَةٌ مِنَ البَيْتِ.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قَرِيبَةٌ</a:t>
            </a:r>
            <a:pPr algn="l" indent="0" marL="0">
              <a:buNone/>
            </a:pPr>
            <a:r>
              <a:rPr lang="en-US" sz="1150" b="1" dirty="0">
                <a:solidFill>
                  <a:srgbClr val="1B3B6F"/>
                </a:solidFill>
                <a:latin typeface="Calibri" pitchFamily="34" charset="0"/>
                <a:cs typeface="Amiri" pitchFamily="2" charset="-78"/>
              </a:rPr>
              <a:t> agrees with the feminine noun.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البَنْكُ بَيْنَ السُّوقِ.</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البَنْكُ بَيْنَ السُّوقِ وَالمَقْهَى.</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بَيْنَ</a:t>
            </a:r>
            <a:pPr algn="l" indent="0" marL="0">
              <a:buNone/>
            </a:pPr>
            <a:r>
              <a:rPr lang="en-US" sz="1150" b="1" dirty="0">
                <a:solidFill>
                  <a:srgbClr val="1B3B6F"/>
                </a:solidFill>
                <a:latin typeface="Calibri" pitchFamily="34" charset="0"/>
                <a:cs typeface="Amiri" pitchFamily="2" charset="-78"/>
              </a:rPr>
              <a:t> needs two reference points.</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أَيْنَ مَحَطَّةٌ؟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أَيْنَ المَحَطَّةُ؟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definite place in the question.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Follow the map description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to the right of the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library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mosque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park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front of the school?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café</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bank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park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behind the park?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market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station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café</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bank between?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café and market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school and library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station and restaurant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place is near the restaurant?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school</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station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mosque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and draw the map.</a:t>
            </a:r>
            <a:endParaRPr lang="en-US" sz="1250" dirty="0"/>
          </a:p>
          <a:p>
            <a:pPr algn="l" indent="0" marL="0">
              <a:buNone/>
            </a:pPr>
            <a:r>
              <a:rPr lang="en-US" sz="1250" dirty="0">
                <a:solidFill>
                  <a:srgbClr val="1E6B52"/>
                </a:solidFill>
                <a:latin typeface="Calibri" pitchFamily="34" charset="0"/>
                <a:cs typeface="Amiri" pitchFamily="2" charset="-78"/>
              </a:rPr>
              <a:t>Start from the school.</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اِبْدَأْ مِنَ المَدْرَسَةِ. المَكْتَبَةُ عَلَى يَمِينِ المَدْرَسَةِ، وَالمَسْجِدُ عَلَى يَسَارِهَا.</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Start from the school. The library is to the right of the school, and the mosque to its left.</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أَمَامَ المَدْرَسَةِ حَدِيقَةٌ، وَخَلْفَ الحَدِيقَةِ مَقْهًى صَغِيرٌ.</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front of the school there is a park, and behind the park a small café.</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البَنْكُ بَيْنَ المَقْهَى وَالسُّوقِ.</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bank is between the café and the market.</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المَحَطَّةُ بَعِيدَةٌ عَنِ المَدْرَسَةِ، وَلَكِنَّهَا قَرِيبَةٌ مِنَ المَطْعَمِ.</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station is far from the school, but it is near the restaurant.</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to the right of the school?</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library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mosque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park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المَكْتَبَةُ عَلَى يَمِينِ المَدْرَسَةِ.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front of the school?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café</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bank</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park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أَمَامَ المَدْرَسَةِ حَدِيقَةٌ.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behind the park?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market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station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café</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خَلْفَ الحَدِيقَةِ مَقْهًى.</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bank between?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café and market</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school and library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station and restaurant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البَنْكُ بَيْنَ المَقْهَى وَالسُّوقِ.</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place is near the restaurant?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school</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station</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mosque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المَحَطَّةُ قَرِيبَةٌ مِنَ المَطْعَمِ.</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and draw the map.</a:t>
            </a:r>
            <a:endParaRPr lang="en-US" sz="1250" dirty="0"/>
          </a:p>
          <a:p>
            <a:pPr algn="l" indent="0" marL="0">
              <a:buNone/>
            </a:pPr>
            <a:r>
              <a:rPr lang="en-US" sz="1250" dirty="0">
                <a:solidFill>
                  <a:srgbClr val="1E6B52"/>
                </a:solidFill>
                <a:latin typeface="Calibri" pitchFamily="34" charset="0"/>
                <a:cs typeface="Amiri" pitchFamily="2" charset="-78"/>
              </a:rPr>
              <a:t>Start from the school.</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Map detective role-play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أَيْنَ أَقْرَبُ مَحَطَّةٍ؟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يُوجَدُ مُقَابِلَ المَتْحَفِ؟</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المَطَارُ قَرِيبٌ أَمْ بَعِيدٌ؟</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مَوْقِعَ المَكْتَبَةِ بِدِقَّةٍ.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المَحَطَّةُ بِجَانِبِ / أَمَامَ / خَلْفَ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مُقَابِلَ المَتْحَفِ يُوجَدُ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المَطَارُ بَعِيدٌ عَنْ / قَرِيبٌ مِنْ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المَكْتَبَةُ غَرْبَ … وَبَيْنَ … وَ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أَيْنَ أَقْرَبُ مَحَطَّةٍ؟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Where is the nearest station?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المَحَطَّةُ بَيْنَ البَنْكِ وَمَكْتَبِ البَرِيدِ.</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The station is between the bank and the post office.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four basic prepositions with a labelled map.</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places on a labelled map with four position words + one question.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eight positions and control near/far agreement.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six location expressions, one where? question, near / far agreement.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Create an unlabelled information-gap map and write a precise guide using cardinal directions.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An information-gap guide with north / south / east / west and ammā … fa-.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المَحَطَّةُ قَرِيبَةٌ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station (f.) is near the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المَطَارُ بَعِيدٌ عَنِ المَرْكَزِ.</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airport (m.) is far from the centre.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مُقَابِلَ المَتْحَفِ يُوجَدُ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Opposite the museum there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يَمِينِ ______ / عَلَى يَسَارِ ______</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the right of … / to the left of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وَسَطِ الخَرِيطَةِ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middle of the map there is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أَيْنَ الـ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 is the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المَكْتَبَةُ بِجَانِبِ المَدْرَسَةِ.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library is next to the school.</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الحَدِيقَةُ خَلْفَ المَسْجِدِ.</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park is behind the mosque.</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المَطْعَمُ أَمَامَ المَتْحَفِ.</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restaurant is in front of the museum.</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البَنْكُ بَيْنَ ______ وَ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bank is between … and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أَيْنَ  ·  بِجَانِبِ  ·  أَمَامَ  ·  خَلْفَ  ·  بَيْنَ … وَ …  ·  مُقَابِلَ  ·  عَلَى يَمِينِ  ·  عَلَى يَسَارِ  ·  قَرِيبٌ / قَرِيبَةٌ مِنْ  ·  بَعِيدٌ / بَعِيدَةٌ عَنْ  ·  فِي وَسَطِ  ·  خَارِجَ</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Describe a simple town map in 60–80 Arabic words.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six location expressions.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one </a:t>
            </a:r>
            <a:pPr algn="l" indent="0" marL="0">
              <a:buNone/>
            </a:pPr>
            <a:r>
              <a:rPr lang="ar-SA" altLang="en-US" sz="1550" dirty="0">
                <a:solidFill>
                  <a:srgbClr val="1F2A37"/>
                </a:solidFill>
                <a:latin typeface="Amiri" pitchFamily="2" charset="-78"/>
                <a:cs typeface="Amiri" pitchFamily="2" charset="-78"/>
              </a:rPr>
              <a:t>أَيْنَ؟</a:t>
            </a:r>
            <a:pPr algn="l" indent="0" marL="0">
              <a:buNone/>
            </a:pPr>
            <a:r>
              <a:rPr lang="en-US" sz="1200" dirty="0">
                <a:solidFill>
                  <a:srgbClr val="1F2A37"/>
                </a:solidFill>
                <a:latin typeface="Calibri" pitchFamily="34" charset="0"/>
                <a:cs typeface="Amiri" pitchFamily="2" charset="-78"/>
              </a:rPr>
              <a:t> question and answer.</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cs typeface="Amiri" pitchFamily="2" charset="-78"/>
              </a:rPr>
              <a:t>قَرِيبٌ / بَعِيدٌ</a:t>
            </a:r>
            <a:pPr algn="l" indent="0" marL="0">
              <a:buNone/>
            </a:pPr>
            <a:r>
              <a:rPr lang="en-US" sz="1200" dirty="0">
                <a:solidFill>
                  <a:srgbClr val="1F2A37"/>
                </a:solidFill>
                <a:latin typeface="Calibri" pitchFamily="34" charset="0"/>
                <a:cs typeface="Amiri" pitchFamily="2" charset="-78"/>
              </a:rPr>
              <a:t> with correct agreement.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Join ideas with </a:t>
            </a:r>
            <a:pPr algn="l" indent="0" marL="0">
              <a:buNone/>
            </a:pPr>
            <a:r>
              <a:rPr lang="ar-SA" altLang="en-US" sz="1550" dirty="0">
                <a:solidFill>
                  <a:srgbClr val="1F2A37"/>
                </a:solidFill>
                <a:latin typeface="Amiri" pitchFamily="2" charset="-78"/>
                <a:cs typeface="Amiri" pitchFamily="2" charset="-78"/>
              </a:rPr>
              <a:t>وَ، أَمَّا، وَلٰكِنْ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شَرْقَ المَيْدَانِ · غَرْبَهُ</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east of the square · west of it</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شَمَالِ المَدِينَةِ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north of the city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المَطَارُ فَهُوَ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the airport, it is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أَقْرَبُ مَحَطَّةٍ إِلَى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nearest station to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زَاوِيَةِ الشَّارِعِ</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corner of the street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وَسَطِ الخَرِيطَةِ تُوجَدُ مَدْرَسَةٌ كَبِيرَةٌ. المَكْتَبَةُ بِجَانِبِ المَدْرَسَةِ، وَالحَدِيقَةُ خَلْفَهَا. أَمَامَ المَدْرَسَةِ يُوجَدُ مَسْجِدٌ صَغِيرٌ. أَيْنَ السُّوقُ؟ السُّوقُ بَيْنَ البَنْكِ وَالمَقْهَى. المَحَطَّةُ قَرِيبَةٌ مِنَ المَيْدَانِ، أَمَّا المَطَارُ فَهُوَ بَعِيدٌ عَنِ المَرْكَزِ وَخَارِجَ المَدِينَةِ.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the middle of the map there is a big school. The library is next to the school, and the park is behind it. In front of the school there is a small mosque. Where is the market? The market is between the bank and the café. The station is near the square, while the airport is far from the centre and outside the city.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next to</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between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where? question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near / far</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four position words.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where? question uses al-.</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Between has two reference points.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Near / far agree with the first place.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compass directions.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asks “where”?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“opposite”?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خَلْفَ</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مُقَابِلَ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دَاخِلَ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“outside the city”?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خَارِجَ المَدِينَةِ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دَاخِلَ المَدِينَةِ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وَسَطِ المَدِينَةِ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asks “where”?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أَيْنَ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مَتَى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أَيْنَ</a:t>
            </a:r>
            <a:pPr algn="l" indent="0" marL="0">
              <a:buNone/>
            </a:pPr>
            <a:r>
              <a:rPr lang="en-US" sz="1050" i="1" dirty="0">
                <a:solidFill>
                  <a:srgbClr val="8A6D1E"/>
                </a:solidFill>
                <a:latin typeface="Calibri" pitchFamily="34" charset="0"/>
                <a:cs typeface="Amiri" pitchFamily="2" charset="-78"/>
              </a:rPr>
              <a:t> asks where.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“opposite”?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خَلْفَ</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مُقَابِلَ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دَاخِلَ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مُقَابِلَ</a:t>
            </a:r>
            <a:pPr algn="l" indent="0" marL="0">
              <a:buNone/>
            </a:pPr>
            <a:r>
              <a:rPr lang="en-US" sz="1050" i="1" dirty="0">
                <a:solidFill>
                  <a:srgbClr val="8A6D1E"/>
                </a:solidFill>
                <a:latin typeface="Calibri" pitchFamily="34" charset="0"/>
                <a:cs typeface="Amiri" pitchFamily="2" charset="-78"/>
              </a:rPr>
              <a:t> means opposite.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“outside the city”?</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خَارِجَ المَدِينَةِ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دَاخِلَ المَدِينَةِ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 وَسَطِ المَدِينَةِ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خَارِجَ</a:t>
            </a:r>
            <a:pPr algn="l" indent="0" marL="0">
              <a:buNone/>
            </a:pPr>
            <a:r>
              <a:rPr lang="en-US" sz="1050" i="1" dirty="0">
                <a:solidFill>
                  <a:srgbClr val="8A6D1E"/>
                </a:solidFill>
                <a:latin typeface="Calibri" pitchFamily="34" charset="0"/>
                <a:cs typeface="Amiri" pitchFamily="2" charset="-78"/>
              </a:rPr>
              <a:t> means outside.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town map in words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وَسَطِ الخَرِيطَةِ مَيْدَانٌ كَبِيرٌ. شَرْقَ المَيْدَانِ يُوجَدُ مَتْحَفٌ، وَغَرْبَهُ تُوجَدُ مَكْتَبَةٌ. المَسْرَحُ مُقَابِلَ المَتْحَفِ. فِي شَمَالِ المَدِينَةِ تُوجَدُ الجَامِعَةُ، أَمَّا المَطَارُ فَهُوَ خَارِجَ المَدِينَةِ. أَقْرَبُ مَحَطَّةٍ إِلَى المَيْدَانِ بَيْنَ البَنْكِ وَمَكْتَبِ البَرِيدِ.</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فِي وَسَطِ</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the middle of</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مَيْدَانٌ</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square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شَرْقَ</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east of</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غَرْبَهُ</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west of it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المَسْرَحُ</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theatre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مُقَابِلَ</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opposite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فِي شَمَالِ</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the north of</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أَمَّا … فَهُوَ</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as for …, it is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خَارِجَ</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outside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أَقْرَبُ مَحَطَّةٍ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nearest station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the middle of the map?</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museum</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large square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university</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east of the square?</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library</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theatre</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museum</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opposite the museum?</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theatre</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library</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bank</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university?</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south</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north</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outside the city</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airport?</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outside the city</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between the bank and post office</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west of the square</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nearest station?</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to the museum</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 the university</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between the bank and post office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the middle of the map?</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museum</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large square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university</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وَسَطِ الخَرِيطَةِ مَيْدَانٌ.</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east of the square?</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library</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theatre</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museum</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شَرْقَ المَيْدَانِ يُوجَدُ مَتْحَفٌ.</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opposite the museum?</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theatre</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library</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bank</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المَسْرَحُ مُقَابِلَ المَتْحَفِ.</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university?</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south</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north</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outside the city</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شَمَالِ المَدِينَةِ.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airport?</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outside the city</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between the bank and post office</a:t>
            </a:r>
            <a:endParaRPr lang="en-US" sz="11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west of the square</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المَطَارُ خَارِجَ المَدِينَةِ.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nearest station?</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next to the museum</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behind the university</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between the bank and post office</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is </a:t>
            </a:r>
            <a:pPr algn="l" indent="0" marL="0">
              <a:buNone/>
            </a:pPr>
            <a:r>
              <a:rPr lang="ar-SA" altLang="en-US" sz="1350" dirty="0">
                <a:solidFill>
                  <a:srgbClr val="8A6D1E"/>
                </a:solidFill>
                <a:latin typeface="Amiri" pitchFamily="2" charset="-78"/>
                <a:cs typeface="Amiri" pitchFamily="2" charset="-78"/>
              </a:rPr>
              <a:t>بَيْنَ البَنْكِ وَمَكْتَبِ البَرِيدِ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F6-L02 · Maps and Position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F6-L03: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F6-L03 · Transport: Types and How We Travel</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حَافِلَةٌ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bus</a:t>
            </a:r>
            <a:pPr indent="0" marL="0">
              <a:buNone/>
            </a:pPr>
            <a:r>
              <a:rPr lang="en-US" sz="1000" i="1" dirty="0">
                <a:solidFill>
                  <a:srgbClr val="5A6472"/>
                </a:solidFill>
                <a:latin typeface="Calibri" pitchFamily="34" charset="0"/>
                <a:cs typeface="Amiri" pitchFamily="2" charset="-78"/>
              </a:rPr>
              <a:t>  pl. حَافِلَاتٌ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قِطَارٌ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train</a:t>
            </a:r>
            <a:pPr indent="0" marL="0">
              <a:buNone/>
            </a:pPr>
            <a:r>
              <a:rPr lang="en-US" sz="1000" i="1" dirty="0">
                <a:solidFill>
                  <a:srgbClr val="5A6472"/>
                </a:solidFill>
                <a:latin typeface="Calibri" pitchFamily="34" charset="0"/>
                <a:cs typeface="Amiri" pitchFamily="2" charset="-78"/>
              </a:rPr>
              <a:t>  pl. قِطَارَاتٌ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سَيَّارَةٌ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car</a:t>
            </a:r>
            <a:pPr indent="0" marL="0">
              <a:buNone/>
            </a:pPr>
            <a:r>
              <a:rPr lang="en-US" sz="1000" i="1" dirty="0">
                <a:solidFill>
                  <a:srgbClr val="5A6472"/>
                </a:solidFill>
                <a:latin typeface="Calibri" pitchFamily="34" charset="0"/>
                <a:cs typeface="Amiri" pitchFamily="2" charset="-78"/>
              </a:rPr>
              <a:t>  pl. سَيَّارَاتٌ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دَرَّاجَةٌ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bicycle</a:t>
            </a:r>
            <a:pPr indent="0" marL="0">
              <a:buNone/>
            </a:pPr>
            <a:r>
              <a:rPr lang="en-US" sz="1000" i="1" dirty="0">
                <a:solidFill>
                  <a:srgbClr val="5A6472"/>
                </a:solidFill>
                <a:latin typeface="Calibri" pitchFamily="34" charset="0"/>
                <a:cs typeface="Amiri" pitchFamily="2" charset="-78"/>
              </a:rPr>
              <a:t>  pl. دَرَّاجَاتٌ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مَشْيًا عَلَى الأَقْدَامِ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on foot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do you usually travel to school?</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أَذْهَبُ إِلَى المَدْرَسَةِ بِـ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F6-L02: the vocabulary tab and the “Near, far or exact position?”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describe a simple town map in 60–80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Make an unlabelled information-gap map and write a precise guide with compass directions.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F6-L03 · Transport: Types and How We Travel</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المُوَاصَلَاتُ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cs typeface="Amiri" pitchFamily="2" charset="-78"/>
              </a:rPr>
              <a:t>أَيْنَ</a:t>
            </a:r>
            <a:pPr algn="l" indent="0" marL="0">
              <a:buNone/>
            </a:pPr>
            <a:r>
              <a:rPr lang="en-US" sz="1300" b="1" dirty="0">
                <a:solidFill>
                  <a:srgbClr val="FFFFFF"/>
                </a:solidFill>
                <a:latin typeface="Calibri" pitchFamily="34" charset="0"/>
                <a:cs typeface="Amiri" pitchFamily="2" charset="-78"/>
              </a:rPr>
              <a:t> + al- place? · position word + reference noun (-i) · near / far agree with the first place.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F6-L02 · Locating Places: Maps, Distance and Position</dc:title>
  <dc:subject>PptxGenJS Presentation</dc:subject>
  <dc:creator>Al Madina Online School · Arabic Department</dc:creator>
  <cp:lastModifiedBy>Al Madina Online School · Arabic Department</cp:lastModifiedBy>
  <cp:revision>1</cp:revision>
  <dcterms:created xsi:type="dcterms:W3CDTF">2026-10-11T06:41:52Z</dcterms:created>
  <dcterms:modified xsi:type="dcterms:W3CDTF">2026-10-11T06:41:52Z</dcterms:modified>
</cp:coreProperties>
</file>