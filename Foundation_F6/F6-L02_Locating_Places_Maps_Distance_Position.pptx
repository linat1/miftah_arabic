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F6-L02. The website lesson “Locating Places: Maps, Distance and Position”: vocabulary, grammar rules and quiz, patterns, common mistakes, sorter, listening, reading, speaking prompts and model, writing task and model, differentiation, final check and the lesson mission. Picture match: website visual game “Locating Places: Maps, Distance and Position”.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basic prepositions with a labelled map (بِجَانِبِ، أَمَامَ، خَلْفَ، بَيْنَ).
• Develop: eight positions and near / far agreement (المَحَطَّةُ قَرِيبَةٌ مِنَ …).
• Stretch: an information-gap map (unlabelled) and a precise guide with north / south / east / west.
• Website: “A map answer should name the place and provide a reference point; isolated words do not show full control.”
• Online: share a simple town map (draw one in the whiteboard app) — students annotate or answer in the chat.
• The reference noun after a preposition ends in -i (kasrah) — say it, praise it, don’t over-correct Core.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F6-L01. Questions 3–5 retrieve F6-L01 (yūjadu / tūjadu / hunāka, places).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map answer = the place + a position word + a reference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شمال، جنوب، مشرق، مغرب are shared (think of نمازِ مغرب at sunset, in the west). Urdu موقع means “occasion, opportunity”; in Arabic مَوْقِعٌ is a location (and a website!). خارج in Urdu (expelled, “outside”) → خَارِجَ المَدِينَةِ = outside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Position and distance (website vocabulary (1 of 4)). Hear → Say → See → Use. Transliteration is printed for Core students (cover it for Develop/Stretch).
Position words (website group 1, 19 words over several cards). Mime them on camera: hand beside / in front of / behind the other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Position and distance (website vocabulary (2 of 4)). Hear → Say → See → Use. Transliteration is printed for Core students (cover it for Develop/Stretch).
Position words (website group 1, 19 words over several cards). Mime them on camera: hand beside / in front of / behind the other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Position and distance (website vocabulary (3 of 4)). Hear → Say → See → Use. Transliteration is printed for Core students (cover it for Develop/Stretch).
Position words (website group 1, 19 words over several cards). Mime them on camera: hand beside / in front of / behind the other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Position and distance (website vocabulary (4 of 4)). Hear → Say → See → Use. Transliteration is printed for Core students (cover it for Develop/Stretch).
FLEX: teach if time allows; otherwise these are on the website vocabulary tab for homework.
Position words (website group 1, 19 words over several cards). Mime them on camera: hand beside / in front of / behind the other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Map and route language (website vocabulary (1 of 2)). Hear → Say → See → Use. Transliteration is printed for Core students (cover it for Develop/Stretch).
FLEX: teach if time allows; otherwise these are on the website vocabulary tab for homework.
Directions: فِي شَمَالِ / جَنُوبِ (in the north / south of), شَرْقَ / غَرْبَ (east / west of)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Map and route language (website vocabulary (2 of 2)). Hear → Say → See → Use. Transliteration is printed for Core students (cover it for Develop/Stretch).
FLEX: teach if time allows; otherwise these are on the website vocabulary tab for homework.
Directions: فِي شَمَالِ / جَنُوبِ (in the north / south of), شَرْقَ / غَرْبَ (east / west of)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“Ask where a definite place is” (أَيْنَ + الـ), “Answer with a place preposition” (the reference noun takes kasrah) and “Use بَيْنَ with two reference points”.
Website mistakes: أَيْنَ مَحَطَّةٌ؟ ✗ → أَيْنَ المَحَطَّةُ؟ ✓ · البَنْكُ بَيْنَ السُّوقِ ✗ → بَيْنَ السُّوقِ وَالمَقْهَى ✓.
Website teaching note: “After a place preposition, listen for and write the kasrah on the reference noun when the text is fully vowelled.”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“Make near and far agree”: “The adjective agrees with the place being described, not the reference place.”
Website common error: “Do not make قَرِيبٌ agree with the noun after مِنْ.”
Pronunciation: مِنْ + الـ → مِنَ الـ; عَنْ + الـ → عَنِ الـ (mina l-bayti, ʿani l-markazi).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“Use أَيْنَ with a definite place, then answer with a complete location phrase. Prepositions such as بِجَانِبِ and أَمَامَ are followed by a definite noun and make the description precise.”
• Ask where a definite place is: The place normally includes الـ because both speakers know which place is being discussed.
• Answer with a place preposition: The noun after the preposition is pronounced with a kasrah when fully vowelled.
• Use بَيْنَ with two reference points: A place between two landmarks needs both reference points.
• Make near and far agree: The adjective agrees with the place being described, not the reference place.
Website common error: Do not make قَرِيبٌ agree with the noun after مِنْ. In المَحَطَّةُ قَرِيبَةٌ مِنَ البَنْكِ, قَرِيبَةٌ agrees with المَحَطَّةُ.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drawn live: sketch each place on the whiteboard as you say the sentence. Students copy the model and draw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Locating Places: Maps, Distance and Position”)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Items 2 and 3 differ only in near / far — ask students to explain their choice with قَرِيبٌ / بَعِيدٌ. Other website items: opposite the shop, on / under the chair (عَلَى، تَحْتَ).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Locating Places: Maps, Distance and Position”)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Items 2 and 3 differ only in near / far — ask students to explain their choice with قَرِيبٌ / بَعِيدٌ. Other website items: opposite the shop, on / under the chair (عَلَى، تَحْتَ).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type of location meaning.
Most words are “exact position” — the point: قَرِيبٌ / بَعِيدٌ tell distance, the others tell exact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type of location meaning.
Most words are “exact position” — the point: قَرِيبٌ / بَعِيدٌ tell distance, the others tell exact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then draw the whole map.
Listen 1: just listen. Listen 2: note answers. Then chat the letters.
Support: after the second listening, show the read-along slide (Arabic + English, line by line) for Core students.
SCRIPT (read aloud):
اِبْدَأْ مِنَ المَدْرَسَةِ. المَكْتَبَةُ عَلَى يَمِينِ المَدْرَسَةِ، وَالمَسْجِدُ عَلَى يَسَارِهَا. أَمَامَ المَدْرَسَةِ حَدِيقَةٌ، وَخَلْفَ الحَدِيقَةِ مَقْهًى صَغِيرٌ. البَنْكُ بَيْنَ المَقْهَى وَالسُّوقِ. المَحَطَّةُ بَعِيدَةٌ عَنِ المَدْرَسَةِ، وَلٰكِنَّهَا قَرِيبَةٌ مِنَ المَطْعَمِ.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هِيَ بَعِيدَةٌ؟ (Is it far?)
B: لَا، هِيَ قَرِيبَةٌ مِنَ المَيْدَانِ. (No, it is near the square.)
Website “Map detective role-play” — all four prompts are the website’s. Information gap: A has a labelled map, B an empty one; B asks أَيْنَ …؟ and draws. Website model: أَيْنَ أَقْرَبُ مَحَطَّةٍ؟ — المَحَطَّةُ بَيْنَ البَنْكِ وَمَكْتَبِ البَرِيدِ. — هَلْ هِيَ بَعِيدَةٌ؟ — لَا، هِيَ قَرِيبَةٌ مِنَ المَيْدَانِ.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four basic prepositions with a labelled map. · Develop — Describe eight positions and control near/far agreement. · Stretch — Create an unlabelled information-gap map and write a precise guide using cardinal directions.
Website writing task (Stretch): Describe a simple town map in 60–80 Arabic words.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بِجَانِبِ المَدْرَسَةِ · بَيْنَ البَنْكِ وَالمَقْهَى · أَيْنَ السُّوقُ؟ · قَرِيبَةٌ مِنَ المَيْدَانِ / بَعِيدٌ عَنِ المَرْكَزِ.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(F6-L03 · Transport: Types and How We Travel) will spend class time USING this language, so students prepare it tonight — short, simple, easy to access (school guidance: “Simple, Short, Interesting, Relevant, Easy to access”). The five words come from the website F6-L03 lesson (transport).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Locating Places: Maps, Distance and Position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تَحْدِيدُ الأَمَاكِنِ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Ask </a:t>
            </a:r>
            <a:pPr algn="l" indent="0" marL="0">
              <a:buNone/>
            </a:pPr>
            <a:r>
              <a:rPr lang="ar-SA" altLang="en-US" sz="1800" dirty="0">
                <a:solidFill>
                  <a:srgbClr val="C6D2E6"/>
                </a:solidFill>
                <a:latin typeface="Amiri" pitchFamily="34" charset="0"/>
                <a:ea typeface="Amiri" pitchFamily="34" charset="-122"/>
                <a:cs typeface="Amiri" pitchFamily="34" charset="-120"/>
              </a:rPr>
              <a:t>أَيْنَ …؟</a:t>
            </a:r>
            <a:pPr algn="l" indent="0" marL="0">
              <a:buNone/>
            </a:pPr>
            <a:r>
              <a:rPr lang="en-US" sz="1400" dirty="0">
                <a:solidFill>
                  <a:srgbClr val="C6D2E6"/>
                </a:solidFill>
                <a:latin typeface="Calibri" pitchFamily="34" charset="0"/>
                <a:ea typeface="Calibri" pitchFamily="34" charset="-122"/>
                <a:cs typeface="Calibri" pitchFamily="34" charset="-120"/>
              </a:rPr>
              <a:t> and describe exact positions on a map: next to, opposite, between, right and left, near and far — with accurate agreement.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F6-L02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Position words and map language, then where is …? · it is next to / between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near / far / exact, fix the map sentences and follow a spoken map.</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F6-L03.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خَرِيطَةٌ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map</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between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is a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 مَدْرَسَةٌ.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المَدْرَسَةُ.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مَدْرَسَةٌ.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never changes for gender?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مَكْتَبَةٌ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library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office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خَرِيطَةٌ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street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map</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between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is a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 مَدْرَسَةٌ.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 المَدْرَسَةُ.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 مَدْرَسَةٌ.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F6-L01: a feminine place → tūjadu.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never changes for gender?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هُنَاكَ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F6-L01: hunāka.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مَكْتَبَةٌ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library</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office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F6-L01 places.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map answer = the place + a position word + a reference point.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المَكْتَبَةُ </a:t>
            </a:r>
            <a:pPr rtl="1" algn="ctr" indent="0" marL="0">
              <a:buNone/>
            </a:pPr>
            <a:r>
              <a:rPr lang="ar-SA" altLang="en-US" sz="2400" b="1" dirty="0">
                <a:solidFill>
                  <a:srgbClr val="0E7C86"/>
                </a:solidFill>
                <a:latin typeface="Amiri" pitchFamily="34" charset="0"/>
                <a:ea typeface="Amiri" pitchFamily="34" charset="-122"/>
                <a:cs typeface="Amiri" pitchFamily="34" charset="-120"/>
              </a:rPr>
              <a:t>بِجَانِبِ</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المَدْرَسَةِ.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a:t>
            </a:r>
            <a:pPr algn="l" indent="0" marL="0">
              <a:buNone/>
            </a:pPr>
            <a:r>
              <a:rPr lang="ar-SA" altLang="en-US" sz="1700" dirty="0">
                <a:solidFill>
                  <a:srgbClr val="1F2A37"/>
                </a:solidFill>
                <a:latin typeface="Amiri" pitchFamily="34" charset="0"/>
                <a:ea typeface="Amiri" pitchFamily="34" charset="-122"/>
                <a:cs typeface="Amiri" pitchFamily="34" charset="-120"/>
              </a:rPr>
              <a:t>أَيْنَ؟</a:t>
            </a:r>
            <a:pPr algn="l" indent="0" marL="0">
              <a:buNone/>
            </a:pPr>
            <a:r>
              <a:rPr lang="en-US" sz="1300" dirty="0">
                <a:solidFill>
                  <a:srgbClr val="1F2A37"/>
                </a:solidFill>
                <a:latin typeface="Calibri" pitchFamily="34" charset="0"/>
                <a:ea typeface="Calibri" pitchFamily="34" charset="-122"/>
                <a:cs typeface="Calibri" pitchFamily="34" charset="-120"/>
              </a:rPr>
              <a:t> questions.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 wide range of place prepositions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masculine and feminine near/far agreement.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and produce map descriptions.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where four places are.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four position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locate places with six expressions.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near / far agree.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north, south, east and west.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precise map guide.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2 groups. Learn the CORE words first. Hear it → say it → see it → use it.</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Position and distance · 19</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Map and route language · 8</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مَوْقِعٌ</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‎موقع‎ </a:t>
            </a:r>
            <a:pPr indent="0" marL="0">
              <a:buNone/>
            </a:pPr>
            <a:r>
              <a:rPr lang="en-US" sz="950" b="1" dirty="0">
                <a:solidFill>
                  <a:srgbClr val="2E8B57"/>
                </a:solidFill>
                <a:latin typeface="Calibri" pitchFamily="34" charset="0"/>
                <a:ea typeface="Calibri" pitchFamily="34" charset="-122"/>
                <a:cs typeface="Calibri" pitchFamily="34" charset="-120"/>
              </a:rPr>
              <a:t> mauqaʿ · Urdu: occasion · Arabic: location</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شَمَالٌ</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‎شمال‎ </a:t>
            </a:r>
            <a:pPr indent="0" marL="0">
              <a:buNone/>
            </a:pPr>
            <a:r>
              <a:rPr lang="en-US" sz="950" b="1" dirty="0">
                <a:solidFill>
                  <a:srgbClr val="2E8B57"/>
                </a:solidFill>
                <a:latin typeface="Calibri" pitchFamily="34" charset="0"/>
                <a:ea typeface="Calibri" pitchFamily="34" charset="-122"/>
                <a:cs typeface="Calibri" pitchFamily="34" charset="-120"/>
              </a:rPr>
              <a:t> shumāl · north</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جَنُوبٌ</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‎جنوب‎ </a:t>
            </a:r>
            <a:pPr indent="0" marL="0">
              <a:buNone/>
            </a:pPr>
            <a:r>
              <a:rPr lang="en-US" sz="950" b="1" dirty="0">
                <a:solidFill>
                  <a:srgbClr val="2E8B57"/>
                </a:solidFill>
                <a:latin typeface="Calibri" pitchFamily="34" charset="0"/>
                <a:ea typeface="Calibri" pitchFamily="34" charset="-122"/>
                <a:cs typeface="Calibri" pitchFamily="34" charset="-120"/>
              </a:rPr>
              <a:t> janūb · south</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مَشْرِقٌ · مَغْرِبٌ</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‎مشرق · مغرب‎ </a:t>
            </a:r>
            <a:pPr indent="0" marL="0">
              <a:buNone/>
            </a:pPr>
            <a:r>
              <a:rPr lang="en-US" sz="950" b="1" dirty="0">
                <a:solidFill>
                  <a:srgbClr val="2E8B57"/>
                </a:solidFill>
                <a:latin typeface="Calibri" pitchFamily="34" charset="0"/>
                <a:ea typeface="Calibri" pitchFamily="34" charset="-122"/>
                <a:cs typeface="Calibri" pitchFamily="34" charset="-120"/>
              </a:rPr>
              <a:t> mashriq · maghrib · east · west</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خَارِجَ</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‎خارج‎ </a:t>
            </a:r>
            <a:pPr indent="0" marL="0">
              <a:buNone/>
            </a:pPr>
            <a:r>
              <a:rPr lang="en-US" sz="950" b="1" dirty="0">
                <a:solidFill>
                  <a:srgbClr val="2E8B57"/>
                </a:solidFill>
                <a:latin typeface="Calibri" pitchFamily="34" charset="0"/>
                <a:ea typeface="Calibri" pitchFamily="34" charset="-122"/>
                <a:cs typeface="Calibri" pitchFamily="34" charset="-120"/>
              </a:rPr>
              <a:t> khārij · outside (Urdu: expelled)</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Position and distance (1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هُنَا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hu-nā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هُنَاكَ</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hu-nā-ka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Shape 3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قَرِيبٌ مِنْ</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qa-rī-bun min</a:t>
            </a:r>
            <a:endParaRPr lang="en-US" sz="1350" dirty="0"/>
          </a:p>
        </p:txBody>
      </p:sp>
      <p:sp>
        <p:nvSpPr>
          <p:cNvPr id="41" name="Shape 3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3" name="Text 4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قَرِيبٌ</a:t>
            </a:r>
            <a:endParaRPr lang="ar-SA" sz="1500" dirty="0"/>
          </a:p>
        </p:txBody>
      </p:sp>
      <p:sp>
        <p:nvSpPr>
          <p:cNvPr id="44" name="Shape 4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6" name="Text 4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قَرِيبَةٌ</a:t>
            </a:r>
            <a:endParaRPr lang="ar-SA" sz="1500" dirty="0"/>
          </a:p>
        </p:txBody>
      </p:sp>
      <p:sp>
        <p:nvSpPr>
          <p:cNvPr id="47" name="Shape 4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nearest</a:t>
            </a:r>
            <a:endParaRPr lang="en-US" sz="700" dirty="0"/>
          </a:p>
        </p:txBody>
      </p:sp>
      <p:sp>
        <p:nvSpPr>
          <p:cNvPr id="49" name="Text 46"/>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أَقْرَبُ</a:t>
            </a:r>
            <a:endParaRPr lang="ar-SA"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3" name="Shape 50"/>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بَعِيدٌ عَنْ</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far from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ba-ʿī-dun ʿan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بَعِيدٌ</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بَعِيدَةٌ</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furthest</a:t>
            </a:r>
            <a:endParaRPr lang="en-US" sz="700" dirty="0"/>
          </a:p>
        </p:txBody>
      </p:sp>
      <p:sp>
        <p:nvSpPr>
          <p:cNvPr id="67" name="Text 64"/>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أَبْعَدُ</a:t>
            </a:r>
            <a:endParaRPr lang="ar-SA"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Position and distance (2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بِجَانِبِ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next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bi-jā-ni-bi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front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a-mā-ma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خَلْفَ</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behind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khal-fa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between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مُقَابِلَ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opposite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mu-qā-bi-la</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Position and distance (3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يَمِينِ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the right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ya-mī-ni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يَسَارِ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the left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ya-sā-ri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وَسَطِ</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middle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wa-sa-ṭi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شَمَالِ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north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sha-mā-li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جَنُوبِ</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south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ja-nū-bi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Position and distance (4 of 4)</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east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west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ghar-ba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دَاخِلَ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inside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dā-khi-la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خَارِجَ</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outside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khā-ri-ja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Map and route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خَرِيطَةٌ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kha-rī-ṭa-tun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خَرِيطَةٌ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خَرَائِطُ</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مَوْقِعٌ</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maw-qi-ʿun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طَرِيقٌ</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road / 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ṭa-rī-qun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4" name="Text 4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طَرِيقٌ</a:t>
            </a:r>
            <a:endParaRPr lang="ar-SA" sz="150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طُرُقٌ</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تَقَاطُعٌ</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junction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ta-qā-ṭu-ʿun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Map and route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إِشَارَةُ المَرُورِ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traffic lights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i-shā-ra-tu al-ma-rū-ri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زَاوِيَةٌ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corner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zā-wi-ya-tun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نِهَايَةُ الشَّارِعِ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 of the street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ni-hā-ya-tu ash-shā-ri-ʿi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أَقْرَبُ</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nearest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aq-ra-bu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WHERE IS …?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is the station?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41879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to the school</a:t>
            </a:r>
            <a:endParaRPr lang="en-US" sz="1100" dirty="0"/>
          </a:p>
        </p:txBody>
      </p:sp>
      <p:sp>
        <p:nvSpPr>
          <p:cNvPr id="21" name="Text 18"/>
          <p:cNvSpPr txBox="1"/>
          <p:nvPr/>
        </p:nvSpPr>
        <p:spPr>
          <a:xfrm>
            <a:off x="4206240" y="2267712"/>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المَكْتَبَةُ </a:t>
            </a:r>
            <a:pPr rtl="1" algn="ctr" indent="0" marL="0">
              <a:buNone/>
            </a:pPr>
            <a:r>
              <a:rPr lang="ar-SA" altLang="en-US" sz="2400" b="1" dirty="0">
                <a:solidFill>
                  <a:srgbClr val="1D5FBF"/>
                </a:solidFill>
                <a:latin typeface="Amiri" pitchFamily="34" charset="0"/>
                <a:ea typeface="Amiri" pitchFamily="34" charset="-122"/>
                <a:cs typeface="Amiri" pitchFamily="34" charset="-120"/>
              </a:rPr>
              <a:t>بِجَانِبِ</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المَدْرَسَةِ.</a:t>
            </a:r>
            <a:endParaRPr lang="ar-SA" sz="2400" dirty="0"/>
          </a:p>
        </p:txBody>
      </p:sp>
      <p:sp>
        <p:nvSpPr>
          <p:cNvPr id="22" name="Text 19"/>
          <p:cNvSpPr txBox="1"/>
          <p:nvPr/>
        </p:nvSpPr>
        <p:spPr>
          <a:xfrm>
            <a:off x="548640" y="2267712"/>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أَيْنَ</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المَكْتَبَةُ؟</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opposite the museum</a:t>
            </a:r>
            <a:endParaRPr lang="en-US" sz="1100" dirty="0"/>
          </a:p>
        </p:txBody>
      </p:sp>
      <p:sp>
        <p:nvSpPr>
          <p:cNvPr id="27" name="Text 24"/>
          <p:cNvSpPr txBox="1"/>
          <p:nvPr/>
        </p:nvSpPr>
        <p:spPr>
          <a:xfrm>
            <a:off x="4206240" y="300471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المَطْعَمُ </a:t>
            </a:r>
            <a:pPr rtl="1" algn="ctr" indent="0" marL="0">
              <a:buNone/>
            </a:pPr>
            <a:r>
              <a:rPr lang="ar-SA" altLang="en-US" sz="2400" b="1" dirty="0">
                <a:solidFill>
                  <a:srgbClr val="1D5FBF"/>
                </a:solidFill>
                <a:latin typeface="Amiri" pitchFamily="34" charset="0"/>
                <a:ea typeface="Amiri" pitchFamily="34" charset="-122"/>
                <a:cs typeface="Amiri" pitchFamily="34" charset="-120"/>
              </a:rPr>
              <a:t>مُقَابِلَ</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المَتْحَفِ.</a:t>
            </a:r>
            <a:endParaRPr lang="ar-SA" sz="2400" dirty="0"/>
          </a:p>
        </p:txBody>
      </p:sp>
      <p:sp>
        <p:nvSpPr>
          <p:cNvPr id="28" name="Text 25"/>
          <p:cNvSpPr txBox="1"/>
          <p:nvPr/>
        </p:nvSpPr>
        <p:spPr>
          <a:xfrm>
            <a:off x="548640" y="300471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أَيْنَ</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المَطْعَمُ؟</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behind the mosque</a:t>
            </a:r>
            <a:endParaRPr lang="en-US" sz="1100" dirty="0"/>
          </a:p>
        </p:txBody>
      </p:sp>
      <p:sp>
        <p:nvSpPr>
          <p:cNvPr id="33" name="Text 30"/>
          <p:cNvSpPr txBox="1"/>
          <p:nvPr/>
        </p:nvSpPr>
        <p:spPr>
          <a:xfrm>
            <a:off x="4206240" y="3741725"/>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الحَدِيقَةُ </a:t>
            </a:r>
            <a:pPr rtl="1" algn="ctr" indent="0" marL="0">
              <a:buNone/>
            </a:pPr>
            <a:r>
              <a:rPr lang="ar-SA" altLang="en-US" sz="2400" b="1" dirty="0">
                <a:solidFill>
                  <a:srgbClr val="1D5FBF"/>
                </a:solidFill>
                <a:latin typeface="Amiri" pitchFamily="34" charset="0"/>
                <a:ea typeface="Amiri" pitchFamily="34" charset="-122"/>
                <a:cs typeface="Amiri" pitchFamily="34" charset="-120"/>
              </a:rPr>
              <a:t>خَلْفَ</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المَسْجِدِ.</a:t>
            </a:r>
            <a:endParaRPr lang="ar-SA" sz="2400" dirty="0"/>
          </a:p>
        </p:txBody>
      </p:sp>
      <p:sp>
        <p:nvSpPr>
          <p:cNvPr id="34" name="Text 31"/>
          <p:cNvSpPr txBox="1"/>
          <p:nvPr/>
        </p:nvSpPr>
        <p:spPr>
          <a:xfrm>
            <a:off x="548640" y="3741725"/>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أَيْنَ</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الحَدِيقَةُ؟</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between the market and the café</a:t>
            </a:r>
            <a:endParaRPr lang="en-US" sz="1100" dirty="0"/>
          </a:p>
        </p:txBody>
      </p:sp>
      <p:sp>
        <p:nvSpPr>
          <p:cNvPr id="39" name="Text 36"/>
          <p:cNvSpPr txBox="1"/>
          <p:nvPr/>
        </p:nvSpPr>
        <p:spPr>
          <a:xfrm>
            <a:off x="4206240" y="4478731"/>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البَنْكُ </a:t>
            </a:r>
            <a:pPr rtl="1" algn="ctr" indent="0" marL="0">
              <a:buNone/>
            </a:pPr>
            <a:r>
              <a:rPr lang="ar-SA" altLang="en-US" sz="2400" b="1" dirty="0">
                <a:solidFill>
                  <a:srgbClr val="1D5FBF"/>
                </a:solidFill>
                <a:latin typeface="Amiri" pitchFamily="34" charset="0"/>
                <a:ea typeface="Amiri" pitchFamily="34" charset="-122"/>
                <a:cs typeface="Amiri" pitchFamily="34" charset="-120"/>
              </a:rPr>
              <a:t>بَيْنَ</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السُّوقِ </a:t>
            </a:r>
            <a:pPr rtl="1" algn="ctr" indent="0" marL="0">
              <a:buNone/>
            </a:pPr>
            <a:r>
              <a:rPr lang="ar-SA" altLang="en-US" sz="2400" b="1" dirty="0">
                <a:solidFill>
                  <a:srgbClr val="1D5FBF"/>
                </a:solidFill>
                <a:latin typeface="Amiri" pitchFamily="34" charset="0"/>
                <a:ea typeface="Amiri" pitchFamily="34" charset="-122"/>
                <a:cs typeface="Amiri" pitchFamily="34" charset="-120"/>
              </a:rPr>
              <a:t>وَ</a:t>
            </a:r>
            <a:pPr rtl="1" algn="ctr" indent="0" marL="0">
              <a:buNone/>
            </a:pPr>
            <a:r>
              <a:rPr lang="ar-SA" altLang="en-US" sz="2400" b="1" dirty="0">
                <a:solidFill>
                  <a:srgbClr val="1B3B6F"/>
                </a:solidFill>
                <a:latin typeface="Amiri" pitchFamily="34" charset="0"/>
                <a:ea typeface="Amiri" pitchFamily="34" charset="-122"/>
                <a:cs typeface="Amiri" pitchFamily="34" charset="-120"/>
              </a:rPr>
              <a:t>المَقْهَى.</a:t>
            </a:r>
            <a:endParaRPr lang="ar-SA" sz="2400" dirty="0"/>
          </a:p>
        </p:txBody>
      </p:sp>
      <p:sp>
        <p:nvSpPr>
          <p:cNvPr id="40" name="Text 37"/>
          <p:cNvSpPr txBox="1"/>
          <p:nvPr/>
        </p:nvSpPr>
        <p:spPr>
          <a:xfrm>
            <a:off x="548640" y="4478731"/>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أَيْنَ</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البَنْكُ؟</a:t>
            </a:r>
            <a:endParaRPr lang="ar-SA" sz="24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the right of the station</a:t>
            </a:r>
            <a:endParaRPr lang="en-US" sz="1100" dirty="0"/>
          </a:p>
        </p:txBody>
      </p:sp>
      <p:sp>
        <p:nvSpPr>
          <p:cNvPr id="45" name="Text 42"/>
          <p:cNvSpPr txBox="1"/>
          <p:nvPr/>
        </p:nvSpPr>
        <p:spPr>
          <a:xfrm>
            <a:off x="4206240" y="521573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عَلَى يَمِينِ المَحَطَّةِ.</a:t>
            </a:r>
            <a:endParaRPr lang="ar-SA" sz="2400" dirty="0"/>
          </a:p>
        </p:txBody>
      </p:sp>
      <p:sp>
        <p:nvSpPr>
          <p:cNvPr id="46" name="Text 43"/>
          <p:cNvSpPr txBox="1"/>
          <p:nvPr/>
        </p:nvSpPr>
        <p:spPr>
          <a:xfrm>
            <a:off x="548640" y="521573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أَيْنَ</a:t>
            </a:r>
            <a:pPr rtl="1" algn="ctr" indent="0" marL="0">
              <a:buNone/>
            </a:pPr>
            <a:r>
              <a:rPr lang="ar-SA" altLang="en-US" sz="2400" b="1" dirty="0">
                <a:solidFill>
                  <a:srgbClr val="1B3B6F"/>
                </a:solidFill>
                <a:latin typeface="Amiri" pitchFamily="34" charset="0"/>
                <a:ea typeface="Amiri" pitchFamily="34" charset="-122"/>
                <a:cs typeface="Amiri" pitchFamily="34" charset="-120"/>
              </a:rPr>
              <a:t> أَقْرَبُ صَيْدَلِيَّةٍ؟</a:t>
            </a:r>
            <a:endParaRPr lang="ar-SA" sz="24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Ask with al- (a place both speakers know). After the position word the reference noun ends in -i: al-madrasati, al-matḥafi.</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NEAR AND FAR AGREE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Near to · far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قَرِيبٌ مِنْ · بَعِيدٌ عَنْ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MASCULINE PLACE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بَعِيدٌ عَنْ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المَطَارُ بَعِيدٌ عَنِ المَرْكَزِ.</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airport is far from the centre.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Airport = m.</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FEMININE PLACE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قَرِيبَةٌ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المَحَطَّةُ قَرِيبَةٌ مِنَ البَيْتِ.</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station is near the house.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Station = f.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THE FIRST PLACE DECIDES</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 مِنَ البَنْكِ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المَحَطَّةُ قَرِيبَةٌ مِنَ البَنْكِ.</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station is near the bank.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Agree with the station, not the bank.</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the station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المَحَطَّةُ قَرِيبَةٌ مِنَ البَيْتِ.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المَحَطَّةُ قَرِيبٌ مِنَ البَيْتِ.</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Asking where and locating places precisely</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بِـ أَيْنَ وَحُرُوفُ المَكَانِ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Ask where a definite place is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أَيْنَ + المَكَانُ؟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أَيْنَ المَحَطَّةُ؟   ·   أَيْنَ أَقْرَبُ صَيْدَلِيَّةٍ؟   ·   أَيْنَ مَرْكَزُ المَدِينَةِ؟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Answer with a place preposition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المَكَانُ + بِجَانِبِ / أَمَامَ / خَلْفَ + الاِسْمِ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المَكْتَبَةُ بِجَانِبِ المَدْرَسَةِ.   ·   المَطْعَمُ مُقَابِلَ المَتْحَفِ.   ·   الحَدِيقَةُ خَلْفَ المَسْجِدِ.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Use </a:t>
            </a:r>
            <a:pPr algn="l" indent="0" marL="0">
              <a:buNone/>
            </a:pPr>
            <a:r>
              <a:rPr lang="ar-SA" altLang="en-US" sz="1650" b="1" dirty="0">
                <a:solidFill>
                  <a:srgbClr val="1B3B6F"/>
                </a:solidFill>
                <a:latin typeface="Amiri" pitchFamily="34" charset="0"/>
                <a:ea typeface="Amiri" pitchFamily="34" charset="-122"/>
                <a:cs typeface="Amiri" pitchFamily="34" charset="-120"/>
              </a:rPr>
              <a:t>بَيْنَ</a:t>
            </a:r>
            <a:pPr algn="l" indent="0" marL="0">
              <a:buNone/>
            </a:pPr>
            <a:r>
              <a:rPr lang="en-US" sz="1250" b="1" dirty="0">
                <a:solidFill>
                  <a:srgbClr val="1B3B6F"/>
                </a:solidFill>
                <a:latin typeface="Calibri" pitchFamily="34" charset="0"/>
                <a:ea typeface="Calibri" pitchFamily="34" charset="-122"/>
                <a:cs typeface="Calibri" pitchFamily="34" charset="-120"/>
              </a:rPr>
              <a:t> with two reference points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بَيْنَ + الاِسْمِ + وَ + الاِسْمِ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البَنْكُ بَيْنَ السُّوقِ وَالمَقْهَى.   ·   المَدْرَسَةُ بَيْنَ الحَدِيقَةِ وَالمَكْتَبَةِ.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Make near and far agree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قَرِيبٌ / قَرِيبَةٌ · بَعِيدٌ / بَعِيدَةٌ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المَطَارُ بَعِيدٌ عَنِ المَرْكَزِ.   ·   المَحَطَّةُ قَرِيبَةٌ مِنَ الفُنْدُقِ.</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“Where is the station?”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المَحَطَّةُ؟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المَحَطَّةُ؟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المَحَطَّةُ؟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“opposite the museum”?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مُقَابِلَ المَتْحَفِ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خَلْفَ المَتْحَفِ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دَاخِلَ المَتْحَفِ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البَنْكُ بَيْنَ السُّوقِ ___ المَقْهَى.</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airport is far from the centre.”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المَطَارُ بَعِيدٌ عَنِ المَرْكَزِ.</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المَطَارُ قَرِيبٌ مِنَ المَرْكَزِ.</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المَطَارُ أَمَامَ المَرْكَزِ.</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“Where is the station?”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المَحَطَّةُ؟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المَحَطَّةُ؟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أَيْنَ المَحَطَّةُ؟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أَيْنَ</a:t>
            </a:r>
            <a:pPr algn="l" indent="0" marL="0">
              <a:buNone/>
            </a:pPr>
            <a:r>
              <a:rPr lang="en-US" sz="1050" i="1" dirty="0">
                <a:solidFill>
                  <a:srgbClr val="8A6D1E"/>
                </a:solidFill>
                <a:latin typeface="Calibri" pitchFamily="34" charset="0"/>
                <a:ea typeface="Calibri" pitchFamily="34" charset="-122"/>
                <a:cs typeface="Calibri" pitchFamily="34" charset="-120"/>
              </a:rPr>
              <a:t> asks where.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“opposite the museum”?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مُقَابِلَ المَتْحَفِ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خَلْفَ المَتْحَفِ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دَاخِلَ المَتْحَفِ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مُقَابِلَ</a:t>
            </a:r>
            <a:pPr algn="l" indent="0" marL="0">
              <a:buNone/>
            </a:pPr>
            <a:r>
              <a:rPr lang="en-US" sz="1050" i="1" dirty="0">
                <a:solidFill>
                  <a:srgbClr val="8A6D1E"/>
                </a:solidFill>
                <a:latin typeface="Calibri" pitchFamily="34" charset="0"/>
                <a:ea typeface="Calibri" pitchFamily="34" charset="-122"/>
                <a:cs typeface="Calibri" pitchFamily="34" charset="-120"/>
              </a:rPr>
              <a:t> means opposite.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البَنْكُ بَيْنَ السُّوقِ ___ المَقْهَى.</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 the two landmarks with </a:t>
            </a:r>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airport is far from the centre.”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المَطَارُ بَعِيدٌ عَنِ المَرْكَزِ.</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المَطَارُ قَرِيبٌ مِنَ المَرْكَزِ.</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المَطَارُ أَمَامَ المَرْكَزِ.</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بَعِيدٌ عَنْ</a:t>
            </a:r>
            <a:pPr algn="l" indent="0" marL="0">
              <a:buNone/>
            </a:pPr>
            <a:r>
              <a:rPr lang="en-US" sz="1050" i="1" dirty="0">
                <a:solidFill>
                  <a:srgbClr val="8A6D1E"/>
                </a:solidFill>
                <a:latin typeface="Calibri" pitchFamily="34" charset="0"/>
                <a:ea typeface="Calibri" pitchFamily="34" charset="-122"/>
                <a:cs typeface="Calibri" pitchFamily="34" charset="-120"/>
              </a:rPr>
              <a:t> means far from.</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a town map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Centre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 وَسَطِ الخَرِيطَةِ تُوجَدُ مَدْرَسَةٌ كَبِيرَةٌ.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Start from the middle.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Around 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المَكْتَبَةُ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بِجَانِبِ</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المَدْرَسَةِ، وَالحَدِيقَةُ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خَلْفَهَا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khalfahā = behind it (the school).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Question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أَيْنَ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السُّوقُ؟ السُّوقُ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بَيْنَ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البَنْكِ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المَقْهَى.</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reference points.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Near / far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المَحَطَّةُ </a:t>
            </a:r>
            <a:pPr rtl="1" algn="ctr" indent="0" marL="0">
              <a:lnSpc>
                <a:spcPct val="120000"/>
              </a:lnSpc>
              <a:buNone/>
            </a:pPr>
            <a:r>
              <a:rPr lang="ar-SA" altLang="en-US" sz="1700" b="1" dirty="0">
                <a:solidFill>
                  <a:srgbClr val="D6336C"/>
                </a:solidFill>
                <a:latin typeface="Amiri" pitchFamily="34" charset="0"/>
                <a:ea typeface="Amiri" pitchFamily="34" charset="-122"/>
                <a:cs typeface="Amiri" pitchFamily="34" charset="-120"/>
              </a:rPr>
              <a:t>قَرِيبَةٌ</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مِنَ المَيْدَانِ، أَمَّا المَطَارُ فَهُوَ </a:t>
            </a:r>
            <a:pPr rtl="1" algn="ctr" indent="0" marL="0">
              <a:lnSpc>
                <a:spcPct val="120000"/>
              </a:lnSpc>
              <a:buNone/>
            </a:pPr>
            <a:r>
              <a:rPr lang="ar-SA" altLang="en-US" sz="1700" b="1" dirty="0">
                <a:solidFill>
                  <a:srgbClr val="D6336C"/>
                </a:solidFill>
                <a:latin typeface="Amiri" pitchFamily="34" charset="0"/>
                <a:ea typeface="Amiri" pitchFamily="34" charset="-122"/>
                <a:cs typeface="Amiri" pitchFamily="34" charset="-120"/>
              </a:rPr>
              <a:t>بَعِيدٌ</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عَنِ المَرْكَزِ.</a:t>
            </a:r>
            <a:endParaRPr lang="ar-SA" sz="1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Station f., airport 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QUESTION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AGREEMENT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وَسَطِ الخَرِيطَةِ تُوجَدُ مَدْرَسَةٌ كَبِيرَةٌ. المَكْتَبَةُ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بِجَانِبِ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المَدْرَسَةِ، وَالحَدِيقَةُ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خَلْفَهَا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أَمَامَ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المَدْرَسَةِ يُوجَدُ مَسْجِدٌ صَغِيرٌ.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السُّوقُ؟ السُّوقُ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البَنْكِ وَالمَقْهَى. المَحَطَّةُ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قَرِيبَةٌ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 المَيْدَانِ، أَمَّا المَطَارُ فَهُوَ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بَعِيدٌ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عَنِ المَرْكَزِ وَخَارِجَ المَدِينَةِ.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the middle of the map there is a big school. The library is next to the school, and the park is behind it. In front of the school there is a small mosque. Where is the market? The market is between the bank and the café. The station is near the square, while the airport is far from the centre and outside the city.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أَيْنَ المَحَطَّةُ؟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Where is the station?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أَيْنَ with a definite place.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المَكْتَبَةُ بِجَانِبِ المَدْرَسَةِ.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library is next to the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reference noun follows the preposition.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البَنْكُ بَيْنَ السُّوقِ وَالمَقْهَى.</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bank is between the market and café.</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بَيْنَ requires two points.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المَحَطَّةُ قَرِيبَةٌ مِنَ البَيْتِ.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station is near the house.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Make the adjective agree with station.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LOCATING PLACES: MAPS, DISTANCE AND POSITION”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هُوَ؟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bank beside hospital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house · school (near)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 · house (far)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المُسْتَشْفَى بَعِيدٌ عَنِ البَيْتِ.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المَصْرِفُ بِجَانِبِ المُسْتَشْفَى.</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البَيْتُ قَرِيبٌ مِنَ المَدْرَسَةِ.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هُوَ؟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bank beside hospital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المَصْرِفُ بِجَانِبِ المُسْتَشْفَى.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bank is next to the hospital.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house · school (near)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البَيْتُ قَرِيبٌ مِنَ المَدْرَسَةِ.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house is near the school.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 · house (far)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المُسْتَشْفَى بَعِيدٌ عَنِ البَيْتِ.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hospital is far from the house.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Near, far or exact 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قَرِيبٌ مِنْ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بَعِيدٌ عَنْ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بِجَانِبِ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مُقَابِلَ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خَلْفَ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وَسَطِ</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خَارِجَ</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قَرِيبٌ · near</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بَعِيدٌ · far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مَوْقِعٌ دَقِيقٌ · exact position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قَرِيبٌ · near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قَرِيبٌ مِنْ</a:t>
            </a:r>
            <a:endParaRPr lang="ar-SA" sz="1800" dirty="0"/>
          </a:p>
        </p:txBody>
      </p:sp>
      <p:sp>
        <p:nvSpPr>
          <p:cNvPr id="20" name="Shape 17"/>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1" name="Shape 18"/>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2" name="Text 19"/>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بَعِيدٌ · far</a:t>
            </a:r>
            <a:endParaRPr lang="en-US" sz="950" dirty="0"/>
          </a:p>
        </p:txBody>
      </p:sp>
      <p:sp>
        <p:nvSpPr>
          <p:cNvPr id="23" name="Shape 20"/>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4" name="Text 21"/>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بَعِيدٌ عَنْ</a:t>
            </a:r>
            <a:endParaRPr lang="ar-SA" sz="1800" dirty="0"/>
          </a:p>
        </p:txBody>
      </p:sp>
      <p:sp>
        <p:nvSpPr>
          <p:cNvPr id="25" name="Shape 2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26" name="Shape 2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27" name="Text 2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مَوْقِعٌ دَقِيقٌ · exact position</a:t>
            </a:r>
            <a:endParaRPr lang="en-US" sz="950" dirty="0"/>
          </a:p>
        </p:txBody>
      </p:sp>
      <p:sp>
        <p:nvSpPr>
          <p:cNvPr id="28" name="Shape 2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29" name="Text 2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بِجَانِبِ</a:t>
            </a:r>
            <a:endParaRPr lang="ar-SA" sz="1800" dirty="0"/>
          </a:p>
        </p:txBody>
      </p:sp>
      <p:sp>
        <p:nvSpPr>
          <p:cNvPr id="30" name="Shape 2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1" name="Text 2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مُقَابِلَ</a:t>
            </a:r>
            <a:endParaRPr lang="ar-SA" sz="1800" dirty="0"/>
          </a:p>
        </p:txBody>
      </p:sp>
      <p:sp>
        <p:nvSpPr>
          <p:cNvPr id="32" name="Shape 2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أَمَامَ</a:t>
            </a:r>
            <a:endParaRPr lang="ar-SA" sz="1800" dirty="0"/>
          </a:p>
        </p:txBody>
      </p:sp>
      <p:sp>
        <p:nvSpPr>
          <p:cNvPr id="34" name="Shape 31"/>
          <p:cNvSpPr/>
          <p:nvPr/>
        </p:nvSpPr>
        <p:spPr>
          <a:xfrm>
            <a:off x="594360" y="3913632"/>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خَلْفَ</a:t>
            </a:r>
            <a:endParaRPr lang="ar-SA" sz="1800" dirty="0"/>
          </a:p>
        </p:txBody>
      </p:sp>
      <p:sp>
        <p:nvSpPr>
          <p:cNvPr id="36" name="Shape 33"/>
          <p:cNvSpPr/>
          <p:nvPr/>
        </p:nvSpPr>
        <p:spPr>
          <a:xfrm>
            <a:off x="594360" y="4425696"/>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4425696"/>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وَسَطِ</a:t>
            </a:r>
            <a:endParaRPr lang="ar-SA" sz="1800" dirty="0"/>
          </a:p>
        </p:txBody>
      </p:sp>
      <p:sp>
        <p:nvSpPr>
          <p:cNvPr id="38" name="Shape 35"/>
          <p:cNvSpPr/>
          <p:nvPr/>
        </p:nvSpPr>
        <p:spPr>
          <a:xfrm>
            <a:off x="594360" y="493776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493776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خَارِجَ</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for the nearest pharmacy?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صَيْدَلِيَّةً؟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الصَيْدَلِيَّةُ؟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أَقْرَبُ صَيْدَلِيَّةٍ؟</a:t>
            </a:r>
            <a:endParaRPr lang="ar-SA" sz="20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for the nearest pharmacy?</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صَيْدَلِيَّةً؟</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الصَيْدَلِيَّةُ؟</a:t>
            </a:r>
            <a:endParaRPr lang="ar-SA" sz="2050" dirty="0"/>
          </a:p>
        </p:txBody>
      </p:sp>
      <p:sp>
        <p:nvSpPr>
          <p:cNvPr id="27" name="Shape 24"/>
          <p:cNvSpPr/>
          <p:nvPr/>
        </p:nvSpPr>
        <p:spPr>
          <a:xfrm>
            <a:off x="548640" y="341071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أَيْنَ أَقْرَبُ صَيْدَلِيَّةٍ؟</a:t>
            </a:r>
            <a:endParaRPr lang="ar-SA" sz="2050" dirty="0"/>
          </a:p>
        </p:txBody>
      </p:sp>
      <p:sp>
        <p:nvSpPr>
          <p:cNvPr id="31"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أَيْنَ أَقْرَبُ</a:t>
            </a:r>
            <a:pPr algn="l" indent="0" marL="0">
              <a:buNone/>
            </a:pPr>
            <a:r>
              <a:rPr lang="en-US" sz="1050" i="1" dirty="0">
                <a:solidFill>
                  <a:srgbClr val="8A6D1E"/>
                </a:solidFill>
                <a:latin typeface="Calibri" pitchFamily="34" charset="0"/>
                <a:ea typeface="Calibri" pitchFamily="34" charset="-122"/>
                <a:cs typeface="Calibri" pitchFamily="34" charset="-120"/>
              </a:rPr>
              <a:t>...</a:t>
            </a:r>
            <a:pPr algn="l" indent="0" marL="0">
              <a:buNone/>
            </a:pPr>
            <a:r>
              <a:rPr lang="ar-SA" altLang="en-US" sz="1350" dirty="0">
                <a:solidFill>
                  <a:srgbClr val="8A6D1E"/>
                </a:solidFill>
                <a:latin typeface="Amiri" pitchFamily="34" charset="0"/>
                <a:ea typeface="Amiri" pitchFamily="34" charset="-122"/>
                <a:cs typeface="Amiri" pitchFamily="34" charset="-120"/>
              </a:rPr>
              <a:t>؟</a:t>
            </a:r>
            <a:pPr algn="l" indent="0" marL="0">
              <a:buNone/>
            </a:pPr>
            <a:r>
              <a:rPr lang="en-US" sz="1050" i="1" dirty="0">
                <a:solidFill>
                  <a:srgbClr val="8A6D1E"/>
                </a:solidFill>
                <a:latin typeface="Calibri" pitchFamily="34" charset="0"/>
                <a:ea typeface="Calibri" pitchFamily="34" charset="-122"/>
                <a:cs typeface="Calibri" pitchFamily="34" charset="-120"/>
              </a:rPr>
              <a:t> asks where the nearest place is.</a:t>
            </a:r>
            <a:endParaRPr lang="en-US" sz="10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المَحَطَّةُ قَرِيبٌ مِنَ البَيْتِ.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Station is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البَنْكُ بَيْنَ السُّوقِ.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Between needs how many places?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أَيْنَ مَحَطَّةٌ؟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Known place: al- or -un?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المَحَطَّةُ قَرِيبٌ مِنَ البَيْتِ.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المَحَطَّةُ قَرِيبَةٌ مِنَ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قَرِيبَةٌ</a:t>
            </a:r>
            <a:pPr algn="l" indent="0" marL="0">
              <a:buNone/>
            </a:pPr>
            <a:r>
              <a:rPr lang="en-US" sz="1150" b="1" dirty="0">
                <a:solidFill>
                  <a:srgbClr val="1B3B6F"/>
                </a:solidFill>
                <a:latin typeface="Calibri" pitchFamily="34" charset="0"/>
                <a:ea typeface="Calibri" pitchFamily="34" charset="-122"/>
                <a:cs typeface="Calibri" pitchFamily="34" charset="-120"/>
              </a:rPr>
              <a:t> agrees with the feminine noun.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البَنْكُ بَيْنَ السُّوقِ.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البَنْكُ بَيْنَ السُّوقِ وَالمَقْهَى.</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بَيْنَ</a:t>
            </a:r>
            <a:pPr algn="l" indent="0" marL="0">
              <a:buNone/>
            </a:pPr>
            <a:r>
              <a:rPr lang="en-US" sz="1150" b="1" dirty="0">
                <a:solidFill>
                  <a:srgbClr val="1B3B6F"/>
                </a:solidFill>
                <a:latin typeface="Calibri" pitchFamily="34" charset="0"/>
                <a:ea typeface="Calibri" pitchFamily="34" charset="-122"/>
                <a:cs typeface="Calibri" pitchFamily="34" charset="-120"/>
              </a:rPr>
              <a:t> needs two reference points.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أَيْنَ مَحَطَّةٌ؟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أَيْنَ المَحَطَّةُ؟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definite place in the question.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Follow the map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to the right of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mosque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front of the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café</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bank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behind the park?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market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café</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bank between?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café and market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 and library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station and restaurant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place is near the restaurant?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mosque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and draw the map.</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Start from the school.</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اِبْدَأْ مِنَ المَدْرَسَةِ. المَكْتَبَةُ عَلَى يَمِينِ المَدْرَسَةِ، وَالمَسْجِدُ عَلَى يَسَارِهَا.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 from the school. The library is to the right of the school, and the mosque to its left.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أَمَامَ المَدْرَسَةِ حَدِيقَةٌ، وَخَلْفَ الحَدِيقَةِ مَقْهًى صَغِيرٌ.</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front of the school there is a park, and behind the park a small café.</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البَنْكُ بَيْنَ المَقْهَى وَالسُّوقِ.</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bank is between the café and the market.</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المَحَطَّةُ بَعِيدَةٌ عَنِ المَدْرَسَةِ، وَلَكِنَّهَا قَرِيبَةٌ مِنَ المَطْعَمِ.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station is far from the school, but it is near the restaurant.</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to the right of the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mosque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park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المَكْتَبَةُ عَلَى يَمِينِ المَدْرَسَةِ.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front of the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café</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bank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park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أَمَامَ المَدْرَسَةِ حَدِيقَةٌ.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behind the park?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market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station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café</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خَلْفَ الحَدِيقَةِ مَقْهًى.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bank between?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café and market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school and library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station and restaurant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البَنْكُ بَيْنَ المَقْهَى وَالسُّوقِ.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place is near the restaurant?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school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station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mosque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المَحَطَّةُ قَرِيبَةٌ مِنَ المَطْعَمِ.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and draw the map.</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Start from the school.</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Map detective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أَقْرَبُ مَحَطَّةٍ؟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مُقَابِلَ المَتْحَفِ؟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المَطَارُ قَرِيبٌ أَمْ بَعِيدٌ؟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مَوْقِعَ المَكْتَبَةِ بِدِقَّةٍ.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المَحَطَّةُ بِجَانِبِ / أَمَامَ / خَلْفَ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مُقَابِلَ المَتْحَفِ يُوجَدُ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المَطَارُ بَعِيدٌ عَنْ / قَرِيبٌ مِنْ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المَكْتَبَةُ غَرْبَ … وَبَيْنَ … وَ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أَيْنَ أَقْرَبُ مَحَطَّةٍ؟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is the nearest station?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المَحَطَّةُ بَيْنَ البَنْكِ وَمَكْتَبِ البَرِيدِ.</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 station is between the bank and the post office.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four basic prepositions with a labelled map.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places on a labelled map with four position words + one question.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eight positions and control near/far agreement.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six location expressions, one where? question, near / far agreement.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Create an unlabelled information-gap map and write a precise guide using cardinal directions.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 information-gap guide with north / south / east / west and ammā … fa-.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المَحَطَّةُ قَرِيبَةٌ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station (f.) is near the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المَطَارُ بَعِيدٌ عَنِ المَرْكَزِ.</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airport (m.) is far from the centre.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مُقَابِلَ المَتْحَفِ يُوجَدُ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Opposite the museum there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يَمِينِ ______ / عَلَى يَسَارِ ______</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 the right of … / to the left of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وَسَطِ الخَرِيطَةِ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middle of the map there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الـ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 is the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المَكْتَبَةُ بِجَانِبِ المَدْرَسَةِ.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library is next to the school.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الحَدِيقَةُ خَلْفَ المَسْجِدِ.</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park is behind the mosque.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المَطْعَمُ أَمَامَ المَتْحَفِ.</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restaurant is in front of the museum.</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البَنْكُ بَيْنَ ______ 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bank is between … and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أَيْنَ  ·  بِجَانِبِ  ·  أَمَامَ  ·  خَلْفَ  ·  بَيْنَ … وَ …  ·  مُقَابِلَ  ·  عَلَى يَمِينِ  ·  عَلَى يَسَارِ  ·  قَرِيبٌ / قَرِيبَةٌ مِنْ  ·  بَعِيدٌ / بَعِيدَةٌ عَنْ  ·  فِي وَسَطِ  ·  خَارِجَ</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Describe a simple town map in 60–80 Arabic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six location expressions.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a:t>
            </a:r>
            <a:pPr algn="l" indent="0" marL="0">
              <a:buNone/>
            </a:pPr>
            <a:r>
              <a:rPr lang="ar-SA" altLang="en-US" sz="1550" dirty="0">
                <a:solidFill>
                  <a:srgbClr val="1F2A37"/>
                </a:solidFill>
                <a:latin typeface="Amiri" pitchFamily="34" charset="0"/>
                <a:ea typeface="Amiri" pitchFamily="34" charset="-122"/>
                <a:cs typeface="Amiri" pitchFamily="34" charset="-120"/>
              </a:rPr>
              <a:t>أَيْنَ؟</a:t>
            </a:r>
            <a:pPr algn="l" indent="0" marL="0">
              <a:buNone/>
            </a:pPr>
            <a:r>
              <a:rPr lang="en-US" sz="1200" dirty="0">
                <a:solidFill>
                  <a:srgbClr val="1F2A37"/>
                </a:solidFill>
                <a:latin typeface="Calibri" pitchFamily="34" charset="0"/>
                <a:ea typeface="Calibri" pitchFamily="34" charset="-122"/>
                <a:cs typeface="Calibri" pitchFamily="34" charset="-120"/>
              </a:rPr>
              <a:t> question and answer.</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قَرِيبٌ / بَعِيدٌ</a:t>
            </a:r>
            <a:pPr algn="l" indent="0" marL="0">
              <a:buNone/>
            </a:pPr>
            <a:r>
              <a:rPr lang="en-US" sz="1200" dirty="0">
                <a:solidFill>
                  <a:srgbClr val="1F2A37"/>
                </a:solidFill>
                <a:latin typeface="Calibri" pitchFamily="34" charset="0"/>
                <a:ea typeface="Calibri" pitchFamily="34" charset="-122"/>
                <a:cs typeface="Calibri" pitchFamily="34" charset="-120"/>
              </a:rPr>
              <a:t> with correct agreement.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Join ideas with </a:t>
            </a:r>
            <a:pPr algn="l" indent="0" marL="0">
              <a:buNone/>
            </a:pPr>
            <a:r>
              <a:rPr lang="ar-SA" altLang="en-US" sz="1550" dirty="0">
                <a:solidFill>
                  <a:srgbClr val="1F2A37"/>
                </a:solidFill>
                <a:latin typeface="Amiri" pitchFamily="34" charset="0"/>
                <a:ea typeface="Amiri" pitchFamily="34" charset="-122"/>
                <a:cs typeface="Amiri" pitchFamily="34" charset="-120"/>
              </a:rPr>
              <a:t>وَ، أَمَّا، وَلٰكِنْ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شَرْقَ المَيْدَانِ · غَرْبَهُ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east of the square · west of 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شَمَالِ المَدِينَةِ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north of the city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المَطَارُ فَهُوَ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the airport, it is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أَقْرَبُ مَحَطَّةٍ إِلَى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nearest station to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زَاوِيَةِ الشَّارِعِ</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the corner of the street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وَسَطِ الخَرِيطَةِ تُوجَدُ مَدْرَسَةٌ كَبِيرَةٌ. المَكْتَبَةُ بِجَانِبِ المَدْرَسَةِ، وَالحَدِيقَةُ خَلْفَهَا. أَمَامَ المَدْرَسَةِ يُوجَدُ مَسْجِدٌ صَغِيرٌ. أَيْنَ السُّوقُ؟ السُّوقُ بَيْنَ البَنْكِ وَالمَقْهَى. المَحَطَّةُ قَرِيبَةٌ مِنَ المَيْدَانِ، أَمَّا المَطَارُ فَهُوَ بَعِيدٌ عَنِ المَرْكَزِ وَخَارِجَ المَدِينَةِ.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middle of the map there is a big school. The library is next to the school, and the park is behind it. In front of the school there is a small mosque. Where is the market? The market is between the bank and the café. The station is near the square, while the airport is far from the centre and outside the city.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next to</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between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where? question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near / far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four position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where? question uses al-.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Between has two reference points.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Near / far agree with the first place.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compass directions.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asks “where”?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“opposite”?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مُقَابِلَ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دَاخِلَ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“outside the city”?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خَارِجَ المَدِينَةِ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دَاخِلَ المَدِينَةِ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وَسَطِ المَدِينَةِ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asks “where”?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مَتَى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أَيْنَ</a:t>
            </a:r>
            <a:pPr algn="l" indent="0" marL="0">
              <a:buNone/>
            </a:pPr>
            <a:r>
              <a:rPr lang="en-US" sz="1050" i="1" dirty="0">
                <a:solidFill>
                  <a:srgbClr val="8A6D1E"/>
                </a:solidFill>
                <a:latin typeface="Calibri" pitchFamily="34" charset="0"/>
                <a:ea typeface="Calibri" pitchFamily="34" charset="-122"/>
                <a:cs typeface="Calibri" pitchFamily="34" charset="-120"/>
              </a:rPr>
              <a:t> asks where.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“opposite”?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خَلْفَ</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مُقَابِلَ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دَاخِلَ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مُقَابِلَ</a:t>
            </a:r>
            <a:pPr algn="l" indent="0" marL="0">
              <a:buNone/>
            </a:pPr>
            <a:r>
              <a:rPr lang="en-US" sz="1050" i="1" dirty="0">
                <a:solidFill>
                  <a:srgbClr val="8A6D1E"/>
                </a:solidFill>
                <a:latin typeface="Calibri" pitchFamily="34" charset="0"/>
                <a:ea typeface="Calibri" pitchFamily="34" charset="-122"/>
                <a:cs typeface="Calibri" pitchFamily="34" charset="-120"/>
              </a:rPr>
              <a:t> means opposite.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“outside the city”?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خَارِجَ المَدِينَةِ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دَاخِلَ المَدِينَةِ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وَسَطِ المَدِينَةِ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خَارِجَ</a:t>
            </a:r>
            <a:pPr algn="l" indent="0" marL="0">
              <a:buNone/>
            </a:pPr>
            <a:r>
              <a:rPr lang="en-US" sz="1050" i="1" dirty="0">
                <a:solidFill>
                  <a:srgbClr val="8A6D1E"/>
                </a:solidFill>
                <a:latin typeface="Calibri" pitchFamily="34" charset="0"/>
                <a:ea typeface="Calibri" pitchFamily="34" charset="-122"/>
                <a:cs typeface="Calibri" pitchFamily="34" charset="-120"/>
              </a:rPr>
              <a:t> means outside.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town map in words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وَسَطِ الخَرِيطَةِ مَيْدَانٌ كَبِيرٌ. شَرْقَ المَيْدَانِ يُوجَدُ مَتْحَفٌ، وَغَرْبَهُ تُوجَدُ مَكْتَبَةٌ. المَسْرَحُ مُقَابِلَ المَتْحَفِ. فِي شَمَالِ المَدِينَةِ تُوجَدُ الجَامِعَةُ، أَمَّا المَطَارُ فَهُوَ خَارِجَ المَدِينَةِ. أَقْرَبُ مَحَطَّةٍ إِلَى المَيْدَانِ بَيْنَ البَنْكِ وَمَكْتَبِ البَرِيدِ.</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وَسَطِ</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the middle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مَيْدَانٌ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square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east of</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غَرْبَهُ</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west of it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المَسْرَحُ</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theatre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مُقَابِلَ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opposite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شَمَالِ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the north of</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 … فَهُوَ</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for …, it is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خَارِجَ</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outside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أَقْرَبُ مَحَطَّةٍ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nearest station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the middle of the map?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museum</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 square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east of the square?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theatre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museum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opposite the museum?</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theatre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bank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university?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south</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north</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outside the city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airport?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outside the city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between the bank and post office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west of the square</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nearest station?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the museum</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university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between the bank and post office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the middle of the map?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museum</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large square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وَسَطِ الخَرِيطَةِ مَيْدَانٌ.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east of the square?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library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theatre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museum</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شَرْقَ المَيْدَانِ يُوجَدُ مَتْحَفٌ.</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opposite the museum?</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theatre</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library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bank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المَسْرَحُ مُقَابِلَ المَتْحَفِ.</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university?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south</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north</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outside the city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شَمَالِ المَدِينَةِ.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airport?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outside the city</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between the bank and post office</a:t>
            </a:r>
            <a:endParaRPr lang="en-US" sz="11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west of the square</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المَطَارُ خَارِجَ المَدِينَةِ.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nearest station?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the museum</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 the university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between the bank and post office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a:t>
            </a:r>
            <a:pPr algn="l" indent="0" marL="0">
              <a:buNone/>
            </a:pPr>
            <a:r>
              <a:rPr lang="ar-SA" altLang="en-US" sz="1350" dirty="0">
                <a:solidFill>
                  <a:srgbClr val="8A6D1E"/>
                </a:solidFill>
                <a:latin typeface="Amiri" pitchFamily="34" charset="0"/>
                <a:ea typeface="Amiri" pitchFamily="34" charset="-122"/>
                <a:cs typeface="Amiri" pitchFamily="34" charset="-120"/>
              </a:rPr>
              <a:t>بَيْنَ البَنْكِ وَمَكْتَبِ البَرِيدِ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F6-L02 · Maps and Position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F6-L03 · Transport: Types and How We Travel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حَافِلَةٌ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bus</a:t>
            </a:r>
            <a:pPr indent="0" marL="0">
              <a:buNone/>
            </a:pPr>
            <a:r>
              <a:rPr lang="en-US" sz="1000" i="1" dirty="0">
                <a:solidFill>
                  <a:srgbClr val="5A6472"/>
                </a:solidFill>
                <a:latin typeface="Calibri" pitchFamily="34" charset="0"/>
                <a:ea typeface="Calibri" pitchFamily="34" charset="-122"/>
                <a:cs typeface="Calibri" pitchFamily="34" charset="-120"/>
              </a:rPr>
              <a:t>  pl. حَافِلَاتٌ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قِطَارٌ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train</a:t>
            </a:r>
            <a:pPr indent="0" marL="0">
              <a:buNone/>
            </a:pPr>
            <a:r>
              <a:rPr lang="en-US" sz="1000" i="1" dirty="0">
                <a:solidFill>
                  <a:srgbClr val="5A6472"/>
                </a:solidFill>
                <a:latin typeface="Calibri" pitchFamily="34" charset="0"/>
                <a:ea typeface="Calibri" pitchFamily="34" charset="-122"/>
                <a:cs typeface="Calibri" pitchFamily="34" charset="-120"/>
              </a:rPr>
              <a:t>  pl. قِطَارَاتٌ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سَيَّارَةٌ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car</a:t>
            </a:r>
            <a:pPr indent="0" marL="0">
              <a:buNone/>
            </a:pPr>
            <a:r>
              <a:rPr lang="en-US" sz="1000" i="1" dirty="0">
                <a:solidFill>
                  <a:srgbClr val="5A6472"/>
                </a:solidFill>
                <a:latin typeface="Calibri" pitchFamily="34" charset="0"/>
                <a:ea typeface="Calibri" pitchFamily="34" charset="-122"/>
                <a:cs typeface="Calibri" pitchFamily="34" charset="-120"/>
              </a:rPr>
              <a:t>  pl. سَيَّارَاتٌ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دَرَّاجَةٌ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bicycle</a:t>
            </a:r>
            <a:pPr indent="0" marL="0">
              <a:buNone/>
            </a:pPr>
            <a:r>
              <a:rPr lang="en-US" sz="1000" i="1" dirty="0">
                <a:solidFill>
                  <a:srgbClr val="5A6472"/>
                </a:solidFill>
                <a:latin typeface="Calibri" pitchFamily="34" charset="0"/>
                <a:ea typeface="Calibri" pitchFamily="34" charset="-122"/>
                <a:cs typeface="Calibri" pitchFamily="34" charset="-120"/>
              </a:rPr>
              <a:t>  pl. دَرَّاجَاتٌ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مَشْيًا عَلَى الأَقْدَامِ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on foot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do you usually travel to school?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أَذْهَبُ إِلَى المَدْرَسَةِ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F6-L02: the vocabulary tab and the “Near, far or exact position?”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describe a simple town map in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Make an unlabelled information-gap map and write a precise guide with compass directions.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F6-L03 · Transport: Types and How We Travel</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المُوَاصَلَاتُ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أَيْنَ</a:t>
            </a:r>
            <a:pPr algn="l" indent="0" marL="0">
              <a:buNone/>
            </a:pPr>
            <a:r>
              <a:rPr lang="en-US" sz="1300" b="1" dirty="0">
                <a:solidFill>
                  <a:srgbClr val="FFFFFF"/>
                </a:solidFill>
                <a:latin typeface="Calibri" pitchFamily="34" charset="0"/>
                <a:ea typeface="Calibri" pitchFamily="34" charset="-122"/>
                <a:cs typeface="Calibri" pitchFamily="34" charset="-120"/>
              </a:rPr>
              <a:t> + al- place? · position word + reference noun (-i) · near / far agree with the first place.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F6-L02 · Locating Places: Maps, Distance and Position</dc:title>
  <dc:subject>PptxGenJS Presentation</dc:subject>
  <dc:creator>Al Madina Online School · Arabic Department</dc:creator>
  <cp:lastModifiedBy>Al Madina Online School · Arabic Department</cp:lastModifiedBy>
  <cp:revision>1</cp:revision>
  <dcterms:created xsi:type="dcterms:W3CDTF">2026-09-27T22:02:12Z</dcterms:created>
  <dcterms:modified xsi:type="dcterms:W3CDTF">2026-09-27T22:02:12Z</dcterms:modified>
</cp:coreProperties>
</file>