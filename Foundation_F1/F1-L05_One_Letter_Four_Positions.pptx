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5 (F1-L05). The website lesson teaches the four connector forms (isolated, initial, medial, final), transfer across body families, the two visible patterns of the six non-connectors, and word X-rays of كَتَبَ، بَاب، بَيْت. The retrieval check, form charts, think-aloud, games (Form Finder, Connection Architect, Word X-Ray) and the ten-item final check are the website’s. (The website’s visual game for this lesson repeats the F1-L01 letters, so it is not used.)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trace the joins — start with ب ت ث, using coloured connection lines. DEVELOP: predict the form by checking both neighbours. STRETCH: explain the difference between WORD POSITION and VISIBLE FORM after a breaker.
• Key message (website): the body and dots are the letter’s identity; the joining strokes only show connection — they do not make a new letter.
• Heritage / Urdu readers: Urdu script joins the same way (Urdu nastaʿlīq looks different, but the rules are the same) — ask them to annotate authentic words (website Heritage route).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1–4 are the website “F1-L04 readiness check” (3–4 → continue; 0–2 → repair the final letters and breaker rule). Question 5 tests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letter keeps its body and dots — only its joining lines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F1-L05 outcomes.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منفصل (separate), اول (first), وسط (middle), آخر (last) — the four position names use words students may already know from Urdu. باب in Urdu means a chapter; in Arabic a door (and also a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FORMS (website Part 1). The base letter remains bāʾ; only the joining strokes and tail change.
Arabic runs right to left: “initial” = the first/rightmost letter in a connected run; “final” = the last/leftmost (website).
Identity stays stable: look for the body and dots first — the horizontal strokes show connection; they do not create a new letter.
Gesture: two hands = two neighbours. Initial holds hands only to the left; medial both; final only to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POSITION IS NOT ENOUGH (website): a letter in the middle of a word may look initial or isolated after a non-connector. Always ask the four questions. Think-aloud model (website): “I inspect the pair on the right, then the pair on the left. I do not choose a form from the letter’s numerical position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FAMILY TRANSFER (website Part 2): the body transformation transfers across related letters; dots remain the identity check.
Website routes: Core — trace one body family in four columns; add dots only after the body is correct. Develop — cover one column and rebuild it from the connection rule. Stretch — explain which details are identity clues and which are joining strokes.
Note: in the initial and medial forms ب ت ث lose their “bowl” and become a small “tooth” — the dots are the only clue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NON-CONNECTORS (website Part 3): the labels still describe context, but each breaker has only two visibly different patterns: isolated and initial share the unjoined form; medial and final share the form joined from the right.
The break is after the letter: alif may receive a join from its right, but the following bāʾ on its left cannot join back to it.
Shape label vs word position (website): in كِتَاب the final bāʾ is at the end of the word but looks ISOLATED because alif breaks the connection before it — it is not an initial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final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 WORD X-RAY (4 min), website Part 4. Think aloud for each word, right to left:
“كَتَبَ: kāf has no neighbour on its right → initial. tāʾ has kāf on its right (a connector) and bāʾ on its left → medial. bāʾ has tāʾ on its right, nothing on its left → final.”
“بَابٌ: bāʾ initial; alif receives the join but cannot pass it on; so the last bāʾ is at the END of the word but looks ISOLATED.”
Students copy the three words, then split each into its letters with the form names underneath (website homework).
Colour code (website): green = connection continues, coral = connection stops — mark the boundary between every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FORMATION PRACTICE (website): select connector letters and copy each row across four labelled columns using a verified model. Model each row on the pen tablet, saying “start · middle · end”, then students copy into four labelled columns. ʿayn and hāʾ change the most — point out the medial ـعـ and ـهـ shapes.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“Form Finder” (classify visible connector forms before working inside full words). Teacher-made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which letter is it? (sīn, ʿayn, mīm, qāf, hāʾ) — identity first, then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Architect” (predict whether a letter can continue a join to the following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“Connection Architect” (predict whether a letter can continue a join to the following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“Word X-Ray” (identify the visible form of the named connector inside a real word). Q4 is teacher-made; the others are website final-check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Show each word with green (joined) and coral (break) boundaries on the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WRITING (7 min) = the website formation practice, homework and Heritage extension, split by route. LIVE FEEDBACK after 3 minutes: check the teeth of ب ت ث in initial/medial forms and dot 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وَ«بَابٌ»؟ (And “bāb”?)
B: بَاءٌ، أَلِفٌ، بَاءٌ. الأَلِفُ لَا تَتَّصِلُ بِمَا بَعْدَهَا. (bāʾ, alif, bāʾ. Alif does not join the next letter.)
EXPLAIN A WORD (teacher-made speaking task): A shows a word from the lesson; B names each letter and says where the joins stop. Prompts: What is this letter? · Initial, medial or final? · Where is the break? · Analyse “madrasa”. (تَاءٌ مَرْبُوطَةٌ ة is previewed only — taught in F1-L06.)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mix-ups based on the website explanations. Students correct in green 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(F1-L06 · Small Marks, Big Changes) will spend class time USING this language, so students prepare it tonight — short, simple, easy to access (school guidance: “Simple, Short, Interesting, Relevant, Easy to access”). Next lesson: the small marks that change a word’s sound (shadda, tanwīn, madda) and hamza. Look at the five marks above.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F1  ·  F1-L05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F1-L05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One Letter, Four Positions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أَشْكَالُ الحُرُوفِ فِي الكَلِمَةِ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See how a letter keeps its identity but changes its joining strokes at the start, middle and end of a word — and how the six breakers change the shape of the word around them.</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F1-L05 · Foundation F1 · Arabic Script &amp; Sounds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F1 › F1-L05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Four forms, family patterns, the six breakers.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Form finder, connection architect, word X-ray.</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F1-L06.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alphabet letter?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ء</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set is </a:t>
            </a:r>
            <a:pPr algn="l" indent="0" marL="0">
              <a:buNone/>
            </a:pPr>
            <a:r>
              <a:rPr lang="ar-SA" altLang="en-US" sz="1650" b="1" dirty="0">
                <a:solidFill>
                  <a:srgbClr val="1B3B6F"/>
                </a:solidFill>
                <a:latin typeface="Amiri" pitchFamily="2" charset="-78"/>
                <a:ea typeface="Amiri" pitchFamily="2" charset="-78"/>
                <a:cs typeface="Amiri" pitchFamily="2" charset="-78"/>
              </a:rPr>
              <a:t>ا د ذ ر ز 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Connection breakers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sun letters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vowels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sukūn show?</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 silent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following short vowel</a:t>
            </a:r>
            <a:endParaRPr lang="en-US" sz="1250" dirty="0"/>
          </a:p>
        </p:txBody>
      </p:sp>
      <p:sp>
        <p:nvSpPr>
          <p:cNvPr id="51" name="Shape 4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85216" y="4288536"/>
            <a:ext cx="310896" cy="310896"/>
          </a:xfrm>
          <a:prstGeom prst="ellipse">
            <a:avLst/>
          </a:prstGeom>
          <a:solidFill>
            <a:srgbClr val="1B3B6F"/>
          </a:solidFill>
          <a:ln w="12700">
            <a:solidFill>
              <a:srgbClr val="1B3B6F"/>
            </a:solidFill>
            <a:prstDash val="solid"/>
          </a:ln>
        </p:spPr>
      </p:sp>
      <p:sp>
        <p:nvSpPr>
          <p:cNvPr id="53" name="Text 5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4" name="Text 5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ي</a:t>
            </a:r>
            <a:pPr algn="l" indent="0" marL="0">
              <a:buNone/>
            </a:pPr>
            <a:r>
              <a:rPr lang="en-US" sz="1250" b="1" dirty="0">
                <a:solidFill>
                  <a:srgbClr val="1B3B6F"/>
                </a:solidFill>
                <a:latin typeface="Calibri" pitchFamily="34" charset="0"/>
                <a:cs typeface="Amiri" pitchFamily="2" charset="-78"/>
              </a:rPr>
              <a:t> a connector?</a:t>
            </a:r>
            <a:endParaRPr lang="en-US" sz="1250" dirty="0"/>
          </a:p>
        </p:txBody>
      </p:sp>
      <p:sp>
        <p:nvSpPr>
          <p:cNvPr id="55" name="Shape 52"/>
          <p:cNvSpPr/>
          <p:nvPr/>
        </p:nvSpPr>
        <p:spPr>
          <a:xfrm>
            <a:off x="640080" y="48737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7" name="Text 54"/>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a:t>
            </a:r>
            <a:endParaRPr lang="en-US" sz="1250" dirty="0"/>
          </a:p>
        </p:txBody>
      </p:sp>
      <p:sp>
        <p:nvSpPr>
          <p:cNvPr id="58" name="Shape 55"/>
          <p:cNvSpPr/>
          <p:nvPr/>
        </p:nvSpPr>
        <p:spPr>
          <a:xfrm>
            <a:off x="640080" y="53309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0" name="Text 57"/>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a:t>
            </a:r>
            <a:endParaRPr lang="en-US" sz="1250" dirty="0"/>
          </a:p>
        </p:txBody>
      </p:sp>
      <p:sp>
        <p:nvSpPr>
          <p:cNvPr id="61" name="Shape 5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404360"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64" name="Text 6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65" name="Shape 62"/>
          <p:cNvSpPr/>
          <p:nvPr/>
        </p:nvSpPr>
        <p:spPr>
          <a:xfrm>
            <a:off x="4459224" y="48737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kataba</a:t>
            </a:r>
            <a:endParaRPr lang="en-US" sz="1250" dirty="0"/>
          </a:p>
        </p:txBody>
      </p:sp>
      <p:sp>
        <p:nvSpPr>
          <p:cNvPr id="68" name="Shape 65"/>
          <p:cNvSpPr/>
          <p:nvPr/>
        </p:nvSpPr>
        <p:spPr>
          <a:xfrm>
            <a:off x="4459224" y="53309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kutiba</a:t>
            </a:r>
            <a:endParaRPr lang="en-US" sz="1250" dirty="0"/>
          </a:p>
        </p:txBody>
      </p:sp>
      <p:sp>
        <p:nvSpPr>
          <p:cNvPr id="71" name="Shape 68"/>
          <p:cNvSpPr/>
          <p:nvPr/>
        </p:nvSpPr>
        <p:spPr>
          <a:xfrm>
            <a:off x="4459224" y="57881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katab</a:t>
            </a:r>
            <a:endParaRPr lang="en-US" sz="1250" dirty="0"/>
          </a:p>
        </p:txBody>
      </p:sp>
      <p:sp>
        <p:nvSpPr>
          <p:cNvPr id="74" name="Shape 71"/>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75" name="Text 72"/>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76" name="Text 73"/>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77" name="Text 74"/>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78" name="Text 75"/>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final alphabet letter?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ء</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F1-L04: yāʾ is letter 28.</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set is </a:t>
            </a:r>
            <a:pPr algn="l" indent="0" marL="0">
              <a:buNone/>
            </a:pPr>
            <a:r>
              <a:rPr lang="ar-SA" altLang="en-US" sz="1650" b="1" dirty="0">
                <a:solidFill>
                  <a:srgbClr val="1B3B6F"/>
                </a:solidFill>
                <a:latin typeface="Amiri" pitchFamily="2" charset="-78"/>
                <a:ea typeface="Amiri" pitchFamily="2" charset="-78"/>
                <a:cs typeface="Amiri" pitchFamily="2" charset="-78"/>
              </a:rPr>
              <a:t>ا د ذ ر ز و</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Connection breakers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sun letters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vowels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six breakers.</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sukūn show?</a:t>
            </a:r>
            <a:endParaRPr lang="en-US" sz="1250" dirty="0"/>
          </a:p>
        </p:txBody>
      </p:sp>
      <p:sp>
        <p:nvSpPr>
          <p:cNvPr id="49" name="Shape 46"/>
          <p:cNvSpPr/>
          <p:nvPr/>
        </p:nvSpPr>
        <p:spPr>
          <a:xfrm>
            <a:off x="8278368" y="2532888"/>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 silent</a:t>
            </a:r>
            <a:endParaRPr lang="en-US" sz="1250" dirty="0"/>
          </a:p>
        </p:txBody>
      </p:sp>
      <p:sp>
        <p:nvSpPr>
          <p:cNvPr id="52" name="Shape 49"/>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990088"/>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No following short vowel</a:t>
            </a:r>
            <a:endParaRPr lang="en-US" sz="1250" dirty="0"/>
          </a:p>
        </p:txBody>
      </p:sp>
      <p:sp>
        <p:nvSpPr>
          <p:cNvPr id="56" name="Text 53"/>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consonant is said; no vowel follows.</a:t>
            </a:r>
            <a:endParaRPr lang="en-US" sz="1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ي</a:t>
            </a:r>
            <a:pPr algn="l" indent="0" marL="0">
              <a:buNone/>
            </a:pPr>
            <a:r>
              <a:rPr lang="en-US" sz="1250" b="1" dirty="0">
                <a:solidFill>
                  <a:srgbClr val="1B3B6F"/>
                </a:solidFill>
                <a:latin typeface="Calibri" pitchFamily="34" charset="0"/>
                <a:cs typeface="Amiri" pitchFamily="2" charset="-78"/>
              </a:rPr>
              <a:t> a connector?</a:t>
            </a:r>
            <a:endParaRPr lang="en-US" sz="1250" dirty="0"/>
          </a:p>
        </p:txBody>
      </p:sp>
      <p:sp>
        <p:nvSpPr>
          <p:cNvPr id="61" name="Shape 58"/>
          <p:cNvSpPr/>
          <p:nvPr/>
        </p:nvSpPr>
        <p:spPr>
          <a:xfrm>
            <a:off x="640080" y="4873752"/>
            <a:ext cx="256032" cy="256032"/>
          </a:xfrm>
          <a:prstGeom prst="ellipse">
            <a:avLst/>
          </a:prstGeom>
          <a:solidFill>
            <a:srgbClr val="C9CED6"/>
          </a:solidFill>
          <a:ln w="12700">
            <a:solidFill>
              <a:srgbClr val="C9CED6"/>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a:t>
            </a:r>
            <a:endParaRPr lang="en-US" sz="1250" dirty="0"/>
          </a:p>
        </p:txBody>
      </p:sp>
      <p:sp>
        <p:nvSpPr>
          <p:cNvPr id="64" name="Shape 61"/>
          <p:cNvSpPr/>
          <p:nvPr/>
        </p:nvSpPr>
        <p:spPr>
          <a:xfrm>
            <a:off x="548640" y="5294376"/>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5330952"/>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Yes</a:t>
            </a:r>
            <a:endParaRPr lang="en-US" sz="1250" dirty="0"/>
          </a:p>
        </p:txBody>
      </p:sp>
      <p:sp>
        <p:nvSpPr>
          <p:cNvPr id="68" name="Text 6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yāʾ can join on both sides.</a:t>
            </a:r>
            <a:endParaRPr lang="en-US" sz="1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Read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 (prepared at home).</a:t>
            </a:r>
            <a:endParaRPr lang="en-US" sz="1250" dirty="0"/>
          </a:p>
        </p:txBody>
      </p:sp>
      <p:sp>
        <p:nvSpPr>
          <p:cNvPr id="73" name="Shape 7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4459224" y="4831080"/>
            <a:ext cx="256032" cy="256032"/>
          </a:xfrm>
          <a:prstGeom prst="ellipse">
            <a:avLst/>
          </a:prstGeom>
          <a:solidFill>
            <a:srgbClr val="2E8B57"/>
          </a:solidFill>
          <a:ln w="12700">
            <a:solidFill>
              <a:srgbClr val="2E8B57"/>
            </a:solidFill>
            <a:prstDash val="solid"/>
          </a:ln>
        </p:spPr>
      </p:sp>
      <p:sp>
        <p:nvSpPr>
          <p:cNvPr id="75" name="Text 7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kataba</a:t>
            </a:r>
            <a:endParaRPr lang="en-US" sz="1250" dirty="0"/>
          </a:p>
        </p:txBody>
      </p:sp>
      <p:sp>
        <p:nvSpPr>
          <p:cNvPr id="77" name="Shape 74"/>
          <p:cNvSpPr/>
          <p:nvPr/>
        </p:nvSpPr>
        <p:spPr>
          <a:xfrm>
            <a:off x="4459224" y="5202936"/>
            <a:ext cx="256032" cy="256032"/>
          </a:xfrm>
          <a:prstGeom prst="ellipse">
            <a:avLst/>
          </a:prstGeom>
          <a:solidFill>
            <a:srgbClr val="C9CED6"/>
          </a:solidFill>
          <a:ln w="12700">
            <a:solidFill>
              <a:srgbClr val="C9CED6"/>
            </a:solidFill>
            <a:prstDash val="solid"/>
          </a:ln>
        </p:spPr>
      </p:sp>
      <p:sp>
        <p:nvSpPr>
          <p:cNvPr id="78" name="Text 7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kutiba</a:t>
            </a:r>
            <a:endParaRPr lang="en-US" sz="1250" dirty="0"/>
          </a:p>
        </p:txBody>
      </p:sp>
      <p:sp>
        <p:nvSpPr>
          <p:cNvPr id="80" name="Shape 77"/>
          <p:cNvSpPr/>
          <p:nvPr/>
        </p:nvSpPr>
        <p:spPr>
          <a:xfrm>
            <a:off x="4459224" y="5574792"/>
            <a:ext cx="256032" cy="256032"/>
          </a:xfrm>
          <a:prstGeom prst="ellipse">
            <a:avLst/>
          </a:prstGeom>
          <a:solidFill>
            <a:srgbClr val="C9CED6"/>
          </a:solidFill>
          <a:ln w="12700">
            <a:solidFill>
              <a:srgbClr val="C9CED6"/>
            </a:solidFill>
            <a:prstDash val="solid"/>
          </a:ln>
        </p:spPr>
      </p:sp>
      <p:sp>
        <p:nvSpPr>
          <p:cNvPr id="81" name="Text 7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katab</a:t>
            </a:r>
            <a:endParaRPr lang="en-US" sz="1250" dirty="0"/>
          </a:p>
        </p:txBody>
      </p:sp>
      <p:sp>
        <p:nvSpPr>
          <p:cNvPr id="83" name="Text 8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Three fatḥas: ka-ta-ba — he wrote.</a:t>
            </a:r>
            <a:endParaRPr lang="en-US" sz="1050" dirty="0"/>
          </a:p>
        </p:txBody>
      </p:sp>
      <p:sp>
        <p:nvSpPr>
          <p:cNvPr id="84" name="Shape 81"/>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86" name="Text 83"/>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letter keeps its body and dots — only its joining lines change.</a:t>
            </a:r>
            <a:endParaRPr lang="en-US" sz="1300" dirty="0"/>
          </a:p>
        </p:txBody>
      </p:sp>
      <p:sp>
        <p:nvSpPr>
          <p:cNvPr id="87" name="Text 84"/>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   بـ   ـبـ   ـب</a:t>
            </a:r>
            <a:endParaRPr lang="ar-SA" sz="24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four connector forms.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neighbours to predict a letter’s form.</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the two visible patterns of the six breakers.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Take apart and rebuild </a:t>
            </a:r>
            <a:pPr algn="l" indent="0" marL="0">
              <a:buNone/>
            </a:pPr>
            <a:r>
              <a:rPr lang="ar-SA" altLang="en-US" sz="1700" dirty="0">
                <a:solidFill>
                  <a:srgbClr val="1F2A37"/>
                </a:solidFill>
                <a:latin typeface="Amiri" pitchFamily="2" charset="-78"/>
                <a:ea typeface="Amiri" pitchFamily="2" charset="-78"/>
                <a:cs typeface="Amiri" pitchFamily="2" charset="-78"/>
              </a:rPr>
              <a:t>كَتَبَ، بَاب، بَيْت</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isolated, initial, medial and final.</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trace </a:t>
            </a:r>
            <a:pPr algn="l" indent="0" marL="0">
              <a:buNone/>
            </a:pPr>
            <a:r>
              <a:rPr lang="ar-SA" altLang="en-US" sz="1700" b="1" dirty="0">
                <a:solidFill>
                  <a:srgbClr val="2E8B57"/>
                </a:solidFill>
                <a:latin typeface="Amiri" pitchFamily="2" charset="-78"/>
                <a:ea typeface="Amiri" pitchFamily="2" charset="-78"/>
                <a:cs typeface="Amiri" pitchFamily="2" charset="-78"/>
              </a:rPr>
              <a:t>ب ت ث</a:t>
            </a:r>
            <a:pPr algn="l" indent="0" marL="0">
              <a:buNone/>
            </a:pPr>
            <a:r>
              <a:rPr lang="en-US" sz="1300" b="1" dirty="0">
                <a:solidFill>
                  <a:srgbClr val="2E8B57"/>
                </a:solidFill>
                <a:latin typeface="Calibri" pitchFamily="34" charset="0"/>
                <a:cs typeface="Amiri" pitchFamily="2" charset="-78"/>
              </a:rPr>
              <a:t> in all four forms.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predict a form by checking both neighbours.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find the breaks in a word.</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word position vs visible form.</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annotate a new word letter by letter.</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 form names and 3 model words. No new letters today — the same 28 letters, joined up!</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FORMS</a:t>
            </a:r>
            <a:endParaRPr lang="en-US" sz="900" dirty="0"/>
          </a:p>
          <a:p>
            <a:pPr indent="0" marL="0">
              <a:buNone/>
            </a:pPr>
            <a:r>
              <a:rPr lang="en-US" sz="1200" b="1" dirty="0">
                <a:solidFill>
                  <a:srgbClr val="FFFFFF"/>
                </a:solidFill>
                <a:latin typeface="Calibri" pitchFamily="34" charset="0"/>
                <a:cs typeface="Amiri" pitchFamily="2" charset="-78"/>
              </a:rPr>
              <a:t>Four positions · 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RULE</a:t>
            </a:r>
            <a:endParaRPr lang="en-US" sz="900" dirty="0"/>
          </a:p>
          <a:p>
            <a:pPr indent="0" marL="0">
              <a:buNone/>
            </a:pPr>
            <a:r>
              <a:rPr lang="en-US" sz="1200" b="1" dirty="0">
                <a:solidFill>
                  <a:srgbClr val="FFFFFF"/>
                </a:solidFill>
                <a:latin typeface="Calibri" pitchFamily="34" charset="0"/>
                <a:cs typeface="Amiri" pitchFamily="2" charset="-78"/>
              </a:rPr>
              <a:t>Six breakers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WORDS</a:t>
            </a:r>
            <a:endParaRPr lang="en-US" sz="900" dirty="0"/>
          </a:p>
          <a:p>
            <a:pPr indent="0" marL="0">
              <a:buNone/>
            </a:pPr>
            <a:r>
              <a:rPr lang="en-US" sz="1200" b="1" dirty="0">
                <a:solidFill>
                  <a:srgbClr val="FFFFFF"/>
                </a:solidFill>
                <a:latin typeface="Calibri" pitchFamily="34" charset="0"/>
                <a:cs typeface="Amiri" pitchFamily="2" charset="-78"/>
              </a:rPr>
              <a:t>X-ray · 3</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مُنْفَصِلٌ</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‎منفصل‎ </a:t>
            </a:r>
            <a:pPr indent="0" marL="0">
              <a:buNone/>
            </a:pPr>
            <a:r>
              <a:rPr lang="en-US" sz="950" b="1" dirty="0">
                <a:solidFill>
                  <a:srgbClr val="2E8B57"/>
                </a:solidFill>
                <a:latin typeface="Calibri" pitchFamily="34" charset="0"/>
                <a:cs typeface="Amiri" pitchFamily="2" charset="-78"/>
              </a:rPr>
              <a:t> munfasil · separate → isolated</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أَوَّلُ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‎اول‎ </a:t>
            </a:r>
            <a:pPr indent="0" marL="0">
              <a:buNone/>
            </a:pPr>
            <a:r>
              <a:rPr lang="en-US" sz="950" b="1" dirty="0">
                <a:solidFill>
                  <a:srgbClr val="2E8B57"/>
                </a:solidFill>
                <a:latin typeface="Calibri" pitchFamily="34" charset="0"/>
                <a:cs typeface="Amiri" pitchFamily="2" charset="-78"/>
              </a:rPr>
              <a:t> awwal · first → initial</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وَسَطٌ</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‎وسط‎ </a:t>
            </a:r>
            <a:pPr indent="0" marL="0">
              <a:buNone/>
            </a:pPr>
            <a:r>
              <a:rPr lang="en-US" sz="950" b="1" dirty="0">
                <a:solidFill>
                  <a:srgbClr val="2E8B57"/>
                </a:solidFill>
                <a:latin typeface="Calibri" pitchFamily="34" charset="0"/>
                <a:cs typeface="Amiri" pitchFamily="2" charset="-78"/>
              </a:rPr>
              <a:t> wasat · middle → medial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آخِرٌ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‎آخر‎ </a:t>
            </a:r>
            <a:pPr indent="0" marL="0">
              <a:buNone/>
            </a:pPr>
            <a:r>
              <a:rPr lang="en-US" sz="950" b="1" dirty="0">
                <a:solidFill>
                  <a:srgbClr val="2E8B57"/>
                </a:solidFill>
                <a:latin typeface="Calibri" pitchFamily="34" charset="0"/>
                <a:cs typeface="Amiri" pitchFamily="2" charset="-78"/>
              </a:rPr>
              <a:t> ākhir · last → final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بَابٌ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‎باب‎ </a:t>
            </a:r>
            <a:pPr indent="0" marL="0">
              <a:buNone/>
            </a:pPr>
            <a:r>
              <a:rPr lang="en-US" sz="950" b="1" dirty="0">
                <a:solidFill>
                  <a:srgbClr val="2E8B57"/>
                </a:solidFill>
                <a:latin typeface="Calibri" pitchFamily="34" charset="0"/>
                <a:cs typeface="Amiri" pitchFamily="2" charset="-78"/>
              </a:rPr>
              <a:t> bāb · door, chapter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THE FOUR CONNECTOR FORMS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bāʾ in four positions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مُنْفَصِلٌ · أَوَّلِيٌّ · وَسَطِيٌّ · نِهَائِيٌّ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t>
            </a:r>
            <a:endParaRPr lang="en-US" sz="1100" dirty="0"/>
          </a:p>
        </p:txBody>
      </p:sp>
      <p:sp>
        <p:nvSpPr>
          <p:cNvPr id="17" name="Text 14"/>
          <p:cNvSpPr txBox="1"/>
          <p:nvPr/>
        </p:nvSpPr>
        <p:spPr>
          <a:xfrm>
            <a:off x="741578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Shape</a:t>
            </a:r>
            <a:endParaRPr lang="en-US" sz="1100" dirty="0"/>
          </a:p>
        </p:txBody>
      </p:sp>
      <p:sp>
        <p:nvSpPr>
          <p:cNvPr id="18" name="Text 15"/>
          <p:cNvSpPr txBox="1"/>
          <p:nvPr/>
        </p:nvSpPr>
        <p:spPr>
          <a:xfrm>
            <a:off x="50383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Joins from the right?</a:t>
            </a:r>
            <a:endParaRPr lang="en-US" sz="1100" dirty="0"/>
          </a:p>
        </p:txBody>
      </p:sp>
      <p:sp>
        <p:nvSpPr>
          <p:cNvPr id="19" name="Text 16"/>
          <p:cNvSpPr txBox="1"/>
          <p:nvPr/>
        </p:nvSpPr>
        <p:spPr>
          <a:xfrm>
            <a:off x="284378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Joins to the left?</a:t>
            </a:r>
            <a:endParaRPr lang="en-US" sz="1100" dirty="0"/>
          </a:p>
        </p:txBody>
      </p:sp>
      <p:sp>
        <p:nvSpPr>
          <p:cNvPr id="20" name="Text 17"/>
          <p:cNvSpPr txBox="1"/>
          <p:nvPr/>
        </p:nvSpPr>
        <p:spPr>
          <a:xfrm>
            <a:off x="53035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Where?</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Isolated  </a:t>
            </a:r>
            <a:pPr algn="l" indent="0" marL="0">
              <a:buNone/>
            </a:pPr>
            <a:r>
              <a:rPr lang="ar-SA" altLang="en-US" sz="1450" dirty="0">
                <a:solidFill>
                  <a:srgbClr val="5A6472"/>
                </a:solidFill>
                <a:latin typeface="Amiri" pitchFamily="2" charset="-78"/>
                <a:ea typeface="Amiri" pitchFamily="2" charset="-78"/>
                <a:cs typeface="Amiri" pitchFamily="2" charset="-78"/>
              </a:rPr>
              <a:t>مُنْفَصِلٌ</a:t>
            </a:r>
            <a:endParaRPr lang="en-US" sz="1100" dirty="0"/>
          </a:p>
        </p:txBody>
      </p:sp>
      <p:sp>
        <p:nvSpPr>
          <p:cNvPr id="23" name="Text 20"/>
          <p:cNvSpPr txBox="1"/>
          <p:nvPr/>
        </p:nvSpPr>
        <p:spPr>
          <a:xfrm>
            <a:off x="7434072" y="2267712"/>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ب</a:t>
            </a:r>
            <a:endParaRPr lang="ar-SA" sz="3400" dirty="0"/>
          </a:p>
        </p:txBody>
      </p:sp>
      <p:sp>
        <p:nvSpPr>
          <p:cNvPr id="24" name="Text 21"/>
          <p:cNvSpPr txBox="1"/>
          <p:nvPr/>
        </p:nvSpPr>
        <p:spPr>
          <a:xfrm>
            <a:off x="507492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a:t>
            </a:r>
            <a:endParaRPr lang="en-US" sz="1100" dirty="0"/>
          </a:p>
        </p:txBody>
      </p:sp>
      <p:sp>
        <p:nvSpPr>
          <p:cNvPr id="25" name="Text 22"/>
          <p:cNvSpPr txBox="1"/>
          <p:nvPr/>
        </p:nvSpPr>
        <p:spPr>
          <a:xfrm>
            <a:off x="288036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a:t>
            </a:r>
            <a:endParaRPr lang="en-US" sz="1100" dirty="0"/>
          </a:p>
        </p:txBody>
      </p:sp>
      <p:sp>
        <p:nvSpPr>
          <p:cNvPr id="26" name="Text 23"/>
          <p:cNvSpPr txBox="1"/>
          <p:nvPr/>
        </p:nvSpPr>
        <p:spPr>
          <a:xfrm>
            <a:off x="566928" y="2267712"/>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alone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Initial  </a:t>
            </a:r>
            <a:pPr algn="l" indent="0" marL="0">
              <a:buNone/>
            </a:pPr>
            <a:r>
              <a:rPr lang="ar-SA" altLang="en-US" sz="1450" dirty="0">
                <a:solidFill>
                  <a:srgbClr val="5A6472"/>
                </a:solidFill>
                <a:latin typeface="Amiri" pitchFamily="2" charset="-78"/>
                <a:ea typeface="Amiri" pitchFamily="2" charset="-78"/>
                <a:cs typeface="Amiri" pitchFamily="2" charset="-78"/>
              </a:rPr>
              <a:t>أَوَّلِيٌّ</a:t>
            </a:r>
            <a:endParaRPr lang="en-US" sz="1100" dirty="0"/>
          </a:p>
        </p:txBody>
      </p:sp>
      <p:sp>
        <p:nvSpPr>
          <p:cNvPr id="31" name="Text 28"/>
          <p:cNvSpPr txBox="1"/>
          <p:nvPr/>
        </p:nvSpPr>
        <p:spPr>
          <a:xfrm>
            <a:off x="7434072" y="3054096"/>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بـ</a:t>
            </a:r>
            <a:endParaRPr lang="ar-SA" sz="3400" dirty="0"/>
          </a:p>
        </p:txBody>
      </p:sp>
      <p:sp>
        <p:nvSpPr>
          <p:cNvPr id="32" name="Text 29"/>
          <p:cNvSpPr txBox="1"/>
          <p:nvPr/>
        </p:nvSpPr>
        <p:spPr>
          <a:xfrm>
            <a:off x="507492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a:t>
            </a:r>
            <a:endParaRPr lang="en-US" sz="1100" dirty="0"/>
          </a:p>
        </p:txBody>
      </p:sp>
      <p:sp>
        <p:nvSpPr>
          <p:cNvPr id="33" name="Text 30"/>
          <p:cNvSpPr txBox="1"/>
          <p:nvPr/>
        </p:nvSpPr>
        <p:spPr>
          <a:xfrm>
            <a:off x="288036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34" name="Text 31"/>
          <p:cNvSpPr txBox="1"/>
          <p:nvPr/>
        </p:nvSpPr>
        <p:spPr>
          <a:xfrm>
            <a:off x="566928" y="3054096"/>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 of a joined run (right)</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Medial  </a:t>
            </a:r>
            <a:pPr algn="l" indent="0" marL="0">
              <a:buNone/>
            </a:pPr>
            <a:r>
              <a:rPr lang="ar-SA" altLang="en-US" sz="1450" dirty="0">
                <a:solidFill>
                  <a:srgbClr val="5A6472"/>
                </a:solidFill>
                <a:latin typeface="Amiri" pitchFamily="2" charset="-78"/>
                <a:ea typeface="Amiri" pitchFamily="2" charset="-78"/>
                <a:cs typeface="Amiri" pitchFamily="2" charset="-78"/>
              </a:rPr>
              <a:t>وَسَطِيٌّ</a:t>
            </a:r>
            <a:endParaRPr lang="en-US" sz="1100" dirty="0"/>
          </a:p>
        </p:txBody>
      </p:sp>
      <p:sp>
        <p:nvSpPr>
          <p:cNvPr id="39" name="Text 36"/>
          <p:cNvSpPr txBox="1"/>
          <p:nvPr/>
        </p:nvSpPr>
        <p:spPr>
          <a:xfrm>
            <a:off x="7434072" y="3840480"/>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ـبـ</a:t>
            </a:r>
            <a:endParaRPr lang="ar-SA" sz="3400" dirty="0"/>
          </a:p>
        </p:txBody>
      </p:sp>
      <p:sp>
        <p:nvSpPr>
          <p:cNvPr id="40" name="Text 37"/>
          <p:cNvSpPr txBox="1"/>
          <p:nvPr/>
        </p:nvSpPr>
        <p:spPr>
          <a:xfrm>
            <a:off x="507492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1" name="Text 38"/>
          <p:cNvSpPr txBox="1"/>
          <p:nvPr/>
        </p:nvSpPr>
        <p:spPr>
          <a:xfrm>
            <a:off x="288036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2" name="Text 39"/>
          <p:cNvSpPr txBox="1"/>
          <p:nvPr/>
        </p:nvSpPr>
        <p:spPr>
          <a:xfrm>
            <a:off x="566928" y="3840480"/>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the middle</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Final  </a:t>
            </a:r>
            <a:pPr algn="l" indent="0" marL="0">
              <a:buNone/>
            </a:pPr>
            <a:r>
              <a:rPr lang="ar-SA" altLang="en-US" sz="1450" dirty="0">
                <a:solidFill>
                  <a:srgbClr val="5A6472"/>
                </a:solidFill>
                <a:latin typeface="Amiri" pitchFamily="2" charset="-78"/>
                <a:ea typeface="Amiri" pitchFamily="2" charset="-78"/>
                <a:cs typeface="Amiri" pitchFamily="2" charset="-78"/>
              </a:rPr>
              <a:t>نِهَائِيٌّ</a:t>
            </a:r>
            <a:endParaRPr lang="en-US" sz="1100" dirty="0"/>
          </a:p>
        </p:txBody>
      </p:sp>
      <p:sp>
        <p:nvSpPr>
          <p:cNvPr id="47" name="Text 44"/>
          <p:cNvSpPr txBox="1"/>
          <p:nvPr/>
        </p:nvSpPr>
        <p:spPr>
          <a:xfrm>
            <a:off x="7434072" y="4626864"/>
            <a:ext cx="1828800" cy="731520"/>
          </a:xfrm>
          <a:prstGeom prst="rect">
            <a:avLst/>
          </a:prstGeom>
          <a:noFill/>
          <a:ln/>
        </p:spPr>
        <p:txBody>
          <a:bodyPr wrap="square" lIns="0" tIns="0" rIns="0" bIns="0" rtlCol="0" anchor="ctr"/>
          <a:lstStyle/>
          <a:p>
            <a:pPr rtl="1" algn="ctr" indent="0" marL="0">
              <a:buNone/>
            </a:pPr>
            <a:r>
              <a:rPr lang="ar-SA" altLang="en-US" sz="3400" b="1" dirty="0">
                <a:solidFill>
                  <a:srgbClr val="1B3B6F"/>
                </a:solidFill>
                <a:latin typeface="Amiri" pitchFamily="2" charset="-78"/>
                <a:ea typeface="Amiri" pitchFamily="2" charset="-78"/>
                <a:cs typeface="Amiri" pitchFamily="2" charset="-78"/>
              </a:rPr>
              <a:t>ـب</a:t>
            </a:r>
            <a:endParaRPr lang="ar-SA" sz="3400" dirty="0"/>
          </a:p>
        </p:txBody>
      </p:sp>
      <p:sp>
        <p:nvSpPr>
          <p:cNvPr id="48" name="Text 45"/>
          <p:cNvSpPr txBox="1"/>
          <p:nvPr/>
        </p:nvSpPr>
        <p:spPr>
          <a:xfrm>
            <a:off x="507492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a:t>
            </a:r>
            <a:endParaRPr lang="en-US" sz="1100" dirty="0"/>
          </a:p>
        </p:txBody>
      </p:sp>
      <p:sp>
        <p:nvSpPr>
          <p:cNvPr id="49" name="Text 46"/>
          <p:cNvSpPr txBox="1"/>
          <p:nvPr/>
        </p:nvSpPr>
        <p:spPr>
          <a:xfrm>
            <a:off x="2880360"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a:t>
            </a:r>
            <a:endParaRPr lang="en-US" sz="1100" dirty="0"/>
          </a:p>
        </p:txBody>
      </p:sp>
      <p:sp>
        <p:nvSpPr>
          <p:cNvPr id="50" name="Text 47"/>
          <p:cNvSpPr txBox="1"/>
          <p:nvPr/>
        </p:nvSpPr>
        <p:spPr>
          <a:xfrm>
            <a:off x="566928" y="4626864"/>
            <a:ext cx="21305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 of a joined run (left)</a:t>
            </a:r>
            <a:endParaRPr lang="en-US" sz="1100" dirty="0"/>
          </a:p>
        </p:txBody>
      </p:sp>
      <p:sp>
        <p:nvSpPr>
          <p:cNvPr id="51" name="Shape 4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TEACHER INSTRUCTION · WORD POSITION IS NOT ENOUGH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Ask four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اِسْأَلْ أَرْبَعَةَ أَسْئِلَةٍ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96012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RIGHT SIDE</a:t>
            </a:r>
            <a:endParaRPr lang="en-US" sz="850" dirty="0"/>
          </a:p>
        </p:txBody>
      </p:sp>
      <p:sp>
        <p:nvSpPr>
          <p:cNvPr id="18" name="Text 15"/>
          <p:cNvSpPr txBox="1"/>
          <p:nvPr/>
        </p:nvSpPr>
        <p:spPr>
          <a:xfrm>
            <a:off x="9238488" y="1874520"/>
            <a:ext cx="23561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1 · 2</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 ؟</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Is there a neighbour on the right? Does it connect onward?</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If yes → my letter receives a join.</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0E7C86"/>
          </a:solidFill>
          <a:ln w="12700">
            <a:solidFill>
              <a:srgbClr val="0E7C86"/>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LEFT SIDE</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3 · 4</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 ←</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Is there a neighbour on the left? Can MY letter continue the join?</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If yes → my letter joins onward.</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2870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0287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THINK ALOUD</a:t>
            </a:r>
            <a:endParaRPr lang="en-US" sz="850" dirty="0"/>
          </a:p>
        </p:txBody>
      </p:sp>
      <p:sp>
        <p:nvSpPr>
          <p:cNvPr id="34" name="Text 31"/>
          <p:cNvSpPr txBox="1"/>
          <p:nvPr/>
        </p:nvSpPr>
        <p:spPr>
          <a:xfrm>
            <a:off x="1668780" y="1874520"/>
            <a:ext cx="228752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website model</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كَتَبَ</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check the pair on the right, then the pair on the left.”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Never choose a form from its number position alone.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TEACHER INSTRUCTION · FAMILIES KEEP THEIR DOT CLUES (WEBSITE PART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body, same four shapes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العَائِلَاتُ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17" name="Text 14"/>
          <p:cNvSpPr txBox="1"/>
          <p:nvPr/>
        </p:nvSpPr>
        <p:spPr>
          <a:xfrm>
            <a:off x="7388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Isolated</a:t>
            </a:r>
            <a:endParaRPr lang="en-US" sz="1100" dirty="0"/>
          </a:p>
        </p:txBody>
      </p:sp>
      <p:sp>
        <p:nvSpPr>
          <p:cNvPr id="18" name="Text 15"/>
          <p:cNvSpPr txBox="1"/>
          <p:nvPr/>
        </p:nvSpPr>
        <p:spPr>
          <a:xfrm>
            <a:off x="5102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Initial (start)</a:t>
            </a:r>
            <a:endParaRPr lang="en-US" sz="1100" dirty="0"/>
          </a:p>
        </p:txBody>
      </p:sp>
      <p:sp>
        <p:nvSpPr>
          <p:cNvPr id="19" name="Text 16"/>
          <p:cNvSpPr txBox="1"/>
          <p:nvPr/>
        </p:nvSpPr>
        <p:spPr>
          <a:xfrm>
            <a:off x="2816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Medial (middle)</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 (end)</a:t>
            </a:r>
            <a:endParaRPr lang="en-US" sz="1100" dirty="0"/>
          </a:p>
        </p:txBody>
      </p:sp>
      <p:sp>
        <p:nvSpPr>
          <p:cNvPr id="21" name="Shape 18"/>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2" name="Text 19"/>
          <p:cNvSpPr txBox="1"/>
          <p:nvPr/>
        </p:nvSpPr>
        <p:spPr>
          <a:xfrm>
            <a:off x="9710928" y="2267712"/>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bāʾ</a:t>
            </a:r>
            <a:endParaRPr lang="en-US" sz="1100" dirty="0"/>
          </a:p>
        </p:txBody>
      </p:sp>
      <p:sp>
        <p:nvSpPr>
          <p:cNvPr id="23" name="Text 20"/>
          <p:cNvSpPr txBox="1"/>
          <p:nvPr/>
        </p:nvSpPr>
        <p:spPr>
          <a:xfrm>
            <a:off x="7406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ب</a:t>
            </a:r>
            <a:endParaRPr lang="ar-SA" sz="2900" dirty="0"/>
          </a:p>
        </p:txBody>
      </p:sp>
      <p:sp>
        <p:nvSpPr>
          <p:cNvPr id="24" name="Text 21"/>
          <p:cNvSpPr txBox="1"/>
          <p:nvPr/>
        </p:nvSpPr>
        <p:spPr>
          <a:xfrm>
            <a:off x="5120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بـ</a:t>
            </a:r>
            <a:endParaRPr lang="ar-SA" sz="2900" dirty="0"/>
          </a:p>
        </p:txBody>
      </p:sp>
      <p:sp>
        <p:nvSpPr>
          <p:cNvPr id="25" name="Text 22"/>
          <p:cNvSpPr txBox="1"/>
          <p:nvPr/>
        </p:nvSpPr>
        <p:spPr>
          <a:xfrm>
            <a:off x="2834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ـبـ</a:t>
            </a:r>
            <a:endParaRPr lang="ar-SA" sz="2900" dirty="0"/>
          </a:p>
        </p:txBody>
      </p:sp>
      <p:sp>
        <p:nvSpPr>
          <p:cNvPr id="26" name="Text 23"/>
          <p:cNvSpPr txBox="1"/>
          <p:nvPr/>
        </p:nvSpPr>
        <p:spPr>
          <a:xfrm>
            <a:off x="548640" y="226771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ـب</a:t>
            </a:r>
            <a:endParaRPr lang="ar-SA" sz="29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9710928" y="2950464"/>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tāʾ</a:t>
            </a:r>
            <a:endParaRPr lang="en-US" sz="1100" dirty="0"/>
          </a:p>
        </p:txBody>
      </p:sp>
      <p:sp>
        <p:nvSpPr>
          <p:cNvPr id="31" name="Text 28"/>
          <p:cNvSpPr txBox="1"/>
          <p:nvPr/>
        </p:nvSpPr>
        <p:spPr>
          <a:xfrm>
            <a:off x="7406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ت</a:t>
            </a:r>
            <a:endParaRPr lang="ar-SA" sz="2900" dirty="0"/>
          </a:p>
        </p:txBody>
      </p:sp>
      <p:sp>
        <p:nvSpPr>
          <p:cNvPr id="32" name="Text 29"/>
          <p:cNvSpPr txBox="1"/>
          <p:nvPr/>
        </p:nvSpPr>
        <p:spPr>
          <a:xfrm>
            <a:off x="5120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تـ</a:t>
            </a:r>
            <a:endParaRPr lang="ar-SA" sz="2900" dirty="0"/>
          </a:p>
        </p:txBody>
      </p:sp>
      <p:sp>
        <p:nvSpPr>
          <p:cNvPr id="33" name="Text 30"/>
          <p:cNvSpPr txBox="1"/>
          <p:nvPr/>
        </p:nvSpPr>
        <p:spPr>
          <a:xfrm>
            <a:off x="2834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ـتـ</a:t>
            </a:r>
            <a:endParaRPr lang="ar-SA" sz="2900" dirty="0"/>
          </a:p>
        </p:txBody>
      </p:sp>
      <p:sp>
        <p:nvSpPr>
          <p:cNvPr id="34" name="Text 31"/>
          <p:cNvSpPr txBox="1"/>
          <p:nvPr/>
        </p:nvSpPr>
        <p:spPr>
          <a:xfrm>
            <a:off x="548640" y="2950464"/>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ـت</a:t>
            </a:r>
            <a:endParaRPr lang="ar-SA" sz="2900" dirty="0"/>
          </a:p>
        </p:txBody>
      </p:sp>
      <p:sp>
        <p:nvSpPr>
          <p:cNvPr id="35" name="Shape 32"/>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8" name="Text 35"/>
          <p:cNvSpPr txBox="1"/>
          <p:nvPr/>
        </p:nvSpPr>
        <p:spPr>
          <a:xfrm>
            <a:off x="9710928" y="3633216"/>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thāʾ</a:t>
            </a:r>
            <a:endParaRPr lang="en-US" sz="1100" dirty="0"/>
          </a:p>
        </p:txBody>
      </p:sp>
      <p:sp>
        <p:nvSpPr>
          <p:cNvPr id="39" name="Text 36"/>
          <p:cNvSpPr txBox="1"/>
          <p:nvPr/>
        </p:nvSpPr>
        <p:spPr>
          <a:xfrm>
            <a:off x="7406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ث</a:t>
            </a:r>
            <a:endParaRPr lang="ar-SA" sz="2900" dirty="0"/>
          </a:p>
        </p:txBody>
      </p:sp>
      <p:sp>
        <p:nvSpPr>
          <p:cNvPr id="40" name="Text 37"/>
          <p:cNvSpPr txBox="1"/>
          <p:nvPr/>
        </p:nvSpPr>
        <p:spPr>
          <a:xfrm>
            <a:off x="5120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ثـ</a:t>
            </a:r>
            <a:endParaRPr lang="ar-SA" sz="2900" dirty="0"/>
          </a:p>
        </p:txBody>
      </p:sp>
      <p:sp>
        <p:nvSpPr>
          <p:cNvPr id="41" name="Text 38"/>
          <p:cNvSpPr txBox="1"/>
          <p:nvPr/>
        </p:nvSpPr>
        <p:spPr>
          <a:xfrm>
            <a:off x="2834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ـثـ</a:t>
            </a:r>
            <a:endParaRPr lang="ar-SA" sz="2900" dirty="0"/>
          </a:p>
        </p:txBody>
      </p:sp>
      <p:sp>
        <p:nvSpPr>
          <p:cNvPr id="42" name="Text 39"/>
          <p:cNvSpPr txBox="1"/>
          <p:nvPr/>
        </p:nvSpPr>
        <p:spPr>
          <a:xfrm>
            <a:off x="548640" y="3633216"/>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ـث</a:t>
            </a:r>
            <a:endParaRPr lang="ar-SA" sz="2900" dirty="0"/>
          </a:p>
        </p:txBody>
      </p:sp>
      <p:sp>
        <p:nvSpPr>
          <p:cNvPr id="43" name="Shape 40"/>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6" name="Text 43"/>
          <p:cNvSpPr txBox="1"/>
          <p:nvPr/>
        </p:nvSpPr>
        <p:spPr>
          <a:xfrm>
            <a:off x="9710928" y="4315968"/>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jīm</a:t>
            </a:r>
            <a:endParaRPr lang="en-US" sz="1100" dirty="0"/>
          </a:p>
        </p:txBody>
      </p:sp>
      <p:sp>
        <p:nvSpPr>
          <p:cNvPr id="47" name="Text 44"/>
          <p:cNvSpPr txBox="1"/>
          <p:nvPr/>
        </p:nvSpPr>
        <p:spPr>
          <a:xfrm>
            <a:off x="7406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ج</a:t>
            </a:r>
            <a:endParaRPr lang="ar-SA" sz="2900" dirty="0"/>
          </a:p>
        </p:txBody>
      </p:sp>
      <p:sp>
        <p:nvSpPr>
          <p:cNvPr id="48" name="Text 45"/>
          <p:cNvSpPr txBox="1"/>
          <p:nvPr/>
        </p:nvSpPr>
        <p:spPr>
          <a:xfrm>
            <a:off x="5120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جـ</a:t>
            </a:r>
            <a:endParaRPr lang="ar-SA" sz="2900" dirty="0"/>
          </a:p>
        </p:txBody>
      </p:sp>
      <p:sp>
        <p:nvSpPr>
          <p:cNvPr id="49" name="Text 46"/>
          <p:cNvSpPr txBox="1"/>
          <p:nvPr/>
        </p:nvSpPr>
        <p:spPr>
          <a:xfrm>
            <a:off x="2834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ـجـ</a:t>
            </a:r>
            <a:endParaRPr lang="ar-SA" sz="2900" dirty="0"/>
          </a:p>
        </p:txBody>
      </p:sp>
      <p:sp>
        <p:nvSpPr>
          <p:cNvPr id="50" name="Text 47"/>
          <p:cNvSpPr txBox="1"/>
          <p:nvPr/>
        </p:nvSpPr>
        <p:spPr>
          <a:xfrm>
            <a:off x="548640" y="4315968"/>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ـج</a:t>
            </a:r>
            <a:endParaRPr lang="ar-SA" sz="2900" dirty="0"/>
          </a:p>
        </p:txBody>
      </p:sp>
      <p:sp>
        <p:nvSpPr>
          <p:cNvPr id="51" name="Shape 48"/>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2" name="Text 49"/>
          <p:cNvSpPr txBox="1"/>
          <p:nvPr/>
        </p:nvSpPr>
        <p:spPr>
          <a:xfrm>
            <a:off x="9710928" y="4998720"/>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ḥāʾ</a:t>
            </a:r>
            <a:endParaRPr lang="en-US" sz="1100" dirty="0"/>
          </a:p>
        </p:txBody>
      </p:sp>
      <p:sp>
        <p:nvSpPr>
          <p:cNvPr id="53" name="Text 50"/>
          <p:cNvSpPr txBox="1"/>
          <p:nvPr/>
        </p:nvSpPr>
        <p:spPr>
          <a:xfrm>
            <a:off x="7406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ح</a:t>
            </a:r>
            <a:endParaRPr lang="ar-SA" sz="2900" dirty="0"/>
          </a:p>
        </p:txBody>
      </p:sp>
      <p:sp>
        <p:nvSpPr>
          <p:cNvPr id="54" name="Text 51"/>
          <p:cNvSpPr txBox="1"/>
          <p:nvPr/>
        </p:nvSpPr>
        <p:spPr>
          <a:xfrm>
            <a:off x="5120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حـ</a:t>
            </a:r>
            <a:endParaRPr lang="ar-SA" sz="2900" dirty="0"/>
          </a:p>
        </p:txBody>
      </p:sp>
      <p:sp>
        <p:nvSpPr>
          <p:cNvPr id="55" name="Text 52"/>
          <p:cNvSpPr txBox="1"/>
          <p:nvPr/>
        </p:nvSpPr>
        <p:spPr>
          <a:xfrm>
            <a:off x="2834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ـحـ</a:t>
            </a:r>
            <a:endParaRPr lang="ar-SA" sz="2900" dirty="0"/>
          </a:p>
        </p:txBody>
      </p:sp>
      <p:sp>
        <p:nvSpPr>
          <p:cNvPr id="56" name="Text 53"/>
          <p:cNvSpPr txBox="1"/>
          <p:nvPr/>
        </p:nvSpPr>
        <p:spPr>
          <a:xfrm>
            <a:off x="548640" y="4998720"/>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ـح</a:t>
            </a:r>
            <a:endParaRPr lang="ar-SA" sz="2900" dirty="0"/>
          </a:p>
        </p:txBody>
      </p:sp>
      <p:sp>
        <p:nvSpPr>
          <p:cNvPr id="57" name="Shape 54"/>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8" name="Text 55"/>
          <p:cNvSpPr txBox="1"/>
          <p:nvPr/>
        </p:nvSpPr>
        <p:spPr>
          <a:xfrm>
            <a:off x="9710928" y="5681472"/>
            <a:ext cx="194767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khāʾ</a:t>
            </a:r>
            <a:endParaRPr lang="en-US" sz="1100" dirty="0"/>
          </a:p>
        </p:txBody>
      </p:sp>
      <p:sp>
        <p:nvSpPr>
          <p:cNvPr id="59" name="Text 56"/>
          <p:cNvSpPr txBox="1"/>
          <p:nvPr/>
        </p:nvSpPr>
        <p:spPr>
          <a:xfrm>
            <a:off x="7406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خ</a:t>
            </a:r>
            <a:endParaRPr lang="ar-SA" sz="2900" dirty="0"/>
          </a:p>
        </p:txBody>
      </p:sp>
      <p:sp>
        <p:nvSpPr>
          <p:cNvPr id="60" name="Text 57"/>
          <p:cNvSpPr txBox="1"/>
          <p:nvPr/>
        </p:nvSpPr>
        <p:spPr>
          <a:xfrm>
            <a:off x="5120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خـ</a:t>
            </a:r>
            <a:endParaRPr lang="ar-SA" sz="2900" dirty="0"/>
          </a:p>
        </p:txBody>
      </p:sp>
      <p:sp>
        <p:nvSpPr>
          <p:cNvPr id="61" name="Text 58"/>
          <p:cNvSpPr txBox="1"/>
          <p:nvPr/>
        </p:nvSpPr>
        <p:spPr>
          <a:xfrm>
            <a:off x="2834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ـخـ</a:t>
            </a:r>
            <a:endParaRPr lang="ar-SA" sz="2900" dirty="0"/>
          </a:p>
        </p:txBody>
      </p:sp>
      <p:sp>
        <p:nvSpPr>
          <p:cNvPr id="62" name="Text 59"/>
          <p:cNvSpPr txBox="1"/>
          <p:nvPr/>
        </p:nvSpPr>
        <p:spPr>
          <a:xfrm>
            <a:off x="548640" y="5681472"/>
            <a:ext cx="2103120" cy="627888"/>
          </a:xfrm>
          <a:prstGeom prst="rect">
            <a:avLst/>
          </a:prstGeom>
          <a:noFill/>
          <a:ln/>
        </p:spPr>
        <p:txBody>
          <a:bodyPr wrap="square" lIns="0" tIns="0" rIns="0" bIns="0" rtlCol="0" anchor="ctr"/>
          <a:lstStyle/>
          <a:p>
            <a:pPr rtl="1" algn="ctr" indent="0" marL="0">
              <a:buNone/>
            </a:pPr>
            <a:r>
              <a:rPr lang="ar-SA" altLang="en-US" sz="2900" b="1" dirty="0">
                <a:solidFill>
                  <a:srgbClr val="1B3B6F"/>
                </a:solidFill>
                <a:latin typeface="Amiri" pitchFamily="2" charset="-78"/>
                <a:ea typeface="Amiri" pitchFamily="2" charset="-78"/>
                <a:cs typeface="Amiri" pitchFamily="2" charset="-78"/>
              </a:rPr>
              <a:t>ـخ</a:t>
            </a:r>
            <a:endParaRPr lang="ar-SA" sz="29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B3B6F"/>
                </a:solidFill>
                <a:latin typeface="Calibri" pitchFamily="34" charset="0"/>
                <a:cs typeface="Amiri" pitchFamily="2" charset="-78"/>
              </a:rPr>
              <a:t>TEACHER INSTRUCTION · THE SIX BREAKERS HAVE ONLY TWO SHAPES (WEBSITE PART 3)</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Breakers: two patterns, four places</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الحُرُوفُ الَّتِي لَا تَتَّصِلُ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17" name="Text 14"/>
          <p:cNvSpPr txBox="1"/>
          <p:nvPr/>
        </p:nvSpPr>
        <p:spPr>
          <a:xfrm>
            <a:off x="7388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Isolated</a:t>
            </a:r>
            <a:endParaRPr lang="en-US" sz="1100" dirty="0"/>
          </a:p>
        </p:txBody>
      </p:sp>
      <p:sp>
        <p:nvSpPr>
          <p:cNvPr id="18" name="Text 15"/>
          <p:cNvSpPr txBox="1"/>
          <p:nvPr/>
        </p:nvSpPr>
        <p:spPr>
          <a:xfrm>
            <a:off x="5102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Initial (start)</a:t>
            </a:r>
            <a:endParaRPr lang="en-US" sz="1100" dirty="0"/>
          </a:p>
        </p:txBody>
      </p:sp>
      <p:sp>
        <p:nvSpPr>
          <p:cNvPr id="19" name="Text 16"/>
          <p:cNvSpPr txBox="1"/>
          <p:nvPr/>
        </p:nvSpPr>
        <p:spPr>
          <a:xfrm>
            <a:off x="2816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Medial (middle)</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 (end)</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alif</a:t>
            </a:r>
            <a:endParaRPr lang="en-US" sz="1100" dirty="0"/>
          </a:p>
        </p:txBody>
      </p:sp>
      <p:sp>
        <p:nvSpPr>
          <p:cNvPr id="23" name="Text 20"/>
          <p:cNvSpPr txBox="1"/>
          <p:nvPr/>
        </p:nvSpPr>
        <p:spPr>
          <a:xfrm>
            <a:off x="7406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ا</a:t>
            </a:r>
            <a:endParaRPr lang="ar-SA" sz="3150" dirty="0"/>
          </a:p>
        </p:txBody>
      </p:sp>
      <p:sp>
        <p:nvSpPr>
          <p:cNvPr id="24" name="Text 21"/>
          <p:cNvSpPr txBox="1"/>
          <p:nvPr/>
        </p:nvSpPr>
        <p:spPr>
          <a:xfrm>
            <a:off x="5120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ا</a:t>
            </a:r>
            <a:endParaRPr lang="ar-SA" sz="3150" dirty="0"/>
          </a:p>
        </p:txBody>
      </p:sp>
      <p:sp>
        <p:nvSpPr>
          <p:cNvPr id="25" name="Text 22"/>
          <p:cNvSpPr txBox="1"/>
          <p:nvPr/>
        </p:nvSpPr>
        <p:spPr>
          <a:xfrm>
            <a:off x="2834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ـا</a:t>
            </a:r>
            <a:endParaRPr lang="ar-SA" sz="3150" dirty="0"/>
          </a:p>
        </p:txBody>
      </p:sp>
      <p:sp>
        <p:nvSpPr>
          <p:cNvPr id="26" name="Text 23"/>
          <p:cNvSpPr txBox="1"/>
          <p:nvPr/>
        </p:nvSpPr>
        <p:spPr>
          <a:xfrm>
            <a:off x="548640" y="2267712"/>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ـا</a:t>
            </a:r>
            <a:endParaRPr lang="ar-SA" sz="315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dāl</a:t>
            </a:r>
            <a:endParaRPr lang="en-US" sz="1100" dirty="0"/>
          </a:p>
        </p:txBody>
      </p:sp>
      <p:sp>
        <p:nvSpPr>
          <p:cNvPr id="31" name="Text 28"/>
          <p:cNvSpPr txBox="1"/>
          <p:nvPr/>
        </p:nvSpPr>
        <p:spPr>
          <a:xfrm>
            <a:off x="7406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د</a:t>
            </a:r>
            <a:endParaRPr lang="ar-SA" sz="3150" dirty="0"/>
          </a:p>
        </p:txBody>
      </p:sp>
      <p:sp>
        <p:nvSpPr>
          <p:cNvPr id="32" name="Text 29"/>
          <p:cNvSpPr txBox="1"/>
          <p:nvPr/>
        </p:nvSpPr>
        <p:spPr>
          <a:xfrm>
            <a:off x="5120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د</a:t>
            </a:r>
            <a:endParaRPr lang="ar-SA" sz="3150" dirty="0"/>
          </a:p>
        </p:txBody>
      </p:sp>
      <p:sp>
        <p:nvSpPr>
          <p:cNvPr id="33" name="Text 30"/>
          <p:cNvSpPr txBox="1"/>
          <p:nvPr/>
        </p:nvSpPr>
        <p:spPr>
          <a:xfrm>
            <a:off x="2834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ـد</a:t>
            </a:r>
            <a:endParaRPr lang="ar-SA" sz="3150" dirty="0"/>
          </a:p>
        </p:txBody>
      </p:sp>
      <p:sp>
        <p:nvSpPr>
          <p:cNvPr id="34" name="Text 31"/>
          <p:cNvSpPr txBox="1"/>
          <p:nvPr/>
        </p:nvSpPr>
        <p:spPr>
          <a:xfrm>
            <a:off x="548640" y="300471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ـد</a:t>
            </a:r>
            <a:endParaRPr lang="ar-SA" sz="315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rāʾ</a:t>
            </a:r>
            <a:endParaRPr lang="en-US" sz="1100" dirty="0"/>
          </a:p>
        </p:txBody>
      </p:sp>
      <p:sp>
        <p:nvSpPr>
          <p:cNvPr id="39" name="Text 36"/>
          <p:cNvSpPr txBox="1"/>
          <p:nvPr/>
        </p:nvSpPr>
        <p:spPr>
          <a:xfrm>
            <a:off x="7406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ر</a:t>
            </a:r>
            <a:endParaRPr lang="ar-SA" sz="3150" dirty="0"/>
          </a:p>
        </p:txBody>
      </p:sp>
      <p:sp>
        <p:nvSpPr>
          <p:cNvPr id="40" name="Text 37"/>
          <p:cNvSpPr txBox="1"/>
          <p:nvPr/>
        </p:nvSpPr>
        <p:spPr>
          <a:xfrm>
            <a:off x="5120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ر</a:t>
            </a:r>
            <a:endParaRPr lang="ar-SA" sz="3150" dirty="0"/>
          </a:p>
        </p:txBody>
      </p:sp>
      <p:sp>
        <p:nvSpPr>
          <p:cNvPr id="41" name="Text 38"/>
          <p:cNvSpPr txBox="1"/>
          <p:nvPr/>
        </p:nvSpPr>
        <p:spPr>
          <a:xfrm>
            <a:off x="2834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ـر</a:t>
            </a:r>
            <a:endParaRPr lang="ar-SA" sz="3150" dirty="0"/>
          </a:p>
        </p:txBody>
      </p:sp>
      <p:sp>
        <p:nvSpPr>
          <p:cNvPr id="42" name="Text 39"/>
          <p:cNvSpPr txBox="1"/>
          <p:nvPr/>
        </p:nvSpPr>
        <p:spPr>
          <a:xfrm>
            <a:off x="548640" y="3741725"/>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ـر</a:t>
            </a:r>
            <a:endParaRPr lang="ar-SA" sz="315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a:t>
            </a:r>
            <a:endParaRPr lang="en-US" sz="1100" dirty="0"/>
          </a:p>
        </p:txBody>
      </p:sp>
      <p:sp>
        <p:nvSpPr>
          <p:cNvPr id="47" name="Text 44"/>
          <p:cNvSpPr txBox="1"/>
          <p:nvPr/>
        </p:nvSpPr>
        <p:spPr>
          <a:xfrm>
            <a:off x="7406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و</a:t>
            </a:r>
            <a:endParaRPr lang="ar-SA" sz="3150" dirty="0"/>
          </a:p>
        </p:txBody>
      </p:sp>
      <p:sp>
        <p:nvSpPr>
          <p:cNvPr id="48" name="Text 45"/>
          <p:cNvSpPr txBox="1"/>
          <p:nvPr/>
        </p:nvSpPr>
        <p:spPr>
          <a:xfrm>
            <a:off x="5120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و</a:t>
            </a:r>
            <a:endParaRPr lang="ar-SA" sz="3150" dirty="0"/>
          </a:p>
        </p:txBody>
      </p:sp>
      <p:sp>
        <p:nvSpPr>
          <p:cNvPr id="49" name="Text 46"/>
          <p:cNvSpPr txBox="1"/>
          <p:nvPr/>
        </p:nvSpPr>
        <p:spPr>
          <a:xfrm>
            <a:off x="2834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ـو</a:t>
            </a:r>
            <a:endParaRPr lang="ar-SA" sz="3150" dirty="0"/>
          </a:p>
        </p:txBody>
      </p:sp>
      <p:sp>
        <p:nvSpPr>
          <p:cNvPr id="50" name="Text 47"/>
          <p:cNvSpPr txBox="1"/>
          <p:nvPr/>
        </p:nvSpPr>
        <p:spPr>
          <a:xfrm>
            <a:off x="548640" y="4478731"/>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ـو</a:t>
            </a:r>
            <a:endParaRPr lang="ar-SA" sz="3150" dirty="0"/>
          </a:p>
        </p:txBody>
      </p:sp>
      <p:sp>
        <p:nvSpPr>
          <p:cNvPr id="51" name="Shape 4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4" name="Text 51"/>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dhāl · zāy</a:t>
            </a:r>
            <a:endParaRPr lang="en-US" sz="1100" dirty="0"/>
          </a:p>
        </p:txBody>
      </p:sp>
      <p:sp>
        <p:nvSpPr>
          <p:cNvPr id="55" name="Text 52"/>
          <p:cNvSpPr txBox="1"/>
          <p:nvPr/>
        </p:nvSpPr>
        <p:spPr>
          <a:xfrm>
            <a:off x="7406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ذ  ز</a:t>
            </a:r>
            <a:endParaRPr lang="ar-SA" sz="3150" dirty="0"/>
          </a:p>
        </p:txBody>
      </p:sp>
      <p:sp>
        <p:nvSpPr>
          <p:cNvPr id="56" name="Text 53"/>
          <p:cNvSpPr txBox="1"/>
          <p:nvPr/>
        </p:nvSpPr>
        <p:spPr>
          <a:xfrm>
            <a:off x="5120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ذ  ز</a:t>
            </a:r>
            <a:endParaRPr lang="ar-SA" sz="3150" dirty="0"/>
          </a:p>
        </p:txBody>
      </p:sp>
      <p:sp>
        <p:nvSpPr>
          <p:cNvPr id="57" name="Text 54"/>
          <p:cNvSpPr txBox="1"/>
          <p:nvPr/>
        </p:nvSpPr>
        <p:spPr>
          <a:xfrm>
            <a:off x="2834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ـذ  ـز</a:t>
            </a:r>
            <a:endParaRPr lang="ar-SA" sz="3150" dirty="0"/>
          </a:p>
        </p:txBody>
      </p:sp>
      <p:sp>
        <p:nvSpPr>
          <p:cNvPr id="58" name="Text 55"/>
          <p:cNvSpPr txBox="1"/>
          <p:nvPr/>
        </p:nvSpPr>
        <p:spPr>
          <a:xfrm>
            <a:off x="548640" y="5215738"/>
            <a:ext cx="2103120" cy="682142"/>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ـذ  ـز</a:t>
            </a:r>
            <a:endParaRPr lang="ar-SA" sz="315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Isolated = initial (unjoined) · medial = final (joined from the right). The break is AFTER the breaker.</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ea typeface="Amiri" pitchFamily="2" charset="-78"/>
                <a:cs typeface="Amiri" pitchFamily="2" charset="-78"/>
              </a:rPr>
              <a:t>بـ</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ea typeface="Amiri" pitchFamily="2" charset="-78"/>
                <a:cs typeface="Amiri" pitchFamily="2" charset="-78"/>
              </a:rPr>
              <a:t>ـتـ</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ea typeface="Amiri" pitchFamily="2" charset="-78"/>
                <a:cs typeface="Amiri" pitchFamily="2" charset="-78"/>
              </a:rPr>
              <a:t>ـج</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Isolated</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non-connector pairing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Isolated = final; initial = medial</a:t>
            </a:r>
            <a:endParaRPr lang="en-US" sz="12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Isolated = initial; medial = final</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ea typeface="Amiri" pitchFamily="2" charset="-78"/>
                <a:cs typeface="Amiri" pitchFamily="2" charset="-78"/>
              </a:rPr>
              <a:t>بـ</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Medial</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Initial</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Joins onward to the left only (website final check 1).</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ea typeface="Amiri" pitchFamily="2" charset="-78"/>
                <a:cs typeface="Amiri" pitchFamily="2" charset="-78"/>
              </a:rPr>
              <a:t>ـتـ</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Medial</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on both sides (website final check 2).</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Name the form </a:t>
            </a:r>
            <a:pPr algn="l" indent="0" marL="0">
              <a:buNone/>
            </a:pPr>
            <a:r>
              <a:rPr lang="ar-SA" altLang="en-US" sz="1650" b="1" dirty="0">
                <a:solidFill>
                  <a:srgbClr val="1B3B6F"/>
                </a:solidFill>
                <a:latin typeface="Amiri" pitchFamily="2" charset="-78"/>
                <a:ea typeface="Amiri" pitchFamily="2" charset="-78"/>
                <a:cs typeface="Amiri" pitchFamily="2" charset="-78"/>
              </a:rPr>
              <a:t>ـج</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Isolated</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Final</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Medial</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from the right only (website final check 3).</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non-connector pairing is correct?</a:t>
            </a:r>
            <a:endParaRPr lang="en-US" sz="1250" dirty="0"/>
          </a:p>
        </p:txBody>
      </p:sp>
      <p:sp>
        <p:nvSpPr>
          <p:cNvPr id="64" name="Shape 61"/>
          <p:cNvSpPr/>
          <p:nvPr/>
        </p:nvSpPr>
        <p:spPr>
          <a:xfrm>
            <a:off x="6368796" y="4873752"/>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Isolated = final; initial = medial</a:t>
            </a:r>
            <a:endParaRPr lang="en-US" sz="1250" dirty="0"/>
          </a:p>
        </p:txBody>
      </p:sp>
      <p:sp>
        <p:nvSpPr>
          <p:cNvPr id="67" name="Shape 64"/>
          <p:cNvSpPr/>
          <p:nvPr/>
        </p:nvSpPr>
        <p:spPr>
          <a:xfrm>
            <a:off x="6277356" y="5294376"/>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5330952"/>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Isolated = initial; medial = final</a:t>
            </a:r>
            <a:endParaRPr lang="en-US" sz="1250" dirty="0"/>
          </a:p>
        </p:txBody>
      </p:sp>
      <p:sp>
        <p:nvSpPr>
          <p:cNvPr id="71" name="Text 68"/>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6.</a:t>
            </a:r>
            <a:endParaRPr lang="en-US" sz="10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X-RAY THREE WORDS (WEBSITE PART 4 THINK-ALOUD)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take words apart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بِنَاءُ الكَلِمَاتِ وَتَحْلِيلُهَا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Word</a:t>
            </a:r>
            <a:endParaRPr lang="en-US" sz="1100" dirty="0"/>
          </a:p>
        </p:txBody>
      </p:sp>
      <p:sp>
        <p:nvSpPr>
          <p:cNvPr id="17" name="Text 14"/>
          <p:cNvSpPr txBox="1"/>
          <p:nvPr/>
        </p:nvSpPr>
        <p:spPr>
          <a:xfrm>
            <a:off x="769010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 1 (right)</a:t>
            </a:r>
            <a:endParaRPr lang="en-US" sz="1100" dirty="0"/>
          </a:p>
        </p:txBody>
      </p:sp>
      <p:sp>
        <p:nvSpPr>
          <p:cNvPr id="18" name="Text 15"/>
          <p:cNvSpPr txBox="1"/>
          <p:nvPr/>
        </p:nvSpPr>
        <p:spPr>
          <a:xfrm>
            <a:off x="56784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 2</a:t>
            </a:r>
            <a:endParaRPr lang="en-US" sz="1100" dirty="0"/>
          </a:p>
        </p:txBody>
      </p:sp>
      <p:sp>
        <p:nvSpPr>
          <p:cNvPr id="19" name="Text 16"/>
          <p:cNvSpPr txBox="1"/>
          <p:nvPr/>
        </p:nvSpPr>
        <p:spPr>
          <a:xfrm>
            <a:off x="366674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 3 (left)</a:t>
            </a:r>
            <a:endParaRPr lang="en-US" sz="1100" dirty="0"/>
          </a:p>
        </p:txBody>
      </p:sp>
      <p:sp>
        <p:nvSpPr>
          <p:cNvPr id="20" name="Text 17"/>
          <p:cNvSpPr txBox="1"/>
          <p:nvPr/>
        </p:nvSpPr>
        <p:spPr>
          <a:xfrm>
            <a:off x="53035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happens?</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720072" y="2286000"/>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كَتَبَ</a:t>
            </a:r>
            <a:endParaRPr lang="ar-SA" sz="2100" dirty="0"/>
          </a:p>
        </p:txBody>
      </p:sp>
      <p:sp>
        <p:nvSpPr>
          <p:cNvPr id="23" name="Text 20"/>
          <p:cNvSpPr txBox="1"/>
          <p:nvPr/>
        </p:nvSpPr>
        <p:spPr>
          <a:xfrm>
            <a:off x="9674352" y="2706624"/>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kataba · he wrote</a:t>
            </a:r>
            <a:endParaRPr lang="en-US" sz="950" dirty="0"/>
          </a:p>
        </p:txBody>
      </p:sp>
      <p:sp>
        <p:nvSpPr>
          <p:cNvPr id="24" name="Text 21"/>
          <p:cNvSpPr txBox="1"/>
          <p:nvPr/>
        </p:nvSpPr>
        <p:spPr>
          <a:xfrm>
            <a:off x="770839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كـ</a:t>
            </a:r>
            <a:endParaRPr lang="ar-SA" sz="2100" dirty="0"/>
          </a:p>
        </p:txBody>
      </p:sp>
      <p:sp>
        <p:nvSpPr>
          <p:cNvPr id="25" name="Text 22"/>
          <p:cNvSpPr txBox="1"/>
          <p:nvPr/>
        </p:nvSpPr>
        <p:spPr>
          <a:xfrm>
            <a:off x="766267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initial kāf</a:t>
            </a:r>
            <a:endParaRPr lang="en-US" sz="950" dirty="0"/>
          </a:p>
        </p:txBody>
      </p:sp>
      <p:sp>
        <p:nvSpPr>
          <p:cNvPr id="26" name="Text 23"/>
          <p:cNvSpPr txBox="1"/>
          <p:nvPr/>
        </p:nvSpPr>
        <p:spPr>
          <a:xfrm>
            <a:off x="569671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ـتـ</a:t>
            </a:r>
            <a:endParaRPr lang="ar-SA" sz="2100" dirty="0"/>
          </a:p>
        </p:txBody>
      </p:sp>
      <p:sp>
        <p:nvSpPr>
          <p:cNvPr id="27" name="Text 24"/>
          <p:cNvSpPr txBox="1"/>
          <p:nvPr/>
        </p:nvSpPr>
        <p:spPr>
          <a:xfrm>
            <a:off x="565099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medial tāʾ</a:t>
            </a:r>
            <a:endParaRPr lang="en-US" sz="950" dirty="0"/>
          </a:p>
        </p:txBody>
      </p:sp>
      <p:sp>
        <p:nvSpPr>
          <p:cNvPr id="28" name="Text 25"/>
          <p:cNvSpPr txBox="1"/>
          <p:nvPr/>
        </p:nvSpPr>
        <p:spPr>
          <a:xfrm>
            <a:off x="3685032" y="2286000"/>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ـب</a:t>
            </a:r>
            <a:endParaRPr lang="ar-SA" sz="2100" dirty="0"/>
          </a:p>
        </p:txBody>
      </p:sp>
      <p:sp>
        <p:nvSpPr>
          <p:cNvPr id="29" name="Text 26"/>
          <p:cNvSpPr txBox="1"/>
          <p:nvPr/>
        </p:nvSpPr>
        <p:spPr>
          <a:xfrm>
            <a:off x="3639312" y="2706624"/>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final bāʾ</a:t>
            </a:r>
            <a:endParaRPr lang="en-US" sz="950" dirty="0"/>
          </a:p>
        </p:txBody>
      </p:sp>
      <p:sp>
        <p:nvSpPr>
          <p:cNvPr id="30" name="Text 27"/>
          <p:cNvSpPr txBox="1"/>
          <p:nvPr/>
        </p:nvSpPr>
        <p:spPr>
          <a:xfrm>
            <a:off x="566928" y="2267712"/>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 neighbours join: one continuous run.</a:t>
            </a:r>
            <a:endParaRPr lang="en-US" sz="1100" dirty="0"/>
          </a:p>
        </p:txBody>
      </p:sp>
      <p:sp>
        <p:nvSpPr>
          <p:cNvPr id="31" name="Shape 2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4" name="Text 31"/>
          <p:cNvSpPr txBox="1"/>
          <p:nvPr/>
        </p:nvSpPr>
        <p:spPr>
          <a:xfrm>
            <a:off x="9720072" y="3072384"/>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بَابٌ</a:t>
            </a:r>
            <a:endParaRPr lang="ar-SA" sz="2100" dirty="0"/>
          </a:p>
        </p:txBody>
      </p:sp>
      <p:sp>
        <p:nvSpPr>
          <p:cNvPr id="35" name="Text 32"/>
          <p:cNvSpPr txBox="1"/>
          <p:nvPr/>
        </p:nvSpPr>
        <p:spPr>
          <a:xfrm>
            <a:off x="9674352" y="3493008"/>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bāb · door</a:t>
            </a:r>
            <a:endParaRPr lang="en-US" sz="950" dirty="0"/>
          </a:p>
        </p:txBody>
      </p:sp>
      <p:sp>
        <p:nvSpPr>
          <p:cNvPr id="36" name="Text 33"/>
          <p:cNvSpPr txBox="1"/>
          <p:nvPr/>
        </p:nvSpPr>
        <p:spPr>
          <a:xfrm>
            <a:off x="770839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بـ</a:t>
            </a:r>
            <a:endParaRPr lang="ar-SA" sz="2100" dirty="0"/>
          </a:p>
        </p:txBody>
      </p:sp>
      <p:sp>
        <p:nvSpPr>
          <p:cNvPr id="37" name="Text 34"/>
          <p:cNvSpPr txBox="1"/>
          <p:nvPr/>
        </p:nvSpPr>
        <p:spPr>
          <a:xfrm>
            <a:off x="766267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initial bāʾ</a:t>
            </a:r>
            <a:endParaRPr lang="en-US" sz="950" dirty="0"/>
          </a:p>
        </p:txBody>
      </p:sp>
      <p:sp>
        <p:nvSpPr>
          <p:cNvPr id="38" name="Text 35"/>
          <p:cNvSpPr txBox="1"/>
          <p:nvPr/>
        </p:nvSpPr>
        <p:spPr>
          <a:xfrm>
            <a:off x="569671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ـا</a:t>
            </a:r>
            <a:endParaRPr lang="ar-SA" sz="2100" dirty="0"/>
          </a:p>
        </p:txBody>
      </p:sp>
      <p:sp>
        <p:nvSpPr>
          <p:cNvPr id="39" name="Text 36"/>
          <p:cNvSpPr txBox="1"/>
          <p:nvPr/>
        </p:nvSpPr>
        <p:spPr>
          <a:xfrm>
            <a:off x="565099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alif receives the join</a:t>
            </a:r>
            <a:endParaRPr lang="en-US" sz="950" dirty="0"/>
          </a:p>
        </p:txBody>
      </p:sp>
      <p:sp>
        <p:nvSpPr>
          <p:cNvPr id="40" name="Text 37"/>
          <p:cNvSpPr txBox="1"/>
          <p:nvPr/>
        </p:nvSpPr>
        <p:spPr>
          <a:xfrm>
            <a:off x="3685032" y="3072384"/>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a:t>
            </a:r>
            <a:endParaRPr lang="ar-SA" sz="2100" dirty="0"/>
          </a:p>
        </p:txBody>
      </p:sp>
      <p:sp>
        <p:nvSpPr>
          <p:cNvPr id="41" name="Text 38"/>
          <p:cNvSpPr txBox="1"/>
          <p:nvPr/>
        </p:nvSpPr>
        <p:spPr>
          <a:xfrm>
            <a:off x="3639312" y="3493008"/>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final but isolated-looking</a:t>
            </a:r>
            <a:endParaRPr lang="en-US" sz="950" dirty="0"/>
          </a:p>
        </p:txBody>
      </p:sp>
      <p:sp>
        <p:nvSpPr>
          <p:cNvPr id="42" name="Text 39"/>
          <p:cNvSpPr txBox="1"/>
          <p:nvPr/>
        </p:nvSpPr>
        <p:spPr>
          <a:xfrm>
            <a:off x="566928" y="3054096"/>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Alif breaks — the last bāʾ stands alone.</a:t>
            </a:r>
            <a:endParaRPr lang="en-US" sz="1100" dirty="0"/>
          </a:p>
        </p:txBody>
      </p:sp>
      <p:sp>
        <p:nvSpPr>
          <p:cNvPr id="43" name="Shape 4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6" name="Text 43"/>
          <p:cNvSpPr txBox="1"/>
          <p:nvPr/>
        </p:nvSpPr>
        <p:spPr>
          <a:xfrm>
            <a:off x="9720072" y="3858768"/>
            <a:ext cx="19202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بَيْتٌ</a:t>
            </a:r>
            <a:endParaRPr lang="ar-SA" sz="2100" dirty="0"/>
          </a:p>
        </p:txBody>
      </p:sp>
      <p:sp>
        <p:nvSpPr>
          <p:cNvPr id="47" name="Text 44"/>
          <p:cNvSpPr txBox="1"/>
          <p:nvPr/>
        </p:nvSpPr>
        <p:spPr>
          <a:xfrm>
            <a:off x="9674352" y="4279392"/>
            <a:ext cx="20116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bayt · house</a:t>
            </a:r>
            <a:endParaRPr lang="en-US" sz="950" dirty="0"/>
          </a:p>
        </p:txBody>
      </p:sp>
      <p:sp>
        <p:nvSpPr>
          <p:cNvPr id="48" name="Text 45"/>
          <p:cNvSpPr txBox="1"/>
          <p:nvPr/>
        </p:nvSpPr>
        <p:spPr>
          <a:xfrm>
            <a:off x="770839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بـ</a:t>
            </a:r>
            <a:endParaRPr lang="ar-SA" sz="2100" dirty="0"/>
          </a:p>
        </p:txBody>
      </p:sp>
      <p:sp>
        <p:nvSpPr>
          <p:cNvPr id="49" name="Text 46"/>
          <p:cNvSpPr txBox="1"/>
          <p:nvPr/>
        </p:nvSpPr>
        <p:spPr>
          <a:xfrm>
            <a:off x="766267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initial bāʾ</a:t>
            </a:r>
            <a:endParaRPr lang="en-US" sz="950" dirty="0"/>
          </a:p>
        </p:txBody>
      </p:sp>
      <p:sp>
        <p:nvSpPr>
          <p:cNvPr id="50" name="Text 47"/>
          <p:cNvSpPr txBox="1"/>
          <p:nvPr/>
        </p:nvSpPr>
        <p:spPr>
          <a:xfrm>
            <a:off x="569671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ـيـ</a:t>
            </a:r>
            <a:endParaRPr lang="ar-SA" sz="2100" dirty="0"/>
          </a:p>
        </p:txBody>
      </p:sp>
      <p:sp>
        <p:nvSpPr>
          <p:cNvPr id="51" name="Text 48"/>
          <p:cNvSpPr txBox="1"/>
          <p:nvPr/>
        </p:nvSpPr>
        <p:spPr>
          <a:xfrm>
            <a:off x="565099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medial yāʾ</a:t>
            </a:r>
            <a:endParaRPr lang="en-US" sz="950" dirty="0"/>
          </a:p>
        </p:txBody>
      </p:sp>
      <p:sp>
        <p:nvSpPr>
          <p:cNvPr id="52" name="Text 49"/>
          <p:cNvSpPr txBox="1"/>
          <p:nvPr/>
        </p:nvSpPr>
        <p:spPr>
          <a:xfrm>
            <a:off x="3685032" y="3858768"/>
            <a:ext cx="182880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ـت</a:t>
            </a:r>
            <a:endParaRPr lang="ar-SA" sz="2100" dirty="0"/>
          </a:p>
        </p:txBody>
      </p:sp>
      <p:sp>
        <p:nvSpPr>
          <p:cNvPr id="53" name="Text 50"/>
          <p:cNvSpPr txBox="1"/>
          <p:nvPr/>
        </p:nvSpPr>
        <p:spPr>
          <a:xfrm>
            <a:off x="3639312" y="4279392"/>
            <a:ext cx="19202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final tāʾ</a:t>
            </a:r>
            <a:endParaRPr lang="en-US" sz="950" dirty="0"/>
          </a:p>
        </p:txBody>
      </p:sp>
      <p:sp>
        <p:nvSpPr>
          <p:cNvPr id="54" name="Text 51"/>
          <p:cNvSpPr txBox="1"/>
          <p:nvPr/>
        </p:nvSpPr>
        <p:spPr>
          <a:xfrm>
            <a:off x="566928" y="3840480"/>
            <a:ext cx="29535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yāʾ is a connector: the whole word stays joined.</a:t>
            </a:r>
            <a:endParaRPr lang="en-US" sz="1100" dirty="0"/>
          </a:p>
        </p:txBody>
      </p:sp>
      <p:sp>
        <p:nvSpPr>
          <p:cNvPr id="55" name="Shape 5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WRITE THE FOUR FORMS (WEBSITE FORMATION PRACTICE)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Copy the four forms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الأَشْكَالَ الأَرْبَعَةَ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Letter</a:t>
            </a:r>
            <a:endParaRPr lang="en-US" sz="1100" dirty="0"/>
          </a:p>
        </p:txBody>
      </p:sp>
      <p:sp>
        <p:nvSpPr>
          <p:cNvPr id="17" name="Text 14"/>
          <p:cNvSpPr txBox="1"/>
          <p:nvPr/>
        </p:nvSpPr>
        <p:spPr>
          <a:xfrm>
            <a:off x="7388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Isolated</a:t>
            </a:r>
            <a:endParaRPr lang="en-US" sz="1100" dirty="0"/>
          </a:p>
        </p:txBody>
      </p:sp>
      <p:sp>
        <p:nvSpPr>
          <p:cNvPr id="18" name="Text 15"/>
          <p:cNvSpPr txBox="1"/>
          <p:nvPr/>
        </p:nvSpPr>
        <p:spPr>
          <a:xfrm>
            <a:off x="5102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Initial (start)</a:t>
            </a:r>
            <a:endParaRPr lang="en-US" sz="1100" dirty="0"/>
          </a:p>
        </p:txBody>
      </p:sp>
      <p:sp>
        <p:nvSpPr>
          <p:cNvPr id="19" name="Text 16"/>
          <p:cNvSpPr txBox="1"/>
          <p:nvPr/>
        </p:nvSpPr>
        <p:spPr>
          <a:xfrm>
            <a:off x="2816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Medial (middle)</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Final (end)</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710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sīn · three teeth every time</a:t>
            </a:r>
            <a:endParaRPr lang="en-US" sz="1100" dirty="0"/>
          </a:p>
        </p:txBody>
      </p:sp>
      <p:sp>
        <p:nvSpPr>
          <p:cNvPr id="23" name="Text 20"/>
          <p:cNvSpPr txBox="1"/>
          <p:nvPr/>
        </p:nvSpPr>
        <p:spPr>
          <a:xfrm>
            <a:off x="7406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a:t>
            </a:r>
            <a:endParaRPr lang="ar-SA" sz="3200" dirty="0"/>
          </a:p>
        </p:txBody>
      </p:sp>
      <p:sp>
        <p:nvSpPr>
          <p:cNvPr id="24" name="Text 21"/>
          <p:cNvSpPr txBox="1"/>
          <p:nvPr/>
        </p:nvSpPr>
        <p:spPr>
          <a:xfrm>
            <a:off x="5120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سـ</a:t>
            </a:r>
            <a:endParaRPr lang="ar-SA" sz="3200" dirty="0"/>
          </a:p>
        </p:txBody>
      </p:sp>
      <p:sp>
        <p:nvSpPr>
          <p:cNvPr id="25" name="Text 22"/>
          <p:cNvSpPr txBox="1"/>
          <p:nvPr/>
        </p:nvSpPr>
        <p:spPr>
          <a:xfrm>
            <a:off x="2834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ـسـ</a:t>
            </a:r>
            <a:endParaRPr lang="ar-SA" sz="3200" dirty="0"/>
          </a:p>
        </p:txBody>
      </p:sp>
      <p:sp>
        <p:nvSpPr>
          <p:cNvPr id="26" name="Text 23"/>
          <p:cNvSpPr txBox="1"/>
          <p:nvPr/>
        </p:nvSpPr>
        <p:spPr>
          <a:xfrm>
            <a:off x="548640" y="2267712"/>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ـس</a:t>
            </a:r>
            <a:endParaRPr lang="ar-SA" sz="32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710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ʿayn · open head → closed head</a:t>
            </a:r>
            <a:endParaRPr lang="en-US" sz="1100" dirty="0"/>
          </a:p>
        </p:txBody>
      </p:sp>
      <p:sp>
        <p:nvSpPr>
          <p:cNvPr id="31" name="Text 28"/>
          <p:cNvSpPr txBox="1"/>
          <p:nvPr/>
        </p:nvSpPr>
        <p:spPr>
          <a:xfrm>
            <a:off x="7406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ع</a:t>
            </a:r>
            <a:endParaRPr lang="ar-SA" sz="3200" dirty="0"/>
          </a:p>
        </p:txBody>
      </p:sp>
      <p:sp>
        <p:nvSpPr>
          <p:cNvPr id="32" name="Text 29"/>
          <p:cNvSpPr txBox="1"/>
          <p:nvPr/>
        </p:nvSpPr>
        <p:spPr>
          <a:xfrm>
            <a:off x="5120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عـ</a:t>
            </a:r>
            <a:endParaRPr lang="ar-SA" sz="3200" dirty="0"/>
          </a:p>
        </p:txBody>
      </p:sp>
      <p:sp>
        <p:nvSpPr>
          <p:cNvPr id="33" name="Text 30"/>
          <p:cNvSpPr txBox="1"/>
          <p:nvPr/>
        </p:nvSpPr>
        <p:spPr>
          <a:xfrm>
            <a:off x="2834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ـعـ</a:t>
            </a:r>
            <a:endParaRPr lang="ar-SA" sz="3200" dirty="0"/>
          </a:p>
        </p:txBody>
      </p:sp>
      <p:sp>
        <p:nvSpPr>
          <p:cNvPr id="34" name="Text 31"/>
          <p:cNvSpPr txBox="1"/>
          <p:nvPr/>
        </p:nvSpPr>
        <p:spPr>
          <a:xfrm>
            <a:off x="548640" y="3054096"/>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ـع</a:t>
            </a:r>
            <a:endParaRPr lang="ar-SA" sz="32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710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mīm · tail only at the end</a:t>
            </a:r>
            <a:endParaRPr lang="en-US" sz="1100" dirty="0"/>
          </a:p>
        </p:txBody>
      </p:sp>
      <p:sp>
        <p:nvSpPr>
          <p:cNvPr id="39" name="Text 36"/>
          <p:cNvSpPr txBox="1"/>
          <p:nvPr/>
        </p:nvSpPr>
        <p:spPr>
          <a:xfrm>
            <a:off x="7406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م</a:t>
            </a:r>
            <a:endParaRPr lang="ar-SA" sz="3200" dirty="0"/>
          </a:p>
        </p:txBody>
      </p:sp>
      <p:sp>
        <p:nvSpPr>
          <p:cNvPr id="40" name="Text 37"/>
          <p:cNvSpPr txBox="1"/>
          <p:nvPr/>
        </p:nvSpPr>
        <p:spPr>
          <a:xfrm>
            <a:off x="5120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مـ</a:t>
            </a:r>
            <a:endParaRPr lang="ar-SA" sz="3200" dirty="0"/>
          </a:p>
        </p:txBody>
      </p:sp>
      <p:sp>
        <p:nvSpPr>
          <p:cNvPr id="41" name="Text 38"/>
          <p:cNvSpPr txBox="1"/>
          <p:nvPr/>
        </p:nvSpPr>
        <p:spPr>
          <a:xfrm>
            <a:off x="2834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ـمـ</a:t>
            </a:r>
            <a:endParaRPr lang="ar-SA" sz="3200" dirty="0"/>
          </a:p>
        </p:txBody>
      </p:sp>
      <p:sp>
        <p:nvSpPr>
          <p:cNvPr id="42" name="Text 39"/>
          <p:cNvSpPr txBox="1"/>
          <p:nvPr/>
        </p:nvSpPr>
        <p:spPr>
          <a:xfrm>
            <a:off x="548640" y="3840480"/>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ـم</a:t>
            </a:r>
            <a:endParaRPr lang="ar-SA" sz="32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710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fāʾ · dot every time</a:t>
            </a:r>
            <a:endParaRPr lang="en-US" sz="1100" dirty="0"/>
          </a:p>
        </p:txBody>
      </p:sp>
      <p:sp>
        <p:nvSpPr>
          <p:cNvPr id="47" name="Text 44"/>
          <p:cNvSpPr txBox="1"/>
          <p:nvPr/>
        </p:nvSpPr>
        <p:spPr>
          <a:xfrm>
            <a:off x="7406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ف</a:t>
            </a:r>
            <a:endParaRPr lang="ar-SA" sz="3200" dirty="0"/>
          </a:p>
        </p:txBody>
      </p:sp>
      <p:sp>
        <p:nvSpPr>
          <p:cNvPr id="48" name="Text 45"/>
          <p:cNvSpPr txBox="1"/>
          <p:nvPr/>
        </p:nvSpPr>
        <p:spPr>
          <a:xfrm>
            <a:off x="5120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فـ</a:t>
            </a:r>
            <a:endParaRPr lang="ar-SA" sz="3200" dirty="0"/>
          </a:p>
        </p:txBody>
      </p:sp>
      <p:sp>
        <p:nvSpPr>
          <p:cNvPr id="49" name="Text 46"/>
          <p:cNvSpPr txBox="1"/>
          <p:nvPr/>
        </p:nvSpPr>
        <p:spPr>
          <a:xfrm>
            <a:off x="2834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ـفـ</a:t>
            </a:r>
            <a:endParaRPr lang="ar-SA" sz="3200" dirty="0"/>
          </a:p>
        </p:txBody>
      </p:sp>
      <p:sp>
        <p:nvSpPr>
          <p:cNvPr id="50" name="Text 47"/>
          <p:cNvSpPr txBox="1"/>
          <p:nvPr/>
        </p:nvSpPr>
        <p:spPr>
          <a:xfrm>
            <a:off x="548640" y="4626864"/>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ـف</a:t>
            </a:r>
            <a:endParaRPr lang="ar-SA" sz="3200" dirty="0"/>
          </a:p>
        </p:txBody>
      </p:sp>
      <p:sp>
        <p:nvSpPr>
          <p:cNvPr id="51" name="Shape 48"/>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2" name="Text 49"/>
          <p:cNvSpPr txBox="1"/>
          <p:nvPr/>
        </p:nvSpPr>
        <p:spPr>
          <a:xfrm>
            <a:off x="9710928" y="5413248"/>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hāʾ · changes the most!</a:t>
            </a:r>
            <a:endParaRPr lang="en-US" sz="1100" dirty="0"/>
          </a:p>
        </p:txBody>
      </p:sp>
      <p:sp>
        <p:nvSpPr>
          <p:cNvPr id="53" name="Text 50"/>
          <p:cNvSpPr txBox="1"/>
          <p:nvPr/>
        </p:nvSpPr>
        <p:spPr>
          <a:xfrm>
            <a:off x="7406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a:t>
            </a:r>
            <a:endParaRPr lang="ar-SA" sz="3200" dirty="0"/>
          </a:p>
        </p:txBody>
      </p:sp>
      <p:sp>
        <p:nvSpPr>
          <p:cNvPr id="54" name="Text 51"/>
          <p:cNvSpPr txBox="1"/>
          <p:nvPr/>
        </p:nvSpPr>
        <p:spPr>
          <a:xfrm>
            <a:off x="5120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هـ</a:t>
            </a:r>
            <a:endParaRPr lang="ar-SA" sz="3200" dirty="0"/>
          </a:p>
        </p:txBody>
      </p:sp>
      <p:sp>
        <p:nvSpPr>
          <p:cNvPr id="55" name="Text 52"/>
          <p:cNvSpPr txBox="1"/>
          <p:nvPr/>
        </p:nvSpPr>
        <p:spPr>
          <a:xfrm>
            <a:off x="2834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ـهـ</a:t>
            </a:r>
            <a:endParaRPr lang="ar-SA" sz="3200" dirty="0"/>
          </a:p>
        </p:txBody>
      </p:sp>
      <p:sp>
        <p:nvSpPr>
          <p:cNvPr id="56" name="Text 53"/>
          <p:cNvSpPr txBox="1"/>
          <p:nvPr/>
        </p:nvSpPr>
        <p:spPr>
          <a:xfrm>
            <a:off x="548640" y="5413248"/>
            <a:ext cx="2103120" cy="73152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ـه</a:t>
            </a:r>
            <a:endParaRPr lang="ar-SA" sz="32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“FORM FINDER”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finder: which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اِبْحَثْ عَنِ الشَّكْلِ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ـسـ</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عـ</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ـم</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ق</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Isolated</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ـهـ</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Look at the little joining lines:</a:t>
            </a:r>
            <a:endParaRPr lang="en-US" sz="1250" dirty="0"/>
          </a:p>
          <a:p>
            <a:pPr algn="l" indent="0" marL="0">
              <a:buNone/>
            </a:pPr>
            <a:r>
              <a:rPr lang="en-US" sz="1250" dirty="0">
                <a:solidFill>
                  <a:srgbClr val="1E6B52"/>
                </a:solidFill>
                <a:latin typeface="Calibri" pitchFamily="34" charset="0"/>
                <a:cs typeface="Amiri" pitchFamily="2" charset="-78"/>
              </a:rPr>
              <a:t>line on the left only → initial</a:t>
            </a:r>
            <a:endParaRPr lang="en-US" sz="1250" dirty="0"/>
          </a:p>
          <a:p>
            <a:pPr algn="l" indent="0" marL="0">
              <a:buNone/>
            </a:pPr>
            <a:r>
              <a:rPr lang="en-US" sz="1250" dirty="0">
                <a:solidFill>
                  <a:srgbClr val="1E6B52"/>
                </a:solidFill>
                <a:latin typeface="Calibri" pitchFamily="34" charset="0"/>
                <a:cs typeface="Amiri" pitchFamily="2" charset="-78"/>
              </a:rPr>
              <a:t>both sides → medial</a:t>
            </a:r>
            <a:endParaRPr lang="en-US" sz="1250" dirty="0"/>
          </a:p>
          <a:p>
            <a:pPr algn="l" indent="0" marL="0">
              <a:buNone/>
            </a:pPr>
            <a:r>
              <a:rPr lang="en-US" sz="1250" dirty="0">
                <a:solidFill>
                  <a:srgbClr val="1E6B52"/>
                </a:solidFill>
                <a:latin typeface="Calibri" pitchFamily="34" charset="0"/>
                <a:cs typeface="Amiri" pitchFamily="2" charset="-78"/>
              </a:rPr>
              <a:t>right only → final</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FORM FINDER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ـسـ</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Medial</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on both sides.</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عـ</a:t>
            </a:r>
            <a:endParaRPr lang="ar-SA" sz="220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Initial</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Medial</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Joins onward to the left only.</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ـم</a:t>
            </a:r>
            <a:endParaRPr lang="ar-SA" sz="22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Final</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Medial</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from the right, with its tail.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ق</a:t>
            </a:r>
            <a:endParaRPr lang="ar-SA" sz="2200" dirty="0"/>
          </a:p>
        </p:txBody>
      </p:sp>
      <p:sp>
        <p:nvSpPr>
          <p:cNvPr id="68" name="Shape 65"/>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1" name="Text 68"/>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Isolated</a:t>
            </a:r>
            <a:endParaRPr lang="en-US" sz="1250" dirty="0"/>
          </a:p>
        </p:txBody>
      </p:sp>
      <p:sp>
        <p:nvSpPr>
          <p:cNvPr id="72" name="Shape 69"/>
          <p:cNvSpPr/>
          <p:nvPr/>
        </p:nvSpPr>
        <p:spPr>
          <a:xfrm>
            <a:off x="640080"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 joins at all.</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form is this?</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ـهـ</a:t>
            </a:r>
            <a:endParaRPr lang="ar-SA" sz="220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90" name="Shape 87"/>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1" name="Shape 88"/>
          <p:cNvSpPr/>
          <p:nvPr/>
        </p:nvSpPr>
        <p:spPr>
          <a:xfrm>
            <a:off x="4459224" y="5574792"/>
            <a:ext cx="256032" cy="256032"/>
          </a:xfrm>
          <a:prstGeom prst="ellipse">
            <a:avLst/>
          </a:prstGeom>
          <a:solidFill>
            <a:srgbClr val="2E8B57"/>
          </a:solidFill>
          <a:ln w="12700">
            <a:solidFill>
              <a:srgbClr val="2E8B57"/>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Medial</a:t>
            </a:r>
            <a:endParaRPr lang="en-US" sz="125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hāʾ in the middle of a word.</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Look at the little joining lines:</a:t>
            </a:r>
            <a:endParaRPr lang="en-US" sz="1250" dirty="0"/>
          </a:p>
          <a:p>
            <a:pPr algn="l" indent="0" marL="0">
              <a:buNone/>
            </a:pPr>
            <a:r>
              <a:rPr lang="en-US" sz="1250" dirty="0">
                <a:solidFill>
                  <a:srgbClr val="1E6B52"/>
                </a:solidFill>
                <a:latin typeface="Calibri" pitchFamily="34" charset="0"/>
                <a:cs typeface="Amiri" pitchFamily="2" charset="-78"/>
              </a:rPr>
              <a:t>line on the left only → initial</a:t>
            </a:r>
            <a:endParaRPr lang="en-US" sz="1250" dirty="0"/>
          </a:p>
          <a:p>
            <a:pPr algn="l" indent="0" marL="0">
              <a:buNone/>
            </a:pPr>
            <a:r>
              <a:rPr lang="en-US" sz="1250" dirty="0">
                <a:solidFill>
                  <a:srgbClr val="1E6B52"/>
                </a:solidFill>
                <a:latin typeface="Calibri" pitchFamily="34" charset="0"/>
                <a:cs typeface="Amiri" pitchFamily="2" charset="-78"/>
              </a:rPr>
              <a:t>both sides → medial</a:t>
            </a:r>
            <a:endParaRPr lang="en-US" sz="1250" dirty="0"/>
          </a:p>
          <a:p>
            <a:pPr algn="l" indent="0" marL="0">
              <a:buNone/>
            </a:pPr>
            <a:r>
              <a:rPr lang="en-US" sz="1250" dirty="0">
                <a:solidFill>
                  <a:srgbClr val="1E6B52"/>
                </a:solidFill>
                <a:latin typeface="Calibri" pitchFamily="34" charset="0"/>
                <a:cs typeface="Amiri" pitchFamily="2" charset="-78"/>
              </a:rPr>
              <a:t>right only → final</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“CONNECTION ARCHITECT”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Can it join the next letter?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مُهَنْدِسُ الاِتِّصَالِ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Can continue the join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Stops the join (breaker)</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CONNECTION ARCHITECT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Can continue the join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Stops the join (breaker)</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و</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“WORD X-RAY”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X-ray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الكَلِمَةَ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final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 look in </a:t>
            </a:r>
            <a:pPr algn="l" indent="0" marL="0">
              <a:buNone/>
            </a:pPr>
            <a:r>
              <a:rPr lang="ar-SA" altLang="en-US" sz="1650" b="1" dirty="0">
                <a:solidFill>
                  <a:srgbClr val="1B3B6F"/>
                </a:solidFill>
                <a:latin typeface="Amiri" pitchFamily="2" charset="-78"/>
                <a:ea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Isolated-looking</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 connected</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form is </a:t>
            </a:r>
            <a:pPr algn="l" indent="0" marL="0">
              <a:buNone/>
            </a:pPr>
            <a:r>
              <a:rPr lang="ar-SA" altLang="en-US" sz="1650" b="1" dirty="0">
                <a:solidFill>
                  <a:srgbClr val="1B3B6F"/>
                </a:solidFill>
                <a:latin typeface="Amiri" pitchFamily="2" charset="-78"/>
                <a:ea typeface="Amiri" pitchFamily="2" charset="-78"/>
                <a:cs typeface="Amiri" pitchFamily="2" charset="-78"/>
              </a:rPr>
              <a:t>ي</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form is </a:t>
            </a:r>
            <a:pPr algn="l" indent="0" marL="0">
              <a:buNone/>
            </a:pPr>
            <a:r>
              <a:rPr lang="ar-SA" altLang="en-US" sz="1650" b="1" dirty="0">
                <a:solidFill>
                  <a:srgbClr val="1B3B6F"/>
                </a:solidFill>
                <a:latin typeface="Amiri" pitchFamily="2" charset="-78"/>
                <a:ea typeface="Amiri" pitchFamily="2" charset="-78"/>
                <a:cs typeface="Amiri" pitchFamily="2" charset="-78"/>
              </a:rPr>
              <a:t>ك</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Initial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Medial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Final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break in </a:t>
            </a:r>
            <a:pPr algn="l" indent="0" marL="0">
              <a:buNone/>
            </a:pPr>
            <a:r>
              <a:rPr lang="ar-SA" altLang="en-US" sz="1650" b="1" dirty="0">
                <a:solidFill>
                  <a:srgbClr val="1B3B6F"/>
                </a:solidFill>
                <a:latin typeface="Amiri" pitchFamily="2" charset="-78"/>
                <a:ea typeface="Amiri" pitchFamily="2" charset="-78"/>
                <a:cs typeface="Amiri" pitchFamily="2" charset="-78"/>
              </a:rPr>
              <a:t>دَرَسَ</a:t>
            </a:r>
            <a:pPr algn="l" indent="0" marL="0">
              <a:buNone/>
            </a:pPr>
            <a:r>
              <a:rPr lang="en-US" sz="1250" b="1" dirty="0">
                <a:solidFill>
                  <a:srgbClr val="1B3B6F"/>
                </a:solidFill>
                <a:latin typeface="Calibri" pitchFamily="34" charset="0"/>
                <a:cs typeface="Amiri" pitchFamily="2" charset="-78"/>
              </a:rPr>
              <a:t> (he studied)?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after </a:t>
            </a:r>
            <a:pPr algn="l" indent="0" marL="0">
              <a:buNone/>
            </a:pPr>
            <a:r>
              <a:rPr lang="ar-SA" altLang="en-US" sz="1650" dirty="0">
                <a:solidFill>
                  <a:srgbClr val="1F2A37"/>
                </a:solidFill>
                <a:latin typeface="Amiri" pitchFamily="2" charset="-78"/>
                <a:ea typeface="Amiri" pitchFamily="2" charset="-78"/>
                <a:cs typeface="Amiri" pitchFamily="2" charset="-78"/>
              </a:rPr>
              <a:t>س</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break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a:t>
            </a:r>
            <a:pPr algn="l" indent="0" marL="0">
              <a:buNone/>
            </a:pPr>
            <a:r>
              <a:rPr lang="ar-SA" altLang="en-US" sz="1650" dirty="0">
                <a:solidFill>
                  <a:srgbClr val="1F2A37"/>
                </a:solidFill>
                <a:latin typeface="Amiri" pitchFamily="2" charset="-78"/>
                <a:ea typeface="Amiri" pitchFamily="2" charset="-78"/>
                <a:cs typeface="Amiri" pitchFamily="2" charset="-78"/>
              </a:rPr>
              <a:t>د</a:t>
            </a:r>
            <a:pPr algn="l" indent="0" marL="0">
              <a:buNone/>
            </a:pPr>
            <a:r>
              <a:rPr lang="en-US" sz="1250" dirty="0">
                <a:solidFill>
                  <a:srgbClr val="1F2A37"/>
                </a:solidFill>
                <a:latin typeface="Calibri" pitchFamily="34" charset="0"/>
                <a:cs typeface="Amiri" pitchFamily="2" charset="-78"/>
              </a:rPr>
              <a:t> and after </a:t>
            </a:r>
            <a:pPr algn="l" indent="0" marL="0">
              <a:buNone/>
            </a:pPr>
            <a:r>
              <a:rPr lang="ar-SA" altLang="en-US" sz="1650" dirty="0">
                <a:solidFill>
                  <a:srgbClr val="1F2A37"/>
                </a:solidFill>
                <a:latin typeface="Amiri" pitchFamily="2" charset="-78"/>
                <a:ea typeface="Amiri" pitchFamily="2" charset="-78"/>
                <a:cs typeface="Amiri" pitchFamily="2" charset="-78"/>
              </a:rPr>
              <a:t>ر</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inspect before choosing a form?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Its neighbours and their connection behaviour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number of dots</a:t>
            </a:r>
            <a:endParaRPr lang="en-US" sz="1250" dirty="0"/>
          </a:p>
        </p:txBody>
      </p:sp>
      <p:sp>
        <p:nvSpPr>
          <p:cNvPr id="77" name="Shape 7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79" name="Text 7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0" name="Text 77"/>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Read right → left.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Check the letter on the RIGHT, then the LEFT.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Breakers: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 د ذ ر ز و</a:t>
            </a:r>
            <a:endParaRPr lang="en-US" sz="125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WORD X-RAY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final </a:t>
            </a:r>
            <a:pPr algn="l" indent="0" marL="0">
              <a:buNone/>
            </a:pPr>
            <a:r>
              <a:rPr lang="ar-SA" altLang="en-US" sz="1650" b="1" dirty="0">
                <a:solidFill>
                  <a:srgbClr val="1B3B6F"/>
                </a:solidFill>
                <a:latin typeface="Amiri" pitchFamily="2" charset="-78"/>
                <a:ea typeface="Amiri" pitchFamily="2" charset="-78"/>
                <a:cs typeface="Amiri" pitchFamily="2" charset="-78"/>
              </a:rPr>
              <a:t>ب</a:t>
            </a:r>
            <a:pPr algn="l" indent="0" marL="0">
              <a:buNone/>
            </a:pPr>
            <a:r>
              <a:rPr lang="en-US" sz="1250" b="1" dirty="0">
                <a:solidFill>
                  <a:srgbClr val="1B3B6F"/>
                </a:solidFill>
                <a:latin typeface="Calibri" pitchFamily="34" charset="0"/>
                <a:cs typeface="Amiri" pitchFamily="2" charset="-78"/>
              </a:rPr>
              <a:t> look in </a:t>
            </a:r>
            <a:pPr algn="l" indent="0" marL="0">
              <a:buNone/>
            </a:pPr>
            <a:r>
              <a:rPr lang="ar-SA" altLang="en-US" sz="1650" b="1" dirty="0">
                <a:solidFill>
                  <a:srgbClr val="1B3B6F"/>
                </a:solidFill>
                <a:latin typeface="Amiri" pitchFamily="2" charset="-78"/>
                <a:ea typeface="Amiri" pitchFamily="2" charset="-78"/>
                <a:cs typeface="Amiri" pitchFamily="2" charset="-78"/>
              </a:rPr>
              <a:t>بَاب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Isolated-looking</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 connected</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Alif breaks before it (website final check 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form is </a:t>
            </a:r>
            <a:pPr algn="l" indent="0" marL="0">
              <a:buNone/>
            </a:pPr>
            <a:r>
              <a:rPr lang="ar-SA" altLang="en-US" sz="1650" b="1" dirty="0">
                <a:solidFill>
                  <a:srgbClr val="1B3B6F"/>
                </a:solidFill>
                <a:latin typeface="Amiri" pitchFamily="2" charset="-78"/>
                <a:ea typeface="Amiri" pitchFamily="2" charset="-78"/>
                <a:cs typeface="Amiri" pitchFamily="2" charset="-78"/>
              </a:rPr>
              <a:t>ي</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بَيْت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Initial</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Medial</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Joined on both sides (website final check 8).</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form is </a:t>
            </a:r>
            <a:pPr algn="l" indent="0" marL="0">
              <a:buNone/>
            </a:pPr>
            <a:r>
              <a:rPr lang="ar-SA" altLang="en-US" sz="1650" b="1" dirty="0">
                <a:solidFill>
                  <a:srgbClr val="1B3B6F"/>
                </a:solidFill>
                <a:latin typeface="Amiri" pitchFamily="2" charset="-78"/>
                <a:ea typeface="Amiri" pitchFamily="2" charset="-78"/>
                <a:cs typeface="Amiri" pitchFamily="2" charset="-78"/>
              </a:rPr>
              <a:t>ك</a:t>
            </a:r>
            <a:pPr algn="l" indent="0" marL="0">
              <a:buNone/>
            </a:pPr>
            <a:r>
              <a:rPr lang="en-US" sz="1250" b="1" dirty="0">
                <a:solidFill>
                  <a:srgbClr val="1B3B6F"/>
                </a:solidFill>
                <a:latin typeface="Calibri" pitchFamily="34" charset="0"/>
                <a:cs typeface="Amiri" pitchFamily="2" charset="-78"/>
              </a:rPr>
              <a:t> in </a:t>
            </a:r>
            <a:pPr algn="l" indent="0" marL="0">
              <a:buNone/>
            </a:pPr>
            <a:r>
              <a:rPr lang="ar-SA" altLang="en-US" sz="1650" b="1" dirty="0">
                <a:solidFill>
                  <a:srgbClr val="1B3B6F"/>
                </a:solidFill>
                <a:latin typeface="Amiri" pitchFamily="2" charset="-78"/>
                <a:ea typeface="Amiri" pitchFamily="2" charset="-78"/>
                <a:cs typeface="Amiri" pitchFamily="2" charset="-78"/>
              </a:rPr>
              <a:t>كَتَبَ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Initial</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Medial</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Final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 letter, joins onward.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break in </a:t>
            </a:r>
            <a:pPr algn="l" indent="0" marL="0">
              <a:buNone/>
            </a:pPr>
            <a:r>
              <a:rPr lang="ar-SA" altLang="en-US" sz="1650" b="1" dirty="0">
                <a:solidFill>
                  <a:srgbClr val="1B3B6F"/>
                </a:solidFill>
                <a:latin typeface="Amiri" pitchFamily="2" charset="-78"/>
                <a:ea typeface="Amiri" pitchFamily="2" charset="-78"/>
                <a:cs typeface="Amiri" pitchFamily="2" charset="-78"/>
              </a:rPr>
              <a:t>دَرَسَ</a:t>
            </a:r>
            <a:pPr algn="l" indent="0" marL="0">
              <a:buNone/>
            </a:pPr>
            <a:r>
              <a:rPr lang="en-US" sz="1250" b="1" dirty="0">
                <a:solidFill>
                  <a:srgbClr val="1B3B6F"/>
                </a:solidFill>
                <a:latin typeface="Calibri" pitchFamily="34" charset="0"/>
                <a:cs typeface="Amiri" pitchFamily="2" charset="-78"/>
              </a:rPr>
              <a:t> (he studied)?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after </a:t>
            </a:r>
            <a:pPr algn="l" indent="0" marL="0">
              <a:buNone/>
            </a:pPr>
            <a:r>
              <a:rPr lang="ar-SA" altLang="en-US" sz="1650" dirty="0">
                <a:solidFill>
                  <a:srgbClr val="9AA1AB"/>
                </a:solidFill>
                <a:latin typeface="Amiri" pitchFamily="2" charset="-78"/>
                <a:ea typeface="Amiri" pitchFamily="2" charset="-78"/>
                <a:cs typeface="Amiri" pitchFamily="2" charset="-78"/>
              </a:rPr>
              <a:t>س</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break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After </a:t>
            </a:r>
            <a:pPr algn="l" indent="0" marL="0">
              <a:buNone/>
            </a:pPr>
            <a:r>
              <a:rPr lang="ar-SA" altLang="en-US" sz="1650" b="1" dirty="0">
                <a:solidFill>
                  <a:srgbClr val="1F2A37"/>
                </a:solidFill>
                <a:latin typeface="Amiri" pitchFamily="2" charset="-78"/>
                <a:ea typeface="Amiri" pitchFamily="2" charset="-78"/>
                <a:cs typeface="Amiri" pitchFamily="2" charset="-78"/>
              </a:rPr>
              <a:t>د</a:t>
            </a:r>
            <a:pPr algn="l" indent="0" marL="0">
              <a:buNone/>
            </a:pPr>
            <a:r>
              <a:rPr lang="en-US" sz="1250" b="1" dirty="0">
                <a:solidFill>
                  <a:srgbClr val="1F2A37"/>
                </a:solidFill>
                <a:latin typeface="Calibri" pitchFamily="34" charset="0"/>
                <a:cs typeface="Amiri" pitchFamily="2" charset="-78"/>
              </a:rPr>
              <a:t> and after </a:t>
            </a:r>
            <a:pPr algn="l" indent="0" marL="0">
              <a:buNone/>
            </a:pPr>
            <a:r>
              <a:rPr lang="ar-SA" altLang="en-US" sz="1650" b="1" dirty="0">
                <a:solidFill>
                  <a:srgbClr val="1F2A37"/>
                </a:solidFill>
                <a:latin typeface="Amiri" pitchFamily="2" charset="-78"/>
                <a:ea typeface="Amiri" pitchFamily="2" charset="-78"/>
                <a:cs typeface="Amiri" pitchFamily="2" charset="-78"/>
              </a:rPr>
              <a:t>ر</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د</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ر</a:t>
            </a:r>
            <a:pPr algn="l" indent="0" marL="0">
              <a:buNone/>
            </a:pPr>
            <a:r>
              <a:rPr lang="en-US" sz="1050" i="1" dirty="0">
                <a:solidFill>
                  <a:srgbClr val="8A6D1E"/>
                </a:solidFill>
                <a:latin typeface="Calibri" pitchFamily="34" charset="0"/>
                <a:cs typeface="Amiri" pitchFamily="2" charset="-78"/>
              </a:rPr>
              <a:t> are both breakers: </a:t>
            </a:r>
            <a:pPr algn="l" indent="0" marL="0">
              <a:buNone/>
            </a:pPr>
            <a:r>
              <a:rPr lang="ar-SA" altLang="en-US" sz="1350" dirty="0">
                <a:solidFill>
                  <a:srgbClr val="8A6D1E"/>
                </a:solidFill>
                <a:latin typeface="Amiri" pitchFamily="2" charset="-78"/>
                <a:ea typeface="Amiri" pitchFamily="2" charset="-78"/>
                <a:cs typeface="Amiri" pitchFamily="2" charset="-78"/>
              </a:rPr>
              <a:t>د ر س</a:t>
            </a:r>
            <a:pPr algn="l" indent="0" marL="0">
              <a:buNone/>
            </a:pPr>
            <a:r>
              <a:rPr lang="en-US" sz="1050" i="1" dirty="0">
                <a:solidFill>
                  <a:srgbClr val="8A6D1E"/>
                </a:solidFill>
                <a:latin typeface="Calibri" pitchFamily="34" charset="0"/>
                <a:cs typeface="Amiri" pitchFamily="2" charset="-78"/>
              </a:rPr>
              <a:t> all look separate.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you inspect before choosing a form?</a:t>
            </a:r>
            <a:endParaRPr lang="en-US" sz="1250" dirty="0"/>
          </a:p>
        </p:txBody>
      </p:sp>
      <p:sp>
        <p:nvSpPr>
          <p:cNvPr id="79" name="Shape 76"/>
          <p:cNvSpPr/>
          <p:nvPr/>
        </p:nvSpPr>
        <p:spPr>
          <a:xfrm>
            <a:off x="4367784" y="4837176"/>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73752"/>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Its neighbours and their connection behaviour</a:t>
            </a:r>
            <a:endParaRPr lang="en-US" sz="1250" dirty="0"/>
          </a:p>
        </p:txBody>
      </p:sp>
      <p:sp>
        <p:nvSpPr>
          <p:cNvPr id="83" name="Shape 80"/>
          <p:cNvSpPr/>
          <p:nvPr/>
        </p:nvSpPr>
        <p:spPr>
          <a:xfrm>
            <a:off x="4459224" y="5330952"/>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number of dots</a:t>
            </a:r>
            <a:endParaRPr lang="en-US" sz="1250" dirty="0"/>
          </a:p>
        </p:txBody>
      </p:sp>
      <p:sp>
        <p:nvSpPr>
          <p:cNvPr id="86" name="Text 8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10.</a:t>
            </a:r>
            <a:endParaRPr lang="en-US" sz="1050" dirty="0"/>
          </a:p>
        </p:txBody>
      </p:sp>
      <p:sp>
        <p:nvSpPr>
          <p:cNvPr id="87" name="Shape 84"/>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9" name="Text 86"/>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0" name="Text 87"/>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Read right → left.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Check the letter on the RIGHT, then the LEFT.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Breakers: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 د ذ ر ز و</a:t>
            </a:r>
            <a:endParaRPr lang="en-US" sz="1250" dirty="0"/>
          </a:p>
        </p:txBody>
      </p:sp>
      <p:sp>
        <p:nvSpPr>
          <p:cNvPr id="91" name="Text 8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four-form rows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Copy </a:t>
            </a:r>
            <a:pPr algn="l" indent="0" marL="0">
              <a:buNone/>
            </a:pPr>
            <a:r>
              <a:rPr lang="ar-SA" altLang="en-US" sz="1800" b="1" dirty="0">
                <a:solidFill>
                  <a:srgbClr val="1F2A37"/>
                </a:solidFill>
                <a:latin typeface="Amiri" pitchFamily="2" charset="-78"/>
                <a:ea typeface="Amiri" pitchFamily="2" charset="-78"/>
                <a:cs typeface="Amiri" pitchFamily="2" charset="-78"/>
              </a:rPr>
              <a:t>ب ت ث</a:t>
            </a:r>
            <a:pPr algn="l" indent="0" marL="0">
              <a:buNone/>
            </a:pPr>
            <a:r>
              <a:rPr lang="en-US" sz="1400" b="1" dirty="0">
                <a:solidFill>
                  <a:srgbClr val="1F2A37"/>
                </a:solidFill>
                <a:latin typeface="Calibri" pitchFamily="34" charset="0"/>
                <a:cs typeface="Amiri" pitchFamily="2" charset="-78"/>
              </a:rPr>
              <a:t> in four columns: isolated, initial, medial, final.</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Write the body first, then add the dots. Label each column.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four-form rows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Four-form rows for </a:t>
            </a:r>
            <a:pPr algn="l" indent="0" marL="0">
              <a:buNone/>
            </a:pPr>
            <a:r>
              <a:rPr lang="ar-SA" altLang="en-US" sz="1800" b="1" dirty="0">
                <a:solidFill>
                  <a:srgbClr val="1F2A37"/>
                </a:solidFill>
                <a:latin typeface="Amiri" pitchFamily="2" charset="-78"/>
                <a:ea typeface="Amiri" pitchFamily="2" charset="-78"/>
                <a:cs typeface="Amiri" pitchFamily="2" charset="-78"/>
              </a:rPr>
              <a:t>س ش ص ض ط ظ</a:t>
            </a:r>
            <a:pPr algn="l" indent="0" marL="0">
              <a:buNone/>
            </a:pPr>
            <a:r>
              <a:rPr lang="en-US" sz="1400" b="1" dirty="0">
                <a:solidFill>
                  <a:srgbClr val="1F2A37"/>
                </a:solidFill>
                <a:latin typeface="Calibri" pitchFamily="34" charset="0"/>
                <a:cs typeface="Amiri" pitchFamily="2" charset="-78"/>
              </a:rPr>
              <a:t> (website homework).</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Cover one column and rebuild it from the rule.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X-ray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Split </a:t>
            </a:r>
            <a:pPr algn="l" indent="0" marL="0">
              <a:buNone/>
            </a:pPr>
            <a:r>
              <a:rPr lang="ar-SA" altLang="en-US" sz="1800" b="1" dirty="0">
                <a:solidFill>
                  <a:srgbClr val="1F2A37"/>
                </a:solidFill>
                <a:latin typeface="Amiri" pitchFamily="2" charset="-78"/>
                <a:ea typeface="Amiri" pitchFamily="2" charset="-78"/>
                <a:cs typeface="Amiri" pitchFamily="2" charset="-78"/>
              </a:rPr>
              <a:t>كَتَبَ، بَاب، بَيْت</a:t>
            </a:r>
            <a:pPr algn="l" indent="0" marL="0">
              <a:buNone/>
            </a:pPr>
            <a:r>
              <a:rPr lang="en-US" sz="1400" b="1" dirty="0">
                <a:solidFill>
                  <a:srgbClr val="1F2A37"/>
                </a:solidFill>
                <a:latin typeface="Calibri" pitchFamily="34" charset="0"/>
                <a:cs typeface="Amiri" pitchFamily="2" charset="-78"/>
              </a:rPr>
              <a:t>, then </a:t>
            </a:r>
            <a:pPr algn="l" indent="0" marL="0">
              <a:buNone/>
            </a:pPr>
            <a:r>
              <a:rPr lang="ar-SA" altLang="en-US" sz="1800" b="1" dirty="0">
                <a:solidFill>
                  <a:srgbClr val="1F2A37"/>
                </a:solidFill>
                <a:latin typeface="Amiri" pitchFamily="2" charset="-78"/>
                <a:ea typeface="Amiri" pitchFamily="2" charset="-78"/>
                <a:cs typeface="Amiri" pitchFamily="2" charset="-78"/>
              </a:rPr>
              <a:t>مَدْرَسَة</a:t>
            </a:r>
            <a:pPr algn="l" indent="0" marL="0">
              <a:buNone/>
            </a:pPr>
            <a:r>
              <a:rPr lang="en-US" sz="1400" b="1" dirty="0">
                <a:solidFill>
                  <a:srgbClr val="1F2A37"/>
                </a:solidFill>
                <a:latin typeface="Calibri" pitchFamily="34" charset="0"/>
                <a:cs typeface="Amiri" pitchFamily="2" charset="-78"/>
              </a:rPr>
              <a:t> (school) and </a:t>
            </a:r>
            <a:pPr algn="l" indent="0" marL="0">
              <a:buNone/>
            </a:pPr>
            <a:r>
              <a:rPr lang="ar-SA" altLang="en-US" sz="1800" b="1" dirty="0">
                <a:solidFill>
                  <a:srgbClr val="1F2A37"/>
                </a:solidFill>
                <a:latin typeface="Amiri" pitchFamily="2" charset="-78"/>
                <a:ea typeface="Amiri" pitchFamily="2" charset="-78"/>
                <a:cs typeface="Amiri" pitchFamily="2" charset="-78"/>
              </a:rPr>
              <a:t>رَسُول</a:t>
            </a:r>
            <a:pPr algn="l" indent="0" marL="0">
              <a:buNone/>
            </a:pPr>
            <a:r>
              <a:rPr lang="en-US" sz="1400" b="1" dirty="0">
                <a:solidFill>
                  <a:srgbClr val="1F2A37"/>
                </a:solidFill>
                <a:latin typeface="Calibri" pitchFamily="34" charset="0"/>
                <a:cs typeface="Amiri" pitchFamily="2" charset="-78"/>
              </a:rPr>
              <a:t> (messenger), and label every form.</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Explain word position vs visible form after each breaker (website Heritage extension).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Explain a word to a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هٰذَا الحَرْفُ؟</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أَوَّلِيٌّ أَمْ وَسَطِيٌّ أَمْ نِهَائِيٌّ؟</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الاِنْفِصَالُ؟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حَلِّلْ «مَدْرَسَة».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لَا يَتَّصِلُ بِمَا بَعْدَهُ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مِيمٌ ، دَالٌ ، رَاءٌ ، سِينٌ ، تَاءٌ مَرْبُوطَةٌ</a:t>
            </a:r>
            <a:endParaRPr lang="ar-SA" sz="155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قَالَ / قَالَتْ :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هٰذِهِ الكَلِمَةُ؟ كَتَبَ</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this word? kataba</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كَافٌ، تَاءٌ، بَاءٌ. كُلُّهَا مُتَّصِلَةٌ.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kāf, tāʾ, bāʾ. They are all joined.</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MIX-UPS AND REPAIRS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Mistakes that help us learn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أَخْطَاءٌ شَائِعَةٌ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68426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Likely mix-up</a:t>
            </a:r>
            <a:endParaRPr lang="en-US" sz="1100" dirty="0"/>
          </a:p>
        </p:txBody>
      </p:sp>
      <p:sp>
        <p:nvSpPr>
          <p:cNvPr id="17" name="Text 14"/>
          <p:cNvSpPr txBox="1"/>
          <p:nvPr/>
        </p:nvSpPr>
        <p:spPr>
          <a:xfrm>
            <a:off x="530352" y="1810512"/>
            <a:ext cx="60076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Repair cue</a:t>
            </a:r>
            <a:endParaRPr lang="en-US" sz="1100" dirty="0"/>
          </a:p>
        </p:txBody>
      </p:sp>
      <p:sp>
        <p:nvSpPr>
          <p:cNvPr id="18" name="Shape 15"/>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19" name="Text 16"/>
          <p:cNvSpPr txBox="1"/>
          <p:nvPr/>
        </p:nvSpPr>
        <p:spPr>
          <a:xfrm>
            <a:off x="6720840" y="226771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Choosing a form from the letter’s number in the word</a:t>
            </a:r>
            <a:endParaRPr lang="en-US" sz="1100" dirty="0"/>
          </a:p>
        </p:txBody>
      </p:sp>
      <p:sp>
        <p:nvSpPr>
          <p:cNvPr id="20" name="Text 17"/>
          <p:cNvSpPr txBox="1"/>
          <p:nvPr/>
        </p:nvSpPr>
        <p:spPr>
          <a:xfrm>
            <a:off x="566928" y="226771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the neighbours, not the position number (website).</a:t>
            </a:r>
            <a:endParaRPr lang="en-US" sz="1100" dirty="0"/>
          </a:p>
        </p:txBody>
      </p:sp>
      <p:sp>
        <p:nvSpPr>
          <p:cNvPr id="21" name="Shape 18"/>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2" name="Text 19"/>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3" name="Shape 20"/>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4" name="Text 21"/>
          <p:cNvSpPr txBox="1"/>
          <p:nvPr/>
        </p:nvSpPr>
        <p:spPr>
          <a:xfrm>
            <a:off x="6720840" y="2950464"/>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Joining after </a:t>
            </a:r>
            <a:pPr algn="l" indent="0" marL="0">
              <a:buNone/>
            </a:pPr>
            <a:r>
              <a:rPr lang="ar-SA" altLang="en-US" sz="1450" dirty="0">
                <a:solidFill>
                  <a:srgbClr val="5A6472"/>
                </a:solidFill>
                <a:latin typeface="Amiri" pitchFamily="2" charset="-78"/>
                <a:ea typeface="Amiri" pitchFamily="2" charset="-78"/>
                <a:cs typeface="Amiri" pitchFamily="2" charset="-78"/>
              </a:rPr>
              <a:t>ا د ذ ر ز و</a:t>
            </a:r>
            <a:endParaRPr lang="en-US" sz="1100" dirty="0"/>
          </a:p>
        </p:txBody>
      </p:sp>
      <p:sp>
        <p:nvSpPr>
          <p:cNvPr id="25" name="Text 22"/>
          <p:cNvSpPr txBox="1"/>
          <p:nvPr/>
        </p:nvSpPr>
        <p:spPr>
          <a:xfrm>
            <a:off x="566928" y="2950464"/>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break is AFTER the breaker.</a:t>
            </a:r>
            <a:endParaRPr lang="en-US" sz="1100" dirty="0"/>
          </a:p>
        </p:txBody>
      </p:sp>
      <p:sp>
        <p:nvSpPr>
          <p:cNvPr id="26" name="Shape 2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29" name="Text 26"/>
          <p:cNvSpPr txBox="1"/>
          <p:nvPr/>
        </p:nvSpPr>
        <p:spPr>
          <a:xfrm>
            <a:off x="6720840" y="3633216"/>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Forgetting the dots on the small “tooth”</a:t>
            </a:r>
            <a:endParaRPr lang="en-US" sz="1100" dirty="0"/>
          </a:p>
        </p:txBody>
      </p:sp>
      <p:sp>
        <p:nvSpPr>
          <p:cNvPr id="30" name="Text 27"/>
          <p:cNvSpPr txBox="1"/>
          <p:nvPr/>
        </p:nvSpPr>
        <p:spPr>
          <a:xfrm>
            <a:off x="566928" y="3633216"/>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Body first, then the dots — they are the identity.</a:t>
            </a:r>
            <a:endParaRPr lang="en-US" sz="1100" dirty="0"/>
          </a:p>
        </p:txBody>
      </p:sp>
      <p:sp>
        <p:nvSpPr>
          <p:cNvPr id="31" name="Shape 28"/>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4" name="Text 31"/>
          <p:cNvSpPr txBox="1"/>
          <p:nvPr/>
        </p:nvSpPr>
        <p:spPr>
          <a:xfrm>
            <a:off x="6720840" y="4315968"/>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Calling the last </a:t>
            </a:r>
            <a:pPr algn="l" indent="0" marL="0">
              <a:buNone/>
            </a:pPr>
            <a:r>
              <a:rPr lang="ar-SA" altLang="en-US" sz="1450" dirty="0">
                <a:solidFill>
                  <a:srgbClr val="5A6472"/>
                </a:solidFill>
                <a:latin typeface="Amiri" pitchFamily="2" charset="-78"/>
                <a:ea typeface="Amiri" pitchFamily="2" charset="-78"/>
                <a:cs typeface="Amiri" pitchFamily="2" charset="-78"/>
              </a:rPr>
              <a:t>ب</a:t>
            </a:r>
            <a:pPr algn="l" indent="0" marL="0">
              <a:buNone/>
            </a:pPr>
            <a:r>
              <a:rPr lang="en-US" sz="1100" dirty="0">
                <a:solidFill>
                  <a:srgbClr val="5A6472"/>
                </a:solidFill>
                <a:latin typeface="Calibri" pitchFamily="34" charset="0"/>
                <a:cs typeface="Amiri" pitchFamily="2" charset="-78"/>
              </a:rPr>
              <a:t> in </a:t>
            </a:r>
            <a:pPr algn="l" indent="0" marL="0">
              <a:buNone/>
            </a:pPr>
            <a:r>
              <a:rPr lang="ar-SA" altLang="en-US" sz="1450" dirty="0">
                <a:solidFill>
                  <a:srgbClr val="5A6472"/>
                </a:solidFill>
                <a:latin typeface="Amiri" pitchFamily="2" charset="-78"/>
                <a:ea typeface="Amiri" pitchFamily="2" charset="-78"/>
                <a:cs typeface="Amiri" pitchFamily="2" charset="-78"/>
              </a:rPr>
              <a:t>بَاب</a:t>
            </a:r>
            <a:pPr algn="l" indent="0" marL="0">
              <a:buNone/>
            </a:pPr>
            <a:r>
              <a:rPr lang="en-US" sz="1100" dirty="0">
                <a:solidFill>
                  <a:srgbClr val="5A6472"/>
                </a:solidFill>
                <a:latin typeface="Calibri" pitchFamily="34" charset="0"/>
                <a:cs typeface="Amiri" pitchFamily="2" charset="-78"/>
              </a:rPr>
              <a:t> “initial”</a:t>
            </a:r>
            <a:endParaRPr lang="en-US" sz="1100" dirty="0"/>
          </a:p>
        </p:txBody>
      </p:sp>
      <p:sp>
        <p:nvSpPr>
          <p:cNvPr id="35" name="Text 32"/>
          <p:cNvSpPr txBox="1"/>
          <p:nvPr/>
        </p:nvSpPr>
        <p:spPr>
          <a:xfrm>
            <a:off x="566928" y="4315968"/>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final but isolated-looking (website).</a:t>
            </a:r>
            <a:endParaRPr lang="en-US" sz="1100" dirty="0"/>
          </a:p>
        </p:txBody>
      </p:sp>
      <p:sp>
        <p:nvSpPr>
          <p:cNvPr id="36" name="Shape 3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37" name="Text 34"/>
          <p:cNvSpPr txBox="1"/>
          <p:nvPr/>
        </p:nvSpPr>
        <p:spPr>
          <a:xfrm>
            <a:off x="6720840" y="4998720"/>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Thinking a new shape is a new letter</a:t>
            </a:r>
            <a:endParaRPr lang="en-US" sz="1100" dirty="0"/>
          </a:p>
        </p:txBody>
      </p:sp>
      <p:sp>
        <p:nvSpPr>
          <p:cNvPr id="38" name="Text 35"/>
          <p:cNvSpPr txBox="1"/>
          <p:nvPr/>
        </p:nvSpPr>
        <p:spPr>
          <a:xfrm>
            <a:off x="566928" y="4998720"/>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joining strokes show connection only.</a:t>
            </a:r>
            <a:endParaRPr lang="en-US" sz="1100" dirty="0"/>
          </a:p>
        </p:txBody>
      </p:sp>
      <p:sp>
        <p:nvSpPr>
          <p:cNvPr id="39" name="Shape 36"/>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0" name="Text 37"/>
          <p:cNvSpPr txBox="1"/>
          <p:nvPr/>
        </p:nvSpPr>
        <p:spPr>
          <a:xfrm>
            <a:off x="6720840" y="5681472"/>
            <a:ext cx="49377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Mixing medial </a:t>
            </a:r>
            <a:pPr algn="l" indent="0" marL="0">
              <a:buNone/>
            </a:pPr>
            <a:r>
              <a:rPr lang="ar-SA" altLang="en-US" sz="1450" dirty="0">
                <a:solidFill>
                  <a:srgbClr val="5A6472"/>
                </a:solidFill>
                <a:latin typeface="Amiri" pitchFamily="2" charset="-78"/>
                <a:ea typeface="Amiri" pitchFamily="2" charset="-78"/>
                <a:cs typeface="Amiri" pitchFamily="2" charset="-78"/>
              </a:rPr>
              <a:t>ـهـ</a:t>
            </a:r>
            <a:pPr algn="l" indent="0" marL="0">
              <a:buNone/>
            </a:pPr>
            <a:r>
              <a:rPr lang="en-US" sz="1100" dirty="0">
                <a:solidFill>
                  <a:srgbClr val="5A6472"/>
                </a:solidFill>
                <a:latin typeface="Calibri" pitchFamily="34" charset="0"/>
                <a:cs typeface="Amiri" pitchFamily="2" charset="-78"/>
              </a:rPr>
              <a:t> with other letters</a:t>
            </a:r>
            <a:endParaRPr lang="en-US" sz="1100" dirty="0"/>
          </a:p>
        </p:txBody>
      </p:sp>
      <p:sp>
        <p:nvSpPr>
          <p:cNvPr id="41" name="Text 38"/>
          <p:cNvSpPr txBox="1"/>
          <p:nvPr/>
        </p:nvSpPr>
        <p:spPr>
          <a:xfrm>
            <a:off x="566928" y="5681472"/>
            <a:ext cx="597103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hāʾ changes the most — learn its four shapes.</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29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identify the four connector forms.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find the connection breaks inside a word.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the two visible patterns of the breakers.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build and annotate a three-letter word.</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word position vs visible form.</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29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connection breakers are in the standard set?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 one body pattern help with </a:t>
            </a:r>
            <a:pPr algn="l" indent="0" marL="0">
              <a:buNone/>
            </a:pPr>
            <a:r>
              <a:rPr lang="ar-SA" altLang="en-US" sz="1650" b="1" dirty="0">
                <a:solidFill>
                  <a:srgbClr val="1B3B6F"/>
                </a:solidFill>
                <a:latin typeface="Amiri" pitchFamily="2" charset="-78"/>
                <a:ea typeface="Amiri" pitchFamily="2" charset="-78"/>
                <a:cs typeface="Amiri" pitchFamily="2" charset="-78"/>
              </a:rPr>
              <a:t>ب ت 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have the same sound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share a body family</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direction do we follow an Arabic word?</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Left to right</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Right to left</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29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connection breakers are in the standard set?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 د ذ ر ز و</a:t>
            </a:r>
            <a:pPr algn="l" indent="0" marL="0">
              <a:buNone/>
            </a:pPr>
            <a:r>
              <a:rPr lang="en-US" sz="1050" i="1" dirty="0">
                <a:solidFill>
                  <a:srgbClr val="8A6D1E"/>
                </a:solidFill>
                <a:latin typeface="Calibri" pitchFamily="34" charset="0"/>
                <a:cs typeface="Amiri" pitchFamily="2" charset="-78"/>
              </a:rPr>
              <a:t> (website final check 5).</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can one body pattern help with </a:t>
            </a:r>
            <a:pPr algn="l" indent="0" marL="0">
              <a:buNone/>
            </a:pPr>
            <a:r>
              <a:rPr lang="ar-SA" altLang="en-US" sz="1650" b="1" dirty="0">
                <a:solidFill>
                  <a:srgbClr val="1B3B6F"/>
                </a:solidFill>
                <a:latin typeface="Amiri" pitchFamily="2" charset="-78"/>
                <a:ea typeface="Amiri" pitchFamily="2" charset="-78"/>
                <a:cs typeface="Amiri" pitchFamily="2" charset="-78"/>
              </a:rPr>
              <a:t>ب ت ث</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have the same sound</a:t>
            </a:r>
            <a:endParaRPr lang="en-US" sz="12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share a body family</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4.</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direction do we follow an Arabic word?</a:t>
            </a:r>
            <a:endParaRPr lang="en-US" sz="1250" dirty="0"/>
          </a:p>
        </p:txBody>
      </p:sp>
      <p:sp>
        <p:nvSpPr>
          <p:cNvPr id="46" name="Shape 43"/>
          <p:cNvSpPr/>
          <p:nvPr/>
        </p:nvSpPr>
        <p:spPr>
          <a:xfrm>
            <a:off x="8278368" y="2532888"/>
            <a:ext cx="256032" cy="256032"/>
          </a:xfrm>
          <a:prstGeom prst="ellipse">
            <a:avLst/>
          </a:prstGeom>
          <a:solidFill>
            <a:srgbClr val="C9CED6"/>
          </a:solidFill>
          <a:ln w="12700">
            <a:solidFill>
              <a:srgbClr val="C9CED6"/>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Left to right</a:t>
            </a:r>
            <a:endParaRPr lang="en-US" sz="1250" dirty="0"/>
          </a:p>
        </p:txBody>
      </p:sp>
      <p:sp>
        <p:nvSpPr>
          <p:cNvPr id="49" name="Shape 46"/>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9900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Right to left</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Website final check 9.</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29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F1-L05 · Letter positions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F1-L06: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F1 · Arabic Script &amp; Sounds · F1-L05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F1-L06 · Small Marks, Big Changes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شَدَّةٌ  ـّ</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shadda · a doubled letter</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تَنْوِينٌ  ـٌ</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tanwīn · an -n ending</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آ</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alif madda · hamza + long ā</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مُحَمَّدٌ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Muḥammad (double m)</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كِتَابٌ</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book</a:t>
            </a:r>
            <a:pPr indent="0" marL="0">
              <a:buNone/>
            </a:pPr>
            <a:r>
              <a:rPr lang="ar-SA" sz="1000" i="1" dirty="0">
                <a:solidFill>
                  <a:srgbClr val="5A6472"/>
                </a:solidFill>
                <a:latin typeface="Calibri" pitchFamily="34" charset="0"/>
                <a:ea typeface="Amiri" pitchFamily="2" charset="-78"/>
                <a:cs typeface="Amiri" pitchFamily="2" charset="-78"/>
              </a:rPr>
              <a:t>  pl. كُتُبٌ</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Split </a:t>
            </a:r>
            <a:pPr algn="l" indent="0" marL="0">
              <a:buNone/>
            </a:pPr>
            <a:r>
              <a:rPr lang="ar-SA" altLang="en-US" sz="1350" dirty="0">
                <a:solidFill>
                  <a:srgbClr val="1F2A37"/>
                </a:solidFill>
                <a:latin typeface="Amiri" pitchFamily="2" charset="-78"/>
                <a:ea typeface="Amiri" pitchFamily="2" charset="-78"/>
                <a:cs typeface="Amiri" pitchFamily="2" charset="-78"/>
              </a:rPr>
              <a:t>كِتَابٌ</a:t>
            </a:r>
            <a:pPr algn="l" indent="0" marL="0">
              <a:buNone/>
            </a:pPr>
            <a:r>
              <a:rPr lang="en-US" sz="1050" dirty="0">
                <a:solidFill>
                  <a:srgbClr val="1F2A37"/>
                </a:solidFill>
                <a:latin typeface="Calibri" pitchFamily="34" charset="0"/>
                <a:cs typeface="Amiri" pitchFamily="2" charset="-78"/>
              </a:rPr>
              <a:t> into its letters and name each form.</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كِتَابٌ = كـ + ـتـ + ـا + ب</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F1-L05 · Form Finder game; copy </a:t>
            </a:r>
            <a:pPr algn="l" indent="0" marL="0">
              <a:buNone/>
            </a:pPr>
            <a:r>
              <a:rPr lang="ar-SA" altLang="en-US" sz="1550" dirty="0">
                <a:solidFill>
                  <a:srgbClr val="1F2A37"/>
                </a:solidFill>
                <a:latin typeface="Amiri" pitchFamily="2" charset="-78"/>
                <a:ea typeface="Amiri" pitchFamily="2" charset="-78"/>
                <a:cs typeface="Amiri" pitchFamily="2" charset="-78"/>
              </a:rPr>
              <a:t>ب ت ث</a:t>
            </a:r>
            <a:pPr algn="l" indent="0" marL="0">
              <a:buNone/>
            </a:pPr>
            <a:r>
              <a:rPr lang="en-US" sz="1200" dirty="0">
                <a:solidFill>
                  <a:srgbClr val="1F2A37"/>
                </a:solidFill>
                <a:latin typeface="Calibri" pitchFamily="34" charset="0"/>
                <a:cs typeface="Amiri" pitchFamily="2" charset="-78"/>
              </a:rPr>
              <a:t> in four columns.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four-form rows for </a:t>
            </a:r>
            <a:pPr algn="l" indent="0" marL="0">
              <a:buNone/>
            </a:pPr>
            <a:r>
              <a:rPr lang="ar-SA" altLang="en-US" sz="1550" dirty="0">
                <a:solidFill>
                  <a:srgbClr val="1F2A37"/>
                </a:solidFill>
                <a:latin typeface="Amiri" pitchFamily="2" charset="-78"/>
                <a:ea typeface="Amiri" pitchFamily="2" charset="-78"/>
                <a:cs typeface="Amiri" pitchFamily="2" charset="-78"/>
              </a:rPr>
              <a:t>س ش ص ض ط ظ</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homework: segment </a:t>
            </a:r>
            <a:pPr algn="l" indent="0" marL="0">
              <a:buNone/>
            </a:pPr>
            <a:r>
              <a:rPr lang="ar-SA" altLang="en-US" sz="1550" dirty="0">
                <a:solidFill>
                  <a:srgbClr val="1F2A37"/>
                </a:solidFill>
                <a:latin typeface="Amiri" pitchFamily="2" charset="-78"/>
                <a:ea typeface="Amiri" pitchFamily="2" charset="-78"/>
                <a:cs typeface="Amiri" pitchFamily="2" charset="-78"/>
              </a:rPr>
              <a:t>كَتَبَ، بَاب، بَيْت</a:t>
            </a:r>
            <a:pPr algn="l" indent="0" marL="0">
              <a:buNone/>
            </a:pPr>
            <a:r>
              <a:rPr lang="en-US" sz="1200" dirty="0">
                <a:solidFill>
                  <a:srgbClr val="1F2A37"/>
                </a:solidFill>
                <a:latin typeface="Calibri" pitchFamily="34" charset="0"/>
                <a:cs typeface="Amiri" pitchFamily="2" charset="-78"/>
              </a:rPr>
              <a:t> and label each form; then annotate </a:t>
            </a:r>
            <a:pPr algn="l" indent="0" marL="0">
              <a:buNone/>
            </a:pPr>
            <a:r>
              <a:rPr lang="ar-SA" altLang="en-US" sz="1550" dirty="0">
                <a:solidFill>
                  <a:srgbClr val="1F2A37"/>
                </a:solidFill>
                <a:latin typeface="Amiri" pitchFamily="2" charset="-78"/>
                <a:ea typeface="Amiri" pitchFamily="2" charset="-78"/>
                <a:cs typeface="Amiri" pitchFamily="2" charset="-78"/>
              </a:rPr>
              <a:t>مَدْرَسَة</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رَسُول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29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F1-L05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F1-L06 · Small Marks, Big Changes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الشَّدَّةُ وَالتَّنْوِينُ وَأَلِفُ المَدِّ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marks + your four-form rows.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F1-L05 · One Letter, Four Positions</dc:title>
  <dc:subject>PptxGenJS Presentation</dc:subject>
  <dc:creator>Al Madina Online School · Arabic Department</dc:creator>
  <cp:lastModifiedBy>Al Madina Online School · Arabic Department</cp:lastModifiedBy>
  <cp:revision>1</cp:revision>
  <dcterms:created xsi:type="dcterms:W3CDTF">2026-10-11T06:41:16Z</dcterms:created>
  <dcterms:modified xsi:type="dcterms:W3CDTF">2026-10-11T06:41:16Z</dcterms:modified>
</cp:coreProperties>
</file>