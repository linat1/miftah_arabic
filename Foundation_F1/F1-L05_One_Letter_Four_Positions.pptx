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5 (F1-L05). The website lesson teaches the four connector forms (isolated, initial, medial, final), transfer across body families, the two visible patterns of the six non-connectors, and word X-rays of كَتَبَ، بَاب، بَيْت. The retrieval check, form charts, think-aloud, games (Form Finder, Connection Architect, Word X-Ray) and the ten-item final check are the website’s. (The website’s visual game for this lesson repeats the F1-L01 letters,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trace the joins — start with ب ت ث, using coloured connection lines. DEVELOP: predict the form by checking both neighbours. STRETCH: explain the difference between WORD POSITION and VISIBLE FORM after a breaker.
• Key message (website): the body and dots are the letter’s identity; the joining strokes only show connection — they do not make a new letter.
• Heritage / Urdu readers: Urdu script joins the same way (Urdu nastaʿlīq looks different, but the rules are the same) — ask them to annotate authentic words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“F1-L04 readiness check” (3–4 → continue; 0–2 → repair the final letters and breaker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letter keeps its body and dots — only its joining lines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F1-L05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منفصل (separate), اول (first), وسط (middle), آخر (last) — the four position names use words students may already know from Urdu. باب in Urdu means a chapter; in Arabic a door (and also 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FORMS (website Part 1). The base letter remains bāʾ; only the joining strokes and tail change.
Arabic runs right to left: “initial” = the first/rightmost letter in a connected run; “final” = the last/leftmost (website).
Identity stays stable: look for the body and dots first — the horizontal strokes show connection; they do not create a new letter.
Gesture: two hands = two neighbours. Initial holds hands only to the left; medial both; final only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POSITION IS NOT ENOUGH (website): a letter in the middle of a word may look initial or isolated after a non-connector. Always ask the four questions. Think-aloud model (website): “I inspect the pair on the right, then the pair on the left. I do not choose a form from the letter’s numerical position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FAMILY TRANSFER (website Part 2): the body transformation transfers across related letters; dots remain the identity check.
Website routes: Core — trace one body family in four columns; add dots only after the body is correct. Develop — cover one column and rebuild it from the connection rule. Stretch — explain which details are identity clues and which are joining strokes.
Note: in the initial and medial forms ب ت ث lose their “bowl” and become a small “tooth” — the dots are the only clue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NON-CONNECTORS (website Part 3): the labels still describe context, but each breaker has only two visibly different patterns: isolated and initial share the unjoined form; medial and final share the form joined from the right.
The break is after the letter: alif may receive a join from its right, but the following bāʾ on its left cannot join back to it.
Shape label vs word position (website): in كِتَاب the final bāʾ is at the end of the word but looks ISOLATED because alif breaks the connection before it — it is not an initial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WORD X-RAY (4 min), website Part 4. Think aloud for each word, right to left:
“كَتَبَ: kāf has no neighbour on its right → initial. tāʾ has kāf on its right (a connector) and bāʾ on its left → medial. bāʾ has tāʾ on its right, nothing on its left → final.”
“بَابٌ: bāʾ initial; alif receives the join but cannot pass it on; so the last bāʾ is at the END of the word but looks ISOLATED.”
Students copy the three words, then split each into its letters with the form names underneath (website homework).
Colour code (website): green = connection continues, coral = connection stops — mark the boundary between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FORMATION PRACTICE (website): select connector letters and copy each row across four labelled columns using a verified model. Model each row on the pen tablet, saying “start · middle · end”, then students copy into four labelled columns. ʿayn and hāʾ change the most — point out the medial ـعـ and ـهـ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“Form Finder” (classify visible connector forms before working inside full words). Teacher-made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which letter is it? (sīn, ʿayn, mīm, qāf, hāʾ) — identity first, then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“Word X-Ray” (identify the visible form of the named connector inside a real word). Q4 is teacher-made; the others are website final-check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each word with green (joined) and coral (break) boundaries on the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WRITING (7 min) = the website formation practice, homework and Heritage extension, split by route. LIVE FEEDBACK after 3 minutes: check the teeth of ب ت ث in initial/medial forms and dot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وَ«بَابٌ»؟ (And “bāb”?)
B: بَاءٌ، أَلِفٌ، بَاءٌ. الأَلِفُ لَا تَتَّصِلُ بِمَا بَعْدَهَا. (bāʾ, alif, bāʾ. Alif does not join the next letter.)
EXPLAIN A WORD (teacher-made speaking task): A shows a word from the lesson; B names each letter and says where the joins stop. Prompts: What is this letter? · Initial, medial or final? · Where is the break? · Analyse “madrasa”. (تَاءٌ مَرْبُوطَةٌ ة is previewed only — taught in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explanations.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(F1-L06 · Small Marks, Big Changes) will spend class time USING this language, so students prepare it tonight — short, simple, easy to access (school guidance: “Simple, Short, Interesting, Relevant, Easy to access”). Next lesson: the small marks that change a word’s sound (shadda, tanwīn, madda) and hamza. Look at the five marks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One Letter, Four Positions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أَشْكَالُ الحُرُوفِ فِي الكَلِمَةِ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See how a letter keeps its identity but changes its joining strokes at the start, middle and end of a word — and how the six breakers change the shape of the word around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F1-L05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forms, family patterns, the six breakers.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 finder, connection architect, word X-ray.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alphabet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set is </a:t>
            </a:r>
            <a:pPr algn="l" indent="0" marL="0">
              <a:buNone/>
            </a:pPr>
            <a:r>
              <a:rPr lang="ar-SA" altLang="en-US" sz="1650" b="1" dirty="0">
                <a:solidFill>
                  <a:srgbClr val="1B3B6F"/>
                </a:solidFill>
                <a:latin typeface="Amiri" pitchFamily="2" charset="-78"/>
                <a:ea typeface="Amiri" pitchFamily="2" charset="-78"/>
                <a:cs typeface="Amiri" pitchFamily="2" charset="-78"/>
              </a:rPr>
              <a:t>ا د ذ ر ز 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Connection breakers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sun letters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vowels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silent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following short vowel</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a connector?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kutiba</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alphabet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F1-L04: yāʾ is letter 28.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set is </a:t>
            </a:r>
            <a:pPr algn="l" indent="0" marL="0">
              <a:buNone/>
            </a:pPr>
            <a:r>
              <a:rPr lang="ar-SA" altLang="en-US" sz="1650" b="1" dirty="0">
                <a:solidFill>
                  <a:srgbClr val="1B3B6F"/>
                </a:solidFill>
                <a:latin typeface="Amiri" pitchFamily="2" charset="-78"/>
                <a:ea typeface="Amiri" pitchFamily="2" charset="-78"/>
                <a:cs typeface="Amiri" pitchFamily="2" charset="-78"/>
              </a:rPr>
              <a:t>ا د ذ ر ز 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Connection breakers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sun letters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vowels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six breakers.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silent</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following short vowel</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consonant is said; no vowel follows.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a connector?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can join on both sides.</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kataba</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kutiba</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katab</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fatḥas: ka-ta-ba — he wrote.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letter keeps its body and dots — only its joining lines change.</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   بـ   ـبـ   ـب</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four connector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neighbours to predict a letter’s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two visible patterns of the six breakers.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Take apart and rebuild </a:t>
            </a:r>
            <a:pPr algn="l" indent="0" marL="0">
              <a:buNone/>
            </a:pPr>
            <a:r>
              <a:rPr lang="ar-SA" altLang="en-US" sz="1700" dirty="0">
                <a:solidFill>
                  <a:srgbClr val="1F2A37"/>
                </a:solidFill>
                <a:latin typeface="Amiri" pitchFamily="2" charset="-78"/>
                <a:ea typeface="Amiri" pitchFamily="2" charset="-78"/>
                <a:cs typeface="Amiri" pitchFamily="2" charset="-78"/>
              </a:rPr>
              <a:t>كَتَبَ، بَاب، بَيْت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isolated, initial, medial and final.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trace </a:t>
            </a:r>
            <a:pPr algn="l" indent="0" marL="0">
              <a:buNone/>
            </a:pPr>
            <a:r>
              <a:rPr lang="ar-SA" altLang="en-US" sz="1700" b="1" dirty="0">
                <a:solidFill>
                  <a:srgbClr val="2E8B57"/>
                </a:solidFill>
                <a:latin typeface="Amiri" pitchFamily="2" charset="-78"/>
                <a:ea typeface="Amiri" pitchFamily="2" charset="-78"/>
                <a:cs typeface="Amiri" pitchFamily="2" charset="-78"/>
              </a:rPr>
              <a:t>ب ت ث</a:t>
            </a:r>
            <a:pPr algn="l" indent="0" marL="0">
              <a:buNone/>
            </a:pPr>
            <a:r>
              <a:rPr lang="en-US" sz="1300" b="1" dirty="0">
                <a:solidFill>
                  <a:srgbClr val="2E8B57"/>
                </a:solidFill>
                <a:latin typeface="Calibri" pitchFamily="34" charset="0"/>
                <a:cs typeface="Amiri" pitchFamily="2" charset="-78"/>
              </a:rPr>
              <a:t> in all four forms.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predict a form by checking both neighbours.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the breaks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word position vs visible form.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annotate a new word letter by letter.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 form names and 3 model words. No new letters today — the same 28 letters, joined up!</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FORMS</a:t>
            </a:r>
            <a:endParaRPr lang="en-US" sz="900" dirty="0"/>
          </a:p>
          <a:p>
            <a:pPr indent="0" marL="0">
              <a:buNone/>
            </a:pPr>
            <a:r>
              <a:rPr lang="en-US" sz="1200" b="1" dirty="0">
                <a:solidFill>
                  <a:srgbClr val="FFFFFF"/>
                </a:solidFill>
                <a:latin typeface="Calibri" pitchFamily="34" charset="0"/>
                <a:cs typeface="Amiri" pitchFamily="2" charset="-78"/>
              </a:rPr>
              <a:t>Four positions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RULE</a:t>
            </a:r>
            <a:endParaRPr lang="en-US" sz="900" dirty="0"/>
          </a:p>
          <a:p>
            <a:pPr indent="0" marL="0">
              <a:buNone/>
            </a:pPr>
            <a:r>
              <a:rPr lang="en-US" sz="1200" b="1" dirty="0">
                <a:solidFill>
                  <a:srgbClr val="FFFFFF"/>
                </a:solidFill>
                <a:latin typeface="Calibri" pitchFamily="34" charset="0"/>
                <a:cs typeface="Amiri" pitchFamily="2" charset="-78"/>
              </a:rPr>
              <a:t>Six breakers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X-ray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مُنْفَصِلٌ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‎منفصل‎ </a:t>
            </a:r>
            <a:pPr indent="0" marL="0">
              <a:buNone/>
            </a:pPr>
            <a:r>
              <a:rPr lang="en-US" sz="950" b="1" dirty="0">
                <a:solidFill>
                  <a:srgbClr val="2E8B57"/>
                </a:solidFill>
                <a:latin typeface="Calibri" pitchFamily="34" charset="0"/>
                <a:cs typeface="Amiri" pitchFamily="2" charset="-78"/>
              </a:rPr>
              <a:t> munfasil · separate → isolated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أَوَّلُ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 · first → initial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وَسَطٌ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‎وسط‎ </a:t>
            </a:r>
            <a:pPr indent="0" marL="0">
              <a:buNone/>
            </a:pPr>
            <a:r>
              <a:rPr lang="en-US" sz="950" b="1" dirty="0">
                <a:solidFill>
                  <a:srgbClr val="2E8B57"/>
                </a:solidFill>
                <a:latin typeface="Calibri" pitchFamily="34" charset="0"/>
                <a:cs typeface="Amiri" pitchFamily="2" charset="-78"/>
              </a:rPr>
              <a:t> wasat · middle → medial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آخِرٌ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‎آخر‎ </a:t>
            </a:r>
            <a:pPr indent="0" marL="0">
              <a:buNone/>
            </a:pPr>
            <a:r>
              <a:rPr lang="en-US" sz="950" b="1" dirty="0">
                <a:solidFill>
                  <a:srgbClr val="2E8B57"/>
                </a:solidFill>
                <a:latin typeface="Calibri" pitchFamily="34" charset="0"/>
                <a:cs typeface="Amiri" pitchFamily="2" charset="-78"/>
              </a:rPr>
              <a:t> ākhir · last → final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chapter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THE FOUR CONNECTOR FORMS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bāʾ in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مُنْفَصِلٌ · أَوَّلِيٌّ · وَسَطِيٌّ · نِهَائِيٌّ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7" name="Text 14"/>
          <p:cNvSpPr txBox="1"/>
          <p:nvPr/>
        </p:nvSpPr>
        <p:spPr>
          <a:xfrm>
            <a:off x="74157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Shape</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from the right?</a:t>
            </a:r>
            <a:endParaRPr lang="en-US" sz="1100" dirty="0"/>
          </a:p>
        </p:txBody>
      </p:sp>
      <p:sp>
        <p:nvSpPr>
          <p:cNvPr id="19" name="Text 16"/>
          <p:cNvSpPr txBox="1"/>
          <p:nvPr/>
        </p:nvSpPr>
        <p:spPr>
          <a:xfrm>
            <a:off x="2843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to the left?</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Isolated  </a:t>
            </a:r>
            <a:pPr algn="l" indent="0" marL="0">
              <a:buNone/>
            </a:pPr>
            <a:r>
              <a:rPr lang="ar-SA" altLang="en-US" sz="1450" dirty="0">
                <a:solidFill>
                  <a:srgbClr val="5A6472"/>
                </a:solidFill>
                <a:latin typeface="Amiri" pitchFamily="2" charset="-78"/>
                <a:ea typeface="Amiri" pitchFamily="2" charset="-78"/>
                <a:cs typeface="Amiri" pitchFamily="2" charset="-78"/>
              </a:rPr>
              <a:t>مُنْفَصِلٌ</a:t>
            </a:r>
            <a:endParaRPr lang="en-US" sz="1100" dirty="0"/>
          </a:p>
        </p:txBody>
      </p:sp>
      <p:sp>
        <p:nvSpPr>
          <p:cNvPr id="23" name="Text 20"/>
          <p:cNvSpPr txBox="1"/>
          <p:nvPr/>
        </p:nvSpPr>
        <p:spPr>
          <a:xfrm>
            <a:off x="743407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a:t>
            </a:r>
            <a:endParaRPr lang="ar-SA" sz="3400" dirty="0"/>
          </a:p>
        </p:txBody>
      </p:sp>
      <p:sp>
        <p:nvSpPr>
          <p:cNvPr id="24" name="Text 21"/>
          <p:cNvSpPr txBox="1"/>
          <p:nvPr/>
        </p:nvSpPr>
        <p:spPr>
          <a:xfrm>
            <a:off x="50749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25" name="Text 22"/>
          <p:cNvSpPr txBox="1"/>
          <p:nvPr/>
        </p:nvSpPr>
        <p:spPr>
          <a:xfrm>
            <a:off x="288036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26" name="Text 23"/>
          <p:cNvSpPr txBox="1"/>
          <p:nvPr/>
        </p:nvSpPr>
        <p:spPr>
          <a:xfrm>
            <a:off x="56692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a:t>
            </a:r>
            <a:pPr algn="l" indent="0" marL="0">
              <a:buNone/>
            </a:pPr>
            <a:r>
              <a:rPr lang="ar-SA" altLang="en-US" sz="1450" dirty="0">
                <a:solidFill>
                  <a:srgbClr val="5A6472"/>
                </a:solidFill>
                <a:latin typeface="Amiri" pitchFamily="2" charset="-78"/>
                <a:ea typeface="Amiri" pitchFamily="2" charset="-78"/>
                <a:cs typeface="Amiri" pitchFamily="2" charset="-78"/>
              </a:rPr>
              <a:t>أَوَّلِيٌّ</a:t>
            </a:r>
            <a:endParaRPr lang="en-US" sz="1100" dirty="0"/>
          </a:p>
        </p:txBody>
      </p:sp>
      <p:sp>
        <p:nvSpPr>
          <p:cNvPr id="31" name="Text 28"/>
          <p:cNvSpPr txBox="1"/>
          <p:nvPr/>
        </p:nvSpPr>
        <p:spPr>
          <a:xfrm>
            <a:off x="743407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بـ</a:t>
            </a:r>
            <a:endParaRPr lang="ar-SA" sz="3400" dirty="0"/>
          </a:p>
        </p:txBody>
      </p:sp>
      <p:sp>
        <p:nvSpPr>
          <p:cNvPr id="32" name="Text 29"/>
          <p:cNvSpPr txBox="1"/>
          <p:nvPr/>
        </p:nvSpPr>
        <p:spPr>
          <a:xfrm>
            <a:off x="50749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33" name="Text 30"/>
          <p:cNvSpPr txBox="1"/>
          <p:nvPr/>
        </p:nvSpPr>
        <p:spPr>
          <a:xfrm>
            <a:off x="288036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34" name="Text 31"/>
          <p:cNvSpPr txBox="1"/>
          <p:nvPr/>
        </p:nvSpPr>
        <p:spPr>
          <a:xfrm>
            <a:off x="56692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of a joined run (right)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Medial  </a:t>
            </a:r>
            <a:pPr algn="l" indent="0" marL="0">
              <a:buNone/>
            </a:pPr>
            <a:r>
              <a:rPr lang="ar-SA" altLang="en-US" sz="1450" dirty="0">
                <a:solidFill>
                  <a:srgbClr val="5A6472"/>
                </a:solidFill>
                <a:latin typeface="Amiri" pitchFamily="2" charset="-78"/>
                <a:ea typeface="Amiri" pitchFamily="2" charset="-78"/>
                <a:cs typeface="Amiri" pitchFamily="2" charset="-78"/>
              </a:rPr>
              <a:t>وَسَطِيٌّ</a:t>
            </a:r>
            <a:endParaRPr lang="en-US" sz="1100" dirty="0"/>
          </a:p>
        </p:txBody>
      </p:sp>
      <p:sp>
        <p:nvSpPr>
          <p:cNvPr id="39" name="Text 36"/>
          <p:cNvSpPr txBox="1"/>
          <p:nvPr/>
        </p:nvSpPr>
        <p:spPr>
          <a:xfrm>
            <a:off x="743407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ـبـ</a:t>
            </a:r>
            <a:endParaRPr lang="ar-SA" sz="3400" dirty="0"/>
          </a:p>
        </p:txBody>
      </p:sp>
      <p:sp>
        <p:nvSpPr>
          <p:cNvPr id="40" name="Text 37"/>
          <p:cNvSpPr txBox="1"/>
          <p:nvPr/>
        </p:nvSpPr>
        <p:spPr>
          <a:xfrm>
            <a:off x="50749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1" name="Text 38"/>
          <p:cNvSpPr txBox="1"/>
          <p:nvPr/>
        </p:nvSpPr>
        <p:spPr>
          <a:xfrm>
            <a:off x="288036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2" name="Text 39"/>
          <p:cNvSpPr txBox="1"/>
          <p:nvPr/>
        </p:nvSpPr>
        <p:spPr>
          <a:xfrm>
            <a:off x="56692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middle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ea typeface="Amiri" pitchFamily="2" charset="-78"/>
                <a:cs typeface="Amiri" pitchFamily="2" charset="-78"/>
              </a:rPr>
              <a:t>نِهَائِيٌّ</a:t>
            </a:r>
            <a:endParaRPr lang="en-US" sz="1100" dirty="0"/>
          </a:p>
        </p:txBody>
      </p:sp>
      <p:sp>
        <p:nvSpPr>
          <p:cNvPr id="47" name="Text 44"/>
          <p:cNvSpPr txBox="1"/>
          <p:nvPr/>
        </p:nvSpPr>
        <p:spPr>
          <a:xfrm>
            <a:off x="743407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ـب</a:t>
            </a:r>
            <a:endParaRPr lang="ar-SA" sz="3400" dirty="0"/>
          </a:p>
        </p:txBody>
      </p:sp>
      <p:sp>
        <p:nvSpPr>
          <p:cNvPr id="48" name="Text 45"/>
          <p:cNvSpPr txBox="1"/>
          <p:nvPr/>
        </p:nvSpPr>
        <p:spPr>
          <a:xfrm>
            <a:off x="50749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9" name="Text 46"/>
          <p:cNvSpPr txBox="1"/>
          <p:nvPr/>
        </p:nvSpPr>
        <p:spPr>
          <a:xfrm>
            <a:off x="288036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50" name="Text 47"/>
          <p:cNvSpPr txBox="1"/>
          <p:nvPr/>
        </p:nvSpPr>
        <p:spPr>
          <a:xfrm>
            <a:off x="56692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 of a joined run (left)</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WORD POSITION IS NOT ENOUGH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four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أَرْبَعَةَ 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RIGHT SIDE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1 · 2</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Is there a neighbour on the right? Does it connect onward?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yes → my letter receives a join.</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LEFT SIDE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3 · 4</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Is there a neighbour on the left? Can MY letter continue the join?</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yes → my letter joins onward.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ALOUD</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website model</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كَتَبَ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check the pair on the right, then the pair on the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choose a form from its number position alone.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FAMILIES KEEP THEIR DOT CLUES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body, same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710928" y="226771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bāʾ</a:t>
            </a:r>
            <a:endParaRPr lang="en-US" sz="1100" dirty="0"/>
          </a:p>
        </p:txBody>
      </p:sp>
      <p:sp>
        <p:nvSpPr>
          <p:cNvPr id="23" name="Text 20"/>
          <p:cNvSpPr txBox="1"/>
          <p:nvPr/>
        </p:nvSpPr>
        <p:spPr>
          <a:xfrm>
            <a:off x="7406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ب</a:t>
            </a:r>
            <a:endParaRPr lang="ar-SA" sz="2900" dirty="0"/>
          </a:p>
        </p:txBody>
      </p:sp>
      <p:sp>
        <p:nvSpPr>
          <p:cNvPr id="24" name="Text 21"/>
          <p:cNvSpPr txBox="1"/>
          <p:nvPr/>
        </p:nvSpPr>
        <p:spPr>
          <a:xfrm>
            <a:off x="5120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بـ</a:t>
            </a:r>
            <a:endParaRPr lang="ar-SA" sz="2900" dirty="0"/>
          </a:p>
        </p:txBody>
      </p:sp>
      <p:sp>
        <p:nvSpPr>
          <p:cNvPr id="25" name="Text 22"/>
          <p:cNvSpPr txBox="1"/>
          <p:nvPr/>
        </p:nvSpPr>
        <p:spPr>
          <a:xfrm>
            <a:off x="2834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ـبـ</a:t>
            </a:r>
            <a:endParaRPr lang="ar-SA" sz="2900" dirty="0"/>
          </a:p>
        </p:txBody>
      </p:sp>
      <p:sp>
        <p:nvSpPr>
          <p:cNvPr id="26" name="Text 23"/>
          <p:cNvSpPr txBox="1"/>
          <p:nvPr/>
        </p:nvSpPr>
        <p:spPr>
          <a:xfrm>
            <a:off x="548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ـب</a:t>
            </a:r>
            <a:endParaRPr lang="ar-SA" sz="2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10928" y="2950464"/>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a:t>
            </a:r>
            <a:endParaRPr lang="en-US" sz="1100" dirty="0"/>
          </a:p>
        </p:txBody>
      </p:sp>
      <p:sp>
        <p:nvSpPr>
          <p:cNvPr id="31" name="Text 28"/>
          <p:cNvSpPr txBox="1"/>
          <p:nvPr/>
        </p:nvSpPr>
        <p:spPr>
          <a:xfrm>
            <a:off x="7406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ت</a:t>
            </a:r>
            <a:endParaRPr lang="ar-SA" sz="2900" dirty="0"/>
          </a:p>
        </p:txBody>
      </p:sp>
      <p:sp>
        <p:nvSpPr>
          <p:cNvPr id="32" name="Text 29"/>
          <p:cNvSpPr txBox="1"/>
          <p:nvPr/>
        </p:nvSpPr>
        <p:spPr>
          <a:xfrm>
            <a:off x="5120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تـ</a:t>
            </a:r>
            <a:endParaRPr lang="ar-SA" sz="2900" dirty="0"/>
          </a:p>
        </p:txBody>
      </p:sp>
      <p:sp>
        <p:nvSpPr>
          <p:cNvPr id="33" name="Text 30"/>
          <p:cNvSpPr txBox="1"/>
          <p:nvPr/>
        </p:nvSpPr>
        <p:spPr>
          <a:xfrm>
            <a:off x="2834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ـتـ</a:t>
            </a:r>
            <a:endParaRPr lang="ar-SA" sz="2900" dirty="0"/>
          </a:p>
        </p:txBody>
      </p:sp>
      <p:sp>
        <p:nvSpPr>
          <p:cNvPr id="34" name="Text 31"/>
          <p:cNvSpPr txBox="1"/>
          <p:nvPr/>
        </p:nvSpPr>
        <p:spPr>
          <a:xfrm>
            <a:off x="548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ـت</a:t>
            </a:r>
            <a:endParaRPr lang="ar-SA" sz="2900" dirty="0"/>
          </a:p>
        </p:txBody>
      </p:sp>
      <p:sp>
        <p:nvSpPr>
          <p:cNvPr id="35" name="Shape 32"/>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8" name="Text 35"/>
          <p:cNvSpPr txBox="1"/>
          <p:nvPr/>
        </p:nvSpPr>
        <p:spPr>
          <a:xfrm>
            <a:off x="9710928" y="3633216"/>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thāʾ</a:t>
            </a:r>
            <a:endParaRPr lang="en-US" sz="1100" dirty="0"/>
          </a:p>
        </p:txBody>
      </p:sp>
      <p:sp>
        <p:nvSpPr>
          <p:cNvPr id="39" name="Text 36"/>
          <p:cNvSpPr txBox="1"/>
          <p:nvPr/>
        </p:nvSpPr>
        <p:spPr>
          <a:xfrm>
            <a:off x="7406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ث</a:t>
            </a:r>
            <a:endParaRPr lang="ar-SA" sz="2900" dirty="0"/>
          </a:p>
        </p:txBody>
      </p:sp>
      <p:sp>
        <p:nvSpPr>
          <p:cNvPr id="40" name="Text 37"/>
          <p:cNvSpPr txBox="1"/>
          <p:nvPr/>
        </p:nvSpPr>
        <p:spPr>
          <a:xfrm>
            <a:off x="5120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ثـ</a:t>
            </a:r>
            <a:endParaRPr lang="ar-SA" sz="2900" dirty="0"/>
          </a:p>
        </p:txBody>
      </p:sp>
      <p:sp>
        <p:nvSpPr>
          <p:cNvPr id="41" name="Text 38"/>
          <p:cNvSpPr txBox="1"/>
          <p:nvPr/>
        </p:nvSpPr>
        <p:spPr>
          <a:xfrm>
            <a:off x="2834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ـثـ</a:t>
            </a:r>
            <a:endParaRPr lang="ar-SA" sz="2900" dirty="0"/>
          </a:p>
        </p:txBody>
      </p:sp>
      <p:sp>
        <p:nvSpPr>
          <p:cNvPr id="42" name="Text 39"/>
          <p:cNvSpPr txBox="1"/>
          <p:nvPr/>
        </p:nvSpPr>
        <p:spPr>
          <a:xfrm>
            <a:off x="548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ـث</a:t>
            </a:r>
            <a:endParaRPr lang="ar-SA" sz="2900" dirty="0"/>
          </a:p>
        </p:txBody>
      </p:sp>
      <p:sp>
        <p:nvSpPr>
          <p:cNvPr id="43" name="Shape 4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710928" y="4315968"/>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jīm</a:t>
            </a:r>
            <a:endParaRPr lang="en-US" sz="1100" dirty="0"/>
          </a:p>
        </p:txBody>
      </p:sp>
      <p:sp>
        <p:nvSpPr>
          <p:cNvPr id="47" name="Text 44"/>
          <p:cNvSpPr txBox="1"/>
          <p:nvPr/>
        </p:nvSpPr>
        <p:spPr>
          <a:xfrm>
            <a:off x="7406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ج</a:t>
            </a:r>
            <a:endParaRPr lang="ar-SA" sz="2900" dirty="0"/>
          </a:p>
        </p:txBody>
      </p:sp>
      <p:sp>
        <p:nvSpPr>
          <p:cNvPr id="48" name="Text 45"/>
          <p:cNvSpPr txBox="1"/>
          <p:nvPr/>
        </p:nvSpPr>
        <p:spPr>
          <a:xfrm>
            <a:off x="5120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جـ</a:t>
            </a:r>
            <a:endParaRPr lang="ar-SA" sz="2900" dirty="0"/>
          </a:p>
        </p:txBody>
      </p:sp>
      <p:sp>
        <p:nvSpPr>
          <p:cNvPr id="49" name="Text 46"/>
          <p:cNvSpPr txBox="1"/>
          <p:nvPr/>
        </p:nvSpPr>
        <p:spPr>
          <a:xfrm>
            <a:off x="2834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ـجـ</a:t>
            </a:r>
            <a:endParaRPr lang="ar-SA" sz="2900" dirty="0"/>
          </a:p>
        </p:txBody>
      </p:sp>
      <p:sp>
        <p:nvSpPr>
          <p:cNvPr id="50" name="Text 47"/>
          <p:cNvSpPr txBox="1"/>
          <p:nvPr/>
        </p:nvSpPr>
        <p:spPr>
          <a:xfrm>
            <a:off x="548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ـج</a:t>
            </a:r>
            <a:endParaRPr lang="ar-SA" sz="2900" dirty="0"/>
          </a:p>
        </p:txBody>
      </p:sp>
      <p:sp>
        <p:nvSpPr>
          <p:cNvPr id="51" name="Shape 4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2" name="Text 49"/>
          <p:cNvSpPr txBox="1"/>
          <p:nvPr/>
        </p:nvSpPr>
        <p:spPr>
          <a:xfrm>
            <a:off x="9710928" y="4998720"/>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ḥāʾ</a:t>
            </a:r>
            <a:endParaRPr lang="en-US" sz="1100" dirty="0"/>
          </a:p>
        </p:txBody>
      </p:sp>
      <p:sp>
        <p:nvSpPr>
          <p:cNvPr id="53" name="Text 50"/>
          <p:cNvSpPr txBox="1"/>
          <p:nvPr/>
        </p:nvSpPr>
        <p:spPr>
          <a:xfrm>
            <a:off x="7406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ح</a:t>
            </a:r>
            <a:endParaRPr lang="ar-SA" sz="2900" dirty="0"/>
          </a:p>
        </p:txBody>
      </p:sp>
      <p:sp>
        <p:nvSpPr>
          <p:cNvPr id="54" name="Text 51"/>
          <p:cNvSpPr txBox="1"/>
          <p:nvPr/>
        </p:nvSpPr>
        <p:spPr>
          <a:xfrm>
            <a:off x="5120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حـ</a:t>
            </a:r>
            <a:endParaRPr lang="ar-SA" sz="2900" dirty="0"/>
          </a:p>
        </p:txBody>
      </p:sp>
      <p:sp>
        <p:nvSpPr>
          <p:cNvPr id="55" name="Text 52"/>
          <p:cNvSpPr txBox="1"/>
          <p:nvPr/>
        </p:nvSpPr>
        <p:spPr>
          <a:xfrm>
            <a:off x="2834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ـحـ</a:t>
            </a:r>
            <a:endParaRPr lang="ar-SA" sz="2900" dirty="0"/>
          </a:p>
        </p:txBody>
      </p:sp>
      <p:sp>
        <p:nvSpPr>
          <p:cNvPr id="56" name="Text 53"/>
          <p:cNvSpPr txBox="1"/>
          <p:nvPr/>
        </p:nvSpPr>
        <p:spPr>
          <a:xfrm>
            <a:off x="548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ـح</a:t>
            </a:r>
            <a:endParaRPr lang="ar-SA" sz="2900" dirty="0"/>
          </a:p>
        </p:txBody>
      </p:sp>
      <p:sp>
        <p:nvSpPr>
          <p:cNvPr id="57" name="Shape 5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8" name="Text 55"/>
          <p:cNvSpPr txBox="1"/>
          <p:nvPr/>
        </p:nvSpPr>
        <p:spPr>
          <a:xfrm>
            <a:off x="9710928" y="568147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khāʾ</a:t>
            </a:r>
            <a:endParaRPr lang="en-US" sz="1100" dirty="0"/>
          </a:p>
        </p:txBody>
      </p:sp>
      <p:sp>
        <p:nvSpPr>
          <p:cNvPr id="59" name="Text 56"/>
          <p:cNvSpPr txBox="1"/>
          <p:nvPr/>
        </p:nvSpPr>
        <p:spPr>
          <a:xfrm>
            <a:off x="7406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خ</a:t>
            </a:r>
            <a:endParaRPr lang="ar-SA" sz="2900" dirty="0"/>
          </a:p>
        </p:txBody>
      </p:sp>
      <p:sp>
        <p:nvSpPr>
          <p:cNvPr id="60" name="Text 57"/>
          <p:cNvSpPr txBox="1"/>
          <p:nvPr/>
        </p:nvSpPr>
        <p:spPr>
          <a:xfrm>
            <a:off x="5120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خـ</a:t>
            </a:r>
            <a:endParaRPr lang="ar-SA" sz="2900" dirty="0"/>
          </a:p>
        </p:txBody>
      </p:sp>
      <p:sp>
        <p:nvSpPr>
          <p:cNvPr id="61" name="Text 58"/>
          <p:cNvSpPr txBox="1"/>
          <p:nvPr/>
        </p:nvSpPr>
        <p:spPr>
          <a:xfrm>
            <a:off x="2834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ـخـ</a:t>
            </a:r>
            <a:endParaRPr lang="ar-SA" sz="2900" dirty="0"/>
          </a:p>
        </p:txBody>
      </p:sp>
      <p:sp>
        <p:nvSpPr>
          <p:cNvPr id="62" name="Text 59"/>
          <p:cNvSpPr txBox="1"/>
          <p:nvPr/>
        </p:nvSpPr>
        <p:spPr>
          <a:xfrm>
            <a:off x="548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ea typeface="Amiri" pitchFamily="2" charset="-78"/>
                <a:cs typeface="Amiri" pitchFamily="2" charset="-78"/>
              </a:rPr>
              <a:t>ـخ</a:t>
            </a:r>
            <a:endParaRPr lang="ar-SA" sz="2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TEACHER INSTRUCTION · THE SIX BREAKERS HAVE ONLY TWO SHAPES (WEBSITE PART 3)</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Breakers: two patterns, four places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الَّتِي لَا تَتَّصِلُ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a:t>
            </a:r>
            <a:endParaRPr lang="en-US" sz="1100" dirty="0"/>
          </a:p>
        </p:txBody>
      </p:sp>
      <p:sp>
        <p:nvSpPr>
          <p:cNvPr id="23" name="Text 20"/>
          <p:cNvSpPr txBox="1"/>
          <p:nvPr/>
        </p:nvSpPr>
        <p:spPr>
          <a:xfrm>
            <a:off x="7406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ا</a:t>
            </a:r>
            <a:endParaRPr lang="ar-SA" sz="315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ا</a:t>
            </a:r>
            <a:endParaRPr lang="ar-SA" sz="3150" dirty="0"/>
          </a:p>
        </p:txBody>
      </p:sp>
      <p:sp>
        <p:nvSpPr>
          <p:cNvPr id="25" name="Text 22"/>
          <p:cNvSpPr txBox="1"/>
          <p:nvPr/>
        </p:nvSpPr>
        <p:spPr>
          <a:xfrm>
            <a:off x="2834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ـا</a:t>
            </a:r>
            <a:endParaRPr lang="ar-SA" sz="315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ـا</a:t>
            </a:r>
            <a:endParaRPr lang="ar-SA" sz="31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dāl</a:t>
            </a:r>
            <a:endParaRPr lang="en-US" sz="1100" dirty="0"/>
          </a:p>
        </p:txBody>
      </p:sp>
      <p:sp>
        <p:nvSpPr>
          <p:cNvPr id="31" name="Text 28"/>
          <p:cNvSpPr txBox="1"/>
          <p:nvPr/>
        </p:nvSpPr>
        <p:spPr>
          <a:xfrm>
            <a:off x="7406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د</a:t>
            </a:r>
            <a:endParaRPr lang="ar-SA" sz="315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د</a:t>
            </a:r>
            <a:endParaRPr lang="ar-SA" sz="3150" dirty="0"/>
          </a:p>
        </p:txBody>
      </p:sp>
      <p:sp>
        <p:nvSpPr>
          <p:cNvPr id="33" name="Text 30"/>
          <p:cNvSpPr txBox="1"/>
          <p:nvPr/>
        </p:nvSpPr>
        <p:spPr>
          <a:xfrm>
            <a:off x="2834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ـد</a:t>
            </a:r>
            <a:endParaRPr lang="ar-SA" sz="315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ـد</a:t>
            </a:r>
            <a:endParaRPr lang="ar-SA" sz="31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rāʾ</a:t>
            </a:r>
            <a:endParaRPr lang="en-US" sz="1100" dirty="0"/>
          </a:p>
        </p:txBody>
      </p:sp>
      <p:sp>
        <p:nvSpPr>
          <p:cNvPr id="39" name="Text 36"/>
          <p:cNvSpPr txBox="1"/>
          <p:nvPr/>
        </p:nvSpPr>
        <p:spPr>
          <a:xfrm>
            <a:off x="7406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ر</a:t>
            </a:r>
            <a:endParaRPr lang="ar-SA" sz="315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ر</a:t>
            </a:r>
            <a:endParaRPr lang="ar-SA" sz="3150" dirty="0"/>
          </a:p>
        </p:txBody>
      </p:sp>
      <p:sp>
        <p:nvSpPr>
          <p:cNvPr id="41" name="Text 38"/>
          <p:cNvSpPr txBox="1"/>
          <p:nvPr/>
        </p:nvSpPr>
        <p:spPr>
          <a:xfrm>
            <a:off x="2834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ـر</a:t>
            </a:r>
            <a:endParaRPr lang="ar-SA" sz="315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ـر</a:t>
            </a:r>
            <a:endParaRPr lang="ar-SA" sz="315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a:t>
            </a:r>
            <a:endParaRPr lang="en-US" sz="1100" dirty="0"/>
          </a:p>
        </p:txBody>
      </p:sp>
      <p:sp>
        <p:nvSpPr>
          <p:cNvPr id="47" name="Text 44"/>
          <p:cNvSpPr txBox="1"/>
          <p:nvPr/>
        </p:nvSpPr>
        <p:spPr>
          <a:xfrm>
            <a:off x="7406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و</a:t>
            </a:r>
            <a:endParaRPr lang="ar-SA" sz="315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و</a:t>
            </a:r>
            <a:endParaRPr lang="ar-SA" sz="3150" dirty="0"/>
          </a:p>
        </p:txBody>
      </p:sp>
      <p:sp>
        <p:nvSpPr>
          <p:cNvPr id="49" name="Text 46"/>
          <p:cNvSpPr txBox="1"/>
          <p:nvPr/>
        </p:nvSpPr>
        <p:spPr>
          <a:xfrm>
            <a:off x="2834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ـو</a:t>
            </a:r>
            <a:endParaRPr lang="ar-SA" sz="3150" dirty="0"/>
          </a:p>
        </p:txBody>
      </p:sp>
      <p:sp>
        <p:nvSpPr>
          <p:cNvPr id="50" name="Text 47"/>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ـو</a:t>
            </a:r>
            <a:endParaRPr lang="ar-SA" sz="315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dhāl · zāy</a:t>
            </a:r>
            <a:endParaRPr lang="en-US" sz="1100" dirty="0"/>
          </a:p>
        </p:txBody>
      </p:sp>
      <p:sp>
        <p:nvSpPr>
          <p:cNvPr id="55" name="Text 52"/>
          <p:cNvSpPr txBox="1"/>
          <p:nvPr/>
        </p:nvSpPr>
        <p:spPr>
          <a:xfrm>
            <a:off x="7406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ذ  ز</a:t>
            </a:r>
            <a:endParaRPr lang="ar-SA" sz="315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ذ  ز</a:t>
            </a:r>
            <a:endParaRPr lang="ar-SA" sz="3150" dirty="0"/>
          </a:p>
        </p:txBody>
      </p:sp>
      <p:sp>
        <p:nvSpPr>
          <p:cNvPr id="57" name="Text 54"/>
          <p:cNvSpPr txBox="1"/>
          <p:nvPr/>
        </p:nvSpPr>
        <p:spPr>
          <a:xfrm>
            <a:off x="2834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ـذ  ـز</a:t>
            </a:r>
            <a:endParaRPr lang="ar-SA" sz="3150" dirty="0"/>
          </a:p>
        </p:txBody>
      </p:sp>
      <p:sp>
        <p:nvSpPr>
          <p:cNvPr id="58" name="Text 55"/>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ـذ  ـز</a:t>
            </a:r>
            <a:endParaRPr lang="ar-SA" sz="315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Isolated = initial (unjoined) · medial = final (joined from the right). The break is AFTER the breaker.</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ـتـ</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non-connector pairing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 = final; initial = medial</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 = initial; medial = final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Joins onward to the left only (website final check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ـتـ</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 (website final check 2).</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ea typeface="Amiri" pitchFamily="2" charset="-78"/>
                <a:cs typeface="Amiri" pitchFamily="2" charset="-78"/>
              </a:rPr>
              <a:t>ـج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Isolated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from the right only (website final check 3).</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non-connector pairing is correct?</a:t>
            </a:r>
            <a:endParaRPr lang="en-US" sz="1250" dirty="0"/>
          </a:p>
        </p:txBody>
      </p:sp>
      <p:sp>
        <p:nvSpPr>
          <p:cNvPr id="64" name="Shape 61"/>
          <p:cNvSpPr/>
          <p:nvPr/>
        </p:nvSpPr>
        <p:spPr>
          <a:xfrm>
            <a:off x="6368796"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Isolated = final; initial = medial</a:t>
            </a:r>
            <a:endParaRPr lang="en-US" sz="1250" dirty="0"/>
          </a:p>
        </p:txBody>
      </p:sp>
      <p:sp>
        <p:nvSpPr>
          <p:cNvPr id="67" name="Shape 64"/>
          <p:cNvSpPr/>
          <p:nvPr/>
        </p:nvSpPr>
        <p:spPr>
          <a:xfrm>
            <a:off x="6277356" y="5294376"/>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 = initial; medial = final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6.</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X-RAY THREE WORDS (WEBSITE PART 4 THINK-ALOUD)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take words apart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الكَلِمَاتِ وَتَحْلِيلُهَا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7690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1 (right)</a:t>
            </a:r>
            <a:endParaRPr lang="en-US" sz="1100" dirty="0"/>
          </a:p>
        </p:txBody>
      </p:sp>
      <p:sp>
        <p:nvSpPr>
          <p:cNvPr id="18" name="Text 15"/>
          <p:cNvSpPr txBox="1"/>
          <p:nvPr/>
        </p:nvSpPr>
        <p:spPr>
          <a:xfrm>
            <a:off x="5678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2</a:t>
            </a:r>
            <a:endParaRPr lang="en-US" sz="1100" dirty="0"/>
          </a:p>
        </p:txBody>
      </p:sp>
      <p:sp>
        <p:nvSpPr>
          <p:cNvPr id="19" name="Text 16"/>
          <p:cNvSpPr txBox="1"/>
          <p:nvPr/>
        </p:nvSpPr>
        <p:spPr>
          <a:xfrm>
            <a:off x="3666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3 (left)</a:t>
            </a:r>
            <a:endParaRPr lang="en-US" sz="1100" dirty="0"/>
          </a:p>
        </p:txBody>
      </p:sp>
      <p:sp>
        <p:nvSpPr>
          <p:cNvPr id="20" name="Text 17"/>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كَتَبَ</a:t>
            </a:r>
            <a:endParaRPr lang="ar-SA" sz="2100" dirty="0"/>
          </a:p>
        </p:txBody>
      </p:sp>
      <p:sp>
        <p:nvSpPr>
          <p:cNvPr id="23" name="Text 20"/>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kataba · he wrote</a:t>
            </a:r>
            <a:endParaRPr lang="en-US" sz="950" dirty="0"/>
          </a:p>
        </p:txBody>
      </p:sp>
      <p:sp>
        <p:nvSpPr>
          <p:cNvPr id="24" name="Text 21"/>
          <p:cNvSpPr txBox="1"/>
          <p:nvPr/>
        </p:nvSpPr>
        <p:spPr>
          <a:xfrm>
            <a:off x="770839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كـ</a:t>
            </a:r>
            <a:endParaRPr lang="ar-SA" sz="2100" dirty="0"/>
          </a:p>
        </p:txBody>
      </p:sp>
      <p:sp>
        <p:nvSpPr>
          <p:cNvPr id="25" name="Text 22"/>
          <p:cNvSpPr txBox="1"/>
          <p:nvPr/>
        </p:nvSpPr>
        <p:spPr>
          <a:xfrm>
            <a:off x="766267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kāf</a:t>
            </a:r>
            <a:endParaRPr lang="en-US" sz="950" dirty="0"/>
          </a:p>
        </p:txBody>
      </p:sp>
      <p:sp>
        <p:nvSpPr>
          <p:cNvPr id="26" name="Text 23"/>
          <p:cNvSpPr txBox="1"/>
          <p:nvPr/>
        </p:nvSpPr>
        <p:spPr>
          <a:xfrm>
            <a:off x="569671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ـتـ</a:t>
            </a:r>
            <a:endParaRPr lang="ar-SA" sz="2100" dirty="0"/>
          </a:p>
        </p:txBody>
      </p:sp>
      <p:sp>
        <p:nvSpPr>
          <p:cNvPr id="27" name="Text 24"/>
          <p:cNvSpPr txBox="1"/>
          <p:nvPr/>
        </p:nvSpPr>
        <p:spPr>
          <a:xfrm>
            <a:off x="565099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medial tāʾ</a:t>
            </a:r>
            <a:endParaRPr lang="en-US" sz="950" dirty="0"/>
          </a:p>
        </p:txBody>
      </p:sp>
      <p:sp>
        <p:nvSpPr>
          <p:cNvPr id="28" name="Text 25"/>
          <p:cNvSpPr txBox="1"/>
          <p:nvPr/>
        </p:nvSpPr>
        <p:spPr>
          <a:xfrm>
            <a:off x="368503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ـب</a:t>
            </a:r>
            <a:endParaRPr lang="ar-SA" sz="2100" dirty="0"/>
          </a:p>
        </p:txBody>
      </p:sp>
      <p:sp>
        <p:nvSpPr>
          <p:cNvPr id="29" name="Text 26"/>
          <p:cNvSpPr txBox="1"/>
          <p:nvPr/>
        </p:nvSpPr>
        <p:spPr>
          <a:xfrm>
            <a:off x="363931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bāʾ</a:t>
            </a:r>
            <a:endParaRPr lang="en-US" sz="950" dirty="0"/>
          </a:p>
        </p:txBody>
      </p:sp>
      <p:sp>
        <p:nvSpPr>
          <p:cNvPr id="30" name="Text 27"/>
          <p:cNvSpPr txBox="1"/>
          <p:nvPr/>
        </p:nvSpPr>
        <p:spPr>
          <a:xfrm>
            <a:off x="56692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neighbours join: one continuous run.</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بَابٌ</a:t>
            </a:r>
            <a:endParaRPr lang="ar-SA" sz="2100" dirty="0"/>
          </a:p>
        </p:txBody>
      </p:sp>
      <p:sp>
        <p:nvSpPr>
          <p:cNvPr id="35" name="Text 32"/>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bāb · door</a:t>
            </a:r>
            <a:endParaRPr lang="en-US" sz="950" dirty="0"/>
          </a:p>
        </p:txBody>
      </p:sp>
      <p:sp>
        <p:nvSpPr>
          <p:cNvPr id="36" name="Text 33"/>
          <p:cNvSpPr txBox="1"/>
          <p:nvPr/>
        </p:nvSpPr>
        <p:spPr>
          <a:xfrm>
            <a:off x="770839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بـ</a:t>
            </a:r>
            <a:endParaRPr lang="ar-SA" sz="2100" dirty="0"/>
          </a:p>
        </p:txBody>
      </p:sp>
      <p:sp>
        <p:nvSpPr>
          <p:cNvPr id="37" name="Text 34"/>
          <p:cNvSpPr txBox="1"/>
          <p:nvPr/>
        </p:nvSpPr>
        <p:spPr>
          <a:xfrm>
            <a:off x="766267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bāʾ</a:t>
            </a:r>
            <a:endParaRPr lang="en-US" sz="950" dirty="0"/>
          </a:p>
        </p:txBody>
      </p:sp>
      <p:sp>
        <p:nvSpPr>
          <p:cNvPr id="38" name="Text 35"/>
          <p:cNvSpPr txBox="1"/>
          <p:nvPr/>
        </p:nvSpPr>
        <p:spPr>
          <a:xfrm>
            <a:off x="569671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ـا</a:t>
            </a:r>
            <a:endParaRPr lang="ar-SA" sz="2100" dirty="0"/>
          </a:p>
        </p:txBody>
      </p:sp>
      <p:sp>
        <p:nvSpPr>
          <p:cNvPr id="39" name="Text 36"/>
          <p:cNvSpPr txBox="1"/>
          <p:nvPr/>
        </p:nvSpPr>
        <p:spPr>
          <a:xfrm>
            <a:off x="565099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alif receives the join</a:t>
            </a:r>
            <a:endParaRPr lang="en-US" sz="950" dirty="0"/>
          </a:p>
        </p:txBody>
      </p:sp>
      <p:sp>
        <p:nvSpPr>
          <p:cNvPr id="40" name="Text 37"/>
          <p:cNvSpPr txBox="1"/>
          <p:nvPr/>
        </p:nvSpPr>
        <p:spPr>
          <a:xfrm>
            <a:off x="368503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a:t>
            </a:r>
            <a:endParaRPr lang="ar-SA" sz="2100" dirty="0"/>
          </a:p>
        </p:txBody>
      </p:sp>
      <p:sp>
        <p:nvSpPr>
          <p:cNvPr id="41" name="Text 38"/>
          <p:cNvSpPr txBox="1"/>
          <p:nvPr/>
        </p:nvSpPr>
        <p:spPr>
          <a:xfrm>
            <a:off x="363931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but isolated-looking</a:t>
            </a:r>
            <a:endParaRPr lang="en-US" sz="950" dirty="0"/>
          </a:p>
        </p:txBody>
      </p:sp>
      <p:sp>
        <p:nvSpPr>
          <p:cNvPr id="42" name="Text 39"/>
          <p:cNvSpPr txBox="1"/>
          <p:nvPr/>
        </p:nvSpPr>
        <p:spPr>
          <a:xfrm>
            <a:off x="56692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breaks — the last bāʾ stands alone.</a:t>
            </a:r>
            <a:endParaRPr lang="en-US" sz="110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بَيْتٌ</a:t>
            </a:r>
            <a:endParaRPr lang="ar-SA" sz="2100" dirty="0"/>
          </a:p>
        </p:txBody>
      </p:sp>
      <p:sp>
        <p:nvSpPr>
          <p:cNvPr id="47" name="Text 44"/>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bayt · house</a:t>
            </a:r>
            <a:endParaRPr lang="en-US" sz="950" dirty="0"/>
          </a:p>
        </p:txBody>
      </p:sp>
      <p:sp>
        <p:nvSpPr>
          <p:cNvPr id="48" name="Text 45"/>
          <p:cNvSpPr txBox="1"/>
          <p:nvPr/>
        </p:nvSpPr>
        <p:spPr>
          <a:xfrm>
            <a:off x="770839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بـ</a:t>
            </a:r>
            <a:endParaRPr lang="ar-SA" sz="2100" dirty="0"/>
          </a:p>
        </p:txBody>
      </p:sp>
      <p:sp>
        <p:nvSpPr>
          <p:cNvPr id="49" name="Text 46"/>
          <p:cNvSpPr txBox="1"/>
          <p:nvPr/>
        </p:nvSpPr>
        <p:spPr>
          <a:xfrm>
            <a:off x="766267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bāʾ</a:t>
            </a:r>
            <a:endParaRPr lang="en-US" sz="950" dirty="0"/>
          </a:p>
        </p:txBody>
      </p:sp>
      <p:sp>
        <p:nvSpPr>
          <p:cNvPr id="50" name="Text 47"/>
          <p:cNvSpPr txBox="1"/>
          <p:nvPr/>
        </p:nvSpPr>
        <p:spPr>
          <a:xfrm>
            <a:off x="569671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ـيـ</a:t>
            </a:r>
            <a:endParaRPr lang="ar-SA" sz="2100" dirty="0"/>
          </a:p>
        </p:txBody>
      </p:sp>
      <p:sp>
        <p:nvSpPr>
          <p:cNvPr id="51" name="Text 48"/>
          <p:cNvSpPr txBox="1"/>
          <p:nvPr/>
        </p:nvSpPr>
        <p:spPr>
          <a:xfrm>
            <a:off x="565099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medial yāʾ</a:t>
            </a:r>
            <a:endParaRPr lang="en-US" sz="950" dirty="0"/>
          </a:p>
        </p:txBody>
      </p:sp>
      <p:sp>
        <p:nvSpPr>
          <p:cNvPr id="52" name="Text 49"/>
          <p:cNvSpPr txBox="1"/>
          <p:nvPr/>
        </p:nvSpPr>
        <p:spPr>
          <a:xfrm>
            <a:off x="368503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ـت</a:t>
            </a:r>
            <a:endParaRPr lang="ar-SA" sz="2100" dirty="0"/>
          </a:p>
        </p:txBody>
      </p:sp>
      <p:sp>
        <p:nvSpPr>
          <p:cNvPr id="53" name="Text 50"/>
          <p:cNvSpPr txBox="1"/>
          <p:nvPr/>
        </p:nvSpPr>
        <p:spPr>
          <a:xfrm>
            <a:off x="363931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tāʾ</a:t>
            </a:r>
            <a:endParaRPr lang="en-US" sz="950" dirty="0"/>
          </a:p>
        </p:txBody>
      </p:sp>
      <p:sp>
        <p:nvSpPr>
          <p:cNvPr id="54" name="Text 51"/>
          <p:cNvSpPr txBox="1"/>
          <p:nvPr/>
        </p:nvSpPr>
        <p:spPr>
          <a:xfrm>
            <a:off x="56692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is a connector: the whole word stays joined.</a:t>
            </a:r>
            <a:endParaRPr lang="en-US" sz="110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WRITE THE FOUR FORMS (WEBSITE FORMATION PRACTICE)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Copy the four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 الأَشْكَالَ الأَرْبَعَةَ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sīn · three teeth every time</a:t>
            </a:r>
            <a:endParaRPr lang="en-US" sz="1100" dirty="0"/>
          </a:p>
        </p:txBody>
      </p:sp>
      <p:sp>
        <p:nvSpPr>
          <p:cNvPr id="23" name="Text 20"/>
          <p:cNvSpPr txBox="1"/>
          <p:nvPr/>
        </p:nvSpPr>
        <p:spPr>
          <a:xfrm>
            <a:off x="7406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a:t>
            </a:r>
            <a:endParaRPr lang="ar-SA" sz="3200" dirty="0"/>
          </a:p>
        </p:txBody>
      </p:sp>
      <p:sp>
        <p:nvSpPr>
          <p:cNvPr id="24" name="Text 21"/>
          <p:cNvSpPr txBox="1"/>
          <p:nvPr/>
        </p:nvSpPr>
        <p:spPr>
          <a:xfrm>
            <a:off x="5120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سـ</a:t>
            </a:r>
            <a:endParaRPr lang="ar-SA" sz="3200" dirty="0"/>
          </a:p>
        </p:txBody>
      </p:sp>
      <p:sp>
        <p:nvSpPr>
          <p:cNvPr id="25" name="Text 22"/>
          <p:cNvSpPr txBox="1"/>
          <p:nvPr/>
        </p:nvSpPr>
        <p:spPr>
          <a:xfrm>
            <a:off x="2834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ـسـ</a:t>
            </a:r>
            <a:endParaRPr lang="ar-SA" sz="3200" dirty="0"/>
          </a:p>
        </p:txBody>
      </p:sp>
      <p:sp>
        <p:nvSpPr>
          <p:cNvPr id="26" name="Text 23"/>
          <p:cNvSpPr txBox="1"/>
          <p:nvPr/>
        </p:nvSpPr>
        <p:spPr>
          <a:xfrm>
            <a:off x="548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ـس</a:t>
            </a:r>
            <a:endParaRPr lang="ar-SA" sz="3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ʿayn · open head → closed head</a:t>
            </a:r>
            <a:endParaRPr lang="en-US" sz="1100" dirty="0"/>
          </a:p>
        </p:txBody>
      </p:sp>
      <p:sp>
        <p:nvSpPr>
          <p:cNvPr id="31" name="Text 28"/>
          <p:cNvSpPr txBox="1"/>
          <p:nvPr/>
        </p:nvSpPr>
        <p:spPr>
          <a:xfrm>
            <a:off x="7406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a:t>
            </a:r>
            <a:endParaRPr lang="ar-SA" sz="3200" dirty="0"/>
          </a:p>
        </p:txBody>
      </p:sp>
      <p:sp>
        <p:nvSpPr>
          <p:cNvPr id="32" name="Text 29"/>
          <p:cNvSpPr txBox="1"/>
          <p:nvPr/>
        </p:nvSpPr>
        <p:spPr>
          <a:xfrm>
            <a:off x="5120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عـ</a:t>
            </a:r>
            <a:endParaRPr lang="ar-SA" sz="3200" dirty="0"/>
          </a:p>
        </p:txBody>
      </p:sp>
      <p:sp>
        <p:nvSpPr>
          <p:cNvPr id="33" name="Text 30"/>
          <p:cNvSpPr txBox="1"/>
          <p:nvPr/>
        </p:nvSpPr>
        <p:spPr>
          <a:xfrm>
            <a:off x="2834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ـعـ</a:t>
            </a:r>
            <a:endParaRPr lang="ar-SA" sz="3200" dirty="0"/>
          </a:p>
        </p:txBody>
      </p:sp>
      <p:sp>
        <p:nvSpPr>
          <p:cNvPr id="34" name="Text 31"/>
          <p:cNvSpPr txBox="1"/>
          <p:nvPr/>
        </p:nvSpPr>
        <p:spPr>
          <a:xfrm>
            <a:off x="548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ـع</a:t>
            </a:r>
            <a:endParaRPr lang="ar-SA" sz="32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 tail only at the end</a:t>
            </a:r>
            <a:endParaRPr lang="en-US" sz="1100" dirty="0"/>
          </a:p>
        </p:txBody>
      </p:sp>
      <p:sp>
        <p:nvSpPr>
          <p:cNvPr id="39" name="Text 36"/>
          <p:cNvSpPr txBox="1"/>
          <p:nvPr/>
        </p:nvSpPr>
        <p:spPr>
          <a:xfrm>
            <a:off x="7406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a:t>
            </a:r>
            <a:endParaRPr lang="ar-SA" sz="3200" dirty="0"/>
          </a:p>
        </p:txBody>
      </p:sp>
      <p:sp>
        <p:nvSpPr>
          <p:cNvPr id="40" name="Text 37"/>
          <p:cNvSpPr txBox="1"/>
          <p:nvPr/>
        </p:nvSpPr>
        <p:spPr>
          <a:xfrm>
            <a:off x="5120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مـ</a:t>
            </a:r>
            <a:endParaRPr lang="ar-SA" sz="3200" dirty="0"/>
          </a:p>
        </p:txBody>
      </p:sp>
      <p:sp>
        <p:nvSpPr>
          <p:cNvPr id="41" name="Text 38"/>
          <p:cNvSpPr txBox="1"/>
          <p:nvPr/>
        </p:nvSpPr>
        <p:spPr>
          <a:xfrm>
            <a:off x="2834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ـمـ</a:t>
            </a:r>
            <a:endParaRPr lang="ar-SA" sz="3200" dirty="0"/>
          </a:p>
        </p:txBody>
      </p:sp>
      <p:sp>
        <p:nvSpPr>
          <p:cNvPr id="42" name="Text 39"/>
          <p:cNvSpPr txBox="1"/>
          <p:nvPr/>
        </p:nvSpPr>
        <p:spPr>
          <a:xfrm>
            <a:off x="548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ـم</a:t>
            </a:r>
            <a:endParaRPr lang="ar-SA" sz="32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fāʾ · dot every time</a:t>
            </a:r>
            <a:endParaRPr lang="en-US" sz="1100" dirty="0"/>
          </a:p>
        </p:txBody>
      </p:sp>
      <p:sp>
        <p:nvSpPr>
          <p:cNvPr id="47" name="Text 44"/>
          <p:cNvSpPr txBox="1"/>
          <p:nvPr/>
        </p:nvSpPr>
        <p:spPr>
          <a:xfrm>
            <a:off x="7406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a:t>
            </a:r>
            <a:endParaRPr lang="ar-SA" sz="3200" dirty="0"/>
          </a:p>
        </p:txBody>
      </p:sp>
      <p:sp>
        <p:nvSpPr>
          <p:cNvPr id="48" name="Text 45"/>
          <p:cNvSpPr txBox="1"/>
          <p:nvPr/>
        </p:nvSpPr>
        <p:spPr>
          <a:xfrm>
            <a:off x="5120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فـ</a:t>
            </a:r>
            <a:endParaRPr lang="ar-SA" sz="3200" dirty="0"/>
          </a:p>
        </p:txBody>
      </p:sp>
      <p:sp>
        <p:nvSpPr>
          <p:cNvPr id="49" name="Text 46"/>
          <p:cNvSpPr txBox="1"/>
          <p:nvPr/>
        </p:nvSpPr>
        <p:spPr>
          <a:xfrm>
            <a:off x="2834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ـفـ</a:t>
            </a:r>
            <a:endParaRPr lang="ar-SA" sz="3200" dirty="0"/>
          </a:p>
        </p:txBody>
      </p:sp>
      <p:sp>
        <p:nvSpPr>
          <p:cNvPr id="50" name="Text 47"/>
          <p:cNvSpPr txBox="1"/>
          <p:nvPr/>
        </p:nvSpPr>
        <p:spPr>
          <a:xfrm>
            <a:off x="548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ـف</a:t>
            </a:r>
            <a:endParaRPr lang="ar-SA" sz="32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710928" y="5413248"/>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 changes the most!</a:t>
            </a:r>
            <a:endParaRPr lang="en-US" sz="1100" dirty="0"/>
          </a:p>
        </p:txBody>
      </p:sp>
      <p:sp>
        <p:nvSpPr>
          <p:cNvPr id="53" name="Text 50"/>
          <p:cNvSpPr txBox="1"/>
          <p:nvPr/>
        </p:nvSpPr>
        <p:spPr>
          <a:xfrm>
            <a:off x="7406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a:t>
            </a:r>
            <a:endParaRPr lang="ar-SA" sz="3200" dirty="0"/>
          </a:p>
        </p:txBody>
      </p:sp>
      <p:sp>
        <p:nvSpPr>
          <p:cNvPr id="54" name="Text 51"/>
          <p:cNvSpPr txBox="1"/>
          <p:nvPr/>
        </p:nvSpPr>
        <p:spPr>
          <a:xfrm>
            <a:off x="5120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هـ</a:t>
            </a:r>
            <a:endParaRPr lang="ar-SA" sz="3200" dirty="0"/>
          </a:p>
        </p:txBody>
      </p:sp>
      <p:sp>
        <p:nvSpPr>
          <p:cNvPr id="55" name="Text 52"/>
          <p:cNvSpPr txBox="1"/>
          <p:nvPr/>
        </p:nvSpPr>
        <p:spPr>
          <a:xfrm>
            <a:off x="2834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ـهـ</a:t>
            </a:r>
            <a:endParaRPr lang="ar-SA" sz="3200" dirty="0"/>
          </a:p>
        </p:txBody>
      </p:sp>
      <p:sp>
        <p:nvSpPr>
          <p:cNvPr id="56" name="Text 53"/>
          <p:cNvSpPr txBox="1"/>
          <p:nvPr/>
        </p:nvSpPr>
        <p:spPr>
          <a:xfrm>
            <a:off x="548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ـه</a:t>
            </a:r>
            <a:endParaRPr lang="ar-SA" sz="32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“FORM FINDER”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finder: which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الشَّكْلِ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ـسـ</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عـ</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ـهـ</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little joining lines:</a:t>
            </a:r>
            <a:endParaRPr lang="en-US" sz="1250" dirty="0"/>
          </a:p>
          <a:p>
            <a:pPr algn="l" indent="0" marL="0">
              <a:buNone/>
            </a:pPr>
            <a:r>
              <a:rPr lang="en-US" sz="1250" dirty="0">
                <a:solidFill>
                  <a:srgbClr val="1E6B52"/>
                </a:solidFill>
                <a:latin typeface="Calibri" pitchFamily="34" charset="0"/>
                <a:cs typeface="Amiri" pitchFamily="2" charset="-78"/>
              </a:rPr>
              <a:t>line on the left only → initial</a:t>
            </a:r>
            <a:endParaRPr lang="en-US" sz="1250" dirty="0"/>
          </a:p>
          <a:p>
            <a:pPr algn="l" indent="0" marL="0">
              <a:buNone/>
            </a:pPr>
            <a:r>
              <a:rPr lang="en-US" sz="1250" dirty="0">
                <a:solidFill>
                  <a:srgbClr val="1E6B52"/>
                </a:solidFill>
                <a:latin typeface="Calibri" pitchFamily="34" charset="0"/>
                <a:cs typeface="Amiri" pitchFamily="2" charset="-78"/>
              </a:rPr>
              <a:t>both sides → medial</a:t>
            </a:r>
            <a:endParaRPr lang="en-US" sz="1250" dirty="0"/>
          </a:p>
          <a:p>
            <a:pPr algn="l" indent="0" marL="0">
              <a:buNone/>
            </a:pPr>
            <a:r>
              <a:rPr lang="en-US" sz="1250" dirty="0">
                <a:solidFill>
                  <a:srgbClr val="1E6B52"/>
                </a:solidFill>
                <a:latin typeface="Calibri" pitchFamily="34" charset="0"/>
                <a:cs typeface="Amiri" pitchFamily="2" charset="-78"/>
              </a:rPr>
              <a:t>right only → final</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FORM FINDER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ـسـ</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عـ</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Joins onward to the left only.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ـم</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from the right, with its tail.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joins at all.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ـهـ</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hāʾ in the middle of a word.</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little joining lines:</a:t>
            </a:r>
            <a:endParaRPr lang="en-US" sz="1250" dirty="0"/>
          </a:p>
          <a:p>
            <a:pPr algn="l" indent="0" marL="0">
              <a:buNone/>
            </a:pPr>
            <a:r>
              <a:rPr lang="en-US" sz="1250" dirty="0">
                <a:solidFill>
                  <a:srgbClr val="1E6B52"/>
                </a:solidFill>
                <a:latin typeface="Calibri" pitchFamily="34" charset="0"/>
                <a:cs typeface="Amiri" pitchFamily="2" charset="-78"/>
              </a:rPr>
              <a:t>line on the left only → initial</a:t>
            </a:r>
            <a:endParaRPr lang="en-US" sz="1250" dirty="0"/>
          </a:p>
          <a:p>
            <a:pPr algn="l" indent="0" marL="0">
              <a:buNone/>
            </a:pPr>
            <a:r>
              <a:rPr lang="en-US" sz="1250" dirty="0">
                <a:solidFill>
                  <a:srgbClr val="1E6B52"/>
                </a:solidFill>
                <a:latin typeface="Calibri" pitchFamily="34" charset="0"/>
                <a:cs typeface="Amiri" pitchFamily="2" charset="-78"/>
              </a:rPr>
              <a:t>both sides → medial</a:t>
            </a:r>
            <a:endParaRPr lang="en-US" sz="1250" dirty="0"/>
          </a:p>
          <a:p>
            <a:pPr algn="l" indent="0" marL="0">
              <a:buNone/>
            </a:pPr>
            <a:r>
              <a:rPr lang="en-US" sz="1250" dirty="0">
                <a:solidFill>
                  <a:srgbClr val="1E6B52"/>
                </a:solidFill>
                <a:latin typeface="Calibri" pitchFamily="34" charset="0"/>
                <a:cs typeface="Amiri" pitchFamily="2" charset="-78"/>
              </a:rPr>
              <a:t>right only → final</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ARCHITECT”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مُهَنْدِسُ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Can continue the join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Stops the join (breaker)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ARCHITECT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Can continue the join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Stops the join (breaker)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“WORD X-RAY”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X-ray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حَلِّلِ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final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look in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Isolated-looking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connected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 (he studied)?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after </a:t>
            </a:r>
            <a:pPr algn="l" indent="0" marL="0">
              <a:buNone/>
            </a:pPr>
            <a:r>
              <a:rPr lang="ar-SA" altLang="en-US" sz="1650" dirty="0">
                <a:solidFill>
                  <a:srgbClr val="1F2A37"/>
                </a:solidFill>
                <a:latin typeface="Amiri" pitchFamily="2" charset="-78"/>
                <a:ea typeface="Amiri" pitchFamily="2" charset="-78"/>
                <a:cs typeface="Amiri" pitchFamily="2" charset="-78"/>
              </a:rPr>
              <a:t>س</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break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د</a:t>
            </a:r>
            <a:pPr algn="l" indent="0" marL="0">
              <a:buNone/>
            </a:pPr>
            <a:r>
              <a:rPr lang="en-US" sz="1250" dirty="0">
                <a:solidFill>
                  <a:srgbClr val="1F2A37"/>
                </a:solidFill>
                <a:latin typeface="Calibri" pitchFamily="34" charset="0"/>
                <a:cs typeface="Amiri" pitchFamily="2" charset="-78"/>
              </a:rPr>
              <a:t> and after </a:t>
            </a:r>
            <a:pPr algn="l" indent="0" marL="0">
              <a:buNone/>
            </a:pPr>
            <a:r>
              <a:rPr lang="ar-SA" altLang="en-US" sz="1650" dirty="0">
                <a:solidFill>
                  <a:srgbClr val="1F2A37"/>
                </a:solidFill>
                <a:latin typeface="Amiri" pitchFamily="2" charset="-78"/>
                <a:ea typeface="Amiri" pitchFamily="2" charset="-78"/>
                <a:cs typeface="Amiri" pitchFamily="2" charset="-78"/>
              </a:rPr>
              <a:t>ر</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inspect before choosing a form?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neighbours and their connection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number of dots</a:t>
            </a:r>
            <a:endParaRPr lang="en-US" sz="12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Read right →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Breakers: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 د ذ ر ز و</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WORD X-RAY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final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look in </a:t>
            </a:r>
            <a:pPr algn="l" indent="0" marL="0">
              <a:buNone/>
            </a:pPr>
            <a:r>
              <a:rPr lang="ar-SA" altLang="en-US" sz="1650" b="1" dirty="0">
                <a:solidFill>
                  <a:srgbClr val="1B3B6F"/>
                </a:solidFill>
                <a:latin typeface="Amiri" pitchFamily="2" charset="-78"/>
                <a:ea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Isolated-looking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 connected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breaks before it (website final check 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 (website final check 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letter, joins onward.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 (he studied)?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after </a:t>
            </a:r>
            <a:pPr algn="l" indent="0" marL="0">
              <a:buNone/>
            </a:pPr>
            <a:r>
              <a:rPr lang="ar-SA" altLang="en-US" sz="1650" dirty="0">
                <a:solidFill>
                  <a:srgbClr val="9AA1AB"/>
                </a:solidFill>
                <a:latin typeface="Amiri" pitchFamily="2" charset="-78"/>
                <a:ea typeface="Amiri" pitchFamily="2" charset="-78"/>
                <a:cs typeface="Amiri" pitchFamily="2" charset="-78"/>
              </a:rPr>
              <a:t>س</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break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د</a:t>
            </a:r>
            <a:pPr algn="l" indent="0" marL="0">
              <a:buNone/>
            </a:pPr>
            <a:r>
              <a:rPr lang="en-US" sz="1250" b="1" dirty="0">
                <a:solidFill>
                  <a:srgbClr val="1F2A37"/>
                </a:solidFill>
                <a:latin typeface="Calibri" pitchFamily="34" charset="0"/>
                <a:cs typeface="Amiri" pitchFamily="2" charset="-78"/>
              </a:rPr>
              <a:t> and after </a:t>
            </a:r>
            <a:pPr algn="l" indent="0" marL="0">
              <a:buNone/>
            </a:pPr>
            <a:r>
              <a:rPr lang="ar-SA" altLang="en-US" sz="1650" b="1" dirty="0">
                <a:solidFill>
                  <a:srgbClr val="1F2A37"/>
                </a:solidFill>
                <a:latin typeface="Amiri" pitchFamily="2" charset="-78"/>
                <a:ea typeface="Amiri" pitchFamily="2" charset="-78"/>
                <a:cs typeface="Amiri" pitchFamily="2" charset="-78"/>
              </a:rPr>
              <a:t>ر</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are both breakers: </a:t>
            </a:r>
            <a:pPr algn="l" indent="0" marL="0">
              <a:buNone/>
            </a:pPr>
            <a:r>
              <a:rPr lang="ar-SA" altLang="en-US" sz="1350" dirty="0">
                <a:solidFill>
                  <a:srgbClr val="8A6D1E"/>
                </a:solidFill>
                <a:latin typeface="Amiri" pitchFamily="2" charset="-78"/>
                <a:ea typeface="Amiri" pitchFamily="2" charset="-78"/>
                <a:cs typeface="Amiri" pitchFamily="2" charset="-78"/>
              </a:rPr>
              <a:t>د ر س</a:t>
            </a:r>
            <a:pPr algn="l" indent="0" marL="0">
              <a:buNone/>
            </a:pPr>
            <a:r>
              <a:rPr lang="en-US" sz="1050" i="1" dirty="0">
                <a:solidFill>
                  <a:srgbClr val="8A6D1E"/>
                </a:solidFill>
                <a:latin typeface="Calibri" pitchFamily="34" charset="0"/>
                <a:cs typeface="Amiri" pitchFamily="2" charset="-78"/>
              </a:rPr>
              <a:t> all look separate.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inspect before choosing a form?</a:t>
            </a:r>
            <a:endParaRPr lang="en-US" sz="1250" dirty="0"/>
          </a:p>
        </p:txBody>
      </p:sp>
      <p:sp>
        <p:nvSpPr>
          <p:cNvPr id="79" name="Shape 76"/>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neighbours and their connection behaviour</a:t>
            </a:r>
            <a:endParaRPr lang="en-US" sz="1250" dirty="0"/>
          </a:p>
        </p:txBody>
      </p:sp>
      <p:sp>
        <p:nvSpPr>
          <p:cNvPr id="83" name="Shape 80"/>
          <p:cNvSpPr/>
          <p:nvPr/>
        </p:nvSpPr>
        <p:spPr>
          <a:xfrm>
            <a:off x="4459224"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number of dots</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10.</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Read right →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Breakers: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 د ذ ر ز و</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four-form rows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t>
            </a:r>
            <a:pPr algn="l" indent="0" marL="0">
              <a:buNone/>
            </a:pPr>
            <a:r>
              <a:rPr lang="ar-SA" altLang="en-US" sz="1800" b="1" dirty="0">
                <a:solidFill>
                  <a:srgbClr val="1F2A37"/>
                </a:solidFill>
                <a:latin typeface="Amiri" pitchFamily="2" charset="-78"/>
                <a:ea typeface="Amiri" pitchFamily="2" charset="-78"/>
                <a:cs typeface="Amiri" pitchFamily="2" charset="-78"/>
              </a:rPr>
              <a:t>ب ت ث</a:t>
            </a:r>
            <a:pPr algn="l" indent="0" marL="0">
              <a:buNone/>
            </a:pPr>
            <a:r>
              <a:rPr lang="en-US" sz="1400" b="1" dirty="0">
                <a:solidFill>
                  <a:srgbClr val="1F2A37"/>
                </a:solidFill>
                <a:latin typeface="Calibri" pitchFamily="34" charset="0"/>
                <a:cs typeface="Amiri" pitchFamily="2" charset="-78"/>
              </a:rPr>
              <a:t> in four columns: isolated, initial, medial, final.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the body first, then add the dots. Label each column.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four-form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Four-form rows for </a:t>
            </a:r>
            <a:pPr algn="l" indent="0" marL="0">
              <a:buNone/>
            </a:pPr>
            <a:r>
              <a:rPr lang="ar-SA" altLang="en-US" sz="1800" b="1" dirty="0">
                <a:solidFill>
                  <a:srgbClr val="1F2A37"/>
                </a:solidFill>
                <a:latin typeface="Amiri" pitchFamily="2" charset="-78"/>
                <a:ea typeface="Amiri" pitchFamily="2" charset="-78"/>
                <a:cs typeface="Amiri" pitchFamily="2" charset="-78"/>
              </a:rPr>
              <a:t>س ش ص ض ط ظ</a:t>
            </a:r>
            <a:pPr algn="l" indent="0" marL="0">
              <a:buNone/>
            </a:pPr>
            <a:r>
              <a:rPr lang="en-US" sz="1400" b="1" dirty="0">
                <a:solidFill>
                  <a:srgbClr val="1F2A37"/>
                </a:solidFill>
                <a:latin typeface="Calibri" pitchFamily="34" charset="0"/>
                <a:cs typeface="Amiri" pitchFamily="2" charset="-78"/>
              </a:rPr>
              <a:t> (website homework).</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Cover one column and rebuild it from the rule.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X-ray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Split </a:t>
            </a:r>
            <a:pPr algn="l" indent="0" marL="0">
              <a:buNone/>
            </a:pPr>
            <a:r>
              <a:rPr lang="ar-SA" altLang="en-US" sz="1800" b="1" dirty="0">
                <a:solidFill>
                  <a:srgbClr val="1F2A37"/>
                </a:solidFill>
                <a:latin typeface="Amiri" pitchFamily="2" charset="-78"/>
                <a:ea typeface="Amiri" pitchFamily="2" charset="-78"/>
                <a:cs typeface="Amiri" pitchFamily="2" charset="-78"/>
              </a:rPr>
              <a:t>كَتَبَ، بَاب، بَيْت</a:t>
            </a:r>
            <a:pPr algn="l" indent="0" marL="0">
              <a:buNone/>
            </a:pPr>
            <a:r>
              <a:rPr lang="en-US" sz="1400" b="1" dirty="0">
                <a:solidFill>
                  <a:srgbClr val="1F2A37"/>
                </a:solidFill>
                <a:latin typeface="Calibri" pitchFamily="34" charset="0"/>
                <a:cs typeface="Amiri" pitchFamily="2" charset="-78"/>
              </a:rPr>
              <a:t>, then </a:t>
            </a:r>
            <a:pPr algn="l" indent="0" marL="0">
              <a:buNone/>
            </a:pPr>
            <a:r>
              <a:rPr lang="ar-SA" altLang="en-US" sz="1800" b="1" dirty="0">
                <a:solidFill>
                  <a:srgbClr val="1F2A37"/>
                </a:solidFill>
                <a:latin typeface="Amiri" pitchFamily="2" charset="-78"/>
                <a:ea typeface="Amiri" pitchFamily="2" charset="-78"/>
                <a:cs typeface="Amiri" pitchFamily="2" charset="-78"/>
              </a:rPr>
              <a:t>مَدْرَسَة</a:t>
            </a:r>
            <a:pPr algn="l" indent="0" marL="0">
              <a:buNone/>
            </a:pPr>
            <a:r>
              <a:rPr lang="en-US" sz="1400" b="1" dirty="0">
                <a:solidFill>
                  <a:srgbClr val="1F2A37"/>
                </a:solidFill>
                <a:latin typeface="Calibri" pitchFamily="34" charset="0"/>
                <a:cs typeface="Amiri" pitchFamily="2" charset="-78"/>
              </a:rPr>
              <a:t> (school) and </a:t>
            </a:r>
            <a:pPr algn="l" indent="0" marL="0">
              <a:buNone/>
            </a:pPr>
            <a:r>
              <a:rPr lang="ar-SA" altLang="en-US" sz="1800" b="1" dirty="0">
                <a:solidFill>
                  <a:srgbClr val="1F2A37"/>
                </a:solidFill>
                <a:latin typeface="Amiri" pitchFamily="2" charset="-78"/>
                <a:ea typeface="Amiri" pitchFamily="2" charset="-78"/>
                <a:cs typeface="Amiri" pitchFamily="2" charset="-78"/>
              </a:rPr>
              <a:t>رَسُول</a:t>
            </a:r>
            <a:pPr algn="l" indent="0" marL="0">
              <a:buNone/>
            </a:pPr>
            <a:r>
              <a:rPr lang="en-US" sz="1400" b="1" dirty="0">
                <a:solidFill>
                  <a:srgbClr val="1F2A37"/>
                </a:solidFill>
                <a:latin typeface="Calibri" pitchFamily="34" charset="0"/>
                <a:cs typeface="Amiri" pitchFamily="2" charset="-78"/>
              </a:rPr>
              <a:t> (messenger), and label every form.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Explain word position vs visible form after each breaker (website Heritage extension).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word to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أَوَّلِيٌّ أَمْ وَسَطِيٌّ أَمْ نِهَائِيٌّ؟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الاِنْفِصَالُ؟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حَلِّلْ «مَدْرَسَة».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لَا يَتَّصِلُ بِمَا بَعْدَهُ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مِيمٌ ، دَالٌ ، رَاءٌ ، سِينٌ ، تَاءٌ مَرْبُوطَةٌ</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هٰذِهِ الكَلِمَةُ؟ كَتَبَ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word? kataba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كَافٌ، تَاءٌ، بَاءٌ. كُلُّهَا مُتَّصِلَةٌ.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kāf, tāʾ, bāʾ. They are all joined.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a form from the letter’s number in the word</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the neighbours, not the position number (website).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after </a:t>
            </a:r>
            <a:pPr algn="l" indent="0" marL="0">
              <a:buNone/>
            </a:pPr>
            <a:r>
              <a:rPr lang="ar-SA" altLang="en-US" sz="1450" dirty="0">
                <a:solidFill>
                  <a:srgbClr val="5A6472"/>
                </a:solidFill>
                <a:latin typeface="Amiri" pitchFamily="2" charset="-78"/>
                <a:ea typeface="Amiri" pitchFamily="2" charset="-78"/>
                <a:cs typeface="Amiri" pitchFamily="2" charset="-78"/>
              </a:rPr>
              <a:t>ا د ذ ر ز و</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break is AFTER the breaker.</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Forgetting the dots on the small “tooth”</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first, then the dots — they are the identity.</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Calling the last </a:t>
            </a:r>
            <a:pPr algn="l" indent="0" marL="0">
              <a:buNone/>
            </a:pPr>
            <a:r>
              <a:rPr lang="ar-SA" altLang="en-US" sz="1450" dirty="0">
                <a:solidFill>
                  <a:srgbClr val="5A6472"/>
                </a:solidFill>
                <a:latin typeface="Amiri" pitchFamily="2" charset="-78"/>
                <a:ea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in </a:t>
            </a:r>
            <a:pPr algn="l" indent="0" marL="0">
              <a:buNone/>
            </a:pPr>
            <a:r>
              <a:rPr lang="ar-SA" altLang="en-US" sz="1450" dirty="0">
                <a:solidFill>
                  <a:srgbClr val="5A6472"/>
                </a:solidFill>
                <a:latin typeface="Amiri" pitchFamily="2" charset="-78"/>
                <a:ea typeface="Amiri" pitchFamily="2" charset="-78"/>
                <a:cs typeface="Amiri" pitchFamily="2" charset="-78"/>
              </a:rPr>
              <a:t>بَاب</a:t>
            </a:r>
            <a:pPr algn="l" indent="0" marL="0">
              <a:buNone/>
            </a:pPr>
            <a:r>
              <a:rPr lang="en-US" sz="1100" dirty="0">
                <a:solidFill>
                  <a:srgbClr val="5A6472"/>
                </a:solidFill>
                <a:latin typeface="Calibri" pitchFamily="34" charset="0"/>
                <a:cs typeface="Amiri" pitchFamily="2" charset="-78"/>
              </a:rPr>
              <a:t> “initial”</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final but isolated-looking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 new shape is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joining strokes show connection only.</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medial </a:t>
            </a:r>
            <a:pPr algn="l" indent="0" marL="0">
              <a:buNone/>
            </a:pPr>
            <a:r>
              <a:rPr lang="ar-SA" altLang="en-US" sz="1450" dirty="0">
                <a:solidFill>
                  <a:srgbClr val="5A6472"/>
                </a:solidFill>
                <a:latin typeface="Amiri" pitchFamily="2" charset="-78"/>
                <a:ea typeface="Amiri" pitchFamily="2" charset="-78"/>
                <a:cs typeface="Amiri" pitchFamily="2" charset="-78"/>
              </a:rPr>
              <a:t>ـهـ</a:t>
            </a:r>
            <a:pPr algn="l" indent="0" marL="0">
              <a:buNone/>
            </a:pPr>
            <a:r>
              <a:rPr lang="en-US" sz="1100" dirty="0">
                <a:solidFill>
                  <a:srgbClr val="5A6472"/>
                </a:solidFill>
                <a:latin typeface="Calibri" pitchFamily="34" charset="0"/>
                <a:cs typeface="Amiri" pitchFamily="2" charset="-78"/>
              </a:rPr>
              <a:t> with other letters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changes the most — learn its four shapes.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four connector forms.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the connection breaks inside 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two visible patterns of the breakers.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and annotate a three-letter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word position vs visible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connection breakers are in the standard set?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one body pattern help with </a:t>
            </a:r>
            <a:pPr algn="l" indent="0" marL="0">
              <a:buNone/>
            </a:pPr>
            <a:r>
              <a:rPr lang="ar-SA" altLang="en-US" sz="1650" b="1" dirty="0">
                <a:solidFill>
                  <a:srgbClr val="1B3B6F"/>
                </a:solidFill>
                <a:latin typeface="Amiri" pitchFamily="2" charset="-78"/>
                <a:ea typeface="Amiri" pitchFamily="2" charset="-78"/>
                <a:cs typeface="Amiri" pitchFamily="2" charset="-78"/>
              </a:rPr>
              <a:t>ب ت 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the same sound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a body family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direction do we follow an Arabic word?</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 to right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 to left</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connection breakers are in the standard set?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 د ذ ر ز و</a:t>
            </a:r>
            <a:pPr algn="l" indent="0" marL="0">
              <a:buNone/>
            </a:pPr>
            <a:r>
              <a:rPr lang="en-US" sz="1050" i="1" dirty="0">
                <a:solidFill>
                  <a:srgbClr val="8A6D1E"/>
                </a:solidFill>
                <a:latin typeface="Calibri" pitchFamily="34" charset="0"/>
                <a:cs typeface="Amiri" pitchFamily="2" charset="-78"/>
              </a:rPr>
              <a:t> (website final check 5).</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one body pattern help with </a:t>
            </a:r>
            <a:pPr algn="l" indent="0" marL="0">
              <a:buNone/>
            </a:pPr>
            <a:r>
              <a:rPr lang="ar-SA" altLang="en-US" sz="1650" b="1" dirty="0">
                <a:solidFill>
                  <a:srgbClr val="1B3B6F"/>
                </a:solidFill>
                <a:latin typeface="Amiri" pitchFamily="2" charset="-78"/>
                <a:ea typeface="Amiri" pitchFamily="2" charset="-78"/>
                <a:cs typeface="Amiri" pitchFamily="2" charset="-78"/>
              </a:rPr>
              <a:t>ب ت 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the same sound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share a body family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4.</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direction do we follow an Arabic word?</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 to right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 to left</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9.</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F1-L06 · Small Marks, Big Changes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شَدَّةٌ  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 a doubled letter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تَنْوِينٌ  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tanwīn · an -n ending</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alif madda · hamza + long ā</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Muḥammad (double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a:t>
            </a:r>
            <a:pPr indent="0" marL="0">
              <a:buNone/>
            </a:pPr>
            <a:r>
              <a:rPr lang="ar-SA" sz="1000" i="1" dirty="0">
                <a:solidFill>
                  <a:srgbClr val="5A6472"/>
                </a:solidFill>
                <a:latin typeface="Calibri" pitchFamily="34" charset="0"/>
                <a:ea typeface="Amiri" pitchFamily="2" charset="-78"/>
                <a:cs typeface="Amiri" pitchFamily="2" charset="-78"/>
              </a:rPr>
              <a:t>  pl. كُتُبٌ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Split </a:t>
            </a:r>
            <a:pPr algn="l" indent="0" marL="0">
              <a:buNone/>
            </a:pPr>
            <a:r>
              <a:rPr lang="ar-SA" altLang="en-US" sz="1350" dirty="0">
                <a:solidFill>
                  <a:srgbClr val="1F2A37"/>
                </a:solidFill>
                <a:latin typeface="Amiri" pitchFamily="2" charset="-78"/>
                <a:ea typeface="Amiri" pitchFamily="2" charset="-78"/>
                <a:cs typeface="Amiri" pitchFamily="2" charset="-78"/>
              </a:rPr>
              <a:t>كِتَابٌ</a:t>
            </a:r>
            <a:pPr algn="l" indent="0" marL="0">
              <a:buNone/>
            </a:pPr>
            <a:r>
              <a:rPr lang="en-US" sz="1050" dirty="0">
                <a:solidFill>
                  <a:srgbClr val="1F2A37"/>
                </a:solidFill>
                <a:latin typeface="Calibri" pitchFamily="34" charset="0"/>
                <a:cs typeface="Amiri" pitchFamily="2" charset="-78"/>
              </a:rPr>
              <a:t> into its letters and name each form.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 = كـ + ـتـ + ـا + 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F1-L05 · Form Finder game; copy </a:t>
            </a:r>
            <a:pPr algn="l" indent="0" marL="0">
              <a:buNone/>
            </a:pPr>
            <a:r>
              <a:rPr lang="ar-SA" altLang="en-US" sz="1550" dirty="0">
                <a:solidFill>
                  <a:srgbClr val="1F2A37"/>
                </a:solidFill>
                <a:latin typeface="Amiri" pitchFamily="2" charset="-78"/>
                <a:ea typeface="Amiri" pitchFamily="2" charset="-78"/>
                <a:cs typeface="Amiri" pitchFamily="2" charset="-78"/>
              </a:rPr>
              <a:t>ب ت ث</a:t>
            </a:r>
            <a:pPr algn="l" indent="0" marL="0">
              <a:buNone/>
            </a:pPr>
            <a:r>
              <a:rPr lang="en-US" sz="1200" dirty="0">
                <a:solidFill>
                  <a:srgbClr val="1F2A37"/>
                </a:solidFill>
                <a:latin typeface="Calibri" pitchFamily="34" charset="0"/>
                <a:cs typeface="Amiri" pitchFamily="2" charset="-78"/>
              </a:rPr>
              <a:t> in four columns.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four-form rows for </a:t>
            </a:r>
            <a:pPr algn="l" indent="0" marL="0">
              <a:buNone/>
            </a:pPr>
            <a:r>
              <a:rPr lang="ar-SA" altLang="en-US" sz="1550" dirty="0">
                <a:solidFill>
                  <a:srgbClr val="1F2A37"/>
                </a:solidFill>
                <a:latin typeface="Amiri" pitchFamily="2" charset="-78"/>
                <a:ea typeface="Amiri" pitchFamily="2" charset="-78"/>
                <a:cs typeface="Amiri" pitchFamily="2" charset="-78"/>
              </a:rPr>
              <a:t>س ش ص ض ط ظ</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segment </a:t>
            </a:r>
            <a:pPr algn="l" indent="0" marL="0">
              <a:buNone/>
            </a:pPr>
            <a:r>
              <a:rPr lang="ar-SA" altLang="en-US" sz="1550" dirty="0">
                <a:solidFill>
                  <a:srgbClr val="1F2A37"/>
                </a:solidFill>
                <a:latin typeface="Amiri" pitchFamily="2" charset="-78"/>
                <a:ea typeface="Amiri" pitchFamily="2" charset="-78"/>
                <a:cs typeface="Amiri" pitchFamily="2" charset="-78"/>
              </a:rPr>
              <a:t>كَتَبَ، بَاب، بَيْت</a:t>
            </a:r>
            <a:pPr algn="l" indent="0" marL="0">
              <a:buNone/>
            </a:pPr>
            <a:r>
              <a:rPr lang="en-US" sz="1200" dirty="0">
                <a:solidFill>
                  <a:srgbClr val="1F2A37"/>
                </a:solidFill>
                <a:latin typeface="Calibri" pitchFamily="34" charset="0"/>
                <a:cs typeface="Amiri" pitchFamily="2" charset="-78"/>
              </a:rPr>
              <a:t> and label each form; then annotate </a:t>
            </a:r>
            <a:pPr algn="l" indent="0" marL="0">
              <a:buNone/>
            </a:pPr>
            <a:r>
              <a:rPr lang="ar-SA" altLang="en-US" sz="1550" dirty="0">
                <a:solidFill>
                  <a:srgbClr val="1F2A37"/>
                </a:solidFill>
                <a:latin typeface="Amiri" pitchFamily="2" charset="-78"/>
                <a:ea typeface="Amiri" pitchFamily="2" charset="-78"/>
                <a:cs typeface="Amiri" pitchFamily="2" charset="-78"/>
              </a:rPr>
              <a:t>مَدْرَسَة</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رَسُول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F1-L06 · Small Marks, Big Changes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الشَّدَّةُ وَالتَّنْوِينُ وَأَلِفُ 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marks + your four-form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F1-L05 · One Letter, Four Positions</dc:title>
  <dc:subject>PptxGenJS Presentation</dc:subject>
  <dc:creator>Al Madina Online School · Arabic Department</dc:creator>
  <cp:lastModifiedBy>Al Madina Online School · Arabic Department</cp:lastModifiedBy>
  <cp:revision>1</cp:revision>
  <dcterms:created xsi:type="dcterms:W3CDTF">2026-10-11T06:41:16Z</dcterms:created>
  <dcterms:modified xsi:type="dcterms:W3CDTF">2026-10-11T06:41:16Z</dcterms:modified>
</cp:coreProperties>
</file>