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2–7 Warm-up (not marked) · 7–9 Assessment map · 9–25 Part A (alphabet 14, forms 6, marks 5, numerals 5) · 25–40 Part B (dictation 10, vowelled reading 5, signs 5) · 40–52 Reading aloud (10, in pairs / with the teacher) · 52–56 Score profile and F2 target.
FLEX slides are optional. Use them if the class is moving quickly; otherwise the same activities are on the website for homework.
Content source: Miftah Arabic website, Pathways › Foundation › F1 Arabic Script &amp; Sounds › Lesson 12 (F1-L12). The website F1-L12 is a transparent 60-mark unit assessment (not an external exam paper): A1 alphabet 14 · A2 positional forms 6 · A3 diacritics 5 · A4 numerals 5 · B1 ten-word dictation 10 · B2 vowelled reading 5 · B3 signs 5 · oral reading aloud 10. Every assessment item, the dictation script, the oral passage, the mark scheme and the grade bands are the website’s.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Every student sits the same 60-mark assessment (website: heritage experience may change the challenge TEXT of the oral task, not the 10-mark scale).
• Access arrangements: extra time, questions read aloud in English, one section on screen at a time, squared paper for A1 and B1. The oral task is done one-to-one (teacher, or a trusted partner with the teacher checking).
• Answer slides follow each section — mark live, or hide them and mark later (teacher choice).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If time is short, the reading-aloud component can be completed at the start of the next lesson or by a short voice recording (the website allows a trusted partner to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Website warm-up “Letter &amp; Number Sprint” (ungraded). Then chorally recite the 28 letters and read the digit strip.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This warm-up does NOT count. Say every letter aloud in order, then the ten digits.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ASSESSMENT MAP (website): 30 marks script and diacritics · 20 reading and writing · 10 reading aloud. This is an F1 unit assessment, not an external examination paper. Students record each component score on the score profile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A1 (website). HIDE this slide until everyone has written all 28 isolated letters in order, right to left, on paper, without the alphabet wall (5 min). Then reveal; students compare and count correct positions.
Marking rule (website): letter identity and sequence earn the mark; a recognisable alternative handwritten shape is acceptable; an omitted, duplicated or displaced letter loses that position’s ½ mark. Give formation feedback separately.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A2 (website): six items, 1 mark each. Private chat: A2: 1_ 2_ 3_ 4_ 5_ 6_.</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A3 (website). Review beyond the five marks (website): tanwīn, alif madda, hamza forms, long vowels, sun and moon letters remain on the end-of-unit checklist.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A4 (website). Part A total /30 (A1 14 + A2 6 + A3 5 + A4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/5. Students add up Part A /30.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B1 DICTATION (website). HIDE this slide during the dictation.
Before: students write numbers 1–10; pens down; read the whole list once so the rhythm is predictable.
During: say each word TWICE at a measured pace; leave a blank if needed and continue.
Script: بَابٌ. كِتَابٌ. قَلَمٌ. مَدْرَسَةٌ. بَيْتٌ. مُعَلِّمٌ. طَالِبٌ. يَدٌ. عَيْنٌ. كَلِمَةٌ.
Mark consistently (website): one whole-word mark; record recurring errors separately (L letter, J join, D dot, M 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B2 (website). Transliteration is only an assessment bridge; the Arabic remains primary. An equivalent consistent transliteration can be accepted (website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B3 (website): four meaning marks and one evidence mark. Part B total /20 (B1 10 + B2 5 + B3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/5. Students add up Part B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ORAL (website). One-to-one with the teacher (or a trusted partner, teacher checking), in a quiet space — e.g. breakout pairs while others complete their score profile.
Score each of the five target words: 2 = consonants, vowels and length secure (self-correction allowed); 1 = partly correct and recognisable, one material sound/length error; 0 = unable to attempt or not recognisable. Do not award or remove marks for accent alone when the intended sound is identifiable.
Heritage extension (website): read the longer, partly unvowelled passage, but score the SAME five target words so the total stays comparable. Fairness: heritage experience may change the challenge text, not the 10-mark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SCORE PROFILE (website). Students copy the table into their books and write their total /60. Website: these are course progress guides, not external examination thresholds.
Next step (website): a strong F2 target names ONE skill, ONE repeated action and a check date — e.g. “Dictation: I will write five words from memory every evening; check on Friday.”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(F2-L01 · Greetings — meeting people) will spend class time USING this language, so students prepare it tonight — short, simple, easy to access (school guidance: “Simple, Short, Interesting, Relevant, Easy to access”). F2 preview (website): next you will greet someone, say your name and age, ask simple personal questions and introduce yourself.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34" charset="0"/>
                <a:ea typeface="Amiri" pitchFamily="34" charset="-122"/>
                <a:cs typeface="Amiri" pitchFamily="34" charset="-120"/>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Al Madina Online School</a:t>
            </a:r>
            <a:endParaRPr lang="en-US" sz="1400" dirty="0"/>
          </a:p>
          <a:p>
            <a:pPr indent="0" marL="0">
              <a:buNone/>
            </a:pPr>
            <a:r>
              <a:rPr lang="en-US" sz="800" b="1" spc="200" kern="0" dirty="0">
                <a:solidFill>
                  <a:srgbClr val="D4AF37"/>
                </a:solidFill>
                <a:latin typeface="Calibri" pitchFamily="34" charset="0"/>
                <a:ea typeface="Calibri" pitchFamily="34" charset="-122"/>
                <a:cs typeface="Calibri" pitchFamily="34" charset="-120"/>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ea typeface="Calibri" pitchFamily="34" charset="-122"/>
                <a:cs typeface="Calibri" pitchFamily="34" charset="-120"/>
              </a:rPr>
              <a:t>CAMBRIDGE IGCSE ARABIC 0544  ·  YEAR 7  ·  FOUNDATION F1  ·  WEEK 4  ·  LESSON 3 OF 3</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ea typeface="Cambria" pitchFamily="34" charset="-122"/>
                <a:cs typeface="Cambria" pitchFamily="34" charset="-120"/>
              </a:rPr>
              <a:t>F1-L12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ea typeface="Cambria" pitchFamily="34" charset="-122"/>
                <a:cs typeface="Cambria" pitchFamily="34" charset="-120"/>
              </a:rPr>
              <a:t>Show What You Know: F1 Review &amp; Assessment</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34" charset="0"/>
                <a:ea typeface="Amiri" pitchFamily="34" charset="-122"/>
                <a:cs typeface="Amiri" pitchFamily="34" charset="-120"/>
              </a:rPr>
              <a:t>مُرَاجَعَةُ الوَحْدَةِ الأُولَى وَتَقْيِيمُهَا</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ea typeface="Calibri" pitchFamily="34" charset="-122"/>
                <a:cs typeface="Calibri" pitchFamily="34" charset="-120"/>
              </a:rPr>
              <a:t>Celebrate eleven lessons of progress, complete a clear 60-mark assessment (alphabet, letter forms, marks, numerals, dictation, reading, signs and reading aloud), and choose one precise next step before F2.</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LESSON</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F1-L12 · Week 4, lesson 3</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DURATION</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LEVEL</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Foundation · end of unit F1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ON THE WEBSITE</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Foundation › F1 › Lesson 12</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F1-L12 · F1 Assessment</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4 · Lesson 3 of 3</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Camera on</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Mic muted</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Chat for learning</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Raise your hand</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ea typeface="Calibri" pitchFamily="34" charset="-122"/>
                <a:cs typeface="Calibri" pitchFamily="34" charset="-120"/>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Think</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Rehearse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Build</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Challenge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Share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Summarise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ea typeface="Calibri" pitchFamily="34" charset="-122"/>
                <a:cs typeface="Calibri" pitchFamily="34" charset="-120"/>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 / 23</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F1-L12 · F1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Our assessment,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4 · Lesson 3 of 3</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5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Warm-up: letters and digits (not marked).</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34" charset="0"/>
                <a:ea typeface="Amiri" pitchFamily="34" charset="-122"/>
                <a:cs typeface="Amiri" pitchFamily="34" charset="-120"/>
              </a:rPr>
              <a:t>هَيَّا نُرَاجِعْ</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2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The 60-mark map.</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خُطَّةُ التَّقْيِيمِ</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16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Part A: alphabet, forms, marks, numerals.</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34" charset="0"/>
                <a:ea typeface="Amiri" pitchFamily="34" charset="-122"/>
                <a:cs typeface="Amiri" pitchFamily="34" charset="-120"/>
              </a:rPr>
              <a:t>الجُزْءُ أ</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15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Part B: dictation, reading, signs.</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34" charset="0"/>
                <a:ea typeface="Amiri" pitchFamily="34" charset="-122"/>
                <a:cs typeface="Amiri" pitchFamily="34" charset="-120"/>
              </a:rPr>
              <a:t>الجُزْءُ ب</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Reading aloud, one by one.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34" charset="0"/>
                <a:ea typeface="Amiri" pitchFamily="34" charset="-122"/>
                <a:cs typeface="Amiri" pitchFamily="34" charset="-120"/>
              </a:rPr>
              <a:t>القِرَاءَةُ الجَهْرِيَّةُ</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4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Score profile and my F2 target.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34" charset="0"/>
                <a:ea typeface="Amiri" pitchFamily="34" charset="-122"/>
                <a:cs typeface="Amiri" pitchFamily="34" charset="-120"/>
              </a:rPr>
              <a:t>الهَدَفُ</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Get ready for F2: greetings.</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34" charset="0"/>
                <a:ea typeface="Amiri" pitchFamily="34" charset="-122"/>
                <a:cs typeface="Amiri" pitchFamily="34" charset="-120"/>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Every section starts with the easiest questions. Work calmly; leave a blank and come back. The warm-up does not count.</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 / 23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F1-L12 · F1 Assessment</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4 · Lesson 3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What is this letter called?</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ج</a:t>
            </a:r>
            <a:endParaRPr lang="ar-SA" sz="22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حَاءٌ</a:t>
            </a:r>
            <a:endParaRPr lang="ar-SA" sz="20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جِيمٌ</a:t>
            </a:r>
            <a:endParaRPr lang="ar-SA" sz="20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خَاءٌ</a:t>
            </a:r>
            <a:endParaRPr lang="ar-SA" sz="2050" dirty="0"/>
          </a:p>
        </p:txBody>
      </p:sp>
      <p:sp>
        <p:nvSpPr>
          <p:cNvPr id="29" name="Shape 26"/>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4404360"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2" name="Text 29"/>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What value is this digit?</a:t>
            </a:r>
            <a:endParaRPr lang="en-US" sz="1200" dirty="0"/>
          </a:p>
        </p:txBody>
      </p:sp>
      <p:sp>
        <p:nvSpPr>
          <p:cNvPr id="33" name="Text 30"/>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٥</a:t>
            </a:r>
            <a:endParaRPr lang="ar-SA" sz="220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5</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0</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4</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6" name="Text 43"/>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Which name matches?</a:t>
            </a:r>
            <a:endParaRPr lang="en-US" sz="1200" dirty="0"/>
          </a:p>
        </p:txBody>
      </p:sp>
      <p:sp>
        <p:nvSpPr>
          <p:cNvPr id="47" name="Text 44"/>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ق</a:t>
            </a:r>
            <a:endParaRPr lang="ar-SA" sz="2200" dirty="0"/>
          </a:p>
        </p:txBody>
      </p:sp>
      <p:sp>
        <p:nvSpPr>
          <p:cNvPr id="48" name="Shape 45"/>
          <p:cNvSpPr/>
          <p:nvPr/>
        </p:nvSpPr>
        <p:spPr>
          <a:xfrm>
            <a:off x="8278368" y="25328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0" name="Text 47"/>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fāʾ</a:t>
            </a:r>
            <a:endParaRPr lang="en-US" sz="1250" dirty="0"/>
          </a:p>
        </p:txBody>
      </p:sp>
      <p:sp>
        <p:nvSpPr>
          <p:cNvPr id="51" name="Shape 48"/>
          <p:cNvSpPr/>
          <p:nvPr/>
        </p:nvSpPr>
        <p:spPr>
          <a:xfrm>
            <a:off x="8278368" y="29900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3" name="Text 50"/>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kāf</a:t>
            </a:r>
            <a:endParaRPr lang="en-US" sz="1250" dirty="0"/>
          </a:p>
        </p:txBody>
      </p:sp>
      <p:sp>
        <p:nvSpPr>
          <p:cNvPr id="54" name="Shape 51"/>
          <p:cNvSpPr/>
          <p:nvPr/>
        </p:nvSpPr>
        <p:spPr>
          <a:xfrm>
            <a:off x="8278368" y="3447288"/>
            <a:ext cx="256032" cy="256032"/>
          </a:xfrm>
          <a:prstGeom prst="ellipse">
            <a:avLst/>
          </a:prstGeom>
          <a:solidFill>
            <a:srgbClr val="F4F1EA"/>
          </a:solidFill>
          <a:ln w="12700">
            <a:solidFill>
              <a:srgbClr val="F4F1EA"/>
            </a:solidFill>
            <a:prstDash val="solid"/>
          </a:ln>
        </p:spPr>
      </p:sp>
      <p:sp>
        <p:nvSpPr>
          <p:cNvPr id="55" name="Text 52"/>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6" name="Text 53"/>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qāf</a:t>
            </a:r>
            <a:endParaRPr lang="en-US" sz="1250" dirty="0"/>
          </a:p>
        </p:txBody>
      </p:sp>
      <p:sp>
        <p:nvSpPr>
          <p:cNvPr id="57" name="Shape 54"/>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585216"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0" name="Text 57"/>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What connection rule applies to </a:t>
            </a:r>
            <a:pPr algn="l" indent="0" marL="0">
              <a:buNone/>
            </a:pPr>
            <a:r>
              <a:rPr lang="ar-SA" altLang="en-US" sz="1550" b="1" dirty="0">
                <a:solidFill>
                  <a:srgbClr val="1B3B6F"/>
                </a:solidFill>
                <a:latin typeface="Amiri" pitchFamily="34" charset="0"/>
                <a:ea typeface="Amiri" pitchFamily="34" charset="-122"/>
                <a:cs typeface="Amiri" pitchFamily="34" charset="-120"/>
              </a:rPr>
              <a:t>د</a:t>
            </a:r>
            <a:pPr algn="l" indent="0" marL="0">
              <a:buNone/>
            </a:pPr>
            <a:r>
              <a:rPr lang="en-US" sz="1200" b="1" dirty="0">
                <a:solidFill>
                  <a:srgbClr val="1B3B6F"/>
                </a:solidFill>
                <a:latin typeface="Calibri" pitchFamily="34" charset="0"/>
                <a:ea typeface="Calibri" pitchFamily="34" charset="-122"/>
                <a:cs typeface="Calibri" pitchFamily="34" charset="-120"/>
              </a:rPr>
              <a:t>?</a:t>
            </a:r>
            <a:endParaRPr lang="en-US" sz="1200" dirty="0"/>
          </a:p>
        </p:txBody>
      </p:sp>
      <p:sp>
        <p:nvSpPr>
          <p:cNvPr id="61" name="Text 58"/>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د</a:t>
            </a:r>
            <a:endParaRPr lang="ar-SA" sz="2200" dirty="0"/>
          </a:p>
        </p:txBody>
      </p:sp>
      <p:sp>
        <p:nvSpPr>
          <p:cNvPr id="62" name="Shape 59"/>
          <p:cNvSpPr/>
          <p:nvPr/>
        </p:nvSpPr>
        <p:spPr>
          <a:xfrm>
            <a:off x="640080" y="48737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4" name="Text 61"/>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It does not join the next letter</a:t>
            </a:r>
            <a:endParaRPr lang="en-US" sz="1250" dirty="0"/>
          </a:p>
        </p:txBody>
      </p:sp>
      <p:sp>
        <p:nvSpPr>
          <p:cNvPr id="65" name="Shape 62"/>
          <p:cNvSpPr/>
          <p:nvPr/>
        </p:nvSpPr>
        <p:spPr>
          <a:xfrm>
            <a:off x="640080" y="53309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7" name="Text 64"/>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It joins on both sides</a:t>
            </a:r>
            <a:endParaRPr lang="en-US" sz="1250" dirty="0"/>
          </a:p>
        </p:txBody>
      </p:sp>
      <p:sp>
        <p:nvSpPr>
          <p:cNvPr id="68" name="Shape 65"/>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9" name="Shape 66"/>
          <p:cNvSpPr/>
          <p:nvPr/>
        </p:nvSpPr>
        <p:spPr>
          <a:xfrm>
            <a:off x="4404360" y="4288536"/>
            <a:ext cx="310896" cy="310896"/>
          </a:xfrm>
          <a:prstGeom prst="ellipse">
            <a:avLst/>
          </a:prstGeom>
          <a:solidFill>
            <a:srgbClr val="1B3B6F"/>
          </a:solidFill>
          <a:ln w="12700">
            <a:solidFill>
              <a:srgbClr val="1B3B6F"/>
            </a:solidFill>
            <a:prstDash val="solid"/>
          </a:ln>
        </p:spPr>
      </p:sp>
      <p:sp>
        <p:nvSpPr>
          <p:cNvPr id="70" name="Text 67"/>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1" name="Text 68"/>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word means “achievement”?</a:t>
            </a:r>
            <a:endParaRPr lang="en-US" sz="1250" dirty="0"/>
          </a:p>
        </p:txBody>
      </p:sp>
      <p:sp>
        <p:nvSpPr>
          <p:cNvPr id="72" name="Shape 69"/>
          <p:cNvSpPr/>
          <p:nvPr/>
        </p:nvSpPr>
        <p:spPr>
          <a:xfrm>
            <a:off x="4459224" y="4873752"/>
            <a:ext cx="256032" cy="256032"/>
          </a:xfrm>
          <a:prstGeom prst="ellipse">
            <a:avLst/>
          </a:prstGeom>
          <a:solidFill>
            <a:srgbClr val="F4F1EA"/>
          </a:solidFill>
          <a:ln w="12700">
            <a:solidFill>
              <a:srgbClr val="F4F1EA"/>
            </a:solidFill>
            <a:prstDash val="solid"/>
          </a:ln>
        </p:spPr>
      </p:sp>
      <p:sp>
        <p:nvSpPr>
          <p:cNvPr id="73" name="Text 70"/>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4" name="Text 71"/>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إِنْجَازٌ</a:t>
            </a:r>
            <a:endParaRPr lang="ar-SA" sz="2050" dirty="0"/>
          </a:p>
        </p:txBody>
      </p:sp>
      <p:sp>
        <p:nvSpPr>
          <p:cNvPr id="75" name="Shape 72"/>
          <p:cNvSpPr/>
          <p:nvPr/>
        </p:nvSpPr>
        <p:spPr>
          <a:xfrm>
            <a:off x="4459224" y="5330952"/>
            <a:ext cx="256032" cy="256032"/>
          </a:xfrm>
          <a:prstGeom prst="ellipse">
            <a:avLst/>
          </a:prstGeom>
          <a:solidFill>
            <a:srgbClr val="F4F1EA"/>
          </a:solidFill>
          <a:ln w="12700">
            <a:solidFill>
              <a:srgbClr val="F4F1EA"/>
            </a:solidFill>
            <a:prstDash val="solid"/>
          </a:ln>
        </p:spPr>
      </p:sp>
      <p:sp>
        <p:nvSpPr>
          <p:cNvPr id="76" name="Text 73"/>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7" name="Text 74"/>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مُرَاجَعَةٌ</a:t>
            </a:r>
            <a:endParaRPr lang="ar-SA" sz="2050" dirty="0"/>
          </a:p>
        </p:txBody>
      </p:sp>
      <p:sp>
        <p:nvSpPr>
          <p:cNvPr id="78" name="Shape 75"/>
          <p:cNvSpPr/>
          <p:nvPr/>
        </p:nvSpPr>
        <p:spPr>
          <a:xfrm>
            <a:off x="4459224" y="5788152"/>
            <a:ext cx="256032" cy="256032"/>
          </a:xfrm>
          <a:prstGeom prst="ellipse">
            <a:avLst/>
          </a:prstGeom>
          <a:solidFill>
            <a:srgbClr val="F4F1EA"/>
          </a:solidFill>
          <a:ln w="12700">
            <a:solidFill>
              <a:srgbClr val="F4F1EA"/>
            </a:solidFill>
            <a:prstDash val="solid"/>
          </a:ln>
        </p:spPr>
      </p:sp>
      <p:sp>
        <p:nvSpPr>
          <p:cNvPr id="79" name="Text 76"/>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0" name="Text 77"/>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تَقْيِيمٌ</a:t>
            </a:r>
            <a:endParaRPr lang="ar-SA" sz="2050" dirty="0"/>
          </a:p>
        </p:txBody>
      </p:sp>
      <p:sp>
        <p:nvSpPr>
          <p:cNvPr id="81" name="Shape 78"/>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2" name="Text 79"/>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ea typeface="Calibri" pitchFamily="34" charset="-122"/>
                <a:cs typeface="Calibri" pitchFamily="34" charset="-120"/>
              </a:rPr>
              <a:t>HOW TO ANSWER</a:t>
            </a:r>
            <a:endParaRPr lang="en-US" sz="1100" dirty="0"/>
          </a:p>
        </p:txBody>
      </p:sp>
      <p:sp>
        <p:nvSpPr>
          <p:cNvPr id="83" name="Text 80"/>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ea typeface="Calibri" pitchFamily="34" charset="-122"/>
                <a:cs typeface="Calibri" pitchFamily="34" charset="-120"/>
              </a:rPr>
              <a:t>Work on your own in silence.</a:t>
            </a:r>
            <a:endParaRPr lang="en-US" sz="1350" dirty="0"/>
          </a:p>
          <a:p>
            <a:pPr algn="l" indent="0" marL="0">
              <a:buNone/>
            </a:pPr>
            <a:r>
              <a:rPr lang="en-US" sz="1350" dirty="0">
                <a:solidFill>
                  <a:srgbClr val="1F2A37"/>
                </a:solidFill>
                <a:latin typeface="Calibri" pitchFamily="34" charset="0"/>
                <a:ea typeface="Calibri" pitchFamily="34" charset="-122"/>
                <a:cs typeface="Calibri" pitchFamily="34" charset="-120"/>
              </a:rPr>
              <a:t>When the timer ends, type in the chat:</a:t>
            </a:r>
            <a:endParaRPr lang="en-US" sz="1350" dirty="0"/>
          </a:p>
        </p:txBody>
      </p:sp>
      <p:sp>
        <p:nvSpPr>
          <p:cNvPr id="84" name="Text 81"/>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ea typeface="Consolas" pitchFamily="34" charset="-122"/>
                <a:cs typeface="Consolas" pitchFamily="34" charset="-120"/>
              </a:rPr>
              <a:t>1_  2_  3_  4_  5_</a:t>
            </a:r>
            <a:endParaRPr lang="en-US" sz="1400" dirty="0"/>
          </a:p>
        </p:txBody>
      </p:sp>
      <p:sp>
        <p:nvSpPr>
          <p:cNvPr id="85" name="Text 82"/>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ea typeface="Calibri" pitchFamily="34" charset="-122"/>
                <a:cs typeface="Calibri" pitchFamily="34" charset="-120"/>
              </a:rPr>
              <a:t>⏱  5 : 00</a:t>
            </a:r>
            <a:endParaRPr lang="en-US" sz="1800" dirty="0"/>
          </a:p>
        </p:txBody>
      </p:sp>
      <p:sp>
        <p:nvSpPr>
          <p:cNvPr id="86" name="Text 8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 / 23</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F1-L12 · F1 Assessment</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4 · Lesson 3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What is this letter called?</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ج</a:t>
            </a:r>
            <a:endParaRPr lang="ar-SA" sz="2200" dirty="0"/>
          </a:p>
        </p:txBody>
      </p:sp>
      <p:sp>
        <p:nvSpPr>
          <p:cNvPr id="20" name="Shape 17"/>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حَاءٌ</a:t>
            </a:r>
            <a:endParaRPr lang="ar-SA" sz="1700" dirty="0"/>
          </a:p>
        </p:txBody>
      </p:sp>
      <p:sp>
        <p:nvSpPr>
          <p:cNvPr id="23" name="Shape 20"/>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1"/>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6" name="Text 23"/>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جِيمٌ</a:t>
            </a:r>
            <a:endParaRPr lang="ar-SA" sz="1700" dirty="0"/>
          </a:p>
        </p:txBody>
      </p:sp>
      <p:sp>
        <p:nvSpPr>
          <p:cNvPr id="27" name="Shape 24"/>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9" name="Text 26"/>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خَاءٌ</a:t>
            </a:r>
            <a:endParaRPr lang="ar-SA" sz="1700" dirty="0"/>
          </a:p>
        </p:txBody>
      </p:sp>
      <p:sp>
        <p:nvSpPr>
          <p:cNvPr id="30" name="Text 27"/>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Warm-up: dot inside the bowl.</a:t>
            </a:r>
            <a:endParaRPr lang="en-US" sz="1050" dirty="0"/>
          </a:p>
        </p:txBody>
      </p:sp>
      <p:sp>
        <p:nvSpPr>
          <p:cNvPr id="31" name="Shape 28"/>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4" name="Text 31"/>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What value is this digit?</a:t>
            </a:r>
            <a:endParaRPr lang="en-US" sz="1200" dirty="0"/>
          </a:p>
        </p:txBody>
      </p:sp>
      <p:sp>
        <p:nvSpPr>
          <p:cNvPr id="35" name="Text 32"/>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٥</a:t>
            </a:r>
            <a:endParaRPr lang="ar-SA" sz="2200" dirty="0"/>
          </a:p>
        </p:txBody>
      </p:sp>
      <p:sp>
        <p:nvSpPr>
          <p:cNvPr id="36"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7"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8"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9" name="Text 36"/>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5</a:t>
            </a:r>
            <a:endParaRPr lang="en-US" sz="1250" dirty="0"/>
          </a:p>
        </p:txBody>
      </p:sp>
      <p:sp>
        <p:nvSpPr>
          <p:cNvPr id="40"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1"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2" name="Text 39"/>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0</a:t>
            </a:r>
            <a:endParaRPr lang="en-US" sz="1250" dirty="0"/>
          </a:p>
        </p:txBody>
      </p:sp>
      <p:sp>
        <p:nvSpPr>
          <p:cNvPr id="43"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4</a:t>
            </a:r>
            <a:endParaRPr lang="en-US" sz="125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Five. Remember: the small dot digit is zero (website warm-up).</a:t>
            </a:r>
            <a:endParaRPr lang="en-US" sz="10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50" name="Text 47"/>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Which name matches?</a:t>
            </a:r>
            <a:endParaRPr lang="en-US" sz="1200" dirty="0"/>
          </a:p>
        </p:txBody>
      </p:sp>
      <p:sp>
        <p:nvSpPr>
          <p:cNvPr id="51" name="Text 48"/>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ق</a:t>
            </a:r>
            <a:endParaRPr lang="ar-SA" sz="2200" dirty="0"/>
          </a:p>
        </p:txBody>
      </p:sp>
      <p:sp>
        <p:nvSpPr>
          <p:cNvPr id="52" name="Shape 49"/>
          <p:cNvSpPr/>
          <p:nvPr/>
        </p:nvSpPr>
        <p:spPr>
          <a:xfrm>
            <a:off x="8278368" y="2490216"/>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fāʾ</a:t>
            </a:r>
            <a:endParaRPr lang="en-US" sz="1250" dirty="0"/>
          </a:p>
        </p:txBody>
      </p:sp>
      <p:sp>
        <p:nvSpPr>
          <p:cNvPr id="55"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kāf</a:t>
            </a:r>
            <a:endParaRPr lang="en-US" sz="1250" dirty="0"/>
          </a:p>
        </p:txBody>
      </p:sp>
      <p:sp>
        <p:nvSpPr>
          <p:cNvPr id="58" name="Shape 55"/>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9" name="Shape 56"/>
          <p:cNvSpPr/>
          <p:nvPr/>
        </p:nvSpPr>
        <p:spPr>
          <a:xfrm>
            <a:off x="8278368" y="3233928"/>
            <a:ext cx="256032" cy="256032"/>
          </a:xfrm>
          <a:prstGeom prst="ellipse">
            <a:avLst/>
          </a:prstGeom>
          <a:solidFill>
            <a:srgbClr val="2E8B57"/>
          </a:solidFill>
          <a:ln w="12700">
            <a:solidFill>
              <a:srgbClr val="2E8B57"/>
            </a:solidFill>
            <a:prstDash val="solid"/>
          </a:ln>
        </p:spPr>
      </p:sp>
      <p:sp>
        <p:nvSpPr>
          <p:cNvPr id="60" name="Text 57"/>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61" name="Text 58"/>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qāf</a:t>
            </a:r>
            <a:endParaRPr lang="en-US" sz="1250" dirty="0"/>
          </a:p>
        </p:txBody>
      </p:sp>
      <p:sp>
        <p:nvSpPr>
          <p:cNvPr id="62" name="Text 59"/>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Qāf has two dots above (website warm-up).</a:t>
            </a:r>
            <a:endParaRPr lang="en-US" sz="1050" dirty="0"/>
          </a:p>
        </p:txBody>
      </p:sp>
      <p:sp>
        <p:nvSpPr>
          <p:cNvPr id="63" name="Shape 60"/>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585216"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6" name="Text 63"/>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What connection rule applies to </a:t>
            </a:r>
            <a:pPr algn="l" indent="0" marL="0">
              <a:buNone/>
            </a:pPr>
            <a:r>
              <a:rPr lang="ar-SA" altLang="en-US" sz="1550" b="1" dirty="0">
                <a:solidFill>
                  <a:srgbClr val="1B3B6F"/>
                </a:solidFill>
                <a:latin typeface="Amiri" pitchFamily="34" charset="0"/>
                <a:ea typeface="Amiri" pitchFamily="34" charset="-122"/>
                <a:cs typeface="Amiri" pitchFamily="34" charset="-120"/>
              </a:rPr>
              <a:t>د</a:t>
            </a:r>
            <a:pPr algn="l" indent="0" marL="0">
              <a:buNone/>
            </a:pPr>
            <a:r>
              <a:rPr lang="en-US" sz="1200" b="1" dirty="0">
                <a:solidFill>
                  <a:srgbClr val="1B3B6F"/>
                </a:solidFill>
                <a:latin typeface="Calibri" pitchFamily="34" charset="0"/>
                <a:ea typeface="Calibri" pitchFamily="34" charset="-122"/>
                <a:cs typeface="Calibri" pitchFamily="34" charset="-120"/>
              </a:rPr>
              <a:t>?</a:t>
            </a:r>
            <a:endParaRPr lang="en-US" sz="1200" dirty="0"/>
          </a:p>
        </p:txBody>
      </p:sp>
      <p:sp>
        <p:nvSpPr>
          <p:cNvPr id="67" name="Text 64"/>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د</a:t>
            </a:r>
            <a:endParaRPr lang="ar-SA" sz="2200" dirty="0"/>
          </a:p>
        </p:txBody>
      </p:sp>
      <p:sp>
        <p:nvSpPr>
          <p:cNvPr id="68" name="Shape 65"/>
          <p:cNvSpPr/>
          <p:nvPr/>
        </p:nvSpPr>
        <p:spPr>
          <a:xfrm>
            <a:off x="548640" y="4837176"/>
            <a:ext cx="3453384" cy="347472"/>
          </a:xfrm>
          <a:prstGeom prst="roundRect">
            <a:avLst>
              <a:gd name="adj" fmla="val 15789"/>
            </a:avLst>
          </a:prstGeom>
          <a:solidFill>
            <a:srgbClr val="E6F4EC"/>
          </a:solidFill>
          <a:ln w="9525">
            <a:solidFill>
              <a:srgbClr val="2E8B57"/>
            </a:solidFill>
            <a:prstDash val="solid"/>
          </a:ln>
        </p:spPr>
      </p:sp>
      <p:sp>
        <p:nvSpPr>
          <p:cNvPr id="69" name="Shape 66"/>
          <p:cNvSpPr/>
          <p:nvPr/>
        </p:nvSpPr>
        <p:spPr>
          <a:xfrm>
            <a:off x="640080" y="4873752"/>
            <a:ext cx="256032" cy="256032"/>
          </a:xfrm>
          <a:prstGeom prst="ellipse">
            <a:avLst/>
          </a:prstGeom>
          <a:solidFill>
            <a:srgbClr val="2E8B57"/>
          </a:solidFill>
          <a:ln w="12700">
            <a:solidFill>
              <a:srgbClr val="2E8B57"/>
            </a:solidFill>
            <a:prstDash val="solid"/>
          </a:ln>
        </p:spPr>
      </p:sp>
      <p:sp>
        <p:nvSpPr>
          <p:cNvPr id="70" name="Text 67"/>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71" name="Text 68"/>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It does not join the next letter</a:t>
            </a:r>
            <a:endParaRPr lang="en-US" sz="1250" dirty="0"/>
          </a:p>
        </p:txBody>
      </p:sp>
      <p:sp>
        <p:nvSpPr>
          <p:cNvPr id="72" name="Shape 69"/>
          <p:cNvSpPr/>
          <p:nvPr/>
        </p:nvSpPr>
        <p:spPr>
          <a:xfrm>
            <a:off x="640080" y="5330952"/>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4" name="Text 71"/>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It joins on both sides</a:t>
            </a:r>
            <a:endParaRPr lang="en-US" sz="1250" dirty="0"/>
          </a:p>
        </p:txBody>
      </p:sp>
      <p:sp>
        <p:nvSpPr>
          <p:cNvPr id="75" name="Text 72"/>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A non-connector.</a:t>
            </a:r>
            <a:endParaRPr lang="en-US" sz="1050" dirty="0"/>
          </a:p>
        </p:txBody>
      </p:sp>
      <p:sp>
        <p:nvSpPr>
          <p:cNvPr id="76" name="Shape 73"/>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4"/>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5"/>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9" name="Text 76"/>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word means “achievement”?</a:t>
            </a:r>
            <a:endParaRPr lang="en-US" sz="1250" dirty="0"/>
          </a:p>
        </p:txBody>
      </p:sp>
      <p:sp>
        <p:nvSpPr>
          <p:cNvPr id="80" name="Shape 77"/>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8"/>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79"/>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83" name="Text 80"/>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إِنْجَازٌ</a:t>
            </a:r>
            <a:endParaRPr lang="ar-SA" sz="1700" dirty="0"/>
          </a:p>
        </p:txBody>
      </p:sp>
      <p:sp>
        <p:nvSpPr>
          <p:cNvPr id="84" name="Shape 81"/>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2"/>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6" name="Text 83"/>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مُرَاجَعَةٌ</a:t>
            </a:r>
            <a:endParaRPr lang="ar-SA" sz="1700" dirty="0"/>
          </a:p>
        </p:txBody>
      </p:sp>
      <p:sp>
        <p:nvSpPr>
          <p:cNvPr id="87" name="Shape 84"/>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5"/>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9" name="Text 86"/>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تَقْيِيمٌ</a:t>
            </a:r>
            <a:endParaRPr lang="ar-SA" sz="1700" dirty="0"/>
          </a:p>
        </p:txBody>
      </p:sp>
      <p:sp>
        <p:nvSpPr>
          <p:cNvPr id="90" name="Text 87"/>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Website words: review · assessment · achievement · progress · target.</a:t>
            </a:r>
            <a:endParaRPr lang="en-US" sz="1050" dirty="0"/>
          </a:p>
        </p:txBody>
      </p:sp>
      <p:sp>
        <p:nvSpPr>
          <p:cNvPr id="91" name="Shape 88"/>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2" name="Text 89"/>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ea typeface="Calibri" pitchFamily="34" charset="-122"/>
                <a:cs typeface="Calibri" pitchFamily="34" charset="-120"/>
              </a:rPr>
              <a:t>THE KEY IDEA FOR TODAY</a:t>
            </a:r>
            <a:endParaRPr lang="en-US" sz="1000" dirty="0"/>
          </a:p>
        </p:txBody>
      </p:sp>
      <p:sp>
        <p:nvSpPr>
          <p:cNvPr id="93" name="Text 90"/>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ea typeface="Calibri" pitchFamily="34" charset="-122"/>
                <a:cs typeface="Calibri" pitchFamily="34" charset="-120"/>
              </a:rPr>
              <a:t>This warm-up does NOT count. Say every letter aloud in order, then the ten digits.</a:t>
            </a:r>
            <a:endParaRPr lang="en-US" sz="1300" dirty="0"/>
          </a:p>
        </p:txBody>
      </p:sp>
      <p:sp>
        <p:nvSpPr>
          <p:cNvPr id="94" name="Text 91"/>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ا ب ت ث … ن ه و ي</a:t>
            </a:r>
            <a:endParaRPr lang="ar-SA" sz="240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5 / 23</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F1-L12 · F1 Assessment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ASSESSMENT MAP (WEBSITE) · 60 MARKS IN TOTAL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ea typeface="Cambria" pitchFamily="34" charset="-122"/>
                <a:cs typeface="Cambria" pitchFamily="34" charset="-120"/>
              </a:rPr>
              <a:t>Know the task, the marks and the evidence</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خُطَّةُ التَّقْيِيمِ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4 · Lesson 3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10524744"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Marks</a:t>
            </a:r>
            <a:endParaRPr lang="en-US" sz="1100" dirty="0"/>
          </a:p>
        </p:txBody>
      </p:sp>
      <p:sp>
        <p:nvSpPr>
          <p:cNvPr id="17" name="Text 14"/>
          <p:cNvSpPr txBox="1"/>
          <p:nvPr/>
        </p:nvSpPr>
        <p:spPr>
          <a:xfrm>
            <a:off x="5221224" y="1810512"/>
            <a:ext cx="51572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What you do</a:t>
            </a:r>
            <a:endParaRPr lang="en-US" sz="1100" dirty="0"/>
          </a:p>
        </p:txBody>
      </p:sp>
      <p:sp>
        <p:nvSpPr>
          <p:cNvPr id="18" name="Text 15"/>
          <p:cNvSpPr txBox="1"/>
          <p:nvPr/>
        </p:nvSpPr>
        <p:spPr>
          <a:xfrm>
            <a:off x="2112264"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Component</a:t>
            </a:r>
            <a:endParaRPr lang="en-US" sz="1100" dirty="0"/>
          </a:p>
        </p:txBody>
      </p:sp>
      <p:sp>
        <p:nvSpPr>
          <p:cNvPr id="19" name="Text 16"/>
          <p:cNvSpPr txBox="1"/>
          <p:nvPr/>
        </p:nvSpPr>
        <p:spPr>
          <a:xfrm>
            <a:off x="530352" y="1810512"/>
            <a:ext cx="14356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Part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10561320" y="2267712"/>
            <a:ext cx="10972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14</a:t>
            </a:r>
            <a:endParaRPr lang="en-US" sz="1100" dirty="0"/>
          </a:p>
        </p:txBody>
      </p:sp>
      <p:sp>
        <p:nvSpPr>
          <p:cNvPr id="22" name="Text 19"/>
          <p:cNvSpPr txBox="1"/>
          <p:nvPr/>
        </p:nvSpPr>
        <p:spPr>
          <a:xfrm>
            <a:off x="5257800" y="2267712"/>
            <a:ext cx="51206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Write the 28 letters in order from memory (½ mark each).</a:t>
            </a:r>
            <a:endParaRPr lang="en-US" sz="1100" dirty="0"/>
          </a:p>
        </p:txBody>
      </p:sp>
      <p:sp>
        <p:nvSpPr>
          <p:cNvPr id="23" name="Text 20"/>
          <p:cNvSpPr txBox="1"/>
          <p:nvPr/>
        </p:nvSpPr>
        <p:spPr>
          <a:xfrm>
            <a:off x="2148840" y="2267712"/>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Alphabet</a:t>
            </a:r>
            <a:endParaRPr lang="en-US" sz="1100" dirty="0"/>
          </a:p>
        </p:txBody>
      </p:sp>
      <p:sp>
        <p:nvSpPr>
          <p:cNvPr id="24" name="Text 21"/>
          <p:cNvSpPr txBox="1"/>
          <p:nvPr/>
        </p:nvSpPr>
        <p:spPr>
          <a:xfrm>
            <a:off x="566928" y="2267712"/>
            <a:ext cx="13990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10561320" y="3054096"/>
            <a:ext cx="10972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6</a:t>
            </a:r>
            <a:endParaRPr lang="en-US" sz="1100" dirty="0"/>
          </a:p>
        </p:txBody>
      </p:sp>
      <p:sp>
        <p:nvSpPr>
          <p:cNvPr id="29" name="Text 26"/>
          <p:cNvSpPr txBox="1"/>
          <p:nvPr/>
        </p:nvSpPr>
        <p:spPr>
          <a:xfrm>
            <a:off x="5257800" y="3054096"/>
            <a:ext cx="51206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Choose six initial, medial or final forms.</a:t>
            </a:r>
            <a:endParaRPr lang="en-US" sz="1100" dirty="0"/>
          </a:p>
        </p:txBody>
      </p:sp>
      <p:sp>
        <p:nvSpPr>
          <p:cNvPr id="30" name="Text 27"/>
          <p:cNvSpPr txBox="1"/>
          <p:nvPr/>
        </p:nvSpPr>
        <p:spPr>
          <a:xfrm>
            <a:off x="2148840" y="3054096"/>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Letter forms</a:t>
            </a:r>
            <a:endParaRPr lang="en-US" sz="1100" dirty="0"/>
          </a:p>
        </p:txBody>
      </p:sp>
      <p:sp>
        <p:nvSpPr>
          <p:cNvPr id="31" name="Text 28"/>
          <p:cNvSpPr txBox="1"/>
          <p:nvPr/>
        </p:nvSpPr>
        <p:spPr>
          <a:xfrm>
            <a:off x="566928" y="3054096"/>
            <a:ext cx="13990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10561320" y="3840480"/>
            <a:ext cx="10972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10</a:t>
            </a:r>
            <a:endParaRPr lang="en-US" sz="1100" dirty="0"/>
          </a:p>
        </p:txBody>
      </p:sp>
      <p:sp>
        <p:nvSpPr>
          <p:cNvPr id="36" name="Text 33"/>
          <p:cNvSpPr txBox="1"/>
          <p:nvPr/>
        </p:nvSpPr>
        <p:spPr>
          <a:xfrm>
            <a:off x="5257800" y="3840480"/>
            <a:ext cx="51206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Name five marks; convert five numbers.</a:t>
            </a:r>
            <a:endParaRPr lang="en-US" sz="1100" dirty="0"/>
          </a:p>
        </p:txBody>
      </p:sp>
      <p:sp>
        <p:nvSpPr>
          <p:cNvPr id="37" name="Text 34"/>
          <p:cNvSpPr txBox="1"/>
          <p:nvPr/>
        </p:nvSpPr>
        <p:spPr>
          <a:xfrm>
            <a:off x="2148840" y="3840480"/>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Marks and numerals</a:t>
            </a:r>
            <a:endParaRPr lang="en-US" sz="1100" dirty="0"/>
          </a:p>
        </p:txBody>
      </p:sp>
      <p:sp>
        <p:nvSpPr>
          <p:cNvPr id="38" name="Text 35"/>
          <p:cNvSpPr txBox="1"/>
          <p:nvPr/>
        </p:nvSpPr>
        <p:spPr>
          <a:xfrm>
            <a:off x="566928" y="3840480"/>
            <a:ext cx="13990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A3 · A4</a:t>
            </a:r>
            <a:endParaRPr lang="en-US" sz="1100" dirty="0"/>
          </a:p>
        </p:txBody>
      </p:sp>
      <p:sp>
        <p:nvSpPr>
          <p:cNvPr id="39" name="Shape 36"/>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41" name="Shape 3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2" name="Text 39"/>
          <p:cNvSpPr txBox="1"/>
          <p:nvPr/>
        </p:nvSpPr>
        <p:spPr>
          <a:xfrm>
            <a:off x="10561320" y="4626864"/>
            <a:ext cx="10972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20</a:t>
            </a:r>
            <a:endParaRPr lang="en-US" sz="1100" dirty="0"/>
          </a:p>
        </p:txBody>
      </p:sp>
      <p:sp>
        <p:nvSpPr>
          <p:cNvPr id="43" name="Text 40"/>
          <p:cNvSpPr txBox="1"/>
          <p:nvPr/>
        </p:nvSpPr>
        <p:spPr>
          <a:xfrm>
            <a:off x="5257800" y="4626864"/>
            <a:ext cx="51206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Dictation (10) · vowelled reading (5) · signs (5).</a:t>
            </a:r>
            <a:endParaRPr lang="en-US" sz="1100" dirty="0"/>
          </a:p>
        </p:txBody>
      </p:sp>
      <p:sp>
        <p:nvSpPr>
          <p:cNvPr id="44" name="Text 41"/>
          <p:cNvSpPr txBox="1"/>
          <p:nvPr/>
        </p:nvSpPr>
        <p:spPr>
          <a:xfrm>
            <a:off x="2148840" y="4626864"/>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Writing and reading</a:t>
            </a:r>
            <a:endParaRPr lang="en-US" sz="1100" dirty="0"/>
          </a:p>
        </p:txBody>
      </p:sp>
      <p:sp>
        <p:nvSpPr>
          <p:cNvPr id="45" name="Text 42"/>
          <p:cNvSpPr txBox="1"/>
          <p:nvPr/>
        </p:nvSpPr>
        <p:spPr>
          <a:xfrm>
            <a:off x="566928" y="4626864"/>
            <a:ext cx="13990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B1–B3</a:t>
            </a:r>
            <a:endParaRPr lang="en-US" sz="1100" dirty="0"/>
          </a:p>
        </p:txBody>
      </p:sp>
      <p:sp>
        <p:nvSpPr>
          <p:cNvPr id="46" name="Shape 43"/>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48" name="Shape 45"/>
          <p:cNvSpPr/>
          <p:nvPr/>
        </p:nvSpPr>
        <p:spPr>
          <a:xfrm>
            <a:off x="457200" y="5413248"/>
            <a:ext cx="11274552" cy="731520"/>
          </a:xfrm>
          <a:prstGeom prst="roundRect">
            <a:avLst>
              <a:gd name="adj" fmla="val 6250"/>
            </a:avLst>
          </a:prstGeom>
          <a:solidFill>
            <a:srgbClr val="FFFFFF"/>
          </a:solidFill>
          <a:ln w="9525">
            <a:solidFill>
              <a:srgbClr val="D8D0BF"/>
            </a:solidFill>
            <a:prstDash val="solid"/>
          </a:ln>
        </p:spPr>
      </p:sp>
      <p:sp>
        <p:nvSpPr>
          <p:cNvPr id="49" name="Text 46"/>
          <p:cNvSpPr txBox="1"/>
          <p:nvPr/>
        </p:nvSpPr>
        <p:spPr>
          <a:xfrm>
            <a:off x="10561320" y="5413248"/>
            <a:ext cx="10972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10</a:t>
            </a:r>
            <a:endParaRPr lang="en-US" sz="1100" dirty="0"/>
          </a:p>
        </p:txBody>
      </p:sp>
      <p:sp>
        <p:nvSpPr>
          <p:cNvPr id="50" name="Text 47"/>
          <p:cNvSpPr txBox="1"/>
          <p:nvPr/>
        </p:nvSpPr>
        <p:spPr>
          <a:xfrm>
            <a:off x="5257800" y="5413248"/>
            <a:ext cx="51206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Five words in a short passage, 0–2 each.</a:t>
            </a:r>
            <a:endParaRPr lang="en-US" sz="1100" dirty="0"/>
          </a:p>
        </p:txBody>
      </p:sp>
      <p:sp>
        <p:nvSpPr>
          <p:cNvPr id="51" name="Text 48"/>
          <p:cNvSpPr txBox="1"/>
          <p:nvPr/>
        </p:nvSpPr>
        <p:spPr>
          <a:xfrm>
            <a:off x="2148840" y="5413248"/>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Reading aloud</a:t>
            </a:r>
            <a:endParaRPr lang="en-US" sz="1100" dirty="0"/>
          </a:p>
        </p:txBody>
      </p:sp>
      <p:sp>
        <p:nvSpPr>
          <p:cNvPr id="52" name="Text 49"/>
          <p:cNvSpPr txBox="1"/>
          <p:nvPr/>
        </p:nvSpPr>
        <p:spPr>
          <a:xfrm>
            <a:off x="566928" y="5413248"/>
            <a:ext cx="13990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Oral</a:t>
            </a:r>
            <a:endParaRPr lang="en-US" sz="1100" dirty="0"/>
          </a:p>
        </p:txBody>
      </p:sp>
      <p:sp>
        <p:nvSpPr>
          <p:cNvPr id="53" name="Shape 50"/>
          <p:cNvSpPr/>
          <p:nvPr/>
        </p:nvSpPr>
        <p:spPr>
          <a:xfrm>
            <a:off x="11091672" y="5458968"/>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545896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6 / 23</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F1-L12 · F1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I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ea typeface="Calibri" pitchFamily="34" charset="-122"/>
                <a:cs typeface="Calibri" pitchFamily="34" charset="-120"/>
              </a:rPr>
              <a:t>PART A1 · 14 MARKS · WRITE FIRST, THEN REVEAL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ea typeface="Cambria" pitchFamily="34" charset="-122"/>
                <a:cs typeface="Cambria" pitchFamily="34" charset="-120"/>
              </a:rPr>
              <a:t>A1 · Write the alphabet from memory</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اُكْتُبِ الحُرُوفَ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4 · Lesson 3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988552" y="1810512"/>
            <a:ext cx="2670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1–7</a:t>
            </a:r>
            <a:endParaRPr lang="en-US" sz="1100" dirty="0"/>
          </a:p>
        </p:txBody>
      </p:sp>
      <p:sp>
        <p:nvSpPr>
          <p:cNvPr id="17" name="Text 14"/>
          <p:cNvSpPr txBox="1"/>
          <p:nvPr/>
        </p:nvSpPr>
        <p:spPr>
          <a:xfrm>
            <a:off x="6172200" y="1810512"/>
            <a:ext cx="2670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8–14</a:t>
            </a:r>
            <a:endParaRPr lang="en-US" sz="1100" dirty="0"/>
          </a:p>
        </p:txBody>
      </p:sp>
      <p:sp>
        <p:nvSpPr>
          <p:cNvPr id="18" name="Text 15"/>
          <p:cNvSpPr txBox="1"/>
          <p:nvPr/>
        </p:nvSpPr>
        <p:spPr>
          <a:xfrm>
            <a:off x="3355848" y="1810512"/>
            <a:ext cx="2670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15–21</a:t>
            </a:r>
            <a:endParaRPr lang="en-US" sz="1100" dirty="0"/>
          </a:p>
        </p:txBody>
      </p:sp>
      <p:sp>
        <p:nvSpPr>
          <p:cNvPr id="19" name="Text 16"/>
          <p:cNvSpPr txBox="1"/>
          <p:nvPr/>
        </p:nvSpPr>
        <p:spPr>
          <a:xfrm>
            <a:off x="530352" y="1810512"/>
            <a:ext cx="2679192"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22–28</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9006840" y="2267712"/>
            <a:ext cx="2633472"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34" charset="0"/>
                <a:ea typeface="Amiri" pitchFamily="34" charset="-122"/>
                <a:cs typeface="Amiri" pitchFamily="34" charset="-120"/>
              </a:rPr>
              <a:t>ا ب ت ث ج ح خ</a:t>
            </a:r>
            <a:endParaRPr lang="ar-SA" sz="2600" dirty="0"/>
          </a:p>
        </p:txBody>
      </p:sp>
      <p:sp>
        <p:nvSpPr>
          <p:cNvPr id="22" name="Text 19"/>
          <p:cNvSpPr txBox="1"/>
          <p:nvPr/>
        </p:nvSpPr>
        <p:spPr>
          <a:xfrm>
            <a:off x="6190488" y="2267712"/>
            <a:ext cx="2633472"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34" charset="0"/>
                <a:ea typeface="Amiri" pitchFamily="34" charset="-122"/>
                <a:cs typeface="Amiri" pitchFamily="34" charset="-120"/>
              </a:rPr>
              <a:t>د ذ ر ز س ش ص</a:t>
            </a:r>
            <a:endParaRPr lang="ar-SA" sz="2600" dirty="0"/>
          </a:p>
        </p:txBody>
      </p:sp>
      <p:sp>
        <p:nvSpPr>
          <p:cNvPr id="23" name="Text 20"/>
          <p:cNvSpPr txBox="1"/>
          <p:nvPr/>
        </p:nvSpPr>
        <p:spPr>
          <a:xfrm>
            <a:off x="3374136" y="2267712"/>
            <a:ext cx="2633472"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34" charset="0"/>
                <a:ea typeface="Amiri" pitchFamily="34" charset="-122"/>
                <a:cs typeface="Amiri" pitchFamily="34" charset="-120"/>
              </a:rPr>
              <a:t>ض ط ظ ع غ ف ق</a:t>
            </a:r>
            <a:endParaRPr lang="ar-SA" sz="2600" dirty="0"/>
          </a:p>
        </p:txBody>
      </p:sp>
      <p:sp>
        <p:nvSpPr>
          <p:cNvPr id="24" name="Text 21"/>
          <p:cNvSpPr txBox="1"/>
          <p:nvPr/>
        </p:nvSpPr>
        <p:spPr>
          <a:xfrm>
            <a:off x="548640" y="2267712"/>
            <a:ext cx="2642616"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34" charset="0"/>
                <a:ea typeface="Amiri" pitchFamily="34" charset="-122"/>
                <a:cs typeface="Amiri" pitchFamily="34" charset="-120"/>
              </a:rPr>
              <a:t>ك ل م ن ه و ي</a:t>
            </a:r>
            <a:endParaRPr lang="ar-SA" sz="26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7" name="Text 2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Each letter in the correct position = ½ mark (28 × ½ = 14).</a:t>
            </a:r>
            <a:endParaRPr lang="en-US" sz="11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7 / 23</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F1-L12 · F1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ea typeface="Calibri" pitchFamily="34" charset="-122"/>
                <a:cs typeface="Calibri" pitchFamily="34" charset="-120"/>
              </a:rPr>
              <a:t>PART A2 · 6 MARKS · POSITIONAL FORMS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A2 · Choose the exact form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أَشْكَالُ الحُرُوفِ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4 · Lesson 3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initial form of </a:t>
            </a:r>
            <a:pPr algn="l" indent="0" marL="0">
              <a:buNone/>
            </a:pPr>
            <a:r>
              <a:rPr lang="ar-SA" altLang="en-US" sz="1650" b="1" dirty="0">
                <a:solidFill>
                  <a:srgbClr val="1B3B6F"/>
                </a:solidFill>
                <a:latin typeface="Amiri" pitchFamily="34" charset="0"/>
                <a:ea typeface="Amiri" pitchFamily="34" charset="-122"/>
                <a:cs typeface="Amiri" pitchFamily="34" charset="-120"/>
              </a:rPr>
              <a:t>ب</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بـ</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ـبـ</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ـب</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medial form of </a:t>
            </a:r>
            <a:pPr algn="l" indent="0" marL="0">
              <a:buNone/>
            </a:pPr>
            <a:r>
              <a:rPr lang="ar-SA" altLang="en-US" sz="1650" b="1" dirty="0">
                <a:solidFill>
                  <a:srgbClr val="1B3B6F"/>
                </a:solidFill>
                <a:latin typeface="Amiri" pitchFamily="34" charset="0"/>
                <a:ea typeface="Amiri" pitchFamily="34" charset="-122"/>
                <a:cs typeface="Amiri" pitchFamily="34" charset="-120"/>
              </a:rPr>
              <a:t>ع</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عـ</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ـع</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ـعـ</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final form of </a:t>
            </a:r>
            <a:pPr algn="l" indent="0" marL="0">
              <a:buNone/>
            </a:pPr>
            <a:r>
              <a:rPr lang="ar-SA" altLang="en-US" sz="1650" b="1" dirty="0">
                <a:solidFill>
                  <a:srgbClr val="1B3B6F"/>
                </a:solidFill>
                <a:latin typeface="Amiri" pitchFamily="34" charset="0"/>
                <a:ea typeface="Amiri" pitchFamily="34" charset="-122"/>
                <a:cs typeface="Amiri" pitchFamily="34" charset="-120"/>
              </a:rPr>
              <a:t>ف</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فـ</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ـف</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ـفـ</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initial form of </a:t>
            </a:r>
            <a:pPr algn="l" indent="0" marL="0">
              <a:buNone/>
            </a:pPr>
            <a:r>
              <a:rPr lang="ar-SA" altLang="en-US" sz="1650" b="1" dirty="0">
                <a:solidFill>
                  <a:srgbClr val="1B3B6F"/>
                </a:solidFill>
                <a:latin typeface="Amiri" pitchFamily="34" charset="0"/>
                <a:ea typeface="Amiri" pitchFamily="34" charset="-122"/>
                <a:cs typeface="Amiri" pitchFamily="34" charset="-120"/>
              </a:rPr>
              <a:t>ك</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ـك</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كـ</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ـكـ</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medial form of </a:t>
            </a:r>
            <a:pPr algn="l" indent="0" marL="0">
              <a:buNone/>
            </a:pPr>
            <a:r>
              <a:rPr lang="ar-SA" altLang="en-US" sz="1650" b="1" dirty="0">
                <a:solidFill>
                  <a:srgbClr val="1B3B6F"/>
                </a:solidFill>
                <a:latin typeface="Amiri" pitchFamily="34" charset="0"/>
                <a:ea typeface="Amiri" pitchFamily="34" charset="-122"/>
                <a:cs typeface="Amiri" pitchFamily="34" charset="-120"/>
              </a:rPr>
              <a:t>م</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مـ</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ـم</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ـمـ</a:t>
            </a:r>
            <a:endParaRPr lang="ar-SA" sz="2050" dirty="0"/>
          </a:p>
        </p:txBody>
      </p:sp>
      <p:sp>
        <p:nvSpPr>
          <p:cNvPr id="80" name="Shape 77"/>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223504" y="4288536"/>
            <a:ext cx="310896" cy="310896"/>
          </a:xfrm>
          <a:prstGeom prst="ellipse">
            <a:avLst/>
          </a:prstGeom>
          <a:solidFill>
            <a:srgbClr val="1B3B6F"/>
          </a:solidFill>
          <a:ln w="12700">
            <a:solidFill>
              <a:srgbClr val="1B3B6F"/>
            </a:solidFill>
            <a:prstDash val="solid"/>
          </a:ln>
        </p:spPr>
      </p:sp>
      <p:sp>
        <p:nvSpPr>
          <p:cNvPr id="82" name="Text 79"/>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83" name="Text 80"/>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final form of </a:t>
            </a:r>
            <a:pPr algn="l" indent="0" marL="0">
              <a:buNone/>
            </a:pPr>
            <a:r>
              <a:rPr lang="ar-SA" altLang="en-US" sz="1650" b="1" dirty="0">
                <a:solidFill>
                  <a:srgbClr val="1B3B6F"/>
                </a:solidFill>
                <a:latin typeface="Amiri" pitchFamily="34" charset="0"/>
                <a:ea typeface="Amiri" pitchFamily="34" charset="-122"/>
                <a:cs typeface="Amiri" pitchFamily="34" charset="-120"/>
              </a:rPr>
              <a:t>ي</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84" name="Shape 81"/>
          <p:cNvSpPr/>
          <p:nvPr/>
        </p:nvSpPr>
        <p:spPr>
          <a:xfrm>
            <a:off x="8278368" y="4873752"/>
            <a:ext cx="256032" cy="256032"/>
          </a:xfrm>
          <a:prstGeom prst="ellipse">
            <a:avLst/>
          </a:prstGeom>
          <a:solidFill>
            <a:srgbClr val="F4F1EA"/>
          </a:solidFill>
          <a:ln w="12700">
            <a:solidFill>
              <a:srgbClr val="F4F1EA"/>
            </a:solidFill>
            <a:prstDash val="solid"/>
          </a:ln>
        </p:spPr>
      </p:sp>
      <p:sp>
        <p:nvSpPr>
          <p:cNvPr id="85" name="Text 82"/>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6" name="Text 83"/>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ـي</a:t>
            </a:r>
            <a:endParaRPr lang="ar-SA" sz="2050" dirty="0"/>
          </a:p>
        </p:txBody>
      </p:sp>
      <p:sp>
        <p:nvSpPr>
          <p:cNvPr id="87" name="Shape 84"/>
          <p:cNvSpPr/>
          <p:nvPr/>
        </p:nvSpPr>
        <p:spPr>
          <a:xfrm>
            <a:off x="8278368" y="53309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9" name="Text 86"/>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يـ</a:t>
            </a:r>
            <a:endParaRPr lang="ar-SA" sz="2050" dirty="0"/>
          </a:p>
        </p:txBody>
      </p:sp>
      <p:sp>
        <p:nvSpPr>
          <p:cNvPr id="90" name="Shape 87"/>
          <p:cNvSpPr/>
          <p:nvPr/>
        </p:nvSpPr>
        <p:spPr>
          <a:xfrm>
            <a:off x="8278368" y="57881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92" name="Text 89"/>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ـيـ</a:t>
            </a:r>
            <a:endParaRPr lang="ar-SA" sz="2050" dirty="0"/>
          </a:p>
        </p:txBody>
      </p:sp>
      <p:sp>
        <p:nvSpPr>
          <p:cNvPr id="93" name="Text 9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8 / 23</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F1-L12 · F1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I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ea typeface="Calibri" pitchFamily="34" charset="-122"/>
                <a:cs typeface="Calibri" pitchFamily="34" charset="-120"/>
              </a:rPr>
              <a:t>PART A2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A2 ·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4 · Lesson 3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initial form of </a:t>
            </a:r>
            <a:pPr algn="l" indent="0" marL="0">
              <a:buNone/>
            </a:pPr>
            <a:r>
              <a:rPr lang="ar-SA" altLang="en-US" sz="1650" b="1" dirty="0">
                <a:solidFill>
                  <a:srgbClr val="1B3B6F"/>
                </a:solidFill>
                <a:latin typeface="Amiri" pitchFamily="34" charset="0"/>
                <a:ea typeface="Amiri" pitchFamily="34" charset="-122"/>
                <a:cs typeface="Amiri" pitchFamily="34" charset="-120"/>
              </a:rPr>
              <a:t>ب</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بـ</a:t>
            </a:r>
            <a:endParaRPr lang="ar-SA" sz="17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ـبـ</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ـب</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Initial bāʾ connects onward.</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medial form of </a:t>
            </a:r>
            <a:pPr algn="l" indent="0" marL="0">
              <a:buNone/>
            </a:pPr>
            <a:r>
              <a:rPr lang="ar-SA" altLang="en-US" sz="1650" b="1" dirty="0">
                <a:solidFill>
                  <a:srgbClr val="1B3B6F"/>
                </a:solidFill>
                <a:latin typeface="Amiri" pitchFamily="34" charset="0"/>
                <a:ea typeface="Amiri" pitchFamily="34" charset="-122"/>
                <a:cs typeface="Amiri" pitchFamily="34" charset="-120"/>
              </a:rPr>
              <a:t>ع</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عـ</a:t>
            </a:r>
            <a:endParaRPr lang="ar-SA" sz="170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ـع</a:t>
            </a:r>
            <a:endParaRPr lang="ar-SA" sz="170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ـعـ</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Medial ʿayn connects on both sides.</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final form of </a:t>
            </a:r>
            <a:pPr algn="l" indent="0" marL="0">
              <a:buNone/>
            </a:pPr>
            <a:r>
              <a:rPr lang="ar-SA" altLang="en-US" sz="1650" b="1" dirty="0">
                <a:solidFill>
                  <a:srgbClr val="1B3B6F"/>
                </a:solidFill>
                <a:latin typeface="Amiri" pitchFamily="34" charset="0"/>
                <a:ea typeface="Amiri" pitchFamily="34" charset="-122"/>
                <a:cs typeface="Amiri" pitchFamily="34" charset="-120"/>
              </a:rPr>
              <a:t>ف</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فـ</a:t>
            </a:r>
            <a:endParaRPr lang="ar-SA" sz="1700" dirty="0"/>
          </a:p>
        </p:txBody>
      </p:sp>
      <p:sp>
        <p:nvSpPr>
          <p:cNvPr id="52" name="Shape 49"/>
          <p:cNvSpPr/>
          <p:nvPr/>
        </p:nvSpPr>
        <p:spPr>
          <a:xfrm>
            <a:off x="8186928" y="2825496"/>
            <a:ext cx="3453384"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8278368" y="2862072"/>
            <a:ext cx="256032" cy="256032"/>
          </a:xfrm>
          <a:prstGeom prst="ellipse">
            <a:avLst/>
          </a:prstGeom>
          <a:solidFill>
            <a:srgbClr val="2E8B57"/>
          </a:solidFill>
          <a:ln w="12700">
            <a:solidFill>
              <a:srgbClr val="2E8B57"/>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ـف</a:t>
            </a:r>
            <a:endParaRPr lang="ar-SA" sz="170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ـفـ</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Final fāʾ joins from the right only.</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initial form of </a:t>
            </a:r>
            <a:pPr algn="l" indent="0" marL="0">
              <a:buNone/>
            </a:pPr>
            <a:r>
              <a:rPr lang="ar-SA" altLang="en-US" sz="1650" b="1" dirty="0">
                <a:solidFill>
                  <a:srgbClr val="1B3B6F"/>
                </a:solidFill>
                <a:latin typeface="Amiri" pitchFamily="34" charset="0"/>
                <a:ea typeface="Amiri" pitchFamily="34" charset="-122"/>
                <a:cs typeface="Amiri" pitchFamily="34" charset="-120"/>
              </a:rPr>
              <a:t>ك</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ـك</a:t>
            </a:r>
            <a:endParaRPr lang="ar-SA" sz="170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كـ</a:t>
            </a:r>
            <a:endParaRPr lang="ar-SA" sz="170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ـكـ</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Initial kāf joins onward only.</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medial form of </a:t>
            </a:r>
            <a:pPr algn="l" indent="0" marL="0">
              <a:buNone/>
            </a:pPr>
            <a:r>
              <a:rPr lang="ar-SA" altLang="en-US" sz="1650" b="1" dirty="0">
                <a:solidFill>
                  <a:srgbClr val="1B3B6F"/>
                </a:solidFill>
                <a:latin typeface="Amiri" pitchFamily="34" charset="0"/>
                <a:ea typeface="Amiri" pitchFamily="34" charset="-122"/>
                <a:cs typeface="Amiri" pitchFamily="34" charset="-120"/>
              </a:rPr>
              <a:t>م</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مـ</a:t>
            </a:r>
            <a:endParaRPr lang="ar-SA" sz="1700" dirty="0"/>
          </a:p>
        </p:txBody>
      </p:sp>
      <p:sp>
        <p:nvSpPr>
          <p:cNvPr id="82" name="Shape 79"/>
          <p:cNvSpPr/>
          <p:nvPr/>
        </p:nvSpPr>
        <p:spPr>
          <a:xfrm>
            <a:off x="4459224" y="5202936"/>
            <a:ext cx="256032" cy="256032"/>
          </a:xfrm>
          <a:prstGeom prst="ellipse">
            <a:avLst/>
          </a:prstGeom>
          <a:solidFill>
            <a:srgbClr val="C9CED6"/>
          </a:solidFill>
          <a:ln w="12700">
            <a:solidFill>
              <a:srgbClr val="C9CED6"/>
            </a:solidFill>
            <a:prstDash val="solid"/>
          </a:ln>
        </p:spPr>
      </p:sp>
      <p:sp>
        <p:nvSpPr>
          <p:cNvPr id="83" name="Text 80"/>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4" name="Text 81"/>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ـم</a:t>
            </a:r>
            <a:endParaRPr lang="ar-SA" sz="1700" dirty="0"/>
          </a:p>
        </p:txBody>
      </p:sp>
      <p:sp>
        <p:nvSpPr>
          <p:cNvPr id="85" name="Shape 82"/>
          <p:cNvSpPr/>
          <p:nvPr/>
        </p:nvSpPr>
        <p:spPr>
          <a:xfrm>
            <a:off x="4367784" y="5538216"/>
            <a:ext cx="3453384" cy="347472"/>
          </a:xfrm>
          <a:prstGeom prst="roundRect">
            <a:avLst>
              <a:gd name="adj" fmla="val 15789"/>
            </a:avLst>
          </a:prstGeom>
          <a:solidFill>
            <a:srgbClr val="E6F4EC"/>
          </a:solidFill>
          <a:ln w="9525">
            <a:solidFill>
              <a:srgbClr val="2E8B57"/>
            </a:solidFill>
            <a:prstDash val="solid"/>
          </a:ln>
        </p:spPr>
      </p:sp>
      <p:sp>
        <p:nvSpPr>
          <p:cNvPr id="86" name="Shape 83"/>
          <p:cNvSpPr/>
          <p:nvPr/>
        </p:nvSpPr>
        <p:spPr>
          <a:xfrm>
            <a:off x="4459224" y="5574792"/>
            <a:ext cx="256032" cy="256032"/>
          </a:xfrm>
          <a:prstGeom prst="ellipse">
            <a:avLst/>
          </a:prstGeom>
          <a:solidFill>
            <a:srgbClr val="2E8B57"/>
          </a:solidFill>
          <a:ln w="12700">
            <a:solidFill>
              <a:srgbClr val="2E8B57"/>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ـمـ</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Medial mīm joins on both sides.</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223504" y="4288536"/>
            <a:ext cx="310896" cy="310896"/>
          </a:xfrm>
          <a:prstGeom prst="ellipse">
            <a:avLst/>
          </a:prstGeom>
          <a:solidFill>
            <a:srgbClr val="1B3B6F"/>
          </a:solidFill>
          <a:ln w="12700">
            <a:solidFill>
              <a:srgbClr val="1B3B6F"/>
            </a:solidFill>
            <a:prstDash val="solid"/>
          </a:ln>
        </p:spPr>
      </p:sp>
      <p:sp>
        <p:nvSpPr>
          <p:cNvPr id="92" name="Text 89"/>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93" name="Text 90"/>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final form of </a:t>
            </a:r>
            <a:pPr algn="l" indent="0" marL="0">
              <a:buNone/>
            </a:pPr>
            <a:r>
              <a:rPr lang="ar-SA" altLang="en-US" sz="1650" b="1" dirty="0">
                <a:solidFill>
                  <a:srgbClr val="1B3B6F"/>
                </a:solidFill>
                <a:latin typeface="Amiri" pitchFamily="34" charset="0"/>
                <a:ea typeface="Amiri" pitchFamily="34" charset="-122"/>
                <a:cs typeface="Amiri" pitchFamily="34" charset="-120"/>
              </a:rPr>
              <a:t>ي</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94" name="Shape 91"/>
          <p:cNvSpPr/>
          <p:nvPr/>
        </p:nvSpPr>
        <p:spPr>
          <a:xfrm>
            <a:off x="8186928" y="4794504"/>
            <a:ext cx="3453384" cy="347472"/>
          </a:xfrm>
          <a:prstGeom prst="roundRect">
            <a:avLst>
              <a:gd name="adj" fmla="val 15789"/>
            </a:avLst>
          </a:prstGeom>
          <a:solidFill>
            <a:srgbClr val="E6F4EC"/>
          </a:solidFill>
          <a:ln w="9525">
            <a:solidFill>
              <a:srgbClr val="2E8B57"/>
            </a:solidFill>
            <a:prstDash val="solid"/>
          </a:ln>
        </p:spPr>
      </p:sp>
      <p:sp>
        <p:nvSpPr>
          <p:cNvPr id="95" name="Shape 92"/>
          <p:cNvSpPr/>
          <p:nvPr/>
        </p:nvSpPr>
        <p:spPr>
          <a:xfrm>
            <a:off x="8278368" y="4831080"/>
            <a:ext cx="256032" cy="256032"/>
          </a:xfrm>
          <a:prstGeom prst="ellipse">
            <a:avLst/>
          </a:prstGeom>
          <a:solidFill>
            <a:srgbClr val="2E8B57"/>
          </a:solidFill>
          <a:ln w="12700">
            <a:solidFill>
              <a:srgbClr val="2E8B57"/>
            </a:solidFill>
            <a:prstDash val="solid"/>
          </a:ln>
        </p:spPr>
      </p:sp>
      <p:sp>
        <p:nvSpPr>
          <p:cNvPr id="96" name="Text 93"/>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97" name="Text 94"/>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ـي</a:t>
            </a:r>
            <a:endParaRPr lang="ar-SA" sz="1700" dirty="0"/>
          </a:p>
        </p:txBody>
      </p:sp>
      <p:sp>
        <p:nvSpPr>
          <p:cNvPr id="98" name="Shape 95"/>
          <p:cNvSpPr/>
          <p:nvPr/>
        </p:nvSpPr>
        <p:spPr>
          <a:xfrm>
            <a:off x="8278368" y="5202936"/>
            <a:ext cx="256032" cy="256032"/>
          </a:xfrm>
          <a:prstGeom prst="ellipse">
            <a:avLst/>
          </a:prstGeom>
          <a:solidFill>
            <a:srgbClr val="C9CED6"/>
          </a:solidFill>
          <a:ln w="12700">
            <a:solidFill>
              <a:srgbClr val="C9CED6"/>
            </a:solidFill>
            <a:prstDash val="solid"/>
          </a:ln>
        </p:spPr>
      </p:sp>
      <p:sp>
        <p:nvSpPr>
          <p:cNvPr id="99" name="Text 96"/>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100" name="Text 97"/>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يـ</a:t>
            </a:r>
            <a:endParaRPr lang="ar-SA" sz="1700" dirty="0"/>
          </a:p>
        </p:txBody>
      </p:sp>
      <p:sp>
        <p:nvSpPr>
          <p:cNvPr id="101" name="Shape 98"/>
          <p:cNvSpPr/>
          <p:nvPr/>
        </p:nvSpPr>
        <p:spPr>
          <a:xfrm>
            <a:off x="8278368" y="5574792"/>
            <a:ext cx="256032" cy="256032"/>
          </a:xfrm>
          <a:prstGeom prst="ellipse">
            <a:avLst/>
          </a:prstGeom>
          <a:solidFill>
            <a:srgbClr val="C9CED6"/>
          </a:solidFill>
          <a:ln w="12700">
            <a:solidFill>
              <a:srgbClr val="C9CED6"/>
            </a:solidFill>
            <a:prstDash val="solid"/>
          </a:ln>
        </p:spPr>
      </p:sp>
      <p:sp>
        <p:nvSpPr>
          <p:cNvPr id="102" name="Text 99"/>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103" name="Text 100"/>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ـيـ</a:t>
            </a:r>
            <a:endParaRPr lang="ar-SA" sz="1700" dirty="0"/>
          </a:p>
        </p:txBody>
      </p:sp>
      <p:sp>
        <p:nvSpPr>
          <p:cNvPr id="104" name="Text 101"/>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Final yāʾ keeps its tail and two dots below.</a:t>
            </a:r>
            <a:endParaRPr lang="en-US" sz="1050" dirty="0"/>
          </a:p>
        </p:txBody>
      </p:sp>
      <p:sp>
        <p:nvSpPr>
          <p:cNvPr id="105" name="Text 10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9 / 23</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F1-L12 · F1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ea typeface="Calibri" pitchFamily="34" charset="-122"/>
                <a:cs typeface="Calibri" pitchFamily="34" charset="-120"/>
              </a:rPr>
              <a:t>PART A3 · 5 MARKS · DIACRITIC NAMES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A3 · Name the mark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العَلَامَاتُ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4 · Lesson 3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Name the mark.</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بَ</a:t>
            </a:r>
            <a:endParaRPr lang="ar-SA" sz="22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kasra</a:t>
            </a:r>
            <a:endParaRPr lang="en-US" sz="12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ḍamma</a:t>
            </a:r>
            <a:endParaRPr lang="en-US" sz="12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fatḥa</a:t>
            </a:r>
            <a:endParaRPr lang="en-US" sz="1250" dirty="0"/>
          </a:p>
        </p:txBody>
      </p:sp>
      <p:sp>
        <p:nvSpPr>
          <p:cNvPr id="29" name="Shape 26"/>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4404360"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2" name="Text 29"/>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Name the mark.</a:t>
            </a:r>
            <a:endParaRPr lang="en-US" sz="1200" dirty="0"/>
          </a:p>
        </p:txBody>
      </p:sp>
      <p:sp>
        <p:nvSpPr>
          <p:cNvPr id="33" name="Text 30"/>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بُ</a:t>
            </a:r>
            <a:endParaRPr lang="ar-SA" sz="220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sukūn</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ḍamma</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shadda</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6" name="Text 43"/>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Name the mark.</a:t>
            </a:r>
            <a:endParaRPr lang="en-US" sz="1200" dirty="0"/>
          </a:p>
        </p:txBody>
      </p:sp>
      <p:sp>
        <p:nvSpPr>
          <p:cNvPr id="47" name="Text 44"/>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بِ</a:t>
            </a:r>
            <a:endParaRPr lang="ar-SA" sz="2200" dirty="0"/>
          </a:p>
        </p:txBody>
      </p:sp>
      <p:sp>
        <p:nvSpPr>
          <p:cNvPr id="48" name="Shape 45"/>
          <p:cNvSpPr/>
          <p:nvPr/>
        </p:nvSpPr>
        <p:spPr>
          <a:xfrm>
            <a:off x="8278368" y="25328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0" name="Text 47"/>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fatḥa</a:t>
            </a:r>
            <a:endParaRPr lang="en-US" sz="1250" dirty="0"/>
          </a:p>
        </p:txBody>
      </p:sp>
      <p:sp>
        <p:nvSpPr>
          <p:cNvPr id="51" name="Shape 48"/>
          <p:cNvSpPr/>
          <p:nvPr/>
        </p:nvSpPr>
        <p:spPr>
          <a:xfrm>
            <a:off x="8278368" y="29900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3" name="Text 50"/>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kasra</a:t>
            </a:r>
            <a:endParaRPr lang="en-US" sz="1250" dirty="0"/>
          </a:p>
        </p:txBody>
      </p:sp>
      <p:sp>
        <p:nvSpPr>
          <p:cNvPr id="54" name="Shape 51"/>
          <p:cNvSpPr/>
          <p:nvPr/>
        </p:nvSpPr>
        <p:spPr>
          <a:xfrm>
            <a:off x="8278368" y="3447288"/>
            <a:ext cx="256032" cy="256032"/>
          </a:xfrm>
          <a:prstGeom prst="ellipse">
            <a:avLst/>
          </a:prstGeom>
          <a:solidFill>
            <a:srgbClr val="F4F1EA"/>
          </a:solidFill>
          <a:ln w="12700">
            <a:solidFill>
              <a:srgbClr val="F4F1EA"/>
            </a:solidFill>
            <a:prstDash val="solid"/>
          </a:ln>
        </p:spPr>
      </p:sp>
      <p:sp>
        <p:nvSpPr>
          <p:cNvPr id="55" name="Text 52"/>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6" name="Text 53"/>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tanwīn</a:t>
            </a:r>
            <a:endParaRPr lang="en-US" sz="1250" dirty="0"/>
          </a:p>
        </p:txBody>
      </p:sp>
      <p:sp>
        <p:nvSpPr>
          <p:cNvPr id="57" name="Shape 54"/>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585216"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0" name="Text 57"/>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Name the mark.</a:t>
            </a:r>
            <a:endParaRPr lang="en-US" sz="1200" dirty="0"/>
          </a:p>
        </p:txBody>
      </p:sp>
      <p:sp>
        <p:nvSpPr>
          <p:cNvPr id="61" name="Text 58"/>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بْ</a:t>
            </a:r>
            <a:endParaRPr lang="ar-SA" sz="2200" dirty="0"/>
          </a:p>
        </p:txBody>
      </p:sp>
      <p:sp>
        <p:nvSpPr>
          <p:cNvPr id="62" name="Shape 59"/>
          <p:cNvSpPr/>
          <p:nvPr/>
        </p:nvSpPr>
        <p:spPr>
          <a:xfrm>
            <a:off x="640080" y="48737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4" name="Text 61"/>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shadda</a:t>
            </a:r>
            <a:endParaRPr lang="en-US" sz="1250" dirty="0"/>
          </a:p>
        </p:txBody>
      </p:sp>
      <p:sp>
        <p:nvSpPr>
          <p:cNvPr id="65" name="Shape 62"/>
          <p:cNvSpPr/>
          <p:nvPr/>
        </p:nvSpPr>
        <p:spPr>
          <a:xfrm>
            <a:off x="640080" y="53309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7" name="Text 64"/>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madda</a:t>
            </a:r>
            <a:endParaRPr lang="en-US" sz="1250" dirty="0"/>
          </a:p>
        </p:txBody>
      </p:sp>
      <p:sp>
        <p:nvSpPr>
          <p:cNvPr id="68" name="Shape 65"/>
          <p:cNvSpPr/>
          <p:nvPr/>
        </p:nvSpPr>
        <p:spPr>
          <a:xfrm>
            <a:off x="640080" y="5788152"/>
            <a:ext cx="256032" cy="256032"/>
          </a:xfrm>
          <a:prstGeom prst="ellipse">
            <a:avLst/>
          </a:prstGeom>
          <a:solidFill>
            <a:srgbClr val="F4F1EA"/>
          </a:solidFill>
          <a:ln w="12700">
            <a:solidFill>
              <a:srgbClr val="F4F1EA"/>
            </a:solidFill>
            <a:prstDash val="solid"/>
          </a:ln>
        </p:spPr>
      </p:sp>
      <p:sp>
        <p:nvSpPr>
          <p:cNvPr id="69" name="Text 66"/>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0" name="Text 67"/>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sukūn</a:t>
            </a:r>
            <a:endParaRPr lang="en-US" sz="1250" dirty="0"/>
          </a:p>
        </p:txBody>
      </p:sp>
      <p:sp>
        <p:nvSpPr>
          <p:cNvPr id="71" name="Shape 68"/>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2" name="Shape 69"/>
          <p:cNvSpPr/>
          <p:nvPr/>
        </p:nvSpPr>
        <p:spPr>
          <a:xfrm>
            <a:off x="4404360" y="4288536"/>
            <a:ext cx="310896" cy="310896"/>
          </a:xfrm>
          <a:prstGeom prst="ellipse">
            <a:avLst/>
          </a:prstGeom>
          <a:solidFill>
            <a:srgbClr val="1B3B6F"/>
          </a:solidFill>
          <a:ln w="12700">
            <a:solidFill>
              <a:srgbClr val="1B3B6F"/>
            </a:solidFill>
            <a:prstDash val="solid"/>
          </a:ln>
        </p:spPr>
      </p:sp>
      <p:sp>
        <p:nvSpPr>
          <p:cNvPr id="73" name="Text 70"/>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4" name="Text 71"/>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Name the mark.</a:t>
            </a:r>
            <a:endParaRPr lang="en-US" sz="1200" dirty="0"/>
          </a:p>
        </p:txBody>
      </p:sp>
      <p:sp>
        <p:nvSpPr>
          <p:cNvPr id="75" name="Text 72"/>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بّ</a:t>
            </a:r>
            <a:endParaRPr lang="ar-SA" sz="2200" dirty="0"/>
          </a:p>
        </p:txBody>
      </p:sp>
      <p:sp>
        <p:nvSpPr>
          <p:cNvPr id="76" name="Shape 73"/>
          <p:cNvSpPr/>
          <p:nvPr/>
        </p:nvSpPr>
        <p:spPr>
          <a:xfrm>
            <a:off x="4459224" y="48737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8" name="Text 75"/>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shadda</a:t>
            </a:r>
            <a:endParaRPr lang="en-US" sz="1250" dirty="0"/>
          </a:p>
        </p:txBody>
      </p:sp>
      <p:sp>
        <p:nvSpPr>
          <p:cNvPr id="79" name="Shape 76"/>
          <p:cNvSpPr/>
          <p:nvPr/>
        </p:nvSpPr>
        <p:spPr>
          <a:xfrm>
            <a:off x="4459224" y="53309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1" name="Text 78"/>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fatḥa</a:t>
            </a:r>
            <a:endParaRPr lang="en-US" sz="1250" dirty="0"/>
          </a:p>
        </p:txBody>
      </p:sp>
      <p:sp>
        <p:nvSpPr>
          <p:cNvPr id="82" name="Shape 79"/>
          <p:cNvSpPr/>
          <p:nvPr/>
        </p:nvSpPr>
        <p:spPr>
          <a:xfrm>
            <a:off x="4459224" y="5788152"/>
            <a:ext cx="256032" cy="256032"/>
          </a:xfrm>
          <a:prstGeom prst="ellipse">
            <a:avLst/>
          </a:prstGeom>
          <a:solidFill>
            <a:srgbClr val="F4F1EA"/>
          </a:solidFill>
          <a:ln w="12700">
            <a:solidFill>
              <a:srgbClr val="F4F1EA"/>
            </a:solidFill>
            <a:prstDash val="solid"/>
          </a:ln>
        </p:spPr>
      </p:sp>
      <p:sp>
        <p:nvSpPr>
          <p:cNvPr id="83" name="Text 80"/>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4" name="Text 81"/>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hamza</a:t>
            </a:r>
            <a:endParaRPr lang="en-US" sz="1250" dirty="0"/>
          </a:p>
        </p:txBody>
      </p:sp>
      <p:sp>
        <p:nvSpPr>
          <p:cNvPr id="85" name="Shape 82"/>
          <p:cNvSpPr/>
          <p:nvPr/>
        </p:nvSpPr>
        <p:spPr>
          <a:xfrm>
            <a:off x="8095488" y="4151376"/>
            <a:ext cx="3636264"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86" name="Text 83"/>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A3 · 5 MARKS</a:t>
            </a:r>
            <a:endParaRPr lang="en-US" sz="1000" dirty="0"/>
          </a:p>
        </p:txBody>
      </p:sp>
      <p:sp>
        <p:nvSpPr>
          <p:cNvPr id="87" name="Text 84"/>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One mark each.</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Private chat: A3: 1_ 2_ 3_ 4_ 5_</a:t>
            </a:r>
            <a:endParaRPr lang="en-US" sz="1250" dirty="0"/>
          </a:p>
        </p:txBody>
      </p:sp>
      <p:sp>
        <p:nvSpPr>
          <p:cNvPr id="88" name="Text 8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10 / 23</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F1-L12 · F1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I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ea typeface="Calibri" pitchFamily="34" charset="-122"/>
                <a:cs typeface="Calibri" pitchFamily="34" charset="-120"/>
              </a:rPr>
              <a:t>PART A3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A3 ·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4 · Lesson 3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Name the mark.</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بَ</a:t>
            </a:r>
            <a:endParaRPr lang="ar-SA" sz="2200" dirty="0"/>
          </a:p>
        </p:txBody>
      </p:sp>
      <p:sp>
        <p:nvSpPr>
          <p:cNvPr id="20" name="Shape 17"/>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kasra</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ḍamma</a:t>
            </a:r>
            <a:endParaRPr lang="en-US" sz="1250" dirty="0"/>
          </a:p>
        </p:txBody>
      </p:sp>
      <p:sp>
        <p:nvSpPr>
          <p:cNvPr id="26" name="Shape 23"/>
          <p:cNvSpPr/>
          <p:nvPr/>
        </p:nvSpPr>
        <p:spPr>
          <a:xfrm>
            <a:off x="548640" y="3197352"/>
            <a:ext cx="3453384" cy="347472"/>
          </a:xfrm>
          <a:prstGeom prst="roundRect">
            <a:avLst>
              <a:gd name="adj" fmla="val 15789"/>
            </a:avLst>
          </a:prstGeom>
          <a:solidFill>
            <a:srgbClr val="E6F4EC"/>
          </a:solidFill>
          <a:ln w="9525">
            <a:solidFill>
              <a:srgbClr val="2E8B57"/>
            </a:solidFill>
            <a:prstDash val="solid"/>
          </a:ln>
        </p:spPr>
      </p:sp>
      <p:sp>
        <p:nvSpPr>
          <p:cNvPr id="27" name="Shape 24"/>
          <p:cNvSpPr/>
          <p:nvPr/>
        </p:nvSpPr>
        <p:spPr>
          <a:xfrm>
            <a:off x="640080" y="3233928"/>
            <a:ext cx="256032" cy="256032"/>
          </a:xfrm>
          <a:prstGeom prst="ellipse">
            <a:avLst/>
          </a:prstGeom>
          <a:solidFill>
            <a:srgbClr val="2E8B57"/>
          </a:solidFill>
          <a:ln w="12700">
            <a:solidFill>
              <a:srgbClr val="2E8B57"/>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29" name="Text 26"/>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fatḥa</a:t>
            </a:r>
            <a:endParaRPr lang="en-US" sz="1250" dirty="0"/>
          </a:p>
        </p:txBody>
      </p:sp>
      <p:sp>
        <p:nvSpPr>
          <p:cNvPr id="30" name="Text 27"/>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short /a/ stroke above.</a:t>
            </a:r>
            <a:endParaRPr lang="en-US" sz="1050" dirty="0"/>
          </a:p>
        </p:txBody>
      </p:sp>
      <p:sp>
        <p:nvSpPr>
          <p:cNvPr id="31" name="Shape 28"/>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4" name="Text 31"/>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Name the mark.</a:t>
            </a:r>
            <a:endParaRPr lang="en-US" sz="1200" dirty="0"/>
          </a:p>
        </p:txBody>
      </p:sp>
      <p:sp>
        <p:nvSpPr>
          <p:cNvPr id="35" name="Text 32"/>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بُ</a:t>
            </a:r>
            <a:endParaRPr lang="ar-SA" sz="220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sukūn</a:t>
            </a:r>
            <a:endParaRPr lang="en-US" sz="1250" dirty="0"/>
          </a:p>
        </p:txBody>
      </p:sp>
      <p:sp>
        <p:nvSpPr>
          <p:cNvPr id="39" name="Shape 36"/>
          <p:cNvSpPr/>
          <p:nvPr/>
        </p:nvSpPr>
        <p:spPr>
          <a:xfrm>
            <a:off x="4367784" y="2825496"/>
            <a:ext cx="3453384"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4459224"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42" name="Text 39"/>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ḍamma</a:t>
            </a:r>
            <a:endParaRPr lang="en-US" sz="1250" dirty="0"/>
          </a:p>
        </p:txBody>
      </p:sp>
      <p:sp>
        <p:nvSpPr>
          <p:cNvPr id="43"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shadda</a:t>
            </a:r>
            <a:endParaRPr lang="en-US" sz="125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short /u/ curl above.</a:t>
            </a:r>
            <a:endParaRPr lang="en-US" sz="10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50" name="Text 47"/>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Name the mark.</a:t>
            </a:r>
            <a:endParaRPr lang="en-US" sz="1200" dirty="0"/>
          </a:p>
        </p:txBody>
      </p:sp>
      <p:sp>
        <p:nvSpPr>
          <p:cNvPr id="51" name="Text 48"/>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بِ</a:t>
            </a:r>
            <a:endParaRPr lang="ar-SA" sz="2200" dirty="0"/>
          </a:p>
        </p:txBody>
      </p:sp>
      <p:sp>
        <p:nvSpPr>
          <p:cNvPr id="52" name="Shape 49"/>
          <p:cNvSpPr/>
          <p:nvPr/>
        </p:nvSpPr>
        <p:spPr>
          <a:xfrm>
            <a:off x="8278368" y="2490216"/>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fatḥa</a:t>
            </a:r>
            <a:endParaRPr lang="en-US" sz="1250" dirty="0"/>
          </a:p>
        </p:txBody>
      </p:sp>
      <p:sp>
        <p:nvSpPr>
          <p:cNvPr id="55" name="Shape 52"/>
          <p:cNvSpPr/>
          <p:nvPr/>
        </p:nvSpPr>
        <p:spPr>
          <a:xfrm>
            <a:off x="8186928" y="2825496"/>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2862072"/>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58" name="Text 55"/>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kasra</a:t>
            </a:r>
            <a:endParaRPr lang="en-US" sz="1250" dirty="0"/>
          </a:p>
        </p:txBody>
      </p:sp>
      <p:sp>
        <p:nvSpPr>
          <p:cNvPr id="59" name="Shape 56"/>
          <p:cNvSpPr/>
          <p:nvPr/>
        </p:nvSpPr>
        <p:spPr>
          <a:xfrm>
            <a:off x="8278368" y="3233928"/>
            <a:ext cx="256032" cy="256032"/>
          </a:xfrm>
          <a:prstGeom prst="ellipse">
            <a:avLst/>
          </a:prstGeom>
          <a:solidFill>
            <a:srgbClr val="C9CED6"/>
          </a:solidFill>
          <a:ln w="12700">
            <a:solidFill>
              <a:srgbClr val="C9CED6"/>
            </a:solidFill>
            <a:prstDash val="solid"/>
          </a:ln>
        </p:spPr>
      </p:sp>
      <p:sp>
        <p:nvSpPr>
          <p:cNvPr id="60" name="Text 57"/>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1" name="Text 58"/>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tanwīn</a:t>
            </a:r>
            <a:endParaRPr lang="en-US" sz="1250" dirty="0"/>
          </a:p>
        </p:txBody>
      </p:sp>
      <p:sp>
        <p:nvSpPr>
          <p:cNvPr id="62" name="Text 59"/>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short /i/ stroke below.</a:t>
            </a:r>
            <a:endParaRPr lang="en-US" sz="1050" dirty="0"/>
          </a:p>
        </p:txBody>
      </p:sp>
      <p:sp>
        <p:nvSpPr>
          <p:cNvPr id="63" name="Shape 60"/>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585216"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6" name="Text 63"/>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Name the mark.</a:t>
            </a:r>
            <a:endParaRPr lang="en-US" sz="1200" dirty="0"/>
          </a:p>
        </p:txBody>
      </p:sp>
      <p:sp>
        <p:nvSpPr>
          <p:cNvPr id="67" name="Text 64"/>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بْ</a:t>
            </a:r>
            <a:endParaRPr lang="ar-SA" sz="2200" dirty="0"/>
          </a:p>
        </p:txBody>
      </p:sp>
      <p:sp>
        <p:nvSpPr>
          <p:cNvPr id="68" name="Shape 65"/>
          <p:cNvSpPr/>
          <p:nvPr/>
        </p:nvSpPr>
        <p:spPr>
          <a:xfrm>
            <a:off x="640080" y="4831080"/>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0" name="Text 67"/>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shadda</a:t>
            </a:r>
            <a:endParaRPr lang="en-US" sz="1250" dirty="0"/>
          </a:p>
        </p:txBody>
      </p:sp>
      <p:sp>
        <p:nvSpPr>
          <p:cNvPr id="71" name="Shape 68"/>
          <p:cNvSpPr/>
          <p:nvPr/>
        </p:nvSpPr>
        <p:spPr>
          <a:xfrm>
            <a:off x="640080" y="5202936"/>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3" name="Text 70"/>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madda</a:t>
            </a:r>
            <a:endParaRPr lang="en-US" sz="1250" dirty="0"/>
          </a:p>
        </p:txBody>
      </p:sp>
      <p:sp>
        <p:nvSpPr>
          <p:cNvPr id="74" name="Shape 71"/>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5" name="Shape 72"/>
          <p:cNvSpPr/>
          <p:nvPr/>
        </p:nvSpPr>
        <p:spPr>
          <a:xfrm>
            <a:off x="640080" y="5574792"/>
            <a:ext cx="256032" cy="256032"/>
          </a:xfrm>
          <a:prstGeom prst="ellipse">
            <a:avLst/>
          </a:prstGeom>
          <a:solidFill>
            <a:srgbClr val="2E8B57"/>
          </a:solidFill>
          <a:ln w="12700">
            <a:solidFill>
              <a:srgbClr val="2E8B57"/>
            </a:solidFill>
            <a:prstDash val="solid"/>
          </a:ln>
        </p:spPr>
      </p:sp>
      <p:sp>
        <p:nvSpPr>
          <p:cNvPr id="76" name="Text 73"/>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77" name="Text 74"/>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sukūn</a:t>
            </a:r>
            <a:endParaRPr lang="en-US" sz="1250" dirty="0"/>
          </a:p>
        </p:txBody>
      </p:sp>
      <p:sp>
        <p:nvSpPr>
          <p:cNvPr id="78" name="Text 75"/>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No following vowel.</a:t>
            </a:r>
            <a:endParaRPr lang="en-US" sz="1050" dirty="0"/>
          </a:p>
        </p:txBody>
      </p:sp>
      <p:sp>
        <p:nvSpPr>
          <p:cNvPr id="79" name="Shape 7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0" name="Shape 77"/>
          <p:cNvSpPr/>
          <p:nvPr/>
        </p:nvSpPr>
        <p:spPr>
          <a:xfrm>
            <a:off x="4404360" y="4288536"/>
            <a:ext cx="310896" cy="310896"/>
          </a:xfrm>
          <a:prstGeom prst="ellipse">
            <a:avLst/>
          </a:prstGeom>
          <a:solidFill>
            <a:srgbClr val="1B3B6F"/>
          </a:solidFill>
          <a:ln w="12700">
            <a:solidFill>
              <a:srgbClr val="1B3B6F"/>
            </a:solidFill>
            <a:prstDash val="solid"/>
          </a:ln>
        </p:spPr>
      </p:sp>
      <p:sp>
        <p:nvSpPr>
          <p:cNvPr id="81" name="Text 7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82" name="Text 79"/>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Name the mark.</a:t>
            </a:r>
            <a:endParaRPr lang="en-US" sz="1200" dirty="0"/>
          </a:p>
        </p:txBody>
      </p:sp>
      <p:sp>
        <p:nvSpPr>
          <p:cNvPr id="83" name="Text 80"/>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بّ</a:t>
            </a:r>
            <a:endParaRPr lang="ar-SA" sz="2200" dirty="0"/>
          </a:p>
        </p:txBody>
      </p:sp>
      <p:sp>
        <p:nvSpPr>
          <p:cNvPr id="84" name="Shape 81"/>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5" name="Shape 82"/>
          <p:cNvSpPr/>
          <p:nvPr/>
        </p:nvSpPr>
        <p:spPr>
          <a:xfrm>
            <a:off x="4459224" y="4831080"/>
            <a:ext cx="256032" cy="256032"/>
          </a:xfrm>
          <a:prstGeom prst="ellipse">
            <a:avLst/>
          </a:prstGeom>
          <a:solidFill>
            <a:srgbClr val="2E8B57"/>
          </a:solidFill>
          <a:ln w="12700">
            <a:solidFill>
              <a:srgbClr val="2E8B57"/>
            </a:solidFill>
            <a:prstDash val="solid"/>
          </a:ln>
        </p:spPr>
      </p:sp>
      <p:sp>
        <p:nvSpPr>
          <p:cNvPr id="86" name="Text 83"/>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87" name="Text 84"/>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shadda</a:t>
            </a:r>
            <a:endParaRPr lang="en-US" sz="1250" dirty="0"/>
          </a:p>
        </p:txBody>
      </p:sp>
      <p:sp>
        <p:nvSpPr>
          <p:cNvPr id="88" name="Shape 85"/>
          <p:cNvSpPr/>
          <p:nvPr/>
        </p:nvSpPr>
        <p:spPr>
          <a:xfrm>
            <a:off x="4459224" y="5202936"/>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90" name="Text 87"/>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fatḥa</a:t>
            </a:r>
            <a:endParaRPr lang="en-US" sz="1250" dirty="0"/>
          </a:p>
        </p:txBody>
      </p:sp>
      <p:sp>
        <p:nvSpPr>
          <p:cNvPr id="91" name="Shape 88"/>
          <p:cNvSpPr/>
          <p:nvPr/>
        </p:nvSpPr>
        <p:spPr>
          <a:xfrm>
            <a:off x="4459224" y="5574792"/>
            <a:ext cx="256032" cy="256032"/>
          </a:xfrm>
          <a:prstGeom prst="ellipse">
            <a:avLst/>
          </a:prstGeom>
          <a:solidFill>
            <a:srgbClr val="C9CED6"/>
          </a:solidFill>
          <a:ln w="12700">
            <a:solidFill>
              <a:srgbClr val="C9CED6"/>
            </a:solidFill>
            <a:prstDash val="solid"/>
          </a:ln>
        </p:spPr>
      </p:sp>
      <p:sp>
        <p:nvSpPr>
          <p:cNvPr id="92" name="Text 89"/>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93" name="Text 90"/>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hamza</a:t>
            </a:r>
            <a:endParaRPr lang="en-US" sz="1250" dirty="0"/>
          </a:p>
        </p:txBody>
      </p:sp>
      <p:sp>
        <p:nvSpPr>
          <p:cNvPr id="94" name="Text 91"/>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Doubles the consonant.</a:t>
            </a:r>
            <a:endParaRPr lang="en-US" sz="1050" dirty="0"/>
          </a:p>
        </p:txBody>
      </p:sp>
      <p:sp>
        <p:nvSpPr>
          <p:cNvPr id="95" name="Shape 92"/>
          <p:cNvSpPr/>
          <p:nvPr/>
        </p:nvSpPr>
        <p:spPr>
          <a:xfrm>
            <a:off x="8095488" y="4151376"/>
            <a:ext cx="3636264"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96" name="Text 93"/>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A3 · 5 MARKS</a:t>
            </a:r>
            <a:endParaRPr lang="en-US" sz="1000" dirty="0"/>
          </a:p>
        </p:txBody>
      </p:sp>
      <p:sp>
        <p:nvSpPr>
          <p:cNvPr id="97" name="Text 94"/>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One mark each.</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Private chat: A3: 1_ 2_ 3_ 4_ 5_</a:t>
            </a:r>
            <a:endParaRPr lang="en-US" sz="1250" dirty="0"/>
          </a:p>
        </p:txBody>
      </p:sp>
      <p:sp>
        <p:nvSpPr>
          <p:cNvPr id="98" name="Text 9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11 / 23</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F1-L12 · F1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ea typeface="Calibri" pitchFamily="34" charset="-122"/>
                <a:cs typeface="Calibri" pitchFamily="34" charset="-120"/>
              </a:rPr>
              <a:t>PART A4 · 5 MARKS · NUMERAL CONVERSION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ea typeface="Cambria" pitchFamily="34" charset="-122"/>
                <a:cs typeface="Cambria" pitchFamily="34" charset="-120"/>
              </a:rPr>
              <a:t>A4 · Choose the Arabic-Indic numeral</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الأَرْقَامُ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4 · Lesson 3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numeral for 3.</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٢</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٣</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٤</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numeral for 7.</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٦</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٧</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٨</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numeral for 15.</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٥١</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١٠٥</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١٥</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numeral for 20.</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٢٠</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٢</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٢٠٠</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numeral for 100.</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١٠</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١٠٠</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١٠٠٠</a:t>
            </a:r>
            <a:endParaRPr lang="ar-SA" sz="2050" dirty="0"/>
          </a:p>
        </p:txBody>
      </p:sp>
      <p:sp>
        <p:nvSpPr>
          <p:cNvPr id="80" name="Shape 77"/>
          <p:cNvSpPr/>
          <p:nvPr/>
        </p:nvSpPr>
        <p:spPr>
          <a:xfrm>
            <a:off x="8095488" y="4151376"/>
            <a:ext cx="3636264"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A4 · 5 MARKS</a:t>
            </a:r>
            <a:endParaRPr lang="en-US" sz="1000" dirty="0"/>
          </a:p>
        </p:txBody>
      </p:sp>
      <p:sp>
        <p:nvSpPr>
          <p:cNvPr id="82" name="Text 7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One mark each.</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Private chat: A4: 1_ 2_ 3_ 4_ 5_</a:t>
            </a:r>
            <a:endParaRPr lang="en-US" sz="1250" dirty="0"/>
          </a:p>
        </p:txBody>
      </p:sp>
      <p:sp>
        <p:nvSpPr>
          <p:cNvPr id="83" name="Text 8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12 / 23</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F1-L12 · F1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I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ea typeface="Calibri" pitchFamily="34" charset="-122"/>
                <a:cs typeface="Calibri" pitchFamily="34" charset="-120"/>
              </a:rPr>
              <a:t>PART A4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A4 ·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4 · Lesson 3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numeral for 3.</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٢</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٣</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٤</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Three.</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numeral for 7.</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٦</a:t>
            </a:r>
            <a:endParaRPr lang="ar-SA" sz="1700" dirty="0"/>
          </a:p>
        </p:txBody>
      </p:sp>
      <p:sp>
        <p:nvSpPr>
          <p:cNvPr id="37" name="Shape 34"/>
          <p:cNvSpPr/>
          <p:nvPr/>
        </p:nvSpPr>
        <p:spPr>
          <a:xfrm>
            <a:off x="4367784" y="2825496"/>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862072"/>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٧</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٨</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Seven.</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numeral for 15.</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٥١</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١٠٥</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١٥</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Place value stays fifteen.</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numeral for 20.</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٢٠</a:t>
            </a:r>
            <a:endParaRPr lang="ar-SA" sz="170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٢</a:t>
            </a:r>
            <a:endParaRPr lang="ar-SA" sz="170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٢٠٠</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Two, then zero.</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numeral for 100.</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١٠</a:t>
            </a:r>
            <a:endParaRPr lang="ar-SA" sz="170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١٠٠</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١٠٠٠</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One, then two zeros.</a:t>
            </a:r>
            <a:endParaRPr lang="en-US" sz="1050" dirty="0"/>
          </a:p>
        </p:txBody>
      </p:sp>
      <p:sp>
        <p:nvSpPr>
          <p:cNvPr id="90" name="Shape 87"/>
          <p:cNvSpPr/>
          <p:nvPr/>
        </p:nvSpPr>
        <p:spPr>
          <a:xfrm>
            <a:off x="8095488" y="4151376"/>
            <a:ext cx="3636264"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A4 · 5 MARKS</a:t>
            </a:r>
            <a:endParaRPr lang="en-US" sz="1000" dirty="0"/>
          </a:p>
        </p:txBody>
      </p:sp>
      <p:sp>
        <p:nvSpPr>
          <p:cNvPr id="92" name="Text 8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One mark each.</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Private chat: A4: 1_ 2_ 3_ 4_ 5_</a:t>
            </a:r>
            <a:endParaRPr lang="en-US" sz="1250" dirty="0"/>
          </a:p>
        </p:txBody>
      </p:sp>
      <p:sp>
        <p:nvSpPr>
          <p:cNvPr id="93" name="Text 9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13 / 23</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F1-L12 · F1 Assessment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8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74" b="1" spc="150" kern="0" dirty="0">
                <a:solidFill>
                  <a:srgbClr val="2F6FB0"/>
                </a:solidFill>
                <a:latin typeface="Calibri" pitchFamily="34" charset="0"/>
                <a:ea typeface="Calibri" pitchFamily="34" charset="-122"/>
                <a:cs typeface="Calibri" pitchFamily="34" charset="-120"/>
              </a:rPr>
              <a:t>PART B1 · 10 MARKS · TEN-WORD GUIDED DICTATION (WEBSITE) · REVEAL AFTER WRITING</a:t>
            </a:r>
            <a:endParaRPr lang="en-US" sz="87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B1 · Dictation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إِمْلَاءُ عَشْرِ كَلِمَاتٍ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4 · Lesson 3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181344" y="1810512"/>
            <a:ext cx="5477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1–5</a:t>
            </a:r>
            <a:endParaRPr lang="en-US" sz="1100" dirty="0"/>
          </a:p>
        </p:txBody>
      </p:sp>
      <p:sp>
        <p:nvSpPr>
          <p:cNvPr id="17" name="Text 14"/>
          <p:cNvSpPr txBox="1"/>
          <p:nvPr/>
        </p:nvSpPr>
        <p:spPr>
          <a:xfrm>
            <a:off x="530352" y="1810512"/>
            <a:ext cx="55046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6–10</a:t>
            </a:r>
            <a:endParaRPr lang="en-US" sz="1100" dirty="0"/>
          </a:p>
        </p:txBody>
      </p:sp>
      <p:sp>
        <p:nvSpPr>
          <p:cNvPr id="18" name="Shape 15"/>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19" name="Text 16"/>
          <p:cNvSpPr txBox="1"/>
          <p:nvPr/>
        </p:nvSpPr>
        <p:spPr>
          <a:xfrm>
            <a:off x="6199632" y="2286000"/>
            <a:ext cx="544068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بَابٌ · كِتَابٌ · قَلَمٌ · مَدْرَسَةٌ · بَيْتٌ</a:t>
            </a:r>
            <a:endParaRPr lang="ar-SA" sz="2100" dirty="0"/>
          </a:p>
        </p:txBody>
      </p:sp>
      <p:sp>
        <p:nvSpPr>
          <p:cNvPr id="20" name="Text 17"/>
          <p:cNvSpPr txBox="1"/>
          <p:nvPr/>
        </p:nvSpPr>
        <p:spPr>
          <a:xfrm>
            <a:off x="6153912" y="2706624"/>
            <a:ext cx="553212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door · book · pen · school · house</a:t>
            </a:r>
            <a:endParaRPr lang="en-US" sz="950" dirty="0"/>
          </a:p>
        </p:txBody>
      </p:sp>
      <p:sp>
        <p:nvSpPr>
          <p:cNvPr id="21" name="Text 18"/>
          <p:cNvSpPr txBox="1"/>
          <p:nvPr/>
        </p:nvSpPr>
        <p:spPr>
          <a:xfrm>
            <a:off x="548640" y="2286000"/>
            <a:ext cx="5468112"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مُعَلِّمٌ · طَالِبٌ · يَدٌ · عَيْنٌ · كَلِمَةٌ</a:t>
            </a:r>
            <a:endParaRPr lang="ar-SA" sz="2100" dirty="0"/>
          </a:p>
        </p:txBody>
      </p:sp>
      <p:sp>
        <p:nvSpPr>
          <p:cNvPr id="22" name="Text 19"/>
          <p:cNvSpPr txBox="1"/>
          <p:nvPr/>
        </p:nvSpPr>
        <p:spPr>
          <a:xfrm>
            <a:off x="502920" y="2706624"/>
            <a:ext cx="55595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teacher · student · hand · eye · word</a:t>
            </a:r>
            <a:endParaRPr lang="en-US" sz="95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5" name="Text 2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One mark for each whole word (letters, joins, dots and marks). Record repeated errors as L · J · D · M.</a:t>
            </a:r>
            <a:endParaRPr lang="en-US" sz="11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14 / 23</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F1-L12 · F1 Assessment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PART B2 · 5 MARKS · VOWELLED READING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ea typeface="Cambria" pitchFamily="34" charset="-122"/>
                <a:cs typeface="Cambria" pitchFamily="34" charset="-120"/>
              </a:rPr>
              <a:t>B2 · Choose the closest transliteration</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قِرَاءَةُ كَلِمَاتٍ مَشْكُولَةٍ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4 · Lesson 3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Choose the closest transliteration.</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بَاب</a:t>
            </a:r>
            <a:endParaRPr lang="ar-SA" sz="22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bab</a:t>
            </a:r>
            <a:endParaRPr lang="en-US" sz="12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bāb</a:t>
            </a:r>
            <a:endParaRPr lang="en-US" sz="12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bib</a:t>
            </a:r>
            <a:endParaRPr lang="en-US" sz="1250" dirty="0"/>
          </a:p>
        </p:txBody>
      </p:sp>
      <p:sp>
        <p:nvSpPr>
          <p:cNvPr id="29" name="Shape 26"/>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4404360"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2" name="Text 29"/>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Choose the closest transliteration.</a:t>
            </a:r>
            <a:endParaRPr lang="en-US" sz="1200" dirty="0"/>
          </a:p>
        </p:txBody>
      </p:sp>
      <p:sp>
        <p:nvSpPr>
          <p:cNvPr id="33" name="Text 30"/>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مَدْرَسَة</a:t>
            </a:r>
            <a:endParaRPr lang="ar-SA" sz="220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mudarrisa</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midrāsa</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madrasa</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6" name="Text 43"/>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Choose the closest transliteration.</a:t>
            </a:r>
            <a:endParaRPr lang="en-US" sz="1200" dirty="0"/>
          </a:p>
        </p:txBody>
      </p:sp>
      <p:sp>
        <p:nvSpPr>
          <p:cNvPr id="47" name="Text 44"/>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مُعَلِّم</a:t>
            </a:r>
            <a:endParaRPr lang="ar-SA" sz="2200" dirty="0"/>
          </a:p>
        </p:txBody>
      </p:sp>
      <p:sp>
        <p:nvSpPr>
          <p:cNvPr id="48" name="Shape 45"/>
          <p:cNvSpPr/>
          <p:nvPr/>
        </p:nvSpPr>
        <p:spPr>
          <a:xfrm>
            <a:off x="8278368" y="25328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0" name="Text 47"/>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muʿallim</a:t>
            </a:r>
            <a:endParaRPr lang="en-US" sz="1250" dirty="0"/>
          </a:p>
        </p:txBody>
      </p:sp>
      <p:sp>
        <p:nvSpPr>
          <p:cNvPr id="51" name="Shape 48"/>
          <p:cNvSpPr/>
          <p:nvPr/>
        </p:nvSpPr>
        <p:spPr>
          <a:xfrm>
            <a:off x="8278368" y="29900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3" name="Text 50"/>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maʿlam</a:t>
            </a:r>
            <a:endParaRPr lang="en-US" sz="1250" dirty="0"/>
          </a:p>
        </p:txBody>
      </p:sp>
      <p:sp>
        <p:nvSpPr>
          <p:cNvPr id="54" name="Shape 51"/>
          <p:cNvSpPr/>
          <p:nvPr/>
        </p:nvSpPr>
        <p:spPr>
          <a:xfrm>
            <a:off x="8278368" y="3447288"/>
            <a:ext cx="256032" cy="256032"/>
          </a:xfrm>
          <a:prstGeom prst="ellipse">
            <a:avLst/>
          </a:prstGeom>
          <a:solidFill>
            <a:srgbClr val="F4F1EA"/>
          </a:solidFill>
          <a:ln w="12700">
            <a:solidFill>
              <a:srgbClr val="F4F1EA"/>
            </a:solidFill>
            <a:prstDash val="solid"/>
          </a:ln>
        </p:spPr>
      </p:sp>
      <p:sp>
        <p:nvSpPr>
          <p:cNvPr id="55" name="Text 52"/>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6" name="Text 53"/>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muʿālim</a:t>
            </a:r>
            <a:endParaRPr lang="en-US" sz="1250" dirty="0"/>
          </a:p>
        </p:txBody>
      </p:sp>
      <p:sp>
        <p:nvSpPr>
          <p:cNvPr id="57" name="Shape 54"/>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585216"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0" name="Text 57"/>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Choose the closest transliteration.</a:t>
            </a:r>
            <a:endParaRPr lang="en-US" sz="1200" dirty="0"/>
          </a:p>
        </p:txBody>
      </p:sp>
      <p:sp>
        <p:nvSpPr>
          <p:cNvPr id="61" name="Text 58"/>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عَيْن</a:t>
            </a:r>
            <a:endParaRPr lang="ar-SA" sz="2200" dirty="0"/>
          </a:p>
        </p:txBody>
      </p:sp>
      <p:sp>
        <p:nvSpPr>
          <p:cNvPr id="62" name="Shape 59"/>
          <p:cNvSpPr/>
          <p:nvPr/>
        </p:nvSpPr>
        <p:spPr>
          <a:xfrm>
            <a:off x="640080" y="48737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4" name="Text 61"/>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ʿīn</a:t>
            </a:r>
            <a:endParaRPr lang="en-US" sz="1250" dirty="0"/>
          </a:p>
        </p:txBody>
      </p:sp>
      <p:sp>
        <p:nvSpPr>
          <p:cNvPr id="65" name="Shape 62"/>
          <p:cNvSpPr/>
          <p:nvPr/>
        </p:nvSpPr>
        <p:spPr>
          <a:xfrm>
            <a:off x="640080" y="53309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7" name="Text 64"/>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ʿayn</a:t>
            </a:r>
            <a:endParaRPr lang="en-US" sz="1250" dirty="0"/>
          </a:p>
        </p:txBody>
      </p:sp>
      <p:sp>
        <p:nvSpPr>
          <p:cNvPr id="68" name="Shape 65"/>
          <p:cNvSpPr/>
          <p:nvPr/>
        </p:nvSpPr>
        <p:spPr>
          <a:xfrm>
            <a:off x="640080" y="5788152"/>
            <a:ext cx="256032" cy="256032"/>
          </a:xfrm>
          <a:prstGeom prst="ellipse">
            <a:avLst/>
          </a:prstGeom>
          <a:solidFill>
            <a:srgbClr val="F4F1EA"/>
          </a:solidFill>
          <a:ln w="12700">
            <a:solidFill>
              <a:srgbClr val="F4F1EA"/>
            </a:solidFill>
            <a:prstDash val="solid"/>
          </a:ln>
        </p:spPr>
      </p:sp>
      <p:sp>
        <p:nvSpPr>
          <p:cNvPr id="69" name="Text 66"/>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0" name="Text 67"/>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ghayn</a:t>
            </a:r>
            <a:endParaRPr lang="en-US" sz="1250" dirty="0"/>
          </a:p>
        </p:txBody>
      </p:sp>
      <p:sp>
        <p:nvSpPr>
          <p:cNvPr id="71" name="Shape 68"/>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2" name="Shape 69"/>
          <p:cNvSpPr/>
          <p:nvPr/>
        </p:nvSpPr>
        <p:spPr>
          <a:xfrm>
            <a:off x="4404360" y="4288536"/>
            <a:ext cx="310896" cy="310896"/>
          </a:xfrm>
          <a:prstGeom prst="ellipse">
            <a:avLst/>
          </a:prstGeom>
          <a:solidFill>
            <a:srgbClr val="1B3B6F"/>
          </a:solidFill>
          <a:ln w="12700">
            <a:solidFill>
              <a:srgbClr val="1B3B6F"/>
            </a:solidFill>
            <a:prstDash val="solid"/>
          </a:ln>
        </p:spPr>
      </p:sp>
      <p:sp>
        <p:nvSpPr>
          <p:cNvPr id="73" name="Text 70"/>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4" name="Text 71"/>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Choose the closest transliteration.</a:t>
            </a:r>
            <a:endParaRPr lang="en-US" sz="1200" dirty="0"/>
          </a:p>
        </p:txBody>
      </p:sp>
      <p:sp>
        <p:nvSpPr>
          <p:cNvPr id="75" name="Text 72"/>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ثَلَاثَة</a:t>
            </a:r>
            <a:endParaRPr lang="ar-SA" sz="2200" dirty="0"/>
          </a:p>
        </p:txBody>
      </p:sp>
      <p:sp>
        <p:nvSpPr>
          <p:cNvPr id="76" name="Shape 73"/>
          <p:cNvSpPr/>
          <p:nvPr/>
        </p:nvSpPr>
        <p:spPr>
          <a:xfrm>
            <a:off x="4459224" y="48737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8" name="Text 75"/>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thalātha</a:t>
            </a:r>
            <a:endParaRPr lang="en-US" sz="1250" dirty="0"/>
          </a:p>
        </p:txBody>
      </p:sp>
      <p:sp>
        <p:nvSpPr>
          <p:cNvPr id="79" name="Shape 76"/>
          <p:cNvSpPr/>
          <p:nvPr/>
        </p:nvSpPr>
        <p:spPr>
          <a:xfrm>
            <a:off x="4459224" y="53309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1" name="Text 78"/>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talāta</a:t>
            </a:r>
            <a:endParaRPr lang="en-US" sz="1250" dirty="0"/>
          </a:p>
        </p:txBody>
      </p:sp>
      <p:sp>
        <p:nvSpPr>
          <p:cNvPr id="82" name="Shape 79"/>
          <p:cNvSpPr/>
          <p:nvPr/>
        </p:nvSpPr>
        <p:spPr>
          <a:xfrm>
            <a:off x="4459224" y="5788152"/>
            <a:ext cx="256032" cy="256032"/>
          </a:xfrm>
          <a:prstGeom prst="ellipse">
            <a:avLst/>
          </a:prstGeom>
          <a:solidFill>
            <a:srgbClr val="F4F1EA"/>
          </a:solidFill>
          <a:ln w="12700">
            <a:solidFill>
              <a:srgbClr val="F4F1EA"/>
            </a:solidFill>
            <a:prstDash val="solid"/>
          </a:ln>
        </p:spPr>
      </p:sp>
      <p:sp>
        <p:nvSpPr>
          <p:cNvPr id="83" name="Text 80"/>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4" name="Text 81"/>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thulūtha</a:t>
            </a:r>
            <a:endParaRPr lang="en-US" sz="1250" dirty="0"/>
          </a:p>
        </p:txBody>
      </p:sp>
      <p:sp>
        <p:nvSpPr>
          <p:cNvPr id="85" name="Shape 82"/>
          <p:cNvSpPr/>
          <p:nvPr/>
        </p:nvSpPr>
        <p:spPr>
          <a:xfrm>
            <a:off x="8095488" y="4151376"/>
            <a:ext cx="3636264"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86" name="Text 83"/>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KEY</a:t>
            </a:r>
            <a:endParaRPr lang="en-US" sz="1000" dirty="0"/>
          </a:p>
        </p:txBody>
      </p:sp>
      <p:sp>
        <p:nvSpPr>
          <p:cNvPr id="87" name="Text 84"/>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ā = long alif sound</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ʿ = the letter ʿayn</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doubled letters = shadda</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th = the letter thāʾ</a:t>
            </a:r>
            <a:endParaRPr lang="en-US" sz="1250" dirty="0"/>
          </a:p>
        </p:txBody>
      </p:sp>
      <p:sp>
        <p:nvSpPr>
          <p:cNvPr id="88" name="Text 8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15 / 23</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F1-L12 · F1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PART B2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B2 ·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4 · Lesson 3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Choose the closest transliteration.</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بَاب</a:t>
            </a:r>
            <a:endParaRPr lang="ar-SA" sz="2200" dirty="0"/>
          </a:p>
        </p:txBody>
      </p:sp>
      <p:sp>
        <p:nvSpPr>
          <p:cNvPr id="20" name="Shape 17"/>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bab</a:t>
            </a:r>
            <a:endParaRPr lang="en-US" sz="1250" dirty="0"/>
          </a:p>
        </p:txBody>
      </p:sp>
      <p:sp>
        <p:nvSpPr>
          <p:cNvPr id="23" name="Shape 20"/>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1"/>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6" name="Text 23"/>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bāb</a:t>
            </a:r>
            <a:endParaRPr lang="en-US" sz="1250" dirty="0"/>
          </a:p>
        </p:txBody>
      </p:sp>
      <p:sp>
        <p:nvSpPr>
          <p:cNvPr id="27" name="Shape 24"/>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9" name="Text 26"/>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bib</a:t>
            </a:r>
            <a:endParaRPr lang="en-US" sz="1250" dirty="0"/>
          </a:p>
        </p:txBody>
      </p:sp>
      <p:sp>
        <p:nvSpPr>
          <p:cNvPr id="30" name="Text 27"/>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written alif makes long ā.</a:t>
            </a:r>
            <a:endParaRPr lang="en-US" sz="1050" dirty="0"/>
          </a:p>
        </p:txBody>
      </p:sp>
      <p:sp>
        <p:nvSpPr>
          <p:cNvPr id="31" name="Shape 28"/>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4" name="Text 31"/>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Choose the closest transliteration.</a:t>
            </a:r>
            <a:endParaRPr lang="en-US" sz="1200" dirty="0"/>
          </a:p>
        </p:txBody>
      </p:sp>
      <p:sp>
        <p:nvSpPr>
          <p:cNvPr id="35" name="Text 32"/>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مَدْرَسَة</a:t>
            </a:r>
            <a:endParaRPr lang="ar-SA" sz="220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mudarrisa</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midrāsa</a:t>
            </a:r>
            <a:endParaRPr lang="en-US" sz="125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madrasa</a:t>
            </a:r>
            <a:endParaRPr lang="en-US" sz="125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visible vowels support madrasa.</a:t>
            </a:r>
            <a:endParaRPr lang="en-US" sz="10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50" name="Text 47"/>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Choose the closest transliteration.</a:t>
            </a:r>
            <a:endParaRPr lang="en-US" sz="1200" dirty="0"/>
          </a:p>
        </p:txBody>
      </p:sp>
      <p:sp>
        <p:nvSpPr>
          <p:cNvPr id="51" name="Text 48"/>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مُعَلِّم</a:t>
            </a:r>
            <a:endParaRPr lang="ar-SA" sz="2200" dirty="0"/>
          </a:p>
        </p:txBody>
      </p:sp>
      <p:sp>
        <p:nvSpPr>
          <p:cNvPr id="52" name="Shape 49"/>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8278368" y="249021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55" name="Text 52"/>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muʿallim</a:t>
            </a:r>
            <a:endParaRPr lang="en-US" sz="1250" dirty="0"/>
          </a:p>
        </p:txBody>
      </p:sp>
      <p:sp>
        <p:nvSpPr>
          <p:cNvPr id="56" name="Shape 53"/>
          <p:cNvSpPr/>
          <p:nvPr/>
        </p:nvSpPr>
        <p:spPr>
          <a:xfrm>
            <a:off x="8278368" y="286207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8" name="Text 55"/>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maʿlam</a:t>
            </a:r>
            <a:endParaRPr lang="en-US" sz="1250" dirty="0"/>
          </a:p>
        </p:txBody>
      </p:sp>
      <p:sp>
        <p:nvSpPr>
          <p:cNvPr id="59" name="Shape 56"/>
          <p:cNvSpPr/>
          <p:nvPr/>
        </p:nvSpPr>
        <p:spPr>
          <a:xfrm>
            <a:off x="8278368" y="3233928"/>
            <a:ext cx="256032" cy="256032"/>
          </a:xfrm>
          <a:prstGeom prst="ellipse">
            <a:avLst/>
          </a:prstGeom>
          <a:solidFill>
            <a:srgbClr val="C9CED6"/>
          </a:solidFill>
          <a:ln w="12700">
            <a:solidFill>
              <a:srgbClr val="C9CED6"/>
            </a:solidFill>
            <a:prstDash val="solid"/>
          </a:ln>
        </p:spPr>
      </p:sp>
      <p:sp>
        <p:nvSpPr>
          <p:cNvPr id="60" name="Text 57"/>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1" name="Text 58"/>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muʿālim</a:t>
            </a:r>
            <a:endParaRPr lang="en-US" sz="1250" dirty="0"/>
          </a:p>
        </p:txBody>
      </p:sp>
      <p:sp>
        <p:nvSpPr>
          <p:cNvPr id="62" name="Text 59"/>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Ḍamma gives mu-; shadda doubles l.</a:t>
            </a:r>
            <a:endParaRPr lang="en-US" sz="1050" dirty="0"/>
          </a:p>
        </p:txBody>
      </p:sp>
      <p:sp>
        <p:nvSpPr>
          <p:cNvPr id="63" name="Shape 60"/>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585216"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6" name="Text 63"/>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Choose the closest transliteration.</a:t>
            </a:r>
            <a:endParaRPr lang="en-US" sz="1200" dirty="0"/>
          </a:p>
        </p:txBody>
      </p:sp>
      <p:sp>
        <p:nvSpPr>
          <p:cNvPr id="67" name="Text 64"/>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عَيْن</a:t>
            </a:r>
            <a:endParaRPr lang="ar-SA" sz="2200" dirty="0"/>
          </a:p>
        </p:txBody>
      </p:sp>
      <p:sp>
        <p:nvSpPr>
          <p:cNvPr id="68" name="Shape 65"/>
          <p:cNvSpPr/>
          <p:nvPr/>
        </p:nvSpPr>
        <p:spPr>
          <a:xfrm>
            <a:off x="640080" y="4831080"/>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0" name="Text 67"/>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ʿīn</a:t>
            </a:r>
            <a:endParaRPr lang="en-US" sz="1250" dirty="0"/>
          </a:p>
        </p:txBody>
      </p:sp>
      <p:sp>
        <p:nvSpPr>
          <p:cNvPr id="71" name="Shape 68"/>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2" name="Shape 69"/>
          <p:cNvSpPr/>
          <p:nvPr/>
        </p:nvSpPr>
        <p:spPr>
          <a:xfrm>
            <a:off x="640080" y="5202936"/>
            <a:ext cx="256032" cy="256032"/>
          </a:xfrm>
          <a:prstGeom prst="ellipse">
            <a:avLst/>
          </a:prstGeom>
          <a:solidFill>
            <a:srgbClr val="2E8B57"/>
          </a:solidFill>
          <a:ln w="12700">
            <a:solidFill>
              <a:srgbClr val="2E8B57"/>
            </a:solidFill>
            <a:prstDash val="solid"/>
          </a:ln>
        </p:spPr>
      </p:sp>
      <p:sp>
        <p:nvSpPr>
          <p:cNvPr id="73" name="Text 70"/>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74" name="Text 71"/>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ʿayn</a:t>
            </a:r>
            <a:endParaRPr lang="en-US" sz="1250" dirty="0"/>
          </a:p>
        </p:txBody>
      </p:sp>
      <p:sp>
        <p:nvSpPr>
          <p:cNvPr id="75" name="Shape 72"/>
          <p:cNvSpPr/>
          <p:nvPr/>
        </p:nvSpPr>
        <p:spPr>
          <a:xfrm>
            <a:off x="640080" y="5574792"/>
            <a:ext cx="256032" cy="256032"/>
          </a:xfrm>
          <a:prstGeom prst="ellipse">
            <a:avLst/>
          </a:prstGeom>
          <a:solidFill>
            <a:srgbClr val="C9CED6"/>
          </a:solidFill>
          <a:ln w="12700">
            <a:solidFill>
              <a:srgbClr val="C9CED6"/>
            </a:solidFill>
            <a:prstDash val="solid"/>
          </a:ln>
        </p:spPr>
      </p:sp>
      <p:sp>
        <p:nvSpPr>
          <p:cNvPr id="76" name="Text 73"/>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7" name="Text 74"/>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ghayn</a:t>
            </a:r>
            <a:endParaRPr lang="en-US" sz="1250" dirty="0"/>
          </a:p>
        </p:txBody>
      </p:sp>
      <p:sp>
        <p:nvSpPr>
          <p:cNvPr id="78" name="Text 75"/>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Fatḥa + yāʾ = ay.</a:t>
            </a:r>
            <a:endParaRPr lang="en-US" sz="1050" dirty="0"/>
          </a:p>
        </p:txBody>
      </p:sp>
      <p:sp>
        <p:nvSpPr>
          <p:cNvPr id="79" name="Shape 7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0" name="Shape 77"/>
          <p:cNvSpPr/>
          <p:nvPr/>
        </p:nvSpPr>
        <p:spPr>
          <a:xfrm>
            <a:off x="4404360" y="4288536"/>
            <a:ext cx="310896" cy="310896"/>
          </a:xfrm>
          <a:prstGeom prst="ellipse">
            <a:avLst/>
          </a:prstGeom>
          <a:solidFill>
            <a:srgbClr val="1B3B6F"/>
          </a:solidFill>
          <a:ln w="12700">
            <a:solidFill>
              <a:srgbClr val="1B3B6F"/>
            </a:solidFill>
            <a:prstDash val="solid"/>
          </a:ln>
        </p:spPr>
      </p:sp>
      <p:sp>
        <p:nvSpPr>
          <p:cNvPr id="81" name="Text 7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82" name="Text 79"/>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Choose the closest transliteration.</a:t>
            </a:r>
            <a:endParaRPr lang="en-US" sz="1200" dirty="0"/>
          </a:p>
        </p:txBody>
      </p:sp>
      <p:sp>
        <p:nvSpPr>
          <p:cNvPr id="83" name="Text 80"/>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ثَلَاثَة</a:t>
            </a:r>
            <a:endParaRPr lang="ar-SA" sz="2200" dirty="0"/>
          </a:p>
        </p:txBody>
      </p:sp>
      <p:sp>
        <p:nvSpPr>
          <p:cNvPr id="84" name="Shape 81"/>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5" name="Shape 82"/>
          <p:cNvSpPr/>
          <p:nvPr/>
        </p:nvSpPr>
        <p:spPr>
          <a:xfrm>
            <a:off x="4459224" y="4831080"/>
            <a:ext cx="256032" cy="256032"/>
          </a:xfrm>
          <a:prstGeom prst="ellipse">
            <a:avLst/>
          </a:prstGeom>
          <a:solidFill>
            <a:srgbClr val="2E8B57"/>
          </a:solidFill>
          <a:ln w="12700">
            <a:solidFill>
              <a:srgbClr val="2E8B57"/>
            </a:solidFill>
            <a:prstDash val="solid"/>
          </a:ln>
        </p:spPr>
      </p:sp>
      <p:sp>
        <p:nvSpPr>
          <p:cNvPr id="86" name="Text 83"/>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87" name="Text 84"/>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thalātha</a:t>
            </a:r>
            <a:endParaRPr lang="en-US" sz="1250" dirty="0"/>
          </a:p>
        </p:txBody>
      </p:sp>
      <p:sp>
        <p:nvSpPr>
          <p:cNvPr id="88" name="Shape 85"/>
          <p:cNvSpPr/>
          <p:nvPr/>
        </p:nvSpPr>
        <p:spPr>
          <a:xfrm>
            <a:off x="4459224" y="5202936"/>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90" name="Text 87"/>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talāta</a:t>
            </a:r>
            <a:endParaRPr lang="en-US" sz="1250" dirty="0"/>
          </a:p>
        </p:txBody>
      </p:sp>
      <p:sp>
        <p:nvSpPr>
          <p:cNvPr id="91" name="Shape 88"/>
          <p:cNvSpPr/>
          <p:nvPr/>
        </p:nvSpPr>
        <p:spPr>
          <a:xfrm>
            <a:off x="4459224" y="5574792"/>
            <a:ext cx="256032" cy="256032"/>
          </a:xfrm>
          <a:prstGeom prst="ellipse">
            <a:avLst/>
          </a:prstGeom>
          <a:solidFill>
            <a:srgbClr val="C9CED6"/>
          </a:solidFill>
          <a:ln w="12700">
            <a:solidFill>
              <a:srgbClr val="C9CED6"/>
            </a:solidFill>
            <a:prstDash val="solid"/>
          </a:ln>
        </p:spPr>
      </p:sp>
      <p:sp>
        <p:nvSpPr>
          <p:cNvPr id="92" name="Text 89"/>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93" name="Text 90"/>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thulūtha</a:t>
            </a:r>
            <a:endParaRPr lang="en-US" sz="1250" dirty="0"/>
          </a:p>
        </p:txBody>
      </p:sp>
      <p:sp>
        <p:nvSpPr>
          <p:cNvPr id="94" name="Text 91"/>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Thāʾ is th; alif gives long ā.</a:t>
            </a:r>
            <a:endParaRPr lang="en-US" sz="1050" dirty="0"/>
          </a:p>
        </p:txBody>
      </p:sp>
      <p:sp>
        <p:nvSpPr>
          <p:cNvPr id="95" name="Shape 92"/>
          <p:cNvSpPr/>
          <p:nvPr/>
        </p:nvSpPr>
        <p:spPr>
          <a:xfrm>
            <a:off x="8095488" y="4151376"/>
            <a:ext cx="3636264"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96" name="Text 93"/>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KEY</a:t>
            </a:r>
            <a:endParaRPr lang="en-US" sz="1000" dirty="0"/>
          </a:p>
        </p:txBody>
      </p:sp>
      <p:sp>
        <p:nvSpPr>
          <p:cNvPr id="97" name="Text 94"/>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ā = long alif sound</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ʿ = the letter ʿayn</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doubled letters = shadda</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th = the letter thāʾ</a:t>
            </a:r>
            <a:endParaRPr lang="en-US" sz="1250" dirty="0"/>
          </a:p>
        </p:txBody>
      </p:sp>
      <p:sp>
        <p:nvSpPr>
          <p:cNvPr id="98" name="Text 9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16 / 23</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F1-L12 · F1 Assessment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PART B3 · 5 MARKS · UNVOWELLED SIGNS (WEBSITE) · USE SCOPE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B3 · Read the signs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لَافِتَاتٌ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4 · Lesson 3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Choose the meaning.</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مدرسة</a:t>
            </a:r>
            <a:endParaRPr lang="ar-SA" sz="22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hospital</a:t>
            </a:r>
            <a:endParaRPr lang="en-US" sz="12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restaurant</a:t>
            </a:r>
            <a:endParaRPr lang="en-US" sz="12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school</a:t>
            </a:r>
            <a:endParaRPr lang="en-US" sz="1250" dirty="0"/>
          </a:p>
        </p:txBody>
      </p:sp>
      <p:sp>
        <p:nvSpPr>
          <p:cNvPr id="29" name="Shape 26"/>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4404360"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2" name="Text 29"/>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Choose the meaning.</a:t>
            </a:r>
            <a:endParaRPr lang="en-US" sz="1200" dirty="0"/>
          </a:p>
        </p:txBody>
      </p:sp>
      <p:sp>
        <p:nvSpPr>
          <p:cNvPr id="33" name="Text 30"/>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مطعم</a:t>
            </a:r>
            <a:endParaRPr lang="ar-SA" sz="220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restaurant</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station</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street</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6" name="Text 43"/>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Choose the meaning.</a:t>
            </a:r>
            <a:endParaRPr lang="en-US" sz="1200" dirty="0"/>
          </a:p>
        </p:txBody>
      </p:sp>
      <p:sp>
        <p:nvSpPr>
          <p:cNvPr id="47" name="Text 44"/>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مستشفى</a:t>
            </a:r>
            <a:endParaRPr lang="ar-SA" sz="2200" dirty="0"/>
          </a:p>
        </p:txBody>
      </p:sp>
      <p:sp>
        <p:nvSpPr>
          <p:cNvPr id="48" name="Shape 45"/>
          <p:cNvSpPr/>
          <p:nvPr/>
        </p:nvSpPr>
        <p:spPr>
          <a:xfrm>
            <a:off x="8278368" y="25328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0" name="Text 47"/>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hotel</a:t>
            </a:r>
            <a:endParaRPr lang="en-US" sz="1250" dirty="0"/>
          </a:p>
        </p:txBody>
      </p:sp>
      <p:sp>
        <p:nvSpPr>
          <p:cNvPr id="51" name="Shape 48"/>
          <p:cNvSpPr/>
          <p:nvPr/>
        </p:nvSpPr>
        <p:spPr>
          <a:xfrm>
            <a:off x="8278368" y="29900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3" name="Text 50"/>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hospital</a:t>
            </a:r>
            <a:endParaRPr lang="en-US" sz="1250" dirty="0"/>
          </a:p>
        </p:txBody>
      </p:sp>
      <p:sp>
        <p:nvSpPr>
          <p:cNvPr id="54" name="Shape 51"/>
          <p:cNvSpPr/>
          <p:nvPr/>
        </p:nvSpPr>
        <p:spPr>
          <a:xfrm>
            <a:off x="8278368" y="3447288"/>
            <a:ext cx="256032" cy="256032"/>
          </a:xfrm>
          <a:prstGeom prst="ellipse">
            <a:avLst/>
          </a:prstGeom>
          <a:solidFill>
            <a:srgbClr val="F4F1EA"/>
          </a:solidFill>
          <a:ln w="12700">
            <a:solidFill>
              <a:srgbClr val="F4F1EA"/>
            </a:solidFill>
            <a:prstDash val="solid"/>
          </a:ln>
        </p:spPr>
      </p:sp>
      <p:sp>
        <p:nvSpPr>
          <p:cNvPr id="55" name="Text 52"/>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6" name="Text 53"/>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mosque</a:t>
            </a:r>
            <a:endParaRPr lang="en-US" sz="1250" dirty="0"/>
          </a:p>
        </p:txBody>
      </p:sp>
      <p:sp>
        <p:nvSpPr>
          <p:cNvPr id="57" name="Shape 54"/>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585216"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0" name="Text 57"/>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Choose the meaning.</a:t>
            </a:r>
            <a:endParaRPr lang="en-US" sz="1200" dirty="0"/>
          </a:p>
        </p:txBody>
      </p:sp>
      <p:sp>
        <p:nvSpPr>
          <p:cNvPr id="61" name="Text 58"/>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محطة</a:t>
            </a:r>
            <a:endParaRPr lang="ar-SA" sz="2200" dirty="0"/>
          </a:p>
        </p:txBody>
      </p:sp>
      <p:sp>
        <p:nvSpPr>
          <p:cNvPr id="62" name="Shape 59"/>
          <p:cNvSpPr/>
          <p:nvPr/>
        </p:nvSpPr>
        <p:spPr>
          <a:xfrm>
            <a:off x="640080" y="48737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4" name="Text 61"/>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station</a:t>
            </a:r>
            <a:endParaRPr lang="en-US" sz="1250" dirty="0"/>
          </a:p>
        </p:txBody>
      </p:sp>
      <p:sp>
        <p:nvSpPr>
          <p:cNvPr id="65" name="Shape 62"/>
          <p:cNvSpPr/>
          <p:nvPr/>
        </p:nvSpPr>
        <p:spPr>
          <a:xfrm>
            <a:off x="640080" y="53309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7" name="Text 64"/>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bank</a:t>
            </a:r>
            <a:endParaRPr lang="en-US" sz="1250" dirty="0"/>
          </a:p>
        </p:txBody>
      </p:sp>
      <p:sp>
        <p:nvSpPr>
          <p:cNvPr id="68" name="Shape 65"/>
          <p:cNvSpPr/>
          <p:nvPr/>
        </p:nvSpPr>
        <p:spPr>
          <a:xfrm>
            <a:off x="640080" y="5788152"/>
            <a:ext cx="256032" cy="256032"/>
          </a:xfrm>
          <a:prstGeom prst="ellipse">
            <a:avLst/>
          </a:prstGeom>
          <a:solidFill>
            <a:srgbClr val="F4F1EA"/>
          </a:solidFill>
          <a:ln w="12700">
            <a:solidFill>
              <a:srgbClr val="F4F1EA"/>
            </a:solidFill>
            <a:prstDash val="solid"/>
          </a:ln>
        </p:spPr>
      </p:sp>
      <p:sp>
        <p:nvSpPr>
          <p:cNvPr id="69" name="Text 66"/>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0" name="Text 67"/>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school</a:t>
            </a:r>
            <a:endParaRPr lang="en-US" sz="1250" dirty="0"/>
          </a:p>
        </p:txBody>
      </p:sp>
      <p:sp>
        <p:nvSpPr>
          <p:cNvPr id="71" name="Shape 68"/>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2" name="Shape 69"/>
          <p:cNvSpPr/>
          <p:nvPr/>
        </p:nvSpPr>
        <p:spPr>
          <a:xfrm>
            <a:off x="4404360" y="4288536"/>
            <a:ext cx="310896" cy="310896"/>
          </a:xfrm>
          <a:prstGeom prst="ellipse">
            <a:avLst/>
          </a:prstGeom>
          <a:solidFill>
            <a:srgbClr val="1B3B6F"/>
          </a:solidFill>
          <a:ln w="12700">
            <a:solidFill>
              <a:srgbClr val="1B3B6F"/>
            </a:solidFill>
            <a:prstDash val="solid"/>
          </a:ln>
        </p:spPr>
      </p:sp>
      <p:sp>
        <p:nvSpPr>
          <p:cNvPr id="73" name="Text 70"/>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4" name="Text 71"/>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950" b="1" dirty="0">
                <a:solidFill>
                  <a:srgbClr val="1B3B6F"/>
                </a:solidFill>
                <a:latin typeface="Calibri" pitchFamily="34" charset="0"/>
                <a:ea typeface="Calibri" pitchFamily="34" charset="-122"/>
                <a:cs typeface="Calibri" pitchFamily="34" charset="-120"/>
              </a:rPr>
              <a:t>Which visible final shape is an evidence clue?</a:t>
            </a:r>
            <a:endParaRPr lang="en-US" sz="950" dirty="0"/>
          </a:p>
        </p:txBody>
      </p:sp>
      <p:sp>
        <p:nvSpPr>
          <p:cNvPr id="75" name="Text 72"/>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مستشفى</a:t>
            </a:r>
            <a:endParaRPr lang="ar-SA" sz="2200" dirty="0"/>
          </a:p>
        </p:txBody>
      </p:sp>
      <p:sp>
        <p:nvSpPr>
          <p:cNvPr id="76" name="Shape 73"/>
          <p:cNvSpPr/>
          <p:nvPr/>
        </p:nvSpPr>
        <p:spPr>
          <a:xfrm>
            <a:off x="4459224" y="48737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8" name="Text 75"/>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ة</a:t>
            </a:r>
            <a:endParaRPr lang="ar-SA" sz="2050" dirty="0"/>
          </a:p>
        </p:txBody>
      </p:sp>
      <p:sp>
        <p:nvSpPr>
          <p:cNvPr id="79" name="Shape 76"/>
          <p:cNvSpPr/>
          <p:nvPr/>
        </p:nvSpPr>
        <p:spPr>
          <a:xfrm>
            <a:off x="4459224" y="53309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1" name="Text 78"/>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و</a:t>
            </a:r>
            <a:endParaRPr lang="ar-SA" sz="2050" dirty="0"/>
          </a:p>
        </p:txBody>
      </p:sp>
      <p:sp>
        <p:nvSpPr>
          <p:cNvPr id="82" name="Shape 79"/>
          <p:cNvSpPr/>
          <p:nvPr/>
        </p:nvSpPr>
        <p:spPr>
          <a:xfrm>
            <a:off x="4459224" y="5788152"/>
            <a:ext cx="256032" cy="256032"/>
          </a:xfrm>
          <a:prstGeom prst="ellipse">
            <a:avLst/>
          </a:prstGeom>
          <a:solidFill>
            <a:srgbClr val="F4F1EA"/>
          </a:solidFill>
          <a:ln w="12700">
            <a:solidFill>
              <a:srgbClr val="F4F1EA"/>
            </a:solidFill>
            <a:prstDash val="solid"/>
          </a:ln>
        </p:spPr>
      </p:sp>
      <p:sp>
        <p:nvSpPr>
          <p:cNvPr id="83" name="Text 80"/>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4" name="Text 81"/>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ى</a:t>
            </a:r>
            <a:endParaRPr lang="ar-SA" sz="2050" dirty="0"/>
          </a:p>
        </p:txBody>
      </p:sp>
      <p:sp>
        <p:nvSpPr>
          <p:cNvPr id="85" name="Shape 82"/>
          <p:cNvSpPr/>
          <p:nvPr/>
        </p:nvSpPr>
        <p:spPr>
          <a:xfrm>
            <a:off x="8095488" y="4151376"/>
            <a:ext cx="3636264"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86" name="Text 83"/>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SCOPE</a:t>
            </a:r>
            <a:endParaRPr lang="en-US" sz="1000" dirty="0"/>
          </a:p>
        </p:txBody>
      </p:sp>
      <p:sp>
        <p:nvSpPr>
          <p:cNvPr id="87" name="Text 84"/>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Scan · Chunk · Observe</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Predict · Evaluate</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Private chat: B3: 1_ 2_ 3_ 4_ 5_</a:t>
            </a:r>
            <a:endParaRPr lang="en-US" sz="1250" dirty="0"/>
          </a:p>
        </p:txBody>
      </p:sp>
      <p:sp>
        <p:nvSpPr>
          <p:cNvPr id="88" name="Text 8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17 / 23</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F1-L12 · F1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PART B3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B3 ·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4 · Lesson 3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Choose the meaning.</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مدرسة</a:t>
            </a:r>
            <a:endParaRPr lang="ar-SA" sz="2200" dirty="0"/>
          </a:p>
        </p:txBody>
      </p:sp>
      <p:sp>
        <p:nvSpPr>
          <p:cNvPr id="20" name="Shape 17"/>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hospital</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restaurant</a:t>
            </a:r>
            <a:endParaRPr lang="en-US" sz="1250" dirty="0"/>
          </a:p>
        </p:txBody>
      </p:sp>
      <p:sp>
        <p:nvSpPr>
          <p:cNvPr id="26" name="Shape 23"/>
          <p:cNvSpPr/>
          <p:nvPr/>
        </p:nvSpPr>
        <p:spPr>
          <a:xfrm>
            <a:off x="548640" y="3197352"/>
            <a:ext cx="3453384" cy="347472"/>
          </a:xfrm>
          <a:prstGeom prst="roundRect">
            <a:avLst>
              <a:gd name="adj" fmla="val 15789"/>
            </a:avLst>
          </a:prstGeom>
          <a:solidFill>
            <a:srgbClr val="E6F4EC"/>
          </a:solidFill>
          <a:ln w="9525">
            <a:solidFill>
              <a:srgbClr val="2E8B57"/>
            </a:solidFill>
            <a:prstDash val="solid"/>
          </a:ln>
        </p:spPr>
      </p:sp>
      <p:sp>
        <p:nvSpPr>
          <p:cNvPr id="27" name="Shape 24"/>
          <p:cNvSpPr/>
          <p:nvPr/>
        </p:nvSpPr>
        <p:spPr>
          <a:xfrm>
            <a:off x="640080" y="3233928"/>
            <a:ext cx="256032" cy="256032"/>
          </a:xfrm>
          <a:prstGeom prst="ellipse">
            <a:avLst/>
          </a:prstGeom>
          <a:solidFill>
            <a:srgbClr val="2E8B57"/>
          </a:solidFill>
          <a:ln w="12700">
            <a:solidFill>
              <a:srgbClr val="2E8B57"/>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29" name="Text 26"/>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school</a:t>
            </a:r>
            <a:endParaRPr lang="en-US" sz="1250" dirty="0"/>
          </a:p>
        </p:txBody>
      </p:sp>
      <p:sp>
        <p:nvSpPr>
          <p:cNvPr id="30" name="Text 27"/>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Madrasa = school.</a:t>
            </a:r>
            <a:endParaRPr lang="en-US" sz="1050" dirty="0"/>
          </a:p>
        </p:txBody>
      </p:sp>
      <p:sp>
        <p:nvSpPr>
          <p:cNvPr id="31" name="Shape 28"/>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4" name="Text 31"/>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Choose the meaning.</a:t>
            </a:r>
            <a:endParaRPr lang="en-US" sz="1200" dirty="0"/>
          </a:p>
        </p:txBody>
      </p:sp>
      <p:sp>
        <p:nvSpPr>
          <p:cNvPr id="35" name="Text 32"/>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مطعم</a:t>
            </a:r>
            <a:endParaRPr lang="ar-SA" sz="2200" dirty="0"/>
          </a:p>
        </p:txBody>
      </p:sp>
      <p:sp>
        <p:nvSpPr>
          <p:cNvPr id="36"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7"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8"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9" name="Text 36"/>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restaurant</a:t>
            </a:r>
            <a:endParaRPr lang="en-US" sz="1250" dirty="0"/>
          </a:p>
        </p:txBody>
      </p:sp>
      <p:sp>
        <p:nvSpPr>
          <p:cNvPr id="40"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1"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2" name="Text 39"/>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station</a:t>
            </a:r>
            <a:endParaRPr lang="en-US" sz="1250" dirty="0"/>
          </a:p>
        </p:txBody>
      </p:sp>
      <p:sp>
        <p:nvSpPr>
          <p:cNvPr id="43"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street</a:t>
            </a:r>
            <a:endParaRPr lang="en-US" sz="125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Maṭʿam = restaurant.</a:t>
            </a:r>
            <a:endParaRPr lang="en-US" sz="10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50" name="Text 47"/>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Choose the meaning.</a:t>
            </a:r>
            <a:endParaRPr lang="en-US" sz="1200" dirty="0"/>
          </a:p>
        </p:txBody>
      </p:sp>
      <p:sp>
        <p:nvSpPr>
          <p:cNvPr id="51" name="Text 48"/>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مستشفى</a:t>
            </a:r>
            <a:endParaRPr lang="ar-SA" sz="2200" dirty="0"/>
          </a:p>
        </p:txBody>
      </p:sp>
      <p:sp>
        <p:nvSpPr>
          <p:cNvPr id="52" name="Shape 49"/>
          <p:cNvSpPr/>
          <p:nvPr/>
        </p:nvSpPr>
        <p:spPr>
          <a:xfrm>
            <a:off x="8278368" y="2490216"/>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hotel</a:t>
            </a:r>
            <a:endParaRPr lang="en-US" sz="1250" dirty="0"/>
          </a:p>
        </p:txBody>
      </p:sp>
      <p:sp>
        <p:nvSpPr>
          <p:cNvPr id="55" name="Shape 52"/>
          <p:cNvSpPr/>
          <p:nvPr/>
        </p:nvSpPr>
        <p:spPr>
          <a:xfrm>
            <a:off x="8186928" y="2825496"/>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2862072"/>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58" name="Text 55"/>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hospital</a:t>
            </a:r>
            <a:endParaRPr lang="en-US" sz="1250" dirty="0"/>
          </a:p>
        </p:txBody>
      </p:sp>
      <p:sp>
        <p:nvSpPr>
          <p:cNvPr id="59" name="Shape 56"/>
          <p:cNvSpPr/>
          <p:nvPr/>
        </p:nvSpPr>
        <p:spPr>
          <a:xfrm>
            <a:off x="8278368" y="3233928"/>
            <a:ext cx="256032" cy="256032"/>
          </a:xfrm>
          <a:prstGeom prst="ellipse">
            <a:avLst/>
          </a:prstGeom>
          <a:solidFill>
            <a:srgbClr val="C9CED6"/>
          </a:solidFill>
          <a:ln w="12700">
            <a:solidFill>
              <a:srgbClr val="C9CED6"/>
            </a:solidFill>
            <a:prstDash val="solid"/>
          </a:ln>
        </p:spPr>
      </p:sp>
      <p:sp>
        <p:nvSpPr>
          <p:cNvPr id="60" name="Text 57"/>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1" name="Text 58"/>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mosque</a:t>
            </a:r>
            <a:endParaRPr lang="en-US" sz="1250" dirty="0"/>
          </a:p>
        </p:txBody>
      </p:sp>
      <p:sp>
        <p:nvSpPr>
          <p:cNvPr id="62" name="Text 59"/>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Mustashfā = hospital.</a:t>
            </a:r>
            <a:endParaRPr lang="en-US" sz="1050" dirty="0"/>
          </a:p>
        </p:txBody>
      </p:sp>
      <p:sp>
        <p:nvSpPr>
          <p:cNvPr id="63" name="Shape 60"/>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585216"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6" name="Text 63"/>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Choose the meaning.</a:t>
            </a:r>
            <a:endParaRPr lang="en-US" sz="1200" dirty="0"/>
          </a:p>
        </p:txBody>
      </p:sp>
      <p:sp>
        <p:nvSpPr>
          <p:cNvPr id="67" name="Text 64"/>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محطة</a:t>
            </a:r>
            <a:endParaRPr lang="ar-SA" sz="2200" dirty="0"/>
          </a:p>
        </p:txBody>
      </p:sp>
      <p:sp>
        <p:nvSpPr>
          <p:cNvPr id="68" name="Shape 65"/>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9" name="Shape 66"/>
          <p:cNvSpPr/>
          <p:nvPr/>
        </p:nvSpPr>
        <p:spPr>
          <a:xfrm>
            <a:off x="640080" y="4831080"/>
            <a:ext cx="256032" cy="256032"/>
          </a:xfrm>
          <a:prstGeom prst="ellipse">
            <a:avLst/>
          </a:prstGeom>
          <a:solidFill>
            <a:srgbClr val="2E8B57"/>
          </a:solidFill>
          <a:ln w="12700">
            <a:solidFill>
              <a:srgbClr val="2E8B57"/>
            </a:solidFill>
            <a:prstDash val="solid"/>
          </a:ln>
        </p:spPr>
      </p:sp>
      <p:sp>
        <p:nvSpPr>
          <p:cNvPr id="70" name="Text 6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71" name="Text 68"/>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station</a:t>
            </a:r>
            <a:endParaRPr lang="en-US" sz="1250" dirty="0"/>
          </a:p>
        </p:txBody>
      </p:sp>
      <p:sp>
        <p:nvSpPr>
          <p:cNvPr id="72" name="Shape 69"/>
          <p:cNvSpPr/>
          <p:nvPr/>
        </p:nvSpPr>
        <p:spPr>
          <a:xfrm>
            <a:off x="640080" y="5202936"/>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4" name="Text 71"/>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bank</a:t>
            </a:r>
            <a:endParaRPr lang="en-US" sz="1250" dirty="0"/>
          </a:p>
        </p:txBody>
      </p:sp>
      <p:sp>
        <p:nvSpPr>
          <p:cNvPr id="75" name="Shape 72"/>
          <p:cNvSpPr/>
          <p:nvPr/>
        </p:nvSpPr>
        <p:spPr>
          <a:xfrm>
            <a:off x="640080" y="5574792"/>
            <a:ext cx="256032" cy="256032"/>
          </a:xfrm>
          <a:prstGeom prst="ellipse">
            <a:avLst/>
          </a:prstGeom>
          <a:solidFill>
            <a:srgbClr val="C9CED6"/>
          </a:solidFill>
          <a:ln w="12700">
            <a:solidFill>
              <a:srgbClr val="C9CED6"/>
            </a:solidFill>
            <a:prstDash val="solid"/>
          </a:ln>
        </p:spPr>
      </p:sp>
      <p:sp>
        <p:nvSpPr>
          <p:cNvPr id="76" name="Text 73"/>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7" name="Text 74"/>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school</a:t>
            </a:r>
            <a:endParaRPr lang="en-US" sz="1250" dirty="0"/>
          </a:p>
        </p:txBody>
      </p:sp>
      <p:sp>
        <p:nvSpPr>
          <p:cNvPr id="78" name="Text 75"/>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Maḥaṭṭa = station.</a:t>
            </a:r>
            <a:endParaRPr lang="en-US" sz="1050" dirty="0"/>
          </a:p>
        </p:txBody>
      </p:sp>
      <p:sp>
        <p:nvSpPr>
          <p:cNvPr id="79" name="Shape 7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0" name="Shape 77"/>
          <p:cNvSpPr/>
          <p:nvPr/>
        </p:nvSpPr>
        <p:spPr>
          <a:xfrm>
            <a:off x="4404360" y="4288536"/>
            <a:ext cx="310896" cy="310896"/>
          </a:xfrm>
          <a:prstGeom prst="ellipse">
            <a:avLst/>
          </a:prstGeom>
          <a:solidFill>
            <a:srgbClr val="1B3B6F"/>
          </a:solidFill>
          <a:ln w="12700">
            <a:solidFill>
              <a:srgbClr val="1B3B6F"/>
            </a:solidFill>
            <a:prstDash val="solid"/>
          </a:ln>
        </p:spPr>
      </p:sp>
      <p:sp>
        <p:nvSpPr>
          <p:cNvPr id="81" name="Text 7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82" name="Text 79"/>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950" b="1" dirty="0">
                <a:solidFill>
                  <a:srgbClr val="1B3B6F"/>
                </a:solidFill>
                <a:latin typeface="Calibri" pitchFamily="34" charset="0"/>
                <a:ea typeface="Calibri" pitchFamily="34" charset="-122"/>
                <a:cs typeface="Calibri" pitchFamily="34" charset="-120"/>
              </a:rPr>
              <a:t>Which visible final shape is an evidence clue?</a:t>
            </a:r>
            <a:endParaRPr lang="en-US" sz="950" dirty="0"/>
          </a:p>
        </p:txBody>
      </p:sp>
      <p:sp>
        <p:nvSpPr>
          <p:cNvPr id="83" name="Text 80"/>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مستشفى</a:t>
            </a:r>
            <a:endParaRPr lang="ar-SA" sz="2200" dirty="0"/>
          </a:p>
        </p:txBody>
      </p:sp>
      <p:sp>
        <p:nvSpPr>
          <p:cNvPr id="84" name="Shape 81"/>
          <p:cNvSpPr/>
          <p:nvPr/>
        </p:nvSpPr>
        <p:spPr>
          <a:xfrm>
            <a:off x="4459224" y="4831080"/>
            <a:ext cx="256032" cy="256032"/>
          </a:xfrm>
          <a:prstGeom prst="ellipse">
            <a:avLst/>
          </a:prstGeom>
          <a:solidFill>
            <a:srgbClr val="C9CED6"/>
          </a:solidFill>
          <a:ln w="12700">
            <a:solidFill>
              <a:srgbClr val="C9CED6"/>
            </a:solidFill>
            <a:prstDash val="solid"/>
          </a:ln>
        </p:spPr>
      </p:sp>
      <p:sp>
        <p:nvSpPr>
          <p:cNvPr id="85" name="Text 82"/>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6" name="Text 83"/>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ة</a:t>
            </a:r>
            <a:endParaRPr lang="ar-SA" sz="1700" dirty="0"/>
          </a:p>
        </p:txBody>
      </p:sp>
      <p:sp>
        <p:nvSpPr>
          <p:cNvPr id="87" name="Shape 84"/>
          <p:cNvSpPr/>
          <p:nvPr/>
        </p:nvSpPr>
        <p:spPr>
          <a:xfrm>
            <a:off x="4459224" y="5202936"/>
            <a:ext cx="256032" cy="256032"/>
          </a:xfrm>
          <a:prstGeom prst="ellipse">
            <a:avLst/>
          </a:prstGeom>
          <a:solidFill>
            <a:srgbClr val="C9CED6"/>
          </a:solidFill>
          <a:ln w="12700">
            <a:solidFill>
              <a:srgbClr val="C9CED6"/>
            </a:solidFill>
            <a:prstDash val="solid"/>
          </a:ln>
        </p:spPr>
      </p:sp>
      <p:sp>
        <p:nvSpPr>
          <p:cNvPr id="88" name="Text 85"/>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9" name="Text 86"/>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و</a:t>
            </a:r>
            <a:endParaRPr lang="ar-SA" sz="1700" dirty="0"/>
          </a:p>
        </p:txBody>
      </p:sp>
      <p:sp>
        <p:nvSpPr>
          <p:cNvPr id="90" name="Shape 87"/>
          <p:cNvSpPr/>
          <p:nvPr/>
        </p:nvSpPr>
        <p:spPr>
          <a:xfrm>
            <a:off x="4367784" y="5538216"/>
            <a:ext cx="3453384" cy="347472"/>
          </a:xfrm>
          <a:prstGeom prst="roundRect">
            <a:avLst>
              <a:gd name="adj" fmla="val 15789"/>
            </a:avLst>
          </a:prstGeom>
          <a:solidFill>
            <a:srgbClr val="E6F4EC"/>
          </a:solidFill>
          <a:ln w="9525">
            <a:solidFill>
              <a:srgbClr val="2E8B57"/>
            </a:solidFill>
            <a:prstDash val="solid"/>
          </a:ln>
        </p:spPr>
      </p:sp>
      <p:sp>
        <p:nvSpPr>
          <p:cNvPr id="91" name="Shape 88"/>
          <p:cNvSpPr/>
          <p:nvPr/>
        </p:nvSpPr>
        <p:spPr>
          <a:xfrm>
            <a:off x="4459224" y="5574792"/>
            <a:ext cx="256032" cy="256032"/>
          </a:xfrm>
          <a:prstGeom prst="ellipse">
            <a:avLst/>
          </a:prstGeom>
          <a:solidFill>
            <a:srgbClr val="2E8B57"/>
          </a:solidFill>
          <a:ln w="12700">
            <a:solidFill>
              <a:srgbClr val="2E8B57"/>
            </a:solidFill>
            <a:prstDash val="solid"/>
          </a:ln>
        </p:spPr>
      </p:sp>
      <p:sp>
        <p:nvSpPr>
          <p:cNvPr id="92" name="Text 89"/>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93" name="Text 90"/>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ى</a:t>
            </a:r>
            <a:endParaRPr lang="ar-SA" sz="1700" dirty="0"/>
          </a:p>
        </p:txBody>
      </p:sp>
      <p:sp>
        <p:nvSpPr>
          <p:cNvPr id="94" name="Text 91"/>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final alif maqṣūra supports the reading mustashfā.</a:t>
            </a:r>
            <a:endParaRPr lang="en-US" sz="1050" dirty="0"/>
          </a:p>
        </p:txBody>
      </p:sp>
      <p:sp>
        <p:nvSpPr>
          <p:cNvPr id="95" name="Shape 92"/>
          <p:cNvSpPr/>
          <p:nvPr/>
        </p:nvSpPr>
        <p:spPr>
          <a:xfrm>
            <a:off x="8095488" y="4151376"/>
            <a:ext cx="3636264"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96" name="Text 93"/>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SCOPE</a:t>
            </a:r>
            <a:endParaRPr lang="en-US" sz="1000" dirty="0"/>
          </a:p>
        </p:txBody>
      </p:sp>
      <p:sp>
        <p:nvSpPr>
          <p:cNvPr id="97" name="Text 94"/>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Scan · Chunk · Observe</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Predict · Evaluate</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Private chat: B3: 1_ 2_ 3_ 4_ 5_</a:t>
            </a:r>
            <a:endParaRPr lang="en-US" sz="1250" dirty="0"/>
          </a:p>
        </p:txBody>
      </p:sp>
      <p:sp>
        <p:nvSpPr>
          <p:cNvPr id="98" name="Text 9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18 / 23</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F1-L12 · F1 Assessment</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12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READING ALOUD · 10 MARKS · FIVE TARGET WORDS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Oral · Read the passage aloud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القِرَاءَةُ الجَهْرِيَّةُ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4 · Lesson 3 of 3</a:t>
            </a:r>
            <a:endParaRPr lang="en-US" sz="850" dirty="0"/>
          </a:p>
        </p:txBody>
      </p:sp>
      <p:sp>
        <p:nvSpPr>
          <p:cNvPr id="15" name="Shape 12"/>
          <p:cNvSpPr/>
          <p:nvPr/>
        </p:nvSpPr>
        <p:spPr>
          <a:xfrm>
            <a:off x="457200" y="1810512"/>
            <a:ext cx="11274552" cy="1450848"/>
          </a:xfrm>
          <a:prstGeom prst="roundRect">
            <a:avLst>
              <a:gd name="adj" fmla="val 3151"/>
            </a:avLst>
          </a:prstGeom>
          <a:solidFill>
            <a:srgbClr val="FFFFFF"/>
          </a:solidFill>
          <a:ln w="9525">
            <a:solidFill>
              <a:srgbClr val="D8D0BF"/>
            </a:solidFill>
            <a:prstDash val="solid"/>
          </a:ln>
        </p:spPr>
      </p:sp>
      <p:sp>
        <p:nvSpPr>
          <p:cNvPr id="16" name="Text 13"/>
          <p:cNvSpPr txBox="1"/>
          <p:nvPr/>
        </p:nvSpPr>
        <p:spPr>
          <a:xfrm>
            <a:off x="4937760" y="1828800"/>
            <a:ext cx="6675120" cy="1414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هَذَا بَيْتٌ كَبِيرٌ وَفِيهِ حَدِيقَةٌ.</a:t>
            </a:r>
            <a:endParaRPr lang="ar-SA" sz="2000" dirty="0"/>
          </a:p>
        </p:txBody>
      </p:sp>
      <p:sp>
        <p:nvSpPr>
          <p:cNvPr id="17" name="Text 14"/>
          <p:cNvSpPr txBox="1"/>
          <p:nvPr/>
        </p:nvSpPr>
        <p:spPr>
          <a:xfrm>
            <a:off x="640080" y="1828800"/>
            <a:ext cx="4160520" cy="1414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Level 1 (everyone): This is a big house, and it has a garden.</a:t>
            </a:r>
            <a:endParaRPr lang="en-US" sz="1250" dirty="0"/>
          </a:p>
        </p:txBody>
      </p:sp>
      <p:sp>
        <p:nvSpPr>
          <p:cNvPr id="18" name="Shape 15"/>
          <p:cNvSpPr/>
          <p:nvPr/>
        </p:nvSpPr>
        <p:spPr>
          <a:xfrm>
            <a:off x="457200" y="3334512"/>
            <a:ext cx="11274552" cy="1450848"/>
          </a:xfrm>
          <a:prstGeom prst="roundRect">
            <a:avLst>
              <a:gd name="adj" fmla="val 3151"/>
            </a:avLst>
          </a:prstGeom>
          <a:solidFill>
            <a:srgbClr val="F4F1EA"/>
          </a:solidFill>
          <a:ln w="9525">
            <a:solidFill>
              <a:srgbClr val="D8D0BF"/>
            </a:solidFill>
            <a:prstDash val="solid"/>
          </a:ln>
        </p:spPr>
      </p:sp>
      <p:sp>
        <p:nvSpPr>
          <p:cNvPr id="19" name="Text 16"/>
          <p:cNvSpPr txBox="1"/>
          <p:nvPr/>
        </p:nvSpPr>
        <p:spPr>
          <a:xfrm>
            <a:off x="4937760" y="3352800"/>
            <a:ext cx="6675120" cy="1414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هَذَا · بَيْتٌ · كَبِيرٌ · وَفِيهِ · حَدِيقَةٌ</a:t>
            </a:r>
            <a:endParaRPr lang="ar-SA" sz="2000" dirty="0"/>
          </a:p>
        </p:txBody>
      </p:sp>
      <p:sp>
        <p:nvSpPr>
          <p:cNvPr id="20" name="Text 17"/>
          <p:cNvSpPr txBox="1"/>
          <p:nvPr/>
        </p:nvSpPr>
        <p:spPr>
          <a:xfrm>
            <a:off x="640080" y="3352800"/>
            <a:ext cx="4160520" cy="1414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five scored words — 2 secure · 1 partial · 0 unable</a:t>
            </a:r>
            <a:endParaRPr lang="en-US" sz="1250" dirty="0"/>
          </a:p>
        </p:txBody>
      </p:sp>
      <p:sp>
        <p:nvSpPr>
          <p:cNvPr id="21" name="Shape 18"/>
          <p:cNvSpPr/>
          <p:nvPr/>
        </p:nvSpPr>
        <p:spPr>
          <a:xfrm>
            <a:off x="457200" y="4858512"/>
            <a:ext cx="11274552" cy="1450848"/>
          </a:xfrm>
          <a:prstGeom prst="roundRect">
            <a:avLst>
              <a:gd name="adj" fmla="val 3151"/>
            </a:avLst>
          </a:prstGeom>
          <a:solidFill>
            <a:srgbClr val="FFFFFF"/>
          </a:solidFill>
          <a:ln w="9525">
            <a:solidFill>
              <a:srgbClr val="D8D0BF"/>
            </a:solidFill>
            <a:prstDash val="solid"/>
          </a:ln>
        </p:spPr>
      </p:sp>
      <p:sp>
        <p:nvSpPr>
          <p:cNvPr id="22" name="Text 19"/>
          <p:cNvSpPr txBox="1"/>
          <p:nvPr/>
        </p:nvSpPr>
        <p:spPr>
          <a:xfrm>
            <a:off x="4937760" y="4876800"/>
            <a:ext cx="6675120" cy="1414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هذا بيت كبير وفيه حديقة جميلة. تسكن فيه أسرة صغيرة قرب المدرسة.</a:t>
            </a:r>
            <a:endParaRPr lang="ar-SA" sz="2000" dirty="0"/>
          </a:p>
        </p:txBody>
      </p:sp>
      <p:sp>
        <p:nvSpPr>
          <p:cNvPr id="23" name="Text 20"/>
          <p:cNvSpPr txBox="1"/>
          <p:nvPr/>
        </p:nvSpPr>
        <p:spPr>
          <a:xfrm>
            <a:off x="640080" y="4876800"/>
            <a:ext cx="4160520" cy="1414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Level 2 (heritage extension): … a beautiful garden. A small family lives in it near the school.</a:t>
            </a:r>
            <a:endParaRPr lang="en-US" sz="1250" dirty="0"/>
          </a:p>
        </p:txBody>
      </p:sp>
      <p:sp>
        <p:nvSpPr>
          <p:cNvPr id="24" name="Text 2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19 / 23</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F1-L12 · F1 Assessment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MY F1 SCORE PROFILE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Record all eight components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مِنَ النَّتِيجَةِ إِلَى الهَدَفِ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4 · Lesson 3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5650992" y="1810512"/>
            <a:ext cx="60076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Band (total /60)</a:t>
            </a:r>
            <a:endParaRPr lang="en-US" sz="1100" dirty="0"/>
          </a:p>
        </p:txBody>
      </p:sp>
      <p:sp>
        <p:nvSpPr>
          <p:cNvPr id="17" name="Text 14"/>
          <p:cNvSpPr txBox="1"/>
          <p:nvPr/>
        </p:nvSpPr>
        <p:spPr>
          <a:xfrm>
            <a:off x="3822192" y="1810512"/>
            <a:ext cx="1682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My score</a:t>
            </a:r>
            <a:endParaRPr lang="en-US" sz="1100" dirty="0"/>
          </a:p>
        </p:txBody>
      </p:sp>
      <p:sp>
        <p:nvSpPr>
          <p:cNvPr id="18" name="Text 15"/>
          <p:cNvSpPr txBox="1"/>
          <p:nvPr/>
        </p:nvSpPr>
        <p:spPr>
          <a:xfrm>
            <a:off x="53035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Component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5687568" y="2267712"/>
            <a:ext cx="59710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54–60 Excellent — secure F1 foundation</a:t>
            </a:r>
            <a:endParaRPr lang="en-US" sz="1100" dirty="0"/>
          </a:p>
        </p:txBody>
      </p:sp>
      <p:sp>
        <p:nvSpPr>
          <p:cNvPr id="21" name="Text 18"/>
          <p:cNvSpPr txBox="1"/>
          <p:nvPr/>
        </p:nvSpPr>
        <p:spPr>
          <a:xfrm>
            <a:off x="3858768" y="2267712"/>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/14 · /6</a:t>
            </a:r>
            <a:endParaRPr lang="en-US" sz="1100" dirty="0"/>
          </a:p>
        </p:txBody>
      </p:sp>
      <p:sp>
        <p:nvSpPr>
          <p:cNvPr id="22" name="Text 19"/>
          <p:cNvSpPr txBox="1"/>
          <p:nvPr/>
        </p:nvSpPr>
        <p:spPr>
          <a:xfrm>
            <a:off x="56692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A1 alphabet · A2 forms</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5687568" y="3054096"/>
            <a:ext cx="59710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42–53.5 Good — ready for F2 with one practice target</a:t>
            </a:r>
            <a:endParaRPr lang="en-US" sz="1100" dirty="0"/>
          </a:p>
        </p:txBody>
      </p:sp>
      <p:sp>
        <p:nvSpPr>
          <p:cNvPr id="27" name="Text 24"/>
          <p:cNvSpPr txBox="1"/>
          <p:nvPr/>
        </p:nvSpPr>
        <p:spPr>
          <a:xfrm>
            <a:off x="3858768" y="3054096"/>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/5 · /5</a:t>
            </a:r>
            <a:endParaRPr lang="en-US" sz="1100" dirty="0"/>
          </a:p>
        </p:txBody>
      </p:sp>
      <p:sp>
        <p:nvSpPr>
          <p:cNvPr id="28" name="Text 25"/>
          <p:cNvSpPr txBox="1"/>
          <p:nvPr/>
        </p:nvSpPr>
        <p:spPr>
          <a:xfrm>
            <a:off x="56692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A3 diacritics · A4 numerals</a:t>
            </a:r>
            <a:endParaRPr lang="en-US" sz="11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5687568" y="3840480"/>
            <a:ext cx="59710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30–41.5 Satisfactory — targeted retrieval and early F2 support</a:t>
            </a:r>
            <a:endParaRPr lang="en-US" sz="1100" dirty="0"/>
          </a:p>
        </p:txBody>
      </p:sp>
      <p:sp>
        <p:nvSpPr>
          <p:cNvPr id="33" name="Text 30"/>
          <p:cNvSpPr txBox="1"/>
          <p:nvPr/>
        </p:nvSpPr>
        <p:spPr>
          <a:xfrm>
            <a:off x="3858768" y="3840480"/>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/10 · /5</a:t>
            </a:r>
            <a:endParaRPr lang="en-US" sz="1100" dirty="0"/>
          </a:p>
        </p:txBody>
      </p:sp>
      <p:sp>
        <p:nvSpPr>
          <p:cNvPr id="34" name="Text 31"/>
          <p:cNvSpPr txBox="1"/>
          <p:nvPr/>
        </p:nvSpPr>
        <p:spPr>
          <a:xfrm>
            <a:off x="56692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B1 dictation · B2 reading</a:t>
            </a:r>
            <a:endParaRPr lang="en-US" sz="1100" dirty="0"/>
          </a:p>
        </p:txBody>
      </p:sp>
      <p:sp>
        <p:nvSpPr>
          <p:cNvPr id="35" name="Shape 32"/>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7" name="Shape 34"/>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8" name="Text 35"/>
          <p:cNvSpPr txBox="1"/>
          <p:nvPr/>
        </p:nvSpPr>
        <p:spPr>
          <a:xfrm>
            <a:off x="5687568" y="4626864"/>
            <a:ext cx="59710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Below 30 — catch-up before the new language load increases</a:t>
            </a:r>
            <a:endParaRPr lang="en-US" sz="1100" dirty="0"/>
          </a:p>
        </p:txBody>
      </p:sp>
      <p:sp>
        <p:nvSpPr>
          <p:cNvPr id="39" name="Text 36"/>
          <p:cNvSpPr txBox="1"/>
          <p:nvPr/>
        </p:nvSpPr>
        <p:spPr>
          <a:xfrm>
            <a:off x="3858768" y="4626864"/>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/5 · /10</a:t>
            </a:r>
            <a:endParaRPr lang="en-US" sz="1100" dirty="0"/>
          </a:p>
        </p:txBody>
      </p:sp>
      <p:sp>
        <p:nvSpPr>
          <p:cNvPr id="40" name="Text 37"/>
          <p:cNvSpPr txBox="1"/>
          <p:nvPr/>
        </p:nvSpPr>
        <p:spPr>
          <a:xfrm>
            <a:off x="56692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B3 signs · Oral</a:t>
            </a:r>
            <a:endParaRPr lang="en-US" sz="1100" dirty="0"/>
          </a:p>
        </p:txBody>
      </p:sp>
      <p:sp>
        <p:nvSpPr>
          <p:cNvPr id="41" name="Shape 38"/>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43" name="Text 4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20 / 23</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F1-L12 · F1 Assessment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4 · Lesson 3 of 3</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recognise all 28 letters and remember the six non-connectors.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read common diacritics, long vowels and Arabic-Indic numerals.</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use initial, medial and final forms.</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write familiar words from dictation.</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decode simple unvowelled signs and read a short vowelled passage aloud.</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ea typeface="Calibri" pitchFamily="34" charset="-122"/>
                <a:cs typeface="Calibri" pitchFamily="34" charset="-120"/>
              </a:rPr>
              <a:t>WWW</a:t>
            </a:r>
            <a:endParaRPr lang="en-US" sz="1800" dirty="0"/>
          </a:p>
          <a:p>
            <a:pPr indent="0" marL="0">
              <a:buNone/>
            </a:pPr>
            <a:r>
              <a:rPr lang="en-US" sz="1200" dirty="0">
                <a:solidFill>
                  <a:srgbClr val="1F2A37"/>
                </a:solidFill>
                <a:latin typeface="Calibri" pitchFamily="34" charset="0"/>
                <a:ea typeface="Calibri" pitchFamily="34" charset="-122"/>
                <a:cs typeface="Calibri" pitchFamily="34" charset="-120"/>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ea typeface="Calibri" pitchFamily="34" charset="-122"/>
                <a:cs typeface="Calibri" pitchFamily="34" charset="-120"/>
              </a:rPr>
              <a:t>EBI</a:t>
            </a:r>
            <a:endParaRPr lang="en-US" sz="1800" dirty="0"/>
          </a:p>
          <a:p>
            <a:pPr indent="0" marL="0">
              <a:buNone/>
            </a:pPr>
            <a:r>
              <a:rPr lang="en-US" sz="1200" dirty="0">
                <a:solidFill>
                  <a:srgbClr val="1F2A37"/>
                </a:solidFill>
                <a:latin typeface="Calibri" pitchFamily="34" charset="0"/>
                <a:ea typeface="Calibri" pitchFamily="34" charset="-122"/>
                <a:cs typeface="Calibri" pitchFamily="34" charset="-120"/>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21 / 23</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F1-L12 · F1 Assessment</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ea typeface="Calibri" pitchFamily="34" charset="-122"/>
                <a:cs typeface="Calibri" pitchFamily="34" charset="-120"/>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Before F2-L01: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4 · Lesson 3 of 3</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ea typeface="Calibri" pitchFamily="34" charset="-122"/>
                <a:cs typeface="Calibri" pitchFamily="34" charset="-120"/>
              </a:rPr>
              <a:t>LEARN THESE 5 WORDS</a:t>
            </a:r>
            <a:endParaRPr lang="en-US" sz="1100" dirty="0"/>
          </a:p>
          <a:p>
            <a:pPr indent="0" marL="0">
              <a:buNone/>
            </a:pPr>
            <a:r>
              <a:rPr lang="en-US" sz="1000" dirty="0">
                <a:solidFill>
                  <a:srgbClr val="5A6472"/>
                </a:solidFill>
                <a:latin typeface="Calibri" pitchFamily="34" charset="0"/>
                <a:ea typeface="Calibri" pitchFamily="34" charset="-122"/>
                <a:cs typeface="Calibri" pitchFamily="34" charset="-120"/>
              </a:rPr>
              <a:t>for F2-L01 · Greetings — meeting people</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مَرْحَبًا</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hello, welcome</a:t>
            </a:r>
            <a:pPr indent="0" marL="0">
              <a:buNone/>
            </a:pP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السَّلَامُ عَلَيْكُمْ</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peace be upon you</a:t>
            </a:r>
            <a:pPr indent="0" marL="0">
              <a:buNone/>
            </a:pP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وَعَلَيْكُمُ السَّلَامُ</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and upon you be peace</a:t>
            </a:r>
            <a:pPr indent="0" marL="0">
              <a:buNone/>
            </a:pP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اِسْمِي …</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my name is …</a:t>
            </a:r>
            <a:pPr indent="0" marL="0">
              <a:buNone/>
            </a:pP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مَا اسْمُكَ؟</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what is your name? (to a boy)</a:t>
            </a:r>
            <a:pPr indent="0" marL="0">
              <a:buNone/>
            </a:pP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ea typeface="Calibri" pitchFamily="34" charset="-122"/>
                <a:cs typeface="Calibri" pitchFamily="34" charset="-120"/>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ea typeface="Calibri" pitchFamily="34" charset="-122"/>
                <a:cs typeface="Calibri" pitchFamily="34" charset="-120"/>
              </a:rPr>
              <a:t>Write your F2 target: one skill, one repeated action, one check date.</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34" charset="0"/>
                <a:ea typeface="Amiri" pitchFamily="34" charset="-122"/>
                <a:cs typeface="Amiri" pitchFamily="34" charset="-120"/>
              </a:rPr>
              <a:t>مَرْحَبًا! مَا اسْمُكَ؟</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Correct your A1 and B1 mistakes in green pen; practise the letters you missed five times each.</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Website F1 games for your lowest component; then learn the five greeting phrases.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Record yourself reading the Level 2 passage; then write the five greetings from memory.</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22 / 23</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ea typeface="Calibri" pitchFamily="34" charset="-122"/>
                <a:cs typeface="Calibri" pitchFamily="34" charset="-120"/>
              </a:rPr>
              <a:t>F1-L12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34" charset="0"/>
                <a:ea typeface="Amiri" pitchFamily="34" charset="-122"/>
                <a:cs typeface="Amiri" pitchFamily="34" charset="-120"/>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ea typeface="Calibri" pitchFamily="34" charset="-122"/>
                <a:cs typeface="Calibri" pitchFamily="34" charset="-120"/>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ea typeface="Calibri" pitchFamily="34" charset="-122"/>
                <a:cs typeface="Calibri" pitchFamily="34" charset="-120"/>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750" b="1" dirty="0">
                <a:solidFill>
                  <a:srgbClr val="FFFFFF"/>
                </a:solidFill>
                <a:latin typeface="Cambria" pitchFamily="34" charset="0"/>
                <a:ea typeface="Cambria" pitchFamily="34" charset="-122"/>
                <a:cs typeface="Cambria" pitchFamily="34" charset="-120"/>
              </a:rPr>
              <a:t>F2-L01 · Greetings — meeting people</a:t>
            </a:r>
            <a:endParaRPr lang="en-US" sz="27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34" charset="0"/>
                <a:ea typeface="Amiri" pitchFamily="34" charset="-122"/>
                <a:cs typeface="Amiri" pitchFamily="34" charset="-120"/>
              </a:rPr>
              <a:t>التَّحِيَّاتُ</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F1 complete — well done! Learn 5 greetings before F2.</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F1-L12 · Show What You Know: F1 Review &amp; Assessment</dc:title>
  <dc:subject>PptxGenJS Presentation</dc:subject>
  <dc:creator>Al Madina Online School · Arabic Department</dc:creator>
  <cp:lastModifiedBy>Al Madina Online School · Arabic Department</cp:lastModifiedBy>
  <cp:revision>1</cp:revision>
  <dcterms:created xsi:type="dcterms:W3CDTF">2026-09-27T09:42:00Z</dcterms:created>
  <dcterms:modified xsi:type="dcterms:W3CDTF">2026-09-27T09:42:00Z</dcterms:modified>
</cp:coreProperties>
</file>